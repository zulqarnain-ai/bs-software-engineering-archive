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6" r:id="rId1"/>
  </p:sldMasterIdLst>
  <p:notesMasterIdLst>
    <p:notesMasterId r:id="rId53"/>
  </p:notesMasterIdLst>
  <p:handoutMasterIdLst>
    <p:handoutMasterId r:id="rId54"/>
  </p:handoutMasterIdLst>
  <p:sldIdLst>
    <p:sldId id="265" r:id="rId2"/>
    <p:sldId id="316" r:id="rId3"/>
    <p:sldId id="317" r:id="rId4"/>
    <p:sldId id="318" r:id="rId5"/>
    <p:sldId id="319" r:id="rId6"/>
    <p:sldId id="320" r:id="rId7"/>
    <p:sldId id="321" r:id="rId8"/>
    <p:sldId id="322" r:id="rId9"/>
    <p:sldId id="323" r:id="rId10"/>
    <p:sldId id="324" r:id="rId11"/>
    <p:sldId id="325" r:id="rId12"/>
    <p:sldId id="326" r:id="rId13"/>
    <p:sldId id="327" r:id="rId14"/>
    <p:sldId id="328" r:id="rId15"/>
    <p:sldId id="329" r:id="rId16"/>
    <p:sldId id="330" r:id="rId17"/>
    <p:sldId id="331" r:id="rId18"/>
    <p:sldId id="332" r:id="rId19"/>
    <p:sldId id="333" r:id="rId20"/>
    <p:sldId id="334" r:id="rId21"/>
    <p:sldId id="335" r:id="rId22"/>
    <p:sldId id="336" r:id="rId23"/>
    <p:sldId id="337" r:id="rId24"/>
    <p:sldId id="338" r:id="rId25"/>
    <p:sldId id="339" r:id="rId26"/>
    <p:sldId id="340" r:id="rId27"/>
    <p:sldId id="341" r:id="rId28"/>
    <p:sldId id="342" r:id="rId29"/>
    <p:sldId id="343" r:id="rId30"/>
    <p:sldId id="344" r:id="rId31"/>
    <p:sldId id="345" r:id="rId32"/>
    <p:sldId id="346" r:id="rId33"/>
    <p:sldId id="347" r:id="rId34"/>
    <p:sldId id="348" r:id="rId35"/>
    <p:sldId id="349" r:id="rId36"/>
    <p:sldId id="350" r:id="rId37"/>
    <p:sldId id="351" r:id="rId38"/>
    <p:sldId id="352" r:id="rId39"/>
    <p:sldId id="353" r:id="rId40"/>
    <p:sldId id="354" r:id="rId41"/>
    <p:sldId id="355" r:id="rId42"/>
    <p:sldId id="356" r:id="rId43"/>
    <p:sldId id="357" r:id="rId44"/>
    <p:sldId id="358" r:id="rId45"/>
    <p:sldId id="359" r:id="rId46"/>
    <p:sldId id="360" r:id="rId47"/>
    <p:sldId id="361" r:id="rId48"/>
    <p:sldId id="362" r:id="rId49"/>
    <p:sldId id="363" r:id="rId50"/>
    <p:sldId id="364" r:id="rId51"/>
    <p:sldId id="301" r:id="rId52"/>
  </p:sldIdLst>
  <p:sldSz cx="9144000" cy="6858000" type="screen4x3"/>
  <p:notesSz cx="10234613" cy="71024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CC0000"/>
    <a:srgbClr val="A1D8FD"/>
    <a:srgbClr val="66FF33"/>
    <a:srgbClr val="FFFF00"/>
    <a:srgbClr val="FF33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4" autoAdjust="0"/>
    <p:restoredTop sz="94576" autoAdjust="0"/>
  </p:normalViewPr>
  <p:slideViewPr>
    <p:cSldViewPr>
      <p:cViewPr varScale="1">
        <p:scale>
          <a:sx n="70" d="100"/>
          <a:sy n="70" d="100"/>
        </p:scale>
        <p:origin x="147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5" name="Rectangle 3"/>
          <p:cNvSpPr>
            <a:spLocks noGrp="1" noChangeArrowheads="1"/>
          </p:cNvSpPr>
          <p:nvPr>
            <p:ph type="dt" sz="quarter" idx="1"/>
          </p:nvPr>
        </p:nvSpPr>
        <p:spPr bwMode="auto">
          <a:xfrm>
            <a:off x="5797583"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8" charset="0"/>
              </a:defRPr>
            </a:lvl1pPr>
          </a:lstStyle>
          <a:p>
            <a:endParaRPr lang="en-US" dirty="0"/>
          </a:p>
        </p:txBody>
      </p:sp>
      <p:sp>
        <p:nvSpPr>
          <p:cNvPr id="74756" name="Rectangle 4"/>
          <p:cNvSpPr>
            <a:spLocks noGrp="1" noChangeArrowheads="1"/>
          </p:cNvSpPr>
          <p:nvPr>
            <p:ph type="ftr" sz="quarter" idx="2"/>
          </p:nvPr>
        </p:nvSpPr>
        <p:spPr bwMode="auto">
          <a:xfrm>
            <a:off x="0"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7" name="Rectangle 5"/>
          <p:cNvSpPr>
            <a:spLocks noGrp="1" noChangeArrowheads="1"/>
          </p:cNvSpPr>
          <p:nvPr>
            <p:ph type="sldNum" sz="quarter" idx="3"/>
          </p:nvPr>
        </p:nvSpPr>
        <p:spPr bwMode="auto">
          <a:xfrm>
            <a:off x="5797583"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8" charset="0"/>
              </a:defRPr>
            </a:lvl1pPr>
          </a:lstStyle>
          <a:p>
            <a:fld id="{98277AA0-422D-49C5-AD31-D6F6794DCACC}" type="slidenum">
              <a:rPr lang="en-US"/>
              <a:pPr/>
              <a:t>‹#›</a:t>
            </a:fld>
            <a:endParaRPr lang="en-US" dirty="0"/>
          </a:p>
        </p:txBody>
      </p:sp>
    </p:spTree>
    <p:extLst>
      <p:ext uri="{BB962C8B-B14F-4D97-AF65-F5344CB8AC3E}">
        <p14:creationId xmlns:p14="http://schemas.microsoft.com/office/powerpoint/2010/main" val="41517914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3" name="Rectangle 3"/>
          <p:cNvSpPr>
            <a:spLocks noGrp="1" noChangeArrowheads="1"/>
          </p:cNvSpPr>
          <p:nvPr>
            <p:ph type="dt" idx="1"/>
          </p:nvPr>
        </p:nvSpPr>
        <p:spPr bwMode="auto">
          <a:xfrm>
            <a:off x="5797583"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endParaRPr lang="en-US" dirty="0"/>
          </a:p>
        </p:txBody>
      </p:sp>
      <p:sp>
        <p:nvSpPr>
          <p:cNvPr id="128004" name="Rectangle 4"/>
          <p:cNvSpPr>
            <a:spLocks noGrp="1" noRot="1" noChangeAspect="1" noChangeArrowheads="1" noTextEdit="1"/>
          </p:cNvSpPr>
          <p:nvPr>
            <p:ph type="sldImg" idx="2"/>
          </p:nvPr>
        </p:nvSpPr>
        <p:spPr bwMode="auto">
          <a:xfrm>
            <a:off x="3341688" y="533400"/>
            <a:ext cx="3552825" cy="2663825"/>
          </a:xfrm>
          <a:prstGeom prst="rect">
            <a:avLst/>
          </a:prstGeom>
          <a:noFill/>
          <a:ln w="9525">
            <a:solidFill>
              <a:srgbClr val="000000"/>
            </a:solidFill>
            <a:miter lim="800000"/>
            <a:headEnd/>
            <a:tailEnd/>
          </a:ln>
          <a:effectLst/>
        </p:spPr>
      </p:sp>
      <p:sp>
        <p:nvSpPr>
          <p:cNvPr id="128005" name="Rectangle 5"/>
          <p:cNvSpPr>
            <a:spLocks noGrp="1" noChangeArrowheads="1"/>
          </p:cNvSpPr>
          <p:nvPr>
            <p:ph type="body" sz="quarter" idx="3"/>
          </p:nvPr>
        </p:nvSpPr>
        <p:spPr bwMode="auto">
          <a:xfrm>
            <a:off x="1023801" y="3373985"/>
            <a:ext cx="8187014" cy="3195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8006" name="Rectangle 6"/>
          <p:cNvSpPr>
            <a:spLocks noGrp="1" noChangeArrowheads="1"/>
          </p:cNvSpPr>
          <p:nvPr>
            <p:ph type="ftr" sz="quarter" idx="4"/>
          </p:nvPr>
        </p:nvSpPr>
        <p:spPr bwMode="auto">
          <a:xfrm>
            <a:off x="0"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7" name="Rectangle 7"/>
          <p:cNvSpPr>
            <a:spLocks noGrp="1" noChangeArrowheads="1"/>
          </p:cNvSpPr>
          <p:nvPr>
            <p:ph type="sldNum" sz="quarter" idx="5"/>
          </p:nvPr>
        </p:nvSpPr>
        <p:spPr bwMode="auto">
          <a:xfrm>
            <a:off x="5797583"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defRPr>
            </a:lvl1pPr>
          </a:lstStyle>
          <a:p>
            <a:fld id="{B375FC27-C9DA-4FC8-8D8B-B445BA50C65D}" type="slidenum">
              <a:rPr lang="en-US"/>
              <a:pPr/>
              <a:t>‹#›</a:t>
            </a:fld>
            <a:endParaRPr lang="en-US" dirty="0"/>
          </a:p>
        </p:txBody>
      </p:sp>
    </p:spTree>
    <p:extLst>
      <p:ext uri="{BB962C8B-B14F-4D97-AF65-F5344CB8AC3E}">
        <p14:creationId xmlns:p14="http://schemas.microsoft.com/office/powerpoint/2010/main" val="22976311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rgbClr val="C00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D6F981B-5368-48B0-8DC1-5E439685D15B}" type="slidenum">
              <a:rPr lang="en-US" smtClean="0"/>
              <a:pPr/>
              <a:t>‹#›</a:t>
            </a:fld>
            <a:endParaRPr lang="en-US" dirty="0"/>
          </a:p>
        </p:txBody>
      </p:sp>
      <p:pic>
        <p:nvPicPr>
          <p:cNvPr id="13" name="Picture 12" descr="dse_logo_clr.jpg"/>
          <p:cNvPicPr>
            <a:picLocks noChangeAspect="1"/>
          </p:cNvPicPr>
          <p:nvPr userDrawn="1"/>
        </p:nvPicPr>
        <p:blipFill>
          <a:blip r:embed="rId3" cstate="print"/>
          <a:stretch>
            <a:fillRect/>
          </a:stretch>
        </p:blipFill>
        <p:spPr>
          <a:xfrm>
            <a:off x="7622841" y="54864"/>
            <a:ext cx="1451056" cy="169773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D8E39768-55DC-42DF-B2CB-4D4CE6063993}"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solidFill>
                  <a:srgbClr val="008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8483D255-0C04-4D39-A4CD-FCC0B5073F6E}"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13D9D79A-F946-4617-93EE-BA949AD47439}"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61081621-0B77-4E7D-8BD7-0767F3E05AB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EFB2B2A6-2657-4C65-993A-37AD5A8BFA13}"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D39BEC99-8755-42E6-A142-15F8A97C0276}"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AFB4B43-2647-4DB3-812C-88FAA9FABE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4570D00-7FB1-483A-9555-997AB2D170E1}"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A9C22A75-4EAE-42DD-A329-D351D2353A1F}"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210CC31-C690-42E2-91AE-B48223F38F8E}"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57200" y="1371600"/>
            <a:ext cx="8229600" cy="236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57200" y="3886200"/>
            <a:ext cx="8229600" cy="236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a:xfrm>
            <a:off x="457200" y="6324600"/>
            <a:ext cx="2133600" cy="396875"/>
          </a:xfrm>
        </p:spPr>
        <p:txBody>
          <a:bodyPr/>
          <a:lstStyle>
            <a:lvl1pPr>
              <a:defRPr/>
            </a:lvl1pPr>
          </a:lstStyle>
          <a:p>
            <a:endParaRPr lang="en-US"/>
          </a:p>
        </p:txBody>
      </p:sp>
      <p:sp>
        <p:nvSpPr>
          <p:cNvPr id="6" name="Footer Placeholder 5"/>
          <p:cNvSpPr>
            <a:spLocks noGrp="1"/>
          </p:cNvSpPr>
          <p:nvPr>
            <p:ph type="ftr" sz="quarter" idx="11"/>
          </p:nvPr>
        </p:nvSpPr>
        <p:spPr>
          <a:xfrm>
            <a:off x="3124200" y="6324600"/>
            <a:ext cx="2895600" cy="396875"/>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324600"/>
            <a:ext cx="2133600" cy="396875"/>
          </a:xfrm>
        </p:spPr>
        <p:txBody>
          <a:bodyPr/>
          <a:lstStyle>
            <a:lvl1pPr>
              <a:defRPr/>
            </a:lvl1pPr>
          </a:lstStyle>
          <a:p>
            <a:fld id="{D9541224-881B-4ABB-986C-43C2CEFF6014}"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4CA22F1-4A8B-4633-A241-853BEA80DC70}" type="slidenum">
              <a:rPr lang="en-US" smtClean="0"/>
              <a:pPr/>
              <a:t>‹#›</a:t>
            </a:fld>
            <a:endParaRPr lang="en-US" dirty="0"/>
          </a:p>
        </p:txBody>
      </p:sp>
      <p:pic>
        <p:nvPicPr>
          <p:cNvPr id="11" name="Picture 10" descr="dse_logo_clr.jpg"/>
          <p:cNvPicPr>
            <a:picLocks noChangeAspect="1"/>
          </p:cNvPicPr>
          <p:nvPr userDrawn="1"/>
        </p:nvPicPr>
        <p:blipFill>
          <a:blip r:embed="rId15" cstate="print"/>
          <a:stretch>
            <a:fillRect/>
          </a:stretch>
        </p:blipFill>
        <p:spPr>
          <a:xfrm>
            <a:off x="8548937" y="6172200"/>
            <a:ext cx="515815" cy="603503"/>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l" rtl="0" eaLnBrk="1" latinLnBrk="0" hangingPunct="1">
        <a:spcBef>
          <a:spcPct val="0"/>
        </a:spcBef>
        <a:buNone/>
        <a:defRPr kumimoji="0" sz="4100" b="1" kern="1200" baseline="0">
          <a:solidFill>
            <a:schemeClr val="bg2">
              <a:lumMod val="50000"/>
            </a:schemeClr>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6" name="Rectangle 10"/>
          <p:cNvSpPr>
            <a:spLocks noGrp="1" noChangeArrowheads="1"/>
          </p:cNvSpPr>
          <p:nvPr>
            <p:ph type="ctrTitle"/>
          </p:nvPr>
        </p:nvSpPr>
        <p:spPr/>
        <p:txBody>
          <a:bodyPr/>
          <a:lstStyle/>
          <a:p>
            <a:r>
              <a:rPr lang="en-US" dirty="0" smtClean="0"/>
              <a:t>Requirements Engineering</a:t>
            </a:r>
            <a:endParaRPr lang="en-US" dirty="0"/>
          </a:p>
        </p:txBody>
      </p:sp>
      <p:sp>
        <p:nvSpPr>
          <p:cNvPr id="2" name="Subtitle 1"/>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 name="Rectangle 10"/>
          <p:cNvSpPr>
            <a:spLocks noGrp="1" noChangeArrowheads="1"/>
          </p:cNvSpPr>
          <p:nvPr>
            <p:ph type="title"/>
          </p:nvPr>
        </p:nvSpPr>
        <p:spPr/>
        <p:txBody>
          <a:bodyPr/>
          <a:lstStyle/>
          <a:p>
            <a:r>
              <a:rPr lang="en-US"/>
              <a:t>Requirements management</a:t>
            </a:r>
          </a:p>
        </p:txBody>
      </p:sp>
      <p:sp>
        <p:nvSpPr>
          <p:cNvPr id="5131" name="Rectangle 11"/>
          <p:cNvSpPr>
            <a:spLocks noGrp="1" noChangeArrowheads="1"/>
          </p:cNvSpPr>
          <p:nvPr>
            <p:ph type="body" idx="1"/>
          </p:nvPr>
        </p:nvSpPr>
        <p:spPr/>
        <p:txBody>
          <a:bodyPr/>
          <a:lstStyle/>
          <a:p>
            <a:r>
              <a:rPr lang="en-US" sz="2800"/>
              <a:t>Management</a:t>
            </a:r>
          </a:p>
          <a:p>
            <a:pPr lvl="1"/>
            <a:r>
              <a:rPr lang="en-US" sz="2400"/>
              <a:t>Plan</a:t>
            </a:r>
          </a:p>
          <a:p>
            <a:pPr lvl="1"/>
            <a:r>
              <a:rPr lang="en-US" sz="2400"/>
              <a:t>Execute</a:t>
            </a:r>
          </a:p>
          <a:p>
            <a:pPr lvl="1"/>
            <a:r>
              <a:rPr lang="en-US" sz="2400"/>
              <a:t>Monitor and Control</a:t>
            </a:r>
          </a:p>
          <a:p>
            <a:r>
              <a:rPr lang="en-US" sz="2800"/>
              <a:t>RUP describes Requirements Management: </a:t>
            </a:r>
          </a:p>
          <a:p>
            <a:pPr lvl="1"/>
            <a:r>
              <a:rPr lang="en-US" sz="2400"/>
              <a:t>A systematic approach to eliciting, organizing, and documenting the requirements of the system, and establishing and maintaining agreement between the customer and the project team on the changing requirements of the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31">
                                            <p:txEl>
                                              <p:pRg st="0" end="0"/>
                                            </p:txEl>
                                          </p:spTgt>
                                        </p:tgtEl>
                                        <p:attrNameLst>
                                          <p:attrName>style.visibility</p:attrName>
                                        </p:attrNameLst>
                                      </p:cBhvr>
                                      <p:to>
                                        <p:strVal val="visible"/>
                                      </p:to>
                                    </p:set>
                                    <p:anim calcmode="lin" valueType="num">
                                      <p:cBhvr additive="base">
                                        <p:cTn id="7" dur="500" fill="hold"/>
                                        <p:tgtEl>
                                          <p:spTgt spid="5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3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31">
                                            <p:txEl>
                                              <p:pRg st="1" end="1"/>
                                            </p:txEl>
                                          </p:spTgt>
                                        </p:tgtEl>
                                        <p:attrNameLst>
                                          <p:attrName>style.visibility</p:attrName>
                                        </p:attrNameLst>
                                      </p:cBhvr>
                                      <p:to>
                                        <p:strVal val="visible"/>
                                      </p:to>
                                    </p:set>
                                    <p:anim calcmode="lin" valueType="num">
                                      <p:cBhvr additive="base">
                                        <p:cTn id="11" dur="500" fill="hold"/>
                                        <p:tgtEl>
                                          <p:spTgt spid="513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3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31">
                                            <p:txEl>
                                              <p:pRg st="2" end="2"/>
                                            </p:txEl>
                                          </p:spTgt>
                                        </p:tgtEl>
                                        <p:attrNameLst>
                                          <p:attrName>style.visibility</p:attrName>
                                        </p:attrNameLst>
                                      </p:cBhvr>
                                      <p:to>
                                        <p:strVal val="visible"/>
                                      </p:to>
                                    </p:set>
                                    <p:anim calcmode="lin" valueType="num">
                                      <p:cBhvr additive="base">
                                        <p:cTn id="15" dur="500" fill="hold"/>
                                        <p:tgtEl>
                                          <p:spTgt spid="513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3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131">
                                            <p:txEl>
                                              <p:pRg st="3" end="3"/>
                                            </p:txEl>
                                          </p:spTgt>
                                        </p:tgtEl>
                                        <p:attrNameLst>
                                          <p:attrName>style.visibility</p:attrName>
                                        </p:attrNameLst>
                                      </p:cBhvr>
                                      <p:to>
                                        <p:strVal val="visible"/>
                                      </p:to>
                                    </p:set>
                                    <p:anim calcmode="lin" valueType="num">
                                      <p:cBhvr additive="base">
                                        <p:cTn id="19" dur="500" fill="hold"/>
                                        <p:tgtEl>
                                          <p:spTgt spid="513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31">
                                            <p:txEl>
                                              <p:pRg st="4" end="4"/>
                                            </p:txEl>
                                          </p:spTgt>
                                        </p:tgtEl>
                                        <p:attrNameLst>
                                          <p:attrName>style.visibility</p:attrName>
                                        </p:attrNameLst>
                                      </p:cBhvr>
                                      <p:to>
                                        <p:strVal val="visible"/>
                                      </p:to>
                                    </p:set>
                                    <p:anim calcmode="lin" valueType="num">
                                      <p:cBhvr additive="base">
                                        <p:cTn id="25" dur="500" fill="hold"/>
                                        <p:tgtEl>
                                          <p:spTgt spid="513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3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131">
                                            <p:txEl>
                                              <p:pRg st="5" end="5"/>
                                            </p:txEl>
                                          </p:spTgt>
                                        </p:tgtEl>
                                        <p:attrNameLst>
                                          <p:attrName>style.visibility</p:attrName>
                                        </p:attrNameLst>
                                      </p:cBhvr>
                                      <p:to>
                                        <p:strVal val="visible"/>
                                      </p:to>
                                    </p:set>
                                    <p:anim calcmode="lin" valueType="num">
                                      <p:cBhvr additive="base">
                                        <p:cTn id="29" dur="500" fill="hold"/>
                                        <p:tgtEl>
                                          <p:spTgt spid="513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p:txBody>
          <a:bodyPr/>
          <a:lstStyle/>
          <a:p>
            <a:r>
              <a:rPr lang="en-US"/>
              <a:t>Requirements management</a:t>
            </a:r>
          </a:p>
        </p:txBody>
      </p:sp>
      <p:sp>
        <p:nvSpPr>
          <p:cNvPr id="4101" name="Rectangle 5"/>
          <p:cNvSpPr>
            <a:spLocks noGrp="1" noChangeArrowheads="1"/>
          </p:cNvSpPr>
          <p:nvPr>
            <p:ph type="body" idx="1"/>
          </p:nvPr>
        </p:nvSpPr>
        <p:spPr/>
        <p:txBody>
          <a:bodyPr>
            <a:normAutofit lnSpcReduction="10000"/>
          </a:bodyPr>
          <a:lstStyle/>
          <a:p>
            <a:pPr>
              <a:lnSpc>
                <a:spcPct val="80000"/>
              </a:lnSpc>
            </a:pPr>
            <a:r>
              <a:rPr lang="en-US" sz="2400"/>
              <a:t>Planning the requirements phase </a:t>
            </a:r>
          </a:p>
          <a:p>
            <a:pPr>
              <a:lnSpc>
                <a:spcPct val="80000"/>
              </a:lnSpc>
            </a:pPr>
            <a:r>
              <a:rPr lang="en-US" sz="2400"/>
              <a:t>Establishing the requirements process </a:t>
            </a:r>
          </a:p>
          <a:p>
            <a:pPr>
              <a:lnSpc>
                <a:spcPct val="80000"/>
              </a:lnSpc>
            </a:pPr>
            <a:r>
              <a:rPr lang="en-US" sz="2400"/>
              <a:t>Controlling changes to the requirements baseline. </a:t>
            </a:r>
          </a:p>
          <a:p>
            <a:pPr>
              <a:lnSpc>
                <a:spcPct val="80000"/>
              </a:lnSpc>
            </a:pPr>
            <a:r>
              <a:rPr lang="en-US" sz="2400"/>
              <a:t>Keeping project plans current with the requirements.</a:t>
            </a:r>
          </a:p>
          <a:p>
            <a:pPr>
              <a:lnSpc>
                <a:spcPct val="80000"/>
              </a:lnSpc>
            </a:pPr>
            <a:r>
              <a:rPr lang="en-US" sz="2400"/>
              <a:t>Controlling versions of both individual requirements and requirements documents.</a:t>
            </a:r>
          </a:p>
          <a:p>
            <a:pPr>
              <a:lnSpc>
                <a:spcPct val="80000"/>
              </a:lnSpc>
            </a:pPr>
            <a:r>
              <a:rPr lang="en-US" sz="2400"/>
              <a:t>Managing the relationships between requirements, and links or dependencies between individual requirements and other project deliverables.</a:t>
            </a:r>
          </a:p>
          <a:p>
            <a:pPr>
              <a:lnSpc>
                <a:spcPct val="80000"/>
              </a:lnSpc>
            </a:pPr>
            <a:r>
              <a:rPr lang="en-US" sz="2400"/>
              <a:t>Tracking the status of the requirements in the baseline.</a:t>
            </a:r>
          </a:p>
          <a:p>
            <a:pPr>
              <a:lnSpc>
                <a:spcPct val="80000"/>
              </a:lnSpc>
            </a:pPr>
            <a:r>
              <a:rPr lang="en-US" sz="2400"/>
              <a:t>Resolving issues with customers and developers </a:t>
            </a:r>
          </a:p>
          <a:p>
            <a:pPr>
              <a:lnSpc>
                <a:spcPct val="80000"/>
              </a:lnSpc>
            </a:pPr>
            <a:r>
              <a:rPr lang="en-US" sz="2400"/>
              <a:t>Holding requirements reviews</a:t>
            </a:r>
          </a:p>
          <a:p>
            <a:pPr>
              <a:lnSpc>
                <a:spcPct val="80000"/>
              </a:lnSpc>
            </a:pPr>
            <a:r>
              <a:rPr lang="en-US" sz="2400"/>
              <a:t>Measuring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01">
                                            <p:txEl>
                                              <p:pRg st="0" end="0"/>
                                            </p:txEl>
                                          </p:spTgt>
                                        </p:tgtEl>
                                        <p:attrNameLst>
                                          <p:attrName>style.visibility</p:attrName>
                                        </p:attrNameLst>
                                      </p:cBhvr>
                                      <p:to>
                                        <p:strVal val="visible"/>
                                      </p:to>
                                    </p:set>
                                    <p:anim calcmode="lin" valueType="num">
                                      <p:cBhvr additive="base">
                                        <p:cTn id="7" dur="500" fill="hold"/>
                                        <p:tgtEl>
                                          <p:spTgt spid="410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01">
                                            <p:txEl>
                                              <p:pRg st="1" end="1"/>
                                            </p:txEl>
                                          </p:spTgt>
                                        </p:tgtEl>
                                        <p:attrNameLst>
                                          <p:attrName>style.visibility</p:attrName>
                                        </p:attrNameLst>
                                      </p:cBhvr>
                                      <p:to>
                                        <p:strVal val="visible"/>
                                      </p:to>
                                    </p:set>
                                    <p:anim calcmode="lin" valueType="num">
                                      <p:cBhvr additive="base">
                                        <p:cTn id="13" dur="500" fill="hold"/>
                                        <p:tgtEl>
                                          <p:spTgt spid="410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01">
                                            <p:txEl>
                                              <p:pRg st="2" end="2"/>
                                            </p:txEl>
                                          </p:spTgt>
                                        </p:tgtEl>
                                        <p:attrNameLst>
                                          <p:attrName>style.visibility</p:attrName>
                                        </p:attrNameLst>
                                      </p:cBhvr>
                                      <p:to>
                                        <p:strVal val="visible"/>
                                      </p:to>
                                    </p:set>
                                    <p:anim calcmode="lin" valueType="num">
                                      <p:cBhvr additive="base">
                                        <p:cTn id="19" dur="500" fill="hold"/>
                                        <p:tgtEl>
                                          <p:spTgt spid="410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01">
                                            <p:txEl>
                                              <p:pRg st="3" end="3"/>
                                            </p:txEl>
                                          </p:spTgt>
                                        </p:tgtEl>
                                        <p:attrNameLst>
                                          <p:attrName>style.visibility</p:attrName>
                                        </p:attrNameLst>
                                      </p:cBhvr>
                                      <p:to>
                                        <p:strVal val="visible"/>
                                      </p:to>
                                    </p:set>
                                    <p:anim calcmode="lin" valueType="num">
                                      <p:cBhvr additive="base">
                                        <p:cTn id="25" dur="500" fill="hold"/>
                                        <p:tgtEl>
                                          <p:spTgt spid="410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0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101">
                                            <p:txEl>
                                              <p:pRg st="4" end="4"/>
                                            </p:txEl>
                                          </p:spTgt>
                                        </p:tgtEl>
                                        <p:attrNameLst>
                                          <p:attrName>style.visibility</p:attrName>
                                        </p:attrNameLst>
                                      </p:cBhvr>
                                      <p:to>
                                        <p:strVal val="visible"/>
                                      </p:to>
                                    </p:set>
                                    <p:anim calcmode="lin" valueType="num">
                                      <p:cBhvr additive="base">
                                        <p:cTn id="31" dur="500" fill="hold"/>
                                        <p:tgtEl>
                                          <p:spTgt spid="410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0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101">
                                            <p:txEl>
                                              <p:pRg st="5" end="5"/>
                                            </p:txEl>
                                          </p:spTgt>
                                        </p:tgtEl>
                                        <p:attrNameLst>
                                          <p:attrName>style.visibility</p:attrName>
                                        </p:attrNameLst>
                                      </p:cBhvr>
                                      <p:to>
                                        <p:strVal val="visible"/>
                                      </p:to>
                                    </p:set>
                                    <p:anim calcmode="lin" valueType="num">
                                      <p:cBhvr additive="base">
                                        <p:cTn id="37" dur="500" fill="hold"/>
                                        <p:tgtEl>
                                          <p:spTgt spid="410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10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101">
                                            <p:txEl>
                                              <p:pRg st="6" end="6"/>
                                            </p:txEl>
                                          </p:spTgt>
                                        </p:tgtEl>
                                        <p:attrNameLst>
                                          <p:attrName>style.visibility</p:attrName>
                                        </p:attrNameLst>
                                      </p:cBhvr>
                                      <p:to>
                                        <p:strVal val="visible"/>
                                      </p:to>
                                    </p:set>
                                    <p:anim calcmode="lin" valueType="num">
                                      <p:cBhvr additive="base">
                                        <p:cTn id="43" dur="500" fill="hold"/>
                                        <p:tgtEl>
                                          <p:spTgt spid="410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10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101">
                                            <p:txEl>
                                              <p:pRg st="7" end="7"/>
                                            </p:txEl>
                                          </p:spTgt>
                                        </p:tgtEl>
                                        <p:attrNameLst>
                                          <p:attrName>style.visibility</p:attrName>
                                        </p:attrNameLst>
                                      </p:cBhvr>
                                      <p:to>
                                        <p:strVal val="visible"/>
                                      </p:to>
                                    </p:set>
                                    <p:anim calcmode="lin" valueType="num">
                                      <p:cBhvr additive="base">
                                        <p:cTn id="49" dur="500" fill="hold"/>
                                        <p:tgtEl>
                                          <p:spTgt spid="410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10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101">
                                            <p:txEl>
                                              <p:pRg st="8" end="8"/>
                                            </p:txEl>
                                          </p:spTgt>
                                        </p:tgtEl>
                                        <p:attrNameLst>
                                          <p:attrName>style.visibility</p:attrName>
                                        </p:attrNameLst>
                                      </p:cBhvr>
                                      <p:to>
                                        <p:strVal val="visible"/>
                                      </p:to>
                                    </p:set>
                                    <p:anim calcmode="lin" valueType="num">
                                      <p:cBhvr additive="base">
                                        <p:cTn id="55" dur="500" fill="hold"/>
                                        <p:tgtEl>
                                          <p:spTgt spid="4101">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10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101">
                                            <p:txEl>
                                              <p:pRg st="9" end="9"/>
                                            </p:txEl>
                                          </p:spTgt>
                                        </p:tgtEl>
                                        <p:attrNameLst>
                                          <p:attrName>style.visibility</p:attrName>
                                        </p:attrNameLst>
                                      </p:cBhvr>
                                      <p:to>
                                        <p:strVal val="visible"/>
                                      </p:to>
                                    </p:set>
                                    <p:anim calcmode="lin" valueType="num">
                                      <p:cBhvr additive="base">
                                        <p:cTn id="61" dur="500" fill="hold"/>
                                        <p:tgtEl>
                                          <p:spTgt spid="4101">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10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p:txBody>
          <a:bodyPr/>
          <a:lstStyle/>
          <a:p>
            <a:r>
              <a:rPr lang="en-US" sz="3600"/>
              <a:t>Requirements Change Management</a:t>
            </a:r>
          </a:p>
        </p:txBody>
      </p:sp>
      <p:sp>
        <p:nvSpPr>
          <p:cNvPr id="13317" name="Rectangle 5"/>
          <p:cNvSpPr>
            <a:spLocks noGrp="1" noChangeArrowheads="1"/>
          </p:cNvSpPr>
          <p:nvPr>
            <p:ph type="body" idx="1"/>
          </p:nvPr>
        </p:nvSpPr>
        <p:spPr/>
        <p:txBody>
          <a:bodyPr/>
          <a:lstStyle/>
          <a:p>
            <a:pPr>
              <a:lnSpc>
                <a:spcPct val="80000"/>
              </a:lnSpc>
            </a:pPr>
            <a:r>
              <a:rPr lang="en-US" sz="2400"/>
              <a:t>The process of managing change to the requirements for a system</a:t>
            </a:r>
          </a:p>
          <a:p>
            <a:pPr>
              <a:lnSpc>
                <a:spcPct val="80000"/>
              </a:lnSpc>
            </a:pPr>
            <a:r>
              <a:rPr lang="en-US" sz="2400"/>
              <a:t>The principal concerns are:</a:t>
            </a:r>
          </a:p>
          <a:p>
            <a:pPr lvl="1">
              <a:lnSpc>
                <a:spcPct val="80000"/>
              </a:lnSpc>
            </a:pPr>
            <a:r>
              <a:rPr lang="en-US" sz="2000"/>
              <a:t>Managing changes to agreed requirements</a:t>
            </a:r>
          </a:p>
          <a:p>
            <a:pPr lvl="1">
              <a:lnSpc>
                <a:spcPct val="80000"/>
              </a:lnSpc>
            </a:pPr>
            <a:r>
              <a:rPr lang="en-US" sz="2000"/>
              <a:t>Managing the relationships between requirements</a:t>
            </a:r>
          </a:p>
          <a:p>
            <a:pPr lvl="1">
              <a:lnSpc>
                <a:spcPct val="80000"/>
              </a:lnSpc>
            </a:pPr>
            <a:r>
              <a:rPr lang="en-US" sz="2000"/>
              <a:t>Managing the dependencies between the requirements document and other documents produced in the systems engineering process</a:t>
            </a:r>
          </a:p>
          <a:p>
            <a:pPr>
              <a:lnSpc>
                <a:spcPct val="80000"/>
              </a:lnSpc>
            </a:pPr>
            <a:r>
              <a:rPr lang="en-US" sz="2400"/>
              <a:t>Requirements cannot be managed effectively without requirements traceability. </a:t>
            </a:r>
          </a:p>
          <a:p>
            <a:pPr lvl="1">
              <a:lnSpc>
                <a:spcPct val="80000"/>
              </a:lnSpc>
            </a:pPr>
            <a:r>
              <a:rPr lang="en-US" sz="2000"/>
              <a:t>A requirement is traceable if you can discover who suggested the requirement, why the requirement exists, what requirements are related to it and how that requirement relates to other information such as systems designs, implementations and user documentation.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anim calcmode="lin" valueType="num">
                                      <p:cBhvr additive="base">
                                        <p:cTn id="7" dur="500" fill="hold"/>
                                        <p:tgtEl>
                                          <p:spTgt spid="133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7">
                                            <p:txEl>
                                              <p:pRg st="1" end="1"/>
                                            </p:txEl>
                                          </p:spTgt>
                                        </p:tgtEl>
                                        <p:attrNameLst>
                                          <p:attrName>style.visibility</p:attrName>
                                        </p:attrNameLst>
                                      </p:cBhvr>
                                      <p:to>
                                        <p:strVal val="visible"/>
                                      </p:to>
                                    </p:set>
                                    <p:anim calcmode="lin" valueType="num">
                                      <p:cBhvr additive="base">
                                        <p:cTn id="13" dur="500" fill="hold"/>
                                        <p:tgtEl>
                                          <p:spTgt spid="1331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317">
                                            <p:txEl>
                                              <p:pRg st="2" end="2"/>
                                            </p:txEl>
                                          </p:spTgt>
                                        </p:tgtEl>
                                        <p:attrNameLst>
                                          <p:attrName>style.visibility</p:attrName>
                                        </p:attrNameLst>
                                      </p:cBhvr>
                                      <p:to>
                                        <p:strVal val="visible"/>
                                      </p:to>
                                    </p:set>
                                    <p:anim calcmode="lin" valueType="num">
                                      <p:cBhvr additive="base">
                                        <p:cTn id="17" dur="500" fill="hold"/>
                                        <p:tgtEl>
                                          <p:spTgt spid="1331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31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317">
                                            <p:txEl>
                                              <p:pRg st="3" end="3"/>
                                            </p:txEl>
                                          </p:spTgt>
                                        </p:tgtEl>
                                        <p:attrNameLst>
                                          <p:attrName>style.visibility</p:attrName>
                                        </p:attrNameLst>
                                      </p:cBhvr>
                                      <p:to>
                                        <p:strVal val="visible"/>
                                      </p:to>
                                    </p:set>
                                    <p:anim calcmode="lin" valueType="num">
                                      <p:cBhvr additive="base">
                                        <p:cTn id="21" dur="500" fill="hold"/>
                                        <p:tgtEl>
                                          <p:spTgt spid="1331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31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317">
                                            <p:txEl>
                                              <p:pRg st="4" end="4"/>
                                            </p:txEl>
                                          </p:spTgt>
                                        </p:tgtEl>
                                        <p:attrNameLst>
                                          <p:attrName>style.visibility</p:attrName>
                                        </p:attrNameLst>
                                      </p:cBhvr>
                                      <p:to>
                                        <p:strVal val="visible"/>
                                      </p:to>
                                    </p:set>
                                    <p:anim calcmode="lin" valueType="num">
                                      <p:cBhvr additive="base">
                                        <p:cTn id="25" dur="500" fill="hold"/>
                                        <p:tgtEl>
                                          <p:spTgt spid="1331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7">
                                            <p:txEl>
                                              <p:pRg st="5" end="5"/>
                                            </p:txEl>
                                          </p:spTgt>
                                        </p:tgtEl>
                                        <p:attrNameLst>
                                          <p:attrName>style.visibility</p:attrName>
                                        </p:attrNameLst>
                                      </p:cBhvr>
                                      <p:to>
                                        <p:strVal val="visible"/>
                                      </p:to>
                                    </p:set>
                                    <p:anim calcmode="lin" valueType="num">
                                      <p:cBhvr additive="base">
                                        <p:cTn id="31" dur="500" fill="hold"/>
                                        <p:tgtEl>
                                          <p:spTgt spid="1331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7">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317">
                                            <p:txEl>
                                              <p:pRg st="6" end="6"/>
                                            </p:txEl>
                                          </p:spTgt>
                                        </p:tgtEl>
                                        <p:attrNameLst>
                                          <p:attrName>style.visibility</p:attrName>
                                        </p:attrNameLst>
                                      </p:cBhvr>
                                      <p:to>
                                        <p:strVal val="visible"/>
                                      </p:to>
                                    </p:set>
                                    <p:anim calcmode="lin" valueType="num">
                                      <p:cBhvr additive="base">
                                        <p:cTn id="35" dur="500" fill="hold"/>
                                        <p:tgtEl>
                                          <p:spTgt spid="13317">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31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Rectangle 6"/>
          <p:cNvSpPr>
            <a:spLocks noGrp="1" noChangeArrowheads="1"/>
          </p:cNvSpPr>
          <p:nvPr>
            <p:ph type="title"/>
          </p:nvPr>
        </p:nvSpPr>
        <p:spPr/>
        <p:txBody>
          <a:bodyPr/>
          <a:lstStyle/>
          <a:p>
            <a:r>
              <a:rPr lang="en-US" sz="4000"/>
              <a:t>Stable and volatile requirements</a:t>
            </a:r>
          </a:p>
        </p:txBody>
      </p:sp>
      <p:sp>
        <p:nvSpPr>
          <p:cNvPr id="14343" name="Rectangle 7"/>
          <p:cNvSpPr>
            <a:spLocks noGrp="1" noChangeArrowheads="1"/>
          </p:cNvSpPr>
          <p:nvPr>
            <p:ph type="body" idx="1"/>
          </p:nvPr>
        </p:nvSpPr>
        <p:spPr/>
        <p:txBody>
          <a:bodyPr>
            <a:normAutofit lnSpcReduction="10000"/>
          </a:bodyPr>
          <a:lstStyle/>
          <a:p>
            <a:pPr>
              <a:lnSpc>
                <a:spcPct val="90000"/>
              </a:lnSpc>
            </a:pPr>
            <a:r>
              <a:rPr lang="en-US" sz="2800"/>
              <a:t>Requirements changes occur while the requirements are being elicited, analyzed and validated and after the system has gone into service</a:t>
            </a:r>
          </a:p>
          <a:p>
            <a:pPr>
              <a:lnSpc>
                <a:spcPct val="90000"/>
              </a:lnSpc>
            </a:pPr>
            <a:r>
              <a:rPr lang="en-US" sz="2800"/>
              <a:t>Some requirements are usually more subject to change than others</a:t>
            </a:r>
          </a:p>
          <a:p>
            <a:pPr lvl="1">
              <a:lnSpc>
                <a:spcPct val="90000"/>
              </a:lnSpc>
            </a:pPr>
            <a:r>
              <a:rPr lang="en-US" sz="2400"/>
              <a:t>Stable requirements are concerned with the essence of a system and its application domain. They change more slowly than volatile requirements. </a:t>
            </a:r>
          </a:p>
          <a:p>
            <a:pPr lvl="1">
              <a:lnSpc>
                <a:spcPct val="90000"/>
              </a:lnSpc>
            </a:pPr>
            <a:r>
              <a:rPr lang="en-US" sz="2400"/>
              <a:t>Volatile requirements are specific to the instantiation of the system in a particular environment and for a particular customer.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3">
                                            <p:txEl>
                                              <p:pRg st="0" end="0"/>
                                            </p:txEl>
                                          </p:spTgt>
                                        </p:tgtEl>
                                        <p:attrNameLst>
                                          <p:attrName>style.visibility</p:attrName>
                                        </p:attrNameLst>
                                      </p:cBhvr>
                                      <p:to>
                                        <p:strVal val="visible"/>
                                      </p:to>
                                    </p:set>
                                    <p:anim calcmode="lin" valueType="num">
                                      <p:cBhvr additive="base">
                                        <p:cTn id="7" dur="500" fill="hold"/>
                                        <p:tgtEl>
                                          <p:spTgt spid="143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3">
                                            <p:txEl>
                                              <p:pRg st="1" end="1"/>
                                            </p:txEl>
                                          </p:spTgt>
                                        </p:tgtEl>
                                        <p:attrNameLst>
                                          <p:attrName>style.visibility</p:attrName>
                                        </p:attrNameLst>
                                      </p:cBhvr>
                                      <p:to>
                                        <p:strVal val="visible"/>
                                      </p:to>
                                    </p:set>
                                    <p:anim calcmode="lin" valueType="num">
                                      <p:cBhvr additive="base">
                                        <p:cTn id="13" dur="500" fill="hold"/>
                                        <p:tgtEl>
                                          <p:spTgt spid="143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4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4343">
                                            <p:txEl>
                                              <p:pRg st="2" end="2"/>
                                            </p:txEl>
                                          </p:spTgt>
                                        </p:tgtEl>
                                        <p:attrNameLst>
                                          <p:attrName>style.visibility</p:attrName>
                                        </p:attrNameLst>
                                      </p:cBhvr>
                                      <p:to>
                                        <p:strVal val="visible"/>
                                      </p:to>
                                    </p:set>
                                    <p:anim calcmode="lin" valueType="num">
                                      <p:cBhvr additive="base">
                                        <p:cTn id="17" dur="500" fill="hold"/>
                                        <p:tgtEl>
                                          <p:spTgt spid="1434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34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343">
                                            <p:txEl>
                                              <p:pRg st="3" end="3"/>
                                            </p:txEl>
                                          </p:spTgt>
                                        </p:tgtEl>
                                        <p:attrNameLst>
                                          <p:attrName>style.visibility</p:attrName>
                                        </p:attrNameLst>
                                      </p:cBhvr>
                                      <p:to>
                                        <p:strVal val="visible"/>
                                      </p:to>
                                    </p:set>
                                    <p:anim calcmode="lin" valueType="num">
                                      <p:cBhvr additive="base">
                                        <p:cTn id="21" dur="500" fill="hold"/>
                                        <p:tgtEl>
                                          <p:spTgt spid="1434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34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Grp="1" noChangeArrowheads="1"/>
          </p:cNvSpPr>
          <p:nvPr>
            <p:ph type="title"/>
          </p:nvPr>
        </p:nvSpPr>
        <p:spPr/>
        <p:txBody>
          <a:bodyPr/>
          <a:lstStyle/>
          <a:p>
            <a:r>
              <a:rPr lang="en-US"/>
              <a:t>Requirements change factors</a:t>
            </a:r>
          </a:p>
        </p:txBody>
      </p:sp>
      <p:sp>
        <p:nvSpPr>
          <p:cNvPr id="15365" name="Rectangle 5"/>
          <p:cNvSpPr>
            <a:spLocks noGrp="1" noChangeArrowheads="1"/>
          </p:cNvSpPr>
          <p:nvPr>
            <p:ph type="body" idx="1"/>
          </p:nvPr>
        </p:nvSpPr>
        <p:spPr/>
        <p:txBody>
          <a:bodyPr/>
          <a:lstStyle/>
          <a:p>
            <a:pPr>
              <a:lnSpc>
                <a:spcPct val="90000"/>
              </a:lnSpc>
            </a:pPr>
            <a:r>
              <a:rPr lang="en-US" sz="2400"/>
              <a:t>Requirements errors, conflicts and inconsistencies</a:t>
            </a:r>
          </a:p>
          <a:p>
            <a:pPr lvl="1">
              <a:lnSpc>
                <a:spcPct val="90000"/>
              </a:lnSpc>
            </a:pPr>
            <a:r>
              <a:rPr lang="en-US" sz="2000"/>
              <a:t>As requirements are analyzed and implemented, errors and inconsistencies emerge and must be corrected. These may be discovered during requirements analysis and validation or later in the development process.</a:t>
            </a:r>
          </a:p>
          <a:p>
            <a:pPr>
              <a:lnSpc>
                <a:spcPct val="90000"/>
              </a:lnSpc>
            </a:pPr>
            <a:r>
              <a:rPr lang="en-US" sz="2400"/>
              <a:t>Evolving customer/end-user knowledge of the system</a:t>
            </a:r>
          </a:p>
          <a:p>
            <a:pPr lvl="1">
              <a:lnSpc>
                <a:spcPct val="90000"/>
              </a:lnSpc>
            </a:pPr>
            <a:r>
              <a:rPr lang="en-US" sz="2000"/>
              <a:t>As requirements are developed, customers and end-users develop a better understanding of what they really require from a system.</a:t>
            </a:r>
          </a:p>
          <a:p>
            <a:pPr>
              <a:lnSpc>
                <a:spcPct val="90000"/>
              </a:lnSpc>
            </a:pPr>
            <a:r>
              <a:rPr lang="en-US" sz="2400"/>
              <a:t>Technical, schedule or cost problems	</a:t>
            </a:r>
          </a:p>
          <a:p>
            <a:pPr lvl="1">
              <a:lnSpc>
                <a:spcPct val="90000"/>
              </a:lnSpc>
            </a:pPr>
            <a:r>
              <a:rPr lang="en-US" sz="2000"/>
              <a:t>Problems may be encountered in implementing a requirement. It may be too expensive or take too long to implement certain requirements.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anim calcmode="lin" valueType="num">
                                      <p:cBhvr additive="base">
                                        <p:cTn id="7" dur="500" fill="hold"/>
                                        <p:tgtEl>
                                          <p:spTgt spid="1536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365">
                                            <p:txEl>
                                              <p:pRg st="1" end="1"/>
                                            </p:txEl>
                                          </p:spTgt>
                                        </p:tgtEl>
                                        <p:attrNameLst>
                                          <p:attrName>style.visibility</p:attrName>
                                        </p:attrNameLst>
                                      </p:cBhvr>
                                      <p:to>
                                        <p:strVal val="visible"/>
                                      </p:to>
                                    </p:set>
                                    <p:anim calcmode="lin" valueType="num">
                                      <p:cBhvr additive="base">
                                        <p:cTn id="11" dur="500" fill="hold"/>
                                        <p:tgtEl>
                                          <p:spTgt spid="1536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36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365">
                                            <p:txEl>
                                              <p:pRg st="2" end="2"/>
                                            </p:txEl>
                                          </p:spTgt>
                                        </p:tgtEl>
                                        <p:attrNameLst>
                                          <p:attrName>style.visibility</p:attrName>
                                        </p:attrNameLst>
                                      </p:cBhvr>
                                      <p:to>
                                        <p:strVal val="visible"/>
                                      </p:to>
                                    </p:set>
                                    <p:anim calcmode="lin" valueType="num">
                                      <p:cBhvr additive="base">
                                        <p:cTn id="17" dur="500" fill="hold"/>
                                        <p:tgtEl>
                                          <p:spTgt spid="1536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36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5365">
                                            <p:txEl>
                                              <p:pRg st="3" end="3"/>
                                            </p:txEl>
                                          </p:spTgt>
                                        </p:tgtEl>
                                        <p:attrNameLst>
                                          <p:attrName>style.visibility</p:attrName>
                                        </p:attrNameLst>
                                      </p:cBhvr>
                                      <p:to>
                                        <p:strVal val="visible"/>
                                      </p:to>
                                    </p:set>
                                    <p:anim calcmode="lin" valueType="num">
                                      <p:cBhvr additive="base">
                                        <p:cTn id="21" dur="500" fill="hold"/>
                                        <p:tgtEl>
                                          <p:spTgt spid="1536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536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365">
                                            <p:txEl>
                                              <p:pRg st="4" end="4"/>
                                            </p:txEl>
                                          </p:spTgt>
                                        </p:tgtEl>
                                        <p:attrNameLst>
                                          <p:attrName>style.visibility</p:attrName>
                                        </p:attrNameLst>
                                      </p:cBhvr>
                                      <p:to>
                                        <p:strVal val="visible"/>
                                      </p:to>
                                    </p:set>
                                    <p:anim calcmode="lin" valueType="num">
                                      <p:cBhvr additive="base">
                                        <p:cTn id="27" dur="500" fill="hold"/>
                                        <p:tgtEl>
                                          <p:spTgt spid="1536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6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365">
                                            <p:txEl>
                                              <p:pRg st="5" end="5"/>
                                            </p:txEl>
                                          </p:spTgt>
                                        </p:tgtEl>
                                        <p:attrNameLst>
                                          <p:attrName>style.visibility</p:attrName>
                                        </p:attrNameLst>
                                      </p:cBhvr>
                                      <p:to>
                                        <p:strVal val="visible"/>
                                      </p:to>
                                    </p:set>
                                    <p:anim calcmode="lin" valueType="num">
                                      <p:cBhvr additive="base">
                                        <p:cTn id="31" dur="500" fill="hold"/>
                                        <p:tgtEl>
                                          <p:spTgt spid="1536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8" tIns="44450" rIns="90488" bIns="44450" anchor="b"/>
          <a:lstStyle/>
          <a:p>
            <a:r>
              <a:rPr lang="en-US"/>
              <a:t>Requirements change factors</a:t>
            </a:r>
          </a:p>
        </p:txBody>
      </p:sp>
      <p:sp>
        <p:nvSpPr>
          <p:cNvPr id="16387" name="Rectangle 3"/>
          <p:cNvSpPr>
            <a:spLocks noGrp="1" noChangeArrowheads="1"/>
          </p:cNvSpPr>
          <p:nvPr>
            <p:ph type="body" idx="1"/>
          </p:nvPr>
        </p:nvSpPr>
        <p:spPr>
          <a:noFill/>
          <a:ln/>
        </p:spPr>
        <p:txBody>
          <a:bodyPr lIns="90488" tIns="44450" rIns="90488" bIns="44450">
            <a:normAutofit lnSpcReduction="10000"/>
          </a:bodyPr>
          <a:lstStyle/>
          <a:p>
            <a:pPr>
              <a:lnSpc>
                <a:spcPct val="80000"/>
              </a:lnSpc>
            </a:pPr>
            <a:r>
              <a:rPr lang="en-US" sz="2800"/>
              <a:t>Changing customer priorities	</a:t>
            </a:r>
          </a:p>
          <a:p>
            <a:pPr lvl="1">
              <a:lnSpc>
                <a:spcPct val="80000"/>
              </a:lnSpc>
            </a:pPr>
            <a:r>
              <a:rPr lang="en-US" sz="2400"/>
              <a:t>Customer priorities change during system development as a result of a changing business environment, the emergence of new competitors, staff changes, etc.</a:t>
            </a:r>
          </a:p>
          <a:p>
            <a:pPr>
              <a:lnSpc>
                <a:spcPct val="80000"/>
              </a:lnSpc>
            </a:pPr>
            <a:r>
              <a:rPr lang="en-US" sz="2800"/>
              <a:t>Environmental changes	</a:t>
            </a:r>
          </a:p>
          <a:p>
            <a:pPr lvl="1">
              <a:lnSpc>
                <a:spcPct val="80000"/>
              </a:lnSpc>
            </a:pPr>
            <a:r>
              <a:rPr lang="en-US" sz="2400"/>
              <a:t>The environment in which the system is to be installed may change so that the system requirements have to change to maintain compatibility</a:t>
            </a:r>
          </a:p>
          <a:p>
            <a:pPr>
              <a:lnSpc>
                <a:spcPct val="80000"/>
              </a:lnSpc>
            </a:pPr>
            <a:r>
              <a:rPr lang="en-US" sz="2800"/>
              <a:t>Organizational changes	</a:t>
            </a:r>
          </a:p>
          <a:p>
            <a:pPr lvl="1">
              <a:lnSpc>
                <a:spcPct val="80000"/>
              </a:lnSpc>
            </a:pPr>
            <a:r>
              <a:rPr lang="en-US" sz="2400"/>
              <a:t>The organization which intends to use the system may change its structure and processes resulting in new system requirements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anim calcmode="lin" valueType="num">
                                      <p:cBhvr additive="base">
                                        <p:cTn id="11"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 calcmode="lin" valueType="num">
                                      <p:cBhvr additive="base">
                                        <p:cTn id="17"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anim calcmode="lin" valueType="num">
                                      <p:cBhvr additive="base">
                                        <p:cTn id="21"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387">
                                            <p:txEl>
                                              <p:pRg st="4" end="4"/>
                                            </p:txEl>
                                          </p:spTgt>
                                        </p:tgtEl>
                                        <p:attrNameLst>
                                          <p:attrName>style.visibility</p:attrName>
                                        </p:attrNameLst>
                                      </p:cBhvr>
                                      <p:to>
                                        <p:strVal val="visible"/>
                                      </p:to>
                                    </p:set>
                                    <p:anim calcmode="lin" valueType="num">
                                      <p:cBhvr additive="base">
                                        <p:cTn id="27"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38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387">
                                            <p:txEl>
                                              <p:pRg st="5" end="5"/>
                                            </p:txEl>
                                          </p:spTgt>
                                        </p:tgtEl>
                                        <p:attrNameLst>
                                          <p:attrName>style.visibility</p:attrName>
                                        </p:attrNameLst>
                                      </p:cBhvr>
                                      <p:to>
                                        <p:strVal val="visible"/>
                                      </p:to>
                                    </p:set>
                                    <p:anim calcmode="lin" valueType="num">
                                      <p:cBhvr additive="base">
                                        <p:cTn id="31" dur="5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Rectangle 6"/>
          <p:cNvSpPr>
            <a:spLocks noGrp="1" noChangeArrowheads="1"/>
          </p:cNvSpPr>
          <p:nvPr>
            <p:ph type="title"/>
          </p:nvPr>
        </p:nvSpPr>
        <p:spPr/>
        <p:txBody>
          <a:bodyPr/>
          <a:lstStyle/>
          <a:p>
            <a:r>
              <a:rPr lang="en-US"/>
              <a:t>Types of volatile requirement</a:t>
            </a:r>
          </a:p>
        </p:txBody>
      </p:sp>
      <p:sp>
        <p:nvSpPr>
          <p:cNvPr id="17415" name="Rectangle 7"/>
          <p:cNvSpPr>
            <a:spLocks noGrp="1" noChangeArrowheads="1"/>
          </p:cNvSpPr>
          <p:nvPr>
            <p:ph type="body" idx="1"/>
          </p:nvPr>
        </p:nvSpPr>
        <p:spPr/>
        <p:txBody>
          <a:bodyPr/>
          <a:lstStyle/>
          <a:p>
            <a:pPr>
              <a:lnSpc>
                <a:spcPct val="90000"/>
              </a:lnSpc>
            </a:pPr>
            <a:r>
              <a:rPr lang="en-US" sz="2400"/>
              <a:t>Mutable requirements </a:t>
            </a:r>
          </a:p>
          <a:p>
            <a:pPr lvl="1">
              <a:lnSpc>
                <a:spcPct val="90000"/>
              </a:lnSpc>
            </a:pPr>
            <a:r>
              <a:rPr lang="en-US" sz="2000"/>
              <a:t>These are requirements which change because of changes to the environment in which the system is operating</a:t>
            </a:r>
          </a:p>
          <a:p>
            <a:pPr>
              <a:lnSpc>
                <a:spcPct val="90000"/>
              </a:lnSpc>
            </a:pPr>
            <a:r>
              <a:rPr lang="en-US" sz="2400"/>
              <a:t>Emergent requirements </a:t>
            </a:r>
          </a:p>
          <a:p>
            <a:pPr lvl="1">
              <a:lnSpc>
                <a:spcPct val="90000"/>
              </a:lnSpc>
            </a:pPr>
            <a:r>
              <a:rPr lang="en-US" sz="2000"/>
              <a:t>These are requirements which cannot be completely defined when the system is specified but which emerge as the system is designed and implemented</a:t>
            </a:r>
          </a:p>
          <a:p>
            <a:pPr>
              <a:lnSpc>
                <a:spcPct val="90000"/>
              </a:lnSpc>
            </a:pPr>
            <a:r>
              <a:rPr lang="en-US" sz="2400"/>
              <a:t>Consequential requirements </a:t>
            </a:r>
          </a:p>
          <a:p>
            <a:pPr lvl="1">
              <a:lnSpc>
                <a:spcPct val="90000"/>
              </a:lnSpc>
            </a:pPr>
            <a:r>
              <a:rPr lang="en-US" sz="2000"/>
              <a:t>These are requirements which are based on assumptions about how the system will be used. When the system is put into use, some of these assumptions will be wrong.</a:t>
            </a:r>
          </a:p>
          <a:p>
            <a:pPr>
              <a:lnSpc>
                <a:spcPct val="90000"/>
              </a:lnSpc>
            </a:pPr>
            <a:r>
              <a:rPr lang="en-US" sz="2400"/>
              <a:t>Compatibility requirements </a:t>
            </a:r>
          </a:p>
          <a:p>
            <a:pPr lvl="1">
              <a:lnSpc>
                <a:spcPct val="90000"/>
              </a:lnSpc>
            </a:pPr>
            <a:r>
              <a:rPr lang="en-US" sz="2000"/>
              <a:t>These are requirements which depend on other equipment or processes.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5">
                                            <p:txEl>
                                              <p:pRg st="0" end="0"/>
                                            </p:txEl>
                                          </p:spTgt>
                                        </p:tgtEl>
                                        <p:attrNameLst>
                                          <p:attrName>style.visibility</p:attrName>
                                        </p:attrNameLst>
                                      </p:cBhvr>
                                      <p:to>
                                        <p:strVal val="visible"/>
                                      </p:to>
                                    </p:set>
                                    <p:anim calcmode="lin" valueType="num">
                                      <p:cBhvr additive="base">
                                        <p:cTn id="7" dur="500" fill="hold"/>
                                        <p:tgtEl>
                                          <p:spTgt spid="174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415">
                                            <p:txEl>
                                              <p:pRg st="1" end="1"/>
                                            </p:txEl>
                                          </p:spTgt>
                                        </p:tgtEl>
                                        <p:attrNameLst>
                                          <p:attrName>style.visibility</p:attrName>
                                        </p:attrNameLst>
                                      </p:cBhvr>
                                      <p:to>
                                        <p:strVal val="visible"/>
                                      </p:to>
                                    </p:set>
                                    <p:anim calcmode="lin" valueType="num">
                                      <p:cBhvr additive="base">
                                        <p:cTn id="11" dur="500" fill="hold"/>
                                        <p:tgtEl>
                                          <p:spTgt spid="174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4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415">
                                            <p:txEl>
                                              <p:pRg st="2" end="2"/>
                                            </p:txEl>
                                          </p:spTgt>
                                        </p:tgtEl>
                                        <p:attrNameLst>
                                          <p:attrName>style.visibility</p:attrName>
                                        </p:attrNameLst>
                                      </p:cBhvr>
                                      <p:to>
                                        <p:strVal val="visible"/>
                                      </p:to>
                                    </p:set>
                                    <p:anim calcmode="lin" valueType="num">
                                      <p:cBhvr additive="base">
                                        <p:cTn id="17" dur="500" fill="hold"/>
                                        <p:tgtEl>
                                          <p:spTgt spid="1741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41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415">
                                            <p:txEl>
                                              <p:pRg st="3" end="3"/>
                                            </p:txEl>
                                          </p:spTgt>
                                        </p:tgtEl>
                                        <p:attrNameLst>
                                          <p:attrName>style.visibility</p:attrName>
                                        </p:attrNameLst>
                                      </p:cBhvr>
                                      <p:to>
                                        <p:strVal val="visible"/>
                                      </p:to>
                                    </p:set>
                                    <p:anim calcmode="lin" valueType="num">
                                      <p:cBhvr additive="base">
                                        <p:cTn id="21" dur="500" fill="hold"/>
                                        <p:tgtEl>
                                          <p:spTgt spid="1741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4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415">
                                            <p:txEl>
                                              <p:pRg st="4" end="4"/>
                                            </p:txEl>
                                          </p:spTgt>
                                        </p:tgtEl>
                                        <p:attrNameLst>
                                          <p:attrName>style.visibility</p:attrName>
                                        </p:attrNameLst>
                                      </p:cBhvr>
                                      <p:to>
                                        <p:strVal val="visible"/>
                                      </p:to>
                                    </p:set>
                                    <p:anim calcmode="lin" valueType="num">
                                      <p:cBhvr additive="base">
                                        <p:cTn id="27" dur="500" fill="hold"/>
                                        <p:tgtEl>
                                          <p:spTgt spid="1741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41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415">
                                            <p:txEl>
                                              <p:pRg st="5" end="5"/>
                                            </p:txEl>
                                          </p:spTgt>
                                        </p:tgtEl>
                                        <p:attrNameLst>
                                          <p:attrName>style.visibility</p:attrName>
                                        </p:attrNameLst>
                                      </p:cBhvr>
                                      <p:to>
                                        <p:strVal val="visible"/>
                                      </p:to>
                                    </p:set>
                                    <p:anim calcmode="lin" valueType="num">
                                      <p:cBhvr additive="base">
                                        <p:cTn id="31" dur="500" fill="hold"/>
                                        <p:tgtEl>
                                          <p:spTgt spid="1741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415">
                                            <p:txEl>
                                              <p:pRg st="6" end="6"/>
                                            </p:txEl>
                                          </p:spTgt>
                                        </p:tgtEl>
                                        <p:attrNameLst>
                                          <p:attrName>style.visibility</p:attrName>
                                        </p:attrNameLst>
                                      </p:cBhvr>
                                      <p:to>
                                        <p:strVal val="visible"/>
                                      </p:to>
                                    </p:set>
                                    <p:anim calcmode="lin" valueType="num">
                                      <p:cBhvr additive="base">
                                        <p:cTn id="37" dur="500" fill="hold"/>
                                        <p:tgtEl>
                                          <p:spTgt spid="1741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7415">
                                            <p:txEl>
                                              <p:pRg st="7" end="7"/>
                                            </p:txEl>
                                          </p:spTgt>
                                        </p:tgtEl>
                                        <p:attrNameLst>
                                          <p:attrName>style.visibility</p:attrName>
                                        </p:attrNameLst>
                                      </p:cBhvr>
                                      <p:to>
                                        <p:strVal val="visible"/>
                                      </p:to>
                                    </p:set>
                                    <p:anim calcmode="lin" valueType="num">
                                      <p:cBhvr additive="base">
                                        <p:cTn id="41" dur="500" fill="hold"/>
                                        <p:tgtEl>
                                          <p:spTgt spid="1741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741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a:ln/>
        </p:spPr>
        <p:txBody>
          <a:bodyPr lIns="90488" tIns="44450" rIns="90488" bIns="44450" anchor="b"/>
          <a:lstStyle/>
          <a:p>
            <a:r>
              <a:rPr lang="en-US"/>
              <a:t>Requirements identification</a:t>
            </a:r>
          </a:p>
        </p:txBody>
      </p:sp>
      <p:sp>
        <p:nvSpPr>
          <p:cNvPr id="18435" name="Rectangle 3"/>
          <p:cNvSpPr>
            <a:spLocks noGrp="1" noChangeArrowheads="1"/>
          </p:cNvSpPr>
          <p:nvPr>
            <p:ph type="body" idx="1"/>
          </p:nvPr>
        </p:nvSpPr>
        <p:spPr>
          <a:noFill/>
          <a:ln/>
        </p:spPr>
        <p:txBody>
          <a:bodyPr lIns="90488" tIns="44450" rIns="90488" bIns="44450"/>
          <a:lstStyle/>
          <a:p>
            <a:pPr>
              <a:lnSpc>
                <a:spcPct val="90000"/>
              </a:lnSpc>
            </a:pPr>
            <a:r>
              <a:rPr lang="en-US" sz="2400"/>
              <a:t>It is essential for requirements management that every requirement should have a unique identification</a:t>
            </a:r>
          </a:p>
          <a:p>
            <a:pPr>
              <a:lnSpc>
                <a:spcPct val="90000"/>
              </a:lnSpc>
            </a:pPr>
            <a:r>
              <a:rPr lang="en-US" sz="2400"/>
              <a:t>The most common approach is requirements numbering based on chapter/section in the requirements document</a:t>
            </a:r>
          </a:p>
          <a:p>
            <a:pPr>
              <a:lnSpc>
                <a:spcPct val="90000"/>
              </a:lnSpc>
            </a:pPr>
            <a:r>
              <a:rPr lang="en-US" sz="2400"/>
              <a:t>Problems with this are:</a:t>
            </a:r>
          </a:p>
          <a:p>
            <a:pPr lvl="1">
              <a:lnSpc>
                <a:spcPct val="90000"/>
              </a:lnSpc>
            </a:pPr>
            <a:r>
              <a:rPr lang="en-US" sz="2000"/>
              <a:t>Numbers cannot be unambiguously assigned until the document is complete</a:t>
            </a:r>
          </a:p>
          <a:p>
            <a:pPr lvl="1">
              <a:lnSpc>
                <a:spcPct val="90000"/>
              </a:lnSpc>
            </a:pPr>
            <a:r>
              <a:rPr lang="en-US" sz="2000"/>
              <a:t>Assigning chapter/section numbers is an implicit classification of the requirement. This can mislead readers of the document into thinking that the most important relationships are with requirements in the same section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435">
                                            <p:txEl>
                                              <p:pRg st="3" end="3"/>
                                            </p:txEl>
                                          </p:spTgt>
                                        </p:tgtEl>
                                        <p:attrNameLst>
                                          <p:attrName>style.visibility</p:attrName>
                                        </p:attrNameLst>
                                      </p:cBhvr>
                                      <p:to>
                                        <p:strVal val="visible"/>
                                      </p:to>
                                    </p:set>
                                    <p:anim calcmode="lin" valueType="num">
                                      <p:cBhvr additive="base">
                                        <p:cTn id="23"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43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 calcmode="lin" valueType="num">
                                      <p:cBhvr additive="base">
                                        <p:cTn id="27" dur="5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4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p:cNvSpPr>
            <a:spLocks noGrp="1" noChangeArrowheads="1"/>
          </p:cNvSpPr>
          <p:nvPr>
            <p:ph type="title"/>
          </p:nvPr>
        </p:nvSpPr>
        <p:spPr/>
        <p:txBody>
          <a:bodyPr/>
          <a:lstStyle/>
          <a:p>
            <a:r>
              <a:rPr lang="en-US" sz="3200"/>
              <a:t>Requirements identification techniques</a:t>
            </a:r>
          </a:p>
        </p:txBody>
      </p:sp>
      <p:sp>
        <p:nvSpPr>
          <p:cNvPr id="19461" name="Rectangle 5"/>
          <p:cNvSpPr>
            <a:spLocks noGrp="1" noChangeArrowheads="1"/>
          </p:cNvSpPr>
          <p:nvPr>
            <p:ph type="body" idx="1"/>
          </p:nvPr>
        </p:nvSpPr>
        <p:spPr>
          <a:xfrm>
            <a:off x="457200" y="1295400"/>
            <a:ext cx="8229600" cy="4876800"/>
          </a:xfrm>
        </p:spPr>
        <p:txBody>
          <a:bodyPr/>
          <a:lstStyle/>
          <a:p>
            <a:pPr>
              <a:lnSpc>
                <a:spcPct val="80000"/>
              </a:lnSpc>
            </a:pPr>
            <a:r>
              <a:rPr lang="en-US" sz="2400"/>
              <a:t>Dynamic renumbering</a:t>
            </a:r>
          </a:p>
          <a:p>
            <a:pPr lvl="1">
              <a:lnSpc>
                <a:spcPct val="80000"/>
              </a:lnSpc>
            </a:pPr>
            <a:r>
              <a:rPr lang="en-US" sz="2000"/>
              <a:t>Some word processing systems allow for automatic renumbering of paragraphs and the inclusion of cross-references. As you re-organize your document and add new requirements, the system keeps track of the cross-reference and automatically renumbers your requirement depending on its chapter, section and position within the section</a:t>
            </a:r>
          </a:p>
          <a:p>
            <a:pPr>
              <a:lnSpc>
                <a:spcPct val="80000"/>
              </a:lnSpc>
            </a:pPr>
            <a:r>
              <a:rPr lang="en-US" sz="2400"/>
              <a:t>Database record identification</a:t>
            </a:r>
          </a:p>
          <a:p>
            <a:pPr lvl="1">
              <a:lnSpc>
                <a:spcPct val="80000"/>
              </a:lnSpc>
            </a:pPr>
            <a:r>
              <a:rPr lang="en-US" sz="2000"/>
              <a:t>When a requirement is identified it is entered in a requirements database and a database record identifier is assigned. This database identifier is used in all subsequent references to the requirement</a:t>
            </a:r>
          </a:p>
          <a:p>
            <a:pPr>
              <a:lnSpc>
                <a:spcPct val="80000"/>
              </a:lnSpc>
            </a:pPr>
            <a:r>
              <a:rPr lang="en-US" sz="2400"/>
              <a:t>Symbolic identification</a:t>
            </a:r>
          </a:p>
          <a:p>
            <a:pPr lvl="1">
              <a:lnSpc>
                <a:spcPct val="80000"/>
              </a:lnSpc>
            </a:pPr>
            <a:r>
              <a:rPr lang="en-US" sz="2000"/>
              <a:t>Requirements can be identified by giving them a symbolic name which is associated with the requirement itself. For example, EFF-1, EFF-2, EFF-3 may be used for requirements which relate to system efficiency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 calcmode="lin" valueType="num">
                                      <p:cBhvr additive="base">
                                        <p:cTn id="7" dur="500" fill="hold"/>
                                        <p:tgtEl>
                                          <p:spTgt spid="194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6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461">
                                            <p:txEl>
                                              <p:pRg st="1" end="1"/>
                                            </p:txEl>
                                          </p:spTgt>
                                        </p:tgtEl>
                                        <p:attrNameLst>
                                          <p:attrName>style.visibility</p:attrName>
                                        </p:attrNameLst>
                                      </p:cBhvr>
                                      <p:to>
                                        <p:strVal val="visible"/>
                                      </p:to>
                                    </p:set>
                                    <p:anim calcmode="lin" valueType="num">
                                      <p:cBhvr additive="base">
                                        <p:cTn id="11" dur="500" fill="hold"/>
                                        <p:tgtEl>
                                          <p:spTgt spid="1946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461">
                                            <p:txEl>
                                              <p:pRg st="2" end="2"/>
                                            </p:txEl>
                                          </p:spTgt>
                                        </p:tgtEl>
                                        <p:attrNameLst>
                                          <p:attrName>style.visibility</p:attrName>
                                        </p:attrNameLst>
                                      </p:cBhvr>
                                      <p:to>
                                        <p:strVal val="visible"/>
                                      </p:to>
                                    </p:set>
                                    <p:anim calcmode="lin" valueType="num">
                                      <p:cBhvr additive="base">
                                        <p:cTn id="17" dur="500" fill="hold"/>
                                        <p:tgtEl>
                                          <p:spTgt spid="1946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6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461">
                                            <p:txEl>
                                              <p:pRg st="3" end="3"/>
                                            </p:txEl>
                                          </p:spTgt>
                                        </p:tgtEl>
                                        <p:attrNameLst>
                                          <p:attrName>style.visibility</p:attrName>
                                        </p:attrNameLst>
                                      </p:cBhvr>
                                      <p:to>
                                        <p:strVal val="visible"/>
                                      </p:to>
                                    </p:set>
                                    <p:anim calcmode="lin" valueType="num">
                                      <p:cBhvr additive="base">
                                        <p:cTn id="21" dur="500" fill="hold"/>
                                        <p:tgtEl>
                                          <p:spTgt spid="1946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6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461">
                                            <p:txEl>
                                              <p:pRg st="4" end="4"/>
                                            </p:txEl>
                                          </p:spTgt>
                                        </p:tgtEl>
                                        <p:attrNameLst>
                                          <p:attrName>style.visibility</p:attrName>
                                        </p:attrNameLst>
                                      </p:cBhvr>
                                      <p:to>
                                        <p:strVal val="visible"/>
                                      </p:to>
                                    </p:set>
                                    <p:anim calcmode="lin" valueType="num">
                                      <p:cBhvr additive="base">
                                        <p:cTn id="27" dur="500" fill="hold"/>
                                        <p:tgtEl>
                                          <p:spTgt spid="1946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46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461">
                                            <p:txEl>
                                              <p:pRg st="5" end="5"/>
                                            </p:txEl>
                                          </p:spTgt>
                                        </p:tgtEl>
                                        <p:attrNameLst>
                                          <p:attrName>style.visibility</p:attrName>
                                        </p:attrNameLst>
                                      </p:cBhvr>
                                      <p:to>
                                        <p:strVal val="visible"/>
                                      </p:to>
                                    </p:set>
                                    <p:anim calcmode="lin" valueType="num">
                                      <p:cBhvr additive="base">
                                        <p:cTn id="31" dur="500" fill="hold"/>
                                        <p:tgtEl>
                                          <p:spTgt spid="1946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6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p:spPr>
        <p:txBody>
          <a:bodyPr lIns="90488" tIns="44450" rIns="90488" bIns="44450" anchor="b"/>
          <a:lstStyle/>
          <a:p>
            <a:r>
              <a:rPr lang="en-US"/>
              <a:t>Storing requirements</a:t>
            </a:r>
          </a:p>
        </p:txBody>
      </p:sp>
      <p:sp>
        <p:nvSpPr>
          <p:cNvPr id="20483" name="Rectangle 3"/>
          <p:cNvSpPr>
            <a:spLocks noGrp="1" noChangeArrowheads="1"/>
          </p:cNvSpPr>
          <p:nvPr>
            <p:ph type="body" idx="1"/>
          </p:nvPr>
        </p:nvSpPr>
        <p:spPr>
          <a:noFill/>
          <a:ln/>
        </p:spPr>
        <p:txBody>
          <a:bodyPr lIns="90488" tIns="44450" rIns="90488" bIns="44450"/>
          <a:lstStyle/>
          <a:p>
            <a:r>
              <a:rPr lang="en-US"/>
              <a:t>Requirements have to be stored in such a way that they can be accessed easily and related to other system requirements</a:t>
            </a:r>
          </a:p>
          <a:p>
            <a:r>
              <a:rPr lang="en-US"/>
              <a:t>Possible storage techniques are</a:t>
            </a:r>
          </a:p>
          <a:p>
            <a:pPr lvl="1"/>
            <a:r>
              <a:rPr lang="en-US"/>
              <a:t>In one or more word processor files - requirements are stored in the requirements document</a:t>
            </a:r>
          </a:p>
          <a:p>
            <a:pPr lvl="1"/>
            <a:r>
              <a:rPr lang="en-US"/>
              <a:t>In a specially designed requirements database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 calcmode="lin" valueType="num">
                                      <p:cBhvr additive="base">
                                        <p:cTn id="17"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p:txBody>
          <a:bodyPr/>
          <a:lstStyle/>
          <a:p>
            <a:r>
              <a:rPr lang="en-US"/>
              <a:t>Change management</a:t>
            </a:r>
          </a:p>
        </p:txBody>
      </p:sp>
      <p:sp>
        <p:nvSpPr>
          <p:cNvPr id="26629" name="Rectangle 5"/>
          <p:cNvSpPr>
            <a:spLocks noGrp="1" noChangeArrowheads="1"/>
          </p:cNvSpPr>
          <p:nvPr>
            <p:ph type="body" idx="1"/>
          </p:nvPr>
        </p:nvSpPr>
        <p:spPr/>
        <p:txBody>
          <a:bodyPr>
            <a:normAutofit lnSpcReduction="10000"/>
          </a:bodyPr>
          <a:lstStyle/>
          <a:p>
            <a:pPr>
              <a:lnSpc>
                <a:spcPct val="80000"/>
              </a:lnSpc>
            </a:pPr>
            <a:r>
              <a:rPr lang="en-US" sz="2800"/>
              <a:t>Change management is concerned with the procedures, processes and standards which are used to manage changes to system requirements</a:t>
            </a:r>
          </a:p>
          <a:p>
            <a:pPr>
              <a:lnSpc>
                <a:spcPct val="80000"/>
              </a:lnSpc>
            </a:pPr>
            <a:r>
              <a:rPr lang="en-US" sz="2800"/>
              <a:t>Change management policies may cover:</a:t>
            </a:r>
          </a:p>
          <a:p>
            <a:pPr lvl="1">
              <a:lnSpc>
                <a:spcPct val="80000"/>
              </a:lnSpc>
            </a:pPr>
            <a:r>
              <a:rPr lang="en-US" sz="2400"/>
              <a:t>The change request process and the information required to process each change request</a:t>
            </a:r>
          </a:p>
          <a:p>
            <a:pPr lvl="1">
              <a:lnSpc>
                <a:spcPct val="80000"/>
              </a:lnSpc>
            </a:pPr>
            <a:r>
              <a:rPr lang="en-US" sz="2400"/>
              <a:t>The process used to analyze the impact and costs of change and the associated traceability information</a:t>
            </a:r>
          </a:p>
          <a:p>
            <a:pPr lvl="1">
              <a:lnSpc>
                <a:spcPct val="80000"/>
              </a:lnSpc>
            </a:pPr>
            <a:r>
              <a:rPr lang="en-US" sz="2400"/>
              <a:t>The membership of the body which formally considers change requests</a:t>
            </a:r>
          </a:p>
          <a:p>
            <a:pPr lvl="1">
              <a:lnSpc>
                <a:spcPct val="80000"/>
              </a:lnSpc>
            </a:pPr>
            <a:r>
              <a:rPr lang="en-US" sz="2400"/>
              <a:t>The software support (if any) for the change control process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9">
                                            <p:txEl>
                                              <p:pRg st="0" end="0"/>
                                            </p:txEl>
                                          </p:spTgt>
                                        </p:tgtEl>
                                        <p:attrNameLst>
                                          <p:attrName>style.visibility</p:attrName>
                                        </p:attrNameLst>
                                      </p:cBhvr>
                                      <p:to>
                                        <p:strVal val="visible"/>
                                      </p:to>
                                    </p:set>
                                    <p:anim calcmode="lin" valueType="num">
                                      <p:cBhvr additive="base">
                                        <p:cTn id="7" dur="500" fill="hold"/>
                                        <p:tgtEl>
                                          <p:spTgt spid="266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9">
                                            <p:txEl>
                                              <p:pRg st="1" end="1"/>
                                            </p:txEl>
                                          </p:spTgt>
                                        </p:tgtEl>
                                        <p:attrNameLst>
                                          <p:attrName>style.visibility</p:attrName>
                                        </p:attrNameLst>
                                      </p:cBhvr>
                                      <p:to>
                                        <p:strVal val="visible"/>
                                      </p:to>
                                    </p:set>
                                    <p:anim calcmode="lin" valueType="num">
                                      <p:cBhvr additive="base">
                                        <p:cTn id="13" dur="500" fill="hold"/>
                                        <p:tgtEl>
                                          <p:spTgt spid="2662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629">
                                            <p:txEl>
                                              <p:pRg st="2" end="2"/>
                                            </p:txEl>
                                          </p:spTgt>
                                        </p:tgtEl>
                                        <p:attrNameLst>
                                          <p:attrName>style.visibility</p:attrName>
                                        </p:attrNameLst>
                                      </p:cBhvr>
                                      <p:to>
                                        <p:strVal val="visible"/>
                                      </p:to>
                                    </p:set>
                                    <p:anim calcmode="lin" valueType="num">
                                      <p:cBhvr additive="base">
                                        <p:cTn id="17" dur="500" fill="hold"/>
                                        <p:tgtEl>
                                          <p:spTgt spid="2662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6629">
                                            <p:txEl>
                                              <p:pRg st="3" end="3"/>
                                            </p:txEl>
                                          </p:spTgt>
                                        </p:tgtEl>
                                        <p:attrNameLst>
                                          <p:attrName>style.visibility</p:attrName>
                                        </p:attrNameLst>
                                      </p:cBhvr>
                                      <p:to>
                                        <p:strVal val="visible"/>
                                      </p:to>
                                    </p:set>
                                    <p:anim calcmode="lin" valueType="num">
                                      <p:cBhvr additive="base">
                                        <p:cTn id="21" dur="500" fill="hold"/>
                                        <p:tgtEl>
                                          <p:spTgt spid="2662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662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6629">
                                            <p:txEl>
                                              <p:pRg st="4" end="4"/>
                                            </p:txEl>
                                          </p:spTgt>
                                        </p:tgtEl>
                                        <p:attrNameLst>
                                          <p:attrName>style.visibility</p:attrName>
                                        </p:attrNameLst>
                                      </p:cBhvr>
                                      <p:to>
                                        <p:strVal val="visible"/>
                                      </p:to>
                                    </p:set>
                                    <p:anim calcmode="lin" valueType="num">
                                      <p:cBhvr additive="base">
                                        <p:cTn id="25" dur="500" fill="hold"/>
                                        <p:tgtEl>
                                          <p:spTgt spid="2662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6629">
                                            <p:txEl>
                                              <p:pRg st="5" end="5"/>
                                            </p:txEl>
                                          </p:spTgt>
                                        </p:tgtEl>
                                        <p:attrNameLst>
                                          <p:attrName>style.visibility</p:attrName>
                                        </p:attrNameLst>
                                      </p:cBhvr>
                                      <p:to>
                                        <p:strVal val="visible"/>
                                      </p:to>
                                    </p:set>
                                    <p:anim calcmode="lin" valueType="num">
                                      <p:cBhvr additive="base">
                                        <p:cTn id="29" dur="500" fill="hold"/>
                                        <p:tgtEl>
                                          <p:spTgt spid="2662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62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p:spPr>
        <p:txBody>
          <a:bodyPr lIns="90488" tIns="44450" rIns="90488" bIns="44450" anchor="b">
            <a:normAutofit fontScale="90000"/>
          </a:bodyPr>
          <a:lstStyle/>
          <a:p>
            <a:r>
              <a:rPr lang="en-US" sz="4000"/>
              <a:t>The change management process</a:t>
            </a:r>
          </a:p>
        </p:txBody>
      </p:sp>
      <p:sp>
        <p:nvSpPr>
          <p:cNvPr id="27651" name="Rectangle 3"/>
          <p:cNvSpPr>
            <a:spLocks noGrp="1" noChangeArrowheads="1"/>
          </p:cNvSpPr>
          <p:nvPr>
            <p:ph type="body" idx="1"/>
          </p:nvPr>
        </p:nvSpPr>
        <p:spPr>
          <a:noFill/>
          <a:ln/>
        </p:spPr>
        <p:txBody>
          <a:bodyPr lIns="90488" tIns="44450" rIns="90488" bIns="44450">
            <a:normAutofit lnSpcReduction="10000"/>
          </a:bodyPr>
          <a:lstStyle/>
          <a:p>
            <a:pPr>
              <a:lnSpc>
                <a:spcPct val="90000"/>
              </a:lnSpc>
            </a:pPr>
            <a:r>
              <a:rPr lang="en-US" sz="2400"/>
              <a:t>Some requirements problem is identified. </a:t>
            </a:r>
          </a:p>
          <a:p>
            <a:pPr lvl="1">
              <a:lnSpc>
                <a:spcPct val="90000"/>
              </a:lnSpc>
            </a:pPr>
            <a:r>
              <a:rPr lang="en-US" sz="2000"/>
              <a:t>This could come from an analysis of the requirements, new customer needs, or operational problems with the system. The requirements are analyzed using problem information and requirements changes are proposed.</a:t>
            </a:r>
          </a:p>
          <a:p>
            <a:pPr>
              <a:lnSpc>
                <a:spcPct val="90000"/>
              </a:lnSpc>
            </a:pPr>
            <a:r>
              <a:rPr lang="en-US" sz="2400"/>
              <a:t>The proposed changes are analyzed</a:t>
            </a:r>
          </a:p>
          <a:p>
            <a:pPr lvl="1">
              <a:lnSpc>
                <a:spcPct val="90000"/>
              </a:lnSpc>
            </a:pPr>
            <a:r>
              <a:rPr lang="en-US" sz="2000"/>
              <a:t> This checks how many requirements (and, if necessary, system components) are affected by the change and roughly how much it would cost, in both time and money, to make the change.</a:t>
            </a:r>
          </a:p>
          <a:p>
            <a:pPr>
              <a:lnSpc>
                <a:spcPct val="90000"/>
              </a:lnSpc>
            </a:pPr>
            <a:r>
              <a:rPr lang="en-US" sz="2400"/>
              <a:t>The change is implemented. </a:t>
            </a:r>
          </a:p>
          <a:p>
            <a:pPr lvl="1">
              <a:lnSpc>
                <a:spcPct val="90000"/>
              </a:lnSpc>
            </a:pPr>
            <a:r>
              <a:rPr lang="en-US" sz="2000"/>
              <a:t>A set of amendments to the requirements document or a new document version is produced.  This should, of course, be validated using whatever normal quality checking procedures are used.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 calcmode="lin" valueType="num">
                                      <p:cBhvr additive="base">
                                        <p:cTn id="1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651">
                                            <p:txEl>
                                              <p:pRg st="3" end="3"/>
                                            </p:txEl>
                                          </p:spTgt>
                                        </p:tgtEl>
                                        <p:attrNameLst>
                                          <p:attrName>style.visibility</p:attrName>
                                        </p:attrNameLst>
                                      </p:cBhvr>
                                      <p:to>
                                        <p:strVal val="visible"/>
                                      </p:to>
                                    </p:set>
                                    <p:anim calcmode="lin" valueType="num">
                                      <p:cBhvr additive="base">
                                        <p:cTn id="2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 calcmode="lin" valueType="num">
                                      <p:cBhvr additive="base">
                                        <p:cTn id="27"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65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651">
                                            <p:txEl>
                                              <p:pRg st="5" end="5"/>
                                            </p:txEl>
                                          </p:spTgt>
                                        </p:tgtEl>
                                        <p:attrNameLst>
                                          <p:attrName>style.visibility</p:attrName>
                                        </p:attrNameLst>
                                      </p:cBhvr>
                                      <p:to>
                                        <p:strVal val="visible"/>
                                      </p:to>
                                    </p:set>
                                    <p:anim calcmode="lin" valueType="num">
                                      <p:cBhvr additive="base">
                                        <p:cTn id="31"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p:spPr>
        <p:txBody>
          <a:bodyPr lIns="90488" tIns="44450" rIns="90488" bIns="44450" anchor="b"/>
          <a:lstStyle/>
          <a:p>
            <a:r>
              <a:rPr lang="en-US"/>
              <a:t>Change management stages</a:t>
            </a:r>
          </a:p>
        </p:txBody>
      </p:sp>
      <p:graphicFrame>
        <p:nvGraphicFramePr>
          <p:cNvPr id="28675" name="Object 3"/>
          <p:cNvGraphicFramePr>
            <a:graphicFrameLocks/>
          </p:cNvGraphicFramePr>
          <p:nvPr/>
        </p:nvGraphicFramePr>
        <p:xfrm>
          <a:off x="165100" y="2933700"/>
          <a:ext cx="8902700" cy="1135063"/>
        </p:xfrm>
        <a:graphic>
          <a:graphicData uri="http://schemas.openxmlformats.org/presentationml/2006/ole">
            <mc:AlternateContent xmlns:mc="http://schemas.openxmlformats.org/markup-compatibility/2006">
              <mc:Choice xmlns:v="urn:schemas-microsoft-com:vml" Requires="v">
                <p:oleObj spid="_x0000_s1028"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00" y="2933700"/>
                        <a:ext cx="8902700" cy="113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p:spPr>
        <p:txBody>
          <a:bodyPr lIns="90488" tIns="44450" rIns="90488" bIns="44450" anchor="b"/>
          <a:lstStyle/>
          <a:p>
            <a:r>
              <a:rPr lang="en-US"/>
              <a:t>Change analysis and costing</a:t>
            </a:r>
          </a:p>
        </p:txBody>
      </p:sp>
      <p:graphicFrame>
        <p:nvGraphicFramePr>
          <p:cNvPr id="29699" name="Object 3"/>
          <p:cNvGraphicFramePr>
            <a:graphicFrameLocks/>
          </p:cNvGraphicFramePr>
          <p:nvPr/>
        </p:nvGraphicFramePr>
        <p:xfrm>
          <a:off x="0" y="1371600"/>
          <a:ext cx="9144000" cy="4114800"/>
        </p:xfrm>
        <a:graphic>
          <a:graphicData uri="http://schemas.openxmlformats.org/presentationml/2006/ole">
            <mc:AlternateContent xmlns:mc="http://schemas.openxmlformats.org/markup-compatibility/2006">
              <mc:Choice xmlns:v="urn:schemas-microsoft-com:vml" Requires="v">
                <p:oleObj spid="_x0000_s2052"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71600"/>
                        <a:ext cx="9144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title"/>
          </p:nvPr>
        </p:nvSpPr>
        <p:spPr/>
        <p:txBody>
          <a:bodyPr/>
          <a:lstStyle/>
          <a:p>
            <a:r>
              <a:rPr lang="en-US"/>
              <a:t>Change analysis activities</a:t>
            </a:r>
          </a:p>
        </p:txBody>
      </p:sp>
      <p:sp>
        <p:nvSpPr>
          <p:cNvPr id="30725" name="Rectangle 5"/>
          <p:cNvSpPr>
            <a:spLocks noGrp="1" noChangeArrowheads="1"/>
          </p:cNvSpPr>
          <p:nvPr>
            <p:ph type="body" idx="1"/>
          </p:nvPr>
        </p:nvSpPr>
        <p:spPr/>
        <p:txBody>
          <a:bodyPr/>
          <a:lstStyle/>
          <a:p>
            <a:pPr>
              <a:lnSpc>
                <a:spcPct val="90000"/>
              </a:lnSpc>
            </a:pPr>
            <a:r>
              <a:rPr lang="en-US" sz="2400"/>
              <a:t>The change request is checked for validity. Customers can misunderstand requirements and suggest unnecessary changes.</a:t>
            </a:r>
          </a:p>
          <a:p>
            <a:pPr>
              <a:lnSpc>
                <a:spcPct val="90000"/>
              </a:lnSpc>
            </a:pPr>
            <a:r>
              <a:rPr lang="en-US" sz="2400"/>
              <a:t>The requirements which are directly affected by the change are discovered.</a:t>
            </a:r>
          </a:p>
          <a:p>
            <a:pPr>
              <a:lnSpc>
                <a:spcPct val="90000"/>
              </a:lnSpc>
            </a:pPr>
            <a:r>
              <a:rPr lang="en-US" sz="2400"/>
              <a:t>Traceability information is used to find dependent requirements affected by the change.</a:t>
            </a:r>
          </a:p>
          <a:p>
            <a:pPr>
              <a:lnSpc>
                <a:spcPct val="90000"/>
              </a:lnSpc>
            </a:pPr>
            <a:r>
              <a:rPr lang="en-US" sz="2400"/>
              <a:t>The actual changes which must be made to the requirements are proposed. </a:t>
            </a:r>
          </a:p>
          <a:p>
            <a:pPr>
              <a:lnSpc>
                <a:spcPct val="90000"/>
              </a:lnSpc>
            </a:pPr>
            <a:r>
              <a:rPr lang="en-US" sz="2400"/>
              <a:t>The costs of making the changes are estimated. </a:t>
            </a:r>
          </a:p>
          <a:p>
            <a:pPr>
              <a:lnSpc>
                <a:spcPct val="90000"/>
              </a:lnSpc>
            </a:pPr>
            <a:r>
              <a:rPr lang="en-US" sz="2400"/>
              <a:t>Negotiations with customers are held to check if the costs of the proposed changes are acceptable.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5">
                                            <p:txEl>
                                              <p:pRg st="0" end="0"/>
                                            </p:txEl>
                                          </p:spTgt>
                                        </p:tgtEl>
                                        <p:attrNameLst>
                                          <p:attrName>style.visibility</p:attrName>
                                        </p:attrNameLst>
                                      </p:cBhvr>
                                      <p:to>
                                        <p:strVal val="visible"/>
                                      </p:to>
                                    </p:set>
                                    <p:anim calcmode="lin" valueType="num">
                                      <p:cBhvr additive="base">
                                        <p:cTn id="7" dur="500" fill="hold"/>
                                        <p:tgtEl>
                                          <p:spTgt spid="3072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5">
                                            <p:txEl>
                                              <p:pRg st="1" end="1"/>
                                            </p:txEl>
                                          </p:spTgt>
                                        </p:tgtEl>
                                        <p:attrNameLst>
                                          <p:attrName>style.visibility</p:attrName>
                                        </p:attrNameLst>
                                      </p:cBhvr>
                                      <p:to>
                                        <p:strVal val="visible"/>
                                      </p:to>
                                    </p:set>
                                    <p:anim calcmode="lin" valueType="num">
                                      <p:cBhvr additive="base">
                                        <p:cTn id="13" dur="500" fill="hold"/>
                                        <p:tgtEl>
                                          <p:spTgt spid="3072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5">
                                            <p:txEl>
                                              <p:pRg st="2" end="2"/>
                                            </p:txEl>
                                          </p:spTgt>
                                        </p:tgtEl>
                                        <p:attrNameLst>
                                          <p:attrName>style.visibility</p:attrName>
                                        </p:attrNameLst>
                                      </p:cBhvr>
                                      <p:to>
                                        <p:strVal val="visible"/>
                                      </p:to>
                                    </p:set>
                                    <p:anim calcmode="lin" valueType="num">
                                      <p:cBhvr additive="base">
                                        <p:cTn id="19" dur="500" fill="hold"/>
                                        <p:tgtEl>
                                          <p:spTgt spid="3072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25">
                                            <p:txEl>
                                              <p:pRg st="3" end="3"/>
                                            </p:txEl>
                                          </p:spTgt>
                                        </p:tgtEl>
                                        <p:attrNameLst>
                                          <p:attrName>style.visibility</p:attrName>
                                        </p:attrNameLst>
                                      </p:cBhvr>
                                      <p:to>
                                        <p:strVal val="visible"/>
                                      </p:to>
                                    </p:set>
                                    <p:anim calcmode="lin" valueType="num">
                                      <p:cBhvr additive="base">
                                        <p:cTn id="25" dur="500" fill="hold"/>
                                        <p:tgtEl>
                                          <p:spTgt spid="3072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25">
                                            <p:txEl>
                                              <p:pRg st="4" end="4"/>
                                            </p:txEl>
                                          </p:spTgt>
                                        </p:tgtEl>
                                        <p:attrNameLst>
                                          <p:attrName>style.visibility</p:attrName>
                                        </p:attrNameLst>
                                      </p:cBhvr>
                                      <p:to>
                                        <p:strVal val="visible"/>
                                      </p:to>
                                    </p:set>
                                    <p:anim calcmode="lin" valueType="num">
                                      <p:cBhvr additive="base">
                                        <p:cTn id="31" dur="500" fill="hold"/>
                                        <p:tgtEl>
                                          <p:spTgt spid="3072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2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725">
                                            <p:txEl>
                                              <p:pRg st="5" end="5"/>
                                            </p:txEl>
                                          </p:spTgt>
                                        </p:tgtEl>
                                        <p:attrNameLst>
                                          <p:attrName>style.visibility</p:attrName>
                                        </p:attrNameLst>
                                      </p:cBhvr>
                                      <p:to>
                                        <p:strVal val="visible"/>
                                      </p:to>
                                    </p:set>
                                    <p:anim calcmode="lin" valueType="num">
                                      <p:cBhvr additive="base">
                                        <p:cTn id="37" dur="500" fill="hold"/>
                                        <p:tgtEl>
                                          <p:spTgt spid="3072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2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p:txBody>
          <a:bodyPr/>
          <a:lstStyle/>
          <a:p>
            <a:r>
              <a:rPr lang="en-US"/>
              <a:t>Change request rejection</a:t>
            </a:r>
          </a:p>
        </p:txBody>
      </p:sp>
      <p:sp>
        <p:nvSpPr>
          <p:cNvPr id="31749" name="Rectangle 5"/>
          <p:cNvSpPr>
            <a:spLocks noGrp="1" noChangeArrowheads="1"/>
          </p:cNvSpPr>
          <p:nvPr>
            <p:ph type="body" idx="1"/>
          </p:nvPr>
        </p:nvSpPr>
        <p:spPr/>
        <p:txBody>
          <a:bodyPr/>
          <a:lstStyle/>
          <a:p>
            <a:r>
              <a:rPr lang="en-US" sz="2800"/>
              <a:t>If the change request is invalid. This normally arises if a customer has misunderstood something about the requirements and proposed a change which isn’t necessary.</a:t>
            </a:r>
          </a:p>
          <a:p>
            <a:r>
              <a:rPr lang="en-US" sz="2800"/>
              <a:t>If the change request results in consequential changes which are unacceptable to the user. </a:t>
            </a:r>
          </a:p>
          <a:p>
            <a:r>
              <a:rPr lang="en-US" sz="2800"/>
              <a:t>If the cost of implementing the change is too high or takes too long.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anim calcmode="lin" valueType="num">
                                      <p:cBhvr additive="base">
                                        <p:cTn id="7" dur="500" fill="hold"/>
                                        <p:tgtEl>
                                          <p:spTgt spid="3174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49">
                                            <p:txEl>
                                              <p:pRg st="1" end="1"/>
                                            </p:txEl>
                                          </p:spTgt>
                                        </p:tgtEl>
                                        <p:attrNameLst>
                                          <p:attrName>style.visibility</p:attrName>
                                        </p:attrNameLst>
                                      </p:cBhvr>
                                      <p:to>
                                        <p:strVal val="visible"/>
                                      </p:to>
                                    </p:set>
                                    <p:anim calcmode="lin" valueType="num">
                                      <p:cBhvr additive="base">
                                        <p:cTn id="13" dur="500" fill="hold"/>
                                        <p:tgtEl>
                                          <p:spTgt spid="3174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49">
                                            <p:txEl>
                                              <p:pRg st="2" end="2"/>
                                            </p:txEl>
                                          </p:spTgt>
                                        </p:tgtEl>
                                        <p:attrNameLst>
                                          <p:attrName>style.visibility</p:attrName>
                                        </p:attrNameLst>
                                      </p:cBhvr>
                                      <p:to>
                                        <p:strVal val="visible"/>
                                      </p:to>
                                    </p:set>
                                    <p:anim calcmode="lin" valueType="num">
                                      <p:cBhvr additive="base">
                                        <p:cTn id="19" dur="500" fill="hold"/>
                                        <p:tgtEl>
                                          <p:spTgt spid="3174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p:cNvSpPr>
            <a:spLocks noGrp="1" noChangeArrowheads="1"/>
          </p:cNvSpPr>
          <p:nvPr>
            <p:ph type="title"/>
          </p:nvPr>
        </p:nvSpPr>
        <p:spPr/>
        <p:txBody>
          <a:bodyPr/>
          <a:lstStyle/>
          <a:p>
            <a:r>
              <a:rPr lang="en-US"/>
              <a:t>Change processing</a:t>
            </a:r>
          </a:p>
        </p:txBody>
      </p:sp>
      <p:sp>
        <p:nvSpPr>
          <p:cNvPr id="32773" name="Rectangle 5"/>
          <p:cNvSpPr>
            <a:spLocks noGrp="1" noChangeArrowheads="1"/>
          </p:cNvSpPr>
          <p:nvPr>
            <p:ph type="body" idx="1"/>
          </p:nvPr>
        </p:nvSpPr>
        <p:spPr/>
        <p:txBody>
          <a:bodyPr/>
          <a:lstStyle/>
          <a:p>
            <a:r>
              <a:rPr lang="en-US" sz="2800"/>
              <a:t>Proposed changes are usually recorded on a change request form which is then passed to all of the people involved in the analysis of the change</a:t>
            </a:r>
          </a:p>
          <a:p>
            <a:r>
              <a:rPr lang="en-US" sz="2800"/>
              <a:t>Change request forms may include</a:t>
            </a:r>
          </a:p>
          <a:p>
            <a:pPr lvl="1"/>
            <a:r>
              <a:rPr lang="en-US" sz="2400"/>
              <a:t>fields to document the change analysis</a:t>
            </a:r>
          </a:p>
          <a:p>
            <a:pPr lvl="1"/>
            <a:r>
              <a:rPr lang="en-US" sz="2400"/>
              <a:t>data fields </a:t>
            </a:r>
          </a:p>
          <a:p>
            <a:pPr lvl="1"/>
            <a:r>
              <a:rPr lang="en-US" sz="2400"/>
              <a:t>responsibility fields</a:t>
            </a:r>
          </a:p>
          <a:p>
            <a:pPr lvl="1"/>
            <a:r>
              <a:rPr lang="en-US" sz="2400"/>
              <a:t>status field</a:t>
            </a:r>
          </a:p>
          <a:p>
            <a:pPr lvl="1"/>
            <a:r>
              <a:rPr lang="en-US" sz="2400"/>
              <a:t>comments field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 calcmode="lin" valueType="num">
                                      <p:cBhvr additive="base">
                                        <p:cTn id="7" dur="500" fill="hold"/>
                                        <p:tgtEl>
                                          <p:spTgt spid="3277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773">
                                            <p:txEl>
                                              <p:pRg st="1" end="1"/>
                                            </p:txEl>
                                          </p:spTgt>
                                        </p:tgtEl>
                                        <p:attrNameLst>
                                          <p:attrName>style.visibility</p:attrName>
                                        </p:attrNameLst>
                                      </p:cBhvr>
                                      <p:to>
                                        <p:strVal val="visible"/>
                                      </p:to>
                                    </p:set>
                                    <p:anim calcmode="lin" valueType="num">
                                      <p:cBhvr additive="base">
                                        <p:cTn id="13" dur="500" fill="hold"/>
                                        <p:tgtEl>
                                          <p:spTgt spid="3277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2773">
                                            <p:txEl>
                                              <p:pRg st="2" end="2"/>
                                            </p:txEl>
                                          </p:spTgt>
                                        </p:tgtEl>
                                        <p:attrNameLst>
                                          <p:attrName>style.visibility</p:attrName>
                                        </p:attrNameLst>
                                      </p:cBhvr>
                                      <p:to>
                                        <p:strVal val="visible"/>
                                      </p:to>
                                    </p:set>
                                    <p:anim calcmode="lin" valueType="num">
                                      <p:cBhvr additive="base">
                                        <p:cTn id="17" dur="500" fill="hold"/>
                                        <p:tgtEl>
                                          <p:spTgt spid="3277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77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2773">
                                            <p:txEl>
                                              <p:pRg st="3" end="3"/>
                                            </p:txEl>
                                          </p:spTgt>
                                        </p:tgtEl>
                                        <p:attrNameLst>
                                          <p:attrName>style.visibility</p:attrName>
                                        </p:attrNameLst>
                                      </p:cBhvr>
                                      <p:to>
                                        <p:strVal val="visible"/>
                                      </p:to>
                                    </p:set>
                                    <p:anim calcmode="lin" valueType="num">
                                      <p:cBhvr additive="base">
                                        <p:cTn id="21" dur="500" fill="hold"/>
                                        <p:tgtEl>
                                          <p:spTgt spid="3277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277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2773">
                                            <p:txEl>
                                              <p:pRg st="4" end="4"/>
                                            </p:txEl>
                                          </p:spTgt>
                                        </p:tgtEl>
                                        <p:attrNameLst>
                                          <p:attrName>style.visibility</p:attrName>
                                        </p:attrNameLst>
                                      </p:cBhvr>
                                      <p:to>
                                        <p:strVal val="visible"/>
                                      </p:to>
                                    </p:set>
                                    <p:anim calcmode="lin" valueType="num">
                                      <p:cBhvr additive="base">
                                        <p:cTn id="25" dur="500" fill="hold"/>
                                        <p:tgtEl>
                                          <p:spTgt spid="3277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773">
                                            <p:txEl>
                                              <p:pRg st="5" end="5"/>
                                            </p:txEl>
                                          </p:spTgt>
                                        </p:tgtEl>
                                        <p:attrNameLst>
                                          <p:attrName>style.visibility</p:attrName>
                                        </p:attrNameLst>
                                      </p:cBhvr>
                                      <p:to>
                                        <p:strVal val="visible"/>
                                      </p:to>
                                    </p:set>
                                    <p:anim calcmode="lin" valueType="num">
                                      <p:cBhvr additive="base">
                                        <p:cTn id="29" dur="500" fill="hold"/>
                                        <p:tgtEl>
                                          <p:spTgt spid="3277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277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2773">
                                            <p:txEl>
                                              <p:pRg st="6" end="6"/>
                                            </p:txEl>
                                          </p:spTgt>
                                        </p:tgtEl>
                                        <p:attrNameLst>
                                          <p:attrName>style.visibility</p:attrName>
                                        </p:attrNameLst>
                                      </p:cBhvr>
                                      <p:to>
                                        <p:strVal val="visible"/>
                                      </p:to>
                                    </p:set>
                                    <p:anim calcmode="lin" valueType="num">
                                      <p:cBhvr additive="base">
                                        <p:cTn id="33" dur="500" fill="hold"/>
                                        <p:tgtEl>
                                          <p:spTgt spid="3277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277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4"/>
          <p:cNvSpPr>
            <a:spLocks noGrp="1" noChangeArrowheads="1"/>
          </p:cNvSpPr>
          <p:nvPr>
            <p:ph type="title"/>
          </p:nvPr>
        </p:nvSpPr>
        <p:spPr/>
        <p:txBody>
          <a:bodyPr>
            <a:normAutofit fontScale="90000"/>
          </a:bodyPr>
          <a:lstStyle/>
          <a:p>
            <a:r>
              <a:rPr lang="en-US" sz="3600"/>
              <a:t>Tool support for change management</a:t>
            </a:r>
          </a:p>
        </p:txBody>
      </p:sp>
      <p:sp>
        <p:nvSpPr>
          <p:cNvPr id="33797" name="Rectangle 5"/>
          <p:cNvSpPr>
            <a:spLocks noGrp="1" noChangeArrowheads="1"/>
          </p:cNvSpPr>
          <p:nvPr>
            <p:ph type="body" idx="1"/>
          </p:nvPr>
        </p:nvSpPr>
        <p:spPr/>
        <p:txBody>
          <a:bodyPr/>
          <a:lstStyle/>
          <a:p>
            <a:pPr>
              <a:lnSpc>
                <a:spcPct val="90000"/>
              </a:lnSpc>
            </a:pPr>
            <a:r>
              <a:rPr lang="en-US" sz="2400"/>
              <a:t>May be provided through requirements management tools or through configuration management tools</a:t>
            </a:r>
          </a:p>
          <a:p>
            <a:pPr>
              <a:lnSpc>
                <a:spcPct val="90000"/>
              </a:lnSpc>
            </a:pPr>
            <a:r>
              <a:rPr lang="en-US" sz="2400"/>
              <a:t>Tool facilities may include</a:t>
            </a:r>
          </a:p>
          <a:p>
            <a:pPr lvl="1">
              <a:lnSpc>
                <a:spcPct val="90000"/>
              </a:lnSpc>
            </a:pPr>
            <a:r>
              <a:rPr lang="en-US" sz="2000"/>
              <a:t>Electronic change request forms which are filled in by different participants in the process.</a:t>
            </a:r>
          </a:p>
          <a:p>
            <a:pPr lvl="1">
              <a:lnSpc>
                <a:spcPct val="90000"/>
              </a:lnSpc>
            </a:pPr>
            <a:r>
              <a:rPr lang="en-US" sz="2000"/>
              <a:t>A database to store and manage these forms.</a:t>
            </a:r>
          </a:p>
          <a:p>
            <a:pPr lvl="1">
              <a:lnSpc>
                <a:spcPct val="90000"/>
              </a:lnSpc>
            </a:pPr>
            <a:r>
              <a:rPr lang="en-US" sz="2000"/>
              <a:t>A change model which may be instantiated so that people responsible for one stage of the process know who is responsible for the next process activity.</a:t>
            </a:r>
          </a:p>
          <a:p>
            <a:pPr lvl="1">
              <a:lnSpc>
                <a:spcPct val="90000"/>
              </a:lnSpc>
            </a:pPr>
            <a:r>
              <a:rPr lang="en-US" sz="2000"/>
              <a:t>Electronic transfer of forms between people with different responsibilities and electronic mail notification when activities have been completed.</a:t>
            </a:r>
          </a:p>
          <a:p>
            <a:pPr lvl="1">
              <a:lnSpc>
                <a:spcPct val="90000"/>
              </a:lnSpc>
            </a:pPr>
            <a:r>
              <a:rPr lang="en-US" sz="2000"/>
              <a:t>In some cases, direct links to a requirements database.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7">
                                            <p:txEl>
                                              <p:pRg st="0" end="0"/>
                                            </p:txEl>
                                          </p:spTgt>
                                        </p:tgtEl>
                                        <p:attrNameLst>
                                          <p:attrName>style.visibility</p:attrName>
                                        </p:attrNameLst>
                                      </p:cBhvr>
                                      <p:to>
                                        <p:strVal val="visible"/>
                                      </p:to>
                                    </p:set>
                                    <p:anim calcmode="lin" valueType="num">
                                      <p:cBhvr additive="base">
                                        <p:cTn id="7" dur="500" fill="hold"/>
                                        <p:tgtEl>
                                          <p:spTgt spid="3379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7">
                                            <p:txEl>
                                              <p:pRg st="1" end="1"/>
                                            </p:txEl>
                                          </p:spTgt>
                                        </p:tgtEl>
                                        <p:attrNameLst>
                                          <p:attrName>style.visibility</p:attrName>
                                        </p:attrNameLst>
                                      </p:cBhvr>
                                      <p:to>
                                        <p:strVal val="visible"/>
                                      </p:to>
                                    </p:set>
                                    <p:anim calcmode="lin" valueType="num">
                                      <p:cBhvr additive="base">
                                        <p:cTn id="13" dur="500" fill="hold"/>
                                        <p:tgtEl>
                                          <p:spTgt spid="3379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79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3797">
                                            <p:txEl>
                                              <p:pRg st="2" end="2"/>
                                            </p:txEl>
                                          </p:spTgt>
                                        </p:tgtEl>
                                        <p:attrNameLst>
                                          <p:attrName>style.visibility</p:attrName>
                                        </p:attrNameLst>
                                      </p:cBhvr>
                                      <p:to>
                                        <p:strVal val="visible"/>
                                      </p:to>
                                    </p:set>
                                    <p:anim calcmode="lin" valueType="num">
                                      <p:cBhvr additive="base">
                                        <p:cTn id="17" dur="500" fill="hold"/>
                                        <p:tgtEl>
                                          <p:spTgt spid="3379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79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3797">
                                            <p:txEl>
                                              <p:pRg st="3" end="3"/>
                                            </p:txEl>
                                          </p:spTgt>
                                        </p:tgtEl>
                                        <p:attrNameLst>
                                          <p:attrName>style.visibility</p:attrName>
                                        </p:attrNameLst>
                                      </p:cBhvr>
                                      <p:to>
                                        <p:strVal val="visible"/>
                                      </p:to>
                                    </p:set>
                                    <p:anim calcmode="lin" valueType="num">
                                      <p:cBhvr additive="base">
                                        <p:cTn id="21" dur="500" fill="hold"/>
                                        <p:tgtEl>
                                          <p:spTgt spid="3379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79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3797">
                                            <p:txEl>
                                              <p:pRg st="4" end="4"/>
                                            </p:txEl>
                                          </p:spTgt>
                                        </p:tgtEl>
                                        <p:attrNameLst>
                                          <p:attrName>style.visibility</p:attrName>
                                        </p:attrNameLst>
                                      </p:cBhvr>
                                      <p:to>
                                        <p:strVal val="visible"/>
                                      </p:to>
                                    </p:set>
                                    <p:anim calcmode="lin" valueType="num">
                                      <p:cBhvr additive="base">
                                        <p:cTn id="25" dur="500" fill="hold"/>
                                        <p:tgtEl>
                                          <p:spTgt spid="3379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3797">
                                            <p:txEl>
                                              <p:pRg st="5" end="5"/>
                                            </p:txEl>
                                          </p:spTgt>
                                        </p:tgtEl>
                                        <p:attrNameLst>
                                          <p:attrName>style.visibility</p:attrName>
                                        </p:attrNameLst>
                                      </p:cBhvr>
                                      <p:to>
                                        <p:strVal val="visible"/>
                                      </p:to>
                                    </p:set>
                                    <p:anim calcmode="lin" valueType="num">
                                      <p:cBhvr additive="base">
                                        <p:cTn id="29" dur="500" fill="hold"/>
                                        <p:tgtEl>
                                          <p:spTgt spid="3379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3797">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3797">
                                            <p:txEl>
                                              <p:pRg st="6" end="6"/>
                                            </p:txEl>
                                          </p:spTgt>
                                        </p:tgtEl>
                                        <p:attrNameLst>
                                          <p:attrName>style.visibility</p:attrName>
                                        </p:attrNameLst>
                                      </p:cBhvr>
                                      <p:to>
                                        <p:strVal val="visible"/>
                                      </p:to>
                                    </p:set>
                                    <p:anim calcmode="lin" valueType="num">
                                      <p:cBhvr additive="base">
                                        <p:cTn id="33" dur="500" fill="hold"/>
                                        <p:tgtEl>
                                          <p:spTgt spid="33797">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379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4"/>
          <p:cNvSpPr>
            <a:spLocks noGrp="1" noChangeArrowheads="1"/>
          </p:cNvSpPr>
          <p:nvPr>
            <p:ph type="title"/>
          </p:nvPr>
        </p:nvSpPr>
        <p:spPr/>
        <p:txBody>
          <a:bodyPr/>
          <a:lstStyle/>
          <a:p>
            <a:r>
              <a:rPr lang="en-US"/>
              <a:t>Traceability</a:t>
            </a:r>
          </a:p>
        </p:txBody>
      </p:sp>
      <p:sp>
        <p:nvSpPr>
          <p:cNvPr id="34821" name="Rectangle 5"/>
          <p:cNvSpPr>
            <a:spLocks noGrp="1" noChangeArrowheads="1"/>
          </p:cNvSpPr>
          <p:nvPr>
            <p:ph type="body" idx="1"/>
          </p:nvPr>
        </p:nvSpPr>
        <p:spPr>
          <a:xfrm>
            <a:off x="457200" y="1371600"/>
            <a:ext cx="8229600" cy="1838325"/>
          </a:xfrm>
        </p:spPr>
        <p:txBody>
          <a:bodyPr>
            <a:normAutofit lnSpcReduction="10000"/>
          </a:bodyPr>
          <a:lstStyle/>
          <a:p>
            <a:pPr>
              <a:lnSpc>
                <a:spcPct val="90000"/>
              </a:lnSpc>
            </a:pPr>
            <a:r>
              <a:rPr lang="en-US" sz="2800"/>
              <a:t>Traceability information is information which helps you assess the impact of requirements change. It links related requirements and the requirements and other system representations</a:t>
            </a:r>
          </a:p>
          <a:p>
            <a:pPr>
              <a:lnSpc>
                <a:spcPct val="90000"/>
              </a:lnSpc>
            </a:pPr>
            <a:endParaRPr lang="en-US" sz="2800"/>
          </a:p>
        </p:txBody>
      </p:sp>
      <p:grpSp>
        <p:nvGrpSpPr>
          <p:cNvPr id="2" name="Group 6"/>
          <p:cNvGrpSpPr>
            <a:grpSpLocks/>
          </p:cNvGrpSpPr>
          <p:nvPr/>
        </p:nvGrpSpPr>
        <p:grpSpPr bwMode="auto">
          <a:xfrm>
            <a:off x="1143000" y="3048000"/>
            <a:ext cx="7391400" cy="3465513"/>
            <a:chOff x="192" y="1127"/>
            <a:chExt cx="5280" cy="3150"/>
          </a:xfrm>
        </p:grpSpPr>
        <p:pic>
          <p:nvPicPr>
            <p:cNvPr id="34823" name="Picture 7"/>
            <p:cNvPicPr>
              <a:picLocks noChangeAspect="1" noChangeArrowheads="1"/>
            </p:cNvPicPr>
            <p:nvPr/>
          </p:nvPicPr>
          <p:blipFill>
            <a:blip r:embed="rId2"/>
            <a:srcRect/>
            <a:stretch>
              <a:fillRect/>
            </a:stretch>
          </p:blipFill>
          <p:spPr bwMode="auto">
            <a:xfrm>
              <a:off x="192" y="1127"/>
              <a:ext cx="1632" cy="553"/>
            </a:xfrm>
            <a:prstGeom prst="rect">
              <a:avLst/>
            </a:prstGeom>
            <a:noFill/>
            <a:ln w="12700">
              <a:noFill/>
              <a:miter lim="800000"/>
              <a:headEnd/>
              <a:tailEnd/>
            </a:ln>
            <a:effectLst/>
          </p:spPr>
        </p:pic>
        <p:pic>
          <p:nvPicPr>
            <p:cNvPr id="34824" name="Picture 8"/>
            <p:cNvPicPr>
              <a:picLocks noChangeAspect="1" noChangeArrowheads="1"/>
            </p:cNvPicPr>
            <p:nvPr/>
          </p:nvPicPr>
          <p:blipFill>
            <a:blip r:embed="rId2"/>
            <a:srcRect/>
            <a:stretch>
              <a:fillRect/>
            </a:stretch>
          </p:blipFill>
          <p:spPr bwMode="auto">
            <a:xfrm>
              <a:off x="1680" y="1872"/>
              <a:ext cx="1632" cy="553"/>
            </a:xfrm>
            <a:prstGeom prst="rect">
              <a:avLst/>
            </a:prstGeom>
            <a:noFill/>
            <a:ln w="12700">
              <a:noFill/>
              <a:miter lim="800000"/>
              <a:headEnd/>
              <a:tailEnd/>
            </a:ln>
            <a:effectLst/>
          </p:spPr>
        </p:pic>
        <p:pic>
          <p:nvPicPr>
            <p:cNvPr id="34825" name="Picture 9"/>
            <p:cNvPicPr>
              <a:picLocks noChangeAspect="1" noChangeArrowheads="1"/>
            </p:cNvPicPr>
            <p:nvPr/>
          </p:nvPicPr>
          <p:blipFill>
            <a:blip r:embed="rId2"/>
            <a:srcRect/>
            <a:stretch>
              <a:fillRect/>
            </a:stretch>
          </p:blipFill>
          <p:spPr bwMode="auto">
            <a:xfrm>
              <a:off x="2880" y="2640"/>
              <a:ext cx="1632" cy="553"/>
            </a:xfrm>
            <a:prstGeom prst="rect">
              <a:avLst/>
            </a:prstGeom>
            <a:noFill/>
            <a:ln w="12700">
              <a:noFill/>
              <a:miter lim="800000"/>
              <a:headEnd/>
              <a:tailEnd/>
            </a:ln>
            <a:effectLst/>
          </p:spPr>
        </p:pic>
        <p:pic>
          <p:nvPicPr>
            <p:cNvPr id="34826" name="Picture 10"/>
            <p:cNvPicPr>
              <a:picLocks noChangeAspect="1" noChangeArrowheads="1"/>
            </p:cNvPicPr>
            <p:nvPr/>
          </p:nvPicPr>
          <p:blipFill>
            <a:blip r:embed="rId2"/>
            <a:srcRect/>
            <a:stretch>
              <a:fillRect/>
            </a:stretch>
          </p:blipFill>
          <p:spPr bwMode="auto">
            <a:xfrm>
              <a:off x="3360" y="1127"/>
              <a:ext cx="1632" cy="553"/>
            </a:xfrm>
            <a:prstGeom prst="rect">
              <a:avLst/>
            </a:prstGeom>
            <a:noFill/>
            <a:ln w="12700">
              <a:noFill/>
              <a:miter lim="800000"/>
              <a:headEnd/>
              <a:tailEnd/>
            </a:ln>
            <a:effectLst/>
          </p:spPr>
        </p:pic>
        <p:pic>
          <p:nvPicPr>
            <p:cNvPr id="34827" name="Picture 11"/>
            <p:cNvPicPr>
              <a:picLocks noChangeAspect="1" noChangeArrowheads="1"/>
            </p:cNvPicPr>
            <p:nvPr/>
          </p:nvPicPr>
          <p:blipFill>
            <a:blip r:embed="rId2"/>
            <a:srcRect/>
            <a:stretch>
              <a:fillRect/>
            </a:stretch>
          </p:blipFill>
          <p:spPr bwMode="auto">
            <a:xfrm>
              <a:off x="3840" y="3456"/>
              <a:ext cx="1632" cy="553"/>
            </a:xfrm>
            <a:prstGeom prst="rect">
              <a:avLst/>
            </a:prstGeom>
            <a:noFill/>
            <a:ln w="12700">
              <a:noFill/>
              <a:miter lim="800000"/>
              <a:headEnd/>
              <a:tailEnd/>
            </a:ln>
            <a:effectLst/>
          </p:spPr>
        </p:pic>
        <p:sp>
          <p:nvSpPr>
            <p:cNvPr id="34828" name="Text Box 12"/>
            <p:cNvSpPr txBox="1">
              <a:spLocks noChangeArrowheads="1"/>
            </p:cNvSpPr>
            <p:nvPr/>
          </p:nvSpPr>
          <p:spPr bwMode="auto">
            <a:xfrm>
              <a:off x="720" y="1680"/>
              <a:ext cx="481" cy="246"/>
            </a:xfrm>
            <a:prstGeom prst="rect">
              <a:avLst/>
            </a:prstGeom>
            <a:noFill/>
            <a:ln w="12700">
              <a:noFill/>
              <a:miter lim="800000"/>
              <a:headEnd/>
              <a:tailEnd/>
            </a:ln>
            <a:effectLst/>
          </p:spPr>
          <p:txBody>
            <a:bodyPr wrap="none" lIns="90487" tIns="44450" rIns="90487" bIns="44450">
              <a:spAutoFit/>
            </a:bodyPr>
            <a:lstStyle/>
            <a:p>
              <a:pPr eaLnBrk="0" hangingPunct="0">
                <a:spcBef>
                  <a:spcPct val="20000"/>
                </a:spcBef>
                <a:buClr>
                  <a:srgbClr val="0000FF"/>
                </a:buClr>
                <a:buFont typeface="Wingdings" pitchFamily="2" charset="2"/>
                <a:buNone/>
              </a:pPr>
              <a:r>
                <a:rPr lang="en-US" sz="1200" b="1">
                  <a:latin typeface="Times New Roman" pitchFamily="18" charset="0"/>
                </a:rPr>
                <a:t>Origins</a:t>
              </a:r>
            </a:p>
          </p:txBody>
        </p:sp>
        <p:sp>
          <p:nvSpPr>
            <p:cNvPr id="34829" name="Text Box 13"/>
            <p:cNvSpPr txBox="1">
              <a:spLocks noChangeArrowheads="1"/>
            </p:cNvSpPr>
            <p:nvPr/>
          </p:nvSpPr>
          <p:spPr bwMode="auto">
            <a:xfrm>
              <a:off x="1583" y="2447"/>
              <a:ext cx="1142" cy="247"/>
            </a:xfrm>
            <a:prstGeom prst="rect">
              <a:avLst/>
            </a:prstGeom>
            <a:noFill/>
            <a:ln w="12700">
              <a:noFill/>
              <a:miter lim="800000"/>
              <a:headEnd/>
              <a:tailEnd/>
            </a:ln>
            <a:effectLst/>
          </p:spPr>
          <p:txBody>
            <a:bodyPr wrap="none" lIns="90487" tIns="44450" rIns="90487" bIns="44450">
              <a:spAutoFit/>
            </a:bodyPr>
            <a:lstStyle/>
            <a:p>
              <a:pPr eaLnBrk="0" hangingPunct="0">
                <a:spcBef>
                  <a:spcPct val="20000"/>
                </a:spcBef>
                <a:buClr>
                  <a:srgbClr val="0000FF"/>
                </a:buClr>
                <a:buFont typeface="Wingdings" pitchFamily="2" charset="2"/>
                <a:buNone/>
              </a:pPr>
              <a:r>
                <a:rPr lang="en-US" sz="1200" b="1">
                  <a:latin typeface="Times New Roman" pitchFamily="18" charset="0"/>
                </a:rPr>
                <a:t>System Requirements</a:t>
              </a:r>
            </a:p>
          </p:txBody>
        </p:sp>
        <p:sp>
          <p:nvSpPr>
            <p:cNvPr id="34830" name="Text Box 14"/>
            <p:cNvSpPr txBox="1">
              <a:spLocks noChangeArrowheads="1"/>
            </p:cNvSpPr>
            <p:nvPr/>
          </p:nvSpPr>
          <p:spPr bwMode="auto">
            <a:xfrm>
              <a:off x="3094" y="3216"/>
              <a:ext cx="1227" cy="247"/>
            </a:xfrm>
            <a:prstGeom prst="rect">
              <a:avLst/>
            </a:prstGeom>
            <a:noFill/>
            <a:ln w="12700">
              <a:noFill/>
              <a:miter lim="800000"/>
              <a:headEnd/>
              <a:tailEnd/>
            </a:ln>
            <a:effectLst/>
          </p:spPr>
          <p:txBody>
            <a:bodyPr wrap="none" lIns="90487" tIns="44450" rIns="90487" bIns="44450">
              <a:spAutoFit/>
            </a:bodyPr>
            <a:lstStyle/>
            <a:p>
              <a:pPr eaLnBrk="0" hangingPunct="0">
                <a:spcBef>
                  <a:spcPct val="20000"/>
                </a:spcBef>
                <a:buClr>
                  <a:srgbClr val="0000FF"/>
                </a:buClr>
                <a:buFont typeface="Wingdings" pitchFamily="2" charset="2"/>
                <a:buNone/>
              </a:pPr>
              <a:r>
                <a:rPr lang="en-US" sz="1200" b="1">
                  <a:latin typeface="Times New Roman" pitchFamily="18" charset="0"/>
                </a:rPr>
                <a:t>Software Requirements</a:t>
              </a:r>
            </a:p>
          </p:txBody>
        </p:sp>
        <p:sp>
          <p:nvSpPr>
            <p:cNvPr id="34831" name="Text Box 15"/>
            <p:cNvSpPr txBox="1">
              <a:spLocks noChangeArrowheads="1"/>
            </p:cNvSpPr>
            <p:nvPr/>
          </p:nvSpPr>
          <p:spPr bwMode="auto">
            <a:xfrm>
              <a:off x="3840" y="1729"/>
              <a:ext cx="981" cy="246"/>
            </a:xfrm>
            <a:prstGeom prst="rect">
              <a:avLst/>
            </a:prstGeom>
            <a:noFill/>
            <a:ln w="12700">
              <a:noFill/>
              <a:miter lim="800000"/>
              <a:headEnd/>
              <a:tailEnd/>
            </a:ln>
            <a:effectLst/>
          </p:spPr>
          <p:txBody>
            <a:bodyPr wrap="none" lIns="90487" tIns="44450" rIns="90487" bIns="44450">
              <a:spAutoFit/>
            </a:bodyPr>
            <a:lstStyle/>
            <a:p>
              <a:pPr eaLnBrk="0" hangingPunct="0">
                <a:spcBef>
                  <a:spcPct val="20000"/>
                </a:spcBef>
                <a:buClr>
                  <a:srgbClr val="0000FF"/>
                </a:buClr>
                <a:buFont typeface="Wingdings" pitchFamily="2" charset="2"/>
                <a:buNone/>
              </a:pPr>
              <a:r>
                <a:rPr lang="en-US" sz="1200" b="1">
                  <a:latin typeface="Times New Roman" pitchFamily="18" charset="0"/>
                </a:rPr>
                <a:t>System Test Cases</a:t>
              </a:r>
            </a:p>
          </p:txBody>
        </p:sp>
        <p:sp>
          <p:nvSpPr>
            <p:cNvPr id="34832" name="Text Box 16"/>
            <p:cNvSpPr txBox="1">
              <a:spLocks noChangeArrowheads="1"/>
            </p:cNvSpPr>
            <p:nvPr/>
          </p:nvSpPr>
          <p:spPr bwMode="auto">
            <a:xfrm>
              <a:off x="4176" y="4030"/>
              <a:ext cx="888" cy="247"/>
            </a:xfrm>
            <a:prstGeom prst="rect">
              <a:avLst/>
            </a:prstGeom>
            <a:noFill/>
            <a:ln w="12700">
              <a:noFill/>
              <a:miter lim="800000"/>
              <a:headEnd/>
              <a:tailEnd/>
            </a:ln>
            <a:effectLst/>
          </p:spPr>
          <p:txBody>
            <a:bodyPr wrap="none" lIns="90487" tIns="44450" rIns="90487" bIns="44450">
              <a:spAutoFit/>
            </a:bodyPr>
            <a:lstStyle/>
            <a:p>
              <a:pPr eaLnBrk="0" hangingPunct="0">
                <a:spcBef>
                  <a:spcPct val="20000"/>
                </a:spcBef>
                <a:buClr>
                  <a:srgbClr val="0000FF"/>
                </a:buClr>
                <a:buFont typeface="Wingdings" pitchFamily="2" charset="2"/>
                <a:buNone/>
              </a:pPr>
              <a:r>
                <a:rPr lang="en-US" sz="1200" b="1">
                  <a:latin typeface="Times New Roman" pitchFamily="18" charset="0"/>
                </a:rPr>
                <a:t>Software Design</a:t>
              </a:r>
            </a:p>
          </p:txBody>
        </p:sp>
        <p:sp>
          <p:nvSpPr>
            <p:cNvPr id="34833" name="Line 17"/>
            <p:cNvSpPr>
              <a:spLocks noChangeShapeType="1"/>
            </p:cNvSpPr>
            <p:nvPr/>
          </p:nvSpPr>
          <p:spPr bwMode="auto">
            <a:xfrm flipH="1" flipV="1">
              <a:off x="1632" y="1152"/>
              <a:ext cx="1248" cy="768"/>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34" name="Line 18"/>
            <p:cNvSpPr>
              <a:spLocks noChangeShapeType="1"/>
            </p:cNvSpPr>
            <p:nvPr/>
          </p:nvSpPr>
          <p:spPr bwMode="auto">
            <a:xfrm flipH="1" flipV="1">
              <a:off x="1584" y="1584"/>
              <a:ext cx="1296" cy="816"/>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35" name="Line 19"/>
            <p:cNvSpPr>
              <a:spLocks noChangeShapeType="1"/>
            </p:cNvSpPr>
            <p:nvPr/>
          </p:nvSpPr>
          <p:spPr bwMode="auto">
            <a:xfrm flipH="1" flipV="1">
              <a:off x="3072" y="1920"/>
              <a:ext cx="1056" cy="768"/>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36" name="Line 20"/>
            <p:cNvSpPr>
              <a:spLocks noChangeShapeType="1"/>
            </p:cNvSpPr>
            <p:nvPr/>
          </p:nvSpPr>
          <p:spPr bwMode="auto">
            <a:xfrm flipH="1" flipV="1">
              <a:off x="3072" y="2064"/>
              <a:ext cx="1056" cy="624"/>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37" name="Line 21"/>
            <p:cNvSpPr>
              <a:spLocks noChangeShapeType="1"/>
            </p:cNvSpPr>
            <p:nvPr/>
          </p:nvSpPr>
          <p:spPr bwMode="auto">
            <a:xfrm flipH="1" flipV="1">
              <a:off x="4272" y="2880"/>
              <a:ext cx="960" cy="768"/>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38" name="Line 22"/>
            <p:cNvSpPr>
              <a:spLocks noChangeShapeType="1"/>
            </p:cNvSpPr>
            <p:nvPr/>
          </p:nvSpPr>
          <p:spPr bwMode="auto">
            <a:xfrm flipH="1">
              <a:off x="3264" y="1200"/>
              <a:ext cx="1200" cy="720"/>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39" name="Line 23"/>
            <p:cNvSpPr>
              <a:spLocks noChangeShapeType="1"/>
            </p:cNvSpPr>
            <p:nvPr/>
          </p:nvSpPr>
          <p:spPr bwMode="auto">
            <a:xfrm flipH="1">
              <a:off x="3264" y="1200"/>
              <a:ext cx="1200" cy="816"/>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pic>
          <p:nvPicPr>
            <p:cNvPr id="34840" name="Picture 24"/>
            <p:cNvPicPr>
              <a:picLocks noChangeAspect="1" noChangeArrowheads="1"/>
            </p:cNvPicPr>
            <p:nvPr/>
          </p:nvPicPr>
          <p:blipFill>
            <a:blip r:embed="rId2"/>
            <a:srcRect/>
            <a:stretch>
              <a:fillRect/>
            </a:stretch>
          </p:blipFill>
          <p:spPr bwMode="auto">
            <a:xfrm>
              <a:off x="624" y="2976"/>
              <a:ext cx="1632" cy="553"/>
            </a:xfrm>
            <a:prstGeom prst="rect">
              <a:avLst/>
            </a:prstGeom>
            <a:noFill/>
            <a:ln w="12700">
              <a:noFill/>
              <a:miter lim="800000"/>
              <a:headEnd/>
              <a:tailEnd/>
            </a:ln>
            <a:effectLst/>
          </p:spPr>
        </p:pic>
        <p:sp>
          <p:nvSpPr>
            <p:cNvPr id="34841" name="Line 25"/>
            <p:cNvSpPr>
              <a:spLocks noChangeShapeType="1"/>
            </p:cNvSpPr>
            <p:nvPr/>
          </p:nvSpPr>
          <p:spPr bwMode="auto">
            <a:xfrm flipV="1">
              <a:off x="2016" y="2400"/>
              <a:ext cx="720" cy="720"/>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42" name="Line 26"/>
            <p:cNvSpPr>
              <a:spLocks noChangeShapeType="1"/>
            </p:cNvSpPr>
            <p:nvPr/>
          </p:nvSpPr>
          <p:spPr bwMode="auto">
            <a:xfrm flipH="1">
              <a:off x="2160" y="2832"/>
              <a:ext cx="1776" cy="336"/>
            </a:xfrm>
            <a:prstGeom prst="line">
              <a:avLst/>
            </a:prstGeom>
            <a:noFill/>
            <a:ln w="12700">
              <a:solidFill>
                <a:schemeClr val="tx1"/>
              </a:solidFill>
              <a:round/>
              <a:headEnd/>
              <a:tailEnd type="triangle" w="med" len="med"/>
            </a:ln>
            <a:effectLst/>
          </p:spPr>
          <p:txBody>
            <a:bodyPr wrap="none" lIns="90487" tIns="44450" rIns="90487" bIns="44450" anchor="ctr"/>
            <a:lstStyle/>
            <a:p>
              <a:endParaRPr lang="en-GB"/>
            </a:p>
          </p:txBody>
        </p:sp>
        <p:sp>
          <p:nvSpPr>
            <p:cNvPr id="34843" name="Text Box 27"/>
            <p:cNvSpPr txBox="1">
              <a:spLocks noChangeArrowheads="1"/>
            </p:cNvSpPr>
            <p:nvPr/>
          </p:nvSpPr>
          <p:spPr bwMode="auto">
            <a:xfrm>
              <a:off x="961" y="3600"/>
              <a:ext cx="1083" cy="247"/>
            </a:xfrm>
            <a:prstGeom prst="rect">
              <a:avLst/>
            </a:prstGeom>
            <a:noFill/>
            <a:ln w="12700">
              <a:noFill/>
              <a:miter lim="800000"/>
              <a:headEnd/>
              <a:tailEnd/>
            </a:ln>
            <a:effectLst/>
          </p:spPr>
          <p:txBody>
            <a:bodyPr wrap="none" lIns="90487" tIns="44450" rIns="90487" bIns="44450">
              <a:spAutoFit/>
            </a:bodyPr>
            <a:lstStyle/>
            <a:p>
              <a:pPr eaLnBrk="0" hangingPunct="0">
                <a:spcBef>
                  <a:spcPct val="20000"/>
                </a:spcBef>
                <a:buClr>
                  <a:srgbClr val="0000FF"/>
                </a:buClr>
                <a:buFont typeface="Wingdings" pitchFamily="2" charset="2"/>
                <a:buNone/>
              </a:pPr>
              <a:r>
                <a:rPr lang="en-US" sz="1200" b="1">
                  <a:latin typeface="Times New Roman" pitchFamily="18" charset="0"/>
                </a:rPr>
                <a:t>System Architecture</a:t>
              </a:r>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8" tIns="44450" rIns="90488" bIns="44450" anchor="b"/>
          <a:lstStyle/>
          <a:p>
            <a:r>
              <a:rPr lang="en-US" sz="4000"/>
              <a:t>Types of traceability information</a:t>
            </a:r>
          </a:p>
        </p:txBody>
      </p:sp>
      <p:sp>
        <p:nvSpPr>
          <p:cNvPr id="35844" name="Rectangle 4"/>
          <p:cNvSpPr>
            <a:spLocks noGrp="1" noChangeArrowheads="1"/>
          </p:cNvSpPr>
          <p:nvPr>
            <p:ph type="body" sz="half" idx="1"/>
          </p:nvPr>
        </p:nvSpPr>
        <p:spPr>
          <a:xfrm>
            <a:off x="457200" y="1371600"/>
            <a:ext cx="8229600" cy="2798763"/>
          </a:xfrm>
        </p:spPr>
        <p:txBody>
          <a:bodyPr/>
          <a:lstStyle/>
          <a:p>
            <a:pPr>
              <a:lnSpc>
                <a:spcPct val="90000"/>
              </a:lnSpc>
            </a:pPr>
            <a:r>
              <a:rPr lang="en-US" sz="2000"/>
              <a:t>Backward-from traceability  Links requirements to their sources in other documents or people</a:t>
            </a:r>
          </a:p>
          <a:p>
            <a:pPr>
              <a:lnSpc>
                <a:spcPct val="90000"/>
              </a:lnSpc>
            </a:pPr>
            <a:r>
              <a:rPr lang="en-US" sz="2000"/>
              <a:t>Forward-from traceability  Links requirements to the design and implementation components</a:t>
            </a:r>
          </a:p>
          <a:p>
            <a:pPr>
              <a:lnSpc>
                <a:spcPct val="90000"/>
              </a:lnSpc>
            </a:pPr>
            <a:r>
              <a:rPr lang="en-US" sz="2000"/>
              <a:t>Backward-to traceability  Links design and implementation components backs to requirements</a:t>
            </a:r>
          </a:p>
          <a:p>
            <a:pPr>
              <a:lnSpc>
                <a:spcPct val="90000"/>
              </a:lnSpc>
            </a:pPr>
            <a:r>
              <a:rPr lang="en-US" sz="2000"/>
              <a:t>Forward-to traceability  Links other documents (which may have preceded the requirements document) to relevant requirements.</a:t>
            </a:r>
          </a:p>
          <a:p>
            <a:pPr>
              <a:lnSpc>
                <a:spcPct val="90000"/>
              </a:lnSpc>
            </a:pPr>
            <a:endParaRPr lang="en-US" sz="2000"/>
          </a:p>
        </p:txBody>
      </p:sp>
      <p:graphicFrame>
        <p:nvGraphicFramePr>
          <p:cNvPr id="35843" name="Object 3"/>
          <p:cNvGraphicFramePr>
            <a:graphicFrameLocks noGrp="1"/>
          </p:cNvGraphicFramePr>
          <p:nvPr>
            <p:ph sz="half" idx="2"/>
          </p:nvPr>
        </p:nvGraphicFramePr>
        <p:xfrm>
          <a:off x="533400" y="4267200"/>
          <a:ext cx="8305800" cy="1676400"/>
        </p:xfrm>
        <a:graphic>
          <a:graphicData uri="http://schemas.openxmlformats.org/presentationml/2006/ole">
            <mc:AlternateContent xmlns:mc="http://schemas.openxmlformats.org/markup-compatibility/2006">
              <mc:Choice xmlns:v="urn:schemas-microsoft-com:vml" Requires="v">
                <p:oleObj spid="_x0000_s3076"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267200"/>
                        <a:ext cx="83058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anim calcmode="lin" valueType="num">
                                      <p:cBhvr additive="base">
                                        <p:cTn id="7" dur="500" fill="hold"/>
                                        <p:tgtEl>
                                          <p:spTgt spid="358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844">
                                            <p:txEl>
                                              <p:pRg st="1" end="1"/>
                                            </p:txEl>
                                          </p:spTgt>
                                        </p:tgtEl>
                                        <p:attrNameLst>
                                          <p:attrName>style.visibility</p:attrName>
                                        </p:attrNameLst>
                                      </p:cBhvr>
                                      <p:to>
                                        <p:strVal val="visible"/>
                                      </p:to>
                                    </p:set>
                                    <p:anim calcmode="lin" valueType="num">
                                      <p:cBhvr additive="base">
                                        <p:cTn id="13" dur="500" fill="hold"/>
                                        <p:tgtEl>
                                          <p:spTgt spid="3584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844">
                                            <p:txEl>
                                              <p:pRg st="2" end="2"/>
                                            </p:txEl>
                                          </p:spTgt>
                                        </p:tgtEl>
                                        <p:attrNameLst>
                                          <p:attrName>style.visibility</p:attrName>
                                        </p:attrNameLst>
                                      </p:cBhvr>
                                      <p:to>
                                        <p:strVal val="visible"/>
                                      </p:to>
                                    </p:set>
                                    <p:anim calcmode="lin" valueType="num">
                                      <p:cBhvr additive="base">
                                        <p:cTn id="19" dur="500" fill="hold"/>
                                        <p:tgtEl>
                                          <p:spTgt spid="3584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8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5844">
                                            <p:txEl>
                                              <p:pRg st="3" end="3"/>
                                            </p:txEl>
                                          </p:spTgt>
                                        </p:tgtEl>
                                        <p:attrNameLst>
                                          <p:attrName>style.visibility</p:attrName>
                                        </p:attrNameLst>
                                      </p:cBhvr>
                                      <p:to>
                                        <p:strVal val="visible"/>
                                      </p:to>
                                    </p:set>
                                    <p:anim calcmode="lin" valueType="num">
                                      <p:cBhvr additive="base">
                                        <p:cTn id="25" dur="500" fill="hold"/>
                                        <p:tgtEl>
                                          <p:spTgt spid="3584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84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35843"/>
                                        </p:tgtEl>
                                        <p:attrNameLst>
                                          <p:attrName>style.visibility</p:attrName>
                                        </p:attrNameLst>
                                      </p:cBhvr>
                                      <p:to>
                                        <p:strVal val="visible"/>
                                      </p:to>
                                    </p:set>
                                    <p:animEffect transition="in" filter="checkerboard(across)">
                                      <p:cBhvr>
                                        <p:cTn id="31" dur="500"/>
                                        <p:tgtEl>
                                          <p:spTgt spid="35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8" tIns="44450" rIns="90488" bIns="44450" anchor="b"/>
          <a:lstStyle/>
          <a:p>
            <a:r>
              <a:rPr lang="en-US"/>
              <a:t>Types of traceability</a:t>
            </a:r>
          </a:p>
        </p:txBody>
      </p:sp>
      <p:sp>
        <p:nvSpPr>
          <p:cNvPr id="36867" name="Rectangle 3"/>
          <p:cNvSpPr>
            <a:spLocks noGrp="1" noChangeArrowheads="1"/>
          </p:cNvSpPr>
          <p:nvPr>
            <p:ph type="body" idx="1"/>
          </p:nvPr>
        </p:nvSpPr>
        <p:spPr>
          <a:noFill/>
          <a:ln/>
        </p:spPr>
        <p:txBody>
          <a:bodyPr lIns="90488" tIns="44450" rIns="90488" bIns="44450"/>
          <a:lstStyle/>
          <a:p>
            <a:r>
              <a:rPr lang="en-US" sz="2800"/>
              <a:t>Requirements-sources traceability</a:t>
            </a:r>
          </a:p>
          <a:p>
            <a:pPr lvl="1"/>
            <a:r>
              <a:rPr lang="en-US" sz="2400"/>
              <a:t>Links the requirement and the people or documents which specified the requirement</a:t>
            </a:r>
          </a:p>
          <a:p>
            <a:r>
              <a:rPr lang="en-US" sz="2800"/>
              <a:t>Requirements-rationale traceability</a:t>
            </a:r>
          </a:p>
          <a:p>
            <a:pPr lvl="1"/>
            <a:r>
              <a:rPr lang="en-US" sz="2400"/>
              <a:t>Links the requirement with a description of why that requirement has been specified.</a:t>
            </a:r>
          </a:p>
          <a:p>
            <a:r>
              <a:rPr lang="en-US" sz="2800"/>
              <a:t>Requirements-requirements traceability</a:t>
            </a:r>
          </a:p>
          <a:p>
            <a:pPr lvl="1"/>
            <a:r>
              <a:rPr lang="en-US" sz="2400"/>
              <a:t>Links requirements with other requirements which are, in some way, dependent on them. This should be a two-way link (dependants and is-dependent 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anim calcmode="lin" valueType="num">
                                      <p:cBhvr additive="base">
                                        <p:cTn id="11"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867">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 calcmode="lin" valueType="num">
                                      <p:cBhvr additive="base">
                                        <p:cTn id="17"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867">
                                            <p:txEl>
                                              <p:pRg st="2" end="2"/>
                                            </p:txEl>
                                          </p:spTgt>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36867">
                                            <p:txEl>
                                              <p:pRg st="3" end="3"/>
                                            </p:txEl>
                                          </p:spTgt>
                                        </p:tgtEl>
                                        <p:attrNameLst>
                                          <p:attrName>style.visibility</p:attrName>
                                        </p:attrNameLst>
                                      </p:cBhvr>
                                      <p:to>
                                        <p:strVal val="visible"/>
                                      </p:to>
                                    </p:set>
                                    <p:anim calcmode="lin" valueType="num">
                                      <p:cBhvr additive="base">
                                        <p:cTn id="21"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867">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 calcmode="lin" valueType="num">
                                      <p:cBhvr additive="base">
                                        <p:cTn id="27"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867">
                                            <p:txEl>
                                              <p:pRg st="4" end="4"/>
                                            </p:tx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36867">
                                            <p:txEl>
                                              <p:pRg st="5" end="5"/>
                                            </p:txEl>
                                          </p:spTgt>
                                        </p:tgtEl>
                                        <p:attrNameLst>
                                          <p:attrName>style.visibility</p:attrName>
                                        </p:attrNameLst>
                                      </p:cBhvr>
                                      <p:to>
                                        <p:strVal val="visible"/>
                                      </p:to>
                                    </p:set>
                                    <p:anim calcmode="lin" valueType="num">
                                      <p:cBhvr additive="base">
                                        <p:cTn id="31"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5" end="5"/>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8" tIns="44450" rIns="90488" bIns="44450" anchor="b"/>
          <a:lstStyle/>
          <a:p>
            <a:r>
              <a:rPr lang="en-US"/>
              <a:t>Types of traceability</a:t>
            </a:r>
          </a:p>
        </p:txBody>
      </p:sp>
      <p:sp>
        <p:nvSpPr>
          <p:cNvPr id="37891" name="Rectangle 3"/>
          <p:cNvSpPr>
            <a:spLocks noGrp="1" noChangeArrowheads="1"/>
          </p:cNvSpPr>
          <p:nvPr>
            <p:ph type="body" idx="1"/>
          </p:nvPr>
        </p:nvSpPr>
        <p:spPr>
          <a:noFill/>
          <a:ln/>
        </p:spPr>
        <p:txBody>
          <a:bodyPr lIns="90488" tIns="44450" rIns="90488" bIns="44450"/>
          <a:lstStyle/>
          <a:p>
            <a:pPr>
              <a:lnSpc>
                <a:spcPct val="80000"/>
              </a:lnSpc>
            </a:pPr>
            <a:r>
              <a:rPr lang="en-US" sz="2800"/>
              <a:t>Requirements-architecture traceability</a:t>
            </a:r>
          </a:p>
          <a:p>
            <a:pPr lvl="1">
              <a:lnSpc>
                <a:spcPct val="80000"/>
              </a:lnSpc>
            </a:pPr>
            <a:r>
              <a:rPr lang="en-US" sz="2400"/>
              <a:t>Links requirements with the sub-systems where these requirements are implemented. This is particularly important where sub-systems are being developed by different sub-contractors</a:t>
            </a:r>
          </a:p>
          <a:p>
            <a:pPr>
              <a:lnSpc>
                <a:spcPct val="80000"/>
              </a:lnSpc>
            </a:pPr>
            <a:r>
              <a:rPr lang="en-US" sz="2800"/>
              <a:t>Requirements-design traceability</a:t>
            </a:r>
          </a:p>
          <a:p>
            <a:pPr lvl="1">
              <a:lnSpc>
                <a:spcPct val="80000"/>
              </a:lnSpc>
            </a:pPr>
            <a:r>
              <a:rPr lang="en-US" sz="2400"/>
              <a:t>Links requirements with specific hardware or software components in the system which are used to implement the requirement</a:t>
            </a:r>
          </a:p>
          <a:p>
            <a:pPr>
              <a:lnSpc>
                <a:spcPct val="80000"/>
              </a:lnSpc>
            </a:pPr>
            <a:r>
              <a:rPr lang="en-US" sz="2800"/>
              <a:t>Requirements-interface traceability</a:t>
            </a:r>
          </a:p>
          <a:p>
            <a:pPr lvl="1">
              <a:lnSpc>
                <a:spcPct val="80000"/>
              </a:lnSpc>
            </a:pPr>
            <a:r>
              <a:rPr lang="en-US" sz="2400"/>
              <a:t>Links requirements with the interfaces of external systems which are used in the provision of the requirements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anim calcmode="lin" valueType="num">
                                      <p:cBhvr additive="base">
                                        <p:cTn id="11"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891">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 calcmode="lin" valueType="num">
                                      <p:cBhvr additive="base">
                                        <p:cTn id="17"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7891">
                                            <p:txEl>
                                              <p:pRg st="2" end="2"/>
                                            </p:txEl>
                                          </p:spTgt>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37891">
                                            <p:txEl>
                                              <p:pRg st="3" end="3"/>
                                            </p:txEl>
                                          </p:spTgt>
                                        </p:tgtEl>
                                        <p:attrNameLst>
                                          <p:attrName>style.visibility</p:attrName>
                                        </p:attrNameLst>
                                      </p:cBhvr>
                                      <p:to>
                                        <p:strVal val="visible"/>
                                      </p:to>
                                    </p:set>
                                    <p:anim calcmode="lin" valueType="num">
                                      <p:cBhvr additive="base">
                                        <p:cTn id="21"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7891">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 calcmode="lin" valueType="num">
                                      <p:cBhvr additive="base">
                                        <p:cTn id="27" dur="5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7891">
                                            <p:txEl>
                                              <p:pRg st="4" end="4"/>
                                            </p:tx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37891">
                                            <p:txEl>
                                              <p:pRg st="5" end="5"/>
                                            </p:txEl>
                                          </p:spTgt>
                                        </p:tgtEl>
                                        <p:attrNameLst>
                                          <p:attrName>style.visibility</p:attrName>
                                        </p:attrNameLst>
                                      </p:cBhvr>
                                      <p:to>
                                        <p:strVal val="visible"/>
                                      </p:to>
                                    </p:set>
                                    <p:anim calcmode="lin" valueType="num">
                                      <p:cBhvr additive="base">
                                        <p:cTn id="31"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891">
                                            <p:txEl>
                                              <p:pRg st="5" end="5"/>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noFill/>
          <a:ln/>
        </p:spPr>
        <p:txBody>
          <a:bodyPr lIns="90488" tIns="44450" rIns="90488" bIns="44450" anchor="b"/>
          <a:lstStyle/>
          <a:p>
            <a:r>
              <a:rPr lang="en-US"/>
              <a:t>Traceability tables</a:t>
            </a:r>
          </a:p>
        </p:txBody>
      </p:sp>
      <p:sp>
        <p:nvSpPr>
          <p:cNvPr id="38915" name="Rectangle 3"/>
          <p:cNvSpPr>
            <a:spLocks noGrp="1" noChangeArrowheads="1"/>
          </p:cNvSpPr>
          <p:nvPr>
            <p:ph type="body" idx="1"/>
          </p:nvPr>
        </p:nvSpPr>
        <p:spPr>
          <a:xfrm>
            <a:off x="457200" y="1371600"/>
            <a:ext cx="8229600" cy="3038475"/>
          </a:xfrm>
          <a:noFill/>
          <a:ln/>
        </p:spPr>
        <p:txBody>
          <a:bodyPr lIns="90488" tIns="44450" rIns="90488" bIns="44450">
            <a:normAutofit lnSpcReduction="10000"/>
          </a:bodyPr>
          <a:lstStyle/>
          <a:p>
            <a:pPr>
              <a:lnSpc>
                <a:spcPct val="80000"/>
              </a:lnSpc>
            </a:pPr>
            <a:r>
              <a:rPr lang="en-US" sz="2400"/>
              <a:t>Traceability tables show the relationships between requirements or between requirements and design components</a:t>
            </a:r>
          </a:p>
          <a:p>
            <a:pPr>
              <a:lnSpc>
                <a:spcPct val="80000"/>
              </a:lnSpc>
            </a:pPr>
            <a:r>
              <a:rPr lang="en-US" sz="2400"/>
              <a:t>Requirements are listed along the horizontal and vertical axes and relationships between requirements are marked in the table cells</a:t>
            </a:r>
          </a:p>
          <a:p>
            <a:pPr>
              <a:lnSpc>
                <a:spcPct val="80000"/>
              </a:lnSpc>
            </a:pPr>
            <a:r>
              <a:rPr lang="en-US" sz="2400"/>
              <a:t>Traceability tables for showing requirements dependencies should be defined with requirement numbers used to label the rows and columns of the table</a:t>
            </a:r>
          </a:p>
        </p:txBody>
      </p:sp>
      <p:graphicFrame>
        <p:nvGraphicFramePr>
          <p:cNvPr id="38920" name="Object 8"/>
          <p:cNvGraphicFramePr>
            <a:graphicFrameLocks/>
          </p:cNvGraphicFramePr>
          <p:nvPr/>
        </p:nvGraphicFramePr>
        <p:xfrm>
          <a:off x="1676400" y="4191000"/>
          <a:ext cx="9042400" cy="2511425"/>
        </p:xfrm>
        <a:graphic>
          <a:graphicData uri="http://schemas.openxmlformats.org/presentationml/2006/ole">
            <mc:AlternateContent xmlns:mc="http://schemas.openxmlformats.org/markup-compatibility/2006">
              <mc:Choice xmlns:v="urn:schemas-microsoft-com:vml" Requires="v">
                <p:oleObj spid="_x0000_s4100"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191000"/>
                        <a:ext cx="9042400" cy="251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5">
                                            <p:txEl>
                                              <p:pRg st="1" end="1"/>
                                            </p:txEl>
                                          </p:spTgt>
                                        </p:tgtEl>
                                        <p:attrNameLst>
                                          <p:attrName>style.visibility</p:attrName>
                                        </p:attrNameLst>
                                      </p:cBhvr>
                                      <p:to>
                                        <p:strVal val="visible"/>
                                      </p:to>
                                    </p:set>
                                    <p:anim calcmode="lin" valueType="num">
                                      <p:cBhvr additive="base">
                                        <p:cTn id="13" dur="5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5">
                                            <p:txEl>
                                              <p:pRg st="2" end="2"/>
                                            </p:txEl>
                                          </p:spTgt>
                                        </p:tgtEl>
                                        <p:attrNameLst>
                                          <p:attrName>style.visibility</p:attrName>
                                        </p:attrNameLst>
                                      </p:cBhvr>
                                      <p:to>
                                        <p:strVal val="visible"/>
                                      </p:to>
                                    </p:set>
                                    <p:anim calcmode="lin" valueType="num">
                                      <p:cBhvr additive="base">
                                        <p:cTn id="19" dur="500" fill="hold"/>
                                        <p:tgtEl>
                                          <p:spTgt spid="389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38920"/>
                                        </p:tgtEl>
                                        <p:attrNameLst>
                                          <p:attrName>style.visibility</p:attrName>
                                        </p:attrNameLst>
                                      </p:cBhvr>
                                      <p:to>
                                        <p:strVal val="visible"/>
                                      </p:to>
                                    </p:set>
                                    <p:animEffect transition="in" filter="checkerboard(across)">
                                      <p:cBhvr>
                                        <p:cTn id="25" dur="50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type="title"/>
          </p:nvPr>
        </p:nvSpPr>
        <p:spPr/>
        <p:txBody>
          <a:bodyPr/>
          <a:lstStyle/>
          <a:p>
            <a:r>
              <a:rPr lang="en-US"/>
              <a:t>Traceability lists</a:t>
            </a:r>
          </a:p>
        </p:txBody>
      </p:sp>
      <p:sp>
        <p:nvSpPr>
          <p:cNvPr id="40965" name="Rectangle 5"/>
          <p:cNvSpPr>
            <a:spLocks noGrp="1" noChangeArrowheads="1"/>
          </p:cNvSpPr>
          <p:nvPr>
            <p:ph type="body" idx="1"/>
          </p:nvPr>
        </p:nvSpPr>
        <p:spPr/>
        <p:txBody>
          <a:bodyPr>
            <a:normAutofit lnSpcReduction="10000"/>
          </a:bodyPr>
          <a:lstStyle/>
          <a:p>
            <a:pPr>
              <a:lnSpc>
                <a:spcPct val="90000"/>
              </a:lnSpc>
            </a:pPr>
            <a:r>
              <a:rPr lang="en-US" sz="2400"/>
              <a:t>If a relatively small number of requirements have to be managed (up to 250, say), traceability tables can be implemented using a spreadsheet</a:t>
            </a:r>
          </a:p>
          <a:p>
            <a:pPr>
              <a:lnSpc>
                <a:spcPct val="90000"/>
              </a:lnSpc>
            </a:pPr>
            <a:r>
              <a:rPr lang="en-US" sz="2400"/>
              <a:t>Traceability tables become more of a problem when there are hundreds or thousands of requirements as the tables become large and sparsely populated</a:t>
            </a:r>
          </a:p>
          <a:p>
            <a:pPr>
              <a:lnSpc>
                <a:spcPct val="90000"/>
              </a:lnSpc>
            </a:pPr>
            <a:r>
              <a:rPr lang="en-US" sz="2400"/>
              <a:t>A simplified form of traceability table may be used where, along with each requirement description, one or more lists of the identifiers of related requirements are maintained. </a:t>
            </a:r>
          </a:p>
          <a:p>
            <a:pPr>
              <a:lnSpc>
                <a:spcPct val="90000"/>
              </a:lnSpc>
            </a:pPr>
            <a:r>
              <a:rPr lang="en-US" sz="2400"/>
              <a:t>Traceability lists are simple lists of relationships which can be implemented as text or as simple tables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488" tIns="44450" rIns="90488" bIns="44450" anchor="b"/>
          <a:lstStyle/>
          <a:p>
            <a:r>
              <a:rPr lang="en-US"/>
              <a:t>A traceability list</a:t>
            </a:r>
          </a:p>
        </p:txBody>
      </p:sp>
      <p:graphicFrame>
        <p:nvGraphicFramePr>
          <p:cNvPr id="41987" name="Object 3"/>
          <p:cNvGraphicFramePr>
            <a:graphicFrameLocks/>
          </p:cNvGraphicFramePr>
          <p:nvPr/>
        </p:nvGraphicFramePr>
        <p:xfrm>
          <a:off x="228600" y="2514600"/>
          <a:ext cx="8647113" cy="1879600"/>
        </p:xfrm>
        <a:graphic>
          <a:graphicData uri="http://schemas.openxmlformats.org/presentationml/2006/ole">
            <mc:AlternateContent xmlns:mc="http://schemas.openxmlformats.org/markup-compatibility/2006">
              <mc:Choice xmlns:v="urn:schemas-microsoft-com:vml" Requires="v">
                <p:oleObj spid="_x0000_s5124"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514600"/>
                        <a:ext cx="8647113"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a:ln/>
        </p:spPr>
        <p:txBody>
          <a:bodyPr lIns="90488" tIns="44450" rIns="90488" bIns="44450" anchor="b"/>
          <a:lstStyle/>
          <a:p>
            <a:r>
              <a:rPr lang="en-US"/>
              <a:t>Traceability policies</a:t>
            </a:r>
          </a:p>
        </p:txBody>
      </p:sp>
      <p:sp>
        <p:nvSpPr>
          <p:cNvPr id="43011" name="Rectangle 3"/>
          <p:cNvSpPr>
            <a:spLocks noGrp="1" noChangeArrowheads="1"/>
          </p:cNvSpPr>
          <p:nvPr>
            <p:ph type="body" idx="1"/>
          </p:nvPr>
        </p:nvSpPr>
        <p:spPr>
          <a:noFill/>
          <a:ln/>
        </p:spPr>
        <p:txBody>
          <a:bodyPr lIns="90488" tIns="44450" rIns="90488" bIns="44450">
            <a:normAutofit lnSpcReduction="10000"/>
          </a:bodyPr>
          <a:lstStyle/>
          <a:p>
            <a:pPr>
              <a:lnSpc>
                <a:spcPct val="90000"/>
              </a:lnSpc>
            </a:pPr>
            <a:r>
              <a:rPr lang="en-US" sz="2400"/>
              <a:t>Traceability policies define what and how traceability information should be maintained. </a:t>
            </a:r>
          </a:p>
          <a:p>
            <a:pPr>
              <a:lnSpc>
                <a:spcPct val="90000"/>
              </a:lnSpc>
            </a:pPr>
            <a:r>
              <a:rPr lang="en-US" sz="2400"/>
              <a:t>Traceability policies may include</a:t>
            </a:r>
          </a:p>
          <a:p>
            <a:pPr lvl="1">
              <a:lnSpc>
                <a:spcPct val="90000"/>
              </a:lnSpc>
            </a:pPr>
            <a:r>
              <a:rPr lang="en-US" sz="2000"/>
              <a:t>The traceability information which should be maintained.    </a:t>
            </a:r>
          </a:p>
          <a:p>
            <a:pPr lvl="1">
              <a:lnSpc>
                <a:spcPct val="90000"/>
              </a:lnSpc>
            </a:pPr>
            <a:r>
              <a:rPr lang="en-US" sz="2000"/>
              <a:t>Techniques, such as traceability matrices, which should be used for maintaining traceability. </a:t>
            </a:r>
          </a:p>
          <a:p>
            <a:pPr lvl="1">
              <a:lnSpc>
                <a:spcPct val="90000"/>
              </a:lnSpc>
            </a:pPr>
            <a:r>
              <a:rPr lang="en-US" sz="2000"/>
              <a:t>A description of when the traceability information should be collected during the requirements engineering and system development processes. </a:t>
            </a:r>
          </a:p>
          <a:p>
            <a:pPr lvl="1">
              <a:lnSpc>
                <a:spcPct val="90000"/>
              </a:lnSpc>
            </a:pPr>
            <a:r>
              <a:rPr lang="en-US" sz="2000"/>
              <a:t>The roles of the people, such as the traceability manager, who are responsible for maintaining the traceability information should also be defined.</a:t>
            </a:r>
          </a:p>
          <a:p>
            <a:pPr lvl="1">
              <a:lnSpc>
                <a:spcPct val="90000"/>
              </a:lnSpc>
            </a:pPr>
            <a:r>
              <a:rPr lang="en-US" sz="2000"/>
              <a:t>A description of how to handle and document policy exceptions</a:t>
            </a:r>
          </a:p>
          <a:p>
            <a:pPr lvl="1">
              <a:lnSpc>
                <a:spcPct val="90000"/>
              </a:lnSpc>
            </a:pPr>
            <a:r>
              <a:rPr lang="en-US" sz="2000"/>
              <a:t>The process of managing traceability information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 calcmode="lin" valueType="num">
                                      <p:cBhvr additive="base">
                                        <p:cTn id="17"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0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3011">
                                            <p:txEl>
                                              <p:pRg st="3" end="3"/>
                                            </p:txEl>
                                          </p:spTgt>
                                        </p:tgtEl>
                                        <p:attrNameLst>
                                          <p:attrName>style.visibility</p:attrName>
                                        </p:attrNameLst>
                                      </p:cBhvr>
                                      <p:to>
                                        <p:strVal val="visible"/>
                                      </p:to>
                                    </p:set>
                                    <p:anim calcmode="lin" valueType="num">
                                      <p:cBhvr additive="base">
                                        <p:cTn id="21"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01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3011">
                                            <p:txEl>
                                              <p:pRg st="4" end="4"/>
                                            </p:txEl>
                                          </p:spTgt>
                                        </p:tgtEl>
                                        <p:attrNameLst>
                                          <p:attrName>style.visibility</p:attrName>
                                        </p:attrNameLst>
                                      </p:cBhvr>
                                      <p:to>
                                        <p:strVal val="visible"/>
                                      </p:to>
                                    </p:set>
                                    <p:anim calcmode="lin" valueType="num">
                                      <p:cBhvr additive="base">
                                        <p:cTn id="25"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3011">
                                            <p:txEl>
                                              <p:pRg st="5" end="5"/>
                                            </p:txEl>
                                          </p:spTgt>
                                        </p:tgtEl>
                                        <p:attrNameLst>
                                          <p:attrName>style.visibility</p:attrName>
                                        </p:attrNameLst>
                                      </p:cBhvr>
                                      <p:to>
                                        <p:strVal val="visible"/>
                                      </p:to>
                                    </p:set>
                                    <p:anim calcmode="lin" valueType="num">
                                      <p:cBhvr additive="base">
                                        <p:cTn id="29"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301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3011">
                                            <p:txEl>
                                              <p:pRg st="6" end="6"/>
                                            </p:txEl>
                                          </p:spTgt>
                                        </p:tgtEl>
                                        <p:attrNameLst>
                                          <p:attrName>style.visibility</p:attrName>
                                        </p:attrNameLst>
                                      </p:cBhvr>
                                      <p:to>
                                        <p:strVal val="visible"/>
                                      </p:to>
                                    </p:set>
                                    <p:anim calcmode="lin" valueType="num">
                                      <p:cBhvr additive="base">
                                        <p:cTn id="33" dur="500" fill="hold"/>
                                        <p:tgtEl>
                                          <p:spTgt spid="4301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301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3011">
                                            <p:txEl>
                                              <p:pRg st="7" end="7"/>
                                            </p:txEl>
                                          </p:spTgt>
                                        </p:tgtEl>
                                        <p:attrNameLst>
                                          <p:attrName>style.visibility</p:attrName>
                                        </p:attrNameLst>
                                      </p:cBhvr>
                                      <p:to>
                                        <p:strVal val="visible"/>
                                      </p:to>
                                    </p:set>
                                    <p:anim calcmode="lin" valueType="num">
                                      <p:cBhvr additive="base">
                                        <p:cTn id="37" dur="500" fill="hold"/>
                                        <p:tgtEl>
                                          <p:spTgt spid="4301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301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4"/>
          <p:cNvSpPr>
            <a:spLocks noGrp="1" noChangeArrowheads="1"/>
          </p:cNvSpPr>
          <p:nvPr>
            <p:ph type="title"/>
          </p:nvPr>
        </p:nvSpPr>
        <p:spPr/>
        <p:txBody>
          <a:bodyPr>
            <a:normAutofit fontScale="90000"/>
          </a:bodyPr>
          <a:lstStyle/>
          <a:p>
            <a:r>
              <a:rPr lang="en-US" sz="3600"/>
              <a:t>Factors influencing traceability policies</a:t>
            </a:r>
          </a:p>
        </p:txBody>
      </p:sp>
      <p:sp>
        <p:nvSpPr>
          <p:cNvPr id="44037" name="Rectangle 5"/>
          <p:cNvSpPr>
            <a:spLocks noGrp="1" noChangeArrowheads="1"/>
          </p:cNvSpPr>
          <p:nvPr>
            <p:ph type="body" idx="1"/>
          </p:nvPr>
        </p:nvSpPr>
        <p:spPr/>
        <p:txBody>
          <a:bodyPr/>
          <a:lstStyle/>
          <a:p>
            <a:r>
              <a:rPr lang="en-US" sz="2800"/>
              <a:t>Number of requirements </a:t>
            </a:r>
          </a:p>
          <a:p>
            <a:pPr lvl="1"/>
            <a:r>
              <a:rPr lang="en-US" sz="2400"/>
              <a:t>The greater the number of requirements, the more the need for formal traceability policies.</a:t>
            </a:r>
          </a:p>
          <a:p>
            <a:r>
              <a:rPr lang="en-US" sz="2800"/>
              <a:t>Estimated system lifetime</a:t>
            </a:r>
          </a:p>
          <a:p>
            <a:pPr lvl="1"/>
            <a:r>
              <a:rPr lang="en-US" sz="2400"/>
              <a:t>More comprehensive traceability policies should be defined for systems which have a long lifetime.</a:t>
            </a:r>
          </a:p>
          <a:p>
            <a:r>
              <a:rPr lang="en-US" sz="2800"/>
              <a:t>Level of organizational maturity</a:t>
            </a:r>
          </a:p>
          <a:p>
            <a:pPr lvl="1"/>
            <a:r>
              <a:rPr lang="en-US" sz="2400"/>
              <a:t>Detailed traceability policies are most likely to be cost-effective in organizations which have a higher level of process maturity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7">
                                            <p:txEl>
                                              <p:pRg st="0" end="0"/>
                                            </p:txEl>
                                          </p:spTgt>
                                        </p:tgtEl>
                                        <p:attrNameLst>
                                          <p:attrName>style.visibility</p:attrName>
                                        </p:attrNameLst>
                                      </p:cBhvr>
                                      <p:to>
                                        <p:strVal val="visible"/>
                                      </p:to>
                                    </p:set>
                                    <p:anim calcmode="lin" valueType="num">
                                      <p:cBhvr additive="base">
                                        <p:cTn id="7" dur="500" fill="hold"/>
                                        <p:tgtEl>
                                          <p:spTgt spid="4403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4037">
                                            <p:txEl>
                                              <p:pRg st="1" end="1"/>
                                            </p:txEl>
                                          </p:spTgt>
                                        </p:tgtEl>
                                        <p:attrNameLst>
                                          <p:attrName>style.visibility</p:attrName>
                                        </p:attrNameLst>
                                      </p:cBhvr>
                                      <p:to>
                                        <p:strVal val="visible"/>
                                      </p:to>
                                    </p:set>
                                    <p:anim calcmode="lin" valueType="num">
                                      <p:cBhvr additive="base">
                                        <p:cTn id="11" dur="500" fill="hold"/>
                                        <p:tgtEl>
                                          <p:spTgt spid="4403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40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4037">
                                            <p:txEl>
                                              <p:pRg st="2" end="2"/>
                                            </p:txEl>
                                          </p:spTgt>
                                        </p:tgtEl>
                                        <p:attrNameLst>
                                          <p:attrName>style.visibility</p:attrName>
                                        </p:attrNameLst>
                                      </p:cBhvr>
                                      <p:to>
                                        <p:strVal val="visible"/>
                                      </p:to>
                                    </p:set>
                                    <p:anim calcmode="lin" valueType="num">
                                      <p:cBhvr additive="base">
                                        <p:cTn id="17" dur="500" fill="hold"/>
                                        <p:tgtEl>
                                          <p:spTgt spid="4403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403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4037">
                                            <p:txEl>
                                              <p:pRg st="3" end="3"/>
                                            </p:txEl>
                                          </p:spTgt>
                                        </p:tgtEl>
                                        <p:attrNameLst>
                                          <p:attrName>style.visibility</p:attrName>
                                        </p:attrNameLst>
                                      </p:cBhvr>
                                      <p:to>
                                        <p:strVal val="visible"/>
                                      </p:to>
                                    </p:set>
                                    <p:anim calcmode="lin" valueType="num">
                                      <p:cBhvr additive="base">
                                        <p:cTn id="21" dur="500" fill="hold"/>
                                        <p:tgtEl>
                                          <p:spTgt spid="4403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40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4037">
                                            <p:txEl>
                                              <p:pRg st="4" end="4"/>
                                            </p:txEl>
                                          </p:spTgt>
                                        </p:tgtEl>
                                        <p:attrNameLst>
                                          <p:attrName>style.visibility</p:attrName>
                                        </p:attrNameLst>
                                      </p:cBhvr>
                                      <p:to>
                                        <p:strVal val="visible"/>
                                      </p:to>
                                    </p:set>
                                    <p:anim calcmode="lin" valueType="num">
                                      <p:cBhvr additive="base">
                                        <p:cTn id="27" dur="500" fill="hold"/>
                                        <p:tgtEl>
                                          <p:spTgt spid="4403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403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4037">
                                            <p:txEl>
                                              <p:pRg st="5" end="5"/>
                                            </p:txEl>
                                          </p:spTgt>
                                        </p:tgtEl>
                                        <p:attrNameLst>
                                          <p:attrName>style.visibility</p:attrName>
                                        </p:attrNameLst>
                                      </p:cBhvr>
                                      <p:to>
                                        <p:strVal val="visible"/>
                                      </p:to>
                                    </p:set>
                                    <p:anim calcmode="lin" valueType="num">
                                      <p:cBhvr additive="base">
                                        <p:cTn id="31" dur="500" fill="hold"/>
                                        <p:tgtEl>
                                          <p:spTgt spid="4403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03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Grp="1" noChangeArrowheads="1"/>
          </p:cNvSpPr>
          <p:nvPr>
            <p:ph type="title"/>
          </p:nvPr>
        </p:nvSpPr>
        <p:spPr/>
        <p:txBody>
          <a:bodyPr>
            <a:normAutofit fontScale="90000"/>
          </a:bodyPr>
          <a:lstStyle/>
          <a:p>
            <a:r>
              <a:rPr lang="en-US" sz="3600"/>
              <a:t>Factors influencing traceability policies</a:t>
            </a:r>
          </a:p>
        </p:txBody>
      </p:sp>
      <p:sp>
        <p:nvSpPr>
          <p:cNvPr id="45061" name="Rectangle 5"/>
          <p:cNvSpPr>
            <a:spLocks noGrp="1" noChangeArrowheads="1"/>
          </p:cNvSpPr>
          <p:nvPr>
            <p:ph type="body" idx="1"/>
          </p:nvPr>
        </p:nvSpPr>
        <p:spPr/>
        <p:txBody>
          <a:bodyPr/>
          <a:lstStyle/>
          <a:p>
            <a:pPr>
              <a:lnSpc>
                <a:spcPct val="90000"/>
              </a:lnSpc>
            </a:pPr>
            <a:r>
              <a:rPr lang="en-US" sz="2400"/>
              <a:t>Project team size and composition </a:t>
            </a:r>
          </a:p>
          <a:p>
            <a:pPr lvl="1">
              <a:lnSpc>
                <a:spcPct val="90000"/>
              </a:lnSpc>
            </a:pPr>
            <a:r>
              <a:rPr lang="en-US" sz="2000"/>
              <a:t>With a small team, it may be possible to assess the impact of proposed informally without structured traceability information. With larger teams, however, you need more formal traceability policies.</a:t>
            </a:r>
          </a:p>
          <a:p>
            <a:pPr>
              <a:lnSpc>
                <a:spcPct val="90000"/>
              </a:lnSpc>
            </a:pPr>
            <a:r>
              <a:rPr lang="en-US" sz="2400"/>
              <a:t>Type of system</a:t>
            </a:r>
          </a:p>
          <a:p>
            <a:pPr lvl="1">
              <a:lnSpc>
                <a:spcPct val="90000"/>
              </a:lnSpc>
            </a:pPr>
            <a:r>
              <a:rPr lang="en-US" sz="2000"/>
              <a:t>Critical systems such as hard real-time control systems or safety-critical systems need more comprehensive traceability policies than non-critical systems. </a:t>
            </a:r>
          </a:p>
          <a:p>
            <a:pPr>
              <a:lnSpc>
                <a:spcPct val="90000"/>
              </a:lnSpc>
            </a:pPr>
            <a:r>
              <a:rPr lang="en-US" sz="2400"/>
              <a:t>Specific customer requirements</a:t>
            </a:r>
          </a:p>
          <a:p>
            <a:pPr lvl="1">
              <a:lnSpc>
                <a:spcPct val="90000"/>
              </a:lnSpc>
            </a:pPr>
            <a:r>
              <a:rPr lang="en-US" sz="2000"/>
              <a:t>Some customers may specify that specific traceability information should be delivered as part of the system documentation.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anim calcmode="lin" valueType="num">
                                      <p:cBhvr additive="base">
                                        <p:cTn id="7" dur="500" fill="hold"/>
                                        <p:tgtEl>
                                          <p:spTgt spid="450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6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061">
                                            <p:txEl>
                                              <p:pRg st="1" end="1"/>
                                            </p:txEl>
                                          </p:spTgt>
                                        </p:tgtEl>
                                        <p:attrNameLst>
                                          <p:attrName>style.visibility</p:attrName>
                                        </p:attrNameLst>
                                      </p:cBhvr>
                                      <p:to>
                                        <p:strVal val="visible"/>
                                      </p:to>
                                    </p:set>
                                    <p:anim calcmode="lin" valueType="num">
                                      <p:cBhvr additive="base">
                                        <p:cTn id="11" dur="500" fill="hold"/>
                                        <p:tgtEl>
                                          <p:spTgt spid="4506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50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5061">
                                            <p:txEl>
                                              <p:pRg st="2" end="2"/>
                                            </p:txEl>
                                          </p:spTgt>
                                        </p:tgtEl>
                                        <p:attrNameLst>
                                          <p:attrName>style.visibility</p:attrName>
                                        </p:attrNameLst>
                                      </p:cBhvr>
                                      <p:to>
                                        <p:strVal val="visible"/>
                                      </p:to>
                                    </p:set>
                                    <p:anim calcmode="lin" valueType="num">
                                      <p:cBhvr additive="base">
                                        <p:cTn id="17" dur="500" fill="hold"/>
                                        <p:tgtEl>
                                          <p:spTgt spid="4506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506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5061">
                                            <p:txEl>
                                              <p:pRg st="3" end="3"/>
                                            </p:txEl>
                                          </p:spTgt>
                                        </p:tgtEl>
                                        <p:attrNameLst>
                                          <p:attrName>style.visibility</p:attrName>
                                        </p:attrNameLst>
                                      </p:cBhvr>
                                      <p:to>
                                        <p:strVal val="visible"/>
                                      </p:to>
                                    </p:set>
                                    <p:anim calcmode="lin" valueType="num">
                                      <p:cBhvr additive="base">
                                        <p:cTn id="21" dur="500" fill="hold"/>
                                        <p:tgtEl>
                                          <p:spTgt spid="4506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506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5061">
                                            <p:txEl>
                                              <p:pRg st="4" end="4"/>
                                            </p:txEl>
                                          </p:spTgt>
                                        </p:tgtEl>
                                        <p:attrNameLst>
                                          <p:attrName>style.visibility</p:attrName>
                                        </p:attrNameLst>
                                      </p:cBhvr>
                                      <p:to>
                                        <p:strVal val="visible"/>
                                      </p:to>
                                    </p:set>
                                    <p:anim calcmode="lin" valueType="num">
                                      <p:cBhvr additive="base">
                                        <p:cTn id="27" dur="500" fill="hold"/>
                                        <p:tgtEl>
                                          <p:spTgt spid="4506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506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5061">
                                            <p:txEl>
                                              <p:pRg st="5" end="5"/>
                                            </p:txEl>
                                          </p:spTgt>
                                        </p:tgtEl>
                                        <p:attrNameLst>
                                          <p:attrName>style.visibility</p:attrName>
                                        </p:attrNameLst>
                                      </p:cBhvr>
                                      <p:to>
                                        <p:strVal val="visible"/>
                                      </p:to>
                                    </p:set>
                                    <p:anim calcmode="lin" valueType="num">
                                      <p:cBhvr additive="base">
                                        <p:cTn id="31" dur="500" fill="hold"/>
                                        <p:tgtEl>
                                          <p:spTgt spid="4506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06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GB" dirty="0" smtClean="0"/>
              <a:t>Requirements Conflict</a:t>
            </a:r>
            <a:endParaRPr lang="en-GB" dirty="0"/>
          </a:p>
        </p:txBody>
      </p:sp>
      <p:sp>
        <p:nvSpPr>
          <p:cNvPr id="5" name="Text Placeholder 4"/>
          <p:cNvSpPr>
            <a:spLocks noGrp="1"/>
          </p:cNvSpPr>
          <p:nvPr>
            <p:ph type="body" idx="1"/>
          </p:nvPr>
        </p:nvSpPr>
        <p:spPr/>
        <p:txBody>
          <a:bodyPr/>
          <a:lstStyle/>
          <a:p>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t>Conflict</a:t>
            </a:r>
          </a:p>
        </p:txBody>
      </p:sp>
      <p:sp>
        <p:nvSpPr>
          <p:cNvPr id="106499" name="Rectangle 3"/>
          <p:cNvSpPr>
            <a:spLocks noGrp="1" noChangeArrowheads="1"/>
          </p:cNvSpPr>
          <p:nvPr>
            <p:ph type="body" idx="1"/>
          </p:nvPr>
        </p:nvSpPr>
        <p:spPr/>
        <p:txBody>
          <a:bodyPr/>
          <a:lstStyle/>
          <a:p>
            <a:pPr>
              <a:lnSpc>
                <a:spcPct val="90000"/>
              </a:lnSpc>
            </a:pPr>
            <a:r>
              <a:rPr lang="en-US" sz="2400"/>
              <a:t>In Social psychology, focus is on interdependence and perception:</a:t>
            </a:r>
          </a:p>
          <a:p>
            <a:pPr lvl="1">
              <a:lnSpc>
                <a:spcPct val="90000"/>
              </a:lnSpc>
            </a:pPr>
            <a:r>
              <a:rPr lang="en-US" sz="2000"/>
              <a:t>“the interaction of interdependent people who perceive opposition of goals, aims, and values, and who see the other party as potentially interfering with the realization of these goals” [Putnam &amp; Poole, 1987]</a:t>
            </a:r>
          </a:p>
          <a:p>
            <a:pPr>
              <a:lnSpc>
                <a:spcPct val="90000"/>
              </a:lnSpc>
            </a:pPr>
            <a:r>
              <a:rPr lang="en-US" sz="2400"/>
              <a:t>In RE</a:t>
            </a:r>
          </a:p>
          <a:p>
            <a:pPr lvl="1">
              <a:lnSpc>
                <a:spcPct val="90000"/>
              </a:lnSpc>
            </a:pPr>
            <a:r>
              <a:rPr lang="en-US" sz="2000"/>
              <a:t>Something arising out of differences between goals and desires of participants in the system development process [Easterbrook 1994]</a:t>
            </a:r>
          </a:p>
          <a:p>
            <a:pPr>
              <a:lnSpc>
                <a:spcPct val="90000"/>
              </a:lnSpc>
            </a:pPr>
            <a:r>
              <a:rPr lang="en-US" sz="2400"/>
              <a:t>Conflict may occur between individuals, groups, organizations, or different roles played by one person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wipe(left)">
                                      <p:cBhvr>
                                        <p:cTn id="7" dur="500"/>
                                        <p:tgtEl>
                                          <p:spTgt spid="10649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6499">
                                            <p:txEl>
                                              <p:pRg st="1" end="1"/>
                                            </p:txEl>
                                          </p:spTgt>
                                        </p:tgtEl>
                                        <p:attrNameLst>
                                          <p:attrName>style.visibility</p:attrName>
                                        </p:attrNameLst>
                                      </p:cBhvr>
                                      <p:to>
                                        <p:strVal val="visible"/>
                                      </p:to>
                                    </p:set>
                                    <p:animEffect transition="in" filter="wipe(left)">
                                      <p:cBhvr>
                                        <p:cTn id="10" dur="500"/>
                                        <p:tgtEl>
                                          <p:spTgt spid="1064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6499">
                                            <p:txEl>
                                              <p:pRg st="2" end="2"/>
                                            </p:txEl>
                                          </p:spTgt>
                                        </p:tgtEl>
                                        <p:attrNameLst>
                                          <p:attrName>style.visibility</p:attrName>
                                        </p:attrNameLst>
                                      </p:cBhvr>
                                      <p:to>
                                        <p:strVal val="visible"/>
                                      </p:to>
                                    </p:set>
                                    <p:animEffect transition="in" filter="wipe(left)">
                                      <p:cBhvr>
                                        <p:cTn id="15" dur="500"/>
                                        <p:tgtEl>
                                          <p:spTgt spid="106499">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6499">
                                            <p:txEl>
                                              <p:pRg st="3" end="3"/>
                                            </p:txEl>
                                          </p:spTgt>
                                        </p:tgtEl>
                                        <p:attrNameLst>
                                          <p:attrName>style.visibility</p:attrName>
                                        </p:attrNameLst>
                                      </p:cBhvr>
                                      <p:to>
                                        <p:strVal val="visible"/>
                                      </p:to>
                                    </p:set>
                                    <p:animEffect transition="in" filter="wipe(left)">
                                      <p:cBhvr>
                                        <p:cTn id="18" dur="500"/>
                                        <p:tgtEl>
                                          <p:spTgt spid="10649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6499">
                                            <p:txEl>
                                              <p:pRg st="4" end="4"/>
                                            </p:txEl>
                                          </p:spTgt>
                                        </p:tgtEl>
                                        <p:attrNameLst>
                                          <p:attrName>style.visibility</p:attrName>
                                        </p:attrNameLst>
                                      </p:cBhvr>
                                      <p:to>
                                        <p:strVal val="visible"/>
                                      </p:to>
                                    </p:set>
                                    <p:animEffect transition="in" filter="wipe(left)">
                                      <p:cBhvr>
                                        <p:cTn id="23" dur="500"/>
                                        <p:tgtEl>
                                          <p:spTgt spid="1064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b="0">
                <a:cs typeface="Arial" charset="0"/>
              </a:rPr>
              <a:t>The Nature of Conflict</a:t>
            </a:r>
          </a:p>
        </p:txBody>
      </p:sp>
      <p:sp>
        <p:nvSpPr>
          <p:cNvPr id="107523" name="Rectangle 3"/>
          <p:cNvSpPr>
            <a:spLocks noGrp="1" noChangeArrowheads="1"/>
          </p:cNvSpPr>
          <p:nvPr>
            <p:ph type="body" idx="1"/>
          </p:nvPr>
        </p:nvSpPr>
        <p:spPr>
          <a:xfrm>
            <a:off x="457200" y="1371600"/>
            <a:ext cx="8229600" cy="4637088"/>
          </a:xfrm>
        </p:spPr>
        <p:txBody>
          <a:bodyPr>
            <a:normAutofit lnSpcReduction="10000"/>
          </a:bodyPr>
          <a:lstStyle/>
          <a:p>
            <a:pPr>
              <a:lnSpc>
                <a:spcPct val="90000"/>
              </a:lnSpc>
            </a:pPr>
            <a:r>
              <a:rPr lang="en-US" sz="2400">
                <a:cs typeface="Arial" charset="0"/>
              </a:rPr>
              <a:t>Functional or dysfunctional</a:t>
            </a:r>
          </a:p>
          <a:p>
            <a:pPr lvl="1">
              <a:lnSpc>
                <a:spcPct val="90000"/>
              </a:lnSpc>
            </a:pPr>
            <a:r>
              <a:rPr lang="en-US" sz="2000">
                <a:cs typeface="Arial" charset="0"/>
              </a:rPr>
              <a:t>Conflict is functional when it improves the group's performance by forcing examination of basic issues and identifying new opportunities</a:t>
            </a:r>
            <a:r>
              <a:rPr lang="en-US" sz="2000"/>
              <a:t> </a:t>
            </a:r>
          </a:p>
          <a:p>
            <a:pPr lvl="1">
              <a:lnSpc>
                <a:spcPct val="90000"/>
              </a:lnSpc>
            </a:pPr>
            <a:r>
              <a:rPr lang="en-US" sz="2000">
                <a:cs typeface="Arial" charset="0"/>
              </a:rPr>
              <a:t>Conflict is dysfunctional when it hinders and prevents the group's goals from being achieved.</a:t>
            </a:r>
            <a:r>
              <a:rPr lang="en-US" sz="2000"/>
              <a:t> </a:t>
            </a:r>
          </a:p>
          <a:p>
            <a:pPr>
              <a:lnSpc>
                <a:spcPct val="90000"/>
              </a:lnSpc>
            </a:pPr>
            <a:r>
              <a:rPr lang="en-US" sz="2400">
                <a:cs typeface="Arial" charset="0"/>
              </a:rPr>
              <a:t>Occasional or chronic. </a:t>
            </a:r>
            <a:endParaRPr lang="en-US" sz="2400"/>
          </a:p>
          <a:p>
            <a:pPr lvl="1">
              <a:lnSpc>
                <a:spcPct val="90000"/>
              </a:lnSpc>
            </a:pPr>
            <a:r>
              <a:rPr lang="en-US" sz="2000">
                <a:cs typeface="Arial" charset="0"/>
              </a:rPr>
              <a:t>Conflict is occasional when it is the exception, not the rule in the individual's or the group's behavior.</a:t>
            </a:r>
            <a:r>
              <a:rPr lang="en-US" sz="2000"/>
              <a:t> </a:t>
            </a:r>
          </a:p>
          <a:p>
            <a:pPr lvl="1">
              <a:lnSpc>
                <a:spcPct val="90000"/>
              </a:lnSpc>
            </a:pPr>
            <a:r>
              <a:rPr lang="en-US" sz="2000">
                <a:cs typeface="Arial" charset="0"/>
              </a:rPr>
              <a:t>Conflict is chronic when individuals or groups routinely differ in their approaches.</a:t>
            </a:r>
            <a:r>
              <a:rPr lang="en-US" sz="2000"/>
              <a:t> </a:t>
            </a:r>
          </a:p>
          <a:p>
            <a:pPr>
              <a:lnSpc>
                <a:spcPct val="90000"/>
              </a:lnSpc>
            </a:pPr>
            <a:r>
              <a:rPr lang="en-US" sz="2400">
                <a:cs typeface="Arial" charset="0"/>
              </a:rPr>
              <a:t>Conflict that is dysfunctional and chronic is undesirable</a:t>
            </a:r>
          </a:p>
          <a:p>
            <a:pPr>
              <a:lnSpc>
                <a:spcPct val="90000"/>
              </a:lnSpc>
            </a:pPr>
            <a:r>
              <a:rPr lang="en-US" sz="2400">
                <a:cs typeface="Arial" charset="0"/>
              </a:rPr>
              <a:t>Conflict that is functional and occasional is not only acceptable and normal, but is even desirable. </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Effect transition="in" filter="wipe(left)">
                                      <p:cBhvr>
                                        <p:cTn id="7" dur="500"/>
                                        <p:tgtEl>
                                          <p:spTgt spid="10752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7523">
                                            <p:txEl>
                                              <p:pRg st="1" end="1"/>
                                            </p:txEl>
                                          </p:spTgt>
                                        </p:tgtEl>
                                        <p:attrNameLst>
                                          <p:attrName>style.visibility</p:attrName>
                                        </p:attrNameLst>
                                      </p:cBhvr>
                                      <p:to>
                                        <p:strVal val="visible"/>
                                      </p:to>
                                    </p:set>
                                    <p:animEffect transition="in" filter="wipe(left)">
                                      <p:cBhvr>
                                        <p:cTn id="10" dur="500"/>
                                        <p:tgtEl>
                                          <p:spTgt spid="10752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7523">
                                            <p:txEl>
                                              <p:pRg st="2" end="2"/>
                                            </p:txEl>
                                          </p:spTgt>
                                        </p:tgtEl>
                                        <p:attrNameLst>
                                          <p:attrName>style.visibility</p:attrName>
                                        </p:attrNameLst>
                                      </p:cBhvr>
                                      <p:to>
                                        <p:strVal val="visible"/>
                                      </p:to>
                                    </p:set>
                                    <p:animEffect transition="in" filter="wipe(left)">
                                      <p:cBhvr>
                                        <p:cTn id="13" dur="500"/>
                                        <p:tgtEl>
                                          <p:spTgt spid="1075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7523">
                                            <p:txEl>
                                              <p:pRg st="3" end="3"/>
                                            </p:txEl>
                                          </p:spTgt>
                                        </p:tgtEl>
                                        <p:attrNameLst>
                                          <p:attrName>style.visibility</p:attrName>
                                        </p:attrNameLst>
                                      </p:cBhvr>
                                      <p:to>
                                        <p:strVal val="visible"/>
                                      </p:to>
                                    </p:set>
                                    <p:animEffect transition="in" filter="wipe(left)">
                                      <p:cBhvr>
                                        <p:cTn id="18" dur="500"/>
                                        <p:tgtEl>
                                          <p:spTgt spid="107523">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7523">
                                            <p:txEl>
                                              <p:pRg st="4" end="4"/>
                                            </p:txEl>
                                          </p:spTgt>
                                        </p:tgtEl>
                                        <p:attrNameLst>
                                          <p:attrName>style.visibility</p:attrName>
                                        </p:attrNameLst>
                                      </p:cBhvr>
                                      <p:to>
                                        <p:strVal val="visible"/>
                                      </p:to>
                                    </p:set>
                                    <p:animEffect transition="in" filter="wipe(left)">
                                      <p:cBhvr>
                                        <p:cTn id="21" dur="500"/>
                                        <p:tgtEl>
                                          <p:spTgt spid="107523">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7523">
                                            <p:txEl>
                                              <p:pRg st="5" end="5"/>
                                            </p:txEl>
                                          </p:spTgt>
                                        </p:tgtEl>
                                        <p:attrNameLst>
                                          <p:attrName>style.visibility</p:attrName>
                                        </p:attrNameLst>
                                      </p:cBhvr>
                                      <p:to>
                                        <p:strVal val="visible"/>
                                      </p:to>
                                    </p:set>
                                    <p:animEffect transition="in" filter="wipe(left)">
                                      <p:cBhvr>
                                        <p:cTn id="24" dur="500"/>
                                        <p:tgtEl>
                                          <p:spTgt spid="10752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7523">
                                            <p:txEl>
                                              <p:pRg st="6" end="6"/>
                                            </p:txEl>
                                          </p:spTgt>
                                        </p:tgtEl>
                                        <p:attrNameLst>
                                          <p:attrName>style.visibility</p:attrName>
                                        </p:attrNameLst>
                                      </p:cBhvr>
                                      <p:to>
                                        <p:strVal val="visible"/>
                                      </p:to>
                                    </p:set>
                                    <p:animEffect transition="in" filter="wipe(left)">
                                      <p:cBhvr>
                                        <p:cTn id="29" dur="500"/>
                                        <p:tgtEl>
                                          <p:spTgt spid="10752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7523">
                                            <p:txEl>
                                              <p:pRg st="7" end="7"/>
                                            </p:txEl>
                                          </p:spTgt>
                                        </p:tgtEl>
                                        <p:attrNameLst>
                                          <p:attrName>style.visibility</p:attrName>
                                        </p:attrNameLst>
                                      </p:cBhvr>
                                      <p:to>
                                        <p:strVal val="visible"/>
                                      </p:to>
                                    </p:set>
                                    <p:animEffect transition="in" filter="wipe(left)">
                                      <p:cBhvr>
                                        <p:cTn id="34" dur="500"/>
                                        <p:tgtEl>
                                          <p:spTgt spid="1075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Causes of Conflict</a:t>
            </a:r>
          </a:p>
        </p:txBody>
      </p:sp>
      <p:sp>
        <p:nvSpPr>
          <p:cNvPr id="115715" name="Rectangle 3"/>
          <p:cNvSpPr>
            <a:spLocks noGrp="1" noChangeArrowheads="1"/>
          </p:cNvSpPr>
          <p:nvPr>
            <p:ph type="body" idx="1"/>
          </p:nvPr>
        </p:nvSpPr>
        <p:spPr/>
        <p:txBody>
          <a:bodyPr>
            <a:normAutofit lnSpcReduction="10000"/>
          </a:bodyPr>
          <a:lstStyle/>
          <a:p>
            <a:pPr>
              <a:lnSpc>
                <a:spcPct val="90000"/>
              </a:lnSpc>
            </a:pPr>
            <a:r>
              <a:rPr lang="en-US" sz="2400"/>
              <a:t>Deutsch (1973):</a:t>
            </a:r>
          </a:p>
          <a:p>
            <a:pPr lvl="1">
              <a:lnSpc>
                <a:spcPct val="90000"/>
              </a:lnSpc>
            </a:pPr>
            <a:r>
              <a:rPr lang="en-US" sz="2000"/>
              <a:t>control over resources</a:t>
            </a:r>
          </a:p>
          <a:p>
            <a:pPr lvl="1">
              <a:lnSpc>
                <a:spcPct val="90000"/>
              </a:lnSpc>
            </a:pPr>
            <a:r>
              <a:rPr lang="en-US" sz="2000"/>
              <a:t>preferences and nuisances (tastes or activities of one party impinge upon another)</a:t>
            </a:r>
          </a:p>
          <a:p>
            <a:pPr lvl="1">
              <a:lnSpc>
                <a:spcPct val="90000"/>
              </a:lnSpc>
            </a:pPr>
            <a:r>
              <a:rPr lang="en-US" sz="2000"/>
              <a:t>values (a claim that a value or set of values should dominate)</a:t>
            </a:r>
          </a:p>
          <a:p>
            <a:pPr lvl="1">
              <a:lnSpc>
                <a:spcPct val="90000"/>
              </a:lnSpc>
            </a:pPr>
            <a:r>
              <a:rPr lang="en-US" sz="2000"/>
              <a:t>beliefs (dispute over facts, information, reality, etc.)</a:t>
            </a:r>
          </a:p>
          <a:p>
            <a:pPr lvl="2">
              <a:lnSpc>
                <a:spcPct val="90000"/>
              </a:lnSpc>
            </a:pPr>
            <a:r>
              <a:rPr lang="en-US" sz="1800"/>
              <a:t>the nature of the relationship between the parties.</a:t>
            </a:r>
          </a:p>
          <a:p>
            <a:pPr>
              <a:lnSpc>
                <a:spcPct val="90000"/>
              </a:lnSpc>
            </a:pPr>
            <a:r>
              <a:rPr lang="en-US" sz="2400"/>
              <a:t>Robbins (1989):</a:t>
            </a:r>
          </a:p>
          <a:p>
            <a:pPr lvl="1">
              <a:lnSpc>
                <a:spcPct val="90000"/>
              </a:lnSpc>
            </a:pPr>
            <a:r>
              <a:rPr lang="en-US" sz="2000"/>
              <a:t>communicational (insufficient exchange of information, noise, selective perception)</a:t>
            </a:r>
          </a:p>
          <a:p>
            <a:pPr lvl="1">
              <a:lnSpc>
                <a:spcPct val="90000"/>
              </a:lnSpc>
            </a:pPr>
            <a:r>
              <a:rPr lang="en-US" sz="2000"/>
              <a:t>structural (goal compatibility, jurisdictional clarity, leadership style)</a:t>
            </a:r>
          </a:p>
          <a:p>
            <a:pPr lvl="1">
              <a:lnSpc>
                <a:spcPct val="90000"/>
              </a:lnSpc>
            </a:pPr>
            <a:r>
              <a:rPr lang="en-US" sz="2000"/>
              <a:t>personal factors, (individual value systems, personality characteristics.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wipe(left)">
                                      <p:cBhvr>
                                        <p:cTn id="7" dur="500"/>
                                        <p:tgtEl>
                                          <p:spTgt spid="11571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wipe(left)">
                                      <p:cBhvr>
                                        <p:cTn id="10" dur="500"/>
                                        <p:tgtEl>
                                          <p:spTgt spid="11571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5715">
                                            <p:txEl>
                                              <p:pRg st="2" end="2"/>
                                            </p:txEl>
                                          </p:spTgt>
                                        </p:tgtEl>
                                        <p:attrNameLst>
                                          <p:attrName>style.visibility</p:attrName>
                                        </p:attrNameLst>
                                      </p:cBhvr>
                                      <p:to>
                                        <p:strVal val="visible"/>
                                      </p:to>
                                    </p:set>
                                    <p:animEffect transition="in" filter="wipe(left)">
                                      <p:cBhvr>
                                        <p:cTn id="13" dur="500"/>
                                        <p:tgtEl>
                                          <p:spTgt spid="11571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5715">
                                            <p:txEl>
                                              <p:pRg st="3" end="3"/>
                                            </p:txEl>
                                          </p:spTgt>
                                        </p:tgtEl>
                                        <p:attrNameLst>
                                          <p:attrName>style.visibility</p:attrName>
                                        </p:attrNameLst>
                                      </p:cBhvr>
                                      <p:to>
                                        <p:strVal val="visible"/>
                                      </p:to>
                                    </p:set>
                                    <p:animEffect transition="in" filter="wipe(left)">
                                      <p:cBhvr>
                                        <p:cTn id="16" dur="500"/>
                                        <p:tgtEl>
                                          <p:spTgt spid="115715">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5715">
                                            <p:txEl>
                                              <p:pRg st="4" end="4"/>
                                            </p:txEl>
                                          </p:spTgt>
                                        </p:tgtEl>
                                        <p:attrNameLst>
                                          <p:attrName>style.visibility</p:attrName>
                                        </p:attrNameLst>
                                      </p:cBhvr>
                                      <p:to>
                                        <p:strVal val="visible"/>
                                      </p:to>
                                    </p:set>
                                    <p:animEffect transition="in" filter="wipe(left)">
                                      <p:cBhvr>
                                        <p:cTn id="19" dur="500"/>
                                        <p:tgtEl>
                                          <p:spTgt spid="115715">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15715">
                                            <p:txEl>
                                              <p:pRg st="5" end="5"/>
                                            </p:txEl>
                                          </p:spTgt>
                                        </p:tgtEl>
                                        <p:attrNameLst>
                                          <p:attrName>style.visibility</p:attrName>
                                        </p:attrNameLst>
                                      </p:cBhvr>
                                      <p:to>
                                        <p:strVal val="visible"/>
                                      </p:to>
                                    </p:set>
                                    <p:animEffect transition="in" filter="wipe(left)">
                                      <p:cBhvr>
                                        <p:cTn id="22" dur="500"/>
                                        <p:tgtEl>
                                          <p:spTgt spid="11571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5715">
                                            <p:txEl>
                                              <p:pRg st="6" end="6"/>
                                            </p:txEl>
                                          </p:spTgt>
                                        </p:tgtEl>
                                        <p:attrNameLst>
                                          <p:attrName>style.visibility</p:attrName>
                                        </p:attrNameLst>
                                      </p:cBhvr>
                                      <p:to>
                                        <p:strVal val="visible"/>
                                      </p:to>
                                    </p:set>
                                    <p:animEffect transition="in" filter="wipe(left)">
                                      <p:cBhvr>
                                        <p:cTn id="27" dur="500"/>
                                        <p:tgtEl>
                                          <p:spTgt spid="115715">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15715">
                                            <p:txEl>
                                              <p:pRg st="7" end="7"/>
                                            </p:txEl>
                                          </p:spTgt>
                                        </p:tgtEl>
                                        <p:attrNameLst>
                                          <p:attrName>style.visibility</p:attrName>
                                        </p:attrNameLst>
                                      </p:cBhvr>
                                      <p:to>
                                        <p:strVal val="visible"/>
                                      </p:to>
                                    </p:set>
                                    <p:animEffect transition="in" filter="wipe(left)">
                                      <p:cBhvr>
                                        <p:cTn id="30" dur="500"/>
                                        <p:tgtEl>
                                          <p:spTgt spid="115715">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5715">
                                            <p:txEl>
                                              <p:pRg st="8" end="8"/>
                                            </p:txEl>
                                          </p:spTgt>
                                        </p:tgtEl>
                                        <p:attrNameLst>
                                          <p:attrName>style.visibility</p:attrName>
                                        </p:attrNameLst>
                                      </p:cBhvr>
                                      <p:to>
                                        <p:strVal val="visible"/>
                                      </p:to>
                                    </p:set>
                                    <p:animEffect transition="in" filter="wipe(left)">
                                      <p:cBhvr>
                                        <p:cTn id="33" dur="500"/>
                                        <p:tgtEl>
                                          <p:spTgt spid="115715">
                                            <p:txEl>
                                              <p:pRg st="8" end="8"/>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5715">
                                            <p:txEl>
                                              <p:pRg st="9" end="9"/>
                                            </p:txEl>
                                          </p:spTgt>
                                        </p:tgtEl>
                                        <p:attrNameLst>
                                          <p:attrName>style.visibility</p:attrName>
                                        </p:attrNameLst>
                                      </p:cBhvr>
                                      <p:to>
                                        <p:strVal val="visible"/>
                                      </p:to>
                                    </p:set>
                                    <p:animEffect transition="in" filter="wipe(left)">
                                      <p:cBhvr>
                                        <p:cTn id="36" dur="500"/>
                                        <p:tgtEl>
                                          <p:spTgt spid="1157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a:t>Conflicting Requirements</a:t>
            </a:r>
          </a:p>
        </p:txBody>
      </p:sp>
      <p:sp>
        <p:nvSpPr>
          <p:cNvPr id="108547" name="Rectangle 3"/>
          <p:cNvSpPr>
            <a:spLocks noGrp="1" noChangeArrowheads="1"/>
          </p:cNvSpPr>
          <p:nvPr>
            <p:ph type="body" idx="1"/>
          </p:nvPr>
        </p:nvSpPr>
        <p:spPr/>
        <p:txBody>
          <a:bodyPr/>
          <a:lstStyle/>
          <a:p>
            <a:pPr>
              <a:lnSpc>
                <a:spcPct val="90000"/>
              </a:lnSpc>
            </a:pPr>
            <a:r>
              <a:rPr lang="en-US" sz="2400"/>
              <a:t>Requirements are conflicting if you can not implement them both (at the same time)</a:t>
            </a:r>
          </a:p>
          <a:p>
            <a:pPr lvl="1">
              <a:lnSpc>
                <a:spcPct val="90000"/>
              </a:lnSpc>
            </a:pPr>
            <a:r>
              <a:rPr lang="en-US" sz="2000"/>
              <a:t>Large Display</a:t>
            </a:r>
          </a:p>
          <a:p>
            <a:pPr lvl="1">
              <a:lnSpc>
                <a:spcPct val="90000"/>
              </a:lnSpc>
            </a:pPr>
            <a:r>
              <a:rPr lang="en-US" sz="2000"/>
              <a:t>Product has to be used by someone while they move about on foot</a:t>
            </a:r>
          </a:p>
          <a:p>
            <a:pPr>
              <a:lnSpc>
                <a:spcPct val="90000"/>
              </a:lnSpc>
            </a:pPr>
            <a:r>
              <a:rPr lang="en-US" sz="2400"/>
              <a:t>Identifying</a:t>
            </a:r>
          </a:p>
          <a:p>
            <a:pPr lvl="1">
              <a:lnSpc>
                <a:spcPct val="90000"/>
              </a:lnSpc>
            </a:pPr>
            <a:r>
              <a:rPr lang="en-US" sz="2000"/>
              <a:t>Requirements that use the same data</a:t>
            </a:r>
          </a:p>
          <a:p>
            <a:pPr lvl="2">
              <a:lnSpc>
                <a:spcPct val="90000"/>
              </a:lnSpc>
            </a:pPr>
            <a:r>
              <a:rPr lang="en-US" sz="1800"/>
              <a:t>Search by matching terms used</a:t>
            </a:r>
          </a:p>
          <a:p>
            <a:pPr lvl="1">
              <a:lnSpc>
                <a:spcPct val="90000"/>
              </a:lnSpc>
            </a:pPr>
            <a:r>
              <a:rPr lang="en-US" sz="2000"/>
              <a:t>Requirements of the same type</a:t>
            </a:r>
          </a:p>
          <a:p>
            <a:pPr lvl="1">
              <a:lnSpc>
                <a:spcPct val="90000"/>
              </a:lnSpc>
            </a:pPr>
            <a:r>
              <a:rPr lang="en-US" sz="2000"/>
              <a:t>Requirements using same scales of measurement</a:t>
            </a:r>
          </a:p>
          <a:p>
            <a:pPr>
              <a:lnSpc>
                <a:spcPct val="90000"/>
              </a:lnSpc>
            </a:pPr>
            <a:r>
              <a:rPr lang="en-US" sz="2400"/>
              <a:t>Tool</a:t>
            </a:r>
          </a:p>
          <a:p>
            <a:pPr lvl="1">
              <a:lnSpc>
                <a:spcPct val="90000"/>
              </a:lnSpc>
            </a:pPr>
            <a:r>
              <a:rPr lang="en-US" sz="2000"/>
              <a:t>Spreadsheet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Effect transition="in" filter="wipe(left)">
                                      <p:cBhvr>
                                        <p:cTn id="7" dur="500"/>
                                        <p:tgtEl>
                                          <p:spTgt spid="10854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8547">
                                            <p:txEl>
                                              <p:pRg st="1" end="1"/>
                                            </p:txEl>
                                          </p:spTgt>
                                        </p:tgtEl>
                                        <p:attrNameLst>
                                          <p:attrName>style.visibility</p:attrName>
                                        </p:attrNameLst>
                                      </p:cBhvr>
                                      <p:to>
                                        <p:strVal val="visible"/>
                                      </p:to>
                                    </p:set>
                                    <p:animEffect transition="in" filter="wipe(left)">
                                      <p:cBhvr>
                                        <p:cTn id="10" dur="500"/>
                                        <p:tgtEl>
                                          <p:spTgt spid="10854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8547">
                                            <p:txEl>
                                              <p:pRg st="2" end="2"/>
                                            </p:txEl>
                                          </p:spTgt>
                                        </p:tgtEl>
                                        <p:attrNameLst>
                                          <p:attrName>style.visibility</p:attrName>
                                        </p:attrNameLst>
                                      </p:cBhvr>
                                      <p:to>
                                        <p:strVal val="visible"/>
                                      </p:to>
                                    </p:set>
                                    <p:animEffect transition="in" filter="wipe(left)">
                                      <p:cBhvr>
                                        <p:cTn id="13" dur="500"/>
                                        <p:tgtEl>
                                          <p:spTgt spid="10854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8547">
                                            <p:txEl>
                                              <p:pRg st="3" end="3"/>
                                            </p:txEl>
                                          </p:spTgt>
                                        </p:tgtEl>
                                        <p:attrNameLst>
                                          <p:attrName>style.visibility</p:attrName>
                                        </p:attrNameLst>
                                      </p:cBhvr>
                                      <p:to>
                                        <p:strVal val="visible"/>
                                      </p:to>
                                    </p:set>
                                    <p:animEffect transition="in" filter="wipe(left)">
                                      <p:cBhvr>
                                        <p:cTn id="18" dur="500"/>
                                        <p:tgtEl>
                                          <p:spTgt spid="10854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8547">
                                            <p:txEl>
                                              <p:pRg st="4" end="4"/>
                                            </p:txEl>
                                          </p:spTgt>
                                        </p:tgtEl>
                                        <p:attrNameLst>
                                          <p:attrName>style.visibility</p:attrName>
                                        </p:attrNameLst>
                                      </p:cBhvr>
                                      <p:to>
                                        <p:strVal val="visible"/>
                                      </p:to>
                                    </p:set>
                                    <p:animEffect transition="in" filter="wipe(left)">
                                      <p:cBhvr>
                                        <p:cTn id="21" dur="500"/>
                                        <p:tgtEl>
                                          <p:spTgt spid="108547">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8547">
                                            <p:txEl>
                                              <p:pRg st="5" end="5"/>
                                            </p:txEl>
                                          </p:spTgt>
                                        </p:tgtEl>
                                        <p:attrNameLst>
                                          <p:attrName>style.visibility</p:attrName>
                                        </p:attrNameLst>
                                      </p:cBhvr>
                                      <p:to>
                                        <p:strVal val="visible"/>
                                      </p:to>
                                    </p:set>
                                    <p:animEffect transition="in" filter="wipe(left)">
                                      <p:cBhvr>
                                        <p:cTn id="24" dur="500"/>
                                        <p:tgtEl>
                                          <p:spTgt spid="108547">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8547">
                                            <p:txEl>
                                              <p:pRg st="6" end="6"/>
                                            </p:txEl>
                                          </p:spTgt>
                                        </p:tgtEl>
                                        <p:attrNameLst>
                                          <p:attrName>style.visibility</p:attrName>
                                        </p:attrNameLst>
                                      </p:cBhvr>
                                      <p:to>
                                        <p:strVal val="visible"/>
                                      </p:to>
                                    </p:set>
                                    <p:animEffect transition="in" filter="wipe(left)">
                                      <p:cBhvr>
                                        <p:cTn id="27" dur="500"/>
                                        <p:tgtEl>
                                          <p:spTgt spid="108547">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8547">
                                            <p:txEl>
                                              <p:pRg st="7" end="7"/>
                                            </p:txEl>
                                          </p:spTgt>
                                        </p:tgtEl>
                                        <p:attrNameLst>
                                          <p:attrName>style.visibility</p:attrName>
                                        </p:attrNameLst>
                                      </p:cBhvr>
                                      <p:to>
                                        <p:strVal val="visible"/>
                                      </p:to>
                                    </p:set>
                                    <p:animEffect transition="in" filter="wipe(left)">
                                      <p:cBhvr>
                                        <p:cTn id="30" dur="500"/>
                                        <p:tgtEl>
                                          <p:spTgt spid="10854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8547">
                                            <p:txEl>
                                              <p:pRg st="8" end="8"/>
                                            </p:txEl>
                                          </p:spTgt>
                                        </p:tgtEl>
                                        <p:attrNameLst>
                                          <p:attrName>style.visibility</p:attrName>
                                        </p:attrNameLst>
                                      </p:cBhvr>
                                      <p:to>
                                        <p:strVal val="visible"/>
                                      </p:to>
                                    </p:set>
                                    <p:animEffect transition="in" filter="wipe(left)">
                                      <p:cBhvr>
                                        <p:cTn id="35" dur="500"/>
                                        <p:tgtEl>
                                          <p:spTgt spid="108547">
                                            <p:txEl>
                                              <p:pRg st="8" end="8"/>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08547">
                                            <p:txEl>
                                              <p:pRg st="9" end="9"/>
                                            </p:txEl>
                                          </p:spTgt>
                                        </p:tgtEl>
                                        <p:attrNameLst>
                                          <p:attrName>style.visibility</p:attrName>
                                        </p:attrNameLst>
                                      </p:cBhvr>
                                      <p:to>
                                        <p:strVal val="visible"/>
                                      </p:to>
                                    </p:set>
                                    <p:animEffect transition="in" filter="wipe(left)">
                                      <p:cBhvr>
                                        <p:cTn id="38" dur="500"/>
                                        <p:tgtEl>
                                          <p:spTgt spid="1085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a:t> Resolution</a:t>
            </a:r>
          </a:p>
        </p:txBody>
      </p:sp>
      <p:sp>
        <p:nvSpPr>
          <p:cNvPr id="109571" name="Rectangle 3"/>
          <p:cNvSpPr>
            <a:spLocks noGrp="1" noChangeArrowheads="1"/>
          </p:cNvSpPr>
          <p:nvPr>
            <p:ph type="body" idx="1"/>
          </p:nvPr>
        </p:nvSpPr>
        <p:spPr/>
        <p:txBody>
          <a:bodyPr/>
          <a:lstStyle/>
          <a:p>
            <a:pPr>
              <a:lnSpc>
                <a:spcPct val="90000"/>
              </a:lnSpc>
            </a:pPr>
            <a:r>
              <a:rPr lang="en-US" sz="2400"/>
              <a:t>The approach used to settle a conflict</a:t>
            </a:r>
          </a:p>
          <a:p>
            <a:pPr lvl="1">
              <a:lnSpc>
                <a:spcPct val="90000"/>
              </a:lnSpc>
            </a:pPr>
            <a:r>
              <a:rPr lang="en-US" sz="2000"/>
              <a:t>Methods include negotiation, competition, arbitration, coercion, and education</a:t>
            </a:r>
          </a:p>
          <a:p>
            <a:pPr lvl="1">
              <a:lnSpc>
                <a:spcPct val="90000"/>
              </a:lnSpc>
            </a:pPr>
            <a:r>
              <a:rPr lang="en-US" sz="2000"/>
              <a:t>Not all conflicts need a resolution method: not all conflicts need to be resolved.</a:t>
            </a:r>
          </a:p>
          <a:p>
            <a:pPr>
              <a:lnSpc>
                <a:spcPct val="90000"/>
              </a:lnSpc>
            </a:pPr>
            <a:r>
              <a:rPr lang="en-US" sz="2400"/>
              <a:t>Three broad types of resolution method can be distinguished:</a:t>
            </a:r>
          </a:p>
          <a:p>
            <a:pPr lvl="1">
              <a:lnSpc>
                <a:spcPct val="90000"/>
              </a:lnSpc>
            </a:pPr>
            <a:r>
              <a:rPr lang="en-US" sz="2000"/>
              <a:t>Co-operative (or collaborative) methods, which include negotiation and education;</a:t>
            </a:r>
          </a:p>
          <a:p>
            <a:pPr lvl="1">
              <a:lnSpc>
                <a:spcPct val="90000"/>
              </a:lnSpc>
            </a:pPr>
            <a:r>
              <a:rPr lang="en-US" sz="2000"/>
              <a:t>Competitive methods, which include combat, coercion and competition;</a:t>
            </a:r>
          </a:p>
          <a:p>
            <a:pPr lvl="1">
              <a:lnSpc>
                <a:spcPct val="90000"/>
              </a:lnSpc>
            </a:pPr>
            <a:r>
              <a:rPr lang="en-US" sz="2000"/>
              <a:t>Third Party methods, which include arbitration and appeals to authority.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wipe(left)">
                                      <p:cBhvr>
                                        <p:cTn id="7" dur="500"/>
                                        <p:tgtEl>
                                          <p:spTgt spid="10957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9571">
                                            <p:txEl>
                                              <p:pRg st="1" end="1"/>
                                            </p:txEl>
                                          </p:spTgt>
                                        </p:tgtEl>
                                        <p:attrNameLst>
                                          <p:attrName>style.visibility</p:attrName>
                                        </p:attrNameLst>
                                      </p:cBhvr>
                                      <p:to>
                                        <p:strVal val="visible"/>
                                      </p:to>
                                    </p:set>
                                    <p:animEffect transition="in" filter="wipe(left)">
                                      <p:cBhvr>
                                        <p:cTn id="10" dur="500"/>
                                        <p:tgtEl>
                                          <p:spTgt spid="10957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9571">
                                            <p:txEl>
                                              <p:pRg st="2" end="2"/>
                                            </p:txEl>
                                          </p:spTgt>
                                        </p:tgtEl>
                                        <p:attrNameLst>
                                          <p:attrName>style.visibility</p:attrName>
                                        </p:attrNameLst>
                                      </p:cBhvr>
                                      <p:to>
                                        <p:strVal val="visible"/>
                                      </p:to>
                                    </p:set>
                                    <p:animEffect transition="in" filter="wipe(left)">
                                      <p:cBhvr>
                                        <p:cTn id="13" dur="500"/>
                                        <p:tgtEl>
                                          <p:spTgt spid="10957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9571">
                                            <p:txEl>
                                              <p:pRg st="3" end="3"/>
                                            </p:txEl>
                                          </p:spTgt>
                                        </p:tgtEl>
                                        <p:attrNameLst>
                                          <p:attrName>style.visibility</p:attrName>
                                        </p:attrNameLst>
                                      </p:cBhvr>
                                      <p:to>
                                        <p:strVal val="visible"/>
                                      </p:to>
                                    </p:set>
                                    <p:animEffect transition="in" filter="wipe(left)">
                                      <p:cBhvr>
                                        <p:cTn id="18" dur="500"/>
                                        <p:tgtEl>
                                          <p:spTgt spid="109571">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9571">
                                            <p:txEl>
                                              <p:pRg st="4" end="4"/>
                                            </p:txEl>
                                          </p:spTgt>
                                        </p:tgtEl>
                                        <p:attrNameLst>
                                          <p:attrName>style.visibility</p:attrName>
                                        </p:attrNameLst>
                                      </p:cBhvr>
                                      <p:to>
                                        <p:strVal val="visible"/>
                                      </p:to>
                                    </p:set>
                                    <p:animEffect transition="in" filter="wipe(left)">
                                      <p:cBhvr>
                                        <p:cTn id="21" dur="500"/>
                                        <p:tgtEl>
                                          <p:spTgt spid="109571">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9571">
                                            <p:txEl>
                                              <p:pRg st="5" end="5"/>
                                            </p:txEl>
                                          </p:spTgt>
                                        </p:tgtEl>
                                        <p:attrNameLst>
                                          <p:attrName>style.visibility</p:attrName>
                                        </p:attrNameLst>
                                      </p:cBhvr>
                                      <p:to>
                                        <p:strVal val="visible"/>
                                      </p:to>
                                    </p:set>
                                    <p:animEffect transition="in" filter="wipe(left)">
                                      <p:cBhvr>
                                        <p:cTn id="24" dur="500"/>
                                        <p:tgtEl>
                                          <p:spTgt spid="109571">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9571">
                                            <p:txEl>
                                              <p:pRg st="6" end="6"/>
                                            </p:txEl>
                                          </p:spTgt>
                                        </p:tgtEl>
                                        <p:attrNameLst>
                                          <p:attrName>style.visibility</p:attrName>
                                        </p:attrNameLst>
                                      </p:cBhvr>
                                      <p:to>
                                        <p:strVal val="visible"/>
                                      </p:to>
                                    </p:set>
                                    <p:animEffect transition="in" filter="wipe(left)">
                                      <p:cBhvr>
                                        <p:cTn id="27" dur="500"/>
                                        <p:tgtEl>
                                          <p:spTgt spid="1095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normAutofit fontScale="90000"/>
          </a:bodyPr>
          <a:lstStyle/>
          <a:p>
            <a:r>
              <a:rPr lang="en-US" sz="3600"/>
              <a:t>Basic approaches to conflict resolution</a:t>
            </a:r>
          </a:p>
        </p:txBody>
      </p:sp>
      <p:sp>
        <p:nvSpPr>
          <p:cNvPr id="110595" name="Rectangle 3"/>
          <p:cNvSpPr>
            <a:spLocks noGrp="1" noChangeArrowheads="1"/>
          </p:cNvSpPr>
          <p:nvPr>
            <p:ph type="body" idx="1"/>
          </p:nvPr>
        </p:nvSpPr>
        <p:spPr/>
        <p:txBody>
          <a:bodyPr/>
          <a:lstStyle/>
          <a:p>
            <a:pPr>
              <a:lnSpc>
                <a:spcPct val="90000"/>
              </a:lnSpc>
            </a:pPr>
            <a:r>
              <a:rPr lang="en-US" sz="2400"/>
              <a:t>Negotiation is collaborative exploration:</a:t>
            </a:r>
          </a:p>
          <a:p>
            <a:pPr lvl="1">
              <a:lnSpc>
                <a:spcPct val="90000"/>
              </a:lnSpc>
            </a:pPr>
            <a:r>
              <a:rPr lang="en-US" sz="2000"/>
              <a:t>participants attempt to find a settlement that satisfies all parties as much as possible.</a:t>
            </a:r>
          </a:p>
          <a:p>
            <a:pPr lvl="1">
              <a:lnSpc>
                <a:spcPct val="90000"/>
              </a:lnSpc>
            </a:pPr>
            <a:r>
              <a:rPr lang="en-US" sz="2000"/>
              <a:t>also known as:</a:t>
            </a:r>
          </a:p>
          <a:p>
            <a:pPr lvl="2">
              <a:lnSpc>
                <a:spcPct val="90000"/>
              </a:lnSpc>
            </a:pPr>
            <a:r>
              <a:rPr lang="en-US" sz="1800"/>
              <a:t>integrative behavior</a:t>
            </a:r>
          </a:p>
          <a:p>
            <a:pPr lvl="2">
              <a:lnSpc>
                <a:spcPct val="90000"/>
              </a:lnSpc>
            </a:pPr>
            <a:r>
              <a:rPr lang="en-US" sz="1800"/>
              <a:t>constructive negotiation</a:t>
            </a:r>
          </a:p>
          <a:p>
            <a:pPr lvl="1">
              <a:lnSpc>
                <a:spcPct val="90000"/>
              </a:lnSpc>
            </a:pPr>
            <a:r>
              <a:rPr lang="en-US" sz="2000"/>
              <a:t>distinct from:</a:t>
            </a:r>
          </a:p>
          <a:p>
            <a:pPr lvl="2">
              <a:lnSpc>
                <a:spcPct val="90000"/>
              </a:lnSpc>
            </a:pPr>
            <a:r>
              <a:rPr lang="en-US" sz="1800"/>
              <a:t>distributive/competitive negotiation</a:t>
            </a:r>
          </a:p>
          <a:p>
            <a:pPr>
              <a:lnSpc>
                <a:spcPct val="90000"/>
              </a:lnSpc>
            </a:pPr>
            <a:r>
              <a:rPr lang="en-US" sz="2400"/>
              <a:t>Competition</a:t>
            </a:r>
          </a:p>
          <a:p>
            <a:pPr lvl="1">
              <a:lnSpc>
                <a:spcPct val="90000"/>
              </a:lnSpc>
            </a:pPr>
            <a:r>
              <a:rPr lang="en-US" sz="2000"/>
              <a:t>is maximizing your own gain:</a:t>
            </a:r>
          </a:p>
          <a:p>
            <a:pPr lvl="2">
              <a:lnSpc>
                <a:spcPct val="90000"/>
              </a:lnSpc>
            </a:pPr>
            <a:r>
              <a:rPr lang="en-US" sz="1800"/>
              <a:t>no regard for the degree of satisfaction of other parties.</a:t>
            </a:r>
          </a:p>
          <a:p>
            <a:pPr lvl="2">
              <a:lnSpc>
                <a:spcPct val="90000"/>
              </a:lnSpc>
            </a:pPr>
            <a:r>
              <a:rPr lang="en-US" sz="1800"/>
              <a:t>but not necessarily hostile!</a:t>
            </a:r>
          </a:p>
          <a:p>
            <a:pPr lvl="1">
              <a:lnSpc>
                <a:spcPct val="90000"/>
              </a:lnSpc>
            </a:pPr>
            <a:r>
              <a:rPr lang="en-US" sz="2000"/>
              <a:t>Extreme form:</a:t>
            </a:r>
          </a:p>
          <a:p>
            <a:pPr lvl="2">
              <a:lnSpc>
                <a:spcPct val="90000"/>
              </a:lnSpc>
            </a:pPr>
            <a:r>
              <a:rPr lang="en-US" sz="1800"/>
              <a:t>when all gains by one party are at the expense of others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Effect transition="in" filter="wipe(left)">
                                      <p:cBhvr>
                                        <p:cTn id="7" dur="500"/>
                                        <p:tgtEl>
                                          <p:spTgt spid="11059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0595">
                                            <p:txEl>
                                              <p:pRg st="1" end="1"/>
                                            </p:txEl>
                                          </p:spTgt>
                                        </p:tgtEl>
                                        <p:attrNameLst>
                                          <p:attrName>style.visibility</p:attrName>
                                        </p:attrNameLst>
                                      </p:cBhvr>
                                      <p:to>
                                        <p:strVal val="visible"/>
                                      </p:to>
                                    </p:set>
                                    <p:animEffect transition="in" filter="wipe(left)">
                                      <p:cBhvr>
                                        <p:cTn id="10" dur="500"/>
                                        <p:tgtEl>
                                          <p:spTgt spid="11059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0595">
                                            <p:txEl>
                                              <p:pRg st="2" end="2"/>
                                            </p:txEl>
                                          </p:spTgt>
                                        </p:tgtEl>
                                        <p:attrNameLst>
                                          <p:attrName>style.visibility</p:attrName>
                                        </p:attrNameLst>
                                      </p:cBhvr>
                                      <p:to>
                                        <p:strVal val="visible"/>
                                      </p:to>
                                    </p:set>
                                    <p:animEffect transition="in" filter="wipe(left)">
                                      <p:cBhvr>
                                        <p:cTn id="13" dur="500"/>
                                        <p:tgtEl>
                                          <p:spTgt spid="11059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0595">
                                            <p:txEl>
                                              <p:pRg st="3" end="3"/>
                                            </p:txEl>
                                          </p:spTgt>
                                        </p:tgtEl>
                                        <p:attrNameLst>
                                          <p:attrName>style.visibility</p:attrName>
                                        </p:attrNameLst>
                                      </p:cBhvr>
                                      <p:to>
                                        <p:strVal val="visible"/>
                                      </p:to>
                                    </p:set>
                                    <p:animEffect transition="in" filter="wipe(left)">
                                      <p:cBhvr>
                                        <p:cTn id="16" dur="500"/>
                                        <p:tgtEl>
                                          <p:spTgt spid="110595">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0595">
                                            <p:txEl>
                                              <p:pRg st="4" end="4"/>
                                            </p:txEl>
                                          </p:spTgt>
                                        </p:tgtEl>
                                        <p:attrNameLst>
                                          <p:attrName>style.visibility</p:attrName>
                                        </p:attrNameLst>
                                      </p:cBhvr>
                                      <p:to>
                                        <p:strVal val="visible"/>
                                      </p:to>
                                    </p:set>
                                    <p:animEffect transition="in" filter="wipe(left)">
                                      <p:cBhvr>
                                        <p:cTn id="19" dur="500"/>
                                        <p:tgtEl>
                                          <p:spTgt spid="110595">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10595">
                                            <p:txEl>
                                              <p:pRg st="5" end="5"/>
                                            </p:txEl>
                                          </p:spTgt>
                                        </p:tgtEl>
                                        <p:attrNameLst>
                                          <p:attrName>style.visibility</p:attrName>
                                        </p:attrNameLst>
                                      </p:cBhvr>
                                      <p:to>
                                        <p:strVal val="visible"/>
                                      </p:to>
                                    </p:set>
                                    <p:animEffect transition="in" filter="wipe(left)">
                                      <p:cBhvr>
                                        <p:cTn id="22" dur="500"/>
                                        <p:tgtEl>
                                          <p:spTgt spid="110595">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10595">
                                            <p:txEl>
                                              <p:pRg st="6" end="6"/>
                                            </p:txEl>
                                          </p:spTgt>
                                        </p:tgtEl>
                                        <p:attrNameLst>
                                          <p:attrName>style.visibility</p:attrName>
                                        </p:attrNameLst>
                                      </p:cBhvr>
                                      <p:to>
                                        <p:strVal val="visible"/>
                                      </p:to>
                                    </p:set>
                                    <p:animEffect transition="in" filter="wipe(left)">
                                      <p:cBhvr>
                                        <p:cTn id="25" dur="500"/>
                                        <p:tgtEl>
                                          <p:spTgt spid="11059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0595">
                                            <p:txEl>
                                              <p:pRg st="7" end="7"/>
                                            </p:txEl>
                                          </p:spTgt>
                                        </p:tgtEl>
                                        <p:attrNameLst>
                                          <p:attrName>style.visibility</p:attrName>
                                        </p:attrNameLst>
                                      </p:cBhvr>
                                      <p:to>
                                        <p:strVal val="visible"/>
                                      </p:to>
                                    </p:set>
                                    <p:animEffect transition="in" filter="wipe(left)">
                                      <p:cBhvr>
                                        <p:cTn id="30" dur="500"/>
                                        <p:tgtEl>
                                          <p:spTgt spid="110595">
                                            <p:txEl>
                                              <p:pRg st="7" end="7"/>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0595">
                                            <p:txEl>
                                              <p:pRg st="8" end="8"/>
                                            </p:txEl>
                                          </p:spTgt>
                                        </p:tgtEl>
                                        <p:attrNameLst>
                                          <p:attrName>style.visibility</p:attrName>
                                        </p:attrNameLst>
                                      </p:cBhvr>
                                      <p:to>
                                        <p:strVal val="visible"/>
                                      </p:to>
                                    </p:set>
                                    <p:animEffect transition="in" filter="wipe(left)">
                                      <p:cBhvr>
                                        <p:cTn id="33" dur="500"/>
                                        <p:tgtEl>
                                          <p:spTgt spid="110595">
                                            <p:txEl>
                                              <p:pRg st="8" end="8"/>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0595">
                                            <p:txEl>
                                              <p:pRg st="9" end="9"/>
                                            </p:txEl>
                                          </p:spTgt>
                                        </p:tgtEl>
                                        <p:attrNameLst>
                                          <p:attrName>style.visibility</p:attrName>
                                        </p:attrNameLst>
                                      </p:cBhvr>
                                      <p:to>
                                        <p:strVal val="visible"/>
                                      </p:to>
                                    </p:set>
                                    <p:animEffect transition="in" filter="wipe(left)">
                                      <p:cBhvr>
                                        <p:cTn id="36" dur="500"/>
                                        <p:tgtEl>
                                          <p:spTgt spid="110595">
                                            <p:txEl>
                                              <p:pRg st="9" end="9"/>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10595">
                                            <p:txEl>
                                              <p:pRg st="10" end="10"/>
                                            </p:txEl>
                                          </p:spTgt>
                                        </p:tgtEl>
                                        <p:attrNameLst>
                                          <p:attrName>style.visibility</p:attrName>
                                        </p:attrNameLst>
                                      </p:cBhvr>
                                      <p:to>
                                        <p:strVal val="visible"/>
                                      </p:to>
                                    </p:set>
                                    <p:animEffect transition="in" filter="wipe(left)">
                                      <p:cBhvr>
                                        <p:cTn id="39" dur="500"/>
                                        <p:tgtEl>
                                          <p:spTgt spid="110595">
                                            <p:txEl>
                                              <p:pRg st="10" end="10"/>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10595">
                                            <p:txEl>
                                              <p:pRg st="11" end="11"/>
                                            </p:txEl>
                                          </p:spTgt>
                                        </p:tgtEl>
                                        <p:attrNameLst>
                                          <p:attrName>style.visibility</p:attrName>
                                        </p:attrNameLst>
                                      </p:cBhvr>
                                      <p:to>
                                        <p:strVal val="visible"/>
                                      </p:to>
                                    </p:set>
                                    <p:animEffect transition="in" filter="wipe(left)">
                                      <p:cBhvr>
                                        <p:cTn id="42" dur="500"/>
                                        <p:tgtEl>
                                          <p:spTgt spid="110595">
                                            <p:txEl>
                                              <p:pRg st="11" end="11"/>
                                            </p:txEl>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10595">
                                            <p:txEl>
                                              <p:pRg st="12" end="12"/>
                                            </p:txEl>
                                          </p:spTgt>
                                        </p:tgtEl>
                                        <p:attrNameLst>
                                          <p:attrName>style.visibility</p:attrName>
                                        </p:attrNameLst>
                                      </p:cBhvr>
                                      <p:to>
                                        <p:strVal val="visible"/>
                                      </p:to>
                                    </p:set>
                                    <p:animEffect transition="in" filter="wipe(left)">
                                      <p:cBhvr>
                                        <p:cTn id="45" dur="500"/>
                                        <p:tgtEl>
                                          <p:spTgt spid="11059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normAutofit fontScale="90000"/>
          </a:bodyPr>
          <a:lstStyle/>
          <a:p>
            <a:r>
              <a:rPr lang="en-US" sz="3600"/>
              <a:t>Basic approaches to conflict resolution</a:t>
            </a:r>
          </a:p>
        </p:txBody>
      </p:sp>
      <p:sp>
        <p:nvSpPr>
          <p:cNvPr id="111619" name="Rectangle 3"/>
          <p:cNvSpPr>
            <a:spLocks noGrp="1" noChangeArrowheads="1"/>
          </p:cNvSpPr>
          <p:nvPr>
            <p:ph type="body" idx="1"/>
          </p:nvPr>
        </p:nvSpPr>
        <p:spPr/>
        <p:txBody>
          <a:bodyPr>
            <a:normAutofit lnSpcReduction="10000"/>
          </a:bodyPr>
          <a:lstStyle/>
          <a:p>
            <a:pPr>
              <a:lnSpc>
                <a:spcPct val="90000"/>
              </a:lnSpc>
            </a:pPr>
            <a:r>
              <a:rPr lang="en-US" sz="2400"/>
              <a:t>Third Party Resolution</a:t>
            </a:r>
          </a:p>
          <a:p>
            <a:pPr lvl="1">
              <a:lnSpc>
                <a:spcPct val="90000"/>
              </a:lnSpc>
            </a:pPr>
            <a:r>
              <a:rPr lang="en-US" sz="2000"/>
              <a:t>participants appeal to outside source</a:t>
            </a:r>
          </a:p>
          <a:p>
            <a:pPr lvl="2">
              <a:lnSpc>
                <a:spcPct val="90000"/>
              </a:lnSpc>
            </a:pPr>
            <a:r>
              <a:rPr lang="en-US" sz="1800"/>
              <a:t>the rule-book, a figure of authority, or the toss of a coin.</a:t>
            </a:r>
          </a:p>
          <a:p>
            <a:pPr lvl="2">
              <a:lnSpc>
                <a:spcPct val="90000"/>
              </a:lnSpc>
            </a:pPr>
            <a:r>
              <a:rPr lang="en-US" sz="1800"/>
              <a:t>can occur with the breakdown of either negotiation or competition as resolution methods.</a:t>
            </a:r>
          </a:p>
          <a:p>
            <a:pPr lvl="1">
              <a:lnSpc>
                <a:spcPct val="90000"/>
              </a:lnSpc>
            </a:pPr>
            <a:r>
              <a:rPr lang="en-US" sz="2000"/>
              <a:t>types of third party resolution</a:t>
            </a:r>
          </a:p>
          <a:p>
            <a:pPr lvl="2">
              <a:lnSpc>
                <a:spcPct val="90000"/>
              </a:lnSpc>
            </a:pPr>
            <a:r>
              <a:rPr lang="en-US" sz="1800"/>
              <a:t>judicial: cases presented by each participant are taken into account</a:t>
            </a:r>
          </a:p>
          <a:p>
            <a:pPr lvl="2">
              <a:lnSpc>
                <a:spcPct val="90000"/>
              </a:lnSpc>
            </a:pPr>
            <a:r>
              <a:rPr lang="en-US" sz="1800"/>
              <a:t>extra-judicial: a decision is determined by factors other than the cases presented (e.g. relative status of participants).</a:t>
            </a:r>
          </a:p>
          <a:p>
            <a:pPr lvl="2">
              <a:lnSpc>
                <a:spcPct val="90000"/>
              </a:lnSpc>
            </a:pPr>
            <a:r>
              <a:rPr lang="en-US" sz="1800"/>
              <a:t>arbitrary: e.g. toss of a coin</a:t>
            </a:r>
          </a:p>
          <a:p>
            <a:pPr>
              <a:lnSpc>
                <a:spcPct val="90000"/>
              </a:lnSpc>
            </a:pPr>
            <a:r>
              <a:rPr lang="en-US" sz="2400"/>
              <a:t>Bidding and Bargaining</a:t>
            </a:r>
          </a:p>
          <a:p>
            <a:pPr lvl="1">
              <a:lnSpc>
                <a:spcPct val="90000"/>
              </a:lnSpc>
            </a:pPr>
            <a:r>
              <a:rPr lang="en-US" sz="2000"/>
              <a:t>Bidding:</a:t>
            </a:r>
          </a:p>
          <a:p>
            <a:pPr lvl="2">
              <a:lnSpc>
                <a:spcPct val="90000"/>
              </a:lnSpc>
            </a:pPr>
            <a:r>
              <a:rPr lang="en-US" sz="1800"/>
              <a:t>participants state their desired terms</a:t>
            </a:r>
          </a:p>
          <a:p>
            <a:pPr lvl="1">
              <a:lnSpc>
                <a:spcPct val="90000"/>
              </a:lnSpc>
            </a:pPr>
            <a:r>
              <a:rPr lang="en-US" sz="2000"/>
              <a:t>Bargaining:</a:t>
            </a:r>
          </a:p>
          <a:p>
            <a:pPr lvl="2">
              <a:lnSpc>
                <a:spcPct val="90000"/>
              </a:lnSpc>
            </a:pPr>
            <a:r>
              <a:rPr lang="en-US" sz="1800"/>
              <a:t>participants search for a satisfactory integration of bids.</a:t>
            </a:r>
          </a:p>
          <a:p>
            <a:pPr>
              <a:lnSpc>
                <a:spcPct val="90000"/>
              </a:lnSpc>
            </a:pP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wipe(left)">
                                      <p:cBhvr>
                                        <p:cTn id="7" dur="500"/>
                                        <p:tgtEl>
                                          <p:spTgt spid="1116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1619">
                                            <p:txEl>
                                              <p:pRg st="1" end="1"/>
                                            </p:txEl>
                                          </p:spTgt>
                                        </p:tgtEl>
                                        <p:attrNameLst>
                                          <p:attrName>style.visibility</p:attrName>
                                        </p:attrNameLst>
                                      </p:cBhvr>
                                      <p:to>
                                        <p:strVal val="visible"/>
                                      </p:to>
                                    </p:set>
                                    <p:animEffect transition="in" filter="wipe(left)">
                                      <p:cBhvr>
                                        <p:cTn id="10" dur="500"/>
                                        <p:tgtEl>
                                          <p:spTgt spid="11161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1619">
                                            <p:txEl>
                                              <p:pRg st="2" end="2"/>
                                            </p:txEl>
                                          </p:spTgt>
                                        </p:tgtEl>
                                        <p:attrNameLst>
                                          <p:attrName>style.visibility</p:attrName>
                                        </p:attrNameLst>
                                      </p:cBhvr>
                                      <p:to>
                                        <p:strVal val="visible"/>
                                      </p:to>
                                    </p:set>
                                    <p:animEffect transition="in" filter="wipe(left)">
                                      <p:cBhvr>
                                        <p:cTn id="13" dur="500"/>
                                        <p:tgtEl>
                                          <p:spTgt spid="111619">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1619">
                                            <p:txEl>
                                              <p:pRg st="3" end="3"/>
                                            </p:txEl>
                                          </p:spTgt>
                                        </p:tgtEl>
                                        <p:attrNameLst>
                                          <p:attrName>style.visibility</p:attrName>
                                        </p:attrNameLst>
                                      </p:cBhvr>
                                      <p:to>
                                        <p:strVal val="visible"/>
                                      </p:to>
                                    </p:set>
                                    <p:animEffect transition="in" filter="wipe(left)">
                                      <p:cBhvr>
                                        <p:cTn id="16" dur="500"/>
                                        <p:tgtEl>
                                          <p:spTgt spid="111619">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1619">
                                            <p:txEl>
                                              <p:pRg st="4" end="4"/>
                                            </p:txEl>
                                          </p:spTgt>
                                        </p:tgtEl>
                                        <p:attrNameLst>
                                          <p:attrName>style.visibility</p:attrName>
                                        </p:attrNameLst>
                                      </p:cBhvr>
                                      <p:to>
                                        <p:strVal val="visible"/>
                                      </p:to>
                                    </p:set>
                                    <p:animEffect transition="in" filter="wipe(left)">
                                      <p:cBhvr>
                                        <p:cTn id="19" dur="500"/>
                                        <p:tgtEl>
                                          <p:spTgt spid="111619">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11619">
                                            <p:txEl>
                                              <p:pRg st="5" end="5"/>
                                            </p:txEl>
                                          </p:spTgt>
                                        </p:tgtEl>
                                        <p:attrNameLst>
                                          <p:attrName>style.visibility</p:attrName>
                                        </p:attrNameLst>
                                      </p:cBhvr>
                                      <p:to>
                                        <p:strVal val="visible"/>
                                      </p:to>
                                    </p:set>
                                    <p:animEffect transition="in" filter="wipe(left)">
                                      <p:cBhvr>
                                        <p:cTn id="22" dur="500"/>
                                        <p:tgtEl>
                                          <p:spTgt spid="111619">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11619">
                                            <p:txEl>
                                              <p:pRg st="6" end="6"/>
                                            </p:txEl>
                                          </p:spTgt>
                                        </p:tgtEl>
                                        <p:attrNameLst>
                                          <p:attrName>style.visibility</p:attrName>
                                        </p:attrNameLst>
                                      </p:cBhvr>
                                      <p:to>
                                        <p:strVal val="visible"/>
                                      </p:to>
                                    </p:set>
                                    <p:animEffect transition="in" filter="wipe(left)">
                                      <p:cBhvr>
                                        <p:cTn id="25" dur="500"/>
                                        <p:tgtEl>
                                          <p:spTgt spid="111619">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1619">
                                            <p:txEl>
                                              <p:pRg st="7" end="7"/>
                                            </p:txEl>
                                          </p:spTgt>
                                        </p:tgtEl>
                                        <p:attrNameLst>
                                          <p:attrName>style.visibility</p:attrName>
                                        </p:attrNameLst>
                                      </p:cBhvr>
                                      <p:to>
                                        <p:strVal val="visible"/>
                                      </p:to>
                                    </p:set>
                                    <p:animEffect transition="in" filter="wipe(left)">
                                      <p:cBhvr>
                                        <p:cTn id="28" dur="500"/>
                                        <p:tgtEl>
                                          <p:spTgt spid="111619">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1619">
                                            <p:txEl>
                                              <p:pRg st="8" end="8"/>
                                            </p:txEl>
                                          </p:spTgt>
                                        </p:tgtEl>
                                        <p:attrNameLst>
                                          <p:attrName>style.visibility</p:attrName>
                                        </p:attrNameLst>
                                      </p:cBhvr>
                                      <p:to>
                                        <p:strVal val="visible"/>
                                      </p:to>
                                    </p:set>
                                    <p:animEffect transition="in" filter="wipe(left)">
                                      <p:cBhvr>
                                        <p:cTn id="33" dur="500"/>
                                        <p:tgtEl>
                                          <p:spTgt spid="111619">
                                            <p:txEl>
                                              <p:pRg st="8" end="8"/>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1619">
                                            <p:txEl>
                                              <p:pRg st="9" end="9"/>
                                            </p:txEl>
                                          </p:spTgt>
                                        </p:tgtEl>
                                        <p:attrNameLst>
                                          <p:attrName>style.visibility</p:attrName>
                                        </p:attrNameLst>
                                      </p:cBhvr>
                                      <p:to>
                                        <p:strVal val="visible"/>
                                      </p:to>
                                    </p:set>
                                    <p:animEffect transition="in" filter="wipe(left)">
                                      <p:cBhvr>
                                        <p:cTn id="36" dur="500"/>
                                        <p:tgtEl>
                                          <p:spTgt spid="111619">
                                            <p:txEl>
                                              <p:pRg st="9" end="9"/>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11619">
                                            <p:txEl>
                                              <p:pRg st="10" end="10"/>
                                            </p:txEl>
                                          </p:spTgt>
                                        </p:tgtEl>
                                        <p:attrNameLst>
                                          <p:attrName>style.visibility</p:attrName>
                                        </p:attrNameLst>
                                      </p:cBhvr>
                                      <p:to>
                                        <p:strVal val="visible"/>
                                      </p:to>
                                    </p:set>
                                    <p:animEffect transition="in" filter="wipe(left)">
                                      <p:cBhvr>
                                        <p:cTn id="39" dur="500"/>
                                        <p:tgtEl>
                                          <p:spTgt spid="111619">
                                            <p:txEl>
                                              <p:pRg st="10" end="10"/>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11619">
                                            <p:txEl>
                                              <p:pRg st="11" end="11"/>
                                            </p:txEl>
                                          </p:spTgt>
                                        </p:tgtEl>
                                        <p:attrNameLst>
                                          <p:attrName>style.visibility</p:attrName>
                                        </p:attrNameLst>
                                      </p:cBhvr>
                                      <p:to>
                                        <p:strVal val="visible"/>
                                      </p:to>
                                    </p:set>
                                    <p:animEffect transition="in" filter="wipe(left)">
                                      <p:cBhvr>
                                        <p:cTn id="42" dur="500"/>
                                        <p:tgtEl>
                                          <p:spTgt spid="111619">
                                            <p:txEl>
                                              <p:pRg st="11" end="11"/>
                                            </p:txEl>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11619">
                                            <p:txEl>
                                              <p:pRg st="12" end="12"/>
                                            </p:txEl>
                                          </p:spTgt>
                                        </p:tgtEl>
                                        <p:attrNameLst>
                                          <p:attrName>style.visibility</p:attrName>
                                        </p:attrNameLst>
                                      </p:cBhvr>
                                      <p:to>
                                        <p:strVal val="visible"/>
                                      </p:to>
                                    </p:set>
                                    <p:animEffect transition="in" filter="wipe(left)">
                                      <p:cBhvr>
                                        <p:cTn id="45" dur="500"/>
                                        <p:tgtEl>
                                          <p:spTgt spid="11161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en-US"/>
              <a:t>Resolution Techniques</a:t>
            </a:r>
          </a:p>
        </p:txBody>
      </p:sp>
      <p:sp>
        <p:nvSpPr>
          <p:cNvPr id="113667" name="Rectangle 3"/>
          <p:cNvSpPr>
            <a:spLocks noGrp="1" noChangeArrowheads="1"/>
          </p:cNvSpPr>
          <p:nvPr>
            <p:ph type="body" idx="1"/>
          </p:nvPr>
        </p:nvSpPr>
        <p:spPr>
          <a:xfrm>
            <a:off x="457200" y="1371600"/>
            <a:ext cx="8229600" cy="4637088"/>
          </a:xfrm>
        </p:spPr>
        <p:txBody>
          <a:bodyPr>
            <a:normAutofit lnSpcReduction="10000"/>
          </a:bodyPr>
          <a:lstStyle/>
          <a:p>
            <a:pPr>
              <a:lnSpc>
                <a:spcPct val="90000"/>
              </a:lnSpc>
            </a:pPr>
            <a:r>
              <a:rPr lang="en-US" sz="2400"/>
              <a:t>Using Argumentation Structuring</a:t>
            </a:r>
          </a:p>
          <a:p>
            <a:pPr lvl="1">
              <a:lnSpc>
                <a:spcPct val="90000"/>
              </a:lnSpc>
            </a:pPr>
            <a:r>
              <a:rPr lang="en-US" sz="2000"/>
              <a:t>gIBIS</a:t>
            </a:r>
          </a:p>
          <a:p>
            <a:pPr lvl="2">
              <a:lnSpc>
                <a:spcPct val="90000"/>
              </a:lnSpc>
            </a:pPr>
            <a:r>
              <a:rPr lang="en-US" sz="1800"/>
              <a:t>developed by Conklin - 1989</a:t>
            </a:r>
          </a:p>
          <a:p>
            <a:pPr lvl="2">
              <a:lnSpc>
                <a:spcPct val="90000"/>
              </a:lnSpc>
            </a:pPr>
            <a:r>
              <a:rPr lang="en-US" sz="1800"/>
              <a:t>Represents argumentation process as a hyper textual graph</a:t>
            </a:r>
          </a:p>
          <a:p>
            <a:pPr lvl="2">
              <a:lnSpc>
                <a:spcPct val="90000"/>
              </a:lnSpc>
            </a:pPr>
            <a:r>
              <a:rPr lang="en-US" sz="1800"/>
              <a:t>Basic Process</a:t>
            </a:r>
          </a:p>
          <a:p>
            <a:pPr lvl="3">
              <a:lnSpc>
                <a:spcPct val="90000"/>
              </a:lnSpc>
            </a:pPr>
            <a:r>
              <a:rPr lang="en-US" sz="1600"/>
              <a:t>Identify issues</a:t>
            </a:r>
          </a:p>
          <a:p>
            <a:pPr lvl="3">
              <a:lnSpc>
                <a:spcPct val="90000"/>
              </a:lnSpc>
            </a:pPr>
            <a:r>
              <a:rPr lang="en-US" sz="1600"/>
              <a:t>Identify positions that one can adopt with respect to the issues</a:t>
            </a:r>
          </a:p>
          <a:p>
            <a:pPr lvl="3">
              <a:lnSpc>
                <a:spcPct val="90000"/>
              </a:lnSpc>
            </a:pPr>
            <a:r>
              <a:rPr lang="en-US" sz="1600"/>
              <a:t>link arguments that support or refute positions</a:t>
            </a:r>
          </a:p>
          <a:p>
            <a:pPr lvl="1">
              <a:lnSpc>
                <a:spcPct val="90000"/>
              </a:lnSpc>
            </a:pPr>
            <a:r>
              <a:rPr lang="en-US" sz="2000"/>
              <a:t>Synoptic</a:t>
            </a:r>
          </a:p>
          <a:p>
            <a:pPr lvl="2">
              <a:lnSpc>
                <a:spcPct val="90000"/>
              </a:lnSpc>
            </a:pPr>
            <a:r>
              <a:rPr lang="en-US" sz="1800"/>
              <a:t>Developed by Easterbrook – 1991</a:t>
            </a:r>
          </a:p>
          <a:p>
            <a:pPr lvl="2">
              <a:lnSpc>
                <a:spcPct val="90000"/>
              </a:lnSpc>
            </a:pPr>
            <a:r>
              <a:rPr lang="en-US" sz="1800"/>
              <a:t>Tool support for collaborative task-focused negotiation</a:t>
            </a:r>
          </a:p>
          <a:p>
            <a:pPr lvl="2">
              <a:lnSpc>
                <a:spcPct val="90000"/>
              </a:lnSpc>
            </a:pPr>
            <a:r>
              <a:rPr lang="en-US" sz="1800"/>
              <a:t>Basic Process:</a:t>
            </a:r>
          </a:p>
          <a:p>
            <a:pPr lvl="3">
              <a:lnSpc>
                <a:spcPct val="90000"/>
              </a:lnSpc>
            </a:pPr>
            <a:r>
              <a:rPr lang="en-US" sz="1600"/>
              <a:t>Get each participant to externalize their conceptual model(s)</a:t>
            </a:r>
          </a:p>
          <a:p>
            <a:pPr lvl="3">
              <a:lnSpc>
                <a:spcPct val="90000"/>
              </a:lnSpc>
            </a:pPr>
            <a:r>
              <a:rPr lang="en-US" sz="1600"/>
              <a:t>Find correspondences between the models</a:t>
            </a:r>
          </a:p>
          <a:p>
            <a:pPr lvl="3">
              <a:lnSpc>
                <a:spcPct val="90000"/>
              </a:lnSpc>
            </a:pPr>
            <a:r>
              <a:rPr lang="en-US" sz="1600"/>
              <a:t>Classify mismatches</a:t>
            </a:r>
          </a:p>
          <a:p>
            <a:pPr lvl="3">
              <a:lnSpc>
                <a:spcPct val="90000"/>
              </a:lnSpc>
            </a:pPr>
            <a:r>
              <a:rPr lang="en-US" sz="1600"/>
              <a:t>Generate options for resolving each mismatch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wipe(left)">
                                      <p:cBhvr>
                                        <p:cTn id="7" dur="500"/>
                                        <p:tgtEl>
                                          <p:spTgt spid="113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wipe(left)">
                                      <p:cBhvr>
                                        <p:cTn id="12" dur="500"/>
                                        <p:tgtEl>
                                          <p:spTgt spid="113667">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animEffect transition="in" filter="wipe(left)">
                                      <p:cBhvr>
                                        <p:cTn id="15" dur="500"/>
                                        <p:tgtEl>
                                          <p:spTgt spid="113667">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3667">
                                            <p:txEl>
                                              <p:pRg st="3" end="3"/>
                                            </p:txEl>
                                          </p:spTgt>
                                        </p:tgtEl>
                                        <p:attrNameLst>
                                          <p:attrName>style.visibility</p:attrName>
                                        </p:attrNameLst>
                                      </p:cBhvr>
                                      <p:to>
                                        <p:strVal val="visible"/>
                                      </p:to>
                                    </p:set>
                                    <p:animEffect transition="in" filter="wipe(left)">
                                      <p:cBhvr>
                                        <p:cTn id="18" dur="500"/>
                                        <p:tgtEl>
                                          <p:spTgt spid="11366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13667">
                                            <p:txEl>
                                              <p:pRg st="4" end="4"/>
                                            </p:txEl>
                                          </p:spTgt>
                                        </p:tgtEl>
                                        <p:attrNameLst>
                                          <p:attrName>style.visibility</p:attrName>
                                        </p:attrNameLst>
                                      </p:cBhvr>
                                      <p:to>
                                        <p:strVal val="visible"/>
                                      </p:to>
                                    </p:set>
                                    <p:animEffect transition="in" filter="wipe(left)">
                                      <p:cBhvr>
                                        <p:cTn id="21" dur="500"/>
                                        <p:tgtEl>
                                          <p:spTgt spid="113667">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13667">
                                            <p:txEl>
                                              <p:pRg st="5" end="5"/>
                                            </p:txEl>
                                          </p:spTgt>
                                        </p:tgtEl>
                                        <p:attrNameLst>
                                          <p:attrName>style.visibility</p:attrName>
                                        </p:attrNameLst>
                                      </p:cBhvr>
                                      <p:to>
                                        <p:strVal val="visible"/>
                                      </p:to>
                                    </p:set>
                                    <p:animEffect transition="in" filter="wipe(left)">
                                      <p:cBhvr>
                                        <p:cTn id="24" dur="500"/>
                                        <p:tgtEl>
                                          <p:spTgt spid="113667">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13667">
                                            <p:txEl>
                                              <p:pRg st="6" end="6"/>
                                            </p:txEl>
                                          </p:spTgt>
                                        </p:tgtEl>
                                        <p:attrNameLst>
                                          <p:attrName>style.visibility</p:attrName>
                                        </p:attrNameLst>
                                      </p:cBhvr>
                                      <p:to>
                                        <p:strVal val="visible"/>
                                      </p:to>
                                    </p:set>
                                    <p:animEffect transition="in" filter="wipe(left)">
                                      <p:cBhvr>
                                        <p:cTn id="27" dur="500"/>
                                        <p:tgtEl>
                                          <p:spTgt spid="113667">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13667">
                                            <p:txEl>
                                              <p:pRg st="7" end="7"/>
                                            </p:txEl>
                                          </p:spTgt>
                                        </p:tgtEl>
                                        <p:attrNameLst>
                                          <p:attrName>style.visibility</p:attrName>
                                        </p:attrNameLst>
                                      </p:cBhvr>
                                      <p:to>
                                        <p:strVal val="visible"/>
                                      </p:to>
                                    </p:set>
                                    <p:animEffect transition="in" filter="wipe(left)">
                                      <p:cBhvr>
                                        <p:cTn id="30" dur="500"/>
                                        <p:tgtEl>
                                          <p:spTgt spid="11366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3667">
                                            <p:txEl>
                                              <p:pRg st="8" end="8"/>
                                            </p:txEl>
                                          </p:spTgt>
                                        </p:tgtEl>
                                        <p:attrNameLst>
                                          <p:attrName>style.visibility</p:attrName>
                                        </p:attrNameLst>
                                      </p:cBhvr>
                                      <p:to>
                                        <p:strVal val="visible"/>
                                      </p:to>
                                    </p:set>
                                    <p:animEffect transition="in" filter="wipe(left)">
                                      <p:cBhvr>
                                        <p:cTn id="35" dur="500"/>
                                        <p:tgtEl>
                                          <p:spTgt spid="113667">
                                            <p:txEl>
                                              <p:pRg st="8" end="8"/>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13667">
                                            <p:txEl>
                                              <p:pRg st="9" end="9"/>
                                            </p:txEl>
                                          </p:spTgt>
                                        </p:tgtEl>
                                        <p:attrNameLst>
                                          <p:attrName>style.visibility</p:attrName>
                                        </p:attrNameLst>
                                      </p:cBhvr>
                                      <p:to>
                                        <p:strVal val="visible"/>
                                      </p:to>
                                    </p:set>
                                    <p:animEffect transition="in" filter="wipe(left)">
                                      <p:cBhvr>
                                        <p:cTn id="38" dur="500"/>
                                        <p:tgtEl>
                                          <p:spTgt spid="113667">
                                            <p:txEl>
                                              <p:pRg st="9" end="9"/>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13667">
                                            <p:txEl>
                                              <p:pRg st="10" end="10"/>
                                            </p:txEl>
                                          </p:spTgt>
                                        </p:tgtEl>
                                        <p:attrNameLst>
                                          <p:attrName>style.visibility</p:attrName>
                                        </p:attrNameLst>
                                      </p:cBhvr>
                                      <p:to>
                                        <p:strVal val="visible"/>
                                      </p:to>
                                    </p:set>
                                    <p:animEffect transition="in" filter="wipe(left)">
                                      <p:cBhvr>
                                        <p:cTn id="41" dur="500"/>
                                        <p:tgtEl>
                                          <p:spTgt spid="113667">
                                            <p:txEl>
                                              <p:pRg st="10" end="10"/>
                                            </p:txEl>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13667">
                                            <p:txEl>
                                              <p:pRg st="11" end="11"/>
                                            </p:txEl>
                                          </p:spTgt>
                                        </p:tgtEl>
                                        <p:attrNameLst>
                                          <p:attrName>style.visibility</p:attrName>
                                        </p:attrNameLst>
                                      </p:cBhvr>
                                      <p:to>
                                        <p:strVal val="visible"/>
                                      </p:to>
                                    </p:set>
                                    <p:animEffect transition="in" filter="wipe(left)">
                                      <p:cBhvr>
                                        <p:cTn id="44" dur="500"/>
                                        <p:tgtEl>
                                          <p:spTgt spid="113667">
                                            <p:txEl>
                                              <p:pRg st="11" end="11"/>
                                            </p:txEl>
                                          </p:spTgt>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13667">
                                            <p:txEl>
                                              <p:pRg st="12" end="12"/>
                                            </p:txEl>
                                          </p:spTgt>
                                        </p:tgtEl>
                                        <p:attrNameLst>
                                          <p:attrName>style.visibility</p:attrName>
                                        </p:attrNameLst>
                                      </p:cBhvr>
                                      <p:to>
                                        <p:strVal val="visible"/>
                                      </p:to>
                                    </p:set>
                                    <p:animEffect transition="in" filter="wipe(left)">
                                      <p:cBhvr>
                                        <p:cTn id="47" dur="500"/>
                                        <p:tgtEl>
                                          <p:spTgt spid="113667">
                                            <p:txEl>
                                              <p:pRg st="12" end="12"/>
                                            </p:txEl>
                                          </p:spTgt>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13667">
                                            <p:txEl>
                                              <p:pRg st="13" end="13"/>
                                            </p:txEl>
                                          </p:spTgt>
                                        </p:tgtEl>
                                        <p:attrNameLst>
                                          <p:attrName>style.visibility</p:attrName>
                                        </p:attrNameLst>
                                      </p:cBhvr>
                                      <p:to>
                                        <p:strVal val="visible"/>
                                      </p:to>
                                    </p:set>
                                    <p:animEffect transition="in" filter="wipe(left)">
                                      <p:cBhvr>
                                        <p:cTn id="50" dur="500"/>
                                        <p:tgtEl>
                                          <p:spTgt spid="113667">
                                            <p:txEl>
                                              <p:pRg st="13" end="13"/>
                                            </p:txEl>
                                          </p:spTgt>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13667">
                                            <p:txEl>
                                              <p:pRg st="14" end="14"/>
                                            </p:txEl>
                                          </p:spTgt>
                                        </p:tgtEl>
                                        <p:attrNameLst>
                                          <p:attrName>style.visibility</p:attrName>
                                        </p:attrNameLst>
                                      </p:cBhvr>
                                      <p:to>
                                        <p:strVal val="visible"/>
                                      </p:to>
                                    </p:set>
                                    <p:animEffect transition="in" filter="wipe(left)">
                                      <p:cBhvr>
                                        <p:cTn id="53" dur="500"/>
                                        <p:tgtEl>
                                          <p:spTgt spid="113667">
                                            <p:txEl>
                                              <p:pRg st="14" end="14"/>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13667">
                                            <p:txEl>
                                              <p:pRg st="15" end="15"/>
                                            </p:txEl>
                                          </p:spTgt>
                                        </p:tgtEl>
                                        <p:attrNameLst>
                                          <p:attrName>style.visibility</p:attrName>
                                        </p:attrNameLst>
                                      </p:cBhvr>
                                      <p:to>
                                        <p:strVal val="visible"/>
                                      </p:to>
                                    </p:set>
                                    <p:animEffect transition="in" filter="wipe(left)">
                                      <p:cBhvr>
                                        <p:cTn id="56" dur="500"/>
                                        <p:tgtEl>
                                          <p:spTgt spid="11366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bldLvl="2"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t>Resolution Techniques</a:t>
            </a:r>
          </a:p>
        </p:txBody>
      </p:sp>
      <p:sp>
        <p:nvSpPr>
          <p:cNvPr id="114691" name="Rectangle 3"/>
          <p:cNvSpPr>
            <a:spLocks noGrp="1" noChangeArrowheads="1"/>
          </p:cNvSpPr>
          <p:nvPr>
            <p:ph type="body" idx="1"/>
          </p:nvPr>
        </p:nvSpPr>
        <p:spPr>
          <a:xfrm>
            <a:off x="457200" y="1524000"/>
            <a:ext cx="8229600" cy="4572000"/>
          </a:xfrm>
        </p:spPr>
        <p:txBody>
          <a:bodyPr>
            <a:normAutofit lnSpcReduction="10000"/>
          </a:bodyPr>
          <a:lstStyle/>
          <a:p>
            <a:r>
              <a:rPr lang="en-US" sz="2800"/>
              <a:t>Using Pre-existing domain model</a:t>
            </a:r>
          </a:p>
          <a:p>
            <a:pPr lvl="1"/>
            <a:r>
              <a:rPr lang="en-US" sz="2400"/>
              <a:t>WinWin</a:t>
            </a:r>
          </a:p>
          <a:p>
            <a:pPr lvl="2"/>
            <a:r>
              <a:rPr lang="en-US" sz="2200"/>
              <a:t>developed by Boehm &amp; colleagues [mid 1990s]</a:t>
            </a:r>
          </a:p>
          <a:p>
            <a:pPr lvl="2"/>
            <a:r>
              <a:rPr lang="en-US" sz="2200"/>
              <a:t>explicitly identifies win-conditions for each participant</a:t>
            </a:r>
          </a:p>
          <a:p>
            <a:pPr lvl="2"/>
            <a:r>
              <a:rPr lang="en-US" sz="2200"/>
              <a:t>Incorporates domain knowledge-base of quality requirements and product attribute links</a:t>
            </a:r>
          </a:p>
          <a:p>
            <a:pPr lvl="2"/>
            <a:r>
              <a:rPr lang="en-US" sz="2200"/>
              <a:t>Basic Process:</a:t>
            </a:r>
          </a:p>
          <a:p>
            <a:pPr lvl="3"/>
            <a:r>
              <a:rPr lang="en-US" sz="1800"/>
              <a:t>Enter win conditions for each participant</a:t>
            </a:r>
          </a:p>
          <a:p>
            <a:pPr lvl="3"/>
            <a:r>
              <a:rPr lang="en-US" sz="1800"/>
              <a:t>identify attribute strategies for win conditions</a:t>
            </a:r>
          </a:p>
          <a:p>
            <a:pPr lvl="3"/>
            <a:r>
              <a:rPr lang="en-US" sz="1800"/>
              <a:t>determine negative effects for each strategy on each win condition</a:t>
            </a:r>
          </a:p>
          <a:p>
            <a:pPr lvl="3"/>
            <a:r>
              <a:rPr lang="en-US" sz="1800"/>
              <a:t>resolve disagreements manually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wipe(left)">
                                      <p:cBhvr>
                                        <p:cTn id="7" dur="500"/>
                                        <p:tgtEl>
                                          <p:spTgt spid="114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691">
                                            <p:txEl>
                                              <p:pRg st="1" end="1"/>
                                            </p:txEl>
                                          </p:spTgt>
                                        </p:tgtEl>
                                        <p:attrNameLst>
                                          <p:attrName>style.visibility</p:attrName>
                                        </p:attrNameLst>
                                      </p:cBhvr>
                                      <p:to>
                                        <p:strVal val="visible"/>
                                      </p:to>
                                    </p:set>
                                    <p:animEffect transition="in" filter="wipe(left)">
                                      <p:cBhvr>
                                        <p:cTn id="12" dur="500"/>
                                        <p:tgtEl>
                                          <p:spTgt spid="1146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4691">
                                            <p:txEl>
                                              <p:pRg st="2" end="2"/>
                                            </p:txEl>
                                          </p:spTgt>
                                        </p:tgtEl>
                                        <p:attrNameLst>
                                          <p:attrName>style.visibility</p:attrName>
                                        </p:attrNameLst>
                                      </p:cBhvr>
                                      <p:to>
                                        <p:strVal val="visible"/>
                                      </p:to>
                                    </p:set>
                                    <p:animEffect transition="in" filter="wipe(left)">
                                      <p:cBhvr>
                                        <p:cTn id="17" dur="500"/>
                                        <p:tgtEl>
                                          <p:spTgt spid="1146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4691">
                                            <p:txEl>
                                              <p:pRg st="3" end="3"/>
                                            </p:txEl>
                                          </p:spTgt>
                                        </p:tgtEl>
                                        <p:attrNameLst>
                                          <p:attrName>style.visibility</p:attrName>
                                        </p:attrNameLst>
                                      </p:cBhvr>
                                      <p:to>
                                        <p:strVal val="visible"/>
                                      </p:to>
                                    </p:set>
                                    <p:animEffect transition="in" filter="wipe(left)">
                                      <p:cBhvr>
                                        <p:cTn id="22" dur="500"/>
                                        <p:tgtEl>
                                          <p:spTgt spid="1146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4691">
                                            <p:txEl>
                                              <p:pRg st="4" end="4"/>
                                            </p:txEl>
                                          </p:spTgt>
                                        </p:tgtEl>
                                        <p:attrNameLst>
                                          <p:attrName>style.visibility</p:attrName>
                                        </p:attrNameLst>
                                      </p:cBhvr>
                                      <p:to>
                                        <p:strVal val="visible"/>
                                      </p:to>
                                    </p:set>
                                    <p:animEffect transition="in" filter="wipe(left)">
                                      <p:cBhvr>
                                        <p:cTn id="27" dur="500"/>
                                        <p:tgtEl>
                                          <p:spTgt spid="1146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4691">
                                            <p:txEl>
                                              <p:pRg st="5" end="5"/>
                                            </p:txEl>
                                          </p:spTgt>
                                        </p:tgtEl>
                                        <p:attrNameLst>
                                          <p:attrName>style.visibility</p:attrName>
                                        </p:attrNameLst>
                                      </p:cBhvr>
                                      <p:to>
                                        <p:strVal val="visible"/>
                                      </p:to>
                                    </p:set>
                                    <p:animEffect transition="in" filter="wipe(left)">
                                      <p:cBhvr>
                                        <p:cTn id="32" dur="500"/>
                                        <p:tgtEl>
                                          <p:spTgt spid="114691">
                                            <p:txEl>
                                              <p:pRg st="5" end="5"/>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14691">
                                            <p:txEl>
                                              <p:pRg st="6" end="6"/>
                                            </p:txEl>
                                          </p:spTgt>
                                        </p:tgtEl>
                                        <p:attrNameLst>
                                          <p:attrName>style.visibility</p:attrName>
                                        </p:attrNameLst>
                                      </p:cBhvr>
                                      <p:to>
                                        <p:strVal val="visible"/>
                                      </p:to>
                                    </p:set>
                                    <p:animEffect transition="in" filter="wipe(left)">
                                      <p:cBhvr>
                                        <p:cTn id="35" dur="500"/>
                                        <p:tgtEl>
                                          <p:spTgt spid="114691">
                                            <p:txEl>
                                              <p:pRg st="6" end="6"/>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14691">
                                            <p:txEl>
                                              <p:pRg st="7" end="7"/>
                                            </p:txEl>
                                          </p:spTgt>
                                        </p:tgtEl>
                                        <p:attrNameLst>
                                          <p:attrName>style.visibility</p:attrName>
                                        </p:attrNameLst>
                                      </p:cBhvr>
                                      <p:to>
                                        <p:strVal val="visible"/>
                                      </p:to>
                                    </p:set>
                                    <p:animEffect transition="in" filter="wipe(left)">
                                      <p:cBhvr>
                                        <p:cTn id="38" dur="500"/>
                                        <p:tgtEl>
                                          <p:spTgt spid="114691">
                                            <p:txEl>
                                              <p:pRg st="7" end="7"/>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14691">
                                            <p:txEl>
                                              <p:pRg st="8" end="8"/>
                                            </p:txEl>
                                          </p:spTgt>
                                        </p:tgtEl>
                                        <p:attrNameLst>
                                          <p:attrName>style.visibility</p:attrName>
                                        </p:attrNameLst>
                                      </p:cBhvr>
                                      <p:to>
                                        <p:strVal val="visible"/>
                                      </p:to>
                                    </p:set>
                                    <p:animEffect transition="in" filter="wipe(left)">
                                      <p:cBhvr>
                                        <p:cTn id="41" dur="500"/>
                                        <p:tgtEl>
                                          <p:spTgt spid="114691">
                                            <p:txEl>
                                              <p:pRg st="8" end="8"/>
                                            </p:txEl>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14691">
                                            <p:txEl>
                                              <p:pRg st="9" end="9"/>
                                            </p:txEl>
                                          </p:spTgt>
                                        </p:tgtEl>
                                        <p:attrNameLst>
                                          <p:attrName>style.visibility</p:attrName>
                                        </p:attrNameLst>
                                      </p:cBhvr>
                                      <p:to>
                                        <p:strVal val="visible"/>
                                      </p:to>
                                    </p:set>
                                    <p:animEffect transition="in" filter="wipe(left)">
                                      <p:cBhvr>
                                        <p:cTn id="44" dur="500"/>
                                        <p:tgtEl>
                                          <p:spTgt spid="1146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algn="l"/>
            <a:r>
              <a:rPr lang="en-US" dirty="0"/>
              <a:t>Prioritization</a:t>
            </a:r>
          </a:p>
        </p:txBody>
      </p:sp>
      <p:sp>
        <p:nvSpPr>
          <p:cNvPr id="4" name="Text Placeholder 3"/>
          <p:cNvSpPr>
            <a:spLocks noGrp="1"/>
          </p:cNvSpPr>
          <p:nvPr>
            <p:ph type="body" idx="1"/>
          </p:nvPr>
        </p:nvSpPr>
        <p:spPr/>
        <p:txBody>
          <a:bodyPr/>
          <a:lstStyle/>
          <a:p>
            <a:endParaRPr lang="en-GB"/>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t>Prioritization</a:t>
            </a:r>
          </a:p>
        </p:txBody>
      </p:sp>
      <p:sp>
        <p:nvSpPr>
          <p:cNvPr id="117763" name="Rectangle 3"/>
          <p:cNvSpPr>
            <a:spLocks noGrp="1" noChangeArrowheads="1"/>
          </p:cNvSpPr>
          <p:nvPr>
            <p:ph type="body" idx="1"/>
          </p:nvPr>
        </p:nvSpPr>
        <p:spPr/>
        <p:txBody>
          <a:bodyPr/>
          <a:lstStyle/>
          <a:p>
            <a:pPr>
              <a:lnSpc>
                <a:spcPct val="80000"/>
              </a:lnSpc>
            </a:pPr>
            <a:r>
              <a:rPr lang="en-US" sz="2000"/>
              <a:t>Differences in importance</a:t>
            </a:r>
          </a:p>
          <a:p>
            <a:pPr lvl="1">
              <a:lnSpc>
                <a:spcPct val="80000"/>
              </a:lnSpc>
            </a:pPr>
            <a:r>
              <a:rPr lang="en-US" sz="1800"/>
              <a:t>Not all requirements are equally important, and the many different stakeholders in the system typically will not agree as to which requirements are most important.</a:t>
            </a:r>
          </a:p>
          <a:p>
            <a:pPr>
              <a:lnSpc>
                <a:spcPct val="80000"/>
              </a:lnSpc>
            </a:pPr>
            <a:r>
              <a:rPr lang="en-US" sz="2000"/>
              <a:t>Limited project resources</a:t>
            </a:r>
          </a:p>
          <a:p>
            <a:pPr lvl="1">
              <a:lnSpc>
                <a:spcPct val="80000"/>
              </a:lnSpc>
            </a:pPr>
            <a:r>
              <a:rPr lang="en-US" sz="1800"/>
              <a:t>All projects have limited resources in terms of budget, staff, and schedule</a:t>
            </a:r>
          </a:p>
          <a:p>
            <a:pPr>
              <a:lnSpc>
                <a:spcPct val="80000"/>
              </a:lnSpc>
            </a:pPr>
            <a:r>
              <a:rPr lang="en-US" sz="2000"/>
              <a:t>Long schedule</a:t>
            </a:r>
          </a:p>
          <a:p>
            <a:pPr lvl="1">
              <a:lnSpc>
                <a:spcPct val="80000"/>
              </a:lnSpc>
            </a:pPr>
            <a:r>
              <a:rPr lang="en-US" sz="1800"/>
              <a:t>Large incrementally-developed systems require many months or often multiple years to develop, during which the requirements are subject to significant iteration as the business environment changes, business needs change, and new requirements are identified.</a:t>
            </a:r>
          </a:p>
          <a:p>
            <a:pPr>
              <a:lnSpc>
                <a:spcPct val="80000"/>
              </a:lnSpc>
            </a:pPr>
            <a:r>
              <a:rPr lang="en-US" sz="2000"/>
              <a:t>Small RE budget</a:t>
            </a:r>
          </a:p>
          <a:p>
            <a:pPr lvl="1">
              <a:lnSpc>
                <a:spcPct val="80000"/>
              </a:lnSpc>
            </a:pPr>
            <a:r>
              <a:rPr lang="en-US" sz="1800"/>
              <a:t>Requirements engineering rarely receives more than 2-4% of the project budget.</a:t>
            </a:r>
          </a:p>
          <a:p>
            <a:pPr lvl="1">
              <a:lnSpc>
                <a:spcPct val="80000"/>
              </a:lnSpc>
            </a:pPr>
            <a:r>
              <a:rPr lang="en-US" sz="1800"/>
              <a:t>The boxes allocated to requirements engineering are typically much too small and work must be properly prioritized.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anim calcmode="lin" valueType="num">
                                      <p:cBhvr additive="base">
                                        <p:cTn id="7" dur="500" fill="hold"/>
                                        <p:tgtEl>
                                          <p:spTgt spid="1177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77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7763">
                                            <p:txEl>
                                              <p:pRg st="1" end="1"/>
                                            </p:txEl>
                                          </p:spTgt>
                                        </p:tgtEl>
                                        <p:attrNameLst>
                                          <p:attrName>style.visibility</p:attrName>
                                        </p:attrNameLst>
                                      </p:cBhvr>
                                      <p:to>
                                        <p:strVal val="visible"/>
                                      </p:to>
                                    </p:set>
                                    <p:anim calcmode="lin" valueType="num">
                                      <p:cBhvr additive="base">
                                        <p:cTn id="11" dur="500" fill="hold"/>
                                        <p:tgtEl>
                                          <p:spTgt spid="1177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7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7763">
                                            <p:txEl>
                                              <p:pRg st="2" end="2"/>
                                            </p:txEl>
                                          </p:spTgt>
                                        </p:tgtEl>
                                        <p:attrNameLst>
                                          <p:attrName>style.visibility</p:attrName>
                                        </p:attrNameLst>
                                      </p:cBhvr>
                                      <p:to>
                                        <p:strVal val="visible"/>
                                      </p:to>
                                    </p:set>
                                    <p:anim calcmode="lin" valueType="num">
                                      <p:cBhvr additive="base">
                                        <p:cTn id="17" dur="500" fill="hold"/>
                                        <p:tgtEl>
                                          <p:spTgt spid="11776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776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7763">
                                            <p:txEl>
                                              <p:pRg st="3" end="3"/>
                                            </p:txEl>
                                          </p:spTgt>
                                        </p:tgtEl>
                                        <p:attrNameLst>
                                          <p:attrName>style.visibility</p:attrName>
                                        </p:attrNameLst>
                                      </p:cBhvr>
                                      <p:to>
                                        <p:strVal val="visible"/>
                                      </p:to>
                                    </p:set>
                                    <p:anim calcmode="lin" valueType="num">
                                      <p:cBhvr additive="base">
                                        <p:cTn id="21" dur="500" fill="hold"/>
                                        <p:tgtEl>
                                          <p:spTgt spid="11776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77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7763">
                                            <p:txEl>
                                              <p:pRg st="4" end="4"/>
                                            </p:txEl>
                                          </p:spTgt>
                                        </p:tgtEl>
                                        <p:attrNameLst>
                                          <p:attrName>style.visibility</p:attrName>
                                        </p:attrNameLst>
                                      </p:cBhvr>
                                      <p:to>
                                        <p:strVal val="visible"/>
                                      </p:to>
                                    </p:set>
                                    <p:anim calcmode="lin" valueType="num">
                                      <p:cBhvr additive="base">
                                        <p:cTn id="27" dur="500" fill="hold"/>
                                        <p:tgtEl>
                                          <p:spTgt spid="1177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77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7763">
                                            <p:txEl>
                                              <p:pRg st="5" end="5"/>
                                            </p:txEl>
                                          </p:spTgt>
                                        </p:tgtEl>
                                        <p:attrNameLst>
                                          <p:attrName>style.visibility</p:attrName>
                                        </p:attrNameLst>
                                      </p:cBhvr>
                                      <p:to>
                                        <p:strVal val="visible"/>
                                      </p:to>
                                    </p:set>
                                    <p:anim calcmode="lin" valueType="num">
                                      <p:cBhvr additive="base">
                                        <p:cTn id="31" dur="500" fill="hold"/>
                                        <p:tgtEl>
                                          <p:spTgt spid="1177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77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7763">
                                            <p:txEl>
                                              <p:pRg st="6" end="6"/>
                                            </p:txEl>
                                          </p:spTgt>
                                        </p:tgtEl>
                                        <p:attrNameLst>
                                          <p:attrName>style.visibility</p:attrName>
                                        </p:attrNameLst>
                                      </p:cBhvr>
                                      <p:to>
                                        <p:strVal val="visible"/>
                                      </p:to>
                                    </p:set>
                                    <p:anim calcmode="lin" valueType="num">
                                      <p:cBhvr additive="base">
                                        <p:cTn id="37" dur="500" fill="hold"/>
                                        <p:tgtEl>
                                          <p:spTgt spid="11776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776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7763">
                                            <p:txEl>
                                              <p:pRg st="7" end="7"/>
                                            </p:txEl>
                                          </p:spTgt>
                                        </p:tgtEl>
                                        <p:attrNameLst>
                                          <p:attrName>style.visibility</p:attrName>
                                        </p:attrNameLst>
                                      </p:cBhvr>
                                      <p:to>
                                        <p:strVal val="visible"/>
                                      </p:to>
                                    </p:set>
                                    <p:anim calcmode="lin" valueType="num">
                                      <p:cBhvr additive="base">
                                        <p:cTn id="41" dur="500" fill="hold"/>
                                        <p:tgtEl>
                                          <p:spTgt spid="11776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7763">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7763">
                                            <p:txEl>
                                              <p:pRg st="8" end="8"/>
                                            </p:txEl>
                                          </p:spTgt>
                                        </p:tgtEl>
                                        <p:attrNameLst>
                                          <p:attrName>style.visibility</p:attrName>
                                        </p:attrNameLst>
                                      </p:cBhvr>
                                      <p:to>
                                        <p:strVal val="visible"/>
                                      </p:to>
                                    </p:set>
                                    <p:anim calcmode="lin" valueType="num">
                                      <p:cBhvr additive="base">
                                        <p:cTn id="45" dur="500" fill="hold"/>
                                        <p:tgtEl>
                                          <p:spTgt spid="11776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776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endParaRPr lang="en-US"/>
          </a:p>
        </p:txBody>
      </p:sp>
      <p:sp>
        <p:nvSpPr>
          <p:cNvPr id="118787" name="Rectangle 3"/>
          <p:cNvSpPr>
            <a:spLocks noGrp="1" noChangeArrowheads="1"/>
          </p:cNvSpPr>
          <p:nvPr>
            <p:ph type="body" idx="1"/>
          </p:nvPr>
        </p:nvSpPr>
        <p:spPr/>
        <p:txBody>
          <a:bodyPr/>
          <a:lstStyle/>
          <a:p>
            <a:pPr>
              <a:lnSpc>
                <a:spcPct val="90000"/>
              </a:lnSpc>
            </a:pPr>
            <a:r>
              <a:rPr lang="en-US" sz="2400"/>
              <a:t>Priority</a:t>
            </a:r>
          </a:p>
          <a:p>
            <a:pPr lvl="1">
              <a:lnSpc>
                <a:spcPct val="90000"/>
              </a:lnSpc>
            </a:pPr>
            <a:r>
              <a:rPr lang="en-US" sz="2000"/>
              <a:t>The state of being prior</a:t>
            </a:r>
          </a:p>
          <a:p>
            <a:pPr lvl="1">
              <a:lnSpc>
                <a:spcPct val="90000"/>
              </a:lnSpc>
            </a:pPr>
            <a:r>
              <a:rPr lang="en-US" sz="2000"/>
              <a:t>Given preference</a:t>
            </a:r>
          </a:p>
          <a:p>
            <a:pPr>
              <a:lnSpc>
                <a:spcPct val="90000"/>
              </a:lnSpc>
            </a:pPr>
            <a:r>
              <a:rPr lang="en-US" sz="2400"/>
              <a:t>Prioritization by implementation order.</a:t>
            </a:r>
          </a:p>
          <a:p>
            <a:pPr lvl="1">
              <a:lnSpc>
                <a:spcPct val="90000"/>
              </a:lnSpc>
            </a:pPr>
            <a:r>
              <a:rPr lang="en-US" sz="2000"/>
              <a:t>Prioritizing requirements is the requirements task of determining the implementation order of the requirements in an incremental and iterative development cycle.</a:t>
            </a:r>
          </a:p>
          <a:p>
            <a:pPr>
              <a:lnSpc>
                <a:spcPct val="90000"/>
              </a:lnSpc>
            </a:pPr>
            <a:r>
              <a:rPr lang="en-US" sz="2400"/>
              <a:t>Prioritization by importance</a:t>
            </a:r>
          </a:p>
          <a:p>
            <a:pPr lvl="1">
              <a:lnSpc>
                <a:spcPct val="90000"/>
              </a:lnSpc>
            </a:pPr>
            <a:r>
              <a:rPr lang="en-US" sz="2000"/>
              <a:t>Prioritizing requirements is determining the order of importance to some stakeholder or class of stakeholders of the requirements along one or more dimensions (e.g., personal preference, business value, cost of implementation, and risk).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 calcmode="lin" valueType="num">
                                      <p:cBhvr additive="base">
                                        <p:cTn id="7" dur="500" fill="hold"/>
                                        <p:tgtEl>
                                          <p:spTgt spid="1187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87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8787">
                                            <p:txEl>
                                              <p:pRg st="1" end="1"/>
                                            </p:txEl>
                                          </p:spTgt>
                                        </p:tgtEl>
                                        <p:attrNameLst>
                                          <p:attrName>style.visibility</p:attrName>
                                        </p:attrNameLst>
                                      </p:cBhvr>
                                      <p:to>
                                        <p:strVal val="visible"/>
                                      </p:to>
                                    </p:set>
                                    <p:anim calcmode="lin" valueType="num">
                                      <p:cBhvr additive="base">
                                        <p:cTn id="11" dur="500" fill="hold"/>
                                        <p:tgtEl>
                                          <p:spTgt spid="1187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87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8787">
                                            <p:txEl>
                                              <p:pRg st="2" end="2"/>
                                            </p:txEl>
                                          </p:spTgt>
                                        </p:tgtEl>
                                        <p:attrNameLst>
                                          <p:attrName>style.visibility</p:attrName>
                                        </p:attrNameLst>
                                      </p:cBhvr>
                                      <p:to>
                                        <p:strVal val="visible"/>
                                      </p:to>
                                    </p:set>
                                    <p:anim calcmode="lin" valueType="num">
                                      <p:cBhvr additive="base">
                                        <p:cTn id="15" dur="500" fill="hold"/>
                                        <p:tgtEl>
                                          <p:spTgt spid="1187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87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8787">
                                            <p:txEl>
                                              <p:pRg st="3" end="3"/>
                                            </p:txEl>
                                          </p:spTgt>
                                        </p:tgtEl>
                                        <p:attrNameLst>
                                          <p:attrName>style.visibility</p:attrName>
                                        </p:attrNameLst>
                                      </p:cBhvr>
                                      <p:to>
                                        <p:strVal val="visible"/>
                                      </p:to>
                                    </p:set>
                                    <p:anim calcmode="lin" valueType="num">
                                      <p:cBhvr additive="base">
                                        <p:cTn id="21" dur="500" fill="hold"/>
                                        <p:tgtEl>
                                          <p:spTgt spid="1187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878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8787">
                                            <p:txEl>
                                              <p:pRg st="4" end="4"/>
                                            </p:txEl>
                                          </p:spTgt>
                                        </p:tgtEl>
                                        <p:attrNameLst>
                                          <p:attrName>style.visibility</p:attrName>
                                        </p:attrNameLst>
                                      </p:cBhvr>
                                      <p:to>
                                        <p:strVal val="visible"/>
                                      </p:to>
                                    </p:set>
                                    <p:anim calcmode="lin" valueType="num">
                                      <p:cBhvr additive="base">
                                        <p:cTn id="25" dur="500" fill="hold"/>
                                        <p:tgtEl>
                                          <p:spTgt spid="1187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87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8787">
                                            <p:txEl>
                                              <p:pRg st="5" end="5"/>
                                            </p:txEl>
                                          </p:spTgt>
                                        </p:tgtEl>
                                        <p:attrNameLst>
                                          <p:attrName>style.visibility</p:attrName>
                                        </p:attrNameLst>
                                      </p:cBhvr>
                                      <p:to>
                                        <p:strVal val="visible"/>
                                      </p:to>
                                    </p:set>
                                    <p:anim calcmode="lin" valueType="num">
                                      <p:cBhvr additive="base">
                                        <p:cTn id="31" dur="500" fill="hold"/>
                                        <p:tgtEl>
                                          <p:spTgt spid="11878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8787">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8787">
                                            <p:txEl>
                                              <p:pRg st="6" end="6"/>
                                            </p:txEl>
                                          </p:spTgt>
                                        </p:tgtEl>
                                        <p:attrNameLst>
                                          <p:attrName>style.visibility</p:attrName>
                                        </p:attrNameLst>
                                      </p:cBhvr>
                                      <p:to>
                                        <p:strVal val="visible"/>
                                      </p:to>
                                    </p:set>
                                    <p:anim calcmode="lin" valueType="num">
                                      <p:cBhvr additive="base">
                                        <p:cTn id="35" dur="500" fill="hold"/>
                                        <p:tgtEl>
                                          <p:spTgt spid="118787">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87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US"/>
              <a:t>Why to Prioritize?</a:t>
            </a:r>
          </a:p>
        </p:txBody>
      </p:sp>
      <p:sp>
        <p:nvSpPr>
          <p:cNvPr id="119811" name="Rectangle 3"/>
          <p:cNvSpPr>
            <a:spLocks noGrp="1" noChangeArrowheads="1"/>
          </p:cNvSpPr>
          <p:nvPr>
            <p:ph type="body" idx="1"/>
          </p:nvPr>
        </p:nvSpPr>
        <p:spPr/>
        <p:txBody>
          <a:bodyPr/>
          <a:lstStyle/>
          <a:p>
            <a:pPr>
              <a:lnSpc>
                <a:spcPct val="80000"/>
              </a:lnSpc>
            </a:pPr>
            <a:r>
              <a:rPr lang="en-US" sz="1800" b="1"/>
              <a:t>Modify schedule</a:t>
            </a:r>
          </a:p>
          <a:p>
            <a:pPr lvl="1">
              <a:lnSpc>
                <a:spcPct val="80000"/>
              </a:lnSpc>
            </a:pPr>
            <a:r>
              <a:rPr lang="en-US" sz="1600"/>
              <a:t>When using an iterative incremental development cycle, it enables the project manager and customer to modify the project schedule to deal with the project realities of limited resources and fixed deadlines.</a:t>
            </a:r>
          </a:p>
          <a:p>
            <a:pPr>
              <a:lnSpc>
                <a:spcPct val="80000"/>
              </a:lnSpc>
            </a:pPr>
            <a:r>
              <a:rPr lang="en-US" sz="1800" b="1"/>
              <a:t>Improved customer satisfaction</a:t>
            </a:r>
            <a:r>
              <a:rPr lang="en-US" sz="1800"/>
              <a:t>.</a:t>
            </a:r>
          </a:p>
          <a:p>
            <a:pPr lvl="1">
              <a:lnSpc>
                <a:spcPct val="80000"/>
              </a:lnSpc>
            </a:pPr>
            <a:r>
              <a:rPr lang="en-US" sz="1600"/>
              <a:t>increases the likelihood that the customer’s most important requirements are implemented and delivered first.</a:t>
            </a:r>
          </a:p>
          <a:p>
            <a:pPr>
              <a:lnSpc>
                <a:spcPct val="80000"/>
              </a:lnSpc>
            </a:pPr>
            <a:r>
              <a:rPr lang="en-US" sz="1800" b="1"/>
              <a:t>Lower risk of cancellation</a:t>
            </a:r>
            <a:r>
              <a:rPr lang="en-US" sz="1800"/>
              <a:t>.</a:t>
            </a:r>
          </a:p>
          <a:p>
            <a:pPr lvl="1">
              <a:lnSpc>
                <a:spcPct val="80000"/>
              </a:lnSpc>
            </a:pPr>
            <a:r>
              <a:rPr lang="en-US" sz="1600"/>
              <a:t>The project is less likely to be cancelled during development because valuable progress is being demonstrated with each increment.</a:t>
            </a:r>
          </a:p>
          <a:p>
            <a:pPr>
              <a:lnSpc>
                <a:spcPct val="80000"/>
              </a:lnSpc>
            </a:pPr>
            <a:r>
              <a:rPr lang="en-US" sz="1800" b="1"/>
              <a:t>Address all requirements</a:t>
            </a:r>
          </a:p>
          <a:p>
            <a:pPr lvl="1">
              <a:lnSpc>
                <a:spcPct val="80000"/>
              </a:lnSpc>
            </a:pPr>
            <a:r>
              <a:rPr lang="en-US" sz="1600"/>
              <a:t>Prioritizing requirements is a good way to force stakeholders to address all requirements and not just their own.</a:t>
            </a:r>
          </a:p>
          <a:p>
            <a:pPr>
              <a:lnSpc>
                <a:spcPct val="80000"/>
              </a:lnSpc>
            </a:pPr>
            <a:r>
              <a:rPr lang="en-US" sz="1800" b="1"/>
              <a:t>Estimate benefits</a:t>
            </a:r>
            <a:r>
              <a:rPr lang="en-US" sz="1800"/>
              <a:t>.</a:t>
            </a:r>
          </a:p>
          <a:p>
            <a:pPr lvl="1">
              <a:lnSpc>
                <a:spcPct val="80000"/>
              </a:lnSpc>
            </a:pPr>
            <a:r>
              <a:rPr lang="en-US" sz="1600"/>
              <a:t>Priorities provide management and engineering with a rough estimate of the benefit of the different requirements.</a:t>
            </a:r>
          </a:p>
          <a:p>
            <a:pPr>
              <a:lnSpc>
                <a:spcPct val="80000"/>
              </a:lnSpc>
            </a:pPr>
            <a:r>
              <a:rPr lang="en-US" sz="1800" b="1"/>
              <a:t>Prioritize investments</a:t>
            </a:r>
          </a:p>
          <a:p>
            <a:pPr lvl="1">
              <a:lnSpc>
                <a:spcPct val="80000"/>
              </a:lnSpc>
            </a:pPr>
            <a:r>
              <a:rPr lang="en-US" sz="1600"/>
              <a:t>Requirements priorities can help determine how to prioritize the investment of limited project resources.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 calcmode="lin" valueType="num">
                                      <p:cBhvr additive="base">
                                        <p:cTn id="7" dur="500" fill="hold"/>
                                        <p:tgtEl>
                                          <p:spTgt spid="119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8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9811">
                                            <p:txEl>
                                              <p:pRg st="1" end="1"/>
                                            </p:txEl>
                                          </p:spTgt>
                                        </p:tgtEl>
                                        <p:attrNameLst>
                                          <p:attrName>style.visibility</p:attrName>
                                        </p:attrNameLst>
                                      </p:cBhvr>
                                      <p:to>
                                        <p:strVal val="visible"/>
                                      </p:to>
                                    </p:set>
                                    <p:anim calcmode="lin" valueType="num">
                                      <p:cBhvr additive="base">
                                        <p:cTn id="11" dur="500" fill="hold"/>
                                        <p:tgtEl>
                                          <p:spTgt spid="1198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98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9811">
                                            <p:txEl>
                                              <p:pRg st="2" end="2"/>
                                            </p:txEl>
                                          </p:spTgt>
                                        </p:tgtEl>
                                        <p:attrNameLst>
                                          <p:attrName>style.visibility</p:attrName>
                                        </p:attrNameLst>
                                      </p:cBhvr>
                                      <p:to>
                                        <p:strVal val="visible"/>
                                      </p:to>
                                    </p:set>
                                    <p:anim calcmode="lin" valueType="num">
                                      <p:cBhvr additive="base">
                                        <p:cTn id="17" dur="500" fill="hold"/>
                                        <p:tgtEl>
                                          <p:spTgt spid="1198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98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9811">
                                            <p:txEl>
                                              <p:pRg st="3" end="3"/>
                                            </p:txEl>
                                          </p:spTgt>
                                        </p:tgtEl>
                                        <p:attrNameLst>
                                          <p:attrName>style.visibility</p:attrName>
                                        </p:attrNameLst>
                                      </p:cBhvr>
                                      <p:to>
                                        <p:strVal val="visible"/>
                                      </p:to>
                                    </p:set>
                                    <p:anim calcmode="lin" valueType="num">
                                      <p:cBhvr additive="base">
                                        <p:cTn id="21" dur="500" fill="hold"/>
                                        <p:tgtEl>
                                          <p:spTgt spid="1198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98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9811">
                                            <p:txEl>
                                              <p:pRg st="4" end="4"/>
                                            </p:txEl>
                                          </p:spTgt>
                                        </p:tgtEl>
                                        <p:attrNameLst>
                                          <p:attrName>style.visibility</p:attrName>
                                        </p:attrNameLst>
                                      </p:cBhvr>
                                      <p:to>
                                        <p:strVal val="visible"/>
                                      </p:to>
                                    </p:set>
                                    <p:anim calcmode="lin" valueType="num">
                                      <p:cBhvr additive="base">
                                        <p:cTn id="27" dur="500" fill="hold"/>
                                        <p:tgtEl>
                                          <p:spTgt spid="11981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981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9811">
                                            <p:txEl>
                                              <p:pRg st="5" end="5"/>
                                            </p:txEl>
                                          </p:spTgt>
                                        </p:tgtEl>
                                        <p:attrNameLst>
                                          <p:attrName>style.visibility</p:attrName>
                                        </p:attrNameLst>
                                      </p:cBhvr>
                                      <p:to>
                                        <p:strVal val="visible"/>
                                      </p:to>
                                    </p:set>
                                    <p:anim calcmode="lin" valueType="num">
                                      <p:cBhvr additive="base">
                                        <p:cTn id="31" dur="500" fill="hold"/>
                                        <p:tgtEl>
                                          <p:spTgt spid="1198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98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9811">
                                            <p:txEl>
                                              <p:pRg st="6" end="6"/>
                                            </p:txEl>
                                          </p:spTgt>
                                        </p:tgtEl>
                                        <p:attrNameLst>
                                          <p:attrName>style.visibility</p:attrName>
                                        </p:attrNameLst>
                                      </p:cBhvr>
                                      <p:to>
                                        <p:strVal val="visible"/>
                                      </p:to>
                                    </p:set>
                                    <p:anim calcmode="lin" valueType="num">
                                      <p:cBhvr additive="base">
                                        <p:cTn id="37" dur="500" fill="hold"/>
                                        <p:tgtEl>
                                          <p:spTgt spid="11981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9811">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9811">
                                            <p:txEl>
                                              <p:pRg st="7" end="7"/>
                                            </p:txEl>
                                          </p:spTgt>
                                        </p:tgtEl>
                                        <p:attrNameLst>
                                          <p:attrName>style.visibility</p:attrName>
                                        </p:attrNameLst>
                                      </p:cBhvr>
                                      <p:to>
                                        <p:strVal val="visible"/>
                                      </p:to>
                                    </p:set>
                                    <p:anim calcmode="lin" valueType="num">
                                      <p:cBhvr additive="base">
                                        <p:cTn id="41" dur="500" fill="hold"/>
                                        <p:tgtEl>
                                          <p:spTgt spid="119811">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98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9811">
                                            <p:txEl>
                                              <p:pRg st="8" end="8"/>
                                            </p:txEl>
                                          </p:spTgt>
                                        </p:tgtEl>
                                        <p:attrNameLst>
                                          <p:attrName>style.visibility</p:attrName>
                                        </p:attrNameLst>
                                      </p:cBhvr>
                                      <p:to>
                                        <p:strVal val="visible"/>
                                      </p:to>
                                    </p:set>
                                    <p:anim calcmode="lin" valueType="num">
                                      <p:cBhvr additive="base">
                                        <p:cTn id="47" dur="500" fill="hold"/>
                                        <p:tgtEl>
                                          <p:spTgt spid="119811">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9811">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19811">
                                            <p:txEl>
                                              <p:pRg st="9" end="9"/>
                                            </p:txEl>
                                          </p:spTgt>
                                        </p:tgtEl>
                                        <p:attrNameLst>
                                          <p:attrName>style.visibility</p:attrName>
                                        </p:attrNameLst>
                                      </p:cBhvr>
                                      <p:to>
                                        <p:strVal val="visible"/>
                                      </p:to>
                                    </p:set>
                                    <p:anim calcmode="lin" valueType="num">
                                      <p:cBhvr additive="base">
                                        <p:cTn id="51" dur="500" fill="hold"/>
                                        <p:tgtEl>
                                          <p:spTgt spid="119811">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981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19811">
                                            <p:txEl>
                                              <p:pRg st="10" end="10"/>
                                            </p:txEl>
                                          </p:spTgt>
                                        </p:tgtEl>
                                        <p:attrNameLst>
                                          <p:attrName>style.visibility</p:attrName>
                                        </p:attrNameLst>
                                      </p:cBhvr>
                                      <p:to>
                                        <p:strVal val="visible"/>
                                      </p:to>
                                    </p:set>
                                    <p:anim calcmode="lin" valueType="num">
                                      <p:cBhvr additive="base">
                                        <p:cTn id="57" dur="500" fill="hold"/>
                                        <p:tgtEl>
                                          <p:spTgt spid="119811">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19811">
                                            <p:txEl>
                                              <p:pRg st="10" end="10"/>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19811">
                                            <p:txEl>
                                              <p:pRg st="11" end="11"/>
                                            </p:txEl>
                                          </p:spTgt>
                                        </p:tgtEl>
                                        <p:attrNameLst>
                                          <p:attrName>style.visibility</p:attrName>
                                        </p:attrNameLst>
                                      </p:cBhvr>
                                      <p:to>
                                        <p:strVal val="visible"/>
                                      </p:to>
                                    </p:set>
                                    <p:anim calcmode="lin" valueType="num">
                                      <p:cBhvr additive="base">
                                        <p:cTn id="61" dur="500" fill="hold"/>
                                        <p:tgtEl>
                                          <p:spTgt spid="119811">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1981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t>Prioritization Dimensions</a:t>
            </a:r>
          </a:p>
        </p:txBody>
      </p:sp>
      <p:sp>
        <p:nvSpPr>
          <p:cNvPr id="120835" name="Rectangle 3"/>
          <p:cNvSpPr>
            <a:spLocks noGrp="1" noChangeArrowheads="1"/>
          </p:cNvSpPr>
          <p:nvPr>
            <p:ph type="body" idx="1"/>
          </p:nvPr>
        </p:nvSpPr>
        <p:spPr>
          <a:xfrm>
            <a:off x="457200" y="1066800"/>
            <a:ext cx="8229600" cy="4648200"/>
          </a:xfrm>
        </p:spPr>
        <p:txBody>
          <a:bodyPr>
            <a:normAutofit fontScale="92500" lnSpcReduction="10000"/>
          </a:bodyPr>
          <a:lstStyle/>
          <a:p>
            <a:pPr>
              <a:lnSpc>
                <a:spcPct val="80000"/>
              </a:lnSpc>
            </a:pPr>
            <a:r>
              <a:rPr lang="en-US" sz="2400"/>
              <a:t>Requirements can be prioritized along many different, related and even opposing dimensions</a:t>
            </a:r>
          </a:p>
          <a:p>
            <a:pPr>
              <a:lnSpc>
                <a:spcPct val="80000"/>
              </a:lnSpc>
            </a:pPr>
            <a:r>
              <a:rPr lang="en-US" sz="2400"/>
              <a:t>These dimensions can be valued differently by different stakeholders </a:t>
            </a:r>
          </a:p>
          <a:p>
            <a:pPr>
              <a:lnSpc>
                <a:spcPct val="80000"/>
              </a:lnSpc>
            </a:pPr>
            <a:r>
              <a:rPr lang="en-US" sz="2400"/>
              <a:t>Personal preference</a:t>
            </a:r>
          </a:p>
          <a:p>
            <a:pPr lvl="1">
              <a:lnSpc>
                <a:spcPct val="80000"/>
              </a:lnSpc>
            </a:pPr>
            <a:r>
              <a:rPr lang="en-US" sz="2000"/>
              <a:t>Different stakeholders (e.g., customers, users, marketing, operators, maintainers, and architects) will prefer certain requirements over others.</a:t>
            </a:r>
          </a:p>
          <a:p>
            <a:pPr>
              <a:lnSpc>
                <a:spcPct val="80000"/>
              </a:lnSpc>
            </a:pPr>
            <a:r>
              <a:rPr lang="en-US" sz="2400"/>
              <a:t>Business value</a:t>
            </a:r>
          </a:p>
          <a:p>
            <a:pPr lvl="1">
              <a:lnSpc>
                <a:spcPct val="80000"/>
              </a:lnSpc>
            </a:pPr>
            <a:r>
              <a:rPr lang="en-US" sz="2000"/>
              <a:t>When implemented, different requirements will have different values to the business. Some requirements will be critical, whereas others will be less important though still mandatory.</a:t>
            </a:r>
          </a:p>
          <a:p>
            <a:pPr>
              <a:lnSpc>
                <a:spcPct val="80000"/>
              </a:lnSpc>
            </a:pPr>
            <a:r>
              <a:rPr lang="en-US" sz="2400"/>
              <a:t>Harm avoidance</a:t>
            </a:r>
          </a:p>
          <a:p>
            <a:pPr lvl="1">
              <a:lnSpc>
                <a:spcPct val="80000"/>
              </a:lnSpc>
            </a:pPr>
            <a:r>
              <a:rPr lang="en-US" sz="2000"/>
              <a:t>The opposite of prioritizing requirements in terms of their business value when implemented is to prioritize requirements in terms of the harm that can or will occur if the requirement is not implemented. This would especially be true of safety and security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 calcmode="lin" valueType="num">
                                      <p:cBhvr additive="base">
                                        <p:cTn id="7" dur="500" fill="hold"/>
                                        <p:tgtEl>
                                          <p:spTgt spid="1208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08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0835">
                                            <p:txEl>
                                              <p:pRg st="1" end="1"/>
                                            </p:txEl>
                                          </p:spTgt>
                                        </p:tgtEl>
                                        <p:attrNameLst>
                                          <p:attrName>style.visibility</p:attrName>
                                        </p:attrNameLst>
                                      </p:cBhvr>
                                      <p:to>
                                        <p:strVal val="visible"/>
                                      </p:to>
                                    </p:set>
                                    <p:anim calcmode="lin" valueType="num">
                                      <p:cBhvr additive="base">
                                        <p:cTn id="13" dur="500" fill="hold"/>
                                        <p:tgtEl>
                                          <p:spTgt spid="1208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08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0835">
                                            <p:txEl>
                                              <p:pRg st="2" end="2"/>
                                            </p:txEl>
                                          </p:spTgt>
                                        </p:tgtEl>
                                        <p:attrNameLst>
                                          <p:attrName>style.visibility</p:attrName>
                                        </p:attrNameLst>
                                      </p:cBhvr>
                                      <p:to>
                                        <p:strVal val="visible"/>
                                      </p:to>
                                    </p:set>
                                    <p:anim calcmode="lin" valueType="num">
                                      <p:cBhvr additive="base">
                                        <p:cTn id="19" dur="500" fill="hold"/>
                                        <p:tgtEl>
                                          <p:spTgt spid="1208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083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0835">
                                            <p:txEl>
                                              <p:pRg st="3" end="3"/>
                                            </p:txEl>
                                          </p:spTgt>
                                        </p:tgtEl>
                                        <p:attrNameLst>
                                          <p:attrName>style.visibility</p:attrName>
                                        </p:attrNameLst>
                                      </p:cBhvr>
                                      <p:to>
                                        <p:strVal val="visible"/>
                                      </p:to>
                                    </p:set>
                                    <p:anim calcmode="lin" valueType="num">
                                      <p:cBhvr additive="base">
                                        <p:cTn id="23" dur="500" fill="hold"/>
                                        <p:tgtEl>
                                          <p:spTgt spid="12083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08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0835">
                                            <p:txEl>
                                              <p:pRg st="4" end="4"/>
                                            </p:txEl>
                                          </p:spTgt>
                                        </p:tgtEl>
                                        <p:attrNameLst>
                                          <p:attrName>style.visibility</p:attrName>
                                        </p:attrNameLst>
                                      </p:cBhvr>
                                      <p:to>
                                        <p:strVal val="visible"/>
                                      </p:to>
                                    </p:set>
                                    <p:anim calcmode="lin" valueType="num">
                                      <p:cBhvr additive="base">
                                        <p:cTn id="29" dur="500" fill="hold"/>
                                        <p:tgtEl>
                                          <p:spTgt spid="12083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0835">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0835">
                                            <p:txEl>
                                              <p:pRg st="5" end="5"/>
                                            </p:txEl>
                                          </p:spTgt>
                                        </p:tgtEl>
                                        <p:attrNameLst>
                                          <p:attrName>style.visibility</p:attrName>
                                        </p:attrNameLst>
                                      </p:cBhvr>
                                      <p:to>
                                        <p:strVal val="visible"/>
                                      </p:to>
                                    </p:set>
                                    <p:anim calcmode="lin" valueType="num">
                                      <p:cBhvr additive="base">
                                        <p:cTn id="33" dur="500" fill="hold"/>
                                        <p:tgtEl>
                                          <p:spTgt spid="12083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08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20835">
                                            <p:txEl>
                                              <p:pRg st="6" end="6"/>
                                            </p:txEl>
                                          </p:spTgt>
                                        </p:tgtEl>
                                        <p:attrNameLst>
                                          <p:attrName>style.visibility</p:attrName>
                                        </p:attrNameLst>
                                      </p:cBhvr>
                                      <p:to>
                                        <p:strVal val="visible"/>
                                      </p:to>
                                    </p:set>
                                    <p:anim calcmode="lin" valueType="num">
                                      <p:cBhvr additive="base">
                                        <p:cTn id="39" dur="500" fill="hold"/>
                                        <p:tgtEl>
                                          <p:spTgt spid="120835">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0835">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0835">
                                            <p:txEl>
                                              <p:pRg st="7" end="7"/>
                                            </p:txEl>
                                          </p:spTgt>
                                        </p:tgtEl>
                                        <p:attrNameLst>
                                          <p:attrName>style.visibility</p:attrName>
                                        </p:attrNameLst>
                                      </p:cBhvr>
                                      <p:to>
                                        <p:strVal val="visible"/>
                                      </p:to>
                                    </p:set>
                                    <p:anim calcmode="lin" valueType="num">
                                      <p:cBhvr additive="base">
                                        <p:cTn id="43" dur="500" fill="hold"/>
                                        <p:tgtEl>
                                          <p:spTgt spid="12083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083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endParaRPr lang="en-US"/>
          </a:p>
        </p:txBody>
      </p:sp>
      <p:sp>
        <p:nvSpPr>
          <p:cNvPr id="121859" name="Rectangle 3"/>
          <p:cNvSpPr>
            <a:spLocks noGrp="1" noChangeArrowheads="1"/>
          </p:cNvSpPr>
          <p:nvPr>
            <p:ph type="body" idx="1"/>
          </p:nvPr>
        </p:nvSpPr>
        <p:spPr/>
        <p:txBody>
          <a:bodyPr>
            <a:normAutofit lnSpcReduction="10000"/>
          </a:bodyPr>
          <a:lstStyle/>
          <a:p>
            <a:pPr>
              <a:lnSpc>
                <a:spcPct val="80000"/>
              </a:lnSpc>
            </a:pPr>
            <a:r>
              <a:rPr lang="en-US" sz="2400" b="1"/>
              <a:t>Risk</a:t>
            </a:r>
          </a:p>
          <a:p>
            <a:pPr lvl="1">
              <a:lnSpc>
                <a:spcPct val="80000"/>
              </a:lnSpc>
            </a:pPr>
            <a:r>
              <a:rPr lang="en-US" sz="2000"/>
              <a:t>It may well make sense to prioritize requirements by the risks associated with their implementation. </a:t>
            </a:r>
          </a:p>
          <a:p>
            <a:pPr>
              <a:lnSpc>
                <a:spcPct val="80000"/>
              </a:lnSpc>
            </a:pPr>
            <a:r>
              <a:rPr lang="en-US" sz="2400" b="1"/>
              <a:t>Cost</a:t>
            </a:r>
          </a:p>
          <a:p>
            <a:pPr lvl="1">
              <a:lnSpc>
                <a:spcPct val="80000"/>
              </a:lnSpc>
            </a:pPr>
            <a:r>
              <a:rPr lang="en-US" sz="2000"/>
              <a:t>The implementations of different requirements have different development or life-cycle costs. Given limited budgets, cost can be an important and even overriding factor when prioritizing requirements</a:t>
            </a:r>
          </a:p>
          <a:p>
            <a:pPr>
              <a:lnSpc>
                <a:spcPct val="80000"/>
              </a:lnSpc>
            </a:pPr>
            <a:r>
              <a:rPr lang="en-US" sz="2400" b="1"/>
              <a:t>Difficulty</a:t>
            </a:r>
          </a:p>
          <a:p>
            <a:pPr lvl="1">
              <a:lnSpc>
                <a:spcPct val="80000"/>
              </a:lnSpc>
            </a:pPr>
            <a:r>
              <a:rPr lang="en-US" sz="2000"/>
              <a:t>Requirements by their estimated difficulty to implement</a:t>
            </a:r>
          </a:p>
          <a:p>
            <a:pPr>
              <a:lnSpc>
                <a:spcPct val="80000"/>
              </a:lnSpc>
            </a:pPr>
            <a:r>
              <a:rPr lang="en-US" sz="2400" b="1"/>
              <a:t>Time to market</a:t>
            </a:r>
          </a:p>
          <a:p>
            <a:pPr lvl="1">
              <a:lnSpc>
                <a:spcPct val="80000"/>
              </a:lnSpc>
            </a:pPr>
            <a:r>
              <a:rPr lang="en-US" sz="2000"/>
              <a:t>Some requirements take more effort and thus more calendar time to implement given limited development resources.</a:t>
            </a:r>
          </a:p>
          <a:p>
            <a:pPr lvl="1">
              <a:lnSpc>
                <a:spcPct val="80000"/>
              </a:lnSpc>
            </a:pPr>
            <a:r>
              <a:rPr lang="en-US" sz="2000"/>
              <a:t>Application domains in which competitors are marketing competing systems, time to market can be an important factor when prioritizing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additive="base">
                                        <p:cTn id="7" dur="500" fill="hold"/>
                                        <p:tgtEl>
                                          <p:spTgt spid="1218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8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1859">
                                            <p:txEl>
                                              <p:pRg st="1" end="1"/>
                                            </p:txEl>
                                          </p:spTgt>
                                        </p:tgtEl>
                                        <p:attrNameLst>
                                          <p:attrName>style.visibility</p:attrName>
                                        </p:attrNameLst>
                                      </p:cBhvr>
                                      <p:to>
                                        <p:strVal val="visible"/>
                                      </p:to>
                                    </p:set>
                                    <p:anim calcmode="lin" valueType="num">
                                      <p:cBhvr additive="base">
                                        <p:cTn id="11" dur="500" fill="hold"/>
                                        <p:tgtEl>
                                          <p:spTgt spid="1218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18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1859">
                                            <p:txEl>
                                              <p:pRg st="2" end="2"/>
                                            </p:txEl>
                                          </p:spTgt>
                                        </p:tgtEl>
                                        <p:attrNameLst>
                                          <p:attrName>style.visibility</p:attrName>
                                        </p:attrNameLst>
                                      </p:cBhvr>
                                      <p:to>
                                        <p:strVal val="visible"/>
                                      </p:to>
                                    </p:set>
                                    <p:anim calcmode="lin" valueType="num">
                                      <p:cBhvr additive="base">
                                        <p:cTn id="17" dur="500" fill="hold"/>
                                        <p:tgtEl>
                                          <p:spTgt spid="1218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185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1859">
                                            <p:txEl>
                                              <p:pRg st="3" end="3"/>
                                            </p:txEl>
                                          </p:spTgt>
                                        </p:tgtEl>
                                        <p:attrNameLst>
                                          <p:attrName>style.visibility</p:attrName>
                                        </p:attrNameLst>
                                      </p:cBhvr>
                                      <p:to>
                                        <p:strVal val="visible"/>
                                      </p:to>
                                    </p:set>
                                    <p:anim calcmode="lin" valueType="num">
                                      <p:cBhvr additive="base">
                                        <p:cTn id="21" dur="500" fill="hold"/>
                                        <p:tgtEl>
                                          <p:spTgt spid="12185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18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1859">
                                            <p:txEl>
                                              <p:pRg st="4" end="4"/>
                                            </p:txEl>
                                          </p:spTgt>
                                        </p:tgtEl>
                                        <p:attrNameLst>
                                          <p:attrName>style.visibility</p:attrName>
                                        </p:attrNameLst>
                                      </p:cBhvr>
                                      <p:to>
                                        <p:strVal val="visible"/>
                                      </p:to>
                                    </p:set>
                                    <p:anim calcmode="lin" valueType="num">
                                      <p:cBhvr additive="base">
                                        <p:cTn id="27" dur="500" fill="hold"/>
                                        <p:tgtEl>
                                          <p:spTgt spid="12185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185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1859">
                                            <p:txEl>
                                              <p:pRg st="5" end="5"/>
                                            </p:txEl>
                                          </p:spTgt>
                                        </p:tgtEl>
                                        <p:attrNameLst>
                                          <p:attrName>style.visibility</p:attrName>
                                        </p:attrNameLst>
                                      </p:cBhvr>
                                      <p:to>
                                        <p:strVal val="visible"/>
                                      </p:to>
                                    </p:set>
                                    <p:anim calcmode="lin" valueType="num">
                                      <p:cBhvr additive="base">
                                        <p:cTn id="31" dur="500" fill="hold"/>
                                        <p:tgtEl>
                                          <p:spTgt spid="12185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18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1859">
                                            <p:txEl>
                                              <p:pRg st="6" end="6"/>
                                            </p:txEl>
                                          </p:spTgt>
                                        </p:tgtEl>
                                        <p:attrNameLst>
                                          <p:attrName>style.visibility</p:attrName>
                                        </p:attrNameLst>
                                      </p:cBhvr>
                                      <p:to>
                                        <p:strVal val="visible"/>
                                      </p:to>
                                    </p:set>
                                    <p:anim calcmode="lin" valueType="num">
                                      <p:cBhvr additive="base">
                                        <p:cTn id="37" dur="500" fill="hold"/>
                                        <p:tgtEl>
                                          <p:spTgt spid="12185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1859">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1859">
                                            <p:txEl>
                                              <p:pRg st="7" end="7"/>
                                            </p:txEl>
                                          </p:spTgt>
                                        </p:tgtEl>
                                        <p:attrNameLst>
                                          <p:attrName>style.visibility</p:attrName>
                                        </p:attrNameLst>
                                      </p:cBhvr>
                                      <p:to>
                                        <p:strVal val="visible"/>
                                      </p:to>
                                    </p:set>
                                    <p:anim calcmode="lin" valueType="num">
                                      <p:cBhvr additive="base">
                                        <p:cTn id="41" dur="500" fill="hold"/>
                                        <p:tgtEl>
                                          <p:spTgt spid="12185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1859">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1859">
                                            <p:txEl>
                                              <p:pRg st="8" end="8"/>
                                            </p:txEl>
                                          </p:spTgt>
                                        </p:tgtEl>
                                        <p:attrNameLst>
                                          <p:attrName>style.visibility</p:attrName>
                                        </p:attrNameLst>
                                      </p:cBhvr>
                                      <p:to>
                                        <p:strVal val="visible"/>
                                      </p:to>
                                    </p:set>
                                    <p:anim calcmode="lin" valueType="num">
                                      <p:cBhvr additive="base">
                                        <p:cTn id="45" dur="500" fill="hold"/>
                                        <p:tgtEl>
                                          <p:spTgt spid="121859">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218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endParaRPr lang="en-US"/>
          </a:p>
        </p:txBody>
      </p:sp>
      <p:sp>
        <p:nvSpPr>
          <p:cNvPr id="122883" name="Rectangle 3"/>
          <p:cNvSpPr>
            <a:spLocks noGrp="1" noChangeArrowheads="1"/>
          </p:cNvSpPr>
          <p:nvPr>
            <p:ph type="body" idx="1"/>
          </p:nvPr>
        </p:nvSpPr>
        <p:spPr>
          <a:xfrm>
            <a:off x="457200" y="1066800"/>
            <a:ext cx="8229600" cy="4648200"/>
          </a:xfrm>
        </p:spPr>
        <p:txBody>
          <a:bodyPr>
            <a:normAutofit fontScale="92500" lnSpcReduction="10000"/>
          </a:bodyPr>
          <a:lstStyle/>
          <a:p>
            <a:pPr>
              <a:lnSpc>
                <a:spcPct val="80000"/>
              </a:lnSpc>
            </a:pPr>
            <a:r>
              <a:rPr lang="en-US" sz="2000"/>
              <a:t>Requirements stability</a:t>
            </a:r>
          </a:p>
          <a:p>
            <a:pPr lvl="1">
              <a:lnSpc>
                <a:spcPct val="80000"/>
              </a:lnSpc>
            </a:pPr>
            <a:r>
              <a:rPr lang="en-US" sz="1800"/>
              <a:t>Some requirements are relatively stable whereas others are very much subject to change during development. To minimize unnecessary rework, it may well make sense to implement stable requirements first and hold off on the implementation of the most volatile requirements until late in the development cycle</a:t>
            </a:r>
          </a:p>
          <a:p>
            <a:pPr>
              <a:lnSpc>
                <a:spcPct val="80000"/>
              </a:lnSpc>
            </a:pPr>
            <a:r>
              <a:rPr lang="en-US" sz="2000"/>
              <a:t>Dependencies among requirements</a:t>
            </a:r>
          </a:p>
          <a:p>
            <a:pPr lvl="1">
              <a:lnSpc>
                <a:spcPct val="80000"/>
              </a:lnSpc>
            </a:pPr>
            <a:r>
              <a:rPr lang="en-US" sz="1800"/>
              <a:t>Certain requirements depend on other requirements. For example, requirements at a lower tier in the overall system structure “implement” requirements on a higher tier. Dependency relationships between use cases and usage scenarios imply dependencies between their priorities.</a:t>
            </a:r>
          </a:p>
          <a:p>
            <a:pPr lvl="1">
              <a:lnSpc>
                <a:spcPct val="80000"/>
              </a:lnSpc>
            </a:pPr>
            <a:r>
              <a:rPr lang="en-US" sz="1800"/>
              <a:t>Derived requirements are engineered to support more fundamental requirements, which depend on the implementation of the derived requirements.</a:t>
            </a:r>
          </a:p>
          <a:p>
            <a:pPr>
              <a:lnSpc>
                <a:spcPct val="80000"/>
              </a:lnSpc>
            </a:pPr>
            <a:r>
              <a:rPr lang="en-US" sz="2000"/>
              <a:t>Implementation dependencies</a:t>
            </a:r>
          </a:p>
          <a:p>
            <a:pPr lvl="1">
              <a:lnSpc>
                <a:spcPct val="80000"/>
              </a:lnSpc>
            </a:pPr>
            <a:r>
              <a:rPr lang="en-US" sz="1800"/>
              <a:t>When developing large systems, certain components of the system depend on other components (often foundational and infrastructure components) of the system.</a:t>
            </a:r>
          </a:p>
          <a:p>
            <a:pPr lvl="1">
              <a:lnSpc>
                <a:spcPct val="80000"/>
              </a:lnSpc>
            </a:pPr>
            <a:r>
              <a:rPr lang="en-US" sz="1800"/>
              <a:t>Capabilities (e.g., safety and security) need to be architected and built into the system rather than added on later during development.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 calcmode="lin" valueType="num">
                                      <p:cBhvr additive="base">
                                        <p:cTn id="7" dur="500" fill="hold"/>
                                        <p:tgtEl>
                                          <p:spTgt spid="1228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8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2883">
                                            <p:txEl>
                                              <p:pRg st="1" end="1"/>
                                            </p:txEl>
                                          </p:spTgt>
                                        </p:tgtEl>
                                        <p:attrNameLst>
                                          <p:attrName>style.visibility</p:attrName>
                                        </p:attrNameLst>
                                      </p:cBhvr>
                                      <p:to>
                                        <p:strVal val="visible"/>
                                      </p:to>
                                    </p:set>
                                    <p:anim calcmode="lin" valueType="num">
                                      <p:cBhvr additive="base">
                                        <p:cTn id="11" dur="500" fill="hold"/>
                                        <p:tgtEl>
                                          <p:spTgt spid="1228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28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2883">
                                            <p:txEl>
                                              <p:pRg st="2" end="2"/>
                                            </p:txEl>
                                          </p:spTgt>
                                        </p:tgtEl>
                                        <p:attrNameLst>
                                          <p:attrName>style.visibility</p:attrName>
                                        </p:attrNameLst>
                                      </p:cBhvr>
                                      <p:to>
                                        <p:strVal val="visible"/>
                                      </p:to>
                                    </p:set>
                                    <p:anim calcmode="lin" valueType="num">
                                      <p:cBhvr additive="base">
                                        <p:cTn id="17" dur="500" fill="hold"/>
                                        <p:tgtEl>
                                          <p:spTgt spid="1228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88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2883">
                                            <p:txEl>
                                              <p:pRg st="3" end="3"/>
                                            </p:txEl>
                                          </p:spTgt>
                                        </p:tgtEl>
                                        <p:attrNameLst>
                                          <p:attrName>style.visibility</p:attrName>
                                        </p:attrNameLst>
                                      </p:cBhvr>
                                      <p:to>
                                        <p:strVal val="visible"/>
                                      </p:to>
                                    </p:set>
                                    <p:anim calcmode="lin" valueType="num">
                                      <p:cBhvr additive="base">
                                        <p:cTn id="21" dur="500" fill="hold"/>
                                        <p:tgtEl>
                                          <p:spTgt spid="1228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288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2883">
                                            <p:txEl>
                                              <p:pRg st="4" end="4"/>
                                            </p:txEl>
                                          </p:spTgt>
                                        </p:tgtEl>
                                        <p:attrNameLst>
                                          <p:attrName>style.visibility</p:attrName>
                                        </p:attrNameLst>
                                      </p:cBhvr>
                                      <p:to>
                                        <p:strVal val="visible"/>
                                      </p:to>
                                    </p:set>
                                    <p:anim calcmode="lin" valueType="num">
                                      <p:cBhvr additive="base">
                                        <p:cTn id="25" dur="500" fill="hold"/>
                                        <p:tgtEl>
                                          <p:spTgt spid="12288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8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2883">
                                            <p:txEl>
                                              <p:pRg st="5" end="5"/>
                                            </p:txEl>
                                          </p:spTgt>
                                        </p:tgtEl>
                                        <p:attrNameLst>
                                          <p:attrName>style.visibility</p:attrName>
                                        </p:attrNameLst>
                                      </p:cBhvr>
                                      <p:to>
                                        <p:strVal val="visible"/>
                                      </p:to>
                                    </p:set>
                                    <p:anim calcmode="lin" valueType="num">
                                      <p:cBhvr additive="base">
                                        <p:cTn id="31" dur="500" fill="hold"/>
                                        <p:tgtEl>
                                          <p:spTgt spid="1228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28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2883">
                                            <p:txEl>
                                              <p:pRg st="6" end="6"/>
                                            </p:txEl>
                                          </p:spTgt>
                                        </p:tgtEl>
                                        <p:attrNameLst>
                                          <p:attrName>style.visibility</p:attrName>
                                        </p:attrNameLst>
                                      </p:cBhvr>
                                      <p:to>
                                        <p:strVal val="visible"/>
                                      </p:to>
                                    </p:set>
                                    <p:anim calcmode="lin" valueType="num">
                                      <p:cBhvr additive="base">
                                        <p:cTn id="35" dur="500" fill="hold"/>
                                        <p:tgtEl>
                                          <p:spTgt spid="1228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28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2883">
                                            <p:txEl>
                                              <p:pRg st="7" end="7"/>
                                            </p:txEl>
                                          </p:spTgt>
                                        </p:tgtEl>
                                        <p:attrNameLst>
                                          <p:attrName>style.visibility</p:attrName>
                                        </p:attrNameLst>
                                      </p:cBhvr>
                                      <p:to>
                                        <p:strVal val="visible"/>
                                      </p:to>
                                    </p:set>
                                    <p:anim calcmode="lin" valueType="num">
                                      <p:cBhvr additive="base">
                                        <p:cTn id="39" dur="500" fill="hold"/>
                                        <p:tgtEl>
                                          <p:spTgt spid="1228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288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endParaRPr lang="en-US"/>
          </a:p>
        </p:txBody>
      </p:sp>
      <p:sp>
        <p:nvSpPr>
          <p:cNvPr id="123907" name="Rectangle 3"/>
          <p:cNvSpPr>
            <a:spLocks noGrp="1" noChangeArrowheads="1"/>
          </p:cNvSpPr>
          <p:nvPr>
            <p:ph type="body" idx="1"/>
          </p:nvPr>
        </p:nvSpPr>
        <p:spPr/>
        <p:txBody>
          <a:bodyPr>
            <a:normAutofit lnSpcReduction="10000"/>
          </a:bodyPr>
          <a:lstStyle/>
          <a:p>
            <a:pPr>
              <a:lnSpc>
                <a:spcPct val="80000"/>
              </a:lnSpc>
            </a:pPr>
            <a:r>
              <a:rPr lang="en-US" sz="2400"/>
              <a:t>Different kinds of requirements</a:t>
            </a:r>
          </a:p>
          <a:p>
            <a:pPr lvl="1">
              <a:lnSpc>
                <a:spcPct val="80000"/>
              </a:lnSpc>
            </a:pPr>
            <a:r>
              <a:rPr lang="en-US" sz="2000"/>
              <a:t>Different kinds of requirements may need different approaches to prioritization. Non-functional requirements may be prioritized directly whereas functional requirements may be prioritized indirectly via their use cases and scenarios.</a:t>
            </a:r>
          </a:p>
          <a:p>
            <a:pPr>
              <a:lnSpc>
                <a:spcPct val="80000"/>
              </a:lnSpc>
            </a:pPr>
            <a:r>
              <a:rPr lang="en-US" sz="2400"/>
              <a:t>Legal mandate</a:t>
            </a:r>
          </a:p>
          <a:p>
            <a:pPr lvl="1">
              <a:lnSpc>
                <a:spcPct val="80000"/>
              </a:lnSpc>
            </a:pPr>
            <a:r>
              <a:rPr lang="en-US" sz="2000"/>
              <a:t>Requirements may be given higher priority if mandated by law, by regulation, or by governmental, international, national, or industry standard</a:t>
            </a:r>
          </a:p>
          <a:p>
            <a:pPr>
              <a:lnSpc>
                <a:spcPct val="80000"/>
              </a:lnSpc>
            </a:pPr>
            <a:r>
              <a:rPr lang="en-US" sz="2400"/>
              <a:t>Frequency of use</a:t>
            </a:r>
          </a:p>
          <a:p>
            <a:pPr lvl="1">
              <a:lnSpc>
                <a:spcPct val="80000"/>
              </a:lnSpc>
            </a:pPr>
            <a:r>
              <a:rPr lang="en-US" sz="2000"/>
              <a:t>Functional requirements may be given higher priority based on the expected frequency or volume of usage.</a:t>
            </a:r>
          </a:p>
          <a:p>
            <a:pPr>
              <a:lnSpc>
                <a:spcPct val="80000"/>
              </a:lnSpc>
            </a:pPr>
            <a:r>
              <a:rPr lang="en-US" sz="2400"/>
              <a:t>Reuse</a:t>
            </a:r>
          </a:p>
          <a:p>
            <a:pPr lvl="1">
              <a:lnSpc>
                <a:spcPct val="80000"/>
              </a:lnSpc>
            </a:pPr>
            <a:r>
              <a:rPr lang="en-US" sz="2000"/>
              <a:t>If a requirement is highly reusable within a product line, then it might be wise to give it a higher priority so that no system within the product line has to wait for its implementation.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 calcmode="lin" valueType="num">
                                      <p:cBhvr additive="base">
                                        <p:cTn id="7" dur="500" fill="hold"/>
                                        <p:tgtEl>
                                          <p:spTgt spid="1239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390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3907">
                                            <p:txEl>
                                              <p:pRg st="1" end="1"/>
                                            </p:txEl>
                                          </p:spTgt>
                                        </p:tgtEl>
                                        <p:attrNameLst>
                                          <p:attrName>style.visibility</p:attrName>
                                        </p:attrNameLst>
                                      </p:cBhvr>
                                      <p:to>
                                        <p:strVal val="visible"/>
                                      </p:to>
                                    </p:set>
                                    <p:anim calcmode="lin" valueType="num">
                                      <p:cBhvr additive="base">
                                        <p:cTn id="11" dur="500" fill="hold"/>
                                        <p:tgtEl>
                                          <p:spTgt spid="12390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39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3907">
                                            <p:txEl>
                                              <p:pRg st="2" end="2"/>
                                            </p:txEl>
                                          </p:spTgt>
                                        </p:tgtEl>
                                        <p:attrNameLst>
                                          <p:attrName>style.visibility</p:attrName>
                                        </p:attrNameLst>
                                      </p:cBhvr>
                                      <p:to>
                                        <p:strVal val="visible"/>
                                      </p:to>
                                    </p:set>
                                    <p:anim calcmode="lin" valueType="num">
                                      <p:cBhvr additive="base">
                                        <p:cTn id="17" dur="500" fill="hold"/>
                                        <p:tgtEl>
                                          <p:spTgt spid="12390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390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3907">
                                            <p:txEl>
                                              <p:pRg st="3" end="3"/>
                                            </p:txEl>
                                          </p:spTgt>
                                        </p:tgtEl>
                                        <p:attrNameLst>
                                          <p:attrName>style.visibility</p:attrName>
                                        </p:attrNameLst>
                                      </p:cBhvr>
                                      <p:to>
                                        <p:strVal val="visible"/>
                                      </p:to>
                                    </p:set>
                                    <p:anim calcmode="lin" valueType="num">
                                      <p:cBhvr additive="base">
                                        <p:cTn id="21" dur="500" fill="hold"/>
                                        <p:tgtEl>
                                          <p:spTgt spid="12390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39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3907">
                                            <p:txEl>
                                              <p:pRg st="4" end="4"/>
                                            </p:txEl>
                                          </p:spTgt>
                                        </p:tgtEl>
                                        <p:attrNameLst>
                                          <p:attrName>style.visibility</p:attrName>
                                        </p:attrNameLst>
                                      </p:cBhvr>
                                      <p:to>
                                        <p:strVal val="visible"/>
                                      </p:to>
                                    </p:set>
                                    <p:anim calcmode="lin" valueType="num">
                                      <p:cBhvr additive="base">
                                        <p:cTn id="27" dur="500" fill="hold"/>
                                        <p:tgtEl>
                                          <p:spTgt spid="1239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390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3907">
                                            <p:txEl>
                                              <p:pRg st="5" end="5"/>
                                            </p:txEl>
                                          </p:spTgt>
                                        </p:tgtEl>
                                        <p:attrNameLst>
                                          <p:attrName>style.visibility</p:attrName>
                                        </p:attrNameLst>
                                      </p:cBhvr>
                                      <p:to>
                                        <p:strVal val="visible"/>
                                      </p:to>
                                    </p:set>
                                    <p:anim calcmode="lin" valueType="num">
                                      <p:cBhvr additive="base">
                                        <p:cTn id="31" dur="500" fill="hold"/>
                                        <p:tgtEl>
                                          <p:spTgt spid="12390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39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3907">
                                            <p:txEl>
                                              <p:pRg st="6" end="6"/>
                                            </p:txEl>
                                          </p:spTgt>
                                        </p:tgtEl>
                                        <p:attrNameLst>
                                          <p:attrName>style.visibility</p:attrName>
                                        </p:attrNameLst>
                                      </p:cBhvr>
                                      <p:to>
                                        <p:strVal val="visible"/>
                                      </p:to>
                                    </p:set>
                                    <p:anim calcmode="lin" valueType="num">
                                      <p:cBhvr additive="base">
                                        <p:cTn id="37" dur="500" fill="hold"/>
                                        <p:tgtEl>
                                          <p:spTgt spid="12390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390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3907">
                                            <p:txEl>
                                              <p:pRg st="7" end="7"/>
                                            </p:txEl>
                                          </p:spTgt>
                                        </p:tgtEl>
                                        <p:attrNameLst>
                                          <p:attrName>style.visibility</p:attrName>
                                        </p:attrNameLst>
                                      </p:cBhvr>
                                      <p:to>
                                        <p:strVal val="visible"/>
                                      </p:to>
                                    </p:set>
                                    <p:anim calcmode="lin" valueType="num">
                                      <p:cBhvr additive="base">
                                        <p:cTn id="41" dur="500" fill="hold"/>
                                        <p:tgtEl>
                                          <p:spTgt spid="12390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390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sz="3200"/>
              <a:t>A REQUIREMENTS PRIORITIZATION PROCESS</a:t>
            </a:r>
          </a:p>
        </p:txBody>
      </p:sp>
      <p:sp>
        <p:nvSpPr>
          <p:cNvPr id="124931" name="Rectangle 3"/>
          <p:cNvSpPr>
            <a:spLocks noGrp="1" noChangeArrowheads="1"/>
          </p:cNvSpPr>
          <p:nvPr>
            <p:ph type="body" idx="1"/>
          </p:nvPr>
        </p:nvSpPr>
        <p:spPr/>
        <p:txBody>
          <a:bodyPr>
            <a:normAutofit lnSpcReduction="10000"/>
          </a:bodyPr>
          <a:lstStyle/>
          <a:p>
            <a:pPr>
              <a:lnSpc>
                <a:spcPct val="80000"/>
              </a:lnSpc>
            </a:pPr>
            <a:r>
              <a:rPr lang="en-US" sz="2000"/>
              <a:t>Convince stakeholders.</a:t>
            </a:r>
          </a:p>
          <a:p>
            <a:pPr lvl="1">
              <a:lnSpc>
                <a:spcPct val="80000"/>
              </a:lnSpc>
            </a:pPr>
            <a:r>
              <a:rPr lang="en-US" sz="1800"/>
              <a:t>During requirements planning, the requirements team needs to convince the stakeholders in the requirements engineering process of the importance of prioritizing requirements.</a:t>
            </a:r>
          </a:p>
          <a:p>
            <a:pPr>
              <a:lnSpc>
                <a:spcPct val="80000"/>
              </a:lnSpc>
            </a:pPr>
            <a:r>
              <a:rPr lang="en-US" sz="2000"/>
              <a:t>Train stakeholders.</a:t>
            </a:r>
          </a:p>
          <a:p>
            <a:pPr lvl="1">
              <a:lnSpc>
                <a:spcPct val="80000"/>
              </a:lnSpc>
            </a:pPr>
            <a:r>
              <a:rPr lang="en-US" sz="1800"/>
              <a:t>Prior to eliciting requirements, the requirements team should train the requirements stakeholders in the requirements prioritization process.</a:t>
            </a:r>
          </a:p>
          <a:p>
            <a:pPr>
              <a:lnSpc>
                <a:spcPct val="80000"/>
              </a:lnSpc>
            </a:pPr>
            <a:r>
              <a:rPr lang="en-US" sz="2000"/>
              <a:t>Categorize raw potential requirements.</a:t>
            </a:r>
          </a:p>
          <a:p>
            <a:pPr lvl="1">
              <a:lnSpc>
                <a:spcPct val="80000"/>
              </a:lnSpc>
            </a:pPr>
            <a:r>
              <a:rPr lang="en-US" sz="1800"/>
              <a:t>During requirements elicitation the requirements team should work with the stakeholders to categorize the raw potential requirements into actual requirements, useful capabilities and desirable (nice-to-have) capabilities so that the actual requirements can be prioritized.</a:t>
            </a:r>
          </a:p>
          <a:p>
            <a:pPr>
              <a:lnSpc>
                <a:spcPct val="80000"/>
              </a:lnSpc>
            </a:pPr>
            <a:r>
              <a:rPr lang="en-US" sz="2000"/>
              <a:t>Prioritize the actual requirements.</a:t>
            </a:r>
          </a:p>
          <a:p>
            <a:pPr lvl="1">
              <a:lnSpc>
                <a:spcPct val="80000"/>
              </a:lnSpc>
            </a:pPr>
            <a:r>
              <a:rPr lang="en-US" sz="1800"/>
              <a:t>During requirements analysis, the requirements team should work closely with representative stakeholders to prioritize the actual (i.e., mandatory) requirements.</a:t>
            </a:r>
          </a:p>
          <a:p>
            <a:pPr lvl="1">
              <a:lnSpc>
                <a:spcPct val="80000"/>
              </a:lnSpc>
            </a:pPr>
            <a:r>
              <a:rPr lang="en-US" sz="1800"/>
              <a:t>This includes negotiation with the stakeholders to develop a consensus and validation of the resultant priorities with them</a:t>
            </a:r>
          </a:p>
          <a:p>
            <a:pPr>
              <a:lnSpc>
                <a:spcPct val="80000"/>
              </a:lnSpc>
            </a:pP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 calcmode="lin" valueType="num">
                                      <p:cBhvr additive="base">
                                        <p:cTn id="7" dur="500" fill="hold"/>
                                        <p:tgtEl>
                                          <p:spTgt spid="1249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493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4931">
                                            <p:txEl>
                                              <p:pRg st="1" end="1"/>
                                            </p:txEl>
                                          </p:spTgt>
                                        </p:tgtEl>
                                        <p:attrNameLst>
                                          <p:attrName>style.visibility</p:attrName>
                                        </p:attrNameLst>
                                      </p:cBhvr>
                                      <p:to>
                                        <p:strVal val="visible"/>
                                      </p:to>
                                    </p:set>
                                    <p:anim calcmode="lin" valueType="num">
                                      <p:cBhvr additive="base">
                                        <p:cTn id="11" dur="500" fill="hold"/>
                                        <p:tgtEl>
                                          <p:spTgt spid="12493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49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4931">
                                            <p:txEl>
                                              <p:pRg st="2" end="2"/>
                                            </p:txEl>
                                          </p:spTgt>
                                        </p:tgtEl>
                                        <p:attrNameLst>
                                          <p:attrName>style.visibility</p:attrName>
                                        </p:attrNameLst>
                                      </p:cBhvr>
                                      <p:to>
                                        <p:strVal val="visible"/>
                                      </p:to>
                                    </p:set>
                                    <p:anim calcmode="lin" valueType="num">
                                      <p:cBhvr additive="base">
                                        <p:cTn id="17" dur="500" fill="hold"/>
                                        <p:tgtEl>
                                          <p:spTgt spid="12493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493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4931">
                                            <p:txEl>
                                              <p:pRg st="3" end="3"/>
                                            </p:txEl>
                                          </p:spTgt>
                                        </p:tgtEl>
                                        <p:attrNameLst>
                                          <p:attrName>style.visibility</p:attrName>
                                        </p:attrNameLst>
                                      </p:cBhvr>
                                      <p:to>
                                        <p:strVal val="visible"/>
                                      </p:to>
                                    </p:set>
                                    <p:anim calcmode="lin" valueType="num">
                                      <p:cBhvr additive="base">
                                        <p:cTn id="21" dur="500" fill="hold"/>
                                        <p:tgtEl>
                                          <p:spTgt spid="12493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49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4931">
                                            <p:txEl>
                                              <p:pRg st="4" end="4"/>
                                            </p:txEl>
                                          </p:spTgt>
                                        </p:tgtEl>
                                        <p:attrNameLst>
                                          <p:attrName>style.visibility</p:attrName>
                                        </p:attrNameLst>
                                      </p:cBhvr>
                                      <p:to>
                                        <p:strVal val="visible"/>
                                      </p:to>
                                    </p:set>
                                    <p:anim calcmode="lin" valueType="num">
                                      <p:cBhvr additive="base">
                                        <p:cTn id="27" dur="500" fill="hold"/>
                                        <p:tgtEl>
                                          <p:spTgt spid="12493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493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4931">
                                            <p:txEl>
                                              <p:pRg st="5" end="5"/>
                                            </p:txEl>
                                          </p:spTgt>
                                        </p:tgtEl>
                                        <p:attrNameLst>
                                          <p:attrName>style.visibility</p:attrName>
                                        </p:attrNameLst>
                                      </p:cBhvr>
                                      <p:to>
                                        <p:strVal val="visible"/>
                                      </p:to>
                                    </p:set>
                                    <p:anim calcmode="lin" valueType="num">
                                      <p:cBhvr additive="base">
                                        <p:cTn id="31" dur="500" fill="hold"/>
                                        <p:tgtEl>
                                          <p:spTgt spid="12493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49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4931">
                                            <p:txEl>
                                              <p:pRg st="6" end="6"/>
                                            </p:txEl>
                                          </p:spTgt>
                                        </p:tgtEl>
                                        <p:attrNameLst>
                                          <p:attrName>style.visibility</p:attrName>
                                        </p:attrNameLst>
                                      </p:cBhvr>
                                      <p:to>
                                        <p:strVal val="visible"/>
                                      </p:to>
                                    </p:set>
                                    <p:anim calcmode="lin" valueType="num">
                                      <p:cBhvr additive="base">
                                        <p:cTn id="37" dur="500" fill="hold"/>
                                        <p:tgtEl>
                                          <p:spTgt spid="12493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4931">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4931">
                                            <p:txEl>
                                              <p:pRg st="7" end="7"/>
                                            </p:txEl>
                                          </p:spTgt>
                                        </p:tgtEl>
                                        <p:attrNameLst>
                                          <p:attrName>style.visibility</p:attrName>
                                        </p:attrNameLst>
                                      </p:cBhvr>
                                      <p:to>
                                        <p:strVal val="visible"/>
                                      </p:to>
                                    </p:set>
                                    <p:anim calcmode="lin" valueType="num">
                                      <p:cBhvr additive="base">
                                        <p:cTn id="41" dur="500" fill="hold"/>
                                        <p:tgtEl>
                                          <p:spTgt spid="124931">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4931">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4931">
                                            <p:txEl>
                                              <p:pRg st="8" end="8"/>
                                            </p:txEl>
                                          </p:spTgt>
                                        </p:tgtEl>
                                        <p:attrNameLst>
                                          <p:attrName>style.visibility</p:attrName>
                                        </p:attrNameLst>
                                      </p:cBhvr>
                                      <p:to>
                                        <p:strVal val="visible"/>
                                      </p:to>
                                    </p:set>
                                    <p:anim calcmode="lin" valueType="num">
                                      <p:cBhvr additive="base">
                                        <p:cTn id="45" dur="500" fill="hold"/>
                                        <p:tgtEl>
                                          <p:spTgt spid="124931">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249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endParaRPr lang="en-US"/>
          </a:p>
        </p:txBody>
      </p:sp>
      <p:sp>
        <p:nvSpPr>
          <p:cNvPr id="125955" name="Rectangle 3"/>
          <p:cNvSpPr>
            <a:spLocks noGrp="1" noChangeArrowheads="1"/>
          </p:cNvSpPr>
          <p:nvPr>
            <p:ph type="body" idx="1"/>
          </p:nvPr>
        </p:nvSpPr>
        <p:spPr/>
        <p:txBody>
          <a:bodyPr/>
          <a:lstStyle/>
          <a:p>
            <a:pPr>
              <a:lnSpc>
                <a:spcPct val="80000"/>
              </a:lnSpc>
            </a:pPr>
            <a:r>
              <a:rPr lang="en-US" sz="2000"/>
              <a:t>Publish the priorities</a:t>
            </a:r>
          </a:p>
          <a:p>
            <a:pPr lvl="1">
              <a:lnSpc>
                <a:spcPct val="80000"/>
              </a:lnSpc>
            </a:pPr>
            <a:r>
              <a:rPr lang="en-US" sz="1800"/>
              <a:t>During requirements specification, the requirements team should publish the priorities so that all effected stakeholders know and can use the priorities.</a:t>
            </a:r>
          </a:p>
          <a:p>
            <a:pPr>
              <a:lnSpc>
                <a:spcPct val="80000"/>
              </a:lnSpc>
            </a:pPr>
            <a:r>
              <a:rPr lang="en-US" sz="2000"/>
              <a:t>Estimate effort</a:t>
            </a:r>
          </a:p>
          <a:p>
            <a:pPr lvl="1">
              <a:lnSpc>
                <a:spcPct val="80000"/>
              </a:lnSpc>
            </a:pPr>
            <a:r>
              <a:rPr lang="en-US" sz="1800"/>
              <a:t>Led by the technical leader and architecture team, the development team that must actually implement the requirements, creates and records realistic estimates of the effort required to implement each requirement.</a:t>
            </a:r>
          </a:p>
          <a:p>
            <a:pPr>
              <a:lnSpc>
                <a:spcPct val="80000"/>
              </a:lnSpc>
            </a:pPr>
            <a:r>
              <a:rPr lang="en-US" sz="2000"/>
              <a:t>Schedule development</a:t>
            </a:r>
          </a:p>
          <a:p>
            <a:pPr lvl="1">
              <a:lnSpc>
                <a:spcPct val="80000"/>
              </a:lnSpc>
            </a:pPr>
            <a:r>
              <a:rPr lang="en-US" sz="1800"/>
              <a:t>The requirements team should work with the management team and the development team to allocate requirements to increments and to schedule the incremental implementation of these increments based on priorities of the requirements</a:t>
            </a:r>
          </a:p>
          <a:p>
            <a:pPr>
              <a:lnSpc>
                <a:spcPct val="80000"/>
              </a:lnSpc>
            </a:pPr>
            <a:r>
              <a:rPr lang="en-US" sz="2000"/>
              <a:t>Maintain priorities.</a:t>
            </a:r>
          </a:p>
          <a:p>
            <a:pPr lvl="1">
              <a:lnSpc>
                <a:spcPct val="80000"/>
              </a:lnSpc>
            </a:pPr>
            <a:r>
              <a:rPr lang="en-US" sz="1800"/>
              <a:t>During requirements management, the requirements team should work with the requirements stakeholders to maintain the requirements parameters as they change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 calcmode="lin" valueType="num">
                                      <p:cBhvr additive="base">
                                        <p:cTn id="7" dur="500" fill="hold"/>
                                        <p:tgtEl>
                                          <p:spTgt spid="1259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59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5955">
                                            <p:txEl>
                                              <p:pRg st="1" end="1"/>
                                            </p:txEl>
                                          </p:spTgt>
                                        </p:tgtEl>
                                        <p:attrNameLst>
                                          <p:attrName>style.visibility</p:attrName>
                                        </p:attrNameLst>
                                      </p:cBhvr>
                                      <p:to>
                                        <p:strVal val="visible"/>
                                      </p:to>
                                    </p:set>
                                    <p:anim calcmode="lin" valueType="num">
                                      <p:cBhvr additive="base">
                                        <p:cTn id="11" dur="500" fill="hold"/>
                                        <p:tgtEl>
                                          <p:spTgt spid="12595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59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5955">
                                            <p:txEl>
                                              <p:pRg st="2" end="2"/>
                                            </p:txEl>
                                          </p:spTgt>
                                        </p:tgtEl>
                                        <p:attrNameLst>
                                          <p:attrName>style.visibility</p:attrName>
                                        </p:attrNameLst>
                                      </p:cBhvr>
                                      <p:to>
                                        <p:strVal val="visible"/>
                                      </p:to>
                                    </p:set>
                                    <p:anim calcmode="lin" valueType="num">
                                      <p:cBhvr additive="base">
                                        <p:cTn id="17" dur="500" fill="hold"/>
                                        <p:tgtEl>
                                          <p:spTgt spid="12595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595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5955">
                                            <p:txEl>
                                              <p:pRg st="3" end="3"/>
                                            </p:txEl>
                                          </p:spTgt>
                                        </p:tgtEl>
                                        <p:attrNameLst>
                                          <p:attrName>style.visibility</p:attrName>
                                        </p:attrNameLst>
                                      </p:cBhvr>
                                      <p:to>
                                        <p:strVal val="visible"/>
                                      </p:to>
                                    </p:set>
                                    <p:anim calcmode="lin" valueType="num">
                                      <p:cBhvr additive="base">
                                        <p:cTn id="21" dur="500" fill="hold"/>
                                        <p:tgtEl>
                                          <p:spTgt spid="12595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59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5955">
                                            <p:txEl>
                                              <p:pRg st="4" end="4"/>
                                            </p:txEl>
                                          </p:spTgt>
                                        </p:tgtEl>
                                        <p:attrNameLst>
                                          <p:attrName>style.visibility</p:attrName>
                                        </p:attrNameLst>
                                      </p:cBhvr>
                                      <p:to>
                                        <p:strVal val="visible"/>
                                      </p:to>
                                    </p:set>
                                    <p:anim calcmode="lin" valueType="num">
                                      <p:cBhvr additive="base">
                                        <p:cTn id="27" dur="500" fill="hold"/>
                                        <p:tgtEl>
                                          <p:spTgt spid="12595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595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5955">
                                            <p:txEl>
                                              <p:pRg st="5" end="5"/>
                                            </p:txEl>
                                          </p:spTgt>
                                        </p:tgtEl>
                                        <p:attrNameLst>
                                          <p:attrName>style.visibility</p:attrName>
                                        </p:attrNameLst>
                                      </p:cBhvr>
                                      <p:to>
                                        <p:strVal val="visible"/>
                                      </p:to>
                                    </p:set>
                                    <p:anim calcmode="lin" valueType="num">
                                      <p:cBhvr additive="base">
                                        <p:cTn id="31" dur="500" fill="hold"/>
                                        <p:tgtEl>
                                          <p:spTgt spid="12595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59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5955">
                                            <p:txEl>
                                              <p:pRg st="6" end="6"/>
                                            </p:txEl>
                                          </p:spTgt>
                                        </p:tgtEl>
                                        <p:attrNameLst>
                                          <p:attrName>style.visibility</p:attrName>
                                        </p:attrNameLst>
                                      </p:cBhvr>
                                      <p:to>
                                        <p:strVal val="visible"/>
                                      </p:to>
                                    </p:set>
                                    <p:anim calcmode="lin" valueType="num">
                                      <p:cBhvr additive="base">
                                        <p:cTn id="37" dur="500" fill="hold"/>
                                        <p:tgtEl>
                                          <p:spTgt spid="12595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595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5955">
                                            <p:txEl>
                                              <p:pRg st="7" end="7"/>
                                            </p:txEl>
                                          </p:spTgt>
                                        </p:tgtEl>
                                        <p:attrNameLst>
                                          <p:attrName>style.visibility</p:attrName>
                                        </p:attrNameLst>
                                      </p:cBhvr>
                                      <p:to>
                                        <p:strVal val="visible"/>
                                      </p:to>
                                    </p:set>
                                    <p:anim calcmode="lin" valueType="num">
                                      <p:cBhvr additive="base">
                                        <p:cTn id="41" dur="500" fill="hold"/>
                                        <p:tgtEl>
                                          <p:spTgt spid="12595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595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b="0"/>
              <a:t>Prioritization Techniques</a:t>
            </a:r>
          </a:p>
        </p:txBody>
      </p:sp>
      <p:sp>
        <p:nvSpPr>
          <p:cNvPr id="126979" name="Rectangle 3"/>
          <p:cNvSpPr>
            <a:spLocks noGrp="1" noChangeArrowheads="1"/>
          </p:cNvSpPr>
          <p:nvPr>
            <p:ph type="body" idx="1"/>
          </p:nvPr>
        </p:nvSpPr>
        <p:spPr/>
        <p:txBody>
          <a:bodyPr/>
          <a:lstStyle/>
          <a:p>
            <a:pPr>
              <a:lnSpc>
                <a:spcPct val="80000"/>
              </a:lnSpc>
            </a:pPr>
            <a:r>
              <a:rPr lang="en-US" sz="2000"/>
              <a:t>Business Case Analysis / Return On Investment (ROI) estimation</a:t>
            </a:r>
          </a:p>
          <a:p>
            <a:pPr>
              <a:lnSpc>
                <a:spcPct val="80000"/>
              </a:lnSpc>
            </a:pPr>
            <a:r>
              <a:rPr lang="en-US" sz="2000"/>
              <a:t>Pair-wise comparisons</a:t>
            </a:r>
          </a:p>
          <a:p>
            <a:pPr lvl="1">
              <a:lnSpc>
                <a:spcPct val="80000"/>
              </a:lnSpc>
            </a:pPr>
            <a:r>
              <a:rPr lang="en-US" sz="2000"/>
              <a:t>Which of two the requirements is more important and to what extent</a:t>
            </a:r>
            <a:endParaRPr lang="en-US" sz="1800"/>
          </a:p>
          <a:p>
            <a:pPr>
              <a:lnSpc>
                <a:spcPct val="80000"/>
              </a:lnSpc>
            </a:pPr>
            <a:r>
              <a:rPr lang="en-US" sz="2000"/>
              <a:t>Prioritization working groups</a:t>
            </a:r>
          </a:p>
          <a:p>
            <a:pPr>
              <a:lnSpc>
                <a:spcPct val="80000"/>
              </a:lnSpc>
            </a:pPr>
            <a:r>
              <a:rPr lang="en-US" sz="2000"/>
              <a:t>Scale of 1-to-10 rankings</a:t>
            </a:r>
          </a:p>
          <a:p>
            <a:pPr>
              <a:lnSpc>
                <a:spcPct val="80000"/>
              </a:lnSpc>
            </a:pPr>
            <a:r>
              <a:rPr lang="en-US" sz="2000"/>
              <a:t>Voting schemes</a:t>
            </a:r>
          </a:p>
          <a:p>
            <a:pPr lvl="1">
              <a:lnSpc>
                <a:spcPct val="80000"/>
              </a:lnSpc>
            </a:pPr>
            <a:r>
              <a:rPr lang="en-US" sz="1800"/>
              <a:t>e.g., give each stakeholder a specific number of votes to distribute amongst the requirements or classes of requirements being prioritized</a:t>
            </a:r>
          </a:p>
          <a:p>
            <a:pPr>
              <a:lnSpc>
                <a:spcPct val="80000"/>
              </a:lnSpc>
            </a:pPr>
            <a:r>
              <a:rPr lang="en-US" sz="2000"/>
              <a:t>Weightings </a:t>
            </a:r>
          </a:p>
          <a:p>
            <a:pPr lvl="1">
              <a:lnSpc>
                <a:spcPct val="80000"/>
              </a:lnSpc>
            </a:pPr>
            <a:r>
              <a:rPr lang="en-US" sz="1800"/>
              <a:t>e.g., weight the votes of different stakeholders</a:t>
            </a:r>
          </a:p>
          <a:p>
            <a:pPr>
              <a:lnSpc>
                <a:spcPct val="80000"/>
              </a:lnSpc>
            </a:pPr>
            <a:r>
              <a:rPr lang="en-US" sz="2000"/>
              <a:t>WIN-WIN</a:t>
            </a:r>
          </a:p>
          <a:p>
            <a:pPr>
              <a:lnSpc>
                <a:spcPct val="80000"/>
              </a:lnSpc>
            </a:pPr>
            <a:r>
              <a:rPr lang="en-US" sz="2000"/>
              <a:t>Quality Function Deployment (QFD)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 calcmode="lin" valueType="num">
                                      <p:cBhvr additive="base">
                                        <p:cTn id="7" dur="500" fill="hold"/>
                                        <p:tgtEl>
                                          <p:spTgt spid="126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69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6979">
                                            <p:txEl>
                                              <p:pRg st="1" end="1"/>
                                            </p:txEl>
                                          </p:spTgt>
                                        </p:tgtEl>
                                        <p:attrNameLst>
                                          <p:attrName>style.visibility</p:attrName>
                                        </p:attrNameLst>
                                      </p:cBhvr>
                                      <p:to>
                                        <p:strVal val="visible"/>
                                      </p:to>
                                    </p:set>
                                    <p:anim calcmode="lin" valueType="num">
                                      <p:cBhvr additive="base">
                                        <p:cTn id="13" dur="500" fill="hold"/>
                                        <p:tgtEl>
                                          <p:spTgt spid="1269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69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6979">
                                            <p:txEl>
                                              <p:pRg st="2" end="2"/>
                                            </p:txEl>
                                          </p:spTgt>
                                        </p:tgtEl>
                                        <p:attrNameLst>
                                          <p:attrName>style.visibility</p:attrName>
                                        </p:attrNameLst>
                                      </p:cBhvr>
                                      <p:to>
                                        <p:strVal val="visible"/>
                                      </p:to>
                                    </p:set>
                                    <p:anim calcmode="lin" valueType="num">
                                      <p:cBhvr additive="base">
                                        <p:cTn id="17" dur="500" fill="hold"/>
                                        <p:tgtEl>
                                          <p:spTgt spid="1269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69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6979">
                                            <p:txEl>
                                              <p:pRg st="3" end="3"/>
                                            </p:txEl>
                                          </p:spTgt>
                                        </p:tgtEl>
                                        <p:attrNameLst>
                                          <p:attrName>style.visibility</p:attrName>
                                        </p:attrNameLst>
                                      </p:cBhvr>
                                      <p:to>
                                        <p:strVal val="visible"/>
                                      </p:to>
                                    </p:set>
                                    <p:anim calcmode="lin" valueType="num">
                                      <p:cBhvr additive="base">
                                        <p:cTn id="23" dur="500" fill="hold"/>
                                        <p:tgtEl>
                                          <p:spTgt spid="1269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69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6979">
                                            <p:txEl>
                                              <p:pRg st="4" end="4"/>
                                            </p:txEl>
                                          </p:spTgt>
                                        </p:tgtEl>
                                        <p:attrNameLst>
                                          <p:attrName>style.visibility</p:attrName>
                                        </p:attrNameLst>
                                      </p:cBhvr>
                                      <p:to>
                                        <p:strVal val="visible"/>
                                      </p:to>
                                    </p:set>
                                    <p:anim calcmode="lin" valueType="num">
                                      <p:cBhvr additive="base">
                                        <p:cTn id="29" dur="500" fill="hold"/>
                                        <p:tgtEl>
                                          <p:spTgt spid="12697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69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6979">
                                            <p:txEl>
                                              <p:pRg st="5" end="5"/>
                                            </p:txEl>
                                          </p:spTgt>
                                        </p:tgtEl>
                                        <p:attrNameLst>
                                          <p:attrName>style.visibility</p:attrName>
                                        </p:attrNameLst>
                                      </p:cBhvr>
                                      <p:to>
                                        <p:strVal val="visible"/>
                                      </p:to>
                                    </p:set>
                                    <p:anim calcmode="lin" valueType="num">
                                      <p:cBhvr additive="base">
                                        <p:cTn id="35" dur="500" fill="hold"/>
                                        <p:tgtEl>
                                          <p:spTgt spid="126979">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6979">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6979">
                                            <p:txEl>
                                              <p:pRg st="6" end="6"/>
                                            </p:txEl>
                                          </p:spTgt>
                                        </p:tgtEl>
                                        <p:attrNameLst>
                                          <p:attrName>style.visibility</p:attrName>
                                        </p:attrNameLst>
                                      </p:cBhvr>
                                      <p:to>
                                        <p:strVal val="visible"/>
                                      </p:to>
                                    </p:set>
                                    <p:anim calcmode="lin" valueType="num">
                                      <p:cBhvr additive="base">
                                        <p:cTn id="39" dur="500" fill="hold"/>
                                        <p:tgtEl>
                                          <p:spTgt spid="126979">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697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26979">
                                            <p:txEl>
                                              <p:pRg st="7" end="7"/>
                                            </p:txEl>
                                          </p:spTgt>
                                        </p:tgtEl>
                                        <p:attrNameLst>
                                          <p:attrName>style.visibility</p:attrName>
                                        </p:attrNameLst>
                                      </p:cBhvr>
                                      <p:to>
                                        <p:strVal val="visible"/>
                                      </p:to>
                                    </p:set>
                                    <p:anim calcmode="lin" valueType="num">
                                      <p:cBhvr additive="base">
                                        <p:cTn id="45" dur="500" fill="hold"/>
                                        <p:tgtEl>
                                          <p:spTgt spid="126979">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26979">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26979">
                                            <p:txEl>
                                              <p:pRg st="8" end="8"/>
                                            </p:txEl>
                                          </p:spTgt>
                                        </p:tgtEl>
                                        <p:attrNameLst>
                                          <p:attrName>style.visibility</p:attrName>
                                        </p:attrNameLst>
                                      </p:cBhvr>
                                      <p:to>
                                        <p:strVal val="visible"/>
                                      </p:to>
                                    </p:set>
                                    <p:anim calcmode="lin" valueType="num">
                                      <p:cBhvr additive="base">
                                        <p:cTn id="49" dur="500" fill="hold"/>
                                        <p:tgtEl>
                                          <p:spTgt spid="126979">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697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6979">
                                            <p:txEl>
                                              <p:pRg st="9" end="9"/>
                                            </p:txEl>
                                          </p:spTgt>
                                        </p:tgtEl>
                                        <p:attrNameLst>
                                          <p:attrName>style.visibility</p:attrName>
                                        </p:attrNameLst>
                                      </p:cBhvr>
                                      <p:to>
                                        <p:strVal val="visible"/>
                                      </p:to>
                                    </p:set>
                                    <p:anim calcmode="lin" valueType="num">
                                      <p:cBhvr additive="base">
                                        <p:cTn id="55" dur="500" fill="hold"/>
                                        <p:tgtEl>
                                          <p:spTgt spid="126979">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2697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26979">
                                            <p:txEl>
                                              <p:pRg st="10" end="10"/>
                                            </p:txEl>
                                          </p:spTgt>
                                        </p:tgtEl>
                                        <p:attrNameLst>
                                          <p:attrName>style.visibility</p:attrName>
                                        </p:attrNameLst>
                                      </p:cBhvr>
                                      <p:to>
                                        <p:strVal val="visible"/>
                                      </p:to>
                                    </p:set>
                                    <p:anim calcmode="lin" valueType="num">
                                      <p:cBhvr additive="base">
                                        <p:cTn id="61" dur="500" fill="hold"/>
                                        <p:tgtEl>
                                          <p:spTgt spid="126979">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2697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ctrTitle"/>
          </p:nvPr>
        </p:nvSpPr>
        <p:spPr/>
        <p:txBody>
          <a:bodyPr>
            <a:normAutofit/>
          </a:bodyPr>
          <a:lstStyle/>
          <a:p>
            <a:pPr algn="ctr"/>
            <a:r>
              <a:rPr lang="en-US" sz="9600" dirty="0"/>
              <a:t>Q</a:t>
            </a:r>
            <a:r>
              <a:rPr lang="en-US" sz="8000" dirty="0"/>
              <a:t>&amp;</a:t>
            </a:r>
            <a:r>
              <a:rPr lang="en-US" sz="9600" dirty="0"/>
              <a:t>A</a:t>
            </a:r>
          </a:p>
        </p:txBody>
      </p:sp>
      <p:sp>
        <p:nvSpPr>
          <p:cNvPr id="553987" name="Rectangle 3"/>
          <p:cNvSpPr>
            <a:spLocks noGrp="1" noChangeArrowheads="1"/>
          </p:cNvSpPr>
          <p:nvPr>
            <p:ph type="subTitle" idx="1"/>
          </p:nvPr>
        </p:nvSpPr>
        <p:spPr/>
        <p:txBody>
          <a:bodyPr/>
          <a:lstStyle/>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1597</TotalTime>
  <Words>3810</Words>
  <Application>Microsoft Office PowerPoint</Application>
  <PresentationFormat>On-screen Show (4:3)</PresentationFormat>
  <Paragraphs>374</Paragraphs>
  <Slides>51</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60" baseType="lpstr">
      <vt:lpstr>Arial</vt:lpstr>
      <vt:lpstr>Lucida Sans Unicode</vt:lpstr>
      <vt:lpstr>Times New Roman</vt:lpstr>
      <vt:lpstr>Verdana</vt:lpstr>
      <vt:lpstr>Wingdings</vt:lpstr>
      <vt:lpstr>Wingdings 2</vt:lpstr>
      <vt:lpstr>Wingdings 3</vt:lpstr>
      <vt:lpstr>Concourse</vt:lpstr>
      <vt:lpstr>Document</vt:lpstr>
      <vt:lpstr>Requirements Engineering</vt:lpstr>
      <vt:lpstr>Requirements management</vt:lpstr>
      <vt:lpstr>Requirements management</vt:lpstr>
      <vt:lpstr>Requirements Change Management</vt:lpstr>
      <vt:lpstr>Stable and volatile requirements</vt:lpstr>
      <vt:lpstr>Requirements change factors</vt:lpstr>
      <vt:lpstr>Requirements change factors</vt:lpstr>
      <vt:lpstr>Types of volatile requirement</vt:lpstr>
      <vt:lpstr>Requirements identification</vt:lpstr>
      <vt:lpstr>Requirements identification techniques</vt:lpstr>
      <vt:lpstr>Storing requirements</vt:lpstr>
      <vt:lpstr>Change management</vt:lpstr>
      <vt:lpstr>The change management process</vt:lpstr>
      <vt:lpstr>Change management stages</vt:lpstr>
      <vt:lpstr>Change analysis and costing</vt:lpstr>
      <vt:lpstr>Change analysis activities</vt:lpstr>
      <vt:lpstr>Change request rejection</vt:lpstr>
      <vt:lpstr>Change processing</vt:lpstr>
      <vt:lpstr>Tool support for change management</vt:lpstr>
      <vt:lpstr>Traceability</vt:lpstr>
      <vt:lpstr>Types of traceability information</vt:lpstr>
      <vt:lpstr>Types of traceability</vt:lpstr>
      <vt:lpstr>Types of traceability</vt:lpstr>
      <vt:lpstr>Traceability tables</vt:lpstr>
      <vt:lpstr>Traceability lists</vt:lpstr>
      <vt:lpstr>A traceability list</vt:lpstr>
      <vt:lpstr>Traceability policies</vt:lpstr>
      <vt:lpstr>Factors influencing traceability policies</vt:lpstr>
      <vt:lpstr>Factors influencing traceability policies</vt:lpstr>
      <vt:lpstr>Requirements Conflict</vt:lpstr>
      <vt:lpstr>Conflict</vt:lpstr>
      <vt:lpstr>The Nature of Conflict</vt:lpstr>
      <vt:lpstr>Causes of Conflict</vt:lpstr>
      <vt:lpstr>Conflicting Requirements</vt:lpstr>
      <vt:lpstr> Resolution</vt:lpstr>
      <vt:lpstr>Basic approaches to conflict resolution</vt:lpstr>
      <vt:lpstr>Basic approaches to conflict resolution</vt:lpstr>
      <vt:lpstr>Resolution Techniques</vt:lpstr>
      <vt:lpstr>Resolution Techniques</vt:lpstr>
      <vt:lpstr>Prioritization</vt:lpstr>
      <vt:lpstr>Prioritization</vt:lpstr>
      <vt:lpstr>PowerPoint Presentation</vt:lpstr>
      <vt:lpstr>Why to Prioritize?</vt:lpstr>
      <vt:lpstr>Prioritization Dimensions</vt:lpstr>
      <vt:lpstr>PowerPoint Presentation</vt:lpstr>
      <vt:lpstr>PowerPoint Presentation</vt:lpstr>
      <vt:lpstr>PowerPoint Presentation</vt:lpstr>
      <vt:lpstr>A REQUIREMENTS PRIORITIZATION PROCESS</vt:lpstr>
      <vt:lpstr>PowerPoint Presentation</vt:lpstr>
      <vt:lpstr>Prioritization Techniques</vt:lpstr>
      <vt:lpstr>Q&amp;A</vt:lpstr>
    </vt:vector>
  </TitlesOfParts>
  <Company>Private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Ammad</dc:creator>
  <cp:lastModifiedBy>Pc Planet</cp:lastModifiedBy>
  <cp:revision>331</cp:revision>
  <dcterms:created xsi:type="dcterms:W3CDTF">2001-01-05T12:38:16Z</dcterms:created>
  <dcterms:modified xsi:type="dcterms:W3CDTF">2023-05-04T03:57:34Z</dcterms:modified>
</cp:coreProperties>
</file>