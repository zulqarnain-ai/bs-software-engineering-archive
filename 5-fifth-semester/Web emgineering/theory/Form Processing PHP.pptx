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257" r:id="rId9"/>
    <p:sldId id="258" r:id="rId10"/>
    <p:sldId id="259" r:id="rId11"/>
    <p:sldId id="281" r:id="rId12"/>
    <p:sldId id="282" r:id="rId13"/>
    <p:sldId id="283" r:id="rId14"/>
    <p:sldId id="284" r:id="rId15"/>
    <p:sldId id="285" r:id="rId16"/>
    <p:sldId id="260" r:id="rId17"/>
    <p:sldId id="261" r:id="rId18"/>
    <p:sldId id="262" r:id="rId19"/>
    <p:sldId id="288" r:id="rId20"/>
    <p:sldId id="278" r:id="rId21"/>
    <p:sldId id="279" r:id="rId22"/>
    <p:sldId id="280" r:id="rId23"/>
    <p:sldId id="268" r:id="rId24"/>
    <p:sldId id="290" r:id="rId25"/>
    <p:sldId id="269" r:id="rId26"/>
    <p:sldId id="270" r:id="rId27"/>
    <p:sldId id="300" r:id="rId28"/>
    <p:sldId id="271" r:id="rId29"/>
    <p:sldId id="276" r:id="rId30"/>
    <p:sldId id="277" r:id="rId3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0AF751-8585-416C-8EA8-03C415108D34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66706D16-D695-4B7D-8D6B-1C981A1ECAE0}">
      <dgm:prSet/>
      <dgm:spPr/>
      <dgm:t>
        <a:bodyPr/>
        <a:lstStyle/>
        <a:p>
          <a:pPr rtl="0"/>
          <a:r>
            <a:rPr lang="en-US" b="1" dirty="0"/>
            <a:t>1. Setting the environment </a:t>
          </a:r>
        </a:p>
      </dgm:t>
    </dgm:pt>
    <dgm:pt modelId="{E31F8559-8DE4-4256-B9B2-981ACBFAB5C8}" type="parTrans" cxnId="{D7CE7741-7DE0-4364-BD5A-12067134E8A4}">
      <dgm:prSet/>
      <dgm:spPr/>
      <dgm:t>
        <a:bodyPr/>
        <a:lstStyle/>
        <a:p>
          <a:endParaRPr lang="en-US"/>
        </a:p>
      </dgm:t>
    </dgm:pt>
    <dgm:pt modelId="{2597752F-EABA-40FD-9A7D-9ED3DC5FFC29}" type="sibTrans" cxnId="{D7CE7741-7DE0-4364-BD5A-12067134E8A4}">
      <dgm:prSet/>
      <dgm:spPr/>
      <dgm:t>
        <a:bodyPr/>
        <a:lstStyle/>
        <a:p>
          <a:endParaRPr lang="en-US"/>
        </a:p>
      </dgm:t>
    </dgm:pt>
    <dgm:pt modelId="{B58434A4-EDE2-4D69-848A-C673CAEC7600}" type="pres">
      <dgm:prSet presAssocID="{6C0AF751-8585-416C-8EA8-03C415108D3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64CE18-86A2-414B-91E1-2FB55637E009}" type="pres">
      <dgm:prSet presAssocID="{66706D16-D695-4B7D-8D6B-1C981A1ECAE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F36C67-EC6C-4FDA-A287-337EEE536ADF}" type="presOf" srcId="{66706D16-D695-4B7D-8D6B-1C981A1ECAE0}" destId="{1564CE18-86A2-414B-91E1-2FB55637E009}" srcOrd="0" destOrd="0" presId="urn:microsoft.com/office/officeart/2005/8/layout/vList2"/>
    <dgm:cxn modelId="{E5FE5F27-A339-44CA-B22A-FB64374EF793}" type="presOf" srcId="{6C0AF751-8585-416C-8EA8-03C415108D34}" destId="{B58434A4-EDE2-4D69-848A-C673CAEC7600}" srcOrd="0" destOrd="0" presId="urn:microsoft.com/office/officeart/2005/8/layout/vList2"/>
    <dgm:cxn modelId="{D7CE7741-7DE0-4364-BD5A-12067134E8A4}" srcId="{6C0AF751-8585-416C-8EA8-03C415108D34}" destId="{66706D16-D695-4B7D-8D6B-1C981A1ECAE0}" srcOrd="0" destOrd="0" parTransId="{E31F8559-8DE4-4256-B9B2-981ACBFAB5C8}" sibTransId="{2597752F-EABA-40FD-9A7D-9ED3DC5FFC29}"/>
    <dgm:cxn modelId="{E23BA7B9-C3B1-45C9-AEF2-2DFC8BAECD5B}" type="presParOf" srcId="{B58434A4-EDE2-4D69-848A-C673CAEC7600}" destId="{1564CE18-86A2-414B-91E1-2FB55637E0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4CE18-86A2-414B-91E1-2FB55637E009}">
      <dsp:nvSpPr>
        <dsp:cNvPr id="0" name=""/>
        <dsp:cNvSpPr/>
      </dsp:nvSpPr>
      <dsp:spPr>
        <a:xfrm>
          <a:off x="0" y="8887"/>
          <a:ext cx="8228736" cy="83947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1. Setting the environment </a:t>
          </a:r>
        </a:p>
      </dsp:txBody>
      <dsp:txXfrm>
        <a:off x="40980" y="49867"/>
        <a:ext cx="8146776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8A6BF-F4F2-4730-B260-F3AFEC51FC2F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E77D9-BE78-4290-A4E4-D78B4473F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2598D-DBC3-4AAE-8C8D-E46C9B1D34C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69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8022809/how-to-solve-error-mysql-shutdown-unexpectedl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1170940" marR="190500" indent="-975360">
              <a:lnSpc>
                <a:spcPts val="3829"/>
              </a:lnSpc>
            </a:pPr>
            <a:r>
              <a:rPr spc="-21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FFFFFF"/>
                </a:solidFill>
                <a:latin typeface="Tahoma"/>
                <a:cs typeface="Tahoma"/>
              </a:rPr>
              <a:t>to PHP</a:t>
            </a:r>
          </a:p>
        </p:txBody>
      </p:sp>
    </p:spTree>
    <p:extLst>
      <p:ext uri="{BB962C8B-B14F-4D97-AF65-F5344CB8AC3E}">
        <p14:creationId xmlns:p14="http://schemas.microsoft.com/office/powerpoint/2010/main" val="158382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PHP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5" y="1176350"/>
            <a:ext cx="8312150" cy="2533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/>
              <a:t>Originally,</a:t>
            </a:r>
            <a:r>
              <a:rPr spc="-150" dirty="0"/>
              <a:t> </a:t>
            </a:r>
            <a:r>
              <a:rPr spc="114" dirty="0"/>
              <a:t>PHP</a:t>
            </a:r>
            <a:r>
              <a:rPr spc="-150" dirty="0"/>
              <a:t> </a:t>
            </a:r>
            <a:r>
              <a:rPr dirty="0"/>
              <a:t>stood</a:t>
            </a:r>
            <a:r>
              <a:rPr spc="-150" dirty="0"/>
              <a:t> </a:t>
            </a:r>
            <a:r>
              <a:rPr dirty="0"/>
              <a:t>for</a:t>
            </a:r>
            <a:r>
              <a:rPr spc="-145" dirty="0"/>
              <a:t> </a:t>
            </a:r>
            <a:r>
              <a:rPr dirty="0"/>
              <a:t>Personal</a:t>
            </a:r>
            <a:r>
              <a:rPr spc="-150" dirty="0"/>
              <a:t> </a:t>
            </a:r>
            <a:r>
              <a:rPr dirty="0"/>
              <a:t>Home</a:t>
            </a:r>
            <a:r>
              <a:rPr spc="-150" dirty="0"/>
              <a:t> </a:t>
            </a:r>
            <a:r>
              <a:rPr spc="-50" dirty="0"/>
              <a:t>Page.</a:t>
            </a:r>
            <a:r>
              <a:rPr spc="-150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dirty="0"/>
              <a:t>acronym</a:t>
            </a:r>
            <a:r>
              <a:rPr spc="-150" dirty="0"/>
              <a:t> </a:t>
            </a:r>
            <a:r>
              <a:rPr dirty="0"/>
              <a:t>doesn't</a:t>
            </a:r>
            <a:r>
              <a:rPr spc="-150" dirty="0"/>
              <a:t> </a:t>
            </a:r>
            <a:r>
              <a:rPr spc="-30" dirty="0"/>
              <a:t>mean</a:t>
            </a:r>
            <a:r>
              <a:rPr spc="-145" dirty="0"/>
              <a:t> </a:t>
            </a:r>
            <a:r>
              <a:rPr spc="-20" dirty="0"/>
              <a:t>much </a:t>
            </a:r>
            <a:r>
              <a:rPr spc="-25" dirty="0"/>
              <a:t>anymore,</a:t>
            </a:r>
            <a:r>
              <a:rPr spc="-100" dirty="0"/>
              <a:t> </a:t>
            </a:r>
            <a:r>
              <a:rPr dirty="0"/>
              <a:t>but</a:t>
            </a:r>
            <a:r>
              <a:rPr spc="-95" dirty="0"/>
              <a:t> </a:t>
            </a:r>
            <a:r>
              <a:rPr dirty="0"/>
              <a:t>officially</a:t>
            </a:r>
            <a:r>
              <a:rPr spc="-95" dirty="0"/>
              <a:t> </a:t>
            </a:r>
            <a:r>
              <a:rPr spc="55" dirty="0"/>
              <a:t>it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called</a:t>
            </a:r>
            <a:r>
              <a:rPr spc="-95" dirty="0"/>
              <a:t> </a:t>
            </a:r>
            <a:r>
              <a:rPr dirty="0"/>
              <a:t>PHP:</a:t>
            </a:r>
            <a:r>
              <a:rPr spc="-95" dirty="0"/>
              <a:t> </a:t>
            </a:r>
            <a:r>
              <a:rPr dirty="0"/>
              <a:t>Hypertext</a:t>
            </a:r>
            <a:r>
              <a:rPr spc="-95" dirty="0"/>
              <a:t> </a:t>
            </a:r>
            <a:r>
              <a:rPr spc="-10" dirty="0"/>
              <a:t>Processor</a:t>
            </a:r>
          </a:p>
          <a:p>
            <a:pPr marL="12700" marR="322580">
              <a:lnSpc>
                <a:spcPct val="114599"/>
              </a:lnSpc>
              <a:spcBef>
                <a:spcPts val="1575"/>
              </a:spcBef>
            </a:pPr>
            <a:r>
              <a:rPr spc="114" dirty="0"/>
              <a:t>PHP</a:t>
            </a:r>
            <a:r>
              <a:rPr spc="-190" dirty="0"/>
              <a:t> </a:t>
            </a:r>
            <a:r>
              <a:rPr dirty="0"/>
              <a:t>is</a:t>
            </a:r>
            <a:r>
              <a:rPr spc="-190" dirty="0"/>
              <a:t> </a:t>
            </a:r>
            <a:r>
              <a:rPr spc="-45" dirty="0"/>
              <a:t>a</a:t>
            </a:r>
            <a:r>
              <a:rPr spc="-190" dirty="0"/>
              <a:t> </a:t>
            </a:r>
            <a:r>
              <a:rPr b="1" spc="-114" dirty="0">
                <a:latin typeface="Tahoma"/>
                <a:cs typeface="Tahoma"/>
              </a:rPr>
              <a:t>server-</a:t>
            </a:r>
            <a:r>
              <a:rPr b="1" spc="-110" dirty="0">
                <a:latin typeface="Tahoma"/>
                <a:cs typeface="Tahoma"/>
              </a:rPr>
              <a:t>side</a:t>
            </a:r>
            <a:r>
              <a:rPr b="1" spc="-145" dirty="0">
                <a:latin typeface="Tahoma"/>
                <a:cs typeface="Tahoma"/>
              </a:rPr>
              <a:t> </a:t>
            </a:r>
            <a:r>
              <a:rPr dirty="0"/>
              <a:t>processing</a:t>
            </a:r>
            <a:r>
              <a:rPr spc="-185" dirty="0"/>
              <a:t> </a:t>
            </a:r>
            <a:r>
              <a:rPr spc="-50" dirty="0"/>
              <a:t>language.</a:t>
            </a:r>
            <a:r>
              <a:rPr spc="-190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dirty="0"/>
              <a:t>server</a:t>
            </a:r>
            <a:r>
              <a:rPr spc="-190" dirty="0"/>
              <a:t> </a:t>
            </a:r>
            <a:r>
              <a:rPr dirty="0"/>
              <a:t>reads</a:t>
            </a:r>
            <a:r>
              <a:rPr spc="-190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114" dirty="0"/>
              <a:t>PHP</a:t>
            </a:r>
            <a:r>
              <a:rPr spc="-185" dirty="0"/>
              <a:t> </a:t>
            </a:r>
            <a:r>
              <a:rPr dirty="0"/>
              <a:t>code</a:t>
            </a:r>
            <a:r>
              <a:rPr spc="-190" dirty="0"/>
              <a:t> </a:t>
            </a:r>
            <a:r>
              <a:rPr spc="-25" dirty="0"/>
              <a:t>and </a:t>
            </a:r>
            <a:r>
              <a:rPr dirty="0"/>
              <a:t>outputs</a:t>
            </a:r>
            <a:r>
              <a:rPr spc="30" dirty="0"/>
              <a:t> </a:t>
            </a:r>
            <a:r>
              <a:rPr dirty="0"/>
              <a:t>browser-friendly</a:t>
            </a:r>
            <a:r>
              <a:rPr spc="35" dirty="0"/>
              <a:t> </a:t>
            </a:r>
            <a:r>
              <a:rPr spc="80" dirty="0"/>
              <a:t>HTML</a:t>
            </a: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pc="80" dirty="0"/>
              <a:t>With</a:t>
            </a:r>
            <a:r>
              <a:rPr spc="-185" dirty="0"/>
              <a:t> </a:t>
            </a:r>
            <a:r>
              <a:rPr spc="114" dirty="0"/>
              <a:t>PHP</a:t>
            </a:r>
            <a:r>
              <a:rPr spc="-185" dirty="0"/>
              <a:t> </a:t>
            </a:r>
            <a:r>
              <a:rPr dirty="0"/>
              <a:t>you</a:t>
            </a:r>
            <a:r>
              <a:rPr spc="-185" dirty="0"/>
              <a:t> </a:t>
            </a:r>
            <a:r>
              <a:rPr spc="-10" dirty="0"/>
              <a:t>can</a:t>
            </a:r>
            <a:r>
              <a:rPr spc="-180" dirty="0"/>
              <a:t> </a:t>
            </a:r>
            <a:r>
              <a:rPr b="1" spc="-105" dirty="0">
                <a:latin typeface="Tahoma"/>
                <a:cs typeface="Tahoma"/>
              </a:rPr>
              <a:t>store</a:t>
            </a:r>
            <a:r>
              <a:rPr b="1" spc="-150" dirty="0">
                <a:latin typeface="Tahoma"/>
                <a:cs typeface="Tahoma"/>
              </a:rPr>
              <a:t> </a:t>
            </a:r>
            <a:r>
              <a:rPr b="1" spc="-120" dirty="0">
                <a:latin typeface="Tahoma"/>
                <a:cs typeface="Tahoma"/>
              </a:rPr>
              <a:t>data</a:t>
            </a:r>
            <a:r>
              <a:rPr b="1" spc="-150" dirty="0">
                <a:latin typeface="Tahoma"/>
                <a:cs typeface="Tahoma"/>
              </a:rPr>
              <a:t> </a:t>
            </a:r>
            <a:r>
              <a:rPr b="1" spc="-125" dirty="0">
                <a:latin typeface="Tahoma"/>
                <a:cs typeface="Tahoma"/>
              </a:rPr>
              <a:t>on</a:t>
            </a:r>
            <a:r>
              <a:rPr b="1" spc="-145" dirty="0">
                <a:latin typeface="Tahoma"/>
                <a:cs typeface="Tahoma"/>
              </a:rPr>
              <a:t> </a:t>
            </a:r>
            <a:r>
              <a:rPr b="1" spc="-110" dirty="0">
                <a:latin typeface="Tahoma"/>
                <a:cs typeface="Tahoma"/>
              </a:rPr>
              <a:t>the</a:t>
            </a:r>
            <a:r>
              <a:rPr b="1" spc="-150" dirty="0">
                <a:latin typeface="Tahoma"/>
                <a:cs typeface="Tahoma"/>
              </a:rPr>
              <a:t> </a:t>
            </a:r>
            <a:r>
              <a:rPr b="1" spc="-105" dirty="0">
                <a:latin typeface="Tahoma"/>
                <a:cs typeface="Tahoma"/>
              </a:rPr>
              <a:t>server</a:t>
            </a:r>
            <a:r>
              <a:rPr b="1" spc="-130" dirty="0">
                <a:latin typeface="Tahoma"/>
                <a:cs typeface="Tahoma"/>
              </a:rPr>
              <a:t> </a:t>
            </a:r>
            <a:r>
              <a:rPr spc="-35" dirty="0"/>
              <a:t>as</a:t>
            </a:r>
            <a:r>
              <a:rPr spc="-185" dirty="0"/>
              <a:t> </a:t>
            </a:r>
            <a:r>
              <a:rPr b="1" spc="-90" dirty="0">
                <a:latin typeface="Tahoma"/>
                <a:cs typeface="Tahoma"/>
              </a:rPr>
              <a:t>files</a:t>
            </a:r>
            <a:r>
              <a:rPr b="1" spc="-145" dirty="0">
                <a:latin typeface="Tahoma"/>
                <a:cs typeface="Tahoma"/>
              </a:rPr>
              <a:t> </a:t>
            </a:r>
            <a:r>
              <a:rPr dirty="0"/>
              <a:t>or</a:t>
            </a:r>
            <a:r>
              <a:rPr spc="-180" dirty="0"/>
              <a:t> </a:t>
            </a:r>
            <a:r>
              <a:rPr dirty="0"/>
              <a:t>in</a:t>
            </a:r>
            <a:r>
              <a:rPr spc="-185" dirty="0"/>
              <a:t> </a:t>
            </a:r>
            <a:r>
              <a:rPr b="1" spc="-130" dirty="0">
                <a:latin typeface="Tahoma"/>
                <a:cs typeface="Tahoma"/>
              </a:rPr>
              <a:t>databases</a:t>
            </a:r>
            <a:r>
              <a:rPr b="1" spc="-145" dirty="0">
                <a:latin typeface="Tahoma"/>
                <a:cs typeface="Tahoma"/>
              </a:rPr>
              <a:t> </a:t>
            </a:r>
            <a:r>
              <a:rPr dirty="0"/>
              <a:t>like</a:t>
            </a:r>
            <a:r>
              <a:rPr spc="-185" dirty="0"/>
              <a:t> </a:t>
            </a:r>
            <a:r>
              <a:rPr spc="-10" dirty="0"/>
              <a:t>MySQL.</a:t>
            </a: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pc="114" dirty="0" smtClean="0"/>
              <a:t>PHP</a:t>
            </a:r>
            <a:r>
              <a:rPr spc="-160" dirty="0" smtClean="0"/>
              <a:t> </a:t>
            </a:r>
            <a:r>
              <a:rPr dirty="0"/>
              <a:t>lets</a:t>
            </a:r>
            <a:r>
              <a:rPr spc="-160" dirty="0"/>
              <a:t> </a:t>
            </a:r>
            <a:r>
              <a:rPr dirty="0"/>
              <a:t>you</a:t>
            </a:r>
            <a:r>
              <a:rPr spc="-155" dirty="0"/>
              <a:t> </a:t>
            </a:r>
            <a:r>
              <a:rPr dirty="0"/>
              <a:t>build</a:t>
            </a:r>
            <a:r>
              <a:rPr spc="-150" dirty="0"/>
              <a:t> </a:t>
            </a:r>
            <a:r>
              <a:rPr b="1" spc="-125" dirty="0">
                <a:latin typeface="Tahoma"/>
                <a:cs typeface="Tahoma"/>
              </a:rPr>
              <a:t>dynamic</a:t>
            </a:r>
            <a:r>
              <a:rPr b="1" spc="-120" dirty="0">
                <a:latin typeface="Tahoma"/>
                <a:cs typeface="Tahoma"/>
              </a:rPr>
              <a:t> </a:t>
            </a:r>
            <a:r>
              <a:rPr b="1" spc="-155" dirty="0">
                <a:latin typeface="Tahoma"/>
                <a:cs typeface="Tahoma"/>
              </a:rPr>
              <a:t>webpages</a:t>
            </a:r>
            <a:r>
              <a:rPr b="1" spc="-114" dirty="0">
                <a:latin typeface="Tahoma"/>
                <a:cs typeface="Tahoma"/>
              </a:rPr>
              <a:t> </a:t>
            </a:r>
            <a:r>
              <a:rPr dirty="0"/>
              <a:t>that</a:t>
            </a:r>
            <a:r>
              <a:rPr spc="-160" dirty="0"/>
              <a:t> </a:t>
            </a:r>
            <a:r>
              <a:rPr dirty="0"/>
              <a:t>respond</a:t>
            </a:r>
            <a:r>
              <a:rPr spc="-155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dirty="0"/>
              <a:t>input</a:t>
            </a:r>
            <a:r>
              <a:rPr spc="-155" dirty="0"/>
              <a:t> </a:t>
            </a:r>
            <a:r>
              <a:rPr dirty="0"/>
              <a:t>from</a:t>
            </a:r>
            <a:r>
              <a:rPr spc="-160" dirty="0"/>
              <a:t> </a:t>
            </a:r>
            <a:r>
              <a:rPr spc="-10" dirty="0"/>
              <a:t>users.</a:t>
            </a:r>
          </a:p>
        </p:txBody>
      </p:sp>
    </p:spTree>
    <p:extLst>
      <p:ext uri="{BB962C8B-B14F-4D97-AF65-F5344CB8AC3E}">
        <p14:creationId xmlns:p14="http://schemas.microsoft.com/office/powerpoint/2010/main" val="155680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How</a:t>
            </a:r>
            <a:r>
              <a:rPr spc="-50" dirty="0"/>
              <a:t> </a:t>
            </a:r>
            <a:r>
              <a:rPr spc="130" dirty="0"/>
              <a:t>to</a:t>
            </a:r>
            <a:r>
              <a:rPr spc="-45" dirty="0"/>
              <a:t> </a:t>
            </a:r>
            <a:r>
              <a:rPr spc="190" dirty="0"/>
              <a:t>use</a:t>
            </a:r>
            <a:r>
              <a:rPr spc="-45" dirty="0"/>
              <a:t> </a:t>
            </a:r>
            <a:r>
              <a:rPr spc="60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90484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order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any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server-side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tool,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options: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Find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host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server-side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tool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support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Install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own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PC,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install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tools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6777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72324530"/>
              </p:ext>
            </p:extLst>
          </p:nvPr>
        </p:nvGraphicFramePr>
        <p:xfrm>
          <a:off x="457632" y="205978"/>
          <a:ext cx="8228736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6881" y="1200006"/>
            <a:ext cx="8228160" cy="830997"/>
          </a:xfrm>
        </p:spPr>
        <p:txBody>
          <a:bodyPr/>
          <a:lstStyle/>
          <a:p>
            <a:pPr hangingPunct="1"/>
            <a:r>
              <a:rPr lang="en-US" b="1" smtClean="0"/>
              <a:t>A web server</a:t>
            </a:r>
          </a:p>
          <a:p>
            <a:pPr hangingPunct="1"/>
            <a:r>
              <a:rPr lang="en-US" b="1" smtClean="0"/>
              <a:t>PHP </a:t>
            </a:r>
          </a:p>
          <a:p>
            <a:pPr hangingPunct="1"/>
            <a:r>
              <a:rPr lang="en-US" b="1" smtClean="0"/>
              <a:t>MySql</a:t>
            </a:r>
          </a:p>
        </p:txBody>
      </p:sp>
      <p:sp>
        <p:nvSpPr>
          <p:cNvPr id="614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686FE230-5666-47DA-958A-E4E70B8C4DE4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4</a:t>
            </a:fld>
            <a:endParaRPr lang="en-US">
              <a:latin typeface="Times New Roman" pitchFamily="16" charset="0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3201121" y="1314498"/>
            <a:ext cx="838080" cy="120000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4057" tIns="37029" rIns="74057" bIns="37029" anchor="ctr"/>
          <a:lstStyle/>
          <a:p>
            <a:pPr algn="ctr" eaLnBrk="1" hangingPunct="1">
              <a:lnSpc>
                <a:spcPct val="96000"/>
              </a:lnSpc>
              <a:buClr>
                <a:srgbClr val="000000"/>
              </a:buClr>
              <a:defRPr/>
            </a:pPr>
            <a:endParaRPr lang="en-US">
              <a:sym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9360" y="1694698"/>
            <a:ext cx="2590560" cy="503232"/>
          </a:xfrm>
          <a:prstGeom prst="rect">
            <a:avLst/>
          </a:prstGeom>
          <a:noFill/>
        </p:spPr>
        <p:txBody>
          <a:bodyPr lIns="74057" tIns="37029" rIns="74057" bIns="37029">
            <a:spAutoFit/>
          </a:bodyPr>
          <a:lstStyle/>
          <a:p>
            <a:pPr eaLnBrk="1" hangingPunct="1">
              <a:lnSpc>
                <a:spcPct val="96000"/>
              </a:lnSpc>
              <a:buClr>
                <a:srgbClr val="000000"/>
              </a:buClr>
              <a:defRPr/>
            </a:pPr>
            <a:r>
              <a:rPr lang="en-US" sz="2900" b="1" dirty="0">
                <a:latin typeface="Calibri" pitchFamily="34" charset="0"/>
                <a:cs typeface="Calibri" pitchFamily="34" charset="0"/>
                <a:sym typeface="Arial" panose="020B0604020202020204" pitchFamily="34" charset="0"/>
              </a:rPr>
              <a:t>XAMP Server</a:t>
            </a:r>
          </a:p>
        </p:txBody>
      </p:sp>
    </p:spTree>
    <p:extLst>
      <p:ext uri="{BB962C8B-B14F-4D97-AF65-F5344CB8AC3E}">
        <p14:creationId xmlns:p14="http://schemas.microsoft.com/office/powerpoint/2010/main" val="160590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7680" y="4685532"/>
            <a:ext cx="2897280" cy="35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  <a:tab pos="2345146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endParaRPr lang="en-US" dirty="0" smtClean="0">
              <a:latin typeface="Times New Roman" pitchFamily="16" charset="0"/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734D1857-6912-455A-8D44-10F4C482F23F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5</a:t>
            </a:fld>
            <a:endParaRPr lang="en-US">
              <a:latin typeface="Times New Roman" pitchFamily="16" charset="0"/>
            </a:endParaRPr>
          </a:p>
        </p:txBody>
      </p:sp>
      <p:pic>
        <p:nvPicPr>
          <p:cNvPr id="71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86231"/>
            <a:ext cx="8838720" cy="4857270"/>
          </a:xfrm>
        </p:spPr>
      </p:pic>
    </p:spTree>
    <p:extLst>
      <p:ext uri="{BB962C8B-B14F-4D97-AF65-F5344CB8AC3E}">
        <p14:creationId xmlns:p14="http://schemas.microsoft.com/office/powerpoint/2010/main" val="170261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5828665" cy="492443"/>
          </a:xfrm>
        </p:spPr>
        <p:txBody>
          <a:bodyPr/>
          <a:lstStyle/>
          <a:p>
            <a:pPr hangingPunct="1"/>
            <a:r>
              <a:rPr lang="en-US" smtClean="0"/>
              <a:t>Xampp  issues</a:t>
            </a: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84725" y="1176350"/>
            <a:ext cx="8312150" cy="2492990"/>
          </a:xfrm>
        </p:spPr>
        <p:txBody>
          <a:bodyPr/>
          <a:lstStyle/>
          <a:p>
            <a:pPr hangingPunct="1"/>
            <a:r>
              <a:rPr lang="en-US" dirty="0" smtClean="0"/>
              <a:t> while installation </a:t>
            </a:r>
            <a:r>
              <a:rPr lang="en-US" dirty="0" err="1" smtClean="0"/>
              <a:t>Xamp</a:t>
            </a:r>
            <a:r>
              <a:rPr lang="en-US" dirty="0" smtClean="0"/>
              <a:t> shows UAC error before installation</a:t>
            </a:r>
          </a:p>
          <a:p>
            <a:pPr lvl="1" hangingPunct="1"/>
            <a:r>
              <a:rPr lang="en-US" dirty="0" smtClean="0"/>
              <a:t> go to </a:t>
            </a:r>
            <a:r>
              <a:rPr lang="en-US" dirty="0" err="1" smtClean="0"/>
              <a:t>ms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and go to tools and  launch change </a:t>
            </a:r>
            <a:r>
              <a:rPr lang="en-US" dirty="0" err="1" smtClean="0"/>
              <a:t>uac</a:t>
            </a:r>
            <a:r>
              <a:rPr lang="en-US" dirty="0" smtClean="0"/>
              <a:t> settings and set it to not notify </a:t>
            </a:r>
          </a:p>
          <a:p>
            <a:pPr lvl="1" hangingPunct="1"/>
            <a:r>
              <a:rPr lang="en-US" dirty="0" smtClean="0"/>
              <a:t> disable antivirus</a:t>
            </a:r>
          </a:p>
          <a:p>
            <a:pPr hangingPunct="1"/>
            <a:r>
              <a:rPr lang="en-US" dirty="0" smtClean="0"/>
              <a:t>After installation if </a:t>
            </a:r>
            <a:r>
              <a:rPr lang="en-US" dirty="0" err="1" smtClean="0"/>
              <a:t>mysql</a:t>
            </a:r>
            <a:r>
              <a:rPr lang="en-US" dirty="0" smtClean="0"/>
              <a:t> is not working change its port by following steps from following link</a:t>
            </a:r>
          </a:p>
          <a:p>
            <a:pPr lvl="1" hangingPunct="1"/>
            <a:r>
              <a:rPr lang="en-US" dirty="0" smtClean="0">
                <a:hlinkClick r:id="rId2"/>
              </a:rPr>
              <a:t>https://stackoverflow.com/questions/18022809/how-to-solve-error-mysql-shutdown-unexpectedly</a:t>
            </a:r>
            <a:endParaRPr lang="en-US" dirty="0" smtClean="0"/>
          </a:p>
          <a:p>
            <a:pPr lvl="1" hangingPunct="1"/>
            <a:endParaRPr lang="en-US" dirty="0" smtClean="0"/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6321" y="4685532"/>
            <a:ext cx="2128320" cy="35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057" tIns="37029" rIns="74057" bIns="37029"/>
          <a:lstStyle>
            <a:lvl1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1pPr>
            <a:lvl2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2pPr>
            <a:lvl3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3pPr>
            <a:lvl4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4pPr>
            <a:lvl5pPr>
              <a:lnSpc>
                <a:spcPct val="96000"/>
              </a:lnSpc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5pPr>
            <a:lvl6pPr marL="1244573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6pPr>
            <a:lvl7pPr marL="1614860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7pPr>
            <a:lvl8pPr marL="1985146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8pPr>
            <a:lvl9pPr marL="2355432" indent="-17485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586287" algn="l"/>
                <a:tab pos="1172573" algn="l"/>
                <a:tab pos="175886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  <a:sym typeface="Arial" charset="0"/>
              </a:defRPr>
            </a:lvl9pPr>
          </a:lstStyle>
          <a:p>
            <a:pPr>
              <a:lnSpc>
                <a:spcPct val="100000"/>
              </a:lnSpc>
            </a:pPr>
            <a:fld id="{6842D54E-9C4D-4047-BD41-E60BE6AB68A3}" type="slidenum">
              <a:rPr lang="en-US">
                <a:latin typeface="Times New Roman" pitchFamily="16" charset="0"/>
              </a:rPr>
              <a:pPr>
                <a:lnSpc>
                  <a:spcPct val="100000"/>
                </a:lnSpc>
              </a:pPr>
              <a:t>6</a:t>
            </a:fld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4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750">
              <a:latin typeface="Times New Roman"/>
              <a:cs typeface="Times New Roman"/>
            </a:endParaRPr>
          </a:p>
          <a:p>
            <a:pPr marL="384810" marR="376555" indent="-2540" algn="ctr">
              <a:lnSpc>
                <a:spcPts val="3829"/>
              </a:lnSpc>
            </a:pPr>
            <a:r>
              <a:rPr spc="-170" dirty="0">
                <a:solidFill>
                  <a:srgbClr val="FFFFFF"/>
                </a:solidFill>
                <a:latin typeface="Tahoma"/>
                <a:cs typeface="Tahoma"/>
              </a:rPr>
              <a:t>Form </a:t>
            </a:r>
            <a:r>
              <a:rPr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9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pc="-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35" dirty="0">
                <a:solidFill>
                  <a:srgbClr val="FFFFFF"/>
                </a:solidFill>
                <a:latin typeface="Tahoma"/>
                <a:cs typeface="Tahoma"/>
              </a:rPr>
              <a:t>in  </a:t>
            </a:r>
            <a:r>
              <a:rPr spc="-80" dirty="0">
                <a:solidFill>
                  <a:srgbClr val="FFFFFF"/>
                </a:solidFill>
                <a:latin typeface="Tahoma"/>
                <a:cs typeface="Tahoma"/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248273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790180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045">
              <a:lnSpc>
                <a:spcPct val="114599"/>
              </a:lnSpc>
              <a:spcBef>
                <a:spcPts val="100"/>
              </a:spcBef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Forms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special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components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allow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visitors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supply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various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previously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talked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creating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forms.</a:t>
            </a:r>
            <a:endParaRPr sz="1800">
              <a:latin typeface="Tahoma"/>
              <a:cs typeface="Tahoma"/>
            </a:endParaRPr>
          </a:p>
          <a:p>
            <a:pPr marL="12700" marR="860425">
              <a:lnSpc>
                <a:spcPct val="187500"/>
              </a:lnSpc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Forms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typically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include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input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gather information.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talked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client-side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validation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javascript.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time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going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talk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forms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side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1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name="myForm"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id="myForm"&gt;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835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index.html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7505">
              <a:lnSpc>
                <a:spcPct val="114599"/>
              </a:lnSpc>
              <a:spcBef>
                <a:spcPts val="100"/>
              </a:spcBef>
            </a:pPr>
            <a:r>
              <a:rPr spc="110" dirty="0"/>
              <a:t>HTML</a:t>
            </a:r>
            <a:r>
              <a:rPr spc="-215" dirty="0"/>
              <a:t> </a:t>
            </a:r>
            <a:r>
              <a:rPr spc="15" dirty="0"/>
              <a:t>forms</a:t>
            </a:r>
            <a:r>
              <a:rPr spc="-215" dirty="0"/>
              <a:t> </a:t>
            </a:r>
            <a:r>
              <a:rPr spc="-10" dirty="0"/>
              <a:t>can</a:t>
            </a:r>
            <a:r>
              <a:rPr spc="-215" dirty="0"/>
              <a:t> </a:t>
            </a:r>
            <a:r>
              <a:rPr spc="-5" dirty="0"/>
              <a:t>have</a:t>
            </a:r>
            <a:r>
              <a:rPr spc="-215" dirty="0"/>
              <a:t> </a:t>
            </a:r>
            <a:r>
              <a:rPr spc="-15" dirty="0"/>
              <a:t>many</a:t>
            </a:r>
            <a:r>
              <a:rPr spc="-215" dirty="0"/>
              <a:t> </a:t>
            </a:r>
            <a:r>
              <a:rPr spc="10" dirty="0"/>
              <a:t>attributes.</a:t>
            </a:r>
            <a:r>
              <a:rPr spc="-215" dirty="0"/>
              <a:t> </a:t>
            </a:r>
            <a:r>
              <a:rPr spc="25" dirty="0"/>
              <a:t>Two</a:t>
            </a:r>
            <a:r>
              <a:rPr spc="-215" dirty="0"/>
              <a:t> </a:t>
            </a:r>
            <a:r>
              <a:rPr spc="25" dirty="0"/>
              <a:t>of</a:t>
            </a:r>
            <a:r>
              <a:rPr spc="-210" dirty="0"/>
              <a:t> </a:t>
            </a:r>
            <a:r>
              <a:rPr spc="20" dirty="0"/>
              <a:t>the</a:t>
            </a:r>
            <a:r>
              <a:rPr spc="-215" dirty="0"/>
              <a:t> </a:t>
            </a:r>
            <a:r>
              <a:rPr spc="5" dirty="0"/>
              <a:t>most</a:t>
            </a:r>
            <a:r>
              <a:rPr spc="-215" dirty="0"/>
              <a:t> </a:t>
            </a:r>
            <a:r>
              <a:rPr spc="20" dirty="0"/>
              <a:t>important</a:t>
            </a:r>
            <a:r>
              <a:rPr spc="-215" dirty="0"/>
              <a:t> </a:t>
            </a:r>
            <a:r>
              <a:rPr spc="25" dirty="0"/>
              <a:t>attributes</a:t>
            </a:r>
            <a:r>
              <a:rPr spc="-215" dirty="0"/>
              <a:t> </a:t>
            </a:r>
            <a:r>
              <a:rPr spc="40" dirty="0"/>
              <a:t>for </a:t>
            </a:r>
            <a:r>
              <a:rPr spc="-545" dirty="0"/>
              <a:t> </a:t>
            </a:r>
            <a:r>
              <a:rPr spc="110" dirty="0"/>
              <a:t>HTML</a:t>
            </a:r>
            <a:r>
              <a:rPr spc="-220" dirty="0"/>
              <a:t> </a:t>
            </a:r>
            <a:r>
              <a:rPr spc="15" dirty="0"/>
              <a:t>forms</a:t>
            </a:r>
            <a:r>
              <a:rPr spc="-220" dirty="0"/>
              <a:t> </a:t>
            </a:r>
            <a:r>
              <a:rPr spc="25" dirty="0"/>
              <a:t>that</a:t>
            </a:r>
            <a:r>
              <a:rPr spc="-220" dirty="0"/>
              <a:t> </a:t>
            </a:r>
            <a:r>
              <a:rPr spc="15" dirty="0"/>
              <a:t>we</a:t>
            </a:r>
            <a:r>
              <a:rPr spc="-220" dirty="0"/>
              <a:t> </a:t>
            </a:r>
            <a:r>
              <a:rPr spc="10" dirty="0"/>
              <a:t>haven't</a:t>
            </a:r>
            <a:r>
              <a:rPr spc="-220" dirty="0"/>
              <a:t> </a:t>
            </a:r>
            <a:r>
              <a:rPr spc="20" dirty="0"/>
              <a:t>talked</a:t>
            </a:r>
            <a:r>
              <a:rPr spc="-220" dirty="0"/>
              <a:t> </a:t>
            </a:r>
            <a:r>
              <a:rPr spc="10" dirty="0"/>
              <a:t>about</a:t>
            </a:r>
            <a:r>
              <a:rPr spc="-220" dirty="0"/>
              <a:t> </a:t>
            </a:r>
            <a:r>
              <a:rPr dirty="0"/>
              <a:t>so</a:t>
            </a:r>
            <a:r>
              <a:rPr spc="-220" dirty="0"/>
              <a:t> </a:t>
            </a:r>
            <a:r>
              <a:rPr spc="25" dirty="0"/>
              <a:t>far</a:t>
            </a:r>
            <a:r>
              <a:rPr spc="-220" dirty="0"/>
              <a:t> </a:t>
            </a:r>
            <a:r>
              <a:rPr spc="-40" dirty="0"/>
              <a:t>are:</a:t>
            </a:r>
          </a:p>
          <a:p>
            <a:pPr marL="12700" marR="25400">
              <a:lnSpc>
                <a:spcPct val="114599"/>
              </a:lnSpc>
              <a:spcBef>
                <a:spcPts val="1575"/>
              </a:spcBef>
            </a:pPr>
            <a:r>
              <a:rPr b="1" spc="-110" dirty="0">
                <a:solidFill>
                  <a:srgbClr val="F45E61"/>
                </a:solidFill>
                <a:latin typeface="Tahoma"/>
                <a:cs typeface="Tahoma"/>
              </a:rPr>
              <a:t>action</a:t>
            </a:r>
            <a:r>
              <a:rPr spc="-110" dirty="0"/>
              <a:t>:</a:t>
            </a:r>
            <a:r>
              <a:rPr spc="-210" dirty="0"/>
              <a:t> </a:t>
            </a:r>
            <a:r>
              <a:rPr dirty="0"/>
              <a:t>The</a:t>
            </a:r>
            <a:r>
              <a:rPr spc="-210" dirty="0"/>
              <a:t> </a:t>
            </a:r>
            <a:r>
              <a:rPr spc="15" dirty="0"/>
              <a:t>action</a:t>
            </a:r>
            <a:r>
              <a:rPr spc="-210" dirty="0"/>
              <a:t> </a:t>
            </a:r>
            <a:r>
              <a:rPr spc="10" dirty="0"/>
              <a:t>parameter</a:t>
            </a:r>
            <a:r>
              <a:rPr spc="-210" dirty="0"/>
              <a:t> </a:t>
            </a:r>
            <a:r>
              <a:rPr spc="25" dirty="0"/>
              <a:t>tells</a:t>
            </a:r>
            <a:r>
              <a:rPr spc="-210" dirty="0"/>
              <a:t> </a:t>
            </a:r>
            <a:r>
              <a:rPr spc="20" dirty="0"/>
              <a:t>the</a:t>
            </a:r>
            <a:r>
              <a:rPr spc="-210" dirty="0"/>
              <a:t> </a:t>
            </a:r>
            <a:r>
              <a:rPr spc="25" dirty="0"/>
              <a:t>browser</a:t>
            </a:r>
            <a:r>
              <a:rPr spc="-210" dirty="0"/>
              <a:t> </a:t>
            </a:r>
            <a:r>
              <a:rPr spc="15" dirty="0"/>
              <a:t>what</a:t>
            </a:r>
            <a:r>
              <a:rPr spc="-210" dirty="0"/>
              <a:t> </a:t>
            </a:r>
            <a:r>
              <a:rPr spc="20" dirty="0"/>
              <a:t>script/site</a:t>
            </a:r>
            <a:r>
              <a:rPr spc="-210" dirty="0"/>
              <a:t> </a:t>
            </a:r>
            <a:r>
              <a:rPr dirty="0"/>
              <a:t>must</a:t>
            </a:r>
            <a:r>
              <a:rPr spc="-210" dirty="0"/>
              <a:t> </a:t>
            </a:r>
            <a:r>
              <a:rPr dirty="0"/>
              <a:t>be</a:t>
            </a:r>
            <a:r>
              <a:rPr spc="-210" dirty="0"/>
              <a:t> </a:t>
            </a:r>
            <a:r>
              <a:rPr spc="10" dirty="0"/>
              <a:t>called</a:t>
            </a:r>
            <a:r>
              <a:rPr spc="-210" dirty="0"/>
              <a:t> </a:t>
            </a:r>
            <a:r>
              <a:rPr spc="5" dirty="0"/>
              <a:t>when </a:t>
            </a:r>
            <a:r>
              <a:rPr spc="-545" dirty="0"/>
              <a:t> </a:t>
            </a:r>
            <a:r>
              <a:rPr spc="20" dirty="0"/>
              <a:t>the</a:t>
            </a:r>
            <a:r>
              <a:rPr spc="-225" dirty="0"/>
              <a:t> </a:t>
            </a:r>
            <a:r>
              <a:rPr spc="35" dirty="0"/>
              <a:t>visitor</a:t>
            </a:r>
            <a:r>
              <a:rPr spc="-220" dirty="0"/>
              <a:t> </a:t>
            </a:r>
            <a:r>
              <a:rPr dirty="0"/>
              <a:t>presses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spc="10" dirty="0"/>
              <a:t>submit</a:t>
            </a:r>
            <a:r>
              <a:rPr spc="-220" dirty="0"/>
              <a:t> </a:t>
            </a:r>
            <a:r>
              <a:rPr dirty="0"/>
              <a:t>button.</a:t>
            </a:r>
          </a:p>
          <a:p>
            <a:pPr marL="12700" marR="5080">
              <a:lnSpc>
                <a:spcPct val="114599"/>
              </a:lnSpc>
              <a:spcBef>
                <a:spcPts val="1570"/>
              </a:spcBef>
            </a:pPr>
            <a:r>
              <a:rPr b="1" spc="-125" dirty="0">
                <a:solidFill>
                  <a:srgbClr val="F45E61"/>
                </a:solidFill>
                <a:latin typeface="Tahoma"/>
                <a:cs typeface="Tahoma"/>
              </a:rPr>
              <a:t>method</a:t>
            </a:r>
            <a:r>
              <a:rPr spc="-125" dirty="0"/>
              <a:t>:</a:t>
            </a:r>
            <a:r>
              <a:rPr spc="-220" dirty="0"/>
              <a:t> </a:t>
            </a:r>
            <a:r>
              <a:rPr dirty="0"/>
              <a:t>The</a:t>
            </a:r>
            <a:r>
              <a:rPr spc="-215" dirty="0"/>
              <a:t> </a:t>
            </a:r>
            <a:r>
              <a:rPr spc="10" dirty="0"/>
              <a:t>method</a:t>
            </a:r>
            <a:r>
              <a:rPr spc="-220" dirty="0"/>
              <a:t> </a:t>
            </a:r>
            <a:r>
              <a:rPr spc="10" dirty="0"/>
              <a:t>parameter</a:t>
            </a:r>
            <a:r>
              <a:rPr spc="-215" dirty="0"/>
              <a:t> </a:t>
            </a:r>
            <a:r>
              <a:rPr spc="25" dirty="0"/>
              <a:t>tells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15" dirty="0"/>
              <a:t> </a:t>
            </a:r>
            <a:r>
              <a:rPr spc="25" dirty="0"/>
              <a:t>browser</a:t>
            </a:r>
            <a:r>
              <a:rPr spc="-220" dirty="0"/>
              <a:t> </a:t>
            </a:r>
            <a:r>
              <a:rPr spc="15" dirty="0"/>
              <a:t>by</a:t>
            </a:r>
            <a:r>
              <a:rPr spc="-215" dirty="0"/>
              <a:t> </a:t>
            </a:r>
            <a:r>
              <a:rPr spc="15" dirty="0"/>
              <a:t>which</a:t>
            </a:r>
            <a:r>
              <a:rPr spc="-220" dirty="0"/>
              <a:t> </a:t>
            </a:r>
            <a:r>
              <a:rPr spc="10" dirty="0"/>
              <a:t>method</a:t>
            </a:r>
            <a:r>
              <a:rPr spc="-215" dirty="0"/>
              <a:t> </a:t>
            </a:r>
            <a:r>
              <a:rPr spc="45" dirty="0"/>
              <a:t>to</a:t>
            </a:r>
            <a:r>
              <a:rPr spc="-220" dirty="0"/>
              <a:t> </a:t>
            </a:r>
            <a:r>
              <a:rPr spc="-5" dirty="0"/>
              <a:t>send</a:t>
            </a:r>
            <a:r>
              <a:rPr spc="-215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spc="10" dirty="0"/>
              <a:t>user </a:t>
            </a:r>
            <a:r>
              <a:rPr spc="-545" dirty="0"/>
              <a:t> </a:t>
            </a:r>
            <a:r>
              <a:rPr spc="15" dirty="0"/>
              <a:t>submitted</a:t>
            </a:r>
            <a:r>
              <a:rPr spc="-220" dirty="0"/>
              <a:t> </a:t>
            </a:r>
            <a:r>
              <a:rPr dirty="0"/>
              <a:t>data</a:t>
            </a:r>
            <a:r>
              <a:rPr spc="-220" dirty="0"/>
              <a:t> </a:t>
            </a:r>
            <a:r>
              <a:rPr spc="45" dirty="0"/>
              <a:t>to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dirty="0"/>
              <a:t>web-server.</a:t>
            </a:r>
            <a:r>
              <a:rPr spc="-220" dirty="0"/>
              <a:t> </a:t>
            </a:r>
            <a:r>
              <a:rPr dirty="0"/>
              <a:t>The</a:t>
            </a:r>
            <a:r>
              <a:rPr spc="-220" dirty="0"/>
              <a:t> </a:t>
            </a:r>
            <a:r>
              <a:rPr spc="10" dirty="0"/>
              <a:t>parameter</a:t>
            </a:r>
            <a:r>
              <a:rPr spc="-220" dirty="0"/>
              <a:t> </a:t>
            </a:r>
            <a:r>
              <a:rPr dirty="0"/>
              <a:t>values</a:t>
            </a:r>
            <a:r>
              <a:rPr spc="-220" dirty="0"/>
              <a:t> </a:t>
            </a:r>
            <a:r>
              <a:rPr spc="10" dirty="0"/>
              <a:t>are</a:t>
            </a:r>
            <a:r>
              <a:rPr spc="-215" dirty="0"/>
              <a:t> </a:t>
            </a:r>
            <a:r>
              <a:rPr spc="30" dirty="0"/>
              <a:t>either</a:t>
            </a:r>
            <a:r>
              <a:rPr spc="-215" dirty="0"/>
              <a:t> </a:t>
            </a:r>
            <a:r>
              <a:rPr spc="55" dirty="0">
                <a:solidFill>
                  <a:srgbClr val="F45E61"/>
                </a:solidFill>
              </a:rPr>
              <a:t>POST</a:t>
            </a:r>
            <a:r>
              <a:rPr spc="-220" dirty="0">
                <a:solidFill>
                  <a:srgbClr val="F45E61"/>
                </a:solidFill>
              </a:rPr>
              <a:t> </a:t>
            </a:r>
            <a:r>
              <a:rPr spc="50" dirty="0"/>
              <a:t>or</a:t>
            </a:r>
            <a:r>
              <a:rPr spc="-220" dirty="0"/>
              <a:t> </a:t>
            </a:r>
            <a:r>
              <a:rPr dirty="0">
                <a:solidFill>
                  <a:srgbClr val="F45E61"/>
                </a:solidFill>
              </a:rPr>
              <a:t>GET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>
          <a:xfrm>
            <a:off x="649288" y="1465264"/>
            <a:ext cx="8323262" cy="2782887"/>
          </a:xfrm>
        </p:spPr>
        <p:txBody>
          <a:bodyPr/>
          <a:lstStyle/>
          <a:p>
            <a:pPr marL="0" indent="0">
              <a:spcBef>
                <a:spcPts val="1294"/>
              </a:spcBef>
              <a:buFont typeface="Gill Sans" charset="0"/>
              <a:buNone/>
              <a:defRPr/>
            </a:pPr>
            <a:r>
              <a:rPr lang="en-US" sz="2138" dirty="0">
                <a:sym typeface="Gill Sans" charset="0"/>
              </a:rPr>
              <a:t>Two ways the browser can send parameters to the web server</a:t>
            </a:r>
          </a:p>
          <a:p>
            <a:pPr marL="735012" lvl="2" indent="-342900">
              <a:spcBef>
                <a:spcPts val="1294"/>
              </a:spcBef>
              <a:buFont typeface="Gill Sans" charset="0"/>
              <a:buChar char="•"/>
              <a:defRPr/>
            </a:pPr>
            <a:r>
              <a:rPr lang="en-US" sz="2138" dirty="0">
                <a:solidFill>
                  <a:srgbClr val="00FF00"/>
                </a:solidFill>
                <a:sym typeface="Gill Sans" charset="0"/>
              </a:rPr>
              <a:t>GET</a:t>
            </a:r>
            <a:r>
              <a:rPr lang="en-US" sz="2138" dirty="0">
                <a:sym typeface="Gill Sans" charset="0"/>
              </a:rPr>
              <a:t> - Parameters are placed on the URL which is retrieved.</a:t>
            </a:r>
          </a:p>
          <a:p>
            <a:pPr marL="735012" lvl="2" indent="-342900">
              <a:spcBef>
                <a:spcPts val="1294"/>
              </a:spcBef>
              <a:buFont typeface="Gill Sans" charset="0"/>
              <a:buChar char="•"/>
              <a:defRPr/>
            </a:pPr>
            <a:r>
              <a:rPr lang="en-US" sz="2138" dirty="0">
                <a:solidFill>
                  <a:srgbClr val="00FF00"/>
                </a:solidFill>
                <a:sym typeface="Gill Sans" charset="0"/>
              </a:rPr>
              <a:t>POST</a:t>
            </a:r>
            <a:r>
              <a:rPr lang="en-US" sz="2138" dirty="0">
                <a:sym typeface="Gill Sans" charset="0"/>
              </a:rPr>
              <a:t> - The URL is retrieved and parameters are appended to the request in the HTTP connection.</a:t>
            </a:r>
          </a:p>
        </p:txBody>
      </p:sp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849315" y="361951"/>
            <a:ext cx="7445375" cy="1058863"/>
          </a:xfrm>
        </p:spPr>
        <p:txBody>
          <a:bodyPr/>
          <a:lstStyle/>
          <a:p>
            <a:r>
              <a:rPr lang="en-US" altLang="en-US" sz="4200">
                <a:solidFill>
                  <a:srgbClr val="FFCC66"/>
                </a:solidFill>
              </a:rPr>
              <a:t>Forms GET vs. POST</a:t>
            </a:r>
          </a:p>
        </p:txBody>
      </p:sp>
    </p:spTree>
    <p:extLst>
      <p:ext uri="{BB962C8B-B14F-4D97-AF65-F5344CB8AC3E}">
        <p14:creationId xmlns:p14="http://schemas.microsoft.com/office/powerpoint/2010/main" val="300420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4754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906780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042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5778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" y="133350"/>
            <a:ext cx="8836152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11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3970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1950"/>
            <a:ext cx="83820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57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802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762"/>
            <a:ext cx="8991600" cy="432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06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725" marR="1491615">
              <a:lnSpc>
                <a:spcPts val="1650"/>
              </a:lnSpc>
              <a:spcBef>
                <a:spcPts val="69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 name="myForm" id="myForm"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action="process.php"</a:t>
            </a:r>
            <a:r>
              <a:rPr sz="1400" spc="-8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method="GET"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585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 dirty="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835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index.html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550" y="4081588"/>
            <a:ext cx="351662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 MT"/>
                <a:cs typeface="Arial MT"/>
              </a:rPr>
              <a:t>We are telling the browser to </a:t>
            </a:r>
            <a:r>
              <a:rPr sz="1400" dirty="0">
                <a:latin typeface="Arial MT"/>
                <a:cs typeface="Arial MT"/>
              </a:rPr>
              <a:t>send </a:t>
            </a:r>
            <a:r>
              <a:rPr sz="1400" spc="-5" dirty="0">
                <a:latin typeface="Arial MT"/>
                <a:cs typeface="Arial MT"/>
              </a:rPr>
              <a:t>form data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 "process.php" file by using "get" </a:t>
            </a:r>
            <a:r>
              <a:rPr sz="1400" dirty="0">
                <a:latin typeface="Arial MT"/>
                <a:cs typeface="Arial MT"/>
              </a:rPr>
              <a:t>method,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upon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form </a:t>
            </a:r>
            <a:r>
              <a:rPr sz="1400" dirty="0">
                <a:latin typeface="Arial MT"/>
                <a:cs typeface="Arial MT"/>
              </a:rPr>
              <a:t>submission.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74460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Accessing</a:t>
            </a:r>
            <a:r>
              <a:rPr spc="-60" dirty="0"/>
              <a:t> </a:t>
            </a:r>
            <a:r>
              <a:rPr spc="110" dirty="0"/>
              <a:t>Form</a:t>
            </a:r>
            <a:r>
              <a:rPr spc="-60" dirty="0"/>
              <a:t> </a:t>
            </a:r>
            <a:r>
              <a:rPr spc="85" dirty="0"/>
              <a:t>Data</a:t>
            </a:r>
            <a:r>
              <a:rPr spc="-55" dirty="0"/>
              <a:t> </a:t>
            </a:r>
            <a:r>
              <a:rPr spc="150" dirty="0"/>
              <a:t>in</a:t>
            </a:r>
            <a:r>
              <a:rPr spc="-60" dirty="0"/>
              <a:t> </a:t>
            </a:r>
            <a:r>
              <a:rPr spc="85" dirty="0"/>
              <a:t>PHP</a:t>
            </a:r>
            <a:r>
              <a:rPr spc="-60" dirty="0"/>
              <a:t> </a:t>
            </a:r>
            <a:r>
              <a:rPr spc="170" dirty="0"/>
              <a:t>using</a:t>
            </a:r>
            <a:r>
              <a:rPr spc="-55" dirty="0"/>
              <a:t> </a:t>
            </a:r>
            <a:r>
              <a:rPr spc="-80" dirty="0"/>
              <a:t>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390088"/>
            <a:ext cx="1946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$_GET['firstname']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37763"/>
            <a:ext cx="183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$_GET['lastname']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2338" y="3393494"/>
            <a:ext cx="1355725" cy="247650"/>
            <a:chOff x="2672338" y="3393494"/>
            <a:chExt cx="1355725" cy="247650"/>
          </a:xfrm>
        </p:grpSpPr>
        <p:sp>
          <p:nvSpPr>
            <p:cNvPr id="6" name="object 6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117298" y="238109"/>
                  </a:moveTo>
                  <a:lnTo>
                    <a:pt x="0" y="133724"/>
                  </a:ln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0" y="133724"/>
                  </a:move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lnTo>
                    <a:pt x="0" y="1337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4725" y="1176350"/>
            <a:ext cx="8273415" cy="230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enters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submit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GET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used,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saved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$_GET</a:t>
            </a:r>
            <a:endParaRPr sz="1800">
              <a:latin typeface="Tahoma"/>
              <a:cs typeface="Tahoma"/>
            </a:endParaRPr>
          </a:p>
          <a:p>
            <a:pPr marL="12700" marR="113030">
              <a:lnSpc>
                <a:spcPct val="114599"/>
              </a:lnSpc>
              <a:spcBef>
                <a:spcPts val="1575"/>
              </a:spcBef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$_GET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associative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array,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names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keys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stored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endParaRPr sz="1800">
              <a:latin typeface="Tahoma"/>
              <a:cs typeface="Tahoma"/>
            </a:endParaRPr>
          </a:p>
          <a:p>
            <a:pPr marL="3963670">
              <a:lnSpc>
                <a:spcPct val="100000"/>
              </a:lnSpc>
              <a:spcBef>
                <a:spcPts val="715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5750" y="3448963"/>
            <a:ext cx="2299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firstname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11500" y="4031206"/>
            <a:ext cx="1337310" cy="425450"/>
            <a:chOff x="2611500" y="4031206"/>
            <a:chExt cx="1337310" cy="425450"/>
          </a:xfrm>
        </p:grpSpPr>
        <p:sp>
          <p:nvSpPr>
            <p:cNvPr id="11" name="object 11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1304774" y="415301"/>
                  </a:move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0" y="85901"/>
                  </a:move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82800" y="4053088"/>
            <a:ext cx="26714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 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lastname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05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Using</a:t>
            </a:r>
            <a:r>
              <a:rPr spc="-75" dirty="0"/>
              <a:t> </a:t>
            </a:r>
            <a:r>
              <a:rPr spc="110" dirty="0"/>
              <a:t>Form</a:t>
            </a:r>
            <a:r>
              <a:rPr spc="-70" dirty="0"/>
              <a:t> </a:t>
            </a:r>
            <a:r>
              <a:rPr spc="85" dirty="0"/>
              <a:t>Data</a:t>
            </a:r>
            <a:r>
              <a:rPr spc="-70" dirty="0"/>
              <a:t> </a:t>
            </a:r>
            <a:r>
              <a:rPr spc="150" dirty="0"/>
              <a:t>in</a:t>
            </a:r>
            <a:r>
              <a:rPr spc="-70" dirty="0"/>
              <a:t> </a:t>
            </a:r>
            <a:r>
              <a:rPr spc="85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8512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other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example,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write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welcomes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site.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400" spc="-5" dirty="0">
                <a:latin typeface="Arial MT"/>
                <a:cs typeface="Arial MT"/>
              </a:rPr>
              <a:t>process.php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699" y="2809700"/>
            <a:ext cx="7447280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&lt;?php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welcome($fname,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$lname)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400" dirty="0">
              <a:latin typeface="Courier New"/>
              <a:cs typeface="Courier New"/>
            </a:endParaRPr>
          </a:p>
          <a:p>
            <a:pPr marL="61912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'&lt;h1&gt;Welcome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$fname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'!&lt;/h1&gt;';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  <a:spcBef>
                <a:spcPts val="1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welcome($_GET['firstname'],</a:t>
            </a:r>
            <a:r>
              <a:rPr sz="1400" spc="-7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$_GET['lastname'])</a:t>
            </a:r>
            <a:endParaRPr sz="1400" dirty="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?&gt;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4994" name="Picture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146"/>
            <a:ext cx="8991600" cy="372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460750"/>
            <a:ext cx="428625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63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dirty="0" smtClean="0"/>
              <a:t>Example - $_GET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4725" y="1176350"/>
            <a:ext cx="8374549" cy="2049792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&lt;html&gt;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&lt;body&gt;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&lt;form action="</a:t>
            </a:r>
            <a:r>
              <a:rPr lang="en-IE" altLang="en-US" sz="1600" dirty="0" err="1" smtClean="0">
                <a:latin typeface="+mj-lt"/>
              </a:rPr>
              <a:t>newpage.php</a:t>
            </a:r>
            <a:r>
              <a:rPr lang="en-IE" altLang="en-US" sz="1600" dirty="0" smtClean="0">
                <a:latin typeface="+mj-lt"/>
              </a:rPr>
              <a:t>" method="post"&gt;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Name: &lt;input type="text" name="name"&gt;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Age: &lt;input type="text" name="age"&gt;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&lt;input type="submit"&gt;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&lt;/form&gt;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&lt;/body&gt;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&lt;/html&gt;</a:t>
            </a:r>
          </a:p>
          <a:p>
            <a:endParaRPr lang="en-IE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317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dirty="0" smtClean="0"/>
              <a:t>Example - $_GET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&lt;body&gt;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Welcome &lt;?php echo $_GET["name"];?&gt;.&lt;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br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/&gt;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 are &lt;?php echo $_GET["age"];?&gt; years old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82047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 err="1" smtClean="0"/>
              <a:t>Isset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138499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isset</a:t>
            </a:r>
            <a:r>
              <a:rPr lang="en-US" dirty="0"/>
              <a:t>() function checks whether a variable is set, which means that it has to be declared and is not </a:t>
            </a:r>
            <a:r>
              <a:rPr lang="en-US" dirty="0" smtClean="0"/>
              <a:t>null.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function returns true if the variable exists and is not null, otherwise it returns false.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71750"/>
            <a:ext cx="7078663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57600" y="2724150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USE $_GET HERE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70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110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method="POST"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1995" cy="14827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built-in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F45E61"/>
                </a:solidFill>
                <a:latin typeface="Tahoma"/>
                <a:cs typeface="Tahoma"/>
              </a:rPr>
              <a:t>$_POST</a:t>
            </a:r>
            <a:r>
              <a:rPr sz="1800" b="1" spc="-17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collect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140" dirty="0">
                <a:solidFill>
                  <a:srgbClr val="F45E61"/>
                </a:solidFill>
                <a:latin typeface="Tahoma"/>
                <a:cs typeface="Tahoma"/>
              </a:rPr>
              <a:t>method="post"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POST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invisible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others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no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limits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amount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send.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7826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"/>
            <a:ext cx="9144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76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51657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Form</a:t>
            </a:r>
            <a:r>
              <a:rPr spc="-70" dirty="0"/>
              <a:t> </a:t>
            </a:r>
            <a:r>
              <a:rPr spc="135" dirty="0"/>
              <a:t>with</a:t>
            </a:r>
            <a:r>
              <a:rPr spc="-65" dirty="0"/>
              <a:t> </a:t>
            </a:r>
            <a:r>
              <a:rPr spc="15" dirty="0"/>
              <a:t>method="POST"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725" marR="1278890">
              <a:lnSpc>
                <a:spcPts val="1650"/>
              </a:lnSpc>
              <a:spcBef>
                <a:spcPts val="69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 name="myForm" id="myForm"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action="process2.php"</a:t>
            </a:r>
            <a:r>
              <a:rPr sz="1400" spc="-8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method="POST"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585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9347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index3.html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550" y="4081588"/>
            <a:ext cx="351662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 MT"/>
                <a:cs typeface="Arial MT"/>
              </a:rPr>
              <a:t>We are telling the browser to </a:t>
            </a:r>
            <a:r>
              <a:rPr sz="1400" dirty="0">
                <a:latin typeface="Arial MT"/>
                <a:cs typeface="Arial MT"/>
              </a:rPr>
              <a:t>send </a:t>
            </a:r>
            <a:r>
              <a:rPr sz="1400" spc="-5" dirty="0">
                <a:latin typeface="Arial MT"/>
                <a:cs typeface="Arial MT"/>
              </a:rPr>
              <a:t>form data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 "process.php" file by using "post" </a:t>
            </a:r>
            <a:r>
              <a:rPr sz="1400" dirty="0">
                <a:latin typeface="Arial MT"/>
                <a:cs typeface="Arial MT"/>
              </a:rPr>
              <a:t>method,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upon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form </a:t>
            </a:r>
            <a:r>
              <a:rPr sz="1400" dirty="0">
                <a:latin typeface="Arial MT"/>
                <a:cs typeface="Arial MT"/>
              </a:rPr>
              <a:t>submission.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770953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Accessing</a:t>
            </a:r>
            <a:r>
              <a:rPr spc="-60" dirty="0"/>
              <a:t> </a:t>
            </a:r>
            <a:r>
              <a:rPr spc="110" dirty="0"/>
              <a:t>Form</a:t>
            </a:r>
            <a:r>
              <a:rPr spc="-55" dirty="0"/>
              <a:t> </a:t>
            </a:r>
            <a:r>
              <a:rPr spc="85" dirty="0"/>
              <a:t>Data</a:t>
            </a:r>
            <a:r>
              <a:rPr spc="-55" dirty="0"/>
              <a:t> </a:t>
            </a:r>
            <a:r>
              <a:rPr spc="150" dirty="0"/>
              <a:t>in</a:t>
            </a:r>
            <a:r>
              <a:rPr spc="-55" dirty="0"/>
              <a:t> </a:t>
            </a:r>
            <a:r>
              <a:rPr spc="85" dirty="0"/>
              <a:t>PHP</a:t>
            </a:r>
            <a:r>
              <a:rPr spc="-55" dirty="0"/>
              <a:t> </a:t>
            </a:r>
            <a:r>
              <a:rPr spc="170" dirty="0"/>
              <a:t>using</a:t>
            </a:r>
            <a:r>
              <a:rPr spc="-55" dirty="0"/>
              <a:t> </a:t>
            </a:r>
            <a:r>
              <a:rPr spc="55" dirty="0"/>
              <a:t>POST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390088"/>
            <a:ext cx="20529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$_POST['firstname']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37763"/>
            <a:ext cx="1945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$_POST['lastname']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2338" y="3393494"/>
            <a:ext cx="1355725" cy="247650"/>
            <a:chOff x="2672338" y="3393494"/>
            <a:chExt cx="1355725" cy="247650"/>
          </a:xfrm>
        </p:grpSpPr>
        <p:sp>
          <p:nvSpPr>
            <p:cNvPr id="6" name="object 6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117298" y="238109"/>
                  </a:moveTo>
                  <a:lnTo>
                    <a:pt x="0" y="133724"/>
                  </a:ln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0" y="133724"/>
                  </a:move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lnTo>
                    <a:pt x="0" y="1337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4725" y="1176350"/>
            <a:ext cx="8308340" cy="230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>
              <a:lnSpc>
                <a:spcPct val="114599"/>
              </a:lnSpc>
              <a:spcBef>
                <a:spcPts val="10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enters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submit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POST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used,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saved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$_POST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$_POST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associative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array,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names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keys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stored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endParaRPr sz="1800">
              <a:latin typeface="Tahoma"/>
              <a:cs typeface="Tahoma"/>
            </a:endParaRPr>
          </a:p>
          <a:p>
            <a:pPr marL="3963670">
              <a:lnSpc>
                <a:spcPct val="100000"/>
              </a:lnSpc>
              <a:spcBef>
                <a:spcPts val="715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5750" y="3448963"/>
            <a:ext cx="2299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firstname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11500" y="4031206"/>
            <a:ext cx="1337310" cy="425450"/>
            <a:chOff x="2611500" y="4031206"/>
            <a:chExt cx="1337310" cy="425450"/>
          </a:xfrm>
        </p:grpSpPr>
        <p:sp>
          <p:nvSpPr>
            <p:cNvPr id="11" name="object 11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1304774" y="415301"/>
                  </a:move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0" y="85901"/>
                  </a:move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82800" y="4053088"/>
            <a:ext cx="26714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 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lastname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7042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36736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170237"/>
            <a:ext cx="3898900" cy="138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086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05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Using</a:t>
            </a:r>
            <a:r>
              <a:rPr spc="-75" dirty="0"/>
              <a:t> </a:t>
            </a:r>
            <a:r>
              <a:rPr spc="110" dirty="0"/>
              <a:t>Form</a:t>
            </a:r>
            <a:r>
              <a:rPr spc="-70" dirty="0"/>
              <a:t> </a:t>
            </a:r>
            <a:r>
              <a:rPr spc="85" dirty="0"/>
              <a:t>Data</a:t>
            </a:r>
            <a:r>
              <a:rPr spc="-70" dirty="0"/>
              <a:t> </a:t>
            </a:r>
            <a:r>
              <a:rPr spc="150" dirty="0"/>
              <a:t>in</a:t>
            </a:r>
            <a:r>
              <a:rPr spc="-70" dirty="0"/>
              <a:t> </a:t>
            </a:r>
            <a:r>
              <a:rPr spc="85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9340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"POST"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any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example,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write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welcomes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site.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400" spc="-5" dirty="0">
                <a:latin typeface="Arial MT"/>
                <a:cs typeface="Arial MT"/>
              </a:rPr>
              <a:t>process2.php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699" y="2809700"/>
            <a:ext cx="7447280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welcome($fname,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$lname)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1912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'&lt;h1&gt;Welcome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$fname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'!&lt;/h1&gt;';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  <a:spcBef>
                <a:spcPts val="1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welcome($_POST['firstname'],</a:t>
            </a:r>
            <a:r>
              <a:rPr sz="1400" spc="-7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$_POST['lastname'])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smtClean="0"/>
              <a:t>Example - $_POST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&lt;html&gt;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&lt;head&gt;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&lt;title&gt;Grab form values&lt;/title&gt;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&lt;/head&gt;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Welcome &lt;?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php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echo $_POST["name"];?&gt;.&lt;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br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 are &lt;?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php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echo $_POST["age"];?&gt; years old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6316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 err="1" smtClean="0"/>
              <a:t>Isset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138499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isset</a:t>
            </a:r>
            <a:r>
              <a:rPr lang="en-US" dirty="0"/>
              <a:t>() function checks whether a variable is set, which means that it has to be declared and is not </a:t>
            </a:r>
            <a:r>
              <a:rPr lang="en-US" dirty="0" smtClean="0"/>
              <a:t>null.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function returns true if the variable exists and is not null, otherwise it returns false.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71750"/>
            <a:ext cx="7078663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321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12986</TotalTime>
  <Words>1406</Words>
  <Application>Microsoft Office PowerPoint</Application>
  <PresentationFormat>On-screen Show (16:9)</PresentationFormat>
  <Paragraphs>164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  Introduction to PHP</vt:lpstr>
      <vt:lpstr>PHP</vt:lpstr>
      <vt:lpstr>How to use PHP</vt:lpstr>
      <vt:lpstr>PowerPoint Presentation</vt:lpstr>
      <vt:lpstr>PowerPoint Presentation</vt:lpstr>
      <vt:lpstr>Xampp  issues</vt:lpstr>
      <vt:lpstr> Form  Processing in  PHP</vt:lpstr>
      <vt:lpstr>Forms</vt:lpstr>
      <vt:lpstr>Forms</vt:lpstr>
      <vt:lpstr>Forms</vt:lpstr>
      <vt:lpstr>Forms GET vs. POST</vt:lpstr>
      <vt:lpstr>PowerPoint Presentation</vt:lpstr>
      <vt:lpstr>PowerPoint Presentation</vt:lpstr>
      <vt:lpstr>PowerPoint Presentation</vt:lpstr>
      <vt:lpstr>PowerPoint Presentation</vt:lpstr>
      <vt:lpstr>Forms</vt:lpstr>
      <vt:lpstr>Accessing Form Data in PHP using GET</vt:lpstr>
      <vt:lpstr>Using Form Data in PHP</vt:lpstr>
      <vt:lpstr>PowerPoint Presentation</vt:lpstr>
      <vt:lpstr>Example - $_GET</vt:lpstr>
      <vt:lpstr>Example - $_GET continued</vt:lpstr>
      <vt:lpstr>Isset function</vt:lpstr>
      <vt:lpstr>method="POST"</vt:lpstr>
      <vt:lpstr>PowerPoint Presentation</vt:lpstr>
      <vt:lpstr>Form with method="POST"</vt:lpstr>
      <vt:lpstr>Accessing Form Data in PHP using POST</vt:lpstr>
      <vt:lpstr>PowerPoint Presentation</vt:lpstr>
      <vt:lpstr>Using Form Data in PHP</vt:lpstr>
      <vt:lpstr>Example - $_POST continued</vt:lpstr>
      <vt:lpstr>Isset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 Processing in  PHP</dc:title>
  <dc:creator>Saadia Sh</dc:creator>
  <cp:lastModifiedBy>Sadi Shabbit</cp:lastModifiedBy>
  <cp:revision>13</cp:revision>
  <dcterms:created xsi:type="dcterms:W3CDTF">2024-05-05T08:52:22Z</dcterms:created>
  <dcterms:modified xsi:type="dcterms:W3CDTF">2024-12-18T05:57:51Z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