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84" r:id="rId1"/>
  </p:sldMasterIdLst>
  <p:notesMasterIdLst>
    <p:notesMasterId r:id="rId40"/>
  </p:notesMasterIdLst>
  <p:sldIdLst>
    <p:sldId id="256" r:id="rId2"/>
    <p:sldId id="553" r:id="rId3"/>
    <p:sldId id="795" r:id="rId4"/>
    <p:sldId id="797" r:id="rId5"/>
    <p:sldId id="798" r:id="rId6"/>
    <p:sldId id="799" r:id="rId7"/>
    <p:sldId id="800" r:id="rId8"/>
    <p:sldId id="801" r:id="rId9"/>
    <p:sldId id="802" r:id="rId10"/>
    <p:sldId id="803" r:id="rId11"/>
    <p:sldId id="804" r:id="rId12"/>
    <p:sldId id="805" r:id="rId13"/>
    <p:sldId id="806" r:id="rId14"/>
    <p:sldId id="807" r:id="rId15"/>
    <p:sldId id="808" r:id="rId16"/>
    <p:sldId id="810" r:id="rId17"/>
    <p:sldId id="811" r:id="rId18"/>
    <p:sldId id="812" r:id="rId19"/>
    <p:sldId id="813" r:id="rId20"/>
    <p:sldId id="814" r:id="rId21"/>
    <p:sldId id="815" r:id="rId22"/>
    <p:sldId id="816" r:id="rId23"/>
    <p:sldId id="817" r:id="rId24"/>
    <p:sldId id="819" r:id="rId25"/>
    <p:sldId id="820" r:id="rId26"/>
    <p:sldId id="821" r:id="rId27"/>
    <p:sldId id="822" r:id="rId28"/>
    <p:sldId id="823" r:id="rId29"/>
    <p:sldId id="824" r:id="rId30"/>
    <p:sldId id="825" r:id="rId31"/>
    <p:sldId id="826" r:id="rId32"/>
    <p:sldId id="818" r:id="rId33"/>
    <p:sldId id="827" r:id="rId34"/>
    <p:sldId id="828" r:id="rId35"/>
    <p:sldId id="829" r:id="rId36"/>
    <p:sldId id="830" r:id="rId37"/>
    <p:sldId id="831" r:id="rId38"/>
    <p:sldId id="57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yHMea4WZ65Ys5ZkXdG+Ccw==" hashData="REJwh4ygBzbPHHJtiskYGHdnnN//5WcwPQx6JOQWfPKVQltENDepnO7WgpwX0/683mGMA8ra6sW68d5VRDt2IA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3A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16" autoAdjust="0"/>
  </p:normalViewPr>
  <p:slideViewPr>
    <p:cSldViewPr snapToGrid="0">
      <p:cViewPr varScale="1">
        <p:scale>
          <a:sx n="83" d="100"/>
          <a:sy n="83" d="100"/>
        </p:scale>
        <p:origin x="408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12B730-4417-4EBB-B6C8-2758BE8E7A04}" type="datetimeFigureOut">
              <a:rPr lang="en-MY" smtClean="0"/>
              <a:t>8/12/2025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D0047-0853-40AC-BBE1-64A727EA0B2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49921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D0047-0853-40AC-BBE1-64A727EA0B2B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08871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0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42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033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498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2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99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35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3852FED-FA06-4F57-8763-BD1A2B1B248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8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456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49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3852FED-FA06-4F57-8763-BD1A2B1B248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067C220-B8BE-357C-04B0-830DB6C90688}"/>
              </a:ext>
            </a:extLst>
          </p:cNvPr>
          <p:cNvSpPr txBox="1"/>
          <p:nvPr userDrawn="1"/>
        </p:nvSpPr>
        <p:spPr>
          <a:xfrm>
            <a:off x="114300" y="5935492"/>
            <a:ext cx="8127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The lecture slides are for reading purpose not allowed to upload on internet/website</a:t>
            </a:r>
            <a:endParaRPr lang="en-MY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323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9118" y="1755047"/>
            <a:ext cx="9820929" cy="1228299"/>
          </a:xfrm>
        </p:spPr>
        <p:txBody>
          <a:bodyPr>
            <a:normAutofit fontScale="90000"/>
          </a:bodyPr>
          <a:lstStyle/>
          <a:p>
            <a:r>
              <a:rPr lang="en-US" sz="7200" b="1" dirty="0"/>
              <a:t>Software Project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5121163"/>
            <a:ext cx="10058400" cy="1143000"/>
          </a:xfrm>
        </p:spPr>
        <p:txBody>
          <a:bodyPr>
            <a:normAutofit fontScale="85000" lnSpcReduction="20000"/>
          </a:bodyPr>
          <a:lstStyle/>
          <a:p>
            <a:r>
              <a:rPr lang="en-US" b="1" i="1" dirty="0">
                <a:solidFill>
                  <a:schemeClr val="tx1"/>
                </a:solidFill>
              </a:rPr>
              <a:t>Dr. Sumaira Nazir</a:t>
            </a:r>
          </a:p>
          <a:p>
            <a:r>
              <a:rPr lang="en-US" b="1" i="1" dirty="0">
                <a:solidFill>
                  <a:schemeClr val="tx1"/>
                </a:solidFill>
              </a:rPr>
              <a:t>Assistant Professor, </a:t>
            </a:r>
          </a:p>
          <a:p>
            <a:r>
              <a:rPr lang="en-US" b="1" i="1" dirty="0">
                <a:solidFill>
                  <a:schemeClr val="tx1"/>
                </a:solidFill>
              </a:rPr>
              <a:t>Department of software engineering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236961" y="3071584"/>
            <a:ext cx="9820929" cy="1898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2B3DE18-1F96-23C7-6689-AC05DCC5E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F746E82-EEE7-8FCB-7A4C-BBF4011FDF0D}"/>
              </a:ext>
            </a:extLst>
          </p:cNvPr>
          <p:cNvSpPr/>
          <p:nvPr/>
        </p:nvSpPr>
        <p:spPr>
          <a:xfrm>
            <a:off x="1236961" y="3429000"/>
            <a:ext cx="9820929" cy="7801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4800" b="1" dirty="0">
                <a:solidFill>
                  <a:schemeClr val="tx1"/>
                </a:solidFill>
              </a:rPr>
              <a:t>Project Cost Management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1AF501AC-BBE2-6E8B-A18E-9D6E8C061B82}"/>
              </a:ext>
            </a:extLst>
          </p:cNvPr>
          <p:cNvSpPr/>
          <p:nvPr/>
        </p:nvSpPr>
        <p:spPr>
          <a:xfrm rot="10800000">
            <a:off x="10568049" y="3152564"/>
            <a:ext cx="457734" cy="373592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" name="Picture 3" descr="A logo of a software engineering department&#10;&#10;AI-generated content may be incorrect.">
            <a:extLst>
              <a:ext uri="{FF2B5EF4-FFF2-40B4-BE49-F238E27FC236}">
                <a16:creationId xmlns:a16="http://schemas.microsoft.com/office/drawing/2014/main" id="{6D2752DC-0A8A-9EBA-E4BF-59903BF4A2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91" y="183718"/>
            <a:ext cx="1436695" cy="147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647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2">
            <a:extLst>
              <a:ext uri="{FF2B5EF4-FFF2-40B4-BE49-F238E27FC236}">
                <a16:creationId xmlns:a16="http://schemas.microsoft.com/office/drawing/2014/main" id="{41FF3906-606C-41C2-9417-0401F7474A8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31811" y="921307"/>
            <a:ext cx="10462374" cy="356616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5400" b="1" dirty="0"/>
              <a:t>Project Cost Management</a:t>
            </a:r>
            <a:endParaRPr lang="en-US" altLang="en-US" sz="5400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7CB1CAE-CA83-4073-9CDF-738A51AB8AF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AU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40803-BB86-4FFB-1DFD-3303081CE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A3F4B9FD-4007-0BA6-A682-AAE01E0DDCB3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296237116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30EBD-AB2C-4C90-AA4E-0131EB891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dirty="0"/>
              <a:t>Project Cost Management</a:t>
            </a:r>
            <a:endParaRPr lang="en-MY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C0CC6-EE5B-40E3-94AF-A3C982A7D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331" y="1845734"/>
            <a:ext cx="10890914" cy="402336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3600" dirty="0"/>
              <a:t>Includes the processes required to </a:t>
            </a:r>
            <a:r>
              <a:rPr lang="en-US" sz="3200" dirty="0"/>
              <a:t>ensure that a </a:t>
            </a:r>
            <a:r>
              <a:rPr lang="en-US" sz="3200" b="1" dirty="0">
                <a:solidFill>
                  <a:srgbClr val="FF0000"/>
                </a:solidFill>
              </a:rPr>
              <a:t>project team completes a project within an approved budget.</a:t>
            </a:r>
          </a:p>
          <a:p>
            <a:pPr algn="just"/>
            <a:r>
              <a:rPr lang="en-US" sz="3200" b="1" dirty="0">
                <a:solidFill>
                  <a:srgbClr val="FF0000"/>
                </a:solidFill>
              </a:rPr>
              <a:t>Why Cost Management is Important?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600" dirty="0"/>
              <a:t>Projects fail primarily due to cost overruns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600" dirty="0"/>
              <a:t>IT projects often have hidden or intangible cost elements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600" dirty="0"/>
              <a:t>Ensures resources are used efficiently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600" dirty="0"/>
              <a:t>Allows management to track financial performance</a:t>
            </a:r>
            <a:endParaRPr lang="en-US" sz="2600" b="1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There are four processes for project cost management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Planning cost management 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Estimating costs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Determining the budget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Controlling costs </a:t>
            </a:r>
            <a:endParaRPr lang="en-MY" sz="2800" dirty="0"/>
          </a:p>
          <a:p>
            <a:pPr algn="just"/>
            <a:endParaRPr lang="en-MY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034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C424F-818D-46FC-94BF-608ABE48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4400" b="1" dirty="0"/>
              <a:t>Processes for project cost management</a:t>
            </a:r>
            <a:endParaRPr lang="en-MY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11BBC-C57C-4776-9C3A-2B3AFB299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1. Planning cost management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involves determining the policies, procedures, and documentation that will be used for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0000"/>
                </a:solidFill>
              </a:rPr>
              <a:t>Planning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0000"/>
                </a:solidFill>
              </a:rPr>
              <a:t>Executing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0000"/>
                </a:solidFill>
              </a:rPr>
              <a:t>and controlling project cost.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The main output of this process is a </a:t>
            </a:r>
            <a:r>
              <a:rPr lang="en-US" sz="2800" b="1" dirty="0">
                <a:solidFill>
                  <a:srgbClr val="FF0000"/>
                </a:solidFill>
              </a:rPr>
              <a:t>cost management plan. </a:t>
            </a:r>
            <a:endParaRPr lang="en-MY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795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C424F-818D-46FC-94BF-608ABE48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Processes for project cost management</a:t>
            </a:r>
            <a:endParaRPr lang="en-MY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11BBC-C57C-4776-9C3A-2B3AFB299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627" y="1845734"/>
            <a:ext cx="11054686" cy="4023360"/>
          </a:xfrm>
        </p:spPr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</a:rPr>
              <a:t>2. Estimating costs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/>
              <a:t>Involves developing an approximation or estimate of the costs of the resources needed to complete a project.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/>
              <a:t>The main outputs of the cost estimating process are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600" dirty="0"/>
              <a:t>activity cost estimates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600" dirty="0"/>
              <a:t>project documents updates</a:t>
            </a:r>
            <a:r>
              <a:rPr lang="en-US" sz="3000" dirty="0"/>
              <a:t>. </a:t>
            </a:r>
            <a:endParaRPr lang="en-MY" sz="3000" dirty="0"/>
          </a:p>
        </p:txBody>
      </p:sp>
    </p:spTree>
    <p:extLst>
      <p:ext uri="{BB962C8B-B14F-4D97-AF65-F5344CB8AC3E}">
        <p14:creationId xmlns:p14="http://schemas.microsoft.com/office/powerpoint/2010/main" val="571731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C424F-818D-46FC-94BF-608ABE48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Processes for project cost management</a:t>
            </a:r>
            <a:endParaRPr lang="en-MY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11BBC-C57C-4776-9C3A-2B3AFB299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</a:rPr>
              <a:t>3. Controlling costs involves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Controlling changes to the project budget.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The main outputs of the cost control process are 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800" dirty="0"/>
              <a:t>work performance information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800" dirty="0"/>
              <a:t>cost forecasts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800" dirty="0"/>
              <a:t>change requests and project management plan updates, 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800" dirty="0"/>
              <a:t>project documents updates.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1847517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CE324-7645-42E4-8598-5096C3F8E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/>
              <a:t>Basic Principles of Cost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88273-583E-4F17-BBEB-F5940DC65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MY" sz="2800" dirty="0"/>
              <a:t>Profits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800" dirty="0"/>
              <a:t>are revenues minus expenditures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MY" sz="2800" dirty="0"/>
              <a:t>Life cycle costing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provides a big-picture view of the cost of a project throughout its life cycle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2283598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CE324-7645-42E4-8598-5096C3F8E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/>
              <a:t>Basic Principles of Cost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88273-583E-4F17-BBEB-F5940DC65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MY" sz="4000" dirty="0"/>
              <a:t>Direct costs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can be directly </a:t>
            </a:r>
            <a:r>
              <a:rPr lang="en-US" sz="2800" dirty="0">
                <a:solidFill>
                  <a:srgbClr val="FF0000"/>
                </a:solidFill>
              </a:rPr>
              <a:t>related to creating the products and services of the project</a:t>
            </a:r>
            <a:endParaRPr lang="en-MY" sz="2800" dirty="0">
              <a:solidFill>
                <a:srgbClr val="FF0000"/>
              </a:solidFill>
            </a:endParaRPr>
          </a:p>
          <a:p>
            <a:pPr algn="just"/>
            <a:r>
              <a:rPr lang="en-US" sz="4000" dirty="0"/>
              <a:t>Indirect costs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are not directly related to the products or services of the project, but are indirectly related to performing work on the project. For example, indirect costs would include the </a:t>
            </a:r>
            <a:r>
              <a:rPr lang="en-US" sz="2800" dirty="0">
                <a:solidFill>
                  <a:srgbClr val="FF0000"/>
                </a:solidFill>
              </a:rPr>
              <a:t>cost of electricity, paper</a:t>
            </a:r>
            <a:endParaRPr lang="en-MY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742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37B0-1C70-4C20-BFC0-8DE36FCA0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/>
              <a:t>Basic Principles of Cost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F0729-B573-4A5B-ABC3-D104009D5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Sunk cost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is money that has been spent in the past</a:t>
            </a:r>
          </a:p>
          <a:p>
            <a:r>
              <a:rPr lang="en-US" sz="2800" dirty="0"/>
              <a:t>Learning curve theory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states that </a:t>
            </a:r>
            <a:r>
              <a:rPr lang="en-US" sz="2400" dirty="0">
                <a:solidFill>
                  <a:srgbClr val="FF0000"/>
                </a:solidFill>
              </a:rPr>
              <a:t>when many items are produced repetitively, the unit cost of those items decreases in a regular pattern as more units are produced. </a:t>
            </a:r>
          </a:p>
        </p:txBody>
      </p:sp>
    </p:spTree>
    <p:extLst>
      <p:ext uri="{BB962C8B-B14F-4D97-AF65-F5344CB8AC3E}">
        <p14:creationId xmlns:p14="http://schemas.microsoft.com/office/powerpoint/2010/main" val="4294872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37B0-1C70-4C20-BFC0-8DE36FCA0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/>
              <a:t>Basic Principles of Cost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F0729-B573-4A5B-ABC3-D104009D5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57400"/>
            <a:ext cx="9717206" cy="4800600"/>
          </a:xfrm>
        </p:spPr>
        <p:txBody>
          <a:bodyPr>
            <a:normAutofit/>
          </a:bodyPr>
          <a:lstStyle/>
          <a:p>
            <a:r>
              <a:rPr lang="en-US" sz="2400" b="1" dirty="0"/>
              <a:t>Learning curve theory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Example, 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400" dirty="0"/>
              <a:t>Suppose a project would potentially produce 1,000 handheld devices that could run the new software and access information via satellite. 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cost of the first handheld unit would be much higher than the cost of the thousandth unit. 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400" dirty="0"/>
              <a:t>Learning curve theory can help estimate costs on projects that involve the production of large quantities of items</a:t>
            </a: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3478437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C9C9F-E6AA-4D60-8A73-50A5DF9D3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/>
              <a:t>Basic Principles of Cost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FAFA2-2C2A-4ECE-ADB3-D1A4D68C2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Reserves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3200" dirty="0"/>
              <a:t> amounts included in a cost estimate to mitigate cost risk by allowing for future situations that are difficult to predict. 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800" dirty="0"/>
              <a:t>Contingency reserves 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800" dirty="0"/>
              <a:t>Management reserves </a:t>
            </a:r>
          </a:p>
          <a:p>
            <a:pPr lvl="1" algn="just"/>
            <a:endParaRPr lang="en-MY" sz="3200" dirty="0"/>
          </a:p>
        </p:txBody>
      </p:sp>
    </p:spTree>
    <p:extLst>
      <p:ext uri="{BB962C8B-B14F-4D97-AF65-F5344CB8AC3E}">
        <p14:creationId xmlns:p14="http://schemas.microsoft.com/office/powerpoint/2010/main" val="940376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C9C9F-E6AA-4D60-8A73-50A5DF9D3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/>
              <a:t>Basic Principles of Cost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FAFA2-2C2A-4ECE-ADB3-D1A4D68C2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Contingency reserves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allow for future situations that may be partially planned for (sometimes called known unknowns) and are included in the project cost baseline.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For example, if an organization knows it has a 20 percent rate of turnover for IT personnel, it should include contingency reserves to pay for recruiting and training costs of IT personnel.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2874015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F489-3E9C-4E79-B387-21E31101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/>
              <a:t>Basic Principles of Cost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01815-335C-470D-A233-9630A84B4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Management reserves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allow for future situations that are unpredictable (sometimes called unknown unknowns).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For example, if a project manager gets sick for two weeks or an important supplier goes out of business, management reserve could be set aside to cover the resulting costs. 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1458280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39F93-CD02-6DFC-1441-0E39E1B50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98526-C697-8FDC-1181-754C7C58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Processes for project cost management</a:t>
            </a:r>
            <a:endParaRPr lang="en-MY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66F8A-CF6E-CCE7-701B-7F735CFB9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There are four processes for project cost management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600" dirty="0"/>
              <a:t>Planning cost management 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600" dirty="0"/>
              <a:t>Estimating costs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600" dirty="0"/>
              <a:t>Determining the budget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600" dirty="0"/>
              <a:t>Controlling costs </a:t>
            </a:r>
            <a:endParaRPr lang="en-MY" sz="3600" dirty="0"/>
          </a:p>
        </p:txBody>
      </p:sp>
    </p:spTree>
    <p:extLst>
      <p:ext uri="{BB962C8B-B14F-4D97-AF65-F5344CB8AC3E}">
        <p14:creationId xmlns:p14="http://schemas.microsoft.com/office/powerpoint/2010/main" val="1615017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23D6D-6C7C-4C44-5905-8F88E85F3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C801F-278B-692D-E536-10266F67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4400" b="1" dirty="0"/>
              <a:t>Processes for project cost management</a:t>
            </a:r>
            <a:endParaRPr lang="en-MY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81331-9712-E1FE-2FA0-61BCF519F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407783" cy="4023360"/>
          </a:xfrm>
        </p:spPr>
        <p:txBody>
          <a:bodyPr>
            <a:normAutofit lnSpcReduction="10000"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Planning cost management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4000" dirty="0"/>
              <a:t>involves determining the policies, procedures, and documentation that will be used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4000" dirty="0"/>
              <a:t>for planning, executing, and controlling project cost.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4000" dirty="0"/>
              <a:t>The main output of this process is a </a:t>
            </a:r>
            <a:r>
              <a:rPr lang="en-US" sz="4000" dirty="0">
                <a:solidFill>
                  <a:srgbClr val="FF0000"/>
                </a:solidFill>
              </a:rPr>
              <a:t>cost management plan. </a:t>
            </a:r>
            <a:endParaRPr lang="en-MY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2614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8B0F-45D7-4AEF-960C-1B21FA5DF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Planning Cost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23C10-FEEA-4C40-941A-F4E7AC0D9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501" y="1845734"/>
            <a:ext cx="11259403" cy="402336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Level of accuracy: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3200" dirty="0"/>
              <a:t>Activity cost estimates normally have rounding guidelines, such as rounding to the nearest $100. </a:t>
            </a:r>
          </a:p>
          <a:p>
            <a:pPr algn="just"/>
            <a:r>
              <a:rPr lang="en-US" sz="2800" b="1" dirty="0">
                <a:solidFill>
                  <a:srgbClr val="FF0000"/>
                </a:solidFill>
              </a:rPr>
              <a:t>Units of measure: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3200" dirty="0"/>
              <a:t>Each unit used in cost measurements, such as 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400" b="1" dirty="0"/>
              <a:t>Labor cost</a:t>
            </a:r>
            <a:r>
              <a:rPr lang="en-US" sz="2400" dirty="0"/>
              <a:t>-labor hours or days, should be defined. 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400" b="1" dirty="0"/>
              <a:t>Hardware Cost-</a:t>
            </a:r>
            <a:r>
              <a:rPr lang="en-US" sz="2400" dirty="0"/>
              <a:t>dollars or units purchased.</a:t>
            </a:r>
          </a:p>
          <a:p>
            <a:pPr marL="96838" lvl="2" indent="-96838" algn="just">
              <a:buNone/>
            </a:pPr>
            <a:r>
              <a:rPr lang="en-US" sz="2400" dirty="0"/>
              <a:t> Clear definitions prevent confusion between different departments, such as finance and operations.</a:t>
            </a: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1971638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8B0F-45D7-4AEF-960C-1B21FA5DF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Planning Cost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23C10-FEEA-4C40-941A-F4E7AC0D9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b="1" dirty="0">
                <a:solidFill>
                  <a:srgbClr val="FF0000"/>
                </a:solidFill>
              </a:rPr>
              <a:t>Organizational procedures links</a:t>
            </a:r>
            <a:r>
              <a:rPr lang="en-US" sz="3600" dirty="0"/>
              <a:t>: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400" dirty="0"/>
              <a:t>This connects cost management processes to organizational systems, like accounting or reporting, often referencing the </a:t>
            </a:r>
            <a:r>
              <a:rPr lang="en-US" sz="2400" b="1" dirty="0"/>
              <a:t>Work Breakdown Structure (WBS)</a:t>
            </a:r>
            <a:r>
              <a:rPr lang="en-US" sz="2400" dirty="0"/>
              <a:t>.</a:t>
            </a:r>
          </a:p>
          <a:p>
            <a:pPr algn="just"/>
            <a:r>
              <a:rPr lang="en-US" sz="3600" b="1" dirty="0"/>
              <a:t>Example</a:t>
            </a:r>
            <a:r>
              <a:rPr lang="en-US" sz="3600" dirty="0"/>
              <a:t>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400" dirty="0"/>
              <a:t>A marketing campaign project might assign a unique control account code (e.g., </a:t>
            </a:r>
            <a:r>
              <a:rPr lang="en-US" sz="2400" b="1" dirty="0"/>
              <a:t>CA-1001</a:t>
            </a:r>
            <a:r>
              <a:rPr lang="en-US" sz="2400" dirty="0"/>
              <a:t>) to the design phase. This code is used in the company’s accounting software to track expenses and ensure accurate reporting.</a:t>
            </a:r>
          </a:p>
        </p:txBody>
      </p:sp>
    </p:spTree>
    <p:extLst>
      <p:ext uri="{BB962C8B-B14F-4D97-AF65-F5344CB8AC3E}">
        <p14:creationId xmlns:p14="http://schemas.microsoft.com/office/powerpoint/2010/main" val="4116015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8B0F-45D7-4AEF-960C-1B21FA5DF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Planning Cost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23C10-FEEA-4C40-941A-F4E7AC0D9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92788"/>
            <a:ext cx="10058400" cy="4800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Control thresholds: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400" dirty="0"/>
              <a:t>These are the limits of acceptable variance in cost, beyond which corrective actions must be taken.</a:t>
            </a:r>
          </a:p>
          <a:p>
            <a:r>
              <a:rPr lang="en-US" sz="2800" b="1" dirty="0"/>
              <a:t>Example</a:t>
            </a:r>
            <a:r>
              <a:rPr lang="en-US" sz="2800" dirty="0"/>
              <a:t>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400" dirty="0"/>
              <a:t>For a manufacturing project, if the baseline cost is $50,000, a 10% threshold means any cost variation exceeding $5,000 (either over or under) triggers an analysis and potential adjustments.</a:t>
            </a: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3989624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F8897-D922-D580-65F6-58D71DF8C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016F-88C5-E136-79C7-668B9D29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Planning Cost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75726-7B72-1AD4-D99F-9F006B733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048" y="1933731"/>
            <a:ext cx="10227632" cy="4800600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FF0000"/>
                </a:solidFill>
              </a:rPr>
              <a:t>Rules of performance measurement: </a:t>
            </a:r>
            <a:r>
              <a:rPr lang="en-US" sz="2800" dirty="0"/>
              <a:t>The cost management plan would define measurement rules, such as how often actual costs will be tracked and to what level of detail.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b="1" dirty="0"/>
              <a:t>Example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000" dirty="0"/>
              <a:t>In an IT project, the team might track actual costs every two weeks and compare them with planned costs using metrics like Cost Performance Index (CPI). If CPI falls below 0.9, it indicates a cost overrun requiring immediate action.</a:t>
            </a: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2236160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8B0F-45D7-4AEF-960C-1B21FA5DF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Planning Cost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23C10-FEEA-4C40-941A-F4E7AC0D9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501" y="1845734"/>
            <a:ext cx="11054687" cy="402336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Reporting formats: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/>
              <a:t>This section would describe the format and frequency of cost reports required for the project. Ensuring stakeholders receive consistent and timely information.</a:t>
            </a:r>
          </a:p>
          <a:p>
            <a:r>
              <a:rPr lang="en-US" sz="2800" b="1" dirty="0"/>
              <a:t>Example</a:t>
            </a:r>
            <a:r>
              <a:rPr lang="en-US" sz="2800" dirty="0"/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/>
              <a:t>A construction project might require a weekly cost summary report showing expenses by phase (e.g., design, procurement, construction) in a tabular format with graphs for trends.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54020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C6C28-92B4-B7B8-8205-899805B0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75CB2-621E-42D4-A17F-5DE6E2BA0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Planning Cost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9D49-A84A-F928-E62B-434B5E13F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0000"/>
                </a:solidFill>
              </a:rPr>
              <a:t>Process descriptions: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The cost management plan would also describe how to perform all of the cost management processes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Example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For a renewable energy project, the cost management plan might outline how to: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000" dirty="0"/>
              <a:t>Collect cost estimates from vendors.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000" dirty="0"/>
              <a:t>Approve budgets through management.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000" dirty="0"/>
              <a:t>Track expenses weekly.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000" dirty="0"/>
              <a:t>Handle budget revisions if costs exceed the threshold.</a:t>
            </a:r>
          </a:p>
          <a:p>
            <a:pPr lvl="1" algn="just">
              <a:buFont typeface="Wingdings" panose="05000000000000000000" pitchFamily="2" charset="2"/>
              <a:buChar char="§"/>
            </a:pP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3323283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A0097-ECD2-4545-B264-9C562B3A0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FE8E-EDFA-DB47-0CA6-3AF3F4E5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Processes for project cost management</a:t>
            </a:r>
            <a:endParaRPr lang="en-MY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23F7F-60AF-6CE5-7635-0350539C2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</a:rPr>
              <a:t>Estimating costs involves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3200" dirty="0"/>
              <a:t>developing an approximation or estimate of the costs of the resources needed to complete a project.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3200" dirty="0"/>
              <a:t>The main outputs of the cost estimating process are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3200" dirty="0"/>
              <a:t>activity cost estimates, and project documents updates. </a:t>
            </a:r>
            <a:endParaRPr lang="en-MY" sz="3200" dirty="0"/>
          </a:p>
        </p:txBody>
      </p:sp>
    </p:spTree>
    <p:extLst>
      <p:ext uri="{BB962C8B-B14F-4D97-AF65-F5344CB8AC3E}">
        <p14:creationId xmlns:p14="http://schemas.microsoft.com/office/powerpoint/2010/main" val="2988390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F0A5-9DBB-4CCD-9DFC-149C4D62A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Estimating Costs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CCE2F-9E36-4B5D-8D67-D3F5A038C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/>
              <a:t>Project managers must take cost estimates seriously if they want to complete projects within budget constraints.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/>
              <a:t>After developing a good resource requirements list, project managers and their project teams must develop several estimates of the costs for these resources.</a:t>
            </a:r>
            <a:endParaRPr lang="en-MY" sz="3200" dirty="0"/>
          </a:p>
        </p:txBody>
      </p:sp>
    </p:spTree>
    <p:extLst>
      <p:ext uri="{BB962C8B-B14F-4D97-AF65-F5344CB8AC3E}">
        <p14:creationId xmlns:p14="http://schemas.microsoft.com/office/powerpoint/2010/main" val="1349151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B2C5A-1606-4E8F-AD5B-BC886C993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Types of Cost Estimates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BEDC5-53A7-4E66-906D-D0E9B3370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A rough order of magnitude (ROM)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A budgetary estimate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MY" sz="2800" dirty="0"/>
              <a:t>A definitive estimate</a:t>
            </a:r>
          </a:p>
        </p:txBody>
      </p:sp>
    </p:spTree>
    <p:extLst>
      <p:ext uri="{BB962C8B-B14F-4D97-AF65-F5344CB8AC3E}">
        <p14:creationId xmlns:p14="http://schemas.microsoft.com/office/powerpoint/2010/main" val="5602482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1E2AA-1954-45D0-BDA1-46D25039A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Types of Cost Estimates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FDD74-70AE-457D-BB80-08B86300E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A rough order of magnitude (ROM)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estimate provides an </a:t>
            </a:r>
            <a:r>
              <a:rPr lang="en-US" sz="2800" dirty="0">
                <a:solidFill>
                  <a:srgbClr val="FF0000"/>
                </a:solidFill>
              </a:rPr>
              <a:t>estimate of what a project will cost.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referred to as a</a:t>
            </a:r>
            <a:r>
              <a:rPr lang="en-US" sz="2800" dirty="0">
                <a:solidFill>
                  <a:srgbClr val="FF0000"/>
                </a:solidFill>
              </a:rPr>
              <a:t> guesstimate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FF0000"/>
                </a:solidFill>
              </a:rPr>
              <a:t> a broad gauge.</a:t>
            </a:r>
            <a:r>
              <a:rPr lang="en-US" sz="2800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It is done very early in a project or even before a project is officially started.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Purpose: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000" dirty="0"/>
              <a:t>Project managers and top management use this estimate to help make project selection decisions. </a:t>
            </a:r>
          </a:p>
        </p:txBody>
      </p:sp>
    </p:spTree>
    <p:extLst>
      <p:ext uri="{BB962C8B-B14F-4D97-AF65-F5344CB8AC3E}">
        <p14:creationId xmlns:p14="http://schemas.microsoft.com/office/powerpoint/2010/main" val="1855065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1E2AA-1954-45D0-BDA1-46D25039A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Types of Cost Estimates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FDD74-70AE-457D-BB80-08B86300E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206" y="1845734"/>
            <a:ext cx="10582474" cy="402336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A rough order of magnitude (ROM)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3200" dirty="0"/>
              <a:t>The time frame for this type of estimate is often </a:t>
            </a:r>
            <a:r>
              <a:rPr lang="en-US" sz="3200" dirty="0">
                <a:solidFill>
                  <a:srgbClr val="FF0000"/>
                </a:solidFill>
              </a:rPr>
              <a:t>three or more years prior to project completion.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3200" dirty="0"/>
              <a:t>A ROM estimate’s accuracy is typically -50 percent to +100 percent, meaning the project’s actual costs could be 50 percent below the ROM estimate or 100 percent above.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FF0000"/>
                </a:solidFill>
              </a:rPr>
              <a:t>For example, the actual cost for a project with a ROM estimate of $100,000 could range from $50,000 to $200,000. </a:t>
            </a:r>
            <a:endParaRPr lang="en-MY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922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1E2AA-1954-45D0-BDA1-46D25039A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Types of Cost Estimates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FDD74-70AE-457D-BB80-08B86300E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A budgetary estimate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is used </a:t>
            </a:r>
            <a:r>
              <a:rPr lang="en-US" sz="2800" dirty="0">
                <a:solidFill>
                  <a:srgbClr val="FF0000"/>
                </a:solidFill>
              </a:rPr>
              <a:t>to allocate money into an organization’s budget.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Many organizations develop budgets at least </a:t>
            </a:r>
            <a:r>
              <a:rPr lang="en-US" sz="2800" dirty="0">
                <a:solidFill>
                  <a:srgbClr val="FF0000"/>
                </a:solidFill>
              </a:rPr>
              <a:t>two years into the future.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Budgetary estimates are made </a:t>
            </a:r>
            <a:r>
              <a:rPr lang="en-US" sz="2800" dirty="0">
                <a:solidFill>
                  <a:srgbClr val="FF0000"/>
                </a:solidFill>
              </a:rPr>
              <a:t>one to two years prior to project completion.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The accuracy of budgetary estimates is typically 10 percent to 25 percent, meaning the actual costs could be 10 percent less or 25 percent more than the budgetary estimate. 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17202254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1E2AA-1954-45D0-BDA1-46D25039A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Types of Cost Estimates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FDD74-70AE-457D-BB80-08B86300E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A budgetary estimate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For example, the actual cost for a project with a budgetary estimate of $100,000 could range from $90,000 to $125,000.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33416524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6191C-A1BE-45AF-83AE-D0E4D6515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Types of Cost Estimates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4F314-5826-4B72-9E72-23885E306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A definitive estimate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provides an </a:t>
            </a:r>
            <a:r>
              <a:rPr lang="en-US" sz="2800" dirty="0">
                <a:solidFill>
                  <a:srgbClr val="FF0000"/>
                </a:solidFill>
              </a:rPr>
              <a:t>accurate estimate of project costs.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Definitive estimates are used for making many purchasing decisions for which accurate estimates are required and for estimating final project costs. 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3756132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6191C-A1BE-45AF-83AE-D0E4D6515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Types of Cost Estimates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4F314-5826-4B72-9E72-23885E306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A definitive estimate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provides an accurate estimate of project costs.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For example, if a project involves purchasing 1,000 personal computers from an outside supplier in the next three months, a definitive estimate would be required to aid in evaluating supplier proposals and allocating the funds to pay the chosen supplier. 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9520895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6191C-A1BE-45AF-83AE-D0E4D6515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Types of Cost Estimates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4F314-5826-4B72-9E72-23885E306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A definitive estimate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 Definitive estimates are made one year or less prior to project completion. A definitive estimate should be the most accurate of the three types of estimates. The accuracy of this type of estimate is normally 5 percent to 10 percent, meaning the actual costs could be -5 percent less or +10 percent more than the definitive estimate. For example, the actual cost for a project with a definitive estimate of $100,000 could range from $95,000 to $110,000. 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7557145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EDEBF-B469-9177-6FA2-FFEEFE4BA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267C-A77D-C1FC-8D8A-42E30B456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Processes for project cost management</a:t>
            </a:r>
            <a:endParaRPr lang="en-MY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3BC24-1F51-9141-8428-B57C791E1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Controlling costs involves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3200" dirty="0"/>
              <a:t>controlling changes to the project budget.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3200" dirty="0"/>
              <a:t>The main outputs of the cost control process are 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400" dirty="0"/>
              <a:t>work performance information, cost forecasts, change requests, and project management plan updates, and project documents updates.</a:t>
            </a: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15492631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EDEBF-B469-9177-6FA2-FFEEFE4BA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267C-A77D-C1FC-8D8A-42E30B456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Controlling Costs </a:t>
            </a:r>
            <a:endParaRPr lang="en-MY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3BC24-1F51-9141-8428-B57C791E1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4108"/>
            <a:ext cx="5061980" cy="4023360"/>
          </a:xfrm>
        </p:spPr>
        <p:txBody>
          <a:bodyPr>
            <a:noAutofit/>
          </a:bodyPr>
          <a:lstStyle/>
          <a:p>
            <a:r>
              <a:rPr lang="en-US" sz="2800" b="1" dirty="0"/>
              <a:t>Purpose of Cost Control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Track project spending against the approved budget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Identify variances early and take corrective actions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Maintain financial health of the project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Ensure spending aligns with progress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683BC24-1F51-9141-8428-B57C791E16D9}"/>
              </a:ext>
            </a:extLst>
          </p:cNvPr>
          <p:cNvSpPr txBox="1">
            <a:spLocks/>
          </p:cNvSpPr>
          <p:nvPr/>
        </p:nvSpPr>
        <p:spPr>
          <a:xfrm>
            <a:off x="6871705" y="1954108"/>
            <a:ext cx="4463404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Key Activities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Monitoring cost performance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Comparing planned vs. actual cost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Updating cost forecasts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Managing changes to cost baseline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Communicating status to stakeholders</a:t>
            </a:r>
          </a:p>
        </p:txBody>
      </p:sp>
    </p:spTree>
    <p:extLst>
      <p:ext uri="{BB962C8B-B14F-4D97-AF65-F5344CB8AC3E}">
        <p14:creationId xmlns:p14="http://schemas.microsoft.com/office/powerpoint/2010/main" val="25170944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EDEBF-B469-9177-6FA2-FFEEFE4BA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267C-A77D-C1FC-8D8A-42E30B456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Controlling Cost</a:t>
            </a:r>
            <a:endParaRPr lang="en-MY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3BC24-1F51-9141-8428-B57C791E1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147" y="1845734"/>
            <a:ext cx="10258533" cy="4023360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US" sz="3600" b="1" dirty="0">
                <a:solidFill>
                  <a:srgbClr val="FF0000"/>
                </a:solidFill>
              </a:rPr>
              <a:t>Earned Value Management (EVM)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EVM is a powerful technique for measuring project performance</a:t>
            </a:r>
            <a:r>
              <a:rPr lang="en-US" sz="2400" dirty="0"/>
              <a:t> using scope, schedule and cost data.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EVM Integrates Three Dimensions: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Scope</a:t>
            </a:r>
            <a:r>
              <a:rPr lang="en-US" sz="2400" dirty="0"/>
              <a:t> – What work was planned? What is completed?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Schedule</a:t>
            </a:r>
            <a:r>
              <a:rPr lang="en-US" sz="2400" dirty="0"/>
              <a:t> – When should the work be done?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Cost</a:t>
            </a:r>
            <a:r>
              <a:rPr lang="en-US" sz="2400" dirty="0"/>
              <a:t> – How much should the work cost? How much did it cost?</a:t>
            </a:r>
          </a:p>
        </p:txBody>
      </p:sp>
    </p:spTree>
    <p:extLst>
      <p:ext uri="{BB962C8B-B14F-4D97-AF65-F5344CB8AC3E}">
        <p14:creationId xmlns:p14="http://schemas.microsoft.com/office/powerpoint/2010/main" val="37355932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EDEBF-B469-9177-6FA2-FFEEFE4BA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267C-A77D-C1FC-8D8A-42E30B456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just"/>
            <a:r>
              <a:rPr lang="en-US" sz="3600" b="1" dirty="0">
                <a:solidFill>
                  <a:schemeClr val="tx1"/>
                </a:solidFill>
              </a:rPr>
              <a:t>Earned Value Management (EVM)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3BC24-1F51-9141-8428-B57C791E1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894" y="1737360"/>
            <a:ext cx="10990053" cy="5012266"/>
          </a:xfrm>
        </p:spPr>
        <p:txBody>
          <a:bodyPr>
            <a:noAutofit/>
          </a:bodyPr>
          <a:lstStyle/>
          <a:p>
            <a:r>
              <a:rPr lang="en-US" sz="2800" b="1" dirty="0"/>
              <a:t>1. Planned Value (PV)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Budgeted cost for work scheduled to be done, Also called BCWS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Example: “We planned to complete 40% of the work by today.”</a:t>
            </a:r>
          </a:p>
          <a:p>
            <a:r>
              <a:rPr lang="en-US" sz="2800" b="1" dirty="0"/>
              <a:t>2. Earned Value (EV)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Budgeted cost of work that has actually been completed, Also called BCWP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Example: If total budget = $100,000 and 25% of work is completed → EV = 25,000</a:t>
            </a:r>
          </a:p>
          <a:p>
            <a:r>
              <a:rPr lang="en-US" sz="2800" b="1" dirty="0"/>
              <a:t>3. Actual Cost (AC)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Actual cost spent for the work performed, Also called ACWP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Example: We spent $30,000 so far</a:t>
            </a:r>
          </a:p>
        </p:txBody>
      </p:sp>
    </p:spTree>
    <p:extLst>
      <p:ext uri="{BB962C8B-B14F-4D97-AF65-F5344CB8AC3E}">
        <p14:creationId xmlns:p14="http://schemas.microsoft.com/office/powerpoint/2010/main" val="32775952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EDEBF-B469-9177-6FA2-FFEEFE4BA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267C-A77D-C1FC-8D8A-42E30B456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just"/>
            <a:r>
              <a:rPr lang="en-US" sz="3600" b="1" dirty="0">
                <a:solidFill>
                  <a:schemeClr val="tx1"/>
                </a:solidFill>
              </a:rPr>
              <a:t>EVM Variance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3BC24-1F51-9141-8428-B57C791E1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894" y="1737360"/>
            <a:ext cx="10990053" cy="5012266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Variance shows whether the project is ahead or behind.</a:t>
            </a:r>
          </a:p>
          <a:p>
            <a:r>
              <a:rPr lang="en-US" sz="2400" b="1" dirty="0"/>
              <a:t>1. Cost Variance (CV)</a:t>
            </a:r>
          </a:p>
          <a:p>
            <a:r>
              <a:rPr lang="en-US" sz="2400" b="1" dirty="0"/>
              <a:t>CV = EV – AC		</a:t>
            </a:r>
            <a:r>
              <a:rPr lang="en-US" sz="1400" b="1" dirty="0"/>
              <a:t>Positive → under budget	 / Negative → over budget</a:t>
            </a:r>
          </a:p>
          <a:p>
            <a:r>
              <a:rPr lang="en-US" sz="2400" dirty="0"/>
              <a:t>EV = 40,000			AC = 50,000</a:t>
            </a:r>
          </a:p>
          <a:p>
            <a:r>
              <a:rPr lang="en-US" sz="2400" dirty="0"/>
              <a:t>CV = –10,000 (over budget)</a:t>
            </a:r>
          </a:p>
          <a:p>
            <a:r>
              <a:rPr lang="en-US" sz="2400" b="1" dirty="0"/>
              <a:t>2. Schedule Variance (SV)</a:t>
            </a:r>
          </a:p>
          <a:p>
            <a:r>
              <a:rPr lang="en-US" sz="2400" b="1" dirty="0"/>
              <a:t>SV = EV – PV		</a:t>
            </a:r>
            <a:r>
              <a:rPr lang="en-US" sz="1400" b="1" dirty="0"/>
              <a:t>Positive → ahead of schedule / Negative → behind schedule</a:t>
            </a:r>
          </a:p>
          <a:p>
            <a:r>
              <a:rPr lang="en-US" dirty="0"/>
              <a:t>EV = 40,000			PV = 60,000</a:t>
            </a:r>
          </a:p>
          <a:p>
            <a:r>
              <a:rPr lang="en-US" dirty="0"/>
              <a:t>SV = –20,000 (behind schedule)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92297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EDEBF-B469-9177-6FA2-FFEEFE4BA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267C-A77D-C1FC-8D8A-42E30B456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just"/>
            <a:r>
              <a:rPr lang="en-US" sz="3600" b="1" dirty="0">
                <a:solidFill>
                  <a:schemeClr val="tx1"/>
                </a:solidFill>
              </a:rPr>
              <a:t>EVM Performance Indexes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3BC24-1F51-9141-8428-B57C791E1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894" y="1737360"/>
            <a:ext cx="10990053" cy="5012266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Indexes show efficiency.</a:t>
            </a:r>
          </a:p>
          <a:p>
            <a:r>
              <a:rPr lang="en-US" sz="2400" b="1" dirty="0"/>
              <a:t>1. Cost Performance Index (CPI)</a:t>
            </a:r>
          </a:p>
          <a:p>
            <a:r>
              <a:rPr lang="en-US" sz="2400" dirty="0"/>
              <a:t>CPI = EV / AC		</a:t>
            </a:r>
            <a:r>
              <a:rPr lang="en-US" dirty="0"/>
              <a:t>CPI &gt; 1 → cost efficient | CPI &lt; 1 → spending too much</a:t>
            </a:r>
          </a:p>
          <a:p>
            <a:r>
              <a:rPr lang="en-US" sz="2400" dirty="0"/>
              <a:t>Example: EV = 80,000			AC = 100,000</a:t>
            </a:r>
          </a:p>
          <a:p>
            <a:r>
              <a:rPr lang="en-US" sz="2400" dirty="0"/>
              <a:t>CPI = 0.80 → Project is only 80% efficient</a:t>
            </a:r>
          </a:p>
          <a:p>
            <a:r>
              <a:rPr lang="en-US" sz="2400" b="1" dirty="0"/>
              <a:t>2. Schedule Performance Index (SPI)</a:t>
            </a:r>
          </a:p>
          <a:p>
            <a:r>
              <a:rPr lang="en-US" sz="2400" dirty="0"/>
              <a:t>SPI = EV / PV		</a:t>
            </a:r>
            <a:r>
              <a:rPr lang="en-US" dirty="0"/>
              <a:t>SPI &gt; 1 → ahead of schedule | SPI &lt; 1 → behind schedule</a:t>
            </a:r>
          </a:p>
          <a:p>
            <a:r>
              <a:rPr lang="en-US" sz="2400" dirty="0"/>
              <a:t>Example: EV = 80,000PV = 100,000</a:t>
            </a:r>
          </a:p>
          <a:p>
            <a:r>
              <a:rPr lang="en-US" sz="2400" dirty="0"/>
              <a:t>SPI = 0.80 → Only 80% of planned work accomplished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938151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2545080" y="6478331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National University Of Modern Languages H-9 Islamabad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458C8-0BB9-2CC9-BAAE-CE5670D3B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MY" sz="5400" dirty="0"/>
          </a:p>
          <a:p>
            <a:pPr algn="ctr"/>
            <a:endParaRPr lang="en-MY" sz="5400" dirty="0"/>
          </a:p>
          <a:p>
            <a:pPr algn="ctr"/>
            <a:r>
              <a:rPr lang="en-MY" sz="5400" dirty="0"/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2A3F4-67CF-5FFB-1431-44333AB71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114" y="178229"/>
            <a:ext cx="1436695" cy="141275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F7B67CA-0935-333E-A617-63355D1C9A39}"/>
              </a:ext>
            </a:extLst>
          </p:cNvPr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254835298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3379</TotalTime>
  <Words>2104</Words>
  <Application>Microsoft Office PowerPoint</Application>
  <PresentationFormat>Widescreen</PresentationFormat>
  <Paragraphs>227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Calibri</vt:lpstr>
      <vt:lpstr>Calibri Light</vt:lpstr>
      <vt:lpstr>Wingdings</vt:lpstr>
      <vt:lpstr>Retrospect</vt:lpstr>
      <vt:lpstr>Software Project Management</vt:lpstr>
      <vt:lpstr>Project Cost Management</vt:lpstr>
      <vt:lpstr>Project Cost Management</vt:lpstr>
      <vt:lpstr>Processes for project cost management</vt:lpstr>
      <vt:lpstr>Processes for project cost management</vt:lpstr>
      <vt:lpstr>Processes for project cost management</vt:lpstr>
      <vt:lpstr>Basic Principles of Cost Management</vt:lpstr>
      <vt:lpstr>Basic Principles of Cost Management</vt:lpstr>
      <vt:lpstr>Basic Principles of Cost Management</vt:lpstr>
      <vt:lpstr>Basic Principles of Cost Management</vt:lpstr>
      <vt:lpstr>Basic Principles of Cost Management</vt:lpstr>
      <vt:lpstr>Basic Principles of Cost Management</vt:lpstr>
      <vt:lpstr>Basic Principles of Cost Management</vt:lpstr>
      <vt:lpstr>Processes for project cost management</vt:lpstr>
      <vt:lpstr>Processes for project cost management</vt:lpstr>
      <vt:lpstr>Planning Cost Management</vt:lpstr>
      <vt:lpstr>Planning Cost Management</vt:lpstr>
      <vt:lpstr>Planning Cost Management</vt:lpstr>
      <vt:lpstr>Planning Cost Management</vt:lpstr>
      <vt:lpstr>Planning Cost Management</vt:lpstr>
      <vt:lpstr>Planning Cost Management</vt:lpstr>
      <vt:lpstr>Processes for project cost management</vt:lpstr>
      <vt:lpstr>Estimating Costs</vt:lpstr>
      <vt:lpstr>Types of Cost Estimates</vt:lpstr>
      <vt:lpstr>Types of Cost Estimates</vt:lpstr>
      <vt:lpstr>Types of Cost Estimates</vt:lpstr>
      <vt:lpstr>Types of Cost Estimates</vt:lpstr>
      <vt:lpstr>Types of Cost Estimates</vt:lpstr>
      <vt:lpstr>Types of Cost Estimates</vt:lpstr>
      <vt:lpstr>Types of Cost Estimates</vt:lpstr>
      <vt:lpstr>Types of Cost Estimates</vt:lpstr>
      <vt:lpstr>Processes for project cost management</vt:lpstr>
      <vt:lpstr>Controlling Costs </vt:lpstr>
      <vt:lpstr>Controlling Cost</vt:lpstr>
      <vt:lpstr>Earned Value Management (EVM)</vt:lpstr>
      <vt:lpstr>EVM Variance Calculations</vt:lpstr>
      <vt:lpstr>EVM Performance Indexes</vt:lpstr>
      <vt:lpstr>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Faculty &amp; Staff Exit Policy</dc:title>
  <dc:creator>Microsoft account</dc:creator>
  <cp:lastModifiedBy>Sumaira Nazir</cp:lastModifiedBy>
  <cp:revision>167</cp:revision>
  <dcterms:created xsi:type="dcterms:W3CDTF">2023-06-17T14:04:48Z</dcterms:created>
  <dcterms:modified xsi:type="dcterms:W3CDTF">2025-12-08T06:25:00Z</dcterms:modified>
</cp:coreProperties>
</file>