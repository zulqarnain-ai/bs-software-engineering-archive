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7" r:id="rId2"/>
    <p:sldMasterId id="2147483658" r:id="rId3"/>
  </p:sldMasterIdLst>
  <p:notesMasterIdLst>
    <p:notesMasterId r:id="rId6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9144000" cy="6858000" type="screen4x3"/>
  <p:notesSz cx="7315200" cy="96012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Calibri Light" panose="020F0302020204030204" pitchFamily="34" charset="0"/>
      <p:regular r:id="rId65"/>
      <p:italic r:id="rId66"/>
    </p:embeddedFont>
    <p:embeddedFont>
      <p:font typeface="Corbel" panose="020B0503020204020204" pitchFamily="34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font" Target="fonts/font6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1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7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05" name="Google Shape;405;p5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2100"/>
              <a:buNone/>
              <a:defRPr>
                <a:solidFill>
                  <a:srgbClr val="595959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Title Slide">
  <p:cSld name="11 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0" y="2573383"/>
            <a:ext cx="9144000" cy="171123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5163094" y="4738508"/>
            <a:ext cx="3889466" cy="46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1050"/>
              </a:buClr>
              <a:buSzPts val="2100"/>
              <a:buNone/>
              <a:defRPr sz="2100" b="1">
                <a:solidFill>
                  <a:srgbClr val="001050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97972" y="692332"/>
            <a:ext cx="3301637" cy="104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2F2F2"/>
              </a:buClr>
              <a:buSzPts val="3600"/>
              <a:buNone/>
              <a:defRPr sz="3600" b="1">
                <a:solidFill>
                  <a:srgbClr val="F2F2F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3"/>
          </p:nvPr>
        </p:nvSpPr>
        <p:spPr>
          <a:xfrm>
            <a:off x="5721531" y="692332"/>
            <a:ext cx="3350623" cy="105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31268-26AB-426C-ADAA-CD67B3C15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02FAC-8193-4673-9963-4394B474C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8CA62-2A14-48EC-A5DB-A05D6D8C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F6D39-A6DF-4F67-BFB7-D48D4628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5F67-B8D4-4B80-ABBA-36A54BE4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63416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17A6-0F5E-4041-A670-F0A3FD1E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61C2-F014-4000-A503-FDA4755A3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F0F7C-020C-4232-A020-614535E4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BAB44-43E8-4012-984F-07A74A105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BFA7C-69D4-4425-AC00-AE8C96BA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1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590E-97EB-4622-B9D1-31582BBA4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5681-DB96-489F-91F5-CA65FA1FF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AA5B1-4209-482C-9BBC-CD550BD6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8033-2E4E-4845-8A54-1F10D65A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B7071-698D-4446-A565-332EC258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FD71-057F-4E35-A8D5-E4EDCEE4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CDBA0-C4EB-4A61-B4B2-8D2F2AF47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5E7AC-4C8F-4565-8ABB-944EF6521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977BD-3663-4C97-BAAC-000975D2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64E16-487E-41E4-86B4-3B485323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1D87A-C718-43B2-9368-857F4C10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08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721B-9F21-4E21-8DCA-396585DF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3FAC4-CC32-42EE-BF71-A76E0E91F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B1D20-71DF-4834-BE7C-26A46274A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B90C0-D186-476A-BEC0-610E9ECB8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9ABA3-0F13-4668-BBDD-409F5622F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A3148E-0196-428F-BC8C-06B740C9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D267E-E489-4B8B-A82B-614590E8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1321B-C60B-462D-8B95-E95D5FF7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12897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0A52-0412-489A-88F2-A4E5CC2B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E4542-1535-4DE3-8F90-0ECEDA8A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7B03A-20D9-4C8A-9E59-FF2CDF18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F67E7-411D-485E-B2E6-C9588F4F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8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188E8-E958-4412-A248-7F5C6815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EC68C-5F1F-4221-A623-4BA5C21B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89CCE-5FC9-4418-9A7E-59E4CE3C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8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67F5-6D5C-42C6-ACF2-E6EFE96A2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923EC-802A-4D60-A954-DB90E6C47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6805C-94BD-40E9-8934-C993AEDE2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47CD5-12CC-476C-A7BC-E31795FB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68DFA-A772-4986-ACD0-5941E5B4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CDA70-5645-4C1F-B140-BF388E5D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880003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1EAA-73AD-470A-9345-6183C47B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13EEF-815C-4F04-9494-120EAA474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A7194-8BB9-45A3-8AED-2F60B62FC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1F4C0-70F6-40CF-A1BD-6696EBD5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41ED6-2A7E-4BCB-9938-61E7952A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AE35F-92E3-47E8-90DF-247A306D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661115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3A3A-B105-46F3-865B-709495CD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C71A6-A4BC-4A61-90AE-D2EFC2DE4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569DC-13E2-4A02-AD5B-A4E169C2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8461A-FF75-4B6E-8C03-F7277F14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37E23-A2EE-4A11-9E5E-CBA69EE43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478685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B401C-C862-42AB-AF39-93D371A5D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6642D-EBA6-4816-80A5-B13355D3A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46C92-7C44-4FF8-A81F-2163C171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25E62-FC4A-4B88-BD68-4E80D6FF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C789C-6221-4B56-8AA6-7AB38958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04720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-9525" y="596900"/>
            <a:ext cx="3481387" cy="1244600"/>
          </a:xfrm>
          <a:prstGeom prst="rect">
            <a:avLst/>
          </a:prstGeom>
          <a:solidFill>
            <a:srgbClr val="001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5668962" y="604837"/>
            <a:ext cx="3481387" cy="1246187"/>
          </a:xfrm>
          <a:prstGeom prst="rect">
            <a:avLst/>
          </a:prstGeom>
          <a:solidFill>
            <a:srgbClr val="001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3ABA9-78AB-4BA4-84FD-34E7F222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20D89-D4D1-44D9-AF07-FAFF0F56F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8221F-02A0-484E-9327-7D6ABB195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72DF3-1A36-45E7-917B-6914AD17C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68969-87AE-4FCE-82F4-1C0E1F0E7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799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ctrTitle"/>
          </p:nvPr>
        </p:nvSpPr>
        <p:spPr>
          <a:xfrm>
            <a:off x="685800" y="2590800"/>
            <a:ext cx="8077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b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REENGINEERING</a:t>
            </a:r>
            <a:endParaRPr/>
          </a:p>
        </p:txBody>
      </p:sp>
      <p:sp>
        <p:nvSpPr>
          <p:cNvPr id="69" name="Google Shape;69;p11"/>
          <p:cNvSpPr txBox="1"/>
          <p:nvPr/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rbel"/>
              <a:buNone/>
            </a:pPr>
            <a:fld id="{00000000-1234-1234-1234-123412341234}" type="slidenum">
              <a:rPr lang="en-US" sz="16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886700" cy="13255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Lecture Summary</a:t>
            </a:r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idx="1"/>
          </p:nvPr>
        </p:nvSpPr>
        <p:spPr>
          <a:xfrm>
            <a:off x="457200" y="1774825"/>
            <a:ext cx="8229600" cy="256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 strike="noStrike" cap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explain why software re-engineering is a cost-effective option for system evolution</a:t>
            </a:r>
            <a:endParaRPr/>
          </a:p>
          <a:p>
            <a:pPr marL="171450" marR="0" lvl="0" indent="-171450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 strike="noStrike" cap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describe the activities involved in the software re-engineering process </a:t>
            </a:r>
            <a:endParaRPr/>
          </a:p>
          <a:p>
            <a:pPr marL="171450" marR="0" lvl="0" indent="-171450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 strike="noStrike" cap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distinguish between software and data re-engineering and to explain the problems of data re-engineering</a:t>
            </a:r>
            <a:endParaRPr/>
          </a:p>
          <a:p>
            <a:pPr marL="171450" marR="0" lvl="0" indent="-171450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 strike="noStrike" cap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Distinguish between Business process reengineering and software reengineering process</a:t>
            </a:r>
            <a:endParaRPr/>
          </a:p>
          <a:p>
            <a:pPr marL="171450" marR="0" lvl="0" indent="-38100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endParaRPr sz="2100" b="1" i="0" u="none" strike="noStrike" cap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endParaRPr sz="21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</a:pPr>
            <a:fld id="{00000000-1234-1234-1234-123412341234}" type="slidenum">
              <a:rPr lang="en-US" sz="1600" b="0" i="0" u="none" strike="noStrike" cap="non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2971800" y="623887"/>
            <a:ext cx="5562600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Topics</a:t>
            </a:r>
            <a:r>
              <a:rPr lang="en-US" sz="3600" b="1" i="0" u="none" dirty="0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covered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3" name="Google Shape;83;p13"/>
          <p:cNvSpPr txBox="1">
            <a:spLocks noGrp="1"/>
          </p:cNvSpPr>
          <p:nvPr>
            <p:ph idx="1"/>
          </p:nvPr>
        </p:nvSpPr>
        <p:spPr>
          <a:xfrm>
            <a:off x="1066800" y="1295400"/>
            <a:ext cx="7467600" cy="461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Source code translation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</a:t>
            </a:r>
            <a:r>
              <a:rPr lang="en-US" sz="2800" b="1" i="0" u="none" dirty="0" err="1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modularisation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1371600" y="144518"/>
            <a:ext cx="6589712" cy="7397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Software re-engineering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9" name="Google Shape;89;p14"/>
          <p:cNvSpPr txBox="1">
            <a:spLocks noGrp="1"/>
          </p:cNvSpPr>
          <p:nvPr>
            <p:ph idx="1"/>
          </p:nvPr>
        </p:nvSpPr>
        <p:spPr>
          <a:xfrm>
            <a:off x="669925" y="1227083"/>
            <a:ext cx="8245475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Reorganising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modifying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existing software systems to make them more maintainable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"the examination of a subject system to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reconstitute it in a new form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and the subsequent implementation of the new form. </a:t>
            </a:r>
            <a:endParaRPr/>
          </a:p>
          <a:p>
            <a:pPr marL="17145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1524000" y="144518"/>
            <a:ext cx="6589712" cy="5953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System re-engineering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95" name="Google Shape;95;p15"/>
          <p:cNvSpPr txBox="1">
            <a:spLocks noGrp="1"/>
          </p:cNvSpPr>
          <p:nvPr>
            <p:ph idx="1"/>
          </p:nvPr>
        </p:nvSpPr>
        <p:spPr>
          <a:xfrm>
            <a:off x="914400" y="1219200"/>
            <a:ext cx="7620000" cy="469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Re-structuring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re-writing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part or all of a </a:t>
            </a:r>
            <a:b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legacy system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without changing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its </a:t>
            </a:r>
            <a:b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functionality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Applicable where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some parts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, but not all sub-systems, of a larger system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require frequent </a:t>
            </a:r>
            <a:b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Re-engineering involves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adding effort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make </a:t>
            </a:r>
            <a:b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them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easier to maintain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. The system may be re-structured and re-documented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1371600" y="144517"/>
            <a:ext cx="6589712" cy="5953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When to re-engineer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1" name="Google Shape;101;p16"/>
          <p:cNvSpPr txBox="1">
            <a:spLocks noGrp="1"/>
          </p:cNvSpPr>
          <p:nvPr>
            <p:ph idx="1"/>
          </p:nvPr>
        </p:nvSpPr>
        <p:spPr>
          <a:xfrm>
            <a:off x="304800" y="1143000"/>
            <a:ext cx="8610600" cy="47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system changes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are mostly limited to </a:t>
            </a:r>
            <a:b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part of the system then re-engineer that part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hardware or software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support becomes </a:t>
            </a:r>
            <a:b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outdated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ways of accessing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are needed, but its functionality remains there.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tool support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available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1447800" y="76200"/>
            <a:ext cx="6589712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Re-engineering advantages</a:t>
            </a:r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idx="1"/>
          </p:nvPr>
        </p:nvSpPr>
        <p:spPr>
          <a:xfrm>
            <a:off x="914400" y="990600"/>
            <a:ext cx="8001000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Reduced risk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high risk in new software development. There may be development problems, staffing problems and specification problems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Reduced cost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cost of re-engineering is often significantly less than the costs of developing new software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1066800" y="68317"/>
            <a:ext cx="7467600" cy="6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Business process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3" name="Google Shape;113;p18"/>
          <p:cNvSpPr txBox="1">
            <a:spLocks noGrp="1"/>
          </p:cNvSpPr>
          <p:nvPr>
            <p:ph idx="1"/>
          </p:nvPr>
        </p:nvSpPr>
        <p:spPr>
          <a:xfrm>
            <a:off x="838200" y="1143000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 business process is a series of steps performed by a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group of stakeholders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achieve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concrete goal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A business process is a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collection of linked tasks </a:t>
            </a:r>
            <a:r>
              <a:rPr lang="en-US" sz="2800" b="1" i="0" u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that find their end in the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delivery of a service </a:t>
            </a:r>
            <a:r>
              <a:rPr lang="en-US" sz="2800" b="1" i="0" u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lang="en-US" sz="2800" b="1" i="0" u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 to a client. 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A business process has also been defined as a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set of activities</a:t>
            </a:r>
            <a:r>
              <a:rPr lang="en-US" sz="2800" b="1" i="0" u="none">
                <a:solidFill>
                  <a:srgbClr val="202124"/>
                </a:solidFill>
                <a:latin typeface="Calibri"/>
                <a:ea typeface="Calibri"/>
                <a:cs typeface="Calibri"/>
                <a:sym typeface="Calibri"/>
              </a:rPr>
              <a:t> and tasks that, once completed, will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accomplish an organizational goal.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1066800" y="152400"/>
            <a:ext cx="7467600" cy="6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Business process re-engineering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9" name="Google Shape;119;p19"/>
          <p:cNvSpPr txBox="1">
            <a:spLocks noGrp="1"/>
          </p:cNvSpPr>
          <p:nvPr>
            <p:ph idx="1"/>
          </p:nvPr>
        </p:nvSpPr>
        <p:spPr>
          <a:xfrm>
            <a:off x="838200" y="1143000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Concerned with </a:t>
            </a:r>
            <a:r>
              <a:rPr lang="en-US" sz="2800" b="1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re-designing business processes </a:t>
            </a: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make them </a:t>
            </a:r>
            <a:r>
              <a:rPr lang="en-US" sz="2800" b="1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responsive </a:t>
            </a: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 b="1" i="0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efficient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Often dependent on the introduction of new software or systems to support the revised processes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May force software re-engineering as the legacy systems are designed to support existing processes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1143000" y="7390"/>
            <a:ext cx="6196012" cy="5508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63500" tIns="25400" rIns="63500" bIns="254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Business Process Reengineering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658812"/>
            <a:ext cx="5867400" cy="597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xfrm>
            <a:off x="1066800" y="239712"/>
            <a:ext cx="7315200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Business Process Reengineering</a:t>
            </a:r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idx="1"/>
          </p:nvPr>
        </p:nvSpPr>
        <p:spPr>
          <a:xfrm>
            <a:off x="4826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Business definition</a:t>
            </a:r>
            <a:r>
              <a:rPr lang="en-US" sz="2800" b="1" i="0" u="none">
                <a:solidFill>
                  <a:srgbClr val="F3FF0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 Business goals are identified within the context of four key points: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cost reduction,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time reduction,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quality improvement,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personnel development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1066800" y="239712"/>
            <a:ext cx="7315200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Business Process Reengineering</a:t>
            </a:r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idx="1"/>
          </p:nvPr>
        </p:nvSpPr>
        <p:spPr>
          <a:xfrm>
            <a:off x="4826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Process identification</a:t>
            </a:r>
            <a:r>
              <a:rPr lang="en-US" sz="2800" b="1" i="0" u="none">
                <a:solidFill>
                  <a:srgbClr val="F3FF0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 Processes that are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critical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(dangerous)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 achieving the goals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(defined in the business definition) are identified.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Process evaluation</a:t>
            </a:r>
            <a:r>
              <a:rPr lang="en-US" sz="2800" b="1" i="0" u="none">
                <a:solidFill>
                  <a:srgbClr val="F3FF0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 The existing process is thoroughly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analyzed and measured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1066800" y="239712"/>
            <a:ext cx="7315200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Business Process Reengineering</a:t>
            </a:r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idx="1"/>
          </p:nvPr>
        </p:nvSpPr>
        <p:spPr>
          <a:xfrm>
            <a:off x="4826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Process specification and design</a:t>
            </a:r>
            <a:r>
              <a:rPr lang="en-US" sz="2800" b="1" i="0" u="none">
                <a:solidFill>
                  <a:srgbClr val="F3FF0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 Based on information obtained during the first three BPR activities,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use-cases are prepared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each process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that is to be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redesigned.</a:t>
            </a:r>
            <a:endParaRPr/>
          </a:p>
          <a:p>
            <a:pPr marL="17145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1066800" y="239712"/>
            <a:ext cx="7315200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Business Process Reengineering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idx="1"/>
          </p:nvPr>
        </p:nvSpPr>
        <p:spPr>
          <a:xfrm>
            <a:off x="4826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Prototyping. 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 redesigned business process must be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prototyped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it is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fully integrated into the business.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Refinement and representation. 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Based on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feedback from the prototype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, the business process is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refined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and then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represented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US" sz="2800" b="1" i="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a business system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Forward engineering and re-engineering</a:t>
            </a:r>
            <a:endParaRPr/>
          </a:p>
        </p:txBody>
      </p:sp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750" y="2524125"/>
            <a:ext cx="8883650" cy="289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Process</a:t>
            </a:r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idx="1"/>
          </p:nvPr>
        </p:nvSpPr>
        <p:spPr>
          <a:xfrm>
            <a:off x="1066800" y="1295400"/>
            <a:ext cx="7467600" cy="461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Source code translation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modularisation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1277937" y="228600"/>
            <a:ext cx="6588125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The re-engineering process</a:t>
            </a:r>
            <a:endParaRPr/>
          </a:p>
        </p:txBody>
      </p:sp>
      <p:pic>
        <p:nvPicPr>
          <p:cNvPr id="172" name="Google Shape;172;p27" descr="28.2 Reeng-process.eps                                         00003042Docs                           B1931E2B: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037" y="1524000"/>
            <a:ext cx="9236075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628650" y="249513"/>
            <a:ext cx="78867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Re-engineering cost factors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idx="1"/>
          </p:nvPr>
        </p:nvSpPr>
        <p:spPr>
          <a:xfrm>
            <a:off x="420414" y="1952624"/>
            <a:ext cx="7924800" cy="255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800" b="1" i="1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r>
              <a:rPr lang="en-US" sz="2800" b="1" i="1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of the software to be re-engineered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800" b="1" i="1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tool support</a:t>
            </a:r>
            <a:r>
              <a:rPr lang="en-US" sz="2800" b="1" i="1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available for re-engineering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800" b="1" i="1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extent of the data conversion</a:t>
            </a:r>
            <a:r>
              <a:rPr lang="en-US" sz="2800" b="1" i="1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which is required</a:t>
            </a:r>
            <a:endParaRPr dirty="0"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availability of </a:t>
            </a:r>
            <a:r>
              <a:rPr lang="en-US" sz="2800" b="1" i="1" u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expert staff</a:t>
            </a:r>
            <a:r>
              <a:rPr lang="en-US" sz="2800" b="1" i="0" u="none" dirty="0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for re-engineering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cost factors</a:t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62" y="1981200"/>
            <a:ext cx="888047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cost factors</a:t>
            </a:r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12" y="2286000"/>
            <a:ext cx="9096375" cy="128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1371600" y="762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cost factors</a:t>
            </a:r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idx="1"/>
          </p:nvPr>
        </p:nvSpPr>
        <p:spPr>
          <a:xfrm>
            <a:off x="381000" y="1143000"/>
            <a:ext cx="84582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Computer aided software engineering </a:t>
            </a:r>
            <a:r>
              <a:rPr lang="en-US" sz="2800" b="1" i="0" u="none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(CASE) is the implementation of computer facilitated tools and methods in software development. 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lang="en-US" sz="2800" b="1" i="0" u="none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 is used to ensure a high-quality and defect-free software. 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CASE ensures a check-pointed and disciplined approach and helps designers, developers, testers, managers and others to see the project milestones during development. 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approaches</a:t>
            </a:r>
            <a:endParaRPr/>
          </a:p>
        </p:txBody>
      </p:sp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37" y="2447925"/>
            <a:ext cx="8596312" cy="312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Process</a:t>
            </a:r>
            <a:endParaRPr/>
          </a:p>
        </p:txBody>
      </p:sp>
      <p:sp>
        <p:nvSpPr>
          <p:cNvPr id="208" name="Google Shape;208;p33"/>
          <p:cNvSpPr txBox="1">
            <a:spLocks noGrp="1"/>
          </p:cNvSpPr>
          <p:nvPr>
            <p:ph idx="1"/>
          </p:nvPr>
        </p:nvSpPr>
        <p:spPr>
          <a:xfrm>
            <a:off x="1066800" y="1295400"/>
            <a:ext cx="7467600" cy="461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Source code translation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modularisation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6588125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1.Source Code Translation</a:t>
            </a:r>
            <a:endParaRPr/>
          </a:p>
        </p:txBody>
      </p:sp>
      <p:sp>
        <p:nvSpPr>
          <p:cNvPr id="214" name="Google Shape;214;p34"/>
          <p:cNvSpPr txBox="1">
            <a:spLocks noGrp="1"/>
          </p:cNvSpPr>
          <p:nvPr>
            <p:ph idx="1"/>
          </p:nvPr>
        </p:nvSpPr>
        <p:spPr>
          <a:xfrm>
            <a:off x="533400" y="11430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Involves converting the code from one language (or language version) to another e.g. FORTRAN to C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May be necessary because of: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platform update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skill shortages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Organisational policy changes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Only realistic if an automatic translator is available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7543800" cy="8239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The program translation process</a:t>
            </a:r>
            <a:endParaRPr/>
          </a:p>
        </p:txBody>
      </p:sp>
      <p:pic>
        <p:nvPicPr>
          <p:cNvPr id="220" name="Google Shape;22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487" y="2057400"/>
            <a:ext cx="8785225" cy="208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Process</a:t>
            </a:r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idx="1"/>
          </p:nvPr>
        </p:nvSpPr>
        <p:spPr>
          <a:xfrm>
            <a:off x="1066800" y="1295400"/>
            <a:ext cx="7467600" cy="461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Source code translation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modularisation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1447800" y="1524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2. Reverse engineering</a:t>
            </a:r>
            <a:endParaRPr/>
          </a:p>
        </p:txBody>
      </p:sp>
      <p:sp>
        <p:nvSpPr>
          <p:cNvPr id="232" name="Google Shape;232;p37"/>
          <p:cNvSpPr txBox="1">
            <a:spLocks noGrp="1"/>
          </p:cNvSpPr>
          <p:nvPr>
            <p:ph idx="1"/>
          </p:nvPr>
        </p:nvSpPr>
        <p:spPr>
          <a:xfrm>
            <a:off x="304800" y="12192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Analysing software with a view to understanding its design and specification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Part of a re-engineering process and may also be used to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re-specify a system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re-implementation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Builds a program database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and generates information from this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>
            <a:spLocks noGrp="1"/>
          </p:cNvSpPr>
          <p:nvPr>
            <p:ph type="title"/>
          </p:nvPr>
        </p:nvSpPr>
        <p:spPr>
          <a:xfrm>
            <a:off x="1600200" y="152400"/>
            <a:ext cx="6589712" cy="5953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</p:txBody>
      </p:sp>
      <p:sp>
        <p:nvSpPr>
          <p:cNvPr id="238" name="Google Shape;238;p38"/>
          <p:cNvSpPr txBox="1">
            <a:spLocks noGrp="1"/>
          </p:cNvSpPr>
          <p:nvPr>
            <p:ph idx="1"/>
          </p:nvPr>
        </p:nvSpPr>
        <p:spPr>
          <a:xfrm>
            <a:off x="533400" y="1219200"/>
            <a:ext cx="83058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marR="0" lvl="0" indent="-5334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“Reverse engineering is the process of analyzing a subject system with two goals in mind: </a:t>
            </a:r>
            <a:b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marL="533400" marR="0" lvl="0" indent="-53340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(1)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identify the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system's components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and their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interrelationships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marL="533400" marR="0" lvl="0" indent="-53340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3400" marR="0" lvl="0" indent="-53340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(2)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representations 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of the system in another form or at a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higher level of abstraction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." </a:t>
            </a:r>
            <a:endParaRPr/>
          </a:p>
          <a:p>
            <a:pPr marL="533400" marR="0" lvl="0" indent="-355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3400" marR="0" lvl="0" indent="-5334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>
            <a:spLocks noGrp="1"/>
          </p:cNvSpPr>
          <p:nvPr>
            <p:ph type="title"/>
          </p:nvPr>
        </p:nvSpPr>
        <p:spPr>
          <a:xfrm>
            <a:off x="990600" y="152400"/>
            <a:ext cx="7543800" cy="8239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The reverse engineering process</a:t>
            </a:r>
            <a:endParaRPr/>
          </a:p>
        </p:txBody>
      </p:sp>
      <p:pic>
        <p:nvPicPr>
          <p:cNvPr id="244" name="Google Shape;24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50" y="2562225"/>
            <a:ext cx="9042400" cy="24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>
            <a:spLocks noGrp="1"/>
          </p:cNvSpPr>
          <p:nvPr>
            <p:ph type="title"/>
          </p:nvPr>
        </p:nvSpPr>
        <p:spPr>
          <a:xfrm>
            <a:off x="1447800" y="762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</p:txBody>
      </p:sp>
      <p:sp>
        <p:nvSpPr>
          <p:cNvPr id="250" name="Google Shape;250;p40"/>
          <p:cNvSpPr txBox="1">
            <a:spLocks noGrp="1"/>
          </p:cNvSpPr>
          <p:nvPr>
            <p:ph idx="1"/>
          </p:nvPr>
        </p:nvSpPr>
        <p:spPr>
          <a:xfrm>
            <a:off x="533400" y="1143000"/>
            <a:ext cx="8382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marR="0" lvl="0" indent="-5334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“Design recovery is a subset of reverse engineering in which domain knowledge, external information, and fuzzy reasoning are added to the observations of the subject system." </a:t>
            </a:r>
            <a:endParaRPr/>
          </a:p>
          <a:p>
            <a:pPr marL="533400" marR="0" lvl="0" indent="-53340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objective of design recovery is to identify meaningful higher-level abstractions beyond those obtained directly by examining the system itself. </a:t>
            </a:r>
            <a:endParaRPr/>
          </a:p>
          <a:p>
            <a:pPr marL="17145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>
            <a:spLocks noGrp="1"/>
          </p:cNvSpPr>
          <p:nvPr>
            <p:ph type="title"/>
          </p:nvPr>
        </p:nvSpPr>
        <p:spPr>
          <a:xfrm>
            <a:off x="1447800" y="152400"/>
            <a:ext cx="6589712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</p:txBody>
      </p:sp>
      <p:sp>
        <p:nvSpPr>
          <p:cNvPr id="256" name="Google Shape;256;p41"/>
          <p:cNvSpPr txBox="1">
            <a:spLocks noGrp="1"/>
          </p:cNvSpPr>
          <p:nvPr>
            <p:ph idx="1"/>
          </p:nvPr>
        </p:nvSpPr>
        <p:spPr>
          <a:xfrm>
            <a:off x="762000" y="1066800"/>
            <a:ext cx="8001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 often leads re-engineering: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design and specification of a system may be reverse engineered so that they can be an input to the requirements specification process for the system’s replacement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design and specification may be reverse engineered to support program maintenance and reengineering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Process</a:t>
            </a:r>
            <a:endParaRPr/>
          </a:p>
        </p:txBody>
      </p:sp>
      <p:sp>
        <p:nvSpPr>
          <p:cNvPr id="262" name="Google Shape;262;p42"/>
          <p:cNvSpPr txBox="1">
            <a:spLocks noGrp="1"/>
          </p:cNvSpPr>
          <p:nvPr>
            <p:ph idx="1"/>
          </p:nvPr>
        </p:nvSpPr>
        <p:spPr>
          <a:xfrm>
            <a:off x="914400" y="1447800"/>
            <a:ext cx="7467600" cy="461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Source code translation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modularisation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>
            <a:spLocks noGrp="1"/>
          </p:cNvSpPr>
          <p:nvPr>
            <p:ph type="title"/>
          </p:nvPr>
        </p:nvSpPr>
        <p:spPr>
          <a:xfrm>
            <a:off x="1204912" y="187325"/>
            <a:ext cx="7315200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3. Program structure improvement</a:t>
            </a:r>
            <a:endParaRPr/>
          </a:p>
        </p:txBody>
      </p:sp>
      <p:sp>
        <p:nvSpPr>
          <p:cNvPr id="268" name="Google Shape;268;p43"/>
          <p:cNvSpPr txBox="1">
            <a:spLocks noGrp="1"/>
          </p:cNvSpPr>
          <p:nvPr>
            <p:ph idx="1"/>
          </p:nvPr>
        </p:nvSpPr>
        <p:spPr>
          <a:xfrm>
            <a:off x="457200" y="1219200"/>
            <a:ext cx="8458200" cy="545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Maintenance tends to corrupt the structure of a program. It becomes harder and harder to understand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program may be automatically restructured to remove unconditional branches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Conditions may be simplified to make them more readable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>
            <a:spLocks noGrp="1"/>
          </p:cNvSpPr>
          <p:nvPr>
            <p:ph type="title"/>
          </p:nvPr>
        </p:nvSpPr>
        <p:spPr>
          <a:xfrm>
            <a:off x="1204912" y="187325"/>
            <a:ext cx="7315200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/>
          </a:p>
        </p:txBody>
      </p:sp>
      <p:sp>
        <p:nvSpPr>
          <p:cNvPr id="274" name="Google Shape;274;p44"/>
          <p:cNvSpPr txBox="1">
            <a:spLocks noGrp="1"/>
          </p:cNvSpPr>
          <p:nvPr>
            <p:ph idx="1"/>
          </p:nvPr>
        </p:nvSpPr>
        <p:spPr>
          <a:xfrm>
            <a:off x="457200" y="1219200"/>
            <a:ext cx="8458200" cy="545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Program Re-structuring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Condition Simplification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Automatic Program Re-structuring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Re-structuring Problems</a:t>
            </a:r>
            <a:endParaRPr/>
          </a:p>
          <a:p>
            <a:pPr marL="17145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>
            <a:spLocks noGrp="1"/>
          </p:cNvSpPr>
          <p:nvPr>
            <p:ph type="title"/>
          </p:nvPr>
        </p:nvSpPr>
        <p:spPr>
          <a:xfrm>
            <a:off x="1524000" y="152400"/>
            <a:ext cx="6589712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Program Restructuring</a:t>
            </a:r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idx="1"/>
          </p:nvPr>
        </p:nvSpPr>
        <p:spPr>
          <a:xfrm>
            <a:off x="533400" y="1219200"/>
            <a:ext cx="8305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“Restructuring is a transformation from one form of representation to another at the same relative level of abstraction." </a:t>
            </a:r>
            <a:endParaRPr/>
          </a:p>
          <a:p>
            <a:pPr marL="171450" marR="0" lvl="0" indent="-17780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new representation is meant to preserve the semantics and external behaviour of the original. 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None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marL="17145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>
            <a:spLocks noGrp="1"/>
          </p:cNvSpPr>
          <p:nvPr>
            <p:ph type="title"/>
          </p:nvPr>
        </p:nvSpPr>
        <p:spPr>
          <a:xfrm>
            <a:off x="1676400" y="58737"/>
            <a:ext cx="6589712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Spaghetti logic</a:t>
            </a:r>
            <a:endParaRPr/>
          </a:p>
        </p:txBody>
      </p:sp>
      <p:pic>
        <p:nvPicPr>
          <p:cNvPr id="286" name="Google Shape;286;p46"/>
          <p:cNvPicPr preferRelativeResize="0"/>
          <p:nvPr/>
        </p:nvPicPr>
        <p:blipFill rotWithShape="1">
          <a:blip r:embed="rId3">
            <a:alphaModFix/>
          </a:blip>
          <a:srcRect l="19657" t="66554" r="12535"/>
          <a:stretch/>
        </p:blipFill>
        <p:spPr>
          <a:xfrm>
            <a:off x="914400" y="568325"/>
            <a:ext cx="8059737" cy="613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>
            <a:spLocks noGrp="1"/>
          </p:cNvSpPr>
          <p:nvPr>
            <p:ph type="title"/>
          </p:nvPr>
        </p:nvSpPr>
        <p:spPr>
          <a:xfrm>
            <a:off x="1600200" y="23812"/>
            <a:ext cx="6589712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Structured control logic</a:t>
            </a:r>
            <a:endParaRPr/>
          </a:p>
        </p:txBody>
      </p:sp>
      <p:pic>
        <p:nvPicPr>
          <p:cNvPr id="292" name="Google Shape;292;p47"/>
          <p:cNvPicPr preferRelativeResize="0"/>
          <p:nvPr/>
        </p:nvPicPr>
        <p:blipFill rotWithShape="1">
          <a:blip r:embed="rId3">
            <a:alphaModFix/>
          </a:blip>
          <a:srcRect r="23258" b="6822"/>
          <a:stretch/>
        </p:blipFill>
        <p:spPr>
          <a:xfrm>
            <a:off x="679450" y="685800"/>
            <a:ext cx="831215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>
            <a:spLocks noGrp="1"/>
          </p:cNvSpPr>
          <p:nvPr>
            <p:ph type="title"/>
          </p:nvPr>
        </p:nvSpPr>
        <p:spPr>
          <a:xfrm>
            <a:off x="1371600" y="762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Another Spaghetti logic</a:t>
            </a:r>
            <a:endParaRPr/>
          </a:p>
        </p:txBody>
      </p:sp>
      <p:sp>
        <p:nvSpPr>
          <p:cNvPr id="298" name="Google Shape;298;p48"/>
          <p:cNvSpPr txBox="1"/>
          <p:nvPr/>
        </p:nvSpPr>
        <p:spPr>
          <a:xfrm>
            <a:off x="1346200" y="855662"/>
            <a:ext cx="7086600" cy="591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	GOTO MAMMALS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DOG: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WALK THE DOG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GOTO CAT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MAMMALS: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GOTO DOG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FISH: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FEED THE FISH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COVER THE BIRD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GOTO FROG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PUT OUT THE CAT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GOTO FISH-AND-FOWL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FISH-AND-FOWL: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GOTO FISH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FROG: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SING TO THE FROG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>
            <a:spLocks noGrp="1"/>
          </p:cNvSpPr>
          <p:nvPr>
            <p:ph type="title"/>
          </p:nvPr>
        </p:nvSpPr>
        <p:spPr>
          <a:xfrm>
            <a:off x="228600" y="1524000"/>
            <a:ext cx="3429000" cy="1066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 b="1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Another structured control logic</a:t>
            </a:r>
            <a:endParaRPr/>
          </a:p>
        </p:txBody>
      </p:sp>
      <p:sp>
        <p:nvSpPr>
          <p:cNvPr id="304" name="Google Shape;304;p49"/>
          <p:cNvSpPr txBox="1"/>
          <p:nvPr/>
        </p:nvSpPr>
        <p:spPr>
          <a:xfrm>
            <a:off x="3886200" y="76200"/>
            <a:ext cx="4800600" cy="6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CALL FUNCTION  DOG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CALL FUNCTION  CAT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CALL FUNCTION  FISH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CALL FUNCTION  BIRD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CALL FUNCTION  FROG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EXIT.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DOG: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WALK THE DOG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PUT OUT THE CAT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FISH: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FEED THE FISH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BIRD: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COVER BIRD CAGE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FROG: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SING TO THE FROG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>
            <a:spLocks noGrp="1"/>
          </p:cNvSpPr>
          <p:nvPr>
            <p:ph type="title"/>
          </p:nvPr>
        </p:nvSpPr>
        <p:spPr>
          <a:xfrm>
            <a:off x="1447800" y="152400"/>
            <a:ext cx="6589712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Condition simplification</a:t>
            </a:r>
            <a:endParaRPr/>
          </a:p>
        </p:txBody>
      </p:sp>
      <p:sp>
        <p:nvSpPr>
          <p:cNvPr id="310" name="Google Shape;310;p50"/>
          <p:cNvSpPr txBox="1"/>
          <p:nvPr/>
        </p:nvSpPr>
        <p:spPr>
          <a:xfrm>
            <a:off x="457200" y="1371600"/>
            <a:ext cx="7580312" cy="353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825" tIns="44600" rIns="90825" bIns="446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 condition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not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 &gt; B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 &lt; D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not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 E &gt; F) ) )...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Simplified condition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 &lt;= B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(C&gt;= D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&gt; F)...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7696200" cy="7477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Automatic program restructuring</a:t>
            </a:r>
            <a:endParaRPr/>
          </a:p>
        </p:txBody>
      </p:sp>
      <p:pic>
        <p:nvPicPr>
          <p:cNvPr id="316" name="Google Shape;31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637" y="2397125"/>
            <a:ext cx="8667750" cy="3021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>
            <a:spLocks noGrp="1"/>
          </p:cNvSpPr>
          <p:nvPr>
            <p:ph type="title"/>
          </p:nvPr>
        </p:nvSpPr>
        <p:spPr>
          <a:xfrm>
            <a:off x="1276350" y="1524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Code Analyzer</a:t>
            </a:r>
            <a:endParaRPr/>
          </a:p>
        </p:txBody>
      </p:sp>
      <p:sp>
        <p:nvSpPr>
          <p:cNvPr id="322" name="Google Shape;322;p52"/>
          <p:cNvSpPr txBox="1">
            <a:spLocks noGrp="1"/>
          </p:cNvSpPr>
          <p:nvPr>
            <p:ph idx="1"/>
          </p:nvPr>
        </p:nvSpPr>
        <p:spPr>
          <a:xfrm>
            <a:off x="152400" y="10668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code analyzer </a:t>
            </a:r>
            <a:r>
              <a:rPr lang="en-US" sz="2800" b="1" i="0" u="non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is a type of </a:t>
            </a: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software testing application</a:t>
            </a:r>
            <a:r>
              <a:rPr lang="en-US" sz="2800" b="1" i="0" u="non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that reviews, </a:t>
            </a: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analyzes and reports on the source code structure</a:t>
            </a:r>
            <a:r>
              <a:rPr lang="en-US" sz="2800" b="1" i="0" u="non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 of a program or software.</a:t>
            </a:r>
            <a:endParaRPr/>
          </a:p>
          <a:p>
            <a:pPr marL="171450" marR="0" lvl="0" indent="-17780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It is used by software testers and quality assurance professionals to evaluate a program under a number of different software coding/programming regulations.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Restructuring problems</a:t>
            </a:r>
            <a:endParaRPr/>
          </a:p>
        </p:txBody>
      </p:sp>
      <p:sp>
        <p:nvSpPr>
          <p:cNvPr id="328" name="Google Shape;328;p53"/>
          <p:cNvSpPr txBox="1">
            <a:spLocks noGrp="1"/>
          </p:cNvSpPr>
          <p:nvPr>
            <p:ph idx="1"/>
          </p:nvPr>
        </p:nvSpPr>
        <p:spPr>
          <a:xfrm>
            <a:off x="762000" y="1143000"/>
            <a:ext cx="8153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Problems with re-structuring are: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of comments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of documentation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Heavy computational demands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Restructuring doesn’t help with poor modularisation where related components are scattered throughout the code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understandability of data-driven programs may not be improved by re-structuring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Restructuring problems</a:t>
            </a:r>
            <a:endParaRPr/>
          </a:p>
        </p:txBody>
      </p:sp>
      <p:sp>
        <p:nvSpPr>
          <p:cNvPr id="334" name="Google Shape;334;p54"/>
          <p:cNvSpPr txBox="1">
            <a:spLocks noGrp="1"/>
          </p:cNvSpPr>
          <p:nvPr>
            <p:ph idx="1"/>
          </p:nvPr>
        </p:nvSpPr>
        <p:spPr>
          <a:xfrm>
            <a:off x="762000" y="1143000"/>
            <a:ext cx="8153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 driven programming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 programming model where the data itself controls the flow of the program and not the program logic.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Data-driven development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 a software engineering approach that relies on data to guide the development process.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Process</a:t>
            </a:r>
            <a:endParaRPr/>
          </a:p>
        </p:txBody>
      </p:sp>
      <p:sp>
        <p:nvSpPr>
          <p:cNvPr id="340" name="Google Shape;340;p55"/>
          <p:cNvSpPr txBox="1">
            <a:spLocks noGrp="1"/>
          </p:cNvSpPr>
          <p:nvPr>
            <p:ph idx="1"/>
          </p:nvPr>
        </p:nvSpPr>
        <p:spPr>
          <a:xfrm>
            <a:off x="914400" y="1447800"/>
            <a:ext cx="7467600" cy="461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Source code translation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Program modularisation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>
            <a:spLocks noGrp="1"/>
          </p:cNvSpPr>
          <p:nvPr>
            <p:ph type="title"/>
          </p:nvPr>
        </p:nvSpPr>
        <p:spPr>
          <a:xfrm>
            <a:off x="1371600" y="762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4. Program modularisation</a:t>
            </a:r>
            <a:endParaRPr/>
          </a:p>
        </p:txBody>
      </p:sp>
      <p:sp>
        <p:nvSpPr>
          <p:cNvPr id="346" name="Google Shape;346;p56"/>
          <p:cNvSpPr txBox="1">
            <a:spLocks noGrp="1"/>
          </p:cNvSpPr>
          <p:nvPr>
            <p:ph idx="1"/>
          </p:nvPr>
        </p:nvSpPr>
        <p:spPr>
          <a:xfrm>
            <a:off x="914400" y="1219200"/>
            <a:ext cx="7620000" cy="469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process of re-organising a program so that related program parts are collected together in a single module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Usually a manual process that is carried out by program inspection and re-organisation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7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Re-Engineering Process</a:t>
            </a:r>
            <a:endParaRPr/>
          </a:p>
        </p:txBody>
      </p:sp>
      <p:sp>
        <p:nvSpPr>
          <p:cNvPr id="352" name="Google Shape;352;p57"/>
          <p:cNvSpPr txBox="1">
            <a:spLocks noGrp="1"/>
          </p:cNvSpPr>
          <p:nvPr>
            <p:ph idx="1"/>
          </p:nvPr>
        </p:nvSpPr>
        <p:spPr>
          <a:xfrm>
            <a:off x="1066800" y="1295400"/>
            <a:ext cx="7467600" cy="461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Source code translation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modularisation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 re-engineering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8"/>
          <p:cNvSpPr txBox="1">
            <a:spLocks noGrp="1"/>
          </p:cNvSpPr>
          <p:nvPr>
            <p:ph type="title"/>
          </p:nvPr>
        </p:nvSpPr>
        <p:spPr>
          <a:xfrm>
            <a:off x="1600200" y="762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5. Data re-engineering</a:t>
            </a:r>
            <a:endParaRPr/>
          </a:p>
        </p:txBody>
      </p:sp>
      <p:sp>
        <p:nvSpPr>
          <p:cNvPr id="358" name="Google Shape;358;p58"/>
          <p:cNvSpPr txBox="1">
            <a:spLocks noGrp="1"/>
          </p:cNvSpPr>
          <p:nvPr>
            <p:ph idx="1"/>
          </p:nvPr>
        </p:nvSpPr>
        <p:spPr>
          <a:xfrm>
            <a:off x="457200" y="114300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Involves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analysing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reorganising the data structures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 (and sometimes the </a:t>
            </a:r>
            <a:r>
              <a:rPr lang="en-US" sz="28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 values</a:t>
            </a: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) in a program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May be part of the process of migrating from a file-based system to a DBMS-based system or changing from one DBMS to another</a:t>
            </a:r>
            <a:endParaRPr/>
          </a:p>
          <a:p>
            <a:pPr marL="17145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Objective is to create a managed data environment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9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8112125" cy="4984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900"/>
              <a:buFont typeface="Calibri"/>
              <a:buNone/>
            </a:pPr>
            <a:r>
              <a:rPr lang="en-US" sz="29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Approaches to data re-engineering</a:t>
            </a:r>
            <a:endParaRPr/>
          </a:p>
        </p:txBody>
      </p:sp>
      <p:pic>
        <p:nvPicPr>
          <p:cNvPr id="364" name="Google Shape;364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8600" y="1704975"/>
            <a:ext cx="9829800" cy="3897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 txBox="1">
            <a:spLocks noGrp="1"/>
          </p:cNvSpPr>
          <p:nvPr>
            <p:ph type="title"/>
          </p:nvPr>
        </p:nvSpPr>
        <p:spPr>
          <a:xfrm>
            <a:off x="1676400" y="152400"/>
            <a:ext cx="6589712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Data problems</a:t>
            </a:r>
            <a:endParaRPr/>
          </a:p>
        </p:txBody>
      </p:sp>
      <p:sp>
        <p:nvSpPr>
          <p:cNvPr id="370" name="Google Shape;370;p60"/>
          <p:cNvSpPr txBox="1">
            <a:spLocks noGrp="1"/>
          </p:cNvSpPr>
          <p:nvPr>
            <p:ph idx="1"/>
          </p:nvPr>
        </p:nvSpPr>
        <p:spPr>
          <a:xfrm>
            <a:off x="381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Systems may have to process much more data than was originally intended by their designers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1" i="0" u="none">
              <a:solidFill>
                <a:srgbClr val="001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Redundant data may be stored in different formats in different places in the system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1"/>
          <p:cNvSpPr txBox="1">
            <a:spLocks noGrp="1"/>
          </p:cNvSpPr>
          <p:nvPr>
            <p:ph type="title"/>
          </p:nvPr>
        </p:nvSpPr>
        <p:spPr>
          <a:xfrm>
            <a:off x="7116762" y="5430837"/>
            <a:ext cx="1606550" cy="5302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Font typeface="Calibri"/>
              <a:buNone/>
            </a:pPr>
            <a:r>
              <a:rPr lang="en-US" sz="2200" b="1" i="0" u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Data migration</a:t>
            </a:r>
            <a:endParaRPr/>
          </a:p>
        </p:txBody>
      </p:sp>
      <p:pic>
        <p:nvPicPr>
          <p:cNvPr id="376" name="Google Shape;376;p61" descr="28.11 Data-migration.eps                                       00003042Docs                           B1931E2B: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787" y="230187"/>
            <a:ext cx="6427787" cy="603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61"/>
          <p:cNvCxnSpPr/>
          <p:nvPr/>
        </p:nvCxnSpPr>
        <p:spPr>
          <a:xfrm>
            <a:off x="7192962" y="5965825"/>
            <a:ext cx="1300162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8" name="Google Shape;378;p61"/>
          <p:cNvCxnSpPr/>
          <p:nvPr/>
        </p:nvCxnSpPr>
        <p:spPr>
          <a:xfrm>
            <a:off x="7192962" y="5507037"/>
            <a:ext cx="61118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>
            <a:spLocks noGrp="1"/>
          </p:cNvSpPr>
          <p:nvPr>
            <p:ph type="title"/>
          </p:nvPr>
        </p:nvSpPr>
        <p:spPr>
          <a:xfrm>
            <a:off x="1524000" y="152400"/>
            <a:ext cx="6589712" cy="5953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Data problems</a:t>
            </a:r>
            <a:endParaRPr/>
          </a:p>
        </p:txBody>
      </p:sp>
      <p:sp>
        <p:nvSpPr>
          <p:cNvPr id="384" name="Google Shape;384;p62"/>
          <p:cNvSpPr txBox="1">
            <a:spLocks noGrp="1"/>
          </p:cNvSpPr>
          <p:nvPr>
            <p:ph idx="1"/>
          </p:nvPr>
        </p:nvSpPr>
        <p:spPr>
          <a:xfrm>
            <a:off x="152400" y="1066800"/>
            <a:ext cx="8991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naming problems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may be hard to understand. The same data may have different names in different programs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Field length problems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item may be assigned different lengths in different programs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Record organisation problems</a:t>
            </a:r>
            <a:endParaRPr/>
          </a:p>
          <a:p>
            <a:pPr marL="514350" marR="0" lvl="1" indent="-177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representing the same entity may be organised differently in different programs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No data dictionary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3"/>
          <p:cNvSpPr txBox="1">
            <a:spLocks noGrp="1"/>
          </p:cNvSpPr>
          <p:nvPr>
            <p:ph type="title"/>
          </p:nvPr>
        </p:nvSpPr>
        <p:spPr>
          <a:xfrm>
            <a:off x="1277937" y="152400"/>
            <a:ext cx="6588125" cy="671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Data conversion</a:t>
            </a:r>
            <a:endParaRPr/>
          </a:p>
        </p:txBody>
      </p:sp>
      <p:sp>
        <p:nvSpPr>
          <p:cNvPr id="390" name="Google Shape;390;p63"/>
          <p:cNvSpPr txBox="1">
            <a:spLocks noGrp="1"/>
          </p:cNvSpPr>
          <p:nvPr>
            <p:ph idx="1"/>
          </p:nvPr>
        </p:nvSpPr>
        <p:spPr>
          <a:xfrm>
            <a:off x="381000" y="1219200"/>
            <a:ext cx="84582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 may involve changing the data structure organisation without changing the data values</a:t>
            </a:r>
            <a:endParaRPr/>
          </a:p>
          <a:p>
            <a:pPr marL="171450" marR="0" lvl="0" indent="-1778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800"/>
              <a:buFont typeface="Noto Sans Symbols"/>
              <a:buChar char="❑"/>
            </a:pPr>
            <a:r>
              <a:rPr lang="en-US" sz="28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value conversion is very expensive. Special-purpose programs have to be written to carry out the conversion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4"/>
          <p:cNvSpPr txBox="1">
            <a:spLocks noGrp="1"/>
          </p:cNvSpPr>
          <p:nvPr>
            <p:ph type="title"/>
          </p:nvPr>
        </p:nvSpPr>
        <p:spPr>
          <a:xfrm>
            <a:off x="1676400" y="214312"/>
            <a:ext cx="6589712" cy="12811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The data re-engineering process</a:t>
            </a:r>
            <a:endParaRPr/>
          </a:p>
        </p:txBody>
      </p:sp>
      <p:pic>
        <p:nvPicPr>
          <p:cNvPr id="396" name="Google Shape;396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437" y="1530350"/>
            <a:ext cx="8683625" cy="488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/>
          </a:p>
        </p:txBody>
      </p:sp>
      <p:sp>
        <p:nvSpPr>
          <p:cNvPr id="402" name="Google Shape;402;p6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objective of re-engineering is to improve the system structure to make it easier to understand and maintain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The re-engineering process involves source code translation, reverse engineering, program structure improvement, program modularisation and data re-engineering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Source code translation is the automatic conversion of of program in one language to another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/>
          </a:p>
        </p:txBody>
      </p:sp>
      <p:sp>
        <p:nvSpPr>
          <p:cNvPr id="408" name="Google Shape;408;p6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Reverse engineering is the process of deriving the system design and specification from its source code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structure improvement replaces unstructured control constructs with while loops and simple conditionals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Program modularisation involves reorganisation to group related items</a:t>
            </a:r>
            <a:endParaRPr/>
          </a:p>
          <a:p>
            <a:pPr marL="171450" marR="0" lvl="0" indent="-1714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1050"/>
              </a:buClr>
              <a:buSzPts val="2100"/>
              <a:buFont typeface="Noto Sans Symbols"/>
              <a:buChar char="❑"/>
            </a:pPr>
            <a:r>
              <a:rPr lang="en-US" sz="2100" b="1" i="0" u="none">
                <a:solidFill>
                  <a:srgbClr val="001050"/>
                </a:solidFill>
                <a:latin typeface="Calibri"/>
                <a:ea typeface="Calibri"/>
                <a:cs typeface="Calibri"/>
                <a:sym typeface="Calibri"/>
              </a:rPr>
              <a:t>Data re-engineering may be necessary because of inconsistent data management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1708</Words>
  <Application>Microsoft Office PowerPoint</Application>
  <PresentationFormat>On-screen Show (4:3)</PresentationFormat>
  <Paragraphs>273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Noto Sans Symbols</vt:lpstr>
      <vt:lpstr>Arial</vt:lpstr>
      <vt:lpstr>Courier New</vt:lpstr>
      <vt:lpstr>Calibri</vt:lpstr>
      <vt:lpstr>Calibri Light</vt:lpstr>
      <vt:lpstr>Corbel</vt:lpstr>
      <vt:lpstr>2_Office Theme</vt:lpstr>
      <vt:lpstr>1_Office Theme</vt:lpstr>
      <vt:lpstr>Office Theme</vt:lpstr>
      <vt:lpstr>SOFTWARE  REENGINEERING</vt:lpstr>
      <vt:lpstr>Lecture Summary</vt:lpstr>
      <vt:lpstr>Topics covered</vt:lpstr>
      <vt:lpstr>Software re-engineering</vt:lpstr>
      <vt:lpstr>System re-engineering</vt:lpstr>
      <vt:lpstr>When to re-engineer</vt:lpstr>
      <vt:lpstr>Re-engineering advantages</vt:lpstr>
      <vt:lpstr>Business process</vt:lpstr>
      <vt:lpstr>Business process re-engineering</vt:lpstr>
      <vt:lpstr>Business Process Reengineering</vt:lpstr>
      <vt:lpstr>Business Process Reengineering</vt:lpstr>
      <vt:lpstr>Business Process Reengineering</vt:lpstr>
      <vt:lpstr>Business Process Reengineering</vt:lpstr>
      <vt:lpstr>Business Process Reengineering</vt:lpstr>
      <vt:lpstr>Forward engineering and re-engineering</vt:lpstr>
      <vt:lpstr>Re-Engineering Process</vt:lpstr>
      <vt:lpstr>The re-engineering process</vt:lpstr>
      <vt:lpstr>Re-engineering cost factors</vt:lpstr>
      <vt:lpstr>Re-engineering cost factors</vt:lpstr>
      <vt:lpstr>Re-engineering cost factors</vt:lpstr>
      <vt:lpstr>Re-engineering cost factors</vt:lpstr>
      <vt:lpstr>Re-engineering approaches</vt:lpstr>
      <vt:lpstr>Re-Engineering Process</vt:lpstr>
      <vt:lpstr>1.Source Code Translation</vt:lpstr>
      <vt:lpstr>The program translation process</vt:lpstr>
      <vt:lpstr>Re-Engineering Process</vt:lpstr>
      <vt:lpstr>2. Reverse engineering</vt:lpstr>
      <vt:lpstr>Reverse engineering</vt:lpstr>
      <vt:lpstr>The reverse engineering process</vt:lpstr>
      <vt:lpstr>Reverse engineering</vt:lpstr>
      <vt:lpstr>Reverse engineering</vt:lpstr>
      <vt:lpstr>Re-Engineering Process</vt:lpstr>
      <vt:lpstr>3. Program structure improvement</vt:lpstr>
      <vt:lpstr>Program structure improvement</vt:lpstr>
      <vt:lpstr>Program Restructuring</vt:lpstr>
      <vt:lpstr>Spaghetti logic</vt:lpstr>
      <vt:lpstr>Structured control logic</vt:lpstr>
      <vt:lpstr>Another Spaghetti logic</vt:lpstr>
      <vt:lpstr>Another structured control logic</vt:lpstr>
      <vt:lpstr>Condition simplification</vt:lpstr>
      <vt:lpstr>Automatic program restructuring</vt:lpstr>
      <vt:lpstr>Code Analyzer</vt:lpstr>
      <vt:lpstr>Restructuring problems</vt:lpstr>
      <vt:lpstr>Restructuring problems</vt:lpstr>
      <vt:lpstr>Re-Engineering Process</vt:lpstr>
      <vt:lpstr>4. Program modularisation</vt:lpstr>
      <vt:lpstr>Re-Engineering Process</vt:lpstr>
      <vt:lpstr>5. Data re-engineering</vt:lpstr>
      <vt:lpstr>Approaches to data re-engineering</vt:lpstr>
      <vt:lpstr>Data problems</vt:lpstr>
      <vt:lpstr>Data migration</vt:lpstr>
      <vt:lpstr>Data problems</vt:lpstr>
      <vt:lpstr>Data conversion</vt:lpstr>
      <vt:lpstr>The data re-engineering process</vt:lpstr>
      <vt:lpstr>Key points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 REENGINEERING</dc:title>
  <cp:lastModifiedBy>zulqarnain hassan</cp:lastModifiedBy>
  <cp:revision>2</cp:revision>
  <dcterms:modified xsi:type="dcterms:W3CDTF">2025-10-17T14:18:15Z</dcterms:modified>
</cp:coreProperties>
</file>