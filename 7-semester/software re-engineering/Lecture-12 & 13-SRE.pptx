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587" r:id="rId3"/>
    <p:sldId id="578" r:id="rId4"/>
    <p:sldId id="595" r:id="rId5"/>
    <p:sldId id="550" r:id="rId6"/>
    <p:sldId id="588" r:id="rId7"/>
    <p:sldId id="596" r:id="rId8"/>
    <p:sldId id="597" r:id="rId9"/>
    <p:sldId id="589" r:id="rId10"/>
    <p:sldId id="590" r:id="rId11"/>
    <p:sldId id="591" r:id="rId12"/>
    <p:sldId id="592" r:id="rId13"/>
    <p:sldId id="599" r:id="rId14"/>
    <p:sldId id="600" r:id="rId15"/>
    <p:sldId id="601" r:id="rId16"/>
    <p:sldId id="602" r:id="rId17"/>
    <p:sldId id="59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7" autoAdjust="0"/>
    <p:restoredTop sz="94353" autoAdjust="0"/>
  </p:normalViewPr>
  <p:slideViewPr>
    <p:cSldViewPr snapToGrid="0">
      <p:cViewPr varScale="1">
        <p:scale>
          <a:sx n="85" d="100"/>
          <a:sy n="85" d="100"/>
        </p:scale>
        <p:origin x="9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892352-B4B8-4883-A7AE-74A1CD73CC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988E6-59B9-48DC-9B4A-57289DC710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95C29-67EF-49A4-98C1-FCB15B726954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6B0436-9CF9-4A1C-A1A4-6B867600F0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D58C5-83E6-49AD-8389-6E84C9EF0A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1700E-07F4-4037-B9BA-0B1759606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425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83B8F-3A1C-4F2C-B130-8969D6C1E4AD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C6B6B-DEB4-4104-BA10-F9FA8AE5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exical_analysis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Lexical analysis is the process of analyzing a string of characters (such as code) and converting it into a sequence of tokens. The tokens are then used for syntax analysis. The purpose of lexical analysis is to identify the structure of the input string and to convert it into a form that is more easily processed by the parser. </a:t>
            </a:r>
            <a:r>
              <a:rPr lang="en-US" b="0" i="0" dirty="0">
                <a:effectLst/>
                <a:latin typeface="-apple-system"/>
                <a:hlinkClick r:id="rId3"/>
              </a:rPr>
              <a:t>The process involves breaking the input string into a sequence of tokens, which are then classified according to their type (e.g., keyword, identifier, operator, etc.)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C6B6B-DEB4-4104-BA10-F9FA8AE5C1B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2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In programming, "macros" typically refer to small scripts or code snippets that automate repetitive tasks or expand into larger sections of code.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C6B6B-DEB4-4104-BA10-F9FA8AE5C1B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15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00A86274-AECA-4602-B404-A878824E6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73383"/>
            <a:ext cx="12192000" cy="1711234"/>
          </a:xfr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b"/>
          <a:lstStyle>
            <a:lvl1pPr algn="ctr">
              <a:defRPr sz="6000" b="1"/>
            </a:lvl1pPr>
          </a:lstStyle>
          <a:p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093DEEF-51A1-4F3F-93A2-FDC4789A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4126" y="4738508"/>
            <a:ext cx="5185954" cy="460510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rgbClr val="001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A33559CF-3A39-464E-8153-CFB2A112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C0E30B0-E077-4993-974F-9A916C82C114}" type="datetime1">
              <a:rPr lang="en-US" smtClean="0"/>
              <a:t>11/26/2024</a:t>
            </a:fld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FABC3BD-2AAA-4531-895B-3DD70DF7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070B560-5622-461A-9086-C81B8DFD0314}"/>
              </a:ext>
            </a:extLst>
          </p:cNvPr>
          <p:cNvSpPr txBox="1">
            <a:spLocks/>
          </p:cNvSpPr>
          <p:nvPr userDrawn="1"/>
        </p:nvSpPr>
        <p:spPr>
          <a:xfrm>
            <a:off x="-13063" y="596657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57C00DF-2495-4CA0-B9A7-6ED45A39B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0629" y="692331"/>
            <a:ext cx="4402183" cy="1045029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E984078-D535-4E16-A9EF-E132281C5B64}"/>
              </a:ext>
            </a:extLst>
          </p:cNvPr>
          <p:cNvSpPr txBox="1">
            <a:spLocks/>
          </p:cNvSpPr>
          <p:nvPr userDrawn="1"/>
        </p:nvSpPr>
        <p:spPr>
          <a:xfrm>
            <a:off x="7559042" y="605365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EC0F849A-A128-466B-9879-BD67134DE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28708" y="692331"/>
            <a:ext cx="4467497" cy="1058091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42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C6514-E628-458B-AA9A-60A33D091D2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>
            <a:lvl1pPr>
              <a:defRPr b="1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EEA8-1D0F-4EDA-AC1C-3D8EC8821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q"/>
              <a:defRPr b="1">
                <a:solidFill>
                  <a:srgbClr val="001050"/>
                </a:solidFill>
              </a:defRPr>
            </a:lvl1pPr>
            <a:lvl2pPr>
              <a:buFont typeface="Wingdings" panose="05000000000000000000" pitchFamily="2" charset="2"/>
              <a:buChar char="§"/>
              <a:defRPr b="0"/>
            </a:lvl2pPr>
            <a:lvl3pPr>
              <a:buFont typeface="Courier New" panose="02070309020205020404" pitchFamily="49" charset="0"/>
              <a:buChar char="o"/>
              <a:defRPr b="0">
                <a:latin typeface="+mj-lt"/>
              </a:defRPr>
            </a:lvl3pPr>
            <a:lvl4pPr>
              <a:buFont typeface="Arial" panose="020B0604020202020204" pitchFamily="34" charset="0"/>
              <a:buChar char="•"/>
              <a:defRPr b="0">
                <a:latin typeface="+mj-lt"/>
              </a:defRPr>
            </a:lvl4pPr>
            <a:lvl5pPr>
              <a:buFont typeface="Arial" panose="020B0604020202020204" pitchFamily="34" charset="0"/>
              <a:buChar char="•"/>
              <a:defRPr b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3E359-53AB-4630-9445-BD1EC211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11/26/2024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AB4D4-DD5B-499F-AF34-6F714EED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0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F4C5-DA85-42F4-9809-54A7416F1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solidFill>
            <a:srgbClr val="002060"/>
          </a:solidFill>
        </p:spPr>
        <p:txBody>
          <a:bodyPr anchor="b"/>
          <a:lstStyle>
            <a:lvl1pPr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3C6D7-FA11-4EC0-B04D-17711775B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rgbClr val="001050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790E4-1765-4F51-B6C8-CF347346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330EE-1BA8-420F-B2C9-CE22107EC47A}" type="datetime1">
              <a:rPr lang="en-US" smtClean="0"/>
              <a:t>11/26/2024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3C99A-182B-47B9-803E-FD4A2E2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11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80E0-5E40-408E-BDD1-D6554F92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062"/>
            <a:ext cx="10515600" cy="1325563"/>
          </a:xfrm>
          <a:solidFill>
            <a:srgbClr val="002060"/>
          </a:solidFill>
        </p:spPr>
        <p:txBody>
          <a:bodyPr>
            <a:normAutofit/>
          </a:bodyPr>
          <a:lstStyle>
            <a:lvl1pPr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A4002-4A0D-4A91-A1FF-EEA9F9CE6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6D3D0-22D7-4FE1-9BC2-28DE2F5EC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E05DC-021E-4421-ACCD-6ED98EF2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0214-E8A3-43BC-B597-D3E30C8B00C0}" type="datetime1">
              <a:rPr lang="en-US" smtClean="0"/>
              <a:t>11/26/2024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1E2AC-9805-48FF-BA68-31E79A97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7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6EF0-EABB-4D40-99F9-02DEBD1E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29DF0-9338-429B-894B-6BA89B81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38542-80B1-4CF8-8433-4FF09B77E667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F8401-E628-423C-AAB0-CEFA4399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698250-7BF9-4699-8DAA-10CA39A6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6DA35-5107-4BD5-8AAB-1BDDC0BFF481}" type="datetime1">
              <a:rPr lang="en-US" smtClean="0"/>
              <a:t>11/26/2024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DEACF-DE1A-4413-8881-A9F8E73A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01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26DA1-7ABB-4B30-BC38-25B428BD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6C9A3-0ABC-4112-86CC-F1C647B8F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414F0-AD23-468C-BFE0-6A14B6401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A08FD-3D60-442C-B673-50DEA1E71820}" type="datetime1">
              <a:rPr lang="en-US" smtClean="0"/>
              <a:t>11/26/2024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87060-9AB1-4B3A-A1EF-C8A00129B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33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q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63A08-5DAE-4AF9-898B-437FB4DCE9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Re-Engineering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CEFB2B-D101-4F13-9CD7-92D3F27417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Instructor</a:t>
            </a:r>
            <a:r>
              <a:rPr lang="en-US"/>
              <a:t>: Muhammad Usman Shahid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46440-FFC7-47D9-82FF-48B7F66EBD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1" y="697368"/>
            <a:ext cx="4532812" cy="1045029"/>
          </a:xfrm>
        </p:spPr>
        <p:txBody>
          <a:bodyPr>
            <a:normAutofit fontScale="77500" lnSpcReduction="20000"/>
          </a:bodyPr>
          <a:lstStyle/>
          <a:p>
            <a:pPr algn="l">
              <a:defRPr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 No.</a:t>
            </a:r>
            <a:r>
              <a:rPr 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12 &amp; 13</a:t>
            </a: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66F98B-6F84-40A3-A2C3-2A0ADF2766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BSSE – 7 &amp; 8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F4ED84E-60DD-47EC-B4DE-DE8CA8C46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D52C-3CFC-4FAB-945A-BCF95F4812D3}" type="datetime1">
              <a:rPr lang="en-US" smtClean="0"/>
              <a:t>11/26/2024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85CF7-82D0-438F-957D-503B6DDA5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1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Lecture 11: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marL="514350" indent="-514350" algn="l">
              <a:buAutoNum type="arabicParenR"/>
            </a:pPr>
            <a:r>
              <a:rPr lang="en-US" sz="3200" b="0" i="0" u="none" strike="noStrike" baseline="0" dirty="0"/>
              <a:t>Code reverse engineering</a:t>
            </a:r>
          </a:p>
          <a:p>
            <a:pPr marL="514350" indent="-514350" algn="l">
              <a:buAutoNum type="arabicParenR"/>
            </a:pPr>
            <a:r>
              <a:rPr lang="en-US" sz="3200" b="0" dirty="0"/>
              <a:t>Reverse engineering techniques</a:t>
            </a:r>
            <a:endParaRPr lang="en-US" sz="32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008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14" y="2423603"/>
            <a:ext cx="10515600" cy="2281562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Code Reverse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17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Reverse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1" dirty="0"/>
              <a:t>R</a:t>
            </a:r>
            <a:r>
              <a:rPr lang="en-US" b="0" i="1" u="none" strike="noStrike" baseline="0" dirty="0"/>
              <a:t>everse engineering </a:t>
            </a:r>
            <a:r>
              <a:rPr lang="en-US" b="0" dirty="0"/>
              <a:t>is </a:t>
            </a:r>
            <a:r>
              <a:rPr lang="en-US" b="0" i="0" u="none" strike="noStrike" baseline="0" dirty="0"/>
              <a:t>a process to 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(</a:t>
            </a:r>
            <a:r>
              <a:rPr lang="en-US" b="0" i="0" u="none" strike="noStrike" baseline="0" dirty="0" err="1"/>
              <a:t>i</a:t>
            </a:r>
            <a:r>
              <a:rPr lang="en-US" b="0" i="0" u="none" strike="noStrike" baseline="0" dirty="0"/>
              <a:t>) identify the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components</a:t>
            </a:r>
            <a:r>
              <a:rPr lang="en-US" b="0" i="0" u="none" strike="noStrike" baseline="0" dirty="0"/>
              <a:t> of an operational software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(ii) identify the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relationships</a:t>
            </a:r>
            <a:r>
              <a:rPr lang="en-US" b="0" i="0" u="none" strike="noStrike" baseline="0" dirty="0"/>
              <a:t> among those components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(iii) represent the system at a higher level of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abstraction</a:t>
            </a:r>
            <a:r>
              <a:rPr lang="en-US" b="0" i="0" u="none" strike="noStrike" baseline="0" dirty="0"/>
              <a:t> or in another form.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 </a:t>
            </a:r>
          </a:p>
          <a:p>
            <a:pPr algn="l"/>
            <a:r>
              <a:rPr lang="en-US" b="0" i="0" u="none" strike="noStrike" baseline="0" dirty="0"/>
              <a:t>In other words, by means of reverse engineering one derives i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nformation</a:t>
            </a:r>
            <a:r>
              <a:rPr lang="en-US" b="0" i="0" u="none" strike="noStrike" baseline="0" dirty="0"/>
              <a:t>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from the existing software artifacts </a:t>
            </a:r>
            <a:r>
              <a:rPr lang="en-US" b="0" i="0" u="none" strike="noStrike" baseline="0" dirty="0"/>
              <a:t>and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transforms it into abstract models </a:t>
            </a:r>
            <a:r>
              <a:rPr lang="en-US" b="0" i="0" u="none" strike="noStrike" baseline="0" dirty="0"/>
              <a:t>to be easily understood by maintenance personnel.</a:t>
            </a:r>
            <a:endParaRPr lang="en-US" sz="60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37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Reverse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i="0" u="none" strike="noStrike" baseline="0" dirty="0"/>
              <a:t>The </a:t>
            </a:r>
            <a:r>
              <a:rPr lang="en-US" i="0" u="none" strike="noStrike" baseline="0" dirty="0">
                <a:solidFill>
                  <a:srgbClr val="FF0000"/>
                </a:solidFill>
              </a:rPr>
              <a:t>factors</a:t>
            </a:r>
            <a:r>
              <a:rPr lang="en-US" i="0" u="none" strike="noStrike" baseline="0" dirty="0"/>
              <a:t> demanding the need for reverse engineering are as follows:</a:t>
            </a:r>
          </a:p>
          <a:p>
            <a:pPr algn="l"/>
            <a:r>
              <a:rPr lang="en-US" b="0" i="0" u="none" strike="noStrike" baseline="0" dirty="0"/>
              <a:t> The original programmers have left the organization.</a:t>
            </a:r>
          </a:p>
          <a:p>
            <a:pPr algn="l"/>
            <a:r>
              <a:rPr lang="en-US" b="0" i="0" u="none" strike="noStrike" baseline="0" dirty="0"/>
              <a:t> The language of implementation has become outdated, and the system needs to be migrated to a newer one.</a:t>
            </a:r>
          </a:p>
          <a:p>
            <a:pPr algn="l"/>
            <a:r>
              <a:rPr lang="en-US" b="0" i="0" u="none" strike="noStrike" baseline="0" dirty="0"/>
              <a:t> There is insufficient documentation of the system.</a:t>
            </a:r>
          </a:p>
          <a:p>
            <a:pPr algn="l"/>
            <a:r>
              <a:rPr lang="en-US" b="0" i="0" u="none" strike="noStrike" baseline="0" dirty="0"/>
              <a:t> The business relies on software, which many cannot understand.</a:t>
            </a:r>
          </a:p>
          <a:p>
            <a:pPr algn="l"/>
            <a:r>
              <a:rPr lang="en-US" b="0" i="0" u="none" strike="noStrike" baseline="0" dirty="0"/>
              <a:t> The company acquired the system as part of a larger acquisition and lacks access to all the source code.</a:t>
            </a:r>
          </a:p>
          <a:p>
            <a:pPr algn="l"/>
            <a:r>
              <a:rPr lang="en-US" b="0" i="0" u="none" strike="noStrike" baseline="0" dirty="0"/>
              <a:t> The system requires adaptations and/or enhancements.</a:t>
            </a:r>
          </a:p>
          <a:p>
            <a:pPr algn="l"/>
            <a:r>
              <a:rPr lang="en-US" b="0" i="0" u="none" strike="noStrike" baseline="0" dirty="0"/>
              <a:t> The software does not operate as expected.</a:t>
            </a:r>
            <a:endParaRPr lang="en-US" sz="60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11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Reverse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i="0" u="none" strike="noStrike" baseline="0" dirty="0"/>
              <a:t>Reverse engineering is performed to achieve two key objectives: </a:t>
            </a:r>
          </a:p>
          <a:p>
            <a:pPr algn="l"/>
            <a:r>
              <a:rPr lang="en-US" b="0" i="1" u="none" strike="noStrike" baseline="0" dirty="0"/>
              <a:t>Redocumentation of artifacts</a:t>
            </a:r>
          </a:p>
          <a:p>
            <a:pPr algn="l"/>
            <a:r>
              <a:rPr lang="en-US" b="0" i="1" u="none" strike="noStrike" baseline="0" dirty="0"/>
              <a:t>design recovery</a:t>
            </a:r>
            <a:endParaRPr lang="en-US" sz="60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914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Reverse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i="0" u="none" strike="noStrike" baseline="0" dirty="0"/>
              <a:t>Redocumentation:</a:t>
            </a:r>
          </a:p>
          <a:p>
            <a:pPr algn="l"/>
            <a:r>
              <a:rPr lang="en-US" b="0" dirty="0"/>
              <a:t>R</a:t>
            </a:r>
            <a:r>
              <a:rPr lang="en-US" b="0" i="0" u="none" strike="noStrike" baseline="0" dirty="0"/>
              <a:t>evising the current description of components or generating alternative views at the same abstraction level.</a:t>
            </a:r>
          </a:p>
          <a:p>
            <a:pPr algn="l"/>
            <a:endParaRPr lang="en-US" b="0" dirty="0"/>
          </a:p>
          <a:p>
            <a:pPr marL="0" indent="0" algn="l">
              <a:buNone/>
            </a:pPr>
            <a:r>
              <a:rPr lang="en-US" i="0" u="none" strike="noStrike" baseline="0" dirty="0"/>
              <a:t>Design Recovery:</a:t>
            </a:r>
          </a:p>
          <a:p>
            <a:pPr algn="l"/>
            <a:r>
              <a:rPr lang="en-US" b="0" dirty="0"/>
              <a:t>C</a:t>
            </a:r>
            <a:r>
              <a:rPr lang="en-US" b="0" i="0" u="none" strike="noStrike" baseline="0" dirty="0"/>
              <a:t>reates design abstractions from code, expert knowledge, and existing documentation</a:t>
            </a:r>
            <a:endParaRPr lang="en-US" sz="4000" b="0" i="0" u="none" strike="noStrike" baseline="0" dirty="0"/>
          </a:p>
          <a:p>
            <a:pPr marL="0" indent="0" algn="l">
              <a:buNone/>
            </a:pPr>
            <a:endParaRPr lang="en-US" sz="4000" b="0" i="0" u="none" strike="noStrike" baseline="0" dirty="0"/>
          </a:p>
          <a:p>
            <a:pPr marL="0" indent="0" algn="l">
              <a:buNone/>
            </a:pPr>
            <a:endParaRPr lang="en-US" sz="40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52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Reverse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i="0" u="none" strike="noStrike" baseline="0" dirty="0"/>
              <a:t>Six key steps in reverse engineering:</a:t>
            </a:r>
          </a:p>
          <a:p>
            <a:pPr algn="l"/>
            <a:r>
              <a:rPr lang="en-US" b="0" i="0" u="none" strike="noStrike" baseline="0" dirty="0"/>
              <a:t>partition source code into units;</a:t>
            </a:r>
          </a:p>
          <a:p>
            <a:pPr algn="l"/>
            <a:r>
              <a:rPr lang="en-US" b="0" i="0" u="none" strike="noStrike" baseline="0" dirty="0"/>
              <a:t> describe the meanings of those units and identify the functional units;</a:t>
            </a:r>
          </a:p>
          <a:p>
            <a:pPr algn="l"/>
            <a:r>
              <a:rPr lang="en-US" b="0" i="0" u="none" strike="noStrike" baseline="0" dirty="0"/>
              <a:t> create the input and output schematics of the units identified before;</a:t>
            </a:r>
          </a:p>
          <a:p>
            <a:pPr algn="l"/>
            <a:r>
              <a:rPr lang="en-US" b="0" i="0" u="none" strike="noStrike" baseline="0" dirty="0"/>
              <a:t> describe the connected units;</a:t>
            </a:r>
          </a:p>
          <a:p>
            <a:pPr algn="l"/>
            <a:r>
              <a:rPr lang="en-US" b="0" i="0" u="none" strike="noStrike" baseline="0" dirty="0"/>
              <a:t> describe the system application; and</a:t>
            </a:r>
          </a:p>
          <a:p>
            <a:pPr algn="l"/>
            <a:r>
              <a:rPr lang="en-US" b="0" i="0" u="none" strike="noStrike" baseline="0" dirty="0"/>
              <a:t> create an internal structure of the system.</a:t>
            </a:r>
            <a:endParaRPr lang="en-US" sz="40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108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94" y="2808704"/>
            <a:ext cx="10515600" cy="724610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Reverse Engineering Techniques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3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Reverse Engineering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Fact-finding and information gathering from the source code are the keys to the Goal/Models/Tools paradigm. </a:t>
            </a:r>
          </a:p>
          <a:p>
            <a:pPr algn="l"/>
            <a:r>
              <a:rPr lang="en-US" b="0" i="0" u="none" strike="noStrike" baseline="0" dirty="0"/>
              <a:t>In order to extract information which is not explicitly available in source code,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automated analysis techniques </a:t>
            </a:r>
            <a:r>
              <a:rPr lang="en-US" b="0" i="0" u="none" strike="noStrike" baseline="0" dirty="0"/>
              <a:t>are used.</a:t>
            </a:r>
            <a:endParaRPr lang="en-US" sz="60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97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Reverse Engineering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sz="1800" b="0" i="1" u="none" strike="noStrike" baseline="0" dirty="0">
                <a:latin typeface="TimesLTStd-Italic"/>
              </a:rPr>
              <a:t>lexical analysis</a:t>
            </a:r>
          </a:p>
          <a:p>
            <a:pPr algn="l"/>
            <a:r>
              <a:rPr lang="en-US" sz="1800" b="0" i="1" u="none" strike="noStrike" baseline="0" dirty="0">
                <a:latin typeface="TimesLTStd-Italic"/>
              </a:rPr>
              <a:t>Syntactic analysis</a:t>
            </a:r>
          </a:p>
          <a:p>
            <a:pPr algn="l"/>
            <a:r>
              <a:rPr lang="en-US" sz="1800" b="0" i="1" u="none" strike="noStrike" baseline="0" dirty="0">
                <a:latin typeface="TimesLTStd-Italic"/>
              </a:rPr>
              <a:t>control flow analysis</a:t>
            </a:r>
          </a:p>
          <a:p>
            <a:pPr algn="l"/>
            <a:r>
              <a:rPr lang="en-US" sz="1800" b="0" i="1" u="none" strike="noStrike" baseline="0" dirty="0">
                <a:latin typeface="TimesLTStd-Italic"/>
              </a:rPr>
              <a:t>data flow analysis</a:t>
            </a:r>
          </a:p>
          <a:p>
            <a:pPr algn="l"/>
            <a:r>
              <a:rPr lang="en-US" sz="1800" b="0" i="1" u="none" strike="noStrike" baseline="0" dirty="0">
                <a:latin typeface="TimesLTStd-Italic"/>
              </a:rPr>
              <a:t>program slicing</a:t>
            </a:r>
          </a:p>
          <a:p>
            <a:pPr algn="l"/>
            <a:r>
              <a:rPr lang="en-US" sz="1800" b="0" i="1" u="none" strike="noStrike" baseline="0" dirty="0">
                <a:latin typeface="TimesLTStd-Italic"/>
              </a:rPr>
              <a:t>Visualization</a:t>
            </a:r>
            <a:endParaRPr lang="en-US" sz="1800" b="0" i="0" u="none" strike="noStrike" baseline="0" dirty="0">
              <a:latin typeface="TimesLTStd-Roman"/>
            </a:endParaRPr>
          </a:p>
          <a:p>
            <a:pPr algn="l"/>
            <a:r>
              <a:rPr lang="en-US" sz="1800" b="0" i="1" u="none" strike="noStrike" baseline="0" dirty="0">
                <a:latin typeface="TimesLTStd-Italic"/>
              </a:rPr>
              <a:t>program metrics</a:t>
            </a:r>
            <a:r>
              <a:rPr lang="en-US" sz="1800" b="0" i="0" u="none" strike="noStrike" baseline="0" dirty="0">
                <a:latin typeface="TimesLTStd-Roman"/>
              </a:rPr>
              <a:t>.</a:t>
            </a:r>
            <a:endParaRPr lang="en-US" sz="44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1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Lexical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</a:rPr>
              <a:t>Lexical analysis is the first phase of a compiler. 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</a:rPr>
              <a:t>It takes modified source code from language preprocessors that are written in the form of sentences. 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</a:rPr>
              <a:t>The lexical analyzer breaks these syntaxes into a series of tokens, by removing any whitespace or comments in the source code.</a:t>
            </a:r>
            <a:endParaRPr lang="en-US" sz="40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57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Lexical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The output is a sequence of tokens that is sent to the parser for syntax analysis</a:t>
            </a:r>
          </a:p>
          <a:p>
            <a:pPr marL="0" indent="0">
              <a:buNone/>
            </a:pPr>
            <a:br>
              <a:rPr lang="en-US" sz="2800" dirty="0"/>
            </a:br>
            <a:endParaRPr lang="en-US" sz="40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2F157C-584B-04AA-3975-0426A5ED9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90" y="1837677"/>
            <a:ext cx="11040907" cy="488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9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Lexical Analysis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89E8BD9-5856-CB29-AC67-CFFCDA8AAC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7040" y="1330085"/>
            <a:ext cx="11577919" cy="240741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78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Lexical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4FEE14-3496-2CE3-A3F9-254688244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77" y="1873190"/>
            <a:ext cx="10746023" cy="237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408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Lexical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F3F78-4C66-1EB9-B90E-AB8C7F90F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757" y="1079369"/>
            <a:ext cx="7514902" cy="545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49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Lexical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Lexical analysis is the process of decomposing the sequence of characters in the source code into its constituent lexical units. </a:t>
            </a:r>
          </a:p>
          <a:p>
            <a:pPr algn="l"/>
            <a:r>
              <a:rPr lang="en-US" b="0" i="0" u="none" strike="noStrike" baseline="0" dirty="0"/>
              <a:t>Various useful representations of program information are enabled by lexical analysis. </a:t>
            </a:r>
          </a:p>
          <a:p>
            <a:pPr algn="l"/>
            <a:r>
              <a:rPr lang="en-US" b="0" i="0" u="none" strike="noStrike" baseline="0" dirty="0"/>
              <a:t>A program performing lexical analysis is called a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lexical analyzer</a:t>
            </a:r>
            <a:r>
              <a:rPr lang="en-US" b="0" i="0" u="none" strike="noStrike" baseline="0" dirty="0"/>
              <a:t>, and it is a part of a programming language’s compiler.</a:t>
            </a:r>
          </a:p>
          <a:p>
            <a:pPr algn="l"/>
            <a:r>
              <a:rPr lang="en-US" b="0" i="0" u="none" strike="noStrike" baseline="0" dirty="0"/>
              <a:t>Typically, it uses rules describing lexical program structures that are expressed in a mathematical notation called regular expressions. </a:t>
            </a:r>
          </a:p>
          <a:p>
            <a:pPr algn="l"/>
            <a:r>
              <a:rPr lang="en-US" b="0" i="0" u="none" strike="noStrike" baseline="0" dirty="0"/>
              <a:t>Modern lexical analyzers are automatically </a:t>
            </a:r>
            <a:r>
              <a:rPr lang="en-US" b="0" i="0" u="none" strike="noStrike" baseline="0"/>
              <a:t>builtin </a:t>
            </a:r>
            <a:r>
              <a:rPr lang="en-US" b="0" i="0" u="none" strike="noStrike" baseline="0" dirty="0"/>
              <a:t>using tools called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lexical analyzer generators,</a:t>
            </a:r>
            <a:r>
              <a:rPr lang="en-US" b="0" i="0" u="none" strike="noStrike" baseline="0" dirty="0"/>
              <a:t> namely,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lex</a:t>
            </a:r>
            <a:r>
              <a:rPr lang="en-US" b="0" i="0" u="none" strike="noStrike" baseline="0" dirty="0"/>
              <a:t> and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flex</a:t>
            </a:r>
            <a:endParaRPr lang="en-US" sz="6000" b="0" i="0" u="none" strike="noStrike" baseline="0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44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8411</TotalTime>
  <Words>724</Words>
  <Application>Microsoft Office PowerPoint</Application>
  <PresentationFormat>Widescreen</PresentationFormat>
  <Paragraphs>108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-apple-system</vt:lpstr>
      <vt:lpstr>Arial</vt:lpstr>
      <vt:lpstr>Calibri</vt:lpstr>
      <vt:lpstr>Calibri Light</vt:lpstr>
      <vt:lpstr>Courier New</vt:lpstr>
      <vt:lpstr>Söhne</vt:lpstr>
      <vt:lpstr>TimesLTStd-Italic</vt:lpstr>
      <vt:lpstr>TimesLTStd-Roman</vt:lpstr>
      <vt:lpstr>urw-din</vt:lpstr>
      <vt:lpstr>Wingdings</vt:lpstr>
      <vt:lpstr>Office Theme</vt:lpstr>
      <vt:lpstr>Software Re-Engineering</vt:lpstr>
      <vt:lpstr>Lecture 11: Content</vt:lpstr>
      <vt:lpstr>Code Reverse Engineering</vt:lpstr>
      <vt:lpstr>Reverse Engineering</vt:lpstr>
      <vt:lpstr>Reverse Engineering</vt:lpstr>
      <vt:lpstr>Reverse Engineering</vt:lpstr>
      <vt:lpstr>Reverse Engineering</vt:lpstr>
      <vt:lpstr>Reverse Engineering</vt:lpstr>
      <vt:lpstr>Reverse Engineering Techniques</vt:lpstr>
      <vt:lpstr>Reverse Engineering Techniques</vt:lpstr>
      <vt:lpstr>Reverse Engineering Techniques</vt:lpstr>
      <vt:lpstr>Lexical Analysis</vt:lpstr>
      <vt:lpstr>Lexical Analysis</vt:lpstr>
      <vt:lpstr>Lexical Analysis</vt:lpstr>
      <vt:lpstr>Lexical Analysis</vt:lpstr>
      <vt:lpstr>Lexical Analysis</vt:lpstr>
      <vt:lpstr>Lexical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Waqar ul Hassan</dc:creator>
  <cp:lastModifiedBy>zakiya suman</cp:lastModifiedBy>
  <cp:revision>504</cp:revision>
  <dcterms:created xsi:type="dcterms:W3CDTF">2020-10-13T09:21:17Z</dcterms:created>
  <dcterms:modified xsi:type="dcterms:W3CDTF">2024-11-26T03:51:14Z</dcterms:modified>
</cp:coreProperties>
</file>