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80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FC68B-F19D-486B-8938-0C4B8C5AD208}" type="datetimeFigureOut">
              <a:rPr lang="en-AU" smtClean="0"/>
              <a:t>5/03/2024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695A34-86A2-45E3-87AC-59346E0D474F}" type="slidenum">
              <a:rPr lang="en-AU" smtClean="0"/>
              <a:t>‹#›</a:t>
            </a:fld>
            <a:endParaRPr lang="en-AU"/>
          </a:p>
        </p:txBody>
      </p:sp>
    </p:spTree>
    <p:extLst>
      <p:ext uri="{BB962C8B-B14F-4D97-AF65-F5344CB8AC3E}">
        <p14:creationId xmlns:p14="http://schemas.microsoft.com/office/powerpoint/2010/main" val="136180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 is the structure to store data </a:t>
            </a:r>
            <a:endParaRPr lang="en-AU" dirty="0"/>
          </a:p>
        </p:txBody>
      </p:sp>
      <p:sp>
        <p:nvSpPr>
          <p:cNvPr id="4" name="Slide Number Placeholder 3"/>
          <p:cNvSpPr>
            <a:spLocks noGrp="1"/>
          </p:cNvSpPr>
          <p:nvPr>
            <p:ph type="sldNum" sz="quarter" idx="10"/>
          </p:nvPr>
        </p:nvSpPr>
        <p:spPr/>
        <p:txBody>
          <a:bodyPr/>
          <a:lstStyle/>
          <a:p>
            <a:fld id="{4B695A34-86A2-45E3-87AC-59346E0D474F}" type="slidenum">
              <a:rPr lang="en-AU" smtClean="0"/>
              <a:t>2</a:t>
            </a:fld>
            <a:endParaRPr lang="en-AU"/>
          </a:p>
        </p:txBody>
      </p:sp>
    </p:spTree>
    <p:extLst>
      <p:ext uri="{BB962C8B-B14F-4D97-AF65-F5344CB8AC3E}">
        <p14:creationId xmlns:p14="http://schemas.microsoft.com/office/powerpoint/2010/main" val="489787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4B695A34-86A2-45E3-87AC-59346E0D474F}" type="slidenum">
              <a:rPr lang="en-AU" smtClean="0"/>
              <a:t>7</a:t>
            </a:fld>
            <a:endParaRPr lang="en-AU"/>
          </a:p>
        </p:txBody>
      </p:sp>
    </p:spTree>
    <p:extLst>
      <p:ext uri="{BB962C8B-B14F-4D97-AF65-F5344CB8AC3E}">
        <p14:creationId xmlns:p14="http://schemas.microsoft.com/office/powerpoint/2010/main" val="1323311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3/5/2024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3/5/2024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3/5/2024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8421" y="802298"/>
            <a:ext cx="8726432" cy="2541431"/>
          </a:xfrm>
        </p:spPr>
        <p:txBody>
          <a:bodyPr>
            <a:normAutofit/>
          </a:bodyPr>
          <a:lstStyle/>
          <a:p>
            <a:r>
              <a:rPr lang="en-US" sz="2400" b="1" dirty="0"/>
              <a:t>Three level schema architecture (ANSI SPARC),</a:t>
            </a:r>
            <a:endParaRPr lang="en-AU" sz="2400" b="1" dirty="0"/>
          </a:p>
        </p:txBody>
      </p:sp>
      <p:sp>
        <p:nvSpPr>
          <p:cNvPr id="3" name="Subtitle 2"/>
          <p:cNvSpPr>
            <a:spLocks noGrp="1"/>
          </p:cNvSpPr>
          <p:nvPr>
            <p:ph type="subTitle" idx="1"/>
          </p:nvPr>
        </p:nvSpPr>
        <p:spPr>
          <a:xfrm>
            <a:off x="2417780" y="3531204"/>
            <a:ext cx="8637072" cy="1936342"/>
          </a:xfrm>
        </p:spPr>
        <p:txBody>
          <a:bodyPr>
            <a:normAutofit/>
          </a:bodyPr>
          <a:lstStyle/>
          <a:p>
            <a:pPr algn="ctr"/>
            <a:r>
              <a:rPr lang="en-US" dirty="0" smtClean="0"/>
              <a:t>LECTURE NO 5</a:t>
            </a:r>
          </a:p>
          <a:p>
            <a:pPr algn="ctr"/>
            <a:r>
              <a:rPr lang="en-US" dirty="0" smtClean="0"/>
              <a:t>5/03/24</a:t>
            </a:r>
          </a:p>
          <a:p>
            <a:pPr algn="ctr"/>
            <a:r>
              <a:rPr lang="en-US" dirty="0" smtClean="0"/>
              <a:t>BY </a:t>
            </a:r>
          </a:p>
          <a:p>
            <a:pPr algn="ctr"/>
            <a:r>
              <a:rPr lang="en-US" dirty="0" smtClean="0"/>
              <a:t>Ayesha jarral</a:t>
            </a:r>
          </a:p>
        </p:txBody>
      </p:sp>
    </p:spTree>
    <p:extLst>
      <p:ext uri="{BB962C8B-B14F-4D97-AF65-F5344CB8AC3E}">
        <p14:creationId xmlns:p14="http://schemas.microsoft.com/office/powerpoint/2010/main" val="25732088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AU" dirty="0"/>
          </a:p>
        </p:txBody>
      </p:sp>
      <p:sp>
        <p:nvSpPr>
          <p:cNvPr id="3" name="Content Placeholder 2"/>
          <p:cNvSpPr>
            <a:spLocks noGrp="1"/>
          </p:cNvSpPr>
          <p:nvPr>
            <p:ph idx="1"/>
          </p:nvPr>
        </p:nvSpPr>
        <p:spPr/>
        <p:txBody>
          <a:bodyPr/>
          <a:lstStyle/>
          <a:p>
            <a:pPr marL="0" indent="0">
              <a:buNone/>
            </a:pPr>
            <a:r>
              <a:rPr lang="en-US" dirty="0"/>
              <a:t/>
            </a:r>
            <a:br>
              <a:rPr lang="en-US" dirty="0"/>
            </a:br>
            <a:endParaRPr lang="en-US" dirty="0" smtClean="0"/>
          </a:p>
          <a:p>
            <a:r>
              <a:rPr lang="en-US" dirty="0" smtClean="0"/>
              <a:t>The </a:t>
            </a:r>
            <a:r>
              <a:rPr lang="en-US" dirty="0"/>
              <a:t>three-level </a:t>
            </a:r>
            <a:r>
              <a:rPr lang="en-US" dirty="0" smtClean="0"/>
              <a:t>schema (structure) </a:t>
            </a:r>
            <a:r>
              <a:rPr lang="en-US" dirty="0"/>
              <a:t>architecture, as defined by ANSI SPARC, is a framework for organizing and managing databases. It divides the database system into three levels of abstraction, each serving a distinct purpose:</a:t>
            </a:r>
            <a:endParaRPr lang="en-AU" dirty="0"/>
          </a:p>
        </p:txBody>
      </p:sp>
    </p:spTree>
    <p:extLst>
      <p:ext uri="{BB962C8B-B14F-4D97-AF65-F5344CB8AC3E}">
        <p14:creationId xmlns:p14="http://schemas.microsoft.com/office/powerpoint/2010/main" val="37737444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Levels of schema </a:t>
            </a:r>
            <a:endParaRPr lang="en-AU" dirty="0"/>
          </a:p>
        </p:txBody>
      </p:sp>
      <p:sp>
        <p:nvSpPr>
          <p:cNvPr id="3" name="Content Placeholder 2"/>
          <p:cNvSpPr>
            <a:spLocks noGrp="1"/>
          </p:cNvSpPr>
          <p:nvPr>
            <p:ph idx="1"/>
          </p:nvPr>
        </p:nvSpPr>
        <p:spPr/>
        <p:txBody>
          <a:bodyPr/>
          <a:lstStyle/>
          <a:p>
            <a:r>
              <a:rPr lang="en-US" dirty="0" smtClean="0"/>
              <a:t>External level</a:t>
            </a:r>
          </a:p>
          <a:p>
            <a:r>
              <a:rPr lang="en-US" dirty="0" smtClean="0"/>
              <a:t>Conceptual level</a:t>
            </a:r>
          </a:p>
          <a:p>
            <a:r>
              <a:rPr lang="en-US" dirty="0" smtClean="0"/>
              <a:t>Internal level </a:t>
            </a:r>
            <a:endParaRPr lang="en-AU" dirty="0"/>
          </a:p>
        </p:txBody>
      </p:sp>
      <p:pic>
        <p:nvPicPr>
          <p:cNvPr id="4" name="Picture 3"/>
          <p:cNvPicPr>
            <a:picLocks noChangeAspect="1"/>
          </p:cNvPicPr>
          <p:nvPr/>
        </p:nvPicPr>
        <p:blipFill>
          <a:blip r:embed="rId2"/>
          <a:stretch>
            <a:fillRect/>
          </a:stretch>
        </p:blipFill>
        <p:spPr>
          <a:xfrm>
            <a:off x="5998268" y="1949743"/>
            <a:ext cx="5135309" cy="4017423"/>
          </a:xfrm>
          <a:prstGeom prst="rect">
            <a:avLst/>
          </a:prstGeom>
        </p:spPr>
      </p:pic>
    </p:spTree>
    <p:extLst>
      <p:ext uri="{BB962C8B-B14F-4D97-AF65-F5344CB8AC3E}">
        <p14:creationId xmlns:p14="http://schemas.microsoft.com/office/powerpoint/2010/main" val="9924486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External level</a:t>
            </a:r>
            <a:endParaRPr lang="en-AU" dirty="0"/>
          </a:p>
        </p:txBody>
      </p:sp>
      <p:sp>
        <p:nvSpPr>
          <p:cNvPr id="3" name="Content Placeholder 2"/>
          <p:cNvSpPr>
            <a:spLocks noGrp="1"/>
          </p:cNvSpPr>
          <p:nvPr>
            <p:ph idx="1"/>
          </p:nvPr>
        </p:nvSpPr>
        <p:spPr/>
        <p:txBody>
          <a:bodyPr/>
          <a:lstStyle/>
          <a:p>
            <a:endParaRPr lang="en-US" dirty="0" smtClean="0"/>
          </a:p>
          <a:p>
            <a:r>
              <a:rPr lang="en-US" b="1" dirty="0" smtClean="0"/>
              <a:t>Explanation</a:t>
            </a:r>
            <a:r>
              <a:rPr lang="en-US" b="1" dirty="0"/>
              <a:t>: </a:t>
            </a:r>
            <a:r>
              <a:rPr lang="en-US" dirty="0"/>
              <a:t>The external level is how users interact with the database. It's like the interface or view that users see and use to access the data they need.</a:t>
            </a:r>
          </a:p>
          <a:p>
            <a:r>
              <a:rPr lang="en-US" b="1" dirty="0"/>
              <a:t>Daily Life Example: </a:t>
            </a:r>
            <a:r>
              <a:rPr lang="en-US" dirty="0"/>
              <a:t>Think of a music streaming app where users have different interfaces based on their preferences. Some users might see personalized playlists, while others see recommended songs based on their listening history.</a:t>
            </a:r>
            <a:endParaRPr lang="en-AU" dirty="0"/>
          </a:p>
        </p:txBody>
      </p:sp>
    </p:spTree>
    <p:extLst>
      <p:ext uri="{BB962C8B-B14F-4D97-AF65-F5344CB8AC3E}">
        <p14:creationId xmlns:p14="http://schemas.microsoft.com/office/powerpoint/2010/main" val="11461876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level</a:t>
            </a:r>
            <a:endParaRPr lang="en-AU" dirty="0"/>
          </a:p>
        </p:txBody>
      </p:sp>
      <p:sp>
        <p:nvSpPr>
          <p:cNvPr id="3" name="Content Placeholder 2"/>
          <p:cNvSpPr>
            <a:spLocks noGrp="1"/>
          </p:cNvSpPr>
          <p:nvPr>
            <p:ph idx="1"/>
          </p:nvPr>
        </p:nvSpPr>
        <p:spPr/>
        <p:txBody>
          <a:bodyPr/>
          <a:lstStyle/>
          <a:p>
            <a:endParaRPr lang="en-US" b="1" dirty="0" smtClean="0"/>
          </a:p>
          <a:p>
            <a:r>
              <a:rPr lang="en-US" b="1" dirty="0" smtClean="0"/>
              <a:t>Explanation</a:t>
            </a:r>
            <a:r>
              <a:rPr lang="en-US" b="1" dirty="0"/>
              <a:t>:</a:t>
            </a:r>
            <a:r>
              <a:rPr lang="en-US" dirty="0"/>
              <a:t> The conceptual level is the overall structure of the database, which provides a unified view of the entire database. It defines how the data is organized and related to each other, without worrying about how it's stored.</a:t>
            </a:r>
          </a:p>
          <a:p>
            <a:r>
              <a:rPr lang="en-US" b="1" dirty="0"/>
              <a:t>Daily Life Example:</a:t>
            </a:r>
            <a:r>
              <a:rPr lang="en-US" dirty="0"/>
              <a:t> Consider a library catalog where books are organized by genre, author, and subject. Users can search for books based on these categories without knowing how the books are physically stored on shelves.</a:t>
            </a:r>
          </a:p>
        </p:txBody>
      </p:sp>
    </p:spTree>
    <p:extLst>
      <p:ext uri="{BB962C8B-B14F-4D97-AF65-F5344CB8AC3E}">
        <p14:creationId xmlns:p14="http://schemas.microsoft.com/office/powerpoint/2010/main" val="392765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Internal leve</a:t>
            </a:r>
            <a:r>
              <a:rPr lang="en-US" dirty="0"/>
              <a:t>l</a:t>
            </a:r>
            <a:endParaRPr lang="en-AU" dirty="0"/>
          </a:p>
        </p:txBody>
      </p:sp>
      <p:sp>
        <p:nvSpPr>
          <p:cNvPr id="3" name="Content Placeholder 2"/>
          <p:cNvSpPr>
            <a:spLocks noGrp="1"/>
          </p:cNvSpPr>
          <p:nvPr>
            <p:ph idx="1"/>
          </p:nvPr>
        </p:nvSpPr>
        <p:spPr/>
        <p:txBody>
          <a:bodyPr/>
          <a:lstStyle/>
          <a:p>
            <a:pPr algn="l">
              <a:buFont typeface="Arial" panose="020B0604020202020204" pitchFamily="34" charset="0"/>
              <a:buChar char="•"/>
            </a:pPr>
            <a:endParaRPr lang="en-US" b="1" i="0" dirty="0" smtClean="0">
              <a:solidFill>
                <a:srgbClr val="0D0D0D"/>
              </a:solidFill>
              <a:effectLst/>
              <a:latin typeface="Söhne"/>
            </a:endParaRPr>
          </a:p>
          <a:p>
            <a:pPr marL="0" indent="0" algn="l">
              <a:buNone/>
            </a:pPr>
            <a:r>
              <a:rPr lang="en-US" b="1" i="0" dirty="0" smtClean="0">
                <a:solidFill>
                  <a:srgbClr val="0D0D0D"/>
                </a:solidFill>
                <a:effectLst/>
                <a:latin typeface="Söhne"/>
              </a:rPr>
              <a:t>Explanation:</a:t>
            </a:r>
            <a:r>
              <a:rPr lang="en-US" b="0" i="0" dirty="0" smtClean="0">
                <a:solidFill>
                  <a:srgbClr val="0D0D0D"/>
                </a:solidFill>
                <a:effectLst/>
                <a:latin typeface="Söhne"/>
              </a:rPr>
              <a:t> The internal level is how the data is physically stored and managed within the database system. It includes details like storage structures, access methods, and optimization techniques.</a:t>
            </a:r>
          </a:p>
          <a:p>
            <a:pPr algn="l">
              <a:buFont typeface="Arial" panose="020B0604020202020204" pitchFamily="34" charset="0"/>
              <a:buChar char="•"/>
            </a:pPr>
            <a:r>
              <a:rPr lang="en-US" b="1" i="0" dirty="0" smtClean="0">
                <a:solidFill>
                  <a:srgbClr val="0D0D0D"/>
                </a:solidFill>
                <a:effectLst/>
                <a:latin typeface="Söhne"/>
              </a:rPr>
              <a:t>Daily Life Example:</a:t>
            </a:r>
            <a:r>
              <a:rPr lang="en-US" b="0" i="0" dirty="0" smtClean="0">
                <a:solidFill>
                  <a:srgbClr val="0D0D0D"/>
                </a:solidFill>
                <a:effectLst/>
                <a:latin typeface="Söhne"/>
              </a:rPr>
              <a:t> Imagine a warehouse where items are stored in different aisles, shelves, and bins. The warehouse manager decides how items are organized and accessed efficiently, without customers needing to know the exact layout of the warehouse.</a:t>
            </a:r>
            <a:endParaRPr lang="en-US" b="0" i="0" dirty="0">
              <a:solidFill>
                <a:srgbClr val="0D0D0D"/>
              </a:solidFill>
              <a:effectLst/>
              <a:latin typeface="Söhne"/>
            </a:endParaRPr>
          </a:p>
        </p:txBody>
      </p:sp>
    </p:spTree>
    <p:extLst>
      <p:ext uri="{BB962C8B-B14F-4D97-AF65-F5344CB8AC3E}">
        <p14:creationId xmlns:p14="http://schemas.microsoft.com/office/powerpoint/2010/main" val="2994661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AU" dirty="0"/>
          </a:p>
        </p:txBody>
      </p:sp>
      <p:sp>
        <p:nvSpPr>
          <p:cNvPr id="3" name="Content Placeholder 2"/>
          <p:cNvSpPr>
            <a:spLocks noGrp="1"/>
          </p:cNvSpPr>
          <p:nvPr>
            <p:ph idx="1"/>
          </p:nvPr>
        </p:nvSpPr>
        <p:spPr/>
        <p:txBody>
          <a:bodyPr/>
          <a:lstStyle/>
          <a:p>
            <a:r>
              <a:rPr lang="en-US" dirty="0" smtClean="0"/>
              <a:t> </a:t>
            </a:r>
            <a:r>
              <a:rPr lang="en-US" dirty="0"/>
              <a:t>summary, the three-level schema architecture provides a way to separate the user's view of the data (external level), the logical organization of the data (conceptual level), and the physical storage details (internal level). This separation helps in managing complex databases effectively and allows for changes to be made at each level without affecting the others.</a:t>
            </a:r>
          </a:p>
          <a:p>
            <a:endParaRPr lang="en-US" dirty="0"/>
          </a:p>
          <a:p>
            <a:r>
              <a:rPr lang="en-US" dirty="0" smtClean="0"/>
              <a:t> n   </a:t>
            </a:r>
            <a:r>
              <a:rPr lang="en-US" smtClean="0"/>
              <a:t>n</a:t>
            </a:r>
            <a:endParaRPr lang="en-US" dirty="0"/>
          </a:p>
          <a:p>
            <a:endParaRPr lang="en-US" dirty="0"/>
          </a:p>
          <a:p>
            <a:endParaRPr lang="en-AU" dirty="0"/>
          </a:p>
        </p:txBody>
      </p:sp>
    </p:spTree>
    <p:extLst>
      <p:ext uri="{BB962C8B-B14F-4D97-AF65-F5344CB8AC3E}">
        <p14:creationId xmlns:p14="http://schemas.microsoft.com/office/powerpoint/2010/main" val="1880139541"/>
      </p:ext>
    </p:extLst>
  </p:cSld>
  <p:clrMapOvr>
    <a:masterClrMapping/>
  </p:clrMapOvr>
  <p:timing>
    <p:tnLst>
      <p:par>
        <p:cTn id="1" dur="indefinite" restart="never" nodeType="tmRoot"/>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155</TotalTime>
  <Words>337</Words>
  <Application>Microsoft Office PowerPoint</Application>
  <PresentationFormat>Widescreen</PresentationFormat>
  <Paragraphs>31</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Gill Sans MT</vt:lpstr>
      <vt:lpstr>Söhne</vt:lpstr>
      <vt:lpstr>Gallery</vt:lpstr>
      <vt:lpstr>Three level schema architecture (ANSI SPARC),</vt:lpstr>
      <vt:lpstr>Introduction </vt:lpstr>
      <vt:lpstr>Levels of schema </vt:lpstr>
      <vt:lpstr>External level</vt:lpstr>
      <vt:lpstr>Conceptual level</vt:lpstr>
      <vt:lpstr>Internal level</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level schema architecture (ANSI SPARC),</dc:title>
  <dc:creator>ayesha jarral</dc:creator>
  <cp:lastModifiedBy>ayesha jarral</cp:lastModifiedBy>
  <cp:revision>10</cp:revision>
  <dcterms:created xsi:type="dcterms:W3CDTF">2024-03-05T10:40:39Z</dcterms:created>
  <dcterms:modified xsi:type="dcterms:W3CDTF">2024-03-05T13:16:03Z</dcterms:modified>
</cp:coreProperties>
</file>