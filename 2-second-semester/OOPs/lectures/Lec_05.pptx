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5"/>
  </p:notesMasterIdLst>
  <p:sldIdLst>
    <p:sldId id="303" r:id="rId2"/>
    <p:sldId id="304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307" r:id="rId11"/>
    <p:sldId id="264" r:id="rId12"/>
    <p:sldId id="265" r:id="rId13"/>
    <p:sldId id="308" r:id="rId14"/>
    <p:sldId id="302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310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312" r:id="rId35"/>
    <p:sldId id="313" r:id="rId36"/>
    <p:sldId id="314" r:id="rId37"/>
    <p:sldId id="315" r:id="rId38"/>
    <p:sldId id="316" r:id="rId39"/>
    <p:sldId id="284" r:id="rId40"/>
    <p:sldId id="285" r:id="rId41"/>
    <p:sldId id="286" r:id="rId42"/>
    <p:sldId id="287" r:id="rId43"/>
    <p:sldId id="288" r:id="rId44"/>
    <p:sldId id="289" r:id="rId45"/>
    <p:sldId id="290" r:id="rId46"/>
    <p:sldId id="291" r:id="rId47"/>
    <p:sldId id="292" r:id="rId48"/>
    <p:sldId id="293" r:id="rId49"/>
    <p:sldId id="300" r:id="rId50"/>
    <p:sldId id="318" r:id="rId51"/>
    <p:sldId id="295" r:id="rId52"/>
    <p:sldId id="296" r:id="rId53"/>
    <p:sldId id="305" r:id="rId54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5996" autoAdjust="0"/>
  </p:normalViewPr>
  <p:slideViewPr>
    <p:cSldViewPr>
      <p:cViewPr varScale="1">
        <p:scale>
          <a:sx n="58" d="100"/>
          <a:sy n="58" d="100"/>
        </p:scale>
        <p:origin x="1746" y="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0EDD47C3-8AEB-4B17-A56B-8E096904C8D8}" type="datetimeFigureOut">
              <a:rPr lang="en-US"/>
              <a:pPr>
                <a:defRPr/>
              </a:pPr>
              <a:t>9/30/2022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8BB66DDD-D53F-4138-929B-026F59C1F3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en-US" smtClean="0"/>
              <a:t>It means it executes all statement after first match if break statement is not used with switch cases</a:t>
            </a:r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225C5137-79AD-4CB6-9E4B-2BB851FEEEF5}" type="slidenum">
              <a:rPr lang="en-US" altLang="en-US" smtClean="0"/>
              <a:pPr/>
              <a:t>15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 smtClean="0"/>
          </a:p>
        </p:txBody>
      </p:sp>
      <p:sp>
        <p:nvSpPr>
          <p:cNvPr id="307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E89F814E-C940-463E-8DB0-BFF1D6DA9445}" type="slidenum">
              <a:rPr lang="en-US" altLang="en-US" smtClean="0"/>
              <a:pPr/>
              <a:t>19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en-US" b="1" smtClean="0"/>
              <a:t>If the number of iteration is not fixed, it is recommended to use while loop.</a:t>
            </a:r>
          </a:p>
        </p:txBody>
      </p:sp>
      <p:sp>
        <p:nvSpPr>
          <p:cNvPr id="3379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B9E1E51D-8879-44B7-BB48-5A2CC4B41DB6}" type="slidenum">
              <a:rPr lang="en-US" altLang="en-US" smtClean="0"/>
              <a:pPr/>
              <a:t>21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B66DDD-D53F-4138-929B-026F59C1F3F0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0013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en-US" smtClean="0"/>
              <a:t>If the number of iteration is not fixed and you must have to execute the loop at least once, it is recommended to use do-while loop.</a:t>
            </a:r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99FA89E0-C0ED-4B64-9597-95B79C3E1771}" type="slidenum">
              <a:rPr lang="en-US" altLang="en-US" smtClean="0"/>
              <a:pPr/>
              <a:t>25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 smtClean="0"/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A1845A3B-831F-41E5-ACB1-CFF011B037F2}" type="slidenum">
              <a:rPr lang="en-US" altLang="en-US" smtClean="0"/>
              <a:pPr/>
              <a:t>26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en-US" smtClean="0"/>
              <a:t>If </a:t>
            </a:r>
            <a:r>
              <a:rPr lang="en-US" altLang="en-US" b="1" smtClean="0"/>
              <a:t>the number of iteration is fixed</a:t>
            </a:r>
            <a:r>
              <a:rPr lang="en-US" altLang="en-US" smtClean="0"/>
              <a:t>, it is recommended to use for loop.</a:t>
            </a:r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DEC8C79E-C601-4E74-909F-26C606CDF541}" type="slidenum">
              <a:rPr lang="en-US" altLang="en-US" smtClean="0"/>
              <a:pPr/>
              <a:t>27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 smtClean="0"/>
          </a:p>
        </p:txBody>
      </p:sp>
      <p:sp>
        <p:nvSpPr>
          <p:cNvPr id="471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F3F7113-9BBE-4704-B665-AC2E7D6D14ED}" type="slidenum">
              <a:rPr lang="en-US" altLang="en-US" smtClean="0"/>
              <a:pPr/>
              <a:t>30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 smtClean="0"/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71F505AD-F7D5-4F28-8C80-DA8BEC4DC01D}" type="slidenum">
              <a:rPr lang="en-US" altLang="en-US" smtClean="0"/>
              <a:pPr/>
              <a:t>31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 smtClean="0"/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45DA09F-CC16-419A-A49D-56D258A3205A}" type="slidenum">
              <a:rPr lang="en-US" altLang="en-US" smtClean="0"/>
              <a:pPr/>
              <a:t>32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 smtClean="0"/>
          </a:p>
        </p:txBody>
      </p:sp>
      <p:sp>
        <p:nvSpPr>
          <p:cNvPr id="573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FCD8D3-F40B-4082-AB12-236E953CC35F}" type="slidenum">
              <a:rPr lang="en-US" altLang="en-US" smtClean="0"/>
              <a:pPr/>
              <a:t>37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 smtClean="0"/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79461132-7873-4E41-B485-F2C056F59C2B}" type="slidenum">
              <a:rPr lang="en-US" altLang="en-US" smtClean="0"/>
              <a:pPr/>
              <a:t>38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 smtClean="0"/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87E4FA7E-2B1D-417D-AD3D-95672405D402}" type="slidenum">
              <a:rPr lang="en-US" altLang="en-US" smtClean="0"/>
              <a:pPr/>
              <a:t>41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 smtClean="0"/>
          </a:p>
        </p:txBody>
      </p:sp>
      <p:sp>
        <p:nvSpPr>
          <p:cNvPr id="6861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9A01042D-3B2D-4551-AEFE-5986E6C367BF}" type="slidenum">
              <a:rPr lang="en-US" altLang="en-US" smtClean="0"/>
              <a:pPr/>
              <a:t>42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en-US" smtClean="0"/>
              <a:t>J is 0&gt;9 printed just for pass0.</a:t>
            </a:r>
          </a:p>
        </p:txBody>
      </p:sp>
      <p:sp>
        <p:nvSpPr>
          <p:cNvPr id="737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57F0776C-0035-4B81-ACE6-CB7080F1EEE0}" type="slidenum">
              <a:rPr lang="en-US" altLang="en-US" smtClean="0"/>
              <a:pPr/>
              <a:t>46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B66DDD-D53F-4138-929B-026F59C1F3F0}" type="slidenum">
              <a:rPr lang="en-US" smtClean="0"/>
              <a:pPr>
                <a:defRPr/>
              </a:pPr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7305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B66DDD-D53F-4138-929B-026F59C1F3F0}" type="slidenum">
              <a:rPr lang="en-US" smtClean="0"/>
              <a:pPr>
                <a:defRPr/>
              </a:pPr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597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08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 smtClean="0"/>
          </a:p>
        </p:txBody>
      </p:sp>
      <p:sp>
        <p:nvSpPr>
          <p:cNvPr id="8090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682B171C-90EA-486C-B877-1E2B91863821}" type="slidenum">
              <a:rPr lang="en-US" altLang="en-US" smtClean="0"/>
              <a:pPr/>
              <a:t>51</a:t>
            </a:fld>
            <a:endParaRPr lang="en-US" alt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4.xml"/><Relationship Id="rId4" Type="http://schemas.openxmlformats.org/officeDocument/2006/relationships/image" Target="../media/image1.jpe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/>
          <p:cNvSpPr/>
          <p:nvPr/>
        </p:nvSpPr>
        <p:spPr>
          <a:xfrm>
            <a:off x="0" y="4664075"/>
            <a:ext cx="9150350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pSp>
        <p:nvGrpSpPr>
          <p:cNvPr id="5" name="Group 15"/>
          <p:cNvGrpSpPr>
            <a:grpSpLocks/>
          </p:cNvGrpSpPr>
          <p:nvPr/>
        </p:nvGrpSpPr>
        <p:grpSpPr bwMode="auto">
          <a:xfrm>
            <a:off x="-3175" y="4953000"/>
            <a:ext cx="9147175" cy="1911350"/>
            <a:chOff x="-3765" y="4832896"/>
            <a:chExt cx="9147765" cy="2032192"/>
          </a:xfrm>
        </p:grpSpPr>
        <p:sp>
          <p:nvSpPr>
            <p:cNvPr id="6" name="Freeform 5"/>
            <p:cNvSpPr>
              <a:spLocks/>
            </p:cNvSpPr>
            <p:nvPr/>
          </p:nvSpPr>
          <p:spPr bwMode="auto">
            <a:xfrm>
              <a:off x="1687032" y="4832896"/>
              <a:ext cx="7456968" cy="51817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7" name="Freeform 18"/>
            <p:cNvSpPr>
              <a:spLocks/>
            </p:cNvSpPr>
            <p:nvPr/>
          </p:nvSpPr>
          <p:spPr bwMode="auto">
            <a:xfrm>
              <a:off x="35926" y="5135025"/>
              <a:ext cx="9108074" cy="838869"/>
            </a:xfrm>
            <a:custGeom>
              <a:avLst/>
              <a:gdLst>
                <a:gd name="T0" fmla="*/ 0 w 5760"/>
                <a:gd name="T1" fmla="*/ 0 h 528"/>
                <a:gd name="T2" fmla="*/ 2147483646 w 5760"/>
                <a:gd name="T3" fmla="*/ 0 h 528"/>
                <a:gd name="T4" fmla="*/ 2147483646 w 5760"/>
                <a:gd name="T5" fmla="*/ 2147483646 h 528"/>
                <a:gd name="T6" fmla="*/ 2147483646 w 5760"/>
                <a:gd name="T7" fmla="*/ 0 h 5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0"/>
                <a:gd name="T13" fmla="*/ 0 h 528"/>
                <a:gd name="T14" fmla="*/ 5760 w 5760"/>
                <a:gd name="T15" fmla="*/ 528 h 5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anchor="b"/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Arial" pitchFamily="34" charset="0"/>
                <a:cs typeface="Arial" pitchFamily="34" charset="0"/>
              </a:defRPr>
            </a:lvl1pPr>
            <a:extLst/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11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pPr>
              <a:defRPr/>
            </a:pPr>
            <a:fld id="{D8BBEBD2-0995-4AAF-B0A9-BED7FFF1A0C7}" type="datetimeFigureOut">
              <a:rPr lang="en-US"/>
              <a:pPr>
                <a:defRPr/>
              </a:pPr>
              <a:t>9/30/2022</a:t>
            </a:fld>
            <a:endParaRPr lang="en-US"/>
          </a:p>
        </p:txBody>
      </p:sp>
      <p:sp>
        <p:nvSpPr>
          <p:cNvPr id="12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13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2E85DBEE-42BE-41EB-9640-2E16DECE83D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863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  <a:lvl2pPr>
              <a:defRPr>
                <a:latin typeface="Arial" pitchFamily="34" charset="0"/>
                <a:cs typeface="Arial" pitchFamily="34" charset="0"/>
              </a:defRPr>
            </a:lvl2pPr>
            <a:lvl3pPr>
              <a:defRPr>
                <a:latin typeface="Arial" pitchFamily="34" charset="0"/>
                <a:cs typeface="Arial" pitchFamily="34" charset="0"/>
              </a:defRPr>
            </a:lvl3pPr>
            <a:lvl4pPr>
              <a:defRPr>
                <a:latin typeface="Arial" pitchFamily="34" charset="0"/>
                <a:cs typeface="Arial" pitchFamily="34" charset="0"/>
              </a:defRPr>
            </a:lvl4pPr>
            <a:lvl5pPr>
              <a:defRPr>
                <a:latin typeface="Arial" pitchFamily="34" charset="0"/>
                <a:cs typeface="Arial" pitchFamily="34" charset="0"/>
              </a:defRPr>
            </a:lvl5pPr>
            <a:extLst/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Arial" pitchFamily="34" charset="0"/>
                <a:cs typeface="Arial" pitchFamily="34" charset="0"/>
              </a:defRPr>
            </a:lvl1pPr>
            <a:extLst/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28501D-CDDB-4127-8CD2-6F5B82A9230E}" type="datetimeFigureOut">
              <a:rPr lang="en-US"/>
              <a:pPr>
                <a:defRPr/>
              </a:pPr>
              <a:t>9/30/2022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39DF6C-66C7-41FD-BAD6-C7DD79A5DA4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287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3"/>
          <p:cNvSpPr/>
          <p:nvPr/>
        </p:nvSpPr>
        <p:spPr>
          <a:xfrm>
            <a:off x="3636963" y="3005138"/>
            <a:ext cx="182562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Chevron 4"/>
          <p:cNvSpPr/>
          <p:nvPr/>
        </p:nvSpPr>
        <p:spPr>
          <a:xfrm>
            <a:off x="3449638" y="3005138"/>
            <a:ext cx="18415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anchor="b"/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8E071451-37DE-428D-9637-BDFAD0F1047F}" type="datetimeFigureOut">
              <a:rPr lang="en-US"/>
              <a:pPr>
                <a:defRPr/>
              </a:pPr>
              <a:t>9/30/2022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02F6E8-CBFD-4243-BC0A-2BE28558513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5435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869506C4-3A9B-4AC4-8B54-335F477DAC27}" type="datetimeFigureOut">
              <a:rPr lang="en-US"/>
              <a:pPr>
                <a:defRPr/>
              </a:pPr>
              <a:t>9/30/2022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20ED0C-8E5D-40B6-8D65-4A4BA351BF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372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/>
          <a:lstStyle>
            <a:lvl1pPr>
              <a:defRPr/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AECCC56E-1B6A-4ED2-8771-3519DFD9B7E6}" type="datetimeFigureOut">
              <a:rPr lang="en-US"/>
              <a:pPr>
                <a:defRPr/>
              </a:pPr>
              <a:t>9/30/2022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464C9A-077A-4386-9A3B-5E9CB90678E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035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843D374D-C654-4DA0-B4CE-ED968248DC9B}" type="datetimeFigureOut">
              <a:rPr lang="en-US"/>
              <a:pPr>
                <a:defRPr/>
              </a:pPr>
              <a:t>9/30/2022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2317FB-51F7-4DC8-A9AF-04E7B9E2F3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6306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DE8EB7-AFCC-47E9-80FA-1CA7C5D553D1}" type="datetimeFigureOut">
              <a:rPr lang="en-US"/>
              <a:pPr>
                <a:defRPr/>
              </a:pPr>
              <a:t>9/30/2022</a:t>
            </a:fld>
            <a:endParaRPr lang="en-US"/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D85B25-5879-4A6D-B6AA-A80457F8332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6152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30850421-BE93-4410-AEA1-CDEF7427F1DF}" type="datetimeFigureOut">
              <a:rPr lang="en-US"/>
              <a:pPr>
                <a:defRPr/>
              </a:pPr>
              <a:t>9/30/2022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D1BEED-C581-49A8-965B-F0AB5D263B6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2698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/>
          <p:cNvSpPr>
            <a:spLocks/>
          </p:cNvSpPr>
          <p:nvPr/>
        </p:nvSpPr>
        <p:spPr bwMode="auto">
          <a:xfrm>
            <a:off x="500063" y="5945188"/>
            <a:ext cx="4940300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6" name="Freeform 15"/>
          <p:cNvSpPr>
            <a:spLocks/>
          </p:cNvSpPr>
          <p:nvPr/>
        </p:nvSpPr>
        <p:spPr bwMode="auto">
          <a:xfrm>
            <a:off x="485775" y="5938838"/>
            <a:ext cx="3690938" cy="933450"/>
          </a:xfrm>
          <a:custGeom>
            <a:avLst/>
            <a:gdLst>
              <a:gd name="T0" fmla="*/ 0 w 5591"/>
              <a:gd name="T1" fmla="*/ 0 h 588"/>
              <a:gd name="T2" fmla="*/ 2147483646 w 5591"/>
              <a:gd name="T3" fmla="*/ 0 h 588"/>
              <a:gd name="T4" fmla="*/ 2147483646 w 5591"/>
              <a:gd name="T5" fmla="*/ 2147483646 h 588"/>
              <a:gd name="T6" fmla="*/ 2147483646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Right Triangle 6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4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hevron 8"/>
          <p:cNvSpPr/>
          <p:nvPr/>
        </p:nvSpPr>
        <p:spPr>
          <a:xfrm>
            <a:off x="8664575" y="4987925"/>
            <a:ext cx="18256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Chevron 9"/>
          <p:cNvSpPr/>
          <p:nvPr/>
        </p:nvSpPr>
        <p:spPr>
          <a:xfrm>
            <a:off x="8477250" y="4987925"/>
            <a:ext cx="18256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tIns="0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extLst/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fld id="{680DA81E-A872-4D1B-9B15-1FC11A5C26A5}" type="datetimeFigureOut">
              <a:rPr lang="en-US"/>
              <a:pPr>
                <a:defRPr/>
              </a:pPr>
              <a:t>9/30/2022</a:t>
            </a:fld>
            <a:endParaRPr lang="en-US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1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25CEDD-D479-43F5-9409-B6FBCB5751B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3413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84DE2D-6A0A-4731-9039-791ABFCC8F82}" type="datetimeFigureOut">
              <a:rPr lang="en-US"/>
              <a:pPr>
                <a:defRPr/>
              </a:pPr>
              <a:t>9/30/2022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A9A253-34D9-4221-9815-C388259D9A7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0854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58442D-B033-4EDF-B43E-8463ECF1BA82}" type="datetimeFigureOut">
              <a:rPr lang="en-US"/>
              <a:pPr>
                <a:defRPr/>
              </a:pPr>
              <a:t>9/30/2022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349B8B-7401-44DB-A6A4-8F40F87584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84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500063" y="5945188"/>
            <a:ext cx="4940300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027" name="Freeform 11"/>
          <p:cNvSpPr>
            <a:spLocks/>
          </p:cNvSpPr>
          <p:nvPr/>
        </p:nvSpPr>
        <p:spPr bwMode="auto">
          <a:xfrm>
            <a:off x="485775" y="5938838"/>
            <a:ext cx="3690938" cy="933450"/>
          </a:xfrm>
          <a:custGeom>
            <a:avLst/>
            <a:gdLst>
              <a:gd name="T0" fmla="*/ 0 w 5591"/>
              <a:gd name="T1" fmla="*/ 0 h 588"/>
              <a:gd name="T2" fmla="*/ 2147483646 w 5591"/>
              <a:gd name="T3" fmla="*/ 0 h 588"/>
              <a:gd name="T4" fmla="*/ 2147483646 w 5591"/>
              <a:gd name="T5" fmla="*/ 2147483646 h 588"/>
              <a:gd name="T6" fmla="*/ 2147483646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033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457200" y="1481138"/>
            <a:ext cx="82296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</p:spPr>
        <p:txBody>
          <a:bodyPr vert="horz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000">
                <a:solidFill>
                  <a:schemeClr val="tx1"/>
                </a:solidFill>
                <a:latin typeface="+mn-lt"/>
                <a:cs typeface="+mn-cs"/>
              </a:defRPr>
            </a:lvl1pPr>
            <a:extLst/>
          </a:lstStyle>
          <a:p>
            <a:pPr>
              <a:defRPr/>
            </a:pPr>
            <a:fld id="{6CE4D19B-EE57-43FA-BE54-E1D8427465C6}" type="datetimeFigureOut">
              <a:rPr lang="en-US"/>
              <a:pPr>
                <a:defRPr/>
              </a:pPr>
              <a:t>9/30/2022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79913" y="6408738"/>
            <a:ext cx="2351087" cy="365125"/>
          </a:xfrm>
          <a:prstGeom prst="rect">
            <a:avLst/>
          </a:prstGeom>
        </p:spPr>
        <p:txBody>
          <a:bodyPr vert="horz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000">
                <a:solidFill>
                  <a:schemeClr val="tx1"/>
                </a:solidFill>
                <a:latin typeface="+mn-lt"/>
                <a:cs typeface="+mn-cs"/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113" y="6408738"/>
            <a:ext cx="366712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latin typeface="Lucida Sans Unicode" panose="020B0602030504020204" pitchFamily="34" charset="0"/>
              </a:defRPr>
            </a:lvl1pPr>
          </a:lstStyle>
          <a:p>
            <a:pPr>
              <a:defRPr/>
            </a:pPr>
            <a:fld id="{2EC4997C-5EA6-405B-9FF7-846E267F1BD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43" r:id="rId1"/>
    <p:sldLayoutId id="2147484039" r:id="rId2"/>
    <p:sldLayoutId id="2147484044" r:id="rId3"/>
    <p:sldLayoutId id="2147484045" r:id="rId4"/>
    <p:sldLayoutId id="2147484046" r:id="rId5"/>
    <p:sldLayoutId id="2147484047" r:id="rId6"/>
    <p:sldLayoutId id="2147484040" r:id="rId7"/>
    <p:sldLayoutId id="2147484048" r:id="rId8"/>
    <p:sldLayoutId id="2147484049" r:id="rId9"/>
    <p:sldLayoutId id="2147484041" r:id="rId10"/>
    <p:sldLayoutId id="2147484042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Arial" charset="0"/>
          <a:cs typeface="Arial" charset="0"/>
        </a:defRPr>
      </a:lvl9pPr>
      <a:extLst/>
    </p:titleStyle>
    <p:bodyStyle>
      <a:lvl1pPr marL="365125" indent="-255588" algn="l" rtl="0" eaLnBrk="0" fontAlgn="base" hangingPunct="0">
        <a:spcBef>
          <a:spcPts val="400"/>
        </a:spcBef>
        <a:spcAft>
          <a:spcPct val="0"/>
        </a:spcAft>
        <a:buClr>
          <a:schemeClr val="accent1"/>
        </a:buClr>
        <a:buSzPct val="68000"/>
        <a:buFont typeface="Wingdings 3" panose="05040102010807070707" pitchFamily="18" charset="2"/>
        <a:buChar char=""/>
        <a:defRPr sz="2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620713" indent="-228600" algn="l" rtl="0" eaLnBrk="0" fontAlgn="base" hangingPunct="0">
        <a:spcBef>
          <a:spcPts val="325"/>
        </a:spcBef>
        <a:spcAft>
          <a:spcPct val="0"/>
        </a:spcAft>
        <a:buClr>
          <a:schemeClr val="accent1"/>
        </a:buClr>
        <a:buFont typeface="Verdana" panose="020B0604030504040204" pitchFamily="34" charset="0"/>
        <a:buChar char="◦"/>
        <a:defRPr sz="23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858838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SzPct val="100000"/>
        <a:buFont typeface="Wingdings 2" panose="05020102010507070707" pitchFamily="18" charset="2"/>
        <a:buChar char=""/>
        <a:defRPr sz="21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1430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anose="05020102010507070707" pitchFamily="18" charset="2"/>
        <a:buChar char=""/>
        <a:defRPr sz="19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13716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anose="05020102010507070707" pitchFamily="18" charset="2"/>
        <a:buChar char="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ctrTitle"/>
          </p:nvPr>
        </p:nvSpPr>
        <p:spPr>
          <a:xfrm>
            <a:off x="1676400" y="1905000"/>
            <a:ext cx="7239000" cy="183038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Object Oriented </a:t>
            </a:r>
            <a:br>
              <a:rPr lang="en-US" dirty="0" smtClean="0"/>
            </a:br>
            <a:r>
              <a:rPr lang="en-US" dirty="0" smtClean="0"/>
              <a:t>Programming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Content Placeholder 1"/>
          <p:cNvSpPr>
            <a:spLocks noGrp="1"/>
          </p:cNvSpPr>
          <p:nvPr>
            <p:ph idx="1"/>
          </p:nvPr>
        </p:nvSpPr>
        <p:spPr>
          <a:xfrm>
            <a:off x="457200" y="1481138"/>
            <a:ext cx="7696200" cy="4525962"/>
          </a:xfrm>
        </p:spPr>
        <p:txBody>
          <a:bodyPr/>
          <a:lstStyle/>
          <a:p>
            <a:pPr eaLnBrk="1" hangingPunct="1"/>
            <a:r>
              <a:rPr lang="en-US" altLang="en-US" smtClean="0"/>
              <a:t>Control Flow statements</a:t>
            </a:r>
          </a:p>
          <a:p>
            <a:pPr lvl="1" eaLnBrk="1" hangingPunct="1"/>
            <a:r>
              <a:rPr lang="en-US" altLang="en-US" smtClean="0"/>
              <a:t>Selection statements</a:t>
            </a:r>
          </a:p>
          <a:p>
            <a:pPr lvl="1" eaLnBrk="1" hangingPunct="1"/>
            <a:r>
              <a:rPr lang="en-US" altLang="en-US" smtClean="0"/>
              <a:t>Iteration statements</a:t>
            </a:r>
          </a:p>
          <a:p>
            <a:pPr lvl="1" eaLnBrk="1" hangingPunct="1"/>
            <a:r>
              <a:rPr lang="en-US" altLang="en-US" smtClean="0"/>
              <a:t>Jump statements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Topics To Be Covered Today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Writing a program means typing statements into a file.</a:t>
            </a:r>
          </a:p>
          <a:p>
            <a:pPr eaLnBrk="1" hangingPunct="1"/>
            <a:r>
              <a:rPr lang="en-US" altLang="en-US" smtClean="0"/>
              <a:t>Without control flow, the interpreter would execute these statements in the order they appear in the file, left-to-right, top-down.</a:t>
            </a:r>
          </a:p>
          <a:p>
            <a:pPr eaLnBrk="1" hangingPunct="1"/>
            <a:r>
              <a:rPr lang="en-US" altLang="en-US" smtClean="0"/>
              <a:t>Control flow statements, when inserted into the text of the program, determine in which order the program should be executed.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Control Flow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Control statements are divided into three groups:</a:t>
            </a:r>
          </a:p>
          <a:p>
            <a:pPr lvl="1" eaLnBrk="1" hangingPunct="1"/>
            <a:r>
              <a:rPr lang="en-US" altLang="en-US" b="1" smtClean="0"/>
              <a:t>selection statements </a:t>
            </a:r>
            <a:r>
              <a:rPr lang="en-US" altLang="en-US" smtClean="0"/>
              <a:t>allow the program to choose different parts of the execution based on the outcome of an expression</a:t>
            </a:r>
          </a:p>
          <a:p>
            <a:pPr lvl="1" eaLnBrk="1" hangingPunct="1"/>
            <a:endParaRPr lang="en-US" altLang="en-US" smtClean="0"/>
          </a:p>
          <a:p>
            <a:pPr lvl="1" eaLnBrk="1" hangingPunct="1"/>
            <a:r>
              <a:rPr lang="en-US" altLang="en-US" b="1" smtClean="0"/>
              <a:t>iteration statements </a:t>
            </a:r>
            <a:r>
              <a:rPr lang="en-US" altLang="en-US" smtClean="0"/>
              <a:t>enable program execution to repeat one or more statements</a:t>
            </a:r>
          </a:p>
          <a:p>
            <a:pPr lvl="1" eaLnBrk="1" hangingPunct="1"/>
            <a:endParaRPr lang="en-US" altLang="en-US" smtClean="0"/>
          </a:p>
          <a:p>
            <a:pPr lvl="1" eaLnBrk="1" hangingPunct="1"/>
            <a:r>
              <a:rPr lang="en-US" altLang="en-US" b="1" smtClean="0"/>
              <a:t>jump statements </a:t>
            </a:r>
            <a:r>
              <a:rPr lang="en-US" altLang="en-US" smtClean="0"/>
              <a:t>enable your program to execute in a non-linear fashion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Control Flow statements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Java selection statements allow to control the flow of program’s execution based upon conditions known only during run-time.</a:t>
            </a:r>
          </a:p>
          <a:p>
            <a:pPr eaLnBrk="1" hangingPunct="1"/>
            <a:r>
              <a:rPr lang="en-US" altLang="en-US" smtClean="0"/>
              <a:t>Java provides four selection statements:</a:t>
            </a:r>
          </a:p>
          <a:p>
            <a:pPr lvl="1" eaLnBrk="1" hangingPunct="1"/>
            <a:r>
              <a:rPr lang="en-US" altLang="en-US" smtClean="0"/>
              <a:t>if</a:t>
            </a:r>
          </a:p>
          <a:p>
            <a:pPr lvl="1" eaLnBrk="1" hangingPunct="1"/>
            <a:r>
              <a:rPr lang="en-US" altLang="en-US" smtClean="0"/>
              <a:t>if-else</a:t>
            </a:r>
          </a:p>
          <a:p>
            <a:pPr lvl="1" eaLnBrk="1" hangingPunct="1"/>
            <a:r>
              <a:rPr lang="en-US" altLang="en-US" smtClean="0"/>
              <a:t>if-else-if</a:t>
            </a:r>
          </a:p>
          <a:p>
            <a:pPr lvl="1" eaLnBrk="1" hangingPunct="1"/>
            <a:r>
              <a:rPr lang="en-US" altLang="en-US" smtClean="0"/>
              <a:t>switch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Selection statements</a:t>
            </a:r>
            <a:endParaRPr lang="en-US" dirty="0"/>
          </a:p>
        </p:txBody>
      </p:sp>
      <p:pic>
        <p:nvPicPr>
          <p:cNvPr id="1434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3657600"/>
            <a:ext cx="5715000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General form:</a:t>
            </a:r>
          </a:p>
          <a:p>
            <a:pPr eaLnBrk="1" hangingPunct="1">
              <a:buFont typeface="Wingdings 3" panose="05040102010807070707" pitchFamily="18" charset="2"/>
              <a:buNone/>
            </a:pPr>
            <a:r>
              <a:rPr lang="en-US" altLang="en-US" b="1" smtClean="0"/>
              <a:t>      if (expression) statement</a:t>
            </a:r>
          </a:p>
          <a:p>
            <a:pPr eaLnBrk="1" hangingPunct="1"/>
            <a:r>
              <a:rPr lang="en-US" altLang="en-US" smtClean="0"/>
              <a:t>If expression evaluates to true, execute statement, otherwise do nothing.</a:t>
            </a:r>
          </a:p>
          <a:p>
            <a:pPr eaLnBrk="1" hangingPunct="1"/>
            <a:r>
              <a:rPr lang="en-US" altLang="en-US" smtClean="0"/>
              <a:t>The expression must be of type boolean.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If statement</a:t>
            </a:r>
            <a:endParaRPr lang="en-US" dirty="0"/>
          </a:p>
        </p:txBody>
      </p:sp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3733800"/>
            <a:ext cx="2857500" cy="275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The component statement may be:</a:t>
            </a:r>
          </a:p>
          <a:p>
            <a:pPr lvl="1" eaLnBrk="1" hangingPunct="1"/>
            <a:r>
              <a:rPr lang="en-US" altLang="en-US" smtClean="0"/>
              <a:t>simple</a:t>
            </a:r>
          </a:p>
          <a:p>
            <a:pPr lvl="2" eaLnBrk="1" hangingPunct="1"/>
            <a:r>
              <a:rPr lang="en-US" altLang="en-US" smtClean="0"/>
              <a:t>if (expression) statement;</a:t>
            </a:r>
          </a:p>
          <a:p>
            <a:pPr lvl="1" eaLnBrk="1" hangingPunct="1"/>
            <a:r>
              <a:rPr lang="en-US" altLang="en-US" smtClean="0"/>
              <a:t>compound</a:t>
            </a:r>
          </a:p>
          <a:p>
            <a:pPr lvl="2" eaLnBrk="1" hangingPunct="1"/>
            <a:r>
              <a:rPr lang="en-US" altLang="en-US" smtClean="0"/>
              <a:t>if (expression) {</a:t>
            </a:r>
          </a:p>
          <a:p>
            <a:pPr lvl="2" eaLnBrk="1" hangingPunct="1">
              <a:buFont typeface="Wingdings 2" panose="05020102010507070707" pitchFamily="18" charset="2"/>
              <a:buNone/>
            </a:pPr>
            <a:r>
              <a:rPr lang="en-US" altLang="en-US" smtClean="0"/>
              <a:t>   statement;</a:t>
            </a:r>
          </a:p>
          <a:p>
            <a:pPr lvl="2" eaLnBrk="1" hangingPunct="1">
              <a:buFont typeface="Wingdings 2" panose="05020102010507070707" pitchFamily="18" charset="2"/>
              <a:buNone/>
            </a:pPr>
            <a:r>
              <a:rPr lang="en-US" altLang="en-US" smtClean="0"/>
              <a:t>   }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Simple/Compound statements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Suppose you want to perform two different statements depending on the outcome of a boolean expression. if-else statement can be used.</a:t>
            </a:r>
          </a:p>
          <a:p>
            <a:pPr eaLnBrk="1" hangingPunct="1"/>
            <a:r>
              <a:rPr lang="en-US" altLang="en-US" smtClean="0"/>
              <a:t>General form:</a:t>
            </a:r>
          </a:p>
          <a:p>
            <a:pPr lvl="1" eaLnBrk="1" hangingPunct="1"/>
            <a:r>
              <a:rPr lang="en-US" altLang="en-US" smtClean="0"/>
              <a:t>if (expression) statement1</a:t>
            </a:r>
          </a:p>
          <a:p>
            <a:pPr lvl="1" eaLnBrk="1" hangingPunct="1">
              <a:buFont typeface="Verdana" panose="020B0604030504040204" pitchFamily="34" charset="0"/>
              <a:buNone/>
            </a:pPr>
            <a:r>
              <a:rPr lang="en-US" altLang="en-US" smtClean="0"/>
              <a:t>   else statement2</a:t>
            </a:r>
          </a:p>
          <a:p>
            <a:pPr eaLnBrk="1" hangingPunct="1"/>
            <a:r>
              <a:rPr lang="en-US" altLang="en-US" smtClean="0"/>
              <a:t>Again, statement1 and </a:t>
            </a:r>
          </a:p>
          <a:p>
            <a:pPr eaLnBrk="1" hangingPunct="1">
              <a:buFont typeface="Wingdings 3" panose="05040102010807070707" pitchFamily="18" charset="2"/>
              <a:buNone/>
            </a:pPr>
            <a:r>
              <a:rPr lang="en-US" altLang="en-US" smtClean="0"/>
              <a:t>statement2 may be simple </a:t>
            </a:r>
          </a:p>
          <a:p>
            <a:pPr eaLnBrk="1" hangingPunct="1">
              <a:buFont typeface="Wingdings 3" panose="05040102010807070707" pitchFamily="18" charset="2"/>
              <a:buNone/>
            </a:pPr>
            <a:r>
              <a:rPr lang="en-US" altLang="en-US" smtClean="0"/>
              <a:t>or compound.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If-else statement</a:t>
            </a:r>
            <a:endParaRPr lang="en-US" dirty="0"/>
          </a:p>
        </p:txBody>
      </p:sp>
      <p:pic>
        <p:nvPicPr>
          <p:cNvPr id="1741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2743200"/>
            <a:ext cx="4130675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General form:</a:t>
            </a:r>
          </a:p>
          <a:p>
            <a:pPr lvl="1" eaLnBrk="1" hangingPunct="1"/>
            <a:r>
              <a:rPr lang="en-US" altLang="en-US" smtClean="0"/>
              <a:t>if (expression1) statement1</a:t>
            </a:r>
          </a:p>
          <a:p>
            <a:pPr lvl="1" eaLnBrk="1" hangingPunct="1">
              <a:buFont typeface="Verdana" panose="020B0604030504040204" pitchFamily="34" charset="0"/>
              <a:buNone/>
            </a:pPr>
            <a:r>
              <a:rPr lang="en-US" altLang="en-US" smtClean="0"/>
              <a:t>   else if (expression2) statement2</a:t>
            </a:r>
          </a:p>
          <a:p>
            <a:pPr lvl="1" eaLnBrk="1" hangingPunct="1">
              <a:buFont typeface="Verdana" panose="020B0604030504040204" pitchFamily="34" charset="0"/>
              <a:buNone/>
            </a:pPr>
            <a:r>
              <a:rPr lang="en-US" altLang="en-US" smtClean="0"/>
              <a:t>   else if (expression3) statement3</a:t>
            </a:r>
          </a:p>
          <a:p>
            <a:pPr lvl="1" eaLnBrk="1" hangingPunct="1">
              <a:buFont typeface="Verdana" panose="020B0604030504040204" pitchFamily="34" charset="0"/>
              <a:buNone/>
            </a:pPr>
            <a:r>
              <a:rPr lang="en-US" altLang="en-US" smtClean="0"/>
              <a:t>   …</a:t>
            </a:r>
          </a:p>
          <a:p>
            <a:pPr lvl="1" eaLnBrk="1" hangingPunct="1">
              <a:buFont typeface="Verdana" panose="020B0604030504040204" pitchFamily="34" charset="0"/>
              <a:buNone/>
            </a:pPr>
            <a:r>
              <a:rPr lang="en-US" altLang="en-US" smtClean="0"/>
              <a:t>   else statement</a:t>
            </a:r>
          </a:p>
          <a:p>
            <a:pPr eaLnBrk="1" hangingPunct="1"/>
            <a:r>
              <a:rPr lang="en-US" altLang="en-US" smtClean="0"/>
              <a:t>Semantics:</a:t>
            </a:r>
          </a:p>
          <a:p>
            <a:pPr lvl="1" eaLnBrk="1" hangingPunct="1"/>
            <a:r>
              <a:rPr lang="en-US" altLang="en-US" smtClean="0"/>
              <a:t>statements are executed top-down</a:t>
            </a:r>
          </a:p>
          <a:p>
            <a:pPr lvl="1" eaLnBrk="1" hangingPunct="1"/>
            <a:r>
              <a:rPr lang="en-US" altLang="en-US" smtClean="0"/>
              <a:t>as soon as one expressions is true, its statement is executed</a:t>
            </a:r>
          </a:p>
          <a:p>
            <a:pPr lvl="1" eaLnBrk="1" hangingPunct="1"/>
            <a:r>
              <a:rPr lang="en-US" altLang="en-US" smtClean="0"/>
              <a:t>if none of the expressions is true, the last statement is executed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If-else-if statement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2000" y="1601788"/>
            <a:ext cx="7239000" cy="4570412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if-else-if ladder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Example: if-else-if</a:t>
            </a:r>
            <a:endParaRPr lang="en-US" dirty="0"/>
          </a:p>
        </p:txBody>
      </p:sp>
      <p:pic>
        <p:nvPicPr>
          <p:cNvPr id="2048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509713"/>
            <a:ext cx="8229600" cy="4433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Content Placeholder 1"/>
          <p:cNvSpPr>
            <a:spLocks noGrp="1"/>
          </p:cNvSpPr>
          <p:nvPr>
            <p:ph idx="1"/>
          </p:nvPr>
        </p:nvSpPr>
        <p:spPr>
          <a:xfrm>
            <a:off x="457200" y="1481138"/>
            <a:ext cx="8686800" cy="4525962"/>
          </a:xfrm>
        </p:spPr>
        <p:txBody>
          <a:bodyPr/>
          <a:lstStyle/>
          <a:p>
            <a:pPr eaLnBrk="1" hangingPunct="1"/>
            <a:r>
              <a:rPr lang="en-US" altLang="en-US" smtClean="0"/>
              <a:t>switch provides a better alternative than if-else-if when the execution follows several branches depending on the value of an expression.</a:t>
            </a:r>
          </a:p>
          <a:p>
            <a:pPr eaLnBrk="1" hangingPunct="1"/>
            <a:r>
              <a:rPr lang="en-US" altLang="en-US" smtClean="0"/>
              <a:t>General form:</a:t>
            </a:r>
          </a:p>
          <a:p>
            <a:pPr lvl="1" eaLnBrk="1" hangingPunct="1">
              <a:buFont typeface="Verdana" panose="020B0604030504040204" pitchFamily="34" charset="0"/>
              <a:buNone/>
            </a:pPr>
            <a:r>
              <a:rPr lang="en-US" altLang="en-US" smtClean="0"/>
              <a:t>   switch (expression) {</a:t>
            </a:r>
          </a:p>
          <a:p>
            <a:pPr lvl="1" eaLnBrk="1" hangingPunct="1">
              <a:buFont typeface="Verdana" panose="020B0604030504040204" pitchFamily="34" charset="0"/>
              <a:buNone/>
            </a:pPr>
            <a:r>
              <a:rPr lang="en-US" altLang="en-US" smtClean="0"/>
              <a:t>   case value1: statement1; break;</a:t>
            </a:r>
          </a:p>
          <a:p>
            <a:pPr lvl="1" eaLnBrk="1" hangingPunct="1">
              <a:buFont typeface="Verdana" panose="020B0604030504040204" pitchFamily="34" charset="0"/>
              <a:buNone/>
            </a:pPr>
            <a:r>
              <a:rPr lang="en-US" altLang="en-US" smtClean="0"/>
              <a:t>   case value2: statement2; break;</a:t>
            </a:r>
          </a:p>
          <a:p>
            <a:pPr lvl="1" eaLnBrk="1" hangingPunct="1">
              <a:buFont typeface="Verdana" panose="020B0604030504040204" pitchFamily="34" charset="0"/>
              <a:buNone/>
            </a:pPr>
            <a:r>
              <a:rPr lang="en-US" altLang="en-US" smtClean="0"/>
              <a:t>   case value3: statement3; break;</a:t>
            </a:r>
          </a:p>
          <a:p>
            <a:pPr lvl="1" eaLnBrk="1" hangingPunct="1">
              <a:buFont typeface="Verdana" panose="020B0604030504040204" pitchFamily="34" charset="0"/>
              <a:buNone/>
            </a:pPr>
            <a:r>
              <a:rPr lang="en-US" altLang="en-US" smtClean="0"/>
              <a:t>   …</a:t>
            </a:r>
          </a:p>
          <a:p>
            <a:pPr lvl="1" eaLnBrk="1" hangingPunct="1">
              <a:buFont typeface="Verdana" panose="020B0604030504040204" pitchFamily="34" charset="0"/>
              <a:buNone/>
            </a:pPr>
            <a:r>
              <a:rPr lang="en-US" altLang="en-US" smtClean="0"/>
              <a:t>   default: </a:t>
            </a:r>
            <a:r>
              <a:rPr lang="en-US" altLang="en-US" sz="2000" smtClean="0"/>
              <a:t>statement(code to be executed </a:t>
            </a:r>
            <a:r>
              <a:rPr lang="en-US" altLang="en-US" sz="2000" b="1" smtClean="0"/>
              <a:t>if</a:t>
            </a:r>
            <a:r>
              <a:rPr lang="en-US" altLang="en-US" sz="2000" smtClean="0"/>
              <a:t> all cases are not matched);</a:t>
            </a:r>
          </a:p>
          <a:p>
            <a:pPr lvl="1" eaLnBrk="1" hangingPunct="1">
              <a:buFont typeface="Verdana" panose="020B0604030504040204" pitchFamily="34" charset="0"/>
              <a:buNone/>
            </a:pPr>
            <a:r>
              <a:rPr lang="en-US" altLang="en-US" smtClean="0"/>
              <a:t>   }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Switch statement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Switch statement</a:t>
            </a:r>
          </a:p>
        </p:txBody>
      </p:sp>
      <p:pic>
        <p:nvPicPr>
          <p:cNvPr id="22531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738" y="1417638"/>
            <a:ext cx="8229600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Switch statement</a:t>
            </a:r>
            <a:endParaRPr lang="en-US" dirty="0"/>
          </a:p>
        </p:txBody>
      </p:sp>
      <p:pic>
        <p:nvPicPr>
          <p:cNvPr id="2355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447800"/>
            <a:ext cx="49530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Content Placeholder 1"/>
          <p:cNvSpPr>
            <a:spLocks noGrp="1"/>
          </p:cNvSpPr>
          <p:nvPr>
            <p:ph idx="1"/>
          </p:nvPr>
        </p:nvSpPr>
        <p:spPr>
          <a:xfrm>
            <a:off x="0" y="1295400"/>
            <a:ext cx="9448800" cy="4711700"/>
          </a:xfrm>
        </p:spPr>
        <p:txBody>
          <a:bodyPr/>
          <a:lstStyle/>
          <a:p>
            <a:pPr eaLnBrk="1" hangingPunct="1"/>
            <a:r>
              <a:rPr lang="en-US" altLang="en-US" smtClean="0"/>
              <a:t>Assumptions:</a:t>
            </a:r>
          </a:p>
          <a:p>
            <a:pPr lvl="1" eaLnBrk="1" hangingPunct="1"/>
            <a:r>
              <a:rPr lang="en-US" altLang="en-US" smtClean="0"/>
              <a:t>expression must be of type byte, short, int or char</a:t>
            </a:r>
          </a:p>
          <a:p>
            <a:pPr lvl="1" eaLnBrk="1" hangingPunct="1"/>
            <a:r>
              <a:rPr lang="en-US" altLang="en-US" smtClean="0"/>
              <a:t>each of the case values must be a literal of the compatible type</a:t>
            </a:r>
          </a:p>
          <a:p>
            <a:pPr lvl="1" eaLnBrk="1" hangingPunct="1"/>
            <a:r>
              <a:rPr lang="en-US" altLang="en-US" smtClean="0"/>
              <a:t>case values must be unique</a:t>
            </a:r>
          </a:p>
          <a:p>
            <a:pPr eaLnBrk="1" hangingPunct="1"/>
            <a:r>
              <a:rPr lang="en-US" altLang="en-US" smtClean="0"/>
              <a:t>Semantics:</a:t>
            </a:r>
          </a:p>
          <a:p>
            <a:pPr lvl="1" eaLnBrk="1" hangingPunct="1"/>
            <a:r>
              <a:rPr lang="en-US" altLang="en-US" smtClean="0"/>
              <a:t>expression is evaluated</a:t>
            </a:r>
          </a:p>
          <a:p>
            <a:pPr lvl="1" eaLnBrk="1" hangingPunct="1"/>
            <a:r>
              <a:rPr lang="en-US" altLang="en-US" smtClean="0"/>
              <a:t>its value is compared with each of the case values</a:t>
            </a:r>
          </a:p>
          <a:p>
            <a:pPr lvl="1" eaLnBrk="1" hangingPunct="1"/>
            <a:r>
              <a:rPr lang="en-US" altLang="en-US" smtClean="0"/>
              <a:t>if a match is found, the statement following the case is executed</a:t>
            </a:r>
          </a:p>
          <a:p>
            <a:pPr lvl="1" eaLnBrk="1" hangingPunct="1"/>
            <a:r>
              <a:rPr lang="en-US" altLang="en-US" smtClean="0"/>
              <a:t>if no match is found, the statement following default is executed</a:t>
            </a:r>
          </a:p>
          <a:p>
            <a:pPr lvl="1" eaLnBrk="1" hangingPunct="1"/>
            <a:r>
              <a:rPr lang="en-US" altLang="en-US" smtClean="0"/>
              <a:t>break makes sure that only the matching statement is executed.</a:t>
            </a:r>
          </a:p>
          <a:p>
            <a:pPr lvl="1" eaLnBrk="1" hangingPunct="1"/>
            <a:r>
              <a:rPr lang="en-US" altLang="en-US" smtClean="0"/>
              <a:t>Both default and break are optional.</a:t>
            </a:r>
          </a:p>
          <a:p>
            <a:pPr lvl="1" eaLnBrk="1" hangingPunct="1"/>
            <a:r>
              <a:rPr lang="en-US" altLang="en-US" b="1" smtClean="0"/>
              <a:t>Java Switch Statement is fall-through</a:t>
            </a:r>
          </a:p>
          <a:p>
            <a:pPr lvl="1" eaLnBrk="1" hangingPunct="1"/>
            <a:endParaRPr lang="en-US" altLang="en-US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Switch Assumptions/Semantics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Example: Switch (practice)</a:t>
            </a:r>
            <a:endParaRPr lang="en-US" dirty="0"/>
          </a:p>
        </p:txBody>
      </p:sp>
      <p:pic>
        <p:nvPicPr>
          <p:cNvPr id="266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524000"/>
            <a:ext cx="78486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Example: Switch</a:t>
            </a:r>
            <a:endParaRPr lang="en-US" dirty="0"/>
          </a:p>
        </p:txBody>
      </p:sp>
      <p:pic>
        <p:nvPicPr>
          <p:cNvPr id="2765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524000"/>
            <a:ext cx="777240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Content Placeholder 1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029200"/>
          </a:xfrm>
        </p:spPr>
        <p:txBody>
          <a:bodyPr/>
          <a:lstStyle/>
          <a:p>
            <a:pPr eaLnBrk="1" hangingPunct="1"/>
            <a:r>
              <a:rPr lang="en-US" altLang="en-US" sz="2300" smtClean="0"/>
              <a:t>A switch statement can be nested within another switch statement:</a:t>
            </a:r>
          </a:p>
          <a:p>
            <a:pPr eaLnBrk="1" hangingPunct="1"/>
            <a:endParaRPr lang="en-US" altLang="en-US" smtClean="0"/>
          </a:p>
          <a:p>
            <a:pPr eaLnBrk="1" hangingPunct="1"/>
            <a:endParaRPr lang="en-US" altLang="en-US" smtClean="0"/>
          </a:p>
          <a:p>
            <a:pPr eaLnBrk="1" hangingPunct="1"/>
            <a:endParaRPr lang="en-US" altLang="en-US" smtClean="0"/>
          </a:p>
          <a:p>
            <a:pPr eaLnBrk="1" hangingPunct="1"/>
            <a:endParaRPr lang="en-US" altLang="en-US" smtClean="0"/>
          </a:p>
          <a:p>
            <a:pPr eaLnBrk="1" hangingPunct="1"/>
            <a:endParaRPr lang="en-US" altLang="en-US" smtClean="0"/>
          </a:p>
          <a:p>
            <a:pPr eaLnBrk="1" hangingPunct="1"/>
            <a:endParaRPr lang="en-US" altLang="en-US" sz="2300" smtClean="0"/>
          </a:p>
          <a:p>
            <a:pPr eaLnBrk="1" hangingPunct="1"/>
            <a:endParaRPr lang="en-US" altLang="en-US" sz="2300" smtClean="0"/>
          </a:p>
          <a:p>
            <a:pPr eaLnBrk="1" hangingPunct="1"/>
            <a:r>
              <a:rPr lang="en-US" altLang="en-US" sz="2300" smtClean="0"/>
              <a:t>Since, every switch statement defines its own block, no conflict arises between the case constants in the inner and outer switch statements.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Nested switch statement</a:t>
            </a:r>
            <a:endParaRPr lang="en-US" dirty="0"/>
          </a:p>
        </p:txBody>
      </p:sp>
      <p:pic>
        <p:nvPicPr>
          <p:cNvPr id="2867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209800"/>
            <a:ext cx="723900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Content Placeholder 1"/>
          <p:cNvSpPr>
            <a:spLocks noGrp="1"/>
          </p:cNvSpPr>
          <p:nvPr>
            <p:ph idx="1"/>
          </p:nvPr>
        </p:nvSpPr>
        <p:spPr>
          <a:xfrm>
            <a:off x="533400" y="1524000"/>
            <a:ext cx="8001000" cy="4144963"/>
          </a:xfrm>
        </p:spPr>
        <p:txBody>
          <a:bodyPr/>
          <a:lstStyle/>
          <a:p>
            <a:pPr eaLnBrk="1" hangingPunct="1"/>
            <a:r>
              <a:rPr lang="en-US" altLang="en-US" smtClean="0"/>
              <a:t>Main differences:</a:t>
            </a:r>
          </a:p>
          <a:p>
            <a:pPr lvl="1" eaLnBrk="1" hangingPunct="1"/>
            <a:r>
              <a:rPr lang="en-US" altLang="en-US" smtClean="0"/>
              <a:t>switch test only for equality, while if-else statement test for equality as well as for logical expression.</a:t>
            </a:r>
          </a:p>
          <a:p>
            <a:pPr lvl="1" eaLnBrk="1" hangingPunct="1"/>
            <a:r>
              <a:rPr lang="en-US" altLang="en-US" smtClean="0"/>
              <a:t>switch statement evaluates only character or integer value while if statement evaluates integer, character, floating-point type or boolean type.</a:t>
            </a:r>
          </a:p>
          <a:p>
            <a:pPr lvl="1" eaLnBrk="1" hangingPunct="1"/>
            <a:r>
              <a:rPr lang="en-US" altLang="en-US" smtClean="0"/>
              <a:t>Java creates a “jump table” for switch expressions, so a switch statement is usually more efficient than a set of nested if statements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Comparing switch and if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Java iteration statements enable repeated execution of part of a program until a certain termination condition becomes true.</a:t>
            </a:r>
          </a:p>
          <a:p>
            <a:pPr eaLnBrk="1" hangingPunct="1"/>
            <a:r>
              <a:rPr lang="en-US" altLang="en-US" smtClean="0"/>
              <a:t>Java provides three iteration statements:</a:t>
            </a:r>
          </a:p>
          <a:p>
            <a:pPr lvl="1" eaLnBrk="1" hangingPunct="1"/>
            <a:r>
              <a:rPr lang="en-US" altLang="en-US" smtClean="0"/>
              <a:t>While</a:t>
            </a:r>
          </a:p>
          <a:p>
            <a:pPr lvl="1" eaLnBrk="1" hangingPunct="1"/>
            <a:r>
              <a:rPr lang="en-US" altLang="en-US" smtClean="0"/>
              <a:t>do-while</a:t>
            </a:r>
          </a:p>
          <a:p>
            <a:pPr lvl="1" eaLnBrk="1" hangingPunct="1"/>
            <a:r>
              <a:rPr lang="en-US" altLang="en-US" smtClean="0"/>
              <a:t>for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Iteration statements</a:t>
            </a:r>
            <a:endParaRPr lang="en-US" dirty="0"/>
          </a:p>
        </p:txBody>
      </p:sp>
      <p:pic>
        <p:nvPicPr>
          <p:cNvPr id="31748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3505200"/>
            <a:ext cx="685800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General form:</a:t>
            </a:r>
          </a:p>
          <a:p>
            <a:pPr lvl="1" eaLnBrk="1" hangingPunct="1"/>
            <a:r>
              <a:rPr lang="en-US" altLang="en-US" smtClean="0"/>
              <a:t>while (</a:t>
            </a:r>
            <a:r>
              <a:rPr lang="en-US" altLang="en-US" i="1" smtClean="0"/>
              <a:t>expression) statement</a:t>
            </a:r>
          </a:p>
          <a:p>
            <a:pPr eaLnBrk="1" hangingPunct="1"/>
            <a:r>
              <a:rPr lang="en-US" altLang="en-US" smtClean="0"/>
              <a:t>where </a:t>
            </a:r>
            <a:r>
              <a:rPr lang="en-US" altLang="en-US" smtClean="0">
                <a:solidFill>
                  <a:srgbClr val="FF0000"/>
                </a:solidFill>
              </a:rPr>
              <a:t>expression must be of type boolean.</a:t>
            </a:r>
          </a:p>
          <a:p>
            <a:pPr eaLnBrk="1" hangingPunct="1"/>
            <a:r>
              <a:rPr lang="en-US" altLang="en-US" smtClean="0"/>
              <a:t>Semantics:</a:t>
            </a:r>
          </a:p>
          <a:p>
            <a:pPr lvl="1" eaLnBrk="1" hangingPunct="1"/>
            <a:r>
              <a:rPr lang="en-US" altLang="en-US" smtClean="0"/>
              <a:t>repeat execution of statement until expression becomes false</a:t>
            </a:r>
          </a:p>
          <a:p>
            <a:pPr lvl="1" eaLnBrk="1" hangingPunct="1"/>
            <a:r>
              <a:rPr lang="en-US" altLang="en-US" smtClean="0"/>
              <a:t>expression is always evaluated before statement</a:t>
            </a:r>
          </a:p>
          <a:p>
            <a:pPr lvl="1" eaLnBrk="1" hangingPunct="1"/>
            <a:r>
              <a:rPr lang="en-US" altLang="en-US" smtClean="0"/>
              <a:t>if expression is false initially, statement will never get executed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While statement</a:t>
            </a:r>
            <a:endParaRPr lang="en-US" dirty="0"/>
          </a:p>
        </p:txBody>
      </p:sp>
      <p:pic>
        <p:nvPicPr>
          <p:cNvPr id="3277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4800600"/>
            <a:ext cx="3495675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The component statement may be:</a:t>
            </a:r>
          </a:p>
          <a:p>
            <a:pPr lvl="1" eaLnBrk="1" hangingPunct="1"/>
            <a:r>
              <a:rPr lang="en-US" altLang="en-US" smtClean="0"/>
              <a:t>simple</a:t>
            </a:r>
          </a:p>
          <a:p>
            <a:pPr lvl="2" eaLnBrk="1" hangingPunct="1"/>
            <a:r>
              <a:rPr lang="en-US" altLang="en-US" smtClean="0"/>
              <a:t>while (expression) statement;</a:t>
            </a:r>
          </a:p>
          <a:p>
            <a:pPr lvl="1" eaLnBrk="1" hangingPunct="1"/>
            <a:r>
              <a:rPr lang="en-US" altLang="en-US" smtClean="0"/>
              <a:t>compound</a:t>
            </a:r>
          </a:p>
          <a:p>
            <a:pPr lvl="2" eaLnBrk="1" hangingPunct="1"/>
            <a:r>
              <a:rPr lang="en-US" altLang="en-US" smtClean="0"/>
              <a:t>while (expression) {</a:t>
            </a:r>
          </a:p>
          <a:p>
            <a:pPr lvl="2" eaLnBrk="1" hangingPunct="1">
              <a:buFont typeface="Wingdings 2" panose="05020102010507070707" pitchFamily="18" charset="2"/>
              <a:buNone/>
            </a:pPr>
            <a:r>
              <a:rPr lang="en-US" altLang="en-US" smtClean="0"/>
              <a:t>   statement;</a:t>
            </a:r>
          </a:p>
          <a:p>
            <a:pPr lvl="2" eaLnBrk="1" hangingPunct="1">
              <a:buFont typeface="Wingdings 2" panose="05020102010507070707" pitchFamily="18" charset="2"/>
              <a:buNone/>
            </a:pPr>
            <a:r>
              <a:rPr lang="en-US" altLang="en-US" smtClean="0"/>
              <a:t>   }</a:t>
            </a:r>
          </a:p>
          <a:p>
            <a:pPr lvl="2" eaLnBrk="1" hangingPunct="1">
              <a:buFont typeface="Wingdings 2" panose="05020102010507070707" pitchFamily="18" charset="2"/>
              <a:buNone/>
            </a:pPr>
            <a:endParaRPr lang="en-US" altLang="en-US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Simple/compound statement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Example: while</a:t>
            </a:r>
            <a:endParaRPr lang="en-US" dirty="0"/>
          </a:p>
        </p:txBody>
      </p:sp>
      <p:pic>
        <p:nvPicPr>
          <p:cNvPr id="3584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524000"/>
            <a:ext cx="7848600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If you pass </a:t>
            </a:r>
            <a:r>
              <a:rPr lang="en-US" b="1" dirty="0"/>
              <a:t>true</a:t>
            </a:r>
            <a:r>
              <a:rPr lang="en-US" dirty="0"/>
              <a:t> in the while loop, it will be infinitive while </a:t>
            </a:r>
            <a:r>
              <a:rPr lang="en-US" dirty="0" smtClean="0"/>
              <a:t>loop</a:t>
            </a:r>
          </a:p>
          <a:p>
            <a:pPr>
              <a:defRPr/>
            </a:pPr>
            <a:endParaRPr lang="en-US" dirty="0" smtClean="0"/>
          </a:p>
          <a:p>
            <a:pPr marL="109537" indent="0">
              <a:buFont typeface="Wingdings 3" panose="05040102010807070707" pitchFamily="18" charset="2"/>
              <a:buNone/>
              <a:defRPr/>
            </a:pPr>
            <a:r>
              <a:rPr lang="en-US" dirty="0">
                <a:solidFill>
                  <a:srgbClr val="FF0000"/>
                </a:solidFill>
              </a:rPr>
              <a:t>while(true</a:t>
            </a:r>
            <a:r>
              <a:rPr lang="en-US" dirty="0" smtClean="0">
                <a:solidFill>
                  <a:srgbClr val="FF0000"/>
                </a:solidFill>
              </a:rPr>
              <a:t>)</a:t>
            </a:r>
            <a:endParaRPr lang="en-US" dirty="0"/>
          </a:p>
          <a:p>
            <a:pPr marL="109537" indent="0">
              <a:buFont typeface="Wingdings 3" panose="05040102010807070707" pitchFamily="18" charset="2"/>
              <a:buNone/>
              <a:defRPr/>
            </a:pPr>
            <a:r>
              <a:rPr lang="en-US" dirty="0"/>
              <a:t>             </a:t>
            </a:r>
            <a:r>
              <a:rPr lang="en-US" dirty="0" err="1"/>
              <a:t>System.out.println</a:t>
            </a:r>
            <a:r>
              <a:rPr lang="en-US" dirty="0"/>
              <a:t>("infinitive while loop");  </a:t>
            </a:r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dirty="0" smtClean="0"/>
              <a:t>Now</a:t>
            </a:r>
            <a:r>
              <a:rPr lang="en-US" dirty="0"/>
              <a:t>, you need to press </a:t>
            </a:r>
            <a:r>
              <a:rPr lang="en-US" dirty="0" err="1"/>
              <a:t>ctrl+c</a:t>
            </a:r>
            <a:r>
              <a:rPr lang="en-US" dirty="0"/>
              <a:t> to exit from the program.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Java Infinitive While Loop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Content Placeholder 1"/>
          <p:cNvSpPr>
            <a:spLocks noGrp="1"/>
          </p:cNvSpPr>
          <p:nvPr>
            <p:ph idx="1"/>
          </p:nvPr>
        </p:nvSpPr>
        <p:spPr>
          <a:xfrm>
            <a:off x="457200" y="1481138"/>
            <a:ext cx="8458200" cy="4525962"/>
          </a:xfrm>
        </p:spPr>
        <p:txBody>
          <a:bodyPr/>
          <a:lstStyle/>
          <a:p>
            <a:pPr eaLnBrk="1" hangingPunct="1"/>
            <a:r>
              <a:rPr lang="en-US" altLang="en-US" sz="2500" smtClean="0"/>
              <a:t>If a component statement has to be executed at least once, the do-while statement is more appropriate than the while statement.</a:t>
            </a:r>
          </a:p>
          <a:p>
            <a:pPr eaLnBrk="1" hangingPunct="1"/>
            <a:r>
              <a:rPr lang="en-US" altLang="en-US" sz="2500" smtClean="0"/>
              <a:t>General form:</a:t>
            </a:r>
          </a:p>
          <a:p>
            <a:pPr lvl="1" eaLnBrk="1" hangingPunct="1"/>
            <a:r>
              <a:rPr lang="en-US" altLang="en-US" smtClean="0"/>
              <a:t>do statement</a:t>
            </a:r>
          </a:p>
          <a:p>
            <a:pPr lvl="1" eaLnBrk="1" hangingPunct="1">
              <a:buFont typeface="Verdana" panose="020B0604030504040204" pitchFamily="34" charset="0"/>
              <a:buNone/>
            </a:pPr>
            <a:r>
              <a:rPr lang="en-US" altLang="en-US" smtClean="0"/>
              <a:t>   while (</a:t>
            </a:r>
            <a:r>
              <a:rPr lang="en-US" altLang="en-US" i="1" smtClean="0"/>
              <a:t>expression);</a:t>
            </a:r>
          </a:p>
          <a:p>
            <a:pPr eaLnBrk="1" hangingPunct="1">
              <a:buFont typeface="Wingdings 3" panose="05040102010807070707" pitchFamily="18" charset="2"/>
              <a:buNone/>
            </a:pPr>
            <a:r>
              <a:rPr lang="en-US" altLang="en-US" smtClean="0"/>
              <a:t>   </a:t>
            </a:r>
            <a:r>
              <a:rPr lang="en-US" altLang="en-US" sz="2300" smtClean="0"/>
              <a:t>where expression must be of type boolean.</a:t>
            </a:r>
          </a:p>
          <a:p>
            <a:pPr eaLnBrk="1" hangingPunct="1"/>
            <a:r>
              <a:rPr lang="en-US" altLang="en-US" sz="2500" smtClean="0"/>
              <a:t>Semantics:</a:t>
            </a:r>
          </a:p>
          <a:p>
            <a:pPr lvl="1" eaLnBrk="1" hangingPunct="1"/>
            <a:r>
              <a:rPr lang="en-US" altLang="en-US" smtClean="0"/>
              <a:t>repeat execution of statement until expression becomes false</a:t>
            </a:r>
          </a:p>
          <a:p>
            <a:pPr lvl="1" eaLnBrk="1" hangingPunct="1"/>
            <a:r>
              <a:rPr lang="en-US" altLang="en-US" smtClean="0"/>
              <a:t>expression is always evaluated after statement</a:t>
            </a:r>
          </a:p>
          <a:p>
            <a:pPr lvl="1" eaLnBrk="1" hangingPunct="1"/>
            <a:r>
              <a:rPr lang="en-US" altLang="en-US" smtClean="0"/>
              <a:t>even if expression is false initially, statement will be executed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Do-while statement</a:t>
            </a:r>
            <a:endParaRPr lang="en-US" dirty="0"/>
          </a:p>
        </p:txBody>
      </p:sp>
      <p:pic>
        <p:nvPicPr>
          <p:cNvPr id="3789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2362200"/>
            <a:ext cx="2200275" cy="240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Example: Do-While</a:t>
            </a:r>
            <a:endParaRPr lang="en-US" dirty="0"/>
          </a:p>
        </p:txBody>
      </p:sp>
      <p:pic>
        <p:nvPicPr>
          <p:cNvPr id="3994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600200"/>
            <a:ext cx="6934200" cy="373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When iterating over a range of values, for statement is more suitable to use then while or do-while.</a:t>
            </a:r>
          </a:p>
          <a:p>
            <a:pPr eaLnBrk="1" hangingPunct="1"/>
            <a:r>
              <a:rPr lang="en-US" altLang="en-US" smtClean="0"/>
              <a:t>General form:</a:t>
            </a:r>
          </a:p>
          <a:p>
            <a:pPr lvl="1" eaLnBrk="1" hangingPunct="1"/>
            <a:r>
              <a:rPr lang="en-US" altLang="en-US" smtClean="0"/>
              <a:t>for (initialization; termination; increment)</a:t>
            </a:r>
          </a:p>
          <a:p>
            <a:pPr lvl="2" eaLnBrk="1" hangingPunct="1">
              <a:buFont typeface="Wingdings 2" panose="05020102010507070707" pitchFamily="18" charset="2"/>
              <a:buNone/>
            </a:pPr>
            <a:r>
              <a:rPr lang="en-US" altLang="en-US" i="1" smtClean="0"/>
              <a:t>   statement</a:t>
            </a:r>
          </a:p>
          <a:p>
            <a:pPr eaLnBrk="1" hangingPunct="1">
              <a:buFont typeface="Wingdings 3" panose="05040102010807070707" pitchFamily="18" charset="2"/>
              <a:buNone/>
            </a:pPr>
            <a:r>
              <a:rPr lang="en-US" altLang="en-US" smtClean="0"/>
              <a:t>   where:</a:t>
            </a:r>
          </a:p>
          <a:p>
            <a:pPr lvl="1" eaLnBrk="1" hangingPunct="1"/>
            <a:r>
              <a:rPr lang="en-US" altLang="en-US" smtClean="0"/>
              <a:t>initialization statement is executed once before the first iteration</a:t>
            </a:r>
          </a:p>
          <a:p>
            <a:pPr lvl="1" eaLnBrk="1" hangingPunct="1"/>
            <a:r>
              <a:rPr lang="en-US" altLang="en-US" smtClean="0"/>
              <a:t>termination expression is evaluated before each iteration to determine when the loop should terminate</a:t>
            </a:r>
          </a:p>
          <a:p>
            <a:pPr lvl="1" eaLnBrk="1" hangingPunct="1"/>
            <a:r>
              <a:rPr lang="en-US" altLang="en-US" smtClean="0"/>
              <a:t>increment statement is executed after each iteration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For statement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This is how the for statement is executed:</a:t>
            </a:r>
          </a:p>
          <a:p>
            <a:pPr marL="849313" lvl="1" indent="-457200" eaLnBrk="1" hangingPunct="1">
              <a:buFont typeface="Lucida Sans Unicode" panose="020B0602030504020204" pitchFamily="34" charset="0"/>
              <a:buAutoNum type="arabicPeriod"/>
            </a:pPr>
            <a:r>
              <a:rPr lang="en-US" altLang="en-US" smtClean="0"/>
              <a:t>initialization is executed once</a:t>
            </a:r>
          </a:p>
          <a:p>
            <a:pPr marL="849313" lvl="1" indent="-457200" eaLnBrk="1" hangingPunct="1">
              <a:buFont typeface="Lucida Sans Unicode" panose="020B0602030504020204" pitchFamily="34" charset="0"/>
              <a:buAutoNum type="arabicPeriod"/>
            </a:pPr>
            <a:r>
              <a:rPr lang="en-US" altLang="en-US" smtClean="0"/>
              <a:t>termination expression is evaluated:</a:t>
            </a:r>
          </a:p>
          <a:p>
            <a:pPr lvl="2" eaLnBrk="1" hangingPunct="1"/>
            <a:r>
              <a:rPr lang="en-US" altLang="en-US" smtClean="0"/>
              <a:t>if false, the statement terminates</a:t>
            </a:r>
          </a:p>
          <a:p>
            <a:pPr lvl="2" eaLnBrk="1" hangingPunct="1"/>
            <a:r>
              <a:rPr lang="en-US" altLang="en-US" smtClean="0"/>
              <a:t>otherwise, continue to (3)</a:t>
            </a:r>
          </a:p>
          <a:p>
            <a:pPr marL="849313" lvl="1" indent="-457200" eaLnBrk="1" hangingPunct="1">
              <a:buFont typeface="Lucida Sans Unicode" panose="020B0602030504020204" pitchFamily="34" charset="0"/>
              <a:buAutoNum type="arabicPeriod"/>
            </a:pPr>
            <a:r>
              <a:rPr lang="en-US" altLang="en-US" smtClean="0"/>
              <a:t>component statement is executed</a:t>
            </a:r>
          </a:p>
          <a:p>
            <a:pPr marL="849313" lvl="1" indent="-457200" eaLnBrk="1" hangingPunct="1">
              <a:buFont typeface="Lucida Sans Unicode" panose="020B0602030504020204" pitchFamily="34" charset="0"/>
              <a:buAutoNum type="arabicPeriod"/>
            </a:pPr>
            <a:r>
              <a:rPr lang="en-US" altLang="en-US" smtClean="0"/>
              <a:t>increment statement is executed</a:t>
            </a:r>
          </a:p>
          <a:p>
            <a:pPr marL="849313" lvl="1" indent="-457200" eaLnBrk="1" hangingPunct="1">
              <a:buFont typeface="Lucida Sans Unicode" panose="020B0602030504020204" pitchFamily="34" charset="0"/>
              <a:buAutoNum type="arabicPeriod"/>
            </a:pPr>
            <a:r>
              <a:rPr lang="en-US" altLang="en-US" smtClean="0"/>
              <a:t>control flow continues from (2)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For statement Semantics</a:t>
            </a:r>
            <a:endParaRPr lang="en-US" dirty="0"/>
          </a:p>
        </p:txBody>
      </p:sp>
      <p:pic>
        <p:nvPicPr>
          <p:cNvPr id="44036" name="Picture 5" descr="C:\Users\unknown\Desktop\Untitl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4495800"/>
            <a:ext cx="3333750" cy="219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The for statement may include declaration of a loop control variable:</a:t>
            </a:r>
          </a:p>
          <a:p>
            <a:pPr eaLnBrk="1" hangingPunct="1"/>
            <a:endParaRPr lang="en-US" altLang="en-US" smtClean="0"/>
          </a:p>
          <a:p>
            <a:pPr eaLnBrk="1" hangingPunct="1"/>
            <a:endParaRPr lang="en-US" altLang="en-US" smtClean="0"/>
          </a:p>
          <a:p>
            <a:pPr eaLnBrk="1" hangingPunct="1"/>
            <a:endParaRPr lang="en-US" altLang="en-US" smtClean="0"/>
          </a:p>
          <a:p>
            <a:pPr eaLnBrk="1" hangingPunct="1"/>
            <a:r>
              <a:rPr lang="en-US" altLang="en-US" smtClean="0"/>
              <a:t>The variable does not exist outside the for statement.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Loop Control Variable</a:t>
            </a:r>
            <a:endParaRPr lang="en-US" dirty="0"/>
          </a:p>
        </p:txBody>
      </p:sp>
      <p:pic>
        <p:nvPicPr>
          <p:cNvPr id="4506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438400"/>
            <a:ext cx="4800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061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4191000"/>
            <a:ext cx="4562475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Example: for</a:t>
            </a:r>
            <a:endParaRPr lang="en-US" dirty="0"/>
          </a:p>
        </p:txBody>
      </p:sp>
      <p:pic>
        <p:nvPicPr>
          <p:cNvPr id="46083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3400" y="1524000"/>
            <a:ext cx="7038975" cy="4254500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The for statement may include several initialization and iteration parts.</a:t>
            </a:r>
          </a:p>
          <a:p>
            <a:pPr eaLnBrk="1" hangingPunct="1"/>
            <a:r>
              <a:rPr lang="en-US" altLang="en-US" smtClean="0"/>
              <a:t>Parts are separated by a comma: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 smtClean="0"/>
              <a:t>Many Initialization/Iteration Parts</a:t>
            </a:r>
            <a:endParaRPr lang="en-US" dirty="0"/>
          </a:p>
        </p:txBody>
      </p:sp>
      <p:pic>
        <p:nvPicPr>
          <p:cNvPr id="4813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124200"/>
            <a:ext cx="533400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for statement Variations</a:t>
            </a:r>
            <a:endParaRPr lang="en-US" dirty="0"/>
          </a:p>
        </p:txBody>
      </p:sp>
      <p:pic>
        <p:nvPicPr>
          <p:cNvPr id="5017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286000"/>
            <a:ext cx="716280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180" name="Content Placeholder 5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330700"/>
          </a:xfrm>
        </p:spPr>
        <p:txBody>
          <a:bodyPr/>
          <a:lstStyle/>
          <a:p>
            <a:pPr eaLnBrk="1" hangingPunct="1"/>
            <a:r>
              <a:rPr lang="en-US" altLang="en-US" smtClean="0"/>
              <a:t>The for statement need not have all components: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In fact, all three components may be omitted: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Empty for (practice)</a:t>
            </a:r>
            <a:endParaRPr lang="en-US" dirty="0"/>
          </a:p>
        </p:txBody>
      </p:sp>
      <p:pic>
        <p:nvPicPr>
          <p:cNvPr id="5222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286000"/>
            <a:ext cx="6553200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The for-each loop is </a:t>
            </a:r>
            <a:r>
              <a:rPr lang="en-US" altLang="en-US" smtClean="0">
                <a:solidFill>
                  <a:srgbClr val="FF0000"/>
                </a:solidFill>
              </a:rPr>
              <a:t>used to traverse array </a:t>
            </a:r>
            <a:r>
              <a:rPr lang="en-US" altLang="en-US" smtClean="0"/>
              <a:t>or collection in java</a:t>
            </a:r>
          </a:p>
          <a:p>
            <a:r>
              <a:rPr lang="en-US" altLang="en-US" smtClean="0"/>
              <a:t>Easier to use than simple for loop because we don't need to increment value and use subscript notation.</a:t>
            </a:r>
          </a:p>
          <a:p>
            <a:r>
              <a:rPr lang="en-US" altLang="en-US" smtClean="0"/>
              <a:t>works on elements basis not index and returns element one by one in the defined variable.</a:t>
            </a:r>
          </a:p>
          <a:p>
            <a:endParaRPr lang="en-US" altLang="en-US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Java for-each Loop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7950" indent="0">
              <a:buFont typeface="Wingdings 3" panose="05040102010807070707" pitchFamily="18" charset="2"/>
              <a:buNone/>
            </a:pPr>
            <a:r>
              <a:rPr lang="en-US" altLang="en-US" smtClean="0"/>
              <a:t>public class ForEachExample {  </a:t>
            </a:r>
          </a:p>
          <a:p>
            <a:pPr marL="107950" indent="0">
              <a:buFont typeface="Wingdings 3" panose="05040102010807070707" pitchFamily="18" charset="2"/>
              <a:buNone/>
            </a:pPr>
            <a:r>
              <a:rPr lang="en-US" altLang="en-US" smtClean="0"/>
              <a:t>public static void main(String[] args) {  </a:t>
            </a:r>
          </a:p>
          <a:p>
            <a:pPr marL="107950" indent="0">
              <a:buFont typeface="Wingdings 3" panose="05040102010807070707" pitchFamily="18" charset="2"/>
              <a:buNone/>
            </a:pPr>
            <a:r>
              <a:rPr lang="en-US" altLang="en-US" smtClean="0"/>
              <a:t>    int arr[]={12,23,44,56,78};  </a:t>
            </a:r>
          </a:p>
          <a:p>
            <a:pPr marL="107950" indent="0">
              <a:buFont typeface="Wingdings 3" panose="05040102010807070707" pitchFamily="18" charset="2"/>
              <a:buNone/>
            </a:pPr>
            <a:r>
              <a:rPr lang="en-US" altLang="en-US" smtClean="0"/>
              <a:t>    </a:t>
            </a:r>
            <a:r>
              <a:rPr lang="en-US" altLang="en-US" smtClean="0">
                <a:solidFill>
                  <a:srgbClr val="FF0000"/>
                </a:solidFill>
              </a:rPr>
              <a:t>for(int i:arr){  </a:t>
            </a:r>
          </a:p>
          <a:p>
            <a:pPr marL="107950" indent="0">
              <a:buFont typeface="Wingdings 3" panose="05040102010807070707" pitchFamily="18" charset="2"/>
              <a:buNone/>
            </a:pPr>
            <a:r>
              <a:rPr lang="en-US" altLang="en-US" smtClean="0"/>
              <a:t>        System.out.println(i);  </a:t>
            </a:r>
          </a:p>
          <a:p>
            <a:pPr marL="107950" indent="0">
              <a:buFont typeface="Wingdings 3" panose="05040102010807070707" pitchFamily="18" charset="2"/>
              <a:buNone/>
            </a:pPr>
            <a:r>
              <a:rPr lang="en-US" altLang="en-US" smtClean="0"/>
              <a:t>    }  </a:t>
            </a:r>
          </a:p>
          <a:p>
            <a:pPr marL="107950" indent="0">
              <a:buFont typeface="Wingdings 3" panose="05040102010807070707" pitchFamily="18" charset="2"/>
              <a:buNone/>
            </a:pPr>
            <a:r>
              <a:rPr lang="en-US" altLang="en-US" smtClean="0"/>
              <a:t>}  </a:t>
            </a:r>
          </a:p>
          <a:p>
            <a:pPr marL="107950" indent="0">
              <a:buFont typeface="Wingdings 3" panose="05040102010807070707" pitchFamily="18" charset="2"/>
              <a:buNone/>
            </a:pPr>
            <a:r>
              <a:rPr lang="en-US" altLang="en-US" smtClean="0"/>
              <a:t>}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Example</a:t>
            </a:r>
            <a:endParaRPr 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We can have name of each for loop. i.e. we can use label before the for loop</a:t>
            </a:r>
          </a:p>
          <a:p>
            <a:r>
              <a:rPr lang="en-US" altLang="en-US" smtClean="0"/>
              <a:t>It is useful if we have nested for loop </a:t>
            </a:r>
            <a:r>
              <a:rPr lang="en-US" altLang="en-US" smtClean="0">
                <a:solidFill>
                  <a:srgbClr val="FF0000"/>
                </a:solidFill>
              </a:rPr>
              <a:t>so that we can break/continue specific for loop.</a:t>
            </a:r>
          </a:p>
          <a:p>
            <a:r>
              <a:rPr lang="en-US" altLang="en-US" smtClean="0"/>
              <a:t>Normally, break and continue keywords breaks/continues the </a:t>
            </a:r>
            <a:r>
              <a:rPr lang="en-US" altLang="en-US" smtClean="0">
                <a:solidFill>
                  <a:srgbClr val="FF0000"/>
                </a:solidFill>
              </a:rPr>
              <a:t>inner most for loop only</a:t>
            </a:r>
            <a:r>
              <a:rPr lang="en-US" altLang="en-US" smtClean="0"/>
              <a:t>.</a:t>
            </a:r>
            <a:endParaRPr lang="en-US" altLang="en-US" smtClean="0">
              <a:solidFill>
                <a:srgbClr val="FF0000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Java Labeled For Loop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7950" indent="0">
              <a:buFont typeface="Wingdings 3" panose="05040102010807070707" pitchFamily="18" charset="2"/>
              <a:buNone/>
            </a:pPr>
            <a:r>
              <a:rPr lang="en-US" altLang="en-US" sz="2000" smtClean="0"/>
              <a:t>public class LabeledForExample {  </a:t>
            </a:r>
          </a:p>
          <a:p>
            <a:pPr marL="107950" indent="0">
              <a:buFont typeface="Wingdings 3" panose="05040102010807070707" pitchFamily="18" charset="2"/>
              <a:buNone/>
            </a:pPr>
            <a:r>
              <a:rPr lang="en-US" altLang="en-US" sz="2000" smtClean="0"/>
              <a:t>public static void main(String[] args) {  </a:t>
            </a:r>
          </a:p>
          <a:p>
            <a:pPr marL="107950" indent="0">
              <a:buFont typeface="Wingdings 3" panose="05040102010807070707" pitchFamily="18" charset="2"/>
              <a:buNone/>
            </a:pPr>
            <a:r>
              <a:rPr lang="en-US" altLang="en-US" sz="2000" smtClean="0"/>
              <a:t>    </a:t>
            </a:r>
            <a:r>
              <a:rPr lang="en-US" altLang="en-US" sz="2000" b="1" smtClean="0"/>
              <a:t>aa:  </a:t>
            </a:r>
          </a:p>
          <a:p>
            <a:pPr marL="107950" indent="0">
              <a:buFont typeface="Wingdings 3" panose="05040102010807070707" pitchFamily="18" charset="2"/>
              <a:buNone/>
            </a:pPr>
            <a:r>
              <a:rPr lang="en-US" altLang="en-US" sz="2000" smtClean="0"/>
              <a:t>        for(int i=1;i&lt;=3;i++){  </a:t>
            </a:r>
          </a:p>
          <a:p>
            <a:pPr marL="107950" indent="0">
              <a:buFont typeface="Wingdings 3" panose="05040102010807070707" pitchFamily="18" charset="2"/>
              <a:buNone/>
            </a:pPr>
            <a:r>
              <a:rPr lang="en-US" altLang="en-US" sz="2000" smtClean="0"/>
              <a:t>            </a:t>
            </a:r>
            <a:r>
              <a:rPr lang="en-US" altLang="en-US" sz="2000" b="1" smtClean="0"/>
              <a:t>bb:  </a:t>
            </a:r>
          </a:p>
          <a:p>
            <a:pPr marL="107950" indent="0">
              <a:buFont typeface="Wingdings 3" panose="05040102010807070707" pitchFamily="18" charset="2"/>
              <a:buNone/>
            </a:pPr>
            <a:r>
              <a:rPr lang="en-US" altLang="en-US" sz="2000" smtClean="0"/>
              <a:t>                for(int j=1;j&lt;=3;j++){  </a:t>
            </a:r>
          </a:p>
          <a:p>
            <a:pPr marL="107950" indent="0">
              <a:buFont typeface="Wingdings 3" panose="05040102010807070707" pitchFamily="18" charset="2"/>
              <a:buNone/>
            </a:pPr>
            <a:r>
              <a:rPr lang="en-US" altLang="en-US" sz="2000" smtClean="0"/>
              <a:t>                    if(i==2&amp;&amp;j==2){  </a:t>
            </a:r>
          </a:p>
          <a:p>
            <a:pPr marL="107950" indent="0">
              <a:buFont typeface="Wingdings 3" panose="05040102010807070707" pitchFamily="18" charset="2"/>
              <a:buNone/>
            </a:pPr>
            <a:r>
              <a:rPr lang="en-US" altLang="en-US" sz="2000" smtClean="0"/>
              <a:t>                        </a:t>
            </a:r>
            <a:r>
              <a:rPr lang="en-US" altLang="en-US" sz="2000" b="1" smtClean="0"/>
              <a:t>break aa;  </a:t>
            </a:r>
          </a:p>
          <a:p>
            <a:pPr marL="107950" indent="0">
              <a:buFont typeface="Wingdings 3" panose="05040102010807070707" pitchFamily="18" charset="2"/>
              <a:buNone/>
            </a:pPr>
            <a:r>
              <a:rPr lang="en-US" altLang="en-US" sz="2000" smtClean="0"/>
              <a:t>                    }  </a:t>
            </a:r>
          </a:p>
          <a:p>
            <a:pPr marL="107950" indent="0">
              <a:buFont typeface="Wingdings 3" panose="05040102010807070707" pitchFamily="18" charset="2"/>
              <a:buNone/>
            </a:pPr>
            <a:r>
              <a:rPr lang="en-US" altLang="en-US" sz="2000" smtClean="0"/>
              <a:t>                    System.out.println(i+" "+j);  </a:t>
            </a:r>
          </a:p>
          <a:p>
            <a:pPr marL="107950" indent="0">
              <a:buFont typeface="Wingdings 3" panose="05040102010807070707" pitchFamily="18" charset="2"/>
              <a:buNone/>
            </a:pPr>
            <a:r>
              <a:rPr lang="en-US" altLang="en-US" sz="2000" smtClean="0"/>
              <a:t>                }  </a:t>
            </a:r>
          </a:p>
          <a:p>
            <a:pPr marL="107950" indent="0">
              <a:buFont typeface="Wingdings 3" panose="05040102010807070707" pitchFamily="18" charset="2"/>
              <a:buNone/>
            </a:pPr>
            <a:r>
              <a:rPr lang="en-US" altLang="en-US" sz="2000" smtClean="0"/>
              <a:t>        }  </a:t>
            </a:r>
          </a:p>
          <a:p>
            <a:pPr marL="107950" indent="0">
              <a:buFont typeface="Wingdings 3" panose="05040102010807070707" pitchFamily="18" charset="2"/>
              <a:buNone/>
            </a:pPr>
            <a:r>
              <a:rPr lang="en-US" altLang="en-US" sz="2000" smtClean="0"/>
              <a:t>}  </a:t>
            </a:r>
          </a:p>
          <a:p>
            <a:pPr marL="107950" indent="0">
              <a:buFont typeface="Wingdings 3" panose="05040102010807070707" pitchFamily="18" charset="2"/>
              <a:buNone/>
            </a:pPr>
            <a:r>
              <a:rPr lang="en-US" altLang="en-US" sz="2000" smtClean="0"/>
              <a:t>}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Example</a:t>
            </a:r>
            <a:endParaRPr 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7950" indent="0">
              <a:buFont typeface="Wingdings 3" panose="05040102010807070707" pitchFamily="18" charset="2"/>
              <a:buNone/>
            </a:pPr>
            <a:r>
              <a:rPr lang="en-US" altLang="en-US" sz="2000" dirty="0" smtClean="0"/>
              <a:t>public class LabeledForExample2 {  </a:t>
            </a:r>
          </a:p>
          <a:p>
            <a:pPr marL="107950" indent="0">
              <a:buFont typeface="Wingdings 3" panose="05040102010807070707" pitchFamily="18" charset="2"/>
              <a:buNone/>
            </a:pPr>
            <a:r>
              <a:rPr lang="en-US" altLang="en-US" sz="2000" dirty="0" smtClean="0"/>
              <a:t>public static void main(String[] </a:t>
            </a:r>
            <a:r>
              <a:rPr lang="en-US" altLang="en-US" sz="2000" dirty="0" err="1" smtClean="0"/>
              <a:t>args</a:t>
            </a:r>
            <a:r>
              <a:rPr lang="en-US" altLang="en-US" sz="2000" dirty="0" smtClean="0"/>
              <a:t>) {  </a:t>
            </a:r>
          </a:p>
          <a:p>
            <a:pPr marL="107950" indent="0">
              <a:buFont typeface="Wingdings 3" panose="05040102010807070707" pitchFamily="18" charset="2"/>
              <a:buNone/>
            </a:pPr>
            <a:r>
              <a:rPr lang="en-US" altLang="en-US" sz="2000" dirty="0" smtClean="0"/>
              <a:t>    </a:t>
            </a:r>
            <a:r>
              <a:rPr lang="en-US" altLang="en-US" sz="2000" b="1" dirty="0" smtClean="0"/>
              <a:t>aa:  </a:t>
            </a:r>
          </a:p>
          <a:p>
            <a:pPr marL="107950" indent="0">
              <a:buFont typeface="Wingdings 3" panose="05040102010807070707" pitchFamily="18" charset="2"/>
              <a:buNone/>
            </a:pPr>
            <a:r>
              <a:rPr lang="en-US" altLang="en-US" sz="2000" dirty="0" smtClean="0"/>
              <a:t>        for(</a:t>
            </a:r>
            <a:r>
              <a:rPr lang="en-US" altLang="en-US" sz="2000" dirty="0" err="1" smtClean="0"/>
              <a:t>int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i</a:t>
            </a:r>
            <a:r>
              <a:rPr lang="en-US" altLang="en-US" sz="2000" dirty="0" smtClean="0"/>
              <a:t>=1;i&lt;=3;i++){  </a:t>
            </a:r>
          </a:p>
          <a:p>
            <a:pPr marL="107950" indent="0">
              <a:buFont typeface="Wingdings 3" panose="05040102010807070707" pitchFamily="18" charset="2"/>
              <a:buNone/>
            </a:pPr>
            <a:r>
              <a:rPr lang="en-US" altLang="en-US" sz="2000" dirty="0" smtClean="0"/>
              <a:t>            </a:t>
            </a:r>
            <a:r>
              <a:rPr lang="en-US" altLang="en-US" sz="2000" b="1" dirty="0" smtClean="0"/>
              <a:t>bb:  </a:t>
            </a:r>
          </a:p>
          <a:p>
            <a:pPr marL="107950" indent="0">
              <a:buFont typeface="Wingdings 3" panose="05040102010807070707" pitchFamily="18" charset="2"/>
              <a:buNone/>
            </a:pPr>
            <a:r>
              <a:rPr lang="en-US" altLang="en-US" sz="2000" dirty="0" smtClean="0"/>
              <a:t>                for(</a:t>
            </a:r>
            <a:r>
              <a:rPr lang="en-US" altLang="en-US" sz="2000" dirty="0" err="1" smtClean="0"/>
              <a:t>int</a:t>
            </a:r>
            <a:r>
              <a:rPr lang="en-US" altLang="en-US" sz="2000" dirty="0" smtClean="0"/>
              <a:t> j=1;j&lt;=3;j++){  </a:t>
            </a:r>
          </a:p>
          <a:p>
            <a:pPr marL="107950" indent="0">
              <a:buFont typeface="Wingdings 3" panose="05040102010807070707" pitchFamily="18" charset="2"/>
              <a:buNone/>
            </a:pPr>
            <a:r>
              <a:rPr lang="en-US" altLang="en-US" sz="2000" dirty="0" smtClean="0"/>
              <a:t>                    if(</a:t>
            </a:r>
            <a:r>
              <a:rPr lang="en-US" altLang="en-US" sz="2000" dirty="0" err="1" smtClean="0"/>
              <a:t>i</a:t>
            </a:r>
            <a:r>
              <a:rPr lang="en-US" altLang="en-US" sz="2000" dirty="0" smtClean="0"/>
              <a:t>==2&amp;&amp;j==2){  </a:t>
            </a:r>
          </a:p>
          <a:p>
            <a:pPr marL="107950" indent="0">
              <a:buFont typeface="Wingdings 3" panose="05040102010807070707" pitchFamily="18" charset="2"/>
              <a:buNone/>
            </a:pPr>
            <a:r>
              <a:rPr lang="en-US" altLang="en-US" sz="2000" dirty="0" smtClean="0"/>
              <a:t>                        </a:t>
            </a:r>
            <a:r>
              <a:rPr lang="en-US" altLang="en-US" sz="2000" b="1" dirty="0" smtClean="0"/>
              <a:t>break bb;  </a:t>
            </a:r>
          </a:p>
          <a:p>
            <a:pPr marL="107950" indent="0">
              <a:buFont typeface="Wingdings 3" panose="05040102010807070707" pitchFamily="18" charset="2"/>
              <a:buNone/>
            </a:pPr>
            <a:r>
              <a:rPr lang="en-US" altLang="en-US" sz="2000" dirty="0" smtClean="0"/>
              <a:t>                    }  </a:t>
            </a:r>
          </a:p>
          <a:p>
            <a:pPr marL="107950" indent="0">
              <a:buFont typeface="Wingdings 3" panose="05040102010807070707" pitchFamily="18" charset="2"/>
              <a:buNone/>
            </a:pPr>
            <a:r>
              <a:rPr lang="en-US" altLang="en-US" sz="2000" dirty="0" smtClean="0"/>
              <a:t>                    </a:t>
            </a:r>
            <a:r>
              <a:rPr lang="en-US" altLang="en-US" sz="2000" dirty="0" err="1" smtClean="0"/>
              <a:t>System.out.println</a:t>
            </a:r>
            <a:r>
              <a:rPr lang="en-US" altLang="en-US" sz="2000" dirty="0" smtClean="0"/>
              <a:t>(</a:t>
            </a:r>
            <a:r>
              <a:rPr lang="en-US" altLang="en-US" sz="2000" dirty="0" err="1" smtClean="0"/>
              <a:t>i</a:t>
            </a:r>
            <a:r>
              <a:rPr lang="en-US" altLang="en-US" sz="2000" dirty="0" smtClean="0"/>
              <a:t>+" "+j);  </a:t>
            </a:r>
          </a:p>
          <a:p>
            <a:pPr marL="107950" indent="0">
              <a:buFont typeface="Wingdings 3" panose="05040102010807070707" pitchFamily="18" charset="2"/>
              <a:buNone/>
            </a:pPr>
            <a:r>
              <a:rPr lang="en-US" altLang="en-US" sz="2000" dirty="0" smtClean="0"/>
              <a:t>                }  </a:t>
            </a:r>
          </a:p>
          <a:p>
            <a:pPr marL="107950" indent="0">
              <a:buFont typeface="Wingdings 3" panose="05040102010807070707" pitchFamily="18" charset="2"/>
              <a:buNone/>
            </a:pPr>
            <a:r>
              <a:rPr lang="en-US" altLang="en-US" sz="2000" dirty="0" smtClean="0"/>
              <a:t>        }  </a:t>
            </a:r>
          </a:p>
          <a:p>
            <a:pPr marL="107950" indent="0">
              <a:buFont typeface="Wingdings 3" panose="05040102010807070707" pitchFamily="18" charset="2"/>
              <a:buNone/>
            </a:pPr>
            <a:r>
              <a:rPr lang="en-US" altLang="en-US" sz="2000" dirty="0" smtClean="0"/>
              <a:t>}  </a:t>
            </a:r>
          </a:p>
          <a:p>
            <a:pPr marL="107950" indent="0">
              <a:buFont typeface="Wingdings 3" panose="05040102010807070707" pitchFamily="18" charset="2"/>
              <a:buNone/>
            </a:pPr>
            <a:r>
              <a:rPr lang="en-US" altLang="en-US" sz="2000" dirty="0" smtClean="0"/>
              <a:t>}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Example 2</a:t>
            </a: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3429000" y="5486400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Output ????</a:t>
            </a:r>
            <a:endParaRPr 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Java jump statements enable transfer of control to other parts of program.</a:t>
            </a:r>
          </a:p>
          <a:p>
            <a:pPr eaLnBrk="1" hangingPunct="1"/>
            <a:r>
              <a:rPr lang="en-US" altLang="en-US" dirty="0" smtClean="0"/>
              <a:t>Java provides three jump statements:</a:t>
            </a:r>
          </a:p>
          <a:p>
            <a:pPr lvl="1" eaLnBrk="1" hangingPunct="1"/>
            <a:r>
              <a:rPr lang="en-US" altLang="en-US" dirty="0" smtClean="0"/>
              <a:t>break</a:t>
            </a:r>
          </a:p>
          <a:p>
            <a:pPr lvl="1" eaLnBrk="1" hangingPunct="1"/>
            <a:r>
              <a:rPr lang="en-US" altLang="en-US" dirty="0" smtClean="0"/>
              <a:t>continue</a:t>
            </a:r>
          </a:p>
          <a:p>
            <a:pPr lvl="1" eaLnBrk="1" hangingPunct="1"/>
            <a:r>
              <a:rPr lang="en-US" altLang="en-US" dirty="0" smtClean="0"/>
              <a:t>return</a:t>
            </a:r>
          </a:p>
          <a:p>
            <a:pPr eaLnBrk="1" hangingPunct="1"/>
            <a:endParaRPr lang="en-US" altLang="en-US" dirty="0" smtClean="0"/>
          </a:p>
          <a:p>
            <a:pPr eaLnBrk="1" hangingPunct="1"/>
            <a:r>
              <a:rPr lang="en-US" altLang="en-US" dirty="0" smtClean="0"/>
              <a:t>In addition, Java supports exception handling that can also alter the control flow of a program. Exception handling will be explained in its own section.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Jump Statements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The break statement has three uses:</a:t>
            </a:r>
          </a:p>
          <a:p>
            <a:pPr marL="849313" lvl="1" indent="-457200" eaLnBrk="1" hangingPunct="1">
              <a:buFont typeface="Lucida Sans Unicode" panose="020B0602030504020204" pitchFamily="34" charset="0"/>
              <a:buAutoNum type="arabicPeriod"/>
            </a:pPr>
            <a:r>
              <a:rPr lang="en-US" altLang="en-US" smtClean="0"/>
              <a:t>to terminate a case inside the switch statement</a:t>
            </a:r>
          </a:p>
          <a:p>
            <a:pPr marL="849313" lvl="1" indent="-457200" eaLnBrk="1" hangingPunct="1">
              <a:buFont typeface="Lucida Sans Unicode" panose="020B0602030504020204" pitchFamily="34" charset="0"/>
              <a:buAutoNum type="arabicPeriod"/>
            </a:pPr>
            <a:r>
              <a:rPr lang="en-US" altLang="en-US" smtClean="0"/>
              <a:t>to exit an iterative statement</a:t>
            </a:r>
          </a:p>
          <a:p>
            <a:pPr marL="849313" lvl="1" indent="-457200" eaLnBrk="1" hangingPunct="1">
              <a:buFont typeface="Lucida Sans Unicode" panose="020B0602030504020204" pitchFamily="34" charset="0"/>
              <a:buAutoNum type="arabicPeriod"/>
            </a:pPr>
            <a:r>
              <a:rPr lang="en-US" altLang="en-US" smtClean="0"/>
              <a:t>to transfer control to another statement</a:t>
            </a:r>
          </a:p>
          <a:p>
            <a:pPr eaLnBrk="1" hangingPunct="1"/>
            <a:r>
              <a:rPr lang="en-US" altLang="en-US" smtClean="0"/>
              <a:t>(1) has been described earlier.</a:t>
            </a:r>
          </a:p>
          <a:p>
            <a:pPr eaLnBrk="1" hangingPunct="1"/>
            <a:r>
              <a:rPr lang="en-US" altLang="en-US" smtClean="0"/>
              <a:t>We continue with (2) and (3).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Break Statement</a:t>
            </a:r>
            <a:endParaRPr lang="en-US" dirty="0"/>
          </a:p>
        </p:txBody>
      </p:sp>
      <p:pic>
        <p:nvPicPr>
          <p:cNvPr id="6451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1825" y="3276600"/>
            <a:ext cx="3279775" cy="335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When break is used inside a loop, the loop terminates and control is transferred to the following instruction.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Loop Exit with Break</a:t>
            </a:r>
            <a:endParaRPr lang="en-US" dirty="0"/>
          </a:p>
        </p:txBody>
      </p:sp>
      <p:pic>
        <p:nvPicPr>
          <p:cNvPr id="6554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895600"/>
            <a:ext cx="6172200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Used inside nested loops, break will only terminate the innermost loop: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Break with Nested Loops</a:t>
            </a:r>
            <a:endParaRPr lang="en-US" dirty="0"/>
          </a:p>
        </p:txBody>
      </p:sp>
      <p:pic>
        <p:nvPicPr>
          <p:cNvPr id="6758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438400"/>
            <a:ext cx="7239000" cy="373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altLang="en-US" smtClean="0"/>
          </a:p>
          <a:p>
            <a:pPr eaLnBrk="1" hangingPunct="1"/>
            <a:r>
              <a:rPr lang="en-US" altLang="en-US" smtClean="0"/>
              <a:t>break occurs in two versions:</a:t>
            </a:r>
          </a:p>
          <a:p>
            <a:pPr lvl="1" eaLnBrk="1" hangingPunct="1"/>
            <a:r>
              <a:rPr lang="en-US" altLang="en-US" smtClean="0"/>
              <a:t>Unlabelled</a:t>
            </a:r>
          </a:p>
          <a:p>
            <a:pPr lvl="1" eaLnBrk="1" hangingPunct="1"/>
            <a:r>
              <a:rPr lang="en-US" altLang="en-US" smtClean="0"/>
              <a:t>Labeled</a:t>
            </a:r>
          </a:p>
          <a:p>
            <a:pPr lvl="1" eaLnBrk="1" hangingPunct="1"/>
            <a:endParaRPr lang="en-US" altLang="en-US" smtClean="0"/>
          </a:p>
          <a:p>
            <a:pPr lvl="1" eaLnBrk="1" hangingPunct="1">
              <a:buFont typeface="Verdana" panose="020B0604030504040204" pitchFamily="34" charset="0"/>
              <a:buNone/>
            </a:pPr>
            <a:endParaRPr lang="en-US" altLang="en-US" smtClean="0"/>
          </a:p>
          <a:p>
            <a:pPr eaLnBrk="1" hangingPunct="1"/>
            <a:r>
              <a:rPr lang="en-US" altLang="en-US" smtClean="0"/>
              <a:t>The labeled break statement is a “civilized” replacement for goto.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Control Transfer with Break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General form:</a:t>
            </a:r>
          </a:p>
          <a:p>
            <a:pPr eaLnBrk="1" hangingPunct="1">
              <a:buFont typeface="Wingdings 3" panose="05040102010807070707" pitchFamily="18" charset="2"/>
              <a:buNone/>
            </a:pPr>
            <a:r>
              <a:rPr lang="en-US" altLang="en-US" smtClean="0"/>
              <a:t>          break label;</a:t>
            </a:r>
          </a:p>
          <a:p>
            <a:pPr eaLnBrk="1" hangingPunct="1">
              <a:buFont typeface="Wingdings 3" panose="05040102010807070707" pitchFamily="18" charset="2"/>
              <a:buNone/>
            </a:pPr>
            <a:r>
              <a:rPr lang="en-US" altLang="en-US" smtClean="0"/>
              <a:t>   where label is the name of a label that identifies a block of code:</a:t>
            </a:r>
          </a:p>
          <a:p>
            <a:pPr eaLnBrk="1" hangingPunct="1">
              <a:buFont typeface="Wingdings 3" panose="05040102010807070707" pitchFamily="18" charset="2"/>
              <a:buNone/>
            </a:pPr>
            <a:r>
              <a:rPr lang="en-US" altLang="en-US" smtClean="0"/>
              <a:t>          label: { … }</a:t>
            </a:r>
          </a:p>
          <a:p>
            <a:pPr eaLnBrk="1" hangingPunct="1"/>
            <a:r>
              <a:rPr lang="en-US" altLang="en-US" smtClean="0"/>
              <a:t>The effect of executing break label; is to transfer control immediately after the block of code identified by label.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Labeled Break</a:t>
            </a:r>
            <a:endParaRPr lang="en-US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Example: Labeled Break</a:t>
            </a:r>
            <a:endParaRPr lang="en-US" dirty="0"/>
          </a:p>
        </p:txBody>
      </p:sp>
      <p:pic>
        <p:nvPicPr>
          <p:cNvPr id="7168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447800"/>
            <a:ext cx="7848600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Example: Nested Loop Break</a:t>
            </a:r>
            <a:endParaRPr lang="en-US" dirty="0"/>
          </a:p>
        </p:txBody>
      </p:sp>
      <p:pic>
        <p:nvPicPr>
          <p:cNvPr id="7270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524000"/>
            <a:ext cx="7543800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It is not possible to break to any label which is not defined for an enclosing block. Trying to do so will result in a compiler error.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Break without proper Label</a:t>
            </a:r>
            <a:endParaRPr lang="en-US" dirty="0"/>
          </a:p>
        </p:txBody>
      </p:sp>
      <p:pic>
        <p:nvPicPr>
          <p:cNvPr id="7475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895600"/>
            <a:ext cx="6553200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The break statement terminates the block of code, in particular it terminates the execution of an iterative statement.</a:t>
            </a:r>
          </a:p>
          <a:p>
            <a:pPr eaLnBrk="1" hangingPunct="1"/>
            <a:r>
              <a:rPr lang="en-US" altLang="en-US" smtClean="0"/>
              <a:t>The continue statement forces the early termination of the current iteration to begin immediately the next iteration.</a:t>
            </a:r>
          </a:p>
          <a:p>
            <a:pPr eaLnBrk="1" hangingPunct="1"/>
            <a:r>
              <a:rPr lang="en-US" altLang="en-US" smtClean="0"/>
              <a:t>Like break, continue has two versions:</a:t>
            </a:r>
          </a:p>
          <a:p>
            <a:pPr lvl="1" eaLnBrk="1" hangingPunct="1"/>
            <a:r>
              <a:rPr lang="en-US" altLang="en-US" smtClean="0"/>
              <a:t>unlabelled – continue with the next iteration of the current loop</a:t>
            </a:r>
          </a:p>
          <a:p>
            <a:pPr lvl="1" eaLnBrk="1" hangingPunct="1"/>
            <a:r>
              <a:rPr lang="en-US" altLang="en-US" smtClean="0"/>
              <a:t>labeled – specifies which enclosing loop to continue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Continue Statement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Continue Statement</a:t>
            </a:r>
            <a:endParaRPr lang="en-US" dirty="0"/>
          </a:p>
        </p:txBody>
      </p:sp>
      <p:pic>
        <p:nvPicPr>
          <p:cNvPr id="7680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514600"/>
            <a:ext cx="1762125" cy="18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680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4648200"/>
            <a:ext cx="3048000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6805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2133600"/>
            <a:ext cx="1990725" cy="170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Cloud Callout 7"/>
          <p:cNvSpPr/>
          <p:nvPr/>
        </p:nvSpPr>
        <p:spPr>
          <a:xfrm>
            <a:off x="3048000" y="1143000"/>
            <a:ext cx="1828800" cy="762000"/>
          </a:xfrm>
          <a:prstGeom prst="cloudCallout">
            <a:avLst>
              <a:gd name="adj1" fmla="val -97601"/>
              <a:gd name="adj2" fmla="val 11098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/>
              <a:t>While </a:t>
            </a:r>
          </a:p>
        </p:txBody>
      </p:sp>
      <p:sp>
        <p:nvSpPr>
          <p:cNvPr id="9" name="Cloud Callout 8"/>
          <p:cNvSpPr/>
          <p:nvPr/>
        </p:nvSpPr>
        <p:spPr>
          <a:xfrm>
            <a:off x="7010400" y="533400"/>
            <a:ext cx="1828800" cy="762000"/>
          </a:xfrm>
          <a:prstGeom prst="cloudCallout">
            <a:avLst>
              <a:gd name="adj1" fmla="val -98611"/>
              <a:gd name="adj2" fmla="val 15341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/>
              <a:t>Do while</a:t>
            </a:r>
          </a:p>
        </p:txBody>
      </p:sp>
      <p:sp>
        <p:nvSpPr>
          <p:cNvPr id="10" name="Cloud Callout 9"/>
          <p:cNvSpPr/>
          <p:nvPr/>
        </p:nvSpPr>
        <p:spPr>
          <a:xfrm>
            <a:off x="7162800" y="3733800"/>
            <a:ext cx="1828800" cy="762000"/>
          </a:xfrm>
          <a:prstGeom prst="cloudCallout">
            <a:avLst>
              <a:gd name="adj1" fmla="val -123864"/>
              <a:gd name="adj2" fmla="val 11098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/>
              <a:t>for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7950" indent="0">
              <a:buFont typeface="Wingdings 3" panose="05040102010807070707" pitchFamily="18" charset="2"/>
              <a:buNone/>
            </a:pPr>
            <a:r>
              <a:rPr lang="en-US" altLang="en-US" dirty="0" smtClean="0"/>
              <a:t>public class </a:t>
            </a:r>
            <a:r>
              <a:rPr lang="en-US" altLang="en-US" dirty="0" err="1" smtClean="0"/>
              <a:t>ContinueExample</a:t>
            </a:r>
            <a:r>
              <a:rPr lang="en-US" altLang="en-US" dirty="0" smtClean="0"/>
              <a:t> {  </a:t>
            </a:r>
          </a:p>
          <a:p>
            <a:pPr marL="107950" indent="0">
              <a:buFont typeface="Wingdings 3" panose="05040102010807070707" pitchFamily="18" charset="2"/>
              <a:buNone/>
            </a:pPr>
            <a:r>
              <a:rPr lang="en-US" altLang="en-US" dirty="0" smtClean="0"/>
              <a:t>public static void main(String[] </a:t>
            </a:r>
            <a:r>
              <a:rPr lang="en-US" altLang="en-US" dirty="0" err="1" smtClean="0"/>
              <a:t>args</a:t>
            </a:r>
            <a:r>
              <a:rPr lang="en-US" altLang="en-US" dirty="0" smtClean="0"/>
              <a:t>) {  </a:t>
            </a:r>
          </a:p>
          <a:p>
            <a:pPr marL="107950" indent="0">
              <a:buFont typeface="Wingdings 3" panose="05040102010807070707" pitchFamily="18" charset="2"/>
              <a:buNone/>
            </a:pPr>
            <a:r>
              <a:rPr lang="en-US" altLang="en-US" dirty="0" smtClean="0"/>
              <a:t>    for(</a:t>
            </a:r>
            <a:r>
              <a:rPr lang="en-US" altLang="en-US" dirty="0" err="1" smtClean="0"/>
              <a:t>int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i</a:t>
            </a:r>
            <a:r>
              <a:rPr lang="en-US" altLang="en-US" dirty="0" smtClean="0"/>
              <a:t>=1;i&lt;=10;i++){  </a:t>
            </a:r>
          </a:p>
          <a:p>
            <a:pPr marL="107950" indent="0">
              <a:buFont typeface="Wingdings 3" panose="05040102010807070707" pitchFamily="18" charset="2"/>
              <a:buNone/>
            </a:pPr>
            <a:r>
              <a:rPr lang="en-US" altLang="en-US" dirty="0" smtClean="0"/>
              <a:t>        if(</a:t>
            </a:r>
            <a:r>
              <a:rPr lang="en-US" altLang="en-US" dirty="0" err="1" smtClean="0"/>
              <a:t>i</a:t>
            </a:r>
            <a:r>
              <a:rPr lang="en-US" altLang="en-US" dirty="0" smtClean="0"/>
              <a:t>==5){  </a:t>
            </a:r>
          </a:p>
          <a:p>
            <a:pPr marL="107950" indent="0">
              <a:buFont typeface="Wingdings 3" panose="05040102010807070707" pitchFamily="18" charset="2"/>
              <a:buNone/>
            </a:pPr>
            <a:r>
              <a:rPr lang="en-US" altLang="en-US" dirty="0" smtClean="0"/>
              <a:t>            continue;  </a:t>
            </a:r>
          </a:p>
          <a:p>
            <a:pPr marL="107950" indent="0">
              <a:buFont typeface="Wingdings 3" panose="05040102010807070707" pitchFamily="18" charset="2"/>
              <a:buNone/>
            </a:pPr>
            <a:r>
              <a:rPr lang="en-US" altLang="en-US" dirty="0" smtClean="0"/>
              <a:t>        }  </a:t>
            </a:r>
          </a:p>
          <a:p>
            <a:pPr marL="107950" indent="0">
              <a:buFont typeface="Wingdings 3" panose="05040102010807070707" pitchFamily="18" charset="2"/>
              <a:buNone/>
            </a:pPr>
            <a:r>
              <a:rPr lang="en-US" altLang="en-US" dirty="0" smtClean="0"/>
              <a:t>        </a:t>
            </a:r>
            <a:r>
              <a:rPr lang="en-US" altLang="en-US" dirty="0" err="1" smtClean="0"/>
              <a:t>System.out.println</a:t>
            </a:r>
            <a:r>
              <a:rPr lang="en-US" altLang="en-US" dirty="0" smtClean="0"/>
              <a:t>(</a:t>
            </a:r>
            <a:r>
              <a:rPr lang="en-US" altLang="en-US" dirty="0" err="1" smtClean="0"/>
              <a:t>i</a:t>
            </a:r>
            <a:r>
              <a:rPr lang="en-US" altLang="en-US" dirty="0" smtClean="0"/>
              <a:t>);  </a:t>
            </a:r>
          </a:p>
          <a:p>
            <a:pPr marL="107950" indent="0">
              <a:buFont typeface="Wingdings 3" panose="05040102010807070707" pitchFamily="18" charset="2"/>
              <a:buNone/>
            </a:pPr>
            <a:r>
              <a:rPr lang="en-US" altLang="en-US" dirty="0" smtClean="0"/>
              <a:t>    }  </a:t>
            </a:r>
          </a:p>
          <a:p>
            <a:pPr marL="107950" indent="0">
              <a:buFont typeface="Wingdings 3" panose="05040102010807070707" pitchFamily="18" charset="2"/>
              <a:buNone/>
            </a:pPr>
            <a:r>
              <a:rPr lang="en-US" altLang="en-US" dirty="0" smtClean="0"/>
              <a:t>}  </a:t>
            </a:r>
          </a:p>
          <a:p>
            <a:pPr marL="107950" indent="0">
              <a:buFont typeface="Wingdings 3" panose="05040102010807070707" pitchFamily="18" charset="2"/>
              <a:buNone/>
            </a:pPr>
            <a:r>
              <a:rPr lang="en-US" altLang="en-US" dirty="0" smtClean="0"/>
              <a:t>} 			</a:t>
            </a:r>
            <a:r>
              <a:rPr lang="en-US" altLang="en-US" b="1" dirty="0" smtClean="0">
                <a:solidFill>
                  <a:srgbClr val="FF0000"/>
                </a:solidFill>
              </a:rPr>
              <a:t>Output???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Example: Unlabeled Continue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Example: Labeled Continue</a:t>
            </a:r>
            <a:endParaRPr lang="en-US" dirty="0"/>
          </a:p>
        </p:txBody>
      </p:sp>
      <p:pic>
        <p:nvPicPr>
          <p:cNvPr id="7987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524000"/>
            <a:ext cx="7315200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The return statement is used to return from the current method: it causes program control to transfer back to the caller of the method.</a:t>
            </a:r>
          </a:p>
          <a:p>
            <a:pPr eaLnBrk="1" hangingPunct="1"/>
            <a:r>
              <a:rPr lang="en-US" altLang="en-US" smtClean="0"/>
              <a:t>Two forms:</a:t>
            </a:r>
          </a:p>
          <a:p>
            <a:pPr lvl="1" eaLnBrk="1" hangingPunct="1"/>
            <a:r>
              <a:rPr lang="en-US" altLang="en-US" smtClean="0"/>
              <a:t>return without value</a:t>
            </a:r>
          </a:p>
          <a:p>
            <a:pPr eaLnBrk="1" hangingPunct="1">
              <a:buFont typeface="Wingdings 3" panose="05040102010807070707" pitchFamily="18" charset="2"/>
              <a:buNone/>
            </a:pPr>
            <a:r>
              <a:rPr lang="en-US" altLang="en-US" smtClean="0"/>
              <a:t>        return;</a:t>
            </a:r>
          </a:p>
          <a:p>
            <a:pPr lvl="1" eaLnBrk="1" hangingPunct="1"/>
            <a:r>
              <a:rPr lang="en-US" altLang="en-US" smtClean="0"/>
              <a:t>return with value</a:t>
            </a:r>
          </a:p>
          <a:p>
            <a:pPr eaLnBrk="1" hangingPunct="1">
              <a:buFont typeface="Wingdings 3" panose="05040102010807070707" pitchFamily="18" charset="2"/>
              <a:buNone/>
            </a:pPr>
            <a:r>
              <a:rPr lang="en-US" altLang="en-US" smtClean="0"/>
              <a:t>        return expression;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Return statement</a:t>
            </a:r>
            <a:endParaRPr lang="en-US" dirty="0"/>
          </a:p>
        </p:txBody>
      </p:sp>
      <p:pic>
        <p:nvPicPr>
          <p:cNvPr id="8192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3525" y="2895600"/>
            <a:ext cx="3800475" cy="3867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ChangeArrowheads="1"/>
          </p:cNvSpPr>
          <p:nvPr/>
        </p:nvSpPr>
        <p:spPr bwMode="auto">
          <a:xfrm>
            <a:off x="381000" y="914400"/>
            <a:ext cx="7315200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Lucida Sans Unicode" panose="020B0602030504020204" pitchFamily="34" charset="0"/>
              </a:rPr>
              <a:t/>
            </a:r>
            <a:br>
              <a:rPr lang="en-US" altLang="en-US" sz="1800">
                <a:solidFill>
                  <a:schemeClr val="tx2"/>
                </a:solidFill>
                <a:latin typeface="Lucida Sans Unicode" panose="020B0602030504020204" pitchFamily="34" charset="0"/>
              </a:rPr>
            </a:br>
            <a:endParaRPr lang="en-US" altLang="en-US" sz="1800">
              <a:solidFill>
                <a:schemeClr val="tx2"/>
              </a:solidFill>
              <a:latin typeface="Lucida Sans Unicode" panose="020B0602030504020204" pitchFamily="34" charset="0"/>
            </a:endParaRPr>
          </a:p>
        </p:txBody>
      </p:sp>
      <p:sp>
        <p:nvSpPr>
          <p:cNvPr id="82947" name="Title 1"/>
          <p:cNvSpPr txBox="1">
            <a:spLocks/>
          </p:cNvSpPr>
          <p:nvPr/>
        </p:nvSpPr>
        <p:spPr bwMode="auto">
          <a:xfrm>
            <a:off x="685800" y="2438400"/>
            <a:ext cx="7391400" cy="941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400">
                <a:latin typeface="Calibri" panose="020F0502020204030204" pitchFamily="34" charset="0"/>
              </a:rPr>
              <a:t>Questions?</a:t>
            </a:r>
          </a:p>
        </p:txBody>
      </p:sp>
      <p:sp>
        <p:nvSpPr>
          <p:cNvPr id="82948" name="Slide Number Placeholder 2"/>
          <p:cNvSpPr>
            <a:spLocks noGrp="1"/>
          </p:cNvSpPr>
          <p:nvPr>
            <p:ph type="sldNum" sz="quarter" idx="12"/>
          </p:nvPr>
        </p:nvSpPr>
        <p:spPr bwMode="auto">
          <a:xfrm>
            <a:off x="9926638" y="8534400"/>
            <a:ext cx="312737" cy="2571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02464FF8-53A3-4AC5-8FB3-2A36D4EDB43E}" type="slidenum">
              <a:rPr lang="en-US" altLang="en-US" sz="1400" smtClean="0">
                <a:solidFill>
                  <a:schemeClr val="bg1"/>
                </a:solidFill>
                <a:latin typeface="Lucida Sans Unicode" panose="020B0602030504020204" pitchFamily="34" charset="0"/>
                <a:ea typeface="ヒラギノ角ゴ ProN W3"/>
                <a:cs typeface="ヒラギノ角ゴ ProN W3"/>
                <a:sym typeface="Arial" panose="020B0604020202020204" pitchFamily="34" charset="0"/>
              </a:rPr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53</a:t>
            </a:fld>
            <a:endParaRPr lang="en-US" altLang="en-US" sz="1400" smtClean="0">
              <a:solidFill>
                <a:schemeClr val="bg1"/>
              </a:solidFill>
              <a:latin typeface="Lucida Sans Unicode" panose="020B0602030504020204" pitchFamily="34" charset="0"/>
              <a:ea typeface="ヒラギノ角ゴ ProN W3"/>
              <a:cs typeface="ヒラギノ角ゴ ProN W3"/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2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3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4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3791</TotalTime>
  <Words>1771</Words>
  <Application>Microsoft Office PowerPoint</Application>
  <PresentationFormat>On-screen Show (4:3)</PresentationFormat>
  <Paragraphs>313</Paragraphs>
  <Slides>53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61" baseType="lpstr">
      <vt:lpstr>Arial</vt:lpstr>
      <vt:lpstr>Calibri</vt:lpstr>
      <vt:lpstr>Lucida Sans Unicode</vt:lpstr>
      <vt:lpstr>Verdana</vt:lpstr>
      <vt:lpstr>Wingdings 2</vt:lpstr>
      <vt:lpstr>Wingdings 3</vt:lpstr>
      <vt:lpstr>ヒラギノ角ゴ ProN W3</vt:lpstr>
      <vt:lpstr>Concourse</vt:lpstr>
      <vt:lpstr>Object Oriented  Programming</vt:lpstr>
      <vt:lpstr>Topics To Be Covered Today</vt:lpstr>
      <vt:lpstr>Control Flow</vt:lpstr>
      <vt:lpstr>Control Flow statements</vt:lpstr>
      <vt:lpstr>Selection statements</vt:lpstr>
      <vt:lpstr>If statement</vt:lpstr>
      <vt:lpstr>Simple/Compound statements</vt:lpstr>
      <vt:lpstr>If-else statement</vt:lpstr>
      <vt:lpstr>If-else-if statement</vt:lpstr>
      <vt:lpstr>if-else-if ladder</vt:lpstr>
      <vt:lpstr>Example: if-else-if</vt:lpstr>
      <vt:lpstr>Switch statement</vt:lpstr>
      <vt:lpstr>Switch statement</vt:lpstr>
      <vt:lpstr>Switch statement</vt:lpstr>
      <vt:lpstr>Switch Assumptions/Semantics</vt:lpstr>
      <vt:lpstr>Example: Switch (practice)</vt:lpstr>
      <vt:lpstr>Example: Switch</vt:lpstr>
      <vt:lpstr>Nested switch statement</vt:lpstr>
      <vt:lpstr>Comparing switch and if</vt:lpstr>
      <vt:lpstr>Iteration statements</vt:lpstr>
      <vt:lpstr>While statement</vt:lpstr>
      <vt:lpstr>Simple/compound statement</vt:lpstr>
      <vt:lpstr>Example: while</vt:lpstr>
      <vt:lpstr>Java Infinitive While Loop</vt:lpstr>
      <vt:lpstr>Do-while statement</vt:lpstr>
      <vt:lpstr>Example: Do-While</vt:lpstr>
      <vt:lpstr>For statement</vt:lpstr>
      <vt:lpstr>For statement Semantics</vt:lpstr>
      <vt:lpstr>Loop Control Variable</vt:lpstr>
      <vt:lpstr>Example: for</vt:lpstr>
      <vt:lpstr>Many Initialization/Iteration Parts</vt:lpstr>
      <vt:lpstr>for statement Variations</vt:lpstr>
      <vt:lpstr>Empty for (practice)</vt:lpstr>
      <vt:lpstr>Java for-each Loop</vt:lpstr>
      <vt:lpstr>Example</vt:lpstr>
      <vt:lpstr>Java Labeled For Loop</vt:lpstr>
      <vt:lpstr>Example</vt:lpstr>
      <vt:lpstr>Example 2</vt:lpstr>
      <vt:lpstr>Jump Statements</vt:lpstr>
      <vt:lpstr>Break Statement</vt:lpstr>
      <vt:lpstr>Loop Exit with Break</vt:lpstr>
      <vt:lpstr>Break with Nested Loops</vt:lpstr>
      <vt:lpstr>Control Transfer with Break</vt:lpstr>
      <vt:lpstr>Labeled Break</vt:lpstr>
      <vt:lpstr>Example: Labeled Break</vt:lpstr>
      <vt:lpstr>Example: Nested Loop Break</vt:lpstr>
      <vt:lpstr>Break without proper Label</vt:lpstr>
      <vt:lpstr>Continue Statement</vt:lpstr>
      <vt:lpstr>Continue Statement</vt:lpstr>
      <vt:lpstr>Example: Unlabeled Continue</vt:lpstr>
      <vt:lpstr>Example: Labeled Continue</vt:lpstr>
      <vt:lpstr>Return statement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WinDows7</dc:creator>
  <cp:lastModifiedBy>Admin</cp:lastModifiedBy>
  <cp:revision>66</cp:revision>
  <dcterms:created xsi:type="dcterms:W3CDTF">2010-10-10T08:32:53Z</dcterms:created>
  <dcterms:modified xsi:type="dcterms:W3CDTF">2022-09-30T13:54:28Z</dcterms:modified>
</cp:coreProperties>
</file>