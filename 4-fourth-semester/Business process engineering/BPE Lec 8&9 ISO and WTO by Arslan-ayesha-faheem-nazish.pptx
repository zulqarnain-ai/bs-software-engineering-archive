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s/slide56.xml" ContentType="application/vnd.openxmlformats-officedocument.presentationml.slide+xml"/>
  <Override PartName="/ppt/slides/slide58.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s/slide5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wmf" ContentType="image/x-wmf"/>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49.xml" ContentType="application/vnd.openxmlformats-officedocument.presentationml.slide+xml"/>
  <Override PartName="/ppt/slides/slide5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Default Extension="jpeg" ContentType="image/jpeg"/>
  <Override PartName="/ppt/slideLayouts/slideLayout3.xml" ContentType="application/vnd.openxmlformats-officedocument.presentationml.slideLayout+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Layouts/slideLayout1.xml" ContentType="application/vnd.openxmlformats-officedocument.presentationml.slideLayout+xml"/>
  <Default Extension="wav" ContentType="audio/wav"/>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2.xml" ContentType="application/vnd.openxmlformats-officedocument.presentationml.slideLayout+xml"/>
  <Override PartName="/ppt/slideLayouts/slideLayout10.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6" r:id="rId1"/>
  </p:sldMasterIdLst>
  <p:notesMasterIdLst>
    <p:notesMasterId r:id="rId61"/>
  </p:notesMasterIdLst>
  <p:sldIdLst>
    <p:sldId id="331" r:id="rId2"/>
    <p:sldId id="256" r:id="rId3"/>
    <p:sldId id="332" r:id="rId4"/>
    <p:sldId id="257" r:id="rId5"/>
    <p:sldId id="280" r:id="rId6"/>
    <p:sldId id="258" r:id="rId7"/>
    <p:sldId id="281" r:id="rId8"/>
    <p:sldId id="259" r:id="rId9"/>
    <p:sldId id="263" r:id="rId10"/>
    <p:sldId id="328" r:id="rId11"/>
    <p:sldId id="325" r:id="rId12"/>
    <p:sldId id="327" r:id="rId13"/>
    <p:sldId id="329" r:id="rId14"/>
    <p:sldId id="264" r:id="rId15"/>
    <p:sldId id="265" r:id="rId16"/>
    <p:sldId id="266" r:id="rId17"/>
    <p:sldId id="330" r:id="rId18"/>
    <p:sldId id="267" r:id="rId19"/>
    <p:sldId id="333" r:id="rId20"/>
    <p:sldId id="268" r:id="rId21"/>
    <p:sldId id="269" r:id="rId22"/>
    <p:sldId id="282" r:id="rId23"/>
    <p:sldId id="283" r:id="rId24"/>
    <p:sldId id="284" r:id="rId25"/>
    <p:sldId id="285" r:id="rId26"/>
    <p:sldId id="286" r:id="rId27"/>
    <p:sldId id="287" r:id="rId28"/>
    <p:sldId id="288" r:id="rId29"/>
    <p:sldId id="289" r:id="rId30"/>
    <p:sldId id="290" r:id="rId31"/>
    <p:sldId id="291" r:id="rId32"/>
    <p:sldId id="292" r:id="rId33"/>
    <p:sldId id="293" r:id="rId34"/>
    <p:sldId id="294" r:id="rId35"/>
    <p:sldId id="295" r:id="rId36"/>
    <p:sldId id="296" r:id="rId37"/>
    <p:sldId id="297" r:id="rId38"/>
    <p:sldId id="298" r:id="rId39"/>
    <p:sldId id="299" r:id="rId40"/>
    <p:sldId id="300" r:id="rId41"/>
    <p:sldId id="301" r:id="rId42"/>
    <p:sldId id="302" r:id="rId43"/>
    <p:sldId id="303" r:id="rId44"/>
    <p:sldId id="304" r:id="rId45"/>
    <p:sldId id="305" r:id="rId46"/>
    <p:sldId id="306" r:id="rId47"/>
    <p:sldId id="307" r:id="rId48"/>
    <p:sldId id="308" r:id="rId49"/>
    <p:sldId id="309" r:id="rId50"/>
    <p:sldId id="310" r:id="rId51"/>
    <p:sldId id="311" r:id="rId52"/>
    <p:sldId id="315" r:id="rId53"/>
    <p:sldId id="316" r:id="rId54"/>
    <p:sldId id="317" r:id="rId55"/>
    <p:sldId id="318" r:id="rId56"/>
    <p:sldId id="319" r:id="rId57"/>
    <p:sldId id="321" r:id="rId58"/>
    <p:sldId id="322" r:id="rId59"/>
    <p:sldId id="323" r:id="rId6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560" autoAdjust="0"/>
    <p:restoredTop sz="94660"/>
  </p:normalViewPr>
  <p:slideViewPr>
    <p:cSldViewPr>
      <p:cViewPr>
        <p:scale>
          <a:sx n="72" d="100"/>
          <a:sy n="72" d="100"/>
        </p:scale>
        <p:origin x="-462" y="0"/>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F1C2739-1148-4F58-82A3-3F4422D40EAD}" type="datetimeFigureOut">
              <a:rPr lang="en-US" smtClean="0"/>
              <a:pPr/>
              <a:t>3/24/2015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D1764C0-AB0E-4211-B69F-729D37F560FC}" type="slidenum">
              <a:rPr lang="en-US" smtClean="0"/>
              <a:pPr/>
              <a:t>‹#›</a:t>
            </a:fld>
            <a:endParaRPr lang="en-US"/>
          </a:p>
        </p:txBody>
      </p:sp>
    </p:spTree>
    <p:extLst>
      <p:ext uri="{BB962C8B-B14F-4D97-AF65-F5344CB8AC3E}">
        <p14:creationId xmlns:p14="http://schemas.microsoft.com/office/powerpoint/2010/main" xmlns="" val="5169853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D1764C0-AB0E-4211-B69F-729D37F560FC}" type="slidenum">
              <a:rPr lang="en-US" smtClean="0"/>
              <a:pPr/>
              <a:t>6</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D1764C0-AB0E-4211-B69F-729D37F560FC}" type="slidenum">
              <a:rPr lang="en-US" smtClean="0"/>
              <a:pPr/>
              <a:t>20</a:t>
            </a:fld>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D1764C0-AB0E-4211-B69F-729D37F560FC}" type="slidenum">
              <a:rPr lang="en-US" smtClean="0"/>
              <a:pPr/>
              <a:t>25</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fld id="{1D8BD707-D9CF-40AE-B4C6-C98DA3205C09}" type="datetimeFigureOut">
              <a:rPr lang="en-US" smtClean="0"/>
              <a:pPr/>
              <a:t>3/24/2015</a:t>
            </a:fld>
            <a:endParaRPr lang="en-US"/>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endParaRPr lang="en-US"/>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1D8BD707-D9CF-40AE-B4C6-C98DA3205C09}" type="datetimeFigureOut">
              <a:rPr lang="en-US" smtClean="0"/>
              <a:pPr/>
              <a:t>3/24/2015</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a:p>
        </p:txBody>
      </p:sp>
      <p:sp>
        <p:nvSpPr>
          <p:cNvPr id="7" name="Title 6"/>
          <p:cNvSpPr>
            <a:spLocks noGrp="1"/>
          </p:cNvSpPr>
          <p:nvPr>
            <p:ph type="title"/>
          </p:nvPr>
        </p:nvSpPr>
        <p:spPr/>
        <p:txBody>
          <a:bodyPr rtlCol="0"/>
          <a:lstStyle>
            <a:extLst/>
          </a:lstStyle>
          <a:p>
            <a:r>
              <a:rPr kumimoji="0" lang="en-US" smtClean="0"/>
              <a:t>Click to edit Master title style</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fld id="{1D8BD707-D9CF-40AE-B4C6-C98DA3205C09}" type="datetimeFigureOut">
              <a:rPr lang="en-US" smtClean="0"/>
              <a:pPr/>
              <a:t>3/24/2015</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1D8BD707-D9CF-40AE-B4C6-C98DA3205C09}" type="datetimeFigureOut">
              <a:rPr lang="en-US" smtClean="0"/>
              <a:pPr/>
              <a:t>3/24/2015</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B6F15528-21DE-4FAA-801E-634DDDAF4B2B}" type="slidenum">
              <a:rPr lang="en-US" smtClean="0"/>
              <a:pPr/>
              <a:t>‹#›</a:t>
            </a:fld>
            <a:endParaRPr lang="en-US"/>
          </a:p>
        </p:txBody>
      </p:sp>
      <p:sp>
        <p:nvSpPr>
          <p:cNvPr id="8" name="Title 7"/>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1D8BD707-D9CF-40AE-B4C6-C98DA3205C09}" type="datetimeFigureOut">
              <a:rPr lang="en-US" smtClean="0"/>
              <a:pPr/>
              <a:t>3/24/2015</a:t>
            </a:fld>
            <a:endParaRPr lang="en-US"/>
          </a:p>
        </p:txBody>
      </p:sp>
      <p:sp>
        <p:nvSpPr>
          <p:cNvPr id="8" name="Footer Placeholder 7"/>
          <p:cNvSpPr>
            <a:spLocks noGrp="1"/>
          </p:cNvSpPr>
          <p:nvPr>
            <p:ph type="ftr" sz="quarter" idx="11"/>
          </p:nvPr>
        </p:nvSpPr>
        <p:spPr/>
        <p:txBody>
          <a:bodyPr/>
          <a:lstStyle>
            <a:extLst/>
          </a:lstStyle>
          <a:p>
            <a:endParaRPr lang="en-US"/>
          </a:p>
        </p:txBody>
      </p:sp>
      <p:sp>
        <p:nvSpPr>
          <p:cNvPr id="9" name="Slide Number Placeholder 8"/>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extLst/>
          </a:lstStyle>
          <a:p>
            <a:fld id="{1D8BD707-D9CF-40AE-B4C6-C98DA3205C09}" type="datetimeFigureOut">
              <a:rPr lang="en-US" smtClean="0"/>
              <a:pPr/>
              <a:t>3/24/2015</a:t>
            </a:fld>
            <a:endParaRPr lang="en-US"/>
          </a:p>
        </p:txBody>
      </p:sp>
      <p:sp>
        <p:nvSpPr>
          <p:cNvPr id="4" name="Footer Placeholder 3"/>
          <p:cNvSpPr>
            <a:spLocks noGrp="1"/>
          </p:cNvSpPr>
          <p:nvPr>
            <p:ph type="ftr" sz="quarter" idx="11"/>
          </p:nvPr>
        </p:nvSpPr>
        <p:spPr/>
        <p:txBody>
          <a:bodyPr/>
          <a:lstStyle>
            <a:extLst/>
          </a:lstStyle>
          <a:p>
            <a:endParaRPr lang="en-US"/>
          </a:p>
        </p:txBody>
      </p:sp>
      <p:sp>
        <p:nvSpPr>
          <p:cNvPr id="5" name="Slide Number Placeholder 4"/>
          <p:cNvSpPr>
            <a:spLocks noGrp="1"/>
          </p:cNvSpPr>
          <p:nvPr>
            <p:ph type="sldNum" sz="quarter" idx="12"/>
          </p:nvPr>
        </p:nvSpPr>
        <p:spPr/>
        <p:txBody>
          <a:bodyPr/>
          <a:lstStyle>
            <a:extLst/>
          </a:lstStyle>
          <a:p>
            <a:fld id="{B6F15528-21DE-4FAA-801E-634DDDAF4B2B}" type="slidenum">
              <a:rPr lang="en-US" smtClean="0"/>
              <a:pPr/>
              <a:t>‹#›</a:t>
            </a:fld>
            <a:endParaRPr lang="en-US"/>
          </a:p>
        </p:txBody>
      </p:sp>
      <p:sp>
        <p:nvSpPr>
          <p:cNvPr id="6" name="Title 5"/>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extLst/>
          </a:lstStyle>
          <a:p>
            <a:fld id="{1D8BD707-D9CF-40AE-B4C6-C98DA3205C09}" type="datetimeFigureOut">
              <a:rPr lang="en-US" smtClean="0"/>
              <a:pPr/>
              <a:t>3/24/2015</a:t>
            </a:fld>
            <a:endParaRPr lang="en-US"/>
          </a:p>
        </p:txBody>
      </p:sp>
      <p:sp>
        <p:nvSpPr>
          <p:cNvPr id="3" name="Footer Placeholder 2"/>
          <p:cNvSpPr>
            <a:spLocks noGrp="1"/>
          </p:cNvSpPr>
          <p:nvPr>
            <p:ph type="ftr" sz="quarter" idx="11"/>
          </p:nvPr>
        </p:nvSpPr>
        <p:spPr/>
        <p:txBody>
          <a:bodyPr/>
          <a:lstStyle>
            <a:extLst/>
          </a:lstStyle>
          <a:p>
            <a:endParaRPr lang="en-US"/>
          </a:p>
        </p:txBody>
      </p:sp>
      <p:sp>
        <p:nvSpPr>
          <p:cNvPr id="4" name="Slide Number Placeholder 3"/>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extLst/>
          </a:lstStyle>
          <a:p>
            <a:fld id="{1D8BD707-D9CF-40AE-B4C6-C98DA3205C09}" type="datetimeFigureOut">
              <a:rPr lang="en-US" smtClean="0"/>
              <a:pPr/>
              <a:t>3/24/2015</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smtClean="0"/>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fld id="{1D8BD707-D9CF-40AE-B4C6-C98DA3205C09}" type="datetimeFigureOut">
              <a:rPr lang="en-US" smtClean="0"/>
              <a:pPr/>
              <a:t>3/24/2015</a:t>
            </a:fld>
            <a:endParaRPr lang="en-US"/>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endParaRPr lang="en-US"/>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B6F15528-21DE-4FAA-801E-634DDDAF4B2B}" type="slidenum">
              <a:rPr lang="en-US" smtClean="0"/>
              <a:pPr/>
              <a:t>‹#›</a:t>
            </a:fld>
            <a:endParaRPr lang="en-US"/>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smtClean="0"/>
              <a:t>Click to edit Master title style</a:t>
            </a:r>
            <a:endParaRPr kumimoji="0" lang="en-US"/>
          </a:p>
        </p:txBody>
      </p:sp>
      <p:sp>
        <p:nvSpPr>
          <p:cNvPr id="8" name="Freeform 7"/>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9" name="Freeform 8"/>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0" name="Right Triangle 9"/>
          <p:cNvSpPr>
            <a:spLocks/>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1481329"/>
            <a:ext cx="8229600" cy="4386071"/>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1D8BD707-D9CF-40AE-B4C6-C98DA3205C09}" type="datetimeFigureOut">
              <a:rPr lang="en-US" smtClean="0"/>
              <a:pPr/>
              <a:t>3/24/2015</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41"/>
            <a:ext cx="6324600" cy="5592760"/>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1D8BD707-D9CF-40AE-B4C6-C98DA3205C09}" type="datetimeFigureOut">
              <a:rPr lang="en-US" smtClean="0"/>
              <a:pPr/>
              <a:t>3/24/2015</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lipArt">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685800" y="1981200"/>
            <a:ext cx="381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lipArt Placeholder 3"/>
          <p:cNvSpPr>
            <a:spLocks noGrp="1"/>
          </p:cNvSpPr>
          <p:nvPr>
            <p:ph type="clipArt" sz="half" idx="2"/>
          </p:nvPr>
        </p:nvSpPr>
        <p:spPr>
          <a:xfrm>
            <a:off x="4648200" y="1981200"/>
            <a:ext cx="3810000" cy="4114800"/>
          </a:xfrm>
        </p:spPr>
        <p:txBody>
          <a:bodyPr/>
          <a:lstStyle/>
          <a:p>
            <a:endParaRPr lang="en-US"/>
          </a:p>
        </p:txBody>
      </p:sp>
      <p:sp>
        <p:nvSpPr>
          <p:cNvPr id="5" name="Date Placeholder 4"/>
          <p:cNvSpPr>
            <a:spLocks noGrp="1"/>
          </p:cNvSpPr>
          <p:nvPr>
            <p:ph type="dt" sz="half" idx="10"/>
          </p:nvPr>
        </p:nvSpPr>
        <p:spPr>
          <a:xfrm>
            <a:off x="685800" y="6248400"/>
            <a:ext cx="1905000" cy="457200"/>
          </a:xfrm>
        </p:spPr>
        <p:txBody>
          <a:bodyPr/>
          <a:lstStyle>
            <a:lvl1pPr>
              <a:defRPr/>
            </a:lvl1pPr>
          </a:lstStyle>
          <a:p>
            <a:endParaRPr lang="en-US"/>
          </a:p>
        </p:txBody>
      </p:sp>
      <p:sp>
        <p:nvSpPr>
          <p:cNvPr id="6" name="Footer Placeholder 5"/>
          <p:cNvSpPr>
            <a:spLocks noGrp="1"/>
          </p:cNvSpPr>
          <p:nvPr>
            <p:ph type="ftr" sz="quarter" idx="11"/>
          </p:nvPr>
        </p:nvSpPr>
        <p:spPr>
          <a:xfrm>
            <a:off x="3124200" y="6248400"/>
            <a:ext cx="2895600" cy="457200"/>
          </a:xfrm>
        </p:spPr>
        <p:txBody>
          <a:bodyPr/>
          <a:lstStyle>
            <a:lvl1pPr>
              <a:defRPr/>
            </a:lvl1pPr>
          </a:lstStyle>
          <a:p>
            <a:endParaRPr lang="en-US"/>
          </a:p>
        </p:txBody>
      </p:sp>
      <p:sp>
        <p:nvSpPr>
          <p:cNvPr id="7" name="Slide Number Placeholder 6"/>
          <p:cNvSpPr>
            <a:spLocks noGrp="1"/>
          </p:cNvSpPr>
          <p:nvPr>
            <p:ph type="sldNum" sz="quarter" idx="12"/>
          </p:nvPr>
        </p:nvSpPr>
        <p:spPr>
          <a:xfrm>
            <a:off x="6553200" y="6248400"/>
            <a:ext cx="1905000" cy="457200"/>
          </a:xfrm>
        </p:spPr>
        <p:txBody>
          <a:bodyPr/>
          <a:lstStyle>
            <a:lvl1pPr>
              <a:defRPr/>
            </a:lvl1pPr>
          </a:lstStyle>
          <a:p>
            <a:fld id="{22FD0AC7-09BF-4674-BFE9-E38FED74E6F1}" type="slidenum">
              <a:rPr lang="en-US"/>
              <a:pPr/>
              <a:t>‹#›</a:t>
            </a:fld>
            <a:endParaRPr lang="en-US"/>
          </a:p>
        </p:txBody>
      </p:sp>
    </p:spTree>
  </p:cSld>
  <p:clrMapOvr>
    <a:masterClrMapping/>
  </p:clrMapOvr>
  <p:transition>
    <p:rand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2" name="Freeform 11"/>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4" name="Right Triangle 13"/>
          <p:cNvSpPr>
            <a:spLocks/>
          </p:cNvSpPr>
          <p:nvPr/>
        </p:nvSpPr>
        <p:spPr bwMode="auto">
          <a:xfrm>
            <a:off x="-6042" y="5791253"/>
            <a:ext cx="3402314" cy="1080868"/>
          </a:xfrm>
          <a:prstGeom prst="rtTriangle">
            <a:avLst/>
          </a:prstGeom>
          <a:blipFill>
            <a:blip r:embed="rId14">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extLst/>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fld id="{1D8BD707-D9CF-40AE-B4C6-C98DA3205C09}" type="datetimeFigureOut">
              <a:rPr lang="en-US" smtClean="0"/>
              <a:pPr/>
              <a:t>3/24/2015</a:t>
            </a:fld>
            <a:endParaRPr lang="en-US"/>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endParaRPr lang="en-US"/>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 id="2147483768" r:id="rId12"/>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hyperlink" Target="http://www.iso.org/iso/home/standards/management-standards/iso22000.htm" TargetMode="External"/><Relationship Id="rId3" Type="http://schemas.openxmlformats.org/officeDocument/2006/relationships/hyperlink" Target="http://www.iso.org/iso/home/standards/management-standards/iso14000.htm" TargetMode="External"/><Relationship Id="rId7" Type="http://schemas.openxmlformats.org/officeDocument/2006/relationships/hyperlink" Target="http://www.iso.org/iso/home/standards/iso31000.htm" TargetMode="External"/><Relationship Id="rId2" Type="http://schemas.openxmlformats.org/officeDocument/2006/relationships/hyperlink" Target="http://www.iso.org/iso/home/standards/management-standards/iso_9000.htm" TargetMode="External"/><Relationship Id="rId1" Type="http://schemas.openxmlformats.org/officeDocument/2006/relationships/slideLayout" Target="../slideLayouts/slideLayout2.xml"/><Relationship Id="rId6" Type="http://schemas.openxmlformats.org/officeDocument/2006/relationships/hyperlink" Target="http://www.iso.org/iso/home/standards/management-standards/iso50001.htm" TargetMode="External"/><Relationship Id="rId5" Type="http://schemas.openxmlformats.org/officeDocument/2006/relationships/hyperlink" Target="http://www.iso.org/iso/home/standards/iso26000.htm" TargetMode="External"/><Relationship Id="rId10" Type="http://schemas.openxmlformats.org/officeDocument/2006/relationships/hyperlink" Target="http://www.iso.org/iso/home/standards/language_codes.htm" TargetMode="External"/><Relationship Id="rId4" Type="http://schemas.openxmlformats.org/officeDocument/2006/relationships/hyperlink" Target="http://www.iso.org/iso/home/standards/country_codes.htm" TargetMode="External"/><Relationship Id="rId9" Type="http://schemas.openxmlformats.org/officeDocument/2006/relationships/hyperlink" Target="http://www.iso.org/iso/home/standards/currency_codes.htm"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wmf"/></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audio" Target="../media/audio2.wav"/><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685800" y="685800"/>
            <a:ext cx="7772400" cy="1752601"/>
          </a:xfrm>
        </p:spPr>
        <p:txBody>
          <a:bodyPr>
            <a:normAutofit/>
          </a:bodyPr>
          <a:lstStyle/>
          <a:p>
            <a:pPr algn="ctr"/>
            <a:r>
              <a:rPr lang="en-US" sz="5400" dirty="0" smtClean="0"/>
              <a:t>ISO and WTO</a:t>
            </a:r>
            <a:endParaRPr lang="en-US" sz="5400" dirty="0"/>
          </a:p>
        </p:txBody>
      </p:sp>
      <p:sp>
        <p:nvSpPr>
          <p:cNvPr id="5" name="Subtitle 4"/>
          <p:cNvSpPr>
            <a:spLocks noGrp="1"/>
          </p:cNvSpPr>
          <p:nvPr>
            <p:ph type="subTitle" idx="1"/>
          </p:nvPr>
        </p:nvSpPr>
        <p:spPr>
          <a:xfrm>
            <a:off x="685800" y="2590800"/>
            <a:ext cx="7772400" cy="2220511"/>
          </a:xfrm>
        </p:spPr>
        <p:txBody>
          <a:bodyPr>
            <a:normAutofit fontScale="92500" lnSpcReduction="10000"/>
          </a:bodyPr>
          <a:lstStyle/>
          <a:p>
            <a:pPr algn="l"/>
            <a:r>
              <a:rPr lang="en-US" sz="3500" b="1" u="sng" dirty="0" smtClean="0"/>
              <a:t>PRESENTED BY </a:t>
            </a:r>
          </a:p>
          <a:p>
            <a:pPr marL="457200" indent="-457200" algn="l">
              <a:buFont typeface="Arial" pitchFamily="34" charset="0"/>
              <a:buChar char="•"/>
            </a:pPr>
            <a:r>
              <a:rPr lang="en-US" dirty="0" smtClean="0"/>
              <a:t>ARSLAN FAISAL</a:t>
            </a:r>
          </a:p>
          <a:p>
            <a:pPr marL="457200" indent="-457200" algn="l">
              <a:buFont typeface="Arial" pitchFamily="34" charset="0"/>
              <a:buChar char="•"/>
            </a:pPr>
            <a:r>
              <a:rPr lang="en-US" dirty="0" smtClean="0"/>
              <a:t>AYESHA IREM</a:t>
            </a:r>
          </a:p>
          <a:p>
            <a:pPr marL="457200" indent="-457200" algn="l">
              <a:buFont typeface="Arial" pitchFamily="34" charset="0"/>
              <a:buChar char="•"/>
            </a:pPr>
            <a:r>
              <a:rPr lang="en-US" dirty="0" smtClean="0"/>
              <a:t>FAHEEM RASOOL</a:t>
            </a:r>
          </a:p>
          <a:p>
            <a:pPr marL="457200" indent="-457200" algn="l">
              <a:buFont typeface="Arial" pitchFamily="34" charset="0"/>
              <a:buChar char="•"/>
            </a:pPr>
            <a:r>
              <a:rPr lang="en-US" dirty="0" smtClean="0"/>
              <a:t>NAZISH AKHTAR </a:t>
            </a:r>
            <a:endParaRPr lang="en-US" dirty="0"/>
          </a:p>
        </p:txBody>
      </p:sp>
    </p:spTree>
    <p:extLst>
      <p:ext uri="{BB962C8B-B14F-4D97-AF65-F5344CB8AC3E}">
        <p14:creationId xmlns:p14="http://schemas.microsoft.com/office/powerpoint/2010/main" xmlns="" val="20034754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295400"/>
            <a:ext cx="7772400" cy="1829761"/>
          </a:xfrm>
        </p:spPr>
        <p:txBody>
          <a:bodyPr>
            <a:normAutofit/>
          </a:bodyPr>
          <a:lstStyle/>
          <a:p>
            <a:pPr algn="ctr"/>
            <a:r>
              <a:rPr lang="en-US" sz="3600" dirty="0" smtClean="0">
                <a:solidFill>
                  <a:schemeClr val="tx1"/>
                </a:solidFill>
                <a:effectLst/>
                <a:latin typeface="Arial" pitchFamily="34" charset="0"/>
                <a:cs typeface="Arial" pitchFamily="34" charset="0"/>
              </a:rPr>
              <a:t>ISO (international organization for standardization </a:t>
            </a:r>
            <a:endParaRPr lang="en-US" sz="3600" dirty="0">
              <a:solidFill>
                <a:schemeClr val="tx1"/>
              </a:solidFill>
              <a:effectLst/>
              <a:latin typeface="Arial" pitchFamily="34" charset="0"/>
              <a:cs typeface="Arial" pitchFamily="34" charset="0"/>
            </a:endParaRPr>
          </a:p>
        </p:txBody>
      </p:sp>
      <p:sp>
        <p:nvSpPr>
          <p:cNvPr id="3" name="Subtitle 2"/>
          <p:cNvSpPr>
            <a:spLocks noGrp="1"/>
          </p:cNvSpPr>
          <p:nvPr>
            <p:ph type="subTitle" idx="1"/>
          </p:nvPr>
        </p:nvSpPr>
        <p:spPr>
          <a:xfrm>
            <a:off x="762000" y="3581400"/>
            <a:ext cx="7772400" cy="1199704"/>
          </a:xfrm>
        </p:spPr>
        <p:txBody>
          <a:bodyPr>
            <a:normAutofit/>
          </a:bodyPr>
          <a:lstStyle/>
          <a:p>
            <a:pPr algn="ctr"/>
            <a:r>
              <a:rPr lang="en-US" sz="2400" dirty="0">
                <a:solidFill>
                  <a:schemeClr val="tx1"/>
                </a:solidFill>
                <a:latin typeface="Arial" pitchFamily="34" charset="0"/>
                <a:cs typeface="Arial" pitchFamily="34" charset="0"/>
              </a:rPr>
              <a:t>ISO is  not an acronym  instead, the name derives from </a:t>
            </a:r>
            <a:r>
              <a:rPr lang="en-US" sz="2400" dirty="0" smtClean="0">
                <a:solidFill>
                  <a:schemeClr val="tx1"/>
                </a:solidFill>
                <a:latin typeface="Arial" pitchFamily="34" charset="0"/>
                <a:cs typeface="Arial" pitchFamily="34" charset="0"/>
              </a:rPr>
              <a:t>Greek </a:t>
            </a:r>
            <a:r>
              <a:rPr lang="en-US" sz="2400" dirty="0">
                <a:solidFill>
                  <a:schemeClr val="tx1"/>
                </a:solidFill>
                <a:latin typeface="Arial" pitchFamily="34" charset="0"/>
                <a:cs typeface="Arial" pitchFamily="34" charset="0"/>
              </a:rPr>
              <a:t>word </a:t>
            </a:r>
            <a:r>
              <a:rPr lang="en-US" sz="2400" dirty="0" smtClean="0">
                <a:solidFill>
                  <a:schemeClr val="tx1"/>
                </a:solidFill>
                <a:latin typeface="Arial" pitchFamily="34" charset="0"/>
                <a:cs typeface="Arial" pitchFamily="34" charset="0"/>
              </a:rPr>
              <a:t>ISO ,which </a:t>
            </a:r>
            <a:r>
              <a:rPr lang="en-US" sz="2400" dirty="0">
                <a:solidFill>
                  <a:schemeClr val="tx1"/>
                </a:solidFill>
                <a:latin typeface="Arial" pitchFamily="34" charset="0"/>
                <a:cs typeface="Arial" pitchFamily="34" charset="0"/>
              </a:rPr>
              <a:t>means equal.</a:t>
            </a:r>
          </a:p>
          <a:p>
            <a:endParaRPr lang="en-US" dirty="0"/>
          </a:p>
        </p:txBody>
      </p:sp>
    </p:spTree>
    <p:extLst>
      <p:ext uri="{BB962C8B-B14F-4D97-AF65-F5344CB8AC3E}">
        <p14:creationId xmlns:p14="http://schemas.microsoft.com/office/powerpoint/2010/main" xmlns="" val="3124530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normAutofit fontScale="85000" lnSpcReduction="20000"/>
          </a:bodyPr>
          <a:lstStyle/>
          <a:p>
            <a:r>
              <a:rPr lang="en-US" dirty="0" smtClean="0"/>
              <a:t>Introduction </a:t>
            </a:r>
          </a:p>
          <a:p>
            <a:r>
              <a:rPr lang="en-US" dirty="0" smtClean="0"/>
              <a:t>History</a:t>
            </a:r>
          </a:p>
          <a:p>
            <a:r>
              <a:rPr lang="en-US" dirty="0" smtClean="0"/>
              <a:t>Members</a:t>
            </a:r>
          </a:p>
          <a:p>
            <a:r>
              <a:rPr lang="en-US" dirty="0" smtClean="0"/>
              <a:t>What is standard</a:t>
            </a:r>
          </a:p>
          <a:p>
            <a:r>
              <a:rPr lang="en-US" dirty="0" smtClean="0"/>
              <a:t>Purpose of ISO</a:t>
            </a:r>
          </a:p>
          <a:p>
            <a:r>
              <a:rPr lang="en-US" dirty="0" smtClean="0"/>
              <a:t>Scope of ISO</a:t>
            </a:r>
          </a:p>
          <a:p>
            <a:r>
              <a:rPr lang="en-US" dirty="0" smtClean="0"/>
              <a:t>ISO standards</a:t>
            </a:r>
          </a:p>
          <a:p>
            <a:r>
              <a:rPr lang="en-US" dirty="0" smtClean="0"/>
              <a:t>Why companies need ISO</a:t>
            </a:r>
          </a:p>
          <a:p>
            <a:r>
              <a:rPr lang="en-US" dirty="0" smtClean="0"/>
              <a:t>Benefits of ISO</a:t>
            </a:r>
          </a:p>
          <a:p>
            <a:r>
              <a:rPr lang="en-US" dirty="0" smtClean="0"/>
              <a:t>Current focus May/June 2013</a:t>
            </a:r>
          </a:p>
          <a:p>
            <a:endParaRPr lang="en-US" dirty="0" smtClean="0"/>
          </a:p>
          <a:p>
            <a:pPr marL="109728" indent="0">
              <a:buNone/>
            </a:pPr>
            <a:r>
              <a:rPr lang="en-US" dirty="0" smtClean="0"/>
              <a:t/>
            </a:r>
            <a:br>
              <a:rPr lang="en-US" dirty="0" smtClean="0"/>
            </a:br>
            <a:endParaRPr lang="en-US" dirty="0" smtClean="0"/>
          </a:p>
        </p:txBody>
      </p:sp>
      <p:sp>
        <p:nvSpPr>
          <p:cNvPr id="4" name="Title 3"/>
          <p:cNvSpPr>
            <a:spLocks noGrp="1"/>
          </p:cNvSpPr>
          <p:nvPr>
            <p:ph type="title"/>
          </p:nvPr>
        </p:nvSpPr>
        <p:spPr/>
        <p:txBody>
          <a:bodyPr/>
          <a:lstStyle/>
          <a:p>
            <a:r>
              <a:rPr lang="en-US" dirty="0" smtClean="0"/>
              <a:t>ISO (sequence)</a:t>
            </a:r>
            <a:endParaRPr lang="en-US" dirty="0"/>
          </a:p>
        </p:txBody>
      </p:sp>
    </p:spTree>
    <p:extLst>
      <p:ext uri="{BB962C8B-B14F-4D97-AF65-F5344CB8AC3E}">
        <p14:creationId xmlns:p14="http://schemas.microsoft.com/office/powerpoint/2010/main" xmlns="" val="30570320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12837"/>
            <a:ext cx="8229600" cy="4525963"/>
          </a:xfrm>
        </p:spPr>
        <p:txBody>
          <a:bodyPr>
            <a:normAutofit fontScale="92500" lnSpcReduction="20000"/>
          </a:bodyPr>
          <a:lstStyle/>
          <a:p>
            <a:pPr marL="393700" indent="-282575" algn="just">
              <a:lnSpc>
                <a:spcPct val="200000"/>
              </a:lnSpc>
            </a:pPr>
            <a:r>
              <a:rPr lang="en-US" sz="2400" dirty="0" smtClean="0">
                <a:latin typeface="Arial" pitchFamily="34" charset="0"/>
                <a:cs typeface="Arial" pitchFamily="34" charset="0"/>
              </a:rPr>
              <a:t>ISO is the world’s largest developer of voluntary International Standards. </a:t>
            </a:r>
          </a:p>
          <a:p>
            <a:pPr marL="393700" indent="-282575" algn="just">
              <a:lnSpc>
                <a:spcPct val="200000"/>
              </a:lnSpc>
            </a:pPr>
            <a:r>
              <a:rPr lang="en-US" sz="2400" dirty="0" smtClean="0">
                <a:latin typeface="Arial" pitchFamily="34" charset="0"/>
                <a:cs typeface="Arial" pitchFamily="34" charset="0"/>
              </a:rPr>
              <a:t>These standards give state of the art specifications for products, services and good practice, helping to make industry more efficient and effective. </a:t>
            </a:r>
          </a:p>
          <a:p>
            <a:pPr marL="393700" indent="-282575" algn="just">
              <a:lnSpc>
                <a:spcPct val="200000"/>
              </a:lnSpc>
            </a:pPr>
            <a:r>
              <a:rPr lang="en-US" sz="2400" dirty="0" smtClean="0">
                <a:latin typeface="Arial" pitchFamily="34" charset="0"/>
                <a:cs typeface="Arial" pitchFamily="34" charset="0"/>
              </a:rPr>
              <a:t>Developed through global consensus, they help to break down barriers to international trade.</a:t>
            </a:r>
          </a:p>
          <a:p>
            <a:pPr>
              <a:buNone/>
            </a:pPr>
            <a:endParaRPr lang="en-US" dirty="0"/>
          </a:p>
        </p:txBody>
      </p:sp>
      <p:sp>
        <p:nvSpPr>
          <p:cNvPr id="2" name="Title 1"/>
          <p:cNvSpPr>
            <a:spLocks noGrp="1"/>
          </p:cNvSpPr>
          <p:nvPr>
            <p:ph type="title"/>
          </p:nvPr>
        </p:nvSpPr>
        <p:spPr>
          <a:xfrm>
            <a:off x="762000" y="274638"/>
            <a:ext cx="7924800" cy="1143000"/>
          </a:xfrm>
        </p:spPr>
        <p:txBody>
          <a:bodyPr>
            <a:normAutofit/>
          </a:bodyPr>
          <a:lstStyle/>
          <a:p>
            <a:pPr marL="63500" indent="-63500"/>
            <a:r>
              <a:rPr lang="en-US" sz="2800" dirty="0" smtClean="0">
                <a:solidFill>
                  <a:schemeClr val="tx1"/>
                </a:solidFill>
                <a:effectLst/>
                <a:latin typeface="Arial" pitchFamily="34" charset="0"/>
                <a:cs typeface="Arial" pitchFamily="34" charset="0"/>
              </a:rPr>
              <a:t>HISTORY</a:t>
            </a:r>
            <a:endParaRPr lang="en-US" sz="2800" dirty="0">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xmlns="" val="13053409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393700" indent="-282575" algn="just">
              <a:lnSpc>
                <a:spcPct val="180000"/>
              </a:lnSpc>
            </a:pPr>
            <a:r>
              <a:rPr lang="en-US" sz="2200" dirty="0" smtClean="0">
                <a:latin typeface="Arial" pitchFamily="34" charset="0"/>
                <a:cs typeface="Arial" pitchFamily="34" charset="0"/>
              </a:rPr>
              <a:t>Founded in 1947, since its inception ISO have published more than 19,500 International Standards covering almost all aspects of technology and business. </a:t>
            </a:r>
          </a:p>
          <a:p>
            <a:pPr marL="393700" indent="-282575" algn="just">
              <a:lnSpc>
                <a:spcPct val="180000"/>
              </a:lnSpc>
            </a:pPr>
            <a:r>
              <a:rPr lang="en-US" sz="2200" dirty="0" smtClean="0">
                <a:latin typeface="Arial" pitchFamily="34" charset="0"/>
                <a:cs typeface="Arial" pitchFamily="34" charset="0"/>
              </a:rPr>
              <a:t>From food safety to computers, and agriculture to healthcare, ISO International Standards impact all our lives.</a:t>
            </a:r>
          </a:p>
          <a:p>
            <a:pPr marL="393700" indent="-282575" algn="just">
              <a:lnSpc>
                <a:spcPct val="180000"/>
              </a:lnSpc>
            </a:pPr>
            <a:r>
              <a:rPr lang="en-US" sz="2200" dirty="0" smtClean="0">
                <a:latin typeface="Arial" pitchFamily="34" charset="0"/>
                <a:cs typeface="Arial" pitchFamily="34" charset="0"/>
              </a:rPr>
              <a:t>ISO’s Central Secretariat is in Geneva, Switzerland.</a:t>
            </a:r>
          </a:p>
          <a:p>
            <a:endParaRPr lang="en-US" dirty="0"/>
          </a:p>
        </p:txBody>
      </p:sp>
      <p:sp>
        <p:nvSpPr>
          <p:cNvPr id="3" name="Title 2"/>
          <p:cNvSpPr>
            <a:spLocks noGrp="1"/>
          </p:cNvSpPr>
          <p:nvPr>
            <p:ph type="title"/>
          </p:nvPr>
        </p:nvSpPr>
        <p:spPr/>
        <p:txBody>
          <a:bodyPr/>
          <a:lstStyle/>
          <a:p>
            <a:r>
              <a:rPr lang="en-US" sz="2800" dirty="0" smtClean="0">
                <a:solidFill>
                  <a:schemeClr val="tx1"/>
                </a:solidFill>
                <a:effectLst/>
                <a:latin typeface="Arial" pitchFamily="34" charset="0"/>
                <a:cs typeface="Arial" pitchFamily="34" charset="0"/>
              </a:rPr>
              <a:t>HISTORY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219200"/>
            <a:ext cx="8229600" cy="4525963"/>
          </a:xfrm>
        </p:spPr>
        <p:txBody>
          <a:bodyPr/>
          <a:lstStyle/>
          <a:p>
            <a:pPr marL="457200" lvl="1" indent="0" algn="just">
              <a:lnSpc>
                <a:spcPct val="200000"/>
              </a:lnSpc>
              <a:buNone/>
            </a:pPr>
            <a:r>
              <a:rPr lang="en-US" sz="2400" dirty="0" smtClean="0">
                <a:latin typeface="Arial" pitchFamily="34" charset="0"/>
                <a:cs typeface="Arial" pitchFamily="34" charset="0"/>
              </a:rPr>
              <a:t>The </a:t>
            </a:r>
            <a:r>
              <a:rPr lang="en-US" sz="2400" dirty="0">
                <a:latin typeface="Arial" pitchFamily="34" charset="0"/>
                <a:cs typeface="Arial" pitchFamily="34" charset="0"/>
              </a:rPr>
              <a:t>ISO network consists of </a:t>
            </a:r>
            <a:r>
              <a:rPr lang="en-US" sz="2400" dirty="0" smtClean="0">
                <a:latin typeface="Arial" pitchFamily="34" charset="0"/>
                <a:cs typeface="Arial" pitchFamily="34" charset="0"/>
              </a:rPr>
              <a:t>163 </a:t>
            </a:r>
            <a:r>
              <a:rPr lang="en-US" sz="2400" dirty="0">
                <a:latin typeface="Arial" pitchFamily="34" charset="0"/>
                <a:cs typeface="Arial" pitchFamily="34" charset="0"/>
              </a:rPr>
              <a:t>countries with one member from each. Each member helps coordinate the system to be used with their respective countries. These members may be government officials or they may be from the industrial sector.</a:t>
            </a:r>
          </a:p>
          <a:p>
            <a:endParaRPr lang="en-US" dirty="0"/>
          </a:p>
        </p:txBody>
      </p:sp>
      <p:sp>
        <p:nvSpPr>
          <p:cNvPr id="2" name="Title 1"/>
          <p:cNvSpPr>
            <a:spLocks noGrp="1"/>
          </p:cNvSpPr>
          <p:nvPr>
            <p:ph type="title"/>
          </p:nvPr>
        </p:nvSpPr>
        <p:spPr>
          <a:xfrm>
            <a:off x="762000" y="685800"/>
            <a:ext cx="7924800" cy="838200"/>
          </a:xfrm>
        </p:spPr>
        <p:txBody>
          <a:bodyPr>
            <a:normAutofit fontScale="90000"/>
          </a:bodyPr>
          <a:lstStyle/>
          <a:p>
            <a:r>
              <a:rPr lang="en-US" sz="3600" dirty="0" smtClean="0">
                <a:solidFill>
                  <a:schemeClr val="tx1"/>
                </a:solidFill>
                <a:effectLst/>
                <a:latin typeface="Arial" pitchFamily="34" charset="0"/>
                <a:cs typeface="Arial" pitchFamily="34" charset="0"/>
              </a:rPr>
              <a:t>Members</a:t>
            </a:r>
            <a:r>
              <a:rPr lang="en-US" dirty="0" smtClean="0"/>
              <a:t/>
            </a:r>
            <a:br>
              <a:rPr lang="en-US" dirty="0" smtClean="0"/>
            </a:br>
            <a:endParaRPr lang="en-US" dirty="0"/>
          </a:p>
        </p:txBody>
      </p:sp>
    </p:spTree>
    <p:extLst>
      <p:ext uri="{BB962C8B-B14F-4D97-AF65-F5344CB8AC3E}">
        <p14:creationId xmlns:p14="http://schemas.microsoft.com/office/powerpoint/2010/main" xmlns="" val="19583820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189037"/>
            <a:ext cx="8229600" cy="4525963"/>
          </a:xfrm>
        </p:spPr>
        <p:txBody>
          <a:bodyPr/>
          <a:lstStyle/>
          <a:p>
            <a:pPr marL="63500" indent="46038" algn="just">
              <a:lnSpc>
                <a:spcPct val="200000"/>
              </a:lnSpc>
              <a:buNone/>
            </a:pPr>
            <a:r>
              <a:rPr lang="en-US" sz="2400" dirty="0" smtClean="0">
                <a:latin typeface="Arial" pitchFamily="34" charset="0"/>
                <a:cs typeface="Arial" pitchFamily="34" charset="0"/>
              </a:rPr>
              <a:t>A standard is a document that provides requirements, specifications, guidelines or characteristics that can be used consistently to ensure that materials, products, processes and services are fit for the purpose. </a:t>
            </a:r>
          </a:p>
          <a:p>
            <a:endParaRPr lang="en-US" dirty="0"/>
          </a:p>
        </p:txBody>
      </p:sp>
      <p:sp>
        <p:nvSpPr>
          <p:cNvPr id="3" name="Title 2"/>
          <p:cNvSpPr>
            <a:spLocks noGrp="1"/>
          </p:cNvSpPr>
          <p:nvPr>
            <p:ph type="title"/>
          </p:nvPr>
        </p:nvSpPr>
        <p:spPr>
          <a:xfrm>
            <a:off x="457200" y="655638"/>
            <a:ext cx="8229600" cy="792162"/>
          </a:xfrm>
        </p:spPr>
        <p:txBody>
          <a:bodyPr>
            <a:normAutofit fontScale="90000"/>
          </a:bodyPr>
          <a:lstStyle/>
          <a:p>
            <a:r>
              <a:rPr lang="en-US" sz="3600" dirty="0" smtClean="0">
                <a:solidFill>
                  <a:schemeClr val="tx1"/>
                </a:solidFill>
                <a:effectLst/>
                <a:latin typeface="Arial" pitchFamily="34" charset="0"/>
                <a:cs typeface="Arial" pitchFamily="34" charset="0"/>
              </a:rPr>
              <a:t>What is a standard</a:t>
            </a:r>
            <a:r>
              <a:rPr lang="en-US" dirty="0" smtClean="0"/>
              <a:t/>
            </a:r>
            <a:br>
              <a:rPr lang="en-US" dirty="0" smtClean="0"/>
            </a:b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lnSpc>
                <a:spcPct val="200000"/>
              </a:lnSpc>
            </a:pPr>
            <a:r>
              <a:rPr lang="en-US" sz="2400" dirty="0" smtClean="0">
                <a:latin typeface="Arial" pitchFamily="34" charset="0"/>
                <a:cs typeface="Arial" pitchFamily="34" charset="0"/>
              </a:rPr>
              <a:t>Development</a:t>
            </a:r>
          </a:p>
          <a:p>
            <a:pPr>
              <a:lnSpc>
                <a:spcPct val="200000"/>
              </a:lnSpc>
            </a:pPr>
            <a:r>
              <a:rPr lang="en-US" sz="2400" dirty="0" smtClean="0">
                <a:latin typeface="Arial" pitchFamily="34" charset="0"/>
                <a:cs typeface="Arial" pitchFamily="34" charset="0"/>
              </a:rPr>
              <a:t>Legislations</a:t>
            </a:r>
          </a:p>
          <a:p>
            <a:pPr>
              <a:lnSpc>
                <a:spcPct val="200000"/>
              </a:lnSpc>
            </a:pPr>
            <a:r>
              <a:rPr lang="en-US" sz="2400" dirty="0" smtClean="0">
                <a:latin typeface="Arial" pitchFamily="34" charset="0"/>
                <a:cs typeface="Arial" pitchFamily="34" charset="0"/>
              </a:rPr>
              <a:t>Safety</a:t>
            </a:r>
          </a:p>
        </p:txBody>
      </p:sp>
      <p:sp>
        <p:nvSpPr>
          <p:cNvPr id="2" name="Title 1"/>
          <p:cNvSpPr>
            <a:spLocks noGrp="1"/>
          </p:cNvSpPr>
          <p:nvPr>
            <p:ph type="title"/>
          </p:nvPr>
        </p:nvSpPr>
        <p:spPr/>
        <p:txBody>
          <a:bodyPr>
            <a:normAutofit/>
          </a:bodyPr>
          <a:lstStyle/>
          <a:p>
            <a:r>
              <a:rPr lang="en-US" sz="3200" dirty="0" smtClean="0">
                <a:solidFill>
                  <a:schemeClr val="tx1"/>
                </a:solidFill>
                <a:effectLst/>
                <a:latin typeface="Arial" pitchFamily="34" charset="0"/>
                <a:cs typeface="Arial" pitchFamily="34" charset="0"/>
              </a:rPr>
              <a:t>Purpose of ISO</a:t>
            </a:r>
            <a:endParaRPr lang="en-US" sz="3200" dirty="0">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xmlns="" val="786485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219200"/>
            <a:ext cx="8229600" cy="4953000"/>
          </a:xfrm>
        </p:spPr>
        <p:txBody>
          <a:bodyPr>
            <a:normAutofit fontScale="85000" lnSpcReduction="10000"/>
          </a:bodyPr>
          <a:lstStyle/>
          <a:p>
            <a:pPr lvl="0" fontAlgn="base">
              <a:lnSpc>
                <a:spcPct val="170000"/>
              </a:lnSpc>
            </a:pPr>
            <a:r>
              <a:rPr lang="en-US" sz="2400" dirty="0">
                <a:latin typeface="Arial" pitchFamily="34" charset="0"/>
                <a:cs typeface="Arial" pitchFamily="34" charset="0"/>
                <a:hlinkClick r:id="rId2" tooltip="ISO 9000"/>
              </a:rPr>
              <a:t>ISO 9000</a:t>
            </a:r>
            <a:r>
              <a:rPr lang="en-US" sz="2400" dirty="0">
                <a:latin typeface="Arial" pitchFamily="34" charset="0"/>
                <a:cs typeface="Arial" pitchFamily="34" charset="0"/>
              </a:rPr>
              <a:t> Quality management</a:t>
            </a:r>
          </a:p>
          <a:p>
            <a:pPr lvl="0" fontAlgn="base">
              <a:lnSpc>
                <a:spcPct val="170000"/>
              </a:lnSpc>
            </a:pPr>
            <a:r>
              <a:rPr lang="en-US" sz="2400" dirty="0">
                <a:latin typeface="Arial" pitchFamily="34" charset="0"/>
                <a:cs typeface="Arial" pitchFamily="34" charset="0"/>
                <a:hlinkClick r:id="rId3" tooltip="ISO 14000"/>
              </a:rPr>
              <a:t>ISO 14000</a:t>
            </a:r>
            <a:r>
              <a:rPr lang="en-US" sz="2400" dirty="0">
                <a:latin typeface="Arial" pitchFamily="34" charset="0"/>
                <a:cs typeface="Arial" pitchFamily="34" charset="0"/>
              </a:rPr>
              <a:t> Environmental management</a:t>
            </a:r>
          </a:p>
          <a:p>
            <a:pPr lvl="0" fontAlgn="base">
              <a:lnSpc>
                <a:spcPct val="170000"/>
              </a:lnSpc>
            </a:pPr>
            <a:r>
              <a:rPr lang="en-US" sz="2400" dirty="0">
                <a:latin typeface="Arial" pitchFamily="34" charset="0"/>
                <a:cs typeface="Arial" pitchFamily="34" charset="0"/>
                <a:hlinkClick r:id="rId4" tooltip="ISO 3166 - Country codes"/>
              </a:rPr>
              <a:t>ISO 3166</a:t>
            </a:r>
            <a:r>
              <a:rPr lang="en-US" sz="2400" dirty="0">
                <a:latin typeface="Arial" pitchFamily="34" charset="0"/>
                <a:cs typeface="Arial" pitchFamily="34" charset="0"/>
              </a:rPr>
              <a:t> Country codes</a:t>
            </a:r>
          </a:p>
          <a:p>
            <a:pPr lvl="0" fontAlgn="base">
              <a:lnSpc>
                <a:spcPct val="170000"/>
              </a:lnSpc>
            </a:pPr>
            <a:r>
              <a:rPr lang="en-US" sz="2400" dirty="0">
                <a:latin typeface="Arial" pitchFamily="34" charset="0"/>
                <a:cs typeface="Arial" pitchFamily="34" charset="0"/>
                <a:hlinkClick r:id="rId5" tooltip="ISO 26000"/>
              </a:rPr>
              <a:t>ISO 26000</a:t>
            </a:r>
            <a:r>
              <a:rPr lang="en-US" sz="2400" dirty="0">
                <a:latin typeface="Arial" pitchFamily="34" charset="0"/>
                <a:cs typeface="Arial" pitchFamily="34" charset="0"/>
              </a:rPr>
              <a:t> Social responsibility</a:t>
            </a:r>
          </a:p>
          <a:p>
            <a:pPr lvl="0" fontAlgn="base">
              <a:lnSpc>
                <a:spcPct val="170000"/>
              </a:lnSpc>
            </a:pPr>
            <a:r>
              <a:rPr lang="en-US" sz="2400" dirty="0">
                <a:latin typeface="Arial" pitchFamily="34" charset="0"/>
                <a:cs typeface="Arial" pitchFamily="34" charset="0"/>
                <a:hlinkClick r:id="rId6" tooltip="ISO 50001 - Energy management"/>
              </a:rPr>
              <a:t>ISO 50001</a:t>
            </a:r>
            <a:r>
              <a:rPr lang="en-US" sz="2400" dirty="0">
                <a:latin typeface="Arial" pitchFamily="34" charset="0"/>
                <a:cs typeface="Arial" pitchFamily="34" charset="0"/>
              </a:rPr>
              <a:t> Energy management</a:t>
            </a:r>
          </a:p>
          <a:p>
            <a:pPr lvl="0" fontAlgn="base">
              <a:lnSpc>
                <a:spcPct val="170000"/>
              </a:lnSpc>
            </a:pPr>
            <a:r>
              <a:rPr lang="en-US" sz="2400" dirty="0">
                <a:latin typeface="Arial" pitchFamily="34" charset="0"/>
                <a:cs typeface="Arial" pitchFamily="34" charset="0"/>
                <a:hlinkClick r:id="rId7" tooltip="ISO 31000"/>
              </a:rPr>
              <a:t>ISO 31000</a:t>
            </a:r>
            <a:r>
              <a:rPr lang="en-US" sz="2400" dirty="0">
                <a:latin typeface="Arial" pitchFamily="34" charset="0"/>
                <a:cs typeface="Arial" pitchFamily="34" charset="0"/>
              </a:rPr>
              <a:t> Risk management</a:t>
            </a:r>
          </a:p>
          <a:p>
            <a:pPr lvl="0" fontAlgn="base">
              <a:lnSpc>
                <a:spcPct val="170000"/>
              </a:lnSpc>
            </a:pPr>
            <a:r>
              <a:rPr lang="en-US" sz="2400" dirty="0">
                <a:latin typeface="Arial" pitchFamily="34" charset="0"/>
                <a:cs typeface="Arial" pitchFamily="34" charset="0"/>
                <a:hlinkClick r:id="rId8" tooltip="ISO 22000 - Food safety management"/>
              </a:rPr>
              <a:t>ISO 22000</a:t>
            </a:r>
            <a:r>
              <a:rPr lang="en-US" sz="2400" dirty="0">
                <a:latin typeface="Arial" pitchFamily="34" charset="0"/>
                <a:cs typeface="Arial" pitchFamily="34" charset="0"/>
              </a:rPr>
              <a:t> Food safety management</a:t>
            </a:r>
          </a:p>
          <a:p>
            <a:pPr lvl="0" fontAlgn="base">
              <a:lnSpc>
                <a:spcPct val="170000"/>
              </a:lnSpc>
            </a:pPr>
            <a:r>
              <a:rPr lang="en-US" sz="2400" dirty="0">
                <a:latin typeface="Arial" pitchFamily="34" charset="0"/>
                <a:cs typeface="Arial" pitchFamily="34" charset="0"/>
                <a:hlinkClick r:id="rId9" tooltip="ISO 4217 - Currency codes"/>
              </a:rPr>
              <a:t>ISO 4217</a:t>
            </a:r>
            <a:r>
              <a:rPr lang="en-US" sz="2400" dirty="0">
                <a:latin typeface="Arial" pitchFamily="34" charset="0"/>
                <a:cs typeface="Arial" pitchFamily="34" charset="0"/>
              </a:rPr>
              <a:t> Currency codes</a:t>
            </a:r>
          </a:p>
          <a:p>
            <a:pPr lvl="0" fontAlgn="base">
              <a:lnSpc>
                <a:spcPct val="170000"/>
              </a:lnSpc>
            </a:pPr>
            <a:r>
              <a:rPr lang="en-US" sz="2400" dirty="0">
                <a:latin typeface="Arial" pitchFamily="34" charset="0"/>
                <a:cs typeface="Arial" pitchFamily="34" charset="0"/>
                <a:hlinkClick r:id="rId10" tooltip="ISO 639 - Language codes"/>
              </a:rPr>
              <a:t>ISO 639</a:t>
            </a:r>
            <a:r>
              <a:rPr lang="en-US" sz="2400" dirty="0">
                <a:latin typeface="Arial" pitchFamily="34" charset="0"/>
                <a:cs typeface="Arial" pitchFamily="34" charset="0"/>
              </a:rPr>
              <a:t> Language codes</a:t>
            </a:r>
          </a:p>
          <a:p>
            <a:endParaRPr lang="en-US" dirty="0"/>
          </a:p>
        </p:txBody>
      </p:sp>
      <p:sp>
        <p:nvSpPr>
          <p:cNvPr id="2" name="Title 1"/>
          <p:cNvSpPr>
            <a:spLocks noGrp="1"/>
          </p:cNvSpPr>
          <p:nvPr>
            <p:ph type="title"/>
          </p:nvPr>
        </p:nvSpPr>
        <p:spPr/>
        <p:txBody>
          <a:bodyPr>
            <a:normAutofit/>
          </a:bodyPr>
          <a:lstStyle/>
          <a:p>
            <a:r>
              <a:rPr lang="en-US" sz="3200" dirty="0" smtClean="0">
                <a:solidFill>
                  <a:schemeClr val="tx1"/>
                </a:solidFill>
                <a:effectLst/>
                <a:latin typeface="Arial" pitchFamily="34" charset="0"/>
                <a:cs typeface="Arial" pitchFamily="34" charset="0"/>
              </a:rPr>
              <a:t>ISO standards</a:t>
            </a:r>
            <a:endParaRPr lang="en-US" sz="3200" dirty="0">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xmlns="" val="3909114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r>
              <a:rPr lang="en-US" dirty="0"/>
              <a:t> The standards provide guidance and tools for companies and organizations who want to ensure that their products and services consistently meet customer’s requirements, and that quality is consistently improved.</a:t>
            </a:r>
          </a:p>
          <a:p>
            <a:r>
              <a:rPr lang="en-US" dirty="0"/>
              <a:t>There are many standards in the ISO 9000 family, including:</a:t>
            </a:r>
          </a:p>
          <a:p>
            <a:r>
              <a:rPr lang="en-US" b="1" dirty="0"/>
              <a:t>ISO 9001:2008</a:t>
            </a:r>
            <a:r>
              <a:rPr lang="en-US" dirty="0"/>
              <a:t> </a:t>
            </a:r>
          </a:p>
          <a:p>
            <a:r>
              <a:rPr lang="en-US" b="1" dirty="0"/>
              <a:t>ISO 9000:2005</a:t>
            </a:r>
            <a:r>
              <a:rPr lang="en-US" dirty="0"/>
              <a:t> </a:t>
            </a:r>
          </a:p>
          <a:p>
            <a:r>
              <a:rPr lang="en-US" b="1" dirty="0"/>
              <a:t>ISO 9004:2009</a:t>
            </a:r>
            <a:r>
              <a:rPr lang="en-US" dirty="0"/>
              <a:t> </a:t>
            </a:r>
          </a:p>
          <a:p>
            <a:r>
              <a:rPr lang="en-US" b="1" dirty="0"/>
              <a:t>ISO 19011:2011</a:t>
            </a:r>
            <a:r>
              <a:rPr lang="en-US" dirty="0"/>
              <a:t> </a:t>
            </a:r>
          </a:p>
          <a:p>
            <a:endParaRPr lang="en-US" dirty="0"/>
          </a:p>
        </p:txBody>
      </p:sp>
      <p:sp>
        <p:nvSpPr>
          <p:cNvPr id="2" name="Title 1"/>
          <p:cNvSpPr>
            <a:spLocks noGrp="1"/>
          </p:cNvSpPr>
          <p:nvPr>
            <p:ph type="title"/>
          </p:nvPr>
        </p:nvSpPr>
        <p:spPr>
          <a:xfrm>
            <a:off x="533400" y="304800"/>
            <a:ext cx="8229600" cy="1143000"/>
          </a:xfrm>
        </p:spPr>
        <p:txBody>
          <a:bodyPr>
            <a:normAutofit/>
          </a:bodyPr>
          <a:lstStyle/>
          <a:p>
            <a:r>
              <a:rPr lang="en-US" b="1" u="sng" dirty="0"/>
              <a:t>ISO 9000 Quality </a:t>
            </a:r>
            <a:r>
              <a:rPr lang="en-US" b="1" u="sng" dirty="0" smtClean="0"/>
              <a:t>management</a:t>
            </a:r>
            <a:endParaRPr lang="en-US" dirty="0"/>
          </a:p>
        </p:txBody>
      </p:sp>
    </p:spTree>
    <p:extLst>
      <p:ext uri="{BB962C8B-B14F-4D97-AF65-F5344CB8AC3E}">
        <p14:creationId xmlns:p14="http://schemas.microsoft.com/office/powerpoint/2010/main" xmlns="" val="10047345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ISO 14001:2004 and ISO 14004:2004 focus on environmental management systems. </a:t>
            </a:r>
          </a:p>
          <a:p>
            <a:r>
              <a:rPr lang="en-US" dirty="0" smtClean="0"/>
              <a:t>The other standards in the family focus on specific environmental aspects such as life cycle analysis, communication and auditing.</a:t>
            </a:r>
          </a:p>
          <a:p>
            <a:endParaRPr lang="en-US" dirty="0"/>
          </a:p>
        </p:txBody>
      </p:sp>
      <p:sp>
        <p:nvSpPr>
          <p:cNvPr id="3" name="Title 2"/>
          <p:cNvSpPr>
            <a:spLocks noGrp="1"/>
          </p:cNvSpPr>
          <p:nvPr>
            <p:ph type="title"/>
          </p:nvPr>
        </p:nvSpPr>
        <p:spPr/>
        <p:txBody>
          <a:bodyPr/>
          <a:lstStyle/>
          <a:p>
            <a:r>
              <a:rPr lang="en-US" dirty="0" smtClean="0"/>
              <a:t>Environment management</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ISO 26000 provides guidance on how  organizations can operate in a socially responsible way. </a:t>
            </a:r>
          </a:p>
          <a:p>
            <a:r>
              <a:rPr lang="en-US" dirty="0" smtClean="0"/>
              <a:t>This means acting in an ethical and transparent way that contributes to the health and welfare of society.</a:t>
            </a:r>
          </a:p>
          <a:p>
            <a:endParaRPr lang="en-US" dirty="0"/>
          </a:p>
        </p:txBody>
      </p:sp>
      <p:sp>
        <p:nvSpPr>
          <p:cNvPr id="3" name="Title 2"/>
          <p:cNvSpPr>
            <a:spLocks noGrp="1"/>
          </p:cNvSpPr>
          <p:nvPr>
            <p:ph type="title"/>
          </p:nvPr>
        </p:nvSpPr>
        <p:spPr/>
        <p:txBody>
          <a:bodyPr/>
          <a:lstStyle/>
          <a:p>
            <a:r>
              <a:rPr lang="en-US" u="sng" dirty="0" smtClean="0"/>
              <a:t>Social responsibility</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r>
              <a:rPr lang="en-US" b="1" dirty="0" smtClean="0"/>
              <a:t>ISO </a:t>
            </a:r>
            <a:r>
              <a:rPr lang="en-US" b="1" dirty="0"/>
              <a:t>22000</a:t>
            </a:r>
            <a:r>
              <a:rPr lang="en-US" dirty="0"/>
              <a:t>. This ISO standard sets global guidelines for food safety and handling. </a:t>
            </a:r>
            <a:r>
              <a:rPr lang="en-US" dirty="0" smtClean="0"/>
              <a:t>Its </a:t>
            </a:r>
            <a:r>
              <a:rPr lang="en-US" dirty="0"/>
              <a:t>aim is to focus on the entire food chain and reduce hazards and safety issues such as food-borne illnesses.</a:t>
            </a:r>
          </a:p>
          <a:p>
            <a:r>
              <a:rPr lang="en-US" b="1" dirty="0"/>
              <a:t>IWA 1:2005</a:t>
            </a:r>
            <a:r>
              <a:rPr lang="en-US" dirty="0" smtClean="0"/>
              <a:t>. It provides </a:t>
            </a:r>
            <a:r>
              <a:rPr lang="en-US" dirty="0"/>
              <a:t>guidelines for health care organizations to respond to natural and manmade </a:t>
            </a:r>
            <a:r>
              <a:rPr lang="en-US" dirty="0" smtClean="0"/>
              <a:t>disasters.</a:t>
            </a:r>
            <a:endParaRPr lang="en-US" dirty="0"/>
          </a:p>
          <a:p>
            <a:r>
              <a:rPr lang="en-US" b="1" dirty="0"/>
              <a:t>ISO 9001:2000</a:t>
            </a:r>
            <a:r>
              <a:rPr lang="en-US" dirty="0"/>
              <a:t>. This standard addresses quality management in the medical device industry. </a:t>
            </a:r>
          </a:p>
        </p:txBody>
      </p:sp>
      <p:sp>
        <p:nvSpPr>
          <p:cNvPr id="2" name="Title 1"/>
          <p:cNvSpPr>
            <a:spLocks noGrp="1"/>
          </p:cNvSpPr>
          <p:nvPr>
            <p:ph type="title"/>
          </p:nvPr>
        </p:nvSpPr>
        <p:spPr/>
        <p:txBody>
          <a:bodyPr>
            <a:normAutofit/>
          </a:bodyPr>
          <a:lstStyle/>
          <a:p>
            <a:r>
              <a:rPr lang="en-US" dirty="0" smtClean="0"/>
              <a:t>Health and safety</a:t>
            </a:r>
            <a:endParaRPr lang="en-US" dirty="0"/>
          </a:p>
        </p:txBody>
      </p:sp>
    </p:spTree>
    <p:extLst>
      <p:ext uri="{BB962C8B-B14F-4D97-AF65-F5344CB8AC3E}">
        <p14:creationId xmlns:p14="http://schemas.microsoft.com/office/powerpoint/2010/main" xmlns="" val="7157898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64291"/>
          </a:xfrm>
        </p:spPr>
        <p:txBody>
          <a:bodyPr>
            <a:normAutofit fontScale="85000" lnSpcReduction="20000"/>
          </a:bodyPr>
          <a:lstStyle/>
          <a:p>
            <a:endParaRPr lang="en-US" dirty="0"/>
          </a:p>
          <a:p>
            <a:pPr marL="63500" lvl="1" indent="0" algn="just">
              <a:buNone/>
            </a:pPr>
            <a:r>
              <a:rPr lang="en-US" sz="2600" dirty="0">
                <a:latin typeface="Arial" pitchFamily="34" charset="0"/>
                <a:cs typeface="Arial" pitchFamily="34" charset="0"/>
              </a:rPr>
              <a:t>ISO has an intensive work program that reviews and updates standards for traditional activities </a:t>
            </a:r>
            <a:r>
              <a:rPr lang="en-US" sz="2600" dirty="0" smtClean="0">
                <a:latin typeface="Arial" pitchFamily="34" charset="0"/>
                <a:cs typeface="Arial" pitchFamily="34" charset="0"/>
              </a:rPr>
              <a:t>like:</a:t>
            </a:r>
          </a:p>
          <a:p>
            <a:pPr marL="63500" lvl="1" indent="0" algn="just">
              <a:buNone/>
            </a:pPr>
            <a:endParaRPr lang="en-US" sz="2600" dirty="0" smtClean="0">
              <a:latin typeface="Arial" pitchFamily="34" charset="0"/>
              <a:cs typeface="Arial" pitchFamily="34" charset="0"/>
            </a:endParaRPr>
          </a:p>
          <a:p>
            <a:pPr marL="457200" lvl="1" indent="0" algn="just"/>
            <a:r>
              <a:rPr lang="en-US" sz="2600" dirty="0" smtClean="0">
                <a:latin typeface="Arial" pitchFamily="34" charset="0"/>
                <a:cs typeface="Arial" pitchFamily="34" charset="0"/>
              </a:rPr>
              <a:t> 	Agriculture </a:t>
            </a:r>
            <a:r>
              <a:rPr lang="en-US" sz="2600" dirty="0">
                <a:latin typeface="Arial" pitchFamily="34" charset="0"/>
                <a:cs typeface="Arial" pitchFamily="34" charset="0"/>
              </a:rPr>
              <a:t>and </a:t>
            </a:r>
            <a:r>
              <a:rPr lang="en-US" sz="2600" dirty="0" smtClean="0">
                <a:latin typeface="Arial" pitchFamily="34" charset="0"/>
                <a:cs typeface="Arial" pitchFamily="34" charset="0"/>
              </a:rPr>
              <a:t>Construction</a:t>
            </a:r>
          </a:p>
          <a:p>
            <a:pPr marL="457200" lvl="1" indent="0" algn="just"/>
            <a:r>
              <a:rPr lang="en-US" sz="2600" dirty="0" smtClean="0">
                <a:latin typeface="Arial" pitchFamily="34" charset="0"/>
                <a:cs typeface="Arial" pitchFamily="34" charset="0"/>
              </a:rPr>
              <a:t> 	Mechanical Engineering</a:t>
            </a:r>
          </a:p>
          <a:p>
            <a:pPr marL="457200" lvl="1" indent="0" algn="just"/>
            <a:r>
              <a:rPr lang="en-US" sz="2600" dirty="0" smtClean="0">
                <a:latin typeface="Arial" pitchFamily="34" charset="0"/>
                <a:cs typeface="Arial" pitchFamily="34" charset="0"/>
              </a:rPr>
              <a:t> 	Distribution </a:t>
            </a:r>
            <a:r>
              <a:rPr lang="en-US" sz="2600" dirty="0">
                <a:latin typeface="Arial" pitchFamily="34" charset="0"/>
                <a:cs typeface="Arial" pitchFamily="34" charset="0"/>
              </a:rPr>
              <a:t>and </a:t>
            </a:r>
            <a:r>
              <a:rPr lang="en-US" sz="2600" dirty="0" smtClean="0">
                <a:latin typeface="Arial" pitchFamily="34" charset="0"/>
                <a:cs typeface="Arial" pitchFamily="34" charset="0"/>
              </a:rPr>
              <a:t>Manufacturing</a:t>
            </a:r>
          </a:p>
          <a:p>
            <a:pPr marL="457200" lvl="1" indent="0"/>
            <a:endParaRPr lang="en-US" dirty="0" smtClean="0"/>
          </a:p>
          <a:p>
            <a:pPr marL="63500" lvl="1" indent="0" algn="just">
              <a:buNone/>
            </a:pPr>
            <a:r>
              <a:rPr lang="en-US" sz="2600" dirty="0" smtClean="0">
                <a:latin typeface="Arial" pitchFamily="34" charset="0"/>
                <a:cs typeface="Arial" pitchFamily="34" charset="0"/>
              </a:rPr>
              <a:t>ISO </a:t>
            </a:r>
            <a:r>
              <a:rPr lang="en-US" sz="2600" dirty="0">
                <a:latin typeface="Arial" pitchFamily="34" charset="0"/>
                <a:cs typeface="Arial" pitchFamily="34" charset="0"/>
              </a:rPr>
              <a:t>also creates standards for the current business environment </a:t>
            </a:r>
            <a:r>
              <a:rPr lang="en-US" sz="2600" dirty="0" smtClean="0">
                <a:latin typeface="Arial" pitchFamily="34" charset="0"/>
                <a:cs typeface="Arial" pitchFamily="34" charset="0"/>
              </a:rPr>
              <a:t>like</a:t>
            </a:r>
          </a:p>
          <a:p>
            <a:pPr marL="63500" lvl="1" indent="0" algn="just">
              <a:buNone/>
            </a:pPr>
            <a:endParaRPr lang="en-US" sz="2600" dirty="0" smtClean="0">
              <a:latin typeface="Arial" pitchFamily="34" charset="0"/>
              <a:cs typeface="Arial" pitchFamily="34" charset="0"/>
            </a:endParaRPr>
          </a:p>
          <a:p>
            <a:pPr marL="457200" lvl="1" indent="0" algn="just"/>
            <a:r>
              <a:rPr lang="en-US" dirty="0" smtClean="0"/>
              <a:t> 	</a:t>
            </a:r>
            <a:r>
              <a:rPr lang="en-US" sz="2600" dirty="0" smtClean="0">
                <a:latin typeface="Arial" pitchFamily="34" charset="0"/>
                <a:cs typeface="Arial" pitchFamily="34" charset="0"/>
              </a:rPr>
              <a:t>Transport</a:t>
            </a:r>
          </a:p>
          <a:p>
            <a:pPr marL="457200" lvl="1" indent="0" algn="just"/>
            <a:r>
              <a:rPr lang="en-US" sz="2600" dirty="0" smtClean="0">
                <a:latin typeface="Arial" pitchFamily="34" charset="0"/>
                <a:cs typeface="Arial" pitchFamily="34" charset="0"/>
              </a:rPr>
              <a:t> 	Medical Devices</a:t>
            </a:r>
            <a:r>
              <a:rPr lang="en-US" sz="2600" dirty="0">
                <a:latin typeface="Arial" pitchFamily="34" charset="0"/>
                <a:cs typeface="Arial" pitchFamily="34" charset="0"/>
              </a:rPr>
              <a:t>, </a:t>
            </a:r>
            <a:endParaRPr lang="en-US" sz="2600" dirty="0" smtClean="0">
              <a:latin typeface="Arial" pitchFamily="34" charset="0"/>
              <a:cs typeface="Arial" pitchFamily="34" charset="0"/>
            </a:endParaRPr>
          </a:p>
          <a:p>
            <a:pPr marL="457200" lvl="1" indent="0" algn="just"/>
            <a:r>
              <a:rPr lang="en-US" sz="2600" dirty="0" smtClean="0">
                <a:latin typeface="Arial" pitchFamily="34" charset="0"/>
                <a:cs typeface="Arial" pitchFamily="34" charset="0"/>
              </a:rPr>
              <a:t> 	Information </a:t>
            </a:r>
            <a:r>
              <a:rPr lang="en-US" sz="2600" dirty="0">
                <a:latin typeface="Arial" pitchFamily="34" charset="0"/>
                <a:cs typeface="Arial" pitchFamily="34" charset="0"/>
              </a:rPr>
              <a:t>and communication </a:t>
            </a:r>
            <a:r>
              <a:rPr lang="en-US" sz="2600" dirty="0" smtClean="0">
                <a:latin typeface="Arial" pitchFamily="34" charset="0"/>
                <a:cs typeface="Arial" pitchFamily="34" charset="0"/>
              </a:rPr>
              <a:t>technologies</a:t>
            </a:r>
          </a:p>
          <a:p>
            <a:pPr marL="457200" lvl="1" indent="0" algn="just"/>
            <a:r>
              <a:rPr lang="en-US" sz="2600" dirty="0" smtClean="0">
                <a:latin typeface="Arial" pitchFamily="34" charset="0"/>
                <a:cs typeface="Arial" pitchFamily="34" charset="0"/>
              </a:rPr>
              <a:t> 	Good </a:t>
            </a:r>
            <a:r>
              <a:rPr lang="en-US" sz="2600" dirty="0">
                <a:latin typeface="Arial" pitchFamily="34" charset="0"/>
                <a:cs typeface="Arial" pitchFamily="34" charset="0"/>
              </a:rPr>
              <a:t>management practices and services. </a:t>
            </a:r>
          </a:p>
        </p:txBody>
      </p:sp>
      <p:sp>
        <p:nvSpPr>
          <p:cNvPr id="2" name="Title 1"/>
          <p:cNvSpPr>
            <a:spLocks noGrp="1"/>
          </p:cNvSpPr>
          <p:nvPr>
            <p:ph type="title"/>
          </p:nvPr>
        </p:nvSpPr>
        <p:spPr/>
        <p:txBody>
          <a:bodyPr>
            <a:normAutofit/>
          </a:bodyPr>
          <a:lstStyle/>
          <a:p>
            <a:r>
              <a:rPr lang="en-US" sz="3200" dirty="0" smtClean="0">
                <a:solidFill>
                  <a:schemeClr val="tx1"/>
                </a:solidFill>
                <a:effectLst/>
                <a:latin typeface="Arial" pitchFamily="34" charset="0"/>
                <a:cs typeface="Arial" pitchFamily="34" charset="0"/>
              </a:rPr>
              <a:t>Scope of ISO</a:t>
            </a:r>
            <a:endParaRPr lang="en-US" sz="3200" dirty="0">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xmlns="" val="8379883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pPr>
              <a:lnSpc>
                <a:spcPct val="200000"/>
              </a:lnSpc>
            </a:pPr>
            <a:r>
              <a:rPr lang="en-US" sz="2400" b="1" dirty="0">
                <a:latin typeface="Arial" pitchFamily="34" charset="0"/>
                <a:cs typeface="Arial" pitchFamily="34" charset="0"/>
              </a:rPr>
              <a:t>Competitive Advantage</a:t>
            </a:r>
            <a:endParaRPr lang="en-US" sz="2400" dirty="0">
              <a:latin typeface="Arial" pitchFamily="34" charset="0"/>
              <a:cs typeface="Arial" pitchFamily="34" charset="0"/>
            </a:endParaRPr>
          </a:p>
          <a:p>
            <a:pPr>
              <a:lnSpc>
                <a:spcPct val="200000"/>
              </a:lnSpc>
            </a:pPr>
            <a:r>
              <a:rPr lang="en-US" sz="2400" b="1" dirty="0">
                <a:latin typeface="Arial" pitchFamily="34" charset="0"/>
                <a:cs typeface="Arial" pitchFamily="34" charset="0"/>
              </a:rPr>
              <a:t>Common Language</a:t>
            </a:r>
            <a:endParaRPr lang="en-US" sz="2400" dirty="0">
              <a:latin typeface="Arial" pitchFamily="34" charset="0"/>
              <a:cs typeface="Arial" pitchFamily="34" charset="0"/>
            </a:endParaRPr>
          </a:p>
          <a:p>
            <a:pPr>
              <a:lnSpc>
                <a:spcPct val="200000"/>
              </a:lnSpc>
            </a:pPr>
            <a:r>
              <a:rPr lang="en-US" sz="2400" b="1" dirty="0">
                <a:latin typeface="Arial" pitchFamily="34" charset="0"/>
                <a:cs typeface="Arial" pitchFamily="34" charset="0"/>
              </a:rPr>
              <a:t>Consistency</a:t>
            </a:r>
            <a:endParaRPr lang="en-US" sz="2400" dirty="0">
              <a:latin typeface="Arial" pitchFamily="34" charset="0"/>
              <a:cs typeface="Arial" pitchFamily="34" charset="0"/>
            </a:endParaRPr>
          </a:p>
          <a:p>
            <a:pPr>
              <a:lnSpc>
                <a:spcPct val="200000"/>
              </a:lnSpc>
            </a:pPr>
            <a:r>
              <a:rPr lang="en-US" sz="2400" b="1" dirty="0">
                <a:latin typeface="Arial" pitchFamily="34" charset="0"/>
                <a:cs typeface="Arial" pitchFamily="34" charset="0"/>
              </a:rPr>
              <a:t>Flexibility</a:t>
            </a:r>
            <a:endParaRPr lang="en-US" sz="2400" dirty="0">
              <a:latin typeface="Arial" pitchFamily="34" charset="0"/>
              <a:cs typeface="Arial" pitchFamily="34" charset="0"/>
            </a:endParaRPr>
          </a:p>
          <a:p>
            <a:pPr>
              <a:lnSpc>
                <a:spcPct val="200000"/>
              </a:lnSpc>
            </a:pPr>
            <a:r>
              <a:rPr lang="en-US" sz="2400" b="1" dirty="0">
                <a:latin typeface="Arial" pitchFamily="34" charset="0"/>
                <a:cs typeface="Arial" pitchFamily="34" charset="0"/>
              </a:rPr>
              <a:t>Customer Focus</a:t>
            </a:r>
            <a:endParaRPr lang="en-US" sz="2400" dirty="0">
              <a:latin typeface="Arial" pitchFamily="34" charset="0"/>
              <a:cs typeface="Arial" pitchFamily="34" charset="0"/>
            </a:endParaRPr>
          </a:p>
          <a:p>
            <a:pPr>
              <a:lnSpc>
                <a:spcPct val="200000"/>
              </a:lnSpc>
            </a:pPr>
            <a:r>
              <a:rPr lang="en-US" sz="2400" b="1" dirty="0">
                <a:latin typeface="Arial" pitchFamily="34" charset="0"/>
                <a:cs typeface="Arial" pitchFamily="34" charset="0"/>
              </a:rPr>
              <a:t>Cost Reduction</a:t>
            </a:r>
            <a:endParaRPr lang="en-US" sz="2400" dirty="0">
              <a:latin typeface="Arial" pitchFamily="34" charset="0"/>
              <a:cs typeface="Arial" pitchFamily="34" charset="0"/>
            </a:endParaRPr>
          </a:p>
          <a:p>
            <a:pPr>
              <a:buNone/>
            </a:pPr>
            <a:endParaRPr lang="en-US" dirty="0"/>
          </a:p>
        </p:txBody>
      </p:sp>
      <p:sp>
        <p:nvSpPr>
          <p:cNvPr id="2" name="Title 1"/>
          <p:cNvSpPr>
            <a:spLocks noGrp="1"/>
          </p:cNvSpPr>
          <p:nvPr>
            <p:ph type="title"/>
          </p:nvPr>
        </p:nvSpPr>
        <p:spPr/>
        <p:txBody>
          <a:bodyPr>
            <a:normAutofit/>
          </a:bodyPr>
          <a:lstStyle/>
          <a:p>
            <a:r>
              <a:rPr lang="en-US" sz="3200" dirty="0" smtClean="0">
                <a:solidFill>
                  <a:schemeClr val="tx1"/>
                </a:solidFill>
                <a:effectLst/>
                <a:latin typeface="Arial" pitchFamily="34" charset="0"/>
                <a:cs typeface="Arial" pitchFamily="34" charset="0"/>
              </a:rPr>
              <a:t>Why companies need ISO certification </a:t>
            </a:r>
            <a:endParaRPr lang="en-US" sz="3200" dirty="0">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xmlns="" val="10364748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lnSpc>
                <a:spcPct val="200000"/>
              </a:lnSpc>
            </a:pPr>
            <a:r>
              <a:rPr lang="en-US" sz="2400" b="1" dirty="0">
                <a:latin typeface="Arial" pitchFamily="34" charset="0"/>
                <a:cs typeface="Arial" pitchFamily="34" charset="0"/>
              </a:rPr>
              <a:t>Manufacturing</a:t>
            </a:r>
            <a:endParaRPr lang="en-US" sz="2400" dirty="0">
              <a:latin typeface="Arial" pitchFamily="34" charset="0"/>
              <a:cs typeface="Arial" pitchFamily="34" charset="0"/>
            </a:endParaRPr>
          </a:p>
          <a:p>
            <a:pPr>
              <a:lnSpc>
                <a:spcPct val="200000"/>
              </a:lnSpc>
            </a:pPr>
            <a:r>
              <a:rPr lang="en-US" sz="2400" b="1" dirty="0">
                <a:latin typeface="Arial" pitchFamily="34" charset="0"/>
                <a:cs typeface="Arial" pitchFamily="34" charset="0"/>
              </a:rPr>
              <a:t>Terminology</a:t>
            </a:r>
            <a:endParaRPr lang="en-US" sz="2400" dirty="0">
              <a:latin typeface="Arial" pitchFamily="34" charset="0"/>
              <a:cs typeface="Arial" pitchFamily="34" charset="0"/>
            </a:endParaRPr>
          </a:p>
          <a:p>
            <a:pPr>
              <a:lnSpc>
                <a:spcPct val="200000"/>
              </a:lnSpc>
            </a:pPr>
            <a:r>
              <a:rPr lang="en-US" sz="2400" b="1" dirty="0">
                <a:latin typeface="Arial" pitchFamily="34" charset="0"/>
                <a:cs typeface="Arial" pitchFamily="34" charset="0"/>
              </a:rPr>
              <a:t>Businesses</a:t>
            </a:r>
            <a:endParaRPr lang="en-US" sz="2400" dirty="0">
              <a:latin typeface="Arial" pitchFamily="34" charset="0"/>
              <a:cs typeface="Arial" pitchFamily="34" charset="0"/>
            </a:endParaRPr>
          </a:p>
          <a:p>
            <a:pPr>
              <a:lnSpc>
                <a:spcPct val="200000"/>
              </a:lnSpc>
            </a:pPr>
            <a:r>
              <a:rPr lang="en-US" sz="2400" b="1" dirty="0">
                <a:latin typeface="Arial" pitchFamily="34" charset="0"/>
                <a:cs typeface="Arial" pitchFamily="34" charset="0"/>
              </a:rPr>
              <a:t>International Trade</a:t>
            </a:r>
            <a:endParaRPr lang="en-US" sz="2400" dirty="0">
              <a:latin typeface="Arial" pitchFamily="34" charset="0"/>
              <a:cs typeface="Arial" pitchFamily="34" charset="0"/>
            </a:endParaRPr>
          </a:p>
          <a:p>
            <a:pPr>
              <a:lnSpc>
                <a:spcPct val="200000"/>
              </a:lnSpc>
            </a:pPr>
            <a:r>
              <a:rPr lang="en-US" sz="2400" b="1" dirty="0">
                <a:latin typeface="Arial" pitchFamily="34" charset="0"/>
                <a:cs typeface="Arial" pitchFamily="34" charset="0"/>
              </a:rPr>
              <a:t>Consumers</a:t>
            </a:r>
            <a:endParaRPr lang="en-US" sz="2400" dirty="0">
              <a:latin typeface="Arial" pitchFamily="34" charset="0"/>
              <a:cs typeface="Arial" pitchFamily="34" charset="0"/>
            </a:endParaRPr>
          </a:p>
          <a:p>
            <a:endParaRPr lang="en-US" dirty="0"/>
          </a:p>
        </p:txBody>
      </p:sp>
      <p:sp>
        <p:nvSpPr>
          <p:cNvPr id="2" name="Title 1"/>
          <p:cNvSpPr>
            <a:spLocks noGrp="1"/>
          </p:cNvSpPr>
          <p:nvPr>
            <p:ph type="title"/>
          </p:nvPr>
        </p:nvSpPr>
        <p:spPr/>
        <p:txBody>
          <a:bodyPr>
            <a:normAutofit/>
          </a:bodyPr>
          <a:lstStyle/>
          <a:p>
            <a:r>
              <a:rPr lang="en-US" sz="3200" dirty="0" smtClean="0">
                <a:solidFill>
                  <a:schemeClr val="tx1"/>
                </a:solidFill>
                <a:effectLst/>
                <a:latin typeface="Arial" pitchFamily="34" charset="0"/>
                <a:cs typeface="Arial" pitchFamily="34" charset="0"/>
              </a:rPr>
              <a:t>Benefits of ISO standards</a:t>
            </a:r>
            <a:endParaRPr lang="en-US" sz="3200" dirty="0">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xmlns="" val="8705659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The May/June 2013 ISO Focus+ highlights some of the leading issues in the battle to protect consumers by learning how standards protect from unreasonable risks of injury or death caused by consumer goods!</a:t>
            </a:r>
          </a:p>
          <a:p>
            <a:endParaRPr lang="en-US" dirty="0"/>
          </a:p>
        </p:txBody>
      </p:sp>
      <p:sp>
        <p:nvSpPr>
          <p:cNvPr id="2" name="Title 1"/>
          <p:cNvSpPr>
            <a:spLocks noGrp="1"/>
          </p:cNvSpPr>
          <p:nvPr>
            <p:ph type="title"/>
          </p:nvPr>
        </p:nvSpPr>
        <p:spPr/>
        <p:txBody>
          <a:bodyPr/>
          <a:lstStyle/>
          <a:p>
            <a:r>
              <a:rPr lang="en-US" dirty="0" smtClean="0"/>
              <a:t>Current focus</a:t>
            </a:r>
            <a:endParaRPr lang="en-US" dirty="0"/>
          </a:p>
        </p:txBody>
      </p:sp>
    </p:spTree>
    <p:extLst>
      <p:ext uri="{BB962C8B-B14F-4D97-AF65-F5344CB8AC3E}">
        <p14:creationId xmlns:p14="http://schemas.microsoft.com/office/powerpoint/2010/main" xmlns="" val="12298570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685800" y="1447800"/>
            <a:ext cx="7772400" cy="1829761"/>
          </a:xfrm>
        </p:spPr>
        <p:txBody>
          <a:bodyPr>
            <a:normAutofit/>
          </a:bodyPr>
          <a:lstStyle/>
          <a:p>
            <a:pPr algn="ctr"/>
            <a:r>
              <a:rPr lang="en-US" sz="3600" dirty="0" smtClean="0">
                <a:solidFill>
                  <a:schemeClr val="tx1"/>
                </a:solidFill>
                <a:effectLst/>
                <a:latin typeface="Arial" pitchFamily="34" charset="0"/>
                <a:cs typeface="Arial" pitchFamily="34" charset="0"/>
              </a:rPr>
              <a:t>The World Trade Organization (WTO)</a:t>
            </a:r>
            <a:endParaRPr lang="en-US" sz="3600" dirty="0">
              <a:solidFill>
                <a:schemeClr val="tx1"/>
              </a:solidFill>
              <a:effectLst/>
              <a:latin typeface="Arial" pitchFamily="34" charset="0"/>
              <a:cs typeface="Arial" pitchFamily="34" charset="0"/>
            </a:endParaRPr>
          </a:p>
        </p:txBody>
      </p:sp>
      <p:sp>
        <p:nvSpPr>
          <p:cNvPr id="5" name="Subtitle 4"/>
          <p:cNvSpPr>
            <a:spLocks noGrp="1"/>
          </p:cNvSpPr>
          <p:nvPr>
            <p:ph type="subTitle" idx="1"/>
          </p:nvPr>
        </p:nvSpPr>
        <p:spPr>
          <a:xfrm>
            <a:off x="685800" y="3753296"/>
            <a:ext cx="7772400" cy="1199704"/>
          </a:xfrm>
        </p:spPr>
        <p:txBody>
          <a:bodyPr>
            <a:normAutofit/>
          </a:bodyPr>
          <a:lstStyle/>
          <a:p>
            <a:r>
              <a:rPr lang="en-US" sz="2800" dirty="0" smtClean="0">
                <a:solidFill>
                  <a:schemeClr val="tx1"/>
                </a:solidFill>
                <a:latin typeface="Arial" pitchFamily="34" charset="0"/>
                <a:cs typeface="Arial" pitchFamily="34" charset="0"/>
              </a:rPr>
              <a:t>Geneva, Switzerland</a:t>
            </a:r>
            <a:endParaRPr lang="en-US" sz="2800" dirty="0">
              <a:solidFill>
                <a:schemeClr val="tx1"/>
              </a:solidFill>
              <a:latin typeface="Arial" pitchFamily="34" charset="0"/>
              <a:cs typeface="Arial" pitchFamily="34" charset="0"/>
            </a:endParaRPr>
          </a:p>
        </p:txBody>
      </p:sp>
    </p:spTree>
    <p:extLst>
      <p:ext uri="{BB962C8B-B14F-4D97-AF65-F5344CB8AC3E}">
        <p14:creationId xmlns:p14="http://schemas.microsoft.com/office/powerpoint/2010/main" xmlns="" val="3727990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r>
              <a:rPr lang="en-US" dirty="0" smtClean="0"/>
              <a:t>Introduction</a:t>
            </a:r>
          </a:p>
          <a:p>
            <a:r>
              <a:rPr lang="en-US" dirty="0" smtClean="0"/>
              <a:t>History</a:t>
            </a:r>
          </a:p>
          <a:p>
            <a:r>
              <a:rPr lang="en-US" dirty="0" smtClean="0"/>
              <a:t>WTO structure</a:t>
            </a:r>
          </a:p>
          <a:p>
            <a:r>
              <a:rPr lang="en-US" dirty="0" smtClean="0"/>
              <a:t>Main </a:t>
            </a:r>
          </a:p>
          <a:p>
            <a:r>
              <a:rPr lang="en-US" dirty="0" smtClean="0"/>
              <a:t>Questions</a:t>
            </a:r>
          </a:p>
          <a:p>
            <a:r>
              <a:rPr lang="en-US" dirty="0" smtClean="0"/>
              <a:t>Terms</a:t>
            </a:r>
          </a:p>
          <a:p>
            <a:r>
              <a:rPr lang="en-US" dirty="0" smtClean="0"/>
              <a:t>Process</a:t>
            </a:r>
          </a:p>
          <a:p>
            <a:r>
              <a:rPr lang="en-US" dirty="0" smtClean="0"/>
              <a:t>Provisions</a:t>
            </a:r>
          </a:p>
          <a:p>
            <a:r>
              <a:rPr lang="en-US" dirty="0" smtClean="0"/>
              <a:t>Guidelines</a:t>
            </a:r>
          </a:p>
          <a:p>
            <a:r>
              <a:rPr lang="en-US" dirty="0" smtClean="0"/>
              <a:t>WTO in world</a:t>
            </a:r>
            <a:endParaRPr lang="en-US" dirty="0"/>
          </a:p>
        </p:txBody>
      </p:sp>
      <p:sp>
        <p:nvSpPr>
          <p:cNvPr id="3" name="Title 2"/>
          <p:cNvSpPr>
            <a:spLocks noGrp="1"/>
          </p:cNvSpPr>
          <p:nvPr>
            <p:ph type="title"/>
          </p:nvPr>
        </p:nvSpPr>
        <p:spPr/>
        <p:txBody>
          <a:bodyPr/>
          <a:lstStyle/>
          <a:p>
            <a:r>
              <a:rPr lang="en-US" dirty="0" smtClean="0"/>
              <a:t>WTO (sequence)</a:t>
            </a:r>
            <a:endParaRPr lang="en-US" dirty="0"/>
          </a:p>
        </p:txBody>
      </p:sp>
    </p:spTree>
    <p:extLst>
      <p:ext uri="{BB962C8B-B14F-4D97-AF65-F5344CB8AC3E}">
        <p14:creationId xmlns:p14="http://schemas.microsoft.com/office/powerpoint/2010/main" xmlns="" val="17873034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38200"/>
            <a:ext cx="8229600" cy="5169091"/>
          </a:xfrm>
        </p:spPr>
        <p:txBody>
          <a:bodyPr>
            <a:normAutofit lnSpcReduction="10000"/>
          </a:bodyPr>
          <a:lstStyle/>
          <a:p>
            <a:pPr algn="just"/>
            <a:endParaRPr lang="en-US" sz="2400" dirty="0">
              <a:latin typeface="Arial" pitchFamily="34" charset="0"/>
              <a:cs typeface="Arial" pitchFamily="34" charset="0"/>
            </a:endParaRPr>
          </a:p>
          <a:p>
            <a:pPr marL="0" lvl="1" indent="0" algn="just">
              <a:buNone/>
            </a:pPr>
            <a:r>
              <a:rPr lang="en-US" sz="2400" dirty="0">
                <a:latin typeface="Arial" pitchFamily="34" charset="0"/>
                <a:cs typeface="Arial" pitchFamily="34" charset="0"/>
              </a:rPr>
              <a:t>The </a:t>
            </a:r>
            <a:r>
              <a:rPr lang="en-US" sz="2400" dirty="0" smtClean="0">
                <a:latin typeface="Arial" pitchFamily="34" charset="0"/>
                <a:cs typeface="Arial" pitchFamily="34" charset="0"/>
              </a:rPr>
              <a:t>WTO </a:t>
            </a:r>
            <a:r>
              <a:rPr lang="en-US" sz="2400" dirty="0">
                <a:latin typeface="Arial" pitchFamily="34" charset="0"/>
                <a:cs typeface="Arial" pitchFamily="34" charset="0"/>
              </a:rPr>
              <a:t>is an international organization that focuses on the regulation of trade between nations. </a:t>
            </a:r>
            <a:r>
              <a:rPr lang="en-US" sz="2400" dirty="0" smtClean="0">
                <a:latin typeface="Arial" pitchFamily="34" charset="0"/>
                <a:cs typeface="Arial" pitchFamily="34" charset="0"/>
              </a:rPr>
              <a:t>It has four </a:t>
            </a:r>
            <a:r>
              <a:rPr lang="en-US" sz="2400" dirty="0">
                <a:latin typeface="Arial" pitchFamily="34" charset="0"/>
                <a:cs typeface="Arial" pitchFamily="34" charset="0"/>
              </a:rPr>
              <a:t>major responsibilities: </a:t>
            </a:r>
            <a:endParaRPr lang="en-US" sz="2400" dirty="0" smtClean="0">
              <a:latin typeface="Arial" pitchFamily="34" charset="0"/>
              <a:cs typeface="Arial" pitchFamily="34" charset="0"/>
            </a:endParaRPr>
          </a:p>
          <a:p>
            <a:pPr marL="0" lvl="1" indent="0" algn="just">
              <a:buNone/>
            </a:pPr>
            <a:endParaRPr lang="en-US" sz="2400" dirty="0" smtClean="0">
              <a:latin typeface="Arial" pitchFamily="34" charset="0"/>
              <a:cs typeface="Arial" pitchFamily="34" charset="0"/>
            </a:endParaRPr>
          </a:p>
          <a:p>
            <a:pPr lvl="1" algn="just">
              <a:lnSpc>
                <a:spcPct val="150000"/>
              </a:lnSpc>
            </a:pPr>
            <a:r>
              <a:rPr lang="en-US" sz="2400" dirty="0" smtClean="0">
                <a:latin typeface="Arial" pitchFamily="34" charset="0"/>
                <a:cs typeface="Arial" pitchFamily="34" charset="0"/>
              </a:rPr>
              <a:t>Manage </a:t>
            </a:r>
            <a:r>
              <a:rPr lang="en-US" sz="2400" dirty="0">
                <a:latin typeface="Arial" pitchFamily="34" charset="0"/>
                <a:cs typeface="Arial" pitchFamily="34" charset="0"/>
              </a:rPr>
              <a:t>trade agreements, </a:t>
            </a:r>
            <a:endParaRPr lang="en-US" sz="2400" dirty="0" smtClean="0">
              <a:latin typeface="Arial" pitchFamily="34" charset="0"/>
              <a:cs typeface="Arial" pitchFamily="34" charset="0"/>
            </a:endParaRPr>
          </a:p>
          <a:p>
            <a:pPr lvl="1" algn="just">
              <a:lnSpc>
                <a:spcPct val="150000"/>
              </a:lnSpc>
            </a:pPr>
            <a:r>
              <a:rPr lang="en-US" sz="2400" dirty="0" smtClean="0">
                <a:latin typeface="Arial" pitchFamily="34" charset="0"/>
                <a:cs typeface="Arial" pitchFamily="34" charset="0"/>
              </a:rPr>
              <a:t>Oversee </a:t>
            </a:r>
            <a:r>
              <a:rPr lang="en-US" sz="2400" dirty="0">
                <a:latin typeface="Arial" pitchFamily="34" charset="0"/>
                <a:cs typeface="Arial" pitchFamily="34" charset="0"/>
              </a:rPr>
              <a:t>trade policies, </a:t>
            </a:r>
            <a:endParaRPr lang="en-US" sz="2400" dirty="0" smtClean="0">
              <a:latin typeface="Arial" pitchFamily="34" charset="0"/>
              <a:cs typeface="Arial" pitchFamily="34" charset="0"/>
            </a:endParaRPr>
          </a:p>
          <a:p>
            <a:pPr lvl="1" algn="just">
              <a:lnSpc>
                <a:spcPct val="150000"/>
              </a:lnSpc>
            </a:pPr>
            <a:r>
              <a:rPr lang="en-US" sz="2400" dirty="0" smtClean="0">
                <a:latin typeface="Arial" pitchFamily="34" charset="0"/>
                <a:cs typeface="Arial" pitchFamily="34" charset="0"/>
              </a:rPr>
              <a:t>Offer </a:t>
            </a:r>
            <a:r>
              <a:rPr lang="en-US" sz="2400" dirty="0">
                <a:latin typeface="Arial" pitchFamily="34" charset="0"/>
                <a:cs typeface="Arial" pitchFamily="34" charset="0"/>
              </a:rPr>
              <a:t>an environment for trade negotiations </a:t>
            </a:r>
            <a:r>
              <a:rPr lang="en-US" sz="2400" dirty="0" smtClean="0">
                <a:latin typeface="Arial" pitchFamily="34" charset="0"/>
                <a:cs typeface="Arial" pitchFamily="34" charset="0"/>
              </a:rPr>
              <a:t>and </a:t>
            </a:r>
            <a:r>
              <a:rPr lang="en-US" sz="2400" dirty="0">
                <a:latin typeface="Arial" pitchFamily="34" charset="0"/>
                <a:cs typeface="Arial" pitchFamily="34" charset="0"/>
              </a:rPr>
              <a:t>dispute resolutions, </a:t>
            </a:r>
            <a:endParaRPr lang="en-US" sz="2400" dirty="0" smtClean="0">
              <a:latin typeface="Arial" pitchFamily="34" charset="0"/>
              <a:cs typeface="Arial" pitchFamily="34" charset="0"/>
            </a:endParaRPr>
          </a:p>
          <a:p>
            <a:pPr lvl="1" algn="just">
              <a:lnSpc>
                <a:spcPct val="150000"/>
              </a:lnSpc>
            </a:pPr>
            <a:r>
              <a:rPr lang="en-US" sz="2400" dirty="0" smtClean="0">
                <a:latin typeface="Arial" pitchFamily="34" charset="0"/>
                <a:cs typeface="Arial" pitchFamily="34" charset="0"/>
              </a:rPr>
              <a:t>Give </a:t>
            </a:r>
            <a:r>
              <a:rPr lang="en-US" sz="2400" dirty="0">
                <a:latin typeface="Arial" pitchFamily="34" charset="0"/>
                <a:cs typeface="Arial" pitchFamily="34" charset="0"/>
              </a:rPr>
              <a:t>technical assistance and training for developing countries.</a:t>
            </a:r>
          </a:p>
          <a:p>
            <a:pPr algn="just"/>
            <a:endParaRPr lang="en-US" sz="2400" dirty="0">
              <a:latin typeface="Arial" pitchFamily="34" charset="0"/>
              <a:cs typeface="Arial" pitchFamily="34" charset="0"/>
            </a:endParaRPr>
          </a:p>
        </p:txBody>
      </p:sp>
      <p:sp>
        <p:nvSpPr>
          <p:cNvPr id="2" name="Title 1"/>
          <p:cNvSpPr>
            <a:spLocks noGrp="1"/>
          </p:cNvSpPr>
          <p:nvPr>
            <p:ph type="title"/>
          </p:nvPr>
        </p:nvSpPr>
        <p:spPr>
          <a:xfrm>
            <a:off x="457200" y="274638"/>
            <a:ext cx="8229600" cy="639762"/>
          </a:xfrm>
        </p:spPr>
        <p:txBody>
          <a:bodyPr>
            <a:normAutofit fontScale="90000"/>
          </a:bodyPr>
          <a:lstStyle/>
          <a:p>
            <a:r>
              <a:rPr lang="en-US" sz="3600" dirty="0" smtClean="0">
                <a:solidFill>
                  <a:schemeClr val="tx1"/>
                </a:solidFill>
                <a:effectLst/>
                <a:latin typeface="Arial" pitchFamily="34" charset="0"/>
                <a:cs typeface="Arial" pitchFamily="34" charset="0"/>
              </a:rPr>
              <a:t>Introduction</a:t>
            </a:r>
            <a:endParaRPr lang="en-US" sz="3600" dirty="0">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xmlns="" val="21418914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457200" lvl="1" indent="0" algn="just">
              <a:lnSpc>
                <a:spcPct val="150000"/>
              </a:lnSpc>
              <a:buNone/>
            </a:pPr>
            <a:r>
              <a:rPr lang="en-US" sz="2400" dirty="0" smtClean="0">
                <a:latin typeface="Arial" pitchFamily="34" charset="0"/>
                <a:cs typeface="Arial" pitchFamily="34" charset="0"/>
              </a:rPr>
              <a:t>The </a:t>
            </a:r>
            <a:r>
              <a:rPr lang="en-US" sz="2400" dirty="0">
                <a:latin typeface="Arial" pitchFamily="34" charset="0"/>
                <a:cs typeface="Arial" pitchFamily="34" charset="0"/>
              </a:rPr>
              <a:t>WTO was created in 1995 and currently has its headquarters are in Geneva, Switzerland. As of September 2009, there are 153 member countries, with 30 countries listed as observers in the WTO; countries must be observers for 5 years before applying for membership to the WTO.</a:t>
            </a:r>
          </a:p>
          <a:p>
            <a:endParaRPr lang="en-US" dirty="0"/>
          </a:p>
        </p:txBody>
      </p:sp>
      <p:sp>
        <p:nvSpPr>
          <p:cNvPr id="2" name="Title 1"/>
          <p:cNvSpPr>
            <a:spLocks noGrp="1"/>
          </p:cNvSpPr>
          <p:nvPr>
            <p:ph type="title"/>
          </p:nvPr>
        </p:nvSpPr>
        <p:spPr/>
        <p:txBody>
          <a:bodyPr>
            <a:normAutofit fontScale="90000"/>
          </a:bodyPr>
          <a:lstStyle/>
          <a:p>
            <a:r>
              <a:rPr lang="en-US" sz="4000" dirty="0" smtClean="0">
                <a:solidFill>
                  <a:schemeClr val="tx1"/>
                </a:solidFill>
                <a:latin typeface="Arial" pitchFamily="34" charset="0"/>
                <a:cs typeface="Arial" pitchFamily="34" charset="0"/>
              </a:rPr>
              <a:t>History and Organization of the WTO</a:t>
            </a:r>
            <a:r>
              <a:rPr lang="en-US" dirty="0" smtClean="0"/>
              <a:t/>
            </a:r>
            <a:br>
              <a:rPr lang="en-US" dirty="0" smtClean="0"/>
            </a:br>
            <a:endParaRPr lang="en-US" dirty="0"/>
          </a:p>
        </p:txBody>
      </p:sp>
    </p:spTree>
    <p:extLst>
      <p:ext uri="{BB962C8B-B14F-4D97-AF65-F5344CB8AC3E}">
        <p14:creationId xmlns:p14="http://schemas.microsoft.com/office/powerpoint/2010/main" xmlns="" val="6835717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1026"/>
          <p:cNvSpPr>
            <a:spLocks noGrp="1" noChangeArrowheads="1"/>
          </p:cNvSpPr>
          <p:nvPr>
            <p:ph type="title"/>
          </p:nvPr>
        </p:nvSpPr>
        <p:spPr>
          <a:xfrm>
            <a:off x="685800" y="304800"/>
            <a:ext cx="7467600" cy="990600"/>
          </a:xfrm>
        </p:spPr>
        <p:txBody>
          <a:bodyPr>
            <a:normAutofit/>
          </a:bodyPr>
          <a:lstStyle/>
          <a:p>
            <a:r>
              <a:rPr lang="en-US" sz="3600" dirty="0">
                <a:solidFill>
                  <a:schemeClr val="tx1"/>
                </a:solidFill>
                <a:effectLst/>
                <a:latin typeface="Arial" pitchFamily="34" charset="0"/>
                <a:cs typeface="Arial" pitchFamily="34" charset="0"/>
              </a:rPr>
              <a:t>WTO Current Structure</a:t>
            </a:r>
          </a:p>
        </p:txBody>
      </p:sp>
      <p:grpSp>
        <p:nvGrpSpPr>
          <p:cNvPr id="2" name="Group 1030"/>
          <p:cNvGrpSpPr>
            <a:grpSpLocks/>
          </p:cNvGrpSpPr>
          <p:nvPr/>
        </p:nvGrpSpPr>
        <p:grpSpPr bwMode="auto">
          <a:xfrm>
            <a:off x="762000" y="1219200"/>
            <a:ext cx="7772400" cy="4800600"/>
            <a:chOff x="0" y="0"/>
            <a:chExt cx="2592" cy="2152"/>
          </a:xfrm>
        </p:grpSpPr>
        <p:sp>
          <p:nvSpPr>
            <p:cNvPr id="90119" name="Rectangle 1031"/>
            <p:cNvSpPr>
              <a:spLocks noChangeArrowheads="1"/>
            </p:cNvSpPr>
            <p:nvPr/>
          </p:nvSpPr>
          <p:spPr bwMode="auto">
            <a:xfrm>
              <a:off x="0" y="0"/>
              <a:ext cx="2109" cy="0"/>
            </a:xfrm>
            <a:prstGeom prst="rect">
              <a:avLst/>
            </a:prstGeom>
            <a:noFill/>
            <a:ln w="9525">
              <a:noFill/>
              <a:miter lim="800000"/>
              <a:headEnd/>
              <a:tailEnd/>
            </a:ln>
            <a:effectLst/>
          </p:spPr>
          <p:txBody>
            <a:bodyPr>
              <a:spAutoFit/>
            </a:bodyPr>
            <a:lstStyle/>
            <a:p>
              <a:endParaRPr lang="en-US" dirty="0"/>
            </a:p>
          </p:txBody>
        </p:sp>
        <p:grpSp>
          <p:nvGrpSpPr>
            <p:cNvPr id="3" name="Group 1032"/>
            <p:cNvGrpSpPr>
              <a:grpSpLocks/>
            </p:cNvGrpSpPr>
            <p:nvPr/>
          </p:nvGrpSpPr>
          <p:grpSpPr bwMode="auto">
            <a:xfrm>
              <a:off x="0" y="0"/>
              <a:ext cx="2592" cy="2152"/>
              <a:chOff x="0" y="0"/>
              <a:chExt cx="2592" cy="2152"/>
            </a:xfrm>
          </p:grpSpPr>
          <p:sp>
            <p:nvSpPr>
              <p:cNvPr id="90121" name="Rectangle 1033"/>
              <p:cNvSpPr>
                <a:spLocks noChangeArrowheads="1" noTextEdit="1"/>
              </p:cNvSpPr>
              <p:nvPr/>
            </p:nvSpPr>
            <p:spPr bwMode="auto">
              <a:xfrm>
                <a:off x="0" y="0"/>
                <a:ext cx="502" cy="538"/>
              </a:xfrm>
              <a:prstGeom prst="rect">
                <a:avLst/>
              </a:prstGeom>
              <a:noFill/>
              <a:ln w="9525">
                <a:noFill/>
                <a:miter lim="800000"/>
                <a:headEnd/>
                <a:tailEnd/>
              </a:ln>
              <a:effectLst/>
            </p:spPr>
            <p:txBody>
              <a:bodyPr anchor="b">
                <a:spAutoFit/>
              </a:bodyPr>
              <a:lstStyle/>
              <a:p>
                <a:endParaRPr lang="en-US" dirty="0"/>
              </a:p>
            </p:txBody>
          </p:sp>
          <p:sp>
            <p:nvSpPr>
              <p:cNvPr id="90122" name="Rectangle 1034"/>
              <p:cNvSpPr>
                <a:spLocks noChangeArrowheads="1"/>
              </p:cNvSpPr>
              <p:nvPr/>
            </p:nvSpPr>
            <p:spPr bwMode="auto">
              <a:xfrm>
                <a:off x="502" y="0"/>
                <a:ext cx="534" cy="538"/>
              </a:xfrm>
              <a:prstGeom prst="rect">
                <a:avLst/>
              </a:prstGeom>
              <a:noFill/>
              <a:ln w="9525">
                <a:noFill/>
                <a:miter lim="800000"/>
                <a:headEnd/>
                <a:tailEnd/>
              </a:ln>
              <a:effectLst/>
            </p:spPr>
            <p:txBody>
              <a:bodyPr anchor="b"/>
              <a:lstStyle/>
              <a:p>
                <a:r>
                  <a:rPr lang="en-US" sz="2400" b="1" dirty="0">
                    <a:solidFill>
                      <a:srgbClr val="FF8000"/>
                    </a:solidFill>
                    <a:latin typeface="Trebuchet MS" pitchFamily="34" charset="0"/>
                  </a:rPr>
                  <a:t>Goods</a:t>
                </a:r>
                <a:endParaRPr lang="en-US" sz="2400" dirty="0">
                  <a:solidFill>
                    <a:schemeClr val="tx1"/>
                  </a:solidFill>
                </a:endParaRPr>
              </a:p>
            </p:txBody>
          </p:sp>
          <p:sp>
            <p:nvSpPr>
              <p:cNvPr id="90123" name="Rectangle 1035"/>
              <p:cNvSpPr>
                <a:spLocks noChangeArrowheads="1"/>
              </p:cNvSpPr>
              <p:nvPr/>
            </p:nvSpPr>
            <p:spPr bwMode="auto">
              <a:xfrm>
                <a:off x="1036" y="0"/>
                <a:ext cx="534" cy="538"/>
              </a:xfrm>
              <a:prstGeom prst="rect">
                <a:avLst/>
              </a:prstGeom>
              <a:noFill/>
              <a:ln w="9525">
                <a:noFill/>
                <a:miter lim="800000"/>
                <a:headEnd/>
                <a:tailEnd/>
              </a:ln>
              <a:effectLst/>
            </p:spPr>
            <p:txBody>
              <a:bodyPr anchor="b"/>
              <a:lstStyle/>
              <a:p>
                <a:r>
                  <a:rPr lang="en-US" sz="2400" b="1" dirty="0">
                    <a:solidFill>
                      <a:srgbClr val="408080"/>
                    </a:solidFill>
                    <a:latin typeface="Trebuchet MS" pitchFamily="34" charset="0"/>
                  </a:rPr>
                  <a:t>Services</a:t>
                </a:r>
                <a:endParaRPr lang="en-US" sz="2400" dirty="0">
                  <a:solidFill>
                    <a:schemeClr val="tx1"/>
                  </a:solidFill>
                </a:endParaRPr>
              </a:p>
            </p:txBody>
          </p:sp>
          <p:sp>
            <p:nvSpPr>
              <p:cNvPr id="90124" name="Rectangle 1036"/>
              <p:cNvSpPr>
                <a:spLocks noChangeArrowheads="1"/>
              </p:cNvSpPr>
              <p:nvPr/>
            </p:nvSpPr>
            <p:spPr bwMode="auto">
              <a:xfrm>
                <a:off x="1570" y="0"/>
                <a:ext cx="508" cy="538"/>
              </a:xfrm>
              <a:prstGeom prst="rect">
                <a:avLst/>
              </a:prstGeom>
              <a:noFill/>
              <a:ln w="9525">
                <a:noFill/>
                <a:miter lim="800000"/>
                <a:headEnd/>
                <a:tailEnd/>
              </a:ln>
              <a:effectLst/>
            </p:spPr>
            <p:txBody>
              <a:bodyPr anchor="b"/>
              <a:lstStyle/>
              <a:p>
                <a:r>
                  <a:rPr lang="en-US" sz="1700" b="1" dirty="0">
                    <a:solidFill>
                      <a:srgbClr val="000080"/>
                    </a:solidFill>
                    <a:latin typeface="Trebuchet MS" pitchFamily="34" charset="0"/>
                  </a:rPr>
                  <a:t>Intellectual property</a:t>
                </a:r>
                <a:endParaRPr lang="en-US" sz="1700" dirty="0">
                  <a:solidFill>
                    <a:schemeClr val="tx1"/>
                  </a:solidFill>
                </a:endParaRPr>
              </a:p>
            </p:txBody>
          </p:sp>
          <p:sp>
            <p:nvSpPr>
              <p:cNvPr id="90125" name="Rectangle 1037"/>
              <p:cNvSpPr>
                <a:spLocks noChangeArrowheads="1"/>
              </p:cNvSpPr>
              <p:nvPr/>
            </p:nvSpPr>
            <p:spPr bwMode="auto">
              <a:xfrm>
                <a:off x="2078" y="0"/>
                <a:ext cx="514" cy="538"/>
              </a:xfrm>
              <a:prstGeom prst="rect">
                <a:avLst/>
              </a:prstGeom>
              <a:noFill/>
              <a:ln w="9525">
                <a:noFill/>
                <a:miter lim="800000"/>
                <a:headEnd/>
                <a:tailEnd/>
              </a:ln>
              <a:effectLst/>
            </p:spPr>
            <p:txBody>
              <a:bodyPr anchor="b"/>
              <a:lstStyle/>
              <a:p>
                <a:r>
                  <a:rPr lang="en-US" sz="2400" b="1" dirty="0">
                    <a:solidFill>
                      <a:srgbClr val="800000"/>
                    </a:solidFill>
                    <a:latin typeface="Trebuchet MS" pitchFamily="34" charset="0"/>
                  </a:rPr>
                  <a:t>Disputes</a:t>
                </a:r>
                <a:endParaRPr lang="en-US" sz="2400" dirty="0">
                  <a:solidFill>
                    <a:schemeClr val="tx1"/>
                  </a:solidFill>
                </a:endParaRPr>
              </a:p>
            </p:txBody>
          </p:sp>
          <p:sp>
            <p:nvSpPr>
              <p:cNvPr id="90126" name="Rectangle 1038"/>
              <p:cNvSpPr>
                <a:spLocks noChangeArrowheads="1"/>
              </p:cNvSpPr>
              <p:nvPr/>
            </p:nvSpPr>
            <p:spPr bwMode="auto">
              <a:xfrm>
                <a:off x="0" y="538"/>
                <a:ext cx="502" cy="538"/>
              </a:xfrm>
              <a:prstGeom prst="rect">
                <a:avLst/>
              </a:prstGeom>
              <a:noFill/>
              <a:ln w="9525">
                <a:noFill/>
                <a:miter lim="800000"/>
                <a:headEnd/>
                <a:tailEnd/>
              </a:ln>
              <a:effectLst/>
            </p:spPr>
            <p:txBody>
              <a:bodyPr/>
              <a:lstStyle/>
              <a:p>
                <a:pPr algn="r"/>
                <a:endParaRPr lang="en-US" sz="1000" b="1" i="1" dirty="0">
                  <a:solidFill>
                    <a:schemeClr val="tx1"/>
                  </a:solidFill>
                  <a:latin typeface="Trebuchet MS" pitchFamily="34" charset="0"/>
                </a:endParaRPr>
              </a:p>
              <a:p>
                <a:pPr algn="r"/>
                <a:endParaRPr lang="en-US" sz="1000" b="1" i="1" dirty="0">
                  <a:solidFill>
                    <a:schemeClr val="tx1"/>
                  </a:solidFill>
                  <a:latin typeface="Trebuchet MS" pitchFamily="34" charset="0"/>
                </a:endParaRPr>
              </a:p>
              <a:p>
                <a:pPr algn="r"/>
                <a:r>
                  <a:rPr lang="en-US" sz="2000" b="1" i="1" dirty="0">
                    <a:solidFill>
                      <a:schemeClr val="tx1"/>
                    </a:solidFill>
                    <a:latin typeface="Trebuchet MS" pitchFamily="34" charset="0"/>
                  </a:rPr>
                  <a:t>Basic principles</a:t>
                </a:r>
                <a:endParaRPr lang="en-US" sz="2000" dirty="0">
                  <a:solidFill>
                    <a:schemeClr val="tx1"/>
                  </a:solidFill>
                </a:endParaRPr>
              </a:p>
            </p:txBody>
          </p:sp>
          <p:grpSp>
            <p:nvGrpSpPr>
              <p:cNvPr id="4" name="Group 1039"/>
              <p:cNvGrpSpPr>
                <a:grpSpLocks/>
              </p:cNvGrpSpPr>
              <p:nvPr/>
            </p:nvGrpSpPr>
            <p:grpSpPr bwMode="auto">
              <a:xfrm>
                <a:off x="502" y="538"/>
                <a:ext cx="534" cy="538"/>
                <a:chOff x="502" y="538"/>
                <a:chExt cx="534" cy="538"/>
              </a:xfrm>
            </p:grpSpPr>
            <p:sp>
              <p:nvSpPr>
                <p:cNvPr id="90128" name="Rectangle 1040"/>
                <p:cNvSpPr>
                  <a:spLocks noChangeArrowheads="1"/>
                </p:cNvSpPr>
                <p:nvPr/>
              </p:nvSpPr>
              <p:spPr bwMode="auto">
                <a:xfrm>
                  <a:off x="502" y="538"/>
                  <a:ext cx="534" cy="538"/>
                </a:xfrm>
                <a:prstGeom prst="rect">
                  <a:avLst/>
                </a:prstGeom>
                <a:solidFill>
                  <a:srgbClr val="FFCC99"/>
                </a:solidFill>
                <a:ln w="9525">
                  <a:noFill/>
                  <a:miter lim="800000"/>
                  <a:headEnd/>
                  <a:tailEnd/>
                </a:ln>
                <a:effectLst/>
              </p:spPr>
              <p:txBody>
                <a:bodyPr/>
                <a:lstStyle/>
                <a:p>
                  <a:endParaRPr lang="en-US" dirty="0"/>
                </a:p>
              </p:txBody>
            </p:sp>
            <p:sp>
              <p:nvSpPr>
                <p:cNvPr id="90129" name="Rectangle 1041"/>
                <p:cNvSpPr>
                  <a:spLocks noChangeArrowheads="1"/>
                </p:cNvSpPr>
                <p:nvPr/>
              </p:nvSpPr>
              <p:spPr bwMode="auto">
                <a:xfrm>
                  <a:off x="502" y="538"/>
                  <a:ext cx="534" cy="538"/>
                </a:xfrm>
                <a:prstGeom prst="rect">
                  <a:avLst/>
                </a:prstGeom>
                <a:solidFill>
                  <a:srgbClr val="FFCC99"/>
                </a:solidFill>
                <a:ln w="9525">
                  <a:noFill/>
                  <a:miter lim="800000"/>
                  <a:headEnd/>
                  <a:tailEnd/>
                </a:ln>
                <a:effectLst/>
              </p:spPr>
              <p:txBody>
                <a:bodyPr/>
                <a:lstStyle/>
                <a:p>
                  <a:endParaRPr lang="en-US" sz="2600" b="1" dirty="0">
                    <a:solidFill>
                      <a:schemeClr val="tx1"/>
                    </a:solidFill>
                    <a:latin typeface="Trebuchet MS" pitchFamily="34" charset="0"/>
                  </a:endParaRPr>
                </a:p>
                <a:p>
                  <a:r>
                    <a:rPr lang="en-US" sz="2600" b="1" dirty="0">
                      <a:solidFill>
                        <a:schemeClr val="tx1"/>
                      </a:solidFill>
                      <a:latin typeface="Trebuchet MS" pitchFamily="34" charset="0"/>
                    </a:rPr>
                    <a:t>GATT</a:t>
                  </a:r>
                  <a:endParaRPr lang="en-US" sz="2600" dirty="0">
                    <a:solidFill>
                      <a:schemeClr val="tx1"/>
                    </a:solidFill>
                  </a:endParaRPr>
                </a:p>
              </p:txBody>
            </p:sp>
          </p:grpSp>
          <p:grpSp>
            <p:nvGrpSpPr>
              <p:cNvPr id="5" name="Group 1042"/>
              <p:cNvGrpSpPr>
                <a:grpSpLocks/>
              </p:cNvGrpSpPr>
              <p:nvPr/>
            </p:nvGrpSpPr>
            <p:grpSpPr bwMode="auto">
              <a:xfrm>
                <a:off x="1036" y="538"/>
                <a:ext cx="534" cy="538"/>
                <a:chOff x="1036" y="538"/>
                <a:chExt cx="534" cy="538"/>
              </a:xfrm>
            </p:grpSpPr>
            <p:sp>
              <p:nvSpPr>
                <p:cNvPr id="90131" name="Rectangle 1043"/>
                <p:cNvSpPr>
                  <a:spLocks noChangeArrowheads="1"/>
                </p:cNvSpPr>
                <p:nvPr/>
              </p:nvSpPr>
              <p:spPr bwMode="auto">
                <a:xfrm>
                  <a:off x="1036" y="538"/>
                  <a:ext cx="534" cy="538"/>
                </a:xfrm>
                <a:prstGeom prst="rect">
                  <a:avLst/>
                </a:prstGeom>
                <a:solidFill>
                  <a:srgbClr val="99CC99"/>
                </a:solidFill>
                <a:ln w="9525">
                  <a:noFill/>
                  <a:miter lim="800000"/>
                  <a:headEnd/>
                  <a:tailEnd/>
                </a:ln>
                <a:effectLst/>
              </p:spPr>
              <p:txBody>
                <a:bodyPr/>
                <a:lstStyle/>
                <a:p>
                  <a:endParaRPr lang="en-US" dirty="0"/>
                </a:p>
              </p:txBody>
            </p:sp>
            <p:sp>
              <p:nvSpPr>
                <p:cNvPr id="90132" name="Rectangle 1044"/>
                <p:cNvSpPr>
                  <a:spLocks noChangeArrowheads="1"/>
                </p:cNvSpPr>
                <p:nvPr/>
              </p:nvSpPr>
              <p:spPr bwMode="auto">
                <a:xfrm>
                  <a:off x="1036" y="538"/>
                  <a:ext cx="534" cy="538"/>
                </a:xfrm>
                <a:prstGeom prst="rect">
                  <a:avLst/>
                </a:prstGeom>
                <a:solidFill>
                  <a:srgbClr val="99CC99"/>
                </a:solidFill>
                <a:ln w="9525">
                  <a:noFill/>
                  <a:miter lim="800000"/>
                  <a:headEnd/>
                  <a:tailEnd/>
                </a:ln>
                <a:effectLst/>
              </p:spPr>
              <p:txBody>
                <a:bodyPr/>
                <a:lstStyle/>
                <a:p>
                  <a:endParaRPr lang="en-US" sz="2600" b="1" dirty="0">
                    <a:solidFill>
                      <a:schemeClr val="tx1"/>
                    </a:solidFill>
                    <a:latin typeface="Trebuchet MS" pitchFamily="34" charset="0"/>
                  </a:endParaRPr>
                </a:p>
                <a:p>
                  <a:r>
                    <a:rPr lang="en-US" sz="2600" b="1" dirty="0">
                      <a:solidFill>
                        <a:schemeClr val="tx1"/>
                      </a:solidFill>
                      <a:latin typeface="Trebuchet MS" pitchFamily="34" charset="0"/>
                    </a:rPr>
                    <a:t>GATS</a:t>
                  </a:r>
                  <a:endParaRPr lang="en-US" sz="2600" dirty="0">
                    <a:solidFill>
                      <a:schemeClr val="tx1"/>
                    </a:solidFill>
                  </a:endParaRPr>
                </a:p>
              </p:txBody>
            </p:sp>
          </p:grpSp>
          <p:grpSp>
            <p:nvGrpSpPr>
              <p:cNvPr id="6" name="Group 1045"/>
              <p:cNvGrpSpPr>
                <a:grpSpLocks/>
              </p:cNvGrpSpPr>
              <p:nvPr/>
            </p:nvGrpSpPr>
            <p:grpSpPr bwMode="auto">
              <a:xfrm>
                <a:off x="1570" y="538"/>
                <a:ext cx="508" cy="538"/>
                <a:chOff x="1570" y="538"/>
                <a:chExt cx="508" cy="538"/>
              </a:xfrm>
            </p:grpSpPr>
            <p:sp>
              <p:nvSpPr>
                <p:cNvPr id="90134" name="Rectangle 1046"/>
                <p:cNvSpPr>
                  <a:spLocks noChangeArrowheads="1"/>
                </p:cNvSpPr>
                <p:nvPr/>
              </p:nvSpPr>
              <p:spPr bwMode="auto">
                <a:xfrm>
                  <a:off x="1570" y="538"/>
                  <a:ext cx="508" cy="538"/>
                </a:xfrm>
                <a:prstGeom prst="rect">
                  <a:avLst/>
                </a:prstGeom>
                <a:solidFill>
                  <a:srgbClr val="0080C0"/>
                </a:solidFill>
                <a:ln w="9525">
                  <a:noFill/>
                  <a:miter lim="800000"/>
                  <a:headEnd/>
                  <a:tailEnd/>
                </a:ln>
                <a:effectLst/>
              </p:spPr>
              <p:txBody>
                <a:bodyPr/>
                <a:lstStyle/>
                <a:p>
                  <a:endParaRPr lang="en-US" dirty="0"/>
                </a:p>
              </p:txBody>
            </p:sp>
            <p:sp>
              <p:nvSpPr>
                <p:cNvPr id="90135" name="Rectangle 1047"/>
                <p:cNvSpPr>
                  <a:spLocks noChangeArrowheads="1"/>
                </p:cNvSpPr>
                <p:nvPr/>
              </p:nvSpPr>
              <p:spPr bwMode="auto">
                <a:xfrm>
                  <a:off x="1570" y="538"/>
                  <a:ext cx="508" cy="538"/>
                </a:xfrm>
                <a:prstGeom prst="rect">
                  <a:avLst/>
                </a:prstGeom>
                <a:solidFill>
                  <a:srgbClr val="0080C0"/>
                </a:solidFill>
                <a:ln w="9525">
                  <a:noFill/>
                  <a:miter lim="800000"/>
                  <a:headEnd/>
                  <a:tailEnd/>
                </a:ln>
                <a:effectLst/>
              </p:spPr>
              <p:txBody>
                <a:bodyPr/>
                <a:lstStyle/>
                <a:p>
                  <a:endParaRPr lang="en-US" sz="2600" b="1" dirty="0">
                    <a:solidFill>
                      <a:schemeClr val="tx1"/>
                    </a:solidFill>
                    <a:latin typeface="Trebuchet MS" pitchFamily="34" charset="0"/>
                  </a:endParaRPr>
                </a:p>
                <a:p>
                  <a:r>
                    <a:rPr lang="en-US" sz="2600" b="1" dirty="0">
                      <a:solidFill>
                        <a:schemeClr val="tx1"/>
                      </a:solidFill>
                      <a:latin typeface="Trebuchet MS" pitchFamily="34" charset="0"/>
                    </a:rPr>
                    <a:t>TRIPS</a:t>
                  </a:r>
                  <a:endParaRPr lang="en-US" sz="2600" dirty="0">
                    <a:solidFill>
                      <a:schemeClr val="tx1"/>
                    </a:solidFill>
                  </a:endParaRPr>
                </a:p>
              </p:txBody>
            </p:sp>
          </p:grpSp>
          <p:grpSp>
            <p:nvGrpSpPr>
              <p:cNvPr id="7" name="Group 1048"/>
              <p:cNvGrpSpPr>
                <a:grpSpLocks/>
              </p:cNvGrpSpPr>
              <p:nvPr/>
            </p:nvGrpSpPr>
            <p:grpSpPr bwMode="auto">
              <a:xfrm>
                <a:off x="2078" y="538"/>
                <a:ext cx="514" cy="538"/>
                <a:chOff x="2078" y="538"/>
                <a:chExt cx="514" cy="538"/>
              </a:xfrm>
            </p:grpSpPr>
            <p:sp>
              <p:nvSpPr>
                <p:cNvPr id="90137" name="Rectangle 1049"/>
                <p:cNvSpPr>
                  <a:spLocks noChangeArrowheads="1"/>
                </p:cNvSpPr>
                <p:nvPr/>
              </p:nvSpPr>
              <p:spPr bwMode="auto">
                <a:xfrm>
                  <a:off x="2078" y="538"/>
                  <a:ext cx="514" cy="538"/>
                </a:xfrm>
                <a:prstGeom prst="rect">
                  <a:avLst/>
                </a:prstGeom>
                <a:solidFill>
                  <a:srgbClr val="996666"/>
                </a:solidFill>
                <a:ln w="9525">
                  <a:noFill/>
                  <a:miter lim="800000"/>
                  <a:headEnd/>
                  <a:tailEnd/>
                </a:ln>
                <a:effectLst/>
              </p:spPr>
              <p:txBody>
                <a:bodyPr/>
                <a:lstStyle/>
                <a:p>
                  <a:endParaRPr lang="en-US" dirty="0"/>
                </a:p>
              </p:txBody>
            </p:sp>
            <p:sp>
              <p:nvSpPr>
                <p:cNvPr id="90138" name="Rectangle 1050"/>
                <p:cNvSpPr>
                  <a:spLocks noChangeArrowheads="1"/>
                </p:cNvSpPr>
                <p:nvPr/>
              </p:nvSpPr>
              <p:spPr bwMode="auto">
                <a:xfrm>
                  <a:off x="2078" y="538"/>
                  <a:ext cx="514" cy="538"/>
                </a:xfrm>
                <a:prstGeom prst="rect">
                  <a:avLst/>
                </a:prstGeom>
                <a:solidFill>
                  <a:srgbClr val="996666"/>
                </a:solidFill>
                <a:ln w="9525">
                  <a:noFill/>
                  <a:miter lim="800000"/>
                  <a:headEnd/>
                  <a:tailEnd/>
                </a:ln>
                <a:effectLst/>
              </p:spPr>
              <p:txBody>
                <a:bodyPr/>
                <a:lstStyle/>
                <a:p>
                  <a:endParaRPr lang="en-US" sz="2000" b="1" dirty="0">
                    <a:solidFill>
                      <a:schemeClr val="tx1"/>
                    </a:solidFill>
                    <a:latin typeface="Trebuchet MS" pitchFamily="34" charset="0"/>
                  </a:endParaRPr>
                </a:p>
                <a:p>
                  <a:r>
                    <a:rPr lang="en-US" sz="2000" b="1" dirty="0">
                      <a:solidFill>
                        <a:schemeClr val="tx1"/>
                      </a:solidFill>
                      <a:latin typeface="Trebuchet MS" pitchFamily="34" charset="0"/>
                    </a:rPr>
                    <a:t>Dispute settlement</a:t>
                  </a:r>
                  <a:endParaRPr lang="en-US" sz="2000" dirty="0">
                    <a:solidFill>
                      <a:schemeClr val="tx1"/>
                    </a:solidFill>
                  </a:endParaRPr>
                </a:p>
              </p:txBody>
            </p:sp>
          </p:grpSp>
          <p:sp>
            <p:nvSpPr>
              <p:cNvPr id="90139" name="Rectangle 1051"/>
              <p:cNvSpPr>
                <a:spLocks noChangeArrowheads="1"/>
              </p:cNvSpPr>
              <p:nvPr/>
            </p:nvSpPr>
            <p:spPr bwMode="auto">
              <a:xfrm>
                <a:off x="0" y="1076"/>
                <a:ext cx="502" cy="538"/>
              </a:xfrm>
              <a:prstGeom prst="rect">
                <a:avLst/>
              </a:prstGeom>
              <a:noFill/>
              <a:ln w="9525">
                <a:noFill/>
                <a:miter lim="800000"/>
                <a:headEnd/>
                <a:tailEnd/>
              </a:ln>
              <a:effectLst/>
            </p:spPr>
            <p:txBody>
              <a:bodyPr/>
              <a:lstStyle/>
              <a:p>
                <a:pPr algn="r"/>
                <a:r>
                  <a:rPr lang="en-US" sz="2000" i="1" dirty="0">
                    <a:solidFill>
                      <a:schemeClr val="tx1"/>
                    </a:solidFill>
                    <a:latin typeface="Trebuchet MS" pitchFamily="34" charset="0"/>
                  </a:rPr>
                  <a:t>Additional details</a:t>
                </a:r>
                <a:endParaRPr lang="en-US" sz="2000" dirty="0">
                  <a:solidFill>
                    <a:schemeClr val="tx1"/>
                  </a:solidFill>
                </a:endParaRPr>
              </a:p>
            </p:txBody>
          </p:sp>
          <p:grpSp>
            <p:nvGrpSpPr>
              <p:cNvPr id="8" name="Group 1052"/>
              <p:cNvGrpSpPr>
                <a:grpSpLocks/>
              </p:cNvGrpSpPr>
              <p:nvPr/>
            </p:nvGrpSpPr>
            <p:grpSpPr bwMode="auto">
              <a:xfrm>
                <a:off x="502" y="1076"/>
                <a:ext cx="534" cy="538"/>
                <a:chOff x="502" y="1076"/>
                <a:chExt cx="534" cy="538"/>
              </a:xfrm>
            </p:grpSpPr>
            <p:sp>
              <p:nvSpPr>
                <p:cNvPr id="90141" name="Rectangle 1053"/>
                <p:cNvSpPr>
                  <a:spLocks noChangeArrowheads="1"/>
                </p:cNvSpPr>
                <p:nvPr/>
              </p:nvSpPr>
              <p:spPr bwMode="auto">
                <a:xfrm>
                  <a:off x="502" y="1076"/>
                  <a:ext cx="534" cy="538"/>
                </a:xfrm>
                <a:prstGeom prst="rect">
                  <a:avLst/>
                </a:prstGeom>
                <a:solidFill>
                  <a:srgbClr val="FFCC99"/>
                </a:solidFill>
                <a:ln w="9525">
                  <a:noFill/>
                  <a:miter lim="800000"/>
                  <a:headEnd/>
                  <a:tailEnd/>
                </a:ln>
                <a:effectLst/>
              </p:spPr>
              <p:txBody>
                <a:bodyPr/>
                <a:lstStyle/>
                <a:p>
                  <a:endParaRPr lang="en-US" dirty="0"/>
                </a:p>
              </p:txBody>
            </p:sp>
            <p:sp>
              <p:nvSpPr>
                <p:cNvPr id="90142" name="Rectangle 1054"/>
                <p:cNvSpPr>
                  <a:spLocks noChangeArrowheads="1"/>
                </p:cNvSpPr>
                <p:nvPr/>
              </p:nvSpPr>
              <p:spPr bwMode="auto">
                <a:xfrm>
                  <a:off x="502" y="1076"/>
                  <a:ext cx="534" cy="538"/>
                </a:xfrm>
                <a:prstGeom prst="rect">
                  <a:avLst/>
                </a:prstGeom>
                <a:solidFill>
                  <a:srgbClr val="FFCC99"/>
                </a:solidFill>
                <a:ln w="9525">
                  <a:noFill/>
                  <a:miter lim="800000"/>
                  <a:headEnd/>
                  <a:tailEnd/>
                </a:ln>
                <a:effectLst/>
              </p:spPr>
              <p:txBody>
                <a:bodyPr/>
                <a:lstStyle/>
                <a:p>
                  <a:r>
                    <a:rPr lang="en-US" sz="1600" dirty="0">
                      <a:solidFill>
                        <a:schemeClr val="tx1"/>
                      </a:solidFill>
                      <a:latin typeface="Trebuchet MS" pitchFamily="34" charset="0"/>
                    </a:rPr>
                    <a:t>Other goods agreements and annexes</a:t>
                  </a:r>
                  <a:endParaRPr lang="en-US" sz="1600" dirty="0">
                    <a:solidFill>
                      <a:schemeClr val="tx1"/>
                    </a:solidFill>
                  </a:endParaRPr>
                </a:p>
              </p:txBody>
            </p:sp>
          </p:grpSp>
          <p:grpSp>
            <p:nvGrpSpPr>
              <p:cNvPr id="9" name="Group 1055"/>
              <p:cNvGrpSpPr>
                <a:grpSpLocks/>
              </p:cNvGrpSpPr>
              <p:nvPr/>
            </p:nvGrpSpPr>
            <p:grpSpPr bwMode="auto">
              <a:xfrm>
                <a:off x="1036" y="1076"/>
                <a:ext cx="534" cy="538"/>
                <a:chOff x="1036" y="1076"/>
                <a:chExt cx="534" cy="538"/>
              </a:xfrm>
            </p:grpSpPr>
            <p:sp>
              <p:nvSpPr>
                <p:cNvPr id="90144" name="Rectangle 1056"/>
                <p:cNvSpPr>
                  <a:spLocks noChangeArrowheads="1"/>
                </p:cNvSpPr>
                <p:nvPr/>
              </p:nvSpPr>
              <p:spPr bwMode="auto">
                <a:xfrm>
                  <a:off x="1036" y="1076"/>
                  <a:ext cx="534" cy="538"/>
                </a:xfrm>
                <a:prstGeom prst="rect">
                  <a:avLst/>
                </a:prstGeom>
                <a:solidFill>
                  <a:srgbClr val="99CC99"/>
                </a:solidFill>
                <a:ln w="9525">
                  <a:noFill/>
                  <a:miter lim="800000"/>
                  <a:headEnd/>
                  <a:tailEnd/>
                </a:ln>
                <a:effectLst/>
              </p:spPr>
              <p:txBody>
                <a:bodyPr/>
                <a:lstStyle/>
                <a:p>
                  <a:endParaRPr lang="en-US" dirty="0"/>
                </a:p>
              </p:txBody>
            </p:sp>
            <p:sp>
              <p:nvSpPr>
                <p:cNvPr id="90145" name="Rectangle 1057"/>
                <p:cNvSpPr>
                  <a:spLocks noChangeArrowheads="1"/>
                </p:cNvSpPr>
                <p:nvPr/>
              </p:nvSpPr>
              <p:spPr bwMode="auto">
                <a:xfrm>
                  <a:off x="1036" y="1076"/>
                  <a:ext cx="534" cy="538"/>
                </a:xfrm>
                <a:prstGeom prst="rect">
                  <a:avLst/>
                </a:prstGeom>
                <a:solidFill>
                  <a:srgbClr val="99CC99"/>
                </a:solidFill>
                <a:ln w="9525">
                  <a:noFill/>
                  <a:miter lim="800000"/>
                  <a:headEnd/>
                  <a:tailEnd/>
                </a:ln>
                <a:effectLst/>
              </p:spPr>
              <p:txBody>
                <a:bodyPr/>
                <a:lstStyle/>
                <a:p>
                  <a:r>
                    <a:rPr lang="en-US" sz="2000" dirty="0">
                      <a:solidFill>
                        <a:schemeClr val="tx1"/>
                      </a:solidFill>
                      <a:latin typeface="Trebuchet MS" pitchFamily="34" charset="0"/>
                    </a:rPr>
                    <a:t>Services annexes</a:t>
                  </a:r>
                  <a:endParaRPr lang="en-US" sz="2000" dirty="0">
                    <a:solidFill>
                      <a:schemeClr val="tx1"/>
                    </a:solidFill>
                  </a:endParaRPr>
                </a:p>
              </p:txBody>
            </p:sp>
          </p:grpSp>
          <p:sp>
            <p:nvSpPr>
              <p:cNvPr id="90146" name="Rectangle 1058"/>
              <p:cNvSpPr>
                <a:spLocks noChangeArrowheads="1" noTextEdit="1"/>
              </p:cNvSpPr>
              <p:nvPr/>
            </p:nvSpPr>
            <p:spPr bwMode="auto">
              <a:xfrm>
                <a:off x="1570" y="1076"/>
                <a:ext cx="508" cy="538"/>
              </a:xfrm>
              <a:prstGeom prst="rect">
                <a:avLst/>
              </a:prstGeom>
              <a:noFill/>
              <a:ln w="9525">
                <a:noFill/>
                <a:miter lim="800000"/>
                <a:headEnd/>
                <a:tailEnd/>
              </a:ln>
              <a:effectLst/>
            </p:spPr>
            <p:txBody>
              <a:bodyPr>
                <a:spAutoFit/>
              </a:bodyPr>
              <a:lstStyle/>
              <a:p>
                <a:endParaRPr lang="en-US" dirty="0"/>
              </a:p>
            </p:txBody>
          </p:sp>
          <p:sp>
            <p:nvSpPr>
              <p:cNvPr id="90147" name="Rectangle 1059"/>
              <p:cNvSpPr>
                <a:spLocks noChangeArrowheads="1" noTextEdit="1"/>
              </p:cNvSpPr>
              <p:nvPr/>
            </p:nvSpPr>
            <p:spPr bwMode="auto">
              <a:xfrm>
                <a:off x="2078" y="1076"/>
                <a:ext cx="514" cy="538"/>
              </a:xfrm>
              <a:prstGeom prst="rect">
                <a:avLst/>
              </a:prstGeom>
              <a:noFill/>
              <a:ln w="9525">
                <a:noFill/>
                <a:miter lim="800000"/>
                <a:headEnd/>
                <a:tailEnd/>
              </a:ln>
              <a:effectLst/>
            </p:spPr>
            <p:txBody>
              <a:bodyPr>
                <a:spAutoFit/>
              </a:bodyPr>
              <a:lstStyle/>
              <a:p>
                <a:endParaRPr lang="en-US" dirty="0"/>
              </a:p>
            </p:txBody>
          </p:sp>
          <p:sp>
            <p:nvSpPr>
              <p:cNvPr id="90148" name="Rectangle 1060"/>
              <p:cNvSpPr>
                <a:spLocks noChangeArrowheads="1"/>
              </p:cNvSpPr>
              <p:nvPr/>
            </p:nvSpPr>
            <p:spPr bwMode="auto">
              <a:xfrm>
                <a:off x="0" y="1614"/>
                <a:ext cx="502" cy="538"/>
              </a:xfrm>
              <a:prstGeom prst="rect">
                <a:avLst/>
              </a:prstGeom>
              <a:noFill/>
              <a:ln w="9525">
                <a:noFill/>
                <a:miter lim="800000"/>
                <a:headEnd/>
                <a:tailEnd/>
              </a:ln>
              <a:effectLst/>
            </p:spPr>
            <p:txBody>
              <a:bodyPr/>
              <a:lstStyle/>
              <a:p>
                <a:pPr algn="r"/>
                <a:r>
                  <a:rPr lang="en-US" sz="1600" i="1" dirty="0">
                    <a:solidFill>
                      <a:schemeClr val="tx1"/>
                    </a:solidFill>
                    <a:latin typeface="Trebuchet MS" pitchFamily="34" charset="0"/>
                  </a:rPr>
                  <a:t>Market access commitments</a:t>
                </a:r>
                <a:endParaRPr lang="en-US" sz="1600" dirty="0">
                  <a:solidFill>
                    <a:schemeClr val="tx1"/>
                  </a:solidFill>
                </a:endParaRPr>
              </a:p>
            </p:txBody>
          </p:sp>
          <p:grpSp>
            <p:nvGrpSpPr>
              <p:cNvPr id="10" name="Group 1061"/>
              <p:cNvGrpSpPr>
                <a:grpSpLocks/>
              </p:cNvGrpSpPr>
              <p:nvPr/>
            </p:nvGrpSpPr>
            <p:grpSpPr bwMode="auto">
              <a:xfrm>
                <a:off x="502" y="1614"/>
                <a:ext cx="534" cy="538"/>
                <a:chOff x="502" y="1614"/>
                <a:chExt cx="534" cy="538"/>
              </a:xfrm>
            </p:grpSpPr>
            <p:sp>
              <p:nvSpPr>
                <p:cNvPr id="90150" name="Rectangle 1062"/>
                <p:cNvSpPr>
                  <a:spLocks noChangeArrowheads="1"/>
                </p:cNvSpPr>
                <p:nvPr/>
              </p:nvSpPr>
              <p:spPr bwMode="auto">
                <a:xfrm>
                  <a:off x="502" y="1614"/>
                  <a:ext cx="534" cy="538"/>
                </a:xfrm>
                <a:prstGeom prst="rect">
                  <a:avLst/>
                </a:prstGeom>
                <a:solidFill>
                  <a:srgbClr val="FFCC99"/>
                </a:solidFill>
                <a:ln w="9525">
                  <a:noFill/>
                  <a:miter lim="800000"/>
                  <a:headEnd/>
                  <a:tailEnd/>
                </a:ln>
                <a:effectLst/>
              </p:spPr>
              <p:txBody>
                <a:bodyPr/>
                <a:lstStyle/>
                <a:p>
                  <a:endParaRPr lang="en-US" dirty="0"/>
                </a:p>
              </p:txBody>
            </p:sp>
            <p:sp>
              <p:nvSpPr>
                <p:cNvPr id="90151" name="Rectangle 1063"/>
                <p:cNvSpPr>
                  <a:spLocks noChangeArrowheads="1"/>
                </p:cNvSpPr>
                <p:nvPr/>
              </p:nvSpPr>
              <p:spPr bwMode="auto">
                <a:xfrm>
                  <a:off x="502" y="1614"/>
                  <a:ext cx="534" cy="538"/>
                </a:xfrm>
                <a:prstGeom prst="rect">
                  <a:avLst/>
                </a:prstGeom>
                <a:solidFill>
                  <a:srgbClr val="FFCC99"/>
                </a:solidFill>
                <a:ln w="9525">
                  <a:noFill/>
                  <a:miter lim="800000"/>
                  <a:headEnd/>
                  <a:tailEnd/>
                </a:ln>
                <a:effectLst/>
              </p:spPr>
              <p:txBody>
                <a:bodyPr/>
                <a:lstStyle/>
                <a:p>
                  <a:r>
                    <a:rPr lang="en-US" sz="1600" dirty="0">
                      <a:solidFill>
                        <a:schemeClr val="tx1"/>
                      </a:solidFill>
                      <a:latin typeface="Trebuchet MS" pitchFamily="34" charset="0"/>
                    </a:rPr>
                    <a:t>Countries’ schedules of commitments</a:t>
                  </a:r>
                  <a:endParaRPr lang="en-US" sz="1600" dirty="0">
                    <a:solidFill>
                      <a:schemeClr val="tx1"/>
                    </a:solidFill>
                  </a:endParaRPr>
                </a:p>
              </p:txBody>
            </p:sp>
          </p:grpSp>
          <p:grpSp>
            <p:nvGrpSpPr>
              <p:cNvPr id="11" name="Group 1064"/>
              <p:cNvGrpSpPr>
                <a:grpSpLocks/>
              </p:cNvGrpSpPr>
              <p:nvPr/>
            </p:nvGrpSpPr>
            <p:grpSpPr bwMode="auto">
              <a:xfrm>
                <a:off x="1036" y="1614"/>
                <a:ext cx="534" cy="538"/>
                <a:chOff x="1036" y="1614"/>
                <a:chExt cx="534" cy="538"/>
              </a:xfrm>
            </p:grpSpPr>
            <p:sp>
              <p:nvSpPr>
                <p:cNvPr id="90153" name="Rectangle 1065"/>
                <p:cNvSpPr>
                  <a:spLocks noChangeArrowheads="1"/>
                </p:cNvSpPr>
                <p:nvPr/>
              </p:nvSpPr>
              <p:spPr bwMode="auto">
                <a:xfrm>
                  <a:off x="1036" y="1614"/>
                  <a:ext cx="534" cy="538"/>
                </a:xfrm>
                <a:prstGeom prst="rect">
                  <a:avLst/>
                </a:prstGeom>
                <a:solidFill>
                  <a:srgbClr val="99CC99"/>
                </a:solidFill>
                <a:ln w="9525">
                  <a:noFill/>
                  <a:miter lim="800000"/>
                  <a:headEnd/>
                  <a:tailEnd/>
                </a:ln>
                <a:effectLst/>
              </p:spPr>
              <p:txBody>
                <a:bodyPr/>
                <a:lstStyle/>
                <a:p>
                  <a:endParaRPr lang="en-US" dirty="0"/>
                </a:p>
              </p:txBody>
            </p:sp>
            <p:sp>
              <p:nvSpPr>
                <p:cNvPr id="90154" name="Rectangle 1066"/>
                <p:cNvSpPr>
                  <a:spLocks noChangeArrowheads="1"/>
                </p:cNvSpPr>
                <p:nvPr/>
              </p:nvSpPr>
              <p:spPr bwMode="auto">
                <a:xfrm>
                  <a:off x="1036" y="1614"/>
                  <a:ext cx="534" cy="538"/>
                </a:xfrm>
                <a:prstGeom prst="rect">
                  <a:avLst/>
                </a:prstGeom>
                <a:solidFill>
                  <a:srgbClr val="99CC99"/>
                </a:solidFill>
                <a:ln w="9525">
                  <a:noFill/>
                  <a:miter lim="800000"/>
                  <a:headEnd/>
                  <a:tailEnd/>
                </a:ln>
                <a:effectLst/>
              </p:spPr>
              <p:txBody>
                <a:bodyPr/>
                <a:lstStyle/>
                <a:p>
                  <a:r>
                    <a:rPr lang="en-US" sz="1600" dirty="0">
                      <a:solidFill>
                        <a:schemeClr val="tx1"/>
                      </a:solidFill>
                      <a:latin typeface="Trebuchet MS" pitchFamily="34" charset="0"/>
                    </a:rPr>
                    <a:t>Countries’ schedules of commitments</a:t>
                  </a:r>
                  <a:endParaRPr lang="en-US" sz="1600" dirty="0">
                    <a:solidFill>
                      <a:schemeClr val="tx1"/>
                    </a:solidFill>
                  </a:endParaRPr>
                </a:p>
              </p:txBody>
            </p:sp>
          </p:grpSp>
        </p:gr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1859" name="Rectangle 3"/>
          <p:cNvSpPr>
            <a:spLocks noGrp="1" noChangeArrowheads="1"/>
          </p:cNvSpPr>
          <p:nvPr>
            <p:ph idx="1"/>
          </p:nvPr>
        </p:nvSpPr>
        <p:spPr>
          <a:xfrm>
            <a:off x="685800" y="1828800"/>
            <a:ext cx="8077200" cy="4419600"/>
          </a:xfrm>
        </p:spPr>
        <p:txBody>
          <a:bodyPr>
            <a:normAutofit/>
          </a:bodyPr>
          <a:lstStyle/>
          <a:p>
            <a:pPr algn="ctr">
              <a:buFontTx/>
              <a:buNone/>
            </a:pPr>
            <a:r>
              <a:rPr lang="en-US" sz="2400" dirty="0">
                <a:solidFill>
                  <a:srgbClr val="000099"/>
                </a:solidFill>
                <a:latin typeface="Arial" pitchFamily="34" charset="0"/>
                <a:cs typeface="Arial" pitchFamily="34" charset="0"/>
              </a:rPr>
              <a:t>To provide a legal framework for incorporating the results of negotiations directed toward </a:t>
            </a:r>
          </a:p>
          <a:p>
            <a:endParaRPr lang="en-US" sz="2400" dirty="0">
              <a:solidFill>
                <a:srgbClr val="000099"/>
              </a:solidFill>
              <a:latin typeface="Arial" pitchFamily="34" charset="0"/>
              <a:cs typeface="Arial" pitchFamily="34" charset="0"/>
            </a:endParaRPr>
          </a:p>
          <a:p>
            <a:pPr marL="365125" indent="-255588" algn="ctr"/>
            <a:r>
              <a:rPr lang="en-US" sz="2400" dirty="0" smtClean="0">
                <a:solidFill>
                  <a:srgbClr val="000099"/>
                </a:solidFill>
                <a:latin typeface="Arial" pitchFamily="34" charset="0"/>
                <a:cs typeface="Arial" pitchFamily="34" charset="0"/>
              </a:rPr>
              <a:t>“</a:t>
            </a:r>
            <a:r>
              <a:rPr lang="en-US" sz="2400" u="sng" dirty="0" smtClean="0">
                <a:solidFill>
                  <a:srgbClr val="000099"/>
                </a:solidFill>
                <a:latin typeface="Arial" pitchFamily="34" charset="0"/>
                <a:cs typeface="Arial" pitchFamily="34" charset="0"/>
              </a:rPr>
              <a:t>Reciprocal</a:t>
            </a:r>
            <a:r>
              <a:rPr lang="en-US" sz="2400" dirty="0" smtClean="0">
                <a:solidFill>
                  <a:srgbClr val="000099"/>
                </a:solidFill>
                <a:latin typeface="Arial" pitchFamily="34" charset="0"/>
                <a:cs typeface="Arial" pitchFamily="34" charset="0"/>
              </a:rPr>
              <a:t> </a:t>
            </a:r>
            <a:r>
              <a:rPr lang="en-US" sz="2400" dirty="0">
                <a:solidFill>
                  <a:srgbClr val="000099"/>
                </a:solidFill>
                <a:latin typeface="Arial" pitchFamily="34" charset="0"/>
                <a:cs typeface="Arial" pitchFamily="34" charset="0"/>
              </a:rPr>
              <a:t>and mutually advantageous exchange of market access commitments </a:t>
            </a:r>
            <a:r>
              <a:rPr lang="en-US" sz="2400" u="sng" dirty="0">
                <a:solidFill>
                  <a:srgbClr val="000099"/>
                </a:solidFill>
                <a:latin typeface="Arial" pitchFamily="34" charset="0"/>
                <a:cs typeface="Arial" pitchFamily="34" charset="0"/>
              </a:rPr>
              <a:t>on a non-discriminatory basis</a:t>
            </a:r>
            <a:r>
              <a:rPr lang="en-US" sz="2400" dirty="0" smtClean="0">
                <a:solidFill>
                  <a:srgbClr val="000099"/>
                </a:solidFill>
                <a:latin typeface="Arial" pitchFamily="34" charset="0"/>
                <a:cs typeface="Arial" pitchFamily="34" charset="0"/>
              </a:rPr>
              <a:t>.”</a:t>
            </a:r>
            <a:endParaRPr lang="en-US" sz="2400" dirty="0">
              <a:solidFill>
                <a:srgbClr val="000099"/>
              </a:solidFill>
              <a:latin typeface="Arial" pitchFamily="34" charset="0"/>
              <a:cs typeface="Arial" pitchFamily="34" charset="0"/>
            </a:endParaRPr>
          </a:p>
          <a:p>
            <a:r>
              <a:rPr lang="en-US" sz="2400" dirty="0">
                <a:solidFill>
                  <a:srgbClr val="000099"/>
                </a:solidFill>
                <a:latin typeface="Arial" pitchFamily="34" charset="0"/>
                <a:cs typeface="Arial" pitchFamily="34" charset="0"/>
              </a:rPr>
              <a:t>Typically, such an outcome is obtained through </a:t>
            </a:r>
            <a:r>
              <a:rPr lang="en-US" sz="2400" u="sng" dirty="0">
                <a:solidFill>
                  <a:srgbClr val="000099"/>
                </a:solidFill>
                <a:latin typeface="Arial" pitchFamily="34" charset="0"/>
                <a:cs typeface="Arial" pitchFamily="34" charset="0"/>
              </a:rPr>
              <a:t>reductions of tariffs and other barriers to trade</a:t>
            </a:r>
            <a:r>
              <a:rPr lang="en-US" sz="2800" u="sng" dirty="0">
                <a:solidFill>
                  <a:srgbClr val="000099"/>
                </a:solidFill>
              </a:rPr>
              <a:t>.</a:t>
            </a:r>
          </a:p>
        </p:txBody>
      </p:sp>
      <p:sp>
        <p:nvSpPr>
          <p:cNvPr id="121858" name="Rectangle 2"/>
          <p:cNvSpPr>
            <a:spLocks noGrp="1" noChangeArrowheads="1"/>
          </p:cNvSpPr>
          <p:nvPr>
            <p:ph type="title"/>
          </p:nvPr>
        </p:nvSpPr>
        <p:spPr>
          <a:xfrm>
            <a:off x="685800" y="457200"/>
            <a:ext cx="7772400" cy="1143000"/>
          </a:xfrm>
        </p:spPr>
        <p:txBody>
          <a:bodyPr>
            <a:normAutofit/>
          </a:bodyPr>
          <a:lstStyle/>
          <a:p>
            <a:r>
              <a:rPr lang="en-US" sz="3600" dirty="0" smtClean="0">
                <a:solidFill>
                  <a:schemeClr val="tx1"/>
                </a:solidFill>
                <a:effectLst/>
                <a:latin typeface="Arial" pitchFamily="34" charset="0"/>
                <a:cs typeface="Arial" pitchFamily="34" charset="0"/>
              </a:rPr>
              <a:t>WTO</a:t>
            </a:r>
            <a:r>
              <a:rPr lang="en-US" sz="3600" dirty="0">
                <a:solidFill>
                  <a:schemeClr val="tx1"/>
                </a:solidFill>
                <a:effectLst/>
                <a:latin typeface="Arial" pitchFamily="34" charset="0"/>
                <a:cs typeface="Arial" pitchFamily="34" charset="0"/>
              </a:rPr>
              <a:t>: Main Objective</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121859">
                                            <p:txEl>
                                              <p:pRg st="0" end="0"/>
                                            </p:txEl>
                                          </p:spTgt>
                                        </p:tgtEl>
                                        <p:attrNameLst>
                                          <p:attrName>style.visibility</p:attrName>
                                        </p:attrNameLst>
                                      </p:cBhvr>
                                      <p:to>
                                        <p:strVal val="visible"/>
                                      </p:to>
                                    </p:set>
                                    <p:anim calcmode="lin" valueType="num">
                                      <p:cBhvr>
                                        <p:cTn id="7" dur="500" fill="hold"/>
                                        <p:tgtEl>
                                          <p:spTgt spid="121859">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121859">
                                            <p:txEl>
                                              <p:pRg st="0" end="0"/>
                                            </p:txEl>
                                          </p:spTgt>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21859">
                                            <p:txEl>
                                              <p:pRg st="2" end="2"/>
                                            </p:txEl>
                                          </p:spTgt>
                                        </p:tgtEl>
                                        <p:attrNameLst>
                                          <p:attrName>style.visibility</p:attrName>
                                        </p:attrNameLst>
                                      </p:cBhvr>
                                      <p:to>
                                        <p:strVal val="visible"/>
                                      </p:to>
                                    </p:set>
                                    <p:anim calcmode="lin" valueType="num">
                                      <p:cBhvr>
                                        <p:cTn id="13" dur="500" fill="hold"/>
                                        <p:tgtEl>
                                          <p:spTgt spid="121859">
                                            <p:txEl>
                                              <p:pRg st="2" end="2"/>
                                            </p:txEl>
                                          </p:spTgt>
                                        </p:tgtEl>
                                        <p:attrNameLst>
                                          <p:attrName>ppt_w</p:attrName>
                                        </p:attrNameLst>
                                      </p:cBhvr>
                                      <p:tavLst>
                                        <p:tav tm="0">
                                          <p:val>
                                            <p:fltVal val="0"/>
                                          </p:val>
                                        </p:tav>
                                        <p:tav tm="100000">
                                          <p:val>
                                            <p:strVal val="#ppt_w"/>
                                          </p:val>
                                        </p:tav>
                                      </p:tavLst>
                                    </p:anim>
                                    <p:anim calcmode="lin" valueType="num">
                                      <p:cBhvr>
                                        <p:cTn id="14" dur="500" fill="hold"/>
                                        <p:tgtEl>
                                          <p:spTgt spid="121859">
                                            <p:txEl>
                                              <p:pRg st="2" end="2"/>
                                            </p:txEl>
                                          </p:spTgt>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21859">
                                            <p:txEl>
                                              <p:pRg st="3" end="3"/>
                                            </p:txEl>
                                          </p:spTgt>
                                        </p:tgtEl>
                                        <p:attrNameLst>
                                          <p:attrName>style.visibility</p:attrName>
                                        </p:attrNameLst>
                                      </p:cBhvr>
                                      <p:to>
                                        <p:strVal val="visible"/>
                                      </p:to>
                                    </p:set>
                                    <p:anim calcmode="lin" valueType="num">
                                      <p:cBhvr>
                                        <p:cTn id="19" dur="500" fill="hold"/>
                                        <p:tgtEl>
                                          <p:spTgt spid="121859">
                                            <p:txEl>
                                              <p:pRg st="3" end="3"/>
                                            </p:txEl>
                                          </p:spTgt>
                                        </p:tgtEl>
                                        <p:attrNameLst>
                                          <p:attrName>ppt_w</p:attrName>
                                        </p:attrNameLst>
                                      </p:cBhvr>
                                      <p:tavLst>
                                        <p:tav tm="0">
                                          <p:val>
                                            <p:fltVal val="0"/>
                                          </p:val>
                                        </p:tav>
                                        <p:tav tm="100000">
                                          <p:val>
                                            <p:strVal val="#ppt_w"/>
                                          </p:val>
                                        </p:tav>
                                      </p:tavLst>
                                    </p:anim>
                                    <p:anim calcmode="lin" valueType="num">
                                      <p:cBhvr>
                                        <p:cTn id="20" dur="500" fill="hold"/>
                                        <p:tgtEl>
                                          <p:spTgt spid="121859">
                                            <p:txEl>
                                              <p:pRg st="3" end="3"/>
                                            </p:txEl>
                                          </p:spTgt>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859" grpId="0" build="p" bldLvl="2"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2883" name="Rectangle 3"/>
          <p:cNvSpPr>
            <a:spLocks noGrp="1" noChangeArrowheads="1"/>
          </p:cNvSpPr>
          <p:nvPr>
            <p:ph idx="1"/>
          </p:nvPr>
        </p:nvSpPr>
        <p:spPr>
          <a:xfrm>
            <a:off x="381000" y="2819400"/>
            <a:ext cx="8458200" cy="3124200"/>
          </a:xfrm>
        </p:spPr>
        <p:txBody>
          <a:bodyPr>
            <a:normAutofit/>
          </a:bodyPr>
          <a:lstStyle/>
          <a:p>
            <a:pPr algn="ctr">
              <a:lnSpc>
                <a:spcPct val="90000"/>
              </a:lnSpc>
              <a:buFontTx/>
              <a:buNone/>
            </a:pPr>
            <a:r>
              <a:rPr lang="en-US" sz="2400" dirty="0">
                <a:solidFill>
                  <a:srgbClr val="000099"/>
                </a:solidFill>
                <a:latin typeface="Arial" pitchFamily="34" charset="0"/>
                <a:cs typeface="Arial" pitchFamily="34" charset="0"/>
              </a:rPr>
              <a:t>“</a:t>
            </a:r>
            <a:r>
              <a:rPr lang="en-US" sz="2400" i="1" dirty="0">
                <a:solidFill>
                  <a:srgbClr val="000099"/>
                </a:solidFill>
                <a:latin typeface="Arial" pitchFamily="34" charset="0"/>
                <a:cs typeface="Arial" pitchFamily="34" charset="0"/>
              </a:rPr>
              <a:t>The WTO does not tell governments how to</a:t>
            </a:r>
          </a:p>
          <a:p>
            <a:pPr algn="ctr">
              <a:lnSpc>
                <a:spcPct val="90000"/>
              </a:lnSpc>
              <a:buFontTx/>
              <a:buNone/>
            </a:pPr>
            <a:r>
              <a:rPr lang="en-US" sz="2400" i="1" dirty="0">
                <a:solidFill>
                  <a:srgbClr val="000099"/>
                </a:solidFill>
                <a:latin typeface="Arial" pitchFamily="34" charset="0"/>
                <a:cs typeface="Arial" pitchFamily="34" charset="0"/>
              </a:rPr>
              <a:t>conduct their trade policies. Rather, the WTO is a</a:t>
            </a:r>
          </a:p>
          <a:p>
            <a:pPr algn="ctr">
              <a:lnSpc>
                <a:spcPct val="90000"/>
              </a:lnSpc>
              <a:buFontTx/>
              <a:buNone/>
            </a:pPr>
            <a:r>
              <a:rPr lang="en-US" sz="2400" i="1" dirty="0">
                <a:solidFill>
                  <a:srgbClr val="000099"/>
                </a:solidFill>
                <a:latin typeface="Arial" pitchFamily="34" charset="0"/>
                <a:cs typeface="Arial" pitchFamily="34" charset="0"/>
              </a:rPr>
              <a:t>‘</a:t>
            </a:r>
            <a:r>
              <a:rPr lang="en-US" sz="2400" i="1" u="sng" dirty="0">
                <a:solidFill>
                  <a:srgbClr val="000099"/>
                </a:solidFill>
                <a:latin typeface="Arial" pitchFamily="34" charset="0"/>
                <a:cs typeface="Arial" pitchFamily="34" charset="0"/>
              </a:rPr>
              <a:t>member-driven</a:t>
            </a:r>
            <a:r>
              <a:rPr lang="en-US" sz="2400" i="1" dirty="0">
                <a:solidFill>
                  <a:srgbClr val="000099"/>
                </a:solidFill>
                <a:latin typeface="Arial" pitchFamily="34" charset="0"/>
                <a:cs typeface="Arial" pitchFamily="34" charset="0"/>
              </a:rPr>
              <a:t>’ organization.</a:t>
            </a:r>
            <a:r>
              <a:rPr lang="en-US" sz="2400" dirty="0">
                <a:solidFill>
                  <a:srgbClr val="000099"/>
                </a:solidFill>
                <a:latin typeface="Arial" pitchFamily="34" charset="0"/>
                <a:cs typeface="Arial" pitchFamily="34" charset="0"/>
              </a:rPr>
              <a:t>”</a:t>
            </a:r>
          </a:p>
          <a:p>
            <a:pPr algn="ctr">
              <a:lnSpc>
                <a:spcPct val="90000"/>
              </a:lnSpc>
              <a:buFontTx/>
              <a:buNone/>
            </a:pPr>
            <a:endParaRPr lang="en-US" sz="2400" dirty="0">
              <a:solidFill>
                <a:srgbClr val="000099"/>
              </a:solidFill>
              <a:latin typeface="Arial" pitchFamily="34" charset="0"/>
              <a:cs typeface="Arial" pitchFamily="34" charset="0"/>
            </a:endParaRPr>
          </a:p>
          <a:p>
            <a:pPr algn="ctr">
              <a:lnSpc>
                <a:spcPct val="90000"/>
              </a:lnSpc>
              <a:buFontTx/>
              <a:buNone/>
            </a:pPr>
            <a:r>
              <a:rPr lang="en-US" sz="2400" dirty="0">
                <a:solidFill>
                  <a:srgbClr val="000099"/>
                </a:solidFill>
                <a:latin typeface="Arial" pitchFamily="34" charset="0"/>
                <a:cs typeface="Arial" pitchFamily="34" charset="0"/>
              </a:rPr>
              <a:t>In reality, free trade (or </a:t>
            </a:r>
            <a:r>
              <a:rPr lang="en-US" sz="2400" i="1" dirty="0">
                <a:solidFill>
                  <a:srgbClr val="000099"/>
                </a:solidFill>
                <a:latin typeface="Arial" pitchFamily="34" charset="0"/>
                <a:cs typeface="Arial" pitchFamily="34" charset="0"/>
              </a:rPr>
              <a:t>freer</a:t>
            </a:r>
            <a:r>
              <a:rPr lang="en-US" sz="2400" dirty="0">
                <a:solidFill>
                  <a:srgbClr val="000099"/>
                </a:solidFill>
                <a:latin typeface="Arial" pitchFamily="34" charset="0"/>
                <a:cs typeface="Arial" pitchFamily="34" charset="0"/>
              </a:rPr>
              <a:t> trade) depends on what countries are willing to bargain with each other.</a:t>
            </a:r>
          </a:p>
        </p:txBody>
      </p:sp>
      <p:sp>
        <p:nvSpPr>
          <p:cNvPr id="122882" name="Rectangle 2"/>
          <p:cNvSpPr>
            <a:spLocks noGrp="1" noChangeArrowheads="1"/>
          </p:cNvSpPr>
          <p:nvPr>
            <p:ph type="title"/>
          </p:nvPr>
        </p:nvSpPr>
        <p:spPr>
          <a:xfrm>
            <a:off x="0" y="457200"/>
            <a:ext cx="8991600" cy="1143000"/>
          </a:xfrm>
        </p:spPr>
        <p:txBody>
          <a:bodyPr>
            <a:normAutofit fontScale="90000"/>
          </a:bodyPr>
          <a:lstStyle/>
          <a:p>
            <a:r>
              <a:rPr lang="en-US" sz="3600" dirty="0">
                <a:solidFill>
                  <a:schemeClr val="tx1"/>
                </a:solidFill>
                <a:effectLst/>
                <a:latin typeface="Arial" pitchFamily="34" charset="0"/>
                <a:cs typeface="Arial" pitchFamily="34" charset="0"/>
              </a:rPr>
              <a:t>Is free trade an explicit objective of the </a:t>
            </a:r>
            <a:r>
              <a:rPr lang="en-US" sz="3600" dirty="0" smtClean="0">
                <a:solidFill>
                  <a:schemeClr val="tx1"/>
                </a:solidFill>
                <a:effectLst/>
                <a:latin typeface="Arial" pitchFamily="34" charset="0"/>
                <a:cs typeface="Arial" pitchFamily="34" charset="0"/>
              </a:rPr>
              <a:t>WTO</a:t>
            </a:r>
            <a:r>
              <a:rPr lang="en-US" sz="3600" dirty="0">
                <a:solidFill>
                  <a:schemeClr val="tx1"/>
                </a:solidFill>
                <a:effectLst/>
                <a:latin typeface="Arial" pitchFamily="34" charset="0"/>
                <a:cs typeface="Arial" pitchFamily="34" charset="0"/>
              </a:rPr>
              <a:t>?</a:t>
            </a:r>
          </a:p>
        </p:txBody>
      </p:sp>
      <p:sp>
        <p:nvSpPr>
          <p:cNvPr id="122884" name="Oval 4"/>
          <p:cNvSpPr>
            <a:spLocks noChangeArrowheads="1"/>
          </p:cNvSpPr>
          <p:nvPr/>
        </p:nvSpPr>
        <p:spPr bwMode="auto">
          <a:xfrm>
            <a:off x="2895600" y="1524000"/>
            <a:ext cx="3124200" cy="838200"/>
          </a:xfrm>
          <a:prstGeom prst="ellipse">
            <a:avLst/>
          </a:prstGeom>
          <a:solidFill>
            <a:srgbClr val="9966FF"/>
          </a:solidFill>
          <a:ln w="9525">
            <a:solidFill>
              <a:schemeClr val="tx1"/>
            </a:solidFill>
            <a:round/>
            <a:headEnd/>
            <a:tailEnd/>
          </a:ln>
          <a:effectLst/>
        </p:spPr>
        <p:txBody>
          <a:bodyPr wrap="none" anchor="ctr"/>
          <a:lstStyle/>
          <a:p>
            <a:r>
              <a:rPr lang="en-US" sz="4400" dirty="0">
                <a:solidFill>
                  <a:schemeClr val="tx1"/>
                </a:solidFill>
              </a:rPr>
              <a:t>- </a:t>
            </a:r>
            <a:r>
              <a:rPr lang="en-US" sz="4400" i="1" dirty="0">
                <a:solidFill>
                  <a:schemeClr val="tx1"/>
                </a:solidFill>
              </a:rPr>
              <a:t>NO </a:t>
            </a:r>
            <a:r>
              <a:rPr lang="en-US" sz="4400" dirty="0">
                <a:solidFill>
                  <a:schemeClr val="tx1"/>
                </a:solidFill>
              </a:rPr>
              <a:t>-</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ntr" presetSubtype="10" fill="hold" grpId="0" nodeType="clickEffect">
                                  <p:stCondLst>
                                    <p:cond delay="0"/>
                                  </p:stCondLst>
                                  <p:childTnLst>
                                    <p:set>
                                      <p:cBhvr>
                                        <p:cTn id="6" dur="1" fill="hold">
                                          <p:stCondLst>
                                            <p:cond delay="0"/>
                                          </p:stCondLst>
                                        </p:cTn>
                                        <p:tgtEl>
                                          <p:spTgt spid="122884"/>
                                        </p:tgtEl>
                                        <p:attrNameLst>
                                          <p:attrName>style.visibility</p:attrName>
                                        </p:attrNameLst>
                                      </p:cBhvr>
                                      <p:to>
                                        <p:strVal val="visible"/>
                                      </p:to>
                                    </p:set>
                                    <p:anim calcmode="lin" valueType="num">
                                      <p:cBhvr>
                                        <p:cTn id="7" dur="5000" fill="hold"/>
                                        <p:tgtEl>
                                          <p:spTgt spid="122884"/>
                                        </p:tgtEl>
                                        <p:attrNameLst>
                                          <p:attrName>ppt_w</p:attrName>
                                        </p:attrNameLst>
                                      </p:cBhvr>
                                      <p:tavLst>
                                        <p:tav tm="0" fmla="#ppt_w*sin(2.5*pi*$)">
                                          <p:val>
                                            <p:fltVal val="0"/>
                                          </p:val>
                                        </p:tav>
                                        <p:tav tm="100000">
                                          <p:val>
                                            <p:fltVal val="1"/>
                                          </p:val>
                                        </p:tav>
                                      </p:tavLst>
                                    </p:anim>
                                    <p:anim calcmode="lin" valueType="num">
                                      <p:cBhvr>
                                        <p:cTn id="8" dur="5000" fill="hold"/>
                                        <p:tgtEl>
                                          <p:spTgt spid="122884"/>
                                        </p:tgtEl>
                                        <p:attrNameLst>
                                          <p:attrName>ppt_h</p:attrName>
                                        </p:attrNameLst>
                                      </p:cBhvr>
                                      <p:tavLst>
                                        <p:tav tm="0">
                                          <p:val>
                                            <p:strVal val="#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9" presetClass="entr" presetSubtype="0" fill="hold" grpId="0" nodeType="clickEffect">
                                  <p:stCondLst>
                                    <p:cond delay="0"/>
                                  </p:stCondLst>
                                  <p:childTnLst>
                                    <p:set>
                                      <p:cBhvr>
                                        <p:cTn id="12" dur="1" fill="hold">
                                          <p:stCondLst>
                                            <p:cond delay="0"/>
                                          </p:stCondLst>
                                        </p:cTn>
                                        <p:tgtEl>
                                          <p:spTgt spid="122883">
                                            <p:txEl>
                                              <p:pRg st="0" end="0"/>
                                            </p:txEl>
                                          </p:spTgt>
                                        </p:tgtEl>
                                        <p:attrNameLst>
                                          <p:attrName>style.visibility</p:attrName>
                                        </p:attrNameLst>
                                      </p:cBhvr>
                                      <p:to>
                                        <p:strVal val="visible"/>
                                      </p:to>
                                    </p:set>
                                    <p:animEffect transition="in" filter="dissolve">
                                      <p:cBhvr>
                                        <p:cTn id="13" dur="500"/>
                                        <p:tgtEl>
                                          <p:spTgt spid="122883">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122883">
                                            <p:txEl>
                                              <p:pRg st="1" end="1"/>
                                            </p:txEl>
                                          </p:spTgt>
                                        </p:tgtEl>
                                        <p:attrNameLst>
                                          <p:attrName>style.visibility</p:attrName>
                                        </p:attrNameLst>
                                      </p:cBhvr>
                                      <p:to>
                                        <p:strVal val="visible"/>
                                      </p:to>
                                    </p:set>
                                    <p:animEffect transition="in" filter="dissolve">
                                      <p:cBhvr>
                                        <p:cTn id="18" dur="500"/>
                                        <p:tgtEl>
                                          <p:spTgt spid="122883">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122883">
                                            <p:txEl>
                                              <p:pRg st="2" end="2"/>
                                            </p:txEl>
                                          </p:spTgt>
                                        </p:tgtEl>
                                        <p:attrNameLst>
                                          <p:attrName>style.visibility</p:attrName>
                                        </p:attrNameLst>
                                      </p:cBhvr>
                                      <p:to>
                                        <p:strVal val="visible"/>
                                      </p:to>
                                    </p:set>
                                    <p:animEffect transition="in" filter="dissolve">
                                      <p:cBhvr>
                                        <p:cTn id="23" dur="500"/>
                                        <p:tgtEl>
                                          <p:spTgt spid="122883">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grpId="0" nodeType="clickEffect">
                                  <p:stCondLst>
                                    <p:cond delay="0"/>
                                  </p:stCondLst>
                                  <p:childTnLst>
                                    <p:set>
                                      <p:cBhvr>
                                        <p:cTn id="27" dur="1" fill="hold">
                                          <p:stCondLst>
                                            <p:cond delay="0"/>
                                          </p:stCondLst>
                                        </p:cTn>
                                        <p:tgtEl>
                                          <p:spTgt spid="122883">
                                            <p:txEl>
                                              <p:pRg st="4" end="4"/>
                                            </p:txEl>
                                          </p:spTgt>
                                        </p:tgtEl>
                                        <p:attrNameLst>
                                          <p:attrName>style.visibility</p:attrName>
                                        </p:attrNameLst>
                                      </p:cBhvr>
                                      <p:to>
                                        <p:strVal val="visible"/>
                                      </p:to>
                                    </p:set>
                                    <p:animEffect transition="in" filter="dissolve">
                                      <p:cBhvr>
                                        <p:cTn id="28" dur="500"/>
                                        <p:tgtEl>
                                          <p:spTgt spid="12288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883" grpId="0" build="p" bldLvl="2" autoUpdateAnimBg="0"/>
      <p:bldP spid="122884" grpId="0" animBg="1"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3907" name="Rectangle 3"/>
          <p:cNvSpPr>
            <a:spLocks noGrp="1" noChangeArrowheads="1"/>
          </p:cNvSpPr>
          <p:nvPr>
            <p:ph idx="1"/>
          </p:nvPr>
        </p:nvSpPr>
        <p:spPr>
          <a:xfrm>
            <a:off x="685800" y="2667000"/>
            <a:ext cx="7772400" cy="2590800"/>
          </a:xfrm>
        </p:spPr>
        <p:txBody>
          <a:bodyPr>
            <a:normAutofit/>
          </a:bodyPr>
          <a:lstStyle/>
          <a:p>
            <a:pPr>
              <a:lnSpc>
                <a:spcPct val="90000"/>
              </a:lnSpc>
            </a:pPr>
            <a:r>
              <a:rPr lang="en-US" sz="2400" dirty="0">
                <a:solidFill>
                  <a:srgbClr val="000099"/>
                </a:solidFill>
                <a:latin typeface="Arial" pitchFamily="34" charset="0"/>
                <a:cs typeface="Arial" pitchFamily="34" charset="0"/>
              </a:rPr>
              <a:t>Governments negotiate only </a:t>
            </a:r>
            <a:r>
              <a:rPr lang="en-US" sz="2400" u="sng" dirty="0">
                <a:solidFill>
                  <a:srgbClr val="000099"/>
                </a:solidFill>
                <a:latin typeface="Arial" pitchFamily="34" charset="0"/>
                <a:cs typeface="Arial" pitchFamily="34" charset="0"/>
              </a:rPr>
              <a:t>if they want</a:t>
            </a:r>
            <a:r>
              <a:rPr lang="en-US" sz="2400" dirty="0">
                <a:solidFill>
                  <a:srgbClr val="000099"/>
                </a:solidFill>
                <a:latin typeface="Arial" pitchFamily="34" charset="0"/>
                <a:cs typeface="Arial" pitchFamily="34" charset="0"/>
              </a:rPr>
              <a:t> and </a:t>
            </a:r>
            <a:r>
              <a:rPr lang="en-US" sz="2400" u="sng" dirty="0">
                <a:solidFill>
                  <a:srgbClr val="000099"/>
                </a:solidFill>
                <a:latin typeface="Arial" pitchFamily="34" charset="0"/>
                <a:cs typeface="Arial" pitchFamily="34" charset="0"/>
              </a:rPr>
              <a:t>what they want</a:t>
            </a:r>
            <a:r>
              <a:rPr lang="en-US" sz="2400" dirty="0">
                <a:solidFill>
                  <a:srgbClr val="000099"/>
                </a:solidFill>
                <a:latin typeface="Arial" pitchFamily="34" charset="0"/>
                <a:cs typeface="Arial" pitchFamily="34" charset="0"/>
              </a:rPr>
              <a:t>.</a:t>
            </a:r>
          </a:p>
          <a:p>
            <a:pPr>
              <a:lnSpc>
                <a:spcPct val="90000"/>
              </a:lnSpc>
            </a:pPr>
            <a:endParaRPr lang="en-US" sz="2400" dirty="0">
              <a:solidFill>
                <a:srgbClr val="000099"/>
              </a:solidFill>
              <a:latin typeface="Arial" pitchFamily="34" charset="0"/>
              <a:cs typeface="Arial" pitchFamily="34" charset="0"/>
            </a:endParaRPr>
          </a:p>
          <a:p>
            <a:pPr>
              <a:lnSpc>
                <a:spcPct val="90000"/>
              </a:lnSpc>
            </a:pPr>
            <a:r>
              <a:rPr lang="en-US" sz="2400" u="sng" dirty="0">
                <a:solidFill>
                  <a:srgbClr val="000099"/>
                </a:solidFill>
                <a:latin typeface="Arial" pitchFamily="34" charset="0"/>
                <a:cs typeface="Arial" pitchFamily="34" charset="0"/>
              </a:rPr>
              <a:t>Consensus rule</a:t>
            </a:r>
            <a:r>
              <a:rPr lang="en-US" sz="2400" dirty="0">
                <a:solidFill>
                  <a:srgbClr val="000099"/>
                </a:solidFill>
                <a:latin typeface="Arial" pitchFamily="34" charset="0"/>
                <a:cs typeface="Arial" pitchFamily="34" charset="0"/>
              </a:rPr>
              <a:t>:</a:t>
            </a:r>
          </a:p>
          <a:p>
            <a:pPr algn="ctr">
              <a:lnSpc>
                <a:spcPct val="90000"/>
              </a:lnSpc>
              <a:buFontTx/>
              <a:buNone/>
            </a:pPr>
            <a:r>
              <a:rPr lang="en-US" sz="2400" i="1" dirty="0">
                <a:solidFill>
                  <a:srgbClr val="000099"/>
                </a:solidFill>
                <a:latin typeface="Arial" pitchFamily="34" charset="0"/>
                <a:cs typeface="Arial" pitchFamily="34" charset="0"/>
              </a:rPr>
              <a:t>if all agree, agreement is implemented; otherwise, it is not.</a:t>
            </a:r>
          </a:p>
        </p:txBody>
      </p:sp>
      <p:sp>
        <p:nvSpPr>
          <p:cNvPr id="123906" name="Rectangle 2"/>
          <p:cNvSpPr>
            <a:spLocks noGrp="1" noChangeArrowheads="1"/>
          </p:cNvSpPr>
          <p:nvPr>
            <p:ph type="title"/>
          </p:nvPr>
        </p:nvSpPr>
        <p:spPr>
          <a:xfrm>
            <a:off x="457200" y="457200"/>
            <a:ext cx="7772400" cy="762000"/>
          </a:xfrm>
        </p:spPr>
        <p:txBody>
          <a:bodyPr>
            <a:normAutofit/>
          </a:bodyPr>
          <a:lstStyle/>
          <a:p>
            <a:r>
              <a:rPr lang="en-US" sz="3200" dirty="0" smtClean="0">
                <a:solidFill>
                  <a:schemeClr val="tx1"/>
                </a:solidFill>
                <a:latin typeface="Arial" pitchFamily="34" charset="0"/>
                <a:cs typeface="Arial" pitchFamily="34" charset="0"/>
              </a:rPr>
              <a:t>WTO </a:t>
            </a:r>
            <a:r>
              <a:rPr lang="en-US" sz="3200" dirty="0">
                <a:solidFill>
                  <a:schemeClr val="tx1"/>
                </a:solidFill>
                <a:latin typeface="Arial" pitchFamily="34" charset="0"/>
                <a:cs typeface="Arial" pitchFamily="34" charset="0"/>
              </a:rPr>
              <a:t>Negotiation Rules</a:t>
            </a:r>
          </a:p>
        </p:txBody>
      </p:sp>
      <p:pic>
        <p:nvPicPr>
          <p:cNvPr id="123908" name="Picture 4" descr="PE01561_"/>
          <p:cNvPicPr>
            <a:picLocks noChangeAspect="1" noChangeArrowheads="1"/>
          </p:cNvPicPr>
          <p:nvPr/>
        </p:nvPicPr>
        <p:blipFill>
          <a:blip r:embed="rId3"/>
          <a:srcRect/>
          <a:stretch>
            <a:fillRect/>
          </a:stretch>
        </p:blipFill>
        <p:spPr bwMode="auto">
          <a:xfrm>
            <a:off x="1600200" y="1600200"/>
            <a:ext cx="1447800" cy="838200"/>
          </a:xfrm>
          <a:prstGeom prst="rect">
            <a:avLst/>
          </a:prstGeom>
          <a:noFill/>
        </p:spPr>
      </p:pic>
      <p:sp>
        <p:nvSpPr>
          <p:cNvPr id="123909" name="Rectangle 5"/>
          <p:cNvSpPr>
            <a:spLocks noChangeArrowheads="1"/>
          </p:cNvSpPr>
          <p:nvPr/>
        </p:nvSpPr>
        <p:spPr bwMode="auto">
          <a:xfrm>
            <a:off x="838200" y="5486400"/>
            <a:ext cx="7772400" cy="685800"/>
          </a:xfrm>
          <a:prstGeom prst="rect">
            <a:avLst/>
          </a:prstGeom>
          <a:noFill/>
          <a:ln w="9525">
            <a:noFill/>
            <a:miter lim="800000"/>
            <a:headEnd/>
            <a:tailEnd/>
          </a:ln>
          <a:effectLst/>
        </p:spPr>
        <p:txBody>
          <a:bodyPr/>
          <a:lstStyle/>
          <a:p>
            <a:pPr marL="342900" indent="-342900" algn="l">
              <a:spcBef>
                <a:spcPct val="20000"/>
              </a:spcBef>
            </a:pPr>
            <a:r>
              <a:rPr lang="en-US" sz="2400" i="1" dirty="0">
                <a:latin typeface="Arial" pitchFamily="34" charset="0"/>
                <a:cs typeface="Arial" pitchFamily="34" charset="0"/>
              </a:rPr>
              <a:t>Bottom line</a:t>
            </a:r>
            <a:r>
              <a:rPr lang="en-US" sz="2400" dirty="0">
                <a:latin typeface="Arial" pitchFamily="34" charset="0"/>
                <a:cs typeface="Arial" pitchFamily="34" charset="0"/>
              </a:rPr>
              <a:t>: </a:t>
            </a:r>
            <a:r>
              <a:rPr lang="en-US" sz="2400" u="sng" dirty="0">
                <a:latin typeface="Arial" pitchFamily="34" charset="0"/>
                <a:cs typeface="Arial" pitchFamily="34" charset="0"/>
              </a:rPr>
              <a:t>All</a:t>
            </a:r>
            <a:r>
              <a:rPr lang="en-US" sz="2400" dirty="0">
                <a:latin typeface="Arial" pitchFamily="34" charset="0"/>
                <a:cs typeface="Arial" pitchFamily="34" charset="0"/>
              </a:rPr>
              <a:t> countries have a voice. </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123908"/>
                                        </p:tgtEl>
                                        <p:attrNameLst>
                                          <p:attrName>style.visibility</p:attrName>
                                        </p:attrNameLst>
                                      </p:cBhvr>
                                      <p:to>
                                        <p:strVal val="visible"/>
                                      </p:to>
                                    </p:set>
                                    <p:anim calcmode="lin" valueType="num">
                                      <p:cBhvr>
                                        <p:cTn id="7" dur="500" fill="hold"/>
                                        <p:tgtEl>
                                          <p:spTgt spid="123908"/>
                                        </p:tgtEl>
                                        <p:attrNameLst>
                                          <p:attrName>ppt_w</p:attrName>
                                        </p:attrNameLst>
                                      </p:cBhvr>
                                      <p:tavLst>
                                        <p:tav tm="0">
                                          <p:val>
                                            <p:fltVal val="0"/>
                                          </p:val>
                                        </p:tav>
                                        <p:tav tm="100000">
                                          <p:val>
                                            <p:strVal val="#ppt_w"/>
                                          </p:val>
                                        </p:tav>
                                      </p:tavLst>
                                    </p:anim>
                                    <p:anim calcmode="lin" valueType="num">
                                      <p:cBhvr>
                                        <p:cTn id="8" dur="500" fill="hold"/>
                                        <p:tgtEl>
                                          <p:spTgt spid="123908"/>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26" fill="hold" grpId="0" nodeType="clickEffect">
                                  <p:stCondLst>
                                    <p:cond delay="0"/>
                                  </p:stCondLst>
                                  <p:childTnLst>
                                    <p:set>
                                      <p:cBhvr>
                                        <p:cTn id="12" dur="1" fill="hold">
                                          <p:stCondLst>
                                            <p:cond delay="0"/>
                                          </p:stCondLst>
                                        </p:cTn>
                                        <p:tgtEl>
                                          <p:spTgt spid="123907">
                                            <p:txEl>
                                              <p:pRg st="0" end="0"/>
                                            </p:txEl>
                                          </p:spTgt>
                                        </p:tgtEl>
                                        <p:attrNameLst>
                                          <p:attrName>style.visibility</p:attrName>
                                        </p:attrNameLst>
                                      </p:cBhvr>
                                      <p:to>
                                        <p:strVal val="visible"/>
                                      </p:to>
                                    </p:set>
                                    <p:animEffect transition="in" filter="barn(inHorizontal)">
                                      <p:cBhvr>
                                        <p:cTn id="13" dur="500"/>
                                        <p:tgtEl>
                                          <p:spTgt spid="123907">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6" presetClass="entr" presetSubtype="26" fill="hold" grpId="0" nodeType="clickEffect">
                                  <p:stCondLst>
                                    <p:cond delay="0"/>
                                  </p:stCondLst>
                                  <p:childTnLst>
                                    <p:set>
                                      <p:cBhvr>
                                        <p:cTn id="17" dur="1" fill="hold">
                                          <p:stCondLst>
                                            <p:cond delay="0"/>
                                          </p:stCondLst>
                                        </p:cTn>
                                        <p:tgtEl>
                                          <p:spTgt spid="123907">
                                            <p:txEl>
                                              <p:pRg st="2" end="2"/>
                                            </p:txEl>
                                          </p:spTgt>
                                        </p:tgtEl>
                                        <p:attrNameLst>
                                          <p:attrName>style.visibility</p:attrName>
                                        </p:attrNameLst>
                                      </p:cBhvr>
                                      <p:to>
                                        <p:strVal val="visible"/>
                                      </p:to>
                                    </p:set>
                                    <p:animEffect transition="in" filter="barn(inHorizontal)">
                                      <p:cBhvr>
                                        <p:cTn id="18" dur="500"/>
                                        <p:tgtEl>
                                          <p:spTgt spid="123907">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6" presetClass="entr" presetSubtype="26" fill="hold" grpId="0" nodeType="clickEffect">
                                  <p:stCondLst>
                                    <p:cond delay="0"/>
                                  </p:stCondLst>
                                  <p:childTnLst>
                                    <p:set>
                                      <p:cBhvr>
                                        <p:cTn id="22" dur="1" fill="hold">
                                          <p:stCondLst>
                                            <p:cond delay="0"/>
                                          </p:stCondLst>
                                        </p:cTn>
                                        <p:tgtEl>
                                          <p:spTgt spid="123907">
                                            <p:txEl>
                                              <p:pRg st="3" end="3"/>
                                            </p:txEl>
                                          </p:spTgt>
                                        </p:tgtEl>
                                        <p:attrNameLst>
                                          <p:attrName>style.visibility</p:attrName>
                                        </p:attrNameLst>
                                      </p:cBhvr>
                                      <p:to>
                                        <p:strVal val="visible"/>
                                      </p:to>
                                    </p:set>
                                    <p:animEffect transition="in" filter="barn(inHorizontal)">
                                      <p:cBhvr>
                                        <p:cTn id="23" dur="500"/>
                                        <p:tgtEl>
                                          <p:spTgt spid="123907">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7" presetClass="entr" presetSubtype="10" fill="hold" grpId="0" nodeType="clickEffect">
                                  <p:stCondLst>
                                    <p:cond delay="0"/>
                                  </p:stCondLst>
                                  <p:childTnLst>
                                    <p:set>
                                      <p:cBhvr>
                                        <p:cTn id="27" dur="1" fill="hold">
                                          <p:stCondLst>
                                            <p:cond delay="0"/>
                                          </p:stCondLst>
                                        </p:cTn>
                                        <p:tgtEl>
                                          <p:spTgt spid="123909"/>
                                        </p:tgtEl>
                                        <p:attrNameLst>
                                          <p:attrName>style.visibility</p:attrName>
                                        </p:attrNameLst>
                                      </p:cBhvr>
                                      <p:to>
                                        <p:strVal val="visible"/>
                                      </p:to>
                                    </p:set>
                                    <p:anim calcmode="lin" valueType="num">
                                      <p:cBhvr>
                                        <p:cTn id="28" dur="500" fill="hold"/>
                                        <p:tgtEl>
                                          <p:spTgt spid="123909"/>
                                        </p:tgtEl>
                                        <p:attrNameLst>
                                          <p:attrName>ppt_w</p:attrName>
                                        </p:attrNameLst>
                                      </p:cBhvr>
                                      <p:tavLst>
                                        <p:tav tm="0">
                                          <p:val>
                                            <p:fltVal val="0"/>
                                          </p:val>
                                        </p:tav>
                                        <p:tav tm="100000">
                                          <p:val>
                                            <p:strVal val="#ppt_w"/>
                                          </p:val>
                                        </p:tav>
                                      </p:tavLst>
                                    </p:anim>
                                    <p:anim calcmode="lin" valueType="num">
                                      <p:cBhvr>
                                        <p:cTn id="29" dur="500" fill="hold"/>
                                        <p:tgtEl>
                                          <p:spTgt spid="123909"/>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907" grpId="0" build="p" bldLvl="3" autoUpdateAnimBg="0"/>
      <p:bldP spid="123909" grpId="0"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4931" name="Rectangle 3"/>
          <p:cNvSpPr>
            <a:spLocks noGrp="1" noChangeArrowheads="1"/>
          </p:cNvSpPr>
          <p:nvPr>
            <p:ph idx="1"/>
          </p:nvPr>
        </p:nvSpPr>
        <p:spPr>
          <a:xfrm>
            <a:off x="685800" y="1676400"/>
            <a:ext cx="7772400" cy="4343400"/>
          </a:xfrm>
        </p:spPr>
        <p:txBody>
          <a:bodyPr>
            <a:normAutofit/>
          </a:bodyPr>
          <a:lstStyle/>
          <a:p>
            <a:pPr>
              <a:lnSpc>
                <a:spcPct val="90000"/>
              </a:lnSpc>
            </a:pPr>
            <a:r>
              <a:rPr lang="en-US" sz="2400" dirty="0">
                <a:solidFill>
                  <a:srgbClr val="000099"/>
                </a:solidFill>
                <a:latin typeface="Arial" pitchFamily="34" charset="0"/>
                <a:cs typeface="Arial" pitchFamily="34" charset="0"/>
              </a:rPr>
              <a:t>Typically, governments care primarily about the residents of their own country.</a:t>
            </a:r>
          </a:p>
          <a:p>
            <a:pPr algn="ctr">
              <a:lnSpc>
                <a:spcPct val="90000"/>
              </a:lnSpc>
              <a:buFontTx/>
              <a:buNone/>
            </a:pPr>
            <a:r>
              <a:rPr lang="en-US" sz="2400" dirty="0">
                <a:solidFill>
                  <a:srgbClr val="000099"/>
                </a:solidFill>
                <a:latin typeface="Arial" pitchFamily="34" charset="0"/>
                <a:cs typeface="Arial" pitchFamily="34" charset="0"/>
                <a:sym typeface="Symbol" pitchFamily="18" charset="2"/>
              </a:rPr>
              <a:t></a:t>
            </a:r>
          </a:p>
          <a:p>
            <a:pPr algn="ctr">
              <a:lnSpc>
                <a:spcPct val="90000"/>
              </a:lnSpc>
              <a:buFontTx/>
              <a:buNone/>
            </a:pPr>
            <a:r>
              <a:rPr lang="en-US" sz="2400" dirty="0">
                <a:solidFill>
                  <a:srgbClr val="000099"/>
                </a:solidFill>
                <a:latin typeface="Arial" pitchFamily="34" charset="0"/>
                <a:cs typeface="Arial" pitchFamily="34" charset="0"/>
              </a:rPr>
              <a:t>Whenever possible, they try to shift the cost of their policies to other countries.</a:t>
            </a:r>
          </a:p>
          <a:p>
            <a:pPr>
              <a:lnSpc>
                <a:spcPct val="90000"/>
              </a:lnSpc>
              <a:buFontTx/>
              <a:buNone/>
            </a:pPr>
            <a:endParaRPr lang="en-US" sz="2400" dirty="0">
              <a:solidFill>
                <a:srgbClr val="000099"/>
              </a:solidFill>
              <a:latin typeface="Arial" pitchFamily="34" charset="0"/>
              <a:cs typeface="Arial" pitchFamily="34" charset="0"/>
            </a:endParaRPr>
          </a:p>
          <a:p>
            <a:pPr>
              <a:lnSpc>
                <a:spcPct val="90000"/>
              </a:lnSpc>
            </a:pPr>
            <a:r>
              <a:rPr lang="en-US" sz="2400" dirty="0">
                <a:solidFill>
                  <a:srgbClr val="000099"/>
                </a:solidFill>
                <a:latin typeface="Arial" pitchFamily="34" charset="0"/>
                <a:cs typeface="Arial" pitchFamily="34" charset="0"/>
              </a:rPr>
              <a:t>This is especially easy to do with trade policies.</a:t>
            </a:r>
          </a:p>
        </p:txBody>
      </p:sp>
      <p:sp>
        <p:nvSpPr>
          <p:cNvPr id="124930" name="Rectangle 2"/>
          <p:cNvSpPr>
            <a:spLocks noGrp="1" noChangeArrowheads="1"/>
          </p:cNvSpPr>
          <p:nvPr>
            <p:ph type="title"/>
          </p:nvPr>
        </p:nvSpPr>
        <p:spPr>
          <a:xfrm>
            <a:off x="76200" y="274638"/>
            <a:ext cx="8915400" cy="1143000"/>
          </a:xfrm>
        </p:spPr>
        <p:txBody>
          <a:bodyPr>
            <a:normAutofit/>
          </a:bodyPr>
          <a:lstStyle/>
          <a:p>
            <a:r>
              <a:rPr lang="en-US" sz="3200" i="1" dirty="0">
                <a:solidFill>
                  <a:schemeClr val="tx1"/>
                </a:solidFill>
                <a:latin typeface="Arial" pitchFamily="34" charset="0"/>
                <a:cs typeface="Arial" pitchFamily="34" charset="0"/>
              </a:rPr>
              <a:t>Why is There a Need for Trade Negotiations?</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24931">
                                            <p:txEl>
                                              <p:pRg st="0" end="0"/>
                                            </p:txEl>
                                          </p:spTgt>
                                        </p:tgtEl>
                                        <p:attrNameLst>
                                          <p:attrName>style.visibility</p:attrName>
                                        </p:attrNameLst>
                                      </p:cBhvr>
                                      <p:to>
                                        <p:strVal val="visible"/>
                                      </p:to>
                                    </p:set>
                                    <p:animEffect transition="in" filter="dissolve">
                                      <p:cBhvr>
                                        <p:cTn id="7" dur="500"/>
                                        <p:tgtEl>
                                          <p:spTgt spid="12493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24931">
                                            <p:txEl>
                                              <p:pRg st="1" end="1"/>
                                            </p:txEl>
                                          </p:spTgt>
                                        </p:tgtEl>
                                        <p:attrNameLst>
                                          <p:attrName>style.visibility</p:attrName>
                                        </p:attrNameLst>
                                      </p:cBhvr>
                                      <p:to>
                                        <p:strVal val="visible"/>
                                      </p:to>
                                    </p:set>
                                    <p:animEffect transition="in" filter="dissolve">
                                      <p:cBhvr>
                                        <p:cTn id="12" dur="500"/>
                                        <p:tgtEl>
                                          <p:spTgt spid="12493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24931">
                                            <p:txEl>
                                              <p:pRg st="2" end="2"/>
                                            </p:txEl>
                                          </p:spTgt>
                                        </p:tgtEl>
                                        <p:attrNameLst>
                                          <p:attrName>style.visibility</p:attrName>
                                        </p:attrNameLst>
                                      </p:cBhvr>
                                      <p:to>
                                        <p:strVal val="visible"/>
                                      </p:to>
                                    </p:set>
                                    <p:animEffect transition="in" filter="dissolve">
                                      <p:cBhvr>
                                        <p:cTn id="17" dur="500"/>
                                        <p:tgtEl>
                                          <p:spTgt spid="12493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24931">
                                            <p:txEl>
                                              <p:pRg st="4" end="4"/>
                                            </p:txEl>
                                          </p:spTgt>
                                        </p:tgtEl>
                                        <p:attrNameLst>
                                          <p:attrName>style.visibility</p:attrName>
                                        </p:attrNameLst>
                                      </p:cBhvr>
                                      <p:to>
                                        <p:strVal val="visible"/>
                                      </p:to>
                                    </p:set>
                                    <p:animEffect transition="in" filter="dissolve">
                                      <p:cBhvr>
                                        <p:cTn id="22" dur="500"/>
                                        <p:tgtEl>
                                          <p:spTgt spid="12493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4931" grpId="0" build="p" bldLvl="2"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5955" name="Rectangle 3"/>
          <p:cNvSpPr>
            <a:spLocks noGrp="1" noChangeArrowheads="1"/>
          </p:cNvSpPr>
          <p:nvPr>
            <p:ph idx="1"/>
          </p:nvPr>
        </p:nvSpPr>
        <p:spPr/>
        <p:txBody>
          <a:bodyPr/>
          <a:lstStyle/>
          <a:p>
            <a:pPr algn="ctr">
              <a:buFontTx/>
              <a:buNone/>
            </a:pPr>
            <a:r>
              <a:rPr lang="en-US" sz="2800" dirty="0">
                <a:solidFill>
                  <a:srgbClr val="000099"/>
                </a:solidFill>
                <a:sym typeface="Symbol" pitchFamily="18" charset="2"/>
              </a:rPr>
              <a:t>A government increases tariffs in a certain sector</a:t>
            </a:r>
          </a:p>
          <a:p>
            <a:pPr algn="ctr">
              <a:buFontTx/>
              <a:buNone/>
            </a:pPr>
            <a:r>
              <a:rPr lang="en-US" sz="2800" dirty="0">
                <a:solidFill>
                  <a:srgbClr val="000099"/>
                </a:solidFill>
                <a:sym typeface="Symbol" pitchFamily="18" charset="2"/>
              </a:rPr>
              <a:t></a:t>
            </a:r>
          </a:p>
          <a:p>
            <a:pPr algn="ctr">
              <a:buFontTx/>
              <a:buNone/>
            </a:pPr>
            <a:r>
              <a:rPr lang="en-US" sz="2800" u="sng" dirty="0">
                <a:solidFill>
                  <a:srgbClr val="000099"/>
                </a:solidFill>
                <a:sym typeface="Symbol" pitchFamily="18" charset="2"/>
              </a:rPr>
              <a:t>local  	     price        rises</a:t>
            </a:r>
          </a:p>
          <a:p>
            <a:pPr algn="ctr">
              <a:buFontTx/>
              <a:buNone/>
            </a:pPr>
            <a:r>
              <a:rPr lang="en-US" sz="2800" dirty="0">
                <a:solidFill>
                  <a:srgbClr val="000099"/>
                </a:solidFill>
                <a:sym typeface="Symbol" pitchFamily="18" charset="2"/>
              </a:rPr>
              <a:t>				</a:t>
            </a:r>
          </a:p>
          <a:p>
            <a:pPr algn="ctr">
              <a:buFontTx/>
              <a:buNone/>
            </a:pPr>
            <a:r>
              <a:rPr lang="en-US" sz="2800" dirty="0">
                <a:solidFill>
                  <a:srgbClr val="000099"/>
                </a:solidFill>
                <a:sym typeface="Symbol" pitchFamily="18" charset="2"/>
              </a:rPr>
              <a:t>     domestic supply (S) </a:t>
            </a:r>
            <a:r>
              <a:rPr lang="en-US" dirty="0">
                <a:solidFill>
                  <a:srgbClr val="000099"/>
                </a:solidFill>
                <a:sym typeface="Symbol" pitchFamily="18" charset="2"/>
              </a:rPr>
              <a:t></a:t>
            </a:r>
            <a:r>
              <a:rPr lang="en-US" sz="2800" dirty="0">
                <a:solidFill>
                  <a:srgbClr val="000099"/>
                </a:solidFill>
                <a:sym typeface="Symbol" pitchFamily="18" charset="2"/>
              </a:rPr>
              <a:t>;    domestic demand (D) </a:t>
            </a:r>
            <a:r>
              <a:rPr lang="en-US" dirty="0">
                <a:solidFill>
                  <a:srgbClr val="000099"/>
                </a:solidFill>
                <a:sym typeface="Symbol" pitchFamily="18" charset="2"/>
              </a:rPr>
              <a:t></a:t>
            </a:r>
            <a:endParaRPr lang="en-US" sz="2800" dirty="0">
              <a:solidFill>
                <a:srgbClr val="000099"/>
              </a:solidFill>
              <a:sym typeface="Symbol" pitchFamily="18" charset="2"/>
            </a:endParaRPr>
          </a:p>
          <a:p>
            <a:pPr algn="ctr">
              <a:buFontTx/>
              <a:buNone/>
            </a:pPr>
            <a:r>
              <a:rPr lang="en-US" sz="2800" dirty="0">
                <a:solidFill>
                  <a:srgbClr val="000099"/>
                </a:solidFill>
                <a:sym typeface="Symbol" pitchFamily="18" charset="2"/>
              </a:rPr>
              <a:t></a:t>
            </a:r>
          </a:p>
          <a:p>
            <a:pPr algn="ctr">
              <a:buFontTx/>
              <a:buNone/>
            </a:pPr>
            <a:r>
              <a:rPr lang="en-US" sz="2800" u="sng" dirty="0">
                <a:solidFill>
                  <a:srgbClr val="000099"/>
                </a:solidFill>
                <a:sym typeface="Symbol" pitchFamily="18" charset="2"/>
              </a:rPr>
              <a:t>import demand (M = D – S) </a:t>
            </a:r>
            <a:r>
              <a:rPr lang="en-US" u="sng" dirty="0">
                <a:solidFill>
                  <a:srgbClr val="000099"/>
                </a:solidFill>
                <a:sym typeface="Symbol" pitchFamily="18" charset="2"/>
              </a:rPr>
              <a:t></a:t>
            </a:r>
          </a:p>
        </p:txBody>
      </p:sp>
      <p:sp>
        <p:nvSpPr>
          <p:cNvPr id="125954" name="Rectangle 2"/>
          <p:cNvSpPr>
            <a:spLocks noGrp="1" noChangeArrowheads="1"/>
          </p:cNvSpPr>
          <p:nvPr>
            <p:ph type="title"/>
          </p:nvPr>
        </p:nvSpPr>
        <p:spPr/>
        <p:txBody>
          <a:bodyPr/>
          <a:lstStyle/>
          <a:p>
            <a:r>
              <a:rPr lang="en-US" sz="4000" dirty="0">
                <a:solidFill>
                  <a:srgbClr val="000099"/>
                </a:solidFill>
              </a:rPr>
              <a:t>“</a:t>
            </a:r>
            <a:r>
              <a:rPr lang="en-US" sz="3200" dirty="0">
                <a:solidFill>
                  <a:schemeClr val="tx1"/>
                </a:solidFill>
                <a:latin typeface="Arial" pitchFamily="34" charset="0"/>
                <a:cs typeface="Arial" pitchFamily="34" charset="0"/>
              </a:rPr>
              <a:t>Beggar-thy-Neighbor”</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25955">
                                            <p:txEl>
                                              <p:pRg st="0" end="0"/>
                                            </p:txEl>
                                          </p:spTgt>
                                        </p:tgtEl>
                                        <p:attrNameLst>
                                          <p:attrName>style.visibility</p:attrName>
                                        </p:attrNameLst>
                                      </p:cBhvr>
                                      <p:to>
                                        <p:strVal val="visible"/>
                                      </p:to>
                                    </p:set>
                                    <p:animEffect transition="in" filter="dissolve">
                                      <p:cBhvr>
                                        <p:cTn id="7" dur="500"/>
                                        <p:tgtEl>
                                          <p:spTgt spid="12595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25955">
                                            <p:txEl>
                                              <p:pRg st="1" end="1"/>
                                            </p:txEl>
                                          </p:spTgt>
                                        </p:tgtEl>
                                        <p:attrNameLst>
                                          <p:attrName>style.visibility</p:attrName>
                                        </p:attrNameLst>
                                      </p:cBhvr>
                                      <p:to>
                                        <p:strVal val="visible"/>
                                      </p:to>
                                    </p:set>
                                    <p:animEffect transition="in" filter="dissolve">
                                      <p:cBhvr>
                                        <p:cTn id="12" dur="500"/>
                                        <p:tgtEl>
                                          <p:spTgt spid="12595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25955">
                                            <p:txEl>
                                              <p:pRg st="2" end="2"/>
                                            </p:txEl>
                                          </p:spTgt>
                                        </p:tgtEl>
                                        <p:attrNameLst>
                                          <p:attrName>style.visibility</p:attrName>
                                        </p:attrNameLst>
                                      </p:cBhvr>
                                      <p:to>
                                        <p:strVal val="visible"/>
                                      </p:to>
                                    </p:set>
                                    <p:animEffect transition="in" filter="dissolve">
                                      <p:cBhvr>
                                        <p:cTn id="17" dur="500"/>
                                        <p:tgtEl>
                                          <p:spTgt spid="12595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25955">
                                            <p:txEl>
                                              <p:pRg st="3" end="3"/>
                                            </p:txEl>
                                          </p:spTgt>
                                        </p:tgtEl>
                                        <p:attrNameLst>
                                          <p:attrName>style.visibility</p:attrName>
                                        </p:attrNameLst>
                                      </p:cBhvr>
                                      <p:to>
                                        <p:strVal val="visible"/>
                                      </p:to>
                                    </p:set>
                                    <p:animEffect transition="in" filter="dissolve">
                                      <p:cBhvr>
                                        <p:cTn id="22" dur="500"/>
                                        <p:tgtEl>
                                          <p:spTgt spid="12595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25955">
                                            <p:txEl>
                                              <p:pRg st="4" end="4"/>
                                            </p:txEl>
                                          </p:spTgt>
                                        </p:tgtEl>
                                        <p:attrNameLst>
                                          <p:attrName>style.visibility</p:attrName>
                                        </p:attrNameLst>
                                      </p:cBhvr>
                                      <p:to>
                                        <p:strVal val="visible"/>
                                      </p:to>
                                    </p:set>
                                    <p:animEffect transition="in" filter="dissolve">
                                      <p:cBhvr>
                                        <p:cTn id="27" dur="500"/>
                                        <p:tgtEl>
                                          <p:spTgt spid="12595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125955">
                                            <p:txEl>
                                              <p:pRg st="5" end="5"/>
                                            </p:txEl>
                                          </p:spTgt>
                                        </p:tgtEl>
                                        <p:attrNameLst>
                                          <p:attrName>style.visibility</p:attrName>
                                        </p:attrNameLst>
                                      </p:cBhvr>
                                      <p:to>
                                        <p:strVal val="visible"/>
                                      </p:to>
                                    </p:set>
                                    <p:animEffect transition="in" filter="dissolve">
                                      <p:cBhvr>
                                        <p:cTn id="32" dur="500"/>
                                        <p:tgtEl>
                                          <p:spTgt spid="12595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125955">
                                            <p:txEl>
                                              <p:pRg st="6" end="6"/>
                                            </p:txEl>
                                          </p:spTgt>
                                        </p:tgtEl>
                                        <p:attrNameLst>
                                          <p:attrName>style.visibility</p:attrName>
                                        </p:attrNameLst>
                                      </p:cBhvr>
                                      <p:to>
                                        <p:strVal val="visible"/>
                                      </p:to>
                                    </p:set>
                                    <p:animEffect transition="in" filter="dissolve">
                                      <p:cBhvr>
                                        <p:cTn id="37" dur="500"/>
                                        <p:tgtEl>
                                          <p:spTgt spid="12595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955" grpId="0" build="p" bldLvl="2"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6979" name="Rectangle 3"/>
          <p:cNvSpPr>
            <a:spLocks noGrp="1" noChangeArrowheads="1"/>
          </p:cNvSpPr>
          <p:nvPr>
            <p:ph sz="half" idx="1"/>
          </p:nvPr>
        </p:nvSpPr>
        <p:spPr>
          <a:xfrm>
            <a:off x="609600" y="1752600"/>
            <a:ext cx="3810000" cy="685800"/>
          </a:xfrm>
        </p:spPr>
        <p:txBody>
          <a:bodyPr>
            <a:normAutofit fontScale="85000" lnSpcReduction="10000"/>
          </a:bodyPr>
          <a:lstStyle/>
          <a:p>
            <a:pPr algn="ctr">
              <a:buFontTx/>
              <a:buNone/>
            </a:pPr>
            <a:r>
              <a:rPr lang="en-US" sz="3200" b="1" u="sng" dirty="0">
                <a:solidFill>
                  <a:srgbClr val="333399"/>
                </a:solidFill>
              </a:rPr>
              <a:t>Non-discrimination</a:t>
            </a:r>
          </a:p>
        </p:txBody>
      </p:sp>
      <p:sp>
        <p:nvSpPr>
          <p:cNvPr id="126980" name="Rectangle 4"/>
          <p:cNvSpPr>
            <a:spLocks noGrp="1" noChangeArrowheads="1"/>
          </p:cNvSpPr>
          <p:nvPr>
            <p:ph sz="half" idx="2"/>
          </p:nvPr>
        </p:nvSpPr>
        <p:spPr>
          <a:xfrm>
            <a:off x="4724400" y="1752600"/>
            <a:ext cx="3810000" cy="609600"/>
          </a:xfrm>
        </p:spPr>
        <p:txBody>
          <a:bodyPr/>
          <a:lstStyle/>
          <a:p>
            <a:pPr algn="ctr">
              <a:buFontTx/>
              <a:buNone/>
            </a:pPr>
            <a:r>
              <a:rPr lang="en-US" sz="3400" b="1" u="sng" dirty="0">
                <a:solidFill>
                  <a:srgbClr val="333399"/>
                </a:solidFill>
              </a:rPr>
              <a:t>Reciprocity</a:t>
            </a:r>
          </a:p>
        </p:txBody>
      </p:sp>
      <p:sp>
        <p:nvSpPr>
          <p:cNvPr id="126978" name="Rectangle 2"/>
          <p:cNvSpPr>
            <a:spLocks noGrp="1" noChangeArrowheads="1"/>
          </p:cNvSpPr>
          <p:nvPr>
            <p:ph type="title"/>
          </p:nvPr>
        </p:nvSpPr>
        <p:spPr>
          <a:xfrm>
            <a:off x="609600" y="457200"/>
            <a:ext cx="7772400" cy="1143000"/>
          </a:xfrm>
        </p:spPr>
        <p:txBody>
          <a:bodyPr>
            <a:normAutofit fontScale="90000"/>
          </a:bodyPr>
          <a:lstStyle/>
          <a:p>
            <a:r>
              <a:rPr lang="en-US" sz="4000" dirty="0">
                <a:solidFill>
                  <a:srgbClr val="333399"/>
                </a:solidFill>
              </a:rPr>
              <a:t>The 2 Pillars of GATT/WTO Negotiations</a:t>
            </a:r>
          </a:p>
        </p:txBody>
      </p:sp>
      <p:sp>
        <p:nvSpPr>
          <p:cNvPr id="126981" name="Rectangle 5"/>
          <p:cNvSpPr>
            <a:spLocks noChangeArrowheads="1"/>
          </p:cNvSpPr>
          <p:nvPr/>
        </p:nvSpPr>
        <p:spPr bwMode="auto">
          <a:xfrm>
            <a:off x="457200" y="2667000"/>
            <a:ext cx="3733800" cy="3352800"/>
          </a:xfrm>
          <a:prstGeom prst="rect">
            <a:avLst/>
          </a:prstGeom>
          <a:solidFill>
            <a:schemeClr val="accent1"/>
          </a:solidFill>
          <a:ln w="9525">
            <a:solidFill>
              <a:schemeClr val="tx1"/>
            </a:solidFill>
            <a:miter lim="800000"/>
            <a:headEnd/>
            <a:tailEnd/>
          </a:ln>
          <a:effectLst/>
        </p:spPr>
        <p:txBody>
          <a:bodyPr wrap="none" anchor="ctr"/>
          <a:lstStyle/>
          <a:p>
            <a:r>
              <a:rPr lang="en-US" sz="2800" u="sng" dirty="0">
                <a:solidFill>
                  <a:srgbClr val="333399"/>
                </a:solidFill>
              </a:rPr>
              <a:t>Most-Favored-Nation</a:t>
            </a:r>
          </a:p>
          <a:p>
            <a:r>
              <a:rPr lang="en-US" sz="2800" u="sng" dirty="0">
                <a:solidFill>
                  <a:srgbClr val="333399"/>
                </a:solidFill>
              </a:rPr>
              <a:t>Clause (MFN)</a:t>
            </a:r>
          </a:p>
          <a:p>
            <a:endParaRPr lang="en-US" sz="800" dirty="0">
              <a:solidFill>
                <a:srgbClr val="333399"/>
              </a:solidFill>
            </a:endParaRPr>
          </a:p>
          <a:p>
            <a:r>
              <a:rPr lang="en-US" sz="2800" i="1" dirty="0">
                <a:solidFill>
                  <a:srgbClr val="333399"/>
                </a:solidFill>
              </a:rPr>
              <a:t>Any tariff concession</a:t>
            </a:r>
          </a:p>
          <a:p>
            <a:r>
              <a:rPr lang="en-US" sz="2800" i="1" dirty="0">
                <a:solidFill>
                  <a:srgbClr val="333399"/>
                </a:solidFill>
              </a:rPr>
              <a:t>a country gives to</a:t>
            </a:r>
          </a:p>
          <a:p>
            <a:r>
              <a:rPr lang="en-US" sz="2800" i="1" dirty="0">
                <a:solidFill>
                  <a:srgbClr val="333399"/>
                </a:solidFill>
              </a:rPr>
              <a:t>another must be </a:t>
            </a:r>
          </a:p>
          <a:p>
            <a:r>
              <a:rPr lang="en-US" sz="2800" i="1" dirty="0">
                <a:solidFill>
                  <a:srgbClr val="333399"/>
                </a:solidFill>
              </a:rPr>
              <a:t>extended to all other </a:t>
            </a:r>
          </a:p>
          <a:p>
            <a:r>
              <a:rPr lang="en-US" sz="2800" i="1" dirty="0">
                <a:solidFill>
                  <a:srgbClr val="333399"/>
                </a:solidFill>
              </a:rPr>
              <a:t>WTO members.</a:t>
            </a:r>
          </a:p>
        </p:txBody>
      </p:sp>
      <p:sp>
        <p:nvSpPr>
          <p:cNvPr id="126982" name="Rectangle 6"/>
          <p:cNvSpPr>
            <a:spLocks noChangeArrowheads="1"/>
          </p:cNvSpPr>
          <p:nvPr/>
        </p:nvSpPr>
        <p:spPr bwMode="auto">
          <a:xfrm>
            <a:off x="4800600" y="2667000"/>
            <a:ext cx="3733800" cy="3352800"/>
          </a:xfrm>
          <a:prstGeom prst="rect">
            <a:avLst/>
          </a:prstGeom>
          <a:solidFill>
            <a:schemeClr val="accent1"/>
          </a:solidFill>
          <a:ln w="9525">
            <a:solidFill>
              <a:schemeClr val="tx1"/>
            </a:solidFill>
            <a:miter lim="800000"/>
            <a:headEnd/>
            <a:tailEnd/>
          </a:ln>
          <a:effectLst/>
        </p:spPr>
        <p:txBody>
          <a:bodyPr wrap="none" anchor="ctr"/>
          <a:lstStyle/>
          <a:p>
            <a:r>
              <a:rPr lang="en-US" sz="2800" i="1" dirty="0">
                <a:solidFill>
                  <a:srgbClr val="333399"/>
                </a:solidFill>
              </a:rPr>
              <a:t>Negotiations are</a:t>
            </a:r>
          </a:p>
          <a:p>
            <a:r>
              <a:rPr lang="en-US" sz="2800" i="1" dirty="0">
                <a:solidFill>
                  <a:srgbClr val="333399"/>
                </a:solidFill>
              </a:rPr>
              <a:t>“</a:t>
            </a:r>
            <a:r>
              <a:rPr lang="en-US" sz="2800" i="1" u="sng" dirty="0">
                <a:solidFill>
                  <a:srgbClr val="333399"/>
                </a:solidFill>
              </a:rPr>
              <a:t>reciprocal</a:t>
            </a:r>
            <a:r>
              <a:rPr lang="en-US" sz="2800" i="1" dirty="0">
                <a:solidFill>
                  <a:srgbClr val="333399"/>
                </a:solidFill>
              </a:rPr>
              <a:t>:”</a:t>
            </a:r>
          </a:p>
          <a:p>
            <a:r>
              <a:rPr lang="en-US" sz="2800" i="1" dirty="0">
                <a:solidFill>
                  <a:srgbClr val="333399"/>
                </a:solidFill>
              </a:rPr>
              <a:t>the market access</a:t>
            </a:r>
          </a:p>
          <a:p>
            <a:r>
              <a:rPr lang="en-US" sz="2800" i="1" dirty="0">
                <a:solidFill>
                  <a:srgbClr val="333399"/>
                </a:solidFill>
              </a:rPr>
              <a:t>obtained must be</a:t>
            </a:r>
          </a:p>
          <a:p>
            <a:r>
              <a:rPr lang="en-US" sz="2800" i="1" dirty="0">
                <a:solidFill>
                  <a:srgbClr val="333399"/>
                </a:solidFill>
              </a:rPr>
              <a:t>equivalent to the</a:t>
            </a:r>
          </a:p>
          <a:p>
            <a:r>
              <a:rPr lang="en-US" sz="2800" i="1" dirty="0">
                <a:solidFill>
                  <a:srgbClr val="333399"/>
                </a:solidFill>
              </a:rPr>
              <a:t>market access</a:t>
            </a:r>
          </a:p>
          <a:p>
            <a:r>
              <a:rPr lang="en-US" sz="2800" i="1" dirty="0">
                <a:solidFill>
                  <a:srgbClr val="333399"/>
                </a:solidFill>
              </a:rPr>
              <a:t>conceded. </a:t>
            </a:r>
          </a:p>
        </p:txBody>
      </p:sp>
      <p:sp>
        <p:nvSpPr>
          <p:cNvPr id="126983" name="Freeform 7"/>
          <p:cNvSpPr>
            <a:spLocks/>
          </p:cNvSpPr>
          <p:nvPr/>
        </p:nvSpPr>
        <p:spPr bwMode="auto">
          <a:xfrm>
            <a:off x="4494213" y="1828800"/>
            <a:ext cx="1587" cy="4186238"/>
          </a:xfrm>
          <a:custGeom>
            <a:avLst/>
            <a:gdLst/>
            <a:ahLst/>
            <a:cxnLst>
              <a:cxn ang="0">
                <a:pos x="1" y="0"/>
              </a:cxn>
              <a:cxn ang="0">
                <a:pos x="0" y="2637"/>
              </a:cxn>
            </a:cxnLst>
            <a:rect l="0" t="0" r="r" b="b"/>
            <a:pathLst>
              <a:path w="1" h="2637">
                <a:moveTo>
                  <a:pt x="1" y="0"/>
                </a:moveTo>
                <a:lnTo>
                  <a:pt x="0" y="2637"/>
                </a:lnTo>
              </a:path>
            </a:pathLst>
          </a:custGeom>
          <a:noFill/>
          <a:ln w="9525" cap="flat" cmpd="sng">
            <a:solidFill>
              <a:srgbClr val="800000"/>
            </a:solidFill>
            <a:prstDash val="solid"/>
            <a:round/>
            <a:headEnd type="none" w="med" len="med"/>
            <a:tailEnd type="none" w="med" len="med"/>
          </a:ln>
          <a:effectLst/>
        </p:spPr>
        <p:txBody>
          <a:bodyPr wrap="none" anchor="ctr"/>
          <a:lstStyle/>
          <a:p>
            <a:endParaRPr 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26979">
                                            <p:txEl>
                                              <p:pRg st="0" end="0"/>
                                            </p:txEl>
                                          </p:spTgt>
                                        </p:tgtEl>
                                        <p:attrNameLst>
                                          <p:attrName>style.visibility</p:attrName>
                                        </p:attrNameLst>
                                      </p:cBhvr>
                                      <p:to>
                                        <p:strVal val="visible"/>
                                      </p:to>
                                    </p:set>
                                    <p:anim calcmode="lin" valueType="num">
                                      <p:cBhvr additive="base">
                                        <p:cTn id="7" dur="500" fill="hold"/>
                                        <p:tgtEl>
                                          <p:spTgt spid="12697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2697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9" presetClass="entr" presetSubtype="0" fill="hold" grpId="0" nodeType="clickEffect">
                                  <p:stCondLst>
                                    <p:cond delay="0"/>
                                  </p:stCondLst>
                                  <p:childTnLst>
                                    <p:set>
                                      <p:cBhvr>
                                        <p:cTn id="12" dur="1" fill="hold">
                                          <p:stCondLst>
                                            <p:cond delay="0"/>
                                          </p:stCondLst>
                                        </p:cTn>
                                        <p:tgtEl>
                                          <p:spTgt spid="126981"/>
                                        </p:tgtEl>
                                        <p:attrNameLst>
                                          <p:attrName>style.visibility</p:attrName>
                                        </p:attrNameLst>
                                      </p:cBhvr>
                                      <p:to>
                                        <p:strVal val="visible"/>
                                      </p:to>
                                    </p:set>
                                    <p:animEffect transition="in" filter="dissolve">
                                      <p:cBhvr>
                                        <p:cTn id="13" dur="500"/>
                                        <p:tgtEl>
                                          <p:spTgt spid="126981"/>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2" fill="hold" grpId="0" nodeType="clickEffect">
                                  <p:stCondLst>
                                    <p:cond delay="0"/>
                                  </p:stCondLst>
                                  <p:childTnLst>
                                    <p:set>
                                      <p:cBhvr>
                                        <p:cTn id="17" dur="1" fill="hold">
                                          <p:stCondLst>
                                            <p:cond delay="0"/>
                                          </p:stCondLst>
                                        </p:cTn>
                                        <p:tgtEl>
                                          <p:spTgt spid="126980">
                                            <p:txEl>
                                              <p:pRg st="0" end="0"/>
                                            </p:txEl>
                                          </p:spTgt>
                                        </p:tgtEl>
                                        <p:attrNameLst>
                                          <p:attrName>style.visibility</p:attrName>
                                        </p:attrNameLst>
                                      </p:cBhvr>
                                      <p:to>
                                        <p:strVal val="visible"/>
                                      </p:to>
                                    </p:set>
                                    <p:anim calcmode="lin" valueType="num">
                                      <p:cBhvr additive="base">
                                        <p:cTn id="18" dur="500" fill="hold"/>
                                        <p:tgtEl>
                                          <p:spTgt spid="126980">
                                            <p:txEl>
                                              <p:pRg st="0" end="0"/>
                                            </p:txEl>
                                          </p:spTgt>
                                        </p:tgtEl>
                                        <p:attrNameLst>
                                          <p:attrName>ppt_x</p:attrName>
                                        </p:attrNameLst>
                                      </p:cBhvr>
                                      <p:tavLst>
                                        <p:tav tm="0">
                                          <p:val>
                                            <p:strVal val="1+#ppt_w/2"/>
                                          </p:val>
                                        </p:tav>
                                        <p:tav tm="100000">
                                          <p:val>
                                            <p:strVal val="#ppt_x"/>
                                          </p:val>
                                        </p:tav>
                                      </p:tavLst>
                                    </p:anim>
                                    <p:anim calcmode="lin" valueType="num">
                                      <p:cBhvr additive="base">
                                        <p:cTn id="19" dur="500" fill="hold"/>
                                        <p:tgtEl>
                                          <p:spTgt spid="126980">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9" presetClass="entr" presetSubtype="0" fill="hold" grpId="0" nodeType="clickEffect">
                                  <p:stCondLst>
                                    <p:cond delay="0"/>
                                  </p:stCondLst>
                                  <p:childTnLst>
                                    <p:set>
                                      <p:cBhvr>
                                        <p:cTn id="23" dur="1" fill="hold">
                                          <p:stCondLst>
                                            <p:cond delay="0"/>
                                          </p:stCondLst>
                                        </p:cTn>
                                        <p:tgtEl>
                                          <p:spTgt spid="126982"/>
                                        </p:tgtEl>
                                        <p:attrNameLst>
                                          <p:attrName>style.visibility</p:attrName>
                                        </p:attrNameLst>
                                      </p:cBhvr>
                                      <p:to>
                                        <p:strVal val="visible"/>
                                      </p:to>
                                    </p:set>
                                    <p:animEffect transition="in" filter="dissolve">
                                      <p:cBhvr>
                                        <p:cTn id="24" dur="500"/>
                                        <p:tgtEl>
                                          <p:spTgt spid="1269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979" grpId="0" build="p" autoUpdateAnimBg="0"/>
      <p:bldP spid="126980" grpId="0" build="p" autoUpdateAnimBg="0"/>
      <p:bldP spid="126981" grpId="0" animBg="1" autoUpdateAnimBg="0"/>
      <p:bldP spid="126982" grpId="0" animBg="1"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8003" name="Rectangle 3"/>
          <p:cNvSpPr>
            <a:spLocks noGrp="1" noChangeArrowheads="1"/>
          </p:cNvSpPr>
          <p:nvPr>
            <p:ph idx="1"/>
          </p:nvPr>
        </p:nvSpPr>
        <p:spPr>
          <a:xfrm>
            <a:off x="533400" y="3657600"/>
            <a:ext cx="8001000" cy="2133600"/>
          </a:xfrm>
        </p:spPr>
        <p:txBody>
          <a:bodyPr>
            <a:normAutofit lnSpcReduction="10000"/>
          </a:bodyPr>
          <a:lstStyle/>
          <a:p>
            <a:pPr algn="ctr">
              <a:lnSpc>
                <a:spcPct val="90000"/>
              </a:lnSpc>
              <a:buFontTx/>
              <a:buNone/>
            </a:pPr>
            <a:r>
              <a:rPr lang="en-US" sz="2400" dirty="0">
                <a:solidFill>
                  <a:srgbClr val="000099"/>
                </a:solidFill>
              </a:rPr>
              <a:t>“As long as bilateral negotiations abide by MFN and satisfy reciprocity, they can be presumed to produce Pareto improvements across governments.</a:t>
            </a:r>
          </a:p>
          <a:p>
            <a:pPr algn="ctr">
              <a:lnSpc>
                <a:spcPct val="90000"/>
              </a:lnSpc>
              <a:buFontTx/>
              <a:buNone/>
            </a:pPr>
            <a:endParaRPr lang="en-US" sz="800" dirty="0">
              <a:solidFill>
                <a:srgbClr val="000099"/>
              </a:solidFill>
            </a:endParaRPr>
          </a:p>
          <a:p>
            <a:pPr algn="ctr">
              <a:lnSpc>
                <a:spcPct val="90000"/>
              </a:lnSpc>
              <a:buFontTx/>
              <a:buNone/>
            </a:pPr>
            <a:r>
              <a:rPr lang="en-US" sz="2400" dirty="0">
                <a:solidFill>
                  <a:srgbClr val="000099"/>
                </a:solidFill>
                <a:latin typeface="TimesNewRoman" charset="0"/>
              </a:rPr>
              <a:t>But if either MFN or reciprocity is violated, then this presumption may not be warranted.”</a:t>
            </a:r>
            <a:endParaRPr lang="en-US" sz="2400" dirty="0">
              <a:solidFill>
                <a:srgbClr val="000099"/>
              </a:solidFill>
            </a:endParaRPr>
          </a:p>
        </p:txBody>
      </p:sp>
      <p:sp>
        <p:nvSpPr>
          <p:cNvPr id="128002" name="Rectangle 2"/>
          <p:cNvSpPr>
            <a:spLocks noGrp="1" noChangeArrowheads="1"/>
          </p:cNvSpPr>
          <p:nvPr>
            <p:ph type="title"/>
          </p:nvPr>
        </p:nvSpPr>
        <p:spPr>
          <a:xfrm>
            <a:off x="762000" y="457200"/>
            <a:ext cx="7772400" cy="1143000"/>
          </a:xfrm>
        </p:spPr>
        <p:txBody>
          <a:bodyPr>
            <a:normAutofit fontScale="90000"/>
          </a:bodyPr>
          <a:lstStyle/>
          <a:p>
            <a:r>
              <a:rPr lang="en-US" sz="3800" i="1" dirty="0">
                <a:solidFill>
                  <a:srgbClr val="000099"/>
                </a:solidFill>
              </a:rPr>
              <a:t>Can these 2 guidelines deliver an efficient outcome?</a:t>
            </a:r>
          </a:p>
        </p:txBody>
      </p:sp>
      <p:sp>
        <p:nvSpPr>
          <p:cNvPr id="128004" name="Rectangle 4"/>
          <p:cNvSpPr>
            <a:spLocks noChangeArrowheads="1"/>
          </p:cNvSpPr>
          <p:nvPr/>
        </p:nvSpPr>
        <p:spPr bwMode="auto">
          <a:xfrm>
            <a:off x="685800" y="1752600"/>
            <a:ext cx="7772400" cy="609600"/>
          </a:xfrm>
          <a:prstGeom prst="rect">
            <a:avLst/>
          </a:prstGeom>
          <a:noFill/>
          <a:ln w="9525">
            <a:noFill/>
            <a:miter lim="800000"/>
            <a:headEnd/>
            <a:tailEnd/>
          </a:ln>
          <a:effectLst/>
        </p:spPr>
        <p:txBody>
          <a:bodyPr/>
          <a:lstStyle/>
          <a:p>
            <a:pPr marL="342900" indent="-342900" algn="l">
              <a:spcBef>
                <a:spcPct val="20000"/>
              </a:spcBef>
            </a:pPr>
            <a:r>
              <a:rPr lang="en-US" sz="2400" dirty="0">
                <a:latin typeface="TimesNewRoman" charset="0"/>
              </a:rPr>
              <a:t>According to recent, cutting-edge research,</a:t>
            </a:r>
            <a:endParaRPr lang="en-US" sz="2400" dirty="0">
              <a:solidFill>
                <a:schemeClr val="tx1"/>
              </a:solidFill>
            </a:endParaRPr>
          </a:p>
        </p:txBody>
      </p:sp>
      <p:sp>
        <p:nvSpPr>
          <p:cNvPr id="128005" name="Oval 5"/>
          <p:cNvSpPr>
            <a:spLocks noChangeArrowheads="1"/>
          </p:cNvSpPr>
          <p:nvPr/>
        </p:nvSpPr>
        <p:spPr bwMode="auto">
          <a:xfrm>
            <a:off x="3124200" y="2514600"/>
            <a:ext cx="3124200" cy="838200"/>
          </a:xfrm>
          <a:prstGeom prst="ellipse">
            <a:avLst/>
          </a:prstGeom>
          <a:solidFill>
            <a:srgbClr val="FFCC66"/>
          </a:solidFill>
          <a:ln w="9525">
            <a:solidFill>
              <a:schemeClr val="tx1"/>
            </a:solidFill>
            <a:round/>
            <a:headEnd/>
            <a:tailEnd/>
          </a:ln>
          <a:effectLst/>
        </p:spPr>
        <p:txBody>
          <a:bodyPr wrap="none" anchor="ctr"/>
          <a:lstStyle/>
          <a:p>
            <a:r>
              <a:rPr lang="en-US" sz="4400" dirty="0">
                <a:solidFill>
                  <a:schemeClr val="tx1"/>
                </a:solidFill>
              </a:rPr>
              <a:t>- </a:t>
            </a:r>
            <a:r>
              <a:rPr lang="en-US" sz="4400" i="1" dirty="0">
                <a:solidFill>
                  <a:schemeClr val="tx1"/>
                </a:solidFill>
              </a:rPr>
              <a:t>Yes </a:t>
            </a:r>
            <a:r>
              <a:rPr lang="en-US" sz="4400" dirty="0">
                <a:solidFill>
                  <a:schemeClr val="tx1"/>
                </a:solidFill>
              </a:rPr>
              <a:t>-</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28004"/>
                                        </p:tgtEl>
                                        <p:attrNameLst>
                                          <p:attrName>style.visibility</p:attrName>
                                        </p:attrNameLst>
                                      </p:cBhvr>
                                      <p:to>
                                        <p:strVal val="visible"/>
                                      </p:to>
                                    </p:set>
                                    <p:animEffect transition="in" filter="dissolve">
                                      <p:cBhvr>
                                        <p:cTn id="7" dur="500"/>
                                        <p:tgtEl>
                                          <p:spTgt spid="128004"/>
                                        </p:tgtEl>
                                      </p:cBhvr>
                                    </p:animEffect>
                                  </p:childTnLst>
                                </p:cTn>
                              </p:par>
                            </p:childTnLst>
                          </p:cTn>
                        </p:par>
                      </p:childTnLst>
                    </p:cTn>
                  </p:par>
                  <p:par>
                    <p:cTn id="8" fill="hold">
                      <p:stCondLst>
                        <p:cond delay="indefinite"/>
                      </p:stCondLst>
                      <p:childTnLst>
                        <p:par>
                          <p:cTn id="9" fill="hold">
                            <p:stCondLst>
                              <p:cond delay="0"/>
                            </p:stCondLst>
                            <p:childTnLst>
                              <p:par>
                                <p:cTn id="10" presetID="19" presetClass="entr" presetSubtype="10" fill="hold" grpId="0" nodeType="clickEffect">
                                  <p:stCondLst>
                                    <p:cond delay="0"/>
                                  </p:stCondLst>
                                  <p:childTnLst>
                                    <p:set>
                                      <p:cBhvr>
                                        <p:cTn id="11" dur="1" fill="hold">
                                          <p:stCondLst>
                                            <p:cond delay="0"/>
                                          </p:stCondLst>
                                        </p:cTn>
                                        <p:tgtEl>
                                          <p:spTgt spid="128005"/>
                                        </p:tgtEl>
                                        <p:attrNameLst>
                                          <p:attrName>style.visibility</p:attrName>
                                        </p:attrNameLst>
                                      </p:cBhvr>
                                      <p:to>
                                        <p:strVal val="visible"/>
                                      </p:to>
                                    </p:set>
                                    <p:anim calcmode="lin" valueType="num">
                                      <p:cBhvr>
                                        <p:cTn id="12" dur="5000" fill="hold"/>
                                        <p:tgtEl>
                                          <p:spTgt spid="128005"/>
                                        </p:tgtEl>
                                        <p:attrNameLst>
                                          <p:attrName>ppt_w</p:attrName>
                                        </p:attrNameLst>
                                      </p:cBhvr>
                                      <p:tavLst>
                                        <p:tav tm="0" fmla="#ppt_w*sin(2.5*pi*$)">
                                          <p:val>
                                            <p:fltVal val="0"/>
                                          </p:val>
                                        </p:tav>
                                        <p:tav tm="100000">
                                          <p:val>
                                            <p:fltVal val="1"/>
                                          </p:val>
                                        </p:tav>
                                      </p:tavLst>
                                    </p:anim>
                                    <p:anim calcmode="lin" valueType="num">
                                      <p:cBhvr>
                                        <p:cTn id="13" dur="5000" fill="hold"/>
                                        <p:tgtEl>
                                          <p:spTgt spid="128005"/>
                                        </p:tgtEl>
                                        <p:attrNameLst>
                                          <p:attrName>ppt_h</p:attrName>
                                        </p:attrNameLst>
                                      </p:cBhvr>
                                      <p:tavLst>
                                        <p:tav tm="0">
                                          <p:val>
                                            <p:strVal val="#ppt_h"/>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128003">
                                            <p:txEl>
                                              <p:pRg st="0" end="0"/>
                                            </p:txEl>
                                          </p:spTgt>
                                        </p:tgtEl>
                                        <p:attrNameLst>
                                          <p:attrName>style.visibility</p:attrName>
                                        </p:attrNameLst>
                                      </p:cBhvr>
                                      <p:to>
                                        <p:strVal val="visible"/>
                                      </p:to>
                                    </p:set>
                                    <p:anim calcmode="lin" valueType="num">
                                      <p:cBhvr>
                                        <p:cTn id="18" dur="500" fill="hold"/>
                                        <p:tgtEl>
                                          <p:spTgt spid="128003">
                                            <p:txEl>
                                              <p:pRg st="0" end="0"/>
                                            </p:txEl>
                                          </p:spTgt>
                                        </p:tgtEl>
                                        <p:attrNameLst>
                                          <p:attrName>ppt_w</p:attrName>
                                        </p:attrNameLst>
                                      </p:cBhvr>
                                      <p:tavLst>
                                        <p:tav tm="0">
                                          <p:val>
                                            <p:fltVal val="0"/>
                                          </p:val>
                                        </p:tav>
                                        <p:tav tm="100000">
                                          <p:val>
                                            <p:strVal val="#ppt_w"/>
                                          </p:val>
                                        </p:tav>
                                      </p:tavLst>
                                    </p:anim>
                                    <p:anim calcmode="lin" valueType="num">
                                      <p:cBhvr>
                                        <p:cTn id="19" dur="500" fill="hold"/>
                                        <p:tgtEl>
                                          <p:spTgt spid="128003">
                                            <p:txEl>
                                              <p:pRg st="0" end="0"/>
                                            </p:txEl>
                                          </p:spTgt>
                                        </p:tgtEl>
                                        <p:attrNameLst>
                                          <p:attrName>ppt_h</p:attrName>
                                        </p:attrNameLst>
                                      </p:cBhvr>
                                      <p:tavLst>
                                        <p:tav tm="0">
                                          <p:val>
                                            <p:fltVal val="0"/>
                                          </p:val>
                                        </p:tav>
                                        <p:tav tm="100000">
                                          <p:val>
                                            <p:strVal val="#ppt_h"/>
                                          </p:val>
                                        </p:tav>
                                      </p:tavLst>
                                    </p:anim>
                                  </p:childTnLst>
                                </p:cTn>
                              </p:par>
                            </p:childTnLst>
                          </p:cTn>
                        </p:par>
                      </p:childTnLst>
                    </p:cTn>
                  </p:par>
                  <p:par>
                    <p:cTn id="20" fill="hold">
                      <p:stCondLst>
                        <p:cond delay="indefinite"/>
                      </p:stCondLst>
                      <p:childTnLst>
                        <p:par>
                          <p:cTn id="21" fill="hold">
                            <p:stCondLst>
                              <p:cond delay="0"/>
                            </p:stCondLst>
                            <p:childTnLst>
                              <p:par>
                                <p:cTn id="22" presetID="23" presetClass="entr" presetSubtype="16" fill="hold" grpId="0" nodeType="clickEffect">
                                  <p:stCondLst>
                                    <p:cond delay="0"/>
                                  </p:stCondLst>
                                  <p:childTnLst>
                                    <p:set>
                                      <p:cBhvr>
                                        <p:cTn id="23" dur="1" fill="hold">
                                          <p:stCondLst>
                                            <p:cond delay="0"/>
                                          </p:stCondLst>
                                        </p:cTn>
                                        <p:tgtEl>
                                          <p:spTgt spid="128003">
                                            <p:txEl>
                                              <p:pRg st="2" end="2"/>
                                            </p:txEl>
                                          </p:spTgt>
                                        </p:tgtEl>
                                        <p:attrNameLst>
                                          <p:attrName>style.visibility</p:attrName>
                                        </p:attrNameLst>
                                      </p:cBhvr>
                                      <p:to>
                                        <p:strVal val="visible"/>
                                      </p:to>
                                    </p:set>
                                    <p:anim calcmode="lin" valueType="num">
                                      <p:cBhvr>
                                        <p:cTn id="24" dur="500" fill="hold"/>
                                        <p:tgtEl>
                                          <p:spTgt spid="128003">
                                            <p:txEl>
                                              <p:pRg st="2" end="2"/>
                                            </p:txEl>
                                          </p:spTgt>
                                        </p:tgtEl>
                                        <p:attrNameLst>
                                          <p:attrName>ppt_w</p:attrName>
                                        </p:attrNameLst>
                                      </p:cBhvr>
                                      <p:tavLst>
                                        <p:tav tm="0">
                                          <p:val>
                                            <p:fltVal val="0"/>
                                          </p:val>
                                        </p:tav>
                                        <p:tav tm="100000">
                                          <p:val>
                                            <p:strVal val="#ppt_w"/>
                                          </p:val>
                                        </p:tav>
                                      </p:tavLst>
                                    </p:anim>
                                    <p:anim calcmode="lin" valueType="num">
                                      <p:cBhvr>
                                        <p:cTn id="25" dur="500" fill="hold"/>
                                        <p:tgtEl>
                                          <p:spTgt spid="128003">
                                            <p:txEl>
                                              <p:pRg st="2" end="2"/>
                                            </p:txEl>
                                          </p:spTgt>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8003" grpId="0" build="p" bldLvl="2" autoUpdateAnimBg="0"/>
      <p:bldP spid="128004" grpId="0" autoUpdateAnimBg="0"/>
      <p:bldP spid="128005" grpId="0" animBg="1"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9027" name="Rectangle 3"/>
          <p:cNvSpPr>
            <a:spLocks noGrp="1" noChangeArrowheads="1"/>
          </p:cNvSpPr>
          <p:nvPr>
            <p:ph idx="1"/>
          </p:nvPr>
        </p:nvSpPr>
        <p:spPr>
          <a:xfrm>
            <a:off x="533400" y="2362200"/>
            <a:ext cx="8153400" cy="3505200"/>
          </a:xfrm>
        </p:spPr>
        <p:txBody>
          <a:bodyPr>
            <a:normAutofit fontScale="92500" lnSpcReduction="10000"/>
          </a:bodyPr>
          <a:lstStyle/>
          <a:p>
            <a:r>
              <a:rPr lang="en-US" sz="2800" dirty="0">
                <a:solidFill>
                  <a:srgbClr val="000099"/>
                </a:solidFill>
              </a:rPr>
              <a:t>WTO has no police power to enforce the agreements:</a:t>
            </a:r>
          </a:p>
          <a:p>
            <a:pPr lvl="1"/>
            <a:r>
              <a:rPr lang="en-US" sz="2600" dirty="0">
                <a:solidFill>
                  <a:srgbClr val="000099"/>
                </a:solidFill>
              </a:rPr>
              <a:t>The WTO cannot send any country to ‘jail.’</a:t>
            </a:r>
          </a:p>
          <a:p>
            <a:endParaRPr lang="en-US" sz="1400" dirty="0">
              <a:solidFill>
                <a:srgbClr val="000099"/>
              </a:solidFill>
            </a:endParaRPr>
          </a:p>
          <a:p>
            <a:r>
              <a:rPr lang="en-US" sz="2800" dirty="0">
                <a:solidFill>
                  <a:srgbClr val="000099"/>
                </a:solidFill>
              </a:rPr>
              <a:t>The WTO cannot even indirectly force countries to abide by previous agreement.</a:t>
            </a:r>
          </a:p>
          <a:p>
            <a:pPr lvl="1"/>
            <a:r>
              <a:rPr lang="en-US" sz="2600" dirty="0">
                <a:solidFill>
                  <a:srgbClr val="000099"/>
                </a:solidFill>
              </a:rPr>
              <a:t>By suspending loans, for instance, as the IMF can do.</a:t>
            </a:r>
          </a:p>
          <a:p>
            <a:pPr>
              <a:buFontTx/>
              <a:buNone/>
            </a:pPr>
            <a:endParaRPr lang="en-US" sz="1400" dirty="0">
              <a:solidFill>
                <a:srgbClr val="000099"/>
              </a:solidFill>
            </a:endParaRPr>
          </a:p>
          <a:p>
            <a:pPr>
              <a:buFontTx/>
              <a:buNone/>
            </a:pPr>
            <a:r>
              <a:rPr lang="en-US" sz="2800" dirty="0">
                <a:solidFill>
                  <a:srgbClr val="000099"/>
                </a:solidFill>
                <a:sym typeface="Symbol" pitchFamily="18" charset="2"/>
              </a:rPr>
              <a:t> Agreements need to be self-sustainable.</a:t>
            </a:r>
          </a:p>
        </p:txBody>
      </p:sp>
      <p:sp>
        <p:nvSpPr>
          <p:cNvPr id="129026" name="Rectangle 2"/>
          <p:cNvSpPr>
            <a:spLocks noGrp="1" noChangeArrowheads="1"/>
          </p:cNvSpPr>
          <p:nvPr>
            <p:ph type="title"/>
          </p:nvPr>
        </p:nvSpPr>
        <p:spPr>
          <a:xfrm>
            <a:off x="457200" y="609600"/>
            <a:ext cx="8229600" cy="1371600"/>
          </a:xfrm>
        </p:spPr>
        <p:txBody>
          <a:bodyPr>
            <a:normAutofit fontScale="90000"/>
          </a:bodyPr>
          <a:lstStyle/>
          <a:p>
            <a:r>
              <a:rPr lang="en-US" sz="3000" i="1" dirty="0">
                <a:solidFill>
                  <a:srgbClr val="000099"/>
                </a:solidFill>
              </a:rPr>
              <a:t>How can governments enforce an agreement when each individual country has an incentive to disrespect what it had agreed upon?</a:t>
            </a:r>
            <a:endParaRPr lang="en-US" sz="3000" dirty="0">
              <a:solidFill>
                <a:srgbClr val="000099"/>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129027">
                                            <p:txEl>
                                              <p:pRg st="0" end="0"/>
                                            </p:txEl>
                                          </p:spTgt>
                                        </p:tgtEl>
                                        <p:attrNameLst>
                                          <p:attrName>style.visibility</p:attrName>
                                        </p:attrNameLst>
                                      </p:cBhvr>
                                      <p:to>
                                        <p:strVal val="visible"/>
                                      </p:to>
                                    </p:set>
                                    <p:animEffect transition="in" filter="barn(inHorizontal)">
                                      <p:cBhvr>
                                        <p:cTn id="7" dur="500"/>
                                        <p:tgtEl>
                                          <p:spTgt spid="129027">
                                            <p:txEl>
                                              <p:pRg st="0" end="0"/>
                                            </p:txEl>
                                          </p:spTgt>
                                        </p:tgtEl>
                                      </p:cBhvr>
                                    </p:animEffect>
                                  </p:childTnLst>
                                </p:cTn>
                              </p:par>
                              <p:par>
                                <p:cTn id="8" presetID="16" presetClass="entr" presetSubtype="26" fill="hold" grpId="0" nodeType="withEffect">
                                  <p:stCondLst>
                                    <p:cond delay="0"/>
                                  </p:stCondLst>
                                  <p:childTnLst>
                                    <p:set>
                                      <p:cBhvr>
                                        <p:cTn id="9" dur="1" fill="hold">
                                          <p:stCondLst>
                                            <p:cond delay="0"/>
                                          </p:stCondLst>
                                        </p:cTn>
                                        <p:tgtEl>
                                          <p:spTgt spid="129027">
                                            <p:txEl>
                                              <p:pRg st="1" end="1"/>
                                            </p:txEl>
                                          </p:spTgt>
                                        </p:tgtEl>
                                        <p:attrNameLst>
                                          <p:attrName>style.visibility</p:attrName>
                                        </p:attrNameLst>
                                      </p:cBhvr>
                                      <p:to>
                                        <p:strVal val="visible"/>
                                      </p:to>
                                    </p:set>
                                    <p:animEffect transition="in" filter="barn(inHorizontal)">
                                      <p:cBhvr>
                                        <p:cTn id="10" dur="500"/>
                                        <p:tgtEl>
                                          <p:spTgt spid="129027">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6" fill="hold" grpId="0" nodeType="clickEffect">
                                  <p:stCondLst>
                                    <p:cond delay="0"/>
                                  </p:stCondLst>
                                  <p:childTnLst>
                                    <p:set>
                                      <p:cBhvr>
                                        <p:cTn id="14" dur="1" fill="hold">
                                          <p:stCondLst>
                                            <p:cond delay="0"/>
                                          </p:stCondLst>
                                        </p:cTn>
                                        <p:tgtEl>
                                          <p:spTgt spid="129027">
                                            <p:txEl>
                                              <p:pRg st="3" end="3"/>
                                            </p:txEl>
                                          </p:spTgt>
                                        </p:tgtEl>
                                        <p:attrNameLst>
                                          <p:attrName>style.visibility</p:attrName>
                                        </p:attrNameLst>
                                      </p:cBhvr>
                                      <p:to>
                                        <p:strVal val="visible"/>
                                      </p:to>
                                    </p:set>
                                    <p:animEffect transition="in" filter="barn(inHorizontal)">
                                      <p:cBhvr>
                                        <p:cTn id="15" dur="500"/>
                                        <p:tgtEl>
                                          <p:spTgt spid="129027">
                                            <p:txEl>
                                              <p:pRg st="3" end="3"/>
                                            </p:txEl>
                                          </p:spTgt>
                                        </p:tgtEl>
                                      </p:cBhvr>
                                    </p:animEffect>
                                  </p:childTnLst>
                                </p:cTn>
                              </p:par>
                              <p:par>
                                <p:cTn id="16" presetID="16" presetClass="entr" presetSubtype="26" fill="hold" grpId="0" nodeType="withEffect">
                                  <p:stCondLst>
                                    <p:cond delay="0"/>
                                  </p:stCondLst>
                                  <p:childTnLst>
                                    <p:set>
                                      <p:cBhvr>
                                        <p:cTn id="17" dur="1" fill="hold">
                                          <p:stCondLst>
                                            <p:cond delay="0"/>
                                          </p:stCondLst>
                                        </p:cTn>
                                        <p:tgtEl>
                                          <p:spTgt spid="129027">
                                            <p:txEl>
                                              <p:pRg st="4" end="4"/>
                                            </p:txEl>
                                          </p:spTgt>
                                        </p:tgtEl>
                                        <p:attrNameLst>
                                          <p:attrName>style.visibility</p:attrName>
                                        </p:attrNameLst>
                                      </p:cBhvr>
                                      <p:to>
                                        <p:strVal val="visible"/>
                                      </p:to>
                                    </p:set>
                                    <p:animEffect transition="in" filter="barn(inHorizontal)">
                                      <p:cBhvr>
                                        <p:cTn id="18" dur="500"/>
                                        <p:tgtEl>
                                          <p:spTgt spid="129027">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6" presetClass="entr" presetSubtype="26" fill="hold" grpId="0" nodeType="clickEffect">
                                  <p:stCondLst>
                                    <p:cond delay="0"/>
                                  </p:stCondLst>
                                  <p:childTnLst>
                                    <p:set>
                                      <p:cBhvr>
                                        <p:cTn id="22" dur="1" fill="hold">
                                          <p:stCondLst>
                                            <p:cond delay="0"/>
                                          </p:stCondLst>
                                        </p:cTn>
                                        <p:tgtEl>
                                          <p:spTgt spid="129027">
                                            <p:txEl>
                                              <p:pRg st="6" end="6"/>
                                            </p:txEl>
                                          </p:spTgt>
                                        </p:tgtEl>
                                        <p:attrNameLst>
                                          <p:attrName>style.visibility</p:attrName>
                                        </p:attrNameLst>
                                      </p:cBhvr>
                                      <p:to>
                                        <p:strVal val="visible"/>
                                      </p:to>
                                    </p:set>
                                    <p:animEffect transition="in" filter="barn(inHorizontal)">
                                      <p:cBhvr>
                                        <p:cTn id="23" dur="500"/>
                                        <p:tgtEl>
                                          <p:spTgt spid="12902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027" grpId="0" build="p"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0050" name="AutoShape 2"/>
          <p:cNvSpPr>
            <a:spLocks noChangeArrowheads="1"/>
          </p:cNvSpPr>
          <p:nvPr/>
        </p:nvSpPr>
        <p:spPr bwMode="auto">
          <a:xfrm>
            <a:off x="1371600" y="1600200"/>
            <a:ext cx="5334000" cy="2057400"/>
          </a:xfrm>
          <a:prstGeom prst="horizontalScroll">
            <a:avLst>
              <a:gd name="adj" fmla="val 12500"/>
            </a:avLst>
          </a:prstGeom>
          <a:solidFill>
            <a:srgbClr val="CC99FF"/>
          </a:solidFill>
          <a:ln w="9525">
            <a:solidFill>
              <a:schemeClr val="tx1"/>
            </a:solidFill>
            <a:round/>
            <a:headEnd/>
            <a:tailEnd/>
          </a:ln>
          <a:effectLst/>
        </p:spPr>
        <p:txBody>
          <a:bodyPr wrap="none" anchor="ctr"/>
          <a:lstStyle/>
          <a:p>
            <a:endParaRPr lang="en-US" dirty="0"/>
          </a:p>
        </p:txBody>
      </p:sp>
      <p:sp>
        <p:nvSpPr>
          <p:cNvPr id="130052" name="Rectangle 4"/>
          <p:cNvSpPr>
            <a:spLocks noGrp="1" noChangeArrowheads="1"/>
          </p:cNvSpPr>
          <p:nvPr>
            <p:ph idx="1"/>
          </p:nvPr>
        </p:nvSpPr>
        <p:spPr>
          <a:xfrm>
            <a:off x="1295400" y="1905000"/>
            <a:ext cx="5867400" cy="1447800"/>
          </a:xfrm>
        </p:spPr>
        <p:txBody>
          <a:bodyPr/>
          <a:lstStyle/>
          <a:p>
            <a:pPr algn="ctr">
              <a:lnSpc>
                <a:spcPct val="90000"/>
              </a:lnSpc>
              <a:buFontTx/>
              <a:buNone/>
            </a:pPr>
            <a:r>
              <a:rPr lang="en-US" dirty="0">
                <a:solidFill>
                  <a:srgbClr val="000099"/>
                </a:solidFill>
              </a:rPr>
              <a:t>Repeated interaction</a:t>
            </a:r>
          </a:p>
          <a:p>
            <a:pPr algn="ctr">
              <a:lnSpc>
                <a:spcPct val="90000"/>
              </a:lnSpc>
              <a:buFontTx/>
              <a:buNone/>
            </a:pPr>
            <a:r>
              <a:rPr lang="en-US" sz="2200" dirty="0">
                <a:solidFill>
                  <a:srgbClr val="000099"/>
                </a:solidFill>
              </a:rPr>
              <a:t>+ </a:t>
            </a:r>
          </a:p>
          <a:p>
            <a:pPr algn="ctr">
              <a:lnSpc>
                <a:spcPct val="90000"/>
              </a:lnSpc>
              <a:buFontTx/>
              <a:buNone/>
            </a:pPr>
            <a:r>
              <a:rPr lang="en-US" dirty="0">
                <a:solidFill>
                  <a:srgbClr val="000099"/>
                </a:solidFill>
              </a:rPr>
              <a:t>Threat of retaliation</a:t>
            </a:r>
          </a:p>
        </p:txBody>
      </p:sp>
      <p:sp>
        <p:nvSpPr>
          <p:cNvPr id="130051" name="Rectangle 3"/>
          <p:cNvSpPr>
            <a:spLocks noGrp="1" noChangeArrowheads="1"/>
          </p:cNvSpPr>
          <p:nvPr>
            <p:ph type="title"/>
          </p:nvPr>
        </p:nvSpPr>
        <p:spPr>
          <a:xfrm>
            <a:off x="533400" y="457200"/>
            <a:ext cx="7162800" cy="1066800"/>
          </a:xfrm>
        </p:spPr>
        <p:txBody>
          <a:bodyPr>
            <a:normAutofit fontScale="90000"/>
          </a:bodyPr>
          <a:lstStyle/>
          <a:p>
            <a:r>
              <a:rPr lang="en-US" sz="3800" i="1" dirty="0">
                <a:solidFill>
                  <a:srgbClr val="000099"/>
                </a:solidFill>
              </a:rPr>
              <a:t>How, then, can cooperation be achieved?</a:t>
            </a:r>
            <a:endParaRPr lang="en-US" sz="3800" dirty="0">
              <a:solidFill>
                <a:srgbClr val="000099"/>
              </a:solidFill>
            </a:endParaRPr>
          </a:p>
        </p:txBody>
      </p:sp>
      <p:pic>
        <p:nvPicPr>
          <p:cNvPr id="130053" name="Picture 5" descr="BD05584_"/>
          <p:cNvPicPr>
            <a:picLocks noChangeAspect="1" noChangeArrowheads="1"/>
          </p:cNvPicPr>
          <p:nvPr/>
        </p:nvPicPr>
        <p:blipFill>
          <a:blip r:embed="rId2"/>
          <a:srcRect/>
          <a:stretch>
            <a:fillRect/>
          </a:stretch>
        </p:blipFill>
        <p:spPr bwMode="auto">
          <a:xfrm>
            <a:off x="6172200" y="2667000"/>
            <a:ext cx="1143000" cy="1347788"/>
          </a:xfrm>
          <a:prstGeom prst="rect">
            <a:avLst/>
          </a:prstGeom>
          <a:noFill/>
        </p:spPr>
      </p:pic>
      <p:sp>
        <p:nvSpPr>
          <p:cNvPr id="130054" name="Rectangle 6"/>
          <p:cNvSpPr>
            <a:spLocks noChangeArrowheads="1"/>
          </p:cNvSpPr>
          <p:nvPr/>
        </p:nvSpPr>
        <p:spPr bwMode="auto">
          <a:xfrm>
            <a:off x="609600" y="4267200"/>
            <a:ext cx="8077200" cy="1447800"/>
          </a:xfrm>
          <a:prstGeom prst="rect">
            <a:avLst/>
          </a:prstGeom>
          <a:noFill/>
          <a:ln w="9525">
            <a:noFill/>
            <a:miter lim="800000"/>
            <a:headEnd/>
            <a:tailEnd/>
          </a:ln>
          <a:effectLst/>
        </p:spPr>
        <p:txBody>
          <a:bodyPr/>
          <a:lstStyle/>
          <a:p>
            <a:pPr marL="342900" indent="-342900" algn="l">
              <a:spcBef>
                <a:spcPct val="20000"/>
              </a:spcBef>
              <a:buFontTx/>
              <a:buChar char="•"/>
            </a:pPr>
            <a:r>
              <a:rPr lang="en-US" sz="2800" dirty="0"/>
              <a:t>WTO members have agreed to confer to the WTO the right to set the rules governing retaliation, discipline it and keep it within bounds.</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130050"/>
                                        </p:tgtEl>
                                        <p:attrNameLst>
                                          <p:attrName>style.visibility</p:attrName>
                                        </p:attrNameLst>
                                      </p:cBhvr>
                                      <p:to>
                                        <p:strVal val="visible"/>
                                      </p:to>
                                    </p:set>
                                    <p:anim calcmode="lin" valueType="num">
                                      <p:cBhvr>
                                        <p:cTn id="7" dur="500" fill="hold"/>
                                        <p:tgtEl>
                                          <p:spTgt spid="130050"/>
                                        </p:tgtEl>
                                        <p:attrNameLst>
                                          <p:attrName>ppt_w</p:attrName>
                                        </p:attrNameLst>
                                      </p:cBhvr>
                                      <p:tavLst>
                                        <p:tav tm="0">
                                          <p:val>
                                            <p:fltVal val="0"/>
                                          </p:val>
                                        </p:tav>
                                        <p:tav tm="100000">
                                          <p:val>
                                            <p:strVal val="#ppt_w"/>
                                          </p:val>
                                        </p:tav>
                                      </p:tavLst>
                                    </p:anim>
                                    <p:anim calcmode="lin" valueType="num">
                                      <p:cBhvr>
                                        <p:cTn id="8" dur="500" fill="hold"/>
                                        <p:tgtEl>
                                          <p:spTgt spid="130050"/>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9" presetClass="entr" presetSubtype="0" fill="hold" grpId="0" nodeType="clickEffect">
                                  <p:stCondLst>
                                    <p:cond delay="0"/>
                                  </p:stCondLst>
                                  <p:childTnLst>
                                    <p:set>
                                      <p:cBhvr>
                                        <p:cTn id="12" dur="1" fill="hold">
                                          <p:stCondLst>
                                            <p:cond delay="0"/>
                                          </p:stCondLst>
                                        </p:cTn>
                                        <p:tgtEl>
                                          <p:spTgt spid="130052">
                                            <p:txEl>
                                              <p:pRg st="0" end="0"/>
                                            </p:txEl>
                                          </p:spTgt>
                                        </p:tgtEl>
                                        <p:attrNameLst>
                                          <p:attrName>style.visibility</p:attrName>
                                        </p:attrNameLst>
                                      </p:cBhvr>
                                      <p:to>
                                        <p:strVal val="visible"/>
                                      </p:to>
                                    </p:set>
                                    <p:animEffect transition="in" filter="dissolve">
                                      <p:cBhvr>
                                        <p:cTn id="13" dur="500"/>
                                        <p:tgtEl>
                                          <p:spTgt spid="130052">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130052">
                                            <p:txEl>
                                              <p:pRg st="1" end="1"/>
                                            </p:txEl>
                                          </p:spTgt>
                                        </p:tgtEl>
                                        <p:attrNameLst>
                                          <p:attrName>style.visibility</p:attrName>
                                        </p:attrNameLst>
                                      </p:cBhvr>
                                      <p:to>
                                        <p:strVal val="visible"/>
                                      </p:to>
                                    </p:set>
                                    <p:animEffect transition="in" filter="dissolve">
                                      <p:cBhvr>
                                        <p:cTn id="18" dur="500"/>
                                        <p:tgtEl>
                                          <p:spTgt spid="130052">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130052">
                                            <p:txEl>
                                              <p:pRg st="2" end="2"/>
                                            </p:txEl>
                                          </p:spTgt>
                                        </p:tgtEl>
                                        <p:attrNameLst>
                                          <p:attrName>style.visibility</p:attrName>
                                        </p:attrNameLst>
                                      </p:cBhvr>
                                      <p:to>
                                        <p:strVal val="visible"/>
                                      </p:to>
                                    </p:set>
                                    <p:animEffect transition="in" filter="dissolve">
                                      <p:cBhvr>
                                        <p:cTn id="23" dur="500"/>
                                        <p:tgtEl>
                                          <p:spTgt spid="130052">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nodeType="clickEffect">
                                  <p:stCondLst>
                                    <p:cond delay="0"/>
                                  </p:stCondLst>
                                  <p:childTnLst>
                                    <p:set>
                                      <p:cBhvr>
                                        <p:cTn id="27" dur="1" fill="hold">
                                          <p:stCondLst>
                                            <p:cond delay="0"/>
                                          </p:stCondLst>
                                        </p:cTn>
                                        <p:tgtEl>
                                          <p:spTgt spid="130053"/>
                                        </p:tgtEl>
                                        <p:attrNameLst>
                                          <p:attrName>style.visibility</p:attrName>
                                        </p:attrNameLst>
                                      </p:cBhvr>
                                      <p:to>
                                        <p:strVal val="visible"/>
                                      </p:to>
                                    </p:set>
                                    <p:animEffect transition="in" filter="dissolve">
                                      <p:cBhvr>
                                        <p:cTn id="28" dur="500"/>
                                        <p:tgtEl>
                                          <p:spTgt spid="130053"/>
                                        </p:tgtEl>
                                      </p:cBhvr>
                                    </p:animEffect>
                                  </p:childTnLst>
                                </p:cTn>
                              </p:par>
                            </p:childTnLst>
                          </p:cTn>
                        </p:par>
                      </p:childTnLst>
                    </p:cTn>
                  </p:par>
                  <p:par>
                    <p:cTn id="29" fill="hold">
                      <p:stCondLst>
                        <p:cond delay="indefinite"/>
                      </p:stCondLst>
                      <p:childTnLst>
                        <p:par>
                          <p:cTn id="30" fill="hold">
                            <p:stCondLst>
                              <p:cond delay="0"/>
                            </p:stCondLst>
                            <p:childTnLst>
                              <p:par>
                                <p:cTn id="31" presetID="16" presetClass="entr" presetSubtype="26" fill="hold" grpId="0" nodeType="clickEffect">
                                  <p:stCondLst>
                                    <p:cond delay="0"/>
                                  </p:stCondLst>
                                  <p:childTnLst>
                                    <p:set>
                                      <p:cBhvr>
                                        <p:cTn id="32" dur="1" fill="hold">
                                          <p:stCondLst>
                                            <p:cond delay="0"/>
                                          </p:stCondLst>
                                        </p:cTn>
                                        <p:tgtEl>
                                          <p:spTgt spid="130054">
                                            <p:txEl>
                                              <p:pRg st="0" end="0"/>
                                            </p:txEl>
                                          </p:spTgt>
                                        </p:tgtEl>
                                        <p:attrNameLst>
                                          <p:attrName>style.visibility</p:attrName>
                                        </p:attrNameLst>
                                      </p:cBhvr>
                                      <p:to>
                                        <p:strVal val="visible"/>
                                      </p:to>
                                    </p:set>
                                    <p:animEffect transition="in" filter="barn(inHorizontal)">
                                      <p:cBhvr>
                                        <p:cTn id="33" dur="500"/>
                                        <p:tgtEl>
                                          <p:spTgt spid="13005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0050" grpId="0" animBg="1"/>
      <p:bldP spid="130052" grpId="0" build="p" bldLvl="2" autoUpdateAnimBg="0"/>
      <p:bldP spid="130054" grpId="0" build="p" bldLvl="2"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1075" name="Rectangle 3"/>
          <p:cNvSpPr>
            <a:spLocks noGrp="1" noChangeArrowheads="1"/>
          </p:cNvSpPr>
          <p:nvPr>
            <p:ph idx="1"/>
          </p:nvPr>
        </p:nvSpPr>
        <p:spPr>
          <a:xfrm>
            <a:off x="533400" y="1447800"/>
            <a:ext cx="8077200" cy="4572000"/>
          </a:xfrm>
          <a:solidFill>
            <a:srgbClr val="EAEAEA"/>
          </a:solidFill>
        </p:spPr>
        <p:txBody>
          <a:bodyPr>
            <a:normAutofit fontScale="92500"/>
          </a:bodyPr>
          <a:lstStyle/>
          <a:p>
            <a:r>
              <a:rPr lang="en-US" sz="2400" b="1" dirty="0">
                <a:solidFill>
                  <a:srgbClr val="333399"/>
                </a:solidFill>
              </a:rPr>
              <a:t>If a member believes their rights under the agreements are being infringed, it should bring the case to the WTO—instead of acting unilaterally. </a:t>
            </a:r>
          </a:p>
          <a:p>
            <a:endParaRPr lang="en-US" sz="800" b="1" dirty="0">
              <a:solidFill>
                <a:srgbClr val="333399"/>
              </a:solidFill>
            </a:endParaRPr>
          </a:p>
          <a:p>
            <a:r>
              <a:rPr lang="en-US" sz="2400" b="1" dirty="0">
                <a:solidFill>
                  <a:srgbClr val="333399"/>
                </a:solidFill>
              </a:rPr>
              <a:t>Initially, governments try to settle their differences through consultation. </a:t>
            </a:r>
          </a:p>
          <a:p>
            <a:r>
              <a:rPr lang="en-US" sz="2400" b="1" dirty="0">
                <a:solidFill>
                  <a:srgbClr val="333399"/>
                </a:solidFill>
              </a:rPr>
              <a:t>If the case is not settled during the consultation period, a stage-by-stage procedure is initiated.</a:t>
            </a:r>
          </a:p>
          <a:p>
            <a:r>
              <a:rPr lang="en-US" sz="2400" b="1" dirty="0">
                <a:solidFill>
                  <a:srgbClr val="333399"/>
                </a:solidFill>
              </a:rPr>
              <a:t>A panel of independent experts, judging each case based on interpretations of the agreements and individual countries’ commitments, makes the final ruling.</a:t>
            </a:r>
          </a:p>
          <a:p>
            <a:r>
              <a:rPr lang="en-US" sz="2400" b="1" dirty="0">
                <a:solidFill>
                  <a:srgbClr val="333399"/>
                </a:solidFill>
              </a:rPr>
              <a:t>Governments can appeal after the final ruling.</a:t>
            </a:r>
          </a:p>
        </p:txBody>
      </p:sp>
      <p:sp>
        <p:nvSpPr>
          <p:cNvPr id="131074" name="Rectangle 2"/>
          <p:cNvSpPr>
            <a:spLocks noGrp="1" noChangeArrowheads="1"/>
          </p:cNvSpPr>
          <p:nvPr>
            <p:ph type="title"/>
          </p:nvPr>
        </p:nvSpPr>
        <p:spPr>
          <a:xfrm>
            <a:off x="381000" y="457200"/>
            <a:ext cx="8077200" cy="663575"/>
          </a:xfrm>
        </p:spPr>
        <p:txBody>
          <a:bodyPr>
            <a:normAutofit fontScale="90000"/>
          </a:bodyPr>
          <a:lstStyle/>
          <a:p>
            <a:r>
              <a:rPr lang="en-US" sz="3800" dirty="0">
                <a:solidFill>
                  <a:srgbClr val="333399"/>
                </a:solidFill>
              </a:rPr>
              <a:t>WTO Dispute Settlement—the Process</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31075">
                                            <p:txEl>
                                              <p:pRg st="0" end="0"/>
                                            </p:txEl>
                                          </p:spTgt>
                                        </p:tgtEl>
                                        <p:attrNameLst>
                                          <p:attrName>style.visibility</p:attrName>
                                        </p:attrNameLst>
                                      </p:cBhvr>
                                      <p:to>
                                        <p:strVal val="visible"/>
                                      </p:to>
                                    </p:set>
                                    <p:animEffect transition="in" filter="dissolve">
                                      <p:cBhvr>
                                        <p:cTn id="7" dur="500"/>
                                        <p:tgtEl>
                                          <p:spTgt spid="13107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31075">
                                            <p:txEl>
                                              <p:pRg st="2" end="2"/>
                                            </p:txEl>
                                          </p:spTgt>
                                        </p:tgtEl>
                                        <p:attrNameLst>
                                          <p:attrName>style.visibility</p:attrName>
                                        </p:attrNameLst>
                                      </p:cBhvr>
                                      <p:to>
                                        <p:strVal val="visible"/>
                                      </p:to>
                                    </p:set>
                                    <p:animEffect transition="in" filter="dissolve">
                                      <p:cBhvr>
                                        <p:cTn id="12" dur="500"/>
                                        <p:tgtEl>
                                          <p:spTgt spid="13107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31075">
                                            <p:txEl>
                                              <p:pRg st="3" end="3"/>
                                            </p:txEl>
                                          </p:spTgt>
                                        </p:tgtEl>
                                        <p:attrNameLst>
                                          <p:attrName>style.visibility</p:attrName>
                                        </p:attrNameLst>
                                      </p:cBhvr>
                                      <p:to>
                                        <p:strVal val="visible"/>
                                      </p:to>
                                    </p:set>
                                    <p:animEffect transition="in" filter="dissolve">
                                      <p:cBhvr>
                                        <p:cTn id="17" dur="500"/>
                                        <p:tgtEl>
                                          <p:spTgt spid="131075">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31075">
                                            <p:txEl>
                                              <p:pRg st="4" end="4"/>
                                            </p:txEl>
                                          </p:spTgt>
                                        </p:tgtEl>
                                        <p:attrNameLst>
                                          <p:attrName>style.visibility</p:attrName>
                                        </p:attrNameLst>
                                      </p:cBhvr>
                                      <p:to>
                                        <p:strVal val="visible"/>
                                      </p:to>
                                    </p:set>
                                    <p:animEffect transition="in" filter="dissolve">
                                      <p:cBhvr>
                                        <p:cTn id="22" dur="500"/>
                                        <p:tgtEl>
                                          <p:spTgt spid="131075">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31075">
                                            <p:txEl>
                                              <p:pRg st="5" end="5"/>
                                            </p:txEl>
                                          </p:spTgt>
                                        </p:tgtEl>
                                        <p:attrNameLst>
                                          <p:attrName>style.visibility</p:attrName>
                                        </p:attrNameLst>
                                      </p:cBhvr>
                                      <p:to>
                                        <p:strVal val="visible"/>
                                      </p:to>
                                    </p:set>
                                    <p:animEffect transition="in" filter="dissolve">
                                      <p:cBhvr>
                                        <p:cTn id="27" dur="500"/>
                                        <p:tgtEl>
                                          <p:spTgt spid="13107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1075" grpId="0" build="p"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2099" name="Rectangle 3"/>
          <p:cNvSpPr>
            <a:spLocks noGrp="1" noChangeArrowheads="1"/>
          </p:cNvSpPr>
          <p:nvPr>
            <p:ph idx="1"/>
          </p:nvPr>
        </p:nvSpPr>
        <p:spPr>
          <a:xfrm>
            <a:off x="533400" y="1905000"/>
            <a:ext cx="8077200" cy="4114800"/>
          </a:xfrm>
          <a:solidFill>
            <a:srgbClr val="EAEAEA"/>
          </a:solidFill>
        </p:spPr>
        <p:txBody>
          <a:bodyPr/>
          <a:lstStyle/>
          <a:p>
            <a:pPr>
              <a:lnSpc>
                <a:spcPct val="90000"/>
              </a:lnSpc>
            </a:pPr>
            <a:r>
              <a:rPr lang="en-US" sz="2800" b="1" dirty="0">
                <a:solidFill>
                  <a:srgbClr val="333399"/>
                </a:solidFill>
              </a:rPr>
              <a:t>Details the procedures and the timetable to be followed in resolving disputes.</a:t>
            </a:r>
          </a:p>
          <a:p>
            <a:pPr>
              <a:lnSpc>
                <a:spcPct val="90000"/>
              </a:lnSpc>
            </a:pPr>
            <a:r>
              <a:rPr lang="en-US" sz="2800" b="1" dirty="0">
                <a:solidFill>
                  <a:srgbClr val="333399"/>
                </a:solidFill>
              </a:rPr>
              <a:t>Rulings harder to block.</a:t>
            </a:r>
          </a:p>
          <a:p>
            <a:pPr lvl="1">
              <a:lnSpc>
                <a:spcPct val="90000"/>
              </a:lnSpc>
            </a:pPr>
            <a:r>
              <a:rPr lang="en-US" sz="2600" b="1" dirty="0">
                <a:solidFill>
                  <a:srgbClr val="333399"/>
                </a:solidFill>
              </a:rPr>
              <a:t>Rulings are automatically adopted unless there is a consensus to reject a ruling.</a:t>
            </a:r>
          </a:p>
          <a:p>
            <a:pPr>
              <a:lnSpc>
                <a:spcPct val="90000"/>
              </a:lnSpc>
            </a:pPr>
            <a:r>
              <a:rPr lang="en-US" sz="2800" b="1" dirty="0">
                <a:solidFill>
                  <a:srgbClr val="333399"/>
                </a:solidFill>
              </a:rPr>
              <a:t>Stricter limits for the length of time a case should take to be settled.</a:t>
            </a:r>
          </a:p>
          <a:p>
            <a:pPr lvl="1">
              <a:lnSpc>
                <a:spcPct val="90000"/>
              </a:lnSpc>
            </a:pPr>
            <a:r>
              <a:rPr lang="en-US" sz="2600" b="1" dirty="0">
                <a:solidFill>
                  <a:srgbClr val="333399"/>
                </a:solidFill>
              </a:rPr>
              <a:t>In normal cases, settlement should take less than a year; if the case is appealed, less than 15 months.</a:t>
            </a:r>
          </a:p>
        </p:txBody>
      </p:sp>
      <p:sp>
        <p:nvSpPr>
          <p:cNvPr id="132098" name="Rectangle 2"/>
          <p:cNvSpPr>
            <a:spLocks noGrp="1" noChangeArrowheads="1"/>
          </p:cNvSpPr>
          <p:nvPr>
            <p:ph type="title"/>
          </p:nvPr>
        </p:nvSpPr>
        <p:spPr>
          <a:xfrm>
            <a:off x="381000" y="457200"/>
            <a:ext cx="8153400" cy="1219200"/>
          </a:xfrm>
        </p:spPr>
        <p:txBody>
          <a:bodyPr>
            <a:normAutofit fontScale="90000"/>
          </a:bodyPr>
          <a:lstStyle/>
          <a:p>
            <a:r>
              <a:rPr lang="en-US" sz="3800" dirty="0">
                <a:solidFill>
                  <a:srgbClr val="333399"/>
                </a:solidFill>
              </a:rPr>
              <a:t>WTO Dispute Settlement:</a:t>
            </a:r>
            <a:br>
              <a:rPr lang="en-US" sz="3800" dirty="0">
                <a:solidFill>
                  <a:srgbClr val="333399"/>
                </a:solidFill>
              </a:rPr>
            </a:br>
            <a:r>
              <a:rPr lang="en-US" sz="3800" dirty="0">
                <a:solidFill>
                  <a:srgbClr val="333399"/>
                </a:solidFill>
              </a:rPr>
              <a:t>Improvements Over Older System</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32099">
                                            <p:txEl>
                                              <p:pRg st="0" end="0"/>
                                            </p:txEl>
                                          </p:spTgt>
                                        </p:tgtEl>
                                        <p:attrNameLst>
                                          <p:attrName>style.visibility</p:attrName>
                                        </p:attrNameLst>
                                      </p:cBhvr>
                                      <p:to>
                                        <p:strVal val="visible"/>
                                      </p:to>
                                    </p:set>
                                    <p:animEffect transition="in" filter="blinds(horizontal)">
                                      <p:cBhvr>
                                        <p:cTn id="7" dur="500"/>
                                        <p:tgtEl>
                                          <p:spTgt spid="13209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32099">
                                            <p:txEl>
                                              <p:pRg st="1" end="1"/>
                                            </p:txEl>
                                          </p:spTgt>
                                        </p:tgtEl>
                                        <p:attrNameLst>
                                          <p:attrName>style.visibility</p:attrName>
                                        </p:attrNameLst>
                                      </p:cBhvr>
                                      <p:to>
                                        <p:strVal val="visible"/>
                                      </p:to>
                                    </p:set>
                                    <p:animEffect transition="in" filter="blinds(horizontal)">
                                      <p:cBhvr>
                                        <p:cTn id="12" dur="500"/>
                                        <p:tgtEl>
                                          <p:spTgt spid="132099">
                                            <p:txEl>
                                              <p:pRg st="1" end="1"/>
                                            </p:txEl>
                                          </p:spTgt>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132099">
                                            <p:txEl>
                                              <p:pRg st="2" end="2"/>
                                            </p:txEl>
                                          </p:spTgt>
                                        </p:tgtEl>
                                        <p:attrNameLst>
                                          <p:attrName>style.visibility</p:attrName>
                                        </p:attrNameLst>
                                      </p:cBhvr>
                                      <p:to>
                                        <p:strVal val="visible"/>
                                      </p:to>
                                    </p:set>
                                    <p:animEffect transition="in" filter="blinds(horizontal)">
                                      <p:cBhvr>
                                        <p:cTn id="15" dur="500"/>
                                        <p:tgtEl>
                                          <p:spTgt spid="132099">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132099">
                                            <p:txEl>
                                              <p:pRg st="3" end="3"/>
                                            </p:txEl>
                                          </p:spTgt>
                                        </p:tgtEl>
                                        <p:attrNameLst>
                                          <p:attrName>style.visibility</p:attrName>
                                        </p:attrNameLst>
                                      </p:cBhvr>
                                      <p:to>
                                        <p:strVal val="visible"/>
                                      </p:to>
                                    </p:set>
                                    <p:animEffect transition="in" filter="blinds(horizontal)">
                                      <p:cBhvr>
                                        <p:cTn id="20" dur="500"/>
                                        <p:tgtEl>
                                          <p:spTgt spid="132099">
                                            <p:txEl>
                                              <p:pRg st="3" end="3"/>
                                            </p:txEl>
                                          </p:spTgt>
                                        </p:tgtEl>
                                      </p:cBhvr>
                                    </p:animEffect>
                                  </p:childTnLst>
                                </p:cTn>
                              </p:par>
                              <p:par>
                                <p:cTn id="21" presetID="3" presetClass="entr" presetSubtype="10" fill="hold" grpId="0" nodeType="withEffect">
                                  <p:stCondLst>
                                    <p:cond delay="0"/>
                                  </p:stCondLst>
                                  <p:childTnLst>
                                    <p:set>
                                      <p:cBhvr>
                                        <p:cTn id="22" dur="1" fill="hold">
                                          <p:stCondLst>
                                            <p:cond delay="0"/>
                                          </p:stCondLst>
                                        </p:cTn>
                                        <p:tgtEl>
                                          <p:spTgt spid="132099">
                                            <p:txEl>
                                              <p:pRg st="4" end="4"/>
                                            </p:txEl>
                                          </p:spTgt>
                                        </p:tgtEl>
                                        <p:attrNameLst>
                                          <p:attrName>style.visibility</p:attrName>
                                        </p:attrNameLst>
                                      </p:cBhvr>
                                      <p:to>
                                        <p:strVal val="visible"/>
                                      </p:to>
                                    </p:set>
                                    <p:animEffect transition="in" filter="blinds(horizontal)">
                                      <p:cBhvr>
                                        <p:cTn id="23" dur="500"/>
                                        <p:tgtEl>
                                          <p:spTgt spid="13209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2099" grpId="0" build="p"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3123" name="Rectangle 3"/>
          <p:cNvSpPr>
            <a:spLocks noGrp="1" noChangeArrowheads="1"/>
          </p:cNvSpPr>
          <p:nvPr>
            <p:ph idx="1"/>
          </p:nvPr>
        </p:nvSpPr>
        <p:spPr>
          <a:xfrm>
            <a:off x="381000" y="1676400"/>
            <a:ext cx="8153400" cy="3886200"/>
          </a:xfrm>
          <a:solidFill>
            <a:srgbClr val="EAEAEA"/>
          </a:solidFill>
          <a:ln/>
        </p:spPr>
        <p:txBody>
          <a:bodyPr>
            <a:normAutofit lnSpcReduction="10000"/>
          </a:bodyPr>
          <a:lstStyle/>
          <a:p>
            <a:r>
              <a:rPr lang="en-US" sz="2600" b="1" dirty="0">
                <a:solidFill>
                  <a:srgbClr val="333399"/>
                </a:solidFill>
              </a:rPr>
              <a:t>From 1995 to 2004, 324 disputes were taken to the WTO. [GATT (1947-94 ): around 300.]</a:t>
            </a:r>
          </a:p>
          <a:p>
            <a:endParaRPr lang="en-US" sz="1000" b="1" dirty="0">
              <a:solidFill>
                <a:srgbClr val="333399"/>
              </a:solidFill>
            </a:endParaRPr>
          </a:p>
          <a:p>
            <a:r>
              <a:rPr lang="en-US" sz="2600" b="1" dirty="0">
                <a:solidFill>
                  <a:srgbClr val="333399"/>
                </a:solidFill>
              </a:rPr>
              <a:t>About 15% of the cases are resolved ‘out of court.’</a:t>
            </a:r>
          </a:p>
          <a:p>
            <a:endParaRPr lang="en-US" sz="1000" b="1" dirty="0">
              <a:solidFill>
                <a:srgbClr val="333399"/>
              </a:solidFill>
            </a:endParaRPr>
          </a:p>
          <a:p>
            <a:r>
              <a:rPr lang="en-US" sz="2600" b="1" dirty="0">
                <a:solidFill>
                  <a:srgbClr val="333399"/>
                </a:solidFill>
              </a:rPr>
              <a:t>Most others resolved after formal dispute resolution procedures were adopted.</a:t>
            </a:r>
          </a:p>
          <a:p>
            <a:endParaRPr lang="en-US" sz="1000" b="1" dirty="0">
              <a:solidFill>
                <a:srgbClr val="333399"/>
              </a:solidFill>
            </a:endParaRPr>
          </a:p>
          <a:p>
            <a:r>
              <a:rPr lang="en-US" sz="2600" b="1" dirty="0">
                <a:solidFill>
                  <a:srgbClr val="333399"/>
                </a:solidFill>
              </a:rPr>
              <a:t>Typically, involved parties have abided by the WTO recommendations.</a:t>
            </a:r>
          </a:p>
        </p:txBody>
      </p:sp>
      <p:sp>
        <p:nvSpPr>
          <p:cNvPr id="133122" name="Rectangle 2"/>
          <p:cNvSpPr>
            <a:spLocks noGrp="1" noChangeArrowheads="1"/>
          </p:cNvSpPr>
          <p:nvPr>
            <p:ph type="title"/>
          </p:nvPr>
        </p:nvSpPr>
        <p:spPr>
          <a:xfrm>
            <a:off x="228600" y="457200"/>
            <a:ext cx="8382000" cy="663575"/>
          </a:xfrm>
        </p:spPr>
        <p:txBody>
          <a:bodyPr>
            <a:normAutofit fontScale="90000"/>
          </a:bodyPr>
          <a:lstStyle/>
          <a:p>
            <a:r>
              <a:rPr lang="en-US" sz="3800" dirty="0">
                <a:solidFill>
                  <a:srgbClr val="333399"/>
                </a:solidFill>
              </a:rPr>
              <a:t>WTO Dispute Settlement—the Outcomes</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grpId="0" nodeType="clickEffect">
                                  <p:stCondLst>
                                    <p:cond delay="0"/>
                                  </p:stCondLst>
                                  <p:childTnLst>
                                    <p:set>
                                      <p:cBhvr>
                                        <p:cTn id="6" dur="1" fill="hold">
                                          <p:stCondLst>
                                            <p:cond delay="0"/>
                                          </p:stCondLst>
                                        </p:cTn>
                                        <p:tgtEl>
                                          <p:spTgt spid="133123">
                                            <p:txEl>
                                              <p:pRg st="0" end="0"/>
                                            </p:txEl>
                                          </p:spTgt>
                                        </p:tgtEl>
                                        <p:attrNameLst>
                                          <p:attrName>style.visibility</p:attrName>
                                        </p:attrNameLst>
                                      </p:cBhvr>
                                      <p:to>
                                        <p:strVal val="visible"/>
                                      </p:to>
                                    </p:set>
                                    <p:animEffect transition="in" filter="blinds(vertical)">
                                      <p:cBhvr>
                                        <p:cTn id="7" dur="500"/>
                                        <p:tgtEl>
                                          <p:spTgt spid="13312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5" fill="hold" grpId="0" nodeType="clickEffect">
                                  <p:stCondLst>
                                    <p:cond delay="0"/>
                                  </p:stCondLst>
                                  <p:childTnLst>
                                    <p:set>
                                      <p:cBhvr>
                                        <p:cTn id="11" dur="1" fill="hold">
                                          <p:stCondLst>
                                            <p:cond delay="0"/>
                                          </p:stCondLst>
                                        </p:cTn>
                                        <p:tgtEl>
                                          <p:spTgt spid="133123">
                                            <p:txEl>
                                              <p:pRg st="2" end="2"/>
                                            </p:txEl>
                                          </p:spTgt>
                                        </p:tgtEl>
                                        <p:attrNameLst>
                                          <p:attrName>style.visibility</p:attrName>
                                        </p:attrNameLst>
                                      </p:cBhvr>
                                      <p:to>
                                        <p:strVal val="visible"/>
                                      </p:to>
                                    </p:set>
                                    <p:animEffect transition="in" filter="blinds(vertical)">
                                      <p:cBhvr>
                                        <p:cTn id="12" dur="500"/>
                                        <p:tgtEl>
                                          <p:spTgt spid="13312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5" fill="hold" grpId="0" nodeType="clickEffect">
                                  <p:stCondLst>
                                    <p:cond delay="0"/>
                                  </p:stCondLst>
                                  <p:childTnLst>
                                    <p:set>
                                      <p:cBhvr>
                                        <p:cTn id="16" dur="1" fill="hold">
                                          <p:stCondLst>
                                            <p:cond delay="0"/>
                                          </p:stCondLst>
                                        </p:cTn>
                                        <p:tgtEl>
                                          <p:spTgt spid="133123">
                                            <p:txEl>
                                              <p:pRg st="4" end="4"/>
                                            </p:txEl>
                                          </p:spTgt>
                                        </p:tgtEl>
                                        <p:attrNameLst>
                                          <p:attrName>style.visibility</p:attrName>
                                        </p:attrNameLst>
                                      </p:cBhvr>
                                      <p:to>
                                        <p:strVal val="visible"/>
                                      </p:to>
                                    </p:set>
                                    <p:animEffect transition="in" filter="blinds(vertical)">
                                      <p:cBhvr>
                                        <p:cTn id="17" dur="500"/>
                                        <p:tgtEl>
                                          <p:spTgt spid="13312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5" fill="hold" grpId="0" nodeType="clickEffect">
                                  <p:stCondLst>
                                    <p:cond delay="0"/>
                                  </p:stCondLst>
                                  <p:childTnLst>
                                    <p:set>
                                      <p:cBhvr>
                                        <p:cTn id="21" dur="1" fill="hold">
                                          <p:stCondLst>
                                            <p:cond delay="0"/>
                                          </p:stCondLst>
                                        </p:cTn>
                                        <p:tgtEl>
                                          <p:spTgt spid="133123">
                                            <p:txEl>
                                              <p:pRg st="6" end="6"/>
                                            </p:txEl>
                                          </p:spTgt>
                                        </p:tgtEl>
                                        <p:attrNameLst>
                                          <p:attrName>style.visibility</p:attrName>
                                        </p:attrNameLst>
                                      </p:cBhvr>
                                      <p:to>
                                        <p:strVal val="visible"/>
                                      </p:to>
                                    </p:set>
                                    <p:animEffect transition="in" filter="blinds(vertical)">
                                      <p:cBhvr>
                                        <p:cTn id="22" dur="500"/>
                                        <p:tgtEl>
                                          <p:spTgt spid="13312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23" grpId="0" build="p" bldLvl="2"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4147" name="Rectangle 3"/>
          <p:cNvSpPr>
            <a:spLocks noGrp="1" noChangeArrowheads="1"/>
          </p:cNvSpPr>
          <p:nvPr>
            <p:ph idx="1"/>
          </p:nvPr>
        </p:nvSpPr>
        <p:spPr>
          <a:xfrm>
            <a:off x="381000" y="1981200"/>
            <a:ext cx="8382000" cy="4114800"/>
          </a:xfrm>
        </p:spPr>
        <p:txBody>
          <a:bodyPr>
            <a:normAutofit fontScale="92500"/>
          </a:bodyPr>
          <a:lstStyle/>
          <a:p>
            <a:pPr algn="ctr">
              <a:buFontTx/>
              <a:buNone/>
            </a:pPr>
            <a:r>
              <a:rPr lang="en-US" sz="3000" dirty="0">
                <a:solidFill>
                  <a:srgbClr val="000099"/>
                </a:solidFill>
              </a:rPr>
              <a:t>‘Free trade is not compatible with reasonable labor standards and environment protection.’</a:t>
            </a:r>
          </a:p>
          <a:p>
            <a:pPr>
              <a:buFontTx/>
              <a:buNone/>
            </a:pPr>
            <a:endParaRPr lang="en-US" sz="1200" dirty="0">
              <a:solidFill>
                <a:srgbClr val="000099"/>
              </a:solidFill>
            </a:endParaRPr>
          </a:p>
          <a:p>
            <a:r>
              <a:rPr lang="en-US" sz="3000" dirty="0">
                <a:solidFill>
                  <a:srgbClr val="000099"/>
                </a:solidFill>
              </a:rPr>
              <a:t>In reality, international trade affects labor and environmental regulations only indirectly.</a:t>
            </a:r>
          </a:p>
          <a:p>
            <a:pPr lvl="1"/>
            <a:r>
              <a:rPr lang="en-US" dirty="0">
                <a:solidFill>
                  <a:srgbClr val="000099"/>
                </a:solidFill>
              </a:rPr>
              <a:t>And the effects have been, by all accounts, positive.</a:t>
            </a:r>
          </a:p>
          <a:p>
            <a:pPr lvl="1"/>
            <a:r>
              <a:rPr lang="en-US" dirty="0">
                <a:solidFill>
                  <a:srgbClr val="000099"/>
                </a:solidFill>
              </a:rPr>
              <a:t>Typically, as income grows, demand for tighter standards increases; since trade normally increases income, …</a:t>
            </a:r>
          </a:p>
        </p:txBody>
      </p:sp>
      <p:sp>
        <p:nvSpPr>
          <p:cNvPr id="134146" name="Rectangle 2"/>
          <p:cNvSpPr>
            <a:spLocks noGrp="1" noChangeArrowheads="1"/>
          </p:cNvSpPr>
          <p:nvPr>
            <p:ph type="title"/>
          </p:nvPr>
        </p:nvSpPr>
        <p:spPr/>
        <p:txBody>
          <a:bodyPr>
            <a:normAutofit fontScale="90000"/>
          </a:bodyPr>
          <a:lstStyle/>
          <a:p>
            <a:r>
              <a:rPr lang="en-US" sz="4000" b="1" dirty="0">
                <a:solidFill>
                  <a:srgbClr val="000099"/>
                </a:solidFill>
                <a:latin typeface="TimesNewRomanPS-BoldMT" charset="0"/>
              </a:rPr>
              <a:t>Labor and Environmental Standards</a:t>
            </a:r>
            <a:endParaRPr lang="en-US" sz="4000" dirty="0">
              <a:solidFill>
                <a:srgbClr val="000099"/>
              </a:solidFill>
              <a:latin typeface="TimesNewRomanPS-BoldMT"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34147">
                                            <p:txEl>
                                              <p:pRg st="0" end="0"/>
                                            </p:txEl>
                                          </p:spTgt>
                                        </p:tgtEl>
                                        <p:attrNameLst>
                                          <p:attrName>style.visibility</p:attrName>
                                        </p:attrNameLst>
                                      </p:cBhvr>
                                      <p:to>
                                        <p:strVal val="visible"/>
                                      </p:to>
                                    </p:set>
                                    <p:animEffect transition="in" filter="box(out)">
                                      <p:cBhvr>
                                        <p:cTn id="7" dur="500"/>
                                        <p:tgtEl>
                                          <p:spTgt spid="13414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34147">
                                            <p:txEl>
                                              <p:pRg st="2" end="2"/>
                                            </p:txEl>
                                          </p:spTgt>
                                        </p:tgtEl>
                                        <p:attrNameLst>
                                          <p:attrName>style.visibility</p:attrName>
                                        </p:attrNameLst>
                                      </p:cBhvr>
                                      <p:to>
                                        <p:strVal val="visible"/>
                                      </p:to>
                                    </p:set>
                                    <p:animEffect transition="in" filter="box(out)">
                                      <p:cBhvr>
                                        <p:cTn id="12" dur="500"/>
                                        <p:tgtEl>
                                          <p:spTgt spid="134147">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134147">
                                            <p:txEl>
                                              <p:pRg st="3" end="3"/>
                                            </p:txEl>
                                          </p:spTgt>
                                        </p:tgtEl>
                                        <p:attrNameLst>
                                          <p:attrName>style.visibility</p:attrName>
                                        </p:attrNameLst>
                                      </p:cBhvr>
                                      <p:to>
                                        <p:strVal val="visible"/>
                                      </p:to>
                                    </p:set>
                                    <p:animEffect transition="in" filter="box(out)">
                                      <p:cBhvr>
                                        <p:cTn id="17" dur="500"/>
                                        <p:tgtEl>
                                          <p:spTgt spid="134147">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134147">
                                            <p:txEl>
                                              <p:pRg st="4" end="4"/>
                                            </p:txEl>
                                          </p:spTgt>
                                        </p:tgtEl>
                                        <p:attrNameLst>
                                          <p:attrName>style.visibility</p:attrName>
                                        </p:attrNameLst>
                                      </p:cBhvr>
                                      <p:to>
                                        <p:strVal val="visible"/>
                                      </p:to>
                                    </p:set>
                                    <p:animEffect transition="in" filter="box(out)">
                                      <p:cBhvr>
                                        <p:cTn id="22" dur="500"/>
                                        <p:tgtEl>
                                          <p:spTgt spid="13414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4147" grpId="0" build="p" bldLvl="2"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2"/>
          <p:cNvSpPr>
            <a:spLocks noGrp="1" noChangeArrowheads="1"/>
          </p:cNvSpPr>
          <p:nvPr>
            <p:ph type="title"/>
          </p:nvPr>
        </p:nvSpPr>
        <p:spPr>
          <a:xfrm>
            <a:off x="685800" y="762000"/>
            <a:ext cx="7772400" cy="557213"/>
          </a:xfrm>
        </p:spPr>
        <p:txBody>
          <a:bodyPr>
            <a:normAutofit fontScale="90000"/>
          </a:bodyPr>
          <a:lstStyle/>
          <a:p>
            <a:r>
              <a:rPr lang="en-US" sz="3600" dirty="0">
                <a:solidFill>
                  <a:srgbClr val="FF6600"/>
                </a:solidFill>
              </a:rPr>
              <a:t>Environmental Performance and Income</a:t>
            </a:r>
          </a:p>
        </p:txBody>
      </p:sp>
      <p:grpSp>
        <p:nvGrpSpPr>
          <p:cNvPr id="2" name="Group 3"/>
          <p:cNvGrpSpPr>
            <a:grpSpLocks/>
          </p:cNvGrpSpPr>
          <p:nvPr/>
        </p:nvGrpSpPr>
        <p:grpSpPr bwMode="auto">
          <a:xfrm>
            <a:off x="990600" y="1370013"/>
            <a:ext cx="6921500" cy="4802187"/>
            <a:chOff x="624" y="863"/>
            <a:chExt cx="4360" cy="3025"/>
          </a:xfrm>
        </p:grpSpPr>
        <p:sp>
          <p:nvSpPr>
            <p:cNvPr id="135172" name="Line 4"/>
            <p:cNvSpPr>
              <a:spLocks noChangeShapeType="1"/>
            </p:cNvSpPr>
            <p:nvPr/>
          </p:nvSpPr>
          <p:spPr bwMode="auto">
            <a:xfrm>
              <a:off x="1248" y="1200"/>
              <a:ext cx="0" cy="2160"/>
            </a:xfrm>
            <a:prstGeom prst="line">
              <a:avLst/>
            </a:prstGeom>
            <a:noFill/>
            <a:ln w="57150">
              <a:solidFill>
                <a:srgbClr val="CC3300"/>
              </a:solidFill>
              <a:round/>
              <a:headEnd/>
              <a:tailEnd/>
            </a:ln>
            <a:effectLst/>
          </p:spPr>
          <p:txBody>
            <a:bodyPr wrap="none" anchor="ctr"/>
            <a:lstStyle/>
            <a:p>
              <a:endParaRPr lang="en-US" dirty="0"/>
            </a:p>
          </p:txBody>
        </p:sp>
        <p:sp>
          <p:nvSpPr>
            <p:cNvPr id="135173" name="Line 5"/>
            <p:cNvSpPr>
              <a:spLocks noChangeShapeType="1"/>
            </p:cNvSpPr>
            <p:nvPr/>
          </p:nvSpPr>
          <p:spPr bwMode="auto">
            <a:xfrm flipV="1">
              <a:off x="1248" y="3360"/>
              <a:ext cx="2928" cy="0"/>
            </a:xfrm>
            <a:prstGeom prst="line">
              <a:avLst/>
            </a:prstGeom>
            <a:noFill/>
            <a:ln w="57150">
              <a:solidFill>
                <a:srgbClr val="CC3300"/>
              </a:solidFill>
              <a:round/>
              <a:headEnd/>
              <a:tailEnd/>
            </a:ln>
            <a:effectLst/>
          </p:spPr>
          <p:txBody>
            <a:bodyPr wrap="none" anchor="ctr"/>
            <a:lstStyle/>
            <a:p>
              <a:endParaRPr lang="en-US" dirty="0"/>
            </a:p>
          </p:txBody>
        </p:sp>
        <p:sp>
          <p:nvSpPr>
            <p:cNvPr id="135174" name="Text Box 6"/>
            <p:cNvSpPr txBox="1">
              <a:spLocks noChangeArrowheads="1"/>
            </p:cNvSpPr>
            <p:nvPr/>
          </p:nvSpPr>
          <p:spPr bwMode="auto">
            <a:xfrm>
              <a:off x="912" y="3168"/>
              <a:ext cx="328" cy="231"/>
            </a:xfrm>
            <a:prstGeom prst="rect">
              <a:avLst/>
            </a:prstGeom>
            <a:noFill/>
            <a:ln w="9525">
              <a:noFill/>
              <a:miter lim="800000"/>
              <a:headEnd/>
              <a:tailEnd/>
            </a:ln>
            <a:effectLst/>
          </p:spPr>
          <p:txBody>
            <a:bodyPr wrap="none">
              <a:spAutoFit/>
            </a:bodyPr>
            <a:lstStyle/>
            <a:p>
              <a:pPr algn="l" eaLnBrk="0" hangingPunct="0"/>
              <a:r>
                <a:rPr lang="en-US" sz="1800" dirty="0">
                  <a:solidFill>
                    <a:schemeClr val="bg1"/>
                  </a:solidFill>
                  <a:latin typeface="Comic Sans MS" pitchFamily="66" charset="0"/>
                </a:rPr>
                <a:t>5.0</a:t>
              </a:r>
            </a:p>
          </p:txBody>
        </p:sp>
        <p:sp>
          <p:nvSpPr>
            <p:cNvPr id="135175" name="Text Box 7"/>
            <p:cNvSpPr txBox="1">
              <a:spLocks noChangeArrowheads="1"/>
            </p:cNvSpPr>
            <p:nvPr/>
          </p:nvSpPr>
          <p:spPr bwMode="auto">
            <a:xfrm>
              <a:off x="912" y="2640"/>
              <a:ext cx="328" cy="231"/>
            </a:xfrm>
            <a:prstGeom prst="rect">
              <a:avLst/>
            </a:prstGeom>
            <a:noFill/>
            <a:ln w="9525">
              <a:noFill/>
              <a:miter lim="800000"/>
              <a:headEnd/>
              <a:tailEnd/>
            </a:ln>
            <a:effectLst/>
          </p:spPr>
          <p:txBody>
            <a:bodyPr wrap="none">
              <a:spAutoFit/>
            </a:bodyPr>
            <a:lstStyle/>
            <a:p>
              <a:pPr algn="l" eaLnBrk="0" hangingPunct="0"/>
              <a:r>
                <a:rPr lang="en-US" sz="1800" dirty="0">
                  <a:solidFill>
                    <a:schemeClr val="bg1"/>
                  </a:solidFill>
                  <a:latin typeface="Comic Sans MS" pitchFamily="66" charset="0"/>
                </a:rPr>
                <a:t>5.5</a:t>
              </a:r>
            </a:p>
          </p:txBody>
        </p:sp>
        <p:sp>
          <p:nvSpPr>
            <p:cNvPr id="135176" name="Text Box 8"/>
            <p:cNvSpPr txBox="1">
              <a:spLocks noChangeArrowheads="1"/>
            </p:cNvSpPr>
            <p:nvPr/>
          </p:nvSpPr>
          <p:spPr bwMode="auto">
            <a:xfrm>
              <a:off x="912" y="2160"/>
              <a:ext cx="328" cy="231"/>
            </a:xfrm>
            <a:prstGeom prst="rect">
              <a:avLst/>
            </a:prstGeom>
            <a:noFill/>
            <a:ln w="9525">
              <a:noFill/>
              <a:miter lim="800000"/>
              <a:headEnd/>
              <a:tailEnd/>
            </a:ln>
            <a:effectLst/>
          </p:spPr>
          <p:txBody>
            <a:bodyPr wrap="none">
              <a:spAutoFit/>
            </a:bodyPr>
            <a:lstStyle/>
            <a:p>
              <a:pPr algn="l" eaLnBrk="0" hangingPunct="0"/>
              <a:r>
                <a:rPr lang="en-US" sz="1800" dirty="0">
                  <a:solidFill>
                    <a:schemeClr val="bg1"/>
                  </a:solidFill>
                  <a:latin typeface="Comic Sans MS" pitchFamily="66" charset="0"/>
                </a:rPr>
                <a:t>6.0</a:t>
              </a:r>
            </a:p>
          </p:txBody>
        </p:sp>
        <p:sp>
          <p:nvSpPr>
            <p:cNvPr id="135177" name="Text Box 9"/>
            <p:cNvSpPr txBox="1">
              <a:spLocks noChangeArrowheads="1"/>
            </p:cNvSpPr>
            <p:nvPr/>
          </p:nvSpPr>
          <p:spPr bwMode="auto">
            <a:xfrm>
              <a:off x="912" y="1689"/>
              <a:ext cx="328" cy="231"/>
            </a:xfrm>
            <a:prstGeom prst="rect">
              <a:avLst/>
            </a:prstGeom>
            <a:noFill/>
            <a:ln w="9525">
              <a:noFill/>
              <a:miter lim="800000"/>
              <a:headEnd/>
              <a:tailEnd/>
            </a:ln>
            <a:effectLst/>
          </p:spPr>
          <p:txBody>
            <a:bodyPr wrap="none">
              <a:spAutoFit/>
            </a:bodyPr>
            <a:lstStyle/>
            <a:p>
              <a:pPr algn="l" eaLnBrk="0" hangingPunct="0"/>
              <a:r>
                <a:rPr lang="en-US" sz="1800" dirty="0">
                  <a:solidFill>
                    <a:schemeClr val="bg1"/>
                  </a:solidFill>
                  <a:latin typeface="Comic Sans MS" pitchFamily="66" charset="0"/>
                </a:rPr>
                <a:t>6.5</a:t>
              </a:r>
            </a:p>
          </p:txBody>
        </p:sp>
        <p:sp>
          <p:nvSpPr>
            <p:cNvPr id="135178" name="Text Box 10"/>
            <p:cNvSpPr txBox="1">
              <a:spLocks noChangeArrowheads="1"/>
            </p:cNvSpPr>
            <p:nvPr/>
          </p:nvSpPr>
          <p:spPr bwMode="auto">
            <a:xfrm>
              <a:off x="912" y="1200"/>
              <a:ext cx="328" cy="231"/>
            </a:xfrm>
            <a:prstGeom prst="rect">
              <a:avLst/>
            </a:prstGeom>
            <a:noFill/>
            <a:ln w="9525">
              <a:noFill/>
              <a:miter lim="800000"/>
              <a:headEnd/>
              <a:tailEnd/>
            </a:ln>
            <a:effectLst/>
          </p:spPr>
          <p:txBody>
            <a:bodyPr wrap="none">
              <a:spAutoFit/>
            </a:bodyPr>
            <a:lstStyle/>
            <a:p>
              <a:pPr algn="l" eaLnBrk="0" hangingPunct="0"/>
              <a:r>
                <a:rPr lang="en-US" sz="1800" dirty="0">
                  <a:solidFill>
                    <a:schemeClr val="bg1"/>
                  </a:solidFill>
                  <a:latin typeface="Comic Sans MS" pitchFamily="66" charset="0"/>
                </a:rPr>
                <a:t>7.0</a:t>
              </a:r>
            </a:p>
          </p:txBody>
        </p:sp>
        <p:sp>
          <p:nvSpPr>
            <p:cNvPr id="135179" name="Text Box 11"/>
            <p:cNvSpPr txBox="1">
              <a:spLocks noChangeArrowheads="1"/>
            </p:cNvSpPr>
            <p:nvPr/>
          </p:nvSpPr>
          <p:spPr bwMode="auto">
            <a:xfrm>
              <a:off x="1680" y="3360"/>
              <a:ext cx="204" cy="231"/>
            </a:xfrm>
            <a:prstGeom prst="rect">
              <a:avLst/>
            </a:prstGeom>
            <a:noFill/>
            <a:ln w="9525">
              <a:noFill/>
              <a:miter lim="800000"/>
              <a:headEnd/>
              <a:tailEnd/>
            </a:ln>
            <a:effectLst/>
          </p:spPr>
          <p:txBody>
            <a:bodyPr wrap="none">
              <a:spAutoFit/>
            </a:bodyPr>
            <a:lstStyle/>
            <a:p>
              <a:pPr algn="l" eaLnBrk="0" hangingPunct="0"/>
              <a:r>
                <a:rPr lang="en-US" sz="1800" dirty="0">
                  <a:solidFill>
                    <a:schemeClr val="bg1"/>
                  </a:solidFill>
                  <a:latin typeface="Comic Sans MS" pitchFamily="66" charset="0"/>
                </a:rPr>
                <a:t>6</a:t>
              </a:r>
            </a:p>
          </p:txBody>
        </p:sp>
        <p:sp>
          <p:nvSpPr>
            <p:cNvPr id="135180" name="Text Box 12"/>
            <p:cNvSpPr txBox="1">
              <a:spLocks noChangeArrowheads="1"/>
            </p:cNvSpPr>
            <p:nvPr/>
          </p:nvSpPr>
          <p:spPr bwMode="auto">
            <a:xfrm>
              <a:off x="2208" y="3360"/>
              <a:ext cx="204" cy="231"/>
            </a:xfrm>
            <a:prstGeom prst="rect">
              <a:avLst/>
            </a:prstGeom>
            <a:noFill/>
            <a:ln w="9525">
              <a:noFill/>
              <a:miter lim="800000"/>
              <a:headEnd/>
              <a:tailEnd/>
            </a:ln>
            <a:effectLst/>
          </p:spPr>
          <p:txBody>
            <a:bodyPr wrap="none">
              <a:spAutoFit/>
            </a:bodyPr>
            <a:lstStyle/>
            <a:p>
              <a:pPr algn="l" eaLnBrk="0" hangingPunct="0"/>
              <a:r>
                <a:rPr lang="en-US" sz="1800" dirty="0">
                  <a:solidFill>
                    <a:schemeClr val="bg1"/>
                  </a:solidFill>
                  <a:latin typeface="Comic Sans MS" pitchFamily="66" charset="0"/>
                </a:rPr>
                <a:t>7</a:t>
              </a:r>
            </a:p>
          </p:txBody>
        </p:sp>
        <p:sp>
          <p:nvSpPr>
            <p:cNvPr id="135181" name="Text Box 13"/>
            <p:cNvSpPr txBox="1">
              <a:spLocks noChangeArrowheads="1"/>
            </p:cNvSpPr>
            <p:nvPr/>
          </p:nvSpPr>
          <p:spPr bwMode="auto">
            <a:xfrm>
              <a:off x="2640" y="3360"/>
              <a:ext cx="204" cy="231"/>
            </a:xfrm>
            <a:prstGeom prst="rect">
              <a:avLst/>
            </a:prstGeom>
            <a:noFill/>
            <a:ln w="9525">
              <a:noFill/>
              <a:miter lim="800000"/>
              <a:headEnd/>
              <a:tailEnd/>
            </a:ln>
            <a:effectLst/>
          </p:spPr>
          <p:txBody>
            <a:bodyPr wrap="none">
              <a:spAutoFit/>
            </a:bodyPr>
            <a:lstStyle/>
            <a:p>
              <a:pPr algn="l" eaLnBrk="0" hangingPunct="0"/>
              <a:r>
                <a:rPr lang="en-US" sz="1800" dirty="0">
                  <a:solidFill>
                    <a:schemeClr val="bg1"/>
                  </a:solidFill>
                  <a:latin typeface="Comic Sans MS" pitchFamily="66" charset="0"/>
                </a:rPr>
                <a:t>8</a:t>
              </a:r>
            </a:p>
          </p:txBody>
        </p:sp>
        <p:sp>
          <p:nvSpPr>
            <p:cNvPr id="135182" name="Text Box 14"/>
            <p:cNvSpPr txBox="1">
              <a:spLocks noChangeArrowheads="1"/>
            </p:cNvSpPr>
            <p:nvPr/>
          </p:nvSpPr>
          <p:spPr bwMode="auto">
            <a:xfrm>
              <a:off x="3072" y="3360"/>
              <a:ext cx="204" cy="231"/>
            </a:xfrm>
            <a:prstGeom prst="rect">
              <a:avLst/>
            </a:prstGeom>
            <a:noFill/>
            <a:ln w="9525">
              <a:noFill/>
              <a:miter lim="800000"/>
              <a:headEnd/>
              <a:tailEnd/>
            </a:ln>
            <a:effectLst/>
          </p:spPr>
          <p:txBody>
            <a:bodyPr wrap="none">
              <a:spAutoFit/>
            </a:bodyPr>
            <a:lstStyle/>
            <a:p>
              <a:pPr algn="l" eaLnBrk="0" hangingPunct="0"/>
              <a:r>
                <a:rPr lang="en-US" sz="1800" dirty="0">
                  <a:solidFill>
                    <a:schemeClr val="bg1"/>
                  </a:solidFill>
                  <a:latin typeface="Comic Sans MS" pitchFamily="66" charset="0"/>
                </a:rPr>
                <a:t>9</a:t>
              </a:r>
            </a:p>
          </p:txBody>
        </p:sp>
        <p:sp>
          <p:nvSpPr>
            <p:cNvPr id="135183" name="Text Box 15"/>
            <p:cNvSpPr txBox="1">
              <a:spLocks noChangeArrowheads="1"/>
            </p:cNvSpPr>
            <p:nvPr/>
          </p:nvSpPr>
          <p:spPr bwMode="auto">
            <a:xfrm>
              <a:off x="3456" y="3360"/>
              <a:ext cx="269" cy="231"/>
            </a:xfrm>
            <a:prstGeom prst="rect">
              <a:avLst/>
            </a:prstGeom>
            <a:noFill/>
            <a:ln w="9525">
              <a:noFill/>
              <a:miter lim="800000"/>
              <a:headEnd/>
              <a:tailEnd/>
            </a:ln>
            <a:effectLst/>
          </p:spPr>
          <p:txBody>
            <a:bodyPr wrap="none">
              <a:spAutoFit/>
            </a:bodyPr>
            <a:lstStyle/>
            <a:p>
              <a:pPr algn="l" eaLnBrk="0" hangingPunct="0"/>
              <a:r>
                <a:rPr lang="en-US" sz="1800" dirty="0">
                  <a:solidFill>
                    <a:schemeClr val="bg1"/>
                  </a:solidFill>
                  <a:latin typeface="Comic Sans MS" pitchFamily="66" charset="0"/>
                </a:rPr>
                <a:t>10</a:t>
              </a:r>
            </a:p>
          </p:txBody>
        </p:sp>
        <p:sp>
          <p:nvSpPr>
            <p:cNvPr id="135184" name="Text Box 16"/>
            <p:cNvSpPr txBox="1">
              <a:spLocks noChangeArrowheads="1"/>
            </p:cNvSpPr>
            <p:nvPr/>
          </p:nvSpPr>
          <p:spPr bwMode="auto">
            <a:xfrm>
              <a:off x="3984" y="3360"/>
              <a:ext cx="246" cy="231"/>
            </a:xfrm>
            <a:prstGeom prst="rect">
              <a:avLst/>
            </a:prstGeom>
            <a:noFill/>
            <a:ln w="9525">
              <a:noFill/>
              <a:miter lim="800000"/>
              <a:headEnd/>
              <a:tailEnd/>
            </a:ln>
            <a:effectLst/>
          </p:spPr>
          <p:txBody>
            <a:bodyPr wrap="none">
              <a:spAutoFit/>
            </a:bodyPr>
            <a:lstStyle/>
            <a:p>
              <a:pPr algn="l" eaLnBrk="0" hangingPunct="0"/>
              <a:r>
                <a:rPr lang="en-US" sz="1800" dirty="0">
                  <a:solidFill>
                    <a:schemeClr val="bg1"/>
                  </a:solidFill>
                  <a:latin typeface="Comic Sans MS" pitchFamily="66" charset="0"/>
                </a:rPr>
                <a:t>11</a:t>
              </a:r>
            </a:p>
          </p:txBody>
        </p:sp>
        <p:sp>
          <p:nvSpPr>
            <p:cNvPr id="135185" name="Text Box 17"/>
            <p:cNvSpPr txBox="1">
              <a:spLocks noChangeArrowheads="1"/>
            </p:cNvSpPr>
            <p:nvPr/>
          </p:nvSpPr>
          <p:spPr bwMode="auto">
            <a:xfrm>
              <a:off x="1382" y="2954"/>
              <a:ext cx="664" cy="231"/>
            </a:xfrm>
            <a:prstGeom prst="rect">
              <a:avLst/>
            </a:prstGeom>
            <a:noFill/>
            <a:ln w="9525">
              <a:noFill/>
              <a:miter lim="800000"/>
              <a:headEnd/>
              <a:tailEnd/>
            </a:ln>
            <a:effectLst/>
          </p:spPr>
          <p:txBody>
            <a:bodyPr wrap="none">
              <a:spAutoFit/>
            </a:bodyPr>
            <a:lstStyle/>
            <a:p>
              <a:pPr algn="l" eaLnBrk="0" hangingPunct="0"/>
              <a:r>
                <a:rPr lang="en-US" sz="1800" dirty="0">
                  <a:solidFill>
                    <a:srgbClr val="FFFF00"/>
                  </a:solidFill>
                  <a:latin typeface="Comic Sans MS" pitchFamily="66" charset="0"/>
                </a:rPr>
                <a:t>Ethiopia</a:t>
              </a:r>
            </a:p>
          </p:txBody>
        </p:sp>
        <p:sp>
          <p:nvSpPr>
            <p:cNvPr id="135186" name="Text Box 18"/>
            <p:cNvSpPr txBox="1">
              <a:spLocks noChangeArrowheads="1"/>
            </p:cNvSpPr>
            <p:nvPr/>
          </p:nvSpPr>
          <p:spPr bwMode="auto">
            <a:xfrm>
              <a:off x="1968" y="2784"/>
              <a:ext cx="582" cy="231"/>
            </a:xfrm>
            <a:prstGeom prst="rect">
              <a:avLst/>
            </a:prstGeom>
            <a:noFill/>
            <a:ln w="9525">
              <a:noFill/>
              <a:miter lim="800000"/>
              <a:headEnd/>
              <a:tailEnd/>
            </a:ln>
            <a:effectLst/>
          </p:spPr>
          <p:txBody>
            <a:bodyPr wrap="none">
              <a:spAutoFit/>
            </a:bodyPr>
            <a:lstStyle/>
            <a:p>
              <a:pPr algn="l" eaLnBrk="0" hangingPunct="0"/>
              <a:r>
                <a:rPr lang="en-US" sz="1800" dirty="0">
                  <a:solidFill>
                    <a:srgbClr val="FFFF00"/>
                  </a:solidFill>
                  <a:latin typeface="Comic Sans MS" pitchFamily="66" charset="0"/>
                </a:rPr>
                <a:t>Bhutan</a:t>
              </a:r>
            </a:p>
          </p:txBody>
        </p:sp>
        <p:sp>
          <p:nvSpPr>
            <p:cNvPr id="135187" name="Text Box 19"/>
            <p:cNvSpPr txBox="1">
              <a:spLocks noChangeArrowheads="1"/>
            </p:cNvSpPr>
            <p:nvPr/>
          </p:nvSpPr>
          <p:spPr bwMode="auto">
            <a:xfrm>
              <a:off x="1296" y="2592"/>
              <a:ext cx="703" cy="231"/>
            </a:xfrm>
            <a:prstGeom prst="rect">
              <a:avLst/>
            </a:prstGeom>
            <a:noFill/>
            <a:ln w="9525">
              <a:noFill/>
              <a:miter lim="800000"/>
              <a:headEnd/>
              <a:tailEnd/>
            </a:ln>
            <a:effectLst/>
          </p:spPr>
          <p:txBody>
            <a:bodyPr wrap="none">
              <a:spAutoFit/>
            </a:bodyPr>
            <a:lstStyle/>
            <a:p>
              <a:pPr algn="l" eaLnBrk="0" hangingPunct="0"/>
              <a:r>
                <a:rPr lang="en-US" sz="1800" dirty="0">
                  <a:solidFill>
                    <a:srgbClr val="FFFF00"/>
                  </a:solidFill>
                  <a:latin typeface="Comic Sans MS" pitchFamily="66" charset="0"/>
                </a:rPr>
                <a:t>Tanzania</a:t>
              </a:r>
            </a:p>
          </p:txBody>
        </p:sp>
        <p:sp>
          <p:nvSpPr>
            <p:cNvPr id="135188" name="Text Box 20"/>
            <p:cNvSpPr txBox="1">
              <a:spLocks noChangeArrowheads="1"/>
            </p:cNvSpPr>
            <p:nvPr/>
          </p:nvSpPr>
          <p:spPr bwMode="auto">
            <a:xfrm>
              <a:off x="2448" y="2592"/>
              <a:ext cx="862" cy="231"/>
            </a:xfrm>
            <a:prstGeom prst="rect">
              <a:avLst/>
            </a:prstGeom>
            <a:noFill/>
            <a:ln w="9525">
              <a:noFill/>
              <a:miter lim="800000"/>
              <a:headEnd/>
              <a:tailEnd/>
            </a:ln>
            <a:effectLst/>
          </p:spPr>
          <p:txBody>
            <a:bodyPr wrap="none">
              <a:spAutoFit/>
            </a:bodyPr>
            <a:lstStyle/>
            <a:p>
              <a:pPr algn="l" eaLnBrk="0" hangingPunct="0"/>
              <a:r>
                <a:rPr lang="en-US" sz="1800" dirty="0">
                  <a:solidFill>
                    <a:srgbClr val="FFFF00"/>
                  </a:solidFill>
                  <a:latin typeface="Comic Sans MS" pitchFamily="66" charset="0"/>
                </a:rPr>
                <a:t>Bangladesh</a:t>
              </a:r>
            </a:p>
          </p:txBody>
        </p:sp>
        <p:sp>
          <p:nvSpPr>
            <p:cNvPr id="135189" name="Text Box 21"/>
            <p:cNvSpPr txBox="1">
              <a:spLocks noChangeArrowheads="1"/>
            </p:cNvSpPr>
            <p:nvPr/>
          </p:nvSpPr>
          <p:spPr bwMode="auto">
            <a:xfrm>
              <a:off x="1728" y="2400"/>
              <a:ext cx="569" cy="231"/>
            </a:xfrm>
            <a:prstGeom prst="rect">
              <a:avLst/>
            </a:prstGeom>
            <a:noFill/>
            <a:ln w="9525">
              <a:noFill/>
              <a:miter lim="800000"/>
              <a:headEnd/>
              <a:tailEnd/>
            </a:ln>
            <a:effectLst/>
          </p:spPr>
          <p:txBody>
            <a:bodyPr wrap="none">
              <a:spAutoFit/>
            </a:bodyPr>
            <a:lstStyle/>
            <a:p>
              <a:pPr algn="l" eaLnBrk="0" hangingPunct="0"/>
              <a:r>
                <a:rPr lang="en-US" sz="1800" dirty="0">
                  <a:solidFill>
                    <a:srgbClr val="FFFF00"/>
                  </a:solidFill>
                  <a:latin typeface="Comic Sans MS" pitchFamily="66" charset="0"/>
                </a:rPr>
                <a:t>Malawi</a:t>
              </a:r>
            </a:p>
          </p:txBody>
        </p:sp>
        <p:sp>
          <p:nvSpPr>
            <p:cNvPr id="135190" name="Text Box 22"/>
            <p:cNvSpPr txBox="1">
              <a:spLocks noChangeArrowheads="1"/>
            </p:cNvSpPr>
            <p:nvPr/>
          </p:nvSpPr>
          <p:spPr bwMode="auto">
            <a:xfrm>
              <a:off x="2304" y="2208"/>
              <a:ext cx="609" cy="231"/>
            </a:xfrm>
            <a:prstGeom prst="rect">
              <a:avLst/>
            </a:prstGeom>
            <a:noFill/>
            <a:ln w="9525">
              <a:noFill/>
              <a:miter lim="800000"/>
              <a:headEnd/>
              <a:tailEnd/>
            </a:ln>
            <a:effectLst/>
          </p:spPr>
          <p:txBody>
            <a:bodyPr wrap="none">
              <a:spAutoFit/>
            </a:bodyPr>
            <a:lstStyle/>
            <a:p>
              <a:pPr algn="l" eaLnBrk="0" hangingPunct="0"/>
              <a:r>
                <a:rPr lang="en-US" sz="1800" dirty="0">
                  <a:solidFill>
                    <a:srgbClr val="FFFF00"/>
                  </a:solidFill>
                  <a:latin typeface="Comic Sans MS" pitchFamily="66" charset="0"/>
                </a:rPr>
                <a:t>Nigeria</a:t>
              </a:r>
            </a:p>
          </p:txBody>
        </p:sp>
        <p:sp>
          <p:nvSpPr>
            <p:cNvPr id="135191" name="Text Box 23"/>
            <p:cNvSpPr txBox="1">
              <a:spLocks noChangeArrowheads="1"/>
            </p:cNvSpPr>
            <p:nvPr/>
          </p:nvSpPr>
          <p:spPr bwMode="auto">
            <a:xfrm>
              <a:off x="1728" y="2208"/>
              <a:ext cx="507" cy="231"/>
            </a:xfrm>
            <a:prstGeom prst="rect">
              <a:avLst/>
            </a:prstGeom>
            <a:noFill/>
            <a:ln w="9525">
              <a:noFill/>
              <a:miter lim="800000"/>
              <a:headEnd/>
              <a:tailEnd/>
            </a:ln>
            <a:effectLst/>
          </p:spPr>
          <p:txBody>
            <a:bodyPr wrap="none">
              <a:spAutoFit/>
            </a:bodyPr>
            <a:lstStyle/>
            <a:p>
              <a:pPr algn="l" eaLnBrk="0" hangingPunct="0"/>
              <a:r>
                <a:rPr lang="en-US" sz="1800" dirty="0">
                  <a:solidFill>
                    <a:srgbClr val="FFFF00"/>
                  </a:solidFill>
                  <a:latin typeface="Comic Sans MS" pitchFamily="66" charset="0"/>
                </a:rPr>
                <a:t>Kenya</a:t>
              </a:r>
            </a:p>
          </p:txBody>
        </p:sp>
        <p:sp>
          <p:nvSpPr>
            <p:cNvPr id="135192" name="Text Box 24"/>
            <p:cNvSpPr txBox="1">
              <a:spLocks noChangeArrowheads="1"/>
            </p:cNvSpPr>
            <p:nvPr/>
          </p:nvSpPr>
          <p:spPr bwMode="auto">
            <a:xfrm>
              <a:off x="3600" y="2256"/>
              <a:ext cx="502" cy="231"/>
            </a:xfrm>
            <a:prstGeom prst="rect">
              <a:avLst/>
            </a:prstGeom>
            <a:noFill/>
            <a:ln w="9525">
              <a:noFill/>
              <a:miter lim="800000"/>
              <a:headEnd/>
              <a:tailEnd/>
            </a:ln>
            <a:effectLst/>
          </p:spPr>
          <p:txBody>
            <a:bodyPr>
              <a:spAutoFit/>
            </a:bodyPr>
            <a:lstStyle/>
            <a:p>
              <a:pPr algn="l" eaLnBrk="0" hangingPunct="0"/>
              <a:r>
                <a:rPr lang="en-US" sz="1800" dirty="0">
                  <a:solidFill>
                    <a:srgbClr val="FFFF00"/>
                  </a:solidFill>
                  <a:latin typeface="Comic Sans MS" pitchFamily="66" charset="0"/>
                </a:rPr>
                <a:t>Egypt</a:t>
              </a:r>
            </a:p>
          </p:txBody>
        </p:sp>
        <p:sp>
          <p:nvSpPr>
            <p:cNvPr id="135193" name="Text Box 25"/>
            <p:cNvSpPr txBox="1">
              <a:spLocks noChangeArrowheads="1"/>
            </p:cNvSpPr>
            <p:nvPr/>
          </p:nvSpPr>
          <p:spPr bwMode="auto">
            <a:xfrm>
              <a:off x="1968" y="2016"/>
              <a:ext cx="469" cy="231"/>
            </a:xfrm>
            <a:prstGeom prst="rect">
              <a:avLst/>
            </a:prstGeom>
            <a:noFill/>
            <a:ln w="9525">
              <a:noFill/>
              <a:miter lim="800000"/>
              <a:headEnd/>
              <a:tailEnd/>
            </a:ln>
            <a:effectLst/>
          </p:spPr>
          <p:txBody>
            <a:bodyPr wrap="none">
              <a:spAutoFit/>
            </a:bodyPr>
            <a:lstStyle/>
            <a:p>
              <a:pPr algn="l" eaLnBrk="0" hangingPunct="0"/>
              <a:r>
                <a:rPr lang="en-US" sz="1800" dirty="0">
                  <a:solidFill>
                    <a:srgbClr val="FFFF00"/>
                  </a:solidFill>
                  <a:latin typeface="Comic Sans MS" pitchFamily="66" charset="0"/>
                </a:rPr>
                <a:t>India</a:t>
              </a:r>
            </a:p>
          </p:txBody>
        </p:sp>
        <p:sp>
          <p:nvSpPr>
            <p:cNvPr id="135194" name="Text Box 26"/>
            <p:cNvSpPr txBox="1">
              <a:spLocks noChangeArrowheads="1"/>
            </p:cNvSpPr>
            <p:nvPr/>
          </p:nvSpPr>
          <p:spPr bwMode="auto">
            <a:xfrm>
              <a:off x="2208" y="1824"/>
              <a:ext cx="475" cy="231"/>
            </a:xfrm>
            <a:prstGeom prst="rect">
              <a:avLst/>
            </a:prstGeom>
            <a:noFill/>
            <a:ln w="9525">
              <a:noFill/>
              <a:miter lim="800000"/>
              <a:headEnd/>
              <a:tailEnd/>
            </a:ln>
            <a:effectLst/>
          </p:spPr>
          <p:txBody>
            <a:bodyPr wrap="none">
              <a:spAutoFit/>
            </a:bodyPr>
            <a:lstStyle/>
            <a:p>
              <a:pPr algn="l" eaLnBrk="0" hangingPunct="0"/>
              <a:r>
                <a:rPr lang="en-US" sz="1800" dirty="0">
                  <a:solidFill>
                    <a:srgbClr val="FFFF00"/>
                  </a:solidFill>
                  <a:latin typeface="Comic Sans MS" pitchFamily="66" charset="0"/>
                </a:rPr>
                <a:t>China</a:t>
              </a:r>
            </a:p>
          </p:txBody>
        </p:sp>
        <p:sp>
          <p:nvSpPr>
            <p:cNvPr id="135195" name="Text Box 27"/>
            <p:cNvSpPr txBox="1">
              <a:spLocks noChangeArrowheads="1"/>
            </p:cNvSpPr>
            <p:nvPr/>
          </p:nvSpPr>
          <p:spPr bwMode="auto">
            <a:xfrm>
              <a:off x="2928" y="2400"/>
              <a:ext cx="684" cy="231"/>
            </a:xfrm>
            <a:prstGeom prst="rect">
              <a:avLst/>
            </a:prstGeom>
            <a:noFill/>
            <a:ln w="9525">
              <a:noFill/>
              <a:miter lim="800000"/>
              <a:headEnd/>
              <a:tailEnd/>
            </a:ln>
            <a:effectLst/>
          </p:spPr>
          <p:txBody>
            <a:bodyPr wrap="none">
              <a:spAutoFit/>
            </a:bodyPr>
            <a:lstStyle/>
            <a:p>
              <a:pPr algn="l" eaLnBrk="0" hangingPunct="0"/>
              <a:r>
                <a:rPr lang="en-US" sz="1800" dirty="0">
                  <a:solidFill>
                    <a:srgbClr val="FFFF00"/>
                  </a:solidFill>
                  <a:latin typeface="Comic Sans MS" pitchFamily="66" charset="0"/>
                </a:rPr>
                <a:t>Thailand</a:t>
              </a:r>
            </a:p>
          </p:txBody>
        </p:sp>
        <p:sp>
          <p:nvSpPr>
            <p:cNvPr id="135196" name="Text Box 28"/>
            <p:cNvSpPr txBox="1">
              <a:spLocks noChangeArrowheads="1"/>
            </p:cNvSpPr>
            <p:nvPr/>
          </p:nvSpPr>
          <p:spPr bwMode="auto">
            <a:xfrm>
              <a:off x="2928" y="2112"/>
              <a:ext cx="588" cy="231"/>
            </a:xfrm>
            <a:prstGeom prst="rect">
              <a:avLst/>
            </a:prstGeom>
            <a:noFill/>
            <a:ln w="9525">
              <a:noFill/>
              <a:miter lim="800000"/>
              <a:headEnd/>
              <a:tailEnd/>
            </a:ln>
            <a:effectLst/>
          </p:spPr>
          <p:txBody>
            <a:bodyPr wrap="none">
              <a:spAutoFit/>
            </a:bodyPr>
            <a:lstStyle/>
            <a:p>
              <a:pPr algn="l" eaLnBrk="0" hangingPunct="0"/>
              <a:r>
                <a:rPr lang="en-US" sz="1800" dirty="0">
                  <a:solidFill>
                    <a:srgbClr val="FFFF00"/>
                  </a:solidFill>
                  <a:latin typeface="Comic Sans MS" pitchFamily="66" charset="0"/>
                </a:rPr>
                <a:t>Tunisia</a:t>
              </a:r>
            </a:p>
          </p:txBody>
        </p:sp>
        <p:sp>
          <p:nvSpPr>
            <p:cNvPr id="135197" name="Text Box 29"/>
            <p:cNvSpPr txBox="1">
              <a:spLocks noChangeArrowheads="1"/>
            </p:cNvSpPr>
            <p:nvPr/>
          </p:nvSpPr>
          <p:spPr bwMode="auto">
            <a:xfrm>
              <a:off x="2832" y="1728"/>
              <a:ext cx="502" cy="231"/>
            </a:xfrm>
            <a:prstGeom prst="rect">
              <a:avLst/>
            </a:prstGeom>
            <a:noFill/>
            <a:ln w="9525">
              <a:noFill/>
              <a:miter lim="800000"/>
              <a:headEnd/>
              <a:tailEnd/>
            </a:ln>
            <a:effectLst/>
          </p:spPr>
          <p:txBody>
            <a:bodyPr wrap="none">
              <a:spAutoFit/>
            </a:bodyPr>
            <a:lstStyle/>
            <a:p>
              <a:pPr algn="l" eaLnBrk="0" hangingPunct="0"/>
              <a:r>
                <a:rPr lang="en-US" sz="1800" dirty="0">
                  <a:solidFill>
                    <a:srgbClr val="FFFF00"/>
                  </a:solidFill>
                  <a:latin typeface="Comic Sans MS" pitchFamily="66" charset="0"/>
                </a:rPr>
                <a:t>Korea</a:t>
              </a:r>
            </a:p>
          </p:txBody>
        </p:sp>
        <p:sp>
          <p:nvSpPr>
            <p:cNvPr id="135198" name="Text Box 30"/>
            <p:cNvSpPr txBox="1">
              <a:spLocks noChangeArrowheads="1"/>
            </p:cNvSpPr>
            <p:nvPr/>
          </p:nvSpPr>
          <p:spPr bwMode="auto">
            <a:xfrm>
              <a:off x="3072" y="1920"/>
              <a:ext cx="687" cy="231"/>
            </a:xfrm>
            <a:prstGeom prst="rect">
              <a:avLst/>
            </a:prstGeom>
            <a:noFill/>
            <a:ln w="9525">
              <a:noFill/>
              <a:miter lim="800000"/>
              <a:headEnd/>
              <a:tailEnd/>
            </a:ln>
            <a:effectLst/>
          </p:spPr>
          <p:txBody>
            <a:bodyPr wrap="none">
              <a:spAutoFit/>
            </a:bodyPr>
            <a:lstStyle/>
            <a:p>
              <a:pPr algn="l" eaLnBrk="0" hangingPunct="0"/>
              <a:r>
                <a:rPr lang="en-US" sz="1800" dirty="0" err="1">
                  <a:solidFill>
                    <a:srgbClr val="FFFF00"/>
                  </a:solidFill>
                  <a:latin typeface="Comic Sans MS" pitchFamily="66" charset="0"/>
                </a:rPr>
                <a:t>S.Africa</a:t>
              </a:r>
              <a:endParaRPr lang="en-US" sz="1800" dirty="0">
                <a:solidFill>
                  <a:srgbClr val="FFFF00"/>
                </a:solidFill>
                <a:latin typeface="Comic Sans MS" pitchFamily="66" charset="0"/>
              </a:endParaRPr>
            </a:p>
          </p:txBody>
        </p:sp>
        <p:sp>
          <p:nvSpPr>
            <p:cNvPr id="135199" name="Text Box 31"/>
            <p:cNvSpPr txBox="1">
              <a:spLocks noChangeArrowheads="1"/>
            </p:cNvSpPr>
            <p:nvPr/>
          </p:nvSpPr>
          <p:spPr bwMode="auto">
            <a:xfrm>
              <a:off x="3600" y="2064"/>
              <a:ext cx="682" cy="231"/>
            </a:xfrm>
            <a:prstGeom prst="rect">
              <a:avLst/>
            </a:prstGeom>
            <a:noFill/>
            <a:ln w="9525">
              <a:noFill/>
              <a:miter lim="800000"/>
              <a:headEnd/>
              <a:tailEnd/>
            </a:ln>
            <a:effectLst/>
          </p:spPr>
          <p:txBody>
            <a:bodyPr wrap="none">
              <a:spAutoFit/>
            </a:bodyPr>
            <a:lstStyle/>
            <a:p>
              <a:pPr algn="l" eaLnBrk="0" hangingPunct="0"/>
              <a:r>
                <a:rPr lang="en-US" sz="1800">
                  <a:solidFill>
                    <a:srgbClr val="FFFF00"/>
                  </a:solidFill>
                  <a:latin typeface="Comic Sans MS" pitchFamily="66" charset="0"/>
                </a:rPr>
                <a:t>Trinidad</a:t>
              </a:r>
            </a:p>
          </p:txBody>
        </p:sp>
        <p:sp>
          <p:nvSpPr>
            <p:cNvPr id="135200" name="Text Box 32"/>
            <p:cNvSpPr txBox="1">
              <a:spLocks noChangeArrowheads="1"/>
            </p:cNvSpPr>
            <p:nvPr/>
          </p:nvSpPr>
          <p:spPr bwMode="auto">
            <a:xfrm>
              <a:off x="3696" y="1536"/>
              <a:ext cx="654" cy="231"/>
            </a:xfrm>
            <a:prstGeom prst="rect">
              <a:avLst/>
            </a:prstGeom>
            <a:noFill/>
            <a:ln w="9525">
              <a:noFill/>
              <a:miter lim="800000"/>
              <a:headEnd/>
              <a:tailEnd/>
            </a:ln>
            <a:effectLst/>
          </p:spPr>
          <p:txBody>
            <a:bodyPr wrap="none">
              <a:spAutoFit/>
            </a:bodyPr>
            <a:lstStyle/>
            <a:p>
              <a:pPr algn="l" eaLnBrk="0" hangingPunct="0"/>
              <a:r>
                <a:rPr lang="en-US" sz="1800">
                  <a:solidFill>
                    <a:srgbClr val="FFFF00"/>
                  </a:solidFill>
                  <a:latin typeface="Comic Sans MS" pitchFamily="66" charset="0"/>
                </a:rPr>
                <a:t>Bulgaria</a:t>
              </a:r>
            </a:p>
          </p:txBody>
        </p:sp>
        <p:sp>
          <p:nvSpPr>
            <p:cNvPr id="135201" name="Text Box 33"/>
            <p:cNvSpPr txBox="1">
              <a:spLocks noChangeArrowheads="1"/>
            </p:cNvSpPr>
            <p:nvPr/>
          </p:nvSpPr>
          <p:spPr bwMode="auto">
            <a:xfrm>
              <a:off x="2640" y="1488"/>
              <a:ext cx="616" cy="231"/>
            </a:xfrm>
            <a:prstGeom prst="rect">
              <a:avLst/>
            </a:prstGeom>
            <a:noFill/>
            <a:ln w="9525">
              <a:noFill/>
              <a:miter lim="800000"/>
              <a:headEnd/>
              <a:tailEnd/>
            </a:ln>
            <a:effectLst/>
          </p:spPr>
          <p:txBody>
            <a:bodyPr wrap="none">
              <a:spAutoFit/>
            </a:bodyPr>
            <a:lstStyle/>
            <a:p>
              <a:pPr algn="l" eaLnBrk="0" hangingPunct="0"/>
              <a:r>
                <a:rPr lang="en-US" sz="1800">
                  <a:solidFill>
                    <a:srgbClr val="FFFF00"/>
                  </a:solidFill>
                  <a:latin typeface="Comic Sans MS" pitchFamily="66" charset="0"/>
                </a:rPr>
                <a:t>Ireland</a:t>
              </a:r>
            </a:p>
          </p:txBody>
        </p:sp>
        <p:sp>
          <p:nvSpPr>
            <p:cNvPr id="135202" name="Text Box 34"/>
            <p:cNvSpPr txBox="1">
              <a:spLocks noChangeArrowheads="1"/>
            </p:cNvSpPr>
            <p:nvPr/>
          </p:nvSpPr>
          <p:spPr bwMode="auto">
            <a:xfrm>
              <a:off x="2880" y="1200"/>
              <a:ext cx="591" cy="231"/>
            </a:xfrm>
            <a:prstGeom prst="rect">
              <a:avLst/>
            </a:prstGeom>
            <a:noFill/>
            <a:ln w="9525">
              <a:noFill/>
              <a:miter lim="800000"/>
              <a:headEnd/>
              <a:tailEnd/>
            </a:ln>
            <a:effectLst/>
          </p:spPr>
          <p:txBody>
            <a:bodyPr wrap="none">
              <a:spAutoFit/>
            </a:bodyPr>
            <a:lstStyle/>
            <a:p>
              <a:pPr algn="l" eaLnBrk="0" hangingPunct="0"/>
              <a:r>
                <a:rPr lang="en-US" sz="1800">
                  <a:solidFill>
                    <a:srgbClr val="FFFF00"/>
                  </a:solidFill>
                  <a:latin typeface="Comic Sans MS" pitchFamily="66" charset="0"/>
                </a:rPr>
                <a:t>Finland</a:t>
              </a:r>
            </a:p>
          </p:txBody>
        </p:sp>
        <p:sp>
          <p:nvSpPr>
            <p:cNvPr id="135203" name="Text Box 35"/>
            <p:cNvSpPr txBox="1">
              <a:spLocks noChangeArrowheads="1"/>
            </p:cNvSpPr>
            <p:nvPr/>
          </p:nvSpPr>
          <p:spPr bwMode="auto">
            <a:xfrm>
              <a:off x="2256" y="1632"/>
              <a:ext cx="660" cy="231"/>
            </a:xfrm>
            <a:prstGeom prst="rect">
              <a:avLst/>
            </a:prstGeom>
            <a:noFill/>
            <a:ln w="9525">
              <a:noFill/>
              <a:miter lim="800000"/>
              <a:headEnd/>
              <a:tailEnd/>
            </a:ln>
            <a:effectLst/>
          </p:spPr>
          <p:txBody>
            <a:bodyPr wrap="none">
              <a:spAutoFit/>
            </a:bodyPr>
            <a:lstStyle/>
            <a:p>
              <a:pPr algn="l" eaLnBrk="0" hangingPunct="0"/>
              <a:r>
                <a:rPr lang="en-US" sz="1800">
                  <a:solidFill>
                    <a:srgbClr val="FFFF00"/>
                  </a:solidFill>
                  <a:latin typeface="Comic Sans MS" pitchFamily="66" charset="0"/>
                </a:rPr>
                <a:t>Jamaica</a:t>
              </a:r>
            </a:p>
          </p:txBody>
        </p:sp>
        <p:sp>
          <p:nvSpPr>
            <p:cNvPr id="135204" name="Text Box 36"/>
            <p:cNvSpPr txBox="1">
              <a:spLocks noChangeArrowheads="1"/>
            </p:cNvSpPr>
            <p:nvPr/>
          </p:nvSpPr>
          <p:spPr bwMode="auto">
            <a:xfrm>
              <a:off x="3984" y="1056"/>
              <a:ext cx="698" cy="231"/>
            </a:xfrm>
            <a:prstGeom prst="rect">
              <a:avLst/>
            </a:prstGeom>
            <a:noFill/>
            <a:ln w="9525">
              <a:noFill/>
              <a:miter lim="800000"/>
              <a:headEnd/>
              <a:tailEnd/>
            </a:ln>
            <a:effectLst/>
          </p:spPr>
          <p:txBody>
            <a:bodyPr wrap="none">
              <a:spAutoFit/>
            </a:bodyPr>
            <a:lstStyle/>
            <a:p>
              <a:pPr algn="l" eaLnBrk="0" hangingPunct="0"/>
              <a:r>
                <a:rPr lang="en-US" sz="1800">
                  <a:solidFill>
                    <a:srgbClr val="FFFF00"/>
                  </a:solidFill>
                  <a:latin typeface="Comic Sans MS" pitchFamily="66" charset="0"/>
                </a:rPr>
                <a:t>Germany</a:t>
              </a:r>
            </a:p>
          </p:txBody>
        </p:sp>
        <p:sp>
          <p:nvSpPr>
            <p:cNvPr id="135205" name="Text Box 37"/>
            <p:cNvSpPr txBox="1">
              <a:spLocks noChangeArrowheads="1"/>
            </p:cNvSpPr>
            <p:nvPr/>
          </p:nvSpPr>
          <p:spPr bwMode="auto">
            <a:xfrm>
              <a:off x="4032" y="1344"/>
              <a:ext cx="952" cy="231"/>
            </a:xfrm>
            <a:prstGeom prst="rect">
              <a:avLst/>
            </a:prstGeom>
            <a:noFill/>
            <a:ln w="9525">
              <a:noFill/>
              <a:miter lim="800000"/>
              <a:headEnd/>
              <a:tailEnd/>
            </a:ln>
            <a:effectLst/>
          </p:spPr>
          <p:txBody>
            <a:bodyPr wrap="none">
              <a:spAutoFit/>
            </a:bodyPr>
            <a:lstStyle/>
            <a:p>
              <a:pPr algn="l" eaLnBrk="0" hangingPunct="0"/>
              <a:r>
                <a:rPr lang="en-US" sz="1800">
                  <a:solidFill>
                    <a:srgbClr val="FFFF00"/>
                  </a:solidFill>
                  <a:latin typeface="Comic Sans MS" pitchFamily="66" charset="0"/>
                </a:rPr>
                <a:t>Netherlands</a:t>
              </a:r>
            </a:p>
          </p:txBody>
        </p:sp>
        <p:sp>
          <p:nvSpPr>
            <p:cNvPr id="135206" name="Oval 38"/>
            <p:cNvSpPr>
              <a:spLocks noChangeArrowheads="1"/>
            </p:cNvSpPr>
            <p:nvPr/>
          </p:nvSpPr>
          <p:spPr bwMode="auto">
            <a:xfrm>
              <a:off x="3888" y="1152"/>
              <a:ext cx="96" cy="96"/>
            </a:xfrm>
            <a:prstGeom prst="ellipse">
              <a:avLst/>
            </a:prstGeom>
            <a:solidFill>
              <a:srgbClr val="00FF00"/>
            </a:solidFill>
            <a:ln w="9525">
              <a:solidFill>
                <a:schemeClr val="tx1"/>
              </a:solidFill>
              <a:round/>
              <a:headEnd/>
              <a:tailEnd/>
            </a:ln>
            <a:effectLst/>
          </p:spPr>
          <p:txBody>
            <a:bodyPr wrap="none" anchor="ctr"/>
            <a:lstStyle/>
            <a:p>
              <a:endParaRPr lang="en-US"/>
            </a:p>
          </p:txBody>
        </p:sp>
        <p:sp>
          <p:nvSpPr>
            <p:cNvPr id="135207" name="Oval 39"/>
            <p:cNvSpPr>
              <a:spLocks noChangeArrowheads="1"/>
            </p:cNvSpPr>
            <p:nvPr/>
          </p:nvSpPr>
          <p:spPr bwMode="auto">
            <a:xfrm>
              <a:off x="3984" y="1392"/>
              <a:ext cx="96" cy="96"/>
            </a:xfrm>
            <a:prstGeom prst="ellipse">
              <a:avLst/>
            </a:prstGeom>
            <a:solidFill>
              <a:srgbClr val="00FF00"/>
            </a:solidFill>
            <a:ln w="9525">
              <a:solidFill>
                <a:schemeClr val="tx1"/>
              </a:solidFill>
              <a:round/>
              <a:headEnd/>
              <a:tailEnd/>
            </a:ln>
            <a:effectLst/>
          </p:spPr>
          <p:txBody>
            <a:bodyPr wrap="none" anchor="ctr"/>
            <a:lstStyle/>
            <a:p>
              <a:endParaRPr lang="en-US"/>
            </a:p>
          </p:txBody>
        </p:sp>
        <p:sp>
          <p:nvSpPr>
            <p:cNvPr id="135208" name="Oval 40"/>
            <p:cNvSpPr>
              <a:spLocks noChangeArrowheads="1"/>
            </p:cNvSpPr>
            <p:nvPr/>
          </p:nvSpPr>
          <p:spPr bwMode="auto">
            <a:xfrm>
              <a:off x="3456" y="1248"/>
              <a:ext cx="96" cy="96"/>
            </a:xfrm>
            <a:prstGeom prst="ellipse">
              <a:avLst/>
            </a:prstGeom>
            <a:solidFill>
              <a:srgbClr val="00FF00"/>
            </a:solidFill>
            <a:ln w="9525">
              <a:solidFill>
                <a:schemeClr val="tx1"/>
              </a:solidFill>
              <a:round/>
              <a:headEnd/>
              <a:tailEnd/>
            </a:ln>
            <a:effectLst/>
          </p:spPr>
          <p:txBody>
            <a:bodyPr wrap="none" anchor="ctr"/>
            <a:lstStyle/>
            <a:p>
              <a:endParaRPr lang="en-US"/>
            </a:p>
          </p:txBody>
        </p:sp>
        <p:sp>
          <p:nvSpPr>
            <p:cNvPr id="135209" name="Oval 41"/>
            <p:cNvSpPr>
              <a:spLocks noChangeArrowheads="1"/>
            </p:cNvSpPr>
            <p:nvPr/>
          </p:nvSpPr>
          <p:spPr bwMode="auto">
            <a:xfrm>
              <a:off x="3264" y="1536"/>
              <a:ext cx="96" cy="96"/>
            </a:xfrm>
            <a:prstGeom prst="ellipse">
              <a:avLst/>
            </a:prstGeom>
            <a:solidFill>
              <a:srgbClr val="00FF00"/>
            </a:solidFill>
            <a:ln w="9525">
              <a:solidFill>
                <a:schemeClr val="tx1"/>
              </a:solidFill>
              <a:round/>
              <a:headEnd/>
              <a:tailEnd/>
            </a:ln>
            <a:effectLst/>
          </p:spPr>
          <p:txBody>
            <a:bodyPr wrap="none" anchor="ctr"/>
            <a:lstStyle/>
            <a:p>
              <a:endParaRPr lang="en-US"/>
            </a:p>
          </p:txBody>
        </p:sp>
        <p:sp>
          <p:nvSpPr>
            <p:cNvPr id="135210" name="Oval 42"/>
            <p:cNvSpPr>
              <a:spLocks noChangeArrowheads="1"/>
            </p:cNvSpPr>
            <p:nvPr/>
          </p:nvSpPr>
          <p:spPr bwMode="auto">
            <a:xfrm>
              <a:off x="3648" y="1584"/>
              <a:ext cx="96" cy="96"/>
            </a:xfrm>
            <a:prstGeom prst="ellipse">
              <a:avLst/>
            </a:prstGeom>
            <a:solidFill>
              <a:srgbClr val="00FF00"/>
            </a:solidFill>
            <a:ln w="9525">
              <a:solidFill>
                <a:schemeClr val="tx1"/>
              </a:solidFill>
              <a:round/>
              <a:headEnd/>
              <a:tailEnd/>
            </a:ln>
            <a:effectLst/>
          </p:spPr>
          <p:txBody>
            <a:bodyPr wrap="none" anchor="ctr"/>
            <a:lstStyle/>
            <a:p>
              <a:endParaRPr lang="en-US"/>
            </a:p>
          </p:txBody>
        </p:sp>
        <p:sp>
          <p:nvSpPr>
            <p:cNvPr id="135211" name="Oval 43"/>
            <p:cNvSpPr>
              <a:spLocks noChangeArrowheads="1"/>
            </p:cNvSpPr>
            <p:nvPr/>
          </p:nvSpPr>
          <p:spPr bwMode="auto">
            <a:xfrm>
              <a:off x="3312" y="1824"/>
              <a:ext cx="96" cy="96"/>
            </a:xfrm>
            <a:prstGeom prst="ellipse">
              <a:avLst/>
            </a:prstGeom>
            <a:solidFill>
              <a:srgbClr val="00FF00"/>
            </a:solidFill>
            <a:ln w="9525">
              <a:solidFill>
                <a:schemeClr val="tx1"/>
              </a:solidFill>
              <a:round/>
              <a:headEnd/>
              <a:tailEnd/>
            </a:ln>
            <a:effectLst/>
          </p:spPr>
          <p:txBody>
            <a:bodyPr wrap="none" anchor="ctr"/>
            <a:lstStyle/>
            <a:p>
              <a:endParaRPr lang="en-US"/>
            </a:p>
          </p:txBody>
        </p:sp>
        <p:sp>
          <p:nvSpPr>
            <p:cNvPr id="135212" name="Oval 44"/>
            <p:cNvSpPr>
              <a:spLocks noChangeArrowheads="1"/>
            </p:cNvSpPr>
            <p:nvPr/>
          </p:nvSpPr>
          <p:spPr bwMode="auto">
            <a:xfrm>
              <a:off x="2880" y="1680"/>
              <a:ext cx="96" cy="96"/>
            </a:xfrm>
            <a:prstGeom prst="ellipse">
              <a:avLst/>
            </a:prstGeom>
            <a:solidFill>
              <a:srgbClr val="00FF00"/>
            </a:solidFill>
            <a:ln w="9525">
              <a:solidFill>
                <a:schemeClr val="tx1"/>
              </a:solidFill>
              <a:round/>
              <a:headEnd/>
              <a:tailEnd/>
            </a:ln>
            <a:effectLst/>
          </p:spPr>
          <p:txBody>
            <a:bodyPr wrap="none" anchor="ctr"/>
            <a:lstStyle/>
            <a:p>
              <a:endParaRPr lang="en-US"/>
            </a:p>
          </p:txBody>
        </p:sp>
        <p:sp>
          <p:nvSpPr>
            <p:cNvPr id="135213" name="Oval 45"/>
            <p:cNvSpPr>
              <a:spLocks noChangeArrowheads="1"/>
            </p:cNvSpPr>
            <p:nvPr/>
          </p:nvSpPr>
          <p:spPr bwMode="auto">
            <a:xfrm>
              <a:off x="2688" y="1920"/>
              <a:ext cx="96" cy="96"/>
            </a:xfrm>
            <a:prstGeom prst="ellipse">
              <a:avLst/>
            </a:prstGeom>
            <a:solidFill>
              <a:srgbClr val="00FF00"/>
            </a:solidFill>
            <a:ln w="9525">
              <a:solidFill>
                <a:schemeClr val="tx1"/>
              </a:solidFill>
              <a:round/>
              <a:headEnd/>
              <a:tailEnd/>
            </a:ln>
            <a:effectLst/>
          </p:spPr>
          <p:txBody>
            <a:bodyPr wrap="none" anchor="ctr"/>
            <a:lstStyle/>
            <a:p>
              <a:endParaRPr lang="en-US"/>
            </a:p>
          </p:txBody>
        </p:sp>
        <p:sp>
          <p:nvSpPr>
            <p:cNvPr id="135214" name="Oval 46"/>
            <p:cNvSpPr>
              <a:spLocks noChangeArrowheads="1"/>
            </p:cNvSpPr>
            <p:nvPr/>
          </p:nvSpPr>
          <p:spPr bwMode="auto">
            <a:xfrm>
              <a:off x="3024" y="1968"/>
              <a:ext cx="96" cy="96"/>
            </a:xfrm>
            <a:prstGeom prst="ellipse">
              <a:avLst/>
            </a:prstGeom>
            <a:solidFill>
              <a:srgbClr val="00FF00"/>
            </a:solidFill>
            <a:ln w="9525">
              <a:solidFill>
                <a:schemeClr val="tx1"/>
              </a:solidFill>
              <a:round/>
              <a:headEnd/>
              <a:tailEnd/>
            </a:ln>
            <a:effectLst/>
          </p:spPr>
          <p:txBody>
            <a:bodyPr wrap="none" anchor="ctr"/>
            <a:lstStyle/>
            <a:p>
              <a:endParaRPr lang="en-US"/>
            </a:p>
          </p:txBody>
        </p:sp>
        <p:sp>
          <p:nvSpPr>
            <p:cNvPr id="135215" name="Oval 47"/>
            <p:cNvSpPr>
              <a:spLocks noChangeArrowheads="1"/>
            </p:cNvSpPr>
            <p:nvPr/>
          </p:nvSpPr>
          <p:spPr bwMode="auto">
            <a:xfrm>
              <a:off x="3504" y="2112"/>
              <a:ext cx="96" cy="96"/>
            </a:xfrm>
            <a:prstGeom prst="ellipse">
              <a:avLst/>
            </a:prstGeom>
            <a:solidFill>
              <a:srgbClr val="00FF00"/>
            </a:solidFill>
            <a:ln w="9525">
              <a:solidFill>
                <a:schemeClr val="tx1"/>
              </a:solidFill>
              <a:round/>
              <a:headEnd/>
              <a:tailEnd/>
            </a:ln>
            <a:effectLst/>
          </p:spPr>
          <p:txBody>
            <a:bodyPr wrap="none" anchor="ctr"/>
            <a:lstStyle/>
            <a:p>
              <a:endParaRPr lang="en-US"/>
            </a:p>
          </p:txBody>
        </p:sp>
        <p:sp>
          <p:nvSpPr>
            <p:cNvPr id="135216" name="Oval 48"/>
            <p:cNvSpPr>
              <a:spLocks noChangeArrowheads="1"/>
            </p:cNvSpPr>
            <p:nvPr/>
          </p:nvSpPr>
          <p:spPr bwMode="auto">
            <a:xfrm>
              <a:off x="2880" y="2160"/>
              <a:ext cx="96" cy="96"/>
            </a:xfrm>
            <a:prstGeom prst="ellipse">
              <a:avLst/>
            </a:prstGeom>
            <a:solidFill>
              <a:srgbClr val="00FF00"/>
            </a:solidFill>
            <a:ln w="9525">
              <a:solidFill>
                <a:schemeClr val="tx1"/>
              </a:solidFill>
              <a:round/>
              <a:headEnd/>
              <a:tailEnd/>
            </a:ln>
            <a:effectLst/>
          </p:spPr>
          <p:txBody>
            <a:bodyPr wrap="none" anchor="ctr"/>
            <a:lstStyle/>
            <a:p>
              <a:endParaRPr lang="en-US"/>
            </a:p>
          </p:txBody>
        </p:sp>
        <p:sp>
          <p:nvSpPr>
            <p:cNvPr id="135217" name="Oval 49"/>
            <p:cNvSpPr>
              <a:spLocks noChangeArrowheads="1"/>
            </p:cNvSpPr>
            <p:nvPr/>
          </p:nvSpPr>
          <p:spPr bwMode="auto">
            <a:xfrm>
              <a:off x="2400" y="2400"/>
              <a:ext cx="96" cy="96"/>
            </a:xfrm>
            <a:prstGeom prst="ellipse">
              <a:avLst/>
            </a:prstGeom>
            <a:solidFill>
              <a:srgbClr val="00FF00"/>
            </a:solidFill>
            <a:ln w="9525">
              <a:solidFill>
                <a:schemeClr val="tx1"/>
              </a:solidFill>
              <a:round/>
              <a:headEnd/>
              <a:tailEnd/>
            </a:ln>
            <a:effectLst/>
          </p:spPr>
          <p:txBody>
            <a:bodyPr wrap="none" anchor="ctr"/>
            <a:lstStyle/>
            <a:p>
              <a:endParaRPr lang="en-US"/>
            </a:p>
          </p:txBody>
        </p:sp>
        <p:sp>
          <p:nvSpPr>
            <p:cNvPr id="135218" name="Oval 50"/>
            <p:cNvSpPr>
              <a:spLocks noChangeArrowheads="1"/>
            </p:cNvSpPr>
            <p:nvPr/>
          </p:nvSpPr>
          <p:spPr bwMode="auto">
            <a:xfrm>
              <a:off x="2400" y="2112"/>
              <a:ext cx="96" cy="96"/>
            </a:xfrm>
            <a:prstGeom prst="ellipse">
              <a:avLst/>
            </a:prstGeom>
            <a:solidFill>
              <a:srgbClr val="00FF00"/>
            </a:solidFill>
            <a:ln w="9525">
              <a:solidFill>
                <a:schemeClr val="tx1"/>
              </a:solidFill>
              <a:round/>
              <a:headEnd/>
              <a:tailEnd/>
            </a:ln>
            <a:effectLst/>
          </p:spPr>
          <p:txBody>
            <a:bodyPr wrap="none" anchor="ctr"/>
            <a:lstStyle/>
            <a:p>
              <a:endParaRPr lang="en-US"/>
            </a:p>
          </p:txBody>
        </p:sp>
        <p:sp>
          <p:nvSpPr>
            <p:cNvPr id="135219" name="Oval 51"/>
            <p:cNvSpPr>
              <a:spLocks noChangeArrowheads="1"/>
            </p:cNvSpPr>
            <p:nvPr/>
          </p:nvSpPr>
          <p:spPr bwMode="auto">
            <a:xfrm>
              <a:off x="2880" y="2448"/>
              <a:ext cx="96" cy="96"/>
            </a:xfrm>
            <a:prstGeom prst="ellipse">
              <a:avLst/>
            </a:prstGeom>
            <a:solidFill>
              <a:srgbClr val="00FF00"/>
            </a:solidFill>
            <a:ln w="9525">
              <a:solidFill>
                <a:schemeClr val="tx1"/>
              </a:solidFill>
              <a:round/>
              <a:headEnd/>
              <a:tailEnd/>
            </a:ln>
            <a:effectLst/>
          </p:spPr>
          <p:txBody>
            <a:bodyPr wrap="none" anchor="ctr"/>
            <a:lstStyle/>
            <a:p>
              <a:endParaRPr lang="en-US"/>
            </a:p>
          </p:txBody>
        </p:sp>
        <p:sp>
          <p:nvSpPr>
            <p:cNvPr id="135220" name="Oval 52"/>
            <p:cNvSpPr>
              <a:spLocks noChangeArrowheads="1"/>
            </p:cNvSpPr>
            <p:nvPr/>
          </p:nvSpPr>
          <p:spPr bwMode="auto">
            <a:xfrm>
              <a:off x="3504" y="2304"/>
              <a:ext cx="96" cy="96"/>
            </a:xfrm>
            <a:prstGeom prst="ellipse">
              <a:avLst/>
            </a:prstGeom>
            <a:solidFill>
              <a:srgbClr val="00FF00"/>
            </a:solidFill>
            <a:ln w="9525">
              <a:solidFill>
                <a:schemeClr val="tx1"/>
              </a:solidFill>
              <a:round/>
              <a:headEnd/>
              <a:tailEnd/>
            </a:ln>
            <a:effectLst/>
          </p:spPr>
          <p:txBody>
            <a:bodyPr wrap="none" anchor="ctr"/>
            <a:lstStyle/>
            <a:p>
              <a:endParaRPr lang="en-US"/>
            </a:p>
          </p:txBody>
        </p:sp>
        <p:sp>
          <p:nvSpPr>
            <p:cNvPr id="135221" name="Oval 53"/>
            <p:cNvSpPr>
              <a:spLocks noChangeArrowheads="1"/>
            </p:cNvSpPr>
            <p:nvPr/>
          </p:nvSpPr>
          <p:spPr bwMode="auto">
            <a:xfrm>
              <a:off x="2352" y="2640"/>
              <a:ext cx="96" cy="96"/>
            </a:xfrm>
            <a:prstGeom prst="ellipse">
              <a:avLst/>
            </a:prstGeom>
            <a:solidFill>
              <a:srgbClr val="00FF00"/>
            </a:solidFill>
            <a:ln w="9525">
              <a:solidFill>
                <a:schemeClr val="tx1"/>
              </a:solidFill>
              <a:round/>
              <a:headEnd/>
              <a:tailEnd/>
            </a:ln>
            <a:effectLst/>
          </p:spPr>
          <p:txBody>
            <a:bodyPr wrap="none" anchor="ctr"/>
            <a:lstStyle/>
            <a:p>
              <a:endParaRPr lang="en-US"/>
            </a:p>
          </p:txBody>
        </p:sp>
        <p:sp>
          <p:nvSpPr>
            <p:cNvPr id="135222" name="Oval 54"/>
            <p:cNvSpPr>
              <a:spLocks noChangeArrowheads="1"/>
            </p:cNvSpPr>
            <p:nvPr/>
          </p:nvSpPr>
          <p:spPr bwMode="auto">
            <a:xfrm>
              <a:off x="1968" y="2688"/>
              <a:ext cx="96" cy="96"/>
            </a:xfrm>
            <a:prstGeom prst="ellipse">
              <a:avLst/>
            </a:prstGeom>
            <a:solidFill>
              <a:srgbClr val="00FF00"/>
            </a:solidFill>
            <a:ln w="9525">
              <a:solidFill>
                <a:schemeClr val="tx1"/>
              </a:solidFill>
              <a:round/>
              <a:headEnd/>
              <a:tailEnd/>
            </a:ln>
            <a:effectLst/>
          </p:spPr>
          <p:txBody>
            <a:bodyPr wrap="none" anchor="ctr"/>
            <a:lstStyle/>
            <a:p>
              <a:endParaRPr lang="en-US"/>
            </a:p>
          </p:txBody>
        </p:sp>
        <p:sp>
          <p:nvSpPr>
            <p:cNvPr id="135223" name="Oval 55"/>
            <p:cNvSpPr>
              <a:spLocks noChangeArrowheads="1"/>
            </p:cNvSpPr>
            <p:nvPr/>
          </p:nvSpPr>
          <p:spPr bwMode="auto">
            <a:xfrm>
              <a:off x="2256" y="2976"/>
              <a:ext cx="96" cy="96"/>
            </a:xfrm>
            <a:prstGeom prst="ellipse">
              <a:avLst/>
            </a:prstGeom>
            <a:solidFill>
              <a:srgbClr val="00FF00"/>
            </a:solidFill>
            <a:ln w="9525">
              <a:solidFill>
                <a:schemeClr val="tx1"/>
              </a:solidFill>
              <a:round/>
              <a:headEnd/>
              <a:tailEnd/>
            </a:ln>
            <a:effectLst/>
          </p:spPr>
          <p:txBody>
            <a:bodyPr wrap="none" anchor="ctr"/>
            <a:lstStyle/>
            <a:p>
              <a:endParaRPr lang="en-US"/>
            </a:p>
          </p:txBody>
        </p:sp>
        <p:sp>
          <p:nvSpPr>
            <p:cNvPr id="135224" name="Oval 56"/>
            <p:cNvSpPr>
              <a:spLocks noChangeArrowheads="1"/>
            </p:cNvSpPr>
            <p:nvPr/>
          </p:nvSpPr>
          <p:spPr bwMode="auto">
            <a:xfrm>
              <a:off x="2016" y="3024"/>
              <a:ext cx="96" cy="96"/>
            </a:xfrm>
            <a:prstGeom prst="ellipse">
              <a:avLst/>
            </a:prstGeom>
            <a:solidFill>
              <a:srgbClr val="00FF00"/>
            </a:solidFill>
            <a:ln w="9525">
              <a:solidFill>
                <a:schemeClr val="tx1"/>
              </a:solidFill>
              <a:round/>
              <a:headEnd/>
              <a:tailEnd/>
            </a:ln>
            <a:effectLst/>
          </p:spPr>
          <p:txBody>
            <a:bodyPr wrap="none" anchor="ctr"/>
            <a:lstStyle/>
            <a:p>
              <a:endParaRPr lang="en-US"/>
            </a:p>
          </p:txBody>
        </p:sp>
        <p:sp>
          <p:nvSpPr>
            <p:cNvPr id="135225" name="Text Box 57"/>
            <p:cNvSpPr txBox="1">
              <a:spLocks noChangeArrowheads="1"/>
            </p:cNvSpPr>
            <p:nvPr/>
          </p:nvSpPr>
          <p:spPr bwMode="auto">
            <a:xfrm>
              <a:off x="2208" y="3600"/>
              <a:ext cx="1824" cy="288"/>
            </a:xfrm>
            <a:prstGeom prst="rect">
              <a:avLst/>
            </a:prstGeom>
            <a:noFill/>
            <a:ln w="9525">
              <a:noFill/>
              <a:miter lim="800000"/>
              <a:headEnd/>
              <a:tailEnd/>
            </a:ln>
            <a:effectLst/>
          </p:spPr>
          <p:txBody>
            <a:bodyPr>
              <a:spAutoFit/>
            </a:bodyPr>
            <a:lstStyle/>
            <a:p>
              <a:pPr algn="l" eaLnBrk="0" hangingPunct="0">
                <a:spcBef>
                  <a:spcPct val="50000"/>
                </a:spcBef>
              </a:pPr>
              <a:r>
                <a:rPr lang="en-US" sz="2400">
                  <a:solidFill>
                    <a:srgbClr val="FFFF00"/>
                  </a:solidFill>
                  <a:latin typeface="Comic Sans MS" pitchFamily="66" charset="0"/>
                </a:rPr>
                <a:t>Income Index</a:t>
              </a:r>
            </a:p>
          </p:txBody>
        </p:sp>
        <p:sp>
          <p:nvSpPr>
            <p:cNvPr id="135226" name="Text Box 58"/>
            <p:cNvSpPr txBox="1">
              <a:spLocks noChangeArrowheads="1"/>
            </p:cNvSpPr>
            <p:nvPr/>
          </p:nvSpPr>
          <p:spPr bwMode="auto">
            <a:xfrm rot="-5400000">
              <a:off x="-619" y="2106"/>
              <a:ext cx="2736" cy="250"/>
            </a:xfrm>
            <a:prstGeom prst="rect">
              <a:avLst/>
            </a:prstGeom>
            <a:noFill/>
            <a:ln w="9525">
              <a:noFill/>
              <a:miter lim="800000"/>
              <a:headEnd/>
              <a:tailEnd/>
            </a:ln>
            <a:effectLst/>
          </p:spPr>
          <p:txBody>
            <a:bodyPr>
              <a:spAutoFit/>
            </a:bodyPr>
            <a:lstStyle/>
            <a:p>
              <a:pPr algn="l" eaLnBrk="0" hangingPunct="0">
                <a:spcBef>
                  <a:spcPct val="50000"/>
                </a:spcBef>
              </a:pPr>
              <a:r>
                <a:rPr lang="en-US" sz="2000">
                  <a:solidFill>
                    <a:srgbClr val="FFFF00"/>
                  </a:solidFill>
                  <a:latin typeface="Comic Sans MS" pitchFamily="66" charset="0"/>
                </a:rPr>
                <a:t>Environmental Performance Index</a:t>
              </a:r>
              <a:endParaRPr lang="en-US" sz="2400">
                <a:solidFill>
                  <a:srgbClr val="FFFF00"/>
                </a:solidFill>
                <a:latin typeface="Comic Sans MS" pitchFamily="66" charset="0"/>
              </a:endParaRPr>
            </a:p>
          </p:txBody>
        </p:sp>
        <p:sp>
          <p:nvSpPr>
            <p:cNvPr id="135227" name="Oval 59"/>
            <p:cNvSpPr>
              <a:spLocks noChangeArrowheads="1"/>
            </p:cNvSpPr>
            <p:nvPr/>
          </p:nvSpPr>
          <p:spPr bwMode="auto">
            <a:xfrm>
              <a:off x="2208" y="2544"/>
              <a:ext cx="96" cy="96"/>
            </a:xfrm>
            <a:prstGeom prst="ellipse">
              <a:avLst/>
            </a:prstGeom>
            <a:solidFill>
              <a:srgbClr val="00FF00"/>
            </a:solidFill>
            <a:ln w="9525">
              <a:solidFill>
                <a:schemeClr val="tx1"/>
              </a:solidFill>
              <a:round/>
              <a:headEnd/>
              <a:tailEnd/>
            </a:ln>
            <a:effectLst/>
          </p:spPr>
          <p:txBody>
            <a:bodyPr wrap="none" anchor="ctr"/>
            <a:lstStyle/>
            <a:p>
              <a:endParaRPr lang="en-US"/>
            </a:p>
          </p:txBody>
        </p:sp>
        <p:sp>
          <p:nvSpPr>
            <p:cNvPr id="135228" name="Oval 60"/>
            <p:cNvSpPr>
              <a:spLocks noChangeArrowheads="1"/>
            </p:cNvSpPr>
            <p:nvPr/>
          </p:nvSpPr>
          <p:spPr bwMode="auto">
            <a:xfrm>
              <a:off x="2208" y="2256"/>
              <a:ext cx="96" cy="96"/>
            </a:xfrm>
            <a:prstGeom prst="ellipse">
              <a:avLst/>
            </a:prstGeom>
            <a:solidFill>
              <a:srgbClr val="00FF00"/>
            </a:solidFill>
            <a:ln w="9525">
              <a:solidFill>
                <a:schemeClr val="tx1"/>
              </a:solidFill>
              <a:round/>
              <a:headEnd/>
              <a:tailEnd/>
            </a:ln>
            <a:effectLst/>
          </p:spPr>
          <p:txBody>
            <a:bodyPr wrap="none" anchor="ctr"/>
            <a:lstStyle/>
            <a:p>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6194" name="Picture 2" descr="sl00738_"/>
          <p:cNvPicPr>
            <a:picLocks noChangeAspect="1" noChangeArrowheads="1"/>
          </p:cNvPicPr>
          <p:nvPr/>
        </p:nvPicPr>
        <p:blipFill>
          <a:blip r:embed="rId4"/>
          <a:srcRect/>
          <a:stretch>
            <a:fillRect/>
          </a:stretch>
        </p:blipFill>
        <p:spPr bwMode="auto">
          <a:xfrm>
            <a:off x="6634163" y="5697538"/>
            <a:ext cx="2509837" cy="1160462"/>
          </a:xfrm>
          <a:prstGeom prst="rect">
            <a:avLst/>
          </a:prstGeom>
          <a:noFill/>
        </p:spPr>
      </p:pic>
      <p:pic>
        <p:nvPicPr>
          <p:cNvPr id="136195" name="Picture 3" descr="ph00780u"/>
          <p:cNvPicPr>
            <a:picLocks noChangeAspect="1" noChangeArrowheads="1"/>
          </p:cNvPicPr>
          <p:nvPr/>
        </p:nvPicPr>
        <p:blipFill>
          <a:blip r:embed="rId5"/>
          <a:srcRect/>
          <a:stretch>
            <a:fillRect/>
          </a:stretch>
        </p:blipFill>
        <p:spPr bwMode="auto">
          <a:xfrm>
            <a:off x="457200" y="2209800"/>
            <a:ext cx="5334000" cy="2895600"/>
          </a:xfrm>
          <a:prstGeom prst="rect">
            <a:avLst/>
          </a:prstGeom>
          <a:noFill/>
        </p:spPr>
      </p:pic>
      <p:sp>
        <p:nvSpPr>
          <p:cNvPr id="136196" name="Rectangle 4"/>
          <p:cNvSpPr>
            <a:spLocks noGrp="1" noChangeArrowheads="1"/>
          </p:cNvSpPr>
          <p:nvPr>
            <p:ph type="title"/>
          </p:nvPr>
        </p:nvSpPr>
        <p:spPr>
          <a:xfrm>
            <a:off x="685800" y="533400"/>
            <a:ext cx="7772400" cy="1447800"/>
          </a:xfrm>
        </p:spPr>
        <p:txBody>
          <a:bodyPr>
            <a:normAutofit fontScale="90000"/>
          </a:bodyPr>
          <a:lstStyle/>
          <a:p>
            <a:r>
              <a:rPr lang="en-US">
                <a:solidFill>
                  <a:srgbClr val="000099"/>
                </a:solidFill>
              </a:rPr>
              <a:t>2 Standard Critiques of the Implications of the WTO Policies</a:t>
            </a:r>
          </a:p>
        </p:txBody>
      </p:sp>
      <p:sp>
        <p:nvSpPr>
          <p:cNvPr id="136197" name="Rectangle 5"/>
          <p:cNvSpPr>
            <a:spLocks noChangeArrowheads="1"/>
          </p:cNvSpPr>
          <p:nvPr/>
        </p:nvSpPr>
        <p:spPr bwMode="auto">
          <a:xfrm>
            <a:off x="457200" y="2209800"/>
            <a:ext cx="5334000" cy="671513"/>
          </a:xfrm>
          <a:prstGeom prst="rect">
            <a:avLst/>
          </a:prstGeom>
          <a:solidFill>
            <a:srgbClr val="CCCCFF"/>
          </a:solidFill>
          <a:ln w="9525">
            <a:noFill/>
            <a:miter lim="800000"/>
            <a:headEnd/>
            <a:tailEnd/>
          </a:ln>
          <a:effectLst/>
        </p:spPr>
        <p:txBody>
          <a:bodyPr>
            <a:spAutoFit/>
          </a:bodyPr>
          <a:lstStyle/>
          <a:p>
            <a:pPr marL="457200" indent="-457200" algn="l"/>
            <a:r>
              <a:rPr lang="en-US" sz="3800">
                <a:latin typeface="Lucida Handwriting" pitchFamily="66" charset="0"/>
              </a:rPr>
              <a:t>“Regulatory-Chill”</a:t>
            </a:r>
          </a:p>
        </p:txBody>
      </p:sp>
      <p:sp>
        <p:nvSpPr>
          <p:cNvPr id="136198" name="Rectangle 6"/>
          <p:cNvSpPr>
            <a:spLocks noChangeArrowheads="1"/>
          </p:cNvSpPr>
          <p:nvPr/>
        </p:nvSpPr>
        <p:spPr bwMode="auto">
          <a:xfrm>
            <a:off x="1295400" y="6186488"/>
            <a:ext cx="5419725" cy="671512"/>
          </a:xfrm>
          <a:prstGeom prst="rect">
            <a:avLst/>
          </a:prstGeom>
          <a:solidFill>
            <a:srgbClr val="CCCCFF"/>
          </a:solidFill>
          <a:ln w="9525">
            <a:noFill/>
            <a:miter lim="800000"/>
            <a:headEnd/>
            <a:tailEnd/>
          </a:ln>
          <a:effectLst/>
        </p:spPr>
        <p:txBody>
          <a:bodyPr wrap="none">
            <a:spAutoFit/>
          </a:bodyPr>
          <a:lstStyle/>
          <a:p>
            <a:pPr marL="457200" indent="-457200"/>
            <a:r>
              <a:rPr lang="en-US" sz="3800" i="1">
                <a:latin typeface="umbxti10" pitchFamily="18" charset="0"/>
              </a:rPr>
              <a:t>“Race-to-the-Bottom”</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ntr" presetSubtype="0" fill="hold" nodeType="clickEffect">
                                  <p:stCondLst>
                                    <p:cond delay="0"/>
                                  </p:stCondLst>
                                  <p:childTnLst>
                                    <p:set>
                                      <p:cBhvr>
                                        <p:cTn id="6" dur="1" fill="hold">
                                          <p:stCondLst>
                                            <p:cond delay="0"/>
                                          </p:stCondLst>
                                        </p:cTn>
                                        <p:tgtEl>
                                          <p:spTgt spid="136194"/>
                                        </p:tgtEl>
                                        <p:attrNameLst>
                                          <p:attrName>style.visibility</p:attrName>
                                        </p:attrNameLst>
                                      </p:cBhvr>
                                      <p:to>
                                        <p:strVal val="visible"/>
                                      </p:to>
                                    </p:set>
                                    <p:anim calcmode="lin" valueType="num">
                                      <p:cBhvr>
                                        <p:cTn id="7" dur="1000" fill="hold"/>
                                        <p:tgtEl>
                                          <p:spTgt spid="136194"/>
                                        </p:tgtEl>
                                        <p:attrNameLst>
                                          <p:attrName>ppt_w</p:attrName>
                                        </p:attrNameLst>
                                      </p:cBhvr>
                                      <p:tavLst>
                                        <p:tav tm="0">
                                          <p:val>
                                            <p:fltVal val="0"/>
                                          </p:val>
                                        </p:tav>
                                        <p:tav tm="100000">
                                          <p:val>
                                            <p:strVal val="#ppt_w"/>
                                          </p:val>
                                        </p:tav>
                                      </p:tavLst>
                                    </p:anim>
                                    <p:anim calcmode="lin" valueType="num">
                                      <p:cBhvr>
                                        <p:cTn id="8" dur="1000" fill="hold"/>
                                        <p:tgtEl>
                                          <p:spTgt spid="136194"/>
                                        </p:tgtEl>
                                        <p:attrNameLst>
                                          <p:attrName>ppt_h</p:attrName>
                                        </p:attrNameLst>
                                      </p:cBhvr>
                                      <p:tavLst>
                                        <p:tav tm="0">
                                          <p:val>
                                            <p:fltVal val="0"/>
                                          </p:val>
                                        </p:tav>
                                        <p:tav tm="100000">
                                          <p:val>
                                            <p:strVal val="#ppt_h"/>
                                          </p:val>
                                        </p:tav>
                                      </p:tavLst>
                                    </p:anim>
                                    <p:anim calcmode="lin" valueType="num">
                                      <p:cBhvr>
                                        <p:cTn id="9" dur="1000" fill="hold"/>
                                        <p:tgtEl>
                                          <p:spTgt spid="136194"/>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136194"/>
                                        </p:tgtEl>
                                        <p:attrNameLst>
                                          <p:attrName>ppt_y</p:attrName>
                                        </p:attrNameLst>
                                      </p:cBhvr>
                                      <p:tavLst>
                                        <p:tav tm="0" fmla="#ppt_y+(sin(-2*pi*(1-$))*-#ppt_x+cos(-2*pi*(1-$))*(1-#ppt_y))*(1-$)">
                                          <p:val>
                                            <p:fltVal val="0"/>
                                          </p:val>
                                        </p:tav>
                                        <p:tav tm="100000">
                                          <p:val>
                                            <p:fltVal val="1"/>
                                          </p:val>
                                        </p:tav>
                                      </p:tavLst>
                                    </p:anim>
                                  </p:childTnLst>
                                  <p:subTnLst>
                                    <p:audio>
                                      <p:cMediaNode>
                                        <p:cTn display="0" masterRel="sameClick">
                                          <p:stCondLst>
                                            <p:cond evt="begin" delay="0">
                                              <p:tn val="5"/>
                                            </p:cond>
                                          </p:stCondLst>
                                          <p:endCondLst>
                                            <p:cond evt="onStopAudio" delay="0">
                                              <p:tgtEl>
                                                <p:sldTgt/>
                                              </p:tgtEl>
                                            </p:cond>
                                          </p:endCondLst>
                                        </p:cTn>
                                        <p:tgtEl>
                                          <p:sndTgt r:embed="rId2" name="carbrake.wav"/>
                                        </p:tgtEl>
                                      </p:cMediaNode>
                                    </p:audio>
                                  </p:sub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136198"/>
                                        </p:tgtEl>
                                        <p:attrNameLst>
                                          <p:attrName>style.visibility</p:attrName>
                                        </p:attrNameLst>
                                      </p:cBhvr>
                                      <p:to>
                                        <p:strVal val="visible"/>
                                      </p:to>
                                    </p:set>
                                    <p:animEffect transition="in" filter="dissolve">
                                      <p:cBhvr>
                                        <p:cTn id="15" dur="500"/>
                                        <p:tgtEl>
                                          <p:spTgt spid="136198"/>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nodeType="clickEffect">
                                  <p:stCondLst>
                                    <p:cond delay="0"/>
                                  </p:stCondLst>
                                  <p:childTnLst>
                                    <p:set>
                                      <p:cBhvr>
                                        <p:cTn id="19" dur="1" fill="hold">
                                          <p:stCondLst>
                                            <p:cond delay="0"/>
                                          </p:stCondLst>
                                        </p:cTn>
                                        <p:tgtEl>
                                          <p:spTgt spid="136195"/>
                                        </p:tgtEl>
                                        <p:attrNameLst>
                                          <p:attrName>style.visibility</p:attrName>
                                        </p:attrNameLst>
                                      </p:cBhvr>
                                      <p:to>
                                        <p:strVal val="visible"/>
                                      </p:to>
                                    </p:set>
                                    <p:animEffect transition="in" filter="dissolve">
                                      <p:cBhvr>
                                        <p:cTn id="20" dur="500"/>
                                        <p:tgtEl>
                                          <p:spTgt spid="136195"/>
                                        </p:tgtEl>
                                      </p:cBhvr>
                                    </p:animEffect>
                                  </p:childTnLst>
                                  <p:subTnLst>
                                    <p:audio>
                                      <p:cMediaNode>
                                        <p:cTn display="0" masterRel="sameClick">
                                          <p:stCondLst>
                                            <p:cond evt="begin" delay="0">
                                              <p:tn val="18"/>
                                            </p:cond>
                                          </p:stCondLst>
                                          <p:endCondLst>
                                            <p:cond evt="onStopAudio" delay="0">
                                              <p:tgtEl>
                                                <p:sldTgt/>
                                              </p:tgtEl>
                                            </p:cond>
                                          </p:endCondLst>
                                        </p:cTn>
                                        <p:tgtEl>
                                          <p:sndTgt r:embed="rId3" name="camera.wav"/>
                                        </p:tgtEl>
                                      </p:cMediaNode>
                                    </p:audio>
                                  </p:subTnLst>
                                </p:cTn>
                              </p:par>
                            </p:childTnLst>
                          </p:cTn>
                        </p:par>
                      </p:childTnLst>
                    </p:cTn>
                  </p:par>
                  <p:par>
                    <p:cTn id="21" fill="hold">
                      <p:stCondLst>
                        <p:cond delay="indefinite"/>
                      </p:stCondLst>
                      <p:childTnLst>
                        <p:par>
                          <p:cTn id="22" fill="hold">
                            <p:stCondLst>
                              <p:cond delay="0"/>
                            </p:stCondLst>
                            <p:childTnLst>
                              <p:par>
                                <p:cTn id="23" presetID="19" presetClass="entr" presetSubtype="10" fill="hold" grpId="0" nodeType="clickEffect">
                                  <p:stCondLst>
                                    <p:cond delay="0"/>
                                  </p:stCondLst>
                                  <p:childTnLst>
                                    <p:set>
                                      <p:cBhvr>
                                        <p:cTn id="24" dur="1" fill="hold">
                                          <p:stCondLst>
                                            <p:cond delay="0"/>
                                          </p:stCondLst>
                                        </p:cTn>
                                        <p:tgtEl>
                                          <p:spTgt spid="136197"/>
                                        </p:tgtEl>
                                        <p:attrNameLst>
                                          <p:attrName>style.visibility</p:attrName>
                                        </p:attrNameLst>
                                      </p:cBhvr>
                                      <p:to>
                                        <p:strVal val="visible"/>
                                      </p:to>
                                    </p:set>
                                    <p:anim calcmode="lin" valueType="num">
                                      <p:cBhvr>
                                        <p:cTn id="25" dur="5000" fill="hold"/>
                                        <p:tgtEl>
                                          <p:spTgt spid="136197"/>
                                        </p:tgtEl>
                                        <p:attrNameLst>
                                          <p:attrName>ppt_w</p:attrName>
                                        </p:attrNameLst>
                                      </p:cBhvr>
                                      <p:tavLst>
                                        <p:tav tm="0" fmla="#ppt_w*sin(2.5*pi*$)">
                                          <p:val>
                                            <p:fltVal val="0"/>
                                          </p:val>
                                        </p:tav>
                                        <p:tav tm="100000">
                                          <p:val>
                                            <p:fltVal val="1"/>
                                          </p:val>
                                        </p:tav>
                                      </p:tavLst>
                                    </p:anim>
                                    <p:anim calcmode="lin" valueType="num">
                                      <p:cBhvr>
                                        <p:cTn id="26" dur="5000" fill="hold"/>
                                        <p:tgtEl>
                                          <p:spTgt spid="136197"/>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197" grpId="0" animBg="1" autoUpdateAnimBg="0"/>
      <p:bldP spid="136198" grpId="0" animBg="1"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2"/>
          <p:cNvSpPr>
            <a:spLocks noChangeArrowheads="1"/>
          </p:cNvSpPr>
          <p:nvPr/>
        </p:nvSpPr>
        <p:spPr bwMode="auto">
          <a:xfrm>
            <a:off x="635000" y="1655763"/>
            <a:ext cx="7615238" cy="2771775"/>
          </a:xfrm>
          <a:prstGeom prst="rect">
            <a:avLst/>
          </a:prstGeom>
          <a:noFill/>
          <a:ln w="9525">
            <a:noFill/>
            <a:miter lim="800000"/>
            <a:headEnd/>
            <a:tailEnd/>
          </a:ln>
          <a:effectLst/>
        </p:spPr>
        <p:txBody>
          <a:bodyPr wrap="none">
            <a:spAutoFit/>
          </a:bodyPr>
          <a:lstStyle/>
          <a:p>
            <a:r>
              <a:rPr lang="en-US" sz="4400">
                <a:latin typeface="TimesNewRoman" charset="0"/>
              </a:rPr>
              <a:t>Suppose that a government</a:t>
            </a:r>
          </a:p>
          <a:p>
            <a:r>
              <a:rPr lang="en-US" sz="4400">
                <a:latin typeface="TimesNewRoman" charset="0"/>
              </a:rPr>
              <a:t>has agreed to</a:t>
            </a:r>
          </a:p>
          <a:p>
            <a:r>
              <a:rPr lang="en-US" sz="4400">
                <a:latin typeface="TimesNewRoman" charset="0"/>
              </a:rPr>
              <a:t>hold its tariffs low</a:t>
            </a:r>
          </a:p>
          <a:p>
            <a:r>
              <a:rPr lang="en-US" sz="4400">
                <a:latin typeface="TimesNewRoman" charset="0"/>
              </a:rPr>
              <a:t>as a result of a WTO negotiation.</a:t>
            </a:r>
          </a:p>
        </p:txBody>
      </p:sp>
    </p:spTree>
  </p:cSld>
  <p:clrMapOvr>
    <a:masterClrMapping/>
  </p:clrMapOvr>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8242" name="Rectangle 2"/>
          <p:cNvSpPr>
            <a:spLocks noGrp="1" noChangeArrowheads="1"/>
          </p:cNvSpPr>
          <p:nvPr>
            <p:ph type="title"/>
          </p:nvPr>
        </p:nvSpPr>
        <p:spPr>
          <a:xfrm>
            <a:off x="685800" y="533400"/>
            <a:ext cx="7772400" cy="838200"/>
          </a:xfrm>
        </p:spPr>
        <p:txBody>
          <a:bodyPr>
            <a:normAutofit fontScale="90000"/>
          </a:bodyPr>
          <a:lstStyle/>
          <a:p>
            <a:r>
              <a:rPr lang="en-US" sz="4000">
                <a:solidFill>
                  <a:srgbClr val="000099"/>
                </a:solidFill>
                <a:latin typeface="TimesNewRoman" charset="0"/>
              </a:rPr>
              <a:t>The “Race-to-the-Bottom” Problem</a:t>
            </a:r>
          </a:p>
        </p:txBody>
      </p:sp>
      <p:sp>
        <p:nvSpPr>
          <p:cNvPr id="138243" name="Rectangle 3"/>
          <p:cNvSpPr>
            <a:spLocks noChangeArrowheads="1"/>
          </p:cNvSpPr>
          <p:nvPr/>
        </p:nvSpPr>
        <p:spPr bwMode="auto">
          <a:xfrm>
            <a:off x="609600" y="1752600"/>
            <a:ext cx="8001000" cy="2590800"/>
          </a:xfrm>
          <a:prstGeom prst="rect">
            <a:avLst/>
          </a:prstGeom>
          <a:noFill/>
          <a:ln w="9525">
            <a:noFill/>
            <a:miter lim="800000"/>
            <a:headEnd/>
            <a:tailEnd/>
          </a:ln>
          <a:effectLst/>
        </p:spPr>
        <p:txBody>
          <a:bodyPr/>
          <a:lstStyle/>
          <a:p>
            <a:pPr marL="342900" indent="-342900">
              <a:spcBef>
                <a:spcPct val="20000"/>
              </a:spcBef>
            </a:pPr>
            <a:r>
              <a:rPr lang="en-US" sz="2600">
                <a:latin typeface="TimesNewRoman" charset="0"/>
              </a:rPr>
              <a:t>The  government faces pressure from import-competing interests to offer additional protection from imports.</a:t>
            </a:r>
          </a:p>
          <a:p>
            <a:pPr marL="342900" indent="-342900" algn="l">
              <a:spcBef>
                <a:spcPct val="20000"/>
              </a:spcBef>
            </a:pPr>
            <a:endParaRPr lang="en-US" sz="2400">
              <a:latin typeface="TimesNewRoman" charset="0"/>
            </a:endParaRPr>
          </a:p>
          <a:p>
            <a:pPr marL="342900" indent="-342900" algn="l">
              <a:spcBef>
                <a:spcPct val="20000"/>
              </a:spcBef>
              <a:buFontTx/>
              <a:buChar char="•"/>
            </a:pPr>
            <a:r>
              <a:rPr lang="en-US" sz="2600">
                <a:latin typeface="TimesNewRoman" charset="0"/>
              </a:rPr>
              <a:t>If its WTO commitments prevent the government from  responding with a tariff increase, then it might instead choose to relax a labor or an environmental standard.</a:t>
            </a:r>
          </a:p>
        </p:txBody>
      </p:sp>
      <p:sp>
        <p:nvSpPr>
          <p:cNvPr id="138244" name="Rectangle 4"/>
          <p:cNvSpPr>
            <a:spLocks noChangeArrowheads="1"/>
          </p:cNvSpPr>
          <p:nvPr/>
        </p:nvSpPr>
        <p:spPr bwMode="auto">
          <a:xfrm>
            <a:off x="2590800" y="6096000"/>
            <a:ext cx="4113213" cy="579438"/>
          </a:xfrm>
          <a:prstGeom prst="rect">
            <a:avLst/>
          </a:prstGeom>
          <a:noFill/>
          <a:ln w="9525">
            <a:noFill/>
            <a:miter lim="800000"/>
            <a:headEnd/>
            <a:tailEnd/>
          </a:ln>
          <a:effectLst/>
        </p:spPr>
        <p:txBody>
          <a:bodyPr wrap="none">
            <a:spAutoFit/>
          </a:bodyPr>
          <a:lstStyle/>
          <a:p>
            <a:pPr>
              <a:spcBef>
                <a:spcPct val="20000"/>
              </a:spcBef>
            </a:pPr>
            <a:r>
              <a:rPr lang="en-US" i="1">
                <a:latin typeface="umbxti10" pitchFamily="18" charset="0"/>
              </a:rPr>
              <a:t>Race to the bottom</a:t>
            </a:r>
          </a:p>
        </p:txBody>
      </p:sp>
      <p:sp>
        <p:nvSpPr>
          <p:cNvPr id="138245" name="AutoShape 5"/>
          <p:cNvSpPr>
            <a:spLocks noChangeArrowheads="1"/>
          </p:cNvSpPr>
          <p:nvPr/>
        </p:nvSpPr>
        <p:spPr bwMode="auto">
          <a:xfrm>
            <a:off x="1066800" y="4419600"/>
            <a:ext cx="1524000" cy="2438400"/>
          </a:xfrm>
          <a:prstGeom prst="curvedRightArrow">
            <a:avLst>
              <a:gd name="adj1" fmla="val 32000"/>
              <a:gd name="adj2" fmla="val 64000"/>
              <a:gd name="adj3" fmla="val 33333"/>
            </a:avLst>
          </a:prstGeom>
          <a:solidFill>
            <a:srgbClr val="6666FF"/>
          </a:solidFill>
          <a:ln w="9525">
            <a:solidFill>
              <a:schemeClr val="tx1"/>
            </a:solidFill>
            <a:miter lim="800000"/>
            <a:headEnd/>
            <a:tailEnd/>
          </a:ln>
          <a:effectLst/>
        </p:spPr>
        <p:txBody>
          <a:bodyPr wrap="none" anchor="ctr"/>
          <a:lstStyle/>
          <a:p>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138243">
                                            <p:txEl>
                                              <p:pRg st="0" end="0"/>
                                            </p:txEl>
                                          </p:spTgt>
                                        </p:tgtEl>
                                        <p:attrNameLst>
                                          <p:attrName>style.visibility</p:attrName>
                                        </p:attrNameLst>
                                      </p:cBhvr>
                                      <p:to>
                                        <p:strVal val="visible"/>
                                      </p:to>
                                    </p:set>
                                    <p:animEffect transition="in" filter="barn(inHorizontal)">
                                      <p:cBhvr>
                                        <p:cTn id="7" dur="500"/>
                                        <p:tgtEl>
                                          <p:spTgt spid="13824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grpId="0" nodeType="clickEffect">
                                  <p:stCondLst>
                                    <p:cond delay="0"/>
                                  </p:stCondLst>
                                  <p:childTnLst>
                                    <p:set>
                                      <p:cBhvr>
                                        <p:cTn id="11" dur="1" fill="hold">
                                          <p:stCondLst>
                                            <p:cond delay="0"/>
                                          </p:stCondLst>
                                        </p:cTn>
                                        <p:tgtEl>
                                          <p:spTgt spid="138243">
                                            <p:txEl>
                                              <p:pRg st="2" end="2"/>
                                            </p:txEl>
                                          </p:spTgt>
                                        </p:tgtEl>
                                        <p:attrNameLst>
                                          <p:attrName>style.visibility</p:attrName>
                                        </p:attrNameLst>
                                      </p:cBhvr>
                                      <p:to>
                                        <p:strVal val="visible"/>
                                      </p:to>
                                    </p:set>
                                    <p:animEffect transition="in" filter="barn(inHorizontal)">
                                      <p:cBhvr>
                                        <p:cTn id="12" dur="500"/>
                                        <p:tgtEl>
                                          <p:spTgt spid="13824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3" presetClass="entr" presetSubtype="16" fill="hold" grpId="0" nodeType="clickEffect">
                                  <p:stCondLst>
                                    <p:cond delay="0"/>
                                  </p:stCondLst>
                                  <p:childTnLst>
                                    <p:set>
                                      <p:cBhvr>
                                        <p:cTn id="16" dur="1" fill="hold">
                                          <p:stCondLst>
                                            <p:cond delay="0"/>
                                          </p:stCondLst>
                                        </p:cTn>
                                        <p:tgtEl>
                                          <p:spTgt spid="138245"/>
                                        </p:tgtEl>
                                        <p:attrNameLst>
                                          <p:attrName>style.visibility</p:attrName>
                                        </p:attrNameLst>
                                      </p:cBhvr>
                                      <p:to>
                                        <p:strVal val="visible"/>
                                      </p:to>
                                    </p:set>
                                    <p:anim calcmode="lin" valueType="num">
                                      <p:cBhvr>
                                        <p:cTn id="17" dur="500" fill="hold"/>
                                        <p:tgtEl>
                                          <p:spTgt spid="138245"/>
                                        </p:tgtEl>
                                        <p:attrNameLst>
                                          <p:attrName>ppt_w</p:attrName>
                                        </p:attrNameLst>
                                      </p:cBhvr>
                                      <p:tavLst>
                                        <p:tav tm="0">
                                          <p:val>
                                            <p:fltVal val="0"/>
                                          </p:val>
                                        </p:tav>
                                        <p:tav tm="100000">
                                          <p:val>
                                            <p:strVal val="#ppt_w"/>
                                          </p:val>
                                        </p:tav>
                                      </p:tavLst>
                                    </p:anim>
                                    <p:anim calcmode="lin" valueType="num">
                                      <p:cBhvr>
                                        <p:cTn id="18" dur="500" fill="hold"/>
                                        <p:tgtEl>
                                          <p:spTgt spid="138245"/>
                                        </p:tgtEl>
                                        <p:attrNameLst>
                                          <p:attrName>ppt_h</p:attrName>
                                        </p:attrNameLst>
                                      </p:cBhvr>
                                      <p:tavLst>
                                        <p:tav tm="0">
                                          <p:val>
                                            <p:fltVal val="0"/>
                                          </p:val>
                                        </p:tav>
                                        <p:tav tm="100000">
                                          <p:val>
                                            <p:strVal val="#ppt_h"/>
                                          </p:val>
                                        </p:tav>
                                      </p:tavLst>
                                    </p:anim>
                                  </p:childTnLst>
                                </p:cTn>
                              </p:par>
                            </p:childTnLst>
                          </p:cTn>
                        </p:par>
                      </p:childTnLst>
                    </p:cTn>
                  </p:par>
                  <p:par>
                    <p:cTn id="19" fill="hold">
                      <p:stCondLst>
                        <p:cond delay="indefinite"/>
                      </p:stCondLst>
                      <p:childTnLst>
                        <p:par>
                          <p:cTn id="20" fill="hold">
                            <p:stCondLst>
                              <p:cond delay="0"/>
                            </p:stCondLst>
                            <p:childTnLst>
                              <p:par>
                                <p:cTn id="21" presetID="15" presetClass="entr" presetSubtype="0" fill="hold" grpId="0" nodeType="clickEffect">
                                  <p:stCondLst>
                                    <p:cond delay="0"/>
                                  </p:stCondLst>
                                  <p:childTnLst>
                                    <p:set>
                                      <p:cBhvr>
                                        <p:cTn id="22" dur="1" fill="hold">
                                          <p:stCondLst>
                                            <p:cond delay="0"/>
                                          </p:stCondLst>
                                        </p:cTn>
                                        <p:tgtEl>
                                          <p:spTgt spid="138244"/>
                                        </p:tgtEl>
                                        <p:attrNameLst>
                                          <p:attrName>style.visibility</p:attrName>
                                        </p:attrNameLst>
                                      </p:cBhvr>
                                      <p:to>
                                        <p:strVal val="visible"/>
                                      </p:to>
                                    </p:set>
                                    <p:anim calcmode="lin" valueType="num">
                                      <p:cBhvr>
                                        <p:cTn id="23" dur="1000" fill="hold"/>
                                        <p:tgtEl>
                                          <p:spTgt spid="138244"/>
                                        </p:tgtEl>
                                        <p:attrNameLst>
                                          <p:attrName>ppt_w</p:attrName>
                                        </p:attrNameLst>
                                      </p:cBhvr>
                                      <p:tavLst>
                                        <p:tav tm="0">
                                          <p:val>
                                            <p:fltVal val="0"/>
                                          </p:val>
                                        </p:tav>
                                        <p:tav tm="100000">
                                          <p:val>
                                            <p:strVal val="#ppt_w"/>
                                          </p:val>
                                        </p:tav>
                                      </p:tavLst>
                                    </p:anim>
                                    <p:anim calcmode="lin" valueType="num">
                                      <p:cBhvr>
                                        <p:cTn id="24" dur="1000" fill="hold"/>
                                        <p:tgtEl>
                                          <p:spTgt spid="138244"/>
                                        </p:tgtEl>
                                        <p:attrNameLst>
                                          <p:attrName>ppt_h</p:attrName>
                                        </p:attrNameLst>
                                      </p:cBhvr>
                                      <p:tavLst>
                                        <p:tav tm="0">
                                          <p:val>
                                            <p:fltVal val="0"/>
                                          </p:val>
                                        </p:tav>
                                        <p:tav tm="100000">
                                          <p:val>
                                            <p:strVal val="#ppt_h"/>
                                          </p:val>
                                        </p:tav>
                                      </p:tavLst>
                                    </p:anim>
                                    <p:anim calcmode="lin" valueType="num">
                                      <p:cBhvr>
                                        <p:cTn id="25" dur="1000" fill="hold"/>
                                        <p:tgtEl>
                                          <p:spTgt spid="138244"/>
                                        </p:tgtEl>
                                        <p:attrNameLst>
                                          <p:attrName>ppt_x</p:attrName>
                                        </p:attrNameLst>
                                      </p:cBhvr>
                                      <p:tavLst>
                                        <p:tav tm="0" fmla="#ppt_x+(cos(-2*pi*(1-$))*-#ppt_x-sin(-2*pi*(1-$))*(1-#ppt_y))*(1-$)">
                                          <p:val>
                                            <p:fltVal val="0"/>
                                          </p:val>
                                        </p:tav>
                                        <p:tav tm="100000">
                                          <p:val>
                                            <p:fltVal val="1"/>
                                          </p:val>
                                        </p:tav>
                                      </p:tavLst>
                                    </p:anim>
                                    <p:anim calcmode="lin" valueType="num">
                                      <p:cBhvr>
                                        <p:cTn id="26" dur="1000" fill="hold"/>
                                        <p:tgtEl>
                                          <p:spTgt spid="138244"/>
                                        </p:tgtEl>
                                        <p:attrNameLst>
                                          <p:attrName>ppt_y</p:attrName>
                                        </p:attrNameLst>
                                      </p:cBhvr>
                                      <p:tavLst>
                                        <p:tav tm="0" fmla="#ppt_y+(sin(-2*pi*(1-$))*-#ppt_x+cos(-2*pi*(1-$))*(1-#ppt_y))*(1-$)">
                                          <p:val>
                                            <p:fltVal val="0"/>
                                          </p:val>
                                        </p:tav>
                                        <p:tav tm="100000">
                                          <p:val>
                                            <p:fltVal val="1"/>
                                          </p:val>
                                        </p:tav>
                                      </p:tavLst>
                                    </p:anim>
                                  </p:childTnLst>
                                  <p:subTnLst>
                                    <p:audio>
                                      <p:cMediaNode>
                                        <p:cTn display="0" masterRel="sameClick">
                                          <p:stCondLst>
                                            <p:cond evt="begin" delay="0">
                                              <p:tn val="21"/>
                                            </p:cond>
                                          </p:stCondLst>
                                          <p:endCondLst>
                                            <p:cond evt="onStopAudio" delay="0">
                                              <p:tgtEl>
                                                <p:sldTgt/>
                                              </p:tgtEl>
                                            </p:cond>
                                          </p:endCondLst>
                                        </p:cTn>
                                        <p:tgtEl>
                                          <p:sndTgt r:embed="rId2" name="carbrak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243" grpId="0" build="p" autoUpdateAnimBg="0"/>
      <p:bldP spid="138244" grpId="0" autoUpdateAnimBg="0"/>
      <p:bldP spid="138245" grpId="0" animBg="1"/>
    </p:bldLst>
  </p:timing>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9266" name="Rectangle 2"/>
          <p:cNvSpPr>
            <a:spLocks noGrp="1" noChangeArrowheads="1"/>
          </p:cNvSpPr>
          <p:nvPr>
            <p:ph type="title"/>
          </p:nvPr>
        </p:nvSpPr>
        <p:spPr>
          <a:xfrm>
            <a:off x="685800" y="381000"/>
            <a:ext cx="7772400" cy="838200"/>
          </a:xfrm>
        </p:spPr>
        <p:txBody>
          <a:bodyPr>
            <a:normAutofit fontScale="90000"/>
          </a:bodyPr>
          <a:lstStyle/>
          <a:p>
            <a:r>
              <a:rPr lang="en-US" sz="4000">
                <a:solidFill>
                  <a:srgbClr val="000099"/>
                </a:solidFill>
                <a:latin typeface="TimesNewRoman" charset="0"/>
              </a:rPr>
              <a:t>The “Regulatory-Chill” Problem</a:t>
            </a:r>
          </a:p>
        </p:txBody>
      </p:sp>
      <p:sp>
        <p:nvSpPr>
          <p:cNvPr id="139267" name="Rectangle 3"/>
          <p:cNvSpPr>
            <a:spLocks noChangeArrowheads="1"/>
          </p:cNvSpPr>
          <p:nvPr/>
        </p:nvSpPr>
        <p:spPr bwMode="auto">
          <a:xfrm>
            <a:off x="228600" y="1371600"/>
            <a:ext cx="8686800" cy="4343400"/>
          </a:xfrm>
          <a:prstGeom prst="rect">
            <a:avLst/>
          </a:prstGeom>
          <a:noFill/>
          <a:ln w="9525">
            <a:noFill/>
            <a:miter lim="800000"/>
            <a:headEnd/>
            <a:tailEnd/>
          </a:ln>
          <a:effectLst/>
        </p:spPr>
        <p:txBody>
          <a:bodyPr/>
          <a:lstStyle/>
          <a:p>
            <a:pPr marL="342900" indent="-342900">
              <a:spcBef>
                <a:spcPct val="20000"/>
              </a:spcBef>
            </a:pPr>
            <a:r>
              <a:rPr lang="en-US" sz="2600">
                <a:latin typeface="TimesNewRoman" charset="0"/>
              </a:rPr>
              <a:t>The government faces pressure from labor (environment) interests to introduce new and more stringent standards.</a:t>
            </a:r>
          </a:p>
          <a:p>
            <a:pPr marL="342900" indent="-342900">
              <a:spcBef>
                <a:spcPct val="20000"/>
              </a:spcBef>
            </a:pPr>
            <a:endParaRPr lang="en-US" sz="1200">
              <a:latin typeface="TimesNewRoman" charset="0"/>
            </a:endParaRPr>
          </a:p>
          <a:p>
            <a:pPr marL="342900" indent="-342900" algn="l">
              <a:spcBef>
                <a:spcPct val="20000"/>
              </a:spcBef>
              <a:buFontTx/>
              <a:buChar char="•"/>
            </a:pPr>
            <a:r>
              <a:rPr lang="en-US" sz="2600">
                <a:latin typeface="TimesNewRoman" charset="0"/>
              </a:rPr>
              <a:t>Those standards would enhance workplace safety while raising the costs of production of import-competing firms</a:t>
            </a:r>
          </a:p>
          <a:p>
            <a:pPr marL="342900" indent="-342900">
              <a:spcBef>
                <a:spcPct val="20000"/>
              </a:spcBef>
            </a:pPr>
            <a:r>
              <a:rPr lang="en-US" sz="2400">
                <a:latin typeface="TimesNewRoman" charset="0"/>
                <a:sym typeface="Symbol" pitchFamily="18" charset="2"/>
              </a:rPr>
              <a:t></a:t>
            </a:r>
          </a:p>
          <a:p>
            <a:pPr marL="342900" indent="-342900">
              <a:spcBef>
                <a:spcPct val="20000"/>
              </a:spcBef>
            </a:pPr>
            <a:r>
              <a:rPr lang="en-US" sz="2600">
                <a:latin typeface="TimesNewRoman" charset="0"/>
              </a:rPr>
              <a:t>Import-competing firms </a:t>
            </a:r>
            <a:r>
              <a:rPr lang="en-US" sz="2600">
                <a:latin typeface="TimesNewRoman" charset="0"/>
                <a:sym typeface="Symbol" pitchFamily="18" charset="2"/>
              </a:rPr>
              <a:t>lobby</a:t>
            </a:r>
            <a:r>
              <a:rPr lang="en-US" sz="2600">
                <a:latin typeface="TimesNewRoman" charset="0"/>
              </a:rPr>
              <a:t> for enhanced protection.</a:t>
            </a:r>
          </a:p>
          <a:p>
            <a:pPr marL="342900" indent="-342900">
              <a:spcBef>
                <a:spcPct val="20000"/>
              </a:spcBef>
            </a:pPr>
            <a:endParaRPr lang="en-US" sz="800">
              <a:latin typeface="TimesNewRoman" charset="0"/>
            </a:endParaRPr>
          </a:p>
          <a:p>
            <a:pPr marL="342900" indent="-342900" algn="l">
              <a:spcBef>
                <a:spcPct val="20000"/>
              </a:spcBef>
              <a:buFontTx/>
              <a:buChar char="•"/>
            </a:pPr>
            <a:r>
              <a:rPr lang="en-US" sz="2600">
                <a:latin typeface="TimesNewRoman" charset="0"/>
              </a:rPr>
              <a:t>If WTO commitments prevent the government from raising its tariffs to offset the effects of the tighter standards on its firms, then the government might hesitate to introduce them.</a:t>
            </a:r>
          </a:p>
        </p:txBody>
      </p:sp>
      <p:sp>
        <p:nvSpPr>
          <p:cNvPr id="139268" name="Rectangle 4"/>
          <p:cNvSpPr>
            <a:spLocks noChangeArrowheads="1"/>
          </p:cNvSpPr>
          <p:nvPr/>
        </p:nvSpPr>
        <p:spPr bwMode="auto">
          <a:xfrm>
            <a:off x="2743200" y="5943600"/>
            <a:ext cx="3205163" cy="641350"/>
          </a:xfrm>
          <a:prstGeom prst="rect">
            <a:avLst/>
          </a:prstGeom>
          <a:noFill/>
          <a:ln w="9525">
            <a:noFill/>
            <a:miter lim="800000"/>
            <a:headEnd/>
            <a:tailEnd/>
          </a:ln>
          <a:effectLst/>
        </p:spPr>
        <p:txBody>
          <a:bodyPr wrap="none">
            <a:spAutoFit/>
          </a:bodyPr>
          <a:lstStyle/>
          <a:p>
            <a:pPr>
              <a:spcBef>
                <a:spcPct val="20000"/>
              </a:spcBef>
            </a:pPr>
            <a:r>
              <a:rPr lang="en-US" sz="3600">
                <a:latin typeface="Tempus Sans ITC" pitchFamily="82" charset="0"/>
              </a:rPr>
              <a:t>Regulatory chill</a:t>
            </a:r>
          </a:p>
        </p:txBody>
      </p:sp>
      <p:sp>
        <p:nvSpPr>
          <p:cNvPr id="139269" name="AutoShape 5"/>
          <p:cNvSpPr>
            <a:spLocks noChangeArrowheads="1"/>
          </p:cNvSpPr>
          <p:nvPr/>
        </p:nvSpPr>
        <p:spPr bwMode="auto">
          <a:xfrm>
            <a:off x="2133600" y="5791200"/>
            <a:ext cx="533400" cy="609600"/>
          </a:xfrm>
          <a:prstGeom prst="curvedRightArrow">
            <a:avLst>
              <a:gd name="adj1" fmla="val 22857"/>
              <a:gd name="adj2" fmla="val 45714"/>
              <a:gd name="adj3" fmla="val 33333"/>
            </a:avLst>
          </a:prstGeom>
          <a:solidFill>
            <a:srgbClr val="6666FF"/>
          </a:solidFill>
          <a:ln w="9525">
            <a:solidFill>
              <a:schemeClr val="tx1"/>
            </a:solidFill>
            <a:miter lim="800000"/>
            <a:headEnd/>
            <a:tailEnd/>
          </a:ln>
          <a:effectLst/>
        </p:spPr>
        <p:txBody>
          <a:bodyPr wrap="none" anchor="ctr"/>
          <a:lstStyle/>
          <a:p>
            <a:endParaRPr lang="en-US" sz="440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139267">
                                            <p:txEl>
                                              <p:pRg st="0" end="0"/>
                                            </p:txEl>
                                          </p:spTgt>
                                        </p:tgtEl>
                                        <p:attrNameLst>
                                          <p:attrName>style.visibility</p:attrName>
                                        </p:attrNameLst>
                                      </p:cBhvr>
                                      <p:to>
                                        <p:strVal val="visible"/>
                                      </p:to>
                                    </p:set>
                                    <p:animEffect transition="in" filter="barn(inHorizontal)">
                                      <p:cBhvr>
                                        <p:cTn id="7" dur="500"/>
                                        <p:tgtEl>
                                          <p:spTgt spid="13926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grpId="0" nodeType="clickEffect">
                                  <p:stCondLst>
                                    <p:cond delay="0"/>
                                  </p:stCondLst>
                                  <p:childTnLst>
                                    <p:set>
                                      <p:cBhvr>
                                        <p:cTn id="11" dur="1" fill="hold">
                                          <p:stCondLst>
                                            <p:cond delay="0"/>
                                          </p:stCondLst>
                                        </p:cTn>
                                        <p:tgtEl>
                                          <p:spTgt spid="139267">
                                            <p:txEl>
                                              <p:pRg st="2" end="2"/>
                                            </p:txEl>
                                          </p:spTgt>
                                        </p:tgtEl>
                                        <p:attrNameLst>
                                          <p:attrName>style.visibility</p:attrName>
                                        </p:attrNameLst>
                                      </p:cBhvr>
                                      <p:to>
                                        <p:strVal val="visible"/>
                                      </p:to>
                                    </p:set>
                                    <p:animEffect transition="in" filter="barn(inHorizontal)">
                                      <p:cBhvr>
                                        <p:cTn id="12" dur="500"/>
                                        <p:tgtEl>
                                          <p:spTgt spid="139267">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6" fill="hold" grpId="0" nodeType="clickEffect">
                                  <p:stCondLst>
                                    <p:cond delay="0"/>
                                  </p:stCondLst>
                                  <p:childTnLst>
                                    <p:set>
                                      <p:cBhvr>
                                        <p:cTn id="16" dur="1" fill="hold">
                                          <p:stCondLst>
                                            <p:cond delay="0"/>
                                          </p:stCondLst>
                                        </p:cTn>
                                        <p:tgtEl>
                                          <p:spTgt spid="139267">
                                            <p:txEl>
                                              <p:pRg st="3" end="3"/>
                                            </p:txEl>
                                          </p:spTgt>
                                        </p:tgtEl>
                                        <p:attrNameLst>
                                          <p:attrName>style.visibility</p:attrName>
                                        </p:attrNameLst>
                                      </p:cBhvr>
                                      <p:to>
                                        <p:strVal val="visible"/>
                                      </p:to>
                                    </p:set>
                                    <p:animEffect transition="in" filter="barn(inHorizontal)">
                                      <p:cBhvr>
                                        <p:cTn id="17" dur="500"/>
                                        <p:tgtEl>
                                          <p:spTgt spid="139267">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6" fill="hold" grpId="0" nodeType="clickEffect">
                                  <p:stCondLst>
                                    <p:cond delay="0"/>
                                  </p:stCondLst>
                                  <p:childTnLst>
                                    <p:set>
                                      <p:cBhvr>
                                        <p:cTn id="21" dur="1" fill="hold">
                                          <p:stCondLst>
                                            <p:cond delay="0"/>
                                          </p:stCondLst>
                                        </p:cTn>
                                        <p:tgtEl>
                                          <p:spTgt spid="139267">
                                            <p:txEl>
                                              <p:pRg st="4" end="4"/>
                                            </p:txEl>
                                          </p:spTgt>
                                        </p:tgtEl>
                                        <p:attrNameLst>
                                          <p:attrName>style.visibility</p:attrName>
                                        </p:attrNameLst>
                                      </p:cBhvr>
                                      <p:to>
                                        <p:strVal val="visible"/>
                                      </p:to>
                                    </p:set>
                                    <p:animEffect transition="in" filter="barn(inHorizontal)">
                                      <p:cBhvr>
                                        <p:cTn id="22" dur="500"/>
                                        <p:tgtEl>
                                          <p:spTgt spid="139267">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6" fill="hold" grpId="0" nodeType="clickEffect">
                                  <p:stCondLst>
                                    <p:cond delay="0"/>
                                  </p:stCondLst>
                                  <p:childTnLst>
                                    <p:set>
                                      <p:cBhvr>
                                        <p:cTn id="26" dur="1" fill="hold">
                                          <p:stCondLst>
                                            <p:cond delay="0"/>
                                          </p:stCondLst>
                                        </p:cTn>
                                        <p:tgtEl>
                                          <p:spTgt spid="139267">
                                            <p:txEl>
                                              <p:pRg st="6" end="6"/>
                                            </p:txEl>
                                          </p:spTgt>
                                        </p:tgtEl>
                                        <p:attrNameLst>
                                          <p:attrName>style.visibility</p:attrName>
                                        </p:attrNameLst>
                                      </p:cBhvr>
                                      <p:to>
                                        <p:strVal val="visible"/>
                                      </p:to>
                                    </p:set>
                                    <p:animEffect transition="in" filter="barn(inHorizontal)">
                                      <p:cBhvr>
                                        <p:cTn id="27" dur="500"/>
                                        <p:tgtEl>
                                          <p:spTgt spid="139267">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139269"/>
                                        </p:tgtEl>
                                        <p:attrNameLst>
                                          <p:attrName>style.visibility</p:attrName>
                                        </p:attrNameLst>
                                      </p:cBhvr>
                                      <p:to>
                                        <p:strVal val="visible"/>
                                      </p:to>
                                    </p:set>
                                    <p:animEffect transition="in" filter="dissolve">
                                      <p:cBhvr>
                                        <p:cTn id="32" dur="500"/>
                                        <p:tgtEl>
                                          <p:spTgt spid="139269"/>
                                        </p:tgtEl>
                                      </p:cBhvr>
                                    </p:animEffect>
                                  </p:childTnLst>
                                </p:cTn>
                              </p:par>
                            </p:childTnLst>
                          </p:cTn>
                        </p:par>
                      </p:childTnLst>
                    </p:cTn>
                  </p:par>
                  <p:par>
                    <p:cTn id="33" fill="hold">
                      <p:stCondLst>
                        <p:cond delay="indefinite"/>
                      </p:stCondLst>
                      <p:childTnLst>
                        <p:par>
                          <p:cTn id="34" fill="hold">
                            <p:stCondLst>
                              <p:cond delay="0"/>
                            </p:stCondLst>
                            <p:childTnLst>
                              <p:par>
                                <p:cTn id="35" presetID="15" presetClass="entr" presetSubtype="0" fill="hold" grpId="0" nodeType="clickEffect">
                                  <p:stCondLst>
                                    <p:cond delay="0"/>
                                  </p:stCondLst>
                                  <p:childTnLst>
                                    <p:set>
                                      <p:cBhvr>
                                        <p:cTn id="36" dur="1" fill="hold">
                                          <p:stCondLst>
                                            <p:cond delay="0"/>
                                          </p:stCondLst>
                                        </p:cTn>
                                        <p:tgtEl>
                                          <p:spTgt spid="139268"/>
                                        </p:tgtEl>
                                        <p:attrNameLst>
                                          <p:attrName>style.visibility</p:attrName>
                                        </p:attrNameLst>
                                      </p:cBhvr>
                                      <p:to>
                                        <p:strVal val="visible"/>
                                      </p:to>
                                    </p:set>
                                    <p:anim calcmode="lin" valueType="num">
                                      <p:cBhvr>
                                        <p:cTn id="37" dur="1000" fill="hold"/>
                                        <p:tgtEl>
                                          <p:spTgt spid="139268"/>
                                        </p:tgtEl>
                                        <p:attrNameLst>
                                          <p:attrName>ppt_w</p:attrName>
                                        </p:attrNameLst>
                                      </p:cBhvr>
                                      <p:tavLst>
                                        <p:tav tm="0">
                                          <p:val>
                                            <p:fltVal val="0"/>
                                          </p:val>
                                        </p:tav>
                                        <p:tav tm="100000">
                                          <p:val>
                                            <p:strVal val="#ppt_w"/>
                                          </p:val>
                                        </p:tav>
                                      </p:tavLst>
                                    </p:anim>
                                    <p:anim calcmode="lin" valueType="num">
                                      <p:cBhvr>
                                        <p:cTn id="38" dur="1000" fill="hold"/>
                                        <p:tgtEl>
                                          <p:spTgt spid="139268"/>
                                        </p:tgtEl>
                                        <p:attrNameLst>
                                          <p:attrName>ppt_h</p:attrName>
                                        </p:attrNameLst>
                                      </p:cBhvr>
                                      <p:tavLst>
                                        <p:tav tm="0">
                                          <p:val>
                                            <p:fltVal val="0"/>
                                          </p:val>
                                        </p:tav>
                                        <p:tav tm="100000">
                                          <p:val>
                                            <p:strVal val="#ppt_h"/>
                                          </p:val>
                                        </p:tav>
                                      </p:tavLst>
                                    </p:anim>
                                    <p:anim calcmode="lin" valueType="num">
                                      <p:cBhvr>
                                        <p:cTn id="39" dur="1000" fill="hold"/>
                                        <p:tgtEl>
                                          <p:spTgt spid="139268"/>
                                        </p:tgtEl>
                                        <p:attrNameLst>
                                          <p:attrName>ppt_x</p:attrName>
                                        </p:attrNameLst>
                                      </p:cBhvr>
                                      <p:tavLst>
                                        <p:tav tm="0" fmla="#ppt_x+(cos(-2*pi*(1-$))*-#ppt_x-sin(-2*pi*(1-$))*(1-#ppt_y))*(1-$)">
                                          <p:val>
                                            <p:fltVal val="0"/>
                                          </p:val>
                                        </p:tav>
                                        <p:tav tm="100000">
                                          <p:val>
                                            <p:fltVal val="1"/>
                                          </p:val>
                                        </p:tav>
                                      </p:tavLst>
                                    </p:anim>
                                    <p:anim calcmode="lin" valueType="num">
                                      <p:cBhvr>
                                        <p:cTn id="40" dur="1000" fill="hold"/>
                                        <p:tgtEl>
                                          <p:spTgt spid="139268"/>
                                        </p:tgtEl>
                                        <p:attrNameLst>
                                          <p:attrName>ppt_y</p:attrName>
                                        </p:attrNameLst>
                                      </p:cBhvr>
                                      <p:tavLst>
                                        <p:tav tm="0" fmla="#ppt_y+(sin(-2*pi*(1-$))*-#ppt_x+cos(-2*pi*(1-$))*(1-#ppt_y))*(1-$)">
                                          <p:val>
                                            <p:fltVal val="0"/>
                                          </p:val>
                                        </p:tav>
                                        <p:tav tm="100000">
                                          <p:val>
                                            <p:fltVal val="1"/>
                                          </p:val>
                                        </p:tav>
                                      </p:tavLst>
                                    </p:anim>
                                  </p:childTnLst>
                                  <p:subTnLst>
                                    <p:audio>
                                      <p:cMediaNode>
                                        <p:cTn display="0" masterRel="sameClick">
                                          <p:stCondLst>
                                            <p:cond evt="begin" delay="0">
                                              <p:tn val="35"/>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267" grpId="0" build="p" autoUpdateAnimBg="0"/>
      <p:bldP spid="139268" grpId="0" autoUpdateAnimBg="0"/>
      <p:bldP spid="139269" grpId="0" animBg="1"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0291" name="Rectangle 3"/>
          <p:cNvSpPr>
            <a:spLocks noGrp="1" noChangeArrowheads="1"/>
          </p:cNvSpPr>
          <p:nvPr>
            <p:ph idx="1"/>
          </p:nvPr>
        </p:nvSpPr>
        <p:spPr>
          <a:xfrm>
            <a:off x="685800" y="3505200"/>
            <a:ext cx="7772400" cy="1676400"/>
          </a:xfrm>
        </p:spPr>
        <p:txBody>
          <a:bodyPr/>
          <a:lstStyle/>
          <a:p>
            <a:pPr algn="ctr">
              <a:buFontTx/>
              <a:buNone/>
            </a:pPr>
            <a:r>
              <a:rPr lang="en-US">
                <a:solidFill>
                  <a:srgbClr val="000099"/>
                </a:solidFill>
              </a:rPr>
              <a:t>If property rights over negotiated market access levels were sufficiently complete,</a:t>
            </a:r>
          </a:p>
          <a:p>
            <a:pPr algn="ctr">
              <a:buFontTx/>
              <a:buNone/>
            </a:pPr>
            <a:r>
              <a:rPr lang="en-US" u="sng">
                <a:solidFill>
                  <a:srgbClr val="000099"/>
                </a:solidFill>
              </a:rPr>
              <a:t>none</a:t>
            </a:r>
            <a:r>
              <a:rPr lang="en-US">
                <a:solidFill>
                  <a:srgbClr val="000099"/>
                </a:solidFill>
              </a:rPr>
              <a:t> of these problems would arise.</a:t>
            </a:r>
            <a:endParaRPr lang="en-US"/>
          </a:p>
        </p:txBody>
      </p:sp>
      <p:sp>
        <p:nvSpPr>
          <p:cNvPr id="140290" name="Rectangle 2"/>
          <p:cNvSpPr>
            <a:spLocks noGrp="1" noChangeArrowheads="1"/>
          </p:cNvSpPr>
          <p:nvPr>
            <p:ph type="title"/>
          </p:nvPr>
        </p:nvSpPr>
        <p:spPr/>
        <p:txBody>
          <a:bodyPr>
            <a:normAutofit fontScale="90000"/>
          </a:bodyPr>
          <a:lstStyle/>
          <a:p>
            <a:r>
              <a:rPr lang="en-US" sz="3400" i="1">
                <a:solidFill>
                  <a:srgbClr val="000099"/>
                </a:solidFill>
                <a:latin typeface="TimesNewRoman" charset="0"/>
              </a:rPr>
              <a:t>Are the “Race-to-the-Bottom” and the “Regulatory-Chill” Problems Inevitable?</a:t>
            </a:r>
            <a:endParaRPr lang="en-US" sz="3400" i="1"/>
          </a:p>
        </p:txBody>
      </p:sp>
      <p:sp>
        <p:nvSpPr>
          <p:cNvPr id="140292" name="Oval 4"/>
          <p:cNvSpPr>
            <a:spLocks noChangeArrowheads="1"/>
          </p:cNvSpPr>
          <p:nvPr/>
        </p:nvSpPr>
        <p:spPr bwMode="auto">
          <a:xfrm>
            <a:off x="2971800" y="2362200"/>
            <a:ext cx="3124200" cy="838200"/>
          </a:xfrm>
          <a:prstGeom prst="ellipse">
            <a:avLst/>
          </a:prstGeom>
          <a:solidFill>
            <a:srgbClr val="FFCC66"/>
          </a:solidFill>
          <a:ln w="9525">
            <a:solidFill>
              <a:schemeClr val="tx1"/>
            </a:solidFill>
            <a:round/>
            <a:headEnd/>
            <a:tailEnd/>
          </a:ln>
          <a:effectLst/>
        </p:spPr>
        <p:txBody>
          <a:bodyPr wrap="none" anchor="ctr"/>
          <a:lstStyle/>
          <a:p>
            <a:r>
              <a:rPr lang="en-US" sz="3600"/>
              <a:t>Not really:</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ntr" presetSubtype="10" fill="hold" grpId="0" nodeType="clickEffect">
                                  <p:stCondLst>
                                    <p:cond delay="0"/>
                                  </p:stCondLst>
                                  <p:childTnLst>
                                    <p:set>
                                      <p:cBhvr>
                                        <p:cTn id="6" dur="1" fill="hold">
                                          <p:stCondLst>
                                            <p:cond delay="0"/>
                                          </p:stCondLst>
                                        </p:cTn>
                                        <p:tgtEl>
                                          <p:spTgt spid="140292"/>
                                        </p:tgtEl>
                                        <p:attrNameLst>
                                          <p:attrName>style.visibility</p:attrName>
                                        </p:attrNameLst>
                                      </p:cBhvr>
                                      <p:to>
                                        <p:strVal val="visible"/>
                                      </p:to>
                                    </p:set>
                                    <p:anim calcmode="lin" valueType="num">
                                      <p:cBhvr>
                                        <p:cTn id="7" dur="5000" fill="hold"/>
                                        <p:tgtEl>
                                          <p:spTgt spid="140292"/>
                                        </p:tgtEl>
                                        <p:attrNameLst>
                                          <p:attrName>ppt_w</p:attrName>
                                        </p:attrNameLst>
                                      </p:cBhvr>
                                      <p:tavLst>
                                        <p:tav tm="0" fmla="#ppt_w*sin(2.5*pi*$)">
                                          <p:val>
                                            <p:fltVal val="0"/>
                                          </p:val>
                                        </p:tav>
                                        <p:tav tm="100000">
                                          <p:val>
                                            <p:fltVal val="1"/>
                                          </p:val>
                                        </p:tav>
                                      </p:tavLst>
                                    </p:anim>
                                    <p:anim calcmode="lin" valueType="num">
                                      <p:cBhvr>
                                        <p:cTn id="8" dur="5000" fill="hold"/>
                                        <p:tgtEl>
                                          <p:spTgt spid="140292"/>
                                        </p:tgtEl>
                                        <p:attrNameLst>
                                          <p:attrName>ppt_h</p:attrName>
                                        </p:attrNameLst>
                                      </p:cBhvr>
                                      <p:tavLst>
                                        <p:tav tm="0">
                                          <p:val>
                                            <p:strVal val="#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26" fill="hold" grpId="0" nodeType="clickEffect">
                                  <p:stCondLst>
                                    <p:cond delay="0"/>
                                  </p:stCondLst>
                                  <p:childTnLst>
                                    <p:set>
                                      <p:cBhvr>
                                        <p:cTn id="12" dur="1" fill="hold">
                                          <p:stCondLst>
                                            <p:cond delay="0"/>
                                          </p:stCondLst>
                                        </p:cTn>
                                        <p:tgtEl>
                                          <p:spTgt spid="140291">
                                            <p:txEl>
                                              <p:pRg st="0" end="0"/>
                                            </p:txEl>
                                          </p:spTgt>
                                        </p:tgtEl>
                                        <p:attrNameLst>
                                          <p:attrName>style.visibility</p:attrName>
                                        </p:attrNameLst>
                                      </p:cBhvr>
                                      <p:to>
                                        <p:strVal val="visible"/>
                                      </p:to>
                                    </p:set>
                                    <p:animEffect transition="in" filter="barn(inHorizontal)">
                                      <p:cBhvr>
                                        <p:cTn id="13" dur="500"/>
                                        <p:tgtEl>
                                          <p:spTgt spid="140291">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6" presetClass="entr" presetSubtype="26" fill="hold" grpId="0" nodeType="clickEffect">
                                  <p:stCondLst>
                                    <p:cond delay="0"/>
                                  </p:stCondLst>
                                  <p:childTnLst>
                                    <p:set>
                                      <p:cBhvr>
                                        <p:cTn id="17" dur="1" fill="hold">
                                          <p:stCondLst>
                                            <p:cond delay="0"/>
                                          </p:stCondLst>
                                        </p:cTn>
                                        <p:tgtEl>
                                          <p:spTgt spid="140291">
                                            <p:txEl>
                                              <p:pRg st="1" end="1"/>
                                            </p:txEl>
                                          </p:spTgt>
                                        </p:tgtEl>
                                        <p:attrNameLst>
                                          <p:attrName>style.visibility</p:attrName>
                                        </p:attrNameLst>
                                      </p:cBhvr>
                                      <p:to>
                                        <p:strVal val="visible"/>
                                      </p:to>
                                    </p:set>
                                    <p:animEffect transition="in" filter="barn(inHorizontal)">
                                      <p:cBhvr>
                                        <p:cTn id="18" dur="500"/>
                                        <p:tgtEl>
                                          <p:spTgt spid="14029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291" grpId="0" build="p" bldLvl="2" autoUpdateAnimBg="0"/>
      <p:bldP spid="140292" grpId="0" animBg="1" autoUpdateAnimBg="0"/>
    </p:bldLst>
  </p:timing>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1315" name="Rectangle 3"/>
          <p:cNvSpPr>
            <a:spLocks noGrp="1" noChangeArrowheads="1"/>
          </p:cNvSpPr>
          <p:nvPr>
            <p:ph idx="1"/>
          </p:nvPr>
        </p:nvSpPr>
        <p:spPr>
          <a:xfrm>
            <a:off x="685800" y="1295400"/>
            <a:ext cx="7772400" cy="4800600"/>
          </a:xfrm>
        </p:spPr>
        <p:txBody>
          <a:bodyPr/>
          <a:lstStyle/>
          <a:p>
            <a:pPr>
              <a:lnSpc>
                <a:spcPct val="90000"/>
              </a:lnSpc>
              <a:buFontTx/>
              <a:buNone/>
            </a:pPr>
            <a:r>
              <a:rPr lang="en-US" sz="2800" u="sng">
                <a:solidFill>
                  <a:srgbClr val="000099"/>
                </a:solidFill>
                <a:latin typeface="TimesNewRoman" charset="0"/>
              </a:rPr>
              <a:t>A Simple Rule</a:t>
            </a:r>
            <a:r>
              <a:rPr lang="en-US" sz="2800">
                <a:solidFill>
                  <a:srgbClr val="000099"/>
                </a:solidFill>
                <a:latin typeface="TimesNewRoman" charset="0"/>
              </a:rPr>
              <a:t>:</a:t>
            </a:r>
          </a:p>
          <a:p>
            <a:pPr>
              <a:lnSpc>
                <a:spcPct val="90000"/>
              </a:lnSpc>
            </a:pPr>
            <a:r>
              <a:rPr lang="en-US" sz="2800">
                <a:solidFill>
                  <a:srgbClr val="000099"/>
                </a:solidFill>
                <a:latin typeface="TimesNewRoman" charset="0"/>
              </a:rPr>
              <a:t>Once a government has agreed to lower its tariffs in a WTO negotiation:</a:t>
            </a:r>
          </a:p>
          <a:p>
            <a:pPr>
              <a:lnSpc>
                <a:spcPct val="90000"/>
              </a:lnSpc>
            </a:pPr>
            <a:endParaRPr lang="en-US" sz="600">
              <a:solidFill>
                <a:srgbClr val="000099"/>
              </a:solidFill>
              <a:latin typeface="TimesNewRoman" charset="0"/>
            </a:endParaRPr>
          </a:p>
          <a:p>
            <a:pPr lvl="1">
              <a:lnSpc>
                <a:spcPct val="90000"/>
              </a:lnSpc>
            </a:pPr>
            <a:r>
              <a:rPr lang="en-US" sz="2400">
                <a:solidFill>
                  <a:srgbClr val="000099"/>
                </a:solidFill>
                <a:latin typeface="TimesNewRoman" charset="0"/>
              </a:rPr>
              <a:t>It should not be permitted to take subsequent unilateral policy actions that undercut its implied market access commitments;</a:t>
            </a:r>
          </a:p>
          <a:p>
            <a:pPr algn="ctr">
              <a:lnSpc>
                <a:spcPct val="90000"/>
              </a:lnSpc>
              <a:buFontTx/>
              <a:buNone/>
            </a:pPr>
            <a:r>
              <a:rPr lang="en-US" sz="2800" i="1">
                <a:solidFill>
                  <a:srgbClr val="000099"/>
                </a:solidFill>
                <a:latin typeface="TimesNewRoman" charset="0"/>
              </a:rPr>
              <a:t>but</a:t>
            </a:r>
          </a:p>
          <a:p>
            <a:pPr lvl="1">
              <a:lnSpc>
                <a:spcPct val="90000"/>
              </a:lnSpc>
            </a:pPr>
            <a:r>
              <a:rPr lang="en-US" sz="2400">
                <a:solidFill>
                  <a:srgbClr val="000099"/>
                </a:solidFill>
                <a:latin typeface="TimesNewRoman" charset="0"/>
              </a:rPr>
              <a:t>It should be otherwise allowed to configure its unilateral policies in anyway it desires.</a:t>
            </a:r>
          </a:p>
          <a:p>
            <a:pPr>
              <a:lnSpc>
                <a:spcPct val="90000"/>
              </a:lnSpc>
              <a:buFontTx/>
              <a:buNone/>
            </a:pPr>
            <a:endParaRPr lang="en-US" sz="1200">
              <a:solidFill>
                <a:srgbClr val="000099"/>
              </a:solidFill>
              <a:latin typeface="TimesNewRoman" charset="0"/>
            </a:endParaRPr>
          </a:p>
          <a:p>
            <a:pPr>
              <a:lnSpc>
                <a:spcPct val="90000"/>
              </a:lnSpc>
            </a:pPr>
            <a:r>
              <a:rPr lang="en-US" sz="2800">
                <a:solidFill>
                  <a:srgbClr val="000099"/>
                </a:solidFill>
                <a:latin typeface="TimesNewRoman" charset="0"/>
              </a:rPr>
              <a:t>Existing GATT/WTO principles are not that far away from approximating this simple rule.</a:t>
            </a:r>
          </a:p>
        </p:txBody>
      </p:sp>
      <p:sp>
        <p:nvSpPr>
          <p:cNvPr id="141314" name="Rectangle 2"/>
          <p:cNvSpPr>
            <a:spLocks noGrp="1" noChangeArrowheads="1"/>
          </p:cNvSpPr>
          <p:nvPr>
            <p:ph type="title"/>
          </p:nvPr>
        </p:nvSpPr>
        <p:spPr>
          <a:xfrm>
            <a:off x="533400" y="457200"/>
            <a:ext cx="8077200" cy="609600"/>
          </a:xfrm>
        </p:spPr>
        <p:txBody>
          <a:bodyPr>
            <a:normAutofit fontScale="90000"/>
          </a:bodyPr>
          <a:lstStyle/>
          <a:p>
            <a:r>
              <a:rPr lang="en-US" sz="3400" i="1">
                <a:solidFill>
                  <a:srgbClr val="000099"/>
                </a:solidFill>
                <a:latin typeface="TimesNewRoman" charset="0"/>
              </a:rPr>
              <a:t>How can these property rights be completed?</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41315">
                                            <p:txEl>
                                              <p:pRg st="0" end="0"/>
                                            </p:txEl>
                                          </p:spTgt>
                                        </p:tgtEl>
                                        <p:attrNameLst>
                                          <p:attrName>style.visibility</p:attrName>
                                        </p:attrNameLst>
                                      </p:cBhvr>
                                      <p:to>
                                        <p:strVal val="visible"/>
                                      </p:to>
                                    </p:set>
                                    <p:anim calcmode="lin" valueType="num">
                                      <p:cBhvr additive="base">
                                        <p:cTn id="7" dur="500" fill="hold"/>
                                        <p:tgtEl>
                                          <p:spTgt spid="14131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4131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41315">
                                            <p:txEl>
                                              <p:pRg st="1" end="1"/>
                                            </p:txEl>
                                          </p:spTgt>
                                        </p:tgtEl>
                                        <p:attrNameLst>
                                          <p:attrName>style.visibility</p:attrName>
                                        </p:attrNameLst>
                                      </p:cBhvr>
                                      <p:to>
                                        <p:strVal val="visible"/>
                                      </p:to>
                                    </p:set>
                                    <p:anim calcmode="lin" valueType="num">
                                      <p:cBhvr additive="base">
                                        <p:cTn id="13" dur="500" fill="hold"/>
                                        <p:tgtEl>
                                          <p:spTgt spid="141315">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4131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41315">
                                            <p:txEl>
                                              <p:pRg st="3" end="3"/>
                                            </p:txEl>
                                          </p:spTgt>
                                        </p:tgtEl>
                                        <p:attrNameLst>
                                          <p:attrName>style.visibility</p:attrName>
                                        </p:attrNameLst>
                                      </p:cBhvr>
                                      <p:to>
                                        <p:strVal val="visible"/>
                                      </p:to>
                                    </p:set>
                                    <p:anim calcmode="lin" valueType="num">
                                      <p:cBhvr additive="base">
                                        <p:cTn id="19" dur="500" fill="hold"/>
                                        <p:tgtEl>
                                          <p:spTgt spid="141315">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41315">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41315">
                                            <p:txEl>
                                              <p:pRg st="4" end="4"/>
                                            </p:txEl>
                                          </p:spTgt>
                                        </p:tgtEl>
                                        <p:attrNameLst>
                                          <p:attrName>style.visibility</p:attrName>
                                        </p:attrNameLst>
                                      </p:cBhvr>
                                      <p:to>
                                        <p:strVal val="visible"/>
                                      </p:to>
                                    </p:set>
                                    <p:anim calcmode="lin" valueType="num">
                                      <p:cBhvr additive="base">
                                        <p:cTn id="25" dur="500" fill="hold"/>
                                        <p:tgtEl>
                                          <p:spTgt spid="141315">
                                            <p:txEl>
                                              <p:pRg st="4" end="4"/>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41315">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41315">
                                            <p:txEl>
                                              <p:pRg st="5" end="5"/>
                                            </p:txEl>
                                          </p:spTgt>
                                        </p:tgtEl>
                                        <p:attrNameLst>
                                          <p:attrName>style.visibility</p:attrName>
                                        </p:attrNameLst>
                                      </p:cBhvr>
                                      <p:to>
                                        <p:strVal val="visible"/>
                                      </p:to>
                                    </p:set>
                                    <p:anim calcmode="lin" valueType="num">
                                      <p:cBhvr additive="base">
                                        <p:cTn id="31" dur="500" fill="hold"/>
                                        <p:tgtEl>
                                          <p:spTgt spid="141315">
                                            <p:txEl>
                                              <p:pRg st="5" end="5"/>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41315">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41315">
                                            <p:txEl>
                                              <p:pRg st="7" end="7"/>
                                            </p:txEl>
                                          </p:spTgt>
                                        </p:tgtEl>
                                        <p:attrNameLst>
                                          <p:attrName>style.visibility</p:attrName>
                                        </p:attrNameLst>
                                      </p:cBhvr>
                                      <p:to>
                                        <p:strVal val="visible"/>
                                      </p:to>
                                    </p:set>
                                    <p:anim calcmode="lin" valueType="num">
                                      <p:cBhvr additive="base">
                                        <p:cTn id="37" dur="500" fill="hold"/>
                                        <p:tgtEl>
                                          <p:spTgt spid="141315">
                                            <p:txEl>
                                              <p:pRg st="7" end="7"/>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41315">
                                            <p:txEl>
                                              <p:pRg st="7" end="7"/>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315" grpId="0" build="p" bldLvl="2" autoUpdateAnimBg="0"/>
    </p:bldLst>
  </p:timing>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2339" name="Rectangle 3"/>
          <p:cNvSpPr>
            <a:spLocks noGrp="1" noChangeArrowheads="1"/>
          </p:cNvSpPr>
          <p:nvPr>
            <p:ph idx="1"/>
          </p:nvPr>
        </p:nvSpPr>
        <p:spPr>
          <a:xfrm>
            <a:off x="685800" y="1752600"/>
            <a:ext cx="7772400" cy="4343400"/>
          </a:xfrm>
        </p:spPr>
        <p:txBody>
          <a:bodyPr>
            <a:normAutofit fontScale="92500" lnSpcReduction="10000"/>
          </a:bodyPr>
          <a:lstStyle/>
          <a:p>
            <a:r>
              <a:rPr lang="en-US" sz="2600">
                <a:solidFill>
                  <a:srgbClr val="000099"/>
                </a:solidFill>
              </a:rPr>
              <a:t>The government should </a:t>
            </a:r>
            <a:r>
              <a:rPr lang="en-US" sz="2600" u="sng">
                <a:solidFill>
                  <a:srgbClr val="000099"/>
                </a:solidFill>
              </a:rPr>
              <a:t>not</a:t>
            </a:r>
            <a:r>
              <a:rPr lang="en-US" sz="2600">
                <a:solidFill>
                  <a:srgbClr val="000099"/>
                </a:solidFill>
              </a:rPr>
              <a:t> be </a:t>
            </a:r>
            <a:r>
              <a:rPr lang="en-US" sz="2600" u="sng">
                <a:solidFill>
                  <a:srgbClr val="000099"/>
                </a:solidFill>
              </a:rPr>
              <a:t>permitted to</a:t>
            </a:r>
            <a:r>
              <a:rPr lang="en-US" sz="2600">
                <a:solidFill>
                  <a:srgbClr val="000099"/>
                </a:solidFill>
              </a:rPr>
              <a:t> offer protection to its import-competing industry by </a:t>
            </a:r>
            <a:r>
              <a:rPr lang="en-US" sz="2600" u="sng">
                <a:solidFill>
                  <a:srgbClr val="000099"/>
                </a:solidFill>
              </a:rPr>
              <a:t>weaken</a:t>
            </a:r>
            <a:r>
              <a:rPr lang="en-US" sz="2600">
                <a:solidFill>
                  <a:srgbClr val="000099"/>
                </a:solidFill>
              </a:rPr>
              <a:t>ing </a:t>
            </a:r>
            <a:r>
              <a:rPr lang="en-US" sz="2600" u="sng">
                <a:solidFill>
                  <a:srgbClr val="000099"/>
                </a:solidFill>
              </a:rPr>
              <a:t>its standards</a:t>
            </a:r>
            <a:r>
              <a:rPr lang="en-US" sz="2600">
                <a:solidFill>
                  <a:srgbClr val="000099"/>
                </a:solidFill>
              </a:rPr>
              <a:t>.</a:t>
            </a:r>
          </a:p>
          <a:p>
            <a:endParaRPr lang="en-US" sz="800">
              <a:solidFill>
                <a:srgbClr val="000099"/>
              </a:solidFill>
            </a:endParaRPr>
          </a:p>
          <a:p>
            <a:r>
              <a:rPr lang="en-US" sz="2600" u="sng">
                <a:solidFill>
                  <a:srgbClr val="000099"/>
                </a:solidFill>
              </a:rPr>
              <a:t>Instead</a:t>
            </a:r>
            <a:r>
              <a:rPr lang="en-US" sz="2600">
                <a:solidFill>
                  <a:srgbClr val="000099"/>
                </a:solidFill>
              </a:rPr>
              <a:t>, if it desires to provide additional protection from imports, it should be required to </a:t>
            </a:r>
            <a:r>
              <a:rPr lang="en-US" sz="2600" u="sng">
                <a:solidFill>
                  <a:srgbClr val="000099"/>
                </a:solidFill>
              </a:rPr>
              <a:t>renegotiate with its trading partners</a:t>
            </a:r>
            <a:r>
              <a:rPr lang="en-US" sz="2600">
                <a:solidFill>
                  <a:srgbClr val="000099"/>
                </a:solidFill>
              </a:rPr>
              <a:t> to select higher tariff levels.</a:t>
            </a:r>
          </a:p>
          <a:p>
            <a:endParaRPr lang="en-US" sz="800">
              <a:solidFill>
                <a:srgbClr val="000099"/>
              </a:solidFill>
            </a:endParaRPr>
          </a:p>
          <a:p>
            <a:r>
              <a:rPr lang="en-US" sz="2500">
                <a:solidFill>
                  <a:srgbClr val="000099"/>
                </a:solidFill>
              </a:rPr>
              <a:t>In principle, “non-violation” nullification-or-impairment complaints can guide governments toward such renegotiations—thereby preventing a race to the bottom.</a:t>
            </a:r>
          </a:p>
        </p:txBody>
      </p:sp>
      <p:sp>
        <p:nvSpPr>
          <p:cNvPr id="142338" name="Rectangle 2"/>
          <p:cNvSpPr>
            <a:spLocks noGrp="1" noChangeArrowheads="1"/>
          </p:cNvSpPr>
          <p:nvPr>
            <p:ph type="title"/>
          </p:nvPr>
        </p:nvSpPr>
        <p:spPr>
          <a:xfrm>
            <a:off x="685800" y="457200"/>
            <a:ext cx="7772400" cy="1143000"/>
          </a:xfrm>
        </p:spPr>
        <p:txBody>
          <a:bodyPr>
            <a:normAutofit fontScale="90000"/>
          </a:bodyPr>
          <a:lstStyle/>
          <a:p>
            <a:r>
              <a:rPr lang="en-US" sz="4000">
                <a:solidFill>
                  <a:srgbClr val="000099"/>
                </a:solidFill>
                <a:latin typeface="TimesNewRoman" charset="0"/>
              </a:rPr>
              <a:t>The “Race-to-the-Bottom” Case</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42339">
                                            <p:txEl>
                                              <p:pRg st="0" end="0"/>
                                            </p:txEl>
                                          </p:spTgt>
                                        </p:tgtEl>
                                        <p:attrNameLst>
                                          <p:attrName>style.visibility</p:attrName>
                                        </p:attrNameLst>
                                      </p:cBhvr>
                                      <p:to>
                                        <p:strVal val="visible"/>
                                      </p:to>
                                    </p:set>
                                    <p:anim calcmode="lin" valueType="num">
                                      <p:cBhvr additive="base">
                                        <p:cTn id="7" dur="500" fill="hold"/>
                                        <p:tgtEl>
                                          <p:spTgt spid="14233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4233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42339">
                                            <p:txEl>
                                              <p:pRg st="2" end="2"/>
                                            </p:txEl>
                                          </p:spTgt>
                                        </p:tgtEl>
                                        <p:attrNameLst>
                                          <p:attrName>style.visibility</p:attrName>
                                        </p:attrNameLst>
                                      </p:cBhvr>
                                      <p:to>
                                        <p:strVal val="visible"/>
                                      </p:to>
                                    </p:set>
                                    <p:anim calcmode="lin" valueType="num">
                                      <p:cBhvr additive="base">
                                        <p:cTn id="13" dur="500" fill="hold"/>
                                        <p:tgtEl>
                                          <p:spTgt spid="142339">
                                            <p:txEl>
                                              <p:pRg st="2" end="2"/>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42339">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42339">
                                            <p:txEl>
                                              <p:pRg st="4" end="4"/>
                                            </p:txEl>
                                          </p:spTgt>
                                        </p:tgtEl>
                                        <p:attrNameLst>
                                          <p:attrName>style.visibility</p:attrName>
                                        </p:attrNameLst>
                                      </p:cBhvr>
                                      <p:to>
                                        <p:strVal val="visible"/>
                                      </p:to>
                                    </p:set>
                                    <p:anim calcmode="lin" valueType="num">
                                      <p:cBhvr additive="base">
                                        <p:cTn id="19" dur="500" fill="hold"/>
                                        <p:tgtEl>
                                          <p:spTgt spid="142339">
                                            <p:txEl>
                                              <p:pRg st="4" end="4"/>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42339">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339" grpId="0" build="p" bldLvl="2" autoUpdateAnimBg="0"/>
    </p:bldLst>
  </p:timing>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3363" name="Rectangle 3"/>
          <p:cNvSpPr>
            <a:spLocks noGrp="1" noChangeArrowheads="1"/>
          </p:cNvSpPr>
          <p:nvPr>
            <p:ph idx="1"/>
          </p:nvPr>
        </p:nvSpPr>
        <p:spPr>
          <a:xfrm>
            <a:off x="685800" y="1752600"/>
            <a:ext cx="7772400" cy="4191000"/>
          </a:xfrm>
        </p:spPr>
        <p:txBody>
          <a:bodyPr>
            <a:normAutofit lnSpcReduction="10000"/>
          </a:bodyPr>
          <a:lstStyle/>
          <a:p>
            <a:r>
              <a:rPr lang="en-US" sz="2600">
                <a:solidFill>
                  <a:srgbClr val="000099"/>
                </a:solidFill>
              </a:rPr>
              <a:t>The government should be </a:t>
            </a:r>
            <a:r>
              <a:rPr lang="en-US" sz="2600" u="sng">
                <a:solidFill>
                  <a:srgbClr val="000099"/>
                </a:solidFill>
              </a:rPr>
              <a:t>allowed to raise its tariff as it tightens its standards</a:t>
            </a:r>
            <a:r>
              <a:rPr lang="en-US" sz="2600">
                <a:solidFill>
                  <a:srgbClr val="000099"/>
                </a:solidFill>
              </a:rPr>
              <a:t>.</a:t>
            </a:r>
          </a:p>
          <a:p>
            <a:endParaRPr lang="en-US" sz="1200">
              <a:solidFill>
                <a:srgbClr val="000099"/>
              </a:solidFill>
            </a:endParaRPr>
          </a:p>
          <a:p>
            <a:r>
              <a:rPr lang="en-US" sz="2600">
                <a:solidFill>
                  <a:srgbClr val="000099"/>
                </a:solidFill>
                <a:latin typeface="TimesNewRoman" charset="0"/>
              </a:rPr>
              <a:t>However, its tariff increase can </a:t>
            </a:r>
            <a:r>
              <a:rPr lang="en-US" sz="2600" u="sng">
                <a:solidFill>
                  <a:srgbClr val="000099"/>
                </a:solidFill>
                <a:latin typeface="TimesNewRoman" charset="0"/>
              </a:rPr>
              <a:t>do no more than offset the competitive effect of the tighter standards</a:t>
            </a:r>
            <a:r>
              <a:rPr lang="en-US" sz="2600">
                <a:solidFill>
                  <a:srgbClr val="000099"/>
                </a:solidFill>
                <a:latin typeface="TimesNewRoman" charset="0"/>
              </a:rPr>
              <a:t>.</a:t>
            </a:r>
            <a:endParaRPr lang="en-US" sz="2600">
              <a:solidFill>
                <a:srgbClr val="000099"/>
              </a:solidFill>
            </a:endParaRPr>
          </a:p>
          <a:p>
            <a:endParaRPr lang="en-US" sz="1200">
              <a:solidFill>
                <a:srgbClr val="000099"/>
              </a:solidFill>
            </a:endParaRPr>
          </a:p>
          <a:p>
            <a:r>
              <a:rPr lang="en-US" sz="2600">
                <a:solidFill>
                  <a:srgbClr val="000099"/>
                </a:solidFill>
              </a:rPr>
              <a:t>In principle, </a:t>
            </a:r>
            <a:r>
              <a:rPr lang="en-US" sz="2600">
                <a:solidFill>
                  <a:srgbClr val="000099"/>
                </a:solidFill>
                <a:latin typeface="TimesNewRoman" charset="0"/>
              </a:rPr>
              <a:t>renegotiations could  involve a commitment  to  higher  standards  as “compensation” for tariffs bound at higher levels—and thereby prevent a regulatory chill.</a:t>
            </a:r>
            <a:endParaRPr lang="en-US" sz="2600">
              <a:solidFill>
                <a:srgbClr val="000099"/>
              </a:solidFill>
            </a:endParaRPr>
          </a:p>
        </p:txBody>
      </p:sp>
      <p:sp>
        <p:nvSpPr>
          <p:cNvPr id="143362" name="Rectangle 2"/>
          <p:cNvSpPr>
            <a:spLocks noGrp="1" noChangeArrowheads="1"/>
          </p:cNvSpPr>
          <p:nvPr>
            <p:ph type="title"/>
          </p:nvPr>
        </p:nvSpPr>
        <p:spPr>
          <a:xfrm>
            <a:off x="685800" y="457200"/>
            <a:ext cx="7772400" cy="1143000"/>
          </a:xfrm>
        </p:spPr>
        <p:txBody>
          <a:bodyPr/>
          <a:lstStyle/>
          <a:p>
            <a:r>
              <a:rPr lang="en-US" sz="4000">
                <a:solidFill>
                  <a:srgbClr val="000099"/>
                </a:solidFill>
                <a:latin typeface="TimesNewRoman" charset="0"/>
              </a:rPr>
              <a:t>The “Regulatory-Chill” Case</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43363">
                                            <p:txEl>
                                              <p:pRg st="0" end="0"/>
                                            </p:txEl>
                                          </p:spTgt>
                                        </p:tgtEl>
                                        <p:attrNameLst>
                                          <p:attrName>style.visibility</p:attrName>
                                        </p:attrNameLst>
                                      </p:cBhvr>
                                      <p:to>
                                        <p:strVal val="visible"/>
                                      </p:to>
                                    </p:set>
                                    <p:anim calcmode="lin" valueType="num">
                                      <p:cBhvr additive="base">
                                        <p:cTn id="7" dur="500" fill="hold"/>
                                        <p:tgtEl>
                                          <p:spTgt spid="143363">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4336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43363">
                                            <p:txEl>
                                              <p:pRg st="2" end="2"/>
                                            </p:txEl>
                                          </p:spTgt>
                                        </p:tgtEl>
                                        <p:attrNameLst>
                                          <p:attrName>style.visibility</p:attrName>
                                        </p:attrNameLst>
                                      </p:cBhvr>
                                      <p:to>
                                        <p:strVal val="visible"/>
                                      </p:to>
                                    </p:set>
                                    <p:anim calcmode="lin" valueType="num">
                                      <p:cBhvr additive="base">
                                        <p:cTn id="13" dur="500" fill="hold"/>
                                        <p:tgtEl>
                                          <p:spTgt spid="143363">
                                            <p:txEl>
                                              <p:pRg st="2" end="2"/>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4336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43363">
                                            <p:txEl>
                                              <p:pRg st="4" end="4"/>
                                            </p:txEl>
                                          </p:spTgt>
                                        </p:tgtEl>
                                        <p:attrNameLst>
                                          <p:attrName>style.visibility</p:attrName>
                                        </p:attrNameLst>
                                      </p:cBhvr>
                                      <p:to>
                                        <p:strVal val="visible"/>
                                      </p:to>
                                    </p:set>
                                    <p:anim calcmode="lin" valueType="num">
                                      <p:cBhvr additive="base">
                                        <p:cTn id="19" dur="500" fill="hold"/>
                                        <p:tgtEl>
                                          <p:spTgt spid="143363">
                                            <p:txEl>
                                              <p:pRg st="4" end="4"/>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43363">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63" grpId="0" build="p" bldLvl="2" autoUpdateAnimBg="0"/>
    </p:bldLst>
  </p:timing>
</p:sld>
</file>

<file path=ppt/slides/slide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4387" name="Rectangle 3"/>
          <p:cNvSpPr>
            <a:spLocks noGrp="1" noChangeArrowheads="1"/>
          </p:cNvSpPr>
          <p:nvPr>
            <p:ph idx="1"/>
          </p:nvPr>
        </p:nvSpPr>
        <p:spPr>
          <a:xfrm>
            <a:off x="457200" y="1524000"/>
            <a:ext cx="8178800" cy="4038600"/>
          </a:xfrm>
        </p:spPr>
        <p:txBody>
          <a:bodyPr/>
          <a:lstStyle/>
          <a:p>
            <a:endParaRPr lang="en-US">
              <a:solidFill>
                <a:srgbClr val="333399"/>
              </a:solidFill>
            </a:endParaRPr>
          </a:p>
          <a:p>
            <a:r>
              <a:rPr lang="en-US" b="1" i="1">
                <a:solidFill>
                  <a:srgbClr val="333399"/>
                </a:solidFill>
              </a:rPr>
              <a:t>After</a:t>
            </a:r>
            <a:r>
              <a:rPr lang="en-US">
                <a:solidFill>
                  <a:srgbClr val="333399"/>
                </a:solidFill>
              </a:rPr>
              <a:t> entering in a country, </a:t>
            </a:r>
            <a:r>
              <a:rPr lang="en-US" u="sng">
                <a:solidFill>
                  <a:srgbClr val="333399"/>
                </a:solidFill>
              </a:rPr>
              <a:t>imported and locally-produced goods</a:t>
            </a:r>
            <a:r>
              <a:rPr lang="en-US">
                <a:solidFill>
                  <a:srgbClr val="333399"/>
                </a:solidFill>
              </a:rPr>
              <a:t> (as well as services, trademarks, copyrights and patents) </a:t>
            </a:r>
            <a:r>
              <a:rPr lang="en-US" u="sng">
                <a:solidFill>
                  <a:srgbClr val="333399"/>
                </a:solidFill>
              </a:rPr>
              <a:t>must be treated equally</a:t>
            </a:r>
            <a:r>
              <a:rPr lang="en-US">
                <a:solidFill>
                  <a:srgbClr val="333399"/>
                </a:solidFill>
              </a:rPr>
              <a:t>.</a:t>
            </a:r>
          </a:p>
          <a:p>
            <a:pPr>
              <a:buFontTx/>
              <a:buNone/>
            </a:pPr>
            <a:endParaRPr lang="en-US" sz="900">
              <a:solidFill>
                <a:srgbClr val="333399"/>
              </a:solidFill>
            </a:endParaRPr>
          </a:p>
        </p:txBody>
      </p:sp>
      <p:sp>
        <p:nvSpPr>
          <p:cNvPr id="144386" name="Rectangle 2"/>
          <p:cNvSpPr>
            <a:spLocks noGrp="1" noChangeArrowheads="1"/>
          </p:cNvSpPr>
          <p:nvPr>
            <p:ph type="title"/>
          </p:nvPr>
        </p:nvSpPr>
        <p:spPr>
          <a:xfrm>
            <a:off x="685800" y="457200"/>
            <a:ext cx="7772400" cy="1143000"/>
          </a:xfrm>
        </p:spPr>
        <p:txBody>
          <a:bodyPr/>
          <a:lstStyle/>
          <a:p>
            <a:r>
              <a:rPr lang="en-US">
                <a:solidFill>
                  <a:srgbClr val="333399"/>
                </a:solidFill>
              </a:rPr>
              <a:t>National Treatment</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44387">
                                            <p:txEl>
                                              <p:pRg st="1" end="1"/>
                                            </p:txEl>
                                          </p:spTgt>
                                        </p:tgtEl>
                                        <p:attrNameLst>
                                          <p:attrName>style.visibility</p:attrName>
                                        </p:attrNameLst>
                                      </p:cBhvr>
                                      <p:to>
                                        <p:strVal val="visible"/>
                                      </p:to>
                                    </p:set>
                                    <p:anim calcmode="lin" valueType="num">
                                      <p:cBhvr additive="base">
                                        <p:cTn id="7" dur="500" fill="hold"/>
                                        <p:tgtEl>
                                          <p:spTgt spid="144387">
                                            <p:txEl>
                                              <p:pRg st="1" end="1"/>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44387">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4387" grpId="0" build="p" autoUpdateAnimBg="0"/>
    </p:bldLst>
  </p:timing>
</p:sld>
</file>

<file path=ppt/slides/slide4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5411" name="Rectangle 3"/>
          <p:cNvSpPr>
            <a:spLocks noGrp="1" noChangeArrowheads="1"/>
          </p:cNvSpPr>
          <p:nvPr>
            <p:ph idx="1"/>
          </p:nvPr>
        </p:nvSpPr>
        <p:spPr>
          <a:xfrm>
            <a:off x="533400" y="1371600"/>
            <a:ext cx="8229600" cy="4724400"/>
          </a:xfrm>
        </p:spPr>
        <p:txBody>
          <a:bodyPr>
            <a:normAutofit lnSpcReduction="10000"/>
          </a:bodyPr>
          <a:lstStyle/>
          <a:p>
            <a:pPr>
              <a:lnSpc>
                <a:spcPct val="90000"/>
              </a:lnSpc>
              <a:buFontTx/>
              <a:buNone/>
            </a:pPr>
            <a:r>
              <a:rPr lang="en-US" sz="2800" u="sng">
                <a:solidFill>
                  <a:srgbClr val="000099"/>
                </a:solidFill>
              </a:rPr>
              <a:t>Dumping</a:t>
            </a:r>
            <a:r>
              <a:rPr lang="en-US" sz="2800">
                <a:solidFill>
                  <a:srgbClr val="000099"/>
                </a:solidFill>
              </a:rPr>
              <a:t>:</a:t>
            </a:r>
          </a:p>
          <a:p>
            <a:pPr>
              <a:lnSpc>
                <a:spcPct val="90000"/>
              </a:lnSpc>
              <a:buFontTx/>
              <a:buNone/>
            </a:pPr>
            <a:r>
              <a:rPr lang="en-US" sz="2800">
                <a:solidFill>
                  <a:srgbClr val="000099"/>
                </a:solidFill>
              </a:rPr>
              <a:t>	A company exports a product at a price lower than the price it normally charges on its own home market.</a:t>
            </a:r>
          </a:p>
          <a:p>
            <a:pPr>
              <a:lnSpc>
                <a:spcPct val="90000"/>
              </a:lnSpc>
              <a:buFontTx/>
              <a:buNone/>
            </a:pPr>
            <a:endParaRPr lang="en-US" sz="1200">
              <a:solidFill>
                <a:srgbClr val="000099"/>
              </a:solidFill>
            </a:endParaRPr>
          </a:p>
          <a:p>
            <a:pPr>
              <a:lnSpc>
                <a:spcPct val="90000"/>
              </a:lnSpc>
            </a:pPr>
            <a:r>
              <a:rPr lang="en-US" sz="2800">
                <a:solidFill>
                  <a:srgbClr val="000099"/>
                </a:solidFill>
              </a:rPr>
              <a:t>The WTO “allows governments to act against dumping where there is genuine injury to the competing domestic industry.”</a:t>
            </a:r>
          </a:p>
          <a:p>
            <a:pPr lvl="1">
              <a:lnSpc>
                <a:spcPct val="90000"/>
              </a:lnSpc>
            </a:pPr>
            <a:r>
              <a:rPr lang="en-US" sz="2400">
                <a:solidFill>
                  <a:srgbClr val="000099"/>
                </a:solidFill>
              </a:rPr>
              <a:t>Government has to:</a:t>
            </a:r>
          </a:p>
          <a:p>
            <a:pPr lvl="2">
              <a:lnSpc>
                <a:spcPct val="90000"/>
              </a:lnSpc>
            </a:pPr>
            <a:r>
              <a:rPr lang="en-US" sz="2000">
                <a:solidFill>
                  <a:srgbClr val="000099"/>
                </a:solidFill>
              </a:rPr>
              <a:t>show that dumping has taken place;</a:t>
            </a:r>
          </a:p>
          <a:p>
            <a:pPr lvl="2">
              <a:lnSpc>
                <a:spcPct val="90000"/>
              </a:lnSpc>
            </a:pPr>
            <a:r>
              <a:rPr lang="en-US" sz="2000">
                <a:solidFill>
                  <a:srgbClr val="000099"/>
                </a:solidFill>
              </a:rPr>
              <a:t>calculate the extent of dumping; and</a:t>
            </a:r>
          </a:p>
          <a:p>
            <a:pPr lvl="2">
              <a:lnSpc>
                <a:spcPct val="90000"/>
              </a:lnSpc>
            </a:pPr>
            <a:r>
              <a:rPr lang="en-US" sz="2000">
                <a:solidFill>
                  <a:srgbClr val="000099"/>
                </a:solidFill>
              </a:rPr>
              <a:t>show that the dumping is causing injury.</a:t>
            </a:r>
          </a:p>
          <a:p>
            <a:pPr>
              <a:lnSpc>
                <a:spcPct val="90000"/>
              </a:lnSpc>
            </a:pPr>
            <a:r>
              <a:rPr lang="en-US" sz="2800">
                <a:solidFill>
                  <a:srgbClr val="000099"/>
                </a:solidFill>
              </a:rPr>
              <a:t>Recently, have gained increased popularity.</a:t>
            </a:r>
          </a:p>
        </p:txBody>
      </p:sp>
      <p:sp>
        <p:nvSpPr>
          <p:cNvPr id="145410" name="Rectangle 2"/>
          <p:cNvSpPr>
            <a:spLocks noGrp="1" noChangeArrowheads="1"/>
          </p:cNvSpPr>
          <p:nvPr>
            <p:ph type="title"/>
          </p:nvPr>
        </p:nvSpPr>
        <p:spPr>
          <a:xfrm>
            <a:off x="609600" y="457200"/>
            <a:ext cx="7772400" cy="838200"/>
          </a:xfrm>
        </p:spPr>
        <p:txBody>
          <a:bodyPr/>
          <a:lstStyle/>
          <a:p>
            <a:r>
              <a:rPr lang="en-US">
                <a:solidFill>
                  <a:srgbClr val="333399"/>
                </a:solidFill>
              </a:rPr>
              <a:t>Anti-Dumping Provisions</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45411">
                                            <p:txEl>
                                              <p:pRg st="0" end="0"/>
                                            </p:txEl>
                                          </p:spTgt>
                                        </p:tgtEl>
                                        <p:attrNameLst>
                                          <p:attrName>style.visibility</p:attrName>
                                        </p:attrNameLst>
                                      </p:cBhvr>
                                      <p:to>
                                        <p:strVal val="visible"/>
                                      </p:to>
                                    </p:set>
                                    <p:anim calcmode="lin" valueType="num">
                                      <p:cBhvr additive="base">
                                        <p:cTn id="7" dur="500" fill="hold"/>
                                        <p:tgtEl>
                                          <p:spTgt spid="14541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4541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45411">
                                            <p:txEl>
                                              <p:pRg st="1" end="1"/>
                                            </p:txEl>
                                          </p:spTgt>
                                        </p:tgtEl>
                                        <p:attrNameLst>
                                          <p:attrName>style.visibility</p:attrName>
                                        </p:attrNameLst>
                                      </p:cBhvr>
                                      <p:to>
                                        <p:strVal val="visible"/>
                                      </p:to>
                                    </p:set>
                                    <p:anim calcmode="lin" valueType="num">
                                      <p:cBhvr additive="base">
                                        <p:cTn id="13" dur="500" fill="hold"/>
                                        <p:tgtEl>
                                          <p:spTgt spid="145411">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4541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45411">
                                            <p:txEl>
                                              <p:pRg st="3" end="3"/>
                                            </p:txEl>
                                          </p:spTgt>
                                        </p:tgtEl>
                                        <p:attrNameLst>
                                          <p:attrName>style.visibility</p:attrName>
                                        </p:attrNameLst>
                                      </p:cBhvr>
                                      <p:to>
                                        <p:strVal val="visible"/>
                                      </p:to>
                                    </p:set>
                                    <p:anim calcmode="lin" valueType="num">
                                      <p:cBhvr additive="base">
                                        <p:cTn id="19" dur="500" fill="hold"/>
                                        <p:tgtEl>
                                          <p:spTgt spid="145411">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45411">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45411">
                                            <p:txEl>
                                              <p:pRg st="4" end="4"/>
                                            </p:txEl>
                                          </p:spTgt>
                                        </p:tgtEl>
                                        <p:attrNameLst>
                                          <p:attrName>style.visibility</p:attrName>
                                        </p:attrNameLst>
                                      </p:cBhvr>
                                      <p:to>
                                        <p:strVal val="visible"/>
                                      </p:to>
                                    </p:set>
                                    <p:anim calcmode="lin" valueType="num">
                                      <p:cBhvr additive="base">
                                        <p:cTn id="25" dur="500" fill="hold"/>
                                        <p:tgtEl>
                                          <p:spTgt spid="145411">
                                            <p:txEl>
                                              <p:pRg st="4" end="4"/>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45411">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45411">
                                            <p:txEl>
                                              <p:pRg st="5" end="5"/>
                                            </p:txEl>
                                          </p:spTgt>
                                        </p:tgtEl>
                                        <p:attrNameLst>
                                          <p:attrName>style.visibility</p:attrName>
                                        </p:attrNameLst>
                                      </p:cBhvr>
                                      <p:to>
                                        <p:strVal val="visible"/>
                                      </p:to>
                                    </p:set>
                                    <p:anim calcmode="lin" valueType="num">
                                      <p:cBhvr additive="base">
                                        <p:cTn id="31" dur="500" fill="hold"/>
                                        <p:tgtEl>
                                          <p:spTgt spid="145411">
                                            <p:txEl>
                                              <p:pRg st="5" end="5"/>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45411">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45411">
                                            <p:txEl>
                                              <p:pRg st="6" end="6"/>
                                            </p:txEl>
                                          </p:spTgt>
                                        </p:tgtEl>
                                        <p:attrNameLst>
                                          <p:attrName>style.visibility</p:attrName>
                                        </p:attrNameLst>
                                      </p:cBhvr>
                                      <p:to>
                                        <p:strVal val="visible"/>
                                      </p:to>
                                    </p:set>
                                    <p:anim calcmode="lin" valueType="num">
                                      <p:cBhvr additive="base">
                                        <p:cTn id="37" dur="500" fill="hold"/>
                                        <p:tgtEl>
                                          <p:spTgt spid="145411">
                                            <p:txEl>
                                              <p:pRg st="6" end="6"/>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45411">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145411">
                                            <p:txEl>
                                              <p:pRg st="7" end="7"/>
                                            </p:txEl>
                                          </p:spTgt>
                                        </p:tgtEl>
                                        <p:attrNameLst>
                                          <p:attrName>style.visibility</p:attrName>
                                        </p:attrNameLst>
                                      </p:cBhvr>
                                      <p:to>
                                        <p:strVal val="visible"/>
                                      </p:to>
                                    </p:set>
                                    <p:anim calcmode="lin" valueType="num">
                                      <p:cBhvr additive="base">
                                        <p:cTn id="43" dur="500" fill="hold"/>
                                        <p:tgtEl>
                                          <p:spTgt spid="145411">
                                            <p:txEl>
                                              <p:pRg st="7" end="7"/>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145411">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145411">
                                            <p:txEl>
                                              <p:pRg st="8" end="8"/>
                                            </p:txEl>
                                          </p:spTgt>
                                        </p:tgtEl>
                                        <p:attrNameLst>
                                          <p:attrName>style.visibility</p:attrName>
                                        </p:attrNameLst>
                                      </p:cBhvr>
                                      <p:to>
                                        <p:strVal val="visible"/>
                                      </p:to>
                                    </p:set>
                                    <p:anim calcmode="lin" valueType="num">
                                      <p:cBhvr additive="base">
                                        <p:cTn id="49" dur="500" fill="hold"/>
                                        <p:tgtEl>
                                          <p:spTgt spid="145411">
                                            <p:txEl>
                                              <p:pRg st="8" end="8"/>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145411">
                                            <p:txEl>
                                              <p:pRg st="8" end="8"/>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5411" grpId="0" build="p" bldLvl="3" autoUpdateAnimBg="0"/>
    </p:bldLst>
  </p:timing>
</p:sld>
</file>

<file path=ppt/slides/slide4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6434" name="Rectangle 2"/>
          <p:cNvSpPr>
            <a:spLocks noGrp="1" noChangeArrowheads="1"/>
          </p:cNvSpPr>
          <p:nvPr>
            <p:ph type="title" idx="4294967295"/>
          </p:nvPr>
        </p:nvSpPr>
        <p:spPr>
          <a:xfrm>
            <a:off x="0" y="457200"/>
            <a:ext cx="7772400" cy="1143000"/>
          </a:xfrm>
        </p:spPr>
        <p:txBody>
          <a:bodyPr/>
          <a:lstStyle/>
          <a:p>
            <a:r>
              <a:rPr lang="en-US">
                <a:solidFill>
                  <a:srgbClr val="333399"/>
                </a:solidFill>
              </a:rPr>
              <a:t>Exceptions to MFN</a:t>
            </a:r>
          </a:p>
        </p:txBody>
      </p:sp>
      <p:sp>
        <p:nvSpPr>
          <p:cNvPr id="146435" name="Rectangle 3"/>
          <p:cNvSpPr>
            <a:spLocks noGrp="1" noChangeArrowheads="1"/>
          </p:cNvSpPr>
          <p:nvPr>
            <p:ph type="body" idx="4294967295"/>
          </p:nvPr>
        </p:nvSpPr>
        <p:spPr>
          <a:xfrm>
            <a:off x="0" y="1752600"/>
            <a:ext cx="8178800" cy="4343400"/>
          </a:xfrm>
        </p:spPr>
        <p:txBody>
          <a:bodyPr>
            <a:normAutofit lnSpcReduction="10000"/>
          </a:bodyPr>
          <a:lstStyle/>
          <a:p>
            <a:r>
              <a:rPr lang="en-US" sz="4000">
                <a:solidFill>
                  <a:srgbClr val="333399"/>
                </a:solidFill>
              </a:rPr>
              <a:t>Developing nations</a:t>
            </a:r>
          </a:p>
          <a:p>
            <a:pPr lvl="1"/>
            <a:r>
              <a:rPr lang="en-US" sz="3400">
                <a:solidFill>
                  <a:srgbClr val="333399"/>
                </a:solidFill>
              </a:rPr>
              <a:t>GSP (Generalized System of Preferences)</a:t>
            </a:r>
          </a:p>
          <a:p>
            <a:pPr>
              <a:buFontTx/>
              <a:buNone/>
            </a:pPr>
            <a:endParaRPr lang="en-US" sz="1500">
              <a:solidFill>
                <a:srgbClr val="333399"/>
              </a:solidFill>
            </a:endParaRPr>
          </a:p>
          <a:p>
            <a:r>
              <a:rPr lang="en-US" sz="4000">
                <a:solidFill>
                  <a:srgbClr val="333399"/>
                </a:solidFill>
              </a:rPr>
              <a:t>Preferential trade agreements (PTAs)</a:t>
            </a:r>
          </a:p>
          <a:p>
            <a:pPr lvl="1"/>
            <a:r>
              <a:rPr lang="en-US" sz="3400">
                <a:solidFill>
                  <a:srgbClr val="333399"/>
                </a:solidFill>
              </a:rPr>
              <a:t>Free Trade Areas</a:t>
            </a:r>
          </a:p>
          <a:p>
            <a:pPr lvl="1"/>
            <a:r>
              <a:rPr lang="en-US" sz="3400">
                <a:solidFill>
                  <a:srgbClr val="333399"/>
                </a:solidFill>
              </a:rPr>
              <a:t>Customs Unions</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46435">
                                            <p:txEl>
                                              <p:pRg st="0" end="0"/>
                                            </p:txEl>
                                          </p:spTgt>
                                        </p:tgtEl>
                                        <p:attrNameLst>
                                          <p:attrName>style.visibility</p:attrName>
                                        </p:attrNameLst>
                                      </p:cBhvr>
                                      <p:to>
                                        <p:strVal val="visible"/>
                                      </p:to>
                                    </p:set>
                                    <p:anim calcmode="lin" valueType="num">
                                      <p:cBhvr additive="base">
                                        <p:cTn id="7" dur="500" fill="hold"/>
                                        <p:tgtEl>
                                          <p:spTgt spid="14643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4643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46435">
                                            <p:txEl>
                                              <p:pRg st="1" end="1"/>
                                            </p:txEl>
                                          </p:spTgt>
                                        </p:tgtEl>
                                        <p:attrNameLst>
                                          <p:attrName>style.visibility</p:attrName>
                                        </p:attrNameLst>
                                      </p:cBhvr>
                                      <p:to>
                                        <p:strVal val="visible"/>
                                      </p:to>
                                    </p:set>
                                    <p:anim calcmode="lin" valueType="num">
                                      <p:cBhvr additive="base">
                                        <p:cTn id="13" dur="500" fill="hold"/>
                                        <p:tgtEl>
                                          <p:spTgt spid="146435">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4643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46435">
                                            <p:txEl>
                                              <p:pRg st="3" end="3"/>
                                            </p:txEl>
                                          </p:spTgt>
                                        </p:tgtEl>
                                        <p:attrNameLst>
                                          <p:attrName>style.visibility</p:attrName>
                                        </p:attrNameLst>
                                      </p:cBhvr>
                                      <p:to>
                                        <p:strVal val="visible"/>
                                      </p:to>
                                    </p:set>
                                    <p:anim calcmode="lin" valueType="num">
                                      <p:cBhvr additive="base">
                                        <p:cTn id="19" dur="500" fill="hold"/>
                                        <p:tgtEl>
                                          <p:spTgt spid="146435">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46435">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46435">
                                            <p:txEl>
                                              <p:pRg st="4" end="4"/>
                                            </p:txEl>
                                          </p:spTgt>
                                        </p:tgtEl>
                                        <p:attrNameLst>
                                          <p:attrName>style.visibility</p:attrName>
                                        </p:attrNameLst>
                                      </p:cBhvr>
                                      <p:to>
                                        <p:strVal val="visible"/>
                                      </p:to>
                                    </p:set>
                                    <p:anim calcmode="lin" valueType="num">
                                      <p:cBhvr additive="base">
                                        <p:cTn id="25" dur="500" fill="hold"/>
                                        <p:tgtEl>
                                          <p:spTgt spid="146435">
                                            <p:txEl>
                                              <p:pRg st="4" end="4"/>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46435">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46435">
                                            <p:txEl>
                                              <p:pRg st="5" end="5"/>
                                            </p:txEl>
                                          </p:spTgt>
                                        </p:tgtEl>
                                        <p:attrNameLst>
                                          <p:attrName>style.visibility</p:attrName>
                                        </p:attrNameLst>
                                      </p:cBhvr>
                                      <p:to>
                                        <p:strVal val="visible"/>
                                      </p:to>
                                    </p:set>
                                    <p:anim calcmode="lin" valueType="num">
                                      <p:cBhvr additive="base">
                                        <p:cTn id="31" dur="500" fill="hold"/>
                                        <p:tgtEl>
                                          <p:spTgt spid="146435">
                                            <p:txEl>
                                              <p:pRg st="5" end="5"/>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46435">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6435" grpId="0" build="p" bldLvl="2" autoUpdateAnimBg="0"/>
    </p:bldLst>
  </p:timing>
</p:sld>
</file>

<file path=ppt/slides/slide4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7459" name="Rectangle 3"/>
          <p:cNvSpPr>
            <a:spLocks noGrp="1" noChangeArrowheads="1"/>
          </p:cNvSpPr>
          <p:nvPr>
            <p:ph idx="1"/>
          </p:nvPr>
        </p:nvSpPr>
        <p:spPr>
          <a:xfrm>
            <a:off x="533400" y="1524000"/>
            <a:ext cx="8229600" cy="4724400"/>
          </a:xfrm>
          <a:solidFill>
            <a:srgbClr val="EAEAEA"/>
          </a:solidFill>
        </p:spPr>
        <p:txBody>
          <a:bodyPr/>
          <a:lstStyle/>
          <a:p>
            <a:pPr>
              <a:buClr>
                <a:srgbClr val="0033CC"/>
              </a:buClr>
            </a:pPr>
            <a:r>
              <a:rPr lang="en-US" sz="2800">
                <a:solidFill>
                  <a:srgbClr val="0033CC"/>
                </a:solidFill>
              </a:rPr>
              <a:t>Free Trade Area (FTA)</a:t>
            </a:r>
          </a:p>
          <a:p>
            <a:pPr lvl="1">
              <a:buClr>
                <a:srgbClr val="000099"/>
              </a:buClr>
              <a:buFont typeface="Wingdings" pitchFamily="2" charset="2"/>
              <a:buChar char="Ø"/>
            </a:pPr>
            <a:r>
              <a:rPr lang="en-US" sz="2000" b="1">
                <a:solidFill>
                  <a:srgbClr val="000099"/>
                </a:solidFill>
              </a:rPr>
              <a:t>Free trade among members.</a:t>
            </a:r>
          </a:p>
          <a:p>
            <a:pPr lvl="1">
              <a:buClr>
                <a:srgbClr val="000099"/>
              </a:buClr>
              <a:buFont typeface="Wingdings" pitchFamily="2" charset="2"/>
              <a:buChar char="Ø"/>
            </a:pPr>
            <a:r>
              <a:rPr lang="en-US" sz="2000" b="1">
                <a:solidFill>
                  <a:srgbClr val="000099"/>
                </a:solidFill>
              </a:rPr>
              <a:t>Each country has independent trade policies toward nonmembers.</a:t>
            </a:r>
          </a:p>
          <a:p>
            <a:pPr>
              <a:buClr>
                <a:srgbClr val="0033CC"/>
              </a:buClr>
            </a:pPr>
            <a:r>
              <a:rPr lang="en-US" sz="2800">
                <a:solidFill>
                  <a:srgbClr val="0033CC"/>
                </a:solidFill>
              </a:rPr>
              <a:t>Customs Union (CU)</a:t>
            </a:r>
          </a:p>
          <a:p>
            <a:pPr lvl="1">
              <a:buClr>
                <a:srgbClr val="000099"/>
              </a:buClr>
              <a:buFont typeface="Wingdings" pitchFamily="2" charset="2"/>
              <a:buChar char="Ø"/>
            </a:pPr>
            <a:r>
              <a:rPr lang="en-US" sz="2000" b="1">
                <a:solidFill>
                  <a:srgbClr val="000099"/>
                </a:solidFill>
              </a:rPr>
              <a:t>FTA + common external trade policy.</a:t>
            </a:r>
          </a:p>
          <a:p>
            <a:pPr>
              <a:buClr>
                <a:srgbClr val="0033CC"/>
              </a:buClr>
            </a:pPr>
            <a:r>
              <a:rPr lang="en-US" sz="2800">
                <a:solidFill>
                  <a:srgbClr val="0033CC"/>
                </a:solidFill>
              </a:rPr>
              <a:t>Common Market</a:t>
            </a:r>
          </a:p>
          <a:p>
            <a:pPr lvl="1">
              <a:buClr>
                <a:srgbClr val="000099"/>
              </a:buClr>
              <a:buFont typeface="Wingdings" pitchFamily="2" charset="2"/>
              <a:buChar char="Ø"/>
            </a:pPr>
            <a:r>
              <a:rPr lang="en-US" sz="2000" b="1">
                <a:solidFill>
                  <a:srgbClr val="000099"/>
                </a:solidFill>
              </a:rPr>
              <a:t>CU + free mobility of factors of production.</a:t>
            </a:r>
          </a:p>
          <a:p>
            <a:pPr>
              <a:buClr>
                <a:srgbClr val="0033CC"/>
              </a:buClr>
            </a:pPr>
            <a:r>
              <a:rPr lang="en-US" sz="2800">
                <a:solidFill>
                  <a:srgbClr val="0033CC"/>
                </a:solidFill>
              </a:rPr>
              <a:t>Economic Union</a:t>
            </a:r>
          </a:p>
          <a:p>
            <a:pPr lvl="1">
              <a:buClr>
                <a:srgbClr val="000099"/>
              </a:buClr>
              <a:buFont typeface="Wingdings" pitchFamily="2" charset="2"/>
              <a:buChar char="Ø"/>
            </a:pPr>
            <a:r>
              <a:rPr lang="en-US" sz="2000" b="1">
                <a:solidFill>
                  <a:srgbClr val="000099"/>
                </a:solidFill>
              </a:rPr>
              <a:t>Common Market + harmonization of other—monetary, fiscal—policies.</a:t>
            </a:r>
          </a:p>
        </p:txBody>
      </p:sp>
      <p:sp>
        <p:nvSpPr>
          <p:cNvPr id="147458" name="Rectangle 2"/>
          <p:cNvSpPr>
            <a:spLocks noGrp="1" noChangeArrowheads="1"/>
          </p:cNvSpPr>
          <p:nvPr>
            <p:ph type="title"/>
          </p:nvPr>
        </p:nvSpPr>
        <p:spPr>
          <a:xfrm>
            <a:off x="609600" y="381000"/>
            <a:ext cx="7772400" cy="647700"/>
          </a:xfrm>
        </p:spPr>
        <p:txBody>
          <a:bodyPr>
            <a:normAutofit fontScale="90000"/>
          </a:bodyPr>
          <a:lstStyle/>
          <a:p>
            <a:r>
              <a:rPr lang="en-US" sz="4000">
                <a:solidFill>
                  <a:srgbClr val="000099"/>
                </a:solidFill>
              </a:rPr>
              <a:t>Forms of Economic Integration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47459">
                                            <p:txEl>
                                              <p:pRg st="0" end="0"/>
                                            </p:txEl>
                                          </p:spTgt>
                                        </p:tgtEl>
                                        <p:attrNameLst>
                                          <p:attrName>style.visibility</p:attrName>
                                        </p:attrNameLst>
                                      </p:cBhvr>
                                      <p:to>
                                        <p:strVal val="visible"/>
                                      </p:to>
                                    </p:set>
                                    <p:anim calcmode="lin" valueType="num">
                                      <p:cBhvr additive="base">
                                        <p:cTn id="7" dur="500" fill="hold"/>
                                        <p:tgtEl>
                                          <p:spTgt spid="147459">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4745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47459">
                                            <p:txEl>
                                              <p:pRg st="1" end="1"/>
                                            </p:txEl>
                                          </p:spTgt>
                                        </p:tgtEl>
                                        <p:attrNameLst>
                                          <p:attrName>style.visibility</p:attrName>
                                        </p:attrNameLst>
                                      </p:cBhvr>
                                      <p:to>
                                        <p:strVal val="visible"/>
                                      </p:to>
                                    </p:set>
                                    <p:anim calcmode="lin" valueType="num">
                                      <p:cBhvr additive="base">
                                        <p:cTn id="13" dur="500" fill="hold"/>
                                        <p:tgtEl>
                                          <p:spTgt spid="147459">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4745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47459">
                                            <p:txEl>
                                              <p:pRg st="2" end="2"/>
                                            </p:txEl>
                                          </p:spTgt>
                                        </p:tgtEl>
                                        <p:attrNameLst>
                                          <p:attrName>style.visibility</p:attrName>
                                        </p:attrNameLst>
                                      </p:cBhvr>
                                      <p:to>
                                        <p:strVal val="visible"/>
                                      </p:to>
                                    </p:set>
                                    <p:anim calcmode="lin" valueType="num">
                                      <p:cBhvr additive="base">
                                        <p:cTn id="19" dur="500" fill="hold"/>
                                        <p:tgtEl>
                                          <p:spTgt spid="147459">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47459">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47459">
                                            <p:txEl>
                                              <p:pRg st="3" end="3"/>
                                            </p:txEl>
                                          </p:spTgt>
                                        </p:tgtEl>
                                        <p:attrNameLst>
                                          <p:attrName>style.visibility</p:attrName>
                                        </p:attrNameLst>
                                      </p:cBhvr>
                                      <p:to>
                                        <p:strVal val="visible"/>
                                      </p:to>
                                    </p:set>
                                    <p:anim calcmode="lin" valueType="num">
                                      <p:cBhvr additive="base">
                                        <p:cTn id="25" dur="500" fill="hold"/>
                                        <p:tgtEl>
                                          <p:spTgt spid="147459">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147459">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147459">
                                            <p:txEl>
                                              <p:pRg st="4" end="4"/>
                                            </p:txEl>
                                          </p:spTgt>
                                        </p:tgtEl>
                                        <p:attrNameLst>
                                          <p:attrName>style.visibility</p:attrName>
                                        </p:attrNameLst>
                                      </p:cBhvr>
                                      <p:to>
                                        <p:strVal val="visible"/>
                                      </p:to>
                                    </p:set>
                                    <p:anim calcmode="lin" valueType="num">
                                      <p:cBhvr additive="base">
                                        <p:cTn id="31" dur="500" fill="hold"/>
                                        <p:tgtEl>
                                          <p:spTgt spid="147459">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147459">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147459">
                                            <p:txEl>
                                              <p:pRg st="5" end="5"/>
                                            </p:txEl>
                                          </p:spTgt>
                                        </p:tgtEl>
                                        <p:attrNameLst>
                                          <p:attrName>style.visibility</p:attrName>
                                        </p:attrNameLst>
                                      </p:cBhvr>
                                      <p:to>
                                        <p:strVal val="visible"/>
                                      </p:to>
                                    </p:set>
                                    <p:anim calcmode="lin" valueType="num">
                                      <p:cBhvr additive="base">
                                        <p:cTn id="37" dur="500" fill="hold"/>
                                        <p:tgtEl>
                                          <p:spTgt spid="147459">
                                            <p:txEl>
                                              <p:pRg st="5" end="5"/>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147459">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2" fill="hold" grpId="0" nodeType="clickEffect">
                                  <p:stCondLst>
                                    <p:cond delay="0"/>
                                  </p:stCondLst>
                                  <p:childTnLst>
                                    <p:set>
                                      <p:cBhvr>
                                        <p:cTn id="42" dur="1" fill="hold">
                                          <p:stCondLst>
                                            <p:cond delay="0"/>
                                          </p:stCondLst>
                                        </p:cTn>
                                        <p:tgtEl>
                                          <p:spTgt spid="147459">
                                            <p:txEl>
                                              <p:pRg st="6" end="6"/>
                                            </p:txEl>
                                          </p:spTgt>
                                        </p:tgtEl>
                                        <p:attrNameLst>
                                          <p:attrName>style.visibility</p:attrName>
                                        </p:attrNameLst>
                                      </p:cBhvr>
                                      <p:to>
                                        <p:strVal val="visible"/>
                                      </p:to>
                                    </p:set>
                                    <p:anim calcmode="lin" valueType="num">
                                      <p:cBhvr additive="base">
                                        <p:cTn id="43" dur="500" fill="hold"/>
                                        <p:tgtEl>
                                          <p:spTgt spid="147459">
                                            <p:txEl>
                                              <p:pRg st="6" end="6"/>
                                            </p:txEl>
                                          </p:spTgt>
                                        </p:tgtEl>
                                        <p:attrNameLst>
                                          <p:attrName>ppt_x</p:attrName>
                                        </p:attrNameLst>
                                      </p:cBhvr>
                                      <p:tavLst>
                                        <p:tav tm="0">
                                          <p:val>
                                            <p:strVal val="1+#ppt_w/2"/>
                                          </p:val>
                                        </p:tav>
                                        <p:tav tm="100000">
                                          <p:val>
                                            <p:strVal val="#ppt_x"/>
                                          </p:val>
                                        </p:tav>
                                      </p:tavLst>
                                    </p:anim>
                                    <p:anim calcmode="lin" valueType="num">
                                      <p:cBhvr additive="base">
                                        <p:cTn id="44" dur="500" fill="hold"/>
                                        <p:tgtEl>
                                          <p:spTgt spid="147459">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2" fill="hold" grpId="0" nodeType="clickEffect">
                                  <p:stCondLst>
                                    <p:cond delay="0"/>
                                  </p:stCondLst>
                                  <p:childTnLst>
                                    <p:set>
                                      <p:cBhvr>
                                        <p:cTn id="48" dur="1" fill="hold">
                                          <p:stCondLst>
                                            <p:cond delay="0"/>
                                          </p:stCondLst>
                                        </p:cTn>
                                        <p:tgtEl>
                                          <p:spTgt spid="147459">
                                            <p:txEl>
                                              <p:pRg st="7" end="7"/>
                                            </p:txEl>
                                          </p:spTgt>
                                        </p:tgtEl>
                                        <p:attrNameLst>
                                          <p:attrName>style.visibility</p:attrName>
                                        </p:attrNameLst>
                                      </p:cBhvr>
                                      <p:to>
                                        <p:strVal val="visible"/>
                                      </p:to>
                                    </p:set>
                                    <p:anim calcmode="lin" valueType="num">
                                      <p:cBhvr additive="base">
                                        <p:cTn id="49" dur="500" fill="hold"/>
                                        <p:tgtEl>
                                          <p:spTgt spid="147459">
                                            <p:txEl>
                                              <p:pRg st="7" end="7"/>
                                            </p:txEl>
                                          </p:spTgt>
                                        </p:tgtEl>
                                        <p:attrNameLst>
                                          <p:attrName>ppt_x</p:attrName>
                                        </p:attrNameLst>
                                      </p:cBhvr>
                                      <p:tavLst>
                                        <p:tav tm="0">
                                          <p:val>
                                            <p:strVal val="1+#ppt_w/2"/>
                                          </p:val>
                                        </p:tav>
                                        <p:tav tm="100000">
                                          <p:val>
                                            <p:strVal val="#ppt_x"/>
                                          </p:val>
                                        </p:tav>
                                      </p:tavLst>
                                    </p:anim>
                                    <p:anim calcmode="lin" valueType="num">
                                      <p:cBhvr additive="base">
                                        <p:cTn id="50" dur="500" fill="hold"/>
                                        <p:tgtEl>
                                          <p:spTgt spid="147459">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2" fill="hold" grpId="0" nodeType="clickEffect">
                                  <p:stCondLst>
                                    <p:cond delay="0"/>
                                  </p:stCondLst>
                                  <p:childTnLst>
                                    <p:set>
                                      <p:cBhvr>
                                        <p:cTn id="54" dur="1" fill="hold">
                                          <p:stCondLst>
                                            <p:cond delay="0"/>
                                          </p:stCondLst>
                                        </p:cTn>
                                        <p:tgtEl>
                                          <p:spTgt spid="147459">
                                            <p:txEl>
                                              <p:pRg st="8" end="8"/>
                                            </p:txEl>
                                          </p:spTgt>
                                        </p:tgtEl>
                                        <p:attrNameLst>
                                          <p:attrName>style.visibility</p:attrName>
                                        </p:attrNameLst>
                                      </p:cBhvr>
                                      <p:to>
                                        <p:strVal val="visible"/>
                                      </p:to>
                                    </p:set>
                                    <p:anim calcmode="lin" valueType="num">
                                      <p:cBhvr additive="base">
                                        <p:cTn id="55" dur="500" fill="hold"/>
                                        <p:tgtEl>
                                          <p:spTgt spid="147459">
                                            <p:txEl>
                                              <p:pRg st="8" end="8"/>
                                            </p:txEl>
                                          </p:spTgt>
                                        </p:tgtEl>
                                        <p:attrNameLst>
                                          <p:attrName>ppt_x</p:attrName>
                                        </p:attrNameLst>
                                      </p:cBhvr>
                                      <p:tavLst>
                                        <p:tav tm="0">
                                          <p:val>
                                            <p:strVal val="1+#ppt_w/2"/>
                                          </p:val>
                                        </p:tav>
                                        <p:tav tm="100000">
                                          <p:val>
                                            <p:strVal val="#ppt_x"/>
                                          </p:val>
                                        </p:tav>
                                      </p:tavLst>
                                    </p:anim>
                                    <p:anim calcmode="lin" valueType="num">
                                      <p:cBhvr additive="base">
                                        <p:cTn id="56" dur="500" fill="hold"/>
                                        <p:tgtEl>
                                          <p:spTgt spid="147459">
                                            <p:txEl>
                                              <p:pRg st="8" end="8"/>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7459" grpId="0" build="p" bldLvl="2" autoUpdateAnimBg="0"/>
    </p:bldLst>
  </p:timing>
</p:sld>
</file>

<file path=ppt/slides/slide4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8483" name="Rectangle 3"/>
          <p:cNvSpPr>
            <a:spLocks noGrp="1" noChangeArrowheads="1"/>
          </p:cNvSpPr>
          <p:nvPr>
            <p:ph idx="1"/>
          </p:nvPr>
        </p:nvSpPr>
        <p:spPr>
          <a:xfrm>
            <a:off x="533400" y="1752600"/>
            <a:ext cx="8077200" cy="4114800"/>
          </a:xfrm>
        </p:spPr>
        <p:txBody>
          <a:bodyPr/>
          <a:lstStyle/>
          <a:p>
            <a:pPr>
              <a:buClr>
                <a:srgbClr val="000099"/>
              </a:buClr>
            </a:pPr>
            <a:r>
              <a:rPr lang="en-US">
                <a:solidFill>
                  <a:srgbClr val="000099"/>
                </a:solidFill>
              </a:rPr>
              <a:t>They are, by nature, discriminatory:</a:t>
            </a:r>
          </a:p>
          <a:p>
            <a:pPr>
              <a:buClr>
                <a:srgbClr val="000099"/>
              </a:buClr>
              <a:buFontTx/>
              <a:buNone/>
            </a:pPr>
            <a:endParaRPr lang="en-US" sz="1200">
              <a:solidFill>
                <a:srgbClr val="000099"/>
              </a:solidFill>
            </a:endParaRPr>
          </a:p>
          <a:p>
            <a:pPr algn="ctr">
              <a:buClr>
                <a:srgbClr val="000099"/>
              </a:buClr>
              <a:buFontTx/>
              <a:buNone/>
            </a:pPr>
            <a:r>
              <a:rPr lang="en-US">
                <a:solidFill>
                  <a:srgbClr val="000099"/>
                </a:solidFill>
              </a:rPr>
              <a:t>member countries’ concessions to each other are </a:t>
            </a:r>
            <a:r>
              <a:rPr lang="en-US" i="1">
                <a:solidFill>
                  <a:srgbClr val="000099"/>
                </a:solidFill>
              </a:rPr>
              <a:t>not</a:t>
            </a:r>
            <a:r>
              <a:rPr lang="en-US">
                <a:solidFill>
                  <a:srgbClr val="000099"/>
                </a:solidFill>
              </a:rPr>
              <a:t> extended to third parties.</a:t>
            </a:r>
          </a:p>
          <a:p>
            <a:pPr>
              <a:buClr>
                <a:srgbClr val="000099"/>
              </a:buClr>
            </a:pPr>
            <a:endParaRPr lang="en-US">
              <a:solidFill>
                <a:srgbClr val="000099"/>
              </a:solidFill>
            </a:endParaRPr>
          </a:p>
          <a:p>
            <a:pPr>
              <a:buClr>
                <a:srgbClr val="000099"/>
              </a:buClr>
            </a:pPr>
            <a:r>
              <a:rPr lang="en-US">
                <a:solidFill>
                  <a:srgbClr val="000099"/>
                </a:solidFill>
              </a:rPr>
              <a:t>Although PTAs are allowed by the WTO, the WTO has some guidelines governing the formation of PTAs.</a:t>
            </a:r>
          </a:p>
        </p:txBody>
      </p:sp>
      <p:sp>
        <p:nvSpPr>
          <p:cNvPr id="148482" name="Rectangle 2"/>
          <p:cNvSpPr>
            <a:spLocks noGrp="1" noChangeArrowheads="1"/>
          </p:cNvSpPr>
          <p:nvPr>
            <p:ph type="title"/>
          </p:nvPr>
        </p:nvSpPr>
        <p:spPr>
          <a:xfrm>
            <a:off x="406400" y="381000"/>
            <a:ext cx="7772400" cy="1143000"/>
          </a:xfrm>
        </p:spPr>
        <p:txBody>
          <a:bodyPr>
            <a:normAutofit fontScale="90000"/>
          </a:bodyPr>
          <a:lstStyle/>
          <a:p>
            <a:pPr>
              <a:buClr>
                <a:srgbClr val="000099"/>
              </a:buClr>
            </a:pPr>
            <a:r>
              <a:rPr lang="en-US" sz="4200">
                <a:solidFill>
                  <a:srgbClr val="000099"/>
                </a:solidFill>
              </a:rPr>
              <a:t>Preferential trade agreements</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48483">
                                            <p:txEl>
                                              <p:pRg st="0" end="0"/>
                                            </p:txEl>
                                          </p:spTgt>
                                        </p:tgtEl>
                                        <p:attrNameLst>
                                          <p:attrName>style.visibility</p:attrName>
                                        </p:attrNameLst>
                                      </p:cBhvr>
                                      <p:to>
                                        <p:strVal val="visible"/>
                                      </p:to>
                                    </p:set>
                                    <p:animEffect transition="in" filter="dissolve">
                                      <p:cBhvr>
                                        <p:cTn id="7" dur="500"/>
                                        <p:tgtEl>
                                          <p:spTgt spid="14848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48483">
                                            <p:txEl>
                                              <p:pRg st="2" end="2"/>
                                            </p:txEl>
                                          </p:spTgt>
                                        </p:tgtEl>
                                        <p:attrNameLst>
                                          <p:attrName>style.visibility</p:attrName>
                                        </p:attrNameLst>
                                      </p:cBhvr>
                                      <p:to>
                                        <p:strVal val="visible"/>
                                      </p:to>
                                    </p:set>
                                    <p:animEffect transition="in" filter="dissolve">
                                      <p:cBhvr>
                                        <p:cTn id="12" dur="500"/>
                                        <p:tgtEl>
                                          <p:spTgt spid="14848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48483">
                                            <p:txEl>
                                              <p:pRg st="4" end="4"/>
                                            </p:txEl>
                                          </p:spTgt>
                                        </p:tgtEl>
                                        <p:attrNameLst>
                                          <p:attrName>style.visibility</p:attrName>
                                        </p:attrNameLst>
                                      </p:cBhvr>
                                      <p:to>
                                        <p:strVal val="visible"/>
                                      </p:to>
                                    </p:set>
                                    <p:animEffect transition="in" filter="dissolve">
                                      <p:cBhvr>
                                        <p:cTn id="17" dur="500"/>
                                        <p:tgtEl>
                                          <p:spTgt spid="14848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8483" grpId="0" build="p" bldLvl="2" autoUpdateAnimBg="0"/>
    </p:bldLst>
  </p:timing>
</p:sld>
</file>

<file path=ppt/slides/slide5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9507" name="Rectangle 3"/>
          <p:cNvSpPr>
            <a:spLocks noGrp="1" noChangeArrowheads="1"/>
          </p:cNvSpPr>
          <p:nvPr>
            <p:ph idx="1"/>
          </p:nvPr>
        </p:nvSpPr>
        <p:spPr>
          <a:xfrm>
            <a:off x="381000" y="1600200"/>
            <a:ext cx="8382000" cy="4495800"/>
          </a:xfrm>
        </p:spPr>
        <p:txBody>
          <a:bodyPr>
            <a:normAutofit fontScale="92500"/>
          </a:bodyPr>
          <a:lstStyle/>
          <a:p>
            <a:pPr>
              <a:buClr>
                <a:srgbClr val="000099"/>
              </a:buClr>
            </a:pPr>
            <a:r>
              <a:rPr lang="en-US" sz="2800">
                <a:solidFill>
                  <a:srgbClr val="000099"/>
                </a:solidFill>
              </a:rPr>
              <a:t>Bloc members cannot increase </a:t>
            </a:r>
            <a:r>
              <a:rPr lang="en-US" sz="2800" i="1">
                <a:solidFill>
                  <a:srgbClr val="000099"/>
                </a:solidFill>
              </a:rPr>
              <a:t>external trade barriers</a:t>
            </a:r>
            <a:r>
              <a:rPr lang="en-US" sz="2800">
                <a:solidFill>
                  <a:srgbClr val="000099"/>
                </a:solidFill>
              </a:rPr>
              <a:t> against imports from third countries.</a:t>
            </a:r>
          </a:p>
          <a:p>
            <a:pPr algn="ctr">
              <a:buClr>
                <a:srgbClr val="000099"/>
              </a:buClr>
              <a:buFontTx/>
              <a:buNone/>
            </a:pPr>
            <a:r>
              <a:rPr lang="en-US" sz="2600" i="1">
                <a:solidFill>
                  <a:srgbClr val="000099"/>
                </a:solidFill>
              </a:rPr>
              <a:t>* Provision aimed at securing interests of</a:t>
            </a:r>
          </a:p>
          <a:p>
            <a:pPr algn="ctr">
              <a:buClr>
                <a:srgbClr val="000099"/>
              </a:buClr>
              <a:buFontTx/>
              <a:buNone/>
            </a:pPr>
            <a:r>
              <a:rPr lang="en-US" sz="2600" i="1">
                <a:solidFill>
                  <a:srgbClr val="000099"/>
                </a:solidFill>
              </a:rPr>
              <a:t>WTO members not participating in the PTA.*</a:t>
            </a:r>
          </a:p>
          <a:p>
            <a:pPr algn="ctr">
              <a:buClr>
                <a:srgbClr val="000099"/>
              </a:buClr>
              <a:buFontTx/>
              <a:buNone/>
            </a:pPr>
            <a:endParaRPr lang="en-US" sz="1200" i="1">
              <a:solidFill>
                <a:srgbClr val="000099"/>
              </a:solidFill>
            </a:endParaRPr>
          </a:p>
          <a:p>
            <a:pPr>
              <a:buClr>
                <a:srgbClr val="000099"/>
              </a:buClr>
            </a:pPr>
            <a:r>
              <a:rPr lang="en-US" sz="2800">
                <a:solidFill>
                  <a:srgbClr val="000099"/>
                </a:solidFill>
              </a:rPr>
              <a:t>Bloc should eliminate—or “reduce substantially”—its </a:t>
            </a:r>
            <a:r>
              <a:rPr lang="en-US" sz="2800" i="1">
                <a:solidFill>
                  <a:srgbClr val="000099"/>
                </a:solidFill>
              </a:rPr>
              <a:t>internal trade barriers</a:t>
            </a:r>
            <a:r>
              <a:rPr lang="en-US" sz="2800">
                <a:solidFill>
                  <a:srgbClr val="000099"/>
                </a:solidFill>
              </a:rPr>
              <a:t> in a “reasonable” period of time.</a:t>
            </a:r>
            <a:endParaRPr lang="en-US" sz="2800" i="1">
              <a:solidFill>
                <a:srgbClr val="000099"/>
              </a:solidFill>
            </a:endParaRPr>
          </a:p>
          <a:p>
            <a:pPr algn="ctr">
              <a:buClr>
                <a:srgbClr val="000099"/>
              </a:buClr>
              <a:buFontTx/>
              <a:buNone/>
            </a:pPr>
            <a:r>
              <a:rPr lang="en-US" sz="2100" i="1">
                <a:solidFill>
                  <a:srgbClr val="000099"/>
                </a:solidFill>
              </a:rPr>
              <a:t>	</a:t>
            </a:r>
            <a:r>
              <a:rPr lang="en-US" sz="2600" i="1">
                <a:solidFill>
                  <a:srgbClr val="000099"/>
                </a:solidFill>
              </a:rPr>
              <a:t>* Provision aimed at avoiding partial PTAs—which</a:t>
            </a:r>
          </a:p>
          <a:p>
            <a:pPr algn="ctr">
              <a:buClr>
                <a:srgbClr val="000099"/>
              </a:buClr>
              <a:buFontTx/>
              <a:buNone/>
            </a:pPr>
            <a:r>
              <a:rPr lang="en-US" sz="2600" i="1">
                <a:solidFill>
                  <a:srgbClr val="000099"/>
                </a:solidFill>
              </a:rPr>
              <a:t>would lead to the practical elimination of the MFN rule.*</a:t>
            </a:r>
          </a:p>
        </p:txBody>
      </p:sp>
      <p:sp>
        <p:nvSpPr>
          <p:cNvPr id="149506" name="Rectangle 2"/>
          <p:cNvSpPr>
            <a:spLocks noGrp="1" noChangeArrowheads="1"/>
          </p:cNvSpPr>
          <p:nvPr>
            <p:ph type="title"/>
          </p:nvPr>
        </p:nvSpPr>
        <p:spPr>
          <a:xfrm>
            <a:off x="685800" y="457200"/>
            <a:ext cx="7772400" cy="914400"/>
          </a:xfrm>
        </p:spPr>
        <p:txBody>
          <a:bodyPr/>
          <a:lstStyle/>
          <a:p>
            <a:r>
              <a:rPr lang="en-US" sz="4000">
                <a:solidFill>
                  <a:srgbClr val="000099"/>
                </a:solidFill>
              </a:rPr>
              <a:t>WTO’s Guidelines for PTAs:</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49507">
                                            <p:txEl>
                                              <p:pRg st="0" end="0"/>
                                            </p:txEl>
                                          </p:spTgt>
                                        </p:tgtEl>
                                        <p:attrNameLst>
                                          <p:attrName>style.visibility</p:attrName>
                                        </p:attrNameLst>
                                      </p:cBhvr>
                                      <p:to>
                                        <p:strVal val="visible"/>
                                      </p:to>
                                    </p:set>
                                    <p:animEffect transition="in" filter="checkerboard(across)">
                                      <p:cBhvr>
                                        <p:cTn id="7" dur="500"/>
                                        <p:tgtEl>
                                          <p:spTgt spid="14950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149507">
                                            <p:txEl>
                                              <p:pRg st="1" end="1"/>
                                            </p:txEl>
                                          </p:spTgt>
                                        </p:tgtEl>
                                        <p:attrNameLst>
                                          <p:attrName>style.visibility</p:attrName>
                                        </p:attrNameLst>
                                      </p:cBhvr>
                                      <p:to>
                                        <p:strVal val="visible"/>
                                      </p:to>
                                    </p:set>
                                    <p:animEffect transition="in" filter="checkerboard(across)">
                                      <p:cBhvr>
                                        <p:cTn id="12" dur="500"/>
                                        <p:tgtEl>
                                          <p:spTgt spid="14950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149507">
                                            <p:txEl>
                                              <p:pRg st="2" end="2"/>
                                            </p:txEl>
                                          </p:spTgt>
                                        </p:tgtEl>
                                        <p:attrNameLst>
                                          <p:attrName>style.visibility</p:attrName>
                                        </p:attrNameLst>
                                      </p:cBhvr>
                                      <p:to>
                                        <p:strVal val="visible"/>
                                      </p:to>
                                    </p:set>
                                    <p:animEffect transition="in" filter="checkerboard(across)">
                                      <p:cBhvr>
                                        <p:cTn id="17" dur="500"/>
                                        <p:tgtEl>
                                          <p:spTgt spid="14950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149507">
                                            <p:txEl>
                                              <p:pRg st="4" end="4"/>
                                            </p:txEl>
                                          </p:spTgt>
                                        </p:tgtEl>
                                        <p:attrNameLst>
                                          <p:attrName>style.visibility</p:attrName>
                                        </p:attrNameLst>
                                      </p:cBhvr>
                                      <p:to>
                                        <p:strVal val="visible"/>
                                      </p:to>
                                    </p:set>
                                    <p:animEffect transition="in" filter="checkerboard(across)">
                                      <p:cBhvr>
                                        <p:cTn id="22" dur="500"/>
                                        <p:tgtEl>
                                          <p:spTgt spid="149507">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149507">
                                            <p:txEl>
                                              <p:pRg st="5" end="5"/>
                                            </p:txEl>
                                          </p:spTgt>
                                        </p:tgtEl>
                                        <p:attrNameLst>
                                          <p:attrName>style.visibility</p:attrName>
                                        </p:attrNameLst>
                                      </p:cBhvr>
                                      <p:to>
                                        <p:strVal val="visible"/>
                                      </p:to>
                                    </p:set>
                                    <p:animEffect transition="in" filter="checkerboard(across)">
                                      <p:cBhvr>
                                        <p:cTn id="27" dur="500"/>
                                        <p:tgtEl>
                                          <p:spTgt spid="149507">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149507">
                                            <p:txEl>
                                              <p:pRg st="6" end="6"/>
                                            </p:txEl>
                                          </p:spTgt>
                                        </p:tgtEl>
                                        <p:attrNameLst>
                                          <p:attrName>style.visibility</p:attrName>
                                        </p:attrNameLst>
                                      </p:cBhvr>
                                      <p:to>
                                        <p:strVal val="visible"/>
                                      </p:to>
                                    </p:set>
                                    <p:animEffect transition="in" filter="checkerboard(across)">
                                      <p:cBhvr>
                                        <p:cTn id="32" dur="500"/>
                                        <p:tgtEl>
                                          <p:spTgt spid="14950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9507" grpId="0" build="p" autoUpdateAnimBg="0"/>
    </p:bldLst>
  </p:timing>
</p:sld>
</file>

<file path=ppt/slides/slide5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0531" name="Rectangle 3"/>
          <p:cNvSpPr>
            <a:spLocks noGrp="1" noChangeArrowheads="1"/>
          </p:cNvSpPr>
          <p:nvPr>
            <p:ph idx="1"/>
          </p:nvPr>
        </p:nvSpPr>
        <p:spPr>
          <a:xfrm>
            <a:off x="533400" y="1752600"/>
            <a:ext cx="8229600" cy="4343400"/>
          </a:xfrm>
          <a:noFill/>
          <a:ln/>
        </p:spPr>
        <p:txBody>
          <a:bodyPr/>
          <a:lstStyle/>
          <a:p>
            <a:pPr>
              <a:buClr>
                <a:srgbClr val="000099"/>
              </a:buClr>
            </a:pPr>
            <a:r>
              <a:rPr lang="en-US" sz="3000">
                <a:solidFill>
                  <a:srgbClr val="000099"/>
                </a:solidFill>
                <a:cs typeface="Times New Roman" pitchFamily="18" charset="0"/>
              </a:rPr>
              <a:t>Over 200 regional trade arrangements are currently in force.</a:t>
            </a:r>
            <a:r>
              <a:rPr lang="en-US" sz="2100">
                <a:solidFill>
                  <a:srgbClr val="000099"/>
                </a:solidFill>
              </a:rPr>
              <a:t> </a:t>
            </a:r>
          </a:p>
          <a:p>
            <a:pPr algn="ctr">
              <a:buClr>
                <a:srgbClr val="000099"/>
              </a:buClr>
              <a:buFontTx/>
              <a:buNone/>
            </a:pPr>
            <a:endParaRPr lang="en-US" sz="2100">
              <a:solidFill>
                <a:srgbClr val="000099"/>
              </a:solidFill>
            </a:endParaRPr>
          </a:p>
          <a:p>
            <a:pPr>
              <a:buClr>
                <a:srgbClr val="000099"/>
              </a:buClr>
            </a:pPr>
            <a:r>
              <a:rPr lang="en-US" sz="3000">
                <a:solidFill>
                  <a:srgbClr val="000099"/>
                </a:solidFill>
                <a:cs typeface="Times New Roman" pitchFamily="18" charset="0"/>
              </a:rPr>
              <a:t>Nearly all WTO members participate in at least one regional free trade agreement.</a:t>
            </a:r>
            <a:r>
              <a:rPr lang="en-US" sz="2100">
                <a:solidFill>
                  <a:srgbClr val="000099"/>
                </a:solidFill>
              </a:rPr>
              <a:t> </a:t>
            </a:r>
          </a:p>
          <a:p>
            <a:pPr>
              <a:buClr>
                <a:srgbClr val="000099"/>
              </a:buClr>
            </a:pPr>
            <a:endParaRPr lang="en-US" sz="2100">
              <a:solidFill>
                <a:srgbClr val="000099"/>
              </a:solidFill>
            </a:endParaRPr>
          </a:p>
          <a:p>
            <a:pPr>
              <a:buClr>
                <a:srgbClr val="000099"/>
              </a:buClr>
            </a:pPr>
            <a:r>
              <a:rPr lang="en-US" sz="3000">
                <a:solidFill>
                  <a:srgbClr val="000099"/>
                </a:solidFill>
                <a:cs typeface="Times New Roman" pitchFamily="18" charset="0"/>
              </a:rPr>
              <a:t>Others to come – FTAA …</a:t>
            </a:r>
            <a:r>
              <a:rPr lang="en-US" sz="2100">
                <a:solidFill>
                  <a:srgbClr val="000099"/>
                </a:solidFill>
              </a:rPr>
              <a:t> </a:t>
            </a:r>
          </a:p>
        </p:txBody>
      </p:sp>
      <p:sp>
        <p:nvSpPr>
          <p:cNvPr id="150530" name="Rectangle 2"/>
          <p:cNvSpPr>
            <a:spLocks noGrp="1" noChangeArrowheads="1"/>
          </p:cNvSpPr>
          <p:nvPr>
            <p:ph type="title"/>
          </p:nvPr>
        </p:nvSpPr>
        <p:spPr>
          <a:xfrm>
            <a:off x="381000" y="533400"/>
            <a:ext cx="7772400" cy="762000"/>
          </a:xfrm>
        </p:spPr>
        <p:txBody>
          <a:bodyPr/>
          <a:lstStyle/>
          <a:p>
            <a:pPr>
              <a:buClr>
                <a:srgbClr val="000099"/>
              </a:buClr>
            </a:pPr>
            <a:r>
              <a:rPr lang="en-US" sz="4000">
                <a:solidFill>
                  <a:srgbClr val="000099"/>
                </a:solidFill>
              </a:rPr>
              <a:t>PTAs: The Facts</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50531">
                                            <p:txEl>
                                              <p:pRg st="0" end="0"/>
                                            </p:txEl>
                                          </p:spTgt>
                                        </p:tgtEl>
                                        <p:attrNameLst>
                                          <p:attrName>style.visibility</p:attrName>
                                        </p:attrNameLst>
                                      </p:cBhvr>
                                      <p:to>
                                        <p:strVal val="visible"/>
                                      </p:to>
                                    </p:set>
                                    <p:animEffect transition="in" filter="checkerboard(across)">
                                      <p:cBhvr>
                                        <p:cTn id="7" dur="500"/>
                                        <p:tgtEl>
                                          <p:spTgt spid="15053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150531">
                                            <p:txEl>
                                              <p:pRg st="2" end="2"/>
                                            </p:txEl>
                                          </p:spTgt>
                                        </p:tgtEl>
                                        <p:attrNameLst>
                                          <p:attrName>style.visibility</p:attrName>
                                        </p:attrNameLst>
                                      </p:cBhvr>
                                      <p:to>
                                        <p:strVal val="visible"/>
                                      </p:to>
                                    </p:set>
                                    <p:animEffect transition="in" filter="checkerboard(across)">
                                      <p:cBhvr>
                                        <p:cTn id="12" dur="500"/>
                                        <p:tgtEl>
                                          <p:spTgt spid="150531">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150531">
                                            <p:txEl>
                                              <p:pRg st="4" end="4"/>
                                            </p:txEl>
                                          </p:spTgt>
                                        </p:tgtEl>
                                        <p:attrNameLst>
                                          <p:attrName>style.visibility</p:attrName>
                                        </p:attrNameLst>
                                      </p:cBhvr>
                                      <p:to>
                                        <p:strVal val="visible"/>
                                      </p:to>
                                    </p:set>
                                    <p:animEffect transition="in" filter="checkerboard(across)">
                                      <p:cBhvr>
                                        <p:cTn id="17" dur="500"/>
                                        <p:tgtEl>
                                          <p:spTgt spid="15053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0531" grpId="0" build="p" autoUpdateAnimBg="0"/>
    </p:bldLst>
  </p:timing>
</p:sld>
</file>

<file path=ppt/slides/slide5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4627" name="Rectangle 3"/>
          <p:cNvSpPr>
            <a:spLocks noGrp="1" noChangeArrowheads="1"/>
          </p:cNvSpPr>
          <p:nvPr>
            <p:ph idx="1"/>
          </p:nvPr>
        </p:nvSpPr>
        <p:spPr>
          <a:xfrm>
            <a:off x="533400" y="1981200"/>
            <a:ext cx="8077200" cy="4114800"/>
          </a:xfrm>
          <a:noFill/>
          <a:ln/>
        </p:spPr>
        <p:txBody>
          <a:bodyPr/>
          <a:lstStyle/>
          <a:p>
            <a:pPr algn="ctr">
              <a:buClr>
                <a:srgbClr val="000099"/>
              </a:buClr>
              <a:buFontTx/>
              <a:buNone/>
            </a:pPr>
            <a:endParaRPr lang="en-US" sz="500">
              <a:solidFill>
                <a:srgbClr val="000099"/>
              </a:solidFill>
            </a:endParaRPr>
          </a:p>
          <a:p>
            <a:pPr>
              <a:buClr>
                <a:srgbClr val="000099"/>
              </a:buClr>
            </a:pPr>
            <a:r>
              <a:rPr lang="en-US" sz="3000">
                <a:solidFill>
                  <a:srgbClr val="000099"/>
                </a:solidFill>
              </a:rPr>
              <a:t>Created in 1960.</a:t>
            </a:r>
          </a:p>
          <a:p>
            <a:pPr>
              <a:buClr>
                <a:srgbClr val="000099"/>
              </a:buClr>
            </a:pPr>
            <a:r>
              <a:rPr lang="en-US" sz="3000">
                <a:solidFill>
                  <a:srgbClr val="000099"/>
                </a:solidFill>
              </a:rPr>
              <a:t>Lost most of its members—and its importance—to the EU.</a:t>
            </a:r>
          </a:p>
          <a:p>
            <a:pPr>
              <a:buClr>
                <a:srgbClr val="000099"/>
              </a:buClr>
            </a:pPr>
            <a:r>
              <a:rPr lang="en-US" sz="3000">
                <a:solidFill>
                  <a:srgbClr val="000099"/>
                </a:solidFill>
              </a:rPr>
              <a:t>Current membership: Iceland, Liechtenstein, Norway, Switzerland.</a:t>
            </a:r>
          </a:p>
          <a:p>
            <a:pPr>
              <a:buClr>
                <a:srgbClr val="000099"/>
              </a:buClr>
            </a:pPr>
            <a:r>
              <a:rPr lang="en-US" sz="3000">
                <a:solidFill>
                  <a:srgbClr val="000099"/>
                </a:solidFill>
              </a:rPr>
              <a:t>Also have free trade agreements with several countries/blocs (including the EU).</a:t>
            </a:r>
          </a:p>
        </p:txBody>
      </p:sp>
      <p:sp>
        <p:nvSpPr>
          <p:cNvPr id="154626" name="Rectangle 2"/>
          <p:cNvSpPr>
            <a:spLocks noGrp="1" noChangeArrowheads="1"/>
          </p:cNvSpPr>
          <p:nvPr>
            <p:ph type="title"/>
          </p:nvPr>
        </p:nvSpPr>
        <p:spPr>
          <a:xfrm>
            <a:off x="228600" y="533400"/>
            <a:ext cx="8534400" cy="1219200"/>
          </a:xfrm>
        </p:spPr>
        <p:txBody>
          <a:bodyPr>
            <a:normAutofit fontScale="90000"/>
          </a:bodyPr>
          <a:lstStyle/>
          <a:p>
            <a:pPr>
              <a:buClr>
                <a:srgbClr val="000099"/>
              </a:buClr>
            </a:pPr>
            <a:r>
              <a:rPr lang="en-US" sz="3400">
                <a:solidFill>
                  <a:srgbClr val="000099"/>
                </a:solidFill>
              </a:rPr>
              <a:t>PTAs in Europe:</a:t>
            </a:r>
            <a:br>
              <a:rPr lang="en-US" sz="3400">
                <a:solidFill>
                  <a:srgbClr val="000099"/>
                </a:solidFill>
              </a:rPr>
            </a:br>
            <a:r>
              <a:rPr lang="en-US" sz="3400" i="1">
                <a:solidFill>
                  <a:srgbClr val="000099"/>
                </a:solidFill>
              </a:rPr>
              <a:t>The European Free Trade Association</a:t>
            </a:r>
            <a:r>
              <a:rPr lang="en-US" sz="3400">
                <a:solidFill>
                  <a:srgbClr val="000099"/>
                </a:solidFill>
              </a:rPr>
              <a:t> (EFTA)</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54627">
                                            <p:txEl>
                                              <p:pRg st="1" end="1"/>
                                            </p:txEl>
                                          </p:spTgt>
                                        </p:tgtEl>
                                        <p:attrNameLst>
                                          <p:attrName>style.visibility</p:attrName>
                                        </p:attrNameLst>
                                      </p:cBhvr>
                                      <p:to>
                                        <p:strVal val="visible"/>
                                      </p:to>
                                    </p:set>
                                    <p:animEffect transition="in" filter="checkerboard(across)">
                                      <p:cBhvr>
                                        <p:cTn id="7" dur="500"/>
                                        <p:tgtEl>
                                          <p:spTgt spid="15462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154627">
                                            <p:txEl>
                                              <p:pRg st="2" end="2"/>
                                            </p:txEl>
                                          </p:spTgt>
                                        </p:tgtEl>
                                        <p:attrNameLst>
                                          <p:attrName>style.visibility</p:attrName>
                                        </p:attrNameLst>
                                      </p:cBhvr>
                                      <p:to>
                                        <p:strVal val="visible"/>
                                      </p:to>
                                    </p:set>
                                    <p:animEffect transition="in" filter="checkerboard(across)">
                                      <p:cBhvr>
                                        <p:cTn id="12" dur="500"/>
                                        <p:tgtEl>
                                          <p:spTgt spid="154627">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154627">
                                            <p:txEl>
                                              <p:pRg st="3" end="3"/>
                                            </p:txEl>
                                          </p:spTgt>
                                        </p:tgtEl>
                                        <p:attrNameLst>
                                          <p:attrName>style.visibility</p:attrName>
                                        </p:attrNameLst>
                                      </p:cBhvr>
                                      <p:to>
                                        <p:strVal val="visible"/>
                                      </p:to>
                                    </p:set>
                                    <p:animEffect transition="in" filter="checkerboard(across)">
                                      <p:cBhvr>
                                        <p:cTn id="17" dur="500"/>
                                        <p:tgtEl>
                                          <p:spTgt spid="154627">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154627">
                                            <p:txEl>
                                              <p:pRg st="4" end="4"/>
                                            </p:txEl>
                                          </p:spTgt>
                                        </p:tgtEl>
                                        <p:attrNameLst>
                                          <p:attrName>style.visibility</p:attrName>
                                        </p:attrNameLst>
                                      </p:cBhvr>
                                      <p:to>
                                        <p:strVal val="visible"/>
                                      </p:to>
                                    </p:set>
                                    <p:animEffect transition="in" filter="checkerboard(across)">
                                      <p:cBhvr>
                                        <p:cTn id="22" dur="500"/>
                                        <p:tgtEl>
                                          <p:spTgt spid="15462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4627" grpId="0" build="p" autoUpdateAnimBg="0"/>
    </p:bldLst>
  </p:timing>
</p:sld>
</file>

<file path=ppt/slides/slide5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5651" name="Rectangle 3"/>
          <p:cNvSpPr>
            <a:spLocks noGrp="1" noChangeArrowheads="1"/>
          </p:cNvSpPr>
          <p:nvPr>
            <p:ph idx="1"/>
          </p:nvPr>
        </p:nvSpPr>
        <p:spPr>
          <a:xfrm>
            <a:off x="457200" y="1295400"/>
            <a:ext cx="8458200" cy="5029200"/>
          </a:xfrm>
          <a:noFill/>
          <a:ln/>
        </p:spPr>
        <p:txBody>
          <a:bodyPr/>
          <a:lstStyle/>
          <a:p>
            <a:pPr algn="ctr">
              <a:buClr>
                <a:srgbClr val="000099"/>
              </a:buClr>
              <a:buFontTx/>
              <a:buNone/>
            </a:pPr>
            <a:endParaRPr lang="en-US" sz="400">
              <a:solidFill>
                <a:srgbClr val="000099"/>
              </a:solidFill>
            </a:endParaRPr>
          </a:p>
          <a:p>
            <a:pPr>
              <a:buClr>
                <a:srgbClr val="000099"/>
              </a:buClr>
            </a:pPr>
            <a:r>
              <a:rPr lang="en-US" sz="3000">
                <a:solidFill>
                  <a:srgbClr val="000099"/>
                </a:solidFill>
              </a:rPr>
              <a:t>NAFTA (1994)</a:t>
            </a:r>
          </a:p>
          <a:p>
            <a:pPr lvl="1">
              <a:buClr>
                <a:srgbClr val="000099"/>
              </a:buClr>
            </a:pPr>
            <a:r>
              <a:rPr lang="en-US" sz="2600">
                <a:solidFill>
                  <a:srgbClr val="000099"/>
                </a:solidFill>
              </a:rPr>
              <a:t>An FTA among Canada, Mexico and US.</a:t>
            </a:r>
          </a:p>
          <a:p>
            <a:pPr>
              <a:buClr>
                <a:srgbClr val="000099"/>
              </a:buClr>
            </a:pPr>
            <a:r>
              <a:rPr lang="en-US" sz="3000">
                <a:solidFill>
                  <a:srgbClr val="000099"/>
                </a:solidFill>
              </a:rPr>
              <a:t>Mercosur (1991)</a:t>
            </a:r>
          </a:p>
          <a:p>
            <a:pPr lvl="1">
              <a:buClr>
                <a:srgbClr val="000099"/>
              </a:buClr>
            </a:pPr>
            <a:r>
              <a:rPr lang="en-US" sz="2600">
                <a:solidFill>
                  <a:srgbClr val="000099"/>
                </a:solidFill>
              </a:rPr>
              <a:t>A CU among Argentina, Brazil, Paraguay and Uruguay.</a:t>
            </a:r>
          </a:p>
          <a:p>
            <a:pPr>
              <a:buClr>
                <a:srgbClr val="000099"/>
              </a:buClr>
            </a:pPr>
            <a:r>
              <a:rPr lang="en-US" sz="3000">
                <a:solidFill>
                  <a:srgbClr val="000099"/>
                </a:solidFill>
              </a:rPr>
              <a:t>Andean Community (effective since 1992)</a:t>
            </a:r>
          </a:p>
          <a:p>
            <a:pPr lvl="1">
              <a:buClr>
                <a:srgbClr val="000099"/>
              </a:buClr>
            </a:pPr>
            <a:r>
              <a:rPr lang="en-US" sz="2600">
                <a:solidFill>
                  <a:srgbClr val="000099"/>
                </a:solidFill>
              </a:rPr>
              <a:t>A CU among Bolivia, Colombia, Ecuador, Peru and Venezuela.</a:t>
            </a:r>
          </a:p>
          <a:p>
            <a:pPr>
              <a:buClr>
                <a:srgbClr val="000099"/>
              </a:buClr>
            </a:pPr>
            <a:r>
              <a:rPr lang="en-US" sz="3000">
                <a:solidFill>
                  <a:srgbClr val="000099"/>
                </a:solidFill>
              </a:rPr>
              <a:t>Other smaller groups (CACM, CARICOM).</a:t>
            </a:r>
          </a:p>
          <a:p>
            <a:pPr>
              <a:buClr>
                <a:srgbClr val="000099"/>
              </a:buClr>
            </a:pPr>
            <a:endParaRPr lang="en-US" sz="600">
              <a:solidFill>
                <a:srgbClr val="000099"/>
              </a:solidFill>
            </a:endParaRPr>
          </a:p>
          <a:p>
            <a:pPr>
              <a:buClr>
                <a:srgbClr val="000099"/>
              </a:buClr>
            </a:pPr>
            <a:r>
              <a:rPr lang="en-US" sz="3000">
                <a:solidFill>
                  <a:srgbClr val="000099"/>
                </a:solidFill>
              </a:rPr>
              <a:t>Future: FTAA?</a:t>
            </a:r>
          </a:p>
        </p:txBody>
      </p:sp>
      <p:sp>
        <p:nvSpPr>
          <p:cNvPr id="155650" name="Rectangle 2"/>
          <p:cNvSpPr>
            <a:spLocks noGrp="1" noChangeArrowheads="1"/>
          </p:cNvSpPr>
          <p:nvPr>
            <p:ph type="title"/>
          </p:nvPr>
        </p:nvSpPr>
        <p:spPr>
          <a:xfrm>
            <a:off x="381000" y="457200"/>
            <a:ext cx="8229600" cy="762000"/>
          </a:xfrm>
        </p:spPr>
        <p:txBody>
          <a:bodyPr/>
          <a:lstStyle/>
          <a:p>
            <a:pPr>
              <a:buClr>
                <a:srgbClr val="000099"/>
              </a:buClr>
            </a:pPr>
            <a:r>
              <a:rPr lang="en-US">
                <a:solidFill>
                  <a:srgbClr val="000099"/>
                </a:solidFill>
              </a:rPr>
              <a:t>PTAs in the Americas</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55651">
                                            <p:txEl>
                                              <p:pRg st="1" end="1"/>
                                            </p:txEl>
                                          </p:spTgt>
                                        </p:tgtEl>
                                        <p:attrNameLst>
                                          <p:attrName>style.visibility</p:attrName>
                                        </p:attrNameLst>
                                      </p:cBhvr>
                                      <p:to>
                                        <p:strVal val="visible"/>
                                      </p:to>
                                    </p:set>
                                    <p:animEffect transition="in" filter="checkerboard(across)">
                                      <p:cBhvr>
                                        <p:cTn id="7" dur="500"/>
                                        <p:tgtEl>
                                          <p:spTgt spid="155651">
                                            <p:txEl>
                                              <p:pRg st="1" end="1"/>
                                            </p:txEl>
                                          </p:spTgt>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155651">
                                            <p:txEl>
                                              <p:pRg st="2" end="2"/>
                                            </p:txEl>
                                          </p:spTgt>
                                        </p:tgtEl>
                                        <p:attrNameLst>
                                          <p:attrName>style.visibility</p:attrName>
                                        </p:attrNameLst>
                                      </p:cBhvr>
                                      <p:to>
                                        <p:strVal val="visible"/>
                                      </p:to>
                                    </p:set>
                                    <p:animEffect transition="in" filter="checkerboard(across)">
                                      <p:cBhvr>
                                        <p:cTn id="10" dur="500"/>
                                        <p:tgtEl>
                                          <p:spTgt spid="155651">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5" presetClass="entr" presetSubtype="10" fill="hold" grpId="0" nodeType="clickEffect">
                                  <p:stCondLst>
                                    <p:cond delay="0"/>
                                  </p:stCondLst>
                                  <p:childTnLst>
                                    <p:set>
                                      <p:cBhvr>
                                        <p:cTn id="14" dur="1" fill="hold">
                                          <p:stCondLst>
                                            <p:cond delay="0"/>
                                          </p:stCondLst>
                                        </p:cTn>
                                        <p:tgtEl>
                                          <p:spTgt spid="155651">
                                            <p:txEl>
                                              <p:pRg st="3" end="3"/>
                                            </p:txEl>
                                          </p:spTgt>
                                        </p:tgtEl>
                                        <p:attrNameLst>
                                          <p:attrName>style.visibility</p:attrName>
                                        </p:attrNameLst>
                                      </p:cBhvr>
                                      <p:to>
                                        <p:strVal val="visible"/>
                                      </p:to>
                                    </p:set>
                                    <p:animEffect transition="in" filter="checkerboard(across)">
                                      <p:cBhvr>
                                        <p:cTn id="15" dur="500"/>
                                        <p:tgtEl>
                                          <p:spTgt spid="155651">
                                            <p:txEl>
                                              <p:pRg st="3" end="3"/>
                                            </p:txEl>
                                          </p:spTgt>
                                        </p:tgtEl>
                                      </p:cBhvr>
                                    </p:animEffect>
                                  </p:childTnLst>
                                </p:cTn>
                              </p:par>
                              <p:par>
                                <p:cTn id="16" presetID="5" presetClass="entr" presetSubtype="10" fill="hold" grpId="0" nodeType="withEffect">
                                  <p:stCondLst>
                                    <p:cond delay="0"/>
                                  </p:stCondLst>
                                  <p:childTnLst>
                                    <p:set>
                                      <p:cBhvr>
                                        <p:cTn id="17" dur="1" fill="hold">
                                          <p:stCondLst>
                                            <p:cond delay="0"/>
                                          </p:stCondLst>
                                        </p:cTn>
                                        <p:tgtEl>
                                          <p:spTgt spid="155651">
                                            <p:txEl>
                                              <p:pRg st="4" end="4"/>
                                            </p:txEl>
                                          </p:spTgt>
                                        </p:tgtEl>
                                        <p:attrNameLst>
                                          <p:attrName>style.visibility</p:attrName>
                                        </p:attrNameLst>
                                      </p:cBhvr>
                                      <p:to>
                                        <p:strVal val="visible"/>
                                      </p:to>
                                    </p:set>
                                    <p:animEffect transition="in" filter="checkerboard(across)">
                                      <p:cBhvr>
                                        <p:cTn id="18" dur="500"/>
                                        <p:tgtEl>
                                          <p:spTgt spid="155651">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5" presetClass="entr" presetSubtype="10" fill="hold" grpId="0" nodeType="clickEffect">
                                  <p:stCondLst>
                                    <p:cond delay="0"/>
                                  </p:stCondLst>
                                  <p:childTnLst>
                                    <p:set>
                                      <p:cBhvr>
                                        <p:cTn id="22" dur="1" fill="hold">
                                          <p:stCondLst>
                                            <p:cond delay="0"/>
                                          </p:stCondLst>
                                        </p:cTn>
                                        <p:tgtEl>
                                          <p:spTgt spid="155651">
                                            <p:txEl>
                                              <p:pRg st="5" end="5"/>
                                            </p:txEl>
                                          </p:spTgt>
                                        </p:tgtEl>
                                        <p:attrNameLst>
                                          <p:attrName>style.visibility</p:attrName>
                                        </p:attrNameLst>
                                      </p:cBhvr>
                                      <p:to>
                                        <p:strVal val="visible"/>
                                      </p:to>
                                    </p:set>
                                    <p:animEffect transition="in" filter="checkerboard(across)">
                                      <p:cBhvr>
                                        <p:cTn id="23" dur="500"/>
                                        <p:tgtEl>
                                          <p:spTgt spid="155651">
                                            <p:txEl>
                                              <p:pRg st="5" end="5"/>
                                            </p:txEl>
                                          </p:spTgt>
                                        </p:tgtEl>
                                      </p:cBhvr>
                                    </p:animEffect>
                                  </p:childTnLst>
                                </p:cTn>
                              </p:par>
                              <p:par>
                                <p:cTn id="24" presetID="5" presetClass="entr" presetSubtype="10" fill="hold" grpId="0" nodeType="withEffect">
                                  <p:stCondLst>
                                    <p:cond delay="0"/>
                                  </p:stCondLst>
                                  <p:childTnLst>
                                    <p:set>
                                      <p:cBhvr>
                                        <p:cTn id="25" dur="1" fill="hold">
                                          <p:stCondLst>
                                            <p:cond delay="0"/>
                                          </p:stCondLst>
                                        </p:cTn>
                                        <p:tgtEl>
                                          <p:spTgt spid="155651">
                                            <p:txEl>
                                              <p:pRg st="6" end="6"/>
                                            </p:txEl>
                                          </p:spTgt>
                                        </p:tgtEl>
                                        <p:attrNameLst>
                                          <p:attrName>style.visibility</p:attrName>
                                        </p:attrNameLst>
                                      </p:cBhvr>
                                      <p:to>
                                        <p:strVal val="visible"/>
                                      </p:to>
                                    </p:set>
                                    <p:animEffect transition="in" filter="checkerboard(across)">
                                      <p:cBhvr>
                                        <p:cTn id="26" dur="500"/>
                                        <p:tgtEl>
                                          <p:spTgt spid="155651">
                                            <p:txEl>
                                              <p:pRg st="6" end="6"/>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5" presetClass="entr" presetSubtype="10" fill="hold" grpId="0" nodeType="clickEffect">
                                  <p:stCondLst>
                                    <p:cond delay="0"/>
                                  </p:stCondLst>
                                  <p:childTnLst>
                                    <p:set>
                                      <p:cBhvr>
                                        <p:cTn id="30" dur="1" fill="hold">
                                          <p:stCondLst>
                                            <p:cond delay="0"/>
                                          </p:stCondLst>
                                        </p:cTn>
                                        <p:tgtEl>
                                          <p:spTgt spid="155651">
                                            <p:txEl>
                                              <p:pRg st="7" end="7"/>
                                            </p:txEl>
                                          </p:spTgt>
                                        </p:tgtEl>
                                        <p:attrNameLst>
                                          <p:attrName>style.visibility</p:attrName>
                                        </p:attrNameLst>
                                      </p:cBhvr>
                                      <p:to>
                                        <p:strVal val="visible"/>
                                      </p:to>
                                    </p:set>
                                    <p:animEffect transition="in" filter="checkerboard(across)">
                                      <p:cBhvr>
                                        <p:cTn id="31" dur="500"/>
                                        <p:tgtEl>
                                          <p:spTgt spid="155651">
                                            <p:txEl>
                                              <p:pRg st="7" end="7"/>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5" presetClass="entr" presetSubtype="10" fill="hold" grpId="0" nodeType="clickEffect">
                                  <p:stCondLst>
                                    <p:cond delay="0"/>
                                  </p:stCondLst>
                                  <p:childTnLst>
                                    <p:set>
                                      <p:cBhvr>
                                        <p:cTn id="35" dur="1" fill="hold">
                                          <p:stCondLst>
                                            <p:cond delay="0"/>
                                          </p:stCondLst>
                                        </p:cTn>
                                        <p:tgtEl>
                                          <p:spTgt spid="155651">
                                            <p:txEl>
                                              <p:pRg st="9" end="9"/>
                                            </p:txEl>
                                          </p:spTgt>
                                        </p:tgtEl>
                                        <p:attrNameLst>
                                          <p:attrName>style.visibility</p:attrName>
                                        </p:attrNameLst>
                                      </p:cBhvr>
                                      <p:to>
                                        <p:strVal val="visible"/>
                                      </p:to>
                                    </p:set>
                                    <p:animEffect transition="in" filter="checkerboard(across)">
                                      <p:cBhvr>
                                        <p:cTn id="36" dur="500"/>
                                        <p:tgtEl>
                                          <p:spTgt spid="155651">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5651" grpId="0" build="p" autoUpdateAnimBg="0"/>
    </p:bldLst>
  </p:timing>
</p:sld>
</file>

<file path=ppt/slides/slide5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6675" name="Rectangle 3"/>
          <p:cNvSpPr>
            <a:spLocks noGrp="1" noChangeArrowheads="1"/>
          </p:cNvSpPr>
          <p:nvPr>
            <p:ph idx="1"/>
          </p:nvPr>
        </p:nvSpPr>
        <p:spPr>
          <a:xfrm>
            <a:off x="609600" y="1524000"/>
            <a:ext cx="8077200" cy="4800600"/>
          </a:xfrm>
          <a:noFill/>
          <a:ln/>
        </p:spPr>
        <p:txBody>
          <a:bodyPr>
            <a:normAutofit lnSpcReduction="10000"/>
          </a:bodyPr>
          <a:lstStyle/>
          <a:p>
            <a:pPr algn="ctr">
              <a:buClr>
                <a:srgbClr val="000099"/>
              </a:buClr>
              <a:buFontTx/>
              <a:buNone/>
            </a:pPr>
            <a:endParaRPr lang="en-US" sz="500">
              <a:solidFill>
                <a:srgbClr val="000099"/>
              </a:solidFill>
            </a:endParaRPr>
          </a:p>
          <a:p>
            <a:pPr>
              <a:buClr>
                <a:srgbClr val="000099"/>
              </a:buClr>
            </a:pPr>
            <a:r>
              <a:rPr lang="en-US" sz="3000">
                <a:solidFill>
                  <a:srgbClr val="000099"/>
                </a:solidFill>
              </a:rPr>
              <a:t>ANZCERTA (1983)</a:t>
            </a:r>
          </a:p>
          <a:p>
            <a:pPr lvl="1">
              <a:buClr>
                <a:srgbClr val="000099"/>
              </a:buClr>
            </a:pPr>
            <a:r>
              <a:rPr lang="en-US" sz="2600">
                <a:solidFill>
                  <a:srgbClr val="000099"/>
                </a:solidFill>
              </a:rPr>
              <a:t>FTA between Australia and New Zealand.</a:t>
            </a:r>
          </a:p>
          <a:p>
            <a:pPr>
              <a:buClr>
                <a:srgbClr val="000099"/>
              </a:buClr>
            </a:pPr>
            <a:r>
              <a:rPr lang="en-US" sz="3000">
                <a:solidFill>
                  <a:srgbClr val="000099"/>
                </a:solidFill>
              </a:rPr>
              <a:t>Asia</a:t>
            </a:r>
          </a:p>
          <a:p>
            <a:pPr lvl="1">
              <a:buClr>
                <a:srgbClr val="000099"/>
              </a:buClr>
            </a:pPr>
            <a:r>
              <a:rPr lang="en-US" sz="2600">
                <a:solidFill>
                  <a:srgbClr val="000099"/>
                </a:solidFill>
              </a:rPr>
              <a:t>Several attempts but so far little intra-bloc free trade.</a:t>
            </a:r>
          </a:p>
          <a:p>
            <a:pPr>
              <a:buClr>
                <a:srgbClr val="000099"/>
              </a:buClr>
            </a:pPr>
            <a:r>
              <a:rPr lang="en-US" sz="3000">
                <a:solidFill>
                  <a:srgbClr val="000099"/>
                </a:solidFill>
              </a:rPr>
              <a:t>Africa</a:t>
            </a:r>
          </a:p>
          <a:p>
            <a:pPr lvl="1">
              <a:buClr>
                <a:srgbClr val="000099"/>
              </a:buClr>
            </a:pPr>
            <a:r>
              <a:rPr lang="en-US" sz="2600">
                <a:solidFill>
                  <a:srgbClr val="000099"/>
                </a:solidFill>
              </a:rPr>
              <a:t>More attempts and less results than in Asia.</a:t>
            </a:r>
          </a:p>
          <a:p>
            <a:pPr lvl="1">
              <a:buClr>
                <a:srgbClr val="000099"/>
              </a:buClr>
            </a:pPr>
            <a:endParaRPr lang="en-US" sz="400">
              <a:solidFill>
                <a:srgbClr val="000099"/>
              </a:solidFill>
            </a:endParaRPr>
          </a:p>
          <a:p>
            <a:pPr>
              <a:buClr>
                <a:srgbClr val="000099"/>
              </a:buClr>
            </a:pPr>
            <a:r>
              <a:rPr lang="en-US" sz="3000">
                <a:solidFill>
                  <a:srgbClr val="000099"/>
                </a:solidFill>
              </a:rPr>
              <a:t>A few intercontinental PTAs</a:t>
            </a:r>
          </a:p>
          <a:p>
            <a:pPr lvl="1">
              <a:buClr>
                <a:srgbClr val="000099"/>
              </a:buClr>
            </a:pPr>
            <a:r>
              <a:rPr lang="en-US" sz="2600">
                <a:solidFill>
                  <a:srgbClr val="000099"/>
                </a:solidFill>
              </a:rPr>
              <a:t>But the number of such arrangements are growing fast. </a:t>
            </a:r>
          </a:p>
        </p:txBody>
      </p:sp>
      <p:sp>
        <p:nvSpPr>
          <p:cNvPr id="156674" name="Rectangle 2"/>
          <p:cNvSpPr>
            <a:spLocks noGrp="1" noChangeArrowheads="1"/>
          </p:cNvSpPr>
          <p:nvPr>
            <p:ph type="title"/>
          </p:nvPr>
        </p:nvSpPr>
        <p:spPr>
          <a:xfrm>
            <a:off x="381000" y="457200"/>
            <a:ext cx="8229600" cy="762000"/>
          </a:xfrm>
        </p:spPr>
        <p:txBody>
          <a:bodyPr/>
          <a:lstStyle/>
          <a:p>
            <a:pPr>
              <a:buClr>
                <a:srgbClr val="000099"/>
              </a:buClr>
            </a:pPr>
            <a:r>
              <a:rPr lang="en-US">
                <a:solidFill>
                  <a:srgbClr val="000099"/>
                </a:solidFill>
              </a:rPr>
              <a:t>PTAs in the Rest of the World</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1" fill="hold" grpId="0" nodeType="clickEffect">
                                  <p:stCondLst>
                                    <p:cond delay="0"/>
                                  </p:stCondLst>
                                  <p:childTnLst>
                                    <p:set>
                                      <p:cBhvr>
                                        <p:cTn id="6" dur="1" fill="hold">
                                          <p:stCondLst>
                                            <p:cond delay="0"/>
                                          </p:stCondLst>
                                        </p:cTn>
                                        <p:tgtEl>
                                          <p:spTgt spid="156675">
                                            <p:txEl>
                                              <p:pRg st="1" end="1"/>
                                            </p:txEl>
                                          </p:spTgt>
                                        </p:tgtEl>
                                        <p:attrNameLst>
                                          <p:attrName>style.visibility</p:attrName>
                                        </p:attrNameLst>
                                      </p:cBhvr>
                                      <p:to>
                                        <p:strVal val="visible"/>
                                      </p:to>
                                    </p:set>
                                    <p:animEffect transition="in" filter="slide(fromTop)">
                                      <p:cBhvr>
                                        <p:cTn id="7" dur="500"/>
                                        <p:tgtEl>
                                          <p:spTgt spid="15667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1" fill="hold" grpId="0" nodeType="clickEffect">
                                  <p:stCondLst>
                                    <p:cond delay="0"/>
                                  </p:stCondLst>
                                  <p:childTnLst>
                                    <p:set>
                                      <p:cBhvr>
                                        <p:cTn id="11" dur="1" fill="hold">
                                          <p:stCondLst>
                                            <p:cond delay="0"/>
                                          </p:stCondLst>
                                        </p:cTn>
                                        <p:tgtEl>
                                          <p:spTgt spid="156675">
                                            <p:txEl>
                                              <p:pRg st="2" end="2"/>
                                            </p:txEl>
                                          </p:spTgt>
                                        </p:tgtEl>
                                        <p:attrNameLst>
                                          <p:attrName>style.visibility</p:attrName>
                                        </p:attrNameLst>
                                      </p:cBhvr>
                                      <p:to>
                                        <p:strVal val="visible"/>
                                      </p:to>
                                    </p:set>
                                    <p:animEffect transition="in" filter="slide(fromTop)">
                                      <p:cBhvr>
                                        <p:cTn id="12" dur="500"/>
                                        <p:tgtEl>
                                          <p:spTgt spid="15667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1" fill="hold" grpId="0" nodeType="clickEffect">
                                  <p:stCondLst>
                                    <p:cond delay="0"/>
                                  </p:stCondLst>
                                  <p:childTnLst>
                                    <p:set>
                                      <p:cBhvr>
                                        <p:cTn id="16" dur="1" fill="hold">
                                          <p:stCondLst>
                                            <p:cond delay="0"/>
                                          </p:stCondLst>
                                        </p:cTn>
                                        <p:tgtEl>
                                          <p:spTgt spid="156675">
                                            <p:txEl>
                                              <p:pRg st="3" end="3"/>
                                            </p:txEl>
                                          </p:spTgt>
                                        </p:tgtEl>
                                        <p:attrNameLst>
                                          <p:attrName>style.visibility</p:attrName>
                                        </p:attrNameLst>
                                      </p:cBhvr>
                                      <p:to>
                                        <p:strVal val="visible"/>
                                      </p:to>
                                    </p:set>
                                    <p:animEffect transition="in" filter="slide(fromTop)">
                                      <p:cBhvr>
                                        <p:cTn id="17" dur="500"/>
                                        <p:tgtEl>
                                          <p:spTgt spid="156675">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1" fill="hold" grpId="0" nodeType="clickEffect">
                                  <p:stCondLst>
                                    <p:cond delay="0"/>
                                  </p:stCondLst>
                                  <p:childTnLst>
                                    <p:set>
                                      <p:cBhvr>
                                        <p:cTn id="21" dur="1" fill="hold">
                                          <p:stCondLst>
                                            <p:cond delay="0"/>
                                          </p:stCondLst>
                                        </p:cTn>
                                        <p:tgtEl>
                                          <p:spTgt spid="156675">
                                            <p:txEl>
                                              <p:pRg st="4" end="4"/>
                                            </p:txEl>
                                          </p:spTgt>
                                        </p:tgtEl>
                                        <p:attrNameLst>
                                          <p:attrName>style.visibility</p:attrName>
                                        </p:attrNameLst>
                                      </p:cBhvr>
                                      <p:to>
                                        <p:strVal val="visible"/>
                                      </p:to>
                                    </p:set>
                                    <p:animEffect transition="in" filter="slide(fromTop)">
                                      <p:cBhvr>
                                        <p:cTn id="22" dur="500"/>
                                        <p:tgtEl>
                                          <p:spTgt spid="156675">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1" fill="hold" grpId="0" nodeType="clickEffect">
                                  <p:stCondLst>
                                    <p:cond delay="0"/>
                                  </p:stCondLst>
                                  <p:childTnLst>
                                    <p:set>
                                      <p:cBhvr>
                                        <p:cTn id="26" dur="1" fill="hold">
                                          <p:stCondLst>
                                            <p:cond delay="0"/>
                                          </p:stCondLst>
                                        </p:cTn>
                                        <p:tgtEl>
                                          <p:spTgt spid="156675">
                                            <p:txEl>
                                              <p:pRg st="5" end="5"/>
                                            </p:txEl>
                                          </p:spTgt>
                                        </p:tgtEl>
                                        <p:attrNameLst>
                                          <p:attrName>style.visibility</p:attrName>
                                        </p:attrNameLst>
                                      </p:cBhvr>
                                      <p:to>
                                        <p:strVal val="visible"/>
                                      </p:to>
                                    </p:set>
                                    <p:animEffect transition="in" filter="slide(fromTop)">
                                      <p:cBhvr>
                                        <p:cTn id="27" dur="500"/>
                                        <p:tgtEl>
                                          <p:spTgt spid="156675">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1" fill="hold" grpId="0" nodeType="clickEffect">
                                  <p:stCondLst>
                                    <p:cond delay="0"/>
                                  </p:stCondLst>
                                  <p:childTnLst>
                                    <p:set>
                                      <p:cBhvr>
                                        <p:cTn id="31" dur="1" fill="hold">
                                          <p:stCondLst>
                                            <p:cond delay="0"/>
                                          </p:stCondLst>
                                        </p:cTn>
                                        <p:tgtEl>
                                          <p:spTgt spid="156675">
                                            <p:txEl>
                                              <p:pRg st="6" end="6"/>
                                            </p:txEl>
                                          </p:spTgt>
                                        </p:tgtEl>
                                        <p:attrNameLst>
                                          <p:attrName>style.visibility</p:attrName>
                                        </p:attrNameLst>
                                      </p:cBhvr>
                                      <p:to>
                                        <p:strVal val="visible"/>
                                      </p:to>
                                    </p:set>
                                    <p:animEffect transition="in" filter="slide(fromTop)">
                                      <p:cBhvr>
                                        <p:cTn id="32" dur="500"/>
                                        <p:tgtEl>
                                          <p:spTgt spid="156675">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1" fill="hold" grpId="0" nodeType="clickEffect">
                                  <p:stCondLst>
                                    <p:cond delay="0"/>
                                  </p:stCondLst>
                                  <p:childTnLst>
                                    <p:set>
                                      <p:cBhvr>
                                        <p:cTn id="36" dur="1" fill="hold">
                                          <p:stCondLst>
                                            <p:cond delay="0"/>
                                          </p:stCondLst>
                                        </p:cTn>
                                        <p:tgtEl>
                                          <p:spTgt spid="156675">
                                            <p:txEl>
                                              <p:pRg st="8" end="8"/>
                                            </p:txEl>
                                          </p:spTgt>
                                        </p:tgtEl>
                                        <p:attrNameLst>
                                          <p:attrName>style.visibility</p:attrName>
                                        </p:attrNameLst>
                                      </p:cBhvr>
                                      <p:to>
                                        <p:strVal val="visible"/>
                                      </p:to>
                                    </p:set>
                                    <p:animEffect transition="in" filter="slide(fromTop)">
                                      <p:cBhvr>
                                        <p:cTn id="37" dur="500"/>
                                        <p:tgtEl>
                                          <p:spTgt spid="156675">
                                            <p:txEl>
                                              <p:pRg st="8" end="8"/>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2" presetClass="entr" presetSubtype="1" fill="hold" grpId="0" nodeType="clickEffect">
                                  <p:stCondLst>
                                    <p:cond delay="0"/>
                                  </p:stCondLst>
                                  <p:childTnLst>
                                    <p:set>
                                      <p:cBhvr>
                                        <p:cTn id="41" dur="1" fill="hold">
                                          <p:stCondLst>
                                            <p:cond delay="0"/>
                                          </p:stCondLst>
                                        </p:cTn>
                                        <p:tgtEl>
                                          <p:spTgt spid="156675">
                                            <p:txEl>
                                              <p:pRg st="9" end="9"/>
                                            </p:txEl>
                                          </p:spTgt>
                                        </p:tgtEl>
                                        <p:attrNameLst>
                                          <p:attrName>style.visibility</p:attrName>
                                        </p:attrNameLst>
                                      </p:cBhvr>
                                      <p:to>
                                        <p:strVal val="visible"/>
                                      </p:to>
                                    </p:set>
                                    <p:animEffect transition="in" filter="slide(fromTop)">
                                      <p:cBhvr>
                                        <p:cTn id="42" dur="500"/>
                                        <p:tgtEl>
                                          <p:spTgt spid="156675">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6675" grpId="0" build="p" bldLvl="2" autoUpdateAnimBg="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2"/>
          <p:cNvSpPr>
            <a:spLocks noGrp="1" noChangeArrowheads="1"/>
          </p:cNvSpPr>
          <p:nvPr>
            <p:ph type="title"/>
          </p:nvPr>
        </p:nvSpPr>
        <p:spPr>
          <a:xfrm>
            <a:off x="406400" y="457200"/>
            <a:ext cx="7772400" cy="1143000"/>
          </a:xfrm>
        </p:spPr>
        <p:txBody>
          <a:bodyPr/>
          <a:lstStyle/>
          <a:p>
            <a:r>
              <a:rPr lang="en-US" i="1">
                <a:solidFill>
                  <a:srgbClr val="000099"/>
                </a:solidFill>
              </a:rPr>
              <a:t>Is Regionalism good?</a:t>
            </a:r>
          </a:p>
        </p:txBody>
      </p:sp>
      <p:sp>
        <p:nvSpPr>
          <p:cNvPr id="157699" name="Rectangle 3"/>
          <p:cNvSpPr>
            <a:spLocks noChangeArrowheads="1"/>
          </p:cNvSpPr>
          <p:nvPr/>
        </p:nvSpPr>
        <p:spPr bwMode="auto">
          <a:xfrm>
            <a:off x="533400" y="1600200"/>
            <a:ext cx="8077200" cy="4495800"/>
          </a:xfrm>
          <a:prstGeom prst="rect">
            <a:avLst/>
          </a:prstGeom>
          <a:noFill/>
          <a:ln w="9525">
            <a:noFill/>
            <a:miter lim="800000"/>
            <a:headEnd/>
            <a:tailEnd/>
          </a:ln>
        </p:spPr>
        <p:txBody>
          <a:bodyPr/>
          <a:lstStyle/>
          <a:p>
            <a:pPr marL="342900" indent="-342900">
              <a:spcBef>
                <a:spcPct val="20000"/>
              </a:spcBef>
              <a:buClr>
                <a:srgbClr val="000099"/>
              </a:buClr>
            </a:pPr>
            <a:endParaRPr lang="en-US" sz="500"/>
          </a:p>
          <a:p>
            <a:pPr marL="342900" indent="-342900" algn="l">
              <a:spcBef>
                <a:spcPct val="20000"/>
              </a:spcBef>
              <a:buClr>
                <a:srgbClr val="000099"/>
              </a:buClr>
              <a:buFontTx/>
              <a:buChar char="•"/>
            </a:pPr>
            <a:r>
              <a:rPr lang="en-US" sz="3000"/>
              <a:t>Large disagreement on this issue.</a:t>
            </a:r>
          </a:p>
          <a:p>
            <a:pPr marL="342900" indent="-342900" algn="l">
              <a:spcBef>
                <a:spcPct val="20000"/>
              </a:spcBef>
              <a:buClr>
                <a:srgbClr val="000099"/>
              </a:buClr>
              <a:buFontTx/>
              <a:buChar char="•"/>
            </a:pPr>
            <a:r>
              <a:rPr lang="en-US" sz="3000"/>
              <a:t>Supporters emphasize the </a:t>
            </a:r>
            <a:r>
              <a:rPr lang="en-US" sz="3000" i="1"/>
              <a:t>trade liberalization</a:t>
            </a:r>
            <a:r>
              <a:rPr lang="en-US" sz="3000"/>
              <a:t> aspect of PTAs: “trade creation.”</a:t>
            </a:r>
          </a:p>
          <a:p>
            <a:pPr marL="342900" indent="-342900" algn="l">
              <a:spcBef>
                <a:spcPct val="20000"/>
              </a:spcBef>
              <a:buClr>
                <a:srgbClr val="000099"/>
              </a:buClr>
              <a:buFontTx/>
              <a:buChar char="•"/>
            </a:pPr>
            <a:r>
              <a:rPr lang="en-US" sz="3000"/>
              <a:t>Critics emphasize the </a:t>
            </a:r>
            <a:r>
              <a:rPr lang="en-US" sz="3000" i="1"/>
              <a:t>trade discrimination</a:t>
            </a:r>
            <a:r>
              <a:rPr lang="en-US" sz="3000"/>
              <a:t> aspect of PTAs: “trade diversion.”</a:t>
            </a:r>
          </a:p>
          <a:p>
            <a:pPr marL="742950" lvl="1" indent="-285750" algn="l">
              <a:spcBef>
                <a:spcPct val="20000"/>
              </a:spcBef>
              <a:buClr>
                <a:srgbClr val="000099"/>
              </a:buClr>
              <a:buFontTx/>
              <a:buChar char="–"/>
            </a:pPr>
            <a:r>
              <a:rPr lang="en-US" sz="2600"/>
              <a:t>When a country discriminates among distinct sources of imports, it may end up importing from a less efficient source, thus paying more for the same good.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157699">
                                            <p:txEl>
                                              <p:pRg st="1" end="1"/>
                                            </p:txEl>
                                          </p:spTgt>
                                        </p:tgtEl>
                                        <p:attrNameLst>
                                          <p:attrName>style.visibility</p:attrName>
                                        </p:attrNameLst>
                                      </p:cBhvr>
                                      <p:to>
                                        <p:strVal val="visible"/>
                                      </p:to>
                                    </p:set>
                                    <p:animEffect transition="in" filter="slide(fromBottom)">
                                      <p:cBhvr>
                                        <p:cTn id="7" dur="500"/>
                                        <p:tgtEl>
                                          <p:spTgt spid="15769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157699">
                                            <p:txEl>
                                              <p:pRg st="2" end="2"/>
                                            </p:txEl>
                                          </p:spTgt>
                                        </p:tgtEl>
                                        <p:attrNameLst>
                                          <p:attrName>style.visibility</p:attrName>
                                        </p:attrNameLst>
                                      </p:cBhvr>
                                      <p:to>
                                        <p:strVal val="visible"/>
                                      </p:to>
                                    </p:set>
                                    <p:animEffect transition="in" filter="slide(fromBottom)">
                                      <p:cBhvr>
                                        <p:cTn id="12" dur="500"/>
                                        <p:tgtEl>
                                          <p:spTgt spid="15769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157699">
                                            <p:txEl>
                                              <p:pRg st="3" end="3"/>
                                            </p:txEl>
                                          </p:spTgt>
                                        </p:tgtEl>
                                        <p:attrNameLst>
                                          <p:attrName>style.visibility</p:attrName>
                                        </p:attrNameLst>
                                      </p:cBhvr>
                                      <p:to>
                                        <p:strVal val="visible"/>
                                      </p:to>
                                    </p:set>
                                    <p:animEffect transition="in" filter="slide(fromBottom)">
                                      <p:cBhvr>
                                        <p:cTn id="17" dur="500"/>
                                        <p:tgtEl>
                                          <p:spTgt spid="157699">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157699">
                                            <p:txEl>
                                              <p:pRg st="4" end="4"/>
                                            </p:txEl>
                                          </p:spTgt>
                                        </p:tgtEl>
                                        <p:attrNameLst>
                                          <p:attrName>style.visibility</p:attrName>
                                        </p:attrNameLst>
                                      </p:cBhvr>
                                      <p:to>
                                        <p:strVal val="visible"/>
                                      </p:to>
                                    </p:set>
                                    <p:animEffect transition="in" filter="slide(fromBottom)">
                                      <p:cBhvr>
                                        <p:cTn id="22" dur="500"/>
                                        <p:tgtEl>
                                          <p:spTgt spid="15769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7699" grpId="0" build="p" bldLvl="2" autoUpdateAnimBg="0"/>
    </p:bldLst>
  </p:timing>
</p:sld>
</file>

<file path=ppt/slides/slide5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8723" name="Rectangle 3"/>
          <p:cNvSpPr>
            <a:spLocks noGrp="1" noChangeArrowheads="1"/>
          </p:cNvSpPr>
          <p:nvPr>
            <p:ph idx="1"/>
          </p:nvPr>
        </p:nvSpPr>
        <p:spPr>
          <a:xfrm>
            <a:off x="381000" y="1371600"/>
            <a:ext cx="8305800" cy="4800600"/>
          </a:xfrm>
          <a:noFill/>
          <a:ln/>
        </p:spPr>
        <p:txBody>
          <a:bodyPr>
            <a:normAutofit fontScale="92500" lnSpcReduction="20000"/>
          </a:bodyPr>
          <a:lstStyle/>
          <a:p>
            <a:pPr algn="ctr">
              <a:buClr>
                <a:srgbClr val="000099"/>
              </a:buClr>
              <a:buFontTx/>
              <a:buNone/>
            </a:pPr>
            <a:endParaRPr lang="en-US" sz="400">
              <a:solidFill>
                <a:srgbClr val="000099"/>
              </a:solidFill>
            </a:endParaRPr>
          </a:p>
          <a:p>
            <a:pPr>
              <a:buClr>
                <a:srgbClr val="000099"/>
              </a:buClr>
            </a:pPr>
            <a:r>
              <a:rPr lang="en-US" sz="2700">
                <a:solidFill>
                  <a:srgbClr val="000099"/>
                </a:solidFill>
              </a:rPr>
              <a:t>Trade among members normally increases substantially.</a:t>
            </a:r>
          </a:p>
          <a:p>
            <a:pPr>
              <a:buClr>
                <a:srgbClr val="000099"/>
              </a:buClr>
            </a:pPr>
            <a:r>
              <a:rPr lang="en-US" sz="2700">
                <a:solidFill>
                  <a:srgbClr val="000099"/>
                </a:solidFill>
              </a:rPr>
              <a:t>Trade between members and </a:t>
            </a:r>
            <a:r>
              <a:rPr lang="en-US" sz="2700" i="1">
                <a:solidFill>
                  <a:srgbClr val="000099"/>
                </a:solidFill>
              </a:rPr>
              <a:t>non</a:t>
            </a:r>
            <a:r>
              <a:rPr lang="en-US" sz="2700">
                <a:solidFill>
                  <a:srgbClr val="000099"/>
                </a:solidFill>
              </a:rPr>
              <a:t>-members typically </a:t>
            </a:r>
            <a:r>
              <a:rPr lang="en-US" sz="2700" i="1">
                <a:solidFill>
                  <a:srgbClr val="000099"/>
                </a:solidFill>
              </a:rPr>
              <a:t>increases</a:t>
            </a:r>
            <a:r>
              <a:rPr lang="en-US" sz="2700">
                <a:solidFill>
                  <a:srgbClr val="000099"/>
                </a:solidFill>
              </a:rPr>
              <a:t> too</a:t>
            </a:r>
            <a:r>
              <a:rPr lang="en-US" sz="2700" i="1">
                <a:solidFill>
                  <a:srgbClr val="000099"/>
                </a:solidFill>
              </a:rPr>
              <a:t>—</a:t>
            </a:r>
            <a:r>
              <a:rPr lang="en-US" sz="2700">
                <a:solidFill>
                  <a:srgbClr val="000099"/>
                </a:solidFill>
              </a:rPr>
              <a:t>albeit</a:t>
            </a:r>
            <a:r>
              <a:rPr lang="en-US" sz="2700" i="1">
                <a:solidFill>
                  <a:srgbClr val="000099"/>
                </a:solidFill>
              </a:rPr>
              <a:t> </a:t>
            </a:r>
            <a:r>
              <a:rPr lang="en-US" sz="2700">
                <a:solidFill>
                  <a:srgbClr val="000099"/>
                </a:solidFill>
              </a:rPr>
              <a:t>not as much as intra-bloc trade.</a:t>
            </a:r>
          </a:p>
          <a:p>
            <a:pPr>
              <a:buClr>
                <a:srgbClr val="000099"/>
              </a:buClr>
              <a:buFontTx/>
              <a:buNone/>
            </a:pPr>
            <a:r>
              <a:rPr lang="en-US" sz="2700" i="1">
                <a:solidFill>
                  <a:srgbClr val="000099"/>
                </a:solidFill>
              </a:rPr>
              <a:t>	How is that possible?</a:t>
            </a:r>
          </a:p>
          <a:p>
            <a:pPr>
              <a:buClr>
                <a:srgbClr val="000099"/>
              </a:buClr>
              <a:buFontTx/>
              <a:buNone/>
            </a:pPr>
            <a:r>
              <a:rPr lang="en-US" sz="2700">
                <a:solidFill>
                  <a:srgbClr val="000099"/>
                </a:solidFill>
                <a:sym typeface="Wingdings 3" pitchFamily="18" charset="2"/>
              </a:rPr>
              <a:t>	  </a:t>
            </a:r>
            <a:r>
              <a:rPr lang="en-US" sz="2700" i="1">
                <a:solidFill>
                  <a:srgbClr val="000099"/>
                </a:solidFill>
              </a:rPr>
              <a:t>External</a:t>
            </a:r>
            <a:r>
              <a:rPr lang="en-US" sz="2700">
                <a:solidFill>
                  <a:srgbClr val="000099"/>
                </a:solidFill>
              </a:rPr>
              <a:t> tariffs usually </a:t>
            </a:r>
            <a:r>
              <a:rPr lang="en-US" sz="2700" i="1">
                <a:solidFill>
                  <a:srgbClr val="000099"/>
                </a:solidFill>
              </a:rPr>
              <a:t>fall</a:t>
            </a:r>
            <a:r>
              <a:rPr lang="en-US" sz="2700">
                <a:solidFill>
                  <a:srgbClr val="000099"/>
                </a:solidFill>
              </a:rPr>
              <a:t> after the formation of a trading bloc.</a:t>
            </a:r>
          </a:p>
          <a:p>
            <a:pPr>
              <a:buClr>
                <a:srgbClr val="000099"/>
              </a:buClr>
              <a:buFontTx/>
              <a:buNone/>
            </a:pPr>
            <a:r>
              <a:rPr lang="en-US" sz="2700">
                <a:solidFill>
                  <a:srgbClr val="000099"/>
                </a:solidFill>
              </a:rPr>
              <a:t>	</a:t>
            </a:r>
            <a:r>
              <a:rPr lang="en-US" sz="2700">
                <a:solidFill>
                  <a:srgbClr val="000099"/>
                </a:solidFill>
                <a:sym typeface="Symbol" pitchFamily="18" charset="2"/>
              </a:rPr>
              <a:t> Not as much discrimination as one would predict.</a:t>
            </a:r>
          </a:p>
          <a:p>
            <a:pPr>
              <a:buClr>
                <a:srgbClr val="000099"/>
              </a:buClr>
              <a:buFontTx/>
              <a:buNone/>
            </a:pPr>
            <a:endParaRPr lang="en-US" sz="600">
              <a:solidFill>
                <a:srgbClr val="000099"/>
              </a:solidFill>
            </a:endParaRPr>
          </a:p>
          <a:p>
            <a:pPr>
              <a:buClr>
                <a:srgbClr val="000099"/>
              </a:buClr>
            </a:pPr>
            <a:r>
              <a:rPr lang="en-US" sz="2700">
                <a:solidFill>
                  <a:srgbClr val="000099"/>
                </a:solidFill>
              </a:rPr>
              <a:t>By most accounts, trade creation has been the rule, and trade diversion the exception in regional integration.  </a:t>
            </a:r>
          </a:p>
        </p:txBody>
      </p:sp>
      <p:sp>
        <p:nvSpPr>
          <p:cNvPr id="158722" name="Rectangle 2"/>
          <p:cNvSpPr>
            <a:spLocks noGrp="1" noChangeArrowheads="1"/>
          </p:cNvSpPr>
          <p:nvPr>
            <p:ph type="title"/>
          </p:nvPr>
        </p:nvSpPr>
        <p:spPr>
          <a:xfrm>
            <a:off x="381000" y="457200"/>
            <a:ext cx="8229600" cy="762000"/>
          </a:xfrm>
        </p:spPr>
        <p:txBody>
          <a:bodyPr>
            <a:normAutofit fontScale="90000"/>
          </a:bodyPr>
          <a:lstStyle/>
          <a:p>
            <a:pPr>
              <a:buClr>
                <a:srgbClr val="000099"/>
              </a:buClr>
            </a:pPr>
            <a:r>
              <a:rPr lang="en-US" sz="4000" i="1">
                <a:solidFill>
                  <a:srgbClr val="000099"/>
                </a:solidFill>
              </a:rPr>
              <a:t>But what has been the effect of PTAs?</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grpId="0" nodeType="clickEffect">
                                  <p:stCondLst>
                                    <p:cond delay="0"/>
                                  </p:stCondLst>
                                  <p:childTnLst>
                                    <p:set>
                                      <p:cBhvr>
                                        <p:cTn id="6" dur="1" fill="hold">
                                          <p:stCondLst>
                                            <p:cond delay="0"/>
                                          </p:stCondLst>
                                        </p:cTn>
                                        <p:tgtEl>
                                          <p:spTgt spid="158723">
                                            <p:txEl>
                                              <p:pRg st="1" end="1"/>
                                            </p:txEl>
                                          </p:spTgt>
                                        </p:tgtEl>
                                        <p:attrNameLst>
                                          <p:attrName>style.visibility</p:attrName>
                                        </p:attrNameLst>
                                      </p:cBhvr>
                                      <p:to>
                                        <p:strVal val="visible"/>
                                      </p:to>
                                    </p:set>
                                    <p:animEffect transition="in" filter="blinds(vertical)">
                                      <p:cBhvr>
                                        <p:cTn id="7" dur="500"/>
                                        <p:tgtEl>
                                          <p:spTgt spid="15872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5" fill="hold" grpId="0" nodeType="clickEffect">
                                  <p:stCondLst>
                                    <p:cond delay="0"/>
                                  </p:stCondLst>
                                  <p:childTnLst>
                                    <p:set>
                                      <p:cBhvr>
                                        <p:cTn id="11" dur="1" fill="hold">
                                          <p:stCondLst>
                                            <p:cond delay="0"/>
                                          </p:stCondLst>
                                        </p:cTn>
                                        <p:tgtEl>
                                          <p:spTgt spid="158723">
                                            <p:txEl>
                                              <p:pRg st="2" end="2"/>
                                            </p:txEl>
                                          </p:spTgt>
                                        </p:tgtEl>
                                        <p:attrNameLst>
                                          <p:attrName>style.visibility</p:attrName>
                                        </p:attrNameLst>
                                      </p:cBhvr>
                                      <p:to>
                                        <p:strVal val="visible"/>
                                      </p:to>
                                    </p:set>
                                    <p:animEffect transition="in" filter="blinds(vertical)">
                                      <p:cBhvr>
                                        <p:cTn id="12" dur="500"/>
                                        <p:tgtEl>
                                          <p:spTgt spid="15872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5" fill="hold" grpId="0" nodeType="clickEffect">
                                  <p:stCondLst>
                                    <p:cond delay="0"/>
                                  </p:stCondLst>
                                  <p:childTnLst>
                                    <p:set>
                                      <p:cBhvr>
                                        <p:cTn id="16" dur="1" fill="hold">
                                          <p:stCondLst>
                                            <p:cond delay="0"/>
                                          </p:stCondLst>
                                        </p:cTn>
                                        <p:tgtEl>
                                          <p:spTgt spid="158723">
                                            <p:txEl>
                                              <p:pRg st="3" end="3"/>
                                            </p:txEl>
                                          </p:spTgt>
                                        </p:tgtEl>
                                        <p:attrNameLst>
                                          <p:attrName>style.visibility</p:attrName>
                                        </p:attrNameLst>
                                      </p:cBhvr>
                                      <p:to>
                                        <p:strVal val="visible"/>
                                      </p:to>
                                    </p:set>
                                    <p:animEffect transition="in" filter="blinds(vertical)">
                                      <p:cBhvr>
                                        <p:cTn id="17" dur="500"/>
                                        <p:tgtEl>
                                          <p:spTgt spid="15872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5" fill="hold" grpId="0" nodeType="clickEffect">
                                  <p:stCondLst>
                                    <p:cond delay="0"/>
                                  </p:stCondLst>
                                  <p:childTnLst>
                                    <p:set>
                                      <p:cBhvr>
                                        <p:cTn id="21" dur="1" fill="hold">
                                          <p:stCondLst>
                                            <p:cond delay="0"/>
                                          </p:stCondLst>
                                        </p:cTn>
                                        <p:tgtEl>
                                          <p:spTgt spid="158723">
                                            <p:txEl>
                                              <p:pRg st="4" end="4"/>
                                            </p:txEl>
                                          </p:spTgt>
                                        </p:tgtEl>
                                        <p:attrNameLst>
                                          <p:attrName>style.visibility</p:attrName>
                                        </p:attrNameLst>
                                      </p:cBhvr>
                                      <p:to>
                                        <p:strVal val="visible"/>
                                      </p:to>
                                    </p:set>
                                    <p:animEffect transition="in" filter="blinds(vertical)">
                                      <p:cBhvr>
                                        <p:cTn id="22" dur="500"/>
                                        <p:tgtEl>
                                          <p:spTgt spid="15872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5" fill="hold" grpId="0" nodeType="clickEffect">
                                  <p:stCondLst>
                                    <p:cond delay="0"/>
                                  </p:stCondLst>
                                  <p:childTnLst>
                                    <p:set>
                                      <p:cBhvr>
                                        <p:cTn id="26" dur="1" fill="hold">
                                          <p:stCondLst>
                                            <p:cond delay="0"/>
                                          </p:stCondLst>
                                        </p:cTn>
                                        <p:tgtEl>
                                          <p:spTgt spid="158723">
                                            <p:txEl>
                                              <p:pRg st="5" end="5"/>
                                            </p:txEl>
                                          </p:spTgt>
                                        </p:tgtEl>
                                        <p:attrNameLst>
                                          <p:attrName>style.visibility</p:attrName>
                                        </p:attrNameLst>
                                      </p:cBhvr>
                                      <p:to>
                                        <p:strVal val="visible"/>
                                      </p:to>
                                    </p:set>
                                    <p:animEffect transition="in" filter="blinds(vertical)">
                                      <p:cBhvr>
                                        <p:cTn id="27" dur="500"/>
                                        <p:tgtEl>
                                          <p:spTgt spid="15872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5" fill="hold" grpId="0" nodeType="clickEffect">
                                  <p:stCondLst>
                                    <p:cond delay="0"/>
                                  </p:stCondLst>
                                  <p:childTnLst>
                                    <p:set>
                                      <p:cBhvr>
                                        <p:cTn id="31" dur="1" fill="hold">
                                          <p:stCondLst>
                                            <p:cond delay="0"/>
                                          </p:stCondLst>
                                        </p:cTn>
                                        <p:tgtEl>
                                          <p:spTgt spid="158723">
                                            <p:txEl>
                                              <p:pRg st="7" end="7"/>
                                            </p:txEl>
                                          </p:spTgt>
                                        </p:tgtEl>
                                        <p:attrNameLst>
                                          <p:attrName>style.visibility</p:attrName>
                                        </p:attrNameLst>
                                      </p:cBhvr>
                                      <p:to>
                                        <p:strVal val="visible"/>
                                      </p:to>
                                    </p:set>
                                    <p:animEffect transition="in" filter="blinds(vertical)">
                                      <p:cBhvr>
                                        <p:cTn id="32" dur="500"/>
                                        <p:tgtEl>
                                          <p:spTgt spid="15872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8723" grpId="0" build="p" bldLvl="2" autoUpdateAnimBg="0"/>
    </p:bldLst>
  </p:timing>
</p:sld>
</file>

<file path=ppt/slides/slide5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0771" name="Rectangle 3"/>
          <p:cNvSpPr>
            <a:spLocks noGrp="1" noChangeArrowheads="1"/>
          </p:cNvSpPr>
          <p:nvPr>
            <p:ph idx="1"/>
          </p:nvPr>
        </p:nvSpPr>
        <p:spPr>
          <a:xfrm>
            <a:off x="685800" y="2133600"/>
            <a:ext cx="7924800" cy="3810000"/>
          </a:xfrm>
        </p:spPr>
        <p:txBody>
          <a:bodyPr/>
          <a:lstStyle/>
          <a:p>
            <a:pPr algn="ctr">
              <a:lnSpc>
                <a:spcPct val="90000"/>
              </a:lnSpc>
              <a:buFontTx/>
              <a:buNone/>
            </a:pPr>
            <a:r>
              <a:rPr lang="en-US" sz="3600" u="sng">
                <a:solidFill>
                  <a:srgbClr val="000099"/>
                </a:solidFill>
              </a:rPr>
              <a:t>Main reasons behind the failure</a:t>
            </a:r>
            <a:endParaRPr lang="en-US">
              <a:solidFill>
                <a:srgbClr val="000099"/>
              </a:solidFill>
            </a:endParaRPr>
          </a:p>
          <a:p>
            <a:pPr>
              <a:lnSpc>
                <a:spcPct val="90000"/>
              </a:lnSpc>
            </a:pPr>
            <a:endParaRPr lang="en-US" sz="2400">
              <a:solidFill>
                <a:srgbClr val="000099"/>
              </a:solidFill>
            </a:endParaRPr>
          </a:p>
          <a:p>
            <a:pPr>
              <a:lnSpc>
                <a:spcPct val="90000"/>
              </a:lnSpc>
            </a:pPr>
            <a:r>
              <a:rPr lang="en-US">
                <a:solidFill>
                  <a:srgbClr val="000099"/>
                </a:solidFill>
              </a:rPr>
              <a:t>US </a:t>
            </a:r>
            <a:r>
              <a:rPr lang="en-US" i="1">
                <a:solidFill>
                  <a:srgbClr val="000099"/>
                </a:solidFill>
              </a:rPr>
              <a:t>vs.</a:t>
            </a:r>
            <a:r>
              <a:rPr lang="en-US">
                <a:solidFill>
                  <a:srgbClr val="000099"/>
                </a:solidFill>
              </a:rPr>
              <a:t> EU on agricultural subsidies.</a:t>
            </a:r>
          </a:p>
          <a:p>
            <a:pPr>
              <a:lnSpc>
                <a:spcPct val="90000"/>
              </a:lnSpc>
            </a:pPr>
            <a:endParaRPr lang="en-US" sz="1600">
              <a:solidFill>
                <a:srgbClr val="000099"/>
              </a:solidFill>
            </a:endParaRPr>
          </a:p>
          <a:p>
            <a:pPr>
              <a:lnSpc>
                <a:spcPct val="90000"/>
              </a:lnSpc>
            </a:pPr>
            <a:r>
              <a:rPr lang="en-US">
                <a:solidFill>
                  <a:srgbClr val="000099"/>
                </a:solidFill>
              </a:rPr>
              <a:t>US </a:t>
            </a:r>
            <a:r>
              <a:rPr lang="en-US" i="1">
                <a:solidFill>
                  <a:srgbClr val="000099"/>
                </a:solidFill>
              </a:rPr>
              <a:t>vs.</a:t>
            </a:r>
            <a:r>
              <a:rPr lang="en-US">
                <a:solidFill>
                  <a:srgbClr val="000099"/>
                </a:solidFill>
              </a:rPr>
              <a:t> developing countries on labor standards.</a:t>
            </a:r>
          </a:p>
          <a:p>
            <a:pPr>
              <a:lnSpc>
                <a:spcPct val="90000"/>
              </a:lnSpc>
            </a:pPr>
            <a:endParaRPr lang="en-US" sz="1600">
              <a:solidFill>
                <a:srgbClr val="000099"/>
              </a:solidFill>
            </a:endParaRPr>
          </a:p>
          <a:p>
            <a:pPr>
              <a:lnSpc>
                <a:spcPct val="90000"/>
              </a:lnSpc>
            </a:pPr>
            <a:r>
              <a:rPr lang="en-US">
                <a:solidFill>
                  <a:srgbClr val="000099"/>
                </a:solidFill>
              </a:rPr>
              <a:t>“Outside events.”</a:t>
            </a:r>
          </a:p>
        </p:txBody>
      </p:sp>
      <p:sp>
        <p:nvSpPr>
          <p:cNvPr id="160770" name="Rectangle 2"/>
          <p:cNvSpPr>
            <a:spLocks noGrp="1" noChangeArrowheads="1"/>
          </p:cNvSpPr>
          <p:nvPr>
            <p:ph type="title"/>
          </p:nvPr>
        </p:nvSpPr>
        <p:spPr/>
        <p:txBody>
          <a:bodyPr>
            <a:normAutofit fontScale="90000"/>
          </a:bodyPr>
          <a:lstStyle/>
          <a:p>
            <a:r>
              <a:rPr lang="en-US" sz="3900">
                <a:solidFill>
                  <a:srgbClr val="000099"/>
                </a:solidFill>
              </a:rPr>
              <a:t>WTO: Recent Developments</a:t>
            </a:r>
            <a:br>
              <a:rPr lang="en-US" sz="3900">
                <a:solidFill>
                  <a:srgbClr val="000099"/>
                </a:solidFill>
              </a:rPr>
            </a:br>
            <a:r>
              <a:rPr lang="en-US" sz="3900">
                <a:solidFill>
                  <a:srgbClr val="000099"/>
                </a:solidFill>
              </a:rPr>
              <a:t> Seattle’s Failed “Millennium Round”</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60771">
                                            <p:txEl>
                                              <p:pRg st="0" end="0"/>
                                            </p:txEl>
                                          </p:spTgt>
                                        </p:tgtEl>
                                        <p:attrNameLst>
                                          <p:attrName>style.visibility</p:attrName>
                                        </p:attrNameLst>
                                      </p:cBhvr>
                                      <p:to>
                                        <p:strVal val="visible"/>
                                      </p:to>
                                    </p:set>
                                    <p:animEffect transition="in" filter="dissolve">
                                      <p:cBhvr>
                                        <p:cTn id="7" dur="500"/>
                                        <p:tgtEl>
                                          <p:spTgt spid="16077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60771">
                                            <p:txEl>
                                              <p:pRg st="2" end="2"/>
                                            </p:txEl>
                                          </p:spTgt>
                                        </p:tgtEl>
                                        <p:attrNameLst>
                                          <p:attrName>style.visibility</p:attrName>
                                        </p:attrNameLst>
                                      </p:cBhvr>
                                      <p:to>
                                        <p:strVal val="visible"/>
                                      </p:to>
                                    </p:set>
                                    <p:animEffect transition="in" filter="dissolve">
                                      <p:cBhvr>
                                        <p:cTn id="12" dur="500"/>
                                        <p:tgtEl>
                                          <p:spTgt spid="160771">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60771">
                                            <p:txEl>
                                              <p:pRg st="4" end="4"/>
                                            </p:txEl>
                                          </p:spTgt>
                                        </p:tgtEl>
                                        <p:attrNameLst>
                                          <p:attrName>style.visibility</p:attrName>
                                        </p:attrNameLst>
                                      </p:cBhvr>
                                      <p:to>
                                        <p:strVal val="visible"/>
                                      </p:to>
                                    </p:set>
                                    <p:animEffect transition="in" filter="dissolve">
                                      <p:cBhvr>
                                        <p:cTn id="17" dur="500"/>
                                        <p:tgtEl>
                                          <p:spTgt spid="160771">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60771">
                                            <p:txEl>
                                              <p:pRg st="6" end="6"/>
                                            </p:txEl>
                                          </p:spTgt>
                                        </p:tgtEl>
                                        <p:attrNameLst>
                                          <p:attrName>style.visibility</p:attrName>
                                        </p:attrNameLst>
                                      </p:cBhvr>
                                      <p:to>
                                        <p:strVal val="visible"/>
                                      </p:to>
                                    </p:set>
                                    <p:animEffect transition="in" filter="dissolve">
                                      <p:cBhvr>
                                        <p:cTn id="22" dur="500"/>
                                        <p:tgtEl>
                                          <p:spTgt spid="16077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771" grpId="0" build="p" bldLvl="2" autoUpdateAnimBg="0"/>
    </p:bldLst>
  </p:timing>
</p:sld>
</file>

<file path=ppt/slides/slide5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1795" name="Rectangle 3"/>
          <p:cNvSpPr>
            <a:spLocks noGrp="1" noChangeArrowheads="1"/>
          </p:cNvSpPr>
          <p:nvPr>
            <p:ph idx="1"/>
          </p:nvPr>
        </p:nvSpPr>
        <p:spPr/>
        <p:txBody>
          <a:bodyPr/>
          <a:lstStyle/>
          <a:p>
            <a:pPr lvl="1"/>
            <a:r>
              <a:rPr lang="en-US">
                <a:solidFill>
                  <a:srgbClr val="000099"/>
                </a:solidFill>
              </a:rPr>
              <a:t>‘The WTO is not democratic.’</a:t>
            </a:r>
          </a:p>
          <a:p>
            <a:pPr lvl="1"/>
            <a:r>
              <a:rPr lang="en-US">
                <a:solidFill>
                  <a:srgbClr val="000099"/>
                </a:solidFill>
              </a:rPr>
              <a:t>‘Trade pacts disregard the environment: race to the bottom.’</a:t>
            </a:r>
          </a:p>
          <a:p>
            <a:pPr lvl="1"/>
            <a:r>
              <a:rPr lang="en-US">
                <a:solidFill>
                  <a:srgbClr val="000099"/>
                </a:solidFill>
              </a:rPr>
              <a:t>‘Trade pacts promote child labor and hazardous working conditions.</a:t>
            </a:r>
          </a:p>
          <a:p>
            <a:pPr lvl="1"/>
            <a:r>
              <a:rPr lang="en-US">
                <a:solidFill>
                  <a:srgbClr val="000099"/>
                </a:solidFill>
              </a:rPr>
              <a:t>‘Free trade shifts jobs from high-wage-high-standard countries to low-wage-low-standard countries.’</a:t>
            </a:r>
            <a:endParaRPr lang="en-US"/>
          </a:p>
        </p:txBody>
      </p:sp>
      <p:sp>
        <p:nvSpPr>
          <p:cNvPr id="161794" name="Rectangle 2"/>
          <p:cNvSpPr>
            <a:spLocks noGrp="1" noChangeArrowheads="1"/>
          </p:cNvSpPr>
          <p:nvPr>
            <p:ph type="title"/>
          </p:nvPr>
        </p:nvSpPr>
        <p:spPr/>
        <p:txBody>
          <a:bodyPr/>
          <a:lstStyle/>
          <a:p>
            <a:r>
              <a:rPr lang="en-US">
                <a:solidFill>
                  <a:srgbClr val="000099"/>
                </a:solidFill>
              </a:rPr>
              <a:t>The Claims “Outside”</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ntr" presetSubtype="0" fill="hold" grpId="0" nodeType="clickEffect">
                                  <p:stCondLst>
                                    <p:cond delay="0"/>
                                  </p:stCondLst>
                                  <p:childTnLst>
                                    <p:set>
                                      <p:cBhvr>
                                        <p:cTn id="6" dur="1" fill="hold">
                                          <p:stCondLst>
                                            <p:cond delay="0"/>
                                          </p:stCondLst>
                                        </p:cTn>
                                        <p:tgtEl>
                                          <p:spTgt spid="161795">
                                            <p:txEl>
                                              <p:pRg st="0" end="0"/>
                                            </p:txEl>
                                          </p:spTgt>
                                        </p:tgtEl>
                                        <p:attrNameLst>
                                          <p:attrName>style.visibility</p:attrName>
                                        </p:attrNameLst>
                                      </p:cBhvr>
                                      <p:to>
                                        <p:strVal val="visible"/>
                                      </p:to>
                                    </p:set>
                                    <p:anim calcmode="lin" valueType="num">
                                      <p:cBhvr>
                                        <p:cTn id="7" dur="1000" fill="hold"/>
                                        <p:tgtEl>
                                          <p:spTgt spid="161795">
                                            <p:txEl>
                                              <p:pRg st="0" end="0"/>
                                            </p:txEl>
                                          </p:spTgt>
                                        </p:tgtEl>
                                        <p:attrNameLst>
                                          <p:attrName>ppt_w</p:attrName>
                                        </p:attrNameLst>
                                      </p:cBhvr>
                                      <p:tavLst>
                                        <p:tav tm="0">
                                          <p:val>
                                            <p:fltVal val="0"/>
                                          </p:val>
                                        </p:tav>
                                        <p:tav tm="100000">
                                          <p:val>
                                            <p:strVal val="#ppt_w"/>
                                          </p:val>
                                        </p:tav>
                                      </p:tavLst>
                                    </p:anim>
                                    <p:anim calcmode="lin" valueType="num">
                                      <p:cBhvr>
                                        <p:cTn id="8" dur="1000" fill="hold"/>
                                        <p:tgtEl>
                                          <p:spTgt spid="161795">
                                            <p:txEl>
                                              <p:pRg st="0" end="0"/>
                                            </p:txEl>
                                          </p:spTgt>
                                        </p:tgtEl>
                                        <p:attrNameLst>
                                          <p:attrName>ppt_h</p:attrName>
                                        </p:attrNameLst>
                                      </p:cBhvr>
                                      <p:tavLst>
                                        <p:tav tm="0">
                                          <p:val>
                                            <p:fltVal val="0"/>
                                          </p:val>
                                        </p:tav>
                                        <p:tav tm="100000">
                                          <p:val>
                                            <p:strVal val="#ppt_h"/>
                                          </p:val>
                                        </p:tav>
                                      </p:tavLst>
                                    </p:anim>
                                    <p:anim calcmode="lin" valueType="num">
                                      <p:cBhvr>
                                        <p:cTn id="9" dur="1000" fill="hold"/>
                                        <p:tgtEl>
                                          <p:spTgt spid="161795">
                                            <p:txEl>
                                              <p:pRg st="0" end="0"/>
                                            </p:txEl>
                                          </p:spTgt>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161795">
                                            <p:txEl>
                                              <p:pRg st="0" end="0"/>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1" fill="hold">
                      <p:stCondLst>
                        <p:cond delay="indefinite"/>
                      </p:stCondLst>
                      <p:childTnLst>
                        <p:par>
                          <p:cTn id="12" fill="hold">
                            <p:stCondLst>
                              <p:cond delay="0"/>
                            </p:stCondLst>
                            <p:childTnLst>
                              <p:par>
                                <p:cTn id="13" presetID="15" presetClass="entr" presetSubtype="0" fill="hold" grpId="0" nodeType="clickEffect">
                                  <p:stCondLst>
                                    <p:cond delay="0"/>
                                  </p:stCondLst>
                                  <p:childTnLst>
                                    <p:set>
                                      <p:cBhvr>
                                        <p:cTn id="14" dur="1" fill="hold">
                                          <p:stCondLst>
                                            <p:cond delay="0"/>
                                          </p:stCondLst>
                                        </p:cTn>
                                        <p:tgtEl>
                                          <p:spTgt spid="161795">
                                            <p:txEl>
                                              <p:pRg st="1" end="1"/>
                                            </p:txEl>
                                          </p:spTgt>
                                        </p:tgtEl>
                                        <p:attrNameLst>
                                          <p:attrName>style.visibility</p:attrName>
                                        </p:attrNameLst>
                                      </p:cBhvr>
                                      <p:to>
                                        <p:strVal val="visible"/>
                                      </p:to>
                                    </p:set>
                                    <p:anim calcmode="lin" valueType="num">
                                      <p:cBhvr>
                                        <p:cTn id="15" dur="1000" fill="hold"/>
                                        <p:tgtEl>
                                          <p:spTgt spid="161795">
                                            <p:txEl>
                                              <p:pRg st="1" end="1"/>
                                            </p:txEl>
                                          </p:spTgt>
                                        </p:tgtEl>
                                        <p:attrNameLst>
                                          <p:attrName>ppt_w</p:attrName>
                                        </p:attrNameLst>
                                      </p:cBhvr>
                                      <p:tavLst>
                                        <p:tav tm="0">
                                          <p:val>
                                            <p:fltVal val="0"/>
                                          </p:val>
                                        </p:tav>
                                        <p:tav tm="100000">
                                          <p:val>
                                            <p:strVal val="#ppt_w"/>
                                          </p:val>
                                        </p:tav>
                                      </p:tavLst>
                                    </p:anim>
                                    <p:anim calcmode="lin" valueType="num">
                                      <p:cBhvr>
                                        <p:cTn id="16" dur="1000" fill="hold"/>
                                        <p:tgtEl>
                                          <p:spTgt spid="161795">
                                            <p:txEl>
                                              <p:pRg st="1" end="1"/>
                                            </p:txEl>
                                          </p:spTgt>
                                        </p:tgtEl>
                                        <p:attrNameLst>
                                          <p:attrName>ppt_h</p:attrName>
                                        </p:attrNameLst>
                                      </p:cBhvr>
                                      <p:tavLst>
                                        <p:tav tm="0">
                                          <p:val>
                                            <p:fltVal val="0"/>
                                          </p:val>
                                        </p:tav>
                                        <p:tav tm="100000">
                                          <p:val>
                                            <p:strVal val="#ppt_h"/>
                                          </p:val>
                                        </p:tav>
                                      </p:tavLst>
                                    </p:anim>
                                    <p:anim calcmode="lin" valueType="num">
                                      <p:cBhvr>
                                        <p:cTn id="17" dur="1000" fill="hold"/>
                                        <p:tgtEl>
                                          <p:spTgt spid="161795">
                                            <p:txEl>
                                              <p:pRg st="1" end="1"/>
                                            </p:txEl>
                                          </p:spTgt>
                                        </p:tgtEl>
                                        <p:attrNameLst>
                                          <p:attrName>ppt_x</p:attrName>
                                        </p:attrNameLst>
                                      </p:cBhvr>
                                      <p:tavLst>
                                        <p:tav tm="0" fmla="#ppt_x+(cos(-2*pi*(1-$))*-#ppt_x-sin(-2*pi*(1-$))*(1-#ppt_y))*(1-$)">
                                          <p:val>
                                            <p:fltVal val="0"/>
                                          </p:val>
                                        </p:tav>
                                        <p:tav tm="100000">
                                          <p:val>
                                            <p:fltVal val="1"/>
                                          </p:val>
                                        </p:tav>
                                      </p:tavLst>
                                    </p:anim>
                                    <p:anim calcmode="lin" valueType="num">
                                      <p:cBhvr>
                                        <p:cTn id="18" dur="1000" fill="hold"/>
                                        <p:tgtEl>
                                          <p:spTgt spid="161795">
                                            <p:txEl>
                                              <p:pRg st="1" end="1"/>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9" fill="hold">
                      <p:stCondLst>
                        <p:cond delay="indefinite"/>
                      </p:stCondLst>
                      <p:childTnLst>
                        <p:par>
                          <p:cTn id="20" fill="hold">
                            <p:stCondLst>
                              <p:cond delay="0"/>
                            </p:stCondLst>
                            <p:childTnLst>
                              <p:par>
                                <p:cTn id="21" presetID="15" presetClass="entr" presetSubtype="0" fill="hold" grpId="0" nodeType="clickEffect">
                                  <p:stCondLst>
                                    <p:cond delay="0"/>
                                  </p:stCondLst>
                                  <p:childTnLst>
                                    <p:set>
                                      <p:cBhvr>
                                        <p:cTn id="22" dur="1" fill="hold">
                                          <p:stCondLst>
                                            <p:cond delay="0"/>
                                          </p:stCondLst>
                                        </p:cTn>
                                        <p:tgtEl>
                                          <p:spTgt spid="161795">
                                            <p:txEl>
                                              <p:pRg st="2" end="2"/>
                                            </p:txEl>
                                          </p:spTgt>
                                        </p:tgtEl>
                                        <p:attrNameLst>
                                          <p:attrName>style.visibility</p:attrName>
                                        </p:attrNameLst>
                                      </p:cBhvr>
                                      <p:to>
                                        <p:strVal val="visible"/>
                                      </p:to>
                                    </p:set>
                                    <p:anim calcmode="lin" valueType="num">
                                      <p:cBhvr>
                                        <p:cTn id="23" dur="1000" fill="hold"/>
                                        <p:tgtEl>
                                          <p:spTgt spid="161795">
                                            <p:txEl>
                                              <p:pRg st="2" end="2"/>
                                            </p:txEl>
                                          </p:spTgt>
                                        </p:tgtEl>
                                        <p:attrNameLst>
                                          <p:attrName>ppt_w</p:attrName>
                                        </p:attrNameLst>
                                      </p:cBhvr>
                                      <p:tavLst>
                                        <p:tav tm="0">
                                          <p:val>
                                            <p:fltVal val="0"/>
                                          </p:val>
                                        </p:tav>
                                        <p:tav tm="100000">
                                          <p:val>
                                            <p:strVal val="#ppt_w"/>
                                          </p:val>
                                        </p:tav>
                                      </p:tavLst>
                                    </p:anim>
                                    <p:anim calcmode="lin" valueType="num">
                                      <p:cBhvr>
                                        <p:cTn id="24" dur="1000" fill="hold"/>
                                        <p:tgtEl>
                                          <p:spTgt spid="161795">
                                            <p:txEl>
                                              <p:pRg st="2" end="2"/>
                                            </p:txEl>
                                          </p:spTgt>
                                        </p:tgtEl>
                                        <p:attrNameLst>
                                          <p:attrName>ppt_h</p:attrName>
                                        </p:attrNameLst>
                                      </p:cBhvr>
                                      <p:tavLst>
                                        <p:tav tm="0">
                                          <p:val>
                                            <p:fltVal val="0"/>
                                          </p:val>
                                        </p:tav>
                                        <p:tav tm="100000">
                                          <p:val>
                                            <p:strVal val="#ppt_h"/>
                                          </p:val>
                                        </p:tav>
                                      </p:tavLst>
                                    </p:anim>
                                    <p:anim calcmode="lin" valueType="num">
                                      <p:cBhvr>
                                        <p:cTn id="25" dur="1000" fill="hold"/>
                                        <p:tgtEl>
                                          <p:spTgt spid="161795">
                                            <p:txEl>
                                              <p:pRg st="2" end="2"/>
                                            </p:txEl>
                                          </p:spTgt>
                                        </p:tgtEl>
                                        <p:attrNameLst>
                                          <p:attrName>ppt_x</p:attrName>
                                        </p:attrNameLst>
                                      </p:cBhvr>
                                      <p:tavLst>
                                        <p:tav tm="0" fmla="#ppt_x+(cos(-2*pi*(1-$))*-#ppt_x-sin(-2*pi*(1-$))*(1-#ppt_y))*(1-$)">
                                          <p:val>
                                            <p:fltVal val="0"/>
                                          </p:val>
                                        </p:tav>
                                        <p:tav tm="100000">
                                          <p:val>
                                            <p:fltVal val="1"/>
                                          </p:val>
                                        </p:tav>
                                      </p:tavLst>
                                    </p:anim>
                                    <p:anim calcmode="lin" valueType="num">
                                      <p:cBhvr>
                                        <p:cTn id="26" dur="1000" fill="hold"/>
                                        <p:tgtEl>
                                          <p:spTgt spid="161795">
                                            <p:txEl>
                                              <p:pRg st="2" end="2"/>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27" fill="hold">
                      <p:stCondLst>
                        <p:cond delay="indefinite"/>
                      </p:stCondLst>
                      <p:childTnLst>
                        <p:par>
                          <p:cTn id="28" fill="hold">
                            <p:stCondLst>
                              <p:cond delay="0"/>
                            </p:stCondLst>
                            <p:childTnLst>
                              <p:par>
                                <p:cTn id="29" presetID="15" presetClass="entr" presetSubtype="0" fill="hold" grpId="0" nodeType="clickEffect">
                                  <p:stCondLst>
                                    <p:cond delay="0"/>
                                  </p:stCondLst>
                                  <p:childTnLst>
                                    <p:set>
                                      <p:cBhvr>
                                        <p:cTn id="30" dur="1" fill="hold">
                                          <p:stCondLst>
                                            <p:cond delay="0"/>
                                          </p:stCondLst>
                                        </p:cTn>
                                        <p:tgtEl>
                                          <p:spTgt spid="161795">
                                            <p:txEl>
                                              <p:pRg st="3" end="3"/>
                                            </p:txEl>
                                          </p:spTgt>
                                        </p:tgtEl>
                                        <p:attrNameLst>
                                          <p:attrName>style.visibility</p:attrName>
                                        </p:attrNameLst>
                                      </p:cBhvr>
                                      <p:to>
                                        <p:strVal val="visible"/>
                                      </p:to>
                                    </p:set>
                                    <p:anim calcmode="lin" valueType="num">
                                      <p:cBhvr>
                                        <p:cTn id="31" dur="1000" fill="hold"/>
                                        <p:tgtEl>
                                          <p:spTgt spid="161795">
                                            <p:txEl>
                                              <p:pRg st="3" end="3"/>
                                            </p:txEl>
                                          </p:spTgt>
                                        </p:tgtEl>
                                        <p:attrNameLst>
                                          <p:attrName>ppt_w</p:attrName>
                                        </p:attrNameLst>
                                      </p:cBhvr>
                                      <p:tavLst>
                                        <p:tav tm="0">
                                          <p:val>
                                            <p:fltVal val="0"/>
                                          </p:val>
                                        </p:tav>
                                        <p:tav tm="100000">
                                          <p:val>
                                            <p:strVal val="#ppt_w"/>
                                          </p:val>
                                        </p:tav>
                                      </p:tavLst>
                                    </p:anim>
                                    <p:anim calcmode="lin" valueType="num">
                                      <p:cBhvr>
                                        <p:cTn id="32" dur="1000" fill="hold"/>
                                        <p:tgtEl>
                                          <p:spTgt spid="161795">
                                            <p:txEl>
                                              <p:pRg st="3" end="3"/>
                                            </p:txEl>
                                          </p:spTgt>
                                        </p:tgtEl>
                                        <p:attrNameLst>
                                          <p:attrName>ppt_h</p:attrName>
                                        </p:attrNameLst>
                                      </p:cBhvr>
                                      <p:tavLst>
                                        <p:tav tm="0">
                                          <p:val>
                                            <p:fltVal val="0"/>
                                          </p:val>
                                        </p:tav>
                                        <p:tav tm="100000">
                                          <p:val>
                                            <p:strVal val="#ppt_h"/>
                                          </p:val>
                                        </p:tav>
                                      </p:tavLst>
                                    </p:anim>
                                    <p:anim calcmode="lin" valueType="num">
                                      <p:cBhvr>
                                        <p:cTn id="33" dur="1000" fill="hold"/>
                                        <p:tgtEl>
                                          <p:spTgt spid="161795">
                                            <p:txEl>
                                              <p:pRg st="3" end="3"/>
                                            </p:txEl>
                                          </p:spTgt>
                                        </p:tgtEl>
                                        <p:attrNameLst>
                                          <p:attrName>ppt_x</p:attrName>
                                        </p:attrNameLst>
                                      </p:cBhvr>
                                      <p:tavLst>
                                        <p:tav tm="0" fmla="#ppt_x+(cos(-2*pi*(1-$))*-#ppt_x-sin(-2*pi*(1-$))*(1-#ppt_y))*(1-$)">
                                          <p:val>
                                            <p:fltVal val="0"/>
                                          </p:val>
                                        </p:tav>
                                        <p:tav tm="100000">
                                          <p:val>
                                            <p:fltVal val="1"/>
                                          </p:val>
                                        </p:tav>
                                      </p:tavLst>
                                    </p:anim>
                                    <p:anim calcmode="lin" valueType="num">
                                      <p:cBhvr>
                                        <p:cTn id="34" dur="1000" fill="hold"/>
                                        <p:tgtEl>
                                          <p:spTgt spid="161795">
                                            <p:txEl>
                                              <p:pRg st="3" end="3"/>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1795" grpId="0" build="p" bldLvl="2" autoUpdateAnimBg="0"/>
    </p:bldLst>
  </p:timing>
</p:sld>
</file>

<file path=ppt/slides/slide5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2819" name="Rectangle 3"/>
          <p:cNvSpPr>
            <a:spLocks noGrp="1" noChangeArrowheads="1"/>
          </p:cNvSpPr>
          <p:nvPr>
            <p:ph idx="1"/>
          </p:nvPr>
        </p:nvSpPr>
        <p:spPr>
          <a:xfrm>
            <a:off x="685800" y="1752600"/>
            <a:ext cx="7924800" cy="4648200"/>
          </a:xfrm>
        </p:spPr>
        <p:txBody>
          <a:bodyPr>
            <a:normAutofit lnSpcReduction="10000"/>
          </a:bodyPr>
          <a:lstStyle/>
          <a:p>
            <a:pPr>
              <a:lnSpc>
                <a:spcPct val="90000"/>
              </a:lnSpc>
            </a:pPr>
            <a:r>
              <a:rPr lang="en-US" sz="2800">
                <a:solidFill>
                  <a:srgbClr val="000099"/>
                </a:solidFill>
              </a:rPr>
              <a:t>Initiated in Doha, Qatar, in November 2001.</a:t>
            </a:r>
          </a:p>
          <a:p>
            <a:pPr>
              <a:lnSpc>
                <a:spcPct val="90000"/>
              </a:lnSpc>
            </a:pPr>
            <a:r>
              <a:rPr lang="en-US" sz="2800">
                <a:solidFill>
                  <a:srgbClr val="000099"/>
                </a:solidFill>
              </a:rPr>
              <a:t>Initial deadline for negotiations: 1 January 2005… </a:t>
            </a:r>
          </a:p>
          <a:p>
            <a:pPr>
              <a:lnSpc>
                <a:spcPct val="90000"/>
              </a:lnSpc>
            </a:pPr>
            <a:r>
              <a:rPr lang="en-US" sz="2800">
                <a:solidFill>
                  <a:srgbClr val="000099"/>
                </a:solidFill>
              </a:rPr>
              <a:t>Issues:</a:t>
            </a:r>
          </a:p>
          <a:p>
            <a:pPr lvl="1">
              <a:lnSpc>
                <a:spcPct val="90000"/>
              </a:lnSpc>
            </a:pPr>
            <a:r>
              <a:rPr lang="en-US" sz="2400">
                <a:solidFill>
                  <a:srgbClr val="000099"/>
                </a:solidFill>
              </a:rPr>
              <a:t>Agriculture subsidies. </a:t>
            </a:r>
          </a:p>
          <a:p>
            <a:pPr lvl="1">
              <a:lnSpc>
                <a:spcPct val="90000"/>
              </a:lnSpc>
            </a:pPr>
            <a:r>
              <a:rPr lang="en-US" sz="2400">
                <a:solidFill>
                  <a:srgbClr val="000099"/>
                </a:solidFill>
              </a:rPr>
              <a:t>Antidumping measures. </a:t>
            </a:r>
          </a:p>
          <a:p>
            <a:pPr lvl="1">
              <a:lnSpc>
                <a:spcPct val="90000"/>
              </a:lnSpc>
            </a:pPr>
            <a:r>
              <a:rPr lang="en-US" sz="2400">
                <a:solidFill>
                  <a:srgbClr val="000099"/>
                </a:solidFill>
              </a:rPr>
              <a:t>Environmental and labor standards.</a:t>
            </a:r>
          </a:p>
          <a:p>
            <a:pPr lvl="1">
              <a:lnSpc>
                <a:spcPct val="90000"/>
              </a:lnSpc>
            </a:pPr>
            <a:r>
              <a:rPr lang="en-US" sz="2400">
                <a:solidFill>
                  <a:srgbClr val="000099"/>
                </a:solidFill>
              </a:rPr>
              <a:t>Services.</a:t>
            </a:r>
          </a:p>
          <a:p>
            <a:pPr lvl="1">
              <a:lnSpc>
                <a:spcPct val="90000"/>
              </a:lnSpc>
            </a:pPr>
            <a:r>
              <a:rPr lang="en-US" sz="2400">
                <a:solidFill>
                  <a:srgbClr val="000099"/>
                </a:solidFill>
              </a:rPr>
              <a:t>Competition policy.</a:t>
            </a:r>
          </a:p>
          <a:p>
            <a:pPr lvl="1">
              <a:lnSpc>
                <a:spcPct val="90000"/>
              </a:lnSpc>
            </a:pPr>
            <a:r>
              <a:rPr lang="en-US" sz="2400">
                <a:solidFill>
                  <a:srgbClr val="000099"/>
                </a:solidFill>
              </a:rPr>
              <a:t>Government procurement. </a:t>
            </a:r>
          </a:p>
          <a:p>
            <a:pPr lvl="1">
              <a:lnSpc>
                <a:spcPct val="90000"/>
              </a:lnSpc>
            </a:pPr>
            <a:r>
              <a:rPr lang="en-US" sz="2400">
                <a:solidFill>
                  <a:srgbClr val="000099"/>
                </a:solidFill>
              </a:rPr>
              <a:t>Intellectual property.</a:t>
            </a:r>
          </a:p>
          <a:p>
            <a:pPr lvl="1">
              <a:lnSpc>
                <a:spcPct val="90000"/>
              </a:lnSpc>
            </a:pPr>
            <a:r>
              <a:rPr lang="en-US" sz="2400">
                <a:solidFill>
                  <a:srgbClr val="000099"/>
                </a:solidFill>
              </a:rPr>
              <a:t>Etc.</a:t>
            </a:r>
          </a:p>
        </p:txBody>
      </p:sp>
      <p:sp>
        <p:nvSpPr>
          <p:cNvPr id="162818" name="Rectangle 2"/>
          <p:cNvSpPr>
            <a:spLocks noGrp="1" noChangeArrowheads="1"/>
          </p:cNvSpPr>
          <p:nvPr>
            <p:ph type="title"/>
          </p:nvPr>
        </p:nvSpPr>
        <p:spPr>
          <a:xfrm>
            <a:off x="685800" y="609600"/>
            <a:ext cx="7772400" cy="990600"/>
          </a:xfrm>
        </p:spPr>
        <p:txBody>
          <a:bodyPr>
            <a:normAutofit fontScale="90000"/>
          </a:bodyPr>
          <a:lstStyle/>
          <a:p>
            <a:r>
              <a:rPr lang="en-US" sz="3600">
                <a:solidFill>
                  <a:srgbClr val="000099"/>
                </a:solidFill>
              </a:rPr>
              <a:t>The Future—The “Development Round”</a:t>
            </a:r>
          </a:p>
        </p:txBody>
      </p:sp>
      <p:pic>
        <p:nvPicPr>
          <p:cNvPr id="162820" name="Picture 4" descr="pe01563_"/>
          <p:cNvPicPr>
            <a:picLocks noChangeAspect="1" noChangeArrowheads="1"/>
          </p:cNvPicPr>
          <p:nvPr/>
        </p:nvPicPr>
        <p:blipFill>
          <a:blip r:embed="rId2"/>
          <a:srcRect/>
          <a:stretch>
            <a:fillRect/>
          </a:stretch>
        </p:blipFill>
        <p:spPr bwMode="auto">
          <a:xfrm>
            <a:off x="6172200" y="3124200"/>
            <a:ext cx="2057400" cy="2743200"/>
          </a:xfrm>
          <a:prstGeom prst="rect">
            <a:avLst/>
          </a:prstGeom>
          <a:noFill/>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62819">
                                            <p:txEl>
                                              <p:pRg st="0" end="0"/>
                                            </p:txEl>
                                          </p:spTgt>
                                        </p:tgtEl>
                                        <p:attrNameLst>
                                          <p:attrName>style.visibility</p:attrName>
                                        </p:attrNameLst>
                                      </p:cBhvr>
                                      <p:to>
                                        <p:strVal val="visible"/>
                                      </p:to>
                                    </p:set>
                                    <p:animEffect transition="in" filter="dissolve">
                                      <p:cBhvr>
                                        <p:cTn id="7" dur="500"/>
                                        <p:tgtEl>
                                          <p:spTgt spid="16281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62819">
                                            <p:txEl>
                                              <p:pRg st="1" end="1"/>
                                            </p:txEl>
                                          </p:spTgt>
                                        </p:tgtEl>
                                        <p:attrNameLst>
                                          <p:attrName>style.visibility</p:attrName>
                                        </p:attrNameLst>
                                      </p:cBhvr>
                                      <p:to>
                                        <p:strVal val="visible"/>
                                      </p:to>
                                    </p:set>
                                    <p:animEffect transition="in" filter="dissolve">
                                      <p:cBhvr>
                                        <p:cTn id="12" dur="500"/>
                                        <p:tgtEl>
                                          <p:spTgt spid="16281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62819">
                                            <p:txEl>
                                              <p:pRg st="2" end="2"/>
                                            </p:txEl>
                                          </p:spTgt>
                                        </p:tgtEl>
                                        <p:attrNameLst>
                                          <p:attrName>style.visibility</p:attrName>
                                        </p:attrNameLst>
                                      </p:cBhvr>
                                      <p:to>
                                        <p:strVal val="visible"/>
                                      </p:to>
                                    </p:set>
                                    <p:animEffect transition="in" filter="dissolve">
                                      <p:cBhvr>
                                        <p:cTn id="17" dur="500"/>
                                        <p:tgtEl>
                                          <p:spTgt spid="16281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62819">
                                            <p:txEl>
                                              <p:pRg st="3" end="3"/>
                                            </p:txEl>
                                          </p:spTgt>
                                        </p:tgtEl>
                                        <p:attrNameLst>
                                          <p:attrName>style.visibility</p:attrName>
                                        </p:attrNameLst>
                                      </p:cBhvr>
                                      <p:to>
                                        <p:strVal val="visible"/>
                                      </p:to>
                                    </p:set>
                                    <p:animEffect transition="in" filter="dissolve">
                                      <p:cBhvr>
                                        <p:cTn id="22" dur="500"/>
                                        <p:tgtEl>
                                          <p:spTgt spid="16281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62819">
                                            <p:txEl>
                                              <p:pRg st="4" end="4"/>
                                            </p:txEl>
                                          </p:spTgt>
                                        </p:tgtEl>
                                        <p:attrNameLst>
                                          <p:attrName>style.visibility</p:attrName>
                                        </p:attrNameLst>
                                      </p:cBhvr>
                                      <p:to>
                                        <p:strVal val="visible"/>
                                      </p:to>
                                    </p:set>
                                    <p:animEffect transition="in" filter="dissolve">
                                      <p:cBhvr>
                                        <p:cTn id="27" dur="500"/>
                                        <p:tgtEl>
                                          <p:spTgt spid="16281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162819">
                                            <p:txEl>
                                              <p:pRg st="5" end="5"/>
                                            </p:txEl>
                                          </p:spTgt>
                                        </p:tgtEl>
                                        <p:attrNameLst>
                                          <p:attrName>style.visibility</p:attrName>
                                        </p:attrNameLst>
                                      </p:cBhvr>
                                      <p:to>
                                        <p:strVal val="visible"/>
                                      </p:to>
                                    </p:set>
                                    <p:animEffect transition="in" filter="dissolve">
                                      <p:cBhvr>
                                        <p:cTn id="32" dur="500"/>
                                        <p:tgtEl>
                                          <p:spTgt spid="162819">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162819">
                                            <p:txEl>
                                              <p:pRg st="6" end="6"/>
                                            </p:txEl>
                                          </p:spTgt>
                                        </p:tgtEl>
                                        <p:attrNameLst>
                                          <p:attrName>style.visibility</p:attrName>
                                        </p:attrNameLst>
                                      </p:cBhvr>
                                      <p:to>
                                        <p:strVal val="visible"/>
                                      </p:to>
                                    </p:set>
                                    <p:animEffect transition="in" filter="dissolve">
                                      <p:cBhvr>
                                        <p:cTn id="37" dur="500"/>
                                        <p:tgtEl>
                                          <p:spTgt spid="162819">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162819">
                                            <p:txEl>
                                              <p:pRg st="7" end="7"/>
                                            </p:txEl>
                                          </p:spTgt>
                                        </p:tgtEl>
                                        <p:attrNameLst>
                                          <p:attrName>style.visibility</p:attrName>
                                        </p:attrNameLst>
                                      </p:cBhvr>
                                      <p:to>
                                        <p:strVal val="visible"/>
                                      </p:to>
                                    </p:set>
                                    <p:animEffect transition="in" filter="dissolve">
                                      <p:cBhvr>
                                        <p:cTn id="42" dur="500"/>
                                        <p:tgtEl>
                                          <p:spTgt spid="162819">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162819">
                                            <p:txEl>
                                              <p:pRg st="8" end="8"/>
                                            </p:txEl>
                                          </p:spTgt>
                                        </p:tgtEl>
                                        <p:attrNameLst>
                                          <p:attrName>style.visibility</p:attrName>
                                        </p:attrNameLst>
                                      </p:cBhvr>
                                      <p:to>
                                        <p:strVal val="visible"/>
                                      </p:to>
                                    </p:set>
                                    <p:animEffect transition="in" filter="dissolve">
                                      <p:cBhvr>
                                        <p:cTn id="47" dur="500"/>
                                        <p:tgtEl>
                                          <p:spTgt spid="162819">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grpId="0" nodeType="clickEffect">
                                  <p:stCondLst>
                                    <p:cond delay="0"/>
                                  </p:stCondLst>
                                  <p:childTnLst>
                                    <p:set>
                                      <p:cBhvr>
                                        <p:cTn id="51" dur="1" fill="hold">
                                          <p:stCondLst>
                                            <p:cond delay="0"/>
                                          </p:stCondLst>
                                        </p:cTn>
                                        <p:tgtEl>
                                          <p:spTgt spid="162819">
                                            <p:txEl>
                                              <p:pRg st="9" end="9"/>
                                            </p:txEl>
                                          </p:spTgt>
                                        </p:tgtEl>
                                        <p:attrNameLst>
                                          <p:attrName>style.visibility</p:attrName>
                                        </p:attrNameLst>
                                      </p:cBhvr>
                                      <p:to>
                                        <p:strVal val="visible"/>
                                      </p:to>
                                    </p:set>
                                    <p:animEffect transition="in" filter="dissolve">
                                      <p:cBhvr>
                                        <p:cTn id="52" dur="500"/>
                                        <p:tgtEl>
                                          <p:spTgt spid="162819">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9" presetClass="entr" presetSubtype="0" fill="hold" grpId="0" nodeType="clickEffect">
                                  <p:stCondLst>
                                    <p:cond delay="0"/>
                                  </p:stCondLst>
                                  <p:childTnLst>
                                    <p:set>
                                      <p:cBhvr>
                                        <p:cTn id="56" dur="1" fill="hold">
                                          <p:stCondLst>
                                            <p:cond delay="0"/>
                                          </p:stCondLst>
                                        </p:cTn>
                                        <p:tgtEl>
                                          <p:spTgt spid="162819">
                                            <p:txEl>
                                              <p:pRg st="10" end="10"/>
                                            </p:txEl>
                                          </p:spTgt>
                                        </p:tgtEl>
                                        <p:attrNameLst>
                                          <p:attrName>style.visibility</p:attrName>
                                        </p:attrNameLst>
                                      </p:cBhvr>
                                      <p:to>
                                        <p:strVal val="visible"/>
                                      </p:to>
                                    </p:set>
                                    <p:animEffect transition="in" filter="dissolve">
                                      <p:cBhvr>
                                        <p:cTn id="57" dur="500"/>
                                        <p:tgtEl>
                                          <p:spTgt spid="162819">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2819" grpId="0" build="p" bldLvl="2" autoUpdateAnimBg="0"/>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276</TotalTime>
  <Words>2459</Words>
  <Application>Microsoft Office PowerPoint</Application>
  <PresentationFormat>On-screen Show (4:3)</PresentationFormat>
  <Paragraphs>436</Paragraphs>
  <Slides>59</Slides>
  <Notes>3</Notes>
  <HiddenSlides>0</HiddenSlides>
  <MMClips>0</MMClips>
  <ScaleCrop>false</ScaleCrop>
  <HeadingPairs>
    <vt:vector size="4" baseType="variant">
      <vt:variant>
        <vt:lpstr>Theme</vt:lpstr>
      </vt:variant>
      <vt:variant>
        <vt:i4>1</vt:i4>
      </vt:variant>
      <vt:variant>
        <vt:lpstr>Slide Titles</vt:lpstr>
      </vt:variant>
      <vt:variant>
        <vt:i4>59</vt:i4>
      </vt:variant>
    </vt:vector>
  </HeadingPairs>
  <TitlesOfParts>
    <vt:vector size="60" baseType="lpstr">
      <vt:lpstr>Concourse</vt:lpstr>
      <vt:lpstr>ISO and WTO</vt:lpstr>
      <vt:lpstr>ISO (international organization for standardization </vt:lpstr>
      <vt:lpstr>ISO (sequence)</vt:lpstr>
      <vt:lpstr>HISTORY</vt:lpstr>
      <vt:lpstr>HISTORY</vt:lpstr>
      <vt:lpstr>Members </vt:lpstr>
      <vt:lpstr>What is a standard </vt:lpstr>
      <vt:lpstr>Purpose of ISO</vt:lpstr>
      <vt:lpstr>ISO standards</vt:lpstr>
      <vt:lpstr>ISO 9000 Quality management</vt:lpstr>
      <vt:lpstr>Environment management</vt:lpstr>
      <vt:lpstr>Social responsibility</vt:lpstr>
      <vt:lpstr>Health and safety</vt:lpstr>
      <vt:lpstr>Scope of ISO</vt:lpstr>
      <vt:lpstr>Why companies need ISO certification </vt:lpstr>
      <vt:lpstr>Benefits of ISO standards</vt:lpstr>
      <vt:lpstr>Current focus</vt:lpstr>
      <vt:lpstr>The World Trade Organization (WTO)</vt:lpstr>
      <vt:lpstr>WTO (sequence)</vt:lpstr>
      <vt:lpstr>Introduction</vt:lpstr>
      <vt:lpstr>History and Organization of the WTO </vt:lpstr>
      <vt:lpstr>WTO Current Structure</vt:lpstr>
      <vt:lpstr>WTO: Main Objective</vt:lpstr>
      <vt:lpstr>Is free trade an explicit objective of the WTO?</vt:lpstr>
      <vt:lpstr>WTO Negotiation Rules</vt:lpstr>
      <vt:lpstr>Why is There a Need for Trade Negotiations?</vt:lpstr>
      <vt:lpstr>“Beggar-thy-Neighbor”</vt:lpstr>
      <vt:lpstr>The 2 Pillars of GATT/WTO Negotiations</vt:lpstr>
      <vt:lpstr>Can these 2 guidelines deliver an efficient outcome?</vt:lpstr>
      <vt:lpstr>How can governments enforce an agreement when each individual country has an incentive to disrespect what it had agreed upon?</vt:lpstr>
      <vt:lpstr>How, then, can cooperation be achieved?</vt:lpstr>
      <vt:lpstr>WTO Dispute Settlement—the Process</vt:lpstr>
      <vt:lpstr>WTO Dispute Settlement: Improvements Over Older System</vt:lpstr>
      <vt:lpstr>WTO Dispute Settlement—the Outcomes</vt:lpstr>
      <vt:lpstr>Labor and Environmental Standards</vt:lpstr>
      <vt:lpstr>Environmental Performance and Income</vt:lpstr>
      <vt:lpstr>2 Standard Critiques of the Implications of the WTO Policies</vt:lpstr>
      <vt:lpstr>Slide 38</vt:lpstr>
      <vt:lpstr>The “Race-to-the-Bottom” Problem</vt:lpstr>
      <vt:lpstr>The “Regulatory-Chill” Problem</vt:lpstr>
      <vt:lpstr>Are the “Race-to-the-Bottom” and the “Regulatory-Chill” Problems Inevitable?</vt:lpstr>
      <vt:lpstr>How can these property rights be completed?</vt:lpstr>
      <vt:lpstr>The “Race-to-the-Bottom” Case</vt:lpstr>
      <vt:lpstr>The “Regulatory-Chill” Case</vt:lpstr>
      <vt:lpstr>National Treatment</vt:lpstr>
      <vt:lpstr>Anti-Dumping Provisions</vt:lpstr>
      <vt:lpstr>Exceptions to MFN</vt:lpstr>
      <vt:lpstr>Forms of Economic Integration</vt:lpstr>
      <vt:lpstr>Preferential trade agreements</vt:lpstr>
      <vt:lpstr>WTO’s Guidelines for PTAs:</vt:lpstr>
      <vt:lpstr>PTAs: The Facts</vt:lpstr>
      <vt:lpstr>PTAs in Europe: The European Free Trade Association (EFTA)</vt:lpstr>
      <vt:lpstr>PTAs in the Americas</vt:lpstr>
      <vt:lpstr>PTAs in the Rest of the World</vt:lpstr>
      <vt:lpstr>Is Regionalism good?</vt:lpstr>
      <vt:lpstr>But what has been the effect of PTAs?</vt:lpstr>
      <vt:lpstr>WTO: Recent Developments  Seattle’s Failed “Millennium Round”</vt:lpstr>
      <vt:lpstr>The Claims “Outside”</vt:lpstr>
      <vt:lpstr>The Future—The “Development Round”</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ISO</dc:title>
  <dc:creator>Arslan Mahr</dc:creator>
  <cp:lastModifiedBy>khalidchohan</cp:lastModifiedBy>
  <cp:revision>15</cp:revision>
  <dcterms:created xsi:type="dcterms:W3CDTF">2006-08-16T00:00:00Z</dcterms:created>
  <dcterms:modified xsi:type="dcterms:W3CDTF">2015-03-24T06:05:25Z</dcterms:modified>
</cp:coreProperties>
</file>