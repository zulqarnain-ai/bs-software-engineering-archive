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2"/>
  </p:notesMasterIdLst>
  <p:handoutMasterIdLst>
    <p:handoutMasterId r:id="rId23"/>
  </p:handoutMasterIdLst>
  <p:sldIdLst>
    <p:sldId id="308" r:id="rId2"/>
    <p:sldId id="598" r:id="rId3"/>
    <p:sldId id="599" r:id="rId4"/>
    <p:sldId id="600" r:id="rId5"/>
    <p:sldId id="601" r:id="rId6"/>
    <p:sldId id="602" r:id="rId7"/>
    <p:sldId id="607" r:id="rId8"/>
    <p:sldId id="604" r:id="rId9"/>
    <p:sldId id="605" r:id="rId10"/>
    <p:sldId id="606" r:id="rId11"/>
    <p:sldId id="603" r:id="rId12"/>
    <p:sldId id="608" r:id="rId13"/>
    <p:sldId id="609" r:id="rId14"/>
    <p:sldId id="610" r:id="rId15"/>
    <p:sldId id="611" r:id="rId16"/>
    <p:sldId id="612" r:id="rId17"/>
    <p:sldId id="613" r:id="rId18"/>
    <p:sldId id="614" r:id="rId19"/>
    <p:sldId id="616" r:id="rId20"/>
    <p:sldId id="617" r:id="rId21"/>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04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132" autoAdjust="0"/>
  </p:normalViewPr>
  <p:slideViewPr>
    <p:cSldViewPr>
      <p:cViewPr varScale="1">
        <p:scale>
          <a:sx n="75" d="100"/>
          <a:sy n="75" d="100"/>
        </p:scale>
        <p:origin x="1428" y="39"/>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44B210D1-BB10-4D3F-84EE-23EFEA341F4D}" type="datetimeFigureOut">
              <a:rPr lang="en-US" smtClean="0"/>
              <a:t>5/28/2025</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09735464-44F0-47AE-8A8C-CFA2DB97902C}" type="slidenum">
              <a:rPr lang="en-US" smtClean="0"/>
              <a:t>‹#›</a:t>
            </a:fld>
            <a:endParaRPr lang="en-US"/>
          </a:p>
        </p:txBody>
      </p:sp>
    </p:spTree>
    <p:extLst>
      <p:ext uri="{BB962C8B-B14F-4D97-AF65-F5344CB8AC3E}">
        <p14:creationId xmlns:p14="http://schemas.microsoft.com/office/powerpoint/2010/main" val="773856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AU"/>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398C4478-F009-4084-AF5B-5BBC1C5391ED}" type="datetimeFigureOut">
              <a:rPr lang="en-US"/>
              <a:pPr>
                <a:defRPr/>
              </a:pPr>
              <a:t>5/28/2025</a:t>
            </a:fld>
            <a:endParaRPr lang="en-AU"/>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AU"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AU"/>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4AE8BB69-AF1B-45E0-A550-DEEAC09AE992}" type="slidenum">
              <a:rPr lang="en-AU"/>
              <a:pPr>
                <a:defRPr/>
              </a:pPr>
              <a:t>‹#›</a:t>
            </a:fld>
            <a:endParaRPr lang="en-AU"/>
          </a:p>
        </p:txBody>
      </p:sp>
    </p:spTree>
    <p:extLst>
      <p:ext uri="{BB962C8B-B14F-4D97-AF65-F5344CB8AC3E}">
        <p14:creationId xmlns:p14="http://schemas.microsoft.com/office/powerpoint/2010/main" val="7458512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ko-KR" altLang="en-US">
                <a:latin typeface="Arial" charset="0"/>
                <a:cs typeface="Arial" charset="0"/>
              </a:rPr>
              <a:t>Header1</a:t>
            </a:r>
            <a:endParaRPr lang="en-US" altLang="ko-KR" dirty="0">
              <a:latin typeface="Arial" charset="0"/>
              <a:cs typeface="Arial" charset="0"/>
            </a:endParaRPr>
          </a:p>
        </p:txBody>
      </p:sp>
      <p:sp>
        <p:nvSpPr>
          <p:cNvPr id="614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2F0B80D-AA9C-4B07-9B7A-DEF1E9678A05}" type="slidenum">
              <a:rPr lang="ko-KR" altLang="en-US">
                <a:latin typeface="Arial" charset="0"/>
                <a:cs typeface="Arial" charset="0"/>
              </a:rPr>
              <a:pPr fontAlgn="base">
                <a:spcBef>
                  <a:spcPct val="0"/>
                </a:spcBef>
                <a:spcAft>
                  <a:spcPct val="0"/>
                </a:spcAft>
              </a:pPr>
              <a:t>1</a:t>
            </a:fld>
            <a:endParaRPr lang="en-US" altLang="ko-KR" dirty="0">
              <a:latin typeface="Arial" charset="0"/>
              <a:cs typeface="Arial" charset="0"/>
            </a:endParaRPr>
          </a:p>
        </p:txBody>
      </p:sp>
      <p:sp>
        <p:nvSpPr>
          <p:cNvPr id="6148" name="Rectangle 2"/>
          <p:cNvSpPr>
            <a:spLocks noGrp="1" noRot="1" noChangeAspect="1" noChangeArrowheads="1" noTextEdit="1"/>
          </p:cNvSpPr>
          <p:nvPr>
            <p:ph type="sldImg"/>
          </p:nvPr>
        </p:nvSpPr>
        <p:spPr bwMode="auto">
          <a:xfrm>
            <a:off x="1144588" y="685800"/>
            <a:ext cx="4576762" cy="3432175"/>
          </a:xfrm>
          <a:noFill/>
          <a:ln>
            <a:solidFill>
              <a:srgbClr val="000000"/>
            </a:solidFill>
            <a:miter lim="800000"/>
            <a:headEnd/>
            <a:tailEnd/>
          </a:ln>
        </p:spPr>
      </p:sp>
      <p:sp>
        <p:nvSpPr>
          <p:cNvPr id="6149" name="Rectangle 3"/>
          <p:cNvSpPr>
            <a:spLocks noGrp="1" noChangeArrowheads="1"/>
          </p:cNvSpPr>
          <p:nvPr>
            <p:ph type="body" idx="1"/>
          </p:nvPr>
        </p:nvSpPr>
        <p:spPr bwMode="auto">
          <a:xfrm>
            <a:off x="912813" y="4343400"/>
            <a:ext cx="5032375" cy="4114800"/>
          </a:xfrm>
          <a:noFill/>
        </p:spPr>
        <p:txBody>
          <a:bodyPr wrap="square" lIns="95059" tIns="47530" rIns="95059" bIns="47530" numCol="1" anchor="t" anchorCtr="0" compatLnSpc="1">
            <a:prstTxWarp prst="textNoShape">
              <a:avLst/>
            </a:prstTxWarp>
          </a:bodyPr>
          <a:lstStyle/>
          <a:p>
            <a:pPr>
              <a:spcBef>
                <a:spcPct val="0"/>
              </a:spcBef>
            </a:pPr>
            <a:r>
              <a:rPr lang="en-US" baseline="0" dirty="0">
                <a:cs typeface="Arial" charset="0"/>
              </a:rPr>
              <a:t> </a:t>
            </a:r>
            <a:endParaRPr lang="en-US" dirty="0">
              <a:cs typeface="Arial" charset="0"/>
            </a:endParaRPr>
          </a:p>
        </p:txBody>
      </p:sp>
    </p:spTree>
    <p:extLst>
      <p:ext uri="{BB962C8B-B14F-4D97-AF65-F5344CB8AC3E}">
        <p14:creationId xmlns:p14="http://schemas.microsoft.com/office/powerpoint/2010/main" val="4294551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6D7BA362-69E2-4DDC-BADC-7B11D5BE817A}" type="datetimeFigureOut">
              <a:rPr lang="en-US"/>
              <a:pPr>
                <a:defRPr/>
              </a:pPr>
              <a:t>5/28/2025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DB08EB19-C617-4428-9A2B-3B89409218EA}" type="slidenum">
              <a:rPr lang="en-AU"/>
              <a:pPr>
                <a:defRPr/>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6"/>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9"/>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7" name="Oval 8"/>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8" name="Date Placeholder 3"/>
          <p:cNvSpPr>
            <a:spLocks noGrp="1"/>
          </p:cNvSpPr>
          <p:nvPr>
            <p:ph type="dt" sz="half" idx="10"/>
          </p:nvPr>
        </p:nvSpPr>
        <p:spPr/>
        <p:txBody>
          <a:bodyPr/>
          <a:lstStyle>
            <a:lvl1pPr>
              <a:defRPr/>
            </a:lvl1pPr>
            <a:extLst/>
          </a:lstStyle>
          <a:p>
            <a:pPr>
              <a:defRPr/>
            </a:pPr>
            <a:fld id="{73722BA4-39B3-45A1-A7AC-1F3918C8D142}" type="datetimeFigureOut">
              <a:rPr lang="en-US"/>
              <a:pPr>
                <a:defRPr/>
              </a:pPr>
              <a:t>5/28/2025</a:t>
            </a:fld>
            <a:endParaRPr lang="en-AU"/>
          </a:p>
        </p:txBody>
      </p:sp>
      <p:sp>
        <p:nvSpPr>
          <p:cNvPr id="9" name="Footer Placeholder 4"/>
          <p:cNvSpPr>
            <a:spLocks noGrp="1"/>
          </p:cNvSpPr>
          <p:nvPr>
            <p:ph type="ftr" sz="quarter" idx="11"/>
          </p:nvPr>
        </p:nvSpPr>
        <p:spPr/>
        <p:txBody>
          <a:bodyPr/>
          <a:lstStyle>
            <a:lvl1pPr>
              <a:defRPr/>
            </a:lvl1pPr>
            <a:extLst/>
          </a:lstStyle>
          <a:p>
            <a:pPr>
              <a:defRPr/>
            </a:pPr>
            <a:endParaRPr lang="en-AU"/>
          </a:p>
        </p:txBody>
      </p:sp>
      <p:sp>
        <p:nvSpPr>
          <p:cNvPr id="10" name="Slide Number Placeholder 5"/>
          <p:cNvSpPr>
            <a:spLocks noGrp="1"/>
          </p:cNvSpPr>
          <p:nvPr>
            <p:ph type="sldNum" sz="quarter" idx="12"/>
          </p:nvPr>
        </p:nvSpPr>
        <p:spPr/>
        <p:txBody>
          <a:bodyPr/>
          <a:lstStyle>
            <a:lvl1pPr>
              <a:defRPr/>
            </a:lvl1pPr>
            <a:extLst/>
          </a:lstStyle>
          <a:p>
            <a:pPr>
              <a:defRPr/>
            </a:pPr>
            <a:fld id="{5E03B330-A60E-4F9A-B368-AA9E0D2C0C63}" type="slidenum">
              <a:rPr lang="en-AU"/>
              <a:pPr>
                <a:defRPr/>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p:cNvSpPr>
            <a:spLocks noGrp="1"/>
          </p:cNvSpPr>
          <p:nvPr>
            <p:ph type="dt" sz="half" idx="10"/>
          </p:nvPr>
        </p:nvSpPr>
        <p:spPr/>
        <p:txBody>
          <a:bodyPr/>
          <a:lstStyle>
            <a:lvl1pPr>
              <a:defRPr/>
            </a:lvl1pPr>
          </a:lstStyle>
          <a:p>
            <a:pPr>
              <a:defRPr/>
            </a:pPr>
            <a:fld id="{FAD928D8-2A07-4C9A-AC2B-B87C68A18E32}" type="datetimeFigureOut">
              <a:rPr lang="en-US"/>
              <a:pPr>
                <a:defRPr/>
              </a:pPr>
              <a:t>5/28/2025</a:t>
            </a:fld>
            <a:endParaRPr lang="en-AU"/>
          </a:p>
        </p:txBody>
      </p:sp>
      <p:sp>
        <p:nvSpPr>
          <p:cNvPr id="6" name="Footer Placeholder 9"/>
          <p:cNvSpPr>
            <a:spLocks noGrp="1"/>
          </p:cNvSpPr>
          <p:nvPr>
            <p:ph type="ftr" sz="quarter" idx="11"/>
          </p:nvPr>
        </p:nvSpPr>
        <p:spPr/>
        <p:txBody>
          <a:bodyPr/>
          <a:lstStyle>
            <a:lvl1pPr>
              <a:defRPr/>
            </a:lvl1pPr>
          </a:lstStyle>
          <a:p>
            <a:pPr>
              <a:defRPr/>
            </a:pPr>
            <a:endParaRPr lang="en-AU"/>
          </a:p>
        </p:txBody>
      </p:sp>
      <p:sp>
        <p:nvSpPr>
          <p:cNvPr id="7" name="Slide Number Placeholder 21"/>
          <p:cNvSpPr>
            <a:spLocks noGrp="1"/>
          </p:cNvSpPr>
          <p:nvPr>
            <p:ph type="sldNum" sz="quarter" idx="12"/>
          </p:nvPr>
        </p:nvSpPr>
        <p:spPr/>
        <p:txBody>
          <a:bodyPr/>
          <a:lstStyle>
            <a:lvl1pPr>
              <a:defRPr/>
            </a:lvl1pPr>
          </a:lstStyle>
          <a:p>
            <a:pPr>
              <a:defRPr/>
            </a:pPr>
            <a:fld id="{09FB0840-58FB-42AE-B722-DA08D68A1B7A}" type="slidenum">
              <a:rPr lang="en-AU"/>
              <a:pPr>
                <a:defRPr/>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fld id="{97E289E5-BF1E-4F65-9039-EDEE690F93CE}" type="datetimeFigureOut">
              <a:rPr lang="en-US"/>
              <a:pPr>
                <a:defRPr/>
              </a:pPr>
              <a:t>5/28/2025</a:t>
            </a:fld>
            <a:endParaRPr lang="en-AU"/>
          </a:p>
        </p:txBody>
      </p:sp>
      <p:sp>
        <p:nvSpPr>
          <p:cNvPr id="8" name="Footer Placeholder 7"/>
          <p:cNvSpPr>
            <a:spLocks noGrp="1"/>
          </p:cNvSpPr>
          <p:nvPr>
            <p:ph type="ftr" sz="quarter" idx="11"/>
          </p:nvPr>
        </p:nvSpPr>
        <p:spPr/>
        <p:txBody>
          <a:bodyPr/>
          <a:lstStyle>
            <a:lvl1pPr>
              <a:defRPr/>
            </a:lvl1pPr>
            <a:extLst/>
          </a:lstStyle>
          <a:p>
            <a:pPr>
              <a:defRPr/>
            </a:pPr>
            <a:endParaRPr lang="en-AU"/>
          </a:p>
        </p:txBody>
      </p:sp>
      <p:sp>
        <p:nvSpPr>
          <p:cNvPr id="9" name="Slide Number Placeholder 8"/>
          <p:cNvSpPr>
            <a:spLocks noGrp="1"/>
          </p:cNvSpPr>
          <p:nvPr>
            <p:ph type="sldNum" sz="quarter" idx="12"/>
          </p:nvPr>
        </p:nvSpPr>
        <p:spPr/>
        <p:txBody>
          <a:bodyPr/>
          <a:lstStyle>
            <a:lvl1pPr>
              <a:defRPr/>
            </a:lvl1pPr>
            <a:extLst/>
          </a:lstStyle>
          <a:p>
            <a:pPr>
              <a:defRPr/>
            </a:pPr>
            <a:fld id="{96944B55-65F2-47D6-AA9A-06DBBEBDF1AA}" type="slidenum">
              <a:rPr lang="en-AU"/>
              <a:pPr>
                <a:defRPr/>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Date Placeholder 23"/>
          <p:cNvSpPr>
            <a:spLocks noGrp="1"/>
          </p:cNvSpPr>
          <p:nvPr>
            <p:ph type="dt" sz="half" idx="10"/>
          </p:nvPr>
        </p:nvSpPr>
        <p:spPr/>
        <p:txBody>
          <a:bodyPr/>
          <a:lstStyle>
            <a:lvl1pPr>
              <a:defRPr/>
            </a:lvl1pPr>
          </a:lstStyle>
          <a:p>
            <a:pPr>
              <a:defRPr/>
            </a:pPr>
            <a:fld id="{E85752A6-4FF7-4D96-86DC-D5737A5BCD80}" type="datetimeFigureOut">
              <a:rPr lang="en-US"/>
              <a:pPr>
                <a:defRPr/>
              </a:pPr>
              <a:t>5/28/2025</a:t>
            </a:fld>
            <a:endParaRPr lang="en-AU"/>
          </a:p>
        </p:txBody>
      </p:sp>
      <p:sp>
        <p:nvSpPr>
          <p:cNvPr id="4" name="Footer Placeholder 9"/>
          <p:cNvSpPr>
            <a:spLocks noGrp="1"/>
          </p:cNvSpPr>
          <p:nvPr>
            <p:ph type="ftr" sz="quarter" idx="11"/>
          </p:nvPr>
        </p:nvSpPr>
        <p:spPr/>
        <p:txBody>
          <a:bodyPr/>
          <a:lstStyle>
            <a:lvl1pPr>
              <a:defRPr/>
            </a:lvl1pPr>
          </a:lstStyle>
          <a:p>
            <a:pPr>
              <a:defRPr/>
            </a:pPr>
            <a:endParaRPr lang="en-AU"/>
          </a:p>
        </p:txBody>
      </p:sp>
      <p:sp>
        <p:nvSpPr>
          <p:cNvPr id="5" name="Slide Number Placeholder 21"/>
          <p:cNvSpPr>
            <a:spLocks noGrp="1"/>
          </p:cNvSpPr>
          <p:nvPr>
            <p:ph type="sldNum" sz="quarter" idx="12"/>
          </p:nvPr>
        </p:nvSpPr>
        <p:spPr/>
        <p:txBody>
          <a:bodyPr/>
          <a:lstStyle>
            <a:lvl1pPr>
              <a:defRPr/>
            </a:lvl1pPr>
          </a:lstStyle>
          <a:p>
            <a:pPr>
              <a:defRPr/>
            </a:pPr>
            <a:fld id="{6787F683-B714-4840-9F7B-D54158E195FB}" type="slidenum">
              <a:rPr lang="en-AU"/>
              <a:pPr>
                <a:defRPr/>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Rectangle 5"/>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Date Placeholder 1"/>
          <p:cNvSpPr>
            <a:spLocks noGrp="1"/>
          </p:cNvSpPr>
          <p:nvPr>
            <p:ph type="dt" sz="half" idx="10"/>
          </p:nvPr>
        </p:nvSpPr>
        <p:spPr/>
        <p:txBody>
          <a:bodyPr/>
          <a:lstStyle>
            <a:lvl1pPr>
              <a:defRPr/>
            </a:lvl1pPr>
            <a:extLst/>
          </a:lstStyle>
          <a:p>
            <a:pPr>
              <a:defRPr/>
            </a:pPr>
            <a:fld id="{076632DF-7466-44F8-B14F-7E352A8B1400}" type="datetimeFigureOut">
              <a:rPr lang="en-US"/>
              <a:pPr>
                <a:defRPr/>
              </a:pPr>
              <a:t>5/28/2025</a:t>
            </a:fld>
            <a:endParaRPr lang="en-AU"/>
          </a:p>
        </p:txBody>
      </p:sp>
      <p:sp>
        <p:nvSpPr>
          <p:cNvPr id="5" name="Footer Placeholder 2"/>
          <p:cNvSpPr>
            <a:spLocks noGrp="1"/>
          </p:cNvSpPr>
          <p:nvPr>
            <p:ph type="ftr" sz="quarter" idx="11"/>
          </p:nvPr>
        </p:nvSpPr>
        <p:spPr/>
        <p:txBody>
          <a:bodyPr/>
          <a:lstStyle>
            <a:lvl1pPr>
              <a:defRPr/>
            </a:lvl1pPr>
            <a:extLst/>
          </a:lstStyle>
          <a:p>
            <a:pPr>
              <a:defRPr/>
            </a:pPr>
            <a:endParaRPr lang="en-AU"/>
          </a:p>
        </p:txBody>
      </p:sp>
      <p:sp>
        <p:nvSpPr>
          <p:cNvPr id="6" name="Slide Number Placeholder 3"/>
          <p:cNvSpPr>
            <a:spLocks noGrp="1"/>
          </p:cNvSpPr>
          <p:nvPr>
            <p:ph type="sldNum" sz="quarter" idx="12"/>
          </p:nvPr>
        </p:nvSpPr>
        <p:spPr/>
        <p:txBody>
          <a:bodyPr/>
          <a:lstStyle>
            <a:lvl1pPr>
              <a:defRPr/>
            </a:lvl1pPr>
            <a:extLst/>
          </a:lstStyle>
          <a:p>
            <a:pPr>
              <a:defRPr/>
            </a:pPr>
            <a:fld id="{9B62068E-3DF5-4F07-A479-6ECFC5B4334B}" type="slidenum">
              <a:rPr lang="en-AU"/>
              <a:pPr>
                <a:defRPr/>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fld id="{2FF663F3-C0EA-42A8-9D3C-15DAC77F7ABD}" type="datetimeFigureOut">
              <a:rPr lang="en-US"/>
              <a:pPr>
                <a:defRPr/>
              </a:pPr>
              <a:t>5/28/2025</a:t>
            </a:fld>
            <a:endParaRPr lang="en-AU"/>
          </a:p>
        </p:txBody>
      </p:sp>
      <p:sp>
        <p:nvSpPr>
          <p:cNvPr id="6" name="Footer Placeholder 5"/>
          <p:cNvSpPr>
            <a:spLocks noGrp="1"/>
          </p:cNvSpPr>
          <p:nvPr>
            <p:ph type="ftr" sz="quarter" idx="11"/>
          </p:nvPr>
        </p:nvSpPr>
        <p:spPr/>
        <p:txBody>
          <a:bodyPr/>
          <a:lstStyle>
            <a:lvl1pPr>
              <a:defRPr/>
            </a:lvl1pPr>
            <a:extLst/>
          </a:lstStyle>
          <a:p>
            <a:pPr>
              <a:defRPr/>
            </a:pPr>
            <a:endParaRPr lang="en-AU"/>
          </a:p>
        </p:txBody>
      </p:sp>
      <p:sp>
        <p:nvSpPr>
          <p:cNvPr id="7" name="Slide Number Placeholder 6"/>
          <p:cNvSpPr>
            <a:spLocks noGrp="1"/>
          </p:cNvSpPr>
          <p:nvPr>
            <p:ph type="sldNum" sz="quarter" idx="12"/>
          </p:nvPr>
        </p:nvSpPr>
        <p:spPr/>
        <p:txBody>
          <a:bodyPr/>
          <a:lstStyle>
            <a:lvl1pPr>
              <a:defRPr/>
            </a:lvl1pPr>
            <a:extLst/>
          </a:lstStyle>
          <a:p>
            <a:pPr>
              <a:defRPr/>
            </a:pPr>
            <a:fld id="{B1A95174-CFA5-499D-88D0-D09D2FB1806C}" type="slidenum">
              <a:rPr lang="en-AU"/>
              <a:pPr>
                <a:defRPr/>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fontAlgn="auto">
              <a:lnSpc>
                <a:spcPts val="3000"/>
              </a:lnSpc>
              <a:spcBef>
                <a:spcPts val="600"/>
              </a:spcBef>
              <a:spcAft>
                <a:spcPts val="0"/>
              </a:spcAft>
              <a:buClr>
                <a:schemeClr val="accent1"/>
              </a:buClr>
              <a:buSzPct val="80000"/>
              <a:buFont typeface="Wingdings 2"/>
              <a:buNone/>
              <a:defRPr/>
            </a:pPr>
            <a:endParaRPr lang="en-US" sz="3200">
              <a:latin typeface="+mn-lt"/>
            </a:endParaRPr>
          </a:p>
        </p:txBody>
      </p:sp>
      <p:sp>
        <p:nvSpPr>
          <p:cNvPr id="6" name="Flowchart: Process 8"/>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lowchart: Process 9"/>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a:t>Click to edit Master title style</a:t>
            </a: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a:t>Click to edit Master text styles</a:t>
            </a:r>
          </a:p>
        </p:txBody>
      </p:sp>
      <p:sp>
        <p:nvSpPr>
          <p:cNvPr id="8" name="Date Placeholder 4"/>
          <p:cNvSpPr>
            <a:spLocks noGrp="1"/>
          </p:cNvSpPr>
          <p:nvPr>
            <p:ph type="dt" sz="half" idx="10"/>
          </p:nvPr>
        </p:nvSpPr>
        <p:spPr/>
        <p:txBody>
          <a:bodyPr/>
          <a:lstStyle>
            <a:lvl1pPr>
              <a:defRPr/>
            </a:lvl1pPr>
            <a:extLst/>
          </a:lstStyle>
          <a:p>
            <a:pPr>
              <a:defRPr/>
            </a:pPr>
            <a:fld id="{532F19D3-364E-4BE1-AB1D-9389337F1716}" type="datetimeFigureOut">
              <a:rPr lang="en-US"/>
              <a:pPr>
                <a:defRPr/>
              </a:pPr>
              <a:t>5/28/2025</a:t>
            </a:fld>
            <a:endParaRPr lang="en-AU"/>
          </a:p>
        </p:txBody>
      </p:sp>
      <p:sp>
        <p:nvSpPr>
          <p:cNvPr id="9" name="Footer Placeholder 5"/>
          <p:cNvSpPr>
            <a:spLocks noGrp="1"/>
          </p:cNvSpPr>
          <p:nvPr>
            <p:ph type="ftr" sz="quarter" idx="11"/>
          </p:nvPr>
        </p:nvSpPr>
        <p:spPr/>
        <p:txBody>
          <a:bodyPr/>
          <a:lstStyle>
            <a:lvl1pPr>
              <a:defRPr/>
            </a:lvl1pPr>
            <a:extLst/>
          </a:lstStyle>
          <a:p>
            <a:pPr>
              <a:defRPr/>
            </a:pPr>
            <a:endParaRPr lang="en-AU"/>
          </a:p>
        </p:txBody>
      </p:sp>
      <p:sp>
        <p:nvSpPr>
          <p:cNvPr id="10" name="Slide Number Placeholder 6"/>
          <p:cNvSpPr>
            <a:spLocks noGrp="1"/>
          </p:cNvSpPr>
          <p:nvPr>
            <p:ph type="sldNum" sz="quarter" idx="12"/>
          </p:nvPr>
        </p:nvSpPr>
        <p:spPr/>
        <p:txBody>
          <a:bodyPr/>
          <a:lstStyle>
            <a:lvl1pPr>
              <a:defRPr/>
            </a:lvl1pPr>
            <a:extLst/>
          </a:lstStyle>
          <a:p>
            <a:pPr>
              <a:defRPr/>
            </a:pPr>
            <a:fld id="{D314A49B-29C5-41E1-9157-AF7F5FD4ACA7}" type="slidenum">
              <a:rPr lang="en-AU"/>
              <a:pPr>
                <a:defRPr/>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9659DBE8-5B23-4758-B47C-E9E341EE3328}" type="datetimeFigureOut">
              <a:rPr lang="en-US"/>
              <a:pPr>
                <a:defRPr/>
              </a:pPr>
              <a:t>5/28/2025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388FE86-17E6-4DB8-A3B4-0AF1C45D9DDE}" type="slidenum">
              <a:rPr lang="en-AU"/>
              <a:pPr>
                <a:defRPr/>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4914BA9B-DFDF-4564-91A2-6DF83062B79A}" type="datetimeFigureOut">
              <a:rPr lang="en-US"/>
              <a:pPr>
                <a:defRPr/>
              </a:pPr>
              <a:t>5/28/2025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920A575-958F-452E-A13F-7BD0F68F6B47}" type="slidenum">
              <a:rPr lang="en-AU"/>
              <a:pPr>
                <a:defRPr/>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23"/>
          <p:cNvSpPr>
            <a:spLocks noGrp="1"/>
          </p:cNvSpPr>
          <p:nvPr>
            <p:ph type="dt" sz="half" idx="10"/>
          </p:nvPr>
        </p:nvSpPr>
        <p:spPr/>
        <p:txBody>
          <a:bodyPr/>
          <a:lstStyle>
            <a:lvl1pPr>
              <a:defRPr/>
            </a:lvl1pPr>
          </a:lstStyle>
          <a:p>
            <a:pPr>
              <a:defRPr/>
            </a:pPr>
            <a:fld id="{14BD23C4-0CBE-41AD-9915-09C3EB7D8FC5}" type="datetimeFigureOut">
              <a:rPr lang="en-US"/>
              <a:pPr>
                <a:defRPr/>
              </a:pPr>
              <a:t>5/28/2025</a:t>
            </a:fld>
            <a:endParaRPr lang="en-AU"/>
          </a:p>
        </p:txBody>
      </p:sp>
      <p:sp>
        <p:nvSpPr>
          <p:cNvPr id="3" name="Footer Placeholder 9"/>
          <p:cNvSpPr>
            <a:spLocks noGrp="1"/>
          </p:cNvSpPr>
          <p:nvPr>
            <p:ph type="ftr" sz="quarter" idx="11"/>
          </p:nvPr>
        </p:nvSpPr>
        <p:spPr/>
        <p:txBody>
          <a:bodyPr/>
          <a:lstStyle>
            <a:lvl1pPr>
              <a:defRPr/>
            </a:lvl1pPr>
          </a:lstStyle>
          <a:p>
            <a:pPr>
              <a:defRPr/>
            </a:pPr>
            <a:endParaRPr lang="en-AU"/>
          </a:p>
        </p:txBody>
      </p:sp>
      <p:sp>
        <p:nvSpPr>
          <p:cNvPr id="4" name="Slide Number Placeholder 21"/>
          <p:cNvSpPr>
            <a:spLocks noGrp="1"/>
          </p:cNvSpPr>
          <p:nvPr>
            <p:ph type="sldNum" sz="quarter" idx="12"/>
          </p:nvPr>
        </p:nvSpPr>
        <p:spPr/>
        <p:txBody>
          <a:bodyPr/>
          <a:lstStyle>
            <a:lvl1pPr>
              <a:defRPr/>
            </a:lvl1pPr>
          </a:lstStyle>
          <a:p>
            <a:pPr>
              <a:defRPr/>
            </a:pPr>
            <a:fld id="{1AD7BE41-6580-421D-AAB4-199544DFCC6F}" type="slidenum">
              <a:rPr lang="en-AU"/>
              <a:pPr>
                <a:defRPr/>
              </a:pPr>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5/28/2025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0111073"/>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p>
            <a:r>
              <a:rPr lang="en-US"/>
              <a:t>Click to edit Master title style</a:t>
            </a:r>
          </a:p>
        </p:txBody>
      </p:sp>
      <p:sp>
        <p:nvSpPr>
          <p:cNvPr id="1033" name="Text Placeholder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fontAlgn="auto" latinLnBrk="0" hangingPunct="1">
              <a:spcBef>
                <a:spcPts val="0"/>
              </a:spcBef>
              <a:spcAft>
                <a:spcPts val="0"/>
              </a:spcAft>
              <a:defRPr kumimoji="0" sz="1200">
                <a:solidFill>
                  <a:schemeClr val="bg2">
                    <a:shade val="50000"/>
                    <a:satMod val="200000"/>
                  </a:schemeClr>
                </a:solidFill>
                <a:latin typeface="+mn-lt"/>
              </a:defRPr>
            </a:lvl1pPr>
            <a:extLst/>
          </a:lstStyle>
          <a:p>
            <a:pPr>
              <a:defRPr/>
            </a:pPr>
            <a:fld id="{4674603B-BE21-4B82-834E-441265CC936A}" type="datetimeFigureOut">
              <a:rPr lang="en-US"/>
              <a:pPr>
                <a:defRPr/>
              </a:pPr>
              <a:t>5/28/2025</a:t>
            </a:fld>
            <a:endParaRPr lang="en-AU"/>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endParaRPr lang="en-AU"/>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fld id="{25D2816C-7373-4FF3-9DF2-CB9F7B7A5FB2}" type="slidenum">
              <a:rPr lang="en-AU"/>
              <a:pPr>
                <a:defRPr/>
              </a:pPr>
              <a:t>‹#›</a:t>
            </a:fld>
            <a:endParaRPr lang="en-AU"/>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702" r:id="rId1"/>
    <p:sldLayoutId id="2147483708" r:id="rId2"/>
    <p:sldLayoutId id="2147483703" r:id="rId3"/>
    <p:sldLayoutId id="2147483709" r:id="rId4"/>
    <p:sldLayoutId id="2147483704" r:id="rId5"/>
    <p:sldLayoutId id="2147483710" r:id="rId6"/>
    <p:sldLayoutId id="2147483711" r:id="rId7"/>
    <p:sldLayoutId id="2147483712" r:id="rId8"/>
    <p:sldLayoutId id="2147483705" r:id="rId9"/>
    <p:sldLayoutId id="2147483706" r:id="rId10"/>
    <p:sldLayoutId id="2147483707" r:id="rId11"/>
    <p:sldLayoutId id="2147483713" r:id="rId12"/>
  </p:sldLayoutIdLst>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34817" name="Rectangle 8"/>
          <p:cNvSpPr>
            <a:spLocks noChangeArrowheads="1"/>
          </p:cNvSpPr>
          <p:nvPr/>
        </p:nvSpPr>
        <p:spPr bwMode="auto">
          <a:xfrm>
            <a:off x="107504" y="236124"/>
            <a:ext cx="8893006" cy="1536692"/>
          </a:xfrm>
          <a:prstGeom prst="rect">
            <a:avLst/>
          </a:prstGeom>
          <a:solidFill>
            <a:schemeClr val="bg1">
              <a:lumMod val="65000"/>
            </a:schemeClr>
          </a:solidFill>
          <a:ln w="38100" algn="ctr">
            <a:solidFill>
              <a:schemeClr val="bg1">
                <a:lumMod val="50000"/>
              </a:schemeClr>
            </a:solidFill>
            <a:miter lim="800000"/>
            <a:headEnd/>
            <a:tailEnd/>
          </a:ln>
        </p:spPr>
        <p:txBody>
          <a:bodyPr wrap="none" anchor="ctr"/>
          <a:lstStyle/>
          <a:p>
            <a:pPr algn="ctr" eaLnBrk="0" hangingPunct="0">
              <a:spcBef>
                <a:spcPct val="20000"/>
              </a:spcBef>
              <a:buClr>
                <a:schemeClr val="bg1"/>
              </a:buClr>
              <a:buFontTx/>
              <a:buChar char="•"/>
            </a:pPr>
            <a:endParaRPr lang="en-US" sz="2800" dirty="0">
              <a:latin typeface="Goudy Stout" pitchFamily="18" charset="0"/>
            </a:endParaRPr>
          </a:p>
        </p:txBody>
      </p:sp>
      <p:sp>
        <p:nvSpPr>
          <p:cNvPr id="34820" name="Text Box 5"/>
          <p:cNvSpPr txBox="1">
            <a:spLocks noChangeArrowheads="1"/>
          </p:cNvSpPr>
          <p:nvPr/>
        </p:nvSpPr>
        <p:spPr bwMode="auto">
          <a:xfrm>
            <a:off x="-108520" y="4301081"/>
            <a:ext cx="8568988" cy="1828800"/>
          </a:xfrm>
          <a:prstGeom prst="rect">
            <a:avLst/>
          </a:prstGeom>
          <a:noFill/>
          <a:ln w="9525">
            <a:noFill/>
            <a:miter lim="800000"/>
            <a:headEnd/>
            <a:tailEnd/>
          </a:ln>
        </p:spPr>
        <p:txBody>
          <a:bodyPr wrap="none"/>
          <a:lstStyle/>
          <a:p>
            <a:pPr marL="511175" indent="-279400" algn="ctr"/>
            <a:endParaRPr lang="en-US" sz="1200" dirty="0">
              <a:cs typeface="Times New Roman" pitchFamily="18" charset="0"/>
            </a:endParaRPr>
          </a:p>
          <a:p>
            <a:pPr marL="511175" indent="-279400" algn="r"/>
            <a:r>
              <a:rPr lang="en-US" dirty="0"/>
              <a:t>Dr. Sumaira Nazir</a:t>
            </a:r>
          </a:p>
          <a:p>
            <a:pPr marL="511175" indent="-279400" algn="r"/>
            <a:r>
              <a:rPr lang="en-US"/>
              <a:t>Department </a:t>
            </a:r>
            <a:r>
              <a:rPr lang="en-US" dirty="0"/>
              <a:t>of Software Engineering</a:t>
            </a:r>
          </a:p>
          <a:p>
            <a:pPr marL="511175" indent="-279400" algn="r"/>
            <a:r>
              <a:rPr lang="en-US" dirty="0"/>
              <a:t>National University of Modern Languages, Islamabad</a:t>
            </a:r>
          </a:p>
          <a:p>
            <a:pPr marL="511175" indent="-279400" algn="ctr"/>
            <a:endParaRPr lang="en-US" dirty="0"/>
          </a:p>
        </p:txBody>
      </p:sp>
      <p:sp>
        <p:nvSpPr>
          <p:cNvPr id="2" name="TextBox 1">
            <a:extLst>
              <a:ext uri="{FF2B5EF4-FFF2-40B4-BE49-F238E27FC236}">
                <a16:creationId xmlns:a16="http://schemas.microsoft.com/office/drawing/2014/main" id="{E370068C-DD74-4ED8-9B03-A9F8221E847B}"/>
              </a:ext>
            </a:extLst>
          </p:cNvPr>
          <p:cNvSpPr txBox="1"/>
          <p:nvPr/>
        </p:nvSpPr>
        <p:spPr>
          <a:xfrm>
            <a:off x="269513" y="742860"/>
            <a:ext cx="8568987" cy="523220"/>
          </a:xfrm>
          <a:prstGeom prst="rect">
            <a:avLst/>
          </a:prstGeom>
          <a:noFill/>
        </p:spPr>
        <p:txBody>
          <a:bodyPr wrap="square" rtlCol="0">
            <a:spAutoFit/>
          </a:bodyPr>
          <a:lstStyle/>
          <a:p>
            <a:pPr algn="ctr"/>
            <a:r>
              <a:rPr lang="en-MY" sz="2800" b="1" dirty="0">
                <a:latin typeface="Times" panose="02020603060405020304" pitchFamily="18" charset="0"/>
              </a:rPr>
              <a:t>Software Project Management</a:t>
            </a:r>
          </a:p>
        </p:txBody>
      </p:sp>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eaLnBrk="1" hangingPunct="1"/>
            <a:r>
              <a:rPr lang="en-US" altLang="en-US" sz="2800" dirty="0"/>
              <a:t>Project Communication Management</a:t>
            </a: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293369385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30EBD-AB2C-4C90-AA4E-0131EB891418}"/>
              </a:ext>
            </a:extLst>
          </p:cNvPr>
          <p:cNvSpPr>
            <a:spLocks noGrp="1"/>
          </p:cNvSpPr>
          <p:nvPr>
            <p:ph type="title"/>
          </p:nvPr>
        </p:nvSpPr>
        <p:spPr/>
        <p:txBody>
          <a:bodyPr>
            <a:normAutofit fontScale="90000"/>
          </a:bodyPr>
          <a:lstStyle/>
          <a:p>
            <a:r>
              <a:rPr lang="en-US" altLang="en-US" sz="4400" dirty="0"/>
              <a:t>Project Communication Management</a:t>
            </a:r>
            <a:endParaRPr lang="en-MY" dirty="0"/>
          </a:p>
        </p:txBody>
      </p:sp>
      <p:sp>
        <p:nvSpPr>
          <p:cNvPr id="3" name="Content Placeholder 2">
            <a:extLst>
              <a:ext uri="{FF2B5EF4-FFF2-40B4-BE49-F238E27FC236}">
                <a16:creationId xmlns:a16="http://schemas.microsoft.com/office/drawing/2014/main" id="{995C0CC6-EE5B-40E3-94AF-A3C982A7D687}"/>
              </a:ext>
            </a:extLst>
          </p:cNvPr>
          <p:cNvSpPr>
            <a:spLocks noGrp="1"/>
          </p:cNvSpPr>
          <p:nvPr>
            <p:ph idx="1"/>
          </p:nvPr>
        </p:nvSpPr>
        <p:spPr/>
        <p:txBody>
          <a:bodyPr/>
          <a:lstStyle/>
          <a:p>
            <a:pPr algn="just"/>
            <a:r>
              <a:rPr lang="en-US" dirty="0"/>
              <a:t>The goal of project communications management is to ensure timely and appropriate generation, collection, dissemination, storage, and disposition of project information.</a:t>
            </a:r>
            <a:endParaRPr lang="en-MY" dirty="0"/>
          </a:p>
        </p:txBody>
      </p:sp>
    </p:spTree>
    <p:extLst>
      <p:ext uri="{BB962C8B-B14F-4D97-AF65-F5344CB8AC3E}">
        <p14:creationId xmlns:p14="http://schemas.microsoft.com/office/powerpoint/2010/main" val="844455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8F07D-DCE7-4F92-C1F7-F324BEBD19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481FA-B141-D8DB-13E5-A6174004FF67}"/>
              </a:ext>
            </a:extLst>
          </p:cNvPr>
          <p:cNvSpPr>
            <a:spLocks noGrp="1"/>
          </p:cNvSpPr>
          <p:nvPr>
            <p:ph type="title"/>
          </p:nvPr>
        </p:nvSpPr>
        <p:spPr/>
        <p:txBody>
          <a:bodyPr>
            <a:normAutofit fontScale="90000"/>
          </a:bodyPr>
          <a:lstStyle/>
          <a:p>
            <a:r>
              <a:rPr lang="en-US" altLang="en-US" sz="4400" dirty="0"/>
              <a:t>Project Communication Management-Processes </a:t>
            </a:r>
            <a:endParaRPr lang="en-MY" dirty="0"/>
          </a:p>
        </p:txBody>
      </p:sp>
      <p:sp>
        <p:nvSpPr>
          <p:cNvPr id="3" name="Content Placeholder 2">
            <a:extLst>
              <a:ext uri="{FF2B5EF4-FFF2-40B4-BE49-F238E27FC236}">
                <a16:creationId xmlns:a16="http://schemas.microsoft.com/office/drawing/2014/main" id="{BE513C37-78BA-BA89-BDD1-858D27F62485}"/>
              </a:ext>
            </a:extLst>
          </p:cNvPr>
          <p:cNvSpPr>
            <a:spLocks noGrp="1"/>
          </p:cNvSpPr>
          <p:nvPr>
            <p:ph idx="1"/>
          </p:nvPr>
        </p:nvSpPr>
        <p:spPr/>
        <p:txBody>
          <a:bodyPr/>
          <a:lstStyle/>
          <a:p>
            <a:pPr algn="just"/>
            <a:r>
              <a:rPr lang="en-US" dirty="0"/>
              <a:t>Planning communications management involves </a:t>
            </a:r>
          </a:p>
          <a:p>
            <a:pPr lvl="1" algn="just"/>
            <a:r>
              <a:rPr lang="en-US" dirty="0"/>
              <a:t>determining the information and communications needs of the stakeholders.</a:t>
            </a:r>
          </a:p>
          <a:p>
            <a:pPr lvl="1" algn="just"/>
            <a:r>
              <a:rPr lang="en-US" dirty="0"/>
              <a:t>Who needs what information? </a:t>
            </a:r>
          </a:p>
          <a:p>
            <a:pPr lvl="1" algn="just"/>
            <a:r>
              <a:rPr lang="en-US" dirty="0"/>
              <a:t>When will they need it? </a:t>
            </a:r>
          </a:p>
          <a:p>
            <a:pPr lvl="1" algn="just"/>
            <a:r>
              <a:rPr lang="en-US" dirty="0"/>
              <a:t>How will the information be given to them? </a:t>
            </a:r>
          </a:p>
          <a:p>
            <a:pPr lvl="1" algn="just"/>
            <a:r>
              <a:rPr lang="en-US" dirty="0"/>
              <a:t>The outputs of this process include </a:t>
            </a:r>
          </a:p>
          <a:p>
            <a:pPr lvl="2" algn="just"/>
            <a:r>
              <a:rPr lang="en-US" dirty="0"/>
              <a:t>a communications management plan, project management plan updates, and project documents updates.</a:t>
            </a:r>
            <a:endParaRPr lang="en-MY" dirty="0"/>
          </a:p>
        </p:txBody>
      </p:sp>
    </p:spTree>
    <p:extLst>
      <p:ext uri="{BB962C8B-B14F-4D97-AF65-F5344CB8AC3E}">
        <p14:creationId xmlns:p14="http://schemas.microsoft.com/office/powerpoint/2010/main" val="2813010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D945E-FDA7-1C75-CF7C-5BF7263E26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5883A5-54E7-E8DF-A366-FD964C1159B0}"/>
              </a:ext>
            </a:extLst>
          </p:cNvPr>
          <p:cNvSpPr>
            <a:spLocks noGrp="1"/>
          </p:cNvSpPr>
          <p:nvPr>
            <p:ph type="title"/>
          </p:nvPr>
        </p:nvSpPr>
        <p:spPr/>
        <p:txBody>
          <a:bodyPr>
            <a:normAutofit fontScale="90000"/>
          </a:bodyPr>
          <a:lstStyle/>
          <a:p>
            <a:r>
              <a:rPr lang="en-US" altLang="en-US" sz="4400" dirty="0"/>
              <a:t>Project Communication Management-Processes </a:t>
            </a:r>
            <a:endParaRPr lang="en-MY" dirty="0"/>
          </a:p>
        </p:txBody>
      </p:sp>
      <p:sp>
        <p:nvSpPr>
          <p:cNvPr id="3" name="Content Placeholder 2">
            <a:extLst>
              <a:ext uri="{FF2B5EF4-FFF2-40B4-BE49-F238E27FC236}">
                <a16:creationId xmlns:a16="http://schemas.microsoft.com/office/drawing/2014/main" id="{B1C60DD6-4B58-03D4-CF8C-1B1063AB4417}"/>
              </a:ext>
            </a:extLst>
          </p:cNvPr>
          <p:cNvSpPr>
            <a:spLocks noGrp="1"/>
          </p:cNvSpPr>
          <p:nvPr>
            <p:ph idx="1"/>
          </p:nvPr>
        </p:nvSpPr>
        <p:spPr/>
        <p:txBody>
          <a:bodyPr/>
          <a:lstStyle/>
          <a:p>
            <a:pPr algn="just"/>
            <a:r>
              <a:rPr lang="en-US" dirty="0"/>
              <a:t>Managing communications involves </a:t>
            </a:r>
            <a:r>
              <a:rPr lang="en-US" dirty="0">
                <a:solidFill>
                  <a:srgbClr val="FF0000"/>
                </a:solidFill>
              </a:rPr>
              <a:t>creating, distributing, storing, retrieving, and disposing of project communications based on</a:t>
            </a:r>
            <a:r>
              <a:rPr lang="en-US" dirty="0"/>
              <a:t> the communications management plan. </a:t>
            </a:r>
          </a:p>
          <a:p>
            <a:pPr algn="just"/>
            <a:r>
              <a:rPr lang="en-US" dirty="0"/>
              <a:t>Outputs of this process are</a:t>
            </a:r>
          </a:p>
          <a:p>
            <a:pPr lvl="1" algn="just"/>
            <a:r>
              <a:rPr lang="en-US" dirty="0"/>
              <a:t>project communications plan, project management plan updates, project documents updates, and organizational process assets updates. </a:t>
            </a:r>
            <a:endParaRPr lang="en-MY" dirty="0"/>
          </a:p>
        </p:txBody>
      </p:sp>
    </p:spTree>
    <p:extLst>
      <p:ext uri="{BB962C8B-B14F-4D97-AF65-F5344CB8AC3E}">
        <p14:creationId xmlns:p14="http://schemas.microsoft.com/office/powerpoint/2010/main" val="1716474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F0EF1-E1DF-6AE3-DF89-B2D1A5D8B3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1CCE3-8F1D-4168-572E-9A4CECAA6EE2}"/>
              </a:ext>
            </a:extLst>
          </p:cNvPr>
          <p:cNvSpPr>
            <a:spLocks noGrp="1"/>
          </p:cNvSpPr>
          <p:nvPr>
            <p:ph type="title"/>
          </p:nvPr>
        </p:nvSpPr>
        <p:spPr/>
        <p:txBody>
          <a:bodyPr>
            <a:normAutofit fontScale="90000"/>
          </a:bodyPr>
          <a:lstStyle/>
          <a:p>
            <a:r>
              <a:rPr lang="en-US" altLang="en-US" sz="4400" dirty="0"/>
              <a:t>Project Communication Management-Processes </a:t>
            </a:r>
            <a:endParaRPr lang="en-MY" dirty="0"/>
          </a:p>
        </p:txBody>
      </p:sp>
      <p:sp>
        <p:nvSpPr>
          <p:cNvPr id="3" name="Content Placeholder 2">
            <a:extLst>
              <a:ext uri="{FF2B5EF4-FFF2-40B4-BE49-F238E27FC236}">
                <a16:creationId xmlns:a16="http://schemas.microsoft.com/office/drawing/2014/main" id="{5C900315-EECD-2171-2CE7-EB0ED185A1AD}"/>
              </a:ext>
            </a:extLst>
          </p:cNvPr>
          <p:cNvSpPr>
            <a:spLocks noGrp="1"/>
          </p:cNvSpPr>
          <p:nvPr>
            <p:ph idx="1"/>
          </p:nvPr>
        </p:nvSpPr>
        <p:spPr/>
        <p:txBody>
          <a:bodyPr/>
          <a:lstStyle/>
          <a:p>
            <a:pPr algn="just"/>
            <a:r>
              <a:rPr lang="en-US" dirty="0"/>
              <a:t>Monitoring communications involves </a:t>
            </a:r>
          </a:p>
          <a:p>
            <a:pPr lvl="1" algn="just"/>
            <a:r>
              <a:rPr lang="en-US" dirty="0"/>
              <a:t>ensuring that stakeholder communication needs are met.</a:t>
            </a:r>
            <a:endParaRPr lang="en-MY" dirty="0"/>
          </a:p>
        </p:txBody>
      </p:sp>
    </p:spTree>
    <p:extLst>
      <p:ext uri="{BB962C8B-B14F-4D97-AF65-F5344CB8AC3E}">
        <p14:creationId xmlns:p14="http://schemas.microsoft.com/office/powerpoint/2010/main" val="1041511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50AB3-37F5-C642-5B50-75B5E5E29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6F0CA-0143-50DD-2C09-FA080AAAE35F}"/>
              </a:ext>
            </a:extLst>
          </p:cNvPr>
          <p:cNvSpPr>
            <a:spLocks noGrp="1"/>
          </p:cNvSpPr>
          <p:nvPr>
            <p:ph type="title"/>
          </p:nvPr>
        </p:nvSpPr>
        <p:spPr/>
        <p:txBody>
          <a:bodyPr>
            <a:normAutofit/>
          </a:bodyPr>
          <a:lstStyle/>
          <a:p>
            <a:r>
              <a:rPr lang="en-US" dirty="0"/>
              <a:t>Methods for Communicating</a:t>
            </a:r>
            <a:endParaRPr lang="en-MY" dirty="0"/>
          </a:p>
        </p:txBody>
      </p:sp>
      <p:sp>
        <p:nvSpPr>
          <p:cNvPr id="3" name="Content Placeholder 2">
            <a:extLst>
              <a:ext uri="{FF2B5EF4-FFF2-40B4-BE49-F238E27FC236}">
                <a16:creationId xmlns:a16="http://schemas.microsoft.com/office/drawing/2014/main" id="{8D844B49-E70D-2680-EF6E-4ECBBE62345A}"/>
              </a:ext>
            </a:extLst>
          </p:cNvPr>
          <p:cNvSpPr>
            <a:spLocks noGrp="1"/>
          </p:cNvSpPr>
          <p:nvPr>
            <p:ph idx="1"/>
          </p:nvPr>
        </p:nvSpPr>
        <p:spPr/>
        <p:txBody>
          <a:bodyPr/>
          <a:lstStyle/>
          <a:p>
            <a:pPr algn="just"/>
            <a:r>
              <a:rPr lang="en-MY" dirty="0"/>
              <a:t>Formal</a:t>
            </a:r>
          </a:p>
          <a:p>
            <a:pPr algn="just"/>
            <a:r>
              <a:rPr lang="en-MY" dirty="0"/>
              <a:t>Informal</a:t>
            </a:r>
          </a:p>
        </p:txBody>
      </p:sp>
    </p:spTree>
    <p:extLst>
      <p:ext uri="{BB962C8B-B14F-4D97-AF65-F5344CB8AC3E}">
        <p14:creationId xmlns:p14="http://schemas.microsoft.com/office/powerpoint/2010/main" val="902158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F59F3-CA07-6246-F03D-24C6414678F3}"/>
              </a:ext>
            </a:extLst>
          </p:cNvPr>
          <p:cNvSpPr>
            <a:spLocks noGrp="1"/>
          </p:cNvSpPr>
          <p:nvPr>
            <p:ph type="title"/>
          </p:nvPr>
        </p:nvSpPr>
        <p:spPr/>
        <p:txBody>
          <a:bodyPr>
            <a:normAutofit fontScale="90000"/>
          </a:bodyPr>
          <a:lstStyle/>
          <a:p>
            <a:r>
              <a:rPr lang="en-US" dirty="0"/>
              <a:t>Formal and Informal Methods for Communicating</a:t>
            </a:r>
            <a:endParaRPr lang="en-MY" dirty="0"/>
          </a:p>
        </p:txBody>
      </p:sp>
      <p:sp>
        <p:nvSpPr>
          <p:cNvPr id="3" name="Content Placeholder 2">
            <a:extLst>
              <a:ext uri="{FF2B5EF4-FFF2-40B4-BE49-F238E27FC236}">
                <a16:creationId xmlns:a16="http://schemas.microsoft.com/office/drawing/2014/main" id="{BD464CC7-CB25-E18B-76C4-26681B5EB543}"/>
              </a:ext>
            </a:extLst>
          </p:cNvPr>
          <p:cNvSpPr>
            <a:spLocks noGrp="1"/>
          </p:cNvSpPr>
          <p:nvPr>
            <p:ph idx="1"/>
          </p:nvPr>
        </p:nvSpPr>
        <p:spPr/>
        <p:txBody>
          <a:bodyPr/>
          <a:lstStyle/>
          <a:p>
            <a:pPr algn="just"/>
            <a:r>
              <a:rPr lang="en-US" dirty="0"/>
              <a:t>It is not enough for project team members to submit reports to their project managers and other stakeholders and then assume that everyone who needs to know the information will read the reports. Occasionally, that approach might work, but many people prefer informal communications. About half the general population are extroverts, so they enjoy talking to other people. </a:t>
            </a:r>
            <a:endParaRPr lang="en-MY" dirty="0"/>
          </a:p>
        </p:txBody>
      </p:sp>
    </p:spTree>
    <p:extLst>
      <p:ext uri="{BB962C8B-B14F-4D97-AF65-F5344CB8AC3E}">
        <p14:creationId xmlns:p14="http://schemas.microsoft.com/office/powerpoint/2010/main" val="3084150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52564-8831-60F0-7545-84FF516C13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13EC2-EB84-0D29-7FEF-6486F3CA3067}"/>
              </a:ext>
            </a:extLst>
          </p:cNvPr>
          <p:cNvSpPr>
            <a:spLocks noGrp="1"/>
          </p:cNvSpPr>
          <p:nvPr>
            <p:ph type="title"/>
          </p:nvPr>
        </p:nvSpPr>
        <p:spPr/>
        <p:txBody>
          <a:bodyPr>
            <a:normAutofit fontScale="90000"/>
          </a:bodyPr>
          <a:lstStyle/>
          <a:p>
            <a:r>
              <a:rPr lang="en-US" dirty="0"/>
              <a:t>Formal and Informal Methods for Communicating</a:t>
            </a:r>
            <a:endParaRPr lang="en-MY" dirty="0"/>
          </a:p>
        </p:txBody>
      </p:sp>
      <p:sp>
        <p:nvSpPr>
          <p:cNvPr id="3" name="Content Placeholder 2">
            <a:extLst>
              <a:ext uri="{FF2B5EF4-FFF2-40B4-BE49-F238E27FC236}">
                <a16:creationId xmlns:a16="http://schemas.microsoft.com/office/drawing/2014/main" id="{873F20D2-4F0C-49AC-74EE-F08CB5664DDB}"/>
              </a:ext>
            </a:extLst>
          </p:cNvPr>
          <p:cNvSpPr>
            <a:spLocks noGrp="1"/>
          </p:cNvSpPr>
          <p:nvPr>
            <p:ph idx="1"/>
          </p:nvPr>
        </p:nvSpPr>
        <p:spPr/>
        <p:txBody>
          <a:bodyPr/>
          <a:lstStyle/>
          <a:p>
            <a:pPr algn="just"/>
            <a:r>
              <a:rPr lang="en-US" dirty="0"/>
              <a:t>Many nontechnical professionals—from colleagues to managers—prefer to have a two-way conversation about a project rather than reading detailed reports, e-mails, or Web pages to try to find pertinent information</a:t>
            </a:r>
            <a:endParaRPr lang="en-MY" dirty="0"/>
          </a:p>
        </p:txBody>
      </p:sp>
    </p:spTree>
    <p:extLst>
      <p:ext uri="{BB962C8B-B14F-4D97-AF65-F5344CB8AC3E}">
        <p14:creationId xmlns:p14="http://schemas.microsoft.com/office/powerpoint/2010/main" val="4067442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B3B2C-CFD2-FAAE-EEB4-544F698292EE}"/>
              </a:ext>
            </a:extLst>
          </p:cNvPr>
          <p:cNvSpPr>
            <a:spLocks noGrp="1"/>
          </p:cNvSpPr>
          <p:nvPr>
            <p:ph type="title"/>
          </p:nvPr>
        </p:nvSpPr>
        <p:spPr/>
        <p:txBody>
          <a:bodyPr>
            <a:normAutofit fontScale="90000"/>
          </a:bodyPr>
          <a:lstStyle/>
          <a:p>
            <a:r>
              <a:rPr lang="en-US" dirty="0"/>
              <a:t>Formal and Informal Methods for Communicating</a:t>
            </a:r>
            <a:endParaRPr lang="en-MY" dirty="0"/>
          </a:p>
        </p:txBody>
      </p:sp>
      <p:sp>
        <p:nvSpPr>
          <p:cNvPr id="3" name="Content Placeholder 2">
            <a:extLst>
              <a:ext uri="{FF2B5EF4-FFF2-40B4-BE49-F238E27FC236}">
                <a16:creationId xmlns:a16="http://schemas.microsoft.com/office/drawing/2014/main" id="{91B1E1DB-9865-5ECC-5201-6B79E2DBDE86}"/>
              </a:ext>
            </a:extLst>
          </p:cNvPr>
          <p:cNvSpPr>
            <a:spLocks noGrp="1"/>
          </p:cNvSpPr>
          <p:nvPr>
            <p:ph idx="1"/>
          </p:nvPr>
        </p:nvSpPr>
        <p:spPr/>
        <p:txBody>
          <a:bodyPr/>
          <a:lstStyle/>
          <a:p>
            <a:pPr algn="just"/>
            <a:r>
              <a:rPr lang="en-US" dirty="0"/>
              <a:t>Many experts believe that the difference between good project managers and excellent project managers is their ability to nurture relationships and use empathic listening skills</a:t>
            </a:r>
            <a:endParaRPr lang="en-MY" dirty="0"/>
          </a:p>
        </p:txBody>
      </p:sp>
    </p:spTree>
    <p:extLst>
      <p:ext uri="{BB962C8B-B14F-4D97-AF65-F5344CB8AC3E}">
        <p14:creationId xmlns:p14="http://schemas.microsoft.com/office/powerpoint/2010/main" val="2392508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CF881-A52E-B103-5445-9DDD2DF42BA8}"/>
              </a:ext>
            </a:extLst>
          </p:cNvPr>
          <p:cNvSpPr>
            <a:spLocks noGrp="1"/>
          </p:cNvSpPr>
          <p:nvPr>
            <p:ph type="title"/>
          </p:nvPr>
        </p:nvSpPr>
        <p:spPr/>
        <p:txBody>
          <a:bodyPr>
            <a:normAutofit fontScale="90000"/>
          </a:bodyPr>
          <a:lstStyle/>
          <a:p>
            <a:r>
              <a:rPr lang="en-US" dirty="0"/>
              <a:t>Determining the Number of Communication Channels</a:t>
            </a:r>
            <a:endParaRPr lang="en-MY" dirty="0"/>
          </a:p>
        </p:txBody>
      </p:sp>
      <p:sp>
        <p:nvSpPr>
          <p:cNvPr id="3" name="Content Placeholder 2">
            <a:extLst>
              <a:ext uri="{FF2B5EF4-FFF2-40B4-BE49-F238E27FC236}">
                <a16:creationId xmlns:a16="http://schemas.microsoft.com/office/drawing/2014/main" id="{167D0C61-034C-545B-A9CF-69B8D541DD5C}"/>
              </a:ext>
            </a:extLst>
          </p:cNvPr>
          <p:cNvSpPr>
            <a:spLocks noGrp="1"/>
          </p:cNvSpPr>
          <p:nvPr>
            <p:ph idx="1"/>
          </p:nvPr>
        </p:nvSpPr>
        <p:spPr/>
        <p:txBody>
          <a:bodyPr/>
          <a:lstStyle/>
          <a:p>
            <a:pPr algn="just"/>
            <a:r>
              <a:rPr lang="en-US" dirty="0"/>
              <a:t>Another important aspect of communications is the number of people involved in a project. As the number increases, the complexity of communication increases because there are more channels or pathways through which people can communicate. </a:t>
            </a:r>
            <a:endParaRPr lang="en-MY" dirty="0"/>
          </a:p>
        </p:txBody>
      </p:sp>
    </p:spTree>
    <p:extLst>
      <p:ext uri="{BB962C8B-B14F-4D97-AF65-F5344CB8AC3E}">
        <p14:creationId xmlns:p14="http://schemas.microsoft.com/office/powerpoint/2010/main" val="2623904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7E875-72EA-5909-7E02-3EDDD8040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B44105-0A98-3111-62FB-0CDE075F6835}"/>
              </a:ext>
            </a:extLst>
          </p:cNvPr>
          <p:cNvSpPr>
            <a:spLocks noGrp="1"/>
          </p:cNvSpPr>
          <p:nvPr>
            <p:ph type="title"/>
          </p:nvPr>
        </p:nvSpPr>
        <p:spPr/>
        <p:txBody>
          <a:bodyPr>
            <a:normAutofit fontScale="90000"/>
          </a:bodyPr>
          <a:lstStyle/>
          <a:p>
            <a:r>
              <a:rPr lang="en-US" dirty="0"/>
              <a:t>Determining the Number of Communication Channels</a:t>
            </a:r>
            <a:endParaRPr lang="en-MY" dirty="0"/>
          </a:p>
        </p:txBody>
      </p:sp>
      <p:sp>
        <p:nvSpPr>
          <p:cNvPr id="3" name="Content Placeholder 2">
            <a:extLst>
              <a:ext uri="{FF2B5EF4-FFF2-40B4-BE49-F238E27FC236}">
                <a16:creationId xmlns:a16="http://schemas.microsoft.com/office/drawing/2014/main" id="{A1E959A7-5D4B-6E86-9D06-D237E2BDC14A}"/>
              </a:ext>
            </a:extLst>
          </p:cNvPr>
          <p:cNvSpPr>
            <a:spLocks noGrp="1"/>
          </p:cNvSpPr>
          <p:nvPr>
            <p:ph idx="1"/>
          </p:nvPr>
        </p:nvSpPr>
        <p:spPr/>
        <p:txBody>
          <a:bodyPr/>
          <a:lstStyle/>
          <a:p>
            <a:pPr algn="just"/>
            <a:r>
              <a:rPr lang="en-US" dirty="0"/>
              <a:t>Formula to determine the number of communication channels as the number of people involved in a project increases:</a:t>
            </a:r>
          </a:p>
          <a:p>
            <a:pPr algn="just"/>
            <a:endParaRPr lang="en-US" dirty="0"/>
          </a:p>
          <a:p>
            <a:pPr algn="just"/>
            <a:r>
              <a:rPr lang="en-US" dirty="0"/>
              <a:t>No of communication channel= n (n- 1) /2</a:t>
            </a:r>
            <a:endParaRPr lang="en-MY" dirty="0"/>
          </a:p>
        </p:txBody>
      </p:sp>
    </p:spTree>
    <p:extLst>
      <p:ext uri="{BB962C8B-B14F-4D97-AF65-F5344CB8AC3E}">
        <p14:creationId xmlns:p14="http://schemas.microsoft.com/office/powerpoint/2010/main" val="4145425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0EEC0-6EE8-0B83-CDA8-59E09B480967}"/>
              </a:ext>
            </a:extLst>
          </p:cNvPr>
          <p:cNvSpPr>
            <a:spLocks noGrp="1"/>
          </p:cNvSpPr>
          <p:nvPr>
            <p:ph type="title"/>
          </p:nvPr>
        </p:nvSpPr>
        <p:spPr/>
        <p:txBody>
          <a:bodyPr>
            <a:normAutofit fontScale="90000"/>
          </a:bodyPr>
          <a:lstStyle/>
          <a:p>
            <a:r>
              <a:rPr lang="en-US" dirty="0"/>
              <a:t>Determining the Number of Communication Channels</a:t>
            </a:r>
            <a:endParaRPr lang="en-MY" dirty="0"/>
          </a:p>
        </p:txBody>
      </p:sp>
      <p:sp>
        <p:nvSpPr>
          <p:cNvPr id="3" name="Content Placeholder 2">
            <a:extLst>
              <a:ext uri="{FF2B5EF4-FFF2-40B4-BE49-F238E27FC236}">
                <a16:creationId xmlns:a16="http://schemas.microsoft.com/office/drawing/2014/main" id="{D2127BA4-9E05-85EF-5FC4-CCCC659450AE}"/>
              </a:ext>
            </a:extLst>
          </p:cNvPr>
          <p:cNvSpPr>
            <a:spLocks noGrp="1"/>
          </p:cNvSpPr>
          <p:nvPr>
            <p:ph idx="1"/>
          </p:nvPr>
        </p:nvSpPr>
        <p:spPr/>
        <p:txBody>
          <a:bodyPr/>
          <a:lstStyle/>
          <a:p>
            <a:pPr algn="just"/>
            <a:r>
              <a:rPr lang="en-US" sz="2000" dirty="0"/>
              <a:t>Three people have three channels: (3(32 5 1))/2 3. Four people have six channels, five people have 10, and so on. Figure 10-2 illustrates this concept. You can see that as the number of people increases above three, the number of communication channels increases rapidly. Project managers should try to limit the size of teams or </a:t>
            </a:r>
            <a:r>
              <a:rPr lang="en-US" sz="2000" dirty="0" err="1"/>
              <a:t>subteams</a:t>
            </a:r>
            <a:r>
              <a:rPr lang="en-US" sz="2000" dirty="0"/>
              <a:t> to avoid making communications too complex. For example, if three people are working together on a particular project task, they have three communication channels. If you added two more people to their team, you would have 10 communication channels, an increase of seven. If you added three more people instead of two, you’d have 12 communication channels. You can see how quickly communication becomes more complex as you increase team size</a:t>
            </a:r>
            <a:endParaRPr lang="en-MY" sz="2000" dirty="0"/>
          </a:p>
        </p:txBody>
      </p:sp>
    </p:spTree>
    <p:extLst>
      <p:ext uri="{BB962C8B-B14F-4D97-AF65-F5344CB8AC3E}">
        <p14:creationId xmlns:p14="http://schemas.microsoft.com/office/powerpoint/2010/main" val="1898734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B0FA9-7348-14C6-4787-A646C8AE41E9}"/>
              </a:ext>
            </a:extLst>
          </p:cNvPr>
          <p:cNvSpPr>
            <a:spLocks noGrp="1"/>
          </p:cNvSpPr>
          <p:nvPr>
            <p:ph type="title"/>
          </p:nvPr>
        </p:nvSpPr>
        <p:spPr/>
        <p:txBody>
          <a:bodyPr/>
          <a:lstStyle/>
          <a:p>
            <a:endParaRPr lang="en-MY"/>
          </a:p>
        </p:txBody>
      </p:sp>
      <p:pic>
        <p:nvPicPr>
          <p:cNvPr id="5" name="Content Placeholder 4">
            <a:extLst>
              <a:ext uri="{FF2B5EF4-FFF2-40B4-BE49-F238E27FC236}">
                <a16:creationId xmlns:a16="http://schemas.microsoft.com/office/drawing/2014/main" id="{208F9970-F273-9E60-BD22-50C0A8D72794}"/>
              </a:ext>
            </a:extLst>
          </p:cNvPr>
          <p:cNvPicPr>
            <a:picLocks noGrp="1" noChangeAspect="1"/>
          </p:cNvPicPr>
          <p:nvPr>
            <p:ph idx="1"/>
          </p:nvPr>
        </p:nvPicPr>
        <p:blipFill>
          <a:blip r:embed="rId2"/>
          <a:srcRect l="23585" t="26409" r="29366" b="18967"/>
          <a:stretch/>
        </p:blipFill>
        <p:spPr>
          <a:xfrm>
            <a:off x="921146" y="812411"/>
            <a:ext cx="8013304" cy="5233178"/>
          </a:xfrm>
        </p:spPr>
      </p:pic>
    </p:spTree>
    <p:extLst>
      <p:ext uri="{BB962C8B-B14F-4D97-AF65-F5344CB8AC3E}">
        <p14:creationId xmlns:p14="http://schemas.microsoft.com/office/powerpoint/2010/main" val="2546799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A37E1-94AE-F1D7-7B6B-1FFD1BDD90E3}"/>
              </a:ext>
            </a:extLst>
          </p:cNvPr>
          <p:cNvSpPr>
            <a:spLocks noGrp="1"/>
          </p:cNvSpPr>
          <p:nvPr>
            <p:ph type="title"/>
          </p:nvPr>
        </p:nvSpPr>
        <p:spPr/>
        <p:txBody>
          <a:bodyPr>
            <a:normAutofit fontScale="90000"/>
          </a:bodyPr>
          <a:lstStyle/>
          <a:p>
            <a:r>
              <a:rPr lang="en-MY" dirty="0"/>
              <a:t>Planning Communications </a:t>
            </a:r>
            <a:r>
              <a:rPr lang="en-MY" dirty="0" err="1"/>
              <a:t>Managemen</a:t>
            </a:r>
            <a:endParaRPr lang="en-MY" dirty="0"/>
          </a:p>
        </p:txBody>
      </p:sp>
      <p:sp>
        <p:nvSpPr>
          <p:cNvPr id="3" name="Content Placeholder 2">
            <a:extLst>
              <a:ext uri="{FF2B5EF4-FFF2-40B4-BE49-F238E27FC236}">
                <a16:creationId xmlns:a16="http://schemas.microsoft.com/office/drawing/2014/main" id="{2E8AFD24-C9D7-42CE-93FB-D8CAE23D97E1}"/>
              </a:ext>
            </a:extLst>
          </p:cNvPr>
          <p:cNvSpPr>
            <a:spLocks noGrp="1"/>
          </p:cNvSpPr>
          <p:nvPr>
            <p:ph idx="1"/>
          </p:nvPr>
        </p:nvSpPr>
        <p:spPr/>
        <p:txBody>
          <a:bodyPr/>
          <a:lstStyle/>
          <a:p>
            <a:pPr algn="just"/>
            <a:r>
              <a:rPr lang="en-US" dirty="0"/>
              <a:t>Because communication is so important on projects, every project should include a communications management plan—a document that guides project communications. This plan should be part of the overall project management plan</a:t>
            </a:r>
            <a:endParaRPr lang="en-MY" dirty="0"/>
          </a:p>
        </p:txBody>
      </p:sp>
    </p:spTree>
    <p:extLst>
      <p:ext uri="{BB962C8B-B14F-4D97-AF65-F5344CB8AC3E}">
        <p14:creationId xmlns:p14="http://schemas.microsoft.com/office/powerpoint/2010/main" val="3655203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D5602-D358-AE7B-31D5-FE01C1CF486E}"/>
              </a:ext>
            </a:extLst>
          </p:cNvPr>
          <p:cNvSpPr>
            <a:spLocks noGrp="1"/>
          </p:cNvSpPr>
          <p:nvPr>
            <p:ph type="title"/>
          </p:nvPr>
        </p:nvSpPr>
        <p:spPr/>
        <p:txBody>
          <a:bodyPr>
            <a:normAutofit fontScale="90000"/>
          </a:bodyPr>
          <a:lstStyle/>
          <a:p>
            <a:r>
              <a:rPr lang="en-MY" dirty="0"/>
              <a:t>Sample stakeholder communications analysis</a:t>
            </a:r>
          </a:p>
        </p:txBody>
      </p:sp>
      <p:pic>
        <p:nvPicPr>
          <p:cNvPr id="7" name="Content Placeholder 6">
            <a:extLst>
              <a:ext uri="{FF2B5EF4-FFF2-40B4-BE49-F238E27FC236}">
                <a16:creationId xmlns:a16="http://schemas.microsoft.com/office/drawing/2014/main" id="{28777DF2-343E-2A12-C6F9-52E8E8721A80}"/>
              </a:ext>
            </a:extLst>
          </p:cNvPr>
          <p:cNvPicPr>
            <a:picLocks noGrp="1" noChangeAspect="1"/>
          </p:cNvPicPr>
          <p:nvPr>
            <p:ph idx="1"/>
          </p:nvPr>
        </p:nvPicPr>
        <p:blipFill>
          <a:blip r:embed="rId2"/>
          <a:srcRect l="23585" t="25272" r="24565" b="16039"/>
          <a:stretch/>
        </p:blipFill>
        <p:spPr>
          <a:xfrm>
            <a:off x="1156950" y="846138"/>
            <a:ext cx="7987050" cy="5472608"/>
          </a:xfrm>
        </p:spPr>
      </p:pic>
    </p:spTree>
    <p:extLst>
      <p:ext uri="{BB962C8B-B14F-4D97-AF65-F5344CB8AC3E}">
        <p14:creationId xmlns:p14="http://schemas.microsoft.com/office/powerpoint/2010/main" val="515262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8B24C-1FC6-EA47-09F3-B6E8FFD76399}"/>
              </a:ext>
            </a:extLst>
          </p:cNvPr>
          <p:cNvSpPr>
            <a:spLocks noGrp="1"/>
          </p:cNvSpPr>
          <p:nvPr>
            <p:ph type="title"/>
          </p:nvPr>
        </p:nvSpPr>
        <p:spPr/>
        <p:txBody>
          <a:bodyPr>
            <a:normAutofit fontScale="90000"/>
          </a:bodyPr>
          <a:lstStyle/>
          <a:p>
            <a:r>
              <a:rPr lang="en-US" dirty="0"/>
              <a:t>Classifications for communication methods:</a:t>
            </a:r>
            <a:endParaRPr lang="en-MY" dirty="0"/>
          </a:p>
        </p:txBody>
      </p:sp>
      <p:sp>
        <p:nvSpPr>
          <p:cNvPr id="3" name="Content Placeholder 2">
            <a:extLst>
              <a:ext uri="{FF2B5EF4-FFF2-40B4-BE49-F238E27FC236}">
                <a16:creationId xmlns:a16="http://schemas.microsoft.com/office/drawing/2014/main" id="{EBC1A1D8-2035-C484-D5BD-E7BE45167208}"/>
              </a:ext>
            </a:extLst>
          </p:cNvPr>
          <p:cNvSpPr>
            <a:spLocks noGrp="1"/>
          </p:cNvSpPr>
          <p:nvPr>
            <p:ph idx="1"/>
          </p:nvPr>
        </p:nvSpPr>
        <p:spPr/>
        <p:txBody>
          <a:bodyPr/>
          <a:lstStyle/>
          <a:p>
            <a:r>
              <a:rPr lang="en-US" dirty="0"/>
              <a:t>There are three broad classifications for communication methods:</a:t>
            </a:r>
          </a:p>
          <a:p>
            <a:r>
              <a:rPr lang="en-US" dirty="0"/>
              <a:t>Interactive communication:</a:t>
            </a:r>
          </a:p>
          <a:p>
            <a:r>
              <a:rPr lang="en-US" dirty="0"/>
              <a:t>Push communication: </a:t>
            </a:r>
          </a:p>
          <a:p>
            <a:r>
              <a:rPr lang="en-US" dirty="0"/>
              <a:t>Pull Communication</a:t>
            </a:r>
            <a:endParaRPr lang="en-MY" dirty="0"/>
          </a:p>
        </p:txBody>
      </p:sp>
    </p:spTree>
    <p:extLst>
      <p:ext uri="{BB962C8B-B14F-4D97-AF65-F5344CB8AC3E}">
        <p14:creationId xmlns:p14="http://schemas.microsoft.com/office/powerpoint/2010/main" val="4058940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E087E-901D-BDD1-042F-5C0EFD0BEA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3181D6-0903-56A8-6461-6F9DF0E4060F}"/>
              </a:ext>
            </a:extLst>
          </p:cNvPr>
          <p:cNvSpPr>
            <a:spLocks noGrp="1"/>
          </p:cNvSpPr>
          <p:nvPr>
            <p:ph type="title"/>
          </p:nvPr>
        </p:nvSpPr>
        <p:spPr/>
        <p:txBody>
          <a:bodyPr>
            <a:normAutofit fontScale="90000"/>
          </a:bodyPr>
          <a:lstStyle/>
          <a:p>
            <a:r>
              <a:rPr lang="en-US" dirty="0"/>
              <a:t>Classifications for communication methods:</a:t>
            </a:r>
            <a:endParaRPr lang="en-MY" dirty="0"/>
          </a:p>
        </p:txBody>
      </p:sp>
      <p:sp>
        <p:nvSpPr>
          <p:cNvPr id="3" name="Content Placeholder 2">
            <a:extLst>
              <a:ext uri="{FF2B5EF4-FFF2-40B4-BE49-F238E27FC236}">
                <a16:creationId xmlns:a16="http://schemas.microsoft.com/office/drawing/2014/main" id="{BAD6B888-DC19-BC0A-53AD-4299C80A102E}"/>
              </a:ext>
            </a:extLst>
          </p:cNvPr>
          <p:cNvSpPr>
            <a:spLocks noGrp="1"/>
          </p:cNvSpPr>
          <p:nvPr>
            <p:ph idx="1"/>
          </p:nvPr>
        </p:nvSpPr>
        <p:spPr/>
        <p:txBody>
          <a:bodyPr/>
          <a:lstStyle/>
          <a:p>
            <a:r>
              <a:rPr lang="en-US" dirty="0"/>
              <a:t>Interactive communication: </a:t>
            </a:r>
          </a:p>
          <a:p>
            <a:pPr lvl="1" algn="just"/>
            <a:r>
              <a:rPr lang="en-US" dirty="0"/>
              <a:t>As the name implies, two or more people interact to exchange information via meetings, phone calls, or video conferencing. This method is usually the most effective way to ensure common understanding. </a:t>
            </a:r>
            <a:endParaRPr lang="en-MY" dirty="0"/>
          </a:p>
        </p:txBody>
      </p:sp>
    </p:spTree>
    <p:extLst>
      <p:ext uri="{BB962C8B-B14F-4D97-AF65-F5344CB8AC3E}">
        <p14:creationId xmlns:p14="http://schemas.microsoft.com/office/powerpoint/2010/main" val="3450847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2221D-69A6-41B3-1B9A-FEBEBBAACC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CE1C35-3325-74CD-B659-BF4AC1F35E1C}"/>
              </a:ext>
            </a:extLst>
          </p:cNvPr>
          <p:cNvSpPr>
            <a:spLocks noGrp="1"/>
          </p:cNvSpPr>
          <p:nvPr>
            <p:ph type="title"/>
          </p:nvPr>
        </p:nvSpPr>
        <p:spPr/>
        <p:txBody>
          <a:bodyPr>
            <a:normAutofit fontScale="90000"/>
          </a:bodyPr>
          <a:lstStyle/>
          <a:p>
            <a:r>
              <a:rPr lang="en-US" dirty="0"/>
              <a:t>Classifications for communication methods:</a:t>
            </a:r>
            <a:endParaRPr lang="en-MY" dirty="0"/>
          </a:p>
        </p:txBody>
      </p:sp>
      <p:sp>
        <p:nvSpPr>
          <p:cNvPr id="3" name="Content Placeholder 2">
            <a:extLst>
              <a:ext uri="{FF2B5EF4-FFF2-40B4-BE49-F238E27FC236}">
                <a16:creationId xmlns:a16="http://schemas.microsoft.com/office/drawing/2014/main" id="{F083F7F8-03BB-5D7D-F8E8-F23A2108041B}"/>
              </a:ext>
            </a:extLst>
          </p:cNvPr>
          <p:cNvSpPr>
            <a:spLocks noGrp="1"/>
          </p:cNvSpPr>
          <p:nvPr>
            <p:ph idx="1"/>
          </p:nvPr>
        </p:nvSpPr>
        <p:spPr/>
        <p:txBody>
          <a:bodyPr/>
          <a:lstStyle/>
          <a:p>
            <a:pPr algn="just"/>
            <a:r>
              <a:rPr lang="en-US" dirty="0"/>
              <a:t>Push communication: Information is sent or pushed to recipients without their request via reports, e-mails, faxes, voice mails, and other means. </a:t>
            </a:r>
            <a:endParaRPr lang="en-MY" dirty="0"/>
          </a:p>
        </p:txBody>
      </p:sp>
    </p:spTree>
    <p:extLst>
      <p:ext uri="{BB962C8B-B14F-4D97-AF65-F5344CB8AC3E}">
        <p14:creationId xmlns:p14="http://schemas.microsoft.com/office/powerpoint/2010/main" val="3964775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E3850-E8FC-F954-4F99-7D8092A39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C3498-138D-EA18-A22D-227590F9FE94}"/>
              </a:ext>
            </a:extLst>
          </p:cNvPr>
          <p:cNvSpPr>
            <a:spLocks noGrp="1"/>
          </p:cNvSpPr>
          <p:nvPr>
            <p:ph type="title"/>
          </p:nvPr>
        </p:nvSpPr>
        <p:spPr/>
        <p:txBody>
          <a:bodyPr>
            <a:normAutofit fontScale="90000"/>
          </a:bodyPr>
          <a:lstStyle/>
          <a:p>
            <a:r>
              <a:rPr lang="en-US" dirty="0"/>
              <a:t>Classifications for communication methods:</a:t>
            </a:r>
            <a:endParaRPr lang="en-MY" dirty="0"/>
          </a:p>
        </p:txBody>
      </p:sp>
      <p:sp>
        <p:nvSpPr>
          <p:cNvPr id="3" name="Content Placeholder 2">
            <a:extLst>
              <a:ext uri="{FF2B5EF4-FFF2-40B4-BE49-F238E27FC236}">
                <a16:creationId xmlns:a16="http://schemas.microsoft.com/office/drawing/2014/main" id="{38392451-5A7D-E2C5-E9E4-BDDF74F06ABF}"/>
              </a:ext>
            </a:extLst>
          </p:cNvPr>
          <p:cNvSpPr>
            <a:spLocks noGrp="1"/>
          </p:cNvSpPr>
          <p:nvPr>
            <p:ph idx="1"/>
          </p:nvPr>
        </p:nvSpPr>
        <p:spPr/>
        <p:txBody>
          <a:bodyPr/>
          <a:lstStyle/>
          <a:p>
            <a:pPr algn="just"/>
            <a:r>
              <a:rPr lang="en-US" dirty="0"/>
              <a:t>Pull communication: Information is sent to recipients at their request via websites, bulletin boards, e-learning, knowledge repositories like blogs and wikis, and other means</a:t>
            </a:r>
            <a:endParaRPr lang="en-MY" dirty="0"/>
          </a:p>
        </p:txBody>
      </p:sp>
    </p:spTree>
    <p:extLst>
      <p:ext uri="{BB962C8B-B14F-4D97-AF65-F5344CB8AC3E}">
        <p14:creationId xmlns:p14="http://schemas.microsoft.com/office/powerpoint/2010/main" val="4321205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2535</TotalTime>
  <Words>731</Words>
  <Application>Microsoft Office PowerPoint</Application>
  <PresentationFormat>On-screen Show (4:3)</PresentationFormat>
  <Paragraphs>58</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Gill Sans MT</vt:lpstr>
      <vt:lpstr>Goudy Stout</vt:lpstr>
      <vt:lpstr>Times</vt:lpstr>
      <vt:lpstr>Times New Roman</vt:lpstr>
      <vt:lpstr>Verdana</vt:lpstr>
      <vt:lpstr>Wingdings 2</vt:lpstr>
      <vt:lpstr>Solstice</vt:lpstr>
      <vt:lpstr>PowerPoint Presentation</vt:lpstr>
      <vt:lpstr>Project Communication Management</vt:lpstr>
      <vt:lpstr>Project Communication Management</vt:lpstr>
      <vt:lpstr>Project Communication Management-Processes </vt:lpstr>
      <vt:lpstr>Project Communication Management-Processes </vt:lpstr>
      <vt:lpstr>Project Communication Management-Processes </vt:lpstr>
      <vt:lpstr>Methods for Communicating</vt:lpstr>
      <vt:lpstr>Formal and Informal Methods for Communicating</vt:lpstr>
      <vt:lpstr>Formal and Informal Methods for Communicating</vt:lpstr>
      <vt:lpstr>Formal and Informal Methods for Communicating</vt:lpstr>
      <vt:lpstr>Determining the Number of Communication Channels</vt:lpstr>
      <vt:lpstr>Determining the Number of Communication Channels</vt:lpstr>
      <vt:lpstr>Determining the Number of Communication Channels</vt:lpstr>
      <vt:lpstr>PowerPoint Presentation</vt:lpstr>
      <vt:lpstr>Planning Communications Managemen</vt:lpstr>
      <vt:lpstr>Sample stakeholder communications analysis</vt:lpstr>
      <vt:lpstr>Classifications for communication methods:</vt:lpstr>
      <vt:lpstr>Classifications for communication methods:</vt:lpstr>
      <vt:lpstr>Classifications for communication methods:</vt:lpstr>
      <vt:lpstr>Classifications for communication methods: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MN</dc:creator>
  <cp:lastModifiedBy>Sumaira Nazir</cp:lastModifiedBy>
  <cp:revision>231</cp:revision>
  <cp:lastPrinted>2014-09-07T17:36:35Z</cp:lastPrinted>
  <dcterms:created xsi:type="dcterms:W3CDTF">2006-12-08T11:09:38Z</dcterms:created>
  <dcterms:modified xsi:type="dcterms:W3CDTF">2025-05-28T10:40:09Z</dcterms:modified>
</cp:coreProperties>
</file>