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4630400" cy="8229600"/>
  <p:notesSz cx="8229600" cy="146304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56" d="100"/>
          <a:sy n="56" d="100"/>
        </p:scale>
        <p:origin x="620" y="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1147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hyperlink" Target="https://gamma.app" TargetMode="Externa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hyperlink" Target="https://gamma.app" TargetMode="Externa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hyperlink" Target="https://gamma.app" TargetMode="External"/><Relationship Id="rId5" Type="http://schemas.openxmlformats.org/officeDocument/2006/relationships/image" Target="../media/image5.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8" Type="http://schemas.openxmlformats.org/officeDocument/2006/relationships/hyperlink" Target="https://gamma.app" TargetMode="External"/><Relationship Id="rId3" Type="http://schemas.openxmlformats.org/officeDocument/2006/relationships/image" Target="../media/image1.png"/><Relationship Id="rId7"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 Id="rId9"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hyperlink" Target="https://gamma.app" TargetMode="Externa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hyperlink" Target="https://gamma.app" TargetMode="Externa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hyperlink" Target="https://gamma.app" TargetMode="Externa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hyperlink" Target="https://gamma.app" TargetMode="Externa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hyperlink" Target="https://gamma.app" TargetMode="External"/><Relationship Id="rId4"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75000"/>
            </a:srgbClr>
          </a:solidFill>
          <a:ln/>
        </p:spPr>
      </p:sp>
      <p:pic>
        <p:nvPicPr>
          <p:cNvPr id="4" name="Image 1" descr="preencoded.png"/>
          <p:cNvPicPr>
            <a:picLocks noChangeAspect="1"/>
          </p:cNvPicPr>
          <p:nvPr/>
        </p:nvPicPr>
        <p:blipFill>
          <a:blip r:embed="rId4"/>
          <a:stretch>
            <a:fillRect/>
          </a:stretch>
        </p:blipFill>
        <p:spPr>
          <a:xfrm>
            <a:off x="9151620" y="0"/>
            <a:ext cx="5486400" cy="8229600"/>
          </a:xfrm>
          <a:prstGeom prst="rect">
            <a:avLst/>
          </a:prstGeom>
        </p:spPr>
      </p:pic>
      <p:sp>
        <p:nvSpPr>
          <p:cNvPr id="5" name="Text 1"/>
          <p:cNvSpPr/>
          <p:nvPr/>
        </p:nvSpPr>
        <p:spPr>
          <a:xfrm>
            <a:off x="833199" y="1143238"/>
            <a:ext cx="7477601" cy="3832860"/>
          </a:xfrm>
          <a:prstGeom prst="rect">
            <a:avLst/>
          </a:prstGeom>
          <a:noFill/>
          <a:ln/>
        </p:spPr>
        <p:txBody>
          <a:bodyPr wrap="square" rtlCol="0" anchor="t"/>
          <a:lstStyle/>
          <a:p>
            <a:pPr marL="0" indent="0">
              <a:lnSpc>
                <a:spcPts val="7545"/>
              </a:lnSpc>
              <a:buNone/>
            </a:pPr>
            <a:r>
              <a:rPr lang="en-US" sz="6036" b="1" dirty="0">
                <a:solidFill>
                  <a:srgbClr val="5B5F72"/>
                </a:solidFill>
                <a:latin typeface="Instrument Sans" pitchFamily="34" charset="0"/>
                <a:ea typeface="Instrument Sans" pitchFamily="34" charset="-122"/>
                <a:cs typeface="Instrument Sans" pitchFamily="34" charset="-120"/>
              </a:rPr>
              <a:t>Introduction to Enhanced Entity Relationship Modeling (EERM)</a:t>
            </a:r>
            <a:endParaRPr lang="en-US" sz="6036" dirty="0"/>
          </a:p>
        </p:txBody>
      </p:sp>
      <p:sp>
        <p:nvSpPr>
          <p:cNvPr id="6" name="Text 2"/>
          <p:cNvSpPr/>
          <p:nvPr/>
        </p:nvSpPr>
        <p:spPr>
          <a:xfrm>
            <a:off x="833199" y="5309354"/>
            <a:ext cx="7477601" cy="1777008"/>
          </a:xfrm>
          <a:prstGeom prst="rect">
            <a:avLst/>
          </a:prstGeom>
          <a:noFill/>
          <a:ln/>
        </p:spPr>
        <p:txBody>
          <a:bodyPr wrap="square" rtlCol="0" anchor="t"/>
          <a:lstStyle/>
          <a:p>
            <a:pPr marL="0" indent="0">
              <a:lnSpc>
                <a:spcPts val="2799"/>
              </a:lnSpc>
              <a:buNone/>
            </a:pPr>
            <a:r>
              <a:rPr lang="en-US" sz="1750" dirty="0">
                <a:solidFill>
                  <a:srgbClr val="5B5F71"/>
                </a:solidFill>
                <a:latin typeface="Instrument Sans" pitchFamily="34" charset="0"/>
                <a:ea typeface="Instrument Sans" pitchFamily="34" charset="-122"/>
                <a:cs typeface="Instrument Sans" pitchFamily="34" charset="-120"/>
              </a:rPr>
              <a:t>EERM is a powerful data modeling technique that extends the classic Entity Relationship Diagram (ERD) to capture more complex relationships and structures within an information system. It provides a comprehensive way to visualize and understand the entities, attributes, and connections that make up a database or application.</a:t>
            </a:r>
            <a:endParaRPr lang="en-US" sz="1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75000"/>
            </a:srgbClr>
          </a:solidFill>
          <a:ln/>
        </p:spPr>
      </p:sp>
      <p:sp>
        <p:nvSpPr>
          <p:cNvPr id="4" name="Text 1"/>
          <p:cNvSpPr/>
          <p:nvPr/>
        </p:nvSpPr>
        <p:spPr>
          <a:xfrm>
            <a:off x="2037993" y="2390418"/>
            <a:ext cx="6489144" cy="694373"/>
          </a:xfrm>
          <a:prstGeom prst="rect">
            <a:avLst/>
          </a:prstGeom>
          <a:noFill/>
          <a:ln/>
        </p:spPr>
        <p:txBody>
          <a:bodyPr wrap="none" rtlCol="0" anchor="t"/>
          <a:lstStyle/>
          <a:p>
            <a:pPr marL="0" indent="0">
              <a:lnSpc>
                <a:spcPts val="5468"/>
              </a:lnSpc>
              <a:buNone/>
            </a:pPr>
            <a:r>
              <a:rPr lang="en-US" sz="4374" b="1" dirty="0">
                <a:solidFill>
                  <a:srgbClr val="5B5F72"/>
                </a:solidFill>
                <a:latin typeface="Instrument Sans" pitchFamily="34" charset="0"/>
                <a:ea typeface="Instrument Sans" pitchFamily="34" charset="-122"/>
                <a:cs typeface="Instrument Sans" pitchFamily="34" charset="-120"/>
              </a:rPr>
              <a:t>Types of EERM Diagrams</a:t>
            </a:r>
            <a:endParaRPr lang="en-US" sz="4374" dirty="0"/>
          </a:p>
        </p:txBody>
      </p:sp>
      <p:sp>
        <p:nvSpPr>
          <p:cNvPr id="5" name="Text 2"/>
          <p:cNvSpPr/>
          <p:nvPr/>
        </p:nvSpPr>
        <p:spPr>
          <a:xfrm>
            <a:off x="2393394" y="3529132"/>
            <a:ext cx="10199013" cy="710803"/>
          </a:xfrm>
          <a:prstGeom prst="rect">
            <a:avLst/>
          </a:prstGeom>
          <a:noFill/>
          <a:ln/>
        </p:spPr>
        <p:txBody>
          <a:bodyPr wrap="square" rtlCol="0" anchor="t"/>
          <a:lstStyle/>
          <a:p>
            <a:pPr marL="342900" indent="-342900" algn="l">
              <a:lnSpc>
                <a:spcPts val="2799"/>
              </a:lnSpc>
              <a:buSzPct val="100000"/>
              <a:buFont typeface="+mj-lt"/>
              <a:buAutoNum type="arabicPeriod"/>
            </a:pPr>
            <a:r>
              <a:rPr lang="en-US" sz="1750" dirty="0">
                <a:solidFill>
                  <a:srgbClr val="5B5F71"/>
                </a:solidFill>
                <a:latin typeface="Instrument Sans" pitchFamily="34" charset="0"/>
                <a:ea typeface="Instrument Sans" pitchFamily="34" charset="-122"/>
                <a:cs typeface="Instrument Sans" pitchFamily="34" charset="-120"/>
              </a:rPr>
              <a:t>Conceptual EERM Diagram: Depicts the high-level entities, their attributes, and the relationships between them in a business domain.</a:t>
            </a:r>
            <a:endParaRPr lang="en-US" sz="1750" dirty="0"/>
          </a:p>
        </p:txBody>
      </p:sp>
      <p:sp>
        <p:nvSpPr>
          <p:cNvPr id="6" name="Text 3"/>
          <p:cNvSpPr/>
          <p:nvPr/>
        </p:nvSpPr>
        <p:spPr>
          <a:xfrm>
            <a:off x="2393394" y="4328755"/>
            <a:ext cx="10199013" cy="710803"/>
          </a:xfrm>
          <a:prstGeom prst="rect">
            <a:avLst/>
          </a:prstGeom>
          <a:noFill/>
          <a:ln/>
        </p:spPr>
        <p:txBody>
          <a:bodyPr wrap="square" rtlCol="0" anchor="t"/>
          <a:lstStyle/>
          <a:p>
            <a:pPr marL="342900" indent="-342900" algn="l">
              <a:lnSpc>
                <a:spcPts val="2799"/>
              </a:lnSpc>
              <a:buSzPct val="100000"/>
              <a:buFont typeface="+mj-lt"/>
              <a:buAutoNum type="arabicPeriod" startAt="2"/>
            </a:pPr>
            <a:r>
              <a:rPr lang="en-US" sz="1750" dirty="0">
                <a:solidFill>
                  <a:srgbClr val="5B5F71"/>
                </a:solidFill>
                <a:latin typeface="Instrument Sans" pitchFamily="34" charset="0"/>
                <a:ea typeface="Instrument Sans" pitchFamily="34" charset="-122"/>
                <a:cs typeface="Instrument Sans" pitchFamily="34" charset="-120"/>
              </a:rPr>
              <a:t>Logical EERM Diagram: Translates the conceptual model into a more detailed representation, including data types, keys, and normalization.</a:t>
            </a:r>
            <a:endParaRPr lang="en-US" sz="1750" dirty="0"/>
          </a:p>
        </p:txBody>
      </p:sp>
      <p:sp>
        <p:nvSpPr>
          <p:cNvPr id="7" name="Text 4"/>
          <p:cNvSpPr/>
          <p:nvPr/>
        </p:nvSpPr>
        <p:spPr>
          <a:xfrm>
            <a:off x="2393394" y="5128379"/>
            <a:ext cx="10199013" cy="710803"/>
          </a:xfrm>
          <a:prstGeom prst="rect">
            <a:avLst/>
          </a:prstGeom>
          <a:noFill/>
          <a:ln/>
        </p:spPr>
        <p:txBody>
          <a:bodyPr wrap="square" rtlCol="0" anchor="t"/>
          <a:lstStyle/>
          <a:p>
            <a:pPr marL="342900" indent="-342900" algn="l">
              <a:lnSpc>
                <a:spcPts val="2799"/>
              </a:lnSpc>
              <a:buSzPct val="100000"/>
              <a:buFont typeface="+mj-lt"/>
              <a:buAutoNum type="arabicPeriod" startAt="3"/>
            </a:pPr>
            <a:r>
              <a:rPr lang="en-US" sz="1750" dirty="0">
                <a:solidFill>
                  <a:srgbClr val="5B5F71"/>
                </a:solidFill>
                <a:latin typeface="Instrument Sans" pitchFamily="34" charset="0"/>
                <a:ea typeface="Instrument Sans" pitchFamily="34" charset="-122"/>
                <a:cs typeface="Instrument Sans" pitchFamily="34" charset="-120"/>
              </a:rPr>
              <a:t>Physical EERM Diagram: Represents the actual implementation of the database, including table structures, indexes, and other physical design elements.</a:t>
            </a:r>
            <a:endParaRPr lang="en-US" sz="1750" dirty="0"/>
          </a:p>
        </p:txBody>
      </p:sp>
      <p:pic>
        <p:nvPicPr>
          <p:cNvPr id="8" name="Image 1" descr="preencoded.png">
            <a:hlinkClick r:id="rId4"/>
          </p:cNvPr>
          <p:cNvPicPr>
            <a:picLocks noChangeAspect="1"/>
          </p:cNvPicPr>
          <p:nvPr/>
        </p:nvPicPr>
        <p:blipFill>
          <a:blip r:embed="rId5"/>
          <a:stretch>
            <a:fillRect/>
          </a:stretch>
        </p:blipFill>
        <p:spPr>
          <a:xfrm>
            <a:off x="12242153" y="7589520"/>
            <a:ext cx="2296807" cy="54864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75000"/>
            </a:srgbClr>
          </a:solidFill>
          <a:ln/>
        </p:spPr>
      </p:sp>
      <p:sp>
        <p:nvSpPr>
          <p:cNvPr id="4" name="Text 1"/>
          <p:cNvSpPr/>
          <p:nvPr/>
        </p:nvSpPr>
        <p:spPr>
          <a:xfrm>
            <a:off x="2037993" y="2834640"/>
            <a:ext cx="9007435" cy="694373"/>
          </a:xfrm>
          <a:prstGeom prst="rect">
            <a:avLst/>
          </a:prstGeom>
          <a:noFill/>
          <a:ln/>
        </p:spPr>
        <p:txBody>
          <a:bodyPr wrap="none" rtlCol="0" anchor="t"/>
          <a:lstStyle/>
          <a:p>
            <a:pPr marL="0" indent="0">
              <a:lnSpc>
                <a:spcPts val="5468"/>
              </a:lnSpc>
              <a:buNone/>
            </a:pPr>
            <a:r>
              <a:rPr lang="en-US" sz="4374" b="1" dirty="0">
                <a:solidFill>
                  <a:srgbClr val="5B5F72"/>
                </a:solidFill>
                <a:latin typeface="Instrument Sans" pitchFamily="34" charset="0"/>
                <a:ea typeface="Instrument Sans" pitchFamily="34" charset="-122"/>
                <a:cs typeface="Instrument Sans" pitchFamily="34" charset="-120"/>
              </a:rPr>
              <a:t>Subtypes and Supertypes in EERM</a:t>
            </a:r>
            <a:endParaRPr lang="en-US" sz="4374" dirty="0"/>
          </a:p>
        </p:txBody>
      </p:sp>
      <p:sp>
        <p:nvSpPr>
          <p:cNvPr id="5" name="Text 2"/>
          <p:cNvSpPr/>
          <p:nvPr/>
        </p:nvSpPr>
        <p:spPr>
          <a:xfrm>
            <a:off x="2037993" y="3973354"/>
            <a:ext cx="10554414" cy="1421606"/>
          </a:xfrm>
          <a:prstGeom prst="rect">
            <a:avLst/>
          </a:prstGeom>
          <a:noFill/>
          <a:ln/>
        </p:spPr>
        <p:txBody>
          <a:bodyPr wrap="square" rtlCol="0" anchor="t"/>
          <a:lstStyle/>
          <a:p>
            <a:pPr marL="0" indent="0">
              <a:lnSpc>
                <a:spcPts val="2799"/>
              </a:lnSpc>
              <a:buNone/>
            </a:pPr>
            <a:r>
              <a:rPr lang="en-US" sz="1750" dirty="0">
                <a:solidFill>
                  <a:srgbClr val="5B5F71"/>
                </a:solidFill>
                <a:latin typeface="Instrument Sans" pitchFamily="34" charset="0"/>
                <a:ea typeface="Instrument Sans" pitchFamily="34" charset="-122"/>
                <a:cs typeface="Instrument Sans" pitchFamily="34" charset="-120"/>
              </a:rPr>
              <a:t>In EERM, subtypes and supertypes are used to model hierarchical relationships between entities. A </a:t>
            </a:r>
            <a:r>
              <a:rPr lang="en-US" sz="1750" b="1" dirty="0">
                <a:solidFill>
                  <a:srgbClr val="5B5F71"/>
                </a:solidFill>
                <a:latin typeface="Instrument Sans" pitchFamily="34" charset="0"/>
                <a:ea typeface="Instrument Sans" pitchFamily="34" charset="-122"/>
                <a:cs typeface="Instrument Sans" pitchFamily="34" charset="-120"/>
              </a:rPr>
              <a:t>supertype</a:t>
            </a:r>
            <a:r>
              <a:rPr lang="en-US" sz="1750" dirty="0">
                <a:solidFill>
                  <a:srgbClr val="5B5F71"/>
                </a:solidFill>
                <a:latin typeface="Instrument Sans" pitchFamily="34" charset="0"/>
                <a:ea typeface="Instrument Sans" pitchFamily="34" charset="-122"/>
                <a:cs typeface="Instrument Sans" pitchFamily="34" charset="-120"/>
              </a:rPr>
              <a:t> is a general entity that has more specialized </a:t>
            </a:r>
            <a:r>
              <a:rPr lang="en-US" sz="1750" b="1" dirty="0">
                <a:solidFill>
                  <a:srgbClr val="5B5F71"/>
                </a:solidFill>
                <a:latin typeface="Instrument Sans" pitchFamily="34" charset="0"/>
                <a:ea typeface="Instrument Sans" pitchFamily="34" charset="-122"/>
                <a:cs typeface="Instrument Sans" pitchFamily="34" charset="-120"/>
              </a:rPr>
              <a:t>subtypes</a:t>
            </a:r>
            <a:r>
              <a:rPr lang="en-US" sz="1750" dirty="0">
                <a:solidFill>
                  <a:srgbClr val="5B5F71"/>
                </a:solidFill>
                <a:latin typeface="Instrument Sans" pitchFamily="34" charset="0"/>
                <a:ea typeface="Instrument Sans" pitchFamily="34" charset="-122"/>
                <a:cs typeface="Instrument Sans" pitchFamily="34" charset="-120"/>
              </a:rPr>
              <a:t> branching off from it. Subtypes inherit the attributes and relationships of their supertype, allowing for more detailed and nuanced modeling.</a:t>
            </a:r>
            <a:endParaRPr lang="en-US" sz="1750" dirty="0"/>
          </a:p>
        </p:txBody>
      </p:sp>
      <p:pic>
        <p:nvPicPr>
          <p:cNvPr id="6" name="Image 1" descr="preencoded.png">
            <a:hlinkClick r:id="rId4"/>
          </p:cNvPr>
          <p:cNvPicPr>
            <a:picLocks noChangeAspect="1"/>
          </p:cNvPicPr>
          <p:nvPr/>
        </p:nvPicPr>
        <p:blipFill>
          <a:blip r:embed="rId5"/>
          <a:stretch>
            <a:fillRect/>
          </a:stretch>
        </p:blipFill>
        <p:spPr>
          <a:xfrm>
            <a:off x="12242153" y="7589520"/>
            <a:ext cx="2296807" cy="54864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75000"/>
            </a:srgbClr>
          </a:solidFill>
          <a:ln/>
        </p:spPr>
      </p:sp>
      <p:pic>
        <p:nvPicPr>
          <p:cNvPr id="4" name="Image 1" descr="preencoded.png"/>
          <p:cNvPicPr>
            <a:picLocks noChangeAspect="1"/>
          </p:cNvPicPr>
          <p:nvPr/>
        </p:nvPicPr>
        <p:blipFill>
          <a:blip r:embed="rId4"/>
          <a:stretch>
            <a:fillRect/>
          </a:stretch>
        </p:blipFill>
        <p:spPr>
          <a:xfrm>
            <a:off x="10980420" y="0"/>
            <a:ext cx="3657600" cy="8229600"/>
          </a:xfrm>
          <a:prstGeom prst="rect">
            <a:avLst/>
          </a:prstGeom>
        </p:spPr>
      </p:pic>
      <p:pic>
        <p:nvPicPr>
          <p:cNvPr id="5" name="Image 2" descr="preencoded.png"/>
          <p:cNvPicPr>
            <a:picLocks noChangeAspect="1"/>
          </p:cNvPicPr>
          <p:nvPr/>
        </p:nvPicPr>
        <p:blipFill>
          <a:blip r:embed="rId5"/>
          <a:stretch>
            <a:fillRect/>
          </a:stretch>
        </p:blipFill>
        <p:spPr>
          <a:xfrm>
            <a:off x="11244143" y="2940963"/>
            <a:ext cx="3130034" cy="2347555"/>
          </a:xfrm>
          <a:prstGeom prst="rect">
            <a:avLst/>
          </a:prstGeom>
        </p:spPr>
      </p:pic>
      <p:sp>
        <p:nvSpPr>
          <p:cNvPr id="6" name="Text 1"/>
          <p:cNvSpPr/>
          <p:nvPr/>
        </p:nvSpPr>
        <p:spPr>
          <a:xfrm>
            <a:off x="791408" y="747593"/>
            <a:ext cx="5624393" cy="659606"/>
          </a:xfrm>
          <a:prstGeom prst="rect">
            <a:avLst/>
          </a:prstGeom>
          <a:noFill/>
          <a:ln/>
        </p:spPr>
        <p:txBody>
          <a:bodyPr wrap="none" rtlCol="0" anchor="t"/>
          <a:lstStyle/>
          <a:p>
            <a:pPr marL="0" indent="0">
              <a:lnSpc>
                <a:spcPts val="5193"/>
              </a:lnSpc>
              <a:buNone/>
            </a:pPr>
            <a:r>
              <a:rPr lang="en-US" sz="4155" b="1" dirty="0">
                <a:solidFill>
                  <a:srgbClr val="5B5F72"/>
                </a:solidFill>
                <a:latin typeface="Instrument Sans" pitchFamily="34" charset="0"/>
                <a:ea typeface="Instrument Sans" pitchFamily="34" charset="-122"/>
                <a:cs typeface="Instrument Sans" pitchFamily="34" charset="-120"/>
              </a:rPr>
              <a:t>Specialization in EERM</a:t>
            </a:r>
            <a:endParaRPr lang="en-US" sz="4155" dirty="0"/>
          </a:p>
        </p:txBody>
      </p:sp>
      <p:sp>
        <p:nvSpPr>
          <p:cNvPr id="7" name="Shape 2"/>
          <p:cNvSpPr/>
          <p:nvPr/>
        </p:nvSpPr>
        <p:spPr>
          <a:xfrm>
            <a:off x="1086922" y="1723787"/>
            <a:ext cx="42148" cy="5758220"/>
          </a:xfrm>
          <a:prstGeom prst="roundRect">
            <a:avLst>
              <a:gd name="adj" fmla="val 225341"/>
            </a:avLst>
          </a:prstGeom>
          <a:solidFill>
            <a:srgbClr val="C9CACE"/>
          </a:solidFill>
          <a:ln/>
        </p:spPr>
      </p:sp>
      <p:sp>
        <p:nvSpPr>
          <p:cNvPr id="8" name="Shape 3"/>
          <p:cNvSpPr/>
          <p:nvPr/>
        </p:nvSpPr>
        <p:spPr>
          <a:xfrm>
            <a:off x="1345406" y="2104906"/>
            <a:ext cx="738664" cy="42148"/>
          </a:xfrm>
          <a:prstGeom prst="roundRect">
            <a:avLst>
              <a:gd name="adj" fmla="val 225341"/>
            </a:avLst>
          </a:prstGeom>
          <a:solidFill>
            <a:srgbClr val="C9CACE"/>
          </a:solidFill>
          <a:ln/>
        </p:spPr>
      </p:sp>
      <p:sp>
        <p:nvSpPr>
          <p:cNvPr id="9" name="Shape 4"/>
          <p:cNvSpPr/>
          <p:nvPr/>
        </p:nvSpPr>
        <p:spPr>
          <a:xfrm>
            <a:off x="870585" y="1888688"/>
            <a:ext cx="474821" cy="474821"/>
          </a:xfrm>
          <a:prstGeom prst="roundRect">
            <a:avLst>
              <a:gd name="adj" fmla="val 20003"/>
            </a:avLst>
          </a:prstGeom>
          <a:solidFill>
            <a:srgbClr val="E3E4E8"/>
          </a:solidFill>
          <a:ln w="7620">
            <a:solidFill>
              <a:srgbClr val="C9CACE"/>
            </a:solidFill>
            <a:prstDash val="solid"/>
          </a:ln>
        </p:spPr>
      </p:sp>
      <p:sp>
        <p:nvSpPr>
          <p:cNvPr id="10" name="Text 5"/>
          <p:cNvSpPr/>
          <p:nvPr/>
        </p:nvSpPr>
        <p:spPr>
          <a:xfrm>
            <a:off x="1046678" y="1928217"/>
            <a:ext cx="122515" cy="395645"/>
          </a:xfrm>
          <a:prstGeom prst="rect">
            <a:avLst/>
          </a:prstGeom>
          <a:noFill/>
          <a:ln/>
        </p:spPr>
        <p:txBody>
          <a:bodyPr wrap="none" rtlCol="0" anchor="t"/>
          <a:lstStyle/>
          <a:p>
            <a:pPr marL="0" indent="0" algn="ctr">
              <a:lnSpc>
                <a:spcPts val="3116"/>
              </a:lnSpc>
              <a:buNone/>
            </a:pPr>
            <a:r>
              <a:rPr lang="en-US" sz="2493" b="1" dirty="0">
                <a:solidFill>
                  <a:srgbClr val="5B5F71"/>
                </a:solidFill>
                <a:latin typeface="Instrument Sans" pitchFamily="34" charset="0"/>
                <a:ea typeface="Instrument Sans" pitchFamily="34" charset="-122"/>
                <a:cs typeface="Instrument Sans" pitchFamily="34" charset="-120"/>
              </a:rPr>
              <a:t>1</a:t>
            </a:r>
            <a:endParaRPr lang="en-US" sz="2493" dirty="0"/>
          </a:p>
        </p:txBody>
      </p:sp>
      <p:sp>
        <p:nvSpPr>
          <p:cNvPr id="11" name="Text 6"/>
          <p:cNvSpPr/>
          <p:nvPr/>
        </p:nvSpPr>
        <p:spPr>
          <a:xfrm>
            <a:off x="2268736" y="1934766"/>
            <a:ext cx="2638187" cy="329803"/>
          </a:xfrm>
          <a:prstGeom prst="rect">
            <a:avLst/>
          </a:prstGeom>
          <a:noFill/>
          <a:ln/>
        </p:spPr>
        <p:txBody>
          <a:bodyPr wrap="none" rtlCol="0" anchor="t"/>
          <a:lstStyle/>
          <a:p>
            <a:pPr marL="0" indent="0" algn="l">
              <a:lnSpc>
                <a:spcPts val="2597"/>
              </a:lnSpc>
              <a:buNone/>
            </a:pPr>
            <a:r>
              <a:rPr lang="en-US" sz="2077" b="1" dirty="0">
                <a:solidFill>
                  <a:srgbClr val="5B5F71"/>
                </a:solidFill>
                <a:latin typeface="Instrument Sans" pitchFamily="34" charset="0"/>
                <a:ea typeface="Instrument Sans" pitchFamily="34" charset="-122"/>
                <a:cs typeface="Instrument Sans" pitchFamily="34" charset="-120"/>
              </a:rPr>
              <a:t>Defining Subtypes</a:t>
            </a:r>
            <a:endParaRPr lang="en-US" sz="2077" dirty="0"/>
          </a:p>
        </p:txBody>
      </p:sp>
      <p:sp>
        <p:nvSpPr>
          <p:cNvPr id="12" name="Text 7"/>
          <p:cNvSpPr/>
          <p:nvPr/>
        </p:nvSpPr>
        <p:spPr>
          <a:xfrm>
            <a:off x="2268736" y="2391132"/>
            <a:ext cx="7912656" cy="1012984"/>
          </a:xfrm>
          <a:prstGeom prst="rect">
            <a:avLst/>
          </a:prstGeom>
          <a:noFill/>
          <a:ln/>
        </p:spPr>
        <p:txBody>
          <a:bodyPr wrap="square" rtlCol="0" anchor="t"/>
          <a:lstStyle/>
          <a:p>
            <a:pPr marL="0" indent="0" algn="l">
              <a:lnSpc>
                <a:spcPts val="2659"/>
              </a:lnSpc>
              <a:buNone/>
            </a:pPr>
            <a:r>
              <a:rPr lang="en-US" sz="1662" dirty="0">
                <a:solidFill>
                  <a:srgbClr val="5B5F71"/>
                </a:solidFill>
                <a:latin typeface="Instrument Sans" pitchFamily="34" charset="0"/>
                <a:ea typeface="Instrument Sans" pitchFamily="34" charset="-122"/>
                <a:cs typeface="Instrument Sans" pitchFamily="34" charset="-120"/>
              </a:rPr>
              <a:t>Subtypes in EERM are more specialized entities that inherit attributes and relationships from a broader supertype. They allow for modeling nuanced differences within a domain.</a:t>
            </a:r>
            <a:endParaRPr lang="en-US" sz="1662" dirty="0"/>
          </a:p>
        </p:txBody>
      </p:sp>
      <p:sp>
        <p:nvSpPr>
          <p:cNvPr id="13" name="Shape 8"/>
          <p:cNvSpPr/>
          <p:nvPr/>
        </p:nvSpPr>
        <p:spPr>
          <a:xfrm>
            <a:off x="1345406" y="4207192"/>
            <a:ext cx="738664" cy="42148"/>
          </a:xfrm>
          <a:prstGeom prst="roundRect">
            <a:avLst>
              <a:gd name="adj" fmla="val 225341"/>
            </a:avLst>
          </a:prstGeom>
          <a:solidFill>
            <a:srgbClr val="C9CACE"/>
          </a:solidFill>
          <a:ln/>
        </p:spPr>
      </p:sp>
      <p:sp>
        <p:nvSpPr>
          <p:cNvPr id="14" name="Shape 9"/>
          <p:cNvSpPr/>
          <p:nvPr/>
        </p:nvSpPr>
        <p:spPr>
          <a:xfrm>
            <a:off x="870585" y="3990975"/>
            <a:ext cx="474821" cy="474821"/>
          </a:xfrm>
          <a:prstGeom prst="roundRect">
            <a:avLst>
              <a:gd name="adj" fmla="val 20003"/>
            </a:avLst>
          </a:prstGeom>
          <a:solidFill>
            <a:srgbClr val="E3E4E8"/>
          </a:solidFill>
          <a:ln w="7620">
            <a:solidFill>
              <a:srgbClr val="C9CACE"/>
            </a:solidFill>
            <a:prstDash val="solid"/>
          </a:ln>
        </p:spPr>
      </p:sp>
      <p:sp>
        <p:nvSpPr>
          <p:cNvPr id="15" name="Text 10"/>
          <p:cNvSpPr/>
          <p:nvPr/>
        </p:nvSpPr>
        <p:spPr>
          <a:xfrm>
            <a:off x="1019770" y="4030504"/>
            <a:ext cx="176332" cy="395645"/>
          </a:xfrm>
          <a:prstGeom prst="rect">
            <a:avLst/>
          </a:prstGeom>
          <a:noFill/>
          <a:ln/>
        </p:spPr>
        <p:txBody>
          <a:bodyPr wrap="none" rtlCol="0" anchor="t"/>
          <a:lstStyle/>
          <a:p>
            <a:pPr marL="0" indent="0" algn="ctr">
              <a:lnSpc>
                <a:spcPts val="3116"/>
              </a:lnSpc>
              <a:buNone/>
            </a:pPr>
            <a:r>
              <a:rPr lang="en-US" sz="2493" b="1" dirty="0">
                <a:solidFill>
                  <a:srgbClr val="5B5F71"/>
                </a:solidFill>
                <a:latin typeface="Instrument Sans" pitchFamily="34" charset="0"/>
                <a:ea typeface="Instrument Sans" pitchFamily="34" charset="-122"/>
                <a:cs typeface="Instrument Sans" pitchFamily="34" charset="-120"/>
              </a:rPr>
              <a:t>2</a:t>
            </a:r>
            <a:endParaRPr lang="en-US" sz="2493" dirty="0"/>
          </a:p>
        </p:txBody>
      </p:sp>
      <p:sp>
        <p:nvSpPr>
          <p:cNvPr id="16" name="Text 11"/>
          <p:cNvSpPr/>
          <p:nvPr/>
        </p:nvSpPr>
        <p:spPr>
          <a:xfrm>
            <a:off x="2268736" y="4037052"/>
            <a:ext cx="2858810" cy="329803"/>
          </a:xfrm>
          <a:prstGeom prst="rect">
            <a:avLst/>
          </a:prstGeom>
          <a:noFill/>
          <a:ln/>
        </p:spPr>
        <p:txBody>
          <a:bodyPr wrap="none" rtlCol="0" anchor="t"/>
          <a:lstStyle/>
          <a:p>
            <a:pPr marL="0" indent="0" algn="l">
              <a:lnSpc>
                <a:spcPts val="2597"/>
              </a:lnSpc>
              <a:buNone/>
            </a:pPr>
            <a:r>
              <a:rPr lang="en-US" sz="2077" b="1" dirty="0">
                <a:solidFill>
                  <a:srgbClr val="5B5F71"/>
                </a:solidFill>
                <a:latin typeface="Instrument Sans" pitchFamily="34" charset="0"/>
                <a:ea typeface="Instrument Sans" pitchFamily="34" charset="-122"/>
                <a:cs typeface="Instrument Sans" pitchFamily="34" charset="-120"/>
              </a:rPr>
              <a:t>Disjoint vs Overlapping</a:t>
            </a:r>
            <a:endParaRPr lang="en-US" sz="2077" dirty="0"/>
          </a:p>
        </p:txBody>
      </p:sp>
      <p:sp>
        <p:nvSpPr>
          <p:cNvPr id="17" name="Text 12"/>
          <p:cNvSpPr/>
          <p:nvPr/>
        </p:nvSpPr>
        <p:spPr>
          <a:xfrm>
            <a:off x="2268736" y="4493419"/>
            <a:ext cx="7912656" cy="675323"/>
          </a:xfrm>
          <a:prstGeom prst="rect">
            <a:avLst/>
          </a:prstGeom>
          <a:noFill/>
          <a:ln/>
        </p:spPr>
        <p:txBody>
          <a:bodyPr wrap="square" rtlCol="0" anchor="t"/>
          <a:lstStyle/>
          <a:p>
            <a:pPr marL="0" indent="0" algn="l">
              <a:lnSpc>
                <a:spcPts val="2659"/>
              </a:lnSpc>
              <a:buNone/>
            </a:pPr>
            <a:r>
              <a:rPr lang="en-US" sz="1662" dirty="0">
                <a:solidFill>
                  <a:srgbClr val="5B5F71"/>
                </a:solidFill>
                <a:latin typeface="Instrument Sans" pitchFamily="34" charset="0"/>
                <a:ea typeface="Instrument Sans" pitchFamily="34" charset="-122"/>
                <a:cs typeface="Instrument Sans" pitchFamily="34" charset="-120"/>
              </a:rPr>
              <a:t>Subtypes can be defined as disjoint, where an instance can only belong to one subtype, or overlapping, where an instance can belong to multiple subtypes.</a:t>
            </a:r>
            <a:endParaRPr lang="en-US" sz="1662" dirty="0"/>
          </a:p>
        </p:txBody>
      </p:sp>
      <p:sp>
        <p:nvSpPr>
          <p:cNvPr id="18" name="Shape 13"/>
          <p:cNvSpPr/>
          <p:nvPr/>
        </p:nvSpPr>
        <p:spPr>
          <a:xfrm>
            <a:off x="1345406" y="5971818"/>
            <a:ext cx="738664" cy="42148"/>
          </a:xfrm>
          <a:prstGeom prst="roundRect">
            <a:avLst>
              <a:gd name="adj" fmla="val 225341"/>
            </a:avLst>
          </a:prstGeom>
          <a:solidFill>
            <a:srgbClr val="C9CACE"/>
          </a:solidFill>
          <a:ln/>
        </p:spPr>
      </p:sp>
      <p:sp>
        <p:nvSpPr>
          <p:cNvPr id="19" name="Shape 14"/>
          <p:cNvSpPr/>
          <p:nvPr/>
        </p:nvSpPr>
        <p:spPr>
          <a:xfrm>
            <a:off x="870585" y="5755600"/>
            <a:ext cx="474821" cy="474821"/>
          </a:xfrm>
          <a:prstGeom prst="roundRect">
            <a:avLst>
              <a:gd name="adj" fmla="val 20003"/>
            </a:avLst>
          </a:prstGeom>
          <a:solidFill>
            <a:srgbClr val="E3E4E8"/>
          </a:solidFill>
          <a:ln w="7620">
            <a:solidFill>
              <a:srgbClr val="C9CACE"/>
            </a:solidFill>
            <a:prstDash val="solid"/>
          </a:ln>
        </p:spPr>
      </p:sp>
      <p:sp>
        <p:nvSpPr>
          <p:cNvPr id="20" name="Text 15"/>
          <p:cNvSpPr/>
          <p:nvPr/>
        </p:nvSpPr>
        <p:spPr>
          <a:xfrm>
            <a:off x="1016317" y="5795129"/>
            <a:ext cx="183237" cy="395645"/>
          </a:xfrm>
          <a:prstGeom prst="rect">
            <a:avLst/>
          </a:prstGeom>
          <a:noFill/>
          <a:ln/>
        </p:spPr>
        <p:txBody>
          <a:bodyPr wrap="none" rtlCol="0" anchor="t"/>
          <a:lstStyle/>
          <a:p>
            <a:pPr marL="0" indent="0" algn="ctr">
              <a:lnSpc>
                <a:spcPts val="3116"/>
              </a:lnSpc>
              <a:buNone/>
            </a:pPr>
            <a:r>
              <a:rPr lang="en-US" sz="2493" b="1" dirty="0">
                <a:solidFill>
                  <a:srgbClr val="5B5F71"/>
                </a:solidFill>
                <a:latin typeface="Instrument Sans" pitchFamily="34" charset="0"/>
                <a:ea typeface="Instrument Sans" pitchFamily="34" charset="-122"/>
                <a:cs typeface="Instrument Sans" pitchFamily="34" charset="-120"/>
              </a:rPr>
              <a:t>3</a:t>
            </a:r>
            <a:endParaRPr lang="en-US" sz="2493" dirty="0"/>
          </a:p>
        </p:txBody>
      </p:sp>
      <p:sp>
        <p:nvSpPr>
          <p:cNvPr id="21" name="Text 16"/>
          <p:cNvSpPr/>
          <p:nvPr/>
        </p:nvSpPr>
        <p:spPr>
          <a:xfrm>
            <a:off x="2268736" y="5801678"/>
            <a:ext cx="2912626" cy="329803"/>
          </a:xfrm>
          <a:prstGeom prst="rect">
            <a:avLst/>
          </a:prstGeom>
          <a:noFill/>
          <a:ln/>
        </p:spPr>
        <p:txBody>
          <a:bodyPr wrap="none" rtlCol="0" anchor="t"/>
          <a:lstStyle/>
          <a:p>
            <a:pPr marL="0" indent="0" algn="l">
              <a:lnSpc>
                <a:spcPts val="2597"/>
              </a:lnSpc>
              <a:buNone/>
            </a:pPr>
            <a:r>
              <a:rPr lang="en-US" sz="2077" b="1" dirty="0">
                <a:solidFill>
                  <a:srgbClr val="5B5F71"/>
                </a:solidFill>
                <a:latin typeface="Instrument Sans" pitchFamily="34" charset="0"/>
                <a:ea typeface="Instrument Sans" pitchFamily="34" charset="-122"/>
                <a:cs typeface="Instrument Sans" pitchFamily="34" charset="-120"/>
              </a:rPr>
              <a:t>Applying Specialization</a:t>
            </a:r>
            <a:endParaRPr lang="en-US" sz="2077" dirty="0"/>
          </a:p>
        </p:txBody>
      </p:sp>
      <p:sp>
        <p:nvSpPr>
          <p:cNvPr id="22" name="Text 17"/>
          <p:cNvSpPr/>
          <p:nvPr/>
        </p:nvSpPr>
        <p:spPr>
          <a:xfrm>
            <a:off x="2268736" y="6258044"/>
            <a:ext cx="7912656" cy="1012984"/>
          </a:xfrm>
          <a:prstGeom prst="rect">
            <a:avLst/>
          </a:prstGeom>
          <a:noFill/>
          <a:ln/>
        </p:spPr>
        <p:txBody>
          <a:bodyPr wrap="square" rtlCol="0" anchor="t"/>
          <a:lstStyle/>
          <a:p>
            <a:pPr marL="0" indent="0" algn="l">
              <a:lnSpc>
                <a:spcPts val="2659"/>
              </a:lnSpc>
              <a:buNone/>
            </a:pPr>
            <a:r>
              <a:rPr lang="en-US" sz="1662" dirty="0">
                <a:solidFill>
                  <a:srgbClr val="5B5F71"/>
                </a:solidFill>
                <a:latin typeface="Instrument Sans" pitchFamily="34" charset="0"/>
                <a:ea typeface="Instrument Sans" pitchFamily="34" charset="-122"/>
                <a:cs typeface="Instrument Sans" pitchFamily="34" charset="-120"/>
              </a:rPr>
              <a:t>Specialization is useful for modeling complex hierarchies, such as employee-manager relationships or product categorization. It enhances the expressiveness of the data model.</a:t>
            </a:r>
            <a:endParaRPr lang="en-US" sz="1662" dirty="0"/>
          </a:p>
        </p:txBody>
      </p:sp>
      <p:pic>
        <p:nvPicPr>
          <p:cNvPr id="23" name="Image 3" descr="preencoded.png">
            <a:hlinkClick r:id="rId6"/>
          </p:cNvPr>
          <p:cNvPicPr>
            <a:picLocks noChangeAspect="1"/>
          </p:cNvPicPr>
          <p:nvPr/>
        </p:nvPicPr>
        <p:blipFill>
          <a:blip r:embed="rId7"/>
          <a:stretch>
            <a:fillRect/>
          </a:stretch>
        </p:blipFill>
        <p:spPr>
          <a:xfrm>
            <a:off x="12242153" y="7589520"/>
            <a:ext cx="2296807" cy="54864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0"/>
            <a:ext cx="14630400" cy="8231862"/>
          </a:xfrm>
          <a:prstGeom prst="rect">
            <a:avLst/>
          </a:prstGeom>
          <a:solidFill>
            <a:srgbClr val="FFFFFF">
              <a:alpha val="75000"/>
            </a:srgbClr>
          </a:solidFill>
          <a:ln/>
        </p:spPr>
      </p:sp>
      <p:sp>
        <p:nvSpPr>
          <p:cNvPr id="4" name="Text 1"/>
          <p:cNvSpPr/>
          <p:nvPr/>
        </p:nvSpPr>
        <p:spPr>
          <a:xfrm>
            <a:off x="2468761" y="561142"/>
            <a:ext cx="5568434" cy="637699"/>
          </a:xfrm>
          <a:prstGeom prst="rect">
            <a:avLst/>
          </a:prstGeom>
          <a:noFill/>
          <a:ln/>
        </p:spPr>
        <p:txBody>
          <a:bodyPr wrap="none" rtlCol="0" anchor="t"/>
          <a:lstStyle/>
          <a:p>
            <a:pPr marL="0" indent="0">
              <a:lnSpc>
                <a:spcPts val="5021"/>
              </a:lnSpc>
              <a:buNone/>
            </a:pPr>
            <a:r>
              <a:rPr lang="en-US" sz="4017" b="1" dirty="0">
                <a:solidFill>
                  <a:srgbClr val="5B5F72"/>
                </a:solidFill>
                <a:latin typeface="Instrument Sans" pitchFamily="34" charset="0"/>
                <a:ea typeface="Instrument Sans" pitchFamily="34" charset="-122"/>
                <a:cs typeface="Instrument Sans" pitchFamily="34" charset="-120"/>
              </a:rPr>
              <a:t>Generalization in EERM</a:t>
            </a:r>
            <a:endParaRPr lang="en-US" sz="4017" dirty="0"/>
          </a:p>
        </p:txBody>
      </p:sp>
      <p:pic>
        <p:nvPicPr>
          <p:cNvPr id="5" name="Image 1" descr="preencoded.png"/>
          <p:cNvPicPr>
            <a:picLocks noChangeAspect="1"/>
          </p:cNvPicPr>
          <p:nvPr/>
        </p:nvPicPr>
        <p:blipFill>
          <a:blip r:embed="rId4"/>
          <a:stretch>
            <a:fillRect/>
          </a:stretch>
        </p:blipFill>
        <p:spPr>
          <a:xfrm>
            <a:off x="4292203" y="1606867"/>
            <a:ext cx="1305997" cy="1280160"/>
          </a:xfrm>
          <a:prstGeom prst="rect">
            <a:avLst/>
          </a:prstGeom>
        </p:spPr>
      </p:pic>
      <p:sp>
        <p:nvSpPr>
          <p:cNvPr id="6" name="Text 2"/>
          <p:cNvSpPr/>
          <p:nvPr/>
        </p:nvSpPr>
        <p:spPr>
          <a:xfrm>
            <a:off x="4842510" y="2136338"/>
            <a:ext cx="98703" cy="408027"/>
          </a:xfrm>
          <a:prstGeom prst="rect">
            <a:avLst/>
          </a:prstGeom>
          <a:noFill/>
          <a:ln/>
        </p:spPr>
        <p:txBody>
          <a:bodyPr wrap="none" rtlCol="0" anchor="t"/>
          <a:lstStyle/>
          <a:p>
            <a:pPr marL="0" indent="0" algn="ctr">
              <a:lnSpc>
                <a:spcPts val="3214"/>
              </a:lnSpc>
              <a:buNone/>
            </a:pPr>
            <a:r>
              <a:rPr lang="en-US" sz="2008" b="1" dirty="0">
                <a:solidFill>
                  <a:srgbClr val="5B5F71"/>
                </a:solidFill>
                <a:latin typeface="Instrument Sans" pitchFamily="34" charset="0"/>
                <a:ea typeface="Instrument Sans" pitchFamily="34" charset="-122"/>
                <a:cs typeface="Instrument Sans" pitchFamily="34" charset="-120"/>
              </a:rPr>
              <a:t>1</a:t>
            </a:r>
            <a:endParaRPr lang="en-US" sz="2008" dirty="0"/>
          </a:p>
        </p:txBody>
      </p:sp>
      <p:sp>
        <p:nvSpPr>
          <p:cNvPr id="7" name="Text 3"/>
          <p:cNvSpPr/>
          <p:nvPr/>
        </p:nvSpPr>
        <p:spPr>
          <a:xfrm>
            <a:off x="5695593" y="1810822"/>
            <a:ext cx="2378154" cy="318730"/>
          </a:xfrm>
          <a:prstGeom prst="rect">
            <a:avLst/>
          </a:prstGeom>
          <a:noFill/>
          <a:ln/>
        </p:spPr>
        <p:txBody>
          <a:bodyPr wrap="none" rtlCol="0" anchor="t"/>
          <a:lstStyle/>
          <a:p>
            <a:pPr marL="0" indent="0" algn="l">
              <a:lnSpc>
                <a:spcPts val="2511"/>
              </a:lnSpc>
              <a:buNone/>
            </a:pPr>
            <a:r>
              <a:rPr lang="en-US" sz="2008" b="1" dirty="0">
                <a:solidFill>
                  <a:srgbClr val="5B5F71"/>
                </a:solidFill>
                <a:latin typeface="Instrument Sans" pitchFamily="34" charset="0"/>
                <a:ea typeface="Instrument Sans" pitchFamily="34" charset="-122"/>
                <a:cs typeface="Instrument Sans" pitchFamily="34" charset="-120"/>
              </a:rPr>
              <a:t>Supertype</a:t>
            </a:r>
            <a:endParaRPr lang="en-US" sz="2008" dirty="0"/>
          </a:p>
        </p:txBody>
      </p:sp>
      <p:sp>
        <p:nvSpPr>
          <p:cNvPr id="8" name="Text 4"/>
          <p:cNvSpPr/>
          <p:nvPr/>
        </p:nvSpPr>
        <p:spPr>
          <a:xfrm>
            <a:off x="5695593" y="2251948"/>
            <a:ext cx="2378154" cy="326469"/>
          </a:xfrm>
          <a:prstGeom prst="rect">
            <a:avLst/>
          </a:prstGeom>
          <a:noFill/>
          <a:ln/>
        </p:spPr>
        <p:txBody>
          <a:bodyPr wrap="none" rtlCol="0" anchor="t"/>
          <a:lstStyle/>
          <a:p>
            <a:pPr marL="0" indent="0" algn="l">
              <a:lnSpc>
                <a:spcPts val="2571"/>
              </a:lnSpc>
              <a:buNone/>
            </a:pPr>
            <a:r>
              <a:rPr lang="en-US" sz="1607" dirty="0">
                <a:solidFill>
                  <a:srgbClr val="5B5F71"/>
                </a:solidFill>
                <a:latin typeface="Instrument Sans" pitchFamily="34" charset="0"/>
                <a:ea typeface="Instrument Sans" pitchFamily="34" charset="-122"/>
                <a:cs typeface="Instrument Sans" pitchFamily="34" charset="-120"/>
              </a:rPr>
              <a:t>The broad, general entity</a:t>
            </a:r>
            <a:endParaRPr lang="en-US" sz="1607" dirty="0"/>
          </a:p>
        </p:txBody>
      </p:sp>
      <p:sp>
        <p:nvSpPr>
          <p:cNvPr id="9" name="Shape 5"/>
          <p:cNvSpPr/>
          <p:nvPr/>
        </p:nvSpPr>
        <p:spPr>
          <a:xfrm>
            <a:off x="5542598" y="2784931"/>
            <a:ext cx="6567964" cy="20360"/>
          </a:xfrm>
          <a:prstGeom prst="roundRect">
            <a:avLst>
              <a:gd name="adj" fmla="val 451016"/>
            </a:avLst>
          </a:prstGeom>
          <a:solidFill>
            <a:srgbClr val="C9CACE"/>
          </a:solidFill>
          <a:ln/>
        </p:spPr>
      </p:sp>
      <p:pic>
        <p:nvPicPr>
          <p:cNvPr id="10" name="Image 2" descr="preencoded.png"/>
          <p:cNvPicPr>
            <a:picLocks noChangeAspect="1"/>
          </p:cNvPicPr>
          <p:nvPr/>
        </p:nvPicPr>
        <p:blipFill>
          <a:blip r:embed="rId5"/>
          <a:stretch>
            <a:fillRect/>
          </a:stretch>
        </p:blipFill>
        <p:spPr>
          <a:xfrm>
            <a:off x="3692366" y="2833330"/>
            <a:ext cx="2612112" cy="1280160"/>
          </a:xfrm>
          <a:prstGeom prst="rect">
            <a:avLst/>
          </a:prstGeom>
        </p:spPr>
      </p:pic>
      <p:sp>
        <p:nvSpPr>
          <p:cNvPr id="11" name="Text 6"/>
          <p:cNvSpPr/>
          <p:nvPr/>
        </p:nvSpPr>
        <p:spPr>
          <a:xfrm>
            <a:off x="4820603" y="3217069"/>
            <a:ext cx="142161" cy="408027"/>
          </a:xfrm>
          <a:prstGeom prst="rect">
            <a:avLst/>
          </a:prstGeom>
          <a:noFill/>
          <a:ln/>
        </p:spPr>
        <p:txBody>
          <a:bodyPr wrap="none" rtlCol="0" anchor="t"/>
          <a:lstStyle/>
          <a:p>
            <a:pPr marL="0" indent="0" algn="ctr">
              <a:lnSpc>
                <a:spcPts val="3214"/>
              </a:lnSpc>
              <a:buNone/>
            </a:pPr>
            <a:r>
              <a:rPr lang="en-US" sz="2008" b="1" dirty="0">
                <a:solidFill>
                  <a:srgbClr val="5B5F71"/>
                </a:solidFill>
                <a:latin typeface="Instrument Sans" pitchFamily="34" charset="0"/>
                <a:ea typeface="Instrument Sans" pitchFamily="34" charset="-122"/>
                <a:cs typeface="Instrument Sans" pitchFamily="34" charset="-120"/>
              </a:rPr>
              <a:t>2</a:t>
            </a:r>
            <a:endParaRPr lang="en-US" sz="2008" dirty="0"/>
          </a:p>
        </p:txBody>
      </p:sp>
      <p:sp>
        <p:nvSpPr>
          <p:cNvPr id="12" name="Text 7"/>
          <p:cNvSpPr/>
          <p:nvPr/>
        </p:nvSpPr>
        <p:spPr>
          <a:xfrm>
            <a:off x="6295192" y="3037284"/>
            <a:ext cx="1864638" cy="318730"/>
          </a:xfrm>
          <a:prstGeom prst="rect">
            <a:avLst/>
          </a:prstGeom>
          <a:noFill/>
          <a:ln/>
        </p:spPr>
        <p:txBody>
          <a:bodyPr wrap="none" rtlCol="0" anchor="t"/>
          <a:lstStyle/>
          <a:p>
            <a:pPr marL="0" indent="0" algn="l">
              <a:lnSpc>
                <a:spcPts val="2511"/>
              </a:lnSpc>
              <a:buNone/>
            </a:pPr>
            <a:r>
              <a:rPr lang="en-US" sz="2008" b="1" dirty="0">
                <a:solidFill>
                  <a:srgbClr val="5B5F71"/>
                </a:solidFill>
                <a:latin typeface="Instrument Sans" pitchFamily="34" charset="0"/>
                <a:ea typeface="Instrument Sans" pitchFamily="34" charset="-122"/>
                <a:cs typeface="Instrument Sans" pitchFamily="34" charset="-120"/>
              </a:rPr>
              <a:t>Subtype 1</a:t>
            </a:r>
            <a:endParaRPr lang="en-US" sz="2008" dirty="0"/>
          </a:p>
        </p:txBody>
      </p:sp>
      <p:sp>
        <p:nvSpPr>
          <p:cNvPr id="13" name="Text 8"/>
          <p:cNvSpPr/>
          <p:nvPr/>
        </p:nvSpPr>
        <p:spPr>
          <a:xfrm>
            <a:off x="6295192" y="3478411"/>
            <a:ext cx="1864638" cy="326469"/>
          </a:xfrm>
          <a:prstGeom prst="rect">
            <a:avLst/>
          </a:prstGeom>
          <a:noFill/>
          <a:ln/>
        </p:spPr>
        <p:txBody>
          <a:bodyPr wrap="none" rtlCol="0" anchor="t"/>
          <a:lstStyle/>
          <a:p>
            <a:pPr marL="0" indent="0" algn="l">
              <a:lnSpc>
                <a:spcPts val="2571"/>
              </a:lnSpc>
              <a:buNone/>
            </a:pPr>
            <a:r>
              <a:rPr lang="en-US" sz="1607" dirty="0">
                <a:solidFill>
                  <a:srgbClr val="5B5F71"/>
                </a:solidFill>
                <a:latin typeface="Instrument Sans" pitchFamily="34" charset="0"/>
                <a:ea typeface="Instrument Sans" pitchFamily="34" charset="-122"/>
                <a:cs typeface="Instrument Sans" pitchFamily="34" charset="-120"/>
              </a:rPr>
              <a:t>More specific entity</a:t>
            </a:r>
            <a:endParaRPr lang="en-US" sz="1607" dirty="0"/>
          </a:p>
        </p:txBody>
      </p:sp>
      <p:sp>
        <p:nvSpPr>
          <p:cNvPr id="14" name="Shape 9"/>
          <p:cNvSpPr/>
          <p:nvPr/>
        </p:nvSpPr>
        <p:spPr>
          <a:xfrm>
            <a:off x="6142196" y="4011394"/>
            <a:ext cx="5968365" cy="20360"/>
          </a:xfrm>
          <a:prstGeom prst="roundRect">
            <a:avLst>
              <a:gd name="adj" fmla="val 451016"/>
            </a:avLst>
          </a:prstGeom>
          <a:solidFill>
            <a:srgbClr val="C9CACE"/>
          </a:solidFill>
          <a:ln/>
        </p:spPr>
      </p:sp>
      <p:pic>
        <p:nvPicPr>
          <p:cNvPr id="15" name="Image 3" descr="preencoded.png"/>
          <p:cNvPicPr>
            <a:picLocks noChangeAspect="1"/>
          </p:cNvPicPr>
          <p:nvPr/>
        </p:nvPicPr>
        <p:blipFill>
          <a:blip r:embed="rId6"/>
          <a:stretch>
            <a:fillRect/>
          </a:stretch>
        </p:blipFill>
        <p:spPr>
          <a:xfrm>
            <a:off x="3092648" y="4059793"/>
            <a:ext cx="3918228" cy="1280160"/>
          </a:xfrm>
          <a:prstGeom prst="rect">
            <a:avLst/>
          </a:prstGeom>
        </p:spPr>
      </p:pic>
      <p:sp>
        <p:nvSpPr>
          <p:cNvPr id="16" name="Text 10"/>
          <p:cNvSpPr/>
          <p:nvPr/>
        </p:nvSpPr>
        <p:spPr>
          <a:xfrm>
            <a:off x="4817983" y="4443532"/>
            <a:ext cx="147757" cy="408027"/>
          </a:xfrm>
          <a:prstGeom prst="rect">
            <a:avLst/>
          </a:prstGeom>
          <a:noFill/>
          <a:ln/>
        </p:spPr>
        <p:txBody>
          <a:bodyPr wrap="none" rtlCol="0" anchor="t"/>
          <a:lstStyle/>
          <a:p>
            <a:pPr marL="0" indent="0" algn="ctr">
              <a:lnSpc>
                <a:spcPts val="3214"/>
              </a:lnSpc>
              <a:buNone/>
            </a:pPr>
            <a:r>
              <a:rPr lang="en-US" sz="2008" b="1" dirty="0">
                <a:solidFill>
                  <a:srgbClr val="5B5F71"/>
                </a:solidFill>
                <a:latin typeface="Instrument Sans" pitchFamily="34" charset="0"/>
                <a:ea typeface="Instrument Sans" pitchFamily="34" charset="-122"/>
                <a:cs typeface="Instrument Sans" pitchFamily="34" charset="-120"/>
              </a:rPr>
              <a:t>3</a:t>
            </a:r>
            <a:endParaRPr lang="en-US" sz="2008" dirty="0"/>
          </a:p>
        </p:txBody>
      </p:sp>
      <p:sp>
        <p:nvSpPr>
          <p:cNvPr id="17" name="Text 11"/>
          <p:cNvSpPr/>
          <p:nvPr/>
        </p:nvSpPr>
        <p:spPr>
          <a:xfrm>
            <a:off x="6895028" y="4263747"/>
            <a:ext cx="1864638" cy="318730"/>
          </a:xfrm>
          <a:prstGeom prst="rect">
            <a:avLst/>
          </a:prstGeom>
          <a:noFill/>
          <a:ln/>
        </p:spPr>
        <p:txBody>
          <a:bodyPr wrap="none" rtlCol="0" anchor="t"/>
          <a:lstStyle/>
          <a:p>
            <a:pPr marL="0" indent="0" algn="l">
              <a:lnSpc>
                <a:spcPts val="2511"/>
              </a:lnSpc>
              <a:buNone/>
            </a:pPr>
            <a:r>
              <a:rPr lang="en-US" sz="2008" b="1" dirty="0">
                <a:solidFill>
                  <a:srgbClr val="5B5F71"/>
                </a:solidFill>
                <a:latin typeface="Instrument Sans" pitchFamily="34" charset="0"/>
                <a:ea typeface="Instrument Sans" pitchFamily="34" charset="-122"/>
                <a:cs typeface="Instrument Sans" pitchFamily="34" charset="-120"/>
              </a:rPr>
              <a:t>Subtype 2</a:t>
            </a:r>
            <a:endParaRPr lang="en-US" sz="2008" dirty="0"/>
          </a:p>
        </p:txBody>
      </p:sp>
      <p:sp>
        <p:nvSpPr>
          <p:cNvPr id="18" name="Text 12"/>
          <p:cNvSpPr/>
          <p:nvPr/>
        </p:nvSpPr>
        <p:spPr>
          <a:xfrm>
            <a:off x="6895028" y="4704874"/>
            <a:ext cx="1864638" cy="326469"/>
          </a:xfrm>
          <a:prstGeom prst="rect">
            <a:avLst/>
          </a:prstGeom>
          <a:noFill/>
          <a:ln/>
        </p:spPr>
        <p:txBody>
          <a:bodyPr wrap="none" rtlCol="0" anchor="t"/>
          <a:lstStyle/>
          <a:p>
            <a:pPr marL="0" indent="0" algn="l">
              <a:lnSpc>
                <a:spcPts val="2571"/>
              </a:lnSpc>
              <a:buNone/>
            </a:pPr>
            <a:r>
              <a:rPr lang="en-US" sz="1607" dirty="0">
                <a:solidFill>
                  <a:srgbClr val="5B5F71"/>
                </a:solidFill>
                <a:latin typeface="Instrument Sans" pitchFamily="34" charset="0"/>
                <a:ea typeface="Instrument Sans" pitchFamily="34" charset="-122"/>
                <a:cs typeface="Instrument Sans" pitchFamily="34" charset="-120"/>
              </a:rPr>
              <a:t>More specific entity</a:t>
            </a:r>
            <a:endParaRPr lang="en-US" sz="1607" dirty="0"/>
          </a:p>
        </p:txBody>
      </p:sp>
      <p:sp>
        <p:nvSpPr>
          <p:cNvPr id="19" name="Shape 13"/>
          <p:cNvSpPr/>
          <p:nvPr/>
        </p:nvSpPr>
        <p:spPr>
          <a:xfrm>
            <a:off x="6742033" y="5237857"/>
            <a:ext cx="5368528" cy="20360"/>
          </a:xfrm>
          <a:prstGeom prst="roundRect">
            <a:avLst>
              <a:gd name="adj" fmla="val 451016"/>
            </a:avLst>
          </a:prstGeom>
          <a:solidFill>
            <a:srgbClr val="C9CACE"/>
          </a:solidFill>
          <a:ln/>
        </p:spPr>
      </p:sp>
      <p:pic>
        <p:nvPicPr>
          <p:cNvPr id="20" name="Image 4" descr="preencoded.png"/>
          <p:cNvPicPr>
            <a:picLocks noChangeAspect="1"/>
          </p:cNvPicPr>
          <p:nvPr/>
        </p:nvPicPr>
        <p:blipFill>
          <a:blip r:embed="rId7"/>
          <a:stretch>
            <a:fillRect/>
          </a:stretch>
        </p:blipFill>
        <p:spPr>
          <a:xfrm>
            <a:off x="2492931" y="5286256"/>
            <a:ext cx="5224343" cy="1280160"/>
          </a:xfrm>
          <a:prstGeom prst="rect">
            <a:avLst/>
          </a:prstGeom>
        </p:spPr>
      </p:pic>
      <p:sp>
        <p:nvSpPr>
          <p:cNvPr id="21" name="Text 14"/>
          <p:cNvSpPr/>
          <p:nvPr/>
        </p:nvSpPr>
        <p:spPr>
          <a:xfrm>
            <a:off x="4813340" y="5669994"/>
            <a:ext cx="156924" cy="408027"/>
          </a:xfrm>
          <a:prstGeom prst="rect">
            <a:avLst/>
          </a:prstGeom>
          <a:noFill/>
          <a:ln/>
        </p:spPr>
        <p:txBody>
          <a:bodyPr wrap="none" rtlCol="0" anchor="t"/>
          <a:lstStyle/>
          <a:p>
            <a:pPr marL="0" indent="0" algn="ctr">
              <a:lnSpc>
                <a:spcPts val="3214"/>
              </a:lnSpc>
              <a:buNone/>
            </a:pPr>
            <a:r>
              <a:rPr lang="en-US" sz="2008" b="1" dirty="0">
                <a:solidFill>
                  <a:srgbClr val="5B5F71"/>
                </a:solidFill>
                <a:latin typeface="Instrument Sans" pitchFamily="34" charset="0"/>
                <a:ea typeface="Instrument Sans" pitchFamily="34" charset="-122"/>
                <a:cs typeface="Instrument Sans" pitchFamily="34" charset="-120"/>
              </a:rPr>
              <a:t>4</a:t>
            </a:r>
            <a:endParaRPr lang="en-US" sz="2008" dirty="0"/>
          </a:p>
        </p:txBody>
      </p:sp>
      <p:sp>
        <p:nvSpPr>
          <p:cNvPr id="22" name="Text 15"/>
          <p:cNvSpPr/>
          <p:nvPr/>
        </p:nvSpPr>
        <p:spPr>
          <a:xfrm>
            <a:off x="7494746" y="5490210"/>
            <a:ext cx="1864638" cy="318730"/>
          </a:xfrm>
          <a:prstGeom prst="rect">
            <a:avLst/>
          </a:prstGeom>
          <a:noFill/>
          <a:ln/>
        </p:spPr>
        <p:txBody>
          <a:bodyPr wrap="none" rtlCol="0" anchor="t"/>
          <a:lstStyle/>
          <a:p>
            <a:pPr marL="0" indent="0" algn="l">
              <a:lnSpc>
                <a:spcPts val="2511"/>
              </a:lnSpc>
              <a:buNone/>
            </a:pPr>
            <a:r>
              <a:rPr lang="en-US" sz="2008" b="1" dirty="0">
                <a:solidFill>
                  <a:srgbClr val="5B5F71"/>
                </a:solidFill>
                <a:latin typeface="Instrument Sans" pitchFamily="34" charset="0"/>
                <a:ea typeface="Instrument Sans" pitchFamily="34" charset="-122"/>
                <a:cs typeface="Instrument Sans" pitchFamily="34" charset="-120"/>
              </a:rPr>
              <a:t>Subtype 3</a:t>
            </a:r>
            <a:endParaRPr lang="en-US" sz="2008" dirty="0"/>
          </a:p>
        </p:txBody>
      </p:sp>
      <p:sp>
        <p:nvSpPr>
          <p:cNvPr id="23" name="Text 16"/>
          <p:cNvSpPr/>
          <p:nvPr/>
        </p:nvSpPr>
        <p:spPr>
          <a:xfrm>
            <a:off x="7494746" y="5931337"/>
            <a:ext cx="1864638" cy="326469"/>
          </a:xfrm>
          <a:prstGeom prst="rect">
            <a:avLst/>
          </a:prstGeom>
          <a:noFill/>
          <a:ln/>
        </p:spPr>
        <p:txBody>
          <a:bodyPr wrap="none" rtlCol="0" anchor="t"/>
          <a:lstStyle/>
          <a:p>
            <a:pPr marL="0" indent="0" algn="l">
              <a:lnSpc>
                <a:spcPts val="2571"/>
              </a:lnSpc>
              <a:buNone/>
            </a:pPr>
            <a:r>
              <a:rPr lang="en-US" sz="1607" dirty="0">
                <a:solidFill>
                  <a:srgbClr val="5B5F71"/>
                </a:solidFill>
                <a:latin typeface="Instrument Sans" pitchFamily="34" charset="0"/>
                <a:ea typeface="Instrument Sans" pitchFamily="34" charset="-122"/>
                <a:cs typeface="Instrument Sans" pitchFamily="34" charset="-120"/>
              </a:rPr>
              <a:t>More specific entity</a:t>
            </a:r>
            <a:endParaRPr lang="en-US" sz="1607" dirty="0"/>
          </a:p>
        </p:txBody>
      </p:sp>
      <p:sp>
        <p:nvSpPr>
          <p:cNvPr id="24" name="Text 17"/>
          <p:cNvSpPr/>
          <p:nvPr/>
        </p:nvSpPr>
        <p:spPr>
          <a:xfrm>
            <a:off x="2468761" y="6691313"/>
            <a:ext cx="9692759" cy="979408"/>
          </a:xfrm>
          <a:prstGeom prst="rect">
            <a:avLst/>
          </a:prstGeom>
          <a:noFill/>
          <a:ln/>
        </p:spPr>
        <p:txBody>
          <a:bodyPr wrap="square" rtlCol="0" anchor="t"/>
          <a:lstStyle/>
          <a:p>
            <a:pPr marL="0" indent="0">
              <a:lnSpc>
                <a:spcPts val="2571"/>
              </a:lnSpc>
              <a:buNone/>
            </a:pPr>
            <a:r>
              <a:rPr lang="en-US" sz="1607" dirty="0">
                <a:solidFill>
                  <a:srgbClr val="5B5F71"/>
                </a:solidFill>
                <a:latin typeface="Instrument Sans" pitchFamily="34" charset="0"/>
                <a:ea typeface="Instrument Sans" pitchFamily="34" charset="-122"/>
                <a:cs typeface="Instrument Sans" pitchFamily="34" charset="-120"/>
              </a:rPr>
              <a:t>Generalization in EERM allows you to model a hierarchy, where a supertype entity represents a general concept, and subtypes inherit its attributes and relationships. This enables more precise and expressive data modeling, capturing nuanced distinctions within a domain.</a:t>
            </a:r>
            <a:endParaRPr lang="en-US" sz="1607" dirty="0"/>
          </a:p>
        </p:txBody>
      </p:sp>
      <p:pic>
        <p:nvPicPr>
          <p:cNvPr id="25" name="Image 5" descr="preencoded.png">
            <a:hlinkClick r:id="rId8"/>
          </p:cNvPr>
          <p:cNvPicPr>
            <a:picLocks noChangeAspect="1"/>
          </p:cNvPicPr>
          <p:nvPr/>
        </p:nvPicPr>
        <p:blipFill>
          <a:blip r:embed="rId9"/>
          <a:stretch>
            <a:fillRect/>
          </a:stretch>
        </p:blipFill>
        <p:spPr>
          <a:xfrm>
            <a:off x="12242153" y="7589520"/>
            <a:ext cx="2296807" cy="54864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75000"/>
            </a:srgbClr>
          </a:solidFill>
          <a:ln/>
        </p:spPr>
      </p:sp>
      <p:sp>
        <p:nvSpPr>
          <p:cNvPr id="4" name="Text 1"/>
          <p:cNvSpPr/>
          <p:nvPr/>
        </p:nvSpPr>
        <p:spPr>
          <a:xfrm>
            <a:off x="2037993" y="1250394"/>
            <a:ext cx="5780365" cy="694373"/>
          </a:xfrm>
          <a:prstGeom prst="rect">
            <a:avLst/>
          </a:prstGeom>
          <a:noFill/>
          <a:ln/>
        </p:spPr>
        <p:txBody>
          <a:bodyPr wrap="none" rtlCol="0" anchor="t"/>
          <a:lstStyle/>
          <a:p>
            <a:pPr marL="0" indent="0">
              <a:lnSpc>
                <a:spcPts val="5468"/>
              </a:lnSpc>
              <a:buNone/>
            </a:pPr>
            <a:r>
              <a:rPr lang="en-US" sz="4374" b="1" dirty="0">
                <a:solidFill>
                  <a:srgbClr val="5B5F72"/>
                </a:solidFill>
                <a:latin typeface="Instrument Sans" pitchFamily="34" charset="0"/>
                <a:ea typeface="Instrument Sans" pitchFamily="34" charset="-122"/>
                <a:cs typeface="Instrument Sans" pitchFamily="34" charset="-120"/>
              </a:rPr>
              <a:t>Relationships in EERM</a:t>
            </a:r>
            <a:endParaRPr lang="en-US" sz="4374" dirty="0"/>
          </a:p>
        </p:txBody>
      </p:sp>
      <p:sp>
        <p:nvSpPr>
          <p:cNvPr id="5" name="Shape 2"/>
          <p:cNvSpPr/>
          <p:nvPr/>
        </p:nvSpPr>
        <p:spPr>
          <a:xfrm>
            <a:off x="2037993" y="2389108"/>
            <a:ext cx="5166122" cy="2006203"/>
          </a:xfrm>
          <a:prstGeom prst="roundRect">
            <a:avLst>
              <a:gd name="adj" fmla="val 4984"/>
            </a:avLst>
          </a:prstGeom>
          <a:solidFill>
            <a:srgbClr val="E3E4E8"/>
          </a:solidFill>
          <a:ln w="7620">
            <a:solidFill>
              <a:srgbClr val="C9CACE"/>
            </a:solidFill>
            <a:prstDash val="solid"/>
          </a:ln>
        </p:spPr>
      </p:sp>
      <p:sp>
        <p:nvSpPr>
          <p:cNvPr id="6" name="Text 3"/>
          <p:cNvSpPr/>
          <p:nvPr/>
        </p:nvSpPr>
        <p:spPr>
          <a:xfrm>
            <a:off x="2267783" y="2618899"/>
            <a:ext cx="2777490" cy="347186"/>
          </a:xfrm>
          <a:prstGeom prst="rect">
            <a:avLst/>
          </a:prstGeom>
          <a:noFill/>
          <a:ln/>
        </p:spPr>
        <p:txBody>
          <a:bodyPr wrap="none" rtlCol="0" anchor="t"/>
          <a:lstStyle/>
          <a:p>
            <a:pPr marL="0" indent="0">
              <a:lnSpc>
                <a:spcPts val="2734"/>
              </a:lnSpc>
              <a:buNone/>
            </a:pPr>
            <a:r>
              <a:rPr lang="en-US" sz="2187" b="1" dirty="0">
                <a:solidFill>
                  <a:srgbClr val="5B5F71"/>
                </a:solidFill>
                <a:latin typeface="Instrument Sans" pitchFamily="34" charset="0"/>
                <a:ea typeface="Instrument Sans" pitchFamily="34" charset="-122"/>
                <a:cs typeface="Instrument Sans" pitchFamily="34" charset="-120"/>
              </a:rPr>
              <a:t>Entity Relationships</a:t>
            </a:r>
            <a:endParaRPr lang="en-US" sz="2187" dirty="0"/>
          </a:p>
        </p:txBody>
      </p:sp>
      <p:sp>
        <p:nvSpPr>
          <p:cNvPr id="7" name="Text 4"/>
          <p:cNvSpPr/>
          <p:nvPr/>
        </p:nvSpPr>
        <p:spPr>
          <a:xfrm>
            <a:off x="2267783" y="3099316"/>
            <a:ext cx="4706541" cy="1066205"/>
          </a:xfrm>
          <a:prstGeom prst="rect">
            <a:avLst/>
          </a:prstGeom>
          <a:noFill/>
          <a:ln/>
        </p:spPr>
        <p:txBody>
          <a:bodyPr wrap="square" rtlCol="0" anchor="t"/>
          <a:lstStyle/>
          <a:p>
            <a:pPr marL="0" indent="0">
              <a:lnSpc>
                <a:spcPts val="2799"/>
              </a:lnSpc>
              <a:buNone/>
            </a:pPr>
            <a:r>
              <a:rPr lang="en-US" sz="1750" dirty="0">
                <a:solidFill>
                  <a:srgbClr val="5B5F71"/>
                </a:solidFill>
                <a:latin typeface="Instrument Sans" pitchFamily="34" charset="0"/>
                <a:ea typeface="Instrument Sans" pitchFamily="34" charset="-122"/>
                <a:cs typeface="Instrument Sans" pitchFamily="34" charset="-120"/>
              </a:rPr>
              <a:t>EERM models the complex relationships between entities, capturing the connections and dependencies that exist in the real world.</a:t>
            </a:r>
            <a:endParaRPr lang="en-US" sz="1750" dirty="0"/>
          </a:p>
        </p:txBody>
      </p:sp>
      <p:sp>
        <p:nvSpPr>
          <p:cNvPr id="8" name="Shape 5"/>
          <p:cNvSpPr/>
          <p:nvPr/>
        </p:nvSpPr>
        <p:spPr>
          <a:xfrm>
            <a:off x="7426285" y="2389108"/>
            <a:ext cx="5166122" cy="2006203"/>
          </a:xfrm>
          <a:prstGeom prst="roundRect">
            <a:avLst>
              <a:gd name="adj" fmla="val 4984"/>
            </a:avLst>
          </a:prstGeom>
          <a:solidFill>
            <a:srgbClr val="E3E4E8"/>
          </a:solidFill>
          <a:ln w="7620">
            <a:solidFill>
              <a:srgbClr val="C9CACE"/>
            </a:solidFill>
            <a:prstDash val="solid"/>
          </a:ln>
        </p:spPr>
      </p:sp>
      <p:sp>
        <p:nvSpPr>
          <p:cNvPr id="9" name="Text 6"/>
          <p:cNvSpPr/>
          <p:nvPr/>
        </p:nvSpPr>
        <p:spPr>
          <a:xfrm>
            <a:off x="7656076" y="2618899"/>
            <a:ext cx="2777490" cy="347186"/>
          </a:xfrm>
          <a:prstGeom prst="rect">
            <a:avLst/>
          </a:prstGeom>
          <a:noFill/>
          <a:ln/>
        </p:spPr>
        <p:txBody>
          <a:bodyPr wrap="none" rtlCol="0" anchor="t"/>
          <a:lstStyle/>
          <a:p>
            <a:pPr marL="0" indent="0">
              <a:lnSpc>
                <a:spcPts val="2734"/>
              </a:lnSpc>
              <a:buNone/>
            </a:pPr>
            <a:r>
              <a:rPr lang="en-US" sz="2187" b="1" dirty="0">
                <a:solidFill>
                  <a:srgbClr val="5B5F71"/>
                </a:solidFill>
                <a:latin typeface="Instrument Sans" pitchFamily="34" charset="0"/>
                <a:ea typeface="Instrument Sans" pitchFamily="34" charset="-122"/>
                <a:cs typeface="Instrument Sans" pitchFamily="34" charset="-120"/>
              </a:rPr>
              <a:t>Cardinality</a:t>
            </a:r>
            <a:endParaRPr lang="en-US" sz="2187" dirty="0"/>
          </a:p>
        </p:txBody>
      </p:sp>
      <p:sp>
        <p:nvSpPr>
          <p:cNvPr id="10" name="Text 7"/>
          <p:cNvSpPr/>
          <p:nvPr/>
        </p:nvSpPr>
        <p:spPr>
          <a:xfrm>
            <a:off x="7656076" y="3099316"/>
            <a:ext cx="4706541" cy="1066205"/>
          </a:xfrm>
          <a:prstGeom prst="rect">
            <a:avLst/>
          </a:prstGeom>
          <a:noFill/>
          <a:ln/>
        </p:spPr>
        <p:txBody>
          <a:bodyPr wrap="square" rtlCol="0" anchor="t"/>
          <a:lstStyle/>
          <a:p>
            <a:pPr marL="0" indent="0">
              <a:lnSpc>
                <a:spcPts val="2799"/>
              </a:lnSpc>
              <a:buNone/>
            </a:pPr>
            <a:r>
              <a:rPr lang="en-US" sz="1750" dirty="0">
                <a:solidFill>
                  <a:srgbClr val="5B5F71"/>
                </a:solidFill>
                <a:latin typeface="Instrument Sans" pitchFamily="34" charset="0"/>
                <a:ea typeface="Instrument Sans" pitchFamily="34" charset="-122"/>
                <a:cs typeface="Instrument Sans" pitchFamily="34" charset="-120"/>
              </a:rPr>
              <a:t>Cardinality specifies the number of instances of one entity that can be associated with a single instance of a related entity.</a:t>
            </a:r>
            <a:endParaRPr lang="en-US" sz="1750" dirty="0"/>
          </a:p>
        </p:txBody>
      </p:sp>
      <p:sp>
        <p:nvSpPr>
          <p:cNvPr id="11" name="Shape 8"/>
          <p:cNvSpPr/>
          <p:nvPr/>
        </p:nvSpPr>
        <p:spPr>
          <a:xfrm>
            <a:off x="2037993" y="4617482"/>
            <a:ext cx="5166122" cy="2361605"/>
          </a:xfrm>
          <a:prstGeom prst="roundRect">
            <a:avLst>
              <a:gd name="adj" fmla="val 4234"/>
            </a:avLst>
          </a:prstGeom>
          <a:solidFill>
            <a:srgbClr val="E3E4E8"/>
          </a:solidFill>
          <a:ln w="7620">
            <a:solidFill>
              <a:srgbClr val="C9CACE"/>
            </a:solidFill>
            <a:prstDash val="solid"/>
          </a:ln>
        </p:spPr>
      </p:sp>
      <p:sp>
        <p:nvSpPr>
          <p:cNvPr id="12" name="Text 9"/>
          <p:cNvSpPr/>
          <p:nvPr/>
        </p:nvSpPr>
        <p:spPr>
          <a:xfrm>
            <a:off x="2267783" y="4847273"/>
            <a:ext cx="3086219" cy="347186"/>
          </a:xfrm>
          <a:prstGeom prst="rect">
            <a:avLst/>
          </a:prstGeom>
          <a:noFill/>
          <a:ln/>
        </p:spPr>
        <p:txBody>
          <a:bodyPr wrap="none" rtlCol="0" anchor="t"/>
          <a:lstStyle/>
          <a:p>
            <a:pPr marL="0" indent="0">
              <a:lnSpc>
                <a:spcPts val="2734"/>
              </a:lnSpc>
              <a:buNone/>
            </a:pPr>
            <a:r>
              <a:rPr lang="en-US" sz="2187" b="1" dirty="0">
                <a:solidFill>
                  <a:srgbClr val="5B5F71"/>
                </a:solidFill>
                <a:latin typeface="Instrument Sans" pitchFamily="34" charset="0"/>
                <a:ea typeface="Instrument Sans" pitchFamily="34" charset="-122"/>
                <a:cs typeface="Instrument Sans" pitchFamily="34" charset="-120"/>
              </a:rPr>
              <a:t>Recursive Relationships</a:t>
            </a:r>
            <a:endParaRPr lang="en-US" sz="2187" dirty="0"/>
          </a:p>
        </p:txBody>
      </p:sp>
      <p:sp>
        <p:nvSpPr>
          <p:cNvPr id="13" name="Text 10"/>
          <p:cNvSpPr/>
          <p:nvPr/>
        </p:nvSpPr>
        <p:spPr>
          <a:xfrm>
            <a:off x="2267783" y="5327690"/>
            <a:ext cx="4706541" cy="1421606"/>
          </a:xfrm>
          <a:prstGeom prst="rect">
            <a:avLst/>
          </a:prstGeom>
          <a:noFill/>
          <a:ln/>
        </p:spPr>
        <p:txBody>
          <a:bodyPr wrap="square" rtlCol="0" anchor="t"/>
          <a:lstStyle/>
          <a:p>
            <a:pPr marL="0" indent="0">
              <a:lnSpc>
                <a:spcPts val="2799"/>
              </a:lnSpc>
              <a:buNone/>
            </a:pPr>
            <a:r>
              <a:rPr lang="en-US" sz="1750" dirty="0">
                <a:solidFill>
                  <a:srgbClr val="5B5F71"/>
                </a:solidFill>
                <a:latin typeface="Instrument Sans" pitchFamily="34" charset="0"/>
                <a:ea typeface="Instrument Sans" pitchFamily="34" charset="-122"/>
                <a:cs typeface="Instrument Sans" pitchFamily="34" charset="-120"/>
              </a:rPr>
              <a:t>EERM allows for modeling recursive relationships, where an entity can be related to itself, such as a manager-employee hierarchy.</a:t>
            </a:r>
            <a:endParaRPr lang="en-US" sz="1750" dirty="0"/>
          </a:p>
        </p:txBody>
      </p:sp>
      <p:sp>
        <p:nvSpPr>
          <p:cNvPr id="14" name="Shape 11"/>
          <p:cNvSpPr/>
          <p:nvPr/>
        </p:nvSpPr>
        <p:spPr>
          <a:xfrm>
            <a:off x="7426285" y="4617482"/>
            <a:ext cx="5166122" cy="2361605"/>
          </a:xfrm>
          <a:prstGeom prst="roundRect">
            <a:avLst>
              <a:gd name="adj" fmla="val 4234"/>
            </a:avLst>
          </a:prstGeom>
          <a:solidFill>
            <a:srgbClr val="E3E4E8"/>
          </a:solidFill>
          <a:ln w="7620">
            <a:solidFill>
              <a:srgbClr val="C9CACE"/>
            </a:solidFill>
            <a:prstDash val="solid"/>
          </a:ln>
        </p:spPr>
      </p:sp>
      <p:sp>
        <p:nvSpPr>
          <p:cNvPr id="15" name="Text 12"/>
          <p:cNvSpPr/>
          <p:nvPr/>
        </p:nvSpPr>
        <p:spPr>
          <a:xfrm>
            <a:off x="7656076" y="4847273"/>
            <a:ext cx="2777490" cy="347186"/>
          </a:xfrm>
          <a:prstGeom prst="rect">
            <a:avLst/>
          </a:prstGeom>
          <a:noFill/>
          <a:ln/>
        </p:spPr>
        <p:txBody>
          <a:bodyPr wrap="none" rtlCol="0" anchor="t"/>
          <a:lstStyle/>
          <a:p>
            <a:pPr marL="0" indent="0">
              <a:lnSpc>
                <a:spcPts val="2734"/>
              </a:lnSpc>
              <a:buNone/>
            </a:pPr>
            <a:r>
              <a:rPr lang="en-US" sz="2187" b="1" dirty="0">
                <a:solidFill>
                  <a:srgbClr val="5B5F71"/>
                </a:solidFill>
                <a:latin typeface="Instrument Sans" pitchFamily="34" charset="0"/>
                <a:ea typeface="Instrument Sans" pitchFamily="34" charset="-122"/>
                <a:cs typeface="Instrument Sans" pitchFamily="34" charset="-120"/>
              </a:rPr>
              <a:t>Associative Entities</a:t>
            </a:r>
            <a:endParaRPr lang="en-US" sz="2187" dirty="0"/>
          </a:p>
        </p:txBody>
      </p:sp>
      <p:sp>
        <p:nvSpPr>
          <p:cNvPr id="16" name="Text 13"/>
          <p:cNvSpPr/>
          <p:nvPr/>
        </p:nvSpPr>
        <p:spPr>
          <a:xfrm>
            <a:off x="7656076" y="5327690"/>
            <a:ext cx="4706541" cy="1421606"/>
          </a:xfrm>
          <a:prstGeom prst="rect">
            <a:avLst/>
          </a:prstGeom>
          <a:noFill/>
          <a:ln/>
        </p:spPr>
        <p:txBody>
          <a:bodyPr wrap="square" rtlCol="0" anchor="t"/>
          <a:lstStyle/>
          <a:p>
            <a:pPr marL="0" indent="0">
              <a:lnSpc>
                <a:spcPts val="2799"/>
              </a:lnSpc>
              <a:buNone/>
            </a:pPr>
            <a:r>
              <a:rPr lang="en-US" sz="1750" dirty="0">
                <a:solidFill>
                  <a:srgbClr val="5B5F71"/>
                </a:solidFill>
                <a:latin typeface="Instrument Sans" pitchFamily="34" charset="0"/>
                <a:ea typeface="Instrument Sans" pitchFamily="34" charset="-122"/>
                <a:cs typeface="Instrument Sans" pitchFamily="34" charset="-120"/>
              </a:rPr>
              <a:t>EERM supports the creation of associative entities, which represent the relationship between two other entities and can have their own attributes.</a:t>
            </a:r>
            <a:endParaRPr lang="en-US" sz="1750" dirty="0"/>
          </a:p>
        </p:txBody>
      </p:sp>
      <p:pic>
        <p:nvPicPr>
          <p:cNvPr id="17" name="Image 1" descr="preencoded.png">
            <a:hlinkClick r:id="rId4"/>
          </p:cNvPr>
          <p:cNvPicPr>
            <a:picLocks noChangeAspect="1"/>
          </p:cNvPicPr>
          <p:nvPr/>
        </p:nvPicPr>
        <p:blipFill>
          <a:blip r:embed="rId5"/>
          <a:stretch>
            <a:fillRect/>
          </a:stretch>
        </p:blipFill>
        <p:spPr>
          <a:xfrm>
            <a:off x="12242153" y="7589520"/>
            <a:ext cx="2296807" cy="54864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75000"/>
            </a:srgbClr>
          </a:solidFill>
          <a:ln/>
        </p:spPr>
      </p:sp>
      <p:sp>
        <p:nvSpPr>
          <p:cNvPr id="4" name="Text 1"/>
          <p:cNvSpPr/>
          <p:nvPr/>
        </p:nvSpPr>
        <p:spPr>
          <a:xfrm>
            <a:off x="2037993" y="2087761"/>
            <a:ext cx="5554980" cy="694373"/>
          </a:xfrm>
          <a:prstGeom prst="rect">
            <a:avLst/>
          </a:prstGeom>
          <a:noFill/>
          <a:ln/>
        </p:spPr>
        <p:txBody>
          <a:bodyPr wrap="none" rtlCol="0" anchor="t"/>
          <a:lstStyle/>
          <a:p>
            <a:pPr marL="0" indent="0">
              <a:lnSpc>
                <a:spcPts val="5468"/>
              </a:lnSpc>
              <a:buNone/>
            </a:pPr>
            <a:r>
              <a:rPr lang="en-US" sz="4374" b="1" dirty="0">
                <a:solidFill>
                  <a:srgbClr val="5B5F72"/>
                </a:solidFill>
                <a:latin typeface="Instrument Sans" pitchFamily="34" charset="0"/>
                <a:ea typeface="Instrument Sans" pitchFamily="34" charset="-122"/>
                <a:cs typeface="Instrument Sans" pitchFamily="34" charset="-120"/>
              </a:rPr>
              <a:t>Attributes in EERM</a:t>
            </a:r>
            <a:endParaRPr lang="en-US" sz="4374" dirty="0"/>
          </a:p>
        </p:txBody>
      </p:sp>
      <p:sp>
        <p:nvSpPr>
          <p:cNvPr id="5" name="Text 2"/>
          <p:cNvSpPr/>
          <p:nvPr/>
        </p:nvSpPr>
        <p:spPr>
          <a:xfrm>
            <a:off x="2037993" y="3226475"/>
            <a:ext cx="10554414" cy="1066205"/>
          </a:xfrm>
          <a:prstGeom prst="rect">
            <a:avLst/>
          </a:prstGeom>
          <a:noFill/>
          <a:ln/>
        </p:spPr>
        <p:txBody>
          <a:bodyPr wrap="square" rtlCol="0" anchor="t"/>
          <a:lstStyle/>
          <a:p>
            <a:pPr marL="0" indent="0">
              <a:lnSpc>
                <a:spcPts val="2799"/>
              </a:lnSpc>
              <a:buNone/>
            </a:pPr>
            <a:r>
              <a:rPr lang="en-US" sz="1750" dirty="0">
                <a:solidFill>
                  <a:srgbClr val="5B5F71"/>
                </a:solidFill>
                <a:latin typeface="Instrument Sans" pitchFamily="34" charset="0"/>
                <a:ea typeface="Instrument Sans" pitchFamily="34" charset="-122"/>
                <a:cs typeface="Instrument Sans" pitchFamily="34" charset="-120"/>
              </a:rPr>
              <a:t>In EERM, attributes are the specific pieces of information that define and describe each entity. These can include unique </a:t>
            </a:r>
            <a:r>
              <a:rPr lang="en-US" sz="1750" b="1" dirty="0">
                <a:solidFill>
                  <a:srgbClr val="5B5F71"/>
                </a:solidFill>
                <a:latin typeface="Instrument Sans" pitchFamily="34" charset="0"/>
                <a:ea typeface="Instrument Sans" pitchFamily="34" charset="-122"/>
                <a:cs typeface="Instrument Sans" pitchFamily="34" charset="-120"/>
              </a:rPr>
              <a:t>identifiers</a:t>
            </a:r>
            <a:r>
              <a:rPr lang="en-US" sz="1750" dirty="0">
                <a:solidFill>
                  <a:srgbClr val="5B5F71"/>
                </a:solidFill>
                <a:latin typeface="Instrument Sans" pitchFamily="34" charset="0"/>
                <a:ea typeface="Instrument Sans" pitchFamily="34" charset="-122"/>
                <a:cs typeface="Instrument Sans" pitchFamily="34" charset="-120"/>
              </a:rPr>
              <a:t>, key </a:t>
            </a:r>
            <a:r>
              <a:rPr lang="en-US" sz="1750" u="sng" dirty="0">
                <a:solidFill>
                  <a:srgbClr val="5B5F71"/>
                </a:solidFill>
                <a:latin typeface="Instrument Sans" pitchFamily="34" charset="0"/>
                <a:ea typeface="Instrument Sans" pitchFamily="34" charset="-122"/>
                <a:cs typeface="Instrument Sans" pitchFamily="34" charset="-120"/>
              </a:rPr>
              <a:t>characteristics</a:t>
            </a:r>
            <a:r>
              <a:rPr lang="en-US" sz="1750" dirty="0">
                <a:solidFill>
                  <a:srgbClr val="5B5F71"/>
                </a:solidFill>
                <a:latin typeface="Instrument Sans" pitchFamily="34" charset="0"/>
                <a:ea typeface="Instrument Sans" pitchFamily="34" charset="-122"/>
                <a:cs typeface="Instrument Sans" pitchFamily="34" charset="-120"/>
              </a:rPr>
              <a:t>, and other </a:t>
            </a:r>
            <a:r>
              <a:rPr lang="en-US" sz="1750" b="1" dirty="0">
                <a:solidFill>
                  <a:srgbClr val="5B5F71"/>
                </a:solidFill>
                <a:latin typeface="Instrument Sans" pitchFamily="34" charset="0"/>
                <a:ea typeface="Instrument Sans" pitchFamily="34" charset="-122"/>
                <a:cs typeface="Instrument Sans" pitchFamily="34" charset="-120"/>
              </a:rPr>
              <a:t>details</a:t>
            </a:r>
            <a:r>
              <a:rPr lang="en-US" sz="1750" dirty="0">
                <a:solidFill>
                  <a:srgbClr val="5B5F71"/>
                </a:solidFill>
                <a:latin typeface="Instrument Sans" pitchFamily="34" charset="0"/>
                <a:ea typeface="Instrument Sans" pitchFamily="34" charset="-122"/>
                <a:cs typeface="Instrument Sans" pitchFamily="34" charset="-120"/>
              </a:rPr>
              <a:t> that help paint a comprehensive picture of the entity and its relationships.</a:t>
            </a:r>
            <a:endParaRPr lang="en-US" sz="1750" dirty="0"/>
          </a:p>
        </p:txBody>
      </p:sp>
      <p:sp>
        <p:nvSpPr>
          <p:cNvPr id="6" name="Text 3"/>
          <p:cNvSpPr/>
          <p:nvPr/>
        </p:nvSpPr>
        <p:spPr>
          <a:xfrm>
            <a:off x="2393394" y="4542592"/>
            <a:ext cx="10199013" cy="355402"/>
          </a:xfrm>
          <a:prstGeom prst="rect">
            <a:avLst/>
          </a:prstGeom>
          <a:noFill/>
          <a:ln/>
        </p:spPr>
        <p:txBody>
          <a:bodyPr wrap="none" rtlCol="0" anchor="t"/>
          <a:lstStyle/>
          <a:p>
            <a:pPr marL="342900" indent="-342900" algn="l">
              <a:lnSpc>
                <a:spcPts val="2799"/>
              </a:lnSpc>
              <a:buSzPct val="100000"/>
              <a:buFont typeface="+mj-lt"/>
              <a:buAutoNum type="arabicPeriod"/>
            </a:pPr>
            <a:r>
              <a:rPr lang="en-US" sz="1750" dirty="0">
                <a:solidFill>
                  <a:srgbClr val="5B5F71"/>
                </a:solidFill>
                <a:latin typeface="Instrument Sans" pitchFamily="34" charset="0"/>
                <a:ea typeface="Instrument Sans" pitchFamily="34" charset="-122"/>
                <a:cs typeface="Instrument Sans" pitchFamily="34" charset="-120"/>
              </a:rPr>
              <a:t>Identifiers: Unique codes, numbers, or names that distinguish one entity instance from another.</a:t>
            </a:r>
            <a:endParaRPr lang="en-US" sz="1750" dirty="0"/>
          </a:p>
        </p:txBody>
      </p:sp>
      <p:sp>
        <p:nvSpPr>
          <p:cNvPr id="7" name="Text 4"/>
          <p:cNvSpPr/>
          <p:nvPr/>
        </p:nvSpPr>
        <p:spPr>
          <a:xfrm>
            <a:off x="2393394" y="4986814"/>
            <a:ext cx="10199013" cy="355402"/>
          </a:xfrm>
          <a:prstGeom prst="rect">
            <a:avLst/>
          </a:prstGeom>
          <a:noFill/>
          <a:ln/>
        </p:spPr>
        <p:txBody>
          <a:bodyPr wrap="none" rtlCol="0" anchor="t"/>
          <a:lstStyle/>
          <a:p>
            <a:pPr marL="342900" indent="-342900" algn="l">
              <a:lnSpc>
                <a:spcPts val="2799"/>
              </a:lnSpc>
              <a:buSzPct val="100000"/>
              <a:buFont typeface="+mj-lt"/>
              <a:buAutoNum type="arabicPeriod" startAt="2"/>
            </a:pPr>
            <a:r>
              <a:rPr lang="en-US" sz="1750" dirty="0">
                <a:solidFill>
                  <a:srgbClr val="5B5F71"/>
                </a:solidFill>
                <a:latin typeface="Instrument Sans" pitchFamily="34" charset="0"/>
                <a:ea typeface="Instrument Sans" pitchFamily="34" charset="-122"/>
                <a:cs typeface="Instrument Sans" pitchFamily="34" charset="-120"/>
              </a:rPr>
              <a:t>Characteristics: Descriptive properties like size, color, price, or any other relevant details.</a:t>
            </a:r>
            <a:endParaRPr lang="en-US" sz="1750" dirty="0"/>
          </a:p>
        </p:txBody>
      </p:sp>
      <p:sp>
        <p:nvSpPr>
          <p:cNvPr id="8" name="Text 5"/>
          <p:cNvSpPr/>
          <p:nvPr/>
        </p:nvSpPr>
        <p:spPr>
          <a:xfrm>
            <a:off x="2393394" y="5431036"/>
            <a:ext cx="10199013" cy="710803"/>
          </a:xfrm>
          <a:prstGeom prst="rect">
            <a:avLst/>
          </a:prstGeom>
          <a:noFill/>
          <a:ln/>
        </p:spPr>
        <p:txBody>
          <a:bodyPr wrap="square" rtlCol="0" anchor="t"/>
          <a:lstStyle/>
          <a:p>
            <a:pPr marL="342900" indent="-342900" algn="l">
              <a:lnSpc>
                <a:spcPts val="2799"/>
              </a:lnSpc>
              <a:buSzPct val="100000"/>
              <a:buFont typeface="+mj-lt"/>
              <a:buAutoNum type="arabicPeriod" startAt="3"/>
            </a:pPr>
            <a:r>
              <a:rPr lang="en-US" sz="1750" dirty="0">
                <a:solidFill>
                  <a:srgbClr val="5B5F71"/>
                </a:solidFill>
                <a:latin typeface="Instrument Sans" pitchFamily="34" charset="0"/>
                <a:ea typeface="Instrument Sans" pitchFamily="34" charset="-122"/>
                <a:cs typeface="Instrument Sans" pitchFamily="34" charset="-120"/>
              </a:rPr>
              <a:t>Relationships: Attributes that capture the connections between entities, such as a customer's order history or an employee's manager.</a:t>
            </a:r>
            <a:endParaRPr lang="en-US" sz="1750" dirty="0"/>
          </a:p>
        </p:txBody>
      </p:sp>
      <p:pic>
        <p:nvPicPr>
          <p:cNvPr id="9" name="Image 1" descr="preencoded.png">
            <a:hlinkClick r:id="rId4"/>
          </p:cNvPr>
          <p:cNvPicPr>
            <a:picLocks noChangeAspect="1"/>
          </p:cNvPicPr>
          <p:nvPr/>
        </p:nvPicPr>
        <p:blipFill>
          <a:blip r:embed="rId5"/>
          <a:stretch>
            <a:fillRect/>
          </a:stretch>
        </p:blipFill>
        <p:spPr>
          <a:xfrm>
            <a:off x="12242153" y="7589520"/>
            <a:ext cx="2296807" cy="54864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75000"/>
            </a:srgbClr>
          </a:solidFill>
          <a:ln/>
        </p:spPr>
      </p:sp>
      <p:sp>
        <p:nvSpPr>
          <p:cNvPr id="4" name="Text 1"/>
          <p:cNvSpPr/>
          <p:nvPr/>
        </p:nvSpPr>
        <p:spPr>
          <a:xfrm>
            <a:off x="2037993" y="680204"/>
            <a:ext cx="5554980" cy="694373"/>
          </a:xfrm>
          <a:prstGeom prst="rect">
            <a:avLst/>
          </a:prstGeom>
          <a:noFill/>
          <a:ln/>
        </p:spPr>
        <p:txBody>
          <a:bodyPr wrap="none" rtlCol="0" anchor="t"/>
          <a:lstStyle/>
          <a:p>
            <a:pPr marL="0" indent="0">
              <a:lnSpc>
                <a:spcPts val="5468"/>
              </a:lnSpc>
              <a:buNone/>
            </a:pPr>
            <a:r>
              <a:rPr lang="en-US" sz="4374" b="1" dirty="0">
                <a:solidFill>
                  <a:srgbClr val="5B5F72"/>
                </a:solidFill>
                <a:latin typeface="Instrument Sans" pitchFamily="34" charset="0"/>
                <a:ea typeface="Instrument Sans" pitchFamily="34" charset="-122"/>
                <a:cs typeface="Instrument Sans" pitchFamily="34" charset="-120"/>
              </a:rPr>
              <a:t>Cardinality in EERM</a:t>
            </a:r>
            <a:endParaRPr lang="en-US" sz="4374" dirty="0"/>
          </a:p>
        </p:txBody>
      </p:sp>
      <p:sp>
        <p:nvSpPr>
          <p:cNvPr id="5" name="Text 2"/>
          <p:cNvSpPr/>
          <p:nvPr/>
        </p:nvSpPr>
        <p:spPr>
          <a:xfrm>
            <a:off x="2037993" y="1818918"/>
            <a:ext cx="10554414" cy="1066205"/>
          </a:xfrm>
          <a:prstGeom prst="rect">
            <a:avLst/>
          </a:prstGeom>
          <a:noFill/>
          <a:ln/>
        </p:spPr>
        <p:txBody>
          <a:bodyPr wrap="square" rtlCol="0" anchor="t"/>
          <a:lstStyle/>
          <a:p>
            <a:pPr marL="0" indent="0">
              <a:lnSpc>
                <a:spcPts val="2799"/>
              </a:lnSpc>
              <a:buNone/>
            </a:pPr>
            <a:r>
              <a:rPr lang="en-US" sz="1750" dirty="0">
                <a:solidFill>
                  <a:srgbClr val="5B5F71"/>
                </a:solidFill>
                <a:latin typeface="Instrument Sans" pitchFamily="34" charset="0"/>
                <a:ea typeface="Instrument Sans" pitchFamily="34" charset="-122"/>
                <a:cs typeface="Instrument Sans" pitchFamily="34" charset="-120"/>
              </a:rPr>
              <a:t>Cardinality in EERM specifies the numerical relationship between instances of two entities. It defines the minimum and maximum number of instances of one entity that can be associated with a single instance of another entity.</a:t>
            </a:r>
            <a:endParaRPr lang="en-US" sz="1750" dirty="0"/>
          </a:p>
        </p:txBody>
      </p:sp>
      <p:sp>
        <p:nvSpPr>
          <p:cNvPr id="6" name="Shape 3"/>
          <p:cNvSpPr/>
          <p:nvPr/>
        </p:nvSpPr>
        <p:spPr>
          <a:xfrm>
            <a:off x="2037993" y="3135035"/>
            <a:ext cx="10554414" cy="4414361"/>
          </a:xfrm>
          <a:prstGeom prst="roundRect">
            <a:avLst>
              <a:gd name="adj" fmla="val 2265"/>
            </a:avLst>
          </a:prstGeom>
          <a:noFill/>
          <a:ln w="7620">
            <a:solidFill>
              <a:srgbClr val="000000">
                <a:alpha val="8000"/>
              </a:srgbClr>
            </a:solidFill>
            <a:prstDash val="solid"/>
          </a:ln>
        </p:spPr>
      </p:sp>
      <p:sp>
        <p:nvSpPr>
          <p:cNvPr id="7" name="Shape 4"/>
          <p:cNvSpPr/>
          <p:nvPr/>
        </p:nvSpPr>
        <p:spPr>
          <a:xfrm>
            <a:off x="2045613" y="3142655"/>
            <a:ext cx="10539174" cy="992505"/>
          </a:xfrm>
          <a:prstGeom prst="rect">
            <a:avLst/>
          </a:prstGeom>
          <a:solidFill>
            <a:srgbClr val="FFFFFF">
              <a:alpha val="4000"/>
            </a:srgbClr>
          </a:solidFill>
          <a:ln/>
        </p:spPr>
      </p:sp>
      <p:sp>
        <p:nvSpPr>
          <p:cNvPr id="8" name="Text 5"/>
          <p:cNvSpPr/>
          <p:nvPr/>
        </p:nvSpPr>
        <p:spPr>
          <a:xfrm>
            <a:off x="2267783" y="3283506"/>
            <a:ext cx="4821436" cy="355402"/>
          </a:xfrm>
          <a:prstGeom prst="rect">
            <a:avLst/>
          </a:prstGeom>
          <a:noFill/>
          <a:ln/>
        </p:spPr>
        <p:txBody>
          <a:bodyPr wrap="none" rtlCol="0" anchor="t"/>
          <a:lstStyle/>
          <a:p>
            <a:pPr marL="0" indent="0">
              <a:lnSpc>
                <a:spcPts val="2799"/>
              </a:lnSpc>
              <a:buNone/>
            </a:pPr>
            <a:r>
              <a:rPr lang="en-US" sz="1750" dirty="0">
                <a:solidFill>
                  <a:srgbClr val="5B5F71"/>
                </a:solidFill>
                <a:latin typeface="Instrument Sans" pitchFamily="34" charset="0"/>
                <a:ea typeface="Instrument Sans" pitchFamily="34" charset="-122"/>
                <a:cs typeface="Instrument Sans" pitchFamily="34" charset="-120"/>
              </a:rPr>
              <a:t>One-to-One</a:t>
            </a:r>
            <a:endParaRPr lang="en-US" sz="1750" dirty="0"/>
          </a:p>
        </p:txBody>
      </p:sp>
      <p:sp>
        <p:nvSpPr>
          <p:cNvPr id="9" name="Text 6"/>
          <p:cNvSpPr/>
          <p:nvPr/>
        </p:nvSpPr>
        <p:spPr>
          <a:xfrm>
            <a:off x="7541181" y="3283506"/>
            <a:ext cx="4821436" cy="710803"/>
          </a:xfrm>
          <a:prstGeom prst="rect">
            <a:avLst/>
          </a:prstGeom>
          <a:noFill/>
          <a:ln/>
        </p:spPr>
        <p:txBody>
          <a:bodyPr wrap="square" rtlCol="0" anchor="t"/>
          <a:lstStyle/>
          <a:p>
            <a:pPr marL="0" indent="0">
              <a:lnSpc>
                <a:spcPts val="2799"/>
              </a:lnSpc>
              <a:buNone/>
            </a:pPr>
            <a:r>
              <a:rPr lang="en-US" sz="1750" dirty="0">
                <a:solidFill>
                  <a:srgbClr val="5B5F71"/>
                </a:solidFill>
                <a:latin typeface="Instrument Sans" pitchFamily="34" charset="0"/>
                <a:ea typeface="Instrument Sans" pitchFamily="34" charset="-122"/>
                <a:cs typeface="Instrument Sans" pitchFamily="34" charset="-120"/>
              </a:rPr>
              <a:t>Each instance of an entity is related to at most one instance of another entity, and vice versa.</a:t>
            </a:r>
            <a:endParaRPr lang="en-US" sz="1750" dirty="0"/>
          </a:p>
        </p:txBody>
      </p:sp>
      <p:sp>
        <p:nvSpPr>
          <p:cNvPr id="10" name="Shape 7"/>
          <p:cNvSpPr/>
          <p:nvPr/>
        </p:nvSpPr>
        <p:spPr>
          <a:xfrm>
            <a:off x="2045613" y="4135160"/>
            <a:ext cx="10539174" cy="1703308"/>
          </a:xfrm>
          <a:prstGeom prst="rect">
            <a:avLst/>
          </a:prstGeom>
          <a:solidFill>
            <a:srgbClr val="000000">
              <a:alpha val="4000"/>
            </a:srgbClr>
          </a:solidFill>
          <a:ln/>
        </p:spPr>
      </p:sp>
      <p:sp>
        <p:nvSpPr>
          <p:cNvPr id="11" name="Text 8"/>
          <p:cNvSpPr/>
          <p:nvPr/>
        </p:nvSpPr>
        <p:spPr>
          <a:xfrm>
            <a:off x="2267783" y="4276011"/>
            <a:ext cx="4821436" cy="355402"/>
          </a:xfrm>
          <a:prstGeom prst="rect">
            <a:avLst/>
          </a:prstGeom>
          <a:noFill/>
          <a:ln/>
        </p:spPr>
        <p:txBody>
          <a:bodyPr wrap="none" rtlCol="0" anchor="t"/>
          <a:lstStyle/>
          <a:p>
            <a:pPr marL="0" indent="0">
              <a:lnSpc>
                <a:spcPts val="2799"/>
              </a:lnSpc>
              <a:buNone/>
            </a:pPr>
            <a:r>
              <a:rPr lang="en-US" sz="1750" dirty="0">
                <a:solidFill>
                  <a:srgbClr val="5B5F71"/>
                </a:solidFill>
                <a:latin typeface="Instrument Sans" pitchFamily="34" charset="0"/>
                <a:ea typeface="Instrument Sans" pitchFamily="34" charset="-122"/>
                <a:cs typeface="Instrument Sans" pitchFamily="34" charset="-120"/>
              </a:rPr>
              <a:t>One-to-Many</a:t>
            </a:r>
            <a:endParaRPr lang="en-US" sz="1750" dirty="0"/>
          </a:p>
        </p:txBody>
      </p:sp>
      <p:sp>
        <p:nvSpPr>
          <p:cNvPr id="12" name="Text 9"/>
          <p:cNvSpPr/>
          <p:nvPr/>
        </p:nvSpPr>
        <p:spPr>
          <a:xfrm>
            <a:off x="7541181" y="4276011"/>
            <a:ext cx="4821436" cy="1421606"/>
          </a:xfrm>
          <a:prstGeom prst="rect">
            <a:avLst/>
          </a:prstGeom>
          <a:noFill/>
          <a:ln/>
        </p:spPr>
        <p:txBody>
          <a:bodyPr wrap="square" rtlCol="0" anchor="t"/>
          <a:lstStyle/>
          <a:p>
            <a:pPr marL="0" indent="0">
              <a:lnSpc>
                <a:spcPts val="2799"/>
              </a:lnSpc>
              <a:buNone/>
            </a:pPr>
            <a:r>
              <a:rPr lang="en-US" sz="1750" dirty="0">
                <a:solidFill>
                  <a:srgbClr val="5B5F71"/>
                </a:solidFill>
                <a:latin typeface="Instrument Sans" pitchFamily="34" charset="0"/>
                <a:ea typeface="Instrument Sans" pitchFamily="34" charset="-122"/>
                <a:cs typeface="Instrument Sans" pitchFamily="34" charset="-120"/>
              </a:rPr>
              <a:t>Each instance of an entity can be related to multiple instances of another entity, but each instance of the second entity is related to at most one instance of the first.</a:t>
            </a:r>
            <a:endParaRPr lang="en-US" sz="1750" dirty="0"/>
          </a:p>
        </p:txBody>
      </p:sp>
      <p:sp>
        <p:nvSpPr>
          <p:cNvPr id="13" name="Shape 10"/>
          <p:cNvSpPr/>
          <p:nvPr/>
        </p:nvSpPr>
        <p:spPr>
          <a:xfrm>
            <a:off x="2045613" y="5838468"/>
            <a:ext cx="10539174" cy="1703308"/>
          </a:xfrm>
          <a:prstGeom prst="rect">
            <a:avLst/>
          </a:prstGeom>
          <a:solidFill>
            <a:srgbClr val="FFFFFF">
              <a:alpha val="4000"/>
            </a:srgbClr>
          </a:solidFill>
          <a:ln/>
        </p:spPr>
      </p:sp>
      <p:sp>
        <p:nvSpPr>
          <p:cNvPr id="14" name="Text 11"/>
          <p:cNvSpPr/>
          <p:nvPr/>
        </p:nvSpPr>
        <p:spPr>
          <a:xfrm>
            <a:off x="2267783" y="5979319"/>
            <a:ext cx="4821436" cy="355402"/>
          </a:xfrm>
          <a:prstGeom prst="rect">
            <a:avLst/>
          </a:prstGeom>
          <a:noFill/>
          <a:ln/>
        </p:spPr>
        <p:txBody>
          <a:bodyPr wrap="none" rtlCol="0" anchor="t"/>
          <a:lstStyle/>
          <a:p>
            <a:pPr marL="0" indent="0">
              <a:lnSpc>
                <a:spcPts val="2799"/>
              </a:lnSpc>
              <a:buNone/>
            </a:pPr>
            <a:r>
              <a:rPr lang="en-US" sz="1750" dirty="0">
                <a:solidFill>
                  <a:srgbClr val="5B5F71"/>
                </a:solidFill>
                <a:latin typeface="Instrument Sans" pitchFamily="34" charset="0"/>
                <a:ea typeface="Instrument Sans" pitchFamily="34" charset="-122"/>
                <a:cs typeface="Instrument Sans" pitchFamily="34" charset="-120"/>
              </a:rPr>
              <a:t>Many-to-Many</a:t>
            </a:r>
            <a:endParaRPr lang="en-US" sz="1750" dirty="0"/>
          </a:p>
        </p:txBody>
      </p:sp>
      <p:sp>
        <p:nvSpPr>
          <p:cNvPr id="15" name="Text 12"/>
          <p:cNvSpPr/>
          <p:nvPr/>
        </p:nvSpPr>
        <p:spPr>
          <a:xfrm>
            <a:off x="7541181" y="5979319"/>
            <a:ext cx="4821436" cy="1421606"/>
          </a:xfrm>
          <a:prstGeom prst="rect">
            <a:avLst/>
          </a:prstGeom>
          <a:noFill/>
          <a:ln/>
        </p:spPr>
        <p:txBody>
          <a:bodyPr wrap="square" rtlCol="0" anchor="t"/>
          <a:lstStyle/>
          <a:p>
            <a:pPr marL="0" indent="0">
              <a:lnSpc>
                <a:spcPts val="2799"/>
              </a:lnSpc>
              <a:buNone/>
            </a:pPr>
            <a:r>
              <a:rPr lang="en-US" sz="1750" dirty="0">
                <a:solidFill>
                  <a:srgbClr val="5B5F71"/>
                </a:solidFill>
                <a:latin typeface="Instrument Sans" pitchFamily="34" charset="0"/>
                <a:ea typeface="Instrument Sans" pitchFamily="34" charset="-122"/>
                <a:cs typeface="Instrument Sans" pitchFamily="34" charset="-120"/>
              </a:rPr>
              <a:t>Each instance of an entity can be related to multiple instances of another entity, and each instance of the second entity can also be related to multiple instances of the first.</a:t>
            </a:r>
            <a:endParaRPr lang="en-US" sz="1750" dirty="0"/>
          </a:p>
        </p:txBody>
      </p:sp>
      <p:pic>
        <p:nvPicPr>
          <p:cNvPr id="16" name="Image 1" descr="preencoded.png">
            <a:hlinkClick r:id="rId4"/>
          </p:cNvPr>
          <p:cNvPicPr>
            <a:picLocks noChangeAspect="1"/>
          </p:cNvPicPr>
          <p:nvPr/>
        </p:nvPicPr>
        <p:blipFill>
          <a:blip r:embed="rId5"/>
          <a:stretch>
            <a:fillRect/>
          </a:stretch>
        </p:blipFill>
        <p:spPr>
          <a:xfrm>
            <a:off x="12242153" y="7589520"/>
            <a:ext cx="2296807" cy="54864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75000"/>
            </a:srgbClr>
          </a:solidFill>
          <a:ln/>
        </p:spPr>
      </p:sp>
      <p:sp>
        <p:nvSpPr>
          <p:cNvPr id="4" name="Text 1"/>
          <p:cNvSpPr/>
          <p:nvPr/>
        </p:nvSpPr>
        <p:spPr>
          <a:xfrm>
            <a:off x="2037993" y="927021"/>
            <a:ext cx="5554980" cy="694373"/>
          </a:xfrm>
          <a:prstGeom prst="rect">
            <a:avLst/>
          </a:prstGeom>
          <a:noFill/>
          <a:ln/>
        </p:spPr>
        <p:txBody>
          <a:bodyPr wrap="none" rtlCol="0" anchor="t"/>
          <a:lstStyle/>
          <a:p>
            <a:pPr marL="0" indent="0">
              <a:lnSpc>
                <a:spcPts val="5468"/>
              </a:lnSpc>
              <a:buNone/>
            </a:pPr>
            <a:r>
              <a:rPr lang="en-US" sz="4374" b="1" dirty="0">
                <a:solidFill>
                  <a:srgbClr val="5B5F72"/>
                </a:solidFill>
                <a:latin typeface="Instrument Sans" pitchFamily="34" charset="0"/>
                <a:ea typeface="Instrument Sans" pitchFamily="34" charset="-122"/>
                <a:cs typeface="Instrument Sans" pitchFamily="34" charset="-120"/>
              </a:rPr>
              <a:t>Advantages of EERM</a:t>
            </a:r>
            <a:endParaRPr lang="en-US" sz="4374" dirty="0"/>
          </a:p>
        </p:txBody>
      </p:sp>
      <p:sp>
        <p:nvSpPr>
          <p:cNvPr id="5" name="Shape 2"/>
          <p:cNvSpPr/>
          <p:nvPr/>
        </p:nvSpPr>
        <p:spPr>
          <a:xfrm>
            <a:off x="2037993" y="2239328"/>
            <a:ext cx="499943" cy="499943"/>
          </a:xfrm>
          <a:prstGeom prst="roundRect">
            <a:avLst>
              <a:gd name="adj" fmla="val 20000"/>
            </a:avLst>
          </a:prstGeom>
          <a:solidFill>
            <a:srgbClr val="E3E4E8"/>
          </a:solidFill>
          <a:ln w="7620">
            <a:solidFill>
              <a:srgbClr val="C9CACE"/>
            </a:solidFill>
            <a:prstDash val="solid"/>
          </a:ln>
        </p:spPr>
      </p:sp>
      <p:sp>
        <p:nvSpPr>
          <p:cNvPr id="6" name="Text 3"/>
          <p:cNvSpPr/>
          <p:nvPr/>
        </p:nvSpPr>
        <p:spPr>
          <a:xfrm>
            <a:off x="2223373" y="2280999"/>
            <a:ext cx="129064" cy="416481"/>
          </a:xfrm>
          <a:prstGeom prst="rect">
            <a:avLst/>
          </a:prstGeom>
          <a:noFill/>
          <a:ln/>
        </p:spPr>
        <p:txBody>
          <a:bodyPr wrap="none" rtlCol="0" anchor="t"/>
          <a:lstStyle/>
          <a:p>
            <a:pPr marL="0" indent="0" algn="ctr">
              <a:lnSpc>
                <a:spcPts val="3281"/>
              </a:lnSpc>
              <a:buNone/>
            </a:pPr>
            <a:r>
              <a:rPr lang="en-US" sz="2624" b="1" dirty="0">
                <a:solidFill>
                  <a:srgbClr val="5B5F71"/>
                </a:solidFill>
                <a:latin typeface="Instrument Sans" pitchFamily="34" charset="0"/>
                <a:ea typeface="Instrument Sans" pitchFamily="34" charset="-122"/>
                <a:cs typeface="Instrument Sans" pitchFamily="34" charset="-120"/>
              </a:rPr>
              <a:t>1</a:t>
            </a:r>
            <a:endParaRPr lang="en-US" sz="2624" dirty="0"/>
          </a:p>
        </p:txBody>
      </p:sp>
      <p:sp>
        <p:nvSpPr>
          <p:cNvPr id="7" name="Text 4"/>
          <p:cNvSpPr/>
          <p:nvPr/>
        </p:nvSpPr>
        <p:spPr>
          <a:xfrm>
            <a:off x="2760107" y="2315647"/>
            <a:ext cx="3210520" cy="347186"/>
          </a:xfrm>
          <a:prstGeom prst="rect">
            <a:avLst/>
          </a:prstGeom>
          <a:noFill/>
          <a:ln/>
        </p:spPr>
        <p:txBody>
          <a:bodyPr wrap="none" rtlCol="0" anchor="t"/>
          <a:lstStyle/>
          <a:p>
            <a:pPr marL="0" indent="0">
              <a:lnSpc>
                <a:spcPts val="2734"/>
              </a:lnSpc>
              <a:buNone/>
            </a:pPr>
            <a:r>
              <a:rPr lang="en-US" sz="2187" b="1" dirty="0">
                <a:solidFill>
                  <a:srgbClr val="5B5F71"/>
                </a:solidFill>
                <a:latin typeface="Instrument Sans" pitchFamily="34" charset="0"/>
                <a:ea typeface="Instrument Sans" pitchFamily="34" charset="-122"/>
                <a:cs typeface="Instrument Sans" pitchFamily="34" charset="-120"/>
              </a:rPr>
              <a:t>Improved Data Modeling</a:t>
            </a:r>
            <a:endParaRPr lang="en-US" sz="2187" dirty="0"/>
          </a:p>
        </p:txBody>
      </p:sp>
      <p:sp>
        <p:nvSpPr>
          <p:cNvPr id="8" name="Text 5"/>
          <p:cNvSpPr/>
          <p:nvPr/>
        </p:nvSpPr>
        <p:spPr>
          <a:xfrm>
            <a:off x="2760107" y="2796064"/>
            <a:ext cx="4444008" cy="1421606"/>
          </a:xfrm>
          <a:prstGeom prst="rect">
            <a:avLst/>
          </a:prstGeom>
          <a:noFill/>
          <a:ln/>
        </p:spPr>
        <p:txBody>
          <a:bodyPr wrap="square" rtlCol="0" anchor="t"/>
          <a:lstStyle/>
          <a:p>
            <a:pPr marL="0" indent="0">
              <a:lnSpc>
                <a:spcPts val="2799"/>
              </a:lnSpc>
              <a:buNone/>
            </a:pPr>
            <a:r>
              <a:rPr lang="en-US" sz="1750" dirty="0">
                <a:solidFill>
                  <a:srgbClr val="5B5F71"/>
                </a:solidFill>
                <a:latin typeface="Instrument Sans" pitchFamily="34" charset="0"/>
                <a:ea typeface="Instrument Sans" pitchFamily="34" charset="-122"/>
                <a:cs typeface="Instrument Sans" pitchFamily="34" charset="-120"/>
              </a:rPr>
              <a:t>EERM allows for more comprehensive and accurate modeling of complex entities, relationships, and business rules, leading to better data integrity and understanding.</a:t>
            </a:r>
            <a:endParaRPr lang="en-US" sz="1750" dirty="0"/>
          </a:p>
        </p:txBody>
      </p:sp>
      <p:sp>
        <p:nvSpPr>
          <p:cNvPr id="9" name="Shape 6"/>
          <p:cNvSpPr/>
          <p:nvPr/>
        </p:nvSpPr>
        <p:spPr>
          <a:xfrm>
            <a:off x="7426285" y="2239328"/>
            <a:ext cx="499943" cy="499943"/>
          </a:xfrm>
          <a:prstGeom prst="roundRect">
            <a:avLst>
              <a:gd name="adj" fmla="val 20000"/>
            </a:avLst>
          </a:prstGeom>
          <a:solidFill>
            <a:srgbClr val="E3E4E8"/>
          </a:solidFill>
          <a:ln w="7620">
            <a:solidFill>
              <a:srgbClr val="C9CACE"/>
            </a:solidFill>
            <a:prstDash val="solid"/>
          </a:ln>
        </p:spPr>
      </p:sp>
      <p:sp>
        <p:nvSpPr>
          <p:cNvPr id="10" name="Text 7"/>
          <p:cNvSpPr/>
          <p:nvPr/>
        </p:nvSpPr>
        <p:spPr>
          <a:xfrm>
            <a:off x="7583329" y="2280999"/>
            <a:ext cx="185738" cy="416481"/>
          </a:xfrm>
          <a:prstGeom prst="rect">
            <a:avLst/>
          </a:prstGeom>
          <a:noFill/>
          <a:ln/>
        </p:spPr>
        <p:txBody>
          <a:bodyPr wrap="none" rtlCol="0" anchor="t"/>
          <a:lstStyle/>
          <a:p>
            <a:pPr marL="0" indent="0" algn="ctr">
              <a:lnSpc>
                <a:spcPts val="3281"/>
              </a:lnSpc>
              <a:buNone/>
            </a:pPr>
            <a:r>
              <a:rPr lang="en-US" sz="2624" b="1" dirty="0">
                <a:solidFill>
                  <a:srgbClr val="5B5F71"/>
                </a:solidFill>
                <a:latin typeface="Instrument Sans" pitchFamily="34" charset="0"/>
                <a:ea typeface="Instrument Sans" pitchFamily="34" charset="-122"/>
                <a:cs typeface="Instrument Sans" pitchFamily="34" charset="-120"/>
              </a:rPr>
              <a:t>2</a:t>
            </a:r>
            <a:endParaRPr lang="en-US" sz="2624" dirty="0"/>
          </a:p>
        </p:txBody>
      </p:sp>
      <p:sp>
        <p:nvSpPr>
          <p:cNvPr id="11" name="Text 8"/>
          <p:cNvSpPr/>
          <p:nvPr/>
        </p:nvSpPr>
        <p:spPr>
          <a:xfrm>
            <a:off x="8148399" y="2315647"/>
            <a:ext cx="2777490" cy="347186"/>
          </a:xfrm>
          <a:prstGeom prst="rect">
            <a:avLst/>
          </a:prstGeom>
          <a:noFill/>
          <a:ln/>
        </p:spPr>
        <p:txBody>
          <a:bodyPr wrap="none" rtlCol="0" anchor="t"/>
          <a:lstStyle/>
          <a:p>
            <a:pPr marL="0" indent="0">
              <a:lnSpc>
                <a:spcPts val="2734"/>
              </a:lnSpc>
              <a:buNone/>
            </a:pPr>
            <a:r>
              <a:rPr lang="en-US" sz="2187" b="1" dirty="0">
                <a:solidFill>
                  <a:srgbClr val="5B5F71"/>
                </a:solidFill>
                <a:latin typeface="Instrument Sans" pitchFamily="34" charset="0"/>
                <a:ea typeface="Instrument Sans" pitchFamily="34" charset="-122"/>
                <a:cs typeface="Instrument Sans" pitchFamily="34" charset="-120"/>
              </a:rPr>
              <a:t>Enhanced Flexibility</a:t>
            </a:r>
            <a:endParaRPr lang="en-US" sz="2187" dirty="0"/>
          </a:p>
        </p:txBody>
      </p:sp>
      <p:sp>
        <p:nvSpPr>
          <p:cNvPr id="12" name="Text 9"/>
          <p:cNvSpPr/>
          <p:nvPr/>
        </p:nvSpPr>
        <p:spPr>
          <a:xfrm>
            <a:off x="8148399" y="2796064"/>
            <a:ext cx="4444008" cy="1777008"/>
          </a:xfrm>
          <a:prstGeom prst="rect">
            <a:avLst/>
          </a:prstGeom>
          <a:noFill/>
          <a:ln/>
        </p:spPr>
        <p:txBody>
          <a:bodyPr wrap="square" rtlCol="0" anchor="t"/>
          <a:lstStyle/>
          <a:p>
            <a:pPr marL="0" indent="0">
              <a:lnSpc>
                <a:spcPts val="2799"/>
              </a:lnSpc>
              <a:buNone/>
            </a:pPr>
            <a:r>
              <a:rPr lang="en-US" sz="1750" dirty="0">
                <a:solidFill>
                  <a:srgbClr val="5B5F71"/>
                </a:solidFill>
                <a:latin typeface="Instrument Sans" pitchFamily="34" charset="0"/>
                <a:ea typeface="Instrument Sans" pitchFamily="34" charset="-122"/>
                <a:cs typeface="Instrument Sans" pitchFamily="34" charset="-120"/>
              </a:rPr>
              <a:t>The enhanced features of EERM, such as subtypes, supertypes, and associative entities, provide greater flexibility in adapting the data model to changing business requirements.</a:t>
            </a:r>
            <a:endParaRPr lang="en-US" sz="1750" dirty="0"/>
          </a:p>
        </p:txBody>
      </p:sp>
      <p:sp>
        <p:nvSpPr>
          <p:cNvPr id="13" name="Shape 10"/>
          <p:cNvSpPr/>
          <p:nvPr/>
        </p:nvSpPr>
        <p:spPr>
          <a:xfrm>
            <a:off x="2037993" y="4968835"/>
            <a:ext cx="499943" cy="499943"/>
          </a:xfrm>
          <a:prstGeom prst="roundRect">
            <a:avLst>
              <a:gd name="adj" fmla="val 20000"/>
            </a:avLst>
          </a:prstGeom>
          <a:solidFill>
            <a:srgbClr val="E3E4E8"/>
          </a:solidFill>
          <a:ln w="7620">
            <a:solidFill>
              <a:srgbClr val="C9CACE"/>
            </a:solidFill>
            <a:prstDash val="solid"/>
          </a:ln>
        </p:spPr>
      </p:sp>
      <p:sp>
        <p:nvSpPr>
          <p:cNvPr id="14" name="Text 11"/>
          <p:cNvSpPr/>
          <p:nvPr/>
        </p:nvSpPr>
        <p:spPr>
          <a:xfrm>
            <a:off x="2191464" y="5010507"/>
            <a:ext cx="193000" cy="416481"/>
          </a:xfrm>
          <a:prstGeom prst="rect">
            <a:avLst/>
          </a:prstGeom>
          <a:noFill/>
          <a:ln/>
        </p:spPr>
        <p:txBody>
          <a:bodyPr wrap="none" rtlCol="0" anchor="t"/>
          <a:lstStyle/>
          <a:p>
            <a:pPr marL="0" indent="0" algn="ctr">
              <a:lnSpc>
                <a:spcPts val="3281"/>
              </a:lnSpc>
              <a:buNone/>
            </a:pPr>
            <a:r>
              <a:rPr lang="en-US" sz="2624" b="1" dirty="0">
                <a:solidFill>
                  <a:srgbClr val="5B5F71"/>
                </a:solidFill>
                <a:latin typeface="Instrument Sans" pitchFamily="34" charset="0"/>
                <a:ea typeface="Instrument Sans" pitchFamily="34" charset="-122"/>
                <a:cs typeface="Instrument Sans" pitchFamily="34" charset="-120"/>
              </a:rPr>
              <a:t>3</a:t>
            </a:r>
            <a:endParaRPr lang="en-US" sz="2624" dirty="0"/>
          </a:p>
        </p:txBody>
      </p:sp>
      <p:sp>
        <p:nvSpPr>
          <p:cNvPr id="15" name="Text 12"/>
          <p:cNvSpPr/>
          <p:nvPr/>
        </p:nvSpPr>
        <p:spPr>
          <a:xfrm>
            <a:off x="2760107" y="5045154"/>
            <a:ext cx="2777490" cy="347186"/>
          </a:xfrm>
          <a:prstGeom prst="rect">
            <a:avLst/>
          </a:prstGeom>
          <a:noFill/>
          <a:ln/>
        </p:spPr>
        <p:txBody>
          <a:bodyPr wrap="none" rtlCol="0" anchor="t"/>
          <a:lstStyle/>
          <a:p>
            <a:pPr marL="0" indent="0">
              <a:lnSpc>
                <a:spcPts val="2734"/>
              </a:lnSpc>
              <a:buNone/>
            </a:pPr>
            <a:r>
              <a:rPr lang="en-US" sz="2187" b="1" dirty="0">
                <a:solidFill>
                  <a:srgbClr val="5B5F71"/>
                </a:solidFill>
                <a:latin typeface="Instrument Sans" pitchFamily="34" charset="0"/>
                <a:ea typeface="Instrument Sans" pitchFamily="34" charset="-122"/>
                <a:cs typeface="Instrument Sans" pitchFamily="34" charset="-120"/>
              </a:rPr>
              <a:t>Increased Clarity</a:t>
            </a:r>
            <a:endParaRPr lang="en-US" sz="2187" dirty="0"/>
          </a:p>
        </p:txBody>
      </p:sp>
      <p:sp>
        <p:nvSpPr>
          <p:cNvPr id="16" name="Text 13"/>
          <p:cNvSpPr/>
          <p:nvPr/>
        </p:nvSpPr>
        <p:spPr>
          <a:xfrm>
            <a:off x="2760107" y="5525572"/>
            <a:ext cx="4444008" cy="1777008"/>
          </a:xfrm>
          <a:prstGeom prst="rect">
            <a:avLst/>
          </a:prstGeom>
          <a:noFill/>
          <a:ln/>
        </p:spPr>
        <p:txBody>
          <a:bodyPr wrap="square" rtlCol="0" anchor="t"/>
          <a:lstStyle/>
          <a:p>
            <a:pPr marL="0" indent="0">
              <a:lnSpc>
                <a:spcPts val="2799"/>
              </a:lnSpc>
              <a:buNone/>
            </a:pPr>
            <a:r>
              <a:rPr lang="en-US" sz="1750" dirty="0">
                <a:solidFill>
                  <a:srgbClr val="5B5F71"/>
                </a:solidFill>
                <a:latin typeface="Instrument Sans" pitchFamily="34" charset="0"/>
                <a:ea typeface="Instrument Sans" pitchFamily="34" charset="-122"/>
                <a:cs typeface="Instrument Sans" pitchFamily="34" charset="-120"/>
              </a:rPr>
              <a:t>EERM diagrams offer a visually intuitive way to communicate the structure and dependencies within an information system, facilitating better collaboration and understanding among stakeholders.</a:t>
            </a:r>
            <a:endParaRPr lang="en-US" sz="1750" dirty="0"/>
          </a:p>
        </p:txBody>
      </p:sp>
      <p:sp>
        <p:nvSpPr>
          <p:cNvPr id="17" name="Shape 14"/>
          <p:cNvSpPr/>
          <p:nvPr/>
        </p:nvSpPr>
        <p:spPr>
          <a:xfrm>
            <a:off x="7426285" y="4968835"/>
            <a:ext cx="499943" cy="499943"/>
          </a:xfrm>
          <a:prstGeom prst="roundRect">
            <a:avLst>
              <a:gd name="adj" fmla="val 20000"/>
            </a:avLst>
          </a:prstGeom>
          <a:solidFill>
            <a:srgbClr val="E3E4E8"/>
          </a:solidFill>
          <a:ln w="7620">
            <a:solidFill>
              <a:srgbClr val="C9CACE"/>
            </a:solidFill>
            <a:prstDash val="solid"/>
          </a:ln>
        </p:spPr>
      </p:sp>
      <p:sp>
        <p:nvSpPr>
          <p:cNvPr id="18" name="Text 15"/>
          <p:cNvSpPr/>
          <p:nvPr/>
        </p:nvSpPr>
        <p:spPr>
          <a:xfrm>
            <a:off x="7573685" y="5010507"/>
            <a:ext cx="205026" cy="416481"/>
          </a:xfrm>
          <a:prstGeom prst="rect">
            <a:avLst/>
          </a:prstGeom>
          <a:noFill/>
          <a:ln/>
        </p:spPr>
        <p:txBody>
          <a:bodyPr wrap="none" rtlCol="0" anchor="t"/>
          <a:lstStyle/>
          <a:p>
            <a:pPr marL="0" indent="0" algn="ctr">
              <a:lnSpc>
                <a:spcPts val="3281"/>
              </a:lnSpc>
              <a:buNone/>
            </a:pPr>
            <a:r>
              <a:rPr lang="en-US" sz="2624" b="1" dirty="0">
                <a:solidFill>
                  <a:srgbClr val="5B5F71"/>
                </a:solidFill>
                <a:latin typeface="Instrument Sans" pitchFamily="34" charset="0"/>
                <a:ea typeface="Instrument Sans" pitchFamily="34" charset="-122"/>
                <a:cs typeface="Instrument Sans" pitchFamily="34" charset="-120"/>
              </a:rPr>
              <a:t>4</a:t>
            </a:r>
            <a:endParaRPr lang="en-US" sz="2624" dirty="0"/>
          </a:p>
        </p:txBody>
      </p:sp>
      <p:sp>
        <p:nvSpPr>
          <p:cNvPr id="19" name="Text 16"/>
          <p:cNvSpPr/>
          <p:nvPr/>
        </p:nvSpPr>
        <p:spPr>
          <a:xfrm>
            <a:off x="8148399" y="5045154"/>
            <a:ext cx="3137773" cy="347186"/>
          </a:xfrm>
          <a:prstGeom prst="rect">
            <a:avLst/>
          </a:prstGeom>
          <a:noFill/>
          <a:ln/>
        </p:spPr>
        <p:txBody>
          <a:bodyPr wrap="none" rtlCol="0" anchor="t"/>
          <a:lstStyle/>
          <a:p>
            <a:pPr marL="0" indent="0">
              <a:lnSpc>
                <a:spcPts val="2734"/>
              </a:lnSpc>
              <a:buNone/>
            </a:pPr>
            <a:r>
              <a:rPr lang="en-US" sz="2187" b="1" dirty="0">
                <a:solidFill>
                  <a:srgbClr val="5B5F71"/>
                </a:solidFill>
                <a:latin typeface="Instrument Sans" pitchFamily="34" charset="0"/>
                <a:ea typeface="Instrument Sans" pitchFamily="34" charset="-122"/>
                <a:cs typeface="Instrument Sans" pitchFamily="34" charset="-120"/>
              </a:rPr>
              <a:t>Optimized Performance</a:t>
            </a:r>
            <a:endParaRPr lang="en-US" sz="2187" dirty="0"/>
          </a:p>
        </p:txBody>
      </p:sp>
      <p:sp>
        <p:nvSpPr>
          <p:cNvPr id="20" name="Text 17"/>
          <p:cNvSpPr/>
          <p:nvPr/>
        </p:nvSpPr>
        <p:spPr>
          <a:xfrm>
            <a:off x="8148399" y="5525572"/>
            <a:ext cx="4444008" cy="1777008"/>
          </a:xfrm>
          <a:prstGeom prst="rect">
            <a:avLst/>
          </a:prstGeom>
          <a:noFill/>
          <a:ln/>
        </p:spPr>
        <p:txBody>
          <a:bodyPr wrap="square" rtlCol="0" anchor="t"/>
          <a:lstStyle/>
          <a:p>
            <a:pPr marL="0" indent="0">
              <a:lnSpc>
                <a:spcPts val="2799"/>
              </a:lnSpc>
              <a:buNone/>
            </a:pPr>
            <a:r>
              <a:rPr lang="en-US" sz="1750" dirty="0">
                <a:solidFill>
                  <a:srgbClr val="5B5F71"/>
                </a:solidFill>
                <a:latin typeface="Instrument Sans" pitchFamily="34" charset="0"/>
                <a:ea typeface="Instrument Sans" pitchFamily="34" charset="-122"/>
                <a:cs typeface="Instrument Sans" pitchFamily="34" charset="-120"/>
              </a:rPr>
              <a:t>The detailed physical modeling capabilities of EERM can help identify opportunities for performance optimization, such as indexing and partitioning, leading to more efficient database design.</a:t>
            </a:r>
            <a:endParaRPr lang="en-US" sz="1750" dirty="0"/>
          </a:p>
        </p:txBody>
      </p:sp>
      <p:pic>
        <p:nvPicPr>
          <p:cNvPr id="21" name="Image 1" descr="preencoded.png">
            <a:hlinkClick r:id="rId4"/>
          </p:cNvPr>
          <p:cNvPicPr>
            <a:picLocks noChangeAspect="1"/>
          </p:cNvPicPr>
          <p:nvPr/>
        </p:nvPicPr>
        <p:blipFill>
          <a:blip r:embed="rId5"/>
          <a:stretch>
            <a:fillRect/>
          </a:stretch>
        </p:blipFill>
        <p:spPr>
          <a:xfrm>
            <a:off x="12242153" y="7589520"/>
            <a:ext cx="2296807" cy="54864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75000"/>
            </a:srgbClr>
          </a:solidFill>
          <a:ln/>
        </p:spPr>
      </p:sp>
      <p:pic>
        <p:nvPicPr>
          <p:cNvPr id="4" name="Image 1" descr="preencoded.png"/>
          <p:cNvPicPr>
            <a:picLocks noChangeAspect="1"/>
          </p:cNvPicPr>
          <p:nvPr/>
        </p:nvPicPr>
        <p:blipFill>
          <a:blip r:embed="rId4"/>
          <a:stretch>
            <a:fillRect/>
          </a:stretch>
        </p:blipFill>
        <p:spPr>
          <a:xfrm>
            <a:off x="0" y="0"/>
            <a:ext cx="14630400" cy="2777490"/>
          </a:xfrm>
          <a:prstGeom prst="rect">
            <a:avLst/>
          </a:prstGeom>
        </p:spPr>
      </p:pic>
      <p:sp>
        <p:nvSpPr>
          <p:cNvPr id="5" name="Text 1"/>
          <p:cNvSpPr/>
          <p:nvPr/>
        </p:nvSpPr>
        <p:spPr>
          <a:xfrm>
            <a:off x="2037993" y="3443168"/>
            <a:ext cx="8045410" cy="694373"/>
          </a:xfrm>
          <a:prstGeom prst="rect">
            <a:avLst/>
          </a:prstGeom>
          <a:noFill/>
          <a:ln/>
        </p:spPr>
        <p:txBody>
          <a:bodyPr wrap="none" rtlCol="0" anchor="t"/>
          <a:lstStyle/>
          <a:p>
            <a:pPr marL="0" indent="0">
              <a:lnSpc>
                <a:spcPts val="5468"/>
              </a:lnSpc>
              <a:buNone/>
            </a:pPr>
            <a:r>
              <a:rPr lang="en-US" sz="4374" b="1" dirty="0">
                <a:solidFill>
                  <a:srgbClr val="5B5F72"/>
                </a:solidFill>
                <a:latin typeface="Instrument Sans" pitchFamily="34" charset="0"/>
                <a:ea typeface="Instrument Sans" pitchFamily="34" charset="-122"/>
                <a:cs typeface="Instrument Sans" pitchFamily="34" charset="-120"/>
              </a:rPr>
              <a:t>Conclusion and Key Takeaways</a:t>
            </a:r>
            <a:endParaRPr lang="en-US" sz="4374" dirty="0"/>
          </a:p>
        </p:txBody>
      </p:sp>
      <p:sp>
        <p:nvSpPr>
          <p:cNvPr id="6" name="Text 2"/>
          <p:cNvSpPr/>
          <p:nvPr/>
        </p:nvSpPr>
        <p:spPr>
          <a:xfrm>
            <a:off x="2037993" y="4470797"/>
            <a:ext cx="10554414" cy="1421606"/>
          </a:xfrm>
          <a:prstGeom prst="rect">
            <a:avLst/>
          </a:prstGeom>
          <a:noFill/>
          <a:ln/>
        </p:spPr>
        <p:txBody>
          <a:bodyPr wrap="square" rtlCol="0" anchor="t"/>
          <a:lstStyle/>
          <a:p>
            <a:pPr marL="0" indent="0">
              <a:lnSpc>
                <a:spcPts val="2799"/>
              </a:lnSpc>
              <a:buNone/>
            </a:pPr>
            <a:r>
              <a:rPr lang="en-US" sz="1750" dirty="0">
                <a:solidFill>
                  <a:srgbClr val="5B5F71"/>
                </a:solidFill>
                <a:latin typeface="Instrument Sans" pitchFamily="34" charset="0"/>
                <a:ea typeface="Instrument Sans" pitchFamily="34" charset="-122"/>
                <a:cs typeface="Instrument Sans" pitchFamily="34" charset="-120"/>
              </a:rPr>
              <a:t>In conclusion, Enhanced Entity Relationship Modeling (EERM) offers a powerful approach to data modeling that goes beyond traditional ER diagrams. By incorporating specialized features like subtypes, supertypes, and associative entities, EERM empowers designers to create more expressive, flexible, and performant database schemas.</a:t>
            </a:r>
            <a:endParaRPr lang="en-US" sz="1750" dirty="0"/>
          </a:p>
        </p:txBody>
      </p:sp>
      <p:sp>
        <p:nvSpPr>
          <p:cNvPr id="7" name="Text 3"/>
          <p:cNvSpPr/>
          <p:nvPr/>
        </p:nvSpPr>
        <p:spPr>
          <a:xfrm>
            <a:off x="2037993" y="6142315"/>
            <a:ext cx="10554414" cy="1421606"/>
          </a:xfrm>
          <a:prstGeom prst="rect">
            <a:avLst/>
          </a:prstGeom>
          <a:noFill/>
          <a:ln/>
        </p:spPr>
        <p:txBody>
          <a:bodyPr wrap="square" rtlCol="0" anchor="t"/>
          <a:lstStyle/>
          <a:p>
            <a:pPr marL="0" indent="0">
              <a:lnSpc>
                <a:spcPts val="2799"/>
              </a:lnSpc>
              <a:buNone/>
            </a:pPr>
            <a:r>
              <a:rPr lang="en-US" sz="1750" dirty="0">
                <a:solidFill>
                  <a:srgbClr val="5B5F71"/>
                </a:solidFill>
                <a:latin typeface="Instrument Sans" pitchFamily="34" charset="0"/>
                <a:ea typeface="Instrument Sans" pitchFamily="34" charset="-122"/>
                <a:cs typeface="Instrument Sans" pitchFamily="34" charset="-120"/>
              </a:rPr>
              <a:t>The key takeaways from our exploration of EERM include the importance of hierarchical relationships, the ability to model nuanced business rules, and the visual clarity that EERM diagrams provide for communicating system architecture. Leveraging these advanced modeling techniques can lead to significant improvements in data integrity, system adaptability, and stakeholder understanding.</a:t>
            </a:r>
            <a:endParaRPr lang="en-US" sz="1750" dirty="0"/>
          </a:p>
        </p:txBody>
      </p:sp>
      <p:pic>
        <p:nvPicPr>
          <p:cNvPr id="8" name="Image 2" descr="preencoded.png">
            <a:hlinkClick r:id="rId5"/>
          </p:cNvPr>
          <p:cNvPicPr>
            <a:picLocks noChangeAspect="1"/>
          </p:cNvPicPr>
          <p:nvPr/>
        </p:nvPicPr>
        <p:blipFill>
          <a:blip r:embed="rId6"/>
          <a:stretch>
            <a:fillRect/>
          </a:stretch>
        </p:blipFill>
        <p:spPr>
          <a:xfrm>
            <a:off x="12242153" y="7589520"/>
            <a:ext cx="2296807" cy="54864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928</Words>
  <Application>Microsoft Office PowerPoint</Application>
  <PresentationFormat>Custom</PresentationFormat>
  <Paragraphs>80</Paragraphs>
  <Slides>10</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Instrument Sans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ayesha jarral</cp:lastModifiedBy>
  <cp:revision>2</cp:revision>
  <dcterms:created xsi:type="dcterms:W3CDTF">2024-05-14T09:44:52Z</dcterms:created>
  <dcterms:modified xsi:type="dcterms:W3CDTF">2024-05-14T09:45:35Z</dcterms:modified>
</cp:coreProperties>
</file>