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7"/>
  </p:notes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239" autoAdjust="0"/>
  </p:normalViewPr>
  <p:slideViewPr>
    <p:cSldViewPr snapToGrid="0">
      <p:cViewPr>
        <p:scale>
          <a:sx n="58" d="100"/>
          <a:sy n="58" d="100"/>
        </p:scale>
        <p:origin x="98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C5230-9964-493A-8A10-B8A58907DF11}" type="datetimeFigureOut">
              <a:rPr lang="en-AU" smtClean="0"/>
              <a:t>12/03/2024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0A5C17-B508-4741-8A08-DD2F494E70F4}" type="slidenum">
              <a:rPr lang="en-AU" smtClean="0"/>
              <a:t>‹#›</a:t>
            </a:fld>
            <a:endParaRPr lang="en-AU"/>
          </a:p>
        </p:txBody>
      </p:sp>
    </p:spTree>
    <p:extLst>
      <p:ext uri="{BB962C8B-B14F-4D97-AF65-F5344CB8AC3E}">
        <p14:creationId xmlns:p14="http://schemas.microsoft.com/office/powerpoint/2010/main" val="2083547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2 type </a:t>
            </a:r>
            <a:r>
              <a:rPr lang="en-US" dirty="0" err="1" smtClean="0"/>
              <a:t>ki</a:t>
            </a:r>
            <a:r>
              <a:rPr lang="en-US" dirty="0" smtClean="0"/>
              <a:t> data independence use</a:t>
            </a:r>
            <a:r>
              <a:rPr lang="en-US" baseline="0" dirty="0" smtClean="0"/>
              <a:t> </a:t>
            </a:r>
            <a:r>
              <a:rPr lang="en-US" baseline="0" dirty="0" err="1" smtClean="0"/>
              <a:t>kia</a:t>
            </a:r>
            <a:r>
              <a:rPr lang="en-US" baseline="0" dirty="0" smtClean="0"/>
              <a:t> logical agar </a:t>
            </a:r>
            <a:r>
              <a:rPr lang="en-US" baseline="0" dirty="0" err="1" smtClean="0"/>
              <a:t>mein</a:t>
            </a:r>
            <a:r>
              <a:rPr lang="en-US" baseline="0" dirty="0" smtClean="0"/>
              <a:t> </a:t>
            </a:r>
            <a:r>
              <a:rPr lang="en-US" baseline="0" dirty="0" err="1" smtClean="0"/>
              <a:t>comcpetual</a:t>
            </a:r>
            <a:r>
              <a:rPr lang="en-US" baseline="0" dirty="0" smtClean="0"/>
              <a:t> level </a:t>
            </a:r>
            <a:r>
              <a:rPr lang="en-US" baseline="0" dirty="0" err="1" smtClean="0"/>
              <a:t>pr</a:t>
            </a:r>
            <a:r>
              <a:rPr lang="en-US" baseline="0" dirty="0" smtClean="0"/>
              <a:t> </a:t>
            </a:r>
            <a:r>
              <a:rPr lang="en-US" baseline="0" dirty="0" err="1" smtClean="0"/>
              <a:t>kon</a:t>
            </a:r>
            <a:r>
              <a:rPr lang="en-US" baseline="0" dirty="0" smtClean="0"/>
              <a:t> </a:t>
            </a:r>
            <a:r>
              <a:rPr lang="en-US" baseline="0" dirty="0" err="1" smtClean="0"/>
              <a:t>sa</a:t>
            </a:r>
            <a:r>
              <a:rPr lang="en-US" baseline="0" dirty="0" smtClean="0"/>
              <a:t> table use </a:t>
            </a:r>
            <a:r>
              <a:rPr lang="en-US" baseline="0" dirty="0" err="1" smtClean="0"/>
              <a:t>kr</a:t>
            </a:r>
            <a:r>
              <a:rPr lang="en-US" baseline="0" dirty="0" smtClean="0"/>
              <a:t> </a:t>
            </a:r>
            <a:r>
              <a:rPr lang="en-US" baseline="0" dirty="0" err="1" smtClean="0"/>
              <a:t>rahy</a:t>
            </a:r>
            <a:r>
              <a:rPr lang="en-US" baseline="0" dirty="0" smtClean="0"/>
              <a:t> </a:t>
            </a:r>
            <a:r>
              <a:rPr lang="en-US" baseline="0" dirty="0" err="1" smtClean="0"/>
              <a:t>kitn</a:t>
            </a:r>
            <a:r>
              <a:rPr lang="en-US" baseline="0" dirty="0" smtClean="0"/>
              <a:t> e tables </a:t>
            </a:r>
            <a:r>
              <a:rPr lang="en-US" baseline="0" dirty="0" err="1" smtClean="0"/>
              <a:t>hei</a:t>
            </a:r>
            <a:r>
              <a:rPr lang="en-US" baseline="0" dirty="0" smtClean="0"/>
              <a:t> attributes </a:t>
            </a:r>
            <a:r>
              <a:rPr lang="en-US" baseline="0" dirty="0" err="1" smtClean="0"/>
              <a:t>kitne</a:t>
            </a:r>
            <a:r>
              <a:rPr lang="en-US" baseline="0" dirty="0" smtClean="0"/>
              <a:t> </a:t>
            </a:r>
            <a:r>
              <a:rPr lang="en-US" baseline="0" dirty="0" err="1" smtClean="0"/>
              <a:t>hein</a:t>
            </a:r>
            <a:r>
              <a:rPr lang="en-US" baseline="0" dirty="0" smtClean="0"/>
              <a:t> lets say student table </a:t>
            </a:r>
            <a:r>
              <a:rPr lang="en-US" baseline="0" dirty="0" err="1" smtClean="0"/>
              <a:t>cloum</a:t>
            </a:r>
            <a:r>
              <a:rPr lang="en-US" baseline="0" dirty="0" smtClean="0"/>
              <a:t> </a:t>
            </a:r>
            <a:r>
              <a:rPr lang="en-US" baseline="0" dirty="0" err="1" smtClean="0"/>
              <a:t>hai</a:t>
            </a:r>
            <a:r>
              <a:rPr lang="en-US" baseline="0" dirty="0" smtClean="0"/>
              <a:t> name </a:t>
            </a:r>
            <a:r>
              <a:rPr lang="en-US" baseline="0" dirty="0" err="1" smtClean="0"/>
              <a:t>aur</a:t>
            </a:r>
            <a:r>
              <a:rPr lang="en-US" baseline="0" dirty="0" smtClean="0"/>
              <a:t> age </a:t>
            </a:r>
            <a:r>
              <a:rPr lang="en-US" baseline="0" dirty="0" err="1" smtClean="0"/>
              <a:t>ka</a:t>
            </a:r>
            <a:r>
              <a:rPr lang="en-US" baseline="0" dirty="0" smtClean="0"/>
              <a:t> user </a:t>
            </a:r>
            <a:r>
              <a:rPr lang="en-US" baseline="0" dirty="0" err="1" smtClean="0"/>
              <a:t>ko</a:t>
            </a:r>
            <a:r>
              <a:rPr lang="en-US" baseline="0" dirty="0" smtClean="0"/>
              <a:t> hum </a:t>
            </a:r>
            <a:r>
              <a:rPr lang="en-US" baseline="0" dirty="0" err="1" smtClean="0"/>
              <a:t>ny</a:t>
            </a:r>
            <a:r>
              <a:rPr lang="en-US" baseline="0" dirty="0" smtClean="0"/>
              <a:t> </a:t>
            </a:r>
            <a:r>
              <a:rPr lang="en-US" baseline="0" dirty="0" err="1" smtClean="0"/>
              <a:t>kia</a:t>
            </a:r>
            <a:r>
              <a:rPr lang="en-US" baseline="0" dirty="0" smtClean="0"/>
              <a:t> </a:t>
            </a:r>
            <a:r>
              <a:rPr lang="en-US" baseline="0" dirty="0" err="1" smtClean="0"/>
              <a:t>dheeka</a:t>
            </a:r>
            <a:r>
              <a:rPr lang="en-US" baseline="0" dirty="0" smtClean="0"/>
              <a:t> </a:t>
            </a:r>
            <a:r>
              <a:rPr lang="en-US" baseline="0" dirty="0" err="1" smtClean="0"/>
              <a:t>rahka</a:t>
            </a:r>
            <a:r>
              <a:rPr lang="en-US" baseline="0" dirty="0" smtClean="0"/>
              <a:t> </a:t>
            </a:r>
            <a:r>
              <a:rPr lang="en-US" baseline="0" dirty="0" err="1" smtClean="0"/>
              <a:t>hai</a:t>
            </a:r>
            <a:r>
              <a:rPr lang="en-US" baseline="0" dirty="0" smtClean="0"/>
              <a:t> name and age lets say user 1 </a:t>
            </a:r>
            <a:r>
              <a:rPr lang="en-US" baseline="0" dirty="0" err="1" smtClean="0"/>
              <a:t>ny</a:t>
            </a:r>
            <a:r>
              <a:rPr lang="en-US" baseline="0" dirty="0" smtClean="0"/>
              <a:t> new </a:t>
            </a:r>
            <a:r>
              <a:rPr lang="en-US" baseline="0" dirty="0" err="1" smtClean="0"/>
              <a:t>coloum</a:t>
            </a:r>
            <a:r>
              <a:rPr lang="en-US" baseline="0" dirty="0" smtClean="0"/>
              <a:t> add </a:t>
            </a:r>
            <a:r>
              <a:rPr lang="en-US" baseline="0" dirty="0" err="1" smtClean="0"/>
              <a:t>kr</a:t>
            </a:r>
            <a:r>
              <a:rPr lang="en-US" baseline="0" dirty="0" smtClean="0"/>
              <a:t> </a:t>
            </a:r>
            <a:r>
              <a:rPr lang="en-US" baseline="0" dirty="0" err="1" smtClean="0"/>
              <a:t>raha</a:t>
            </a:r>
            <a:r>
              <a:rPr lang="en-US" baseline="0" dirty="0" smtClean="0"/>
              <a:t> let say mobile 1 it will not effect the application program user one </a:t>
            </a:r>
            <a:r>
              <a:rPr lang="en-US" baseline="0" dirty="0" err="1" smtClean="0"/>
              <a:t>ju</a:t>
            </a:r>
            <a:r>
              <a:rPr lang="en-US" baseline="0" dirty="0" smtClean="0"/>
              <a:t> changing cha </a:t>
            </a:r>
            <a:r>
              <a:rPr lang="en-US" baseline="0" dirty="0" err="1" smtClean="0"/>
              <a:t>raha</a:t>
            </a:r>
            <a:r>
              <a:rPr lang="en-US" baseline="0" dirty="0" smtClean="0"/>
              <a:t> wo hum </a:t>
            </a:r>
            <a:r>
              <a:rPr lang="en-US" baseline="0" dirty="0" err="1" smtClean="0"/>
              <a:t>usko</a:t>
            </a:r>
            <a:r>
              <a:rPr lang="en-US" baseline="0" dirty="0" smtClean="0"/>
              <a:t> de </a:t>
            </a:r>
            <a:r>
              <a:rPr lang="en-US" baseline="0" dirty="0" err="1" smtClean="0"/>
              <a:t>rahy</a:t>
            </a:r>
            <a:r>
              <a:rPr lang="en-US" baseline="0" dirty="0" smtClean="0"/>
              <a:t> </a:t>
            </a:r>
            <a:r>
              <a:rPr lang="en-US" baseline="0" dirty="0" err="1" smtClean="0"/>
              <a:t>magar</a:t>
            </a:r>
            <a:r>
              <a:rPr lang="en-US" baseline="0" dirty="0" smtClean="0"/>
              <a:t> application program </a:t>
            </a:r>
            <a:r>
              <a:rPr lang="en-US" baseline="0" dirty="0" err="1" smtClean="0"/>
              <a:t>mein</a:t>
            </a:r>
            <a:r>
              <a:rPr lang="en-US" baseline="0" dirty="0" smtClean="0"/>
              <a:t> koi change </a:t>
            </a:r>
            <a:r>
              <a:rPr lang="en-US" baseline="0" dirty="0" err="1" smtClean="0"/>
              <a:t>nai</a:t>
            </a:r>
            <a:r>
              <a:rPr lang="en-US" baseline="0" dirty="0" smtClean="0"/>
              <a:t> </a:t>
            </a:r>
            <a:r>
              <a:rPr lang="en-US" baseline="0" dirty="0" err="1" smtClean="0"/>
              <a:t>hu</a:t>
            </a:r>
            <a:r>
              <a:rPr lang="en-US" baseline="0" dirty="0" smtClean="0"/>
              <a:t> </a:t>
            </a:r>
            <a:r>
              <a:rPr lang="en-US" baseline="0" dirty="0" err="1" smtClean="0"/>
              <a:t>raha</a:t>
            </a:r>
            <a:r>
              <a:rPr lang="en-US" baseline="0" dirty="0" smtClean="0"/>
              <a:t> </a:t>
            </a:r>
            <a:endParaRPr lang="en-AU" dirty="0"/>
          </a:p>
        </p:txBody>
      </p:sp>
      <p:sp>
        <p:nvSpPr>
          <p:cNvPr id="4" name="Slide Number Placeholder 3"/>
          <p:cNvSpPr>
            <a:spLocks noGrp="1"/>
          </p:cNvSpPr>
          <p:nvPr>
            <p:ph type="sldNum" sz="quarter" idx="10"/>
          </p:nvPr>
        </p:nvSpPr>
        <p:spPr/>
        <p:txBody>
          <a:bodyPr/>
          <a:lstStyle/>
          <a:p>
            <a:fld id="{EE0A5C17-B508-4741-8A08-DD2F494E70F4}" type="slidenum">
              <a:rPr lang="en-AU" smtClean="0"/>
              <a:t>4</a:t>
            </a:fld>
            <a:endParaRPr lang="en-AU"/>
          </a:p>
        </p:txBody>
      </p:sp>
    </p:spTree>
    <p:extLst>
      <p:ext uri="{BB962C8B-B14F-4D97-AF65-F5344CB8AC3E}">
        <p14:creationId xmlns:p14="http://schemas.microsoft.com/office/powerpoint/2010/main" val="609907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DATABASEko</a:t>
            </a:r>
            <a:r>
              <a:rPr lang="en-US" dirty="0" smtClean="0"/>
              <a:t> hard disk</a:t>
            </a:r>
            <a:r>
              <a:rPr lang="en-US" baseline="0" dirty="0" smtClean="0"/>
              <a:t> one </a:t>
            </a:r>
            <a:r>
              <a:rPr lang="en-US" baseline="0" dirty="0" err="1" smtClean="0"/>
              <a:t>mein</a:t>
            </a:r>
            <a:r>
              <a:rPr lang="en-US" baseline="0" dirty="0" smtClean="0"/>
              <a:t> </a:t>
            </a:r>
            <a:r>
              <a:rPr lang="en-US" baseline="0" dirty="0" err="1" smtClean="0"/>
              <a:t>rhakha</a:t>
            </a:r>
            <a:r>
              <a:rPr lang="en-US" baseline="0" dirty="0" smtClean="0"/>
              <a:t> </a:t>
            </a:r>
            <a:r>
              <a:rPr lang="en-US" baseline="0" dirty="0" err="1" smtClean="0"/>
              <a:t>hua</a:t>
            </a:r>
            <a:r>
              <a:rPr lang="en-US" baseline="0" dirty="0" smtClean="0"/>
              <a:t> it doesn’t means k </a:t>
            </a:r>
            <a:r>
              <a:rPr lang="en-US" baseline="0" dirty="0" err="1" smtClean="0"/>
              <a:t>harddrive</a:t>
            </a:r>
            <a:r>
              <a:rPr lang="en-US" baseline="0" dirty="0" smtClean="0"/>
              <a:t> change </a:t>
            </a:r>
            <a:r>
              <a:rPr lang="en-US" baseline="0" dirty="0" err="1" smtClean="0"/>
              <a:t>ki</a:t>
            </a:r>
            <a:r>
              <a:rPr lang="en-US" baseline="0" dirty="0" smtClean="0"/>
              <a:t> to database </a:t>
            </a:r>
            <a:r>
              <a:rPr lang="en-US" baseline="0" dirty="0" err="1" smtClean="0"/>
              <a:t>ka</a:t>
            </a:r>
            <a:r>
              <a:rPr lang="en-US" baseline="0" dirty="0" smtClean="0"/>
              <a:t> conceptual level </a:t>
            </a:r>
            <a:r>
              <a:rPr lang="en-US" baseline="0" dirty="0" err="1" smtClean="0"/>
              <a:t>pr</a:t>
            </a:r>
            <a:r>
              <a:rPr lang="en-US" baseline="0" dirty="0" smtClean="0"/>
              <a:t> effect </a:t>
            </a:r>
            <a:r>
              <a:rPr lang="en-US" baseline="0" dirty="0" err="1" smtClean="0"/>
              <a:t>kry</a:t>
            </a:r>
            <a:r>
              <a:rPr lang="en-US" baseline="0" dirty="0" smtClean="0"/>
              <a:t> </a:t>
            </a:r>
            <a:r>
              <a:rPr lang="en-US" baseline="0" dirty="0" err="1" smtClean="0"/>
              <a:t>ga</a:t>
            </a:r>
            <a:r>
              <a:rPr lang="en-US" baseline="0" dirty="0" smtClean="0"/>
              <a:t> google have so much storage </a:t>
            </a:r>
            <a:r>
              <a:rPr lang="en-US" baseline="0" dirty="0" err="1" smtClean="0"/>
              <a:t>kia</a:t>
            </a:r>
            <a:r>
              <a:rPr lang="en-US" baseline="0" dirty="0" smtClean="0"/>
              <a:t> </a:t>
            </a:r>
            <a:r>
              <a:rPr lang="en-US" baseline="0" dirty="0" err="1" smtClean="0"/>
              <a:t>lgat</a:t>
            </a:r>
            <a:r>
              <a:rPr lang="en-US" baseline="0" dirty="0" smtClean="0"/>
              <a:t> </a:t>
            </a:r>
            <a:r>
              <a:rPr lang="en-US" baseline="0" dirty="0" err="1" smtClean="0"/>
              <a:t>hy</a:t>
            </a:r>
            <a:r>
              <a:rPr lang="en-US" baseline="0" dirty="0" smtClean="0"/>
              <a:t> </a:t>
            </a:r>
            <a:r>
              <a:rPr lang="en-US" baseline="0" dirty="0" err="1" smtClean="0"/>
              <a:t>uska</a:t>
            </a:r>
            <a:r>
              <a:rPr lang="en-US" baseline="0" dirty="0" smtClean="0"/>
              <a:t> data </a:t>
            </a:r>
            <a:r>
              <a:rPr lang="en-US" baseline="0" dirty="0" err="1" smtClean="0"/>
              <a:t>sara</a:t>
            </a:r>
            <a:r>
              <a:rPr lang="en-US" baseline="0" dirty="0" smtClean="0"/>
              <a:t> auk hi </a:t>
            </a:r>
            <a:r>
              <a:rPr lang="en-US" baseline="0" dirty="0" err="1" smtClean="0"/>
              <a:t>jaga</a:t>
            </a:r>
            <a:r>
              <a:rPr lang="en-US" baseline="0" dirty="0" smtClean="0"/>
              <a:t> para </a:t>
            </a:r>
            <a:r>
              <a:rPr lang="en-US" baseline="0" dirty="0" err="1" smtClean="0"/>
              <a:t>hu</a:t>
            </a:r>
            <a:r>
              <a:rPr lang="en-US" baseline="0" dirty="0" smtClean="0"/>
              <a:t> ahu </a:t>
            </a:r>
            <a:r>
              <a:rPr lang="en-US" baseline="0" dirty="0" err="1" smtClean="0"/>
              <a:t>ga</a:t>
            </a:r>
            <a:r>
              <a:rPr lang="en-US" baseline="0" dirty="0" smtClean="0"/>
              <a:t> </a:t>
            </a:r>
            <a:r>
              <a:rPr lang="en-US" baseline="0" dirty="0" err="1" smtClean="0"/>
              <a:t>nahi</a:t>
            </a:r>
            <a:r>
              <a:rPr lang="en-US" baseline="0" dirty="0" smtClean="0"/>
              <a:t> </a:t>
            </a:r>
            <a:r>
              <a:rPr lang="en-US" baseline="0" dirty="0" err="1" smtClean="0"/>
              <a:t>unho</a:t>
            </a:r>
            <a:r>
              <a:rPr lang="en-US" baseline="0" dirty="0" smtClean="0"/>
              <a:t> </a:t>
            </a:r>
            <a:r>
              <a:rPr lang="en-US" baseline="0" dirty="0" err="1" smtClean="0"/>
              <a:t>ny</a:t>
            </a:r>
            <a:r>
              <a:rPr lang="en-US" baseline="0" dirty="0" smtClean="0"/>
              <a:t> </a:t>
            </a:r>
            <a:r>
              <a:rPr lang="en-US" baseline="0" dirty="0" err="1" smtClean="0"/>
              <a:t>buht</a:t>
            </a:r>
            <a:r>
              <a:rPr lang="en-US" baseline="0" dirty="0" smtClean="0"/>
              <a:t> </a:t>
            </a:r>
            <a:r>
              <a:rPr lang="en-US" baseline="0" dirty="0" err="1" smtClean="0"/>
              <a:t>sara</a:t>
            </a:r>
            <a:r>
              <a:rPr lang="en-US" baseline="0" dirty="0" smtClean="0"/>
              <a:t> data shift </a:t>
            </a:r>
            <a:r>
              <a:rPr lang="en-US" baseline="0" dirty="0" err="1" smtClean="0"/>
              <a:t>kia</a:t>
            </a:r>
            <a:r>
              <a:rPr lang="en-US" baseline="0" dirty="0" smtClean="0"/>
              <a:t> </a:t>
            </a:r>
            <a:r>
              <a:rPr lang="en-US" baseline="0" dirty="0" err="1" smtClean="0"/>
              <a:t>hu</a:t>
            </a:r>
            <a:r>
              <a:rPr lang="en-US" baseline="0" dirty="0" smtClean="0"/>
              <a:t> </a:t>
            </a:r>
            <a:r>
              <a:rPr lang="en-US" baseline="0" dirty="0" err="1" smtClean="0"/>
              <a:t>ga</a:t>
            </a:r>
            <a:endParaRPr lang="en-AU" dirty="0"/>
          </a:p>
        </p:txBody>
      </p:sp>
      <p:sp>
        <p:nvSpPr>
          <p:cNvPr id="4" name="Slide Number Placeholder 3"/>
          <p:cNvSpPr>
            <a:spLocks noGrp="1"/>
          </p:cNvSpPr>
          <p:nvPr>
            <p:ph type="sldNum" sz="quarter" idx="10"/>
          </p:nvPr>
        </p:nvSpPr>
        <p:spPr/>
        <p:txBody>
          <a:bodyPr/>
          <a:lstStyle/>
          <a:p>
            <a:fld id="{EE0A5C17-B508-4741-8A08-DD2F494E70F4}" type="slidenum">
              <a:rPr lang="en-AU" smtClean="0"/>
              <a:t>5</a:t>
            </a:fld>
            <a:endParaRPr lang="en-AU"/>
          </a:p>
        </p:txBody>
      </p:sp>
    </p:spTree>
    <p:extLst>
      <p:ext uri="{BB962C8B-B14F-4D97-AF65-F5344CB8AC3E}">
        <p14:creationId xmlns:p14="http://schemas.microsoft.com/office/powerpoint/2010/main" val="74934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Metadata</a:t>
            </a:r>
            <a:r>
              <a:rPr lang="en-US" sz="1200" b="0" i="0" kern="1200" dirty="0" smtClean="0">
                <a:solidFill>
                  <a:schemeClr val="tx1"/>
                </a:solidFill>
                <a:effectLst/>
                <a:latin typeface="+mn-lt"/>
                <a:ea typeface="+mn-ea"/>
                <a:cs typeface="+mn-cs"/>
              </a:rPr>
              <a:t> is essentially data about data. It provides information about various aspects of the data, helping users understand its context, structure, and characteristics. Here's a simplified explanation:</a:t>
            </a:r>
          </a:p>
          <a:p>
            <a:r>
              <a:rPr lang="en-US" sz="1200" b="1" i="0" kern="1200" dirty="0" smtClean="0">
                <a:solidFill>
                  <a:schemeClr val="tx1"/>
                </a:solidFill>
                <a:effectLst/>
                <a:latin typeface="+mn-lt"/>
                <a:ea typeface="+mn-ea"/>
                <a:cs typeface="+mn-cs"/>
              </a:rPr>
              <a:t>Explanation:</a:t>
            </a:r>
            <a:r>
              <a:rPr lang="en-US" sz="1200" b="0" i="0" kern="1200" dirty="0" smtClean="0">
                <a:solidFill>
                  <a:schemeClr val="tx1"/>
                </a:solidFill>
                <a:effectLst/>
                <a:latin typeface="+mn-lt"/>
                <a:ea typeface="+mn-ea"/>
                <a:cs typeface="+mn-cs"/>
              </a:rPr>
              <a:t> Metadata serves as a descriptor or summary of the data, providing insights into its content, quality, and usage. It helps users locate, understand, and manage data effectively.</a:t>
            </a:r>
          </a:p>
          <a:p>
            <a:r>
              <a:rPr lang="en-US" sz="1200" b="1" i="0" kern="1200" dirty="0" smtClean="0">
                <a:solidFill>
                  <a:schemeClr val="tx1"/>
                </a:solidFill>
                <a:effectLst/>
                <a:latin typeface="+mn-lt"/>
                <a:ea typeface="+mn-ea"/>
                <a:cs typeface="+mn-cs"/>
              </a:rPr>
              <a:t>Simple </a:t>
            </a:r>
            <a:r>
              <a:rPr lang="en-US" sz="1200" b="1" i="0" kern="1200" dirty="0" err="1" smtClean="0">
                <a:solidFill>
                  <a:schemeClr val="tx1"/>
                </a:solidFill>
                <a:effectLst/>
                <a:latin typeface="+mn-lt"/>
                <a:ea typeface="+mn-ea"/>
                <a:cs typeface="+mn-cs"/>
              </a:rPr>
              <a:t>Example:</a:t>
            </a:r>
            <a:r>
              <a:rPr lang="en-US" sz="1200" b="0" i="0" kern="1200" dirty="0" err="1" smtClean="0">
                <a:solidFill>
                  <a:schemeClr val="tx1"/>
                </a:solidFill>
                <a:effectLst/>
                <a:latin typeface="+mn-lt"/>
                <a:ea typeface="+mn-ea"/>
                <a:cs typeface="+mn-cs"/>
              </a:rPr>
              <a:t>In</a:t>
            </a:r>
            <a:r>
              <a:rPr lang="en-US" sz="1200" b="0" i="0" kern="1200" dirty="0" smtClean="0">
                <a:solidFill>
                  <a:schemeClr val="tx1"/>
                </a:solidFill>
                <a:effectLst/>
                <a:latin typeface="+mn-lt"/>
                <a:ea typeface="+mn-ea"/>
                <a:cs typeface="+mn-cs"/>
              </a:rPr>
              <a:t> photography, the metadata of an image includes details like the camera settings (aperture, shutter speed, ISO), the date and time the photo was taken, location coordinates (if available), and even the camera model. This metadata helps photographers organize and analyze their photos.</a:t>
            </a:r>
          </a:p>
          <a:p>
            <a:endParaRPr lang="en-AU" dirty="0"/>
          </a:p>
        </p:txBody>
      </p:sp>
      <p:sp>
        <p:nvSpPr>
          <p:cNvPr id="4" name="Slide Number Placeholder 3"/>
          <p:cNvSpPr>
            <a:spLocks noGrp="1"/>
          </p:cNvSpPr>
          <p:nvPr>
            <p:ph type="sldNum" sz="quarter" idx="10"/>
          </p:nvPr>
        </p:nvSpPr>
        <p:spPr/>
        <p:txBody>
          <a:bodyPr/>
          <a:lstStyle/>
          <a:p>
            <a:fld id="{EE0A5C17-B508-4741-8A08-DD2F494E70F4}" type="slidenum">
              <a:rPr lang="en-AU" smtClean="0"/>
              <a:t>6</a:t>
            </a:fld>
            <a:endParaRPr lang="en-AU"/>
          </a:p>
        </p:txBody>
      </p:sp>
    </p:spTree>
    <p:extLst>
      <p:ext uri="{BB962C8B-B14F-4D97-AF65-F5344CB8AC3E}">
        <p14:creationId xmlns:p14="http://schemas.microsoft.com/office/powerpoint/2010/main" val="1716876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DCL is responsible for managing user access and permissions within a database. The "Grant" command is used to give specific privileges to users, while the "Revoke" command is used to take away those privileges. These commands ensure proper control and security over the database by regulating user access to data.</a:t>
            </a:r>
            <a:endParaRPr lang="en-AU" dirty="0"/>
          </a:p>
        </p:txBody>
      </p:sp>
      <p:sp>
        <p:nvSpPr>
          <p:cNvPr id="4" name="Slide Number Placeholder 3"/>
          <p:cNvSpPr>
            <a:spLocks noGrp="1"/>
          </p:cNvSpPr>
          <p:nvPr>
            <p:ph type="sldNum" sz="quarter" idx="10"/>
          </p:nvPr>
        </p:nvSpPr>
        <p:spPr/>
        <p:txBody>
          <a:bodyPr/>
          <a:lstStyle/>
          <a:p>
            <a:fld id="{EE0A5C17-B508-4741-8A08-DD2F494E70F4}" type="slidenum">
              <a:rPr lang="en-AU" smtClean="0"/>
              <a:t>9</a:t>
            </a:fld>
            <a:endParaRPr lang="en-AU"/>
          </a:p>
        </p:txBody>
      </p:sp>
    </p:spTree>
    <p:extLst>
      <p:ext uri="{BB962C8B-B14F-4D97-AF65-F5344CB8AC3E}">
        <p14:creationId xmlns:p14="http://schemas.microsoft.com/office/powerpoint/2010/main" val="542887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 the above diagram, it can be seen that after crediting $10, the amount is still $100 in account B. So, it is not an atomic transaction.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below image shows that both debit and credit operations are done successfully. Thus the transaction is atomic.</a:t>
            </a:r>
            <a:endParaRPr lang="en-AU" dirty="0"/>
          </a:p>
        </p:txBody>
      </p:sp>
      <p:sp>
        <p:nvSpPr>
          <p:cNvPr id="4" name="Slide Number Placeholder 3"/>
          <p:cNvSpPr>
            <a:spLocks noGrp="1"/>
          </p:cNvSpPr>
          <p:nvPr>
            <p:ph type="sldNum" sz="quarter" idx="10"/>
          </p:nvPr>
        </p:nvSpPr>
        <p:spPr/>
        <p:txBody>
          <a:bodyPr/>
          <a:lstStyle/>
          <a:p>
            <a:fld id="{EE0A5C17-B508-4741-8A08-DD2F494E70F4}" type="slidenum">
              <a:rPr lang="en-AU" smtClean="0"/>
              <a:t>12</a:t>
            </a:fld>
            <a:endParaRPr lang="en-AU"/>
          </a:p>
        </p:txBody>
      </p:sp>
    </p:spTree>
    <p:extLst>
      <p:ext uri="{BB962C8B-B14F-4D97-AF65-F5344CB8AC3E}">
        <p14:creationId xmlns:p14="http://schemas.microsoft.com/office/powerpoint/2010/main" val="3588189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For example, suppose you have $100 in your account, and you decide to withdraw $50. The bank's database needs to ensure that after the withdrawal, your account balance is updated correctly to $50. Similarly, if you deposit $20 later, the database needs to ensure that your balance is updated to $70.</a:t>
            </a:r>
          </a:p>
          <a:p>
            <a:r>
              <a:rPr lang="en-US" sz="1200" b="0" i="0" kern="1200" dirty="0" smtClean="0">
                <a:solidFill>
                  <a:schemeClr val="tx1"/>
                </a:solidFill>
                <a:effectLst/>
                <a:latin typeface="+mn-lt"/>
                <a:ea typeface="+mn-ea"/>
                <a:cs typeface="+mn-cs"/>
              </a:rPr>
              <a:t>Consistency ensures that even if multiple transactions occur simultaneously, the data remains accurate and the integrity of your account balance is maintained. Just like how your bank ensures that your account balance is always correct, DBMS ensures that the data in the database remains consistent and reliable at all times.</a:t>
            </a:r>
          </a:p>
          <a:p>
            <a:endParaRPr lang="en-AU" dirty="0"/>
          </a:p>
        </p:txBody>
      </p:sp>
      <p:sp>
        <p:nvSpPr>
          <p:cNvPr id="4" name="Slide Number Placeholder 3"/>
          <p:cNvSpPr>
            <a:spLocks noGrp="1"/>
          </p:cNvSpPr>
          <p:nvPr>
            <p:ph type="sldNum" sz="quarter" idx="10"/>
          </p:nvPr>
        </p:nvSpPr>
        <p:spPr/>
        <p:txBody>
          <a:bodyPr/>
          <a:lstStyle/>
          <a:p>
            <a:fld id="{EE0A5C17-B508-4741-8A08-DD2F494E70F4}" type="slidenum">
              <a:rPr lang="en-AU" smtClean="0"/>
              <a:t>13</a:t>
            </a:fld>
            <a:endParaRPr lang="en-AU"/>
          </a:p>
        </p:txBody>
      </p:sp>
    </p:spTree>
    <p:extLst>
      <p:ext uri="{BB962C8B-B14F-4D97-AF65-F5344CB8AC3E}">
        <p14:creationId xmlns:p14="http://schemas.microsoft.com/office/powerpoint/2010/main" val="2034589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If two operations are concurrently running on two different accounts, then the value of both accounts should not get affected. The value should remain persistent. As you can see in the below diagram, account A is making T1 and T2 transactions to account B and C, but both are executing independently without affecting each other. It is known as Isolation.</a:t>
            </a:r>
            <a:endParaRPr lang="en-AU" dirty="0"/>
          </a:p>
        </p:txBody>
      </p:sp>
      <p:sp>
        <p:nvSpPr>
          <p:cNvPr id="4" name="Slide Number Placeholder 3"/>
          <p:cNvSpPr>
            <a:spLocks noGrp="1"/>
          </p:cNvSpPr>
          <p:nvPr>
            <p:ph type="sldNum" sz="quarter" idx="10"/>
          </p:nvPr>
        </p:nvSpPr>
        <p:spPr/>
        <p:txBody>
          <a:bodyPr/>
          <a:lstStyle/>
          <a:p>
            <a:fld id="{EE0A5C17-B508-4741-8A08-DD2F494E70F4}" type="slidenum">
              <a:rPr lang="en-AU" smtClean="0"/>
              <a:t>14</a:t>
            </a:fld>
            <a:endParaRPr lang="en-AU"/>
          </a:p>
        </p:txBody>
      </p:sp>
    </p:spTree>
    <p:extLst>
      <p:ext uri="{BB962C8B-B14F-4D97-AF65-F5344CB8AC3E}">
        <p14:creationId xmlns:p14="http://schemas.microsoft.com/office/powerpoint/2010/main" val="4267576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7F7A908-80D0-4A54-9074-E534E7470E07}" type="datetimeFigureOut">
              <a:rPr lang="en-AU" smtClean="0"/>
              <a:t>12/03/2024</a:t>
            </a:fld>
            <a:endParaRPr lang="en-AU"/>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AU"/>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75D15004-900D-4701-8F49-3A1F95E92A2F}" type="slidenum">
              <a:rPr lang="en-AU" smtClean="0"/>
              <a:t>‹#›</a:t>
            </a:fld>
            <a:endParaRPr lang="en-AU"/>
          </a:p>
        </p:txBody>
      </p:sp>
    </p:spTree>
    <p:extLst>
      <p:ext uri="{BB962C8B-B14F-4D97-AF65-F5344CB8AC3E}">
        <p14:creationId xmlns:p14="http://schemas.microsoft.com/office/powerpoint/2010/main" val="4135224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F7A908-80D0-4A54-9074-E534E7470E07}" type="datetimeFigureOut">
              <a:rPr lang="en-AU" smtClean="0"/>
              <a:t>12/03/2024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10558300" y="5956137"/>
            <a:ext cx="1052508" cy="365125"/>
          </a:xfrm>
        </p:spPr>
        <p:txBody>
          <a:bodyPr/>
          <a:lstStyle/>
          <a:p>
            <a:fld id="{75D15004-900D-4701-8F49-3A1F95E92A2F}" type="slidenum">
              <a:rPr lang="en-AU" smtClean="0"/>
              <a:t>‹#›</a:t>
            </a:fld>
            <a:endParaRPr lang="en-AU"/>
          </a:p>
        </p:txBody>
      </p:sp>
    </p:spTree>
    <p:extLst>
      <p:ext uri="{BB962C8B-B14F-4D97-AF65-F5344CB8AC3E}">
        <p14:creationId xmlns:p14="http://schemas.microsoft.com/office/powerpoint/2010/main" val="368503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7F7A908-80D0-4A54-9074-E534E7470E07}" type="datetimeFigureOut">
              <a:rPr lang="en-AU" smtClean="0"/>
              <a:t>12/03/2024</a:t>
            </a:fld>
            <a:endParaRPr lang="en-AU"/>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75D15004-900D-4701-8F49-3A1F95E92A2F}" type="slidenum">
              <a:rPr lang="en-AU" smtClean="0"/>
              <a:t>‹#›</a:t>
            </a:fld>
            <a:endParaRPr lang="en-AU"/>
          </a:p>
        </p:txBody>
      </p:sp>
    </p:spTree>
    <p:extLst>
      <p:ext uri="{BB962C8B-B14F-4D97-AF65-F5344CB8AC3E}">
        <p14:creationId xmlns:p14="http://schemas.microsoft.com/office/powerpoint/2010/main" val="2187204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7F7A908-80D0-4A54-9074-E534E7470E07}" type="datetimeFigureOut">
              <a:rPr lang="en-AU" smtClean="0"/>
              <a:t>12/03/2024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5D15004-900D-4701-8F49-3A1F95E92A2F}" type="slidenum">
              <a:rPr lang="en-AU" smtClean="0"/>
              <a:t>‹#›</a:t>
            </a:fld>
            <a:endParaRPr lang="en-AU"/>
          </a:p>
        </p:txBody>
      </p:sp>
    </p:spTree>
    <p:extLst>
      <p:ext uri="{BB962C8B-B14F-4D97-AF65-F5344CB8AC3E}">
        <p14:creationId xmlns:p14="http://schemas.microsoft.com/office/powerpoint/2010/main" val="4009955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7F7A908-80D0-4A54-9074-E534E7470E07}" type="datetimeFigureOut">
              <a:rPr lang="en-AU" smtClean="0"/>
              <a:t>12/03/2024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5D15004-900D-4701-8F49-3A1F95E92A2F}" type="slidenum">
              <a:rPr lang="en-AU" smtClean="0"/>
              <a:t>‹#›</a:t>
            </a:fld>
            <a:endParaRPr lang="en-AU"/>
          </a:p>
        </p:txBody>
      </p:sp>
    </p:spTree>
    <p:extLst>
      <p:ext uri="{BB962C8B-B14F-4D97-AF65-F5344CB8AC3E}">
        <p14:creationId xmlns:p14="http://schemas.microsoft.com/office/powerpoint/2010/main" val="3764122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7F7A908-80D0-4A54-9074-E534E7470E07}" type="datetimeFigureOut">
              <a:rPr lang="en-AU" smtClean="0"/>
              <a:t>12/03/2024</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5D15004-900D-4701-8F49-3A1F95E92A2F}" type="slidenum">
              <a:rPr lang="en-AU" smtClean="0"/>
              <a:t>‹#›</a:t>
            </a:fld>
            <a:endParaRPr lang="en-AU"/>
          </a:p>
        </p:txBody>
      </p:sp>
    </p:spTree>
    <p:extLst>
      <p:ext uri="{BB962C8B-B14F-4D97-AF65-F5344CB8AC3E}">
        <p14:creationId xmlns:p14="http://schemas.microsoft.com/office/powerpoint/2010/main" val="2624480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F7A908-80D0-4A54-9074-E534E7470E07}" type="datetimeFigureOut">
              <a:rPr lang="en-AU" smtClean="0"/>
              <a:t>12/03/2024</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5D15004-900D-4701-8F49-3A1F95E92A2F}" type="slidenum">
              <a:rPr lang="en-AU" smtClean="0"/>
              <a:t>‹#›</a:t>
            </a:fld>
            <a:endParaRPr lang="en-AU"/>
          </a:p>
        </p:txBody>
      </p:sp>
    </p:spTree>
    <p:extLst>
      <p:ext uri="{BB962C8B-B14F-4D97-AF65-F5344CB8AC3E}">
        <p14:creationId xmlns:p14="http://schemas.microsoft.com/office/powerpoint/2010/main" val="394067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7F7A908-80D0-4A54-9074-E534E7470E07}" type="datetimeFigureOut">
              <a:rPr lang="en-AU" smtClean="0"/>
              <a:t>12/03/2024</a:t>
            </a:fld>
            <a:endParaRPr lang="en-AU"/>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75D15004-900D-4701-8F49-3A1F95E92A2F}" type="slidenum">
              <a:rPr lang="en-AU" smtClean="0"/>
              <a:t>‹#›</a:t>
            </a:fld>
            <a:endParaRPr lang="en-AU"/>
          </a:p>
        </p:txBody>
      </p:sp>
    </p:spTree>
    <p:extLst>
      <p:ext uri="{BB962C8B-B14F-4D97-AF65-F5344CB8AC3E}">
        <p14:creationId xmlns:p14="http://schemas.microsoft.com/office/powerpoint/2010/main" val="170232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7F7A908-80D0-4A54-9074-E534E7470E07}" type="datetimeFigureOut">
              <a:rPr lang="en-AU" smtClean="0"/>
              <a:t>12/03/2024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5D15004-900D-4701-8F49-3A1F95E92A2F}" type="slidenum">
              <a:rPr lang="en-AU" smtClean="0"/>
              <a:t>‹#›</a:t>
            </a:fld>
            <a:endParaRPr lang="en-AU"/>
          </a:p>
        </p:txBody>
      </p:sp>
    </p:spTree>
    <p:extLst>
      <p:ext uri="{BB962C8B-B14F-4D97-AF65-F5344CB8AC3E}">
        <p14:creationId xmlns:p14="http://schemas.microsoft.com/office/powerpoint/2010/main" val="2422972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F7A908-80D0-4A54-9074-E534E7470E07}" type="datetimeFigureOut">
              <a:rPr lang="en-AU" smtClean="0"/>
              <a:t>12/03/2024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5D15004-900D-4701-8F49-3A1F95E92A2F}" type="slidenum">
              <a:rPr lang="en-AU" smtClean="0"/>
              <a:t>‹#›</a:t>
            </a:fld>
            <a:endParaRPr lang="en-AU"/>
          </a:p>
        </p:txBody>
      </p:sp>
    </p:spTree>
    <p:extLst>
      <p:ext uri="{BB962C8B-B14F-4D97-AF65-F5344CB8AC3E}">
        <p14:creationId xmlns:p14="http://schemas.microsoft.com/office/powerpoint/2010/main" val="2712574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7F7A908-80D0-4A54-9074-E534E7470E07}" type="datetimeFigureOut">
              <a:rPr lang="en-AU" smtClean="0"/>
              <a:t>12/03/2024</a:t>
            </a:fld>
            <a:endParaRPr lang="en-AU"/>
          </a:p>
        </p:txBody>
      </p:sp>
      <p:sp>
        <p:nvSpPr>
          <p:cNvPr id="5" name="Footer Placeholder 4"/>
          <p:cNvSpPr>
            <a:spLocks noGrp="1"/>
          </p:cNvSpPr>
          <p:nvPr>
            <p:ph type="ftr" sz="quarter" idx="11"/>
          </p:nvPr>
        </p:nvSpPr>
        <p:spPr>
          <a:xfrm>
            <a:off x="774923" y="5951811"/>
            <a:ext cx="7896279" cy="365125"/>
          </a:xfrm>
        </p:spPr>
        <p:txBody>
          <a:bodyPr/>
          <a:lstStyle/>
          <a:p>
            <a:endParaRPr lang="en-AU"/>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75D15004-900D-4701-8F49-3A1F95E92A2F}" type="slidenum">
              <a:rPr lang="en-AU" smtClean="0"/>
              <a:t>‹#›</a:t>
            </a:fld>
            <a:endParaRPr lang="en-AU"/>
          </a:p>
        </p:txBody>
      </p:sp>
    </p:spTree>
    <p:extLst>
      <p:ext uri="{BB962C8B-B14F-4D97-AF65-F5344CB8AC3E}">
        <p14:creationId xmlns:p14="http://schemas.microsoft.com/office/powerpoint/2010/main" val="1795141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7F7A908-80D0-4A54-9074-E534E7470E07}" type="datetimeFigureOut">
              <a:rPr lang="en-AU" smtClean="0"/>
              <a:t>12/03/2024</a:t>
            </a:fld>
            <a:endParaRPr lang="en-AU"/>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AU"/>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75D15004-900D-4701-8F49-3A1F95E92A2F}" type="slidenum">
              <a:rPr lang="en-AU" smtClean="0"/>
              <a:t>‹#›</a:t>
            </a:fld>
            <a:endParaRPr lang="en-AU"/>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31095018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b="1" dirty="0" smtClean="0"/>
              <a:t>Data independence </a:t>
            </a:r>
            <a:endParaRPr lang="en-AU" sz="4400" b="1" dirty="0"/>
          </a:p>
        </p:txBody>
      </p:sp>
      <p:sp>
        <p:nvSpPr>
          <p:cNvPr id="3" name="Subtitle 2"/>
          <p:cNvSpPr>
            <a:spLocks noGrp="1"/>
          </p:cNvSpPr>
          <p:nvPr>
            <p:ph type="subTitle" idx="1"/>
          </p:nvPr>
        </p:nvSpPr>
        <p:spPr>
          <a:xfrm>
            <a:off x="988818" y="4026790"/>
            <a:ext cx="10993546" cy="1569779"/>
          </a:xfrm>
        </p:spPr>
        <p:txBody>
          <a:bodyPr>
            <a:normAutofit/>
          </a:bodyPr>
          <a:lstStyle/>
          <a:p>
            <a:pPr algn="ctr"/>
            <a:r>
              <a:rPr lang="en-US" sz="2000" b="1" dirty="0" smtClean="0">
                <a:solidFill>
                  <a:schemeClr val="bg1"/>
                </a:solidFill>
              </a:rPr>
              <a:t>Lecture no 5</a:t>
            </a:r>
          </a:p>
          <a:p>
            <a:pPr algn="ctr"/>
            <a:r>
              <a:rPr lang="en-US" sz="2000" b="1" dirty="0" smtClean="0">
                <a:solidFill>
                  <a:schemeClr val="bg1"/>
                </a:solidFill>
              </a:rPr>
              <a:t>12/03/2024</a:t>
            </a:r>
          </a:p>
          <a:p>
            <a:pPr algn="ctr"/>
            <a:r>
              <a:rPr lang="en-US" sz="2000" b="1" dirty="0" smtClean="0">
                <a:solidFill>
                  <a:schemeClr val="bg1"/>
                </a:solidFill>
              </a:rPr>
              <a:t>Ayesha jarral </a:t>
            </a:r>
            <a:endParaRPr lang="en-AU" sz="2000" b="1" dirty="0">
              <a:solidFill>
                <a:schemeClr val="bg1"/>
              </a:solidFill>
            </a:endParaRPr>
          </a:p>
        </p:txBody>
      </p:sp>
    </p:spTree>
    <p:extLst>
      <p:ext uri="{BB962C8B-B14F-4D97-AF65-F5344CB8AC3E}">
        <p14:creationId xmlns:p14="http://schemas.microsoft.com/office/powerpoint/2010/main" val="1982126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AU" dirty="0"/>
          </a:p>
        </p:txBody>
      </p:sp>
      <p:sp>
        <p:nvSpPr>
          <p:cNvPr id="3" name="Content Placeholder 2"/>
          <p:cNvSpPr>
            <a:spLocks noGrp="1"/>
          </p:cNvSpPr>
          <p:nvPr>
            <p:ph idx="1"/>
          </p:nvPr>
        </p:nvSpPr>
        <p:spPr/>
        <p:txBody>
          <a:bodyPr>
            <a:normAutofit lnSpcReduction="10000"/>
          </a:bodyPr>
          <a:lstStyle/>
          <a:p>
            <a:pPr fontAlgn="base"/>
            <a:r>
              <a:rPr lang="en-US" sz="2400" b="1" dirty="0"/>
              <a:t>Data Independence</a:t>
            </a:r>
            <a:r>
              <a:rPr lang="en-US" sz="2400" dirty="0"/>
              <a:t> is mainly defined as a property of DBMS that helps you to change the database schema at one level of a system without requiring to change the schema at the next level. it helps to keep the data separated from all program that makes use of it.</a:t>
            </a:r>
            <a:br>
              <a:rPr lang="en-US" sz="2400" dirty="0"/>
            </a:br>
            <a:r>
              <a:rPr lang="en-US" sz="2400" dirty="0"/>
              <a:t>We have namely two levels of data independence arising from these levels of abstraction: </a:t>
            </a:r>
            <a:endParaRPr lang="en-US" sz="2400" dirty="0" smtClean="0"/>
          </a:p>
          <a:p>
            <a:pPr marL="0" indent="0" algn="just" fontAlgn="base">
              <a:buNone/>
            </a:pPr>
            <a:endParaRPr lang="en-US" sz="2400" dirty="0"/>
          </a:p>
          <a:p>
            <a:pPr algn="just" fontAlgn="base"/>
            <a:r>
              <a:rPr lang="en-US" sz="2400" dirty="0"/>
              <a:t>Phys</a:t>
            </a:r>
            <a:r>
              <a:rPr lang="en-US" sz="2400" b="1" dirty="0"/>
              <a:t>i</a:t>
            </a:r>
            <a:r>
              <a:rPr lang="en-US" sz="2400" dirty="0"/>
              <a:t>cal level data independence</a:t>
            </a:r>
          </a:p>
          <a:p>
            <a:pPr algn="just" fontAlgn="base"/>
            <a:r>
              <a:rPr lang="en-US" sz="2400" dirty="0"/>
              <a:t>Logical level data independence</a:t>
            </a:r>
          </a:p>
          <a:p>
            <a:endParaRPr lang="en-AU" dirty="0"/>
          </a:p>
        </p:txBody>
      </p:sp>
    </p:spTree>
    <p:extLst>
      <p:ext uri="{BB962C8B-B14F-4D97-AF65-F5344CB8AC3E}">
        <p14:creationId xmlns:p14="http://schemas.microsoft.com/office/powerpoint/2010/main" val="4133041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independence in DBMS</a:t>
            </a:r>
            <a:endParaRPr lang="en-AU" dirty="0"/>
          </a:p>
        </p:txBody>
      </p:sp>
      <p:pic>
        <p:nvPicPr>
          <p:cNvPr id="4" name="Content Placeholder 3"/>
          <p:cNvPicPr>
            <a:picLocks noGrp="1" noChangeAspect="1"/>
          </p:cNvPicPr>
          <p:nvPr>
            <p:ph idx="1"/>
          </p:nvPr>
        </p:nvPicPr>
        <p:blipFill>
          <a:blip r:embed="rId2"/>
          <a:stretch>
            <a:fillRect/>
          </a:stretch>
        </p:blipFill>
        <p:spPr>
          <a:xfrm>
            <a:off x="2922986" y="1894786"/>
            <a:ext cx="5934576" cy="4439912"/>
          </a:xfrm>
          <a:prstGeom prst="rect">
            <a:avLst/>
          </a:prstGeom>
        </p:spPr>
      </p:pic>
    </p:spTree>
    <p:extLst>
      <p:ext uri="{BB962C8B-B14F-4D97-AF65-F5344CB8AC3E}">
        <p14:creationId xmlns:p14="http://schemas.microsoft.com/office/powerpoint/2010/main" val="553515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 Level Data Independence</a:t>
            </a:r>
            <a:endParaRPr lang="en-US" dirty="0"/>
          </a:p>
        </p:txBody>
      </p:sp>
      <p:sp>
        <p:nvSpPr>
          <p:cNvPr id="3" name="Content Placeholder 2"/>
          <p:cNvSpPr>
            <a:spLocks noGrp="1"/>
          </p:cNvSpPr>
          <p:nvPr>
            <p:ph idx="1"/>
          </p:nvPr>
        </p:nvSpPr>
        <p:spPr>
          <a:xfrm>
            <a:off x="581192" y="2180496"/>
            <a:ext cx="11029615" cy="4677504"/>
          </a:xfrm>
        </p:spPr>
        <p:txBody>
          <a:bodyPr>
            <a:normAutofit/>
          </a:bodyPr>
          <a:lstStyle/>
          <a:p>
            <a:pPr algn="just"/>
            <a:r>
              <a:rPr lang="en-US" sz="2400" dirty="0" smtClean="0"/>
              <a:t>It </a:t>
            </a:r>
            <a:r>
              <a:rPr lang="en-US" sz="2400" dirty="0"/>
              <a:t>refers characteristic of being able to modify the logical schema without affecting the external schema or application program. The user view of the data would not be affected by any changes to the conceptual view of the data. These changes may include insertion or deletion of attributes, altering table structures entities or relationships to the logical schema, etc</a:t>
            </a:r>
            <a:r>
              <a:rPr lang="en-US" sz="2400" dirty="0" smtClean="0"/>
              <a:t>.</a:t>
            </a:r>
          </a:p>
          <a:p>
            <a:pPr algn="just"/>
            <a:r>
              <a:rPr lang="en-US" sz="2400" dirty="0" smtClean="0"/>
              <a:t>users </a:t>
            </a:r>
            <a:r>
              <a:rPr lang="en-US" sz="2400" dirty="0"/>
              <a:t>cannot manipulate the logical structure of the database.</a:t>
            </a:r>
          </a:p>
          <a:p>
            <a:pPr algn="just"/>
            <a:r>
              <a:rPr lang="en-US" sz="2400" dirty="0"/>
              <a:t>The changes in the logical level may include −</a:t>
            </a:r>
          </a:p>
          <a:p>
            <a:pPr algn="just"/>
            <a:r>
              <a:rPr lang="en-US" sz="2400" dirty="0"/>
              <a:t>Change the data definition.</a:t>
            </a:r>
          </a:p>
          <a:p>
            <a:pPr algn="just"/>
            <a:r>
              <a:rPr lang="en-US" sz="2400" dirty="0"/>
              <a:t>Adding, deleting, or updating any new attribute, entity or relationship in the database.</a:t>
            </a:r>
          </a:p>
          <a:p>
            <a:endParaRPr lang="en-US" dirty="0"/>
          </a:p>
        </p:txBody>
      </p:sp>
    </p:spTree>
    <p:extLst>
      <p:ext uri="{BB962C8B-B14F-4D97-AF65-F5344CB8AC3E}">
        <p14:creationId xmlns:p14="http://schemas.microsoft.com/office/powerpoint/2010/main" val="843944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Physical Level Data Independence</a:t>
            </a:r>
            <a:endParaRPr lang="en-US" b="1" dirty="0"/>
          </a:p>
        </p:txBody>
      </p:sp>
      <p:sp>
        <p:nvSpPr>
          <p:cNvPr id="3" name="Content Placeholder 2"/>
          <p:cNvSpPr>
            <a:spLocks noGrp="1"/>
          </p:cNvSpPr>
          <p:nvPr>
            <p:ph idx="1"/>
          </p:nvPr>
        </p:nvSpPr>
        <p:spPr>
          <a:xfrm>
            <a:off x="581192" y="2180496"/>
            <a:ext cx="11029615" cy="4352506"/>
          </a:xfrm>
        </p:spPr>
        <p:txBody>
          <a:bodyPr>
            <a:normAutofit fontScale="92500" lnSpcReduction="10000"/>
          </a:bodyPr>
          <a:lstStyle/>
          <a:p>
            <a:pPr algn="just"/>
            <a:r>
              <a:rPr lang="en-US" sz="2800" dirty="0"/>
              <a:t>Physical Data Independence means changing the physical level without affecting the logical level or conceptual level. Using this property, we can change the storage device of the database without affecting the logical schema.</a:t>
            </a:r>
          </a:p>
          <a:p>
            <a:pPr algn="just"/>
            <a:r>
              <a:rPr lang="en-US" sz="2800" dirty="0"/>
              <a:t>The changes in the physical level may include changes using the following −</a:t>
            </a:r>
          </a:p>
          <a:p>
            <a:pPr algn="just"/>
            <a:r>
              <a:rPr lang="en-US" sz="2800" dirty="0"/>
              <a:t>A new storage device like magnetic tape, hard disk, etc.</a:t>
            </a:r>
          </a:p>
          <a:p>
            <a:pPr algn="just"/>
            <a:r>
              <a:rPr lang="en-US" sz="2800" dirty="0"/>
              <a:t>A new data structure for storage.</a:t>
            </a:r>
          </a:p>
          <a:p>
            <a:pPr algn="just"/>
            <a:r>
              <a:rPr lang="en-US" sz="2800" dirty="0"/>
              <a:t>A different data access method or using an alternative files organization technique.</a:t>
            </a:r>
          </a:p>
          <a:p>
            <a:pPr algn="just"/>
            <a:r>
              <a:rPr lang="en-US" sz="2800" dirty="0"/>
              <a:t>Changing the location of the database.</a:t>
            </a:r>
          </a:p>
          <a:p>
            <a:pPr algn="just"/>
            <a:endParaRPr lang="en-AU" sz="2400" dirty="0"/>
          </a:p>
        </p:txBody>
      </p:sp>
    </p:spTree>
    <p:extLst>
      <p:ext uri="{BB962C8B-B14F-4D97-AF65-F5344CB8AC3E}">
        <p14:creationId xmlns:p14="http://schemas.microsoft.com/office/powerpoint/2010/main" val="1682051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Database Languages in DBMS</a:t>
            </a:r>
          </a:p>
        </p:txBody>
      </p:sp>
      <p:sp>
        <p:nvSpPr>
          <p:cNvPr id="3" name="Content Placeholder 2"/>
          <p:cNvSpPr>
            <a:spLocks noGrp="1"/>
          </p:cNvSpPr>
          <p:nvPr>
            <p:ph idx="1"/>
          </p:nvPr>
        </p:nvSpPr>
        <p:spPr>
          <a:xfrm>
            <a:off x="581192" y="2092362"/>
            <a:ext cx="5378933" cy="4605893"/>
          </a:xfrm>
        </p:spPr>
        <p:txBody>
          <a:bodyPr>
            <a:normAutofit fontScale="92500" lnSpcReduction="10000"/>
          </a:bodyPr>
          <a:lstStyle/>
          <a:p>
            <a:r>
              <a:rPr lang="en-US" dirty="0"/>
              <a:t>A DBMS has appropriate languages and interfaces to express database queries and updates.</a:t>
            </a:r>
          </a:p>
          <a:p>
            <a:r>
              <a:rPr lang="en-US" dirty="0"/>
              <a:t>Database languages can be used to read, store and update the data in the database</a:t>
            </a:r>
            <a:r>
              <a:rPr lang="en-US" dirty="0" smtClean="0"/>
              <a:t>.</a:t>
            </a:r>
            <a:endParaRPr lang="en-US" b="1" dirty="0" smtClean="0"/>
          </a:p>
          <a:p>
            <a:r>
              <a:rPr lang="en-US" b="1" dirty="0"/>
              <a:t>Data Definition Language (DDL</a:t>
            </a:r>
            <a:r>
              <a:rPr lang="en-US" dirty="0"/>
              <a:t>)</a:t>
            </a:r>
          </a:p>
          <a:p>
            <a:r>
              <a:rPr lang="en-US" dirty="0"/>
              <a:t>DDL stands for Data Definition Language. It is used to define database structure or pattern.</a:t>
            </a:r>
          </a:p>
          <a:p>
            <a:r>
              <a:rPr lang="en-US" dirty="0"/>
              <a:t>It is used to create schema, tables, indexes, constraints, etc. in the database.</a:t>
            </a:r>
          </a:p>
          <a:p>
            <a:r>
              <a:rPr lang="en-US" dirty="0"/>
              <a:t>Using the DDL statements, you can create the skeleton of the database.</a:t>
            </a:r>
          </a:p>
          <a:p>
            <a:r>
              <a:rPr lang="en-US" dirty="0"/>
              <a:t>Data definition language is used to store the information of metadata like the number of tables and schemas, their names, indexes, columns in each table, constraints, etc.</a:t>
            </a:r>
            <a:endParaRPr lang="en-US" dirty="0"/>
          </a:p>
        </p:txBody>
      </p:sp>
      <p:pic>
        <p:nvPicPr>
          <p:cNvPr id="4" name="Picture 3"/>
          <p:cNvPicPr>
            <a:picLocks noChangeAspect="1"/>
          </p:cNvPicPr>
          <p:nvPr/>
        </p:nvPicPr>
        <p:blipFill>
          <a:blip r:embed="rId3"/>
          <a:stretch>
            <a:fillRect/>
          </a:stretch>
        </p:blipFill>
        <p:spPr>
          <a:xfrm>
            <a:off x="6907574" y="2092361"/>
            <a:ext cx="4703234" cy="4628165"/>
          </a:xfrm>
          <a:prstGeom prst="rect">
            <a:avLst/>
          </a:prstGeom>
        </p:spPr>
      </p:pic>
    </p:spTree>
    <p:extLst>
      <p:ext uri="{BB962C8B-B14F-4D97-AF65-F5344CB8AC3E}">
        <p14:creationId xmlns:p14="http://schemas.microsoft.com/office/powerpoint/2010/main" val="1586953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680122"/>
            <a:ext cx="11029616" cy="1013800"/>
          </a:xfrm>
        </p:spPr>
        <p:txBody>
          <a:bodyPr/>
          <a:lstStyle/>
          <a:p>
            <a:r>
              <a:rPr lang="en-US" dirty="0"/>
              <a:t>Here are some tasks that come under DDL:</a:t>
            </a:r>
            <a:endParaRPr lang="en-US" dirty="0"/>
          </a:p>
        </p:txBody>
      </p:sp>
      <p:sp>
        <p:nvSpPr>
          <p:cNvPr id="3" name="Content Placeholder 2"/>
          <p:cNvSpPr>
            <a:spLocks noGrp="1"/>
          </p:cNvSpPr>
          <p:nvPr>
            <p:ph idx="1"/>
          </p:nvPr>
        </p:nvSpPr>
        <p:spPr/>
        <p:txBody>
          <a:bodyPr/>
          <a:lstStyle/>
          <a:p>
            <a:endParaRPr lang="en-US" dirty="0"/>
          </a:p>
          <a:p>
            <a:r>
              <a:rPr lang="en-US" dirty="0"/>
              <a:t>Create: It is used to create objects in the database.</a:t>
            </a:r>
          </a:p>
          <a:p>
            <a:r>
              <a:rPr lang="en-US" dirty="0"/>
              <a:t>Alter: It is used to alter the structure of the database.</a:t>
            </a:r>
          </a:p>
          <a:p>
            <a:r>
              <a:rPr lang="en-US" dirty="0"/>
              <a:t>Drop: It is used to delete objects from the database.</a:t>
            </a:r>
          </a:p>
          <a:p>
            <a:r>
              <a:rPr lang="en-US" dirty="0"/>
              <a:t>Truncate: It is used to remove all records from a table.</a:t>
            </a:r>
          </a:p>
          <a:p>
            <a:r>
              <a:rPr lang="en-US" dirty="0"/>
              <a:t>Rename: It is used to rename an object.</a:t>
            </a:r>
          </a:p>
          <a:p>
            <a:r>
              <a:rPr lang="en-US" dirty="0"/>
              <a:t>Comment: It is used to comment on the data dictionary.</a:t>
            </a:r>
            <a:endParaRPr lang="en-AU" dirty="0"/>
          </a:p>
        </p:txBody>
      </p:sp>
    </p:spTree>
    <p:extLst>
      <p:ext uri="{BB962C8B-B14F-4D97-AF65-F5344CB8AC3E}">
        <p14:creationId xmlns:p14="http://schemas.microsoft.com/office/powerpoint/2010/main" val="1310604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Manipulation Language (DML)</a:t>
            </a:r>
            <a:endParaRPr lang="en-US" dirty="0"/>
          </a:p>
        </p:txBody>
      </p:sp>
      <p:sp>
        <p:nvSpPr>
          <p:cNvPr id="3" name="Content Placeholder 2"/>
          <p:cNvSpPr>
            <a:spLocks noGrp="1"/>
          </p:cNvSpPr>
          <p:nvPr>
            <p:ph idx="1"/>
          </p:nvPr>
        </p:nvSpPr>
        <p:spPr>
          <a:xfrm>
            <a:off x="581192" y="2180496"/>
            <a:ext cx="11029615" cy="4528776"/>
          </a:xfrm>
        </p:spPr>
        <p:txBody>
          <a:bodyPr>
            <a:normAutofit lnSpcReduction="10000"/>
          </a:bodyPr>
          <a:lstStyle/>
          <a:p>
            <a:r>
              <a:rPr lang="en-US" dirty="0" smtClean="0"/>
              <a:t>DML </a:t>
            </a:r>
            <a:r>
              <a:rPr lang="en-US" dirty="0"/>
              <a:t>stands for Data Manipulation Language. It is used for accessing and manipulating data in a database. It handles user requests</a:t>
            </a:r>
            <a:r>
              <a:rPr lang="en-US" dirty="0" smtClean="0"/>
              <a:t>.</a:t>
            </a:r>
            <a:endParaRPr lang="en-US" dirty="0"/>
          </a:p>
          <a:p>
            <a:r>
              <a:rPr lang="en-US" dirty="0"/>
              <a:t>Here are some tasks that come under DML:</a:t>
            </a:r>
          </a:p>
          <a:p>
            <a:pPr marL="0" indent="0">
              <a:buNone/>
            </a:pPr>
            <a:endParaRPr lang="en-US" dirty="0"/>
          </a:p>
          <a:p>
            <a:r>
              <a:rPr lang="en-US" dirty="0"/>
              <a:t>Select: It is used to retrieve data from a database.</a:t>
            </a:r>
          </a:p>
          <a:p>
            <a:r>
              <a:rPr lang="en-US" dirty="0"/>
              <a:t>Insert: It is used to insert data into a table.</a:t>
            </a:r>
          </a:p>
          <a:p>
            <a:r>
              <a:rPr lang="en-US" dirty="0"/>
              <a:t>Update: It is used to update existing data within a table.</a:t>
            </a:r>
          </a:p>
          <a:p>
            <a:r>
              <a:rPr lang="en-US" dirty="0"/>
              <a:t>Delete: It is used to delete all records from a table.</a:t>
            </a:r>
          </a:p>
          <a:p>
            <a:r>
              <a:rPr lang="en-US" dirty="0"/>
              <a:t>Merge: It performs UPSERT operation, i.e., insert or update operations.</a:t>
            </a:r>
          </a:p>
          <a:p>
            <a:r>
              <a:rPr lang="en-US" dirty="0"/>
              <a:t>Call: It is used to call a structured query language or a Java subprogram.</a:t>
            </a:r>
          </a:p>
          <a:p>
            <a:r>
              <a:rPr lang="en-US" dirty="0"/>
              <a:t>Explain Plan: It has the parameter of explaining data.</a:t>
            </a:r>
          </a:p>
          <a:p>
            <a:r>
              <a:rPr lang="en-US" dirty="0"/>
              <a:t>Lock Table: It controls concurrency.</a:t>
            </a:r>
            <a:endParaRPr lang="en-AU" dirty="0"/>
          </a:p>
        </p:txBody>
      </p:sp>
    </p:spTree>
    <p:extLst>
      <p:ext uri="{BB962C8B-B14F-4D97-AF65-F5344CB8AC3E}">
        <p14:creationId xmlns:p14="http://schemas.microsoft.com/office/powerpoint/2010/main" val="837624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DCL </a:t>
            </a:r>
            <a:r>
              <a:rPr lang="en-US" dirty="0" smtClean="0"/>
              <a:t>(Data</a:t>
            </a:r>
            <a:r>
              <a:rPr lang="en-US" dirty="0"/>
              <a:t> Control </a:t>
            </a:r>
            <a:r>
              <a:rPr lang="en-US" dirty="0" smtClean="0"/>
              <a:t>Language). </a:t>
            </a:r>
            <a:endParaRPr lang="en-AU" dirty="0"/>
          </a:p>
        </p:txBody>
      </p:sp>
      <p:sp>
        <p:nvSpPr>
          <p:cNvPr id="3" name="Content Placeholder 2"/>
          <p:cNvSpPr>
            <a:spLocks noGrp="1"/>
          </p:cNvSpPr>
          <p:nvPr>
            <p:ph idx="1"/>
          </p:nvPr>
        </p:nvSpPr>
        <p:spPr>
          <a:xfrm>
            <a:off x="581192" y="2180496"/>
            <a:ext cx="11029615" cy="4572844"/>
          </a:xfrm>
        </p:spPr>
        <p:txBody>
          <a:bodyPr/>
          <a:lstStyle/>
          <a:p>
            <a:pPr algn="just">
              <a:buFont typeface="Arial" panose="020B0604020202020204" pitchFamily="34" charset="0"/>
              <a:buChar char="•"/>
            </a:pPr>
            <a:r>
              <a:rPr lang="en-US" dirty="0" smtClean="0">
                <a:solidFill>
                  <a:srgbClr val="000000"/>
                </a:solidFill>
                <a:latin typeface="inter-regular"/>
              </a:rPr>
              <a:t>It </a:t>
            </a:r>
            <a:r>
              <a:rPr lang="en-US" dirty="0">
                <a:solidFill>
                  <a:srgbClr val="000000"/>
                </a:solidFill>
                <a:latin typeface="inter-regular"/>
              </a:rPr>
              <a:t>is used to retrieve the stored or saved data.</a:t>
            </a:r>
          </a:p>
          <a:p>
            <a:pPr algn="just">
              <a:buFont typeface="Arial" panose="020B0604020202020204" pitchFamily="34" charset="0"/>
              <a:buChar char="•"/>
            </a:pPr>
            <a:r>
              <a:rPr lang="en-US" dirty="0">
                <a:solidFill>
                  <a:srgbClr val="000000"/>
                </a:solidFill>
                <a:latin typeface="inter-regular"/>
              </a:rPr>
              <a:t>The DCL execution is transactional. It also has rollback parameters.</a:t>
            </a:r>
          </a:p>
          <a:p>
            <a:pPr algn="just"/>
            <a:r>
              <a:rPr lang="en-US" dirty="0">
                <a:solidFill>
                  <a:srgbClr val="333333"/>
                </a:solidFill>
                <a:latin typeface="inter-regular"/>
              </a:rPr>
              <a:t>(But in Oracle database, the execution of data control language does not have the feature of rolling back.)</a:t>
            </a:r>
          </a:p>
          <a:p>
            <a:pPr algn="just"/>
            <a:r>
              <a:rPr lang="en-US" dirty="0">
                <a:solidFill>
                  <a:srgbClr val="333333"/>
                </a:solidFill>
                <a:latin typeface="inter-regular"/>
              </a:rPr>
              <a:t>Here are some tasks that come under DCL:</a:t>
            </a:r>
          </a:p>
          <a:p>
            <a:pPr algn="just">
              <a:buFont typeface="Arial" panose="020B0604020202020204" pitchFamily="34" charset="0"/>
              <a:buChar char="•"/>
            </a:pPr>
            <a:r>
              <a:rPr lang="en-US" b="1" dirty="0">
                <a:solidFill>
                  <a:srgbClr val="000000"/>
                </a:solidFill>
                <a:latin typeface="inter-bold"/>
              </a:rPr>
              <a:t>Grant:</a:t>
            </a:r>
            <a:r>
              <a:rPr lang="en-US" dirty="0">
                <a:solidFill>
                  <a:srgbClr val="000000"/>
                </a:solidFill>
                <a:latin typeface="inter-regular"/>
              </a:rPr>
              <a:t> It is used to give user access privileges to a database.</a:t>
            </a:r>
          </a:p>
          <a:p>
            <a:pPr algn="just">
              <a:buFont typeface="Arial" panose="020B0604020202020204" pitchFamily="34" charset="0"/>
              <a:buChar char="•"/>
            </a:pPr>
            <a:r>
              <a:rPr lang="en-US" b="1" dirty="0">
                <a:solidFill>
                  <a:srgbClr val="000000"/>
                </a:solidFill>
                <a:latin typeface="inter-bold"/>
              </a:rPr>
              <a:t>Revoke:</a:t>
            </a:r>
            <a:r>
              <a:rPr lang="en-US" dirty="0">
                <a:solidFill>
                  <a:srgbClr val="000000"/>
                </a:solidFill>
                <a:latin typeface="inter-regular"/>
              </a:rPr>
              <a:t> It is used to take back permissions from the user.</a:t>
            </a:r>
          </a:p>
          <a:p>
            <a:pPr algn="just"/>
            <a:r>
              <a:rPr lang="en-US" dirty="0">
                <a:solidFill>
                  <a:srgbClr val="333333"/>
                </a:solidFill>
                <a:latin typeface="inter-regular"/>
              </a:rPr>
              <a:t>There are the following operations which have the authorization of Revoke:</a:t>
            </a:r>
          </a:p>
          <a:p>
            <a:pPr algn="just"/>
            <a:r>
              <a:rPr lang="en-US" dirty="0">
                <a:solidFill>
                  <a:srgbClr val="333333"/>
                </a:solidFill>
                <a:latin typeface="inter-regular"/>
              </a:rPr>
              <a:t>CONNECT, INSERT, USAGE, EXECUTE, DELETE, UPDATE and SELECT.</a:t>
            </a:r>
          </a:p>
          <a:p>
            <a:endParaRPr lang="en-AU" dirty="0"/>
          </a:p>
        </p:txBody>
      </p:sp>
    </p:spTree>
    <p:extLst>
      <p:ext uri="{BB962C8B-B14F-4D97-AF65-F5344CB8AC3E}">
        <p14:creationId xmlns:p14="http://schemas.microsoft.com/office/powerpoint/2010/main" val="3524226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
            </a:r>
            <a:br>
              <a:rPr lang="en-AU" dirty="0"/>
            </a:br>
            <a:r>
              <a:rPr lang="en-AU" dirty="0" smtClean="0"/>
              <a:t/>
            </a:r>
            <a:br>
              <a:rPr lang="en-AU" dirty="0" smtClean="0"/>
            </a:br>
            <a:r>
              <a:rPr lang="en-AU" dirty="0"/>
              <a:t/>
            </a:r>
            <a:br>
              <a:rPr lang="en-AU" dirty="0"/>
            </a:br>
            <a:r>
              <a:rPr lang="en-AU" dirty="0" smtClean="0"/>
              <a:t> </a:t>
            </a:r>
            <a:r>
              <a:rPr lang="en-AU" dirty="0"/>
              <a:t>Transaction Control Language (TCL)</a:t>
            </a:r>
            <a:br>
              <a:rPr lang="en-AU" dirty="0"/>
            </a:br>
            <a:endParaRPr lang="en-AU" dirty="0"/>
          </a:p>
        </p:txBody>
      </p:sp>
      <p:sp>
        <p:nvSpPr>
          <p:cNvPr id="3" name="Content Placeholder 2"/>
          <p:cNvSpPr>
            <a:spLocks noGrp="1"/>
          </p:cNvSpPr>
          <p:nvPr>
            <p:ph idx="1"/>
          </p:nvPr>
        </p:nvSpPr>
        <p:spPr/>
        <p:txBody>
          <a:bodyPr/>
          <a:lstStyle/>
          <a:p>
            <a:pPr algn="just"/>
            <a:r>
              <a:rPr lang="en-US" sz="2400" dirty="0" smtClean="0">
                <a:solidFill>
                  <a:srgbClr val="333333"/>
                </a:solidFill>
                <a:latin typeface="inter-regular"/>
              </a:rPr>
              <a:t>TCL </a:t>
            </a:r>
            <a:r>
              <a:rPr lang="en-US" sz="2400" dirty="0">
                <a:solidFill>
                  <a:srgbClr val="333333"/>
                </a:solidFill>
                <a:latin typeface="inter-regular"/>
              </a:rPr>
              <a:t>is used to run the changes made by the DML statement. TCL can be grouped into a logical transaction.</a:t>
            </a:r>
          </a:p>
          <a:p>
            <a:pPr algn="just"/>
            <a:r>
              <a:rPr lang="en-US" sz="2400" dirty="0">
                <a:solidFill>
                  <a:srgbClr val="333333"/>
                </a:solidFill>
                <a:latin typeface="inter-regular"/>
              </a:rPr>
              <a:t>Here are some tasks that come under TCL:</a:t>
            </a:r>
          </a:p>
          <a:p>
            <a:pPr algn="just">
              <a:buFont typeface="Arial" panose="020B0604020202020204" pitchFamily="34" charset="0"/>
              <a:buChar char="•"/>
            </a:pPr>
            <a:r>
              <a:rPr lang="en-US" sz="2400" b="1" dirty="0">
                <a:solidFill>
                  <a:srgbClr val="000000"/>
                </a:solidFill>
                <a:latin typeface="inter-bold"/>
              </a:rPr>
              <a:t>Commit:</a:t>
            </a:r>
            <a:r>
              <a:rPr lang="en-US" sz="2400" dirty="0">
                <a:solidFill>
                  <a:srgbClr val="000000"/>
                </a:solidFill>
                <a:latin typeface="inter-regular"/>
              </a:rPr>
              <a:t> It is used to save the transaction on the database.</a:t>
            </a:r>
          </a:p>
          <a:p>
            <a:pPr algn="just">
              <a:buFont typeface="Arial" panose="020B0604020202020204" pitchFamily="34" charset="0"/>
              <a:buChar char="•"/>
            </a:pPr>
            <a:r>
              <a:rPr lang="en-US" sz="2400" b="1" dirty="0">
                <a:solidFill>
                  <a:srgbClr val="000000"/>
                </a:solidFill>
                <a:latin typeface="inter-bold"/>
              </a:rPr>
              <a:t>Rollback:</a:t>
            </a:r>
            <a:r>
              <a:rPr lang="en-US" sz="2400" dirty="0">
                <a:solidFill>
                  <a:srgbClr val="000000"/>
                </a:solidFill>
                <a:latin typeface="inter-regular"/>
              </a:rPr>
              <a:t> It is used to restore the database to original since the last Commit.</a:t>
            </a:r>
          </a:p>
          <a:p>
            <a:endParaRPr lang="en-AU" dirty="0"/>
          </a:p>
        </p:txBody>
      </p:sp>
    </p:spTree>
    <p:extLst>
      <p:ext uri="{BB962C8B-B14F-4D97-AF65-F5344CB8AC3E}">
        <p14:creationId xmlns:p14="http://schemas.microsoft.com/office/powerpoint/2010/main" val="3811848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Acid properties </a:t>
            </a:r>
            <a:endParaRPr lang="en-AU" dirty="0"/>
          </a:p>
        </p:txBody>
      </p:sp>
      <p:sp>
        <p:nvSpPr>
          <p:cNvPr id="3" name="Content Placeholder 2"/>
          <p:cNvSpPr>
            <a:spLocks noGrp="1"/>
          </p:cNvSpPr>
          <p:nvPr>
            <p:ph idx="1"/>
          </p:nvPr>
        </p:nvSpPr>
        <p:spPr>
          <a:xfrm>
            <a:off x="581193" y="2180496"/>
            <a:ext cx="5599270" cy="4010983"/>
          </a:xfrm>
        </p:spPr>
        <p:txBody>
          <a:bodyPr>
            <a:normAutofit fontScale="77500" lnSpcReduction="20000"/>
          </a:bodyPr>
          <a:lstStyle/>
          <a:p>
            <a:pPr algn="just"/>
            <a:r>
              <a:rPr lang="en-US" sz="2800" dirty="0"/>
              <a:t>DBMS is the management of data that should remain integrated when any changes are done in it. It is because if the integrity of the data is affected, whole data will get disturbed and corrupted. </a:t>
            </a:r>
            <a:endParaRPr lang="en-US" sz="2800" dirty="0" smtClean="0"/>
          </a:p>
          <a:p>
            <a:pPr algn="just"/>
            <a:r>
              <a:rPr lang="en-US" sz="2800" dirty="0" smtClean="0"/>
              <a:t>Therefore</a:t>
            </a:r>
            <a:r>
              <a:rPr lang="en-US" sz="2800" dirty="0"/>
              <a:t>, to maintain the integrity of the data, there are four properties described in the database management system, which are known as the </a:t>
            </a:r>
            <a:r>
              <a:rPr lang="en-US" sz="2800" b="1" dirty="0"/>
              <a:t>ACID</a:t>
            </a:r>
            <a:r>
              <a:rPr lang="en-US" sz="2800" dirty="0"/>
              <a:t> properties. </a:t>
            </a:r>
            <a:endParaRPr lang="en-US" sz="2800" dirty="0" smtClean="0"/>
          </a:p>
          <a:p>
            <a:pPr algn="just"/>
            <a:r>
              <a:rPr lang="en-US" sz="2800" dirty="0" smtClean="0"/>
              <a:t>The </a:t>
            </a:r>
            <a:r>
              <a:rPr lang="en-US" sz="2800" dirty="0"/>
              <a:t>ACID properties are meant for the transaction that goes through a different group of tasks, and there we come to see the role of the ACID properties.</a:t>
            </a:r>
            <a:endParaRPr lang="en-AU" sz="2800" dirty="0"/>
          </a:p>
        </p:txBody>
      </p:sp>
      <p:pic>
        <p:nvPicPr>
          <p:cNvPr id="4" name="Picture 3"/>
          <p:cNvPicPr>
            <a:picLocks noChangeAspect="1"/>
          </p:cNvPicPr>
          <p:nvPr/>
        </p:nvPicPr>
        <p:blipFill>
          <a:blip r:embed="rId2"/>
          <a:stretch>
            <a:fillRect/>
          </a:stretch>
        </p:blipFill>
        <p:spPr>
          <a:xfrm>
            <a:off x="6096000" y="2676353"/>
            <a:ext cx="6007177" cy="2276475"/>
          </a:xfrm>
          <a:prstGeom prst="rect">
            <a:avLst/>
          </a:prstGeom>
        </p:spPr>
      </p:pic>
    </p:spTree>
    <p:extLst>
      <p:ext uri="{BB962C8B-B14F-4D97-AF65-F5344CB8AC3E}">
        <p14:creationId xmlns:p14="http://schemas.microsoft.com/office/powerpoint/2010/main" val="250494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Atomicity </a:t>
            </a:r>
            <a:endParaRPr lang="en-AU" dirty="0"/>
          </a:p>
        </p:txBody>
      </p:sp>
      <p:sp>
        <p:nvSpPr>
          <p:cNvPr id="3" name="Content Placeholder 2"/>
          <p:cNvSpPr>
            <a:spLocks noGrp="1"/>
          </p:cNvSpPr>
          <p:nvPr>
            <p:ph idx="1"/>
          </p:nvPr>
        </p:nvSpPr>
        <p:spPr>
          <a:xfrm>
            <a:off x="581192" y="2059311"/>
            <a:ext cx="4629786" cy="4396574"/>
          </a:xfrm>
        </p:spPr>
        <p:txBody>
          <a:bodyPr/>
          <a:lstStyle/>
          <a:p>
            <a:pPr algn="just"/>
            <a:r>
              <a:rPr lang="en-US" sz="2000" dirty="0"/>
              <a:t>The term atomicity defines that the data remains atomic. </a:t>
            </a:r>
            <a:endParaRPr lang="en-US" sz="2000" dirty="0" smtClean="0"/>
          </a:p>
          <a:p>
            <a:pPr algn="just"/>
            <a:r>
              <a:rPr lang="en-US" sz="2000" dirty="0" smtClean="0"/>
              <a:t>It </a:t>
            </a:r>
            <a:r>
              <a:rPr lang="en-US" sz="2000" dirty="0"/>
              <a:t>means if any operation is performed on the data, either it should be performed or executed completely or should not be executed at all</a:t>
            </a:r>
            <a:r>
              <a:rPr lang="en-US" sz="2000" dirty="0" smtClean="0"/>
              <a:t>.</a:t>
            </a:r>
          </a:p>
          <a:p>
            <a:pPr algn="just"/>
            <a:r>
              <a:rPr lang="en-US" sz="2000" dirty="0" smtClean="0"/>
              <a:t> </a:t>
            </a:r>
            <a:r>
              <a:rPr lang="en-US" sz="2000" dirty="0"/>
              <a:t>It further means that the operation should not break in between or execute partially. In the case of executing operations on the transaction, the operation should be completely executed and not partially</a:t>
            </a:r>
            <a:r>
              <a:rPr lang="en-US" sz="2000" dirty="0" smtClean="0"/>
              <a:t>.</a:t>
            </a:r>
          </a:p>
          <a:p>
            <a:endParaRPr lang="en-AU" dirty="0"/>
          </a:p>
        </p:txBody>
      </p:sp>
      <p:pic>
        <p:nvPicPr>
          <p:cNvPr id="4" name="Picture 3"/>
          <p:cNvPicPr>
            <a:picLocks noChangeAspect="1"/>
          </p:cNvPicPr>
          <p:nvPr/>
        </p:nvPicPr>
        <p:blipFill>
          <a:blip r:embed="rId3"/>
          <a:stretch>
            <a:fillRect/>
          </a:stretch>
        </p:blipFill>
        <p:spPr>
          <a:xfrm>
            <a:off x="6259036" y="1971176"/>
            <a:ext cx="4713765" cy="2514008"/>
          </a:xfrm>
          <a:prstGeom prst="rect">
            <a:avLst/>
          </a:prstGeom>
        </p:spPr>
      </p:pic>
      <p:pic>
        <p:nvPicPr>
          <p:cNvPr id="5" name="Picture 4"/>
          <p:cNvPicPr>
            <a:picLocks noChangeAspect="1"/>
          </p:cNvPicPr>
          <p:nvPr/>
        </p:nvPicPr>
        <p:blipFill>
          <a:blip r:embed="rId4"/>
          <a:stretch>
            <a:fillRect/>
          </a:stretch>
        </p:blipFill>
        <p:spPr>
          <a:xfrm>
            <a:off x="6112601" y="4071296"/>
            <a:ext cx="4860200" cy="2721712"/>
          </a:xfrm>
          <a:prstGeom prst="rect">
            <a:avLst/>
          </a:prstGeom>
        </p:spPr>
      </p:pic>
    </p:spTree>
    <p:extLst>
      <p:ext uri="{BB962C8B-B14F-4D97-AF65-F5344CB8AC3E}">
        <p14:creationId xmlns:p14="http://schemas.microsoft.com/office/powerpoint/2010/main" val="1711600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Consistency</a:t>
            </a:r>
            <a:br>
              <a:rPr lang="en-AU" dirty="0"/>
            </a:br>
            <a:endParaRPr lang="en-AU" dirty="0"/>
          </a:p>
        </p:txBody>
      </p:sp>
      <p:sp>
        <p:nvSpPr>
          <p:cNvPr id="3" name="Content Placeholder 2"/>
          <p:cNvSpPr>
            <a:spLocks noGrp="1"/>
          </p:cNvSpPr>
          <p:nvPr>
            <p:ph idx="1"/>
          </p:nvPr>
        </p:nvSpPr>
        <p:spPr>
          <a:xfrm>
            <a:off x="581192" y="2180496"/>
            <a:ext cx="4310297" cy="4352506"/>
          </a:xfrm>
        </p:spPr>
        <p:txBody>
          <a:bodyPr/>
          <a:lstStyle/>
          <a:p>
            <a:pPr algn="just"/>
            <a:r>
              <a:rPr lang="en-US" dirty="0" smtClean="0"/>
              <a:t>The </a:t>
            </a:r>
            <a:r>
              <a:rPr lang="en-US" dirty="0"/>
              <a:t>word consistency means that the value should remain preserved always. </a:t>
            </a:r>
            <a:endParaRPr lang="en-US" dirty="0" smtClean="0"/>
          </a:p>
          <a:p>
            <a:pPr algn="just"/>
            <a:r>
              <a:rPr lang="en-US" dirty="0" smtClean="0"/>
              <a:t>In </a:t>
            </a:r>
            <a:r>
              <a:rPr lang="en-US" dirty="0"/>
              <a:t>DBMS, the integrity of the data should be maintained, which means if a change in the database is made, it should remain preserved always. </a:t>
            </a:r>
            <a:endParaRPr lang="en-US" dirty="0" smtClean="0"/>
          </a:p>
          <a:p>
            <a:pPr algn="just"/>
            <a:r>
              <a:rPr lang="en-US" dirty="0" smtClean="0"/>
              <a:t>In </a:t>
            </a:r>
            <a:r>
              <a:rPr lang="en-US" dirty="0"/>
              <a:t>the case of transactions, the integrity of the data is very essential so that the database remains consistent before and after the transaction. The data should always be correct.</a:t>
            </a:r>
            <a:endParaRPr lang="en-AU" dirty="0"/>
          </a:p>
        </p:txBody>
      </p:sp>
      <p:pic>
        <p:nvPicPr>
          <p:cNvPr id="4" name="Picture 3"/>
          <p:cNvPicPr>
            <a:picLocks noChangeAspect="1"/>
          </p:cNvPicPr>
          <p:nvPr/>
        </p:nvPicPr>
        <p:blipFill>
          <a:blip r:embed="rId3"/>
          <a:stretch>
            <a:fillRect/>
          </a:stretch>
        </p:blipFill>
        <p:spPr>
          <a:xfrm>
            <a:off x="5360509" y="2264138"/>
            <a:ext cx="5238750" cy="3343275"/>
          </a:xfrm>
          <a:prstGeom prst="rect">
            <a:avLst/>
          </a:prstGeom>
        </p:spPr>
      </p:pic>
    </p:spTree>
    <p:extLst>
      <p:ext uri="{BB962C8B-B14F-4D97-AF65-F5344CB8AC3E}">
        <p14:creationId xmlns:p14="http://schemas.microsoft.com/office/powerpoint/2010/main" val="2068988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isolation</a:t>
            </a:r>
            <a:endParaRPr lang="en-AU" b="1" dirty="0"/>
          </a:p>
        </p:txBody>
      </p:sp>
      <p:sp>
        <p:nvSpPr>
          <p:cNvPr id="3" name="Content Placeholder 2"/>
          <p:cNvSpPr>
            <a:spLocks noGrp="1"/>
          </p:cNvSpPr>
          <p:nvPr>
            <p:ph idx="1"/>
          </p:nvPr>
        </p:nvSpPr>
        <p:spPr>
          <a:xfrm>
            <a:off x="581193" y="2180496"/>
            <a:ext cx="4982326" cy="4363523"/>
          </a:xfrm>
        </p:spPr>
        <p:txBody>
          <a:bodyPr>
            <a:normAutofit lnSpcReduction="10000"/>
          </a:bodyPr>
          <a:lstStyle/>
          <a:p>
            <a:pPr algn="just"/>
            <a:r>
              <a:rPr lang="en-US" dirty="0"/>
              <a:t>T</a:t>
            </a:r>
            <a:r>
              <a:rPr lang="en-US" dirty="0" smtClean="0"/>
              <a:t>he </a:t>
            </a:r>
            <a:r>
              <a:rPr lang="en-US" dirty="0"/>
              <a:t>term 'isolation' means separation. In DBMS, Isolation is the property of a database where no data should affect the other one and may occur concurrently</a:t>
            </a:r>
            <a:r>
              <a:rPr lang="en-US" dirty="0" smtClean="0"/>
              <a:t>.</a:t>
            </a:r>
          </a:p>
          <a:p>
            <a:pPr algn="just"/>
            <a:r>
              <a:rPr lang="en-US" dirty="0" smtClean="0"/>
              <a:t> </a:t>
            </a:r>
            <a:r>
              <a:rPr lang="en-US" dirty="0"/>
              <a:t>In short, the operation on one database should begin when the operation on the first database gets complete. It means if two operations are being performed on two different databases, they may not affect the value of one another. </a:t>
            </a:r>
            <a:endParaRPr lang="en-US" dirty="0" smtClean="0"/>
          </a:p>
          <a:p>
            <a:pPr algn="just"/>
            <a:r>
              <a:rPr lang="en-US" dirty="0" smtClean="0"/>
              <a:t>In </a:t>
            </a:r>
            <a:r>
              <a:rPr lang="en-US" dirty="0"/>
              <a:t>the case of transactions, when two or more transactions occur simultaneously, the consistency should remain maintained. Any changes that occur in any particular transaction will not be seen by other transactions until the change is not committed in the memory.</a:t>
            </a:r>
            <a:endParaRPr lang="en-AU" dirty="0"/>
          </a:p>
        </p:txBody>
      </p:sp>
      <p:pic>
        <p:nvPicPr>
          <p:cNvPr id="4" name="Picture 3"/>
          <p:cNvPicPr>
            <a:picLocks noChangeAspect="1"/>
          </p:cNvPicPr>
          <p:nvPr/>
        </p:nvPicPr>
        <p:blipFill>
          <a:blip r:embed="rId3"/>
          <a:stretch>
            <a:fillRect/>
          </a:stretch>
        </p:blipFill>
        <p:spPr>
          <a:xfrm>
            <a:off x="5907737" y="2093205"/>
            <a:ext cx="5538788" cy="4340645"/>
          </a:xfrm>
          <a:prstGeom prst="rect">
            <a:avLst/>
          </a:prstGeom>
        </p:spPr>
      </p:pic>
    </p:spTree>
    <p:extLst>
      <p:ext uri="{BB962C8B-B14F-4D97-AF65-F5344CB8AC3E}">
        <p14:creationId xmlns:p14="http://schemas.microsoft.com/office/powerpoint/2010/main" val="1061529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641" y="683046"/>
            <a:ext cx="11192167" cy="1032910"/>
          </a:xfrm>
        </p:spPr>
        <p:txBody>
          <a:bodyPr>
            <a:normAutofit fontScale="90000"/>
          </a:bodyPr>
          <a:lstStyle/>
          <a:p>
            <a:r>
              <a:rPr lang="en-AU" dirty="0" smtClean="0"/>
              <a:t/>
            </a:r>
            <a:br>
              <a:rPr lang="en-AU" dirty="0" smtClean="0"/>
            </a:br>
            <a:r>
              <a:rPr lang="en-AU" dirty="0"/>
              <a:t/>
            </a:r>
            <a:br>
              <a:rPr lang="en-AU" dirty="0"/>
            </a:br>
            <a:r>
              <a:rPr lang="en-AU" b="1" dirty="0" smtClean="0"/>
              <a:t>Durability</a:t>
            </a:r>
            <a:r>
              <a:rPr lang="en-AU" dirty="0"/>
              <a:t/>
            </a:r>
            <a:br>
              <a:rPr lang="en-AU" dirty="0"/>
            </a:br>
            <a:endParaRPr lang="en-AU" dirty="0"/>
          </a:p>
        </p:txBody>
      </p:sp>
      <p:sp>
        <p:nvSpPr>
          <p:cNvPr id="3" name="Content Placeholder 2"/>
          <p:cNvSpPr>
            <a:spLocks noGrp="1"/>
          </p:cNvSpPr>
          <p:nvPr>
            <p:ph idx="1"/>
          </p:nvPr>
        </p:nvSpPr>
        <p:spPr/>
        <p:txBody>
          <a:bodyPr/>
          <a:lstStyle/>
          <a:p>
            <a:r>
              <a:rPr lang="en-US" dirty="0"/>
              <a:t> </a:t>
            </a:r>
            <a:r>
              <a:rPr lang="en-US" dirty="0" smtClean="0"/>
              <a:t>Durability </a:t>
            </a:r>
            <a:r>
              <a:rPr lang="en-US" dirty="0"/>
              <a:t>ensures the permanency of something. In DBMS, the term durability ensures that the data after the successful execution of the operation becomes permanent in the database. The durability of the data should be so perfect that even if the system fails or leads to a crash, the database still survives. However, if gets lost, it becomes the responsibility of the recovery manager for ensuring the durability of the database. For committing the values, the COMMIT command must be used every time we make changes.</a:t>
            </a:r>
          </a:p>
          <a:p>
            <a:r>
              <a:rPr lang="en-US" dirty="0"/>
              <a:t>Therefore, the ACID property of DBMS plays a vital role in maintaining the consistency and availability of data in the database.</a:t>
            </a:r>
          </a:p>
        </p:txBody>
      </p:sp>
    </p:spTree>
    <p:extLst>
      <p:ext uri="{BB962C8B-B14F-4D97-AF65-F5344CB8AC3E}">
        <p14:creationId xmlns:p14="http://schemas.microsoft.com/office/powerpoint/2010/main" val="242975587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81</TotalTime>
  <Words>1484</Words>
  <Application>Microsoft Office PowerPoint</Application>
  <PresentationFormat>Widescreen</PresentationFormat>
  <Paragraphs>103</Paragraphs>
  <Slides>15</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Gill Sans MT</vt:lpstr>
      <vt:lpstr>inter-bold</vt:lpstr>
      <vt:lpstr>inter-regular</vt:lpstr>
      <vt:lpstr>Wingdings 2</vt:lpstr>
      <vt:lpstr>Dividend</vt:lpstr>
      <vt:lpstr>Data independence </vt:lpstr>
      <vt:lpstr>Introduction </vt:lpstr>
      <vt:lpstr>Data independence in DBMS</vt:lpstr>
      <vt:lpstr>Logical Level Data Independence</vt:lpstr>
      <vt:lpstr>Physical Level Data Independence</vt:lpstr>
      <vt:lpstr>Database Languages in DBMS</vt:lpstr>
      <vt:lpstr>Here are some tasks that come under DDL:</vt:lpstr>
      <vt:lpstr>Data Manipulation Language (DML)</vt:lpstr>
      <vt:lpstr>DCL (Data Control Language). </vt:lpstr>
      <vt:lpstr>    Transaction Control Language (TCL) </vt:lpstr>
      <vt:lpstr>Acid properties </vt:lpstr>
      <vt:lpstr>Atomicity </vt:lpstr>
      <vt:lpstr>Consistency </vt:lpstr>
      <vt:lpstr>isolation</vt:lpstr>
      <vt:lpstr>  Durability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independence </dc:title>
  <dc:creator>ayesha jarral</dc:creator>
  <cp:lastModifiedBy>ayesha jarral</cp:lastModifiedBy>
  <cp:revision>25</cp:revision>
  <dcterms:created xsi:type="dcterms:W3CDTF">2024-03-12T08:06:42Z</dcterms:created>
  <dcterms:modified xsi:type="dcterms:W3CDTF">2024-03-12T09:27:54Z</dcterms:modified>
</cp:coreProperties>
</file>