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58"/>
  </p:notesMasterIdLst>
  <p:handoutMasterIdLst>
    <p:handoutMasterId r:id="rId59"/>
  </p:handoutMasterIdLst>
  <p:sldIdLst>
    <p:sldId id="347" r:id="rId5"/>
    <p:sldId id="336" r:id="rId6"/>
    <p:sldId id="371" r:id="rId7"/>
    <p:sldId id="359" r:id="rId8"/>
    <p:sldId id="358" r:id="rId9"/>
    <p:sldId id="360" r:id="rId10"/>
    <p:sldId id="361" r:id="rId11"/>
    <p:sldId id="362" r:id="rId12"/>
    <p:sldId id="363" r:id="rId13"/>
    <p:sldId id="364" r:id="rId14"/>
    <p:sldId id="365" r:id="rId15"/>
    <p:sldId id="366" r:id="rId16"/>
    <p:sldId id="386" r:id="rId17"/>
    <p:sldId id="367" r:id="rId18"/>
    <p:sldId id="368" r:id="rId19"/>
    <p:sldId id="335" r:id="rId20"/>
    <p:sldId id="349" r:id="rId21"/>
    <p:sldId id="348" r:id="rId22"/>
    <p:sldId id="337" r:id="rId23"/>
    <p:sldId id="350" r:id="rId24"/>
    <p:sldId id="352" r:id="rId25"/>
    <p:sldId id="387" r:id="rId26"/>
    <p:sldId id="354" r:id="rId27"/>
    <p:sldId id="355" r:id="rId28"/>
    <p:sldId id="388" r:id="rId29"/>
    <p:sldId id="395" r:id="rId30"/>
    <p:sldId id="396" r:id="rId31"/>
    <p:sldId id="356" r:id="rId32"/>
    <p:sldId id="357" r:id="rId33"/>
    <p:sldId id="369" r:id="rId34"/>
    <p:sldId id="372" r:id="rId35"/>
    <p:sldId id="393" r:id="rId36"/>
    <p:sldId id="338" r:id="rId37"/>
    <p:sldId id="373" r:id="rId38"/>
    <p:sldId id="382" r:id="rId39"/>
    <p:sldId id="375" r:id="rId40"/>
    <p:sldId id="376" r:id="rId41"/>
    <p:sldId id="301" r:id="rId42"/>
    <p:sldId id="383" r:id="rId43"/>
    <p:sldId id="378" r:id="rId44"/>
    <p:sldId id="381" r:id="rId45"/>
    <p:sldId id="389" r:id="rId46"/>
    <p:sldId id="377" r:id="rId47"/>
    <p:sldId id="394" r:id="rId48"/>
    <p:sldId id="384" r:id="rId49"/>
    <p:sldId id="397" r:id="rId50"/>
    <p:sldId id="390" r:id="rId51"/>
    <p:sldId id="379" r:id="rId52"/>
    <p:sldId id="391" r:id="rId53"/>
    <p:sldId id="392" r:id="rId54"/>
    <p:sldId id="380" r:id="rId55"/>
    <p:sldId id="370" r:id="rId56"/>
    <p:sldId id="385"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394" autoAdjust="0"/>
  </p:normalViewPr>
  <p:slideViewPr>
    <p:cSldViewPr snapToGrid="0">
      <p:cViewPr varScale="1">
        <p:scale>
          <a:sx n="85" d="100"/>
          <a:sy n="85" d="100"/>
        </p:scale>
        <p:origin x="590" y="72"/>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3/10/2025</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3/10/2025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TITTLE + SUBTITLE">
  <p:cSld name="BIG TITTLE + SUBTITLE">
    <p:spTree>
      <p:nvGrpSpPr>
        <p:cNvPr id="1" name="Shape 16"/>
        <p:cNvGrpSpPr/>
        <p:nvPr/>
      </p:nvGrpSpPr>
      <p:grpSpPr>
        <a:xfrm>
          <a:off x="0" y="0"/>
          <a:ext cx="0" cy="0"/>
          <a:chOff x="0" y="0"/>
          <a:chExt cx="0" cy="0"/>
        </a:xfrm>
      </p:grpSpPr>
      <p:sp>
        <p:nvSpPr>
          <p:cNvPr id="22" name="Google Shape;22;p3"/>
          <p:cNvSpPr txBox="1">
            <a:spLocks noGrp="1"/>
          </p:cNvSpPr>
          <p:nvPr>
            <p:ph type="ctrTitle"/>
          </p:nvPr>
        </p:nvSpPr>
        <p:spPr>
          <a:xfrm flipH="1">
            <a:off x="1767000" y="2532167"/>
            <a:ext cx="8658000" cy="251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55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endParaRPr/>
          </a:p>
        </p:txBody>
      </p:sp>
      <p:sp>
        <p:nvSpPr>
          <p:cNvPr id="23" name="Google Shape;23;p3"/>
          <p:cNvSpPr txBox="1">
            <a:spLocks noGrp="1"/>
          </p:cNvSpPr>
          <p:nvPr>
            <p:ph type="subTitle" idx="1"/>
          </p:nvPr>
        </p:nvSpPr>
        <p:spPr>
          <a:xfrm flipH="1">
            <a:off x="3897567" y="4387317"/>
            <a:ext cx="4396800" cy="894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Tree>
    <p:extLst>
      <p:ext uri="{BB962C8B-B14F-4D97-AF65-F5344CB8AC3E}">
        <p14:creationId xmlns:p14="http://schemas.microsoft.com/office/powerpoint/2010/main" val="362292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BODY TEXT 1">
  <p:cSld name="TITLE + BODY TEXT 1">
    <p:spTree>
      <p:nvGrpSpPr>
        <p:cNvPr id="1" name="Shape 36"/>
        <p:cNvGrpSpPr/>
        <p:nvPr/>
      </p:nvGrpSpPr>
      <p:grpSpPr>
        <a:xfrm>
          <a:off x="0" y="0"/>
          <a:ext cx="0" cy="0"/>
          <a:chOff x="0" y="0"/>
          <a:chExt cx="0" cy="0"/>
        </a:xfrm>
      </p:grpSpPr>
      <p:sp>
        <p:nvSpPr>
          <p:cNvPr id="37" name="Google Shape;37;p6"/>
          <p:cNvSpPr txBox="1">
            <a:spLocks noGrp="1"/>
          </p:cNvSpPr>
          <p:nvPr>
            <p:ph type="body" idx="1"/>
          </p:nvPr>
        </p:nvSpPr>
        <p:spPr>
          <a:xfrm>
            <a:off x="2557200" y="2846400"/>
            <a:ext cx="7077600" cy="1968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lt1"/>
              </a:buClr>
              <a:buSzPts val="1200"/>
              <a:buFont typeface="Nunito Light"/>
              <a:buChar char="⬡"/>
              <a:defRPr>
                <a:solidFill>
                  <a:schemeClr val="lt1"/>
                </a:solidFill>
              </a:defRPr>
            </a:lvl1pPr>
            <a:lvl2pPr marL="914400" lvl="1" indent="-330200" rtl="0">
              <a:spcBef>
                <a:spcPts val="0"/>
              </a:spcBef>
              <a:spcAft>
                <a:spcPts val="0"/>
              </a:spcAft>
              <a:buClr>
                <a:schemeClr val="lt1"/>
              </a:buClr>
              <a:buSzPts val="1600"/>
              <a:buFont typeface="Nunito Light"/>
              <a:buChar char="○"/>
              <a:defRPr>
                <a:solidFill>
                  <a:schemeClr val="lt1"/>
                </a:solidFill>
              </a:defRPr>
            </a:lvl2pPr>
            <a:lvl3pPr marL="1371600" lvl="2" indent="-323850" rtl="0">
              <a:spcBef>
                <a:spcPts val="1600"/>
              </a:spcBef>
              <a:spcAft>
                <a:spcPts val="0"/>
              </a:spcAft>
              <a:buClr>
                <a:schemeClr val="lt1"/>
              </a:buClr>
              <a:buSzPts val="1500"/>
              <a:buFont typeface="Nunito Light"/>
              <a:buChar char="■"/>
              <a:defRPr>
                <a:solidFill>
                  <a:schemeClr val="lt1"/>
                </a:solidFill>
              </a:defRPr>
            </a:lvl3pPr>
            <a:lvl4pPr marL="1828800" lvl="3" indent="-323850" rtl="0">
              <a:spcBef>
                <a:spcPts val="1600"/>
              </a:spcBef>
              <a:spcAft>
                <a:spcPts val="0"/>
              </a:spcAft>
              <a:buClr>
                <a:schemeClr val="lt1"/>
              </a:buClr>
              <a:buSzPts val="1500"/>
              <a:buFont typeface="Nunito Light"/>
              <a:buChar char="●"/>
              <a:defRPr>
                <a:solidFill>
                  <a:schemeClr val="lt1"/>
                </a:solidFill>
              </a:defRPr>
            </a:lvl4pPr>
            <a:lvl5pPr marL="2286000" lvl="4" indent="-317500" rtl="0">
              <a:spcBef>
                <a:spcPts val="1600"/>
              </a:spcBef>
              <a:spcAft>
                <a:spcPts val="0"/>
              </a:spcAft>
              <a:buClr>
                <a:schemeClr val="lt1"/>
              </a:buClr>
              <a:buSzPts val="1400"/>
              <a:buFont typeface="Nunito Light"/>
              <a:buChar char="○"/>
              <a:defRPr>
                <a:solidFill>
                  <a:schemeClr val="lt1"/>
                </a:solidFill>
              </a:defRPr>
            </a:lvl5pPr>
            <a:lvl6pPr marL="2743200" lvl="5" indent="-317500" rtl="0">
              <a:spcBef>
                <a:spcPts val="1600"/>
              </a:spcBef>
              <a:spcAft>
                <a:spcPts val="0"/>
              </a:spcAft>
              <a:buClr>
                <a:schemeClr val="lt1"/>
              </a:buClr>
              <a:buSzPts val="1400"/>
              <a:buFont typeface="Nunito Light"/>
              <a:buChar char="■"/>
              <a:defRPr>
                <a:solidFill>
                  <a:schemeClr val="lt1"/>
                </a:solidFill>
              </a:defRPr>
            </a:lvl6pPr>
            <a:lvl7pPr marL="3200400" lvl="6" indent="-311150" rtl="0">
              <a:spcBef>
                <a:spcPts val="1600"/>
              </a:spcBef>
              <a:spcAft>
                <a:spcPts val="0"/>
              </a:spcAft>
              <a:buClr>
                <a:schemeClr val="lt1"/>
              </a:buClr>
              <a:buSzPts val="1300"/>
              <a:buFont typeface="Nunito Light"/>
              <a:buChar char="●"/>
              <a:defRPr>
                <a:solidFill>
                  <a:schemeClr val="lt1"/>
                </a:solidFill>
              </a:defRPr>
            </a:lvl7pPr>
            <a:lvl8pPr marL="3657600" lvl="7" indent="-311150" rtl="0">
              <a:spcBef>
                <a:spcPts val="1600"/>
              </a:spcBef>
              <a:spcAft>
                <a:spcPts val="0"/>
              </a:spcAft>
              <a:buClr>
                <a:schemeClr val="lt1"/>
              </a:buClr>
              <a:buSzPts val="1300"/>
              <a:buFont typeface="Nunito Light"/>
              <a:buChar char="○"/>
              <a:defRPr>
                <a:solidFill>
                  <a:schemeClr val="lt1"/>
                </a:solidFill>
              </a:defRPr>
            </a:lvl8pPr>
            <a:lvl9pPr marL="4114800" lvl="8" indent="-304800" rtl="0">
              <a:spcBef>
                <a:spcPts val="1600"/>
              </a:spcBef>
              <a:spcAft>
                <a:spcPts val="1600"/>
              </a:spcAft>
              <a:buClr>
                <a:schemeClr val="lt1"/>
              </a:buClr>
              <a:buSzPts val="1200"/>
              <a:buFont typeface="Nunito Light"/>
              <a:buChar char="■"/>
              <a:defRPr>
                <a:solidFill>
                  <a:schemeClr val="lt1"/>
                </a:solidFill>
              </a:defRPr>
            </a:lvl9pPr>
          </a:lstStyle>
          <a:p>
            <a:endParaRPr/>
          </a:p>
        </p:txBody>
      </p:sp>
      <p:sp>
        <p:nvSpPr>
          <p:cNvPr id="38" name="Google Shape;38;p6"/>
          <p:cNvSpPr txBox="1">
            <a:spLocks noGrp="1"/>
          </p:cNvSpPr>
          <p:nvPr>
            <p:ph type="title"/>
          </p:nvPr>
        </p:nvSpPr>
        <p:spPr>
          <a:xfrm>
            <a:off x="3209767" y="678905"/>
            <a:ext cx="5772400" cy="119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400">
                <a:solidFill>
                  <a:schemeClr val="lt1"/>
                </a:solidFill>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Tree>
    <p:extLst>
      <p:ext uri="{BB962C8B-B14F-4D97-AF65-F5344CB8AC3E}">
        <p14:creationId xmlns:p14="http://schemas.microsoft.com/office/powerpoint/2010/main" val="697875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 id="2147483707" r:id="rId14"/>
    <p:sldLayoutId id="2147483708" r:id="rId15"/>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1920">
          <p15:clr>
            <a:srgbClr val="F26B43"/>
          </p15:clr>
        </p15:guide>
        <p15:guide id="3" pos="5760">
          <p15:clr>
            <a:srgbClr val="F26B43"/>
          </p15:clr>
        </p15:guide>
        <p15:guide id="4" pos="7104">
          <p15:clr>
            <a:srgbClr val="C35EA4"/>
          </p15:clr>
        </p15:guide>
        <p15:guide id="5" pos="576">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google.com/search?sca_esv=4997d9601951f80e&amp;sca_upv=1&amp;sxsrf=ADLYWIJ3iTfhaJwehXEp-PxusVaFDoMzmA:1727843423497&amp;q=national+training+centre+for+special+persons+hours&amp;ludocid=2355842755573439291&amp;sa=X&amp;sqi=2&amp;ved=2ahUKEwi-svCr7u6IAxXwfKQEHSgaBlYQ6BN6BAgkEAI" TargetMode="External"/><Relationship Id="rId2" Type="http://schemas.openxmlformats.org/officeDocument/2006/relationships/hyperlink" Target="https://www.google.com/search?sca_esv=4997d9601951f80e&amp;sca_upv=1&amp;sxsrf=ADLYWIJ3iTfhaJwehXEp-PxusVaFDoMzmA:1727843423497&amp;q=national+training+centre+for+special+persons+address&amp;ludocid=2355842755573439291&amp;sa=X&amp;sqi=2&amp;ved=2ahUKEwi-svCr7u6IAxXwfKQEHSgaBlYQ6BN6BAgqEAI" TargetMode="External"/><Relationship Id="rId1" Type="http://schemas.openxmlformats.org/officeDocument/2006/relationships/slideLayout" Target="../slideLayouts/slideLayout2.xml"/><Relationship Id="rId4" Type="http://schemas.openxmlformats.org/officeDocument/2006/relationships/hyperlink" Target="https://www.google.com/search?q=national+training+centre+for+special+persons&amp;oq=National+Training+Centre+for+Special+Persons&amp;gs_lcrp=EgZjaHJvbWUqEAgAEAAYkQIY4wIYgAQYigUyEAgAEAAYkQIY4wIYgAQYigUyEwgBEC4YrwEYxwEYkQIYgAQYigUyCAgCEAAYFhgeMg0IAxAAGIYDGIAEGIoFMg0IBBAAGIYDGIAEGIoFMg0IBRAAGIYDGIAEGIoFMg0IBhAAGIYDGIAEGIoFMgYIBxBFGDzSAQgxMTU5ajBqN6gCCLACAQ&amp;sourceid=chrome&amp;ie=UTF-8"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8D25-D403-2E2B-50DA-B21A0500AB0E}"/>
              </a:ext>
            </a:extLst>
          </p:cNvPr>
          <p:cNvSpPr>
            <a:spLocks noGrp="1"/>
          </p:cNvSpPr>
          <p:nvPr>
            <p:ph type="title"/>
          </p:nvPr>
        </p:nvSpPr>
        <p:spPr>
          <a:xfrm>
            <a:off x="-224118" y="2108966"/>
            <a:ext cx="8157883" cy="1486019"/>
          </a:xfrm>
        </p:spPr>
        <p:txBody>
          <a:bodyPr>
            <a:normAutofit/>
          </a:bodyPr>
          <a:lstStyle/>
          <a:p>
            <a:pPr algn="ctr"/>
            <a:r>
              <a:rPr lang="en-US" sz="3100" dirty="0">
                <a:latin typeface="Times New Roman" panose="02020603050405020304" pitchFamily="18" charset="0"/>
                <a:cs typeface="Times New Roman" panose="02020603050405020304" pitchFamily="18" charset="0"/>
              </a:rPr>
              <a:t>Modern Concept of social work</a:t>
            </a:r>
            <a:endParaRPr lang="en-US" sz="3100" dirty="0"/>
          </a:p>
        </p:txBody>
      </p:sp>
      <p:sp>
        <p:nvSpPr>
          <p:cNvPr id="3" name="Text Placeholder 2">
            <a:extLst>
              <a:ext uri="{FF2B5EF4-FFF2-40B4-BE49-F238E27FC236}">
                <a16:creationId xmlns:a16="http://schemas.microsoft.com/office/drawing/2014/main" id="{1EC6DB3D-3AE2-9478-3245-FE2F98B96EC7}"/>
              </a:ext>
            </a:extLst>
          </p:cNvPr>
          <p:cNvSpPr>
            <a:spLocks noGrp="1"/>
          </p:cNvSpPr>
          <p:nvPr>
            <p:ph type="body" sz="quarter" idx="13"/>
          </p:nvPr>
        </p:nvSpPr>
        <p:spPr>
          <a:xfrm>
            <a:off x="911353" y="4006024"/>
            <a:ext cx="5794248" cy="646658"/>
          </a:xfrm>
        </p:spPr>
        <p:txBody>
          <a:bodyPr/>
          <a:lstStyle/>
          <a:p>
            <a:pPr algn="ctr"/>
            <a:r>
              <a:rPr lang="en-US" sz="2400" b="1" dirty="0">
                <a:latin typeface="Times New Roman" panose="02020603050405020304" pitchFamily="18" charset="0"/>
                <a:cs typeface="Times New Roman" panose="02020603050405020304" pitchFamily="18" charset="0"/>
              </a:rPr>
              <a:t>Course Instructor: M. Aamir Latif</a:t>
            </a:r>
          </a:p>
          <a:p>
            <a:endParaRPr lang="en-US" dirty="0"/>
          </a:p>
        </p:txBody>
      </p:sp>
    </p:spTree>
    <p:extLst>
      <p:ext uri="{BB962C8B-B14F-4D97-AF65-F5344CB8AC3E}">
        <p14:creationId xmlns:p14="http://schemas.microsoft.com/office/powerpoint/2010/main" val="349306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911352" y="629095"/>
            <a:ext cx="8297380" cy="1326514"/>
          </a:xfrm>
        </p:spPr>
        <p:txBody>
          <a:bodyPr/>
          <a:lstStyle/>
          <a:p>
            <a:pPr algn="ctr"/>
            <a:r>
              <a:rPr lang="en-US" dirty="0">
                <a:latin typeface="Times New Roman" panose="02020603050405020304" pitchFamily="18" charset="0"/>
                <a:cs typeface="Times New Roman" panose="02020603050405020304" pitchFamily="18" charset="0"/>
              </a:rPr>
              <a:t>Agenda</a:t>
            </a:r>
            <a:r>
              <a:rPr lang="en-US" dirty="0"/>
              <a:t> </a:t>
            </a:r>
          </a:p>
        </p:txBody>
      </p:sp>
      <p:sp>
        <p:nvSpPr>
          <p:cNvPr id="7" name="Text Placeholder 6">
            <a:extLst>
              <a:ext uri="{FF2B5EF4-FFF2-40B4-BE49-F238E27FC236}">
                <a16:creationId xmlns:a16="http://schemas.microsoft.com/office/drawing/2014/main" id="{70B4EC43-20C2-1DA5-646B-B8D26CF7D003}"/>
              </a:ext>
            </a:extLst>
          </p:cNvPr>
          <p:cNvSpPr>
            <a:spLocks noGrp="1"/>
          </p:cNvSpPr>
          <p:nvPr>
            <p:ph type="body" sz="quarter" idx="13"/>
          </p:nvPr>
        </p:nvSpPr>
        <p:spPr>
          <a:xfrm>
            <a:off x="865631" y="2072640"/>
            <a:ext cx="8324089" cy="3493008"/>
          </a:xfrm>
        </p:spPr>
        <p:txBody>
          <a:bodyPr>
            <a:normAutofit/>
          </a:bodyPr>
          <a:lstStyle/>
          <a:p>
            <a:pPr marL="457200" indent="-457200">
              <a:buFont typeface="+mj-lt"/>
              <a:buAutoNum type="arabicPeriod"/>
            </a:pPr>
            <a:r>
              <a:rPr lang="en-US" dirty="0">
                <a:latin typeface="Times New Roman" panose="02020603050405020304" pitchFamily="18" charset="0"/>
                <a:cs typeface="Times New Roman" panose="02020603050405020304" pitchFamily="18" charset="0"/>
              </a:rPr>
              <a:t>Curative Concept</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Rehabilitation</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Prevention</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Stress Management</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Role of state </a:t>
            </a:r>
          </a:p>
        </p:txBody>
      </p:sp>
      <p:sp>
        <p:nvSpPr>
          <p:cNvPr id="3" name="Slide Number Placeholder 2">
            <a:extLst>
              <a:ext uri="{FF2B5EF4-FFF2-40B4-BE49-F238E27FC236}">
                <a16:creationId xmlns:a16="http://schemas.microsoft.com/office/drawing/2014/main" id="{089920E1-1F47-D3FB-B5CD-7110B379552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58274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D2680-25AF-48E3-BCE7-F773672AA739}"/>
              </a:ext>
            </a:extLst>
          </p:cNvPr>
          <p:cNvSpPr>
            <a:spLocks noGrp="1"/>
          </p:cNvSpPr>
          <p:nvPr>
            <p:ph type="ctrTitle"/>
          </p:nvPr>
        </p:nvSpPr>
        <p:spPr>
          <a:xfrm>
            <a:off x="5136776" y="2429435"/>
            <a:ext cx="7055224" cy="1587028"/>
          </a:xfrm>
        </p:spPr>
        <p:txBody>
          <a:bodyPr>
            <a:normAutofit/>
          </a:bodyPr>
          <a:lstStyle/>
          <a:p>
            <a:pPr algn="ctr"/>
            <a:r>
              <a:rPr lang="en-US" sz="3600" b="1" dirty="0">
                <a:latin typeface="Times New Roman" panose="02020603050405020304" pitchFamily="18" charset="0"/>
                <a:cs typeface="Times New Roman" panose="02020603050405020304" pitchFamily="18" charset="0"/>
              </a:rPr>
              <a:t>FUNCTIONS OF SOCIAL WORK</a:t>
            </a:r>
            <a:endParaRPr lang="en-US" sz="3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7F80B3-9AAA-4211-A947-ECFF33CB0396}"/>
              </a:ext>
            </a:extLst>
          </p:cNvPr>
          <p:cNvSpPr>
            <a:spLocks noGrp="1"/>
          </p:cNvSpPr>
          <p:nvPr>
            <p:ph type="sldNum" sz="quarter" idx="4294967295"/>
          </p:nvPr>
        </p:nvSpPr>
        <p:spPr>
          <a:xfrm>
            <a:off x="0" y="6246813"/>
            <a:ext cx="2670175"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423814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104D1-195A-4009-98F4-F0F705F32F92}"/>
              </a:ext>
            </a:extLst>
          </p:cNvPr>
          <p:cNvSpPr>
            <a:spLocks noGrp="1"/>
          </p:cNvSpPr>
          <p:nvPr>
            <p:ph type="title"/>
          </p:nvPr>
        </p:nvSpPr>
        <p:spPr>
          <a:xfrm>
            <a:off x="911352" y="425173"/>
            <a:ext cx="8297380" cy="1326514"/>
          </a:xfrm>
        </p:spPr>
        <p:txBody>
          <a:bodyPr/>
          <a:lstStyle/>
          <a:p>
            <a:endParaRPr lang="en-US" dirty="0"/>
          </a:p>
        </p:txBody>
      </p:sp>
      <p:sp>
        <p:nvSpPr>
          <p:cNvPr id="3" name="Text Placeholder 2">
            <a:extLst>
              <a:ext uri="{FF2B5EF4-FFF2-40B4-BE49-F238E27FC236}">
                <a16:creationId xmlns:a16="http://schemas.microsoft.com/office/drawing/2014/main" id="{A08204EA-F4B5-4503-AF71-199148D1EDEF}"/>
              </a:ext>
            </a:extLst>
          </p:cNvPr>
          <p:cNvSpPr>
            <a:spLocks noGrp="1"/>
          </p:cNvSpPr>
          <p:nvPr>
            <p:ph type="body" sz="quarter" idx="13"/>
          </p:nvPr>
        </p:nvSpPr>
        <p:spPr>
          <a:xfrm>
            <a:off x="911352" y="2072639"/>
            <a:ext cx="8798322" cy="3853031"/>
          </a:xfrm>
        </p:spPr>
        <p:txBody>
          <a:bodyPr>
            <a:normAutofit/>
          </a:bodyPr>
          <a:lstStyle/>
          <a:p>
            <a:pPr algn="just"/>
            <a:r>
              <a:rPr lang="en-US" sz="2400" dirty="0">
                <a:latin typeface="Times New Roman" panose="02020603050405020304" pitchFamily="18" charset="0"/>
                <a:cs typeface="Times New Roman" panose="02020603050405020304" pitchFamily="18" charset="0"/>
              </a:rPr>
              <a:t>Functions are Concepts upon which the social service or social work is done. </a:t>
            </a:r>
          </a:p>
          <a:p>
            <a:pPr marL="0" indent="0" algn="just">
              <a:buNone/>
            </a:pPr>
            <a:r>
              <a:rPr lang="en-US" sz="2400" b="1" u="sng"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Functions or Concepts of social services refers to the natural activities of social services or how the social work operates. </a:t>
            </a:r>
          </a:p>
          <a:p>
            <a:pPr marL="0" indent="0" algn="just">
              <a:buNone/>
            </a:pPr>
            <a:r>
              <a:rPr lang="en-US" sz="2400" dirty="0">
                <a:latin typeface="Times New Roman" panose="02020603050405020304" pitchFamily="18" charset="0"/>
                <a:cs typeface="Times New Roman" panose="02020603050405020304" pitchFamily="18" charset="0"/>
              </a:rPr>
              <a:t>The Two Concepts: </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Curative Concept </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Rehabilitative Concepts </a:t>
            </a:r>
          </a:p>
        </p:txBody>
      </p:sp>
      <p:sp>
        <p:nvSpPr>
          <p:cNvPr id="4" name="Slide Number Placeholder 3">
            <a:extLst>
              <a:ext uri="{FF2B5EF4-FFF2-40B4-BE49-F238E27FC236}">
                <a16:creationId xmlns:a16="http://schemas.microsoft.com/office/drawing/2014/main" id="{4BA9D2FB-A50C-481D-B1E0-728DC18F8E91}"/>
              </a:ext>
            </a:extLst>
          </p:cNvPr>
          <p:cNvSpPr>
            <a:spLocks noGrp="1"/>
          </p:cNvSpPr>
          <p:nvPr>
            <p:ph type="sldNum" sz="quarter" idx="12"/>
          </p:nvPr>
        </p:nvSpPr>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4010267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5217459" y="960120"/>
            <a:ext cx="6974541" cy="3056343"/>
          </a:xfrm>
        </p:spPr>
        <p:txBody>
          <a:bodyPr/>
          <a:lstStyle/>
          <a:p>
            <a:pPr algn="ctr"/>
            <a:r>
              <a:rPr lang="en-US" dirty="0">
                <a:latin typeface="Times New Roman" panose="02020603050405020304" pitchFamily="18" charset="0"/>
                <a:cs typeface="Times New Roman" panose="02020603050405020304" pitchFamily="18" charset="0"/>
              </a:rPr>
              <a:t>Curative Concept</a:t>
            </a:r>
          </a:p>
        </p:txBody>
      </p:sp>
    </p:spTree>
    <p:extLst>
      <p:ext uri="{BB962C8B-B14F-4D97-AF65-F5344CB8AC3E}">
        <p14:creationId xmlns:p14="http://schemas.microsoft.com/office/powerpoint/2010/main" val="3173852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A608B-5390-4927-8E1C-86B86993874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D4D396D-60E8-4E44-87B9-75EC0E6C28F0}"/>
              </a:ext>
            </a:extLst>
          </p:cNvPr>
          <p:cNvSpPr>
            <a:spLocks noGrp="1"/>
          </p:cNvSpPr>
          <p:nvPr>
            <p:ph type="body" sz="quarter" idx="13"/>
          </p:nvPr>
        </p:nvSpPr>
        <p:spPr>
          <a:xfrm>
            <a:off x="893064" y="2291475"/>
            <a:ext cx="8618304" cy="3275607"/>
          </a:xfrm>
        </p:spPr>
        <p:txBody>
          <a:bodyPr/>
          <a:lstStyle/>
          <a:p>
            <a:pPr algn="just"/>
            <a:r>
              <a:rPr lang="en-US" b="0" i="0" dirty="0">
                <a:effectLst/>
                <a:latin typeface="Times New Roman" panose="02020603050405020304" pitchFamily="18" charset="0"/>
                <a:cs typeface="Times New Roman" panose="02020603050405020304" pitchFamily="18" charset="0"/>
              </a:rPr>
              <a:t>Treatment that is meant to cure an illness or disease with the goal of a full recovery that includes an acceptable quality of life.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When you injure your leg or catch a disease from which you cannot walk, a hospital recommends you plaster the leg or provides you a permanent solution to that disease. </a:t>
            </a:r>
          </a:p>
          <a:p>
            <a:pPr algn="just"/>
            <a:r>
              <a:rPr lang="en-US" dirty="0">
                <a:latin typeface="Times New Roman" panose="02020603050405020304" pitchFamily="18" charset="0"/>
                <a:cs typeface="Times New Roman" panose="02020603050405020304" pitchFamily="18" charset="0"/>
              </a:rPr>
              <a:t>The services that are provided by the hospital is a social service and falls into Curative Functioning.</a:t>
            </a:r>
          </a:p>
          <a:p>
            <a:pPr algn="just"/>
            <a:r>
              <a:rPr lang="en-US" b="0" i="0" dirty="0">
                <a:effectLst/>
                <a:latin typeface="Times New Roman" panose="02020603050405020304" pitchFamily="18" charset="0"/>
                <a:cs typeface="Times New Roman" panose="02020603050405020304" pitchFamily="18" charset="0"/>
              </a:rPr>
              <a:t>For cancer, a curative therapy approach depends on the cancer type and stage.</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B8D2130-A695-4A4F-9E12-443C1DC4FE0C}"/>
              </a:ext>
            </a:extLst>
          </p:cNvPr>
          <p:cNvSpPr>
            <a:spLocks noGrp="1"/>
          </p:cNvSpPr>
          <p:nvPr>
            <p:ph type="sldNum" sz="quarter" idx="12"/>
          </p:nvPr>
        </p:nvSpPr>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4161992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F6C29BE-A825-4E12-9417-05E08B2CFCE9}"/>
              </a:ext>
            </a:extLst>
          </p:cNvPr>
          <p:cNvSpPr>
            <a:spLocks noGrp="1"/>
          </p:cNvSpPr>
          <p:nvPr>
            <p:ph type="body" sz="quarter" idx="13"/>
          </p:nvPr>
        </p:nvSpPr>
        <p:spPr>
          <a:xfrm>
            <a:off x="784949" y="1167205"/>
            <a:ext cx="8324089" cy="3493008"/>
          </a:xfrm>
        </p:spPr>
        <p:txBody>
          <a:bodyPr/>
          <a:lstStyle/>
          <a:p>
            <a:pPr algn="just"/>
            <a:r>
              <a:rPr lang="en-US" b="1" u="sng"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Curative Services mean medical assistance intended not only to reduce the pain but to cure that injury or disease. </a:t>
            </a:r>
          </a:p>
          <a:p>
            <a:pPr algn="just"/>
            <a:r>
              <a:rPr lang="en-US" dirty="0">
                <a:latin typeface="Times New Roman" panose="02020603050405020304" pitchFamily="18" charset="0"/>
                <a:cs typeface="Times New Roman" panose="02020603050405020304" pitchFamily="18" charset="0"/>
              </a:rPr>
              <a:t>For Example: </a:t>
            </a:r>
          </a:p>
          <a:p>
            <a:pPr marL="0" indent="0" algn="just">
              <a:buNone/>
            </a:pPr>
            <a:r>
              <a:rPr lang="en-US" dirty="0">
                <a:latin typeface="Times New Roman" panose="02020603050405020304" pitchFamily="18" charset="0"/>
                <a:cs typeface="Times New Roman" panose="02020603050405020304" pitchFamily="18" charset="0"/>
              </a:rPr>
              <a:t>Gulab Devi is Semi-govt. hospital which provides free treatment for TB patients. </a:t>
            </a:r>
          </a:p>
        </p:txBody>
      </p:sp>
      <p:sp>
        <p:nvSpPr>
          <p:cNvPr id="4" name="Slide Number Placeholder 3">
            <a:extLst>
              <a:ext uri="{FF2B5EF4-FFF2-40B4-BE49-F238E27FC236}">
                <a16:creationId xmlns:a16="http://schemas.microsoft.com/office/drawing/2014/main" id="{9A670299-A3CF-4292-9884-D8F05704BA34}"/>
              </a:ext>
            </a:extLst>
          </p:cNvPr>
          <p:cNvSpPr>
            <a:spLocks noGrp="1"/>
          </p:cNvSpPr>
          <p:nvPr>
            <p:ph type="sldNum" sz="quarter" idx="12"/>
          </p:nvPr>
        </p:nvSpPr>
        <p:spPr/>
        <p:txBody>
          <a:bodyPr/>
          <a:lstStyle/>
          <a:p>
            <a:fld id="{B5CEABB6-07DC-46E8-9B57-56EC44A396E5}" type="slidenum">
              <a:rPr lang="en-US" smtClean="0"/>
              <a:pPr/>
              <a:t>7</a:t>
            </a:fld>
            <a:endParaRPr lang="en-US" dirty="0"/>
          </a:p>
        </p:txBody>
      </p:sp>
      <p:pic>
        <p:nvPicPr>
          <p:cNvPr id="1026" name="Picture 2" descr="Gulab Devi to share PIC burden">
            <a:extLst>
              <a:ext uri="{FF2B5EF4-FFF2-40B4-BE49-F238E27FC236}">
                <a16:creationId xmlns:a16="http://schemas.microsoft.com/office/drawing/2014/main" id="{DE420E1F-7427-4157-8F48-4625CAF499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1035" y="3600819"/>
            <a:ext cx="3460376" cy="2407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934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47BAE-7703-4078-A416-338A05EC7D9D}"/>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1E8BF2F8-2C58-4EC6-AADB-7882FC647292}"/>
              </a:ext>
            </a:extLst>
          </p:cNvPr>
          <p:cNvSpPr>
            <a:spLocks noGrp="1"/>
          </p:cNvSpPr>
          <p:nvPr>
            <p:ph type="sldNum" sz="quarter" idx="12"/>
          </p:nvPr>
        </p:nvSpPr>
        <p:spPr/>
        <p:txBody>
          <a:bodyPr/>
          <a:lstStyle/>
          <a:p>
            <a:fld id="{B5CEABB6-07DC-46E8-9B57-56EC44A396E5}" type="slidenum">
              <a:rPr lang="en-US" smtClean="0"/>
              <a:pPr/>
              <a:t>8</a:t>
            </a:fld>
            <a:endParaRPr lang="en-US" dirty="0"/>
          </a:p>
        </p:txBody>
      </p:sp>
      <p:pic>
        <p:nvPicPr>
          <p:cNvPr id="6" name="Picture 5">
            <a:extLst>
              <a:ext uri="{FF2B5EF4-FFF2-40B4-BE49-F238E27FC236}">
                <a16:creationId xmlns:a16="http://schemas.microsoft.com/office/drawing/2014/main" id="{B1A485C7-AB00-4414-936E-87CA3A6C18B5}"/>
              </a:ext>
            </a:extLst>
          </p:cNvPr>
          <p:cNvPicPr>
            <a:picLocks noChangeAspect="1"/>
          </p:cNvPicPr>
          <p:nvPr/>
        </p:nvPicPr>
        <p:blipFill>
          <a:blip r:embed="rId2"/>
          <a:stretch>
            <a:fillRect/>
          </a:stretch>
        </p:blipFill>
        <p:spPr>
          <a:xfrm>
            <a:off x="2246376" y="2595900"/>
            <a:ext cx="6690940" cy="2453853"/>
          </a:xfrm>
          <a:prstGeom prst="rect">
            <a:avLst/>
          </a:prstGeom>
        </p:spPr>
      </p:pic>
    </p:spTree>
    <p:extLst>
      <p:ext uri="{BB962C8B-B14F-4D97-AF65-F5344CB8AC3E}">
        <p14:creationId xmlns:p14="http://schemas.microsoft.com/office/powerpoint/2010/main" val="325090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7D6F8-17F8-4B86-A700-12BCF815115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Services of Curative</a:t>
            </a:r>
          </a:p>
        </p:txBody>
      </p:sp>
      <p:sp>
        <p:nvSpPr>
          <p:cNvPr id="3" name="Text Placeholder 2">
            <a:extLst>
              <a:ext uri="{FF2B5EF4-FFF2-40B4-BE49-F238E27FC236}">
                <a16:creationId xmlns:a16="http://schemas.microsoft.com/office/drawing/2014/main" id="{4076A736-32E1-4884-8F6C-4EFFAC61D782}"/>
              </a:ext>
            </a:extLst>
          </p:cNvPr>
          <p:cNvSpPr>
            <a:spLocks noGrp="1"/>
          </p:cNvSpPr>
          <p:nvPr>
            <p:ph type="body" sz="quarter" idx="13"/>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 Services that are provided under curative functioning are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Medical and Health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 Psychiatry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Child Guidance / Welfare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 Handicapped / Disabled</a:t>
            </a:r>
          </a:p>
        </p:txBody>
      </p:sp>
      <p:sp>
        <p:nvSpPr>
          <p:cNvPr id="4" name="Slide Number Placeholder 3">
            <a:extLst>
              <a:ext uri="{FF2B5EF4-FFF2-40B4-BE49-F238E27FC236}">
                <a16:creationId xmlns:a16="http://schemas.microsoft.com/office/drawing/2014/main" id="{1A924DF5-4BDB-433E-B25E-EE71B4475714}"/>
              </a:ext>
            </a:extLst>
          </p:cNvPr>
          <p:cNvSpPr>
            <a:spLocks noGrp="1"/>
          </p:cNvSpPr>
          <p:nvPr>
            <p:ph type="sldNum" sz="quarter" idx="12"/>
          </p:nvPr>
        </p:nvSpPr>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2401368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2B8DE-A4B6-4014-9334-7859BB1285A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Medical and Health</a:t>
            </a:r>
          </a:p>
        </p:txBody>
      </p:sp>
      <p:sp>
        <p:nvSpPr>
          <p:cNvPr id="3" name="Text Placeholder 2">
            <a:extLst>
              <a:ext uri="{FF2B5EF4-FFF2-40B4-BE49-F238E27FC236}">
                <a16:creationId xmlns:a16="http://schemas.microsoft.com/office/drawing/2014/main" id="{B7968583-A856-45B1-BF51-CC456926E91E}"/>
              </a:ext>
            </a:extLst>
          </p:cNvPr>
          <p:cNvSpPr>
            <a:spLocks noGrp="1"/>
          </p:cNvSpPr>
          <p:nvPr>
            <p:ph type="body" sz="quarter" idx="13"/>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In medical &amp; health comes: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Free Treatment for TB patients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Antibiotics for Bacterial infections</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Cast for a broken bone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Dialysis treatment for kidney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Chemotherapy or radiation therapy for Cancer </a:t>
            </a:r>
          </a:p>
        </p:txBody>
      </p:sp>
      <p:sp>
        <p:nvSpPr>
          <p:cNvPr id="4" name="Slide Number Placeholder 3">
            <a:extLst>
              <a:ext uri="{FF2B5EF4-FFF2-40B4-BE49-F238E27FC236}">
                <a16:creationId xmlns:a16="http://schemas.microsoft.com/office/drawing/2014/main" id="{ACD59CC5-1DC4-4782-87BB-43C2527DBBAA}"/>
              </a:ext>
            </a:extLst>
          </p:cNvPr>
          <p:cNvSpPr>
            <a:spLocks noGrp="1"/>
          </p:cNvSpPr>
          <p:nvPr>
            <p:ph type="sldNum" sz="quarter" idx="12"/>
          </p:nvPr>
        </p:nvSpPr>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3138747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C6B30-E830-418F-9D82-D1604FB50EE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Psychiatry</a:t>
            </a:r>
          </a:p>
        </p:txBody>
      </p:sp>
      <p:sp>
        <p:nvSpPr>
          <p:cNvPr id="3" name="Text Placeholder 2">
            <a:extLst>
              <a:ext uri="{FF2B5EF4-FFF2-40B4-BE49-F238E27FC236}">
                <a16:creationId xmlns:a16="http://schemas.microsoft.com/office/drawing/2014/main" id="{9D82DB84-D191-45D6-9DAB-77715BBADE61}"/>
              </a:ext>
            </a:extLst>
          </p:cNvPr>
          <p:cNvSpPr>
            <a:spLocks noGrp="1"/>
          </p:cNvSpPr>
          <p:nvPr>
            <p:ph type="body" sz="quarter" idx="13"/>
          </p:nvPr>
        </p:nvSpPr>
        <p:spPr/>
        <p:txBody>
          <a:bodyPr/>
          <a:lstStyle/>
          <a:p>
            <a:pPr algn="just"/>
            <a:r>
              <a:rPr lang="en-US" dirty="0">
                <a:latin typeface="Times New Roman" panose="02020603050405020304" pitchFamily="18" charset="0"/>
                <a:cs typeface="Times New Roman" panose="02020603050405020304" pitchFamily="18" charset="0"/>
              </a:rPr>
              <a:t>A physician who deals with the diagnosis, and treatment of mental disorders: </a:t>
            </a:r>
          </a:p>
          <a:p>
            <a:pPr algn="just"/>
            <a:r>
              <a:rPr lang="en-US" dirty="0">
                <a:latin typeface="Times New Roman" panose="02020603050405020304" pitchFamily="18" charset="0"/>
                <a:cs typeface="Times New Roman" panose="02020603050405020304" pitchFamily="18" charset="0"/>
              </a:rPr>
              <a:t>Anxiety Depression Primary goal: relief of mental suffering and the improvement of mental well- being. </a:t>
            </a:r>
          </a:p>
        </p:txBody>
      </p:sp>
      <p:sp>
        <p:nvSpPr>
          <p:cNvPr id="4" name="Slide Number Placeholder 3">
            <a:extLst>
              <a:ext uri="{FF2B5EF4-FFF2-40B4-BE49-F238E27FC236}">
                <a16:creationId xmlns:a16="http://schemas.microsoft.com/office/drawing/2014/main" id="{E646AA8C-169C-49B1-A670-A453FE3A0FC6}"/>
              </a:ext>
            </a:extLst>
          </p:cNvPr>
          <p:cNvSpPr>
            <a:spLocks noGrp="1"/>
          </p:cNvSpPr>
          <p:nvPr>
            <p:ph type="sldNum" sz="quarter" idx="12"/>
          </p:nvPr>
        </p:nvSpPr>
        <p:spPr/>
        <p:txBody>
          <a:bodyPr/>
          <a:lstStyle/>
          <a:p>
            <a:fld id="{B5CEABB6-07DC-46E8-9B57-56EC44A396E5}" type="slidenum">
              <a:rPr lang="en-US" smtClean="0"/>
              <a:pPr/>
              <a:t>11</a:t>
            </a:fld>
            <a:endParaRPr lang="en-US" dirty="0"/>
          </a:p>
        </p:txBody>
      </p:sp>
      <p:pic>
        <p:nvPicPr>
          <p:cNvPr id="2050" name="Picture 2" descr="Difference between a Psychologist and a Psychiatrist? Read Now..">
            <a:extLst>
              <a:ext uri="{FF2B5EF4-FFF2-40B4-BE49-F238E27FC236}">
                <a16:creationId xmlns:a16="http://schemas.microsoft.com/office/drawing/2014/main" id="{755A4D9C-EAA4-4903-92D1-EF929AC10D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0390" y="3462804"/>
            <a:ext cx="5280212" cy="2783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4645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1D901-6DB9-40F5-9545-3BC5B6AC83D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Child Guidance and Welfare:</a:t>
            </a:r>
          </a:p>
        </p:txBody>
      </p:sp>
      <p:sp>
        <p:nvSpPr>
          <p:cNvPr id="3" name="Text Placeholder 2">
            <a:extLst>
              <a:ext uri="{FF2B5EF4-FFF2-40B4-BE49-F238E27FC236}">
                <a16:creationId xmlns:a16="http://schemas.microsoft.com/office/drawing/2014/main" id="{46B394EB-91ED-4B5A-9F97-5E59248EEE67}"/>
              </a:ext>
            </a:extLst>
          </p:cNvPr>
          <p:cNvSpPr>
            <a:spLocks noGrp="1"/>
          </p:cNvSpPr>
          <p:nvPr>
            <p:ph type="body" sz="quarter" idx="13"/>
          </p:nvPr>
        </p:nvSpPr>
        <p:spPr>
          <a:xfrm>
            <a:off x="866355" y="2099534"/>
            <a:ext cx="8324089" cy="3493008"/>
          </a:xfrm>
        </p:spPr>
        <p:txBody>
          <a:bodyPr/>
          <a:lstStyle/>
          <a:p>
            <a:pPr algn="just"/>
            <a:r>
              <a:rPr lang="en-US" dirty="0">
                <a:latin typeface="Times New Roman" panose="02020603050405020304" pitchFamily="18" charset="0"/>
                <a:cs typeface="Times New Roman" panose="02020603050405020304" pitchFamily="18" charset="0"/>
              </a:rPr>
              <a:t>This means studying children with </a:t>
            </a:r>
            <a:r>
              <a:rPr lang="en-US" b="1" i="1" dirty="0">
                <a:latin typeface="Times New Roman" panose="02020603050405020304" pitchFamily="18" charset="0"/>
                <a:cs typeface="Times New Roman" panose="02020603050405020304" pitchFamily="18" charset="0"/>
              </a:rPr>
              <a:t>emotional and behavioral </a:t>
            </a:r>
            <a:r>
              <a:rPr lang="en-US" dirty="0">
                <a:latin typeface="Times New Roman" panose="02020603050405020304" pitchFamily="18" charset="0"/>
                <a:cs typeface="Times New Roman" panose="02020603050405020304" pitchFamily="18" charset="0"/>
              </a:rPr>
              <a:t>problems so that trained professionals can help them. </a:t>
            </a:r>
          </a:p>
          <a:p>
            <a:pPr algn="just"/>
            <a:r>
              <a:rPr lang="en-US" dirty="0">
                <a:latin typeface="Times New Roman" panose="02020603050405020304" pitchFamily="18" charset="0"/>
                <a:cs typeface="Times New Roman" panose="02020603050405020304" pitchFamily="18" charset="0"/>
              </a:rPr>
              <a:t>Help them in: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Being Socially interactional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Reeducate them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Protect them from any danger or risk </a:t>
            </a:r>
          </a:p>
        </p:txBody>
      </p:sp>
      <p:sp>
        <p:nvSpPr>
          <p:cNvPr id="4" name="Slide Number Placeholder 3">
            <a:extLst>
              <a:ext uri="{FF2B5EF4-FFF2-40B4-BE49-F238E27FC236}">
                <a16:creationId xmlns:a16="http://schemas.microsoft.com/office/drawing/2014/main" id="{E2A5F1E8-F246-4360-B34A-AA49B73428F6}"/>
              </a:ext>
            </a:extLst>
          </p:cNvPr>
          <p:cNvSpPr>
            <a:spLocks noGrp="1"/>
          </p:cNvSpPr>
          <p:nvPr>
            <p:ph type="sldNum" sz="quarter" idx="12"/>
          </p:nvPr>
        </p:nvSpPr>
        <p:spPr/>
        <p:txBody>
          <a:bodyPr/>
          <a:lstStyle/>
          <a:p>
            <a:fld id="{B5CEABB6-07DC-46E8-9B57-56EC44A396E5}" type="slidenum">
              <a:rPr lang="en-US" smtClean="0"/>
              <a:pPr/>
              <a:t>12</a:t>
            </a:fld>
            <a:endParaRPr lang="en-US" dirty="0"/>
          </a:p>
        </p:txBody>
      </p:sp>
      <p:pic>
        <p:nvPicPr>
          <p:cNvPr id="3074" name="Picture 2" descr="Child Therapy Vector Art, Icons, and Graphics for Free Download">
            <a:extLst>
              <a:ext uri="{FF2B5EF4-FFF2-40B4-BE49-F238E27FC236}">
                <a16:creationId xmlns:a16="http://schemas.microsoft.com/office/drawing/2014/main" id="{3627B8DE-A353-4E9C-9422-19B87EABC7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3765" y="72518"/>
            <a:ext cx="3054724" cy="1864658"/>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4" descr="significance of teaching about good touch and bad touch">
            <a:extLst>
              <a:ext uri="{FF2B5EF4-FFF2-40B4-BE49-F238E27FC236}">
                <a16:creationId xmlns:a16="http://schemas.microsoft.com/office/drawing/2014/main" id="{1C8F7EBE-E247-4467-BBC7-41AE1BDB22F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8" name="Picture 6" descr="Empowering Women: Unveiling the Importance of Recognizing Good Touch and Bad  Touch">
            <a:extLst>
              <a:ext uri="{FF2B5EF4-FFF2-40B4-BE49-F238E27FC236}">
                <a16:creationId xmlns:a16="http://schemas.microsoft.com/office/drawing/2014/main" id="{520B9D8D-B234-4714-AB7F-C99AC1ABA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310" y="3664424"/>
            <a:ext cx="3228134" cy="2628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382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BB4A54-8B2A-4330-9D22-7CC5E2D9A407}"/>
              </a:ext>
            </a:extLst>
          </p:cNvPr>
          <p:cNvSpPr>
            <a:spLocks noGrp="1"/>
          </p:cNvSpPr>
          <p:nvPr>
            <p:ph type="sldNum" sz="quarter" idx="12"/>
          </p:nvPr>
        </p:nvSpPr>
        <p:spPr/>
        <p:txBody>
          <a:bodyPr/>
          <a:lstStyle/>
          <a:p>
            <a:fld id="{B5CEABB6-07DC-46E8-9B57-56EC44A396E5}" type="slidenum">
              <a:rPr lang="en-US" smtClean="0"/>
              <a:pPr/>
              <a:t>13</a:t>
            </a:fld>
            <a:endParaRPr lang="en-US" dirty="0"/>
          </a:p>
        </p:txBody>
      </p:sp>
      <p:pic>
        <p:nvPicPr>
          <p:cNvPr id="4098" name="Picture 2" descr="Good Touch and Bad Touch for Kids: How to Educate Kids?">
            <a:extLst>
              <a:ext uri="{FF2B5EF4-FFF2-40B4-BE49-F238E27FC236}">
                <a16:creationId xmlns:a16="http://schemas.microsoft.com/office/drawing/2014/main" id="{7D7A989C-E48E-4F06-8A31-0DFE01A8C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250" y="0"/>
            <a:ext cx="5143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126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39E4A-EB94-440E-899A-9C9821B49D4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Handicapped or Disabled</a:t>
            </a:r>
          </a:p>
        </p:txBody>
      </p:sp>
      <p:sp>
        <p:nvSpPr>
          <p:cNvPr id="3" name="Text Placeholder 2">
            <a:extLst>
              <a:ext uri="{FF2B5EF4-FFF2-40B4-BE49-F238E27FC236}">
                <a16:creationId xmlns:a16="http://schemas.microsoft.com/office/drawing/2014/main" id="{D37DF23C-E000-4B12-BDF3-0E520595CB3B}"/>
              </a:ext>
            </a:extLst>
          </p:cNvPr>
          <p:cNvSpPr>
            <a:spLocks noGrp="1"/>
          </p:cNvSpPr>
          <p:nvPr>
            <p:ph type="body" sz="quarter" idx="13"/>
          </p:nvPr>
        </p:nvSpPr>
        <p:spPr/>
        <p:txBody>
          <a:bodyPr/>
          <a:lstStyle/>
          <a:p>
            <a:pPr algn="just"/>
            <a:r>
              <a:rPr lang="en-US" dirty="0">
                <a:latin typeface="Times New Roman" panose="02020603050405020304" pitchFamily="18" charset="0"/>
                <a:cs typeface="Times New Roman" panose="02020603050405020304" pitchFamily="18" charset="0"/>
              </a:rPr>
              <a:t>Handicapped or disabled is a person having a condition that restricts their ability to function physically, mentally, and socially. </a:t>
            </a:r>
          </a:p>
          <a:p>
            <a:pPr algn="just"/>
            <a:r>
              <a:rPr lang="en-US" dirty="0">
                <a:latin typeface="Times New Roman" panose="02020603050405020304" pitchFamily="18" charset="0"/>
                <a:cs typeface="Times New Roman" panose="02020603050405020304" pitchFamily="18" charset="0"/>
              </a:rPr>
              <a:t>Help them;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Provide Assistance.</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Provide the equipment that helps them with their disability.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Provide food to them. These people also need help to live healthy and good life. </a:t>
            </a:r>
          </a:p>
        </p:txBody>
      </p:sp>
      <p:sp>
        <p:nvSpPr>
          <p:cNvPr id="4" name="Slide Number Placeholder 3">
            <a:extLst>
              <a:ext uri="{FF2B5EF4-FFF2-40B4-BE49-F238E27FC236}">
                <a16:creationId xmlns:a16="http://schemas.microsoft.com/office/drawing/2014/main" id="{98A20E07-22AE-4811-AEB4-A9D5268E3341}"/>
              </a:ext>
            </a:extLst>
          </p:cNvPr>
          <p:cNvSpPr>
            <a:spLocks noGrp="1"/>
          </p:cNvSpPr>
          <p:nvPr>
            <p:ph type="sldNum" sz="quarter" idx="12"/>
          </p:nvPr>
        </p:nvSpPr>
        <p:spPr/>
        <p:txBody>
          <a:bodyPr/>
          <a:lstStyle/>
          <a:p>
            <a:fld id="{B5CEABB6-07DC-46E8-9B57-56EC44A396E5}" type="slidenum">
              <a:rPr lang="en-US" smtClean="0"/>
              <a:pPr/>
              <a:t>14</a:t>
            </a:fld>
            <a:endParaRPr lang="en-US" dirty="0"/>
          </a:p>
        </p:txBody>
      </p:sp>
      <p:pic>
        <p:nvPicPr>
          <p:cNvPr id="5122" name="Picture 2" descr="People With Disabilities Or Disabled People? What Is Correct?">
            <a:extLst>
              <a:ext uri="{FF2B5EF4-FFF2-40B4-BE49-F238E27FC236}">
                <a16:creationId xmlns:a16="http://schemas.microsoft.com/office/drawing/2014/main" id="{31D50B56-7DE0-4490-A26E-4700A6EB45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1940" y="4619311"/>
            <a:ext cx="7255495" cy="1892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280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039DC-723D-4509-AFF6-72465F3935AF}"/>
              </a:ext>
            </a:extLst>
          </p:cNvPr>
          <p:cNvSpPr>
            <a:spLocks noGrp="1"/>
          </p:cNvSpPr>
          <p:nvPr>
            <p:ph type="title"/>
          </p:nvPr>
        </p:nvSpPr>
        <p:spPr>
          <a:xfrm>
            <a:off x="749627" y="314565"/>
            <a:ext cx="9093619" cy="1326514"/>
          </a:xfrm>
        </p:spPr>
        <p:txBody>
          <a:bodyPr/>
          <a:lstStyle/>
          <a:p>
            <a:r>
              <a:rPr lang="en-US" dirty="0">
                <a:latin typeface="Times New Roman" panose="02020603050405020304" pitchFamily="18" charset="0"/>
                <a:cs typeface="Times New Roman" panose="02020603050405020304" pitchFamily="18" charset="0"/>
              </a:rPr>
              <a:t>Hospital That have Really Good Curative</a:t>
            </a:r>
          </a:p>
        </p:txBody>
      </p:sp>
      <p:sp>
        <p:nvSpPr>
          <p:cNvPr id="3" name="Text Placeholder 2">
            <a:extLst>
              <a:ext uri="{FF2B5EF4-FFF2-40B4-BE49-F238E27FC236}">
                <a16:creationId xmlns:a16="http://schemas.microsoft.com/office/drawing/2014/main" id="{99A14A7B-A74D-4365-8A1E-66719420377C}"/>
              </a:ext>
            </a:extLst>
          </p:cNvPr>
          <p:cNvSpPr>
            <a:spLocks noGrp="1"/>
          </p:cNvSpPr>
          <p:nvPr>
            <p:ph type="body" sz="quarter" idx="13"/>
          </p:nvPr>
        </p:nvSpPr>
        <p:spPr/>
        <p:txBody>
          <a:bodyPr/>
          <a:lstStyle/>
          <a:p>
            <a:pPr marL="0" indent="0" algn="just">
              <a:buNone/>
            </a:pPr>
            <a:r>
              <a:rPr lang="en-US" b="1" dirty="0">
                <a:latin typeface="Times New Roman" panose="02020603050405020304" pitchFamily="18" charset="0"/>
                <a:cs typeface="Times New Roman" panose="02020603050405020304" pitchFamily="18" charset="0"/>
              </a:rPr>
              <a:t>Shaukat Khanum Memorial Cancer Hospital and Research Centre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Address: 7A ،،</a:t>
            </a:r>
            <a:r>
              <a:rPr lang="en-US" dirty="0" err="1">
                <a:latin typeface="Times New Roman" panose="02020603050405020304" pitchFamily="18" charset="0"/>
                <a:cs typeface="Times New Roman" panose="02020603050405020304" pitchFamily="18" charset="0"/>
              </a:rPr>
              <a:t>Khayaban</a:t>
            </a:r>
            <a:r>
              <a:rPr lang="en-US" dirty="0">
                <a:latin typeface="Times New Roman" panose="02020603050405020304" pitchFamily="18" charset="0"/>
                <a:cs typeface="Times New Roman" panose="02020603050405020304" pitchFamily="18" charset="0"/>
              </a:rPr>
              <a:t>-e-</a:t>
            </a:r>
            <a:r>
              <a:rPr lang="en-US" dirty="0" err="1">
                <a:latin typeface="Times New Roman" panose="02020603050405020304" pitchFamily="18" charset="0"/>
                <a:cs typeface="Times New Roman" panose="02020603050405020304" pitchFamily="18" charset="0"/>
              </a:rPr>
              <a:t>Firdousi</a:t>
            </a:r>
            <a:r>
              <a:rPr lang="en-US" dirty="0">
                <a:latin typeface="Times New Roman" panose="02020603050405020304" pitchFamily="18" charset="0"/>
                <a:cs typeface="Times New Roman" panose="02020603050405020304" pitchFamily="18" charset="0"/>
              </a:rPr>
              <a:t>, Block R3 Block R 3 M.A </a:t>
            </a:r>
            <a:r>
              <a:rPr lang="en-US" dirty="0" err="1">
                <a:latin typeface="Times New Roman" panose="02020603050405020304" pitchFamily="18" charset="0"/>
                <a:cs typeface="Times New Roman" panose="02020603050405020304" pitchFamily="18" charset="0"/>
              </a:rPr>
              <a:t>Johar</a:t>
            </a:r>
            <a:r>
              <a:rPr lang="en-US" dirty="0">
                <a:latin typeface="Times New Roman" panose="02020603050405020304" pitchFamily="18" charset="0"/>
                <a:cs typeface="Times New Roman" panose="02020603050405020304" pitchFamily="18" charset="0"/>
              </a:rPr>
              <a:t> Town, Lahore, Punjab Hours: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Open 24 hours Phone: (042) 35905000 </a:t>
            </a:r>
          </a:p>
          <a:p>
            <a:pPr marL="0" indent="0" algn="just">
              <a:buNone/>
            </a:pPr>
            <a:r>
              <a:rPr lang="en-US" b="1" dirty="0">
                <a:latin typeface="Times New Roman" panose="02020603050405020304" pitchFamily="18" charset="0"/>
                <a:cs typeface="Times New Roman" panose="02020603050405020304" pitchFamily="18" charset="0"/>
              </a:rPr>
              <a:t>Gulab Devi Chest Hospital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Address: Ferozepur Rd, Nishtar Town, Lahore, Punjab 54000 Hours: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Open 24 hours Phone: (042) 99230247 </a:t>
            </a:r>
          </a:p>
        </p:txBody>
      </p:sp>
      <p:sp>
        <p:nvSpPr>
          <p:cNvPr id="4" name="Slide Number Placeholder 3">
            <a:extLst>
              <a:ext uri="{FF2B5EF4-FFF2-40B4-BE49-F238E27FC236}">
                <a16:creationId xmlns:a16="http://schemas.microsoft.com/office/drawing/2014/main" id="{6EA0FAA0-0144-4668-8582-537EE66C00CC}"/>
              </a:ext>
            </a:extLst>
          </p:cNvPr>
          <p:cNvSpPr>
            <a:spLocks noGrp="1"/>
          </p:cNvSpPr>
          <p:nvPr>
            <p:ph type="sldNum" sz="quarter" idx="12"/>
          </p:nvPr>
        </p:nvSpPr>
        <p:spPr/>
        <p:txBody>
          <a:bodyPr/>
          <a:lstStyle/>
          <a:p>
            <a:fld id="{B5CEABB6-07DC-46E8-9B57-56EC44A396E5}" type="slidenum">
              <a:rPr lang="en-US" smtClean="0"/>
              <a:pPr/>
              <a:t>15</a:t>
            </a:fld>
            <a:endParaRPr lang="en-US" dirty="0"/>
          </a:p>
        </p:txBody>
      </p:sp>
    </p:spTree>
    <p:extLst>
      <p:ext uri="{BB962C8B-B14F-4D97-AF65-F5344CB8AC3E}">
        <p14:creationId xmlns:p14="http://schemas.microsoft.com/office/powerpoint/2010/main" val="46943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5217459" y="960120"/>
            <a:ext cx="6974541" cy="3056343"/>
          </a:xfrm>
        </p:spPr>
        <p:txBody>
          <a:bodyPr/>
          <a:lstStyle/>
          <a:p>
            <a:pPr algn="ctr"/>
            <a:r>
              <a:rPr lang="en-US" dirty="0">
                <a:latin typeface="Times New Roman" panose="02020603050405020304" pitchFamily="18" charset="0"/>
                <a:cs typeface="Times New Roman" panose="02020603050405020304" pitchFamily="18" charset="0"/>
              </a:rPr>
              <a:t>Rehabilitation </a:t>
            </a:r>
          </a:p>
        </p:txBody>
      </p:sp>
    </p:spTree>
    <p:extLst>
      <p:ext uri="{BB962C8B-B14F-4D97-AF65-F5344CB8AC3E}">
        <p14:creationId xmlns:p14="http://schemas.microsoft.com/office/powerpoint/2010/main" val="954410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26B84-604A-4187-B81F-84DF4F815CF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97CD4A2-1382-462E-B00F-5CEE05CC8E2D}"/>
              </a:ext>
            </a:extLst>
          </p:cNvPr>
          <p:cNvSpPr>
            <a:spLocks noGrp="1"/>
          </p:cNvSpPr>
          <p:nvPr>
            <p:ph type="body" sz="quarter" idx="13"/>
          </p:nvPr>
        </p:nvSpPr>
        <p:spPr/>
        <p:txBody>
          <a:bodyPr/>
          <a:lstStyle/>
          <a:p>
            <a:pPr algn="just"/>
            <a:r>
              <a:rPr lang="en-US" b="1" u="sng"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Rehabilitation means a plan to restore an individual’s former functions, and environmental status or to maximize the current functions.</a:t>
            </a:r>
          </a:p>
          <a:p>
            <a:pPr algn="just"/>
            <a:r>
              <a:rPr lang="en-US" dirty="0">
                <a:latin typeface="Times New Roman" panose="02020603050405020304" pitchFamily="18" charset="0"/>
                <a:cs typeface="Times New Roman" panose="02020603050405020304" pitchFamily="18" charset="0"/>
              </a:rPr>
              <a:t>This is where rehabilitation can help you move better, in maintaining your balance, maintain your posture, fix your mobility and help you avoid being hospitalized again. </a:t>
            </a:r>
          </a:p>
          <a:p>
            <a:endParaRPr lang="en-US" dirty="0"/>
          </a:p>
        </p:txBody>
      </p:sp>
      <p:sp>
        <p:nvSpPr>
          <p:cNvPr id="4" name="Slide Number Placeholder 3">
            <a:extLst>
              <a:ext uri="{FF2B5EF4-FFF2-40B4-BE49-F238E27FC236}">
                <a16:creationId xmlns:a16="http://schemas.microsoft.com/office/drawing/2014/main" id="{4F9F945F-D3D6-4DB1-BE1C-EA1F45547E84}"/>
              </a:ext>
            </a:extLst>
          </p:cNvPr>
          <p:cNvSpPr>
            <a:spLocks noGrp="1"/>
          </p:cNvSpPr>
          <p:nvPr>
            <p:ph type="sldNum" sz="quarter" idx="12"/>
          </p:nvPr>
        </p:nvSpPr>
        <p:spPr/>
        <p:txBody>
          <a:bodyPr/>
          <a:lstStyle/>
          <a:p>
            <a:fld id="{B5CEABB6-07DC-46E8-9B57-56EC44A396E5}" type="slidenum">
              <a:rPr lang="en-US" smtClean="0"/>
              <a:pPr/>
              <a:t>17</a:t>
            </a:fld>
            <a:endParaRPr lang="en-US" dirty="0"/>
          </a:p>
        </p:txBody>
      </p:sp>
      <p:pic>
        <p:nvPicPr>
          <p:cNvPr id="6146" name="Picture 2" descr="Salida Rehabilitation Services | CO Medical Clinic">
            <a:extLst>
              <a:ext uri="{FF2B5EF4-FFF2-40B4-BE49-F238E27FC236}">
                <a16:creationId xmlns:a16="http://schemas.microsoft.com/office/drawing/2014/main" id="{CA3BB619-B692-49D0-B447-72B673000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082" y="4240307"/>
            <a:ext cx="5244353" cy="2262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267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240FB-CC09-4FE8-99BD-35D69C91444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75C6224-E332-4B2F-9AA0-75EDEE0EBB90}"/>
              </a:ext>
            </a:extLst>
          </p:cNvPr>
          <p:cNvSpPr>
            <a:spLocks noGrp="1"/>
          </p:cNvSpPr>
          <p:nvPr>
            <p:ph type="body" sz="quarter" idx="13"/>
          </p:nvPr>
        </p:nvSpPr>
        <p:spPr>
          <a:xfrm>
            <a:off x="865631" y="2072639"/>
            <a:ext cx="8324089" cy="3987501"/>
          </a:xfrm>
        </p:spPr>
        <p:txBody>
          <a:bodyPr/>
          <a:lstStyle/>
          <a:p>
            <a:pPr algn="just"/>
            <a:r>
              <a:rPr lang="en-US" dirty="0">
                <a:latin typeface="Times New Roman" panose="02020603050405020304" pitchFamily="18" charset="0"/>
                <a:cs typeface="Times New Roman" panose="02020603050405020304" pitchFamily="18" charset="0"/>
              </a:rPr>
              <a:t>After dealing with an injury or long-term a long-term illness it is common for people to experience difficulties in performing everyday tasks. </a:t>
            </a:r>
          </a:p>
          <a:p>
            <a:pPr algn="just"/>
            <a:r>
              <a:rPr lang="en-US" dirty="0">
                <a:latin typeface="Times New Roman" panose="02020603050405020304" pitchFamily="18" charset="0"/>
                <a:cs typeface="Times New Roman" panose="02020603050405020304" pitchFamily="18" charset="0"/>
              </a:rPr>
              <a:t>Long-term bed rest, inactivity, illness can affect your balance mobility energy, and much more. </a:t>
            </a:r>
          </a:p>
          <a:p>
            <a:pPr marL="0" indent="0" algn="just">
              <a:buNone/>
            </a:pPr>
            <a:r>
              <a:rPr lang="en-US" dirty="0">
                <a:latin typeface="Times New Roman" panose="02020603050405020304" pitchFamily="18" charset="0"/>
                <a:cs typeface="Times New Roman" panose="02020603050405020304" pitchFamily="18" charset="0"/>
              </a:rPr>
              <a:t>For example: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A fractured bone was fixed by plaster casting, and the person got used to his life with the plaster after removing those plasters, He may face difficulties while walking.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Similarly, COVID-19 can weaken your immune system and your stamina.</a:t>
            </a:r>
          </a:p>
        </p:txBody>
      </p:sp>
      <p:sp>
        <p:nvSpPr>
          <p:cNvPr id="4" name="Slide Number Placeholder 3">
            <a:extLst>
              <a:ext uri="{FF2B5EF4-FFF2-40B4-BE49-F238E27FC236}">
                <a16:creationId xmlns:a16="http://schemas.microsoft.com/office/drawing/2014/main" id="{7F0DF65A-F6C3-46DA-8066-3556A6C2D6BD}"/>
              </a:ext>
            </a:extLst>
          </p:cNvPr>
          <p:cNvSpPr>
            <a:spLocks noGrp="1"/>
          </p:cNvSpPr>
          <p:nvPr>
            <p:ph type="sldNum" sz="quarter" idx="12"/>
          </p:nvPr>
        </p:nvSpPr>
        <p:spPr/>
        <p:txBody>
          <a:bodyPr/>
          <a:lstStyle/>
          <a:p>
            <a:fld id="{B5CEABB6-07DC-46E8-9B57-56EC44A396E5}" type="slidenum">
              <a:rPr lang="en-US" smtClean="0"/>
              <a:pPr/>
              <a:t>18</a:t>
            </a:fld>
            <a:endParaRPr lang="en-US" dirty="0"/>
          </a:p>
        </p:txBody>
      </p:sp>
    </p:spTree>
    <p:extLst>
      <p:ext uri="{BB962C8B-B14F-4D97-AF65-F5344CB8AC3E}">
        <p14:creationId xmlns:p14="http://schemas.microsoft.com/office/powerpoint/2010/main" val="3117117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A0C7-4B10-03D7-2211-750D1F9E5A8A}"/>
              </a:ext>
            </a:extLst>
          </p:cNvPr>
          <p:cNvSpPr>
            <a:spLocks noGrp="1"/>
          </p:cNvSpPr>
          <p:nvPr>
            <p:ph type="title"/>
          </p:nvPr>
        </p:nvSpPr>
        <p:spPr>
          <a:xfrm>
            <a:off x="510988" y="3003176"/>
            <a:ext cx="6255572" cy="1038472"/>
          </a:xfrm>
        </p:spPr>
        <p:txBody>
          <a:bodyPr>
            <a:normAutofit/>
          </a:bodyPr>
          <a:lstStyle/>
          <a:p>
            <a:pPr algn="ctr"/>
            <a:r>
              <a:rPr lang="en-US" sz="3200" dirty="0">
                <a:latin typeface="Times New Roman" panose="02020603050405020304" pitchFamily="18" charset="0"/>
                <a:cs typeface="Times New Roman" panose="02020603050405020304" pitchFamily="18" charset="0"/>
              </a:rPr>
              <a:t>Rehabilitative services</a:t>
            </a:r>
          </a:p>
        </p:txBody>
      </p:sp>
      <p:sp>
        <p:nvSpPr>
          <p:cNvPr id="4" name="Picture Placeholder 3">
            <a:extLst>
              <a:ext uri="{FF2B5EF4-FFF2-40B4-BE49-F238E27FC236}">
                <a16:creationId xmlns:a16="http://schemas.microsoft.com/office/drawing/2014/main" id="{458DBEC7-FF74-4C40-90C3-E2E1DC2CA207}"/>
              </a:ext>
            </a:extLst>
          </p:cNvPr>
          <p:cNvSpPr>
            <a:spLocks noGrp="1"/>
          </p:cNvSpPr>
          <p:nvPr>
            <p:ph type="pic" sz="quarter" idx="10"/>
          </p:nvPr>
        </p:nvSpPr>
        <p:spPr/>
      </p:sp>
      <p:pic>
        <p:nvPicPr>
          <p:cNvPr id="7170" name="Picture 2" descr="Rehabilitation Services | Bayfront Health | St. Petersburg | Florida">
            <a:extLst>
              <a:ext uri="{FF2B5EF4-FFF2-40B4-BE49-F238E27FC236}">
                <a16:creationId xmlns:a16="http://schemas.microsoft.com/office/drawing/2014/main" id="{2F67BDBC-6956-4AFF-809C-2F9F2F655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5907" y="952500"/>
            <a:ext cx="5056094"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907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311029-A1D4-43EB-9056-CB5C00F89A1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Some Of these are</a:t>
            </a:r>
          </a:p>
        </p:txBody>
      </p:sp>
      <p:sp>
        <p:nvSpPr>
          <p:cNvPr id="5" name="Text Placeholder 4">
            <a:extLst>
              <a:ext uri="{FF2B5EF4-FFF2-40B4-BE49-F238E27FC236}">
                <a16:creationId xmlns:a16="http://schemas.microsoft.com/office/drawing/2014/main" id="{5BD68CE3-A791-40EA-AC35-9DA9AF08DD20}"/>
              </a:ext>
            </a:extLst>
          </p:cNvPr>
          <p:cNvSpPr>
            <a:spLocks noGrp="1"/>
          </p:cNvSpPr>
          <p:nvPr>
            <p:ph type="body" sz="quarter" idx="13"/>
          </p:nvPr>
        </p:nvSpPr>
        <p:spPr/>
        <p:txBody>
          <a:bodyPr/>
          <a:lstStyle/>
          <a:p>
            <a:pPr marL="457200" indent="-457200">
              <a:buFont typeface="+mj-lt"/>
              <a:buAutoNum type="arabicPeriod"/>
            </a:pPr>
            <a:r>
              <a:rPr lang="en-US" dirty="0">
                <a:latin typeface="Times New Roman" panose="02020603050405020304" pitchFamily="18" charset="0"/>
                <a:cs typeface="Times New Roman" panose="02020603050405020304" pitchFamily="18" charset="0"/>
              </a:rPr>
              <a:t>Medical Evaluation  </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Counseling  </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Education</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Employee Placing</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Vocational Training</a:t>
            </a:r>
          </a:p>
        </p:txBody>
      </p:sp>
    </p:spTree>
    <p:extLst>
      <p:ext uri="{BB962C8B-B14F-4D97-AF65-F5344CB8AC3E}">
        <p14:creationId xmlns:p14="http://schemas.microsoft.com/office/powerpoint/2010/main" val="1611301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CDA4-2E0A-4EE7-B9CC-25807CA87E7A}"/>
              </a:ext>
            </a:extLst>
          </p:cNvPr>
          <p:cNvSpPr>
            <a:spLocks noGrp="1"/>
          </p:cNvSpPr>
          <p:nvPr>
            <p:ph type="title"/>
          </p:nvPr>
        </p:nvSpPr>
        <p:spPr>
          <a:xfrm>
            <a:off x="911352" y="405639"/>
            <a:ext cx="8297380" cy="822526"/>
          </a:xfrm>
        </p:spPr>
        <p:txBody>
          <a:bodyPr/>
          <a:lstStyle/>
          <a:p>
            <a:r>
              <a:rPr lang="en-US" sz="2800" dirty="0">
                <a:latin typeface="Times New Roman" panose="02020603050405020304" pitchFamily="18" charset="0"/>
                <a:cs typeface="Times New Roman" panose="02020603050405020304" pitchFamily="18" charset="0"/>
              </a:rPr>
              <a:t>CBR (Community-Based Rehabilitation)</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9388B92-66E9-4112-B82F-E3B187DCDBF7}"/>
              </a:ext>
            </a:extLst>
          </p:cNvPr>
          <p:cNvSpPr>
            <a:spLocks noGrp="1"/>
          </p:cNvSpPr>
          <p:nvPr>
            <p:ph type="body" sz="quarter" idx="13"/>
          </p:nvPr>
        </p:nvSpPr>
        <p:spPr>
          <a:xfrm>
            <a:off x="911352" y="1369372"/>
            <a:ext cx="8842248" cy="4466651"/>
          </a:xfrm>
        </p:spPr>
        <p:txBody>
          <a:bodyPr>
            <a:normAutofit/>
          </a:bodyPr>
          <a:lstStyle/>
          <a:p>
            <a:pPr algn="just"/>
            <a:r>
              <a:rPr lang="en-US" sz="2400" dirty="0">
                <a:latin typeface="Times New Roman" panose="02020603050405020304" pitchFamily="18" charset="0"/>
                <a:cs typeface="Times New Roman" panose="02020603050405020304" pitchFamily="18" charset="0"/>
              </a:rPr>
              <a:t>CBR is a system in which millions of disabled people have the right to lead a good life, have equal opportunities, have good medical care, and get a good education. </a:t>
            </a:r>
          </a:p>
          <a:p>
            <a:pPr algn="just"/>
            <a:r>
              <a:rPr lang="en-US" sz="2400" b="0" i="0" dirty="0">
                <a:solidFill>
                  <a:srgbClr val="1F1F1F"/>
                </a:solidFill>
                <a:effectLst/>
                <a:latin typeface="Times New Roman" panose="02020603050405020304" pitchFamily="18" charset="0"/>
                <a:cs typeface="Times New Roman" panose="02020603050405020304" pitchFamily="18" charset="0"/>
              </a:rPr>
              <a:t>CBR </a:t>
            </a:r>
            <a:r>
              <a:rPr lang="en-US" sz="2400" b="0" i="0" dirty="0">
                <a:solidFill>
                  <a:srgbClr val="040C28"/>
                </a:solidFill>
                <a:effectLst/>
                <a:latin typeface="Times New Roman" panose="02020603050405020304" pitchFamily="18" charset="0"/>
                <a:cs typeface="Times New Roman" panose="02020603050405020304" pitchFamily="18" charset="0"/>
              </a:rPr>
              <a:t>focuses on the full participation and inclusion of persons with disabilities within every domain of their community</a:t>
            </a:r>
            <a:r>
              <a:rPr lang="en-US" sz="2400" b="0" i="0" dirty="0">
                <a:solidFill>
                  <a:srgbClr val="1F1F1F"/>
                </a:solidFill>
                <a:effectLst/>
                <a:latin typeface="Times New Roman" panose="02020603050405020304" pitchFamily="18" charset="0"/>
                <a:cs typeface="Times New Roman" panose="02020603050405020304" pitchFamily="18" charset="0"/>
              </a:rPr>
              <a:t>. It empowers the persons with disabilities and supports them to overcome physical and sociological barriers.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There are special schools for disabled children. </a:t>
            </a:r>
          </a:p>
          <a:p>
            <a:pPr algn="just"/>
            <a:r>
              <a:rPr lang="en-US" sz="2400" dirty="0">
                <a:latin typeface="Times New Roman" panose="02020603050405020304" pitchFamily="18" charset="0"/>
                <a:cs typeface="Times New Roman" panose="02020603050405020304" pitchFamily="18" charset="0"/>
              </a:rPr>
              <a:t>In the field of computer science disabled person can do work if he’s not able to get up he can sit at home and do work like freelancing.</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0BA8C43-8C51-436F-9321-2E5FB86CCB3C}"/>
              </a:ext>
            </a:extLst>
          </p:cNvPr>
          <p:cNvSpPr>
            <a:spLocks noGrp="1"/>
          </p:cNvSpPr>
          <p:nvPr>
            <p:ph type="sldNum" sz="quarter" idx="12"/>
          </p:nvPr>
        </p:nvSpPr>
        <p:spPr/>
        <p:txBody>
          <a:bodyPr/>
          <a:lstStyle/>
          <a:p>
            <a:fld id="{B5CEABB6-07DC-46E8-9B57-56EC44A396E5}" type="slidenum">
              <a:rPr lang="en-US" smtClean="0"/>
              <a:pPr/>
              <a:t>21</a:t>
            </a:fld>
            <a:endParaRPr lang="en-US" dirty="0"/>
          </a:p>
        </p:txBody>
      </p:sp>
    </p:spTree>
    <p:extLst>
      <p:ext uri="{BB962C8B-B14F-4D97-AF65-F5344CB8AC3E}">
        <p14:creationId xmlns:p14="http://schemas.microsoft.com/office/powerpoint/2010/main" val="2253565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E78B13C-5934-4DC5-861A-307E5E9EB7BC}"/>
              </a:ext>
            </a:extLst>
          </p:cNvPr>
          <p:cNvSpPr>
            <a:spLocks noGrp="1"/>
          </p:cNvSpPr>
          <p:nvPr>
            <p:ph type="body" sz="quarter" idx="13"/>
          </p:nvPr>
        </p:nvSpPr>
        <p:spPr>
          <a:xfrm>
            <a:off x="865631" y="2241176"/>
            <a:ext cx="8324089" cy="3324472"/>
          </a:xfrm>
        </p:spPr>
        <p:txBody>
          <a:bodyPr/>
          <a:lstStyle/>
          <a:p>
            <a:pPr algn="just"/>
            <a:r>
              <a:rPr lang="en-US" sz="2000" dirty="0">
                <a:latin typeface="Times New Roman" panose="02020603050405020304" pitchFamily="18" charset="0"/>
                <a:cs typeface="Times New Roman" panose="02020603050405020304" pitchFamily="18" charset="0"/>
              </a:rPr>
              <a:t>It is a process in which an individual’s health status includes a medical history and physical examination conducted by an authorized person.</a:t>
            </a:r>
          </a:p>
          <a:p>
            <a:pPr algn="just"/>
            <a:r>
              <a:rPr lang="en-US" sz="2000" dirty="0">
                <a:latin typeface="Times New Roman" panose="02020603050405020304" pitchFamily="18" charset="0"/>
                <a:cs typeface="Times New Roman" panose="02020603050405020304" pitchFamily="18" charset="0"/>
              </a:rPr>
              <a:t> For example: A patient will meet with the nurse and she will ask him about his medical history, his allergies, past surgeries, and immunizations after that Doctor will conduct a vital sign check, physical exam, or a visual exam.  </a:t>
            </a:r>
          </a:p>
          <a:p>
            <a:endParaRPr lang="en-US" dirty="0"/>
          </a:p>
        </p:txBody>
      </p:sp>
      <p:sp>
        <p:nvSpPr>
          <p:cNvPr id="4" name="Slide Number Placeholder 3">
            <a:extLst>
              <a:ext uri="{FF2B5EF4-FFF2-40B4-BE49-F238E27FC236}">
                <a16:creationId xmlns:a16="http://schemas.microsoft.com/office/drawing/2014/main" id="{7959CB0B-521C-415C-9466-12F951F7FDC5}"/>
              </a:ext>
            </a:extLst>
          </p:cNvPr>
          <p:cNvSpPr>
            <a:spLocks noGrp="1"/>
          </p:cNvSpPr>
          <p:nvPr>
            <p:ph type="sldNum" sz="quarter" idx="12"/>
          </p:nvPr>
        </p:nvSpPr>
        <p:spPr/>
        <p:txBody>
          <a:bodyPr/>
          <a:lstStyle/>
          <a:p>
            <a:fld id="{B5CEABB6-07DC-46E8-9B57-56EC44A396E5}" type="slidenum">
              <a:rPr lang="en-US" smtClean="0"/>
              <a:pPr/>
              <a:t>22</a:t>
            </a:fld>
            <a:endParaRPr lang="en-US" dirty="0"/>
          </a:p>
        </p:txBody>
      </p:sp>
      <p:pic>
        <p:nvPicPr>
          <p:cNvPr id="8194" name="Picture 2" descr="During the first half of the 18th century, the British had established a  trading presence in India">
            <a:extLst>
              <a:ext uri="{FF2B5EF4-FFF2-40B4-BE49-F238E27FC236}">
                <a16:creationId xmlns:a16="http://schemas.microsoft.com/office/drawing/2014/main" id="{E91D45CD-54EB-4376-91A7-968CF3C1E9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4236" y="4584573"/>
            <a:ext cx="2255745" cy="196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215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23EAC-7E07-40B9-873F-D0B22D889E9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Medical counseling</a:t>
            </a:r>
          </a:p>
        </p:txBody>
      </p:sp>
      <p:sp>
        <p:nvSpPr>
          <p:cNvPr id="3" name="Text Placeholder 2">
            <a:extLst>
              <a:ext uri="{FF2B5EF4-FFF2-40B4-BE49-F238E27FC236}">
                <a16:creationId xmlns:a16="http://schemas.microsoft.com/office/drawing/2014/main" id="{FDBCC466-E022-44D1-9950-FFEE841637C7}"/>
              </a:ext>
            </a:extLst>
          </p:cNvPr>
          <p:cNvSpPr>
            <a:spLocks noGrp="1"/>
          </p:cNvSpPr>
          <p:nvPr>
            <p:ph type="body" sz="quarter" idx="13"/>
          </p:nvPr>
        </p:nvSpPr>
        <p:spPr/>
        <p:txBody>
          <a:bodyPr/>
          <a:lstStyle/>
          <a:p>
            <a:pPr algn="just"/>
            <a:r>
              <a:rPr lang="en-US" dirty="0">
                <a:latin typeface="Times New Roman" panose="02020603050405020304" pitchFamily="18" charset="0"/>
                <a:cs typeface="Times New Roman" panose="02020603050405020304" pitchFamily="18" charset="0"/>
              </a:rPr>
              <a:t>It is a helping process in which the problems, needs, and feelings of a patient are enhanced or solved which is usually done by a psychologist. </a:t>
            </a:r>
          </a:p>
          <a:p>
            <a:pPr algn="just"/>
            <a:r>
              <a:rPr lang="en-US" dirty="0">
                <a:latin typeface="Times New Roman" panose="02020603050405020304" pitchFamily="18" charset="0"/>
                <a:cs typeface="Times New Roman" panose="02020603050405020304" pitchFamily="18" charset="0"/>
              </a:rPr>
              <a:t> A person with a mental disorder or any other health condition.</a:t>
            </a:r>
          </a:p>
        </p:txBody>
      </p:sp>
      <p:sp>
        <p:nvSpPr>
          <p:cNvPr id="4" name="Slide Number Placeholder 3">
            <a:extLst>
              <a:ext uri="{FF2B5EF4-FFF2-40B4-BE49-F238E27FC236}">
                <a16:creationId xmlns:a16="http://schemas.microsoft.com/office/drawing/2014/main" id="{F50D2CB6-ECF7-4E2C-A6E6-000C572E7262}"/>
              </a:ext>
            </a:extLst>
          </p:cNvPr>
          <p:cNvSpPr>
            <a:spLocks noGrp="1"/>
          </p:cNvSpPr>
          <p:nvPr>
            <p:ph type="sldNum" sz="quarter" idx="12"/>
          </p:nvPr>
        </p:nvSpPr>
        <p:spPr/>
        <p:txBody>
          <a:bodyPr/>
          <a:lstStyle/>
          <a:p>
            <a:fld id="{B5CEABB6-07DC-46E8-9B57-56EC44A396E5}" type="slidenum">
              <a:rPr lang="en-US" smtClean="0"/>
              <a:pPr/>
              <a:t>23</a:t>
            </a:fld>
            <a:endParaRPr lang="en-US" dirty="0"/>
          </a:p>
        </p:txBody>
      </p:sp>
      <p:pic>
        <p:nvPicPr>
          <p:cNvPr id="9218" name="Picture 2" descr="Careers With A Master's In Clinical Mental Health, 52% OFF">
            <a:extLst>
              <a:ext uri="{FF2B5EF4-FFF2-40B4-BE49-F238E27FC236}">
                <a16:creationId xmlns:a16="http://schemas.microsoft.com/office/drawing/2014/main" id="{85141410-BEF9-4DF7-86E9-70F3190DE5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2606" y="233082"/>
            <a:ext cx="2073088" cy="170329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9 Careers with a Master's in Clinical Mental Health Counseling | The  Chicago School">
            <a:extLst>
              <a:ext uri="{FF2B5EF4-FFF2-40B4-BE49-F238E27FC236}">
                <a16:creationId xmlns:a16="http://schemas.microsoft.com/office/drawing/2014/main" id="{15A45D6A-DA09-4D4D-8D90-DFDD603129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629900"/>
            <a:ext cx="4097095" cy="2276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809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A48EE-A64C-4E3F-9CC5-4DE33FEC27D6}"/>
              </a:ext>
            </a:extLst>
          </p:cNvPr>
          <p:cNvSpPr>
            <a:spLocks noGrp="1"/>
          </p:cNvSpPr>
          <p:nvPr>
            <p:ph type="title"/>
          </p:nvPr>
        </p:nvSpPr>
        <p:spPr>
          <a:xfrm>
            <a:off x="893064" y="72517"/>
            <a:ext cx="8297380" cy="1666635"/>
          </a:xfrm>
        </p:spPr>
        <p:txBody>
          <a:bodyPr/>
          <a:lstStyle/>
          <a:p>
            <a:r>
              <a:rPr lang="en-US" dirty="0">
                <a:latin typeface="Times New Roman" panose="02020603050405020304" pitchFamily="18" charset="0"/>
                <a:cs typeface="Times New Roman" panose="02020603050405020304" pitchFamily="18" charset="0"/>
              </a:rPr>
              <a:t>Vocational Training:</a:t>
            </a:r>
          </a:p>
        </p:txBody>
      </p:sp>
      <p:sp>
        <p:nvSpPr>
          <p:cNvPr id="3" name="Text Placeholder 2">
            <a:extLst>
              <a:ext uri="{FF2B5EF4-FFF2-40B4-BE49-F238E27FC236}">
                <a16:creationId xmlns:a16="http://schemas.microsoft.com/office/drawing/2014/main" id="{5E05A9E1-82D8-41B6-BB23-C31EFFDEB1B8}"/>
              </a:ext>
            </a:extLst>
          </p:cNvPr>
          <p:cNvSpPr>
            <a:spLocks noGrp="1"/>
          </p:cNvSpPr>
          <p:nvPr>
            <p:ph type="body" sz="quarter" idx="13"/>
          </p:nvPr>
        </p:nvSpPr>
        <p:spPr>
          <a:xfrm>
            <a:off x="865631" y="2072640"/>
            <a:ext cx="8843145" cy="3799242"/>
          </a:xfrm>
        </p:spPr>
        <p:txBody>
          <a:bodyPr>
            <a:normAutofit/>
          </a:bodyPr>
          <a:lstStyle/>
          <a:p>
            <a:pPr algn="just"/>
            <a:r>
              <a:rPr lang="en-US" dirty="0">
                <a:latin typeface="Times New Roman" panose="02020603050405020304" pitchFamily="18" charset="0"/>
                <a:cs typeface="Times New Roman" panose="02020603050405020304" pitchFamily="18" charset="0"/>
              </a:rPr>
              <a:t>Vocational Training is made up of Programs that can help you acquire a skill or improve the skills for a particular job. </a:t>
            </a:r>
          </a:p>
          <a:p>
            <a:pPr algn="just"/>
            <a:r>
              <a:rPr lang="en-US" dirty="0">
                <a:latin typeface="Times New Roman" panose="02020603050405020304" pitchFamily="18" charset="0"/>
                <a:cs typeface="Times New Roman" panose="02020603050405020304" pitchFamily="18" charset="0"/>
              </a:rPr>
              <a:t>Vocational rehabilitation is a service that is designed to facilitate people with disabilities to enter into work I’ll get back to it. </a:t>
            </a:r>
          </a:p>
          <a:p>
            <a:pPr algn="just"/>
            <a:r>
              <a:rPr lang="en-US" b="1" i="0" dirty="0">
                <a:effectLst/>
                <a:latin typeface="Times New Roman" panose="02020603050405020304" pitchFamily="18" charset="0"/>
                <a:cs typeface="Times New Roman" panose="02020603050405020304" pitchFamily="18" charset="0"/>
              </a:rPr>
              <a:t>National Training Center for Special Persons</a:t>
            </a:r>
            <a:r>
              <a:rPr lang="en-US" b="0" i="0" dirty="0">
                <a:effectLst/>
                <a:latin typeface="Times New Roman" panose="02020603050405020304" pitchFamily="18" charset="0"/>
                <a:cs typeface="Times New Roman" panose="02020603050405020304" pitchFamily="18" charset="0"/>
              </a:rPr>
              <a:t> (NTCSP) </a:t>
            </a:r>
          </a:p>
          <a:p>
            <a:pPr algn="just"/>
            <a:r>
              <a:rPr lang="en-US" b="1" i="0"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Address</a:t>
            </a:r>
            <a:r>
              <a:rPr lang="en-US" b="1" i="0" dirty="0">
                <a:effectLst/>
                <a:latin typeface="Times New Roman" panose="02020603050405020304" pitchFamily="18" charset="0"/>
                <a:cs typeface="Times New Roman" panose="02020603050405020304" pitchFamily="18" charset="0"/>
              </a:rPr>
              <a:t>: </a:t>
            </a:r>
            <a:r>
              <a:rPr lang="en-US" b="0" i="0" dirty="0" err="1">
                <a:effectLst/>
                <a:latin typeface="Times New Roman" panose="02020603050405020304" pitchFamily="18" charset="0"/>
                <a:cs typeface="Times New Roman" panose="02020603050405020304" pitchFamily="18" charset="0"/>
              </a:rPr>
              <a:t>Mangla</a:t>
            </a:r>
            <a:r>
              <a:rPr lang="en-US" b="0" i="0" dirty="0">
                <a:effectLst/>
                <a:latin typeface="Times New Roman" panose="02020603050405020304" pitchFamily="18" charset="0"/>
                <a:cs typeface="Times New Roman" panose="02020603050405020304" pitchFamily="18" charset="0"/>
              </a:rPr>
              <a:t> Rd, G-9/2 G 9/2 G-9, Islamabad, Islamabad Capital Territory 44000</a:t>
            </a:r>
          </a:p>
          <a:p>
            <a:pPr algn="just"/>
            <a:r>
              <a:rPr lang="en-US" b="1" i="0" u="none" strike="noStrike"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Hours</a:t>
            </a:r>
            <a:r>
              <a:rPr lang="en-US" b="1" i="0" dirty="0">
                <a:effectLst/>
                <a:latin typeface="Times New Roman" panose="02020603050405020304" pitchFamily="18" charset="0"/>
                <a:cs typeface="Times New Roman" panose="02020603050405020304" pitchFamily="18" charset="0"/>
              </a:rPr>
              <a:t>: </a:t>
            </a:r>
            <a:r>
              <a:rPr lang="en-US" b="0" i="0" u="none" strike="noStrike" dirty="0">
                <a:effectLst/>
                <a:latin typeface="Times New Roman" panose="02020603050405020304" pitchFamily="18" charset="0"/>
                <a:cs typeface="Times New Roman" panose="02020603050405020304" pitchFamily="18" charset="0"/>
              </a:rPr>
              <a:t>9 pm-2 pm</a:t>
            </a:r>
            <a:endParaRPr lang="en-US" b="0" i="0" dirty="0">
              <a:effectLst/>
              <a:latin typeface="Times New Roman" panose="02020603050405020304" pitchFamily="18" charset="0"/>
              <a:cs typeface="Times New Roman" panose="02020603050405020304" pitchFamily="18" charset="0"/>
            </a:endParaRPr>
          </a:p>
          <a:p>
            <a:pPr algn="just"/>
            <a:r>
              <a:rPr lang="en-US" b="1" i="0" dirty="0">
                <a:effectLst/>
                <a:latin typeface="Times New Roman" panose="02020603050405020304" pitchFamily="18" charset="0"/>
                <a:cs typeface="Times New Roman" panose="02020603050405020304" pitchFamily="18" charset="0"/>
              </a:rPr>
              <a:t>Phone: </a:t>
            </a:r>
            <a:r>
              <a:rPr lang="en-US" b="0" i="0" u="none" strike="noStrike" dirty="0">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(051) 9260182</a:t>
            </a:r>
            <a:endParaRPr lang="en-US" b="0" i="0" dirty="0">
              <a:effectLst/>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5A7C8F9-778B-479E-982C-5E65544648B9}"/>
              </a:ext>
            </a:extLst>
          </p:cNvPr>
          <p:cNvSpPr>
            <a:spLocks noGrp="1"/>
          </p:cNvSpPr>
          <p:nvPr>
            <p:ph type="sldNum" sz="quarter" idx="12"/>
          </p:nvPr>
        </p:nvSpPr>
        <p:spPr/>
        <p:txBody>
          <a:bodyPr/>
          <a:lstStyle/>
          <a:p>
            <a:fld id="{B5CEABB6-07DC-46E8-9B57-56EC44A396E5}" type="slidenum">
              <a:rPr lang="en-US" smtClean="0"/>
              <a:pPr/>
              <a:t>24</a:t>
            </a:fld>
            <a:endParaRPr lang="en-US" dirty="0"/>
          </a:p>
        </p:txBody>
      </p:sp>
    </p:spTree>
    <p:extLst>
      <p:ext uri="{BB962C8B-B14F-4D97-AF65-F5344CB8AC3E}">
        <p14:creationId xmlns:p14="http://schemas.microsoft.com/office/powerpoint/2010/main" val="959080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E7A53F-C85A-46E4-8F4A-5C221F586EFF}"/>
              </a:ext>
            </a:extLst>
          </p:cNvPr>
          <p:cNvSpPr>
            <a:spLocks noGrp="1"/>
          </p:cNvSpPr>
          <p:nvPr>
            <p:ph type="body" sz="quarter" idx="13"/>
          </p:nvPr>
        </p:nvSpPr>
        <p:spPr/>
        <p:txBody>
          <a:bodyPr/>
          <a:lstStyle/>
          <a:p>
            <a:pPr algn="just"/>
            <a:r>
              <a:rPr lang="en-US" b="0" i="0" dirty="0" err="1">
                <a:solidFill>
                  <a:srgbClr val="000000"/>
                </a:solidFill>
                <a:effectLst/>
                <a:latin typeface="Times New Roman" panose="02020603050405020304" pitchFamily="18" charset="0"/>
                <a:cs typeface="Times New Roman" panose="02020603050405020304" pitchFamily="18" charset="0"/>
              </a:rPr>
              <a:t>Depilex</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Smileagain</a:t>
            </a:r>
            <a:r>
              <a:rPr lang="en-US" b="0" i="0" dirty="0">
                <a:solidFill>
                  <a:srgbClr val="000000"/>
                </a:solidFill>
                <a:effectLst/>
                <a:latin typeface="Times New Roman" panose="02020603050405020304" pitchFamily="18" charset="0"/>
                <a:cs typeface="Times New Roman" panose="02020603050405020304" pitchFamily="18" charset="0"/>
              </a:rPr>
              <a:t> Foundation, they are committed to provide acid attack survivors with not only medical care and assistance but also an opportunity to become productive, self-reliant members of society. Their vision extends beyond the immediate needs of the survivors and focuses on their long-term rehabilitation.</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F244AEE-7EDD-4E17-BEEE-984C8FE0DA7D}"/>
              </a:ext>
            </a:extLst>
          </p:cNvPr>
          <p:cNvSpPr>
            <a:spLocks noGrp="1"/>
          </p:cNvSpPr>
          <p:nvPr>
            <p:ph type="sldNum" sz="quarter" idx="12"/>
          </p:nvPr>
        </p:nvSpPr>
        <p:spPr/>
        <p:txBody>
          <a:bodyPr/>
          <a:lstStyle/>
          <a:p>
            <a:fld id="{B5CEABB6-07DC-46E8-9B57-56EC44A396E5}" type="slidenum">
              <a:rPr lang="en-US" smtClean="0"/>
              <a:pPr/>
              <a:t>25</a:t>
            </a:fld>
            <a:endParaRPr lang="en-US" dirty="0"/>
          </a:p>
        </p:txBody>
      </p:sp>
      <p:pic>
        <p:nvPicPr>
          <p:cNvPr id="11266" name="Picture 2">
            <a:extLst>
              <a:ext uri="{FF2B5EF4-FFF2-40B4-BE49-F238E27FC236}">
                <a16:creationId xmlns:a16="http://schemas.microsoft.com/office/drawing/2014/main" id="{41466D87-7F5D-44F0-967C-0BA32FB8D9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5357" y="3709146"/>
            <a:ext cx="1905000" cy="24003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4E92FFDF-ED30-4E1E-93C2-82A47544DB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9720" y="3709146"/>
            <a:ext cx="1905000" cy="2400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446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ADCAC-953C-4B74-AE1F-77F0DAFBC4CF}"/>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6F8952F5-5F5F-4DCB-A99A-321E3122596F}"/>
              </a:ext>
            </a:extLst>
          </p:cNvPr>
          <p:cNvSpPr>
            <a:spLocks noGrp="1"/>
          </p:cNvSpPr>
          <p:nvPr>
            <p:ph type="sldNum" sz="quarter" idx="12"/>
          </p:nvPr>
        </p:nvSpPr>
        <p:spPr/>
        <p:txBody>
          <a:bodyPr/>
          <a:lstStyle/>
          <a:p>
            <a:fld id="{B5CEABB6-07DC-46E8-9B57-56EC44A396E5}" type="slidenum">
              <a:rPr lang="en-US" smtClean="0"/>
              <a:pPr/>
              <a:t>26</a:t>
            </a:fld>
            <a:endParaRPr lang="en-US" dirty="0"/>
          </a:p>
        </p:txBody>
      </p:sp>
      <p:pic>
        <p:nvPicPr>
          <p:cNvPr id="6" name="Picture 5">
            <a:extLst>
              <a:ext uri="{FF2B5EF4-FFF2-40B4-BE49-F238E27FC236}">
                <a16:creationId xmlns:a16="http://schemas.microsoft.com/office/drawing/2014/main" id="{27053501-10AC-4FB5-B2B8-0EE640ACEE64}"/>
              </a:ext>
            </a:extLst>
          </p:cNvPr>
          <p:cNvPicPr>
            <a:picLocks noChangeAspect="1"/>
          </p:cNvPicPr>
          <p:nvPr/>
        </p:nvPicPr>
        <p:blipFill>
          <a:blip r:embed="rId2"/>
          <a:stretch>
            <a:fillRect/>
          </a:stretch>
        </p:blipFill>
        <p:spPr>
          <a:xfrm>
            <a:off x="1442766" y="1913851"/>
            <a:ext cx="7567316" cy="3817951"/>
          </a:xfrm>
          <a:prstGeom prst="rect">
            <a:avLst/>
          </a:prstGeom>
        </p:spPr>
      </p:pic>
    </p:spTree>
    <p:extLst>
      <p:ext uri="{BB962C8B-B14F-4D97-AF65-F5344CB8AC3E}">
        <p14:creationId xmlns:p14="http://schemas.microsoft.com/office/powerpoint/2010/main" val="2030981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B883B-338A-4F8A-AEC8-38EFB07FC704}"/>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0EB86245-D450-40D1-86C2-A357865E0FE5}"/>
              </a:ext>
            </a:extLst>
          </p:cNvPr>
          <p:cNvSpPr>
            <a:spLocks noGrp="1"/>
          </p:cNvSpPr>
          <p:nvPr>
            <p:ph type="sldNum" sz="quarter" idx="12"/>
          </p:nvPr>
        </p:nvSpPr>
        <p:spPr/>
        <p:txBody>
          <a:bodyPr/>
          <a:lstStyle/>
          <a:p>
            <a:fld id="{B5CEABB6-07DC-46E8-9B57-56EC44A396E5}" type="slidenum">
              <a:rPr lang="en-US" smtClean="0"/>
              <a:pPr/>
              <a:t>27</a:t>
            </a:fld>
            <a:endParaRPr lang="en-US" dirty="0"/>
          </a:p>
        </p:txBody>
      </p:sp>
      <p:pic>
        <p:nvPicPr>
          <p:cNvPr id="2052" name="Picture 4" descr="Vocational Education and Training - Blackfriars Priory School">
            <a:extLst>
              <a:ext uri="{FF2B5EF4-FFF2-40B4-BE49-F238E27FC236}">
                <a16:creationId xmlns:a16="http://schemas.microsoft.com/office/drawing/2014/main" id="{B03F6EF3-5D17-4952-94F0-A1F22A6D67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4006" y="2151529"/>
            <a:ext cx="7286438" cy="3361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8838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A9CE9-8D48-4B2E-A4C1-284D3621E11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Rehabilitation Service Center</a:t>
            </a:r>
          </a:p>
        </p:txBody>
      </p:sp>
      <p:sp>
        <p:nvSpPr>
          <p:cNvPr id="3" name="Text Placeholder 2">
            <a:extLst>
              <a:ext uri="{FF2B5EF4-FFF2-40B4-BE49-F238E27FC236}">
                <a16:creationId xmlns:a16="http://schemas.microsoft.com/office/drawing/2014/main" id="{E9B1E764-6DB6-45CB-8891-10E475778D76}"/>
              </a:ext>
            </a:extLst>
          </p:cNvPr>
          <p:cNvSpPr>
            <a:spLocks noGrp="1"/>
          </p:cNvSpPr>
          <p:nvPr>
            <p:ph type="body" sz="quarter" idx="13"/>
          </p:nvPr>
        </p:nvSpPr>
        <p:spPr/>
        <p:txBody>
          <a:bodyPr/>
          <a:lstStyle/>
          <a:p>
            <a:pPr algn="just"/>
            <a:r>
              <a:rPr lang="en-US" dirty="0">
                <a:latin typeface="Times New Roman" panose="02020603050405020304" pitchFamily="18" charset="0"/>
                <a:cs typeface="Times New Roman" panose="02020603050405020304" pitchFamily="18" charset="0"/>
              </a:rPr>
              <a:t>PSRD (Pakistan Society for the Rehabilitation of the Disabled) </a:t>
            </a:r>
          </a:p>
          <a:p>
            <a:pPr algn="just"/>
            <a:r>
              <a:rPr lang="en-US" dirty="0">
                <a:latin typeface="Times New Roman" panose="02020603050405020304" pitchFamily="18" charset="0"/>
                <a:cs typeface="Times New Roman" panose="02020603050405020304" pitchFamily="18" charset="0"/>
              </a:rPr>
              <a:t>Address: Galaxy Stop, The Pakistan Society For The </a:t>
            </a:r>
            <a:r>
              <a:rPr lang="en-US" dirty="0" err="1">
                <a:latin typeface="Times New Roman" panose="02020603050405020304" pitchFamily="18" charset="0"/>
                <a:cs typeface="Times New Roman" panose="02020603050405020304" pitchFamily="18" charset="0"/>
              </a:rPr>
              <a:t>Rehabilitaion</a:t>
            </a:r>
            <a:r>
              <a:rPr lang="en-US" dirty="0">
                <a:latin typeface="Times New Roman" panose="02020603050405020304" pitchFamily="18" charset="0"/>
                <a:cs typeface="Times New Roman" panose="02020603050405020304" pitchFamily="18" charset="0"/>
              </a:rPr>
              <a:t> of The Disabled, 111 Ferozepur Rd, </a:t>
            </a:r>
            <a:r>
              <a:rPr lang="en-US" dirty="0" err="1">
                <a:latin typeface="Times New Roman" panose="02020603050405020304" pitchFamily="18" charset="0"/>
                <a:cs typeface="Times New Roman" panose="02020603050405020304" pitchFamily="18" charset="0"/>
              </a:rPr>
              <a:t>Fazlia</a:t>
            </a:r>
            <a:r>
              <a:rPr lang="en-US" dirty="0">
                <a:latin typeface="Times New Roman" panose="02020603050405020304" pitchFamily="18" charset="0"/>
                <a:cs typeface="Times New Roman" panose="02020603050405020304" pitchFamily="18" charset="0"/>
              </a:rPr>
              <a:t> Colony, Lahore, Punjab </a:t>
            </a:r>
          </a:p>
          <a:p>
            <a:pPr algn="just"/>
            <a:r>
              <a:rPr lang="en-US" dirty="0">
                <a:latin typeface="Times New Roman" panose="02020603050405020304" pitchFamily="18" charset="0"/>
                <a:cs typeface="Times New Roman" panose="02020603050405020304" pitchFamily="18" charset="0"/>
              </a:rPr>
              <a:t>Hours: 8AM – 2pm </a:t>
            </a:r>
          </a:p>
          <a:p>
            <a:pPr algn="just"/>
            <a:r>
              <a:rPr lang="en-US" dirty="0">
                <a:latin typeface="Times New Roman" panose="02020603050405020304" pitchFamily="18" charset="0"/>
                <a:cs typeface="Times New Roman" panose="02020603050405020304" pitchFamily="18" charset="0"/>
              </a:rPr>
              <a:t>Phone: (042) 3742345</a:t>
            </a:r>
          </a:p>
        </p:txBody>
      </p:sp>
      <p:sp>
        <p:nvSpPr>
          <p:cNvPr id="4" name="Slide Number Placeholder 3">
            <a:extLst>
              <a:ext uri="{FF2B5EF4-FFF2-40B4-BE49-F238E27FC236}">
                <a16:creationId xmlns:a16="http://schemas.microsoft.com/office/drawing/2014/main" id="{A64BA863-25E1-497A-B604-9812F3E19F94}"/>
              </a:ext>
            </a:extLst>
          </p:cNvPr>
          <p:cNvSpPr>
            <a:spLocks noGrp="1"/>
          </p:cNvSpPr>
          <p:nvPr>
            <p:ph type="sldNum" sz="quarter" idx="12"/>
          </p:nvPr>
        </p:nvSpPr>
        <p:spPr/>
        <p:txBody>
          <a:bodyPr/>
          <a:lstStyle/>
          <a:p>
            <a:fld id="{B5CEABB6-07DC-46E8-9B57-56EC44A396E5}" type="slidenum">
              <a:rPr lang="en-US" smtClean="0"/>
              <a:pPr/>
              <a:t>28</a:t>
            </a:fld>
            <a:endParaRPr lang="en-US" dirty="0"/>
          </a:p>
        </p:txBody>
      </p:sp>
    </p:spTree>
    <p:extLst>
      <p:ext uri="{BB962C8B-B14F-4D97-AF65-F5344CB8AC3E}">
        <p14:creationId xmlns:p14="http://schemas.microsoft.com/office/powerpoint/2010/main" val="2997039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A7CC9-56AA-462C-8D8F-E3C43676577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C98A460-DA70-40CF-A104-28A40FBF8433}"/>
              </a:ext>
            </a:extLst>
          </p:cNvPr>
          <p:cNvSpPr>
            <a:spLocks noGrp="1"/>
          </p:cNvSpPr>
          <p:nvPr>
            <p:ph type="body" sz="quarter" idx="13"/>
          </p:nvPr>
        </p:nvSpPr>
        <p:spPr/>
        <p:txBody>
          <a:bodyPr/>
          <a:lstStyle/>
          <a:p>
            <a:pPr algn="just"/>
            <a:r>
              <a:rPr lang="en-US" dirty="0">
                <a:latin typeface="Times New Roman" panose="02020603050405020304" pitchFamily="18" charset="0"/>
                <a:cs typeface="Times New Roman" panose="02020603050405020304" pitchFamily="18" charset="0"/>
              </a:rPr>
              <a:t>In the end, especially being Muslims, we must take care of our fellow Brothers and Sisters. Islam has strongly recommended the Social Service. It not only increases our good deeds but also makes our </a:t>
            </a:r>
            <a:r>
              <a:rPr lang="en-US" dirty="0" err="1">
                <a:latin typeface="Times New Roman" panose="02020603050405020304" pitchFamily="18" charset="0"/>
                <a:cs typeface="Times New Roman" panose="02020603050405020304" pitchFamily="18" charset="0"/>
              </a:rPr>
              <a:t>iman</a:t>
            </a:r>
            <a:r>
              <a:rPr lang="en-US" dirty="0">
                <a:latin typeface="Times New Roman" panose="02020603050405020304" pitchFamily="18" charset="0"/>
                <a:cs typeface="Times New Roman" panose="02020603050405020304" pitchFamily="18" charset="0"/>
              </a:rPr>
              <a:t> stronger and makes us better humans Not To forget Ihsan (Doing of Good). On the Day of Judgement, we all have to be responsible for our actions. DO good Have good. </a:t>
            </a:r>
          </a:p>
        </p:txBody>
      </p:sp>
      <p:sp>
        <p:nvSpPr>
          <p:cNvPr id="4" name="Slide Number Placeholder 3">
            <a:extLst>
              <a:ext uri="{FF2B5EF4-FFF2-40B4-BE49-F238E27FC236}">
                <a16:creationId xmlns:a16="http://schemas.microsoft.com/office/drawing/2014/main" id="{E3032497-280B-40A9-858E-81B4A583B5BF}"/>
              </a:ext>
            </a:extLst>
          </p:cNvPr>
          <p:cNvSpPr>
            <a:spLocks noGrp="1"/>
          </p:cNvSpPr>
          <p:nvPr>
            <p:ph type="sldNum" sz="quarter" idx="12"/>
          </p:nvPr>
        </p:nvSpPr>
        <p:spPr/>
        <p:txBody>
          <a:bodyPr/>
          <a:lstStyle/>
          <a:p>
            <a:fld id="{B5CEABB6-07DC-46E8-9B57-56EC44A396E5}" type="slidenum">
              <a:rPr lang="en-US" smtClean="0"/>
              <a:pPr/>
              <a:t>29</a:t>
            </a:fld>
            <a:endParaRPr lang="en-US" dirty="0"/>
          </a:p>
        </p:txBody>
      </p:sp>
    </p:spTree>
    <p:extLst>
      <p:ext uri="{BB962C8B-B14F-4D97-AF65-F5344CB8AC3E}">
        <p14:creationId xmlns:p14="http://schemas.microsoft.com/office/powerpoint/2010/main" val="21433848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E83EC6-E685-44FC-8091-D8DA9425FD8F}"/>
              </a:ext>
            </a:extLst>
          </p:cNvPr>
          <p:cNvSpPr>
            <a:spLocks noGrp="1"/>
          </p:cNvSpPr>
          <p:nvPr>
            <p:ph type="ctrTitle"/>
          </p:nvPr>
        </p:nvSpPr>
        <p:spPr>
          <a:xfrm>
            <a:off x="5208494" y="960120"/>
            <a:ext cx="6678706" cy="3056343"/>
          </a:xfrm>
        </p:spPr>
        <p:txBody>
          <a:bodyPr/>
          <a:lstStyle/>
          <a:p>
            <a:pPr algn="ctr"/>
            <a:r>
              <a:rPr lang="en-US" dirty="0">
                <a:latin typeface="Times New Roman" panose="02020603050405020304" pitchFamily="18" charset="0"/>
                <a:cs typeface="Times New Roman" panose="02020603050405020304" pitchFamily="18" charset="0"/>
              </a:rPr>
              <a:t>Preventive Function</a:t>
            </a:r>
          </a:p>
        </p:txBody>
      </p:sp>
    </p:spTree>
    <p:extLst>
      <p:ext uri="{BB962C8B-B14F-4D97-AF65-F5344CB8AC3E}">
        <p14:creationId xmlns:p14="http://schemas.microsoft.com/office/powerpoint/2010/main" val="32105587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D049E-9A3E-4F8C-9760-B9C7F883AAE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PREVENTIVE FUNCTION</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132DAB6-D101-441F-B167-88205ECA8357}"/>
              </a:ext>
            </a:extLst>
          </p:cNvPr>
          <p:cNvSpPr>
            <a:spLocks noGrp="1"/>
          </p:cNvSpPr>
          <p:nvPr>
            <p:ph type="body" sz="quarter" idx="13"/>
          </p:nvPr>
        </p:nvSpPr>
        <p:spPr>
          <a:xfrm>
            <a:off x="865631" y="2072640"/>
            <a:ext cx="8762463" cy="3978536"/>
          </a:xfrm>
        </p:spPr>
        <p:txBody>
          <a:bodyPr>
            <a:normAutofit fontScale="85000" lnSpcReduction="10000"/>
          </a:bodyPr>
          <a:lstStyle/>
          <a:p>
            <a:pPr algn="just"/>
            <a:r>
              <a:rPr lang="en-US" b="0" i="0" dirty="0">
                <a:effectLst/>
                <a:latin typeface="Times New Roman" panose="02020603050405020304" pitchFamily="18" charset="0"/>
                <a:cs typeface="Times New Roman" panose="02020603050405020304" pitchFamily="18" charset="0"/>
              </a:rPr>
              <a:t>Prevention – also called preventive health – means any action taken to keep people healthy and well, and prevent or avoid risk of poor health, illness, injury and early death. </a:t>
            </a:r>
          </a:p>
          <a:p>
            <a:pPr algn="just"/>
            <a:r>
              <a:rPr lang="en-US" b="0" i="0" dirty="0">
                <a:effectLst/>
                <a:latin typeface="Times New Roman" panose="02020603050405020304" pitchFamily="18" charset="0"/>
                <a:cs typeface="Times New Roman" panose="02020603050405020304" pitchFamily="18" charset="0"/>
              </a:rPr>
              <a:t>Prevention aims to increase the likelihood that people will stay healthy and well for as long as possible.</a:t>
            </a:r>
            <a:r>
              <a:rPr lang="en-US" dirty="0">
                <a:latin typeface="Times New Roman" panose="02020603050405020304" pitchFamily="18" charset="0"/>
                <a:cs typeface="Times New Roman" panose="02020603050405020304" pitchFamily="18" charset="0"/>
              </a:rPr>
              <a:t> </a:t>
            </a:r>
          </a:p>
          <a:p>
            <a:pPr algn="just"/>
            <a:r>
              <a:rPr lang="en-US" b="0" i="0" dirty="0">
                <a:effectLst/>
                <a:latin typeface="Times New Roman" panose="02020603050405020304" pitchFamily="18" charset="0"/>
                <a:cs typeface="Times New Roman" panose="02020603050405020304" pitchFamily="18" charset="0"/>
              </a:rPr>
              <a:t>Effective prevention decreases the risk of individuals experiencing a disease, condition or injury.  It also supports people to effectively manage existing diseases or conditions, so their health does not worsen.</a:t>
            </a:r>
          </a:p>
          <a:p>
            <a:pPr algn="just"/>
            <a:r>
              <a:rPr lang="en-US" b="0" i="0" dirty="0">
                <a:effectLst/>
                <a:latin typeface="Times New Roman" panose="02020603050405020304" pitchFamily="18" charset="0"/>
                <a:cs typeface="Times New Roman" panose="02020603050405020304" pitchFamily="18" charset="0"/>
              </a:rPr>
              <a:t>The Prevention Centre focuses on the prevention of chronic diseases and conditions.</a:t>
            </a:r>
            <a:endParaRPr lang="en-US" dirty="0">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Examples include immunization against disease, maintaining a healthy diet and exercise regimen, and avoiding smoking.</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7EC75442-E41B-4555-B74B-50C8C19455EB}"/>
              </a:ext>
            </a:extLst>
          </p:cNvPr>
          <p:cNvSpPr>
            <a:spLocks noGrp="1"/>
          </p:cNvSpPr>
          <p:nvPr>
            <p:ph type="sldNum" sz="quarter" idx="12"/>
          </p:nvPr>
        </p:nvSpPr>
        <p:spPr/>
        <p:txBody>
          <a:bodyPr/>
          <a:lstStyle/>
          <a:p>
            <a:fld id="{B5CEABB6-07DC-46E8-9B57-56EC44A396E5}" type="slidenum">
              <a:rPr lang="en-US" smtClean="0"/>
              <a:pPr/>
              <a:t>31</a:t>
            </a:fld>
            <a:endParaRPr lang="en-US" dirty="0"/>
          </a:p>
        </p:txBody>
      </p:sp>
    </p:spTree>
    <p:extLst>
      <p:ext uri="{BB962C8B-B14F-4D97-AF65-F5344CB8AC3E}">
        <p14:creationId xmlns:p14="http://schemas.microsoft.com/office/powerpoint/2010/main" val="2386117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3CEF86C-B0E9-4B99-857F-ECE74D77CA73}"/>
              </a:ext>
            </a:extLst>
          </p:cNvPr>
          <p:cNvPicPr>
            <a:picLocks noChangeAspect="1"/>
          </p:cNvPicPr>
          <p:nvPr/>
        </p:nvPicPr>
        <p:blipFill>
          <a:blip r:embed="rId2"/>
          <a:stretch>
            <a:fillRect/>
          </a:stretch>
        </p:blipFill>
        <p:spPr>
          <a:xfrm>
            <a:off x="1968301" y="865094"/>
            <a:ext cx="6521275" cy="5127811"/>
          </a:xfrm>
          <a:prstGeom prst="rect">
            <a:avLst/>
          </a:prstGeom>
        </p:spPr>
      </p:pic>
      <p:sp>
        <p:nvSpPr>
          <p:cNvPr id="4" name="Slide Number Placeholder 3">
            <a:extLst>
              <a:ext uri="{FF2B5EF4-FFF2-40B4-BE49-F238E27FC236}">
                <a16:creationId xmlns:a16="http://schemas.microsoft.com/office/drawing/2014/main" id="{E6ED58BC-8F99-4B0F-8A56-8F60C8A02D0E}"/>
              </a:ext>
            </a:extLst>
          </p:cNvPr>
          <p:cNvSpPr>
            <a:spLocks noGrp="1"/>
          </p:cNvSpPr>
          <p:nvPr>
            <p:ph type="sldNum" sz="quarter" idx="12"/>
          </p:nvPr>
        </p:nvSpPr>
        <p:spPr/>
        <p:txBody>
          <a:bodyPr/>
          <a:lstStyle/>
          <a:p>
            <a:fld id="{B5CEABB6-07DC-46E8-9B57-56EC44A396E5}" type="slidenum">
              <a:rPr lang="en-US" smtClean="0"/>
              <a:pPr/>
              <a:t>32</a:t>
            </a:fld>
            <a:endParaRPr lang="en-US" dirty="0"/>
          </a:p>
        </p:txBody>
      </p:sp>
    </p:spTree>
    <p:extLst>
      <p:ext uri="{BB962C8B-B14F-4D97-AF65-F5344CB8AC3E}">
        <p14:creationId xmlns:p14="http://schemas.microsoft.com/office/powerpoint/2010/main" val="18594442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DDD8-3394-6FB2-960C-451DEBD7F640}"/>
              </a:ext>
            </a:extLst>
          </p:cNvPr>
          <p:cNvSpPr>
            <a:spLocks noGrp="1"/>
          </p:cNvSpPr>
          <p:nvPr>
            <p:ph type="title"/>
          </p:nvPr>
        </p:nvSpPr>
        <p:spPr>
          <a:xfrm>
            <a:off x="4840941" y="176784"/>
            <a:ext cx="7119411" cy="3621024"/>
          </a:xfrm>
        </p:spPr>
        <p:txBody>
          <a:bodyPr>
            <a:normAutofit/>
          </a:bodyPr>
          <a:lstStyle/>
          <a:p>
            <a:pPr algn="ctr"/>
            <a:r>
              <a:rPr lang="en-ZA" dirty="0">
                <a:latin typeface="Times New Roman" panose="02020603050405020304" pitchFamily="18" charset="0"/>
                <a:cs typeface="Times New Roman" panose="02020603050405020304" pitchFamily="18" charset="0"/>
              </a:rPr>
              <a:t>Stress Management </a:t>
            </a:r>
          </a:p>
        </p:txBody>
      </p:sp>
      <p:pic>
        <p:nvPicPr>
          <p:cNvPr id="12" name="Picture Placeholder 11" descr="A person in a yellow shirt">
            <a:extLst>
              <a:ext uri="{FF2B5EF4-FFF2-40B4-BE49-F238E27FC236}">
                <a16:creationId xmlns:a16="http://schemas.microsoft.com/office/drawing/2014/main" id="{BC85F8C0-B84C-01D2-4208-5596D725B2B0}"/>
              </a:ext>
            </a:extLst>
          </p:cNvPr>
          <p:cNvPicPr>
            <a:picLocks noGrp="1" noChangeAspect="1"/>
          </p:cNvPicPr>
          <p:nvPr>
            <p:ph type="pic" sz="quarter" idx="10"/>
          </p:nvPr>
        </p:nvPicPr>
        <p:blipFill>
          <a:blip r:embed="rId2"/>
          <a:srcRect l="33" r="33"/>
          <a:stretch/>
        </p:blipFill>
        <p:spPr>
          <a:xfrm>
            <a:off x="-15240" y="-15240"/>
            <a:ext cx="4581525" cy="6602413"/>
          </a:xfrm>
        </p:spPr>
      </p:pic>
      <p:sp>
        <p:nvSpPr>
          <p:cNvPr id="4" name="Text Placeholder 3">
            <a:extLst>
              <a:ext uri="{FF2B5EF4-FFF2-40B4-BE49-F238E27FC236}">
                <a16:creationId xmlns:a16="http://schemas.microsoft.com/office/drawing/2014/main" id="{51D6AA66-EC20-FCAE-04B0-6BEB18463C2D}"/>
              </a:ext>
            </a:extLst>
          </p:cNvPr>
          <p:cNvSpPr>
            <a:spLocks noGrp="1"/>
          </p:cNvSpPr>
          <p:nvPr>
            <p:ph type="body" sz="quarter" idx="11"/>
          </p:nvPr>
        </p:nvSpPr>
        <p:spPr>
          <a:xfrm>
            <a:off x="6096000" y="4084320"/>
            <a:ext cx="5864225" cy="2362835"/>
          </a:xfrm>
        </p:spPr>
        <p:txBody>
          <a:bodyPr/>
          <a:lstStyle/>
          <a:p>
            <a:endParaRPr lang="en-US" dirty="0"/>
          </a:p>
        </p:txBody>
      </p:sp>
    </p:spTree>
    <p:extLst>
      <p:ext uri="{BB962C8B-B14F-4D97-AF65-F5344CB8AC3E}">
        <p14:creationId xmlns:p14="http://schemas.microsoft.com/office/powerpoint/2010/main" val="3590816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573D3C-3B72-491B-B958-5E29C59387AB}"/>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What is Stress?</a:t>
            </a:r>
            <a:endParaRPr lang="en-US"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420188AE-4D1D-4BC5-9057-04BB4B1028DD}"/>
              </a:ext>
            </a:extLst>
          </p:cNvPr>
          <p:cNvSpPr>
            <a:spLocks noGrp="1"/>
          </p:cNvSpPr>
          <p:nvPr>
            <p:ph type="body" sz="quarter" idx="13"/>
          </p:nvPr>
        </p:nvSpPr>
        <p:spPr/>
        <p:txBody>
          <a:bodyPr>
            <a:normAutofit/>
          </a:bodyPr>
          <a:lstStyle/>
          <a:p>
            <a:pPr algn="just"/>
            <a:r>
              <a:rPr lang="en-US" sz="2000" b="1" dirty="0">
                <a:solidFill>
                  <a:schemeClr val="tx1"/>
                </a:solidFill>
                <a:latin typeface="Times New Roman" panose="02020603050405020304" pitchFamily="18" charset="0"/>
                <a:cs typeface="Times New Roman" panose="02020603050405020304" pitchFamily="18" charset="0"/>
              </a:rPr>
              <a:t>Stress:  </a:t>
            </a:r>
            <a:r>
              <a:rPr lang="en-US" sz="2000" dirty="0">
                <a:solidFill>
                  <a:schemeClr val="tx1"/>
                </a:solidFill>
                <a:latin typeface="Times New Roman" panose="02020603050405020304" pitchFamily="18" charset="0"/>
                <a:cs typeface="Times New Roman" panose="02020603050405020304" pitchFamily="18" charset="0"/>
              </a:rPr>
              <a:t>Stress is the reaction people have to excessive pressures or other types of demand placed upon them. It arises when they worry that they can’t cope. </a:t>
            </a:r>
          </a:p>
          <a:p>
            <a:pPr algn="just"/>
            <a:r>
              <a:rPr lang="en-US" sz="2000" dirty="0">
                <a:solidFill>
                  <a:schemeClr val="tx1"/>
                </a:solidFill>
                <a:latin typeface="Times New Roman" panose="02020603050405020304" pitchFamily="18" charset="0"/>
                <a:cs typeface="Times New Roman" panose="02020603050405020304" pitchFamily="18" charset="0"/>
              </a:rPr>
              <a:t>One may feel; worry, tense, tired, frightened, elated, depressed, anxious, anger etc.</a:t>
            </a:r>
          </a:p>
          <a:p>
            <a:pPr algn="just"/>
            <a:r>
              <a:rPr lang="en-US" sz="2000" b="1" dirty="0">
                <a:solidFill>
                  <a:schemeClr val="tx1"/>
                </a:solidFill>
                <a:latin typeface="Times New Roman" panose="02020603050405020304" pitchFamily="18" charset="0"/>
                <a:cs typeface="Times New Roman" panose="02020603050405020304" pitchFamily="18" charset="0"/>
              </a:rPr>
              <a:t>Coping:  </a:t>
            </a:r>
            <a:r>
              <a:rPr lang="en-US" sz="2000" dirty="0">
                <a:solidFill>
                  <a:schemeClr val="tx1"/>
                </a:solidFill>
                <a:latin typeface="Times New Roman" panose="02020603050405020304" pitchFamily="18" charset="0"/>
                <a:cs typeface="Times New Roman" panose="02020603050405020304" pitchFamily="18" charset="0"/>
              </a:rPr>
              <a:t>The ability to maintain control, think rationally, and solve problems. </a:t>
            </a:r>
            <a:endParaRPr lang="x-none" sz="2000" dirty="0">
              <a:solidFill>
                <a:schemeClr val="tx1"/>
              </a:solidFill>
              <a:latin typeface="Times New Roman" panose="02020603050405020304" pitchFamily="18" charset="0"/>
              <a:cs typeface="Times New Roman" panose="02020603050405020304" pitchFamily="18" charset="0"/>
            </a:endParaRPr>
          </a:p>
          <a:p>
            <a:endParaRPr lang="en-US" dirty="0"/>
          </a:p>
        </p:txBody>
      </p:sp>
      <p:pic>
        <p:nvPicPr>
          <p:cNvPr id="2052" name="Picture 4" descr="10 tried &amp; tested stress management techniques for entrepreneurs | Time etc">
            <a:extLst>
              <a:ext uri="{FF2B5EF4-FFF2-40B4-BE49-F238E27FC236}">
                <a16:creationId xmlns:a16="http://schemas.microsoft.com/office/drawing/2014/main" id="{D2F0EF0D-3B12-4DCB-8E41-7D1F97D29A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6704" y="350424"/>
            <a:ext cx="2563907" cy="1603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35529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D30D2A1-CE38-4B82-8591-2E101620AE22}"/>
              </a:ext>
            </a:extLst>
          </p:cNvPr>
          <p:cNvSpPr>
            <a:spLocks noGrp="1"/>
          </p:cNvSpPr>
          <p:nvPr>
            <p:ph type="sldNum" sz="quarter" idx="12"/>
          </p:nvPr>
        </p:nvSpPr>
        <p:spPr/>
        <p:txBody>
          <a:bodyPr/>
          <a:lstStyle/>
          <a:p>
            <a:fld id="{B5CEABB6-07DC-46E8-9B57-56EC44A396E5}" type="slidenum">
              <a:rPr lang="en-US" smtClean="0"/>
              <a:pPr/>
              <a:t>35</a:t>
            </a:fld>
            <a:endParaRPr lang="en-US" dirty="0"/>
          </a:p>
        </p:txBody>
      </p:sp>
      <p:pic>
        <p:nvPicPr>
          <p:cNvPr id="3076" name="Picture 4" descr="stress management technique">
            <a:extLst>
              <a:ext uri="{FF2B5EF4-FFF2-40B4-BE49-F238E27FC236}">
                <a16:creationId xmlns:a16="http://schemas.microsoft.com/office/drawing/2014/main" id="{97EE8CC4-7498-4C6D-A0CD-B7FA3EEFC2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9740" y="246253"/>
            <a:ext cx="4848225" cy="5836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568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8BE19-9B23-4409-99B5-03C821448423}"/>
              </a:ext>
            </a:extLst>
          </p:cNvPr>
          <p:cNvSpPr>
            <a:spLocks noGrp="1"/>
          </p:cNvSpPr>
          <p:nvPr>
            <p:ph type="title"/>
          </p:nvPr>
        </p:nvSpPr>
        <p:spPr/>
        <p:txBody>
          <a:bodyPr/>
          <a:lstStyle/>
          <a:p>
            <a:r>
              <a:rPr lang="en-US" altLang="en-US" sz="2800" b="1" dirty="0">
                <a:solidFill>
                  <a:schemeClr val="tx1">
                    <a:lumMod val="95000"/>
                    <a:lumOff val="5000"/>
                  </a:schemeClr>
                </a:solidFill>
                <a:latin typeface="Times New Roman" pitchFamily="18" charset="0"/>
                <a:cs typeface="Times New Roman" pitchFamily="18" charset="0"/>
              </a:rPr>
              <a:t>Is All Stress Bad?</a:t>
            </a:r>
            <a:br>
              <a:rPr lang="en-US" sz="2800" b="1" dirty="0">
                <a:solidFill>
                  <a:schemeClr val="tx1">
                    <a:lumMod val="95000"/>
                    <a:lumOff val="5000"/>
                  </a:schemeClr>
                </a:solidFill>
                <a:latin typeface="Times New Roman" pitchFamily="18" charset="0"/>
                <a:cs typeface="Times New Roman" pitchFamily="18" charset="0"/>
              </a:rPr>
            </a:br>
            <a:endParaRPr lang="en-US" dirty="0"/>
          </a:p>
        </p:txBody>
      </p:sp>
      <p:sp>
        <p:nvSpPr>
          <p:cNvPr id="3" name="Text Placeholder 2">
            <a:extLst>
              <a:ext uri="{FF2B5EF4-FFF2-40B4-BE49-F238E27FC236}">
                <a16:creationId xmlns:a16="http://schemas.microsoft.com/office/drawing/2014/main" id="{9765730D-A765-49CF-9453-527AC2C26C7F}"/>
              </a:ext>
            </a:extLst>
          </p:cNvPr>
          <p:cNvSpPr>
            <a:spLocks noGrp="1"/>
          </p:cNvSpPr>
          <p:nvPr>
            <p:ph type="body" sz="quarter" idx="13"/>
          </p:nvPr>
        </p:nvSpPr>
        <p:spPr>
          <a:xfrm>
            <a:off x="865631" y="2072640"/>
            <a:ext cx="8324089" cy="2104913"/>
          </a:xfrm>
        </p:spPr>
        <p:txBody>
          <a:bodyPr/>
          <a:lstStyle/>
          <a:p>
            <a:pPr marL="0" indent="0">
              <a:buNone/>
            </a:pPr>
            <a:r>
              <a:rPr lang="en-US" sz="2000" dirty="0">
                <a:solidFill>
                  <a:schemeClr val="tx1">
                    <a:lumMod val="95000"/>
                    <a:lumOff val="5000"/>
                  </a:schemeClr>
                </a:solidFill>
                <a:latin typeface="Times New Roman" pitchFamily="18" charset="0"/>
                <a:cs typeface="Times New Roman" pitchFamily="18" charset="0"/>
              </a:rPr>
              <a:t>Moderate levels of stress may actually improve performance and efficiency</a:t>
            </a:r>
            <a:endParaRPr lang="en-US" dirty="0">
              <a:solidFill>
                <a:schemeClr val="tx1">
                  <a:lumMod val="95000"/>
                  <a:lumOff val="5000"/>
                </a:schemeClr>
              </a:solidFill>
              <a:latin typeface="Times New Roman" pitchFamily="18" charset="0"/>
              <a:cs typeface="Times New Roman" pitchFamily="18" charset="0"/>
            </a:endParaRPr>
          </a:p>
          <a:p>
            <a:pPr marL="457200" indent="-457200">
              <a:buFont typeface="+mj-lt"/>
              <a:buAutoNum type="arabicPeriod"/>
            </a:pPr>
            <a:r>
              <a:rPr lang="en-US" sz="2000" dirty="0">
                <a:solidFill>
                  <a:schemeClr val="tx1">
                    <a:lumMod val="95000"/>
                    <a:lumOff val="5000"/>
                  </a:schemeClr>
                </a:solidFill>
                <a:latin typeface="Times New Roman" pitchFamily="18" charset="0"/>
                <a:cs typeface="Times New Roman" pitchFamily="18" charset="0"/>
              </a:rPr>
              <a:t>Too little stress may result in boredom</a:t>
            </a:r>
            <a:endParaRPr lang="en-US" dirty="0">
              <a:solidFill>
                <a:schemeClr val="tx1">
                  <a:lumMod val="95000"/>
                  <a:lumOff val="5000"/>
                </a:schemeClr>
              </a:solidFill>
              <a:latin typeface="Times New Roman" pitchFamily="18" charset="0"/>
              <a:cs typeface="Times New Roman" pitchFamily="18" charset="0"/>
            </a:endParaRPr>
          </a:p>
          <a:p>
            <a:pPr marL="457200" indent="-457200">
              <a:buFont typeface="+mj-lt"/>
              <a:buAutoNum type="arabicPeriod"/>
            </a:pPr>
            <a:r>
              <a:rPr lang="en-US" sz="2000" dirty="0">
                <a:solidFill>
                  <a:schemeClr val="tx1">
                    <a:lumMod val="95000"/>
                    <a:lumOff val="5000"/>
                  </a:schemeClr>
                </a:solidFill>
                <a:latin typeface="Times New Roman" pitchFamily="18" charset="0"/>
                <a:cs typeface="Times New Roman" pitchFamily="18" charset="0"/>
              </a:rPr>
              <a:t>Too much stress may cause an unproductive anxiety level</a:t>
            </a:r>
            <a:br>
              <a:rPr lang="en-US" sz="2000" dirty="0">
                <a:solidFill>
                  <a:schemeClr val="tx1">
                    <a:lumMod val="95000"/>
                    <a:lumOff val="5000"/>
                  </a:schemeClr>
                </a:solidFill>
                <a:latin typeface="Times New Roman" pitchFamily="18" charset="0"/>
                <a:cs typeface="Times New Roman" pitchFamily="18" charset="0"/>
              </a:rPr>
            </a:br>
            <a:endParaRPr lang="en-US" dirty="0"/>
          </a:p>
        </p:txBody>
      </p:sp>
      <p:sp>
        <p:nvSpPr>
          <p:cNvPr id="4" name="Slide Number Placeholder 3">
            <a:extLst>
              <a:ext uri="{FF2B5EF4-FFF2-40B4-BE49-F238E27FC236}">
                <a16:creationId xmlns:a16="http://schemas.microsoft.com/office/drawing/2014/main" id="{B6E29CCA-A41E-4A92-86CF-4319A21570FC}"/>
              </a:ext>
            </a:extLst>
          </p:cNvPr>
          <p:cNvSpPr>
            <a:spLocks noGrp="1"/>
          </p:cNvSpPr>
          <p:nvPr>
            <p:ph type="sldNum" sz="quarter" idx="12"/>
          </p:nvPr>
        </p:nvSpPr>
        <p:spPr/>
        <p:txBody>
          <a:bodyPr/>
          <a:lstStyle/>
          <a:p>
            <a:fld id="{B5CEABB6-07DC-46E8-9B57-56EC44A396E5}" type="slidenum">
              <a:rPr lang="en-US" smtClean="0"/>
              <a:pPr/>
              <a:t>36</a:t>
            </a:fld>
            <a:endParaRPr lang="en-US" dirty="0"/>
          </a:p>
        </p:txBody>
      </p:sp>
      <p:pic>
        <p:nvPicPr>
          <p:cNvPr id="5" name="Picture 2">
            <a:extLst>
              <a:ext uri="{FF2B5EF4-FFF2-40B4-BE49-F238E27FC236}">
                <a16:creationId xmlns:a16="http://schemas.microsoft.com/office/drawing/2014/main" id="{E529189B-5CF6-43F4-8519-83EF1E59DC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2059" y="4177553"/>
            <a:ext cx="4347882" cy="2104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2243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EA525-EAF1-4F46-A3B3-28A682C72B6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Causes</a:t>
            </a:r>
          </a:p>
        </p:txBody>
      </p:sp>
      <p:sp>
        <p:nvSpPr>
          <p:cNvPr id="3" name="Text Placeholder 2">
            <a:extLst>
              <a:ext uri="{FF2B5EF4-FFF2-40B4-BE49-F238E27FC236}">
                <a16:creationId xmlns:a16="http://schemas.microsoft.com/office/drawing/2014/main" id="{8F0E866E-C546-49C9-B9AE-DB9CC6757982}"/>
              </a:ext>
            </a:extLst>
          </p:cNvPr>
          <p:cNvSpPr>
            <a:spLocks noGrp="1"/>
          </p:cNvSpPr>
          <p:nvPr>
            <p:ph type="body" sz="quarter" idx="13"/>
          </p:nvPr>
        </p:nvSpPr>
        <p:spPr/>
        <p:txBody>
          <a:bodyPr/>
          <a:lstStyle/>
          <a:p>
            <a:pPr algn="just"/>
            <a:r>
              <a:rPr lang="en-US" sz="2000" b="1" i="1" dirty="0">
                <a:solidFill>
                  <a:schemeClr val="tx1">
                    <a:lumMod val="95000"/>
                    <a:lumOff val="5000"/>
                  </a:schemeClr>
                </a:solidFill>
                <a:latin typeface="Times New Roman" pitchFamily="18" charset="0"/>
                <a:cs typeface="Times New Roman" pitchFamily="18" charset="0"/>
              </a:rPr>
              <a:t>Academics:</a:t>
            </a:r>
            <a:r>
              <a:rPr lang="en-US" sz="2000" dirty="0">
                <a:solidFill>
                  <a:schemeClr val="tx1">
                    <a:lumMod val="95000"/>
                    <a:lumOff val="5000"/>
                  </a:schemeClr>
                </a:solidFill>
                <a:latin typeface="Times New Roman" pitchFamily="18" charset="0"/>
                <a:cs typeface="Times New Roman" pitchFamily="18" charset="0"/>
              </a:rPr>
              <a:t> workload, challenging classes, packed schedule, studying.</a:t>
            </a:r>
          </a:p>
          <a:p>
            <a:pPr algn="just"/>
            <a:r>
              <a:rPr lang="en-US" sz="2000" b="1" i="1" dirty="0">
                <a:solidFill>
                  <a:schemeClr val="tx1">
                    <a:lumMod val="95000"/>
                    <a:lumOff val="5000"/>
                  </a:schemeClr>
                </a:solidFill>
                <a:latin typeface="Times New Roman" pitchFamily="18" charset="0"/>
                <a:cs typeface="Times New Roman" pitchFamily="18" charset="0"/>
              </a:rPr>
              <a:t>Social obstacles: </a:t>
            </a:r>
            <a:r>
              <a:rPr lang="en-US" sz="2000" dirty="0">
                <a:solidFill>
                  <a:schemeClr val="tx1">
                    <a:lumMod val="95000"/>
                    <a:lumOff val="5000"/>
                  </a:schemeClr>
                </a:solidFill>
                <a:latin typeface="Times New Roman" pitchFamily="18" charset="0"/>
                <a:cs typeface="Times New Roman" pitchFamily="18" charset="0"/>
              </a:rPr>
              <a:t>making friends, independence, balancing life.</a:t>
            </a:r>
          </a:p>
          <a:p>
            <a:pPr algn="just"/>
            <a:r>
              <a:rPr lang="en-US" sz="2000" b="1" i="1" dirty="0">
                <a:solidFill>
                  <a:schemeClr val="tx1">
                    <a:lumMod val="95000"/>
                    <a:lumOff val="5000"/>
                  </a:schemeClr>
                </a:solidFill>
                <a:latin typeface="Times New Roman" pitchFamily="18" charset="0"/>
                <a:cs typeface="Times New Roman" pitchFamily="18" charset="0"/>
              </a:rPr>
              <a:t>Time management: </a:t>
            </a:r>
            <a:r>
              <a:rPr lang="en-US" sz="2000" dirty="0">
                <a:solidFill>
                  <a:schemeClr val="tx1">
                    <a:lumMod val="95000"/>
                    <a:lumOff val="5000"/>
                  </a:schemeClr>
                </a:solidFill>
                <a:latin typeface="Times New Roman" pitchFamily="18" charset="0"/>
                <a:cs typeface="Times New Roman" pitchFamily="18" charset="0"/>
              </a:rPr>
              <a:t>organizing, deadlines, procrastination.</a:t>
            </a:r>
          </a:p>
          <a:p>
            <a:pPr algn="just"/>
            <a:r>
              <a:rPr lang="en-US" sz="2000" b="1" i="1" dirty="0">
                <a:solidFill>
                  <a:schemeClr val="tx1">
                    <a:lumMod val="95000"/>
                    <a:lumOff val="5000"/>
                  </a:schemeClr>
                </a:solidFill>
                <a:latin typeface="Times New Roman" pitchFamily="18" charset="0"/>
                <a:cs typeface="Times New Roman" pitchFamily="18" charset="0"/>
              </a:rPr>
              <a:t>Financial difficulties: </a:t>
            </a:r>
            <a:r>
              <a:rPr lang="en-US" sz="2000" dirty="0">
                <a:solidFill>
                  <a:schemeClr val="tx1">
                    <a:lumMod val="95000"/>
                    <a:lumOff val="5000"/>
                  </a:schemeClr>
                </a:solidFill>
                <a:latin typeface="Times New Roman" pitchFamily="18" charset="0"/>
                <a:cs typeface="Times New Roman" pitchFamily="18" charset="0"/>
              </a:rPr>
              <a:t>university expenses, living cost, food costs.</a:t>
            </a:r>
          </a:p>
          <a:p>
            <a:pPr algn="just"/>
            <a:r>
              <a:rPr lang="en-US" sz="2000" b="1" i="1" dirty="0">
                <a:solidFill>
                  <a:schemeClr val="tx1">
                    <a:lumMod val="95000"/>
                    <a:lumOff val="5000"/>
                  </a:schemeClr>
                </a:solidFill>
                <a:latin typeface="Times New Roman" pitchFamily="18" charset="0"/>
                <a:cs typeface="Times New Roman" pitchFamily="18" charset="0"/>
              </a:rPr>
              <a:t>Other: </a:t>
            </a:r>
            <a:r>
              <a:rPr lang="en-US" sz="2000" dirty="0">
                <a:solidFill>
                  <a:schemeClr val="tx1">
                    <a:lumMod val="95000"/>
                    <a:lumOff val="5000"/>
                  </a:schemeClr>
                </a:solidFill>
                <a:latin typeface="Times New Roman" pitchFamily="18" charset="0"/>
                <a:cs typeface="Times New Roman" pitchFamily="18" charset="0"/>
              </a:rPr>
              <a:t>sleep deprivation, jobs, unhealthy eating habits.</a:t>
            </a:r>
          </a:p>
          <a:p>
            <a:endParaRPr lang="en-US" dirty="0"/>
          </a:p>
        </p:txBody>
      </p:sp>
      <p:sp>
        <p:nvSpPr>
          <p:cNvPr id="4" name="Slide Number Placeholder 3">
            <a:extLst>
              <a:ext uri="{FF2B5EF4-FFF2-40B4-BE49-F238E27FC236}">
                <a16:creationId xmlns:a16="http://schemas.microsoft.com/office/drawing/2014/main" id="{6F1E2959-A348-4A8A-AA36-6D9610D8A994}"/>
              </a:ext>
            </a:extLst>
          </p:cNvPr>
          <p:cNvSpPr>
            <a:spLocks noGrp="1"/>
          </p:cNvSpPr>
          <p:nvPr>
            <p:ph type="sldNum" sz="quarter" idx="12"/>
          </p:nvPr>
        </p:nvSpPr>
        <p:spPr/>
        <p:txBody>
          <a:bodyPr/>
          <a:lstStyle/>
          <a:p>
            <a:fld id="{B5CEABB6-07DC-46E8-9B57-56EC44A396E5}" type="slidenum">
              <a:rPr lang="en-US" smtClean="0"/>
              <a:pPr/>
              <a:t>37</a:t>
            </a:fld>
            <a:endParaRPr lang="en-US" dirty="0"/>
          </a:p>
        </p:txBody>
      </p:sp>
    </p:spTree>
    <p:extLst>
      <p:ext uri="{BB962C8B-B14F-4D97-AF65-F5344CB8AC3E}">
        <p14:creationId xmlns:p14="http://schemas.microsoft.com/office/powerpoint/2010/main" val="34326825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92340" y="395247"/>
            <a:ext cx="8297380" cy="1326514"/>
          </a:xfrm>
        </p:spPr>
        <p:txBody>
          <a:bodyPr>
            <a:normAutofit/>
          </a:bodyPr>
          <a:lstStyle/>
          <a:p>
            <a:r>
              <a:rPr lang="en-US" b="1" dirty="0">
                <a:solidFill>
                  <a:schemeClr val="tx1">
                    <a:lumMod val="95000"/>
                    <a:lumOff val="5000"/>
                  </a:schemeClr>
                </a:solidFill>
                <a:latin typeface="Times New Roman" pitchFamily="18" charset="0"/>
                <a:cs typeface="Times New Roman" pitchFamily="18" charset="0"/>
              </a:rPr>
              <a:t>Types of stress</a:t>
            </a:r>
            <a:br>
              <a:rPr lang="en-US" sz="1800" b="1" dirty="0">
                <a:solidFill>
                  <a:schemeClr val="tx1">
                    <a:lumMod val="95000"/>
                    <a:lumOff val="5000"/>
                  </a:schemeClr>
                </a:solidFill>
                <a:latin typeface="Times New Roman" pitchFamily="18" charset="0"/>
                <a:cs typeface="Times New Roman" pitchFamily="18" charset="0"/>
              </a:rPr>
            </a:br>
            <a:br>
              <a:rPr lang="en-US" sz="1800" u="sng" dirty="0">
                <a:solidFill>
                  <a:schemeClr val="tx1">
                    <a:lumMod val="95000"/>
                    <a:lumOff val="5000"/>
                  </a:schemeClr>
                </a:solidFill>
                <a:latin typeface="Times New Roman" pitchFamily="18" charset="0"/>
                <a:cs typeface="Times New Roman" pitchFamily="18" charset="0"/>
              </a:rPr>
            </a:br>
            <a:endParaRPr lang="en-US" sz="1800" dirty="0">
              <a:solidFill>
                <a:schemeClr val="tx1"/>
              </a:solidFill>
              <a:latin typeface="Times New Roman" panose="02020603050405020304" pitchFamily="18" charset="0"/>
              <a:cs typeface="Times New Roman" pitchFamily="18" charset="0"/>
            </a:endParaRPr>
          </a:p>
        </p:txBody>
      </p:sp>
      <p:sp>
        <p:nvSpPr>
          <p:cNvPr id="5" name="Content Placeholder 4">
            <a:extLst>
              <a:ext uri="{FF2B5EF4-FFF2-40B4-BE49-F238E27FC236}">
                <a16:creationId xmlns:a16="http://schemas.microsoft.com/office/drawing/2014/main" id="{78791D9E-D01D-4E77-BF7C-43D3656959F9}"/>
              </a:ext>
            </a:extLst>
          </p:cNvPr>
          <p:cNvSpPr>
            <a:spLocks noGrp="1"/>
          </p:cNvSpPr>
          <p:nvPr>
            <p:ph type="body" sz="quarter" idx="13"/>
          </p:nvPr>
        </p:nvSpPr>
        <p:spPr/>
        <p:txBody>
          <a:bodyPr>
            <a:normAutofit/>
          </a:bodyPr>
          <a:lstStyle/>
          <a:p>
            <a:r>
              <a:rPr lang="en-US" sz="2000" u="sng" dirty="0">
                <a:solidFill>
                  <a:schemeClr val="tx1"/>
                </a:solidFill>
                <a:latin typeface="Times New Roman" panose="02020603050405020304" pitchFamily="18" charset="0"/>
                <a:cs typeface="Times New Roman" panose="02020603050405020304" pitchFamily="18" charset="0"/>
              </a:rPr>
              <a:t>Negative &amp; Positive Stress:</a:t>
            </a:r>
            <a:br>
              <a:rPr lang="en-US" sz="2000" dirty="0">
                <a:solidFill>
                  <a:schemeClr val="tx1"/>
                </a:solidFill>
                <a:latin typeface="Times New Roman" panose="02020603050405020304" pitchFamily="18" charset="0"/>
                <a:cs typeface="Times New Roman" panose="02020603050405020304" pitchFamily="18" charset="0"/>
              </a:rPr>
            </a:br>
            <a:br>
              <a:rPr lang="en-US" sz="2000" dirty="0">
                <a:solidFill>
                  <a:schemeClr val="tx1"/>
                </a:solidFill>
                <a:latin typeface="Times New Roman" panose="02020603050405020304" pitchFamily="18" charset="0"/>
                <a:cs typeface="Times New Roman" panose="02020603050405020304" pitchFamily="18" charset="0"/>
              </a:rPr>
            </a:br>
            <a:r>
              <a:rPr lang="en-US" sz="2000" b="0" cap="none" dirty="0">
                <a:solidFill>
                  <a:schemeClr val="tx1"/>
                </a:solidFill>
                <a:latin typeface="Times New Roman" panose="02020603050405020304" pitchFamily="18" charset="0"/>
                <a:cs typeface="Times New Roman" panose="02020603050405020304" pitchFamily="18" charset="0"/>
              </a:rPr>
              <a:t>Eustress: Manageable stress, can lead to growth and enhanced competence.</a:t>
            </a:r>
            <a:br>
              <a:rPr lang="en-US" sz="2000" b="0" cap="none" dirty="0">
                <a:solidFill>
                  <a:schemeClr val="tx1"/>
                </a:solidFill>
                <a:latin typeface="Times New Roman" panose="02020603050405020304" pitchFamily="18" charset="0"/>
                <a:cs typeface="Times New Roman" panose="02020603050405020304" pitchFamily="18" charset="0"/>
              </a:rPr>
            </a:br>
            <a:br>
              <a:rPr lang="en-US" sz="2000" b="0" cap="none" dirty="0">
                <a:solidFill>
                  <a:schemeClr val="tx1"/>
                </a:solidFill>
                <a:latin typeface="Times New Roman" panose="02020603050405020304" pitchFamily="18" charset="0"/>
                <a:cs typeface="Times New Roman" panose="02020603050405020304" pitchFamily="18" charset="0"/>
              </a:rPr>
            </a:br>
            <a:r>
              <a:rPr lang="en-US" sz="2000" b="0" cap="none" dirty="0">
                <a:solidFill>
                  <a:schemeClr val="tx1"/>
                </a:solidFill>
                <a:latin typeface="Times New Roman" panose="02020603050405020304" pitchFamily="18" charset="0"/>
                <a:cs typeface="Times New Roman" panose="02020603050405020304" pitchFamily="18" charset="0"/>
              </a:rPr>
              <a:t>Distress: Uncontrollable, prolonged, or overwhelming stress. It is destructive.</a:t>
            </a:r>
            <a:br>
              <a:rPr lang="en-US" sz="2000" b="0" cap="none" dirty="0">
                <a:solidFill>
                  <a:schemeClr val="tx1"/>
                </a:solidFill>
                <a:latin typeface="Times New Roman" panose="02020603050405020304" pitchFamily="18" charset="0"/>
                <a:cs typeface="Times New Roman" panose="02020603050405020304" pitchFamily="18" charset="0"/>
              </a:rPr>
            </a:br>
            <a:br>
              <a:rPr lang="en-US" sz="2000" dirty="0">
                <a:solidFill>
                  <a:schemeClr val="tx1"/>
                </a:solidFill>
                <a:latin typeface="Times New Roman" panose="02020603050405020304" pitchFamily="18" charset="0"/>
                <a:cs typeface="Times New Roman" panose="02020603050405020304" pitchFamily="18" charset="0"/>
              </a:rPr>
            </a:br>
            <a:endParaRPr lang="en-US" dirty="0"/>
          </a:p>
        </p:txBody>
      </p:sp>
      <p:pic>
        <p:nvPicPr>
          <p:cNvPr id="12290" name="Picture 2" descr="Stress and the Brain - Let's Talk Science">
            <a:extLst>
              <a:ext uri="{FF2B5EF4-FFF2-40B4-BE49-F238E27FC236}">
                <a16:creationId xmlns:a16="http://schemas.microsoft.com/office/drawing/2014/main" id="{CD50E0AE-1162-4F16-9ABA-754CD8940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2280" y="3819144"/>
            <a:ext cx="4177553" cy="2707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9428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60BEA-DEDE-4369-9D55-A5402754051B}"/>
              </a:ext>
            </a:extLst>
          </p:cNvPr>
          <p:cNvSpPr>
            <a:spLocks noGrp="1"/>
          </p:cNvSpPr>
          <p:nvPr>
            <p:ph type="title"/>
          </p:nvPr>
        </p:nvSpPr>
        <p:spPr/>
        <p:txBody>
          <a:bodyPr/>
          <a:lstStyle/>
          <a:p>
            <a:r>
              <a:rPr lang="en-US" sz="2800" dirty="0">
                <a:solidFill>
                  <a:schemeClr val="tx1"/>
                </a:solidFill>
                <a:latin typeface="Times New Roman" panose="02020603050405020304" pitchFamily="18" charset="0"/>
                <a:cs typeface="Times New Roman" panose="02020603050405020304" pitchFamily="18" charset="0"/>
              </a:rPr>
              <a:t>Types of Stressors</a:t>
            </a:r>
            <a:endParaRPr lang="en-US" dirty="0"/>
          </a:p>
        </p:txBody>
      </p:sp>
      <p:sp>
        <p:nvSpPr>
          <p:cNvPr id="3" name="Text Placeholder 2">
            <a:extLst>
              <a:ext uri="{FF2B5EF4-FFF2-40B4-BE49-F238E27FC236}">
                <a16:creationId xmlns:a16="http://schemas.microsoft.com/office/drawing/2014/main" id="{803E4178-F86A-43F7-8F22-C8DB73868442}"/>
              </a:ext>
            </a:extLst>
          </p:cNvPr>
          <p:cNvSpPr>
            <a:spLocks noGrp="1"/>
          </p:cNvSpPr>
          <p:nvPr>
            <p:ph type="body" sz="quarter" idx="13"/>
          </p:nvPr>
        </p:nvSpPr>
        <p:spPr/>
        <p:txBody>
          <a:bodyPr/>
          <a:lstStyle/>
          <a:p>
            <a:pPr marL="457200" indent="-457200" algn="just">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External</a:t>
            </a:r>
            <a:r>
              <a:rPr lang="en-US" sz="2000" dirty="0">
                <a:solidFill>
                  <a:schemeClr val="tx1"/>
                </a:solidFill>
                <a:latin typeface="Times New Roman" panose="02020603050405020304" pitchFamily="18" charset="0"/>
                <a:cs typeface="Times New Roman" panose="02020603050405020304" pitchFamily="18" charset="0"/>
              </a:rPr>
              <a:t> (physical environment, social interactions, organizational, major life events, daily hassles) </a:t>
            </a:r>
            <a:endParaRPr lang="en-US"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Internal</a:t>
            </a:r>
            <a:r>
              <a:rPr lang="en-US" sz="2000" dirty="0">
                <a:solidFill>
                  <a:schemeClr val="tx1"/>
                </a:solidFill>
                <a:latin typeface="Times New Roman" panose="02020603050405020304" pitchFamily="18" charset="0"/>
                <a:cs typeface="Times New Roman" panose="02020603050405020304" pitchFamily="18" charset="0"/>
              </a:rPr>
              <a:t> (negative self-talk, lifestyle choices)</a:t>
            </a:r>
            <a:endParaRPr lang="en-US" dirty="0"/>
          </a:p>
        </p:txBody>
      </p:sp>
      <p:sp>
        <p:nvSpPr>
          <p:cNvPr id="4" name="Slide Number Placeholder 3">
            <a:extLst>
              <a:ext uri="{FF2B5EF4-FFF2-40B4-BE49-F238E27FC236}">
                <a16:creationId xmlns:a16="http://schemas.microsoft.com/office/drawing/2014/main" id="{0324072A-6E47-4CA4-A367-F2661F9A62C2}"/>
              </a:ext>
            </a:extLst>
          </p:cNvPr>
          <p:cNvSpPr>
            <a:spLocks noGrp="1"/>
          </p:cNvSpPr>
          <p:nvPr>
            <p:ph type="sldNum" sz="quarter" idx="12"/>
          </p:nvPr>
        </p:nvSpPr>
        <p:spPr/>
        <p:txBody>
          <a:bodyPr/>
          <a:lstStyle/>
          <a:p>
            <a:fld id="{B5CEABB6-07DC-46E8-9B57-56EC44A396E5}" type="slidenum">
              <a:rPr lang="en-US" smtClean="0"/>
              <a:pPr/>
              <a:t>39</a:t>
            </a:fld>
            <a:endParaRPr lang="en-US" dirty="0"/>
          </a:p>
        </p:txBody>
      </p:sp>
    </p:spTree>
    <p:extLst>
      <p:ext uri="{BB962C8B-B14F-4D97-AF65-F5344CB8AC3E}">
        <p14:creationId xmlns:p14="http://schemas.microsoft.com/office/powerpoint/2010/main" val="29346827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F30D4-3B6F-49FA-82AC-EEB6C042C6F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7BE7895-4E97-4A9D-A75D-A867C2956A6C}"/>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4CF5FF88-70AE-425B-8680-641A0845FECB}"/>
              </a:ext>
            </a:extLst>
          </p:cNvPr>
          <p:cNvSpPr>
            <a:spLocks noGrp="1"/>
          </p:cNvSpPr>
          <p:nvPr>
            <p:ph type="sldNum" sz="quarter" idx="12"/>
          </p:nvPr>
        </p:nvSpPr>
        <p:spPr/>
        <p:txBody>
          <a:bodyPr/>
          <a:lstStyle/>
          <a:p>
            <a:fld id="{B5CEABB6-07DC-46E8-9B57-56EC44A396E5}" type="slidenum">
              <a:rPr lang="en-US" smtClean="0"/>
              <a:pPr/>
              <a:t>40</a:t>
            </a:fld>
            <a:endParaRPr lang="en-US" dirty="0"/>
          </a:p>
        </p:txBody>
      </p:sp>
      <p:pic>
        <p:nvPicPr>
          <p:cNvPr id="5" name="Picture 1">
            <a:extLst>
              <a:ext uri="{FF2B5EF4-FFF2-40B4-BE49-F238E27FC236}">
                <a16:creationId xmlns:a16="http://schemas.microsoft.com/office/drawing/2014/main" id="{91B1FCFB-D8C0-4E4F-BDCB-3ADE6635FA65}"/>
              </a:ext>
            </a:extLst>
          </p:cNvPr>
          <p:cNvPicPr>
            <a:picLocks noChangeAspect="1"/>
          </p:cNvPicPr>
          <p:nvPr/>
        </p:nvPicPr>
        <p:blipFill>
          <a:blip r:embed="rId2"/>
          <a:stretch>
            <a:fillRect/>
          </a:stretch>
        </p:blipFill>
        <p:spPr>
          <a:xfrm>
            <a:off x="892340" y="1795489"/>
            <a:ext cx="8297380" cy="4451133"/>
          </a:xfrm>
          <a:prstGeom prst="rect">
            <a:avLst/>
          </a:prstGeom>
        </p:spPr>
      </p:pic>
    </p:spTree>
    <p:extLst>
      <p:ext uri="{BB962C8B-B14F-4D97-AF65-F5344CB8AC3E}">
        <p14:creationId xmlns:p14="http://schemas.microsoft.com/office/powerpoint/2010/main" val="39542100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C2603C4-7C1E-42AC-86DD-08B1303FA283}"/>
              </a:ext>
            </a:extLst>
          </p:cNvPr>
          <p:cNvSpPr>
            <a:spLocks noGrp="1"/>
          </p:cNvSpPr>
          <p:nvPr>
            <p:ph type="title"/>
          </p:nvPr>
        </p:nvSpPr>
        <p:spPr/>
        <p:txBody>
          <a:bodyPr/>
          <a:lstStyle/>
          <a:p>
            <a:endParaRPr lang="en-US"/>
          </a:p>
        </p:txBody>
      </p:sp>
      <p:sp>
        <p:nvSpPr>
          <p:cNvPr id="10" name="Text Placeholder 9">
            <a:extLst>
              <a:ext uri="{FF2B5EF4-FFF2-40B4-BE49-F238E27FC236}">
                <a16:creationId xmlns:a16="http://schemas.microsoft.com/office/drawing/2014/main" id="{F2871BA2-B0EE-4AAB-B51E-CFF29BAB6960}"/>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7B300A6E-135C-481F-B188-3B7F408CF974}"/>
              </a:ext>
            </a:extLst>
          </p:cNvPr>
          <p:cNvSpPr>
            <a:spLocks noGrp="1"/>
          </p:cNvSpPr>
          <p:nvPr>
            <p:ph type="sldNum" sz="quarter" idx="4294967295"/>
          </p:nvPr>
        </p:nvSpPr>
        <p:spPr>
          <a:xfrm>
            <a:off x="0" y="6246813"/>
            <a:ext cx="2670175" cy="365125"/>
          </a:xfrm>
        </p:spPr>
        <p:txBody>
          <a:bodyPr/>
          <a:lstStyle/>
          <a:p>
            <a:fld id="{B5CEABB6-07DC-46E8-9B57-56EC44A396E5}" type="slidenum">
              <a:rPr lang="en-US" smtClean="0"/>
              <a:pPr/>
              <a:t>41</a:t>
            </a:fld>
            <a:endParaRPr lang="en-US" dirty="0"/>
          </a:p>
        </p:txBody>
      </p:sp>
      <p:pic>
        <p:nvPicPr>
          <p:cNvPr id="6" name="Picture 5">
            <a:extLst>
              <a:ext uri="{FF2B5EF4-FFF2-40B4-BE49-F238E27FC236}">
                <a16:creationId xmlns:a16="http://schemas.microsoft.com/office/drawing/2014/main" id="{891028B7-D900-473B-83E1-D1531F690038}"/>
              </a:ext>
            </a:extLst>
          </p:cNvPr>
          <p:cNvPicPr>
            <a:picLocks noChangeAspect="1"/>
          </p:cNvPicPr>
          <p:nvPr/>
        </p:nvPicPr>
        <p:blipFill>
          <a:blip r:embed="rId2"/>
          <a:stretch>
            <a:fillRect/>
          </a:stretch>
        </p:blipFill>
        <p:spPr>
          <a:xfrm>
            <a:off x="1004047" y="1654621"/>
            <a:ext cx="5701554" cy="3284932"/>
          </a:xfrm>
          <a:prstGeom prst="rect">
            <a:avLst/>
          </a:prstGeom>
        </p:spPr>
      </p:pic>
    </p:spTree>
    <p:extLst>
      <p:ext uri="{BB962C8B-B14F-4D97-AF65-F5344CB8AC3E}">
        <p14:creationId xmlns:p14="http://schemas.microsoft.com/office/powerpoint/2010/main" val="11554013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9205B-95D3-412A-BA43-6AD4C14F811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Time Management </a:t>
            </a:r>
            <a:endParaRPr lang="en-US" dirty="0"/>
          </a:p>
        </p:txBody>
      </p:sp>
      <p:sp>
        <p:nvSpPr>
          <p:cNvPr id="3" name="Text Placeholder 2">
            <a:extLst>
              <a:ext uri="{FF2B5EF4-FFF2-40B4-BE49-F238E27FC236}">
                <a16:creationId xmlns:a16="http://schemas.microsoft.com/office/drawing/2014/main" id="{46D824B9-7099-47D5-AFA2-49CDE3DCC509}"/>
              </a:ext>
            </a:extLst>
          </p:cNvPr>
          <p:cNvSpPr>
            <a:spLocks noGrp="1"/>
          </p:cNvSpPr>
          <p:nvPr>
            <p:ph type="body" sz="quarter" idx="13"/>
          </p:nvPr>
        </p:nvSpPr>
        <p:spPr/>
        <p:txBody>
          <a:bodyPr/>
          <a:lstStyle/>
          <a:p>
            <a:r>
              <a:rPr lang="en-US" sz="2000" dirty="0">
                <a:solidFill>
                  <a:schemeClr val="tx1"/>
                </a:solidFill>
                <a:latin typeface="Times New Roman" panose="02020603050405020304" pitchFamily="18" charset="0"/>
                <a:cs typeface="Times New Roman" panose="02020603050405020304" pitchFamily="18" charset="0"/>
              </a:rPr>
              <a:t>SMART goals</a:t>
            </a:r>
          </a:p>
          <a:p>
            <a:r>
              <a:rPr lang="en-US" sz="2000" dirty="0">
                <a:solidFill>
                  <a:schemeClr val="tx1"/>
                </a:solidFill>
                <a:latin typeface="Times New Roman" panose="02020603050405020304" pitchFamily="18" charset="0"/>
                <a:cs typeface="Times New Roman" panose="02020603050405020304" pitchFamily="18" charset="0"/>
              </a:rPr>
              <a:t>To-do lists (Most to least important tasks) – Sense of accomplishment</a:t>
            </a:r>
          </a:p>
          <a:p>
            <a:r>
              <a:rPr lang="en-US" sz="2000" dirty="0">
                <a:solidFill>
                  <a:schemeClr val="tx1"/>
                </a:solidFill>
                <a:latin typeface="Times New Roman" panose="02020603050405020304" pitchFamily="18" charset="0"/>
                <a:cs typeface="Times New Roman" panose="02020603050405020304" pitchFamily="18" charset="0"/>
              </a:rPr>
              <a:t>Limit distractions – record, flight mode</a:t>
            </a:r>
          </a:p>
          <a:p>
            <a:r>
              <a:rPr lang="en-US" sz="2000" dirty="0">
                <a:solidFill>
                  <a:schemeClr val="tx1"/>
                </a:solidFill>
                <a:latin typeface="Times New Roman" panose="02020603050405020304" pitchFamily="18" charset="0"/>
                <a:cs typeface="Times New Roman" panose="02020603050405020304" pitchFamily="18" charset="0"/>
              </a:rPr>
              <a:t>Progress not perfection</a:t>
            </a:r>
          </a:p>
          <a:p>
            <a:endParaRPr lang="en-US" sz="2000" b="1"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5B345CB5-5732-4762-B201-7EAB04546E5F}"/>
              </a:ext>
            </a:extLst>
          </p:cNvPr>
          <p:cNvSpPr>
            <a:spLocks noGrp="1"/>
          </p:cNvSpPr>
          <p:nvPr>
            <p:ph type="sldNum" sz="quarter" idx="12"/>
          </p:nvPr>
        </p:nvSpPr>
        <p:spPr/>
        <p:txBody>
          <a:bodyPr/>
          <a:lstStyle/>
          <a:p>
            <a:fld id="{B5CEABB6-07DC-46E8-9B57-56EC44A396E5}" type="slidenum">
              <a:rPr lang="en-US" smtClean="0"/>
              <a:pPr/>
              <a:t>42</a:t>
            </a:fld>
            <a:endParaRPr lang="en-US" dirty="0"/>
          </a:p>
        </p:txBody>
      </p:sp>
      <p:pic>
        <p:nvPicPr>
          <p:cNvPr id="13314" name="Picture 2" descr="SMART Goals: Put Your Goals within Reach | MOBE">
            <a:extLst>
              <a:ext uri="{FF2B5EF4-FFF2-40B4-BE49-F238E27FC236}">
                <a16:creationId xmlns:a16="http://schemas.microsoft.com/office/drawing/2014/main" id="{77048757-9D8A-4E7A-87E2-002D0D65C1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236259"/>
            <a:ext cx="2478647" cy="307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8576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C4607-CFA0-43CE-B4F5-9F78934D4F40}"/>
              </a:ext>
            </a:extLst>
          </p:cNvPr>
          <p:cNvSpPr>
            <a:spLocks noGrp="1"/>
          </p:cNvSpPr>
          <p:nvPr>
            <p:ph type="title"/>
          </p:nvPr>
        </p:nvSpPr>
        <p:spPr>
          <a:xfrm>
            <a:off x="911352" y="368353"/>
            <a:ext cx="8297380" cy="1326514"/>
          </a:xfrm>
        </p:spPr>
        <p:txBody>
          <a:bodyPr/>
          <a:lstStyle/>
          <a:p>
            <a:r>
              <a:rPr lang="en-US" dirty="0">
                <a:latin typeface="Times New Roman" panose="02020603050405020304" pitchFamily="18" charset="0"/>
                <a:cs typeface="Times New Roman" panose="02020603050405020304" pitchFamily="18" charset="0"/>
              </a:rPr>
              <a:t>Time management </a:t>
            </a:r>
          </a:p>
        </p:txBody>
      </p:sp>
      <p:sp>
        <p:nvSpPr>
          <p:cNvPr id="4" name="Slide Number Placeholder 3">
            <a:extLst>
              <a:ext uri="{FF2B5EF4-FFF2-40B4-BE49-F238E27FC236}">
                <a16:creationId xmlns:a16="http://schemas.microsoft.com/office/drawing/2014/main" id="{A238F885-E9EB-45D0-A118-664E47481C8E}"/>
              </a:ext>
            </a:extLst>
          </p:cNvPr>
          <p:cNvSpPr>
            <a:spLocks noGrp="1"/>
          </p:cNvSpPr>
          <p:nvPr>
            <p:ph type="sldNum" sz="quarter" idx="12"/>
          </p:nvPr>
        </p:nvSpPr>
        <p:spPr/>
        <p:txBody>
          <a:bodyPr/>
          <a:lstStyle/>
          <a:p>
            <a:fld id="{B5CEABB6-07DC-46E8-9B57-56EC44A396E5}" type="slidenum">
              <a:rPr lang="en-US" smtClean="0"/>
              <a:pPr/>
              <a:t>43</a:t>
            </a:fld>
            <a:endParaRPr lang="en-US" dirty="0"/>
          </a:p>
        </p:txBody>
      </p:sp>
      <p:pic>
        <p:nvPicPr>
          <p:cNvPr id="5" name="Picture 4">
            <a:extLst>
              <a:ext uri="{FF2B5EF4-FFF2-40B4-BE49-F238E27FC236}">
                <a16:creationId xmlns:a16="http://schemas.microsoft.com/office/drawing/2014/main" id="{EE05D670-195A-4295-BB6E-AE4E9F8366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0564" y="2128497"/>
            <a:ext cx="5764306" cy="3899647"/>
          </a:xfrm>
          <a:prstGeom prst="rect">
            <a:avLst/>
          </a:prstGeom>
        </p:spPr>
      </p:pic>
    </p:spTree>
    <p:extLst>
      <p:ext uri="{BB962C8B-B14F-4D97-AF65-F5344CB8AC3E}">
        <p14:creationId xmlns:p14="http://schemas.microsoft.com/office/powerpoint/2010/main" val="7418309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E58AB0-2C3F-40EE-9F73-73597213EC24}"/>
              </a:ext>
            </a:extLst>
          </p:cNvPr>
          <p:cNvSpPr>
            <a:spLocks noGrp="1"/>
          </p:cNvSpPr>
          <p:nvPr>
            <p:ph type="sldNum" sz="quarter" idx="12"/>
          </p:nvPr>
        </p:nvSpPr>
        <p:spPr/>
        <p:txBody>
          <a:bodyPr/>
          <a:lstStyle/>
          <a:p>
            <a:fld id="{B5CEABB6-07DC-46E8-9B57-56EC44A396E5}" type="slidenum">
              <a:rPr lang="en-US" smtClean="0"/>
              <a:pPr/>
              <a:t>44</a:t>
            </a:fld>
            <a:endParaRPr lang="en-US" dirty="0"/>
          </a:p>
        </p:txBody>
      </p:sp>
      <p:pic>
        <p:nvPicPr>
          <p:cNvPr id="6" name="Picture 5">
            <a:extLst>
              <a:ext uri="{FF2B5EF4-FFF2-40B4-BE49-F238E27FC236}">
                <a16:creationId xmlns:a16="http://schemas.microsoft.com/office/drawing/2014/main" id="{DEFB2212-4B6C-45A9-AC10-12DE25177BB6}"/>
              </a:ext>
            </a:extLst>
          </p:cNvPr>
          <p:cNvPicPr>
            <a:picLocks noChangeAspect="1"/>
          </p:cNvPicPr>
          <p:nvPr/>
        </p:nvPicPr>
        <p:blipFill>
          <a:blip r:embed="rId2"/>
          <a:stretch>
            <a:fillRect/>
          </a:stretch>
        </p:blipFill>
        <p:spPr>
          <a:xfrm>
            <a:off x="2549236" y="1174376"/>
            <a:ext cx="5133517" cy="4742330"/>
          </a:xfrm>
          <a:prstGeom prst="rect">
            <a:avLst/>
          </a:prstGeom>
        </p:spPr>
      </p:pic>
    </p:spTree>
    <p:extLst>
      <p:ext uri="{BB962C8B-B14F-4D97-AF65-F5344CB8AC3E}">
        <p14:creationId xmlns:p14="http://schemas.microsoft.com/office/powerpoint/2010/main" val="25024347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C80C-4EB1-4363-B3E2-214D5066A7B5}"/>
              </a:ext>
            </a:extLst>
          </p:cNvPr>
          <p:cNvSpPr>
            <a:spLocks noGrp="1"/>
          </p:cNvSpPr>
          <p:nvPr>
            <p:ph type="title"/>
          </p:nvPr>
        </p:nvSpPr>
        <p:spPr>
          <a:xfrm>
            <a:off x="911352" y="337560"/>
            <a:ext cx="8297380" cy="1326514"/>
          </a:xfrm>
        </p:spPr>
        <p:txBody>
          <a:bodyPr/>
          <a:lstStyle/>
          <a:p>
            <a:r>
              <a:rPr lang="en" sz="2800" dirty="0">
                <a:solidFill>
                  <a:schemeClr val="tx1"/>
                </a:solidFill>
                <a:latin typeface="Times New Roman" panose="02020603050405020304" pitchFamily="18" charset="0"/>
                <a:cs typeface="Times New Roman" panose="02020603050405020304" pitchFamily="18" charset="0"/>
              </a:rPr>
              <a:t>Repititive Prayers - Affirmations</a:t>
            </a:r>
            <a:endParaRPr lang="en-US" dirty="0"/>
          </a:p>
        </p:txBody>
      </p:sp>
      <p:sp>
        <p:nvSpPr>
          <p:cNvPr id="3" name="Text Placeholder 2">
            <a:extLst>
              <a:ext uri="{FF2B5EF4-FFF2-40B4-BE49-F238E27FC236}">
                <a16:creationId xmlns:a16="http://schemas.microsoft.com/office/drawing/2014/main" id="{81791530-2222-43A9-B393-E5B34F31B5FC}"/>
              </a:ext>
            </a:extLst>
          </p:cNvPr>
          <p:cNvSpPr>
            <a:spLocks noGrp="1"/>
          </p:cNvSpPr>
          <p:nvPr>
            <p:ph type="body" sz="quarter" idx="13"/>
          </p:nvPr>
        </p:nvSpPr>
        <p:spPr/>
        <p:txBody>
          <a:bodyPr/>
          <a:lstStyle/>
          <a:p>
            <a:r>
              <a:rPr lang="en" sz="2000" dirty="0">
                <a:solidFill>
                  <a:schemeClr val="tx1"/>
                </a:solidFill>
                <a:latin typeface="Times New Roman" panose="02020603050405020304" pitchFamily="18" charset="0"/>
                <a:cs typeface="Times New Roman" panose="02020603050405020304" pitchFamily="18" charset="0"/>
              </a:rPr>
              <a:t>Prayer is a very powerful tool that we have been blessed with.</a:t>
            </a:r>
          </a:p>
          <a:p>
            <a:r>
              <a:rPr lang="en" sz="2000" dirty="0">
                <a:solidFill>
                  <a:schemeClr val="tx1"/>
                </a:solidFill>
                <a:latin typeface="Times New Roman" panose="02020603050405020304" pitchFamily="18" charset="0"/>
                <a:cs typeface="Times New Roman" panose="02020603050405020304" pitchFamily="18" charset="0"/>
              </a:rPr>
              <a:t>O Lord! Help me in dealing with the stresses of life. Give me wisdom, strength, and patience to deal with them affectively.</a:t>
            </a:r>
          </a:p>
          <a:p>
            <a:r>
              <a:rPr lang="en" sz="2000" dirty="0">
                <a:solidFill>
                  <a:schemeClr val="tx1"/>
                </a:solidFill>
                <a:latin typeface="Times New Roman" panose="02020603050405020304" pitchFamily="18" charset="0"/>
                <a:cs typeface="Times New Roman" panose="02020603050405020304" pitchFamily="18" charset="0"/>
              </a:rPr>
              <a:t>Affirmation – It is a stressful situation and I am giving my best and that is what matters.</a:t>
            </a:r>
          </a:p>
          <a:p>
            <a:endParaRPr lang="en" sz="2000" dirty="0">
              <a:solidFill>
                <a:schemeClr val="tx1"/>
              </a:solidFill>
              <a:latin typeface="Times New Roman" panose="02020603050405020304" pitchFamily="18" charset="0"/>
              <a:cs typeface="Times New Roman" panose="02020603050405020304" pitchFamily="18" charset="0"/>
            </a:endParaRPr>
          </a:p>
          <a:p>
            <a:endParaRPr lang="en" sz="2000" dirty="0">
              <a:solidFill>
                <a:schemeClr val="tx1"/>
              </a:solidFill>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3D0DEB75-1AE1-4222-9093-76A4BFA01964}"/>
              </a:ext>
            </a:extLst>
          </p:cNvPr>
          <p:cNvSpPr>
            <a:spLocks noGrp="1"/>
          </p:cNvSpPr>
          <p:nvPr>
            <p:ph type="sldNum" sz="quarter" idx="12"/>
          </p:nvPr>
        </p:nvSpPr>
        <p:spPr/>
        <p:txBody>
          <a:bodyPr/>
          <a:lstStyle/>
          <a:p>
            <a:fld id="{B5CEABB6-07DC-46E8-9B57-56EC44A396E5}" type="slidenum">
              <a:rPr lang="en-US" smtClean="0"/>
              <a:pPr/>
              <a:t>45</a:t>
            </a:fld>
            <a:endParaRPr lang="en-US" dirty="0"/>
          </a:p>
        </p:txBody>
      </p:sp>
      <p:pic>
        <p:nvPicPr>
          <p:cNvPr id="5" name="Picture 4">
            <a:extLst>
              <a:ext uri="{FF2B5EF4-FFF2-40B4-BE49-F238E27FC236}">
                <a16:creationId xmlns:a16="http://schemas.microsoft.com/office/drawing/2014/main" id="{9006CB88-5BDA-46F4-B90C-A55C882CC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1671" y="4216287"/>
            <a:ext cx="3231776" cy="1689848"/>
          </a:xfrm>
          <a:prstGeom prst="rect">
            <a:avLst/>
          </a:prstGeom>
          <a:ln>
            <a:noFill/>
          </a:ln>
          <a:effectLst>
            <a:softEdge rad="112500"/>
          </a:effectLst>
        </p:spPr>
      </p:pic>
    </p:spTree>
    <p:extLst>
      <p:ext uri="{BB962C8B-B14F-4D97-AF65-F5344CB8AC3E}">
        <p14:creationId xmlns:p14="http://schemas.microsoft.com/office/powerpoint/2010/main" val="1663601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44E4-BCAB-4788-962B-4C0D3CE676A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C613FBB-1E2D-4E17-A35E-3BA67916190E}"/>
              </a:ext>
            </a:extLst>
          </p:cNvPr>
          <p:cNvSpPr>
            <a:spLocks noGrp="1"/>
          </p:cNvSpPr>
          <p:nvPr>
            <p:ph type="body" sz="quarter" idx="13"/>
          </p:nvPr>
        </p:nvSpPr>
        <p:spPr>
          <a:xfrm>
            <a:off x="865631" y="2072639"/>
            <a:ext cx="8681781" cy="3888889"/>
          </a:xfrm>
        </p:spPr>
        <p:txBody>
          <a:bodyPr/>
          <a:lstStyle/>
          <a:p>
            <a:pPr marL="0" indent="0" algn="just">
              <a:buNone/>
            </a:pPr>
            <a:r>
              <a:rPr lang="en-US" dirty="0">
                <a:latin typeface="Times New Roman" panose="02020603050405020304" pitchFamily="18" charset="0"/>
                <a:cs typeface="Times New Roman" panose="02020603050405020304" pitchFamily="18" charset="0"/>
              </a:rPr>
              <a:t>A positive affirmation is a statement that encourages positive thinking and self-empowerment. It helps to challenge negative thoughts and promote self-belief, resilience, and a positive mindset.</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Self-Worth: "I am worthy of love and respect.“</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Confidence: "I believe in my abilities and trust myself.“</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Growth: "I embrace challenges as opportunities for growth.“</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Health: "I choose to nourish my body and mind.“</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Gratitude: "I am grateful for the abundance in my life."</a:t>
            </a:r>
          </a:p>
        </p:txBody>
      </p:sp>
      <p:sp>
        <p:nvSpPr>
          <p:cNvPr id="4" name="Slide Number Placeholder 3">
            <a:extLst>
              <a:ext uri="{FF2B5EF4-FFF2-40B4-BE49-F238E27FC236}">
                <a16:creationId xmlns:a16="http://schemas.microsoft.com/office/drawing/2014/main" id="{C1E4488E-6914-43CD-805C-89E72EAE196E}"/>
              </a:ext>
            </a:extLst>
          </p:cNvPr>
          <p:cNvSpPr>
            <a:spLocks noGrp="1"/>
          </p:cNvSpPr>
          <p:nvPr>
            <p:ph type="sldNum" sz="quarter" idx="12"/>
          </p:nvPr>
        </p:nvSpPr>
        <p:spPr/>
        <p:txBody>
          <a:bodyPr/>
          <a:lstStyle/>
          <a:p>
            <a:fld id="{B5CEABB6-07DC-46E8-9B57-56EC44A396E5}" type="slidenum">
              <a:rPr lang="en-US" smtClean="0"/>
              <a:pPr/>
              <a:t>46</a:t>
            </a:fld>
            <a:endParaRPr lang="en-US" dirty="0"/>
          </a:p>
        </p:txBody>
      </p:sp>
    </p:spTree>
    <p:extLst>
      <p:ext uri="{BB962C8B-B14F-4D97-AF65-F5344CB8AC3E}">
        <p14:creationId xmlns:p14="http://schemas.microsoft.com/office/powerpoint/2010/main" val="171945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C024E3-5E33-47ED-ADD9-5AA51DCA6775}"/>
              </a:ext>
            </a:extLst>
          </p:cNvPr>
          <p:cNvSpPr>
            <a:spLocks noGrp="1"/>
          </p:cNvSpPr>
          <p:nvPr>
            <p:ph type="sldNum" sz="quarter" idx="12"/>
          </p:nvPr>
        </p:nvSpPr>
        <p:spPr/>
        <p:txBody>
          <a:bodyPr/>
          <a:lstStyle/>
          <a:p>
            <a:fld id="{B5CEABB6-07DC-46E8-9B57-56EC44A396E5}" type="slidenum">
              <a:rPr lang="en-US" smtClean="0"/>
              <a:pPr/>
              <a:t>47</a:t>
            </a:fld>
            <a:endParaRPr lang="en-US" dirty="0"/>
          </a:p>
        </p:txBody>
      </p:sp>
      <p:pic>
        <p:nvPicPr>
          <p:cNvPr id="14340" name="Picture 4" descr="Positive Affirmations. Do They Work And How Long Does It Take?">
            <a:extLst>
              <a:ext uri="{FF2B5EF4-FFF2-40B4-BE49-F238E27FC236}">
                <a16:creationId xmlns:a16="http://schemas.microsoft.com/office/drawing/2014/main" id="{93EC8A59-BA2D-42A7-9CFF-C9FB0429E9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376" y="654424"/>
            <a:ext cx="6858000" cy="5332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78465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150F7-428F-4C9A-8778-042415DCA65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Deep Breathing</a:t>
            </a:r>
          </a:p>
        </p:txBody>
      </p:sp>
      <p:sp>
        <p:nvSpPr>
          <p:cNvPr id="4" name="Slide Number Placeholder 3">
            <a:extLst>
              <a:ext uri="{FF2B5EF4-FFF2-40B4-BE49-F238E27FC236}">
                <a16:creationId xmlns:a16="http://schemas.microsoft.com/office/drawing/2014/main" id="{7BFE3815-8E48-4E4D-B904-7A5C4B58C9C1}"/>
              </a:ext>
            </a:extLst>
          </p:cNvPr>
          <p:cNvSpPr>
            <a:spLocks noGrp="1"/>
          </p:cNvSpPr>
          <p:nvPr>
            <p:ph type="sldNum" sz="quarter" idx="12"/>
          </p:nvPr>
        </p:nvSpPr>
        <p:spPr/>
        <p:txBody>
          <a:bodyPr/>
          <a:lstStyle/>
          <a:p>
            <a:fld id="{B5CEABB6-07DC-46E8-9B57-56EC44A396E5}" type="slidenum">
              <a:rPr lang="en-US" smtClean="0"/>
              <a:pPr/>
              <a:t>48</a:t>
            </a:fld>
            <a:endParaRPr lang="en-US" dirty="0"/>
          </a:p>
        </p:txBody>
      </p:sp>
      <p:pic>
        <p:nvPicPr>
          <p:cNvPr id="6" name="Picture 5">
            <a:extLst>
              <a:ext uri="{FF2B5EF4-FFF2-40B4-BE49-F238E27FC236}">
                <a16:creationId xmlns:a16="http://schemas.microsoft.com/office/drawing/2014/main" id="{6D433BBD-5686-4FBE-8917-F39D1B3A7A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6376" y="1913344"/>
            <a:ext cx="4568461" cy="3818965"/>
          </a:xfrm>
          <a:prstGeom prst="rect">
            <a:avLst/>
          </a:prstGeom>
          <a:ln>
            <a:noFill/>
          </a:ln>
          <a:effectLst>
            <a:softEdge rad="112500"/>
          </a:effectLst>
        </p:spPr>
      </p:pic>
    </p:spTree>
    <p:extLst>
      <p:ext uri="{BB962C8B-B14F-4D97-AF65-F5344CB8AC3E}">
        <p14:creationId xmlns:p14="http://schemas.microsoft.com/office/powerpoint/2010/main" val="5977956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9BBC9-0F29-4DBD-A490-C80059E787B8}"/>
              </a:ext>
            </a:extLst>
          </p:cNvPr>
          <p:cNvSpPr>
            <a:spLocks noGrp="1"/>
          </p:cNvSpPr>
          <p:nvPr>
            <p:ph type="title"/>
          </p:nvPr>
        </p:nvSpPr>
        <p:spPr>
          <a:xfrm>
            <a:off x="911352" y="332494"/>
            <a:ext cx="8297380" cy="1326514"/>
          </a:xfrm>
        </p:spPr>
        <p:txBody>
          <a:bodyPr/>
          <a:lstStyle/>
          <a:p>
            <a:r>
              <a:rPr lang="en" sz="2800" dirty="0">
                <a:solidFill>
                  <a:schemeClr val="tx1"/>
                </a:solidFill>
                <a:latin typeface="Times New Roman" panose="02020603050405020304" pitchFamily="18" charset="0"/>
                <a:cs typeface="Times New Roman" panose="02020603050405020304" pitchFamily="18" charset="0"/>
              </a:rPr>
              <a:t>Self-care </a:t>
            </a:r>
            <a:endParaRPr lang="en-US" dirty="0"/>
          </a:p>
        </p:txBody>
      </p:sp>
      <p:sp>
        <p:nvSpPr>
          <p:cNvPr id="3" name="Text Placeholder 2">
            <a:extLst>
              <a:ext uri="{FF2B5EF4-FFF2-40B4-BE49-F238E27FC236}">
                <a16:creationId xmlns:a16="http://schemas.microsoft.com/office/drawing/2014/main" id="{13DFAB05-F7C1-44B1-80F3-72432F3218CF}"/>
              </a:ext>
            </a:extLst>
          </p:cNvPr>
          <p:cNvSpPr>
            <a:spLocks noGrp="1"/>
          </p:cNvSpPr>
          <p:nvPr>
            <p:ph type="body" sz="quarter" idx="13"/>
          </p:nvPr>
        </p:nvSpPr>
        <p:spPr/>
        <p:txBody>
          <a:bodyPr/>
          <a:lstStyle/>
          <a:p>
            <a:r>
              <a:rPr lang="en" dirty="0">
                <a:latin typeface="Times New Roman" panose="02020603050405020304" pitchFamily="18" charset="0"/>
                <a:cs typeface="Times New Roman" panose="02020603050405020304" pitchFamily="18" charset="0"/>
              </a:rPr>
              <a:t>Hobbies – Sports, reading, art, sitting under the sun and observing nature</a:t>
            </a:r>
          </a:p>
          <a:p>
            <a:r>
              <a:rPr lang="en" dirty="0">
                <a:latin typeface="Times New Roman" panose="02020603050405020304" pitchFamily="18" charset="0"/>
                <a:cs typeface="Times New Roman" panose="02020603050405020304" pitchFamily="18" charset="0"/>
              </a:rPr>
              <a:t>Spend time with people you love</a:t>
            </a:r>
          </a:p>
          <a:p>
            <a:r>
              <a:rPr lang="en" dirty="0">
                <a:latin typeface="Times New Roman" panose="02020603050405020304" pitchFamily="18" charset="0"/>
                <a:cs typeface="Times New Roman" panose="02020603050405020304" pitchFamily="18" charset="0"/>
              </a:rPr>
              <a:t>Taking bath is mandatory – once a day</a:t>
            </a:r>
          </a:p>
          <a:p>
            <a:r>
              <a:rPr lang="en" dirty="0">
                <a:latin typeface="Times New Roman" panose="02020603050405020304" pitchFamily="18" charset="0"/>
                <a:cs typeface="Times New Roman" panose="02020603050405020304" pitchFamily="18" charset="0"/>
              </a:rPr>
              <a:t>Eat healthy food</a:t>
            </a:r>
          </a:p>
          <a:p>
            <a:endParaRPr lang="en" dirty="0">
              <a:latin typeface="Times New Roman" panose="02020603050405020304" pitchFamily="18" charset="0"/>
              <a:cs typeface="Times New Roman" panose="02020603050405020304" pitchFamily="18" charset="0"/>
            </a:endParaRPr>
          </a:p>
          <a:p>
            <a:endParaRPr lang="en" b="1" dirty="0">
              <a:latin typeface="Times New Roman" panose="02020603050405020304" pitchFamily="18" charset="0"/>
              <a:cs typeface="Times New Roman" panose="02020603050405020304" pitchFamily="18" charset="0"/>
            </a:endParaRPr>
          </a:p>
          <a:p>
            <a:endParaRPr lang="en"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2071EF09-69EE-473F-88DF-82C01A6C02BF}"/>
              </a:ext>
            </a:extLst>
          </p:cNvPr>
          <p:cNvSpPr>
            <a:spLocks noGrp="1"/>
          </p:cNvSpPr>
          <p:nvPr>
            <p:ph type="sldNum" sz="quarter" idx="12"/>
          </p:nvPr>
        </p:nvSpPr>
        <p:spPr/>
        <p:txBody>
          <a:bodyPr/>
          <a:lstStyle/>
          <a:p>
            <a:fld id="{B5CEABB6-07DC-46E8-9B57-56EC44A396E5}" type="slidenum">
              <a:rPr lang="en-US" smtClean="0"/>
              <a:pPr/>
              <a:t>49</a:t>
            </a:fld>
            <a:endParaRPr lang="en-US" dirty="0"/>
          </a:p>
        </p:txBody>
      </p:sp>
      <p:pic>
        <p:nvPicPr>
          <p:cNvPr id="5" name="Picture 4">
            <a:extLst>
              <a:ext uri="{FF2B5EF4-FFF2-40B4-BE49-F238E27FC236}">
                <a16:creationId xmlns:a16="http://schemas.microsoft.com/office/drawing/2014/main" id="{6FD0F5D3-E3B8-4B86-8F32-9B1B3D8B8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4634" y="3099123"/>
            <a:ext cx="3811231" cy="3140133"/>
          </a:xfrm>
          <a:prstGeom prst="rect">
            <a:avLst/>
          </a:prstGeom>
          <a:ln>
            <a:noFill/>
          </a:ln>
          <a:effectLst>
            <a:softEdge rad="112500"/>
          </a:effectLst>
        </p:spPr>
      </p:pic>
    </p:spTree>
    <p:extLst>
      <p:ext uri="{BB962C8B-B14F-4D97-AF65-F5344CB8AC3E}">
        <p14:creationId xmlns:p14="http://schemas.microsoft.com/office/powerpoint/2010/main" val="18621956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D14F03-33DC-4926-8C1F-3D124B88253B}"/>
              </a:ext>
            </a:extLst>
          </p:cNvPr>
          <p:cNvSpPr>
            <a:spLocks noGrp="1"/>
          </p:cNvSpPr>
          <p:nvPr>
            <p:ph type="sldNum" sz="quarter" idx="12"/>
          </p:nvPr>
        </p:nvSpPr>
        <p:spPr/>
        <p:txBody>
          <a:bodyPr/>
          <a:lstStyle/>
          <a:p>
            <a:fld id="{B5CEABB6-07DC-46E8-9B57-56EC44A396E5}" type="slidenum">
              <a:rPr lang="en-US" smtClean="0"/>
              <a:pPr/>
              <a:t>50</a:t>
            </a:fld>
            <a:endParaRPr lang="en-US" dirty="0"/>
          </a:p>
        </p:txBody>
      </p:sp>
      <p:pic>
        <p:nvPicPr>
          <p:cNvPr id="15364" name="Picture 4" descr="Selfcare Icon Stock Illustrations – 1,446 Selfcare Icon Stock  Illustrations, Vectors &amp; Clipart - Dreamstime">
            <a:extLst>
              <a:ext uri="{FF2B5EF4-FFF2-40B4-BE49-F238E27FC236}">
                <a16:creationId xmlns:a16="http://schemas.microsoft.com/office/drawing/2014/main" id="{F67FD7AC-9BF3-4004-8C94-243CD75122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1494"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09275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8A762-7562-46C7-B96A-146D8CAD0FC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E92CD35-3EB9-4AF2-84FE-5272B7A46794}"/>
              </a:ext>
            </a:extLst>
          </p:cNvPr>
          <p:cNvSpPr>
            <a:spLocks noGrp="1"/>
          </p:cNvSpPr>
          <p:nvPr>
            <p:ph type="body" sz="quarter" idx="13"/>
          </p:nvPr>
        </p:nvSpPr>
        <p:spPr/>
        <p:txBody>
          <a:bodyPr/>
          <a:lstStyle/>
          <a:p>
            <a:endParaRPr lang="en-US" dirty="0"/>
          </a:p>
        </p:txBody>
      </p:sp>
      <p:sp>
        <p:nvSpPr>
          <p:cNvPr id="4" name="Slide Number Placeholder 3">
            <a:extLst>
              <a:ext uri="{FF2B5EF4-FFF2-40B4-BE49-F238E27FC236}">
                <a16:creationId xmlns:a16="http://schemas.microsoft.com/office/drawing/2014/main" id="{BC3A15CF-100C-426F-8482-1A7015FF414F}"/>
              </a:ext>
            </a:extLst>
          </p:cNvPr>
          <p:cNvSpPr>
            <a:spLocks noGrp="1"/>
          </p:cNvSpPr>
          <p:nvPr>
            <p:ph type="sldNum" sz="quarter" idx="12"/>
          </p:nvPr>
        </p:nvSpPr>
        <p:spPr/>
        <p:txBody>
          <a:bodyPr/>
          <a:lstStyle/>
          <a:p>
            <a:fld id="{B5CEABB6-07DC-46E8-9B57-56EC44A396E5}" type="slidenum">
              <a:rPr lang="en-US" smtClean="0"/>
              <a:pPr/>
              <a:t>51</a:t>
            </a:fld>
            <a:endParaRPr lang="en-US" dirty="0"/>
          </a:p>
        </p:txBody>
      </p:sp>
      <p:pic>
        <p:nvPicPr>
          <p:cNvPr id="5" name="Picture 3">
            <a:extLst>
              <a:ext uri="{FF2B5EF4-FFF2-40B4-BE49-F238E27FC236}">
                <a16:creationId xmlns:a16="http://schemas.microsoft.com/office/drawing/2014/main" id="{13E7D2CE-BEE9-4E39-BE07-FBF9060302FB}"/>
              </a:ext>
            </a:extLst>
          </p:cNvPr>
          <p:cNvPicPr>
            <a:picLocks noChangeAspect="1"/>
          </p:cNvPicPr>
          <p:nvPr/>
        </p:nvPicPr>
        <p:blipFill>
          <a:blip r:embed="rId2"/>
          <a:stretch>
            <a:fillRect/>
          </a:stretch>
        </p:blipFill>
        <p:spPr>
          <a:xfrm>
            <a:off x="2026024" y="1587593"/>
            <a:ext cx="6400800" cy="4238625"/>
          </a:xfrm>
          <a:prstGeom prst="rect">
            <a:avLst/>
          </a:prstGeom>
        </p:spPr>
      </p:pic>
    </p:spTree>
    <p:extLst>
      <p:ext uri="{BB962C8B-B14F-4D97-AF65-F5344CB8AC3E}">
        <p14:creationId xmlns:p14="http://schemas.microsoft.com/office/powerpoint/2010/main" val="5330511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044179D-9DB4-435C-82EE-B1E400B6A910}"/>
              </a:ext>
            </a:extLst>
          </p:cNvPr>
          <p:cNvSpPr>
            <a:spLocks noGrp="1"/>
          </p:cNvSpPr>
          <p:nvPr>
            <p:ph type="ctrTitle"/>
          </p:nvPr>
        </p:nvSpPr>
        <p:spPr/>
        <p:txBody>
          <a:bodyPr/>
          <a:lstStyle/>
          <a:p>
            <a:pPr algn="ctr"/>
            <a:r>
              <a:rPr lang="en-US" dirty="0"/>
              <a:t>Role of state </a:t>
            </a:r>
          </a:p>
        </p:txBody>
      </p:sp>
      <p:sp>
        <p:nvSpPr>
          <p:cNvPr id="4" name="Slide Number Placeholder 3">
            <a:extLst>
              <a:ext uri="{FF2B5EF4-FFF2-40B4-BE49-F238E27FC236}">
                <a16:creationId xmlns:a16="http://schemas.microsoft.com/office/drawing/2014/main" id="{C944F198-C7D3-4122-89AD-EFF7CCF23586}"/>
              </a:ext>
            </a:extLst>
          </p:cNvPr>
          <p:cNvSpPr>
            <a:spLocks noGrp="1"/>
          </p:cNvSpPr>
          <p:nvPr>
            <p:ph type="sldNum" sz="quarter" idx="4294967295"/>
          </p:nvPr>
        </p:nvSpPr>
        <p:spPr>
          <a:xfrm>
            <a:off x="0" y="6246813"/>
            <a:ext cx="2670175" cy="365125"/>
          </a:xfrm>
          <a:prstGeom prst="rect">
            <a:avLst/>
          </a:prstGeom>
        </p:spPr>
        <p:txBody>
          <a:bodyPr/>
          <a:lstStyle/>
          <a:p>
            <a:fld id="{B5CEABB6-07DC-46E8-9B57-56EC44A396E5}" type="slidenum">
              <a:rPr lang="en-US" smtClean="0"/>
              <a:pPr/>
              <a:t>52</a:t>
            </a:fld>
            <a:endParaRPr lang="en-US" dirty="0"/>
          </a:p>
        </p:txBody>
      </p:sp>
    </p:spTree>
    <p:extLst>
      <p:ext uri="{BB962C8B-B14F-4D97-AF65-F5344CB8AC3E}">
        <p14:creationId xmlns:p14="http://schemas.microsoft.com/office/powerpoint/2010/main" val="8630874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DF1C15-5880-4F3E-B575-86D9E72D8309}"/>
              </a:ext>
            </a:extLst>
          </p:cNvPr>
          <p:cNvSpPr>
            <a:spLocks noGrp="1"/>
          </p:cNvSpPr>
          <p:nvPr>
            <p:ph type="title"/>
          </p:nvPr>
        </p:nvSpPr>
        <p:spPr/>
        <p:txBody>
          <a:bodyPr/>
          <a:lstStyle/>
          <a:p>
            <a:pPr algn="ctr"/>
            <a:r>
              <a:rPr lang="en-US" sz="5400" dirty="0">
                <a:latin typeface="Times New Roman" panose="02020603050405020304" pitchFamily="18" charset="0"/>
                <a:cs typeface="Times New Roman" panose="02020603050405020304" pitchFamily="18" charset="0"/>
              </a:rPr>
              <a:t>Thankyou</a:t>
            </a:r>
            <a:r>
              <a:rPr lang="en-US" dirty="0"/>
              <a:t> </a:t>
            </a:r>
          </a:p>
        </p:txBody>
      </p:sp>
      <p:sp>
        <p:nvSpPr>
          <p:cNvPr id="6" name="Text Placeholder 5">
            <a:extLst>
              <a:ext uri="{FF2B5EF4-FFF2-40B4-BE49-F238E27FC236}">
                <a16:creationId xmlns:a16="http://schemas.microsoft.com/office/drawing/2014/main" id="{8B8E676E-2798-4869-8282-2ABF8604616B}"/>
              </a:ext>
            </a:extLst>
          </p:cNvPr>
          <p:cNvSpPr>
            <a:spLocks noGrp="1"/>
          </p:cNvSpPr>
          <p:nvPr>
            <p:ph type="body" sz="quarter" idx="13"/>
          </p:nvPr>
        </p:nvSpPr>
        <p:spPr/>
        <p:txBody>
          <a:bodyPr/>
          <a:lstStyle/>
          <a:p>
            <a:pPr algn="r"/>
            <a:r>
              <a:rPr lang="en-US" dirty="0">
                <a:latin typeface="Times New Roman" panose="02020603050405020304" pitchFamily="18" charset="0"/>
                <a:cs typeface="Times New Roman" panose="02020603050405020304" pitchFamily="18" charset="0"/>
              </a:rPr>
              <a:t>ANY QUESTIONS????</a:t>
            </a:r>
          </a:p>
        </p:txBody>
      </p:sp>
      <p:sp>
        <p:nvSpPr>
          <p:cNvPr id="4" name="Slide Number Placeholder 3">
            <a:extLst>
              <a:ext uri="{FF2B5EF4-FFF2-40B4-BE49-F238E27FC236}">
                <a16:creationId xmlns:a16="http://schemas.microsoft.com/office/drawing/2014/main" id="{07B1BC30-F1E7-47FF-8FE1-8DD3E09FC2F4}"/>
              </a:ext>
            </a:extLst>
          </p:cNvPr>
          <p:cNvSpPr>
            <a:spLocks noGrp="1"/>
          </p:cNvSpPr>
          <p:nvPr>
            <p:ph type="sldNum" sz="quarter" idx="4294967295"/>
          </p:nvPr>
        </p:nvSpPr>
        <p:spPr>
          <a:xfrm>
            <a:off x="0" y="6246813"/>
            <a:ext cx="2670175" cy="365125"/>
          </a:xfrm>
        </p:spPr>
        <p:txBody>
          <a:bodyPr/>
          <a:lstStyle/>
          <a:p>
            <a:fld id="{B5CEABB6-07DC-46E8-9B57-56EC44A396E5}" type="slidenum">
              <a:rPr lang="en-US" smtClean="0"/>
              <a:pPr/>
              <a:t>53</a:t>
            </a:fld>
            <a:endParaRPr lang="en-US" dirty="0"/>
          </a:p>
        </p:txBody>
      </p:sp>
    </p:spTree>
    <p:extLst>
      <p:ext uri="{BB962C8B-B14F-4D97-AF65-F5344CB8AC3E}">
        <p14:creationId xmlns:p14="http://schemas.microsoft.com/office/powerpoint/2010/main" val="3124547193"/>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2.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1473</Words>
  <Application>Microsoft Office PowerPoint</Application>
  <PresentationFormat>Widescreen</PresentationFormat>
  <Paragraphs>196</Paragraphs>
  <Slides>53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Arial</vt:lpstr>
      <vt:lpstr>Avenir Next LT Pro Light</vt:lpstr>
      <vt:lpstr>Calibri</vt:lpstr>
      <vt:lpstr>Nunito Light</vt:lpstr>
      <vt:lpstr>Posterama</vt:lpstr>
      <vt:lpstr>Times New Roman</vt:lpstr>
      <vt:lpstr>Custom</vt:lpstr>
      <vt:lpstr>Modern Concept of social work</vt:lpstr>
      <vt:lpstr>Agenda </vt:lpstr>
      <vt:lpstr>FUNCTIONS OF SOCIAL WORK</vt:lpstr>
      <vt:lpstr>PowerPoint Presentation</vt:lpstr>
      <vt:lpstr>Curative Concept</vt:lpstr>
      <vt:lpstr>PowerPoint Presentation</vt:lpstr>
      <vt:lpstr>PowerPoint Presentation</vt:lpstr>
      <vt:lpstr>PowerPoint Presentation</vt:lpstr>
      <vt:lpstr>Services of Curative</vt:lpstr>
      <vt:lpstr>Medical and Health</vt:lpstr>
      <vt:lpstr>Psychiatry</vt:lpstr>
      <vt:lpstr>Child Guidance and Welfare:</vt:lpstr>
      <vt:lpstr>PowerPoint Presentation</vt:lpstr>
      <vt:lpstr>Handicapped or Disabled</vt:lpstr>
      <vt:lpstr>Hospital That have Really Good Curative</vt:lpstr>
      <vt:lpstr>Rehabilitation </vt:lpstr>
      <vt:lpstr>PowerPoint Presentation</vt:lpstr>
      <vt:lpstr>PowerPoint Presentation</vt:lpstr>
      <vt:lpstr>Rehabilitative services</vt:lpstr>
      <vt:lpstr>Some Of these are</vt:lpstr>
      <vt:lpstr>CBR (Community-Based Rehabilitation)</vt:lpstr>
      <vt:lpstr>PowerPoint Presentation</vt:lpstr>
      <vt:lpstr>Medical counseling</vt:lpstr>
      <vt:lpstr>Vocational Training:</vt:lpstr>
      <vt:lpstr>PowerPoint Presentation</vt:lpstr>
      <vt:lpstr>PowerPoint Presentation</vt:lpstr>
      <vt:lpstr>PowerPoint Presentation</vt:lpstr>
      <vt:lpstr>Rehabilitation Service Center</vt:lpstr>
      <vt:lpstr>PowerPoint Presentation</vt:lpstr>
      <vt:lpstr>Preventive Function</vt:lpstr>
      <vt:lpstr>PREVENTIVE FUNCTION</vt:lpstr>
      <vt:lpstr>PowerPoint Presentation</vt:lpstr>
      <vt:lpstr>Stress Management </vt:lpstr>
      <vt:lpstr>What is Stress?</vt:lpstr>
      <vt:lpstr>PowerPoint Presentation</vt:lpstr>
      <vt:lpstr>Is All Stress Bad? </vt:lpstr>
      <vt:lpstr>Causes</vt:lpstr>
      <vt:lpstr>Types of stress  </vt:lpstr>
      <vt:lpstr>Types of Stressors</vt:lpstr>
      <vt:lpstr>PowerPoint Presentation</vt:lpstr>
      <vt:lpstr>PowerPoint Presentation</vt:lpstr>
      <vt:lpstr>Time Management </vt:lpstr>
      <vt:lpstr>Time management </vt:lpstr>
      <vt:lpstr>PowerPoint Presentation</vt:lpstr>
      <vt:lpstr>Repititive Prayers - Affirmations</vt:lpstr>
      <vt:lpstr>PowerPoint Presentation</vt:lpstr>
      <vt:lpstr>PowerPoint Presentation</vt:lpstr>
      <vt:lpstr>Deep Breathing</vt:lpstr>
      <vt:lpstr>Self-care </vt:lpstr>
      <vt:lpstr>PowerPoint Presentation</vt:lpstr>
      <vt:lpstr>PowerPoint Presentation</vt:lpstr>
      <vt:lpstr>Role of state </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2024-10-01T04:16:40Z</dcterms:created>
  <dcterms:modified xsi:type="dcterms:W3CDTF">2025-03-10T09:54:53Z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