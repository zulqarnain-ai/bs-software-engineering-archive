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Lst>
  <p:notesMasterIdLst>
    <p:notesMasterId r:id="rId25"/>
  </p:notesMasterIdLst>
  <p:sldIdLst>
    <p:sldId id="291" r:id="rId2"/>
    <p:sldId id="302" r:id="rId3"/>
    <p:sldId id="274" r:id="rId4"/>
    <p:sldId id="292" r:id="rId5"/>
    <p:sldId id="289" r:id="rId6"/>
    <p:sldId id="294" r:id="rId7"/>
    <p:sldId id="293" r:id="rId8"/>
    <p:sldId id="301" r:id="rId9"/>
    <p:sldId id="275" r:id="rId10"/>
    <p:sldId id="295" r:id="rId11"/>
    <p:sldId id="298" r:id="rId12"/>
    <p:sldId id="278" r:id="rId13"/>
    <p:sldId id="283" r:id="rId14"/>
    <p:sldId id="287" r:id="rId15"/>
    <p:sldId id="288" r:id="rId16"/>
    <p:sldId id="307" r:id="rId17"/>
    <p:sldId id="306" r:id="rId18"/>
    <p:sldId id="308" r:id="rId19"/>
    <p:sldId id="303" r:id="rId20"/>
    <p:sldId id="304" r:id="rId21"/>
    <p:sldId id="297" r:id="rId22"/>
    <p:sldId id="299" r:id="rId23"/>
    <p:sldId id="305"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p:cViewPr varScale="1">
        <p:scale>
          <a:sx n="63" d="100"/>
          <a:sy n="63" d="100"/>
        </p:scale>
        <p:origin x="139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3B48FE-B619-4609-9332-12690C0A4A09}" type="datetimeFigureOut">
              <a:rPr lang="en-US" smtClean="0"/>
              <a:t>10/14/2022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1DBC63-6D13-43DB-9A2B-EDABE2E4E057}" type="slidenum">
              <a:rPr lang="en-US" smtClean="0"/>
              <a:t>‹#›</a:t>
            </a:fld>
            <a:endParaRPr lang="en-US"/>
          </a:p>
        </p:txBody>
      </p:sp>
    </p:spTree>
    <p:extLst>
      <p:ext uri="{BB962C8B-B14F-4D97-AF65-F5344CB8AC3E}">
        <p14:creationId xmlns:p14="http://schemas.microsoft.com/office/powerpoint/2010/main" val="3673738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617709229b_2_3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617709229b_2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4405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Acute</a:t>
            </a:r>
            <a:r>
              <a:rPr lang="en-US" baseline="0" dirty="0"/>
              <a:t> – Before or during stressful situation</a:t>
            </a:r>
          </a:p>
          <a:p>
            <a:pPr marL="0" lvl="0" indent="0" algn="l" rtl="0">
              <a:spcBef>
                <a:spcPts val="0"/>
              </a:spcBef>
              <a:spcAft>
                <a:spcPts val="0"/>
              </a:spcAft>
              <a:buNone/>
            </a:pPr>
            <a:r>
              <a:rPr lang="en-US" baseline="0" dirty="0"/>
              <a:t>Chronic – Long-term stress</a:t>
            </a:r>
            <a:endParaRPr dirty="0"/>
          </a:p>
        </p:txBody>
      </p:sp>
    </p:spTree>
    <p:extLst>
      <p:ext uri="{BB962C8B-B14F-4D97-AF65-F5344CB8AC3E}">
        <p14:creationId xmlns:p14="http://schemas.microsoft.com/office/powerpoint/2010/main" val="177044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54dda1946d_6_3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4985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1D8BD707-D9CF-40AE-B4C6-C98DA3205C09}" type="datetimeFigureOut">
              <a:rPr lang="en-US" smtClean="0"/>
              <a:pPr/>
              <a:t>10/14/2022</a:t>
            </a:fld>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52015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997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42987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9753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230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4592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589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994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22105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424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5727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BODY TEXT 1">
  <p:cSld name="TITLE + BODY TEXT 1">
    <p:spTree>
      <p:nvGrpSpPr>
        <p:cNvPr id="1" name="Shape 36"/>
        <p:cNvGrpSpPr/>
        <p:nvPr/>
      </p:nvGrpSpPr>
      <p:grpSpPr>
        <a:xfrm>
          <a:off x="0" y="0"/>
          <a:ext cx="0" cy="0"/>
          <a:chOff x="0" y="0"/>
          <a:chExt cx="0" cy="0"/>
        </a:xfrm>
      </p:grpSpPr>
      <p:sp>
        <p:nvSpPr>
          <p:cNvPr id="37" name="Google Shape;37;p6"/>
          <p:cNvSpPr txBox="1">
            <a:spLocks noGrp="1"/>
          </p:cNvSpPr>
          <p:nvPr>
            <p:ph type="body" idx="1"/>
          </p:nvPr>
        </p:nvSpPr>
        <p:spPr>
          <a:xfrm>
            <a:off x="1917900" y="2846400"/>
            <a:ext cx="5308200" cy="1968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1"/>
              </a:buClr>
              <a:buSzPts val="1200"/>
              <a:buFont typeface="Nunito Light"/>
              <a:buChar char="⬡"/>
              <a:defRPr>
                <a:solidFill>
                  <a:schemeClr val="lt1"/>
                </a:solidFill>
              </a:defRPr>
            </a:lvl1pPr>
            <a:lvl2pPr marL="914400" lvl="1" indent="-330200" rtl="0">
              <a:spcBef>
                <a:spcPts val="0"/>
              </a:spcBef>
              <a:spcAft>
                <a:spcPts val="0"/>
              </a:spcAft>
              <a:buClr>
                <a:schemeClr val="lt1"/>
              </a:buClr>
              <a:buSzPts val="1600"/>
              <a:buFont typeface="Nunito Light"/>
              <a:buChar char="○"/>
              <a:defRPr>
                <a:solidFill>
                  <a:schemeClr val="lt1"/>
                </a:solidFill>
              </a:defRPr>
            </a:lvl2pPr>
            <a:lvl3pPr marL="1371600" lvl="2" indent="-323850" rtl="0">
              <a:spcBef>
                <a:spcPts val="1600"/>
              </a:spcBef>
              <a:spcAft>
                <a:spcPts val="0"/>
              </a:spcAft>
              <a:buClr>
                <a:schemeClr val="lt1"/>
              </a:buClr>
              <a:buSzPts val="1500"/>
              <a:buFont typeface="Nunito Light"/>
              <a:buChar char="■"/>
              <a:defRPr>
                <a:solidFill>
                  <a:schemeClr val="lt1"/>
                </a:solidFill>
              </a:defRPr>
            </a:lvl3pPr>
            <a:lvl4pPr marL="1828800" lvl="3" indent="-323850" rtl="0">
              <a:spcBef>
                <a:spcPts val="1600"/>
              </a:spcBef>
              <a:spcAft>
                <a:spcPts val="0"/>
              </a:spcAft>
              <a:buClr>
                <a:schemeClr val="lt1"/>
              </a:buClr>
              <a:buSzPts val="1500"/>
              <a:buFont typeface="Nunito Light"/>
              <a:buChar char="●"/>
              <a:defRPr>
                <a:solidFill>
                  <a:schemeClr val="lt1"/>
                </a:solidFill>
              </a:defRPr>
            </a:lvl4pPr>
            <a:lvl5pPr marL="2286000" lvl="4" indent="-317500" rtl="0">
              <a:spcBef>
                <a:spcPts val="1600"/>
              </a:spcBef>
              <a:spcAft>
                <a:spcPts val="0"/>
              </a:spcAft>
              <a:buClr>
                <a:schemeClr val="lt1"/>
              </a:buClr>
              <a:buSzPts val="1400"/>
              <a:buFont typeface="Nunito Light"/>
              <a:buChar char="○"/>
              <a:defRPr>
                <a:solidFill>
                  <a:schemeClr val="lt1"/>
                </a:solidFill>
              </a:defRPr>
            </a:lvl5pPr>
            <a:lvl6pPr marL="2743200" lvl="5" indent="-317500" rtl="0">
              <a:spcBef>
                <a:spcPts val="1600"/>
              </a:spcBef>
              <a:spcAft>
                <a:spcPts val="0"/>
              </a:spcAft>
              <a:buClr>
                <a:schemeClr val="lt1"/>
              </a:buClr>
              <a:buSzPts val="1400"/>
              <a:buFont typeface="Nunito Light"/>
              <a:buChar char="■"/>
              <a:defRPr>
                <a:solidFill>
                  <a:schemeClr val="lt1"/>
                </a:solidFill>
              </a:defRPr>
            </a:lvl6pPr>
            <a:lvl7pPr marL="3200400" lvl="6" indent="-311150" rtl="0">
              <a:spcBef>
                <a:spcPts val="1600"/>
              </a:spcBef>
              <a:spcAft>
                <a:spcPts val="0"/>
              </a:spcAft>
              <a:buClr>
                <a:schemeClr val="lt1"/>
              </a:buClr>
              <a:buSzPts val="1300"/>
              <a:buFont typeface="Nunito Light"/>
              <a:buChar char="●"/>
              <a:defRPr>
                <a:solidFill>
                  <a:schemeClr val="lt1"/>
                </a:solidFill>
              </a:defRPr>
            </a:lvl7pPr>
            <a:lvl8pPr marL="3657600" lvl="7" indent="-311150" rtl="0">
              <a:spcBef>
                <a:spcPts val="1600"/>
              </a:spcBef>
              <a:spcAft>
                <a:spcPts val="0"/>
              </a:spcAft>
              <a:buClr>
                <a:schemeClr val="lt1"/>
              </a:buClr>
              <a:buSzPts val="1300"/>
              <a:buFont typeface="Nunito Light"/>
              <a:buChar char="○"/>
              <a:defRPr>
                <a:solidFill>
                  <a:schemeClr val="lt1"/>
                </a:solidFill>
              </a:defRPr>
            </a:lvl8pPr>
            <a:lvl9pPr marL="4114800" lvl="8" indent="-304800" rtl="0">
              <a:spcBef>
                <a:spcPts val="1600"/>
              </a:spcBef>
              <a:spcAft>
                <a:spcPts val="1600"/>
              </a:spcAft>
              <a:buClr>
                <a:schemeClr val="lt1"/>
              </a:buClr>
              <a:buSzPts val="1200"/>
              <a:buFont typeface="Nunito Light"/>
              <a:buChar char="■"/>
              <a:defRPr>
                <a:solidFill>
                  <a:schemeClr val="lt1"/>
                </a:solidFill>
              </a:defRPr>
            </a:lvl9pPr>
          </a:lstStyle>
          <a:p>
            <a:endParaRPr/>
          </a:p>
        </p:txBody>
      </p:sp>
      <p:sp>
        <p:nvSpPr>
          <p:cNvPr id="38" name="Google Shape;38;p6"/>
          <p:cNvSpPr txBox="1">
            <a:spLocks noGrp="1"/>
          </p:cNvSpPr>
          <p:nvPr>
            <p:ph type="title"/>
          </p:nvPr>
        </p:nvSpPr>
        <p:spPr>
          <a:xfrm>
            <a:off x="2407325" y="678905"/>
            <a:ext cx="4329300" cy="119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400">
                <a:solidFill>
                  <a:schemeClr val="lt1"/>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extLst>
      <p:ext uri="{BB962C8B-B14F-4D97-AF65-F5344CB8AC3E}">
        <p14:creationId xmlns:p14="http://schemas.microsoft.com/office/powerpoint/2010/main" val="3233932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TITTLE + SUBTITLE">
  <p:cSld name="BIG TITTLE + SUBTITLE">
    <p:spTree>
      <p:nvGrpSpPr>
        <p:cNvPr id="1" name="Shape 16"/>
        <p:cNvGrpSpPr/>
        <p:nvPr/>
      </p:nvGrpSpPr>
      <p:grpSpPr>
        <a:xfrm>
          <a:off x="0" y="0"/>
          <a:ext cx="0" cy="0"/>
          <a:chOff x="0" y="0"/>
          <a:chExt cx="0" cy="0"/>
        </a:xfrm>
      </p:grpSpPr>
      <p:sp>
        <p:nvSpPr>
          <p:cNvPr id="22" name="Google Shape;22;p3"/>
          <p:cNvSpPr txBox="1">
            <a:spLocks noGrp="1"/>
          </p:cNvSpPr>
          <p:nvPr>
            <p:ph type="ctrTitle"/>
          </p:nvPr>
        </p:nvSpPr>
        <p:spPr>
          <a:xfrm flipH="1">
            <a:off x="1325250" y="2532167"/>
            <a:ext cx="6493500" cy="251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55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endParaRPr/>
          </a:p>
        </p:txBody>
      </p:sp>
      <p:sp>
        <p:nvSpPr>
          <p:cNvPr id="23" name="Google Shape;23;p3"/>
          <p:cNvSpPr txBox="1">
            <a:spLocks noGrp="1"/>
          </p:cNvSpPr>
          <p:nvPr>
            <p:ph type="subTitle" idx="1"/>
          </p:nvPr>
        </p:nvSpPr>
        <p:spPr>
          <a:xfrm flipH="1">
            <a:off x="2923175" y="4387317"/>
            <a:ext cx="3297600" cy="89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Tree>
    <p:extLst>
      <p:ext uri="{BB962C8B-B14F-4D97-AF65-F5344CB8AC3E}">
        <p14:creationId xmlns:p14="http://schemas.microsoft.com/office/powerpoint/2010/main" val="238225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IMAGE +  TITLE">
  <p:cSld name="BIG IMAGE +  TITLE">
    <p:spTree>
      <p:nvGrpSpPr>
        <p:cNvPr id="1" name="Shape 53"/>
        <p:cNvGrpSpPr/>
        <p:nvPr/>
      </p:nvGrpSpPr>
      <p:grpSpPr>
        <a:xfrm>
          <a:off x="0" y="0"/>
          <a:ext cx="0" cy="0"/>
          <a:chOff x="0" y="0"/>
          <a:chExt cx="0" cy="0"/>
        </a:xfrm>
      </p:grpSpPr>
      <p:sp>
        <p:nvSpPr>
          <p:cNvPr id="54" name="Google Shape;54;p9"/>
          <p:cNvSpPr txBox="1">
            <a:spLocks noGrp="1"/>
          </p:cNvSpPr>
          <p:nvPr>
            <p:ph type="ctrTitle"/>
          </p:nvPr>
        </p:nvSpPr>
        <p:spPr>
          <a:xfrm flipH="1">
            <a:off x="489150" y="4866033"/>
            <a:ext cx="25398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55" name="Google Shape;55;p9"/>
          <p:cNvSpPr txBox="1">
            <a:spLocks noGrp="1"/>
          </p:cNvSpPr>
          <p:nvPr>
            <p:ph type="subTitle" idx="1"/>
          </p:nvPr>
        </p:nvSpPr>
        <p:spPr>
          <a:xfrm flipH="1">
            <a:off x="489008" y="5472713"/>
            <a:ext cx="2195400" cy="7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solidFill>
                  <a:schemeClr val="lt1"/>
                </a:solidFill>
              </a:defRPr>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Tree>
    <p:extLst>
      <p:ext uri="{BB962C8B-B14F-4D97-AF65-F5344CB8AC3E}">
        <p14:creationId xmlns:p14="http://schemas.microsoft.com/office/powerpoint/2010/main" val="2697335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D8BD707-D9CF-40AE-B4C6-C98DA3205C09}" type="datetimeFigureOut">
              <a:rPr lang="en-US" smtClean="0"/>
              <a:pPr/>
              <a:t>10/14/2022</a:t>
            </a:fld>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80136598"/>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85800" y="457200"/>
            <a:ext cx="7315200" cy="1968000"/>
          </a:xfrm>
        </p:spPr>
        <p:txBody>
          <a:bodyPr/>
          <a:lstStyle/>
          <a:p>
            <a:pPr marL="152400" indent="0" algn="ctr">
              <a:buNone/>
            </a:pPr>
            <a:r>
              <a:rPr lang="en-US" sz="6600" b="1" dirty="0">
                <a:solidFill>
                  <a:srgbClr val="000000"/>
                </a:solidFill>
                <a:latin typeface="Times New Roman" panose="02020603050405020304" pitchFamily="18" charset="0"/>
                <a:ea typeface="Calibri" panose="020F0502020204030204" pitchFamily="34" charset="0"/>
              </a:rPr>
              <a:t>STRESS MANAGEMENT</a:t>
            </a:r>
            <a:endParaRPr lang="en-US" sz="6600" dirty="0"/>
          </a:p>
        </p:txBody>
      </p:sp>
      <p:pic>
        <p:nvPicPr>
          <p:cNvPr id="5" name="Picture 4">
            <a:extLst>
              <a:ext uri="{FF2B5EF4-FFF2-40B4-BE49-F238E27FC236}">
                <a16:creationId xmlns:a16="http://schemas.microsoft.com/office/drawing/2014/main" id="{CC0BD4E9-1308-4465-AF4E-947100EA006C}"/>
              </a:ext>
            </a:extLst>
          </p:cNvPr>
          <p:cNvPicPr>
            <a:picLocks noChangeAspect="1"/>
          </p:cNvPicPr>
          <p:nvPr/>
        </p:nvPicPr>
        <p:blipFill>
          <a:blip r:embed="rId2"/>
          <a:stretch>
            <a:fillRect/>
          </a:stretch>
        </p:blipFill>
        <p:spPr>
          <a:xfrm rot="21145340">
            <a:off x="925772" y="3351520"/>
            <a:ext cx="2467263" cy="264724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6" name="Picture 8">
            <a:extLst>
              <a:ext uri="{FF2B5EF4-FFF2-40B4-BE49-F238E27FC236}">
                <a16:creationId xmlns:a16="http://schemas.microsoft.com/office/drawing/2014/main" id="{F91B68AB-3941-420E-B3F9-98B7E438C884}"/>
              </a:ext>
            </a:extLst>
          </p:cNvPr>
          <p:cNvPicPr>
            <a:picLocks noChangeAspect="1"/>
          </p:cNvPicPr>
          <p:nvPr/>
        </p:nvPicPr>
        <p:blipFill>
          <a:blip r:embed="rId3"/>
          <a:stretch>
            <a:fillRect/>
          </a:stretch>
        </p:blipFill>
        <p:spPr>
          <a:xfrm rot="1455076">
            <a:off x="5575347" y="3364533"/>
            <a:ext cx="2841976" cy="289889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276014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C4FAC3-E947-42A8-8265-AA6D7D4225B9}"/>
              </a:ext>
            </a:extLst>
          </p:cNvPr>
          <p:cNvSpPr>
            <a:spLocks noGrp="1"/>
          </p:cNvSpPr>
          <p:nvPr>
            <p:ph type="body" idx="1"/>
          </p:nvPr>
        </p:nvSpPr>
        <p:spPr>
          <a:xfrm>
            <a:off x="457200" y="1524000"/>
            <a:ext cx="7543800" cy="4800600"/>
          </a:xfrm>
        </p:spPr>
        <p:txBody>
          <a:bodyPr/>
          <a:lstStyle/>
          <a:p>
            <a:r>
              <a:rPr lang="en-US" sz="2000" b="1" dirty="0">
                <a:solidFill>
                  <a:schemeClr val="tx1"/>
                </a:solidFill>
                <a:latin typeface="Times New Roman" panose="02020603050405020304" pitchFamily="18" charset="0"/>
                <a:cs typeface="Times New Roman" panose="02020603050405020304" pitchFamily="18" charset="0"/>
              </a:rPr>
              <a:t>Stress:  </a:t>
            </a:r>
            <a:r>
              <a:rPr lang="en-US" sz="2000" dirty="0">
                <a:solidFill>
                  <a:schemeClr val="tx1"/>
                </a:solidFill>
                <a:latin typeface="Times New Roman" panose="02020603050405020304" pitchFamily="18" charset="0"/>
                <a:cs typeface="Times New Roman" panose="02020603050405020304" pitchFamily="18" charset="0"/>
              </a:rPr>
              <a:t>Stress is the reaction people have to excessive pressures or other types of demand placed upon them. It arises when they worry that they can’t cope. </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One may feel; worry, tense, tired, frightened, elated, depressed, anxious, anger etc.</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Coping:  </a:t>
            </a:r>
            <a:r>
              <a:rPr lang="en-US" sz="2000" dirty="0">
                <a:solidFill>
                  <a:schemeClr val="tx1"/>
                </a:solidFill>
                <a:latin typeface="Times New Roman" panose="02020603050405020304" pitchFamily="18" charset="0"/>
                <a:cs typeface="Times New Roman" panose="02020603050405020304" pitchFamily="18" charset="0"/>
              </a:rPr>
              <a:t>The ability to maintain control, think rationally, and solve problems. </a:t>
            </a:r>
            <a:endParaRPr lang="x-none" sz="2000" dirty="0">
              <a:solidFill>
                <a:schemeClr val="tx1"/>
              </a:solidFill>
              <a:latin typeface="Times New Roman" panose="02020603050405020304" pitchFamily="18" charset="0"/>
              <a:cs typeface="Times New Roman" panose="02020603050405020304" pitchFamily="18" charset="0"/>
            </a:endParaRPr>
          </a:p>
          <a:p>
            <a:endParaRPr lang="en-US" dirty="0"/>
          </a:p>
        </p:txBody>
      </p:sp>
      <p:sp>
        <p:nvSpPr>
          <p:cNvPr id="3" name="Title 2">
            <a:extLst>
              <a:ext uri="{FF2B5EF4-FFF2-40B4-BE49-F238E27FC236}">
                <a16:creationId xmlns:a16="http://schemas.microsoft.com/office/drawing/2014/main" id="{34FDDF5D-FA64-4B15-93FB-DF97E24B7305}"/>
              </a:ext>
            </a:extLst>
          </p:cNvPr>
          <p:cNvSpPr>
            <a:spLocks noGrp="1"/>
          </p:cNvSpPr>
          <p:nvPr>
            <p:ph type="title"/>
          </p:nvPr>
        </p:nvSpPr>
        <p:spPr/>
        <p:txBody>
          <a:bodyPr/>
          <a:lstStyle/>
          <a:p>
            <a:r>
              <a:rPr lang="en-US" b="1" dirty="0">
                <a:solidFill>
                  <a:schemeClr val="tx1"/>
                </a:solidFill>
              </a:rPr>
              <a:t>What is Stress?</a:t>
            </a:r>
          </a:p>
        </p:txBody>
      </p:sp>
    </p:spTree>
    <p:extLst>
      <p:ext uri="{BB962C8B-B14F-4D97-AF65-F5344CB8AC3E}">
        <p14:creationId xmlns:p14="http://schemas.microsoft.com/office/powerpoint/2010/main" val="270143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7" name="Google Shape;157;p32"/>
          <p:cNvSpPr txBox="1">
            <a:spLocks noGrp="1"/>
          </p:cNvSpPr>
          <p:nvPr>
            <p:ph type="body" idx="1"/>
          </p:nvPr>
        </p:nvSpPr>
        <p:spPr>
          <a:xfrm>
            <a:off x="402771" y="1313351"/>
            <a:ext cx="5159829" cy="4658424"/>
          </a:xfrm>
          <a:prstGeom prst="rect">
            <a:avLst/>
          </a:prstGeom>
        </p:spPr>
        <p:txBody>
          <a:bodyPr spcFirstLastPara="1" wrap="square" lIns="91425" tIns="91425" rIns="91425" bIns="91425" anchor="t" anchorCtr="0">
            <a:noAutofit/>
          </a:bodyPr>
          <a:lstStyle/>
          <a:p>
            <a:pPr marL="342900" indent="-342900">
              <a:buFont typeface="Wingdings" panose="05000000000000000000" pitchFamily="2" charset="2"/>
              <a:buChar char="Ø"/>
            </a:pPr>
            <a:r>
              <a:rPr lang="en-US" sz="2000" dirty="0">
                <a:solidFill>
                  <a:schemeClr val="tx1"/>
                </a:solidFill>
                <a:latin typeface="Times New Roman" pitchFamily="18" charset="0"/>
                <a:cs typeface="Times New Roman" pitchFamily="18" charset="0"/>
              </a:rPr>
              <a:t>Anything that poses a challenge or threat to our well-being.</a:t>
            </a:r>
          </a:p>
          <a:p>
            <a:pPr marL="342900" lvl="0" indent="-342900" algn="l" rtl="0">
              <a:spcBef>
                <a:spcPts val="0"/>
              </a:spcBef>
              <a:spcAft>
                <a:spcPts val="0"/>
              </a:spcAft>
              <a:buFont typeface="Wingdings" panose="05000000000000000000" pitchFamily="2" charset="2"/>
              <a:buChar char="Ø"/>
            </a:pPr>
            <a:endParaRPr lang="en-US" sz="2000" dirty="0">
              <a:solidFill>
                <a:schemeClr val="tx1"/>
              </a:solidFill>
              <a:latin typeface="Times New Roman" pitchFamily="18" charset="0"/>
              <a:cs typeface="Times New Roman" pitchFamily="18" charset="0"/>
            </a:endParaRPr>
          </a:p>
          <a:p>
            <a:pPr marL="342900" lvl="0" indent="-342900" algn="l" rtl="0">
              <a:spcBef>
                <a:spcPts val="0"/>
              </a:spcBef>
              <a:spcAft>
                <a:spcPts val="0"/>
              </a:spcAft>
              <a:buFont typeface="Wingdings" panose="05000000000000000000" pitchFamily="2" charset="2"/>
              <a:buChar char="Ø"/>
            </a:pPr>
            <a:r>
              <a:rPr lang="en-US" sz="2000" dirty="0">
                <a:solidFill>
                  <a:schemeClr val="tx1"/>
                </a:solidFill>
                <a:latin typeface="Times New Roman" pitchFamily="18" charset="0"/>
                <a:cs typeface="Times New Roman" pitchFamily="18" charset="0"/>
              </a:rPr>
              <a:t>Emotional and physical response to demanding situations</a:t>
            </a:r>
          </a:p>
          <a:p>
            <a:pPr marL="342900" lvl="0" indent="-342900" algn="l" rtl="0">
              <a:spcBef>
                <a:spcPts val="0"/>
              </a:spcBef>
              <a:spcAft>
                <a:spcPts val="0"/>
              </a:spcAft>
              <a:buFont typeface="Wingdings" panose="05000000000000000000" pitchFamily="2" charset="2"/>
              <a:buChar char="Ø"/>
            </a:pPr>
            <a:endParaRPr lang="en-US" sz="2000" dirty="0">
              <a:solidFill>
                <a:schemeClr val="tx1"/>
              </a:solidFill>
              <a:latin typeface="Times New Roman" pitchFamily="18" charset="0"/>
              <a:cs typeface="Times New Roman" pitchFamily="18" charset="0"/>
            </a:endParaRPr>
          </a:p>
          <a:p>
            <a:pPr marL="342900" lvl="0" indent="-342900" algn="l" rtl="0">
              <a:spcBef>
                <a:spcPts val="0"/>
              </a:spcBef>
              <a:spcAft>
                <a:spcPts val="0"/>
              </a:spcAft>
              <a:buFont typeface="Wingdings" panose="05000000000000000000" pitchFamily="2" charset="2"/>
              <a:buChar char="Ø"/>
            </a:pPr>
            <a:r>
              <a:rPr lang="en-US" sz="2000" dirty="0">
                <a:solidFill>
                  <a:schemeClr val="tx1"/>
                </a:solidFill>
                <a:latin typeface="Times New Roman" pitchFamily="18" charset="0"/>
                <a:cs typeface="Times New Roman" pitchFamily="18" charset="0"/>
              </a:rPr>
              <a:t>Helps in completing day to day tasks and in dealing with demands of life.</a:t>
            </a:r>
          </a:p>
          <a:p>
            <a:pPr marL="342900" lvl="0" indent="-342900" algn="l" rtl="0">
              <a:spcBef>
                <a:spcPts val="0"/>
              </a:spcBef>
              <a:spcAft>
                <a:spcPts val="0"/>
              </a:spcAft>
              <a:buFont typeface="Wingdings" panose="05000000000000000000" pitchFamily="2" charset="2"/>
              <a:buChar char="Ø"/>
            </a:pPr>
            <a:endParaRPr lang="en-US" sz="2000" dirty="0">
              <a:solidFill>
                <a:schemeClr val="tx1"/>
              </a:solidFill>
              <a:latin typeface="Times New Roman" pitchFamily="18" charset="0"/>
              <a:cs typeface="Times New Roman" pitchFamily="18" charset="0"/>
            </a:endParaRPr>
          </a:p>
          <a:p>
            <a:pPr marL="342900" lvl="0" indent="-342900" algn="l" rtl="0">
              <a:spcBef>
                <a:spcPts val="0"/>
              </a:spcBef>
              <a:spcAft>
                <a:spcPts val="0"/>
              </a:spcAft>
              <a:buFont typeface="Wingdings" panose="05000000000000000000" pitchFamily="2" charset="2"/>
              <a:buChar char="Ø"/>
            </a:pPr>
            <a:r>
              <a:rPr lang="en-US" sz="2000" dirty="0">
                <a:solidFill>
                  <a:schemeClr val="tx1"/>
                </a:solidFill>
                <a:latin typeface="Times New Roman" pitchFamily="18" charset="0"/>
                <a:cs typeface="Times New Roman" pitchFamily="18" charset="0"/>
              </a:rPr>
              <a:t>A little bit of stress – Alert and productive</a:t>
            </a:r>
          </a:p>
          <a:p>
            <a:pPr marL="342900" lvl="0" indent="-342900" algn="l" rtl="0">
              <a:spcBef>
                <a:spcPts val="0"/>
              </a:spcBef>
              <a:spcAft>
                <a:spcPts val="0"/>
              </a:spcAft>
              <a:buFont typeface="Wingdings" panose="05000000000000000000" pitchFamily="2" charset="2"/>
              <a:buChar char="Ø"/>
            </a:pPr>
            <a:endParaRPr lang="en-US" sz="2000" dirty="0">
              <a:solidFill>
                <a:schemeClr val="tx1"/>
              </a:solidFill>
              <a:latin typeface="Times New Roman" pitchFamily="18" charset="0"/>
              <a:cs typeface="Times New Roman" pitchFamily="18" charset="0"/>
            </a:endParaRPr>
          </a:p>
          <a:p>
            <a:pPr marL="342900" lvl="0" indent="-342900" algn="l" rtl="0">
              <a:spcBef>
                <a:spcPts val="0"/>
              </a:spcBef>
              <a:spcAft>
                <a:spcPts val="0"/>
              </a:spcAft>
              <a:buFont typeface="Wingdings" panose="05000000000000000000" pitchFamily="2" charset="2"/>
              <a:buChar char="Ø"/>
            </a:pPr>
            <a:r>
              <a:rPr lang="en-US" sz="2000" dirty="0">
                <a:solidFill>
                  <a:schemeClr val="tx1"/>
                </a:solidFill>
                <a:latin typeface="Times New Roman" pitchFamily="18" charset="0"/>
                <a:cs typeface="Times New Roman" pitchFamily="18" charset="0"/>
              </a:rPr>
              <a:t>Too much stress – Serious physical, emotional, and behavioral symptoms</a:t>
            </a:r>
          </a:p>
          <a:p>
            <a:pPr marL="0" lvl="0" indent="0" algn="l" rtl="0">
              <a:spcBef>
                <a:spcPts val="0"/>
              </a:spcBef>
              <a:spcAft>
                <a:spcPts val="0"/>
              </a:spcAft>
              <a:buNone/>
            </a:pPr>
            <a:endParaRPr sz="2000" dirty="0">
              <a:latin typeface="Times New Roman" panose="02020603050405020304" pitchFamily="18" charset="0"/>
              <a:cs typeface="Times New Roman" panose="02020603050405020304" pitchFamily="18" charset="0"/>
            </a:endParaRPr>
          </a:p>
        </p:txBody>
      </p:sp>
      <p:sp>
        <p:nvSpPr>
          <p:cNvPr id="156" name="Google Shape;156;p32"/>
          <p:cNvSpPr txBox="1">
            <a:spLocks noGrp="1"/>
          </p:cNvSpPr>
          <p:nvPr>
            <p:ph type="title"/>
          </p:nvPr>
        </p:nvSpPr>
        <p:spPr>
          <a:xfrm>
            <a:off x="402771" y="405427"/>
            <a:ext cx="4329300" cy="119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solidFill>
                  <a:schemeClr val="tx1"/>
                </a:solidFill>
                <a:latin typeface="Times New Roman" panose="02020603050405020304" pitchFamily="18" charset="0"/>
                <a:cs typeface="Times New Roman" panose="02020603050405020304" pitchFamily="18" charset="0"/>
              </a:rPr>
              <a:t>STRESS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8413" y="1267959"/>
            <a:ext cx="3144808" cy="2374604"/>
          </a:xfrm>
          <a:prstGeom prst="rect">
            <a:avLst/>
          </a:prstGeom>
          <a:ln>
            <a:noFill/>
          </a:ln>
          <a:effectLst>
            <a:softEdge rad="112500"/>
          </a:effectLst>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9872" y="3806884"/>
            <a:ext cx="1799357" cy="2743200"/>
          </a:xfrm>
          <a:prstGeom prst="rect">
            <a:avLst/>
          </a:prstGeom>
          <a:ln>
            <a:noFill/>
          </a:ln>
          <a:effectLst>
            <a:softEdge rad="112500"/>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2474" y="3806884"/>
            <a:ext cx="1801526" cy="2743200"/>
          </a:xfrm>
          <a:prstGeom prst="rect">
            <a:avLst/>
          </a:prstGeom>
          <a:ln>
            <a:noFill/>
          </a:ln>
          <a:effectLst>
            <a:softEdge rad="112500"/>
          </a:effectLst>
        </p:spPr>
      </p:pic>
    </p:spTree>
    <p:extLst>
      <p:ext uri="{BB962C8B-B14F-4D97-AF65-F5344CB8AC3E}">
        <p14:creationId xmlns:p14="http://schemas.microsoft.com/office/powerpoint/2010/main" val="1210675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04800" y="228600"/>
            <a:ext cx="5308200" cy="1968000"/>
          </a:xfrm>
        </p:spPr>
        <p:txBody>
          <a:bodyPr/>
          <a:lstStyle/>
          <a:p>
            <a:pPr marL="152400" indent="0">
              <a:buNone/>
            </a:pPr>
            <a:r>
              <a:rPr lang="en-US" altLang="en-US" sz="4400" b="1" dirty="0">
                <a:solidFill>
                  <a:schemeClr val="tx1">
                    <a:lumMod val="95000"/>
                    <a:lumOff val="5000"/>
                  </a:schemeClr>
                </a:solidFill>
                <a:latin typeface="Times New Roman" pitchFamily="18" charset="0"/>
                <a:cs typeface="Times New Roman" pitchFamily="18" charset="0"/>
              </a:rPr>
              <a:t>Is All Stress Bad?</a:t>
            </a:r>
            <a:endParaRPr lang="en-US" sz="4400" b="1" dirty="0">
              <a:solidFill>
                <a:schemeClr val="tx1">
                  <a:lumMod val="95000"/>
                  <a:lumOff val="5000"/>
                </a:schemeClr>
              </a:solidFill>
              <a:latin typeface="Times New Roman" pitchFamily="18" charset="0"/>
              <a:cs typeface="Times New Roman" pitchFamily="18" charset="0"/>
            </a:endParaRPr>
          </a:p>
        </p:txBody>
      </p:sp>
      <p:sp>
        <p:nvSpPr>
          <p:cNvPr id="3" name="Title 2"/>
          <p:cNvSpPr>
            <a:spLocks noGrp="1"/>
          </p:cNvSpPr>
          <p:nvPr>
            <p:ph type="title"/>
          </p:nvPr>
        </p:nvSpPr>
        <p:spPr>
          <a:xfrm>
            <a:off x="533400" y="1143000"/>
            <a:ext cx="7696200" cy="2971800"/>
          </a:xfrm>
        </p:spPr>
        <p:txBody>
          <a:bodyPr/>
          <a:lstStyle/>
          <a:p>
            <a:pPr algn="l"/>
            <a:r>
              <a:rPr lang="en-US" sz="1800" dirty="0">
                <a:solidFill>
                  <a:schemeClr val="tx1">
                    <a:lumMod val="95000"/>
                    <a:lumOff val="5000"/>
                  </a:schemeClr>
                </a:solidFill>
                <a:latin typeface="Times New Roman" pitchFamily="18" charset="0"/>
                <a:cs typeface="Times New Roman" pitchFamily="18" charset="0"/>
              </a:rPr>
              <a:t>Moderate levels of stress may actually improve performance and efficiency</a:t>
            </a:r>
            <a:br>
              <a:rPr lang="en-US" sz="1800" dirty="0">
                <a:solidFill>
                  <a:schemeClr val="tx1">
                    <a:lumMod val="95000"/>
                    <a:lumOff val="5000"/>
                  </a:schemeClr>
                </a:solidFill>
                <a:latin typeface="Times New Roman" pitchFamily="18" charset="0"/>
                <a:cs typeface="Times New Roman" pitchFamily="18" charset="0"/>
              </a:rPr>
            </a:b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Too little stress may result in boredom</a:t>
            </a:r>
            <a:br>
              <a:rPr lang="en-US" sz="1800" dirty="0">
                <a:solidFill>
                  <a:schemeClr val="tx1">
                    <a:lumMod val="95000"/>
                    <a:lumOff val="5000"/>
                  </a:schemeClr>
                </a:solidFill>
                <a:latin typeface="Times New Roman" pitchFamily="18" charset="0"/>
                <a:cs typeface="Times New Roman" pitchFamily="18" charset="0"/>
              </a:rPr>
            </a:b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Too much stress may cause an unproductive anxiety level</a:t>
            </a:r>
            <a:br>
              <a:rPr lang="en-US" sz="1800" dirty="0">
                <a:solidFill>
                  <a:schemeClr val="tx1">
                    <a:lumMod val="95000"/>
                    <a:lumOff val="5000"/>
                  </a:schemeClr>
                </a:solidFill>
                <a:latin typeface="Times New Roman" pitchFamily="18" charset="0"/>
                <a:cs typeface="Times New Roman" pitchFamily="18" charset="0"/>
              </a:rPr>
            </a:br>
            <a:endParaRPr lang="en-US" sz="1800" dirty="0">
              <a:solidFill>
                <a:schemeClr val="tx1">
                  <a:lumMod val="95000"/>
                  <a:lumOff val="5000"/>
                </a:schemeClr>
              </a:solidFill>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048866"/>
            <a:ext cx="7467600" cy="3428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852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body" idx="1"/>
          </p:nvPr>
        </p:nvSpPr>
        <p:spPr>
          <a:xfrm>
            <a:off x="20782" y="76200"/>
            <a:ext cx="8001000" cy="1219200"/>
          </a:xfrm>
        </p:spPr>
        <p:txBody>
          <a:bodyPr/>
          <a:lstStyle/>
          <a:p>
            <a:pPr marL="152400" indent="0">
              <a:buNone/>
            </a:pPr>
            <a:r>
              <a:rPr lang="en-US" sz="4400" b="1" dirty="0">
                <a:solidFill>
                  <a:schemeClr val="tx1">
                    <a:lumMod val="95000"/>
                    <a:lumOff val="5000"/>
                  </a:schemeClr>
                </a:solidFill>
                <a:latin typeface="Times New Roman" pitchFamily="18" charset="0"/>
                <a:cs typeface="Times New Roman" pitchFamily="18" charset="0"/>
              </a:rPr>
              <a:t>When we are stressed</a:t>
            </a:r>
          </a:p>
        </p:txBody>
      </p:sp>
      <p:sp>
        <p:nvSpPr>
          <p:cNvPr id="4" name="Title 1"/>
          <p:cNvSpPr>
            <a:spLocks noGrp="1"/>
          </p:cNvSpPr>
          <p:nvPr>
            <p:ph type="title"/>
          </p:nvPr>
        </p:nvSpPr>
        <p:spPr>
          <a:xfrm>
            <a:off x="346364" y="762000"/>
            <a:ext cx="6355625" cy="2216695"/>
          </a:xfrm>
        </p:spPr>
        <p:txBody>
          <a:bodyPr/>
          <a:lstStyle/>
          <a:p>
            <a:pPr algn="l"/>
            <a:r>
              <a:rPr lang="en-US" sz="1800" dirty="0">
                <a:solidFill>
                  <a:schemeClr val="tx1">
                    <a:lumMod val="95000"/>
                    <a:lumOff val="5000"/>
                  </a:schemeClr>
                </a:solidFill>
                <a:latin typeface="Times New Roman" pitchFamily="18" charset="0"/>
                <a:cs typeface="Times New Roman" pitchFamily="18" charset="0"/>
              </a:rPr>
              <a:t>Blood pressure rises</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Breathing becomes more rapid</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Digestive system slows down</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Heart rate rises</a:t>
            </a:r>
          </a:p>
        </p:txBody>
      </p:sp>
      <p:pic>
        <p:nvPicPr>
          <p:cNvPr id="6" name="Content Placeholder 3" descr="stress-management-yoga-5-728.jpg"/>
          <p:cNvPicPr>
            <a:picLocks noChangeAspect="1"/>
          </p:cNvPicPr>
          <p:nvPr/>
        </p:nvPicPr>
        <p:blipFill>
          <a:blip r:embed="rId2" cstate="print"/>
          <a:stretch>
            <a:fillRect/>
          </a:stretch>
        </p:blipFill>
        <p:spPr>
          <a:xfrm>
            <a:off x="346364" y="1955800"/>
            <a:ext cx="7807036" cy="4648200"/>
          </a:xfrm>
          <a:prstGeom prst="rect">
            <a:avLst/>
          </a:prstGeom>
          <a:ln>
            <a:noFill/>
          </a:ln>
          <a:effectLst>
            <a:softEdge rad="112500"/>
          </a:effectLst>
        </p:spPr>
      </p:pic>
    </p:spTree>
    <p:extLst>
      <p:ext uri="{BB962C8B-B14F-4D97-AF65-F5344CB8AC3E}">
        <p14:creationId xmlns:p14="http://schemas.microsoft.com/office/powerpoint/2010/main" val="400340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flipH="1">
            <a:off x="457198" y="1066800"/>
            <a:ext cx="8229599" cy="1905000"/>
          </a:xfrm>
        </p:spPr>
        <p:txBody>
          <a:bodyPr/>
          <a:lstStyle/>
          <a:p>
            <a:pPr marL="457200" indent="-457200" algn="just">
              <a:buFont typeface="Wingdings" pitchFamily="2" charset="2"/>
              <a:buChar char="Ø"/>
            </a:pPr>
            <a:r>
              <a:rPr lang="en-US" sz="1800" b="1" i="1" dirty="0">
                <a:solidFill>
                  <a:schemeClr val="tx1">
                    <a:lumMod val="95000"/>
                    <a:lumOff val="5000"/>
                  </a:schemeClr>
                </a:solidFill>
                <a:latin typeface="Times New Roman" pitchFamily="18" charset="0"/>
                <a:cs typeface="Times New Roman" pitchFamily="18" charset="0"/>
              </a:rPr>
              <a:t>Academics:</a:t>
            </a:r>
            <a:r>
              <a:rPr lang="en-US" sz="1800" dirty="0">
                <a:solidFill>
                  <a:schemeClr val="tx1">
                    <a:lumMod val="95000"/>
                    <a:lumOff val="5000"/>
                  </a:schemeClr>
                </a:solidFill>
                <a:latin typeface="Times New Roman" pitchFamily="18" charset="0"/>
                <a:cs typeface="Times New Roman" pitchFamily="18" charset="0"/>
              </a:rPr>
              <a:t> workload, challenging classes, packed schedule, studying</a:t>
            </a:r>
          </a:p>
          <a:p>
            <a:pPr marL="457200" indent="-457200" algn="just">
              <a:buFont typeface="Wingdings" pitchFamily="2" charset="2"/>
              <a:buChar char="Ø"/>
            </a:pPr>
            <a:r>
              <a:rPr lang="en-US" sz="1800" b="1" i="1" dirty="0">
                <a:solidFill>
                  <a:schemeClr val="tx1">
                    <a:lumMod val="95000"/>
                    <a:lumOff val="5000"/>
                  </a:schemeClr>
                </a:solidFill>
                <a:latin typeface="Times New Roman" pitchFamily="18" charset="0"/>
                <a:cs typeface="Times New Roman" pitchFamily="18" charset="0"/>
              </a:rPr>
              <a:t>Social obstacles: </a:t>
            </a:r>
            <a:r>
              <a:rPr lang="en-US" sz="1800" dirty="0">
                <a:solidFill>
                  <a:schemeClr val="tx1">
                    <a:lumMod val="95000"/>
                    <a:lumOff val="5000"/>
                  </a:schemeClr>
                </a:solidFill>
                <a:latin typeface="Times New Roman" pitchFamily="18" charset="0"/>
                <a:cs typeface="Times New Roman" pitchFamily="18" charset="0"/>
              </a:rPr>
              <a:t>making friends, independence, balancing life</a:t>
            </a:r>
          </a:p>
          <a:p>
            <a:pPr marL="457200" indent="-457200" algn="just">
              <a:buFont typeface="Wingdings" pitchFamily="2" charset="2"/>
              <a:buChar char="Ø"/>
            </a:pPr>
            <a:r>
              <a:rPr lang="en-US" sz="1800" b="1" i="1" dirty="0">
                <a:solidFill>
                  <a:schemeClr val="tx1">
                    <a:lumMod val="95000"/>
                    <a:lumOff val="5000"/>
                  </a:schemeClr>
                </a:solidFill>
                <a:latin typeface="Times New Roman" pitchFamily="18" charset="0"/>
                <a:cs typeface="Times New Roman" pitchFamily="18" charset="0"/>
              </a:rPr>
              <a:t>Time management: </a:t>
            </a:r>
            <a:r>
              <a:rPr lang="en-US" sz="1800" dirty="0">
                <a:solidFill>
                  <a:schemeClr val="tx1">
                    <a:lumMod val="95000"/>
                    <a:lumOff val="5000"/>
                  </a:schemeClr>
                </a:solidFill>
                <a:latin typeface="Times New Roman" pitchFamily="18" charset="0"/>
                <a:cs typeface="Times New Roman" pitchFamily="18" charset="0"/>
              </a:rPr>
              <a:t>organizing, deadlines, procrastination</a:t>
            </a:r>
          </a:p>
          <a:p>
            <a:pPr marL="457200" indent="-457200" algn="just">
              <a:buFont typeface="Wingdings" pitchFamily="2" charset="2"/>
              <a:buChar char="Ø"/>
            </a:pPr>
            <a:r>
              <a:rPr lang="en-US" sz="1800" b="1" i="1" dirty="0">
                <a:solidFill>
                  <a:schemeClr val="tx1">
                    <a:lumMod val="95000"/>
                    <a:lumOff val="5000"/>
                  </a:schemeClr>
                </a:solidFill>
                <a:latin typeface="Times New Roman" pitchFamily="18" charset="0"/>
                <a:cs typeface="Times New Roman" pitchFamily="18" charset="0"/>
              </a:rPr>
              <a:t>Financial difficulties: </a:t>
            </a:r>
            <a:r>
              <a:rPr lang="en-US" sz="1800" dirty="0">
                <a:solidFill>
                  <a:schemeClr val="tx1">
                    <a:lumMod val="95000"/>
                    <a:lumOff val="5000"/>
                  </a:schemeClr>
                </a:solidFill>
                <a:latin typeface="Times New Roman" pitchFamily="18" charset="0"/>
                <a:cs typeface="Times New Roman" pitchFamily="18" charset="0"/>
              </a:rPr>
              <a:t>university expenses, living cost, food costs</a:t>
            </a:r>
          </a:p>
          <a:p>
            <a:pPr marL="457200" indent="-457200" algn="just">
              <a:buFont typeface="Wingdings" pitchFamily="2" charset="2"/>
              <a:buChar char="Ø"/>
            </a:pPr>
            <a:r>
              <a:rPr lang="en-US" sz="1800" b="1" i="1" dirty="0">
                <a:solidFill>
                  <a:schemeClr val="tx1">
                    <a:lumMod val="95000"/>
                    <a:lumOff val="5000"/>
                  </a:schemeClr>
                </a:solidFill>
                <a:latin typeface="Times New Roman" pitchFamily="18" charset="0"/>
                <a:cs typeface="Times New Roman" pitchFamily="18" charset="0"/>
              </a:rPr>
              <a:t>Other: </a:t>
            </a:r>
            <a:r>
              <a:rPr lang="en-US" sz="1800" dirty="0">
                <a:solidFill>
                  <a:schemeClr val="tx1">
                    <a:lumMod val="95000"/>
                    <a:lumOff val="5000"/>
                  </a:schemeClr>
                </a:solidFill>
                <a:latin typeface="Times New Roman" pitchFamily="18" charset="0"/>
                <a:cs typeface="Times New Roman" pitchFamily="18" charset="0"/>
              </a:rPr>
              <a:t>sleep deprivation, jobs, unhealthy eating habits</a:t>
            </a:r>
          </a:p>
          <a:p>
            <a:pPr algn="just"/>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2590800"/>
            <a:ext cx="7696202" cy="3896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1560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04800" y="228600"/>
            <a:ext cx="5308200" cy="1116000"/>
          </a:xfrm>
        </p:spPr>
        <p:txBody>
          <a:bodyPr/>
          <a:lstStyle/>
          <a:p>
            <a:pPr marL="152400" indent="0">
              <a:buNone/>
            </a:pPr>
            <a:r>
              <a:rPr lang="en-US" sz="4400" b="1" dirty="0">
                <a:solidFill>
                  <a:schemeClr val="tx1">
                    <a:lumMod val="95000"/>
                    <a:lumOff val="5000"/>
                  </a:schemeClr>
                </a:solidFill>
                <a:latin typeface="Times New Roman" pitchFamily="18" charset="0"/>
                <a:cs typeface="Times New Roman" pitchFamily="18" charset="0"/>
              </a:rPr>
              <a:t>Types of stress</a:t>
            </a:r>
          </a:p>
        </p:txBody>
      </p:sp>
      <p:sp>
        <p:nvSpPr>
          <p:cNvPr id="3" name="Title 2"/>
          <p:cNvSpPr>
            <a:spLocks noGrp="1"/>
          </p:cNvSpPr>
          <p:nvPr>
            <p:ph type="title"/>
          </p:nvPr>
        </p:nvSpPr>
        <p:spPr>
          <a:xfrm>
            <a:off x="533400" y="1066800"/>
            <a:ext cx="7924800" cy="5410200"/>
          </a:xfrm>
        </p:spPr>
        <p:txBody>
          <a:bodyPr/>
          <a:lstStyle/>
          <a:p>
            <a:pPr algn="l"/>
            <a:r>
              <a:rPr lang="en-US" sz="1800" b="1" i="1" dirty="0">
                <a:solidFill>
                  <a:schemeClr val="tx1">
                    <a:lumMod val="95000"/>
                    <a:lumOff val="5000"/>
                  </a:schemeClr>
                </a:solidFill>
                <a:latin typeface="Times New Roman" pitchFamily="18" charset="0"/>
                <a:cs typeface="Times New Roman" pitchFamily="18" charset="0"/>
              </a:rPr>
              <a:t>Acute Stress</a:t>
            </a:r>
            <a:br>
              <a:rPr lang="en-US" sz="1800" b="1" i="1"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It is usually for short time</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It may be due to work pressure, meeting deadlines pressure or minor accident, over exertion, increased physical activity, searching something but you misplaced it, or similar things. </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Symptoms of this type of tension are headaches, back pain, stomach problems, rapid heartbeat, muscle aches or body pain.</a:t>
            </a:r>
            <a:br>
              <a:rPr lang="en-US" sz="1800" dirty="0">
                <a:solidFill>
                  <a:schemeClr val="tx1">
                    <a:lumMod val="95000"/>
                    <a:lumOff val="5000"/>
                  </a:schemeClr>
                </a:solidFill>
                <a:latin typeface="Times New Roman" pitchFamily="18" charset="0"/>
                <a:cs typeface="Times New Roman" pitchFamily="18" charset="0"/>
              </a:rPr>
            </a:br>
            <a:br>
              <a:rPr lang="en-US" sz="1800" dirty="0">
                <a:solidFill>
                  <a:schemeClr val="tx1">
                    <a:lumMod val="95000"/>
                    <a:lumOff val="5000"/>
                  </a:schemeClr>
                </a:solidFill>
                <a:latin typeface="Times New Roman" pitchFamily="18" charset="0"/>
                <a:cs typeface="Times New Roman" pitchFamily="18" charset="0"/>
              </a:rPr>
            </a:br>
            <a:r>
              <a:rPr lang="en-US" sz="1800" b="1" i="1" dirty="0">
                <a:solidFill>
                  <a:schemeClr val="tx1">
                    <a:lumMod val="95000"/>
                    <a:lumOff val="5000"/>
                  </a:schemeClr>
                </a:solidFill>
                <a:latin typeface="Times New Roman" pitchFamily="18" charset="0"/>
                <a:cs typeface="Times New Roman" pitchFamily="18" charset="0"/>
              </a:rPr>
              <a:t>Chronic Stress</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It is a prolonged stress that exists for weeks, months, or even years. </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This stress is due to poverty, broken or stressed families and marriages, chronic illness and successive failures in life. </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People suffering from this type of stress get used to it and may even not realize that they are under chronic stress.</a:t>
            </a:r>
            <a:br>
              <a:rPr lang="en-US" sz="1800" dirty="0">
                <a:solidFill>
                  <a:schemeClr val="tx1">
                    <a:lumMod val="95000"/>
                    <a:lumOff val="5000"/>
                  </a:schemeClr>
                </a:solidFill>
                <a:latin typeface="Times New Roman" pitchFamily="18" charset="0"/>
                <a:cs typeface="Times New Roman" pitchFamily="18" charset="0"/>
              </a:rPr>
            </a:br>
            <a:r>
              <a:rPr lang="en-US" sz="1800" dirty="0">
                <a:solidFill>
                  <a:schemeClr val="tx1">
                    <a:lumMod val="95000"/>
                    <a:lumOff val="5000"/>
                  </a:schemeClr>
                </a:solidFill>
                <a:latin typeface="Times New Roman" pitchFamily="18" charset="0"/>
                <a:cs typeface="Times New Roman" pitchFamily="18" charset="0"/>
              </a:rPr>
              <a:t> It is very harmful to their health.</a:t>
            </a:r>
            <a:br>
              <a:rPr lang="en-US" sz="1800" dirty="0">
                <a:solidFill>
                  <a:schemeClr val="tx1">
                    <a:lumMod val="95000"/>
                    <a:lumOff val="5000"/>
                  </a:schemeClr>
                </a:solidFill>
                <a:latin typeface="Times New Roman" pitchFamily="18" charset="0"/>
                <a:cs typeface="Times New Roman" pitchFamily="18" charset="0"/>
              </a:rPr>
            </a:br>
            <a:br>
              <a:rPr lang="en-US" sz="1800" dirty="0">
                <a:solidFill>
                  <a:schemeClr val="tx1">
                    <a:lumMod val="95000"/>
                    <a:lumOff val="5000"/>
                  </a:schemeClr>
                </a:solidFill>
                <a:latin typeface="Times New Roman" pitchFamily="18" charset="0"/>
                <a:cs typeface="Times New Roman" pitchFamily="18" charset="0"/>
              </a:rPr>
            </a:br>
            <a:endParaRPr lang="en-US" sz="1800" dirty="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772580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04800" y="228600"/>
            <a:ext cx="5308200" cy="1116000"/>
          </a:xfrm>
        </p:spPr>
        <p:txBody>
          <a:bodyPr/>
          <a:lstStyle/>
          <a:p>
            <a:pPr marL="152400" indent="0">
              <a:buNone/>
            </a:pPr>
            <a:r>
              <a:rPr lang="en-US" sz="4400" b="1" dirty="0">
                <a:solidFill>
                  <a:schemeClr val="tx1">
                    <a:lumMod val="95000"/>
                    <a:lumOff val="5000"/>
                  </a:schemeClr>
                </a:solidFill>
                <a:latin typeface="Times New Roman" pitchFamily="18" charset="0"/>
                <a:cs typeface="Times New Roman" pitchFamily="18" charset="0"/>
              </a:rPr>
              <a:t>Types of stress</a:t>
            </a:r>
          </a:p>
        </p:txBody>
      </p:sp>
      <p:sp>
        <p:nvSpPr>
          <p:cNvPr id="3" name="Title 2"/>
          <p:cNvSpPr>
            <a:spLocks noGrp="1"/>
          </p:cNvSpPr>
          <p:nvPr>
            <p:ph type="title"/>
          </p:nvPr>
        </p:nvSpPr>
        <p:spPr>
          <a:xfrm>
            <a:off x="533400" y="1066800"/>
            <a:ext cx="7924800" cy="5410200"/>
          </a:xfrm>
        </p:spPr>
        <p:txBody>
          <a:bodyPr/>
          <a:lstStyle/>
          <a:p>
            <a:pPr algn="l"/>
            <a:br>
              <a:rPr lang="en-US" sz="1800" u="sng" dirty="0">
                <a:solidFill>
                  <a:schemeClr val="tx1">
                    <a:lumMod val="95000"/>
                    <a:lumOff val="5000"/>
                  </a:schemeClr>
                </a:solidFill>
                <a:latin typeface="Times New Roman" pitchFamily="18" charset="0"/>
                <a:cs typeface="Times New Roman" pitchFamily="18" charset="0"/>
              </a:rPr>
            </a:br>
            <a:r>
              <a:rPr lang="en-US" sz="1800" b="1" u="sng" dirty="0">
                <a:solidFill>
                  <a:schemeClr val="tx1"/>
                </a:solidFill>
                <a:latin typeface="Times New Roman" panose="02020603050405020304" pitchFamily="18" charset="0"/>
                <a:cs typeface="Times New Roman" panose="02020603050405020304" pitchFamily="18" charset="0"/>
              </a:rPr>
              <a:t>Negative &amp; Positive Stress:</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Eustress: </a:t>
            </a:r>
            <a:r>
              <a:rPr lang="en-US" sz="1800" dirty="0">
                <a:solidFill>
                  <a:schemeClr val="tx1"/>
                </a:solidFill>
                <a:latin typeface="Times New Roman" panose="02020603050405020304" pitchFamily="18" charset="0"/>
                <a:cs typeface="Times New Roman" panose="02020603050405020304" pitchFamily="18" charset="0"/>
              </a:rPr>
              <a:t>Manageable Stress, can lead to growth and enhanced competence.</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Distress: </a:t>
            </a:r>
            <a:r>
              <a:rPr lang="en-US" sz="1800" dirty="0">
                <a:solidFill>
                  <a:schemeClr val="tx1"/>
                </a:solidFill>
                <a:latin typeface="Times New Roman" panose="02020603050405020304" pitchFamily="18" charset="0"/>
                <a:cs typeface="Times New Roman" panose="02020603050405020304" pitchFamily="18" charset="0"/>
              </a:rPr>
              <a:t>Uncontrollable, prolonged, or overwhelming stress. It is destructive.</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Acute Stress: </a:t>
            </a:r>
            <a:r>
              <a:rPr lang="en-US" sz="1800" dirty="0">
                <a:solidFill>
                  <a:schemeClr val="tx1"/>
                </a:solidFill>
                <a:latin typeface="Times New Roman" panose="02020603050405020304" pitchFamily="18" charset="0"/>
                <a:cs typeface="Times New Roman" panose="02020603050405020304" pitchFamily="18" charset="0"/>
              </a:rPr>
              <a:t>Immediate response to a threat or challenge.</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Chronic Stress: </a:t>
            </a:r>
            <a:r>
              <a:rPr lang="en-US" sz="1800" dirty="0">
                <a:solidFill>
                  <a:schemeClr val="tx1"/>
                </a:solidFill>
                <a:latin typeface="Times New Roman" panose="02020603050405020304" pitchFamily="18" charset="0"/>
                <a:cs typeface="Times New Roman" panose="02020603050405020304" pitchFamily="18" charset="0"/>
              </a:rPr>
              <a:t>Ongoing exposure to stress, may seem unrelenting.</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b="1" u="sng" dirty="0">
                <a:solidFill>
                  <a:schemeClr val="tx1"/>
                </a:solidFill>
                <a:latin typeface="Times New Roman" panose="02020603050405020304" pitchFamily="18" charset="0"/>
                <a:cs typeface="Times New Roman" panose="02020603050405020304" pitchFamily="18" charset="0"/>
              </a:rPr>
              <a:t>Types of Stressors: </a:t>
            </a:r>
            <a:br>
              <a:rPr lang="en-US" sz="1800" b="1" u="sng"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i="1" dirty="0">
                <a:solidFill>
                  <a:schemeClr val="tx1"/>
                </a:solidFill>
                <a:latin typeface="Times New Roman" panose="02020603050405020304" pitchFamily="18" charset="0"/>
                <a:cs typeface="Times New Roman" panose="02020603050405020304" pitchFamily="18" charset="0"/>
              </a:rPr>
              <a:t>External</a:t>
            </a:r>
            <a:r>
              <a:rPr lang="en-US" sz="1800" dirty="0">
                <a:solidFill>
                  <a:schemeClr val="tx1"/>
                </a:solidFill>
                <a:latin typeface="Times New Roman" panose="02020603050405020304" pitchFamily="18" charset="0"/>
                <a:cs typeface="Times New Roman" panose="02020603050405020304" pitchFamily="18" charset="0"/>
              </a:rPr>
              <a:t> (physical environment, social interactions, organizational, major life events, daily hassles)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a:t>
            </a:r>
            <a:br>
              <a:rPr lang="en-US" sz="1800" dirty="0">
                <a:solidFill>
                  <a:schemeClr val="tx1"/>
                </a:solidFill>
                <a:latin typeface="Times New Roman" panose="02020603050405020304" pitchFamily="18" charset="0"/>
                <a:cs typeface="Times New Roman" panose="02020603050405020304" pitchFamily="18" charset="0"/>
              </a:rPr>
            </a:br>
            <a:r>
              <a:rPr lang="en-US" sz="1800" b="1" i="1" dirty="0">
                <a:solidFill>
                  <a:schemeClr val="tx1"/>
                </a:solidFill>
                <a:latin typeface="Times New Roman" panose="02020603050405020304" pitchFamily="18" charset="0"/>
                <a:cs typeface="Times New Roman" panose="02020603050405020304" pitchFamily="18" charset="0"/>
              </a:rPr>
              <a:t>Internal</a:t>
            </a:r>
            <a:r>
              <a:rPr lang="en-US" sz="1800" dirty="0">
                <a:solidFill>
                  <a:schemeClr val="tx1"/>
                </a:solidFill>
                <a:latin typeface="Times New Roman" panose="02020603050405020304" pitchFamily="18" charset="0"/>
                <a:cs typeface="Times New Roman" panose="02020603050405020304" pitchFamily="18" charset="0"/>
              </a:rPr>
              <a:t> (negative self-talk, lifestyle choices, mind traps, personality traits)</a:t>
            </a:r>
            <a:br>
              <a:rPr lang="x-none" sz="1800" dirty="0">
                <a:solidFill>
                  <a:schemeClr val="tx1"/>
                </a:solidFill>
                <a:latin typeface="Times New Roman" panose="02020603050405020304" pitchFamily="18" charset="0"/>
                <a:cs typeface="Times New Roman" panose="02020603050405020304" pitchFamily="18" charset="0"/>
              </a:rPr>
            </a:br>
            <a:endParaRPr lang="en-US" sz="1800" dirty="0">
              <a:solidFill>
                <a:schemeClr val="tx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4099942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3"/>
          <p:cNvSpPr txBox="1">
            <a:spLocks noGrp="1"/>
          </p:cNvSpPr>
          <p:nvPr>
            <p:ph type="ctrTitle"/>
          </p:nvPr>
        </p:nvSpPr>
        <p:spPr>
          <a:xfrm flipH="1">
            <a:off x="381768" y="378637"/>
            <a:ext cx="8013758" cy="138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000" b="1" dirty="0">
                <a:solidFill>
                  <a:schemeClr val="tx1"/>
                </a:solidFill>
                <a:latin typeface="Times New Roman" panose="02020603050405020304" pitchFamily="18" charset="0"/>
                <a:cs typeface="Times New Roman" panose="02020603050405020304" pitchFamily="18" charset="0"/>
              </a:rPr>
              <a:t>SYMPTOMS OF STRESS</a:t>
            </a:r>
          </a:p>
        </p:txBody>
      </p:sp>
      <p:sp>
        <p:nvSpPr>
          <p:cNvPr id="164" name="Google Shape;164;p33"/>
          <p:cNvSpPr/>
          <p:nvPr/>
        </p:nvSpPr>
        <p:spPr>
          <a:xfrm rot="1799869">
            <a:off x="4129486" y="1821192"/>
            <a:ext cx="885058" cy="1022205"/>
          </a:xfrm>
          <a:prstGeom prst="hexagon">
            <a:avLst>
              <a:gd name="adj" fmla="val 27582"/>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33"/>
          <p:cNvGrpSpPr/>
          <p:nvPr/>
        </p:nvGrpSpPr>
        <p:grpSpPr>
          <a:xfrm>
            <a:off x="4388647" y="2073233"/>
            <a:ext cx="366664" cy="489308"/>
            <a:chOff x="2185372" y="1957799"/>
            <a:chExt cx="366664" cy="366981"/>
          </a:xfrm>
        </p:grpSpPr>
        <p:sp>
          <p:nvSpPr>
            <p:cNvPr id="166" name="Google Shape;166;p33"/>
            <p:cNvSpPr/>
            <p:nvPr/>
          </p:nvSpPr>
          <p:spPr>
            <a:xfrm>
              <a:off x="2228742" y="2000853"/>
              <a:ext cx="75082" cy="74226"/>
            </a:xfrm>
            <a:custGeom>
              <a:avLst/>
              <a:gdLst/>
              <a:ahLst/>
              <a:cxnLst/>
              <a:rect l="l" t="t" r="r" b="b"/>
              <a:pathLst>
                <a:path w="2370" h="2343" extrusionOk="0">
                  <a:moveTo>
                    <a:pt x="179" y="0"/>
                  </a:moveTo>
                  <a:cubicBezTo>
                    <a:pt x="135" y="0"/>
                    <a:pt x="90" y="15"/>
                    <a:pt x="60" y="45"/>
                  </a:cubicBezTo>
                  <a:cubicBezTo>
                    <a:pt x="1" y="104"/>
                    <a:pt x="1" y="223"/>
                    <a:pt x="60" y="283"/>
                  </a:cubicBezTo>
                  <a:lnTo>
                    <a:pt x="2072" y="2295"/>
                  </a:lnTo>
                  <a:cubicBezTo>
                    <a:pt x="2096" y="2331"/>
                    <a:pt x="2144" y="2343"/>
                    <a:pt x="2191" y="2343"/>
                  </a:cubicBezTo>
                  <a:cubicBezTo>
                    <a:pt x="2227" y="2343"/>
                    <a:pt x="2275" y="2331"/>
                    <a:pt x="2310" y="2295"/>
                  </a:cubicBezTo>
                  <a:cubicBezTo>
                    <a:pt x="2370" y="2235"/>
                    <a:pt x="2370" y="2116"/>
                    <a:pt x="2310" y="2057"/>
                  </a:cubicBezTo>
                  <a:lnTo>
                    <a:pt x="298" y="45"/>
                  </a:lnTo>
                  <a:cubicBezTo>
                    <a:pt x="269" y="15"/>
                    <a:pt x="224" y="0"/>
                    <a:pt x="1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3"/>
            <p:cNvSpPr/>
            <p:nvPr/>
          </p:nvSpPr>
          <p:spPr>
            <a:xfrm>
              <a:off x="2188001" y="2067159"/>
              <a:ext cx="98873" cy="35070"/>
            </a:xfrm>
            <a:custGeom>
              <a:avLst/>
              <a:gdLst/>
              <a:ahLst/>
              <a:cxnLst/>
              <a:rect l="l" t="t" r="r" b="b"/>
              <a:pathLst>
                <a:path w="3121" h="1107" extrusionOk="0">
                  <a:moveTo>
                    <a:pt x="188" y="1"/>
                  </a:moveTo>
                  <a:cubicBezTo>
                    <a:pt x="120" y="1"/>
                    <a:pt x="56" y="54"/>
                    <a:pt x="37" y="131"/>
                  </a:cubicBezTo>
                  <a:cubicBezTo>
                    <a:pt x="1" y="214"/>
                    <a:pt x="60" y="309"/>
                    <a:pt x="156" y="333"/>
                  </a:cubicBezTo>
                  <a:lnTo>
                    <a:pt x="2882" y="1107"/>
                  </a:lnTo>
                  <a:lnTo>
                    <a:pt x="2918" y="1107"/>
                  </a:lnTo>
                  <a:cubicBezTo>
                    <a:pt x="3001" y="1107"/>
                    <a:pt x="3073" y="1071"/>
                    <a:pt x="3085" y="988"/>
                  </a:cubicBezTo>
                  <a:cubicBezTo>
                    <a:pt x="3120" y="904"/>
                    <a:pt x="3061" y="809"/>
                    <a:pt x="2965" y="785"/>
                  </a:cubicBezTo>
                  <a:lnTo>
                    <a:pt x="239" y="11"/>
                  </a:lnTo>
                  <a:cubicBezTo>
                    <a:pt x="222" y="4"/>
                    <a:pt x="205" y="1"/>
                    <a:pt x="1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3"/>
            <p:cNvSpPr/>
            <p:nvPr/>
          </p:nvSpPr>
          <p:spPr>
            <a:xfrm>
              <a:off x="2185372" y="2119114"/>
              <a:ext cx="97733" cy="37066"/>
            </a:xfrm>
            <a:custGeom>
              <a:avLst/>
              <a:gdLst/>
              <a:ahLst/>
              <a:cxnLst/>
              <a:rect l="l" t="t" r="r" b="b"/>
              <a:pathLst>
                <a:path w="3085" h="1170" extrusionOk="0">
                  <a:moveTo>
                    <a:pt x="2872" y="1"/>
                  </a:moveTo>
                  <a:cubicBezTo>
                    <a:pt x="2863" y="1"/>
                    <a:pt x="2855" y="1"/>
                    <a:pt x="2846" y="3"/>
                  </a:cubicBezTo>
                  <a:lnTo>
                    <a:pt x="131" y="836"/>
                  </a:lnTo>
                  <a:cubicBezTo>
                    <a:pt x="48" y="872"/>
                    <a:pt x="0" y="955"/>
                    <a:pt x="12" y="1050"/>
                  </a:cubicBezTo>
                  <a:cubicBezTo>
                    <a:pt x="48" y="1122"/>
                    <a:pt x="108" y="1169"/>
                    <a:pt x="179" y="1169"/>
                  </a:cubicBezTo>
                  <a:cubicBezTo>
                    <a:pt x="191" y="1169"/>
                    <a:pt x="203" y="1169"/>
                    <a:pt x="227" y="1158"/>
                  </a:cubicBezTo>
                  <a:lnTo>
                    <a:pt x="2929" y="324"/>
                  </a:lnTo>
                  <a:cubicBezTo>
                    <a:pt x="3037" y="300"/>
                    <a:pt x="3084" y="217"/>
                    <a:pt x="3048" y="122"/>
                  </a:cubicBezTo>
                  <a:cubicBezTo>
                    <a:pt x="3027" y="47"/>
                    <a:pt x="2948" y="1"/>
                    <a:pt x="2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3"/>
            <p:cNvSpPr/>
            <p:nvPr/>
          </p:nvSpPr>
          <p:spPr>
            <a:xfrm>
              <a:off x="2294763" y="1960587"/>
              <a:ext cx="36242" cy="97131"/>
            </a:xfrm>
            <a:custGeom>
              <a:avLst/>
              <a:gdLst/>
              <a:ahLst/>
              <a:cxnLst/>
              <a:rect l="l" t="t" r="r" b="b"/>
              <a:pathLst>
                <a:path w="1144" h="3066" extrusionOk="0">
                  <a:moveTo>
                    <a:pt x="185" y="1"/>
                  </a:moveTo>
                  <a:cubicBezTo>
                    <a:pt x="172" y="1"/>
                    <a:pt x="158" y="2"/>
                    <a:pt x="143" y="6"/>
                  </a:cubicBezTo>
                  <a:cubicBezTo>
                    <a:pt x="60" y="42"/>
                    <a:pt x="0" y="125"/>
                    <a:pt x="24" y="220"/>
                  </a:cubicBezTo>
                  <a:lnTo>
                    <a:pt x="798" y="2947"/>
                  </a:lnTo>
                  <a:cubicBezTo>
                    <a:pt x="822" y="3018"/>
                    <a:pt x="893" y="3066"/>
                    <a:pt x="965" y="3066"/>
                  </a:cubicBezTo>
                  <a:lnTo>
                    <a:pt x="1012" y="3066"/>
                  </a:lnTo>
                  <a:cubicBezTo>
                    <a:pt x="1096" y="3030"/>
                    <a:pt x="1143" y="2947"/>
                    <a:pt x="1131" y="2852"/>
                  </a:cubicBezTo>
                  <a:lnTo>
                    <a:pt x="357" y="125"/>
                  </a:lnTo>
                  <a:cubicBezTo>
                    <a:pt x="327" y="54"/>
                    <a:pt x="262" y="1"/>
                    <a:pt x="1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3"/>
            <p:cNvSpPr/>
            <p:nvPr/>
          </p:nvSpPr>
          <p:spPr>
            <a:xfrm>
              <a:off x="2346433" y="1957799"/>
              <a:ext cx="38491" cy="96909"/>
            </a:xfrm>
            <a:custGeom>
              <a:avLst/>
              <a:gdLst/>
              <a:ahLst/>
              <a:cxnLst/>
              <a:rect l="l" t="t" r="r" b="b"/>
              <a:pathLst>
                <a:path w="1215" h="3059" extrusionOk="0">
                  <a:moveTo>
                    <a:pt x="1021" y="0"/>
                  </a:moveTo>
                  <a:cubicBezTo>
                    <a:pt x="953" y="0"/>
                    <a:pt x="889" y="54"/>
                    <a:pt x="870" y="130"/>
                  </a:cubicBezTo>
                  <a:lnTo>
                    <a:pt x="36" y="2832"/>
                  </a:lnTo>
                  <a:cubicBezTo>
                    <a:pt x="0" y="2928"/>
                    <a:pt x="60" y="3011"/>
                    <a:pt x="155" y="3047"/>
                  </a:cubicBezTo>
                  <a:cubicBezTo>
                    <a:pt x="167" y="3047"/>
                    <a:pt x="179" y="3059"/>
                    <a:pt x="203" y="3059"/>
                  </a:cubicBezTo>
                  <a:cubicBezTo>
                    <a:pt x="274" y="3059"/>
                    <a:pt x="334" y="3011"/>
                    <a:pt x="358" y="2940"/>
                  </a:cubicBezTo>
                  <a:lnTo>
                    <a:pt x="1191" y="237"/>
                  </a:lnTo>
                  <a:cubicBezTo>
                    <a:pt x="1215" y="130"/>
                    <a:pt x="1167" y="23"/>
                    <a:pt x="1072" y="11"/>
                  </a:cubicBezTo>
                  <a:cubicBezTo>
                    <a:pt x="1055" y="4"/>
                    <a:pt x="1038" y="0"/>
                    <a:pt x="10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3"/>
            <p:cNvSpPr/>
            <p:nvPr/>
          </p:nvSpPr>
          <p:spPr>
            <a:xfrm>
              <a:off x="2290993" y="2100391"/>
              <a:ext cx="37731" cy="121778"/>
            </a:xfrm>
            <a:custGeom>
              <a:avLst/>
              <a:gdLst/>
              <a:ahLst/>
              <a:cxnLst/>
              <a:rect l="l" t="t" r="r" b="b"/>
              <a:pathLst>
                <a:path w="1191" h="3844" extrusionOk="0">
                  <a:moveTo>
                    <a:pt x="721" y="1"/>
                  </a:moveTo>
                  <a:cubicBezTo>
                    <a:pt x="670" y="1"/>
                    <a:pt x="616" y="30"/>
                    <a:pt x="572" y="82"/>
                  </a:cubicBezTo>
                  <a:cubicBezTo>
                    <a:pt x="191" y="629"/>
                    <a:pt x="0" y="1296"/>
                    <a:pt x="60" y="1987"/>
                  </a:cubicBezTo>
                  <a:cubicBezTo>
                    <a:pt x="119" y="2665"/>
                    <a:pt x="417" y="3308"/>
                    <a:pt x="893" y="3796"/>
                  </a:cubicBezTo>
                  <a:cubicBezTo>
                    <a:pt x="917" y="3832"/>
                    <a:pt x="965" y="3844"/>
                    <a:pt x="1012" y="3844"/>
                  </a:cubicBezTo>
                  <a:cubicBezTo>
                    <a:pt x="1060" y="3844"/>
                    <a:pt x="1096" y="3832"/>
                    <a:pt x="1131" y="3796"/>
                  </a:cubicBezTo>
                  <a:cubicBezTo>
                    <a:pt x="1191" y="3725"/>
                    <a:pt x="1191" y="3618"/>
                    <a:pt x="1131" y="3546"/>
                  </a:cubicBezTo>
                  <a:cubicBezTo>
                    <a:pt x="250" y="2665"/>
                    <a:pt x="131" y="1284"/>
                    <a:pt x="857" y="272"/>
                  </a:cubicBezTo>
                  <a:cubicBezTo>
                    <a:pt x="917" y="201"/>
                    <a:pt x="893" y="94"/>
                    <a:pt x="810" y="34"/>
                  </a:cubicBezTo>
                  <a:cubicBezTo>
                    <a:pt x="783" y="12"/>
                    <a:pt x="752" y="1"/>
                    <a:pt x="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3"/>
            <p:cNvSpPr/>
            <p:nvPr/>
          </p:nvSpPr>
          <p:spPr>
            <a:xfrm>
              <a:off x="2353592" y="2091362"/>
              <a:ext cx="68302" cy="20307"/>
            </a:xfrm>
            <a:custGeom>
              <a:avLst/>
              <a:gdLst/>
              <a:ahLst/>
              <a:cxnLst/>
              <a:rect l="l" t="t" r="r" b="b"/>
              <a:pathLst>
                <a:path w="2156" h="641" extrusionOk="0">
                  <a:moveTo>
                    <a:pt x="971" y="1"/>
                  </a:moveTo>
                  <a:cubicBezTo>
                    <a:pt x="708" y="1"/>
                    <a:pt x="417" y="59"/>
                    <a:pt x="120" y="224"/>
                  </a:cubicBezTo>
                  <a:cubicBezTo>
                    <a:pt x="24" y="271"/>
                    <a:pt x="1" y="379"/>
                    <a:pt x="60" y="462"/>
                  </a:cubicBezTo>
                  <a:cubicBezTo>
                    <a:pt x="90" y="522"/>
                    <a:pt x="144" y="554"/>
                    <a:pt x="201" y="554"/>
                  </a:cubicBezTo>
                  <a:cubicBezTo>
                    <a:pt x="234" y="554"/>
                    <a:pt x="268" y="543"/>
                    <a:pt x="298" y="521"/>
                  </a:cubicBezTo>
                  <a:cubicBezTo>
                    <a:pt x="537" y="391"/>
                    <a:pt x="771" y="345"/>
                    <a:pt x="982" y="345"/>
                  </a:cubicBezTo>
                  <a:cubicBezTo>
                    <a:pt x="1488" y="345"/>
                    <a:pt x="1869" y="608"/>
                    <a:pt x="1894" y="617"/>
                  </a:cubicBezTo>
                  <a:cubicBezTo>
                    <a:pt x="1918" y="629"/>
                    <a:pt x="1953" y="640"/>
                    <a:pt x="2001" y="640"/>
                  </a:cubicBezTo>
                  <a:cubicBezTo>
                    <a:pt x="2060" y="640"/>
                    <a:pt x="2096" y="617"/>
                    <a:pt x="2132" y="569"/>
                  </a:cubicBezTo>
                  <a:cubicBezTo>
                    <a:pt x="2156" y="498"/>
                    <a:pt x="2144" y="390"/>
                    <a:pt x="2072" y="331"/>
                  </a:cubicBezTo>
                  <a:cubicBezTo>
                    <a:pt x="2039" y="314"/>
                    <a:pt x="1581" y="1"/>
                    <a:pt x="9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3"/>
            <p:cNvSpPr/>
            <p:nvPr/>
          </p:nvSpPr>
          <p:spPr>
            <a:xfrm>
              <a:off x="2321532" y="2064434"/>
              <a:ext cx="230504" cy="260346"/>
            </a:xfrm>
            <a:custGeom>
              <a:avLst/>
              <a:gdLst/>
              <a:ahLst/>
              <a:cxnLst/>
              <a:rect l="l" t="t" r="r" b="b"/>
              <a:pathLst>
                <a:path w="7276" h="8218" extrusionOk="0">
                  <a:moveTo>
                    <a:pt x="3322" y="3038"/>
                  </a:moveTo>
                  <a:cubicBezTo>
                    <a:pt x="3394" y="3038"/>
                    <a:pt x="3489" y="3074"/>
                    <a:pt x="3549" y="3134"/>
                  </a:cubicBezTo>
                  <a:cubicBezTo>
                    <a:pt x="3668" y="3241"/>
                    <a:pt x="3668" y="3431"/>
                    <a:pt x="3525" y="3562"/>
                  </a:cubicBezTo>
                  <a:cubicBezTo>
                    <a:pt x="3465" y="3622"/>
                    <a:pt x="3388" y="3651"/>
                    <a:pt x="3311" y="3651"/>
                  </a:cubicBezTo>
                  <a:cubicBezTo>
                    <a:pt x="3233" y="3651"/>
                    <a:pt x="3156" y="3622"/>
                    <a:pt x="3096" y="3562"/>
                  </a:cubicBezTo>
                  <a:cubicBezTo>
                    <a:pt x="2977" y="3443"/>
                    <a:pt x="2977" y="3253"/>
                    <a:pt x="3096" y="3134"/>
                  </a:cubicBezTo>
                  <a:cubicBezTo>
                    <a:pt x="3156" y="3074"/>
                    <a:pt x="3227" y="3038"/>
                    <a:pt x="3322" y="3038"/>
                  </a:cubicBezTo>
                  <a:close/>
                  <a:moveTo>
                    <a:pt x="2441" y="3919"/>
                  </a:moveTo>
                  <a:cubicBezTo>
                    <a:pt x="2537" y="3919"/>
                    <a:pt x="2608" y="3955"/>
                    <a:pt x="2668" y="4015"/>
                  </a:cubicBezTo>
                  <a:cubicBezTo>
                    <a:pt x="2727" y="4074"/>
                    <a:pt x="2751" y="4146"/>
                    <a:pt x="2751" y="4229"/>
                  </a:cubicBezTo>
                  <a:cubicBezTo>
                    <a:pt x="2739" y="4312"/>
                    <a:pt x="2715" y="4384"/>
                    <a:pt x="2656" y="4443"/>
                  </a:cubicBezTo>
                  <a:cubicBezTo>
                    <a:pt x="2596" y="4503"/>
                    <a:pt x="2516" y="4533"/>
                    <a:pt x="2435" y="4533"/>
                  </a:cubicBezTo>
                  <a:cubicBezTo>
                    <a:pt x="2355" y="4533"/>
                    <a:pt x="2275" y="4503"/>
                    <a:pt x="2215" y="4443"/>
                  </a:cubicBezTo>
                  <a:cubicBezTo>
                    <a:pt x="2096" y="4324"/>
                    <a:pt x="2096" y="4134"/>
                    <a:pt x="2215" y="4015"/>
                  </a:cubicBezTo>
                  <a:cubicBezTo>
                    <a:pt x="2275" y="3955"/>
                    <a:pt x="2358" y="3919"/>
                    <a:pt x="2441" y="3919"/>
                  </a:cubicBezTo>
                  <a:close/>
                  <a:moveTo>
                    <a:pt x="6109" y="5062"/>
                  </a:moveTo>
                  <a:lnTo>
                    <a:pt x="6620" y="5586"/>
                  </a:lnTo>
                  <a:lnTo>
                    <a:pt x="4775" y="7432"/>
                  </a:lnTo>
                  <a:lnTo>
                    <a:pt x="4656" y="7551"/>
                  </a:lnTo>
                  <a:lnTo>
                    <a:pt x="4144" y="7027"/>
                  </a:lnTo>
                  <a:lnTo>
                    <a:pt x="4215" y="6955"/>
                  </a:lnTo>
                  <a:lnTo>
                    <a:pt x="4680" y="6491"/>
                  </a:lnTo>
                  <a:lnTo>
                    <a:pt x="5573" y="5598"/>
                  </a:lnTo>
                  <a:lnTo>
                    <a:pt x="6025" y="5146"/>
                  </a:lnTo>
                  <a:lnTo>
                    <a:pt x="6109" y="5062"/>
                  </a:lnTo>
                  <a:close/>
                  <a:moveTo>
                    <a:pt x="6644" y="6062"/>
                  </a:moveTo>
                  <a:lnTo>
                    <a:pt x="6668" y="6098"/>
                  </a:lnTo>
                  <a:cubicBezTo>
                    <a:pt x="6859" y="6289"/>
                    <a:pt x="6978" y="6551"/>
                    <a:pt x="6978" y="6836"/>
                  </a:cubicBezTo>
                  <a:cubicBezTo>
                    <a:pt x="6978" y="7122"/>
                    <a:pt x="6859" y="7384"/>
                    <a:pt x="6668" y="7586"/>
                  </a:cubicBezTo>
                  <a:cubicBezTo>
                    <a:pt x="6478" y="7777"/>
                    <a:pt x="6204" y="7896"/>
                    <a:pt x="5930" y="7896"/>
                  </a:cubicBezTo>
                  <a:cubicBezTo>
                    <a:pt x="5644" y="7896"/>
                    <a:pt x="5370" y="7789"/>
                    <a:pt x="5180" y="7586"/>
                  </a:cubicBezTo>
                  <a:lnTo>
                    <a:pt x="5156" y="7551"/>
                  </a:lnTo>
                  <a:lnTo>
                    <a:pt x="6644" y="6062"/>
                  </a:lnTo>
                  <a:close/>
                  <a:moveTo>
                    <a:pt x="1942" y="1"/>
                  </a:moveTo>
                  <a:cubicBezTo>
                    <a:pt x="1249" y="1"/>
                    <a:pt x="584" y="249"/>
                    <a:pt x="72" y="693"/>
                  </a:cubicBezTo>
                  <a:cubicBezTo>
                    <a:pt x="1" y="752"/>
                    <a:pt x="1" y="859"/>
                    <a:pt x="60" y="931"/>
                  </a:cubicBezTo>
                  <a:cubicBezTo>
                    <a:pt x="91" y="968"/>
                    <a:pt x="135" y="986"/>
                    <a:pt x="181" y="986"/>
                  </a:cubicBezTo>
                  <a:cubicBezTo>
                    <a:pt x="222" y="986"/>
                    <a:pt x="264" y="971"/>
                    <a:pt x="298" y="943"/>
                  </a:cubicBezTo>
                  <a:cubicBezTo>
                    <a:pt x="775" y="540"/>
                    <a:pt x="1365" y="340"/>
                    <a:pt x="1953" y="340"/>
                  </a:cubicBezTo>
                  <a:cubicBezTo>
                    <a:pt x="2601" y="340"/>
                    <a:pt x="3247" y="582"/>
                    <a:pt x="3739" y="1062"/>
                  </a:cubicBezTo>
                  <a:cubicBezTo>
                    <a:pt x="4144" y="1467"/>
                    <a:pt x="4406" y="1967"/>
                    <a:pt x="4477" y="2538"/>
                  </a:cubicBezTo>
                  <a:cubicBezTo>
                    <a:pt x="4620" y="3491"/>
                    <a:pt x="5013" y="4336"/>
                    <a:pt x="5668" y="5003"/>
                  </a:cubicBezTo>
                  <a:lnTo>
                    <a:pt x="5454" y="5229"/>
                  </a:lnTo>
                  <a:lnTo>
                    <a:pt x="3882" y="3669"/>
                  </a:lnTo>
                  <a:cubicBezTo>
                    <a:pt x="4037" y="3419"/>
                    <a:pt x="3989" y="3098"/>
                    <a:pt x="3787" y="2884"/>
                  </a:cubicBezTo>
                  <a:cubicBezTo>
                    <a:pt x="3656" y="2753"/>
                    <a:pt x="3486" y="2687"/>
                    <a:pt x="3318" y="2687"/>
                  </a:cubicBezTo>
                  <a:cubicBezTo>
                    <a:pt x="3150" y="2687"/>
                    <a:pt x="2983" y="2753"/>
                    <a:pt x="2858" y="2884"/>
                  </a:cubicBezTo>
                  <a:cubicBezTo>
                    <a:pt x="2656" y="3086"/>
                    <a:pt x="2608" y="3419"/>
                    <a:pt x="2751" y="3669"/>
                  </a:cubicBezTo>
                  <a:cubicBezTo>
                    <a:pt x="2656" y="3610"/>
                    <a:pt x="2549" y="3574"/>
                    <a:pt x="2429" y="3574"/>
                  </a:cubicBezTo>
                  <a:cubicBezTo>
                    <a:pt x="2251" y="3574"/>
                    <a:pt x="2084" y="3657"/>
                    <a:pt x="1965" y="3776"/>
                  </a:cubicBezTo>
                  <a:cubicBezTo>
                    <a:pt x="1715" y="4027"/>
                    <a:pt x="1715" y="4443"/>
                    <a:pt x="1965" y="4693"/>
                  </a:cubicBezTo>
                  <a:cubicBezTo>
                    <a:pt x="2096" y="4824"/>
                    <a:pt x="2263" y="4884"/>
                    <a:pt x="2429" y="4884"/>
                  </a:cubicBezTo>
                  <a:cubicBezTo>
                    <a:pt x="2537" y="4884"/>
                    <a:pt x="2656" y="4860"/>
                    <a:pt x="2739" y="4800"/>
                  </a:cubicBezTo>
                  <a:cubicBezTo>
                    <a:pt x="2834" y="4884"/>
                    <a:pt x="2906" y="4967"/>
                    <a:pt x="2989" y="5039"/>
                  </a:cubicBezTo>
                  <a:cubicBezTo>
                    <a:pt x="3025" y="5062"/>
                    <a:pt x="3072" y="5086"/>
                    <a:pt x="3108" y="5086"/>
                  </a:cubicBezTo>
                  <a:cubicBezTo>
                    <a:pt x="3156" y="5086"/>
                    <a:pt x="3203" y="5062"/>
                    <a:pt x="3227" y="5027"/>
                  </a:cubicBezTo>
                  <a:cubicBezTo>
                    <a:pt x="3287" y="4943"/>
                    <a:pt x="3287" y="4848"/>
                    <a:pt x="3215" y="4789"/>
                  </a:cubicBezTo>
                  <a:cubicBezTo>
                    <a:pt x="3144" y="4705"/>
                    <a:pt x="3049" y="4634"/>
                    <a:pt x="2977" y="4562"/>
                  </a:cubicBezTo>
                  <a:cubicBezTo>
                    <a:pt x="3037" y="4455"/>
                    <a:pt x="3072" y="4348"/>
                    <a:pt x="3072" y="4229"/>
                  </a:cubicBezTo>
                  <a:cubicBezTo>
                    <a:pt x="3072" y="4110"/>
                    <a:pt x="3037" y="3991"/>
                    <a:pt x="2977" y="3907"/>
                  </a:cubicBezTo>
                  <a:lnTo>
                    <a:pt x="2977" y="3907"/>
                  </a:lnTo>
                  <a:cubicBezTo>
                    <a:pt x="3084" y="3967"/>
                    <a:pt x="3203" y="3991"/>
                    <a:pt x="3311" y="3991"/>
                  </a:cubicBezTo>
                  <a:cubicBezTo>
                    <a:pt x="3430" y="3991"/>
                    <a:pt x="3525" y="3967"/>
                    <a:pt x="3632" y="3907"/>
                  </a:cubicBezTo>
                  <a:lnTo>
                    <a:pt x="5192" y="5467"/>
                  </a:lnTo>
                  <a:lnTo>
                    <a:pt x="4537" y="6122"/>
                  </a:lnTo>
                  <a:lnTo>
                    <a:pt x="3751" y="5336"/>
                  </a:lnTo>
                  <a:cubicBezTo>
                    <a:pt x="3721" y="5300"/>
                    <a:pt x="3677" y="5283"/>
                    <a:pt x="3632" y="5283"/>
                  </a:cubicBezTo>
                  <a:cubicBezTo>
                    <a:pt x="3587" y="5283"/>
                    <a:pt x="3543" y="5300"/>
                    <a:pt x="3513" y="5336"/>
                  </a:cubicBezTo>
                  <a:cubicBezTo>
                    <a:pt x="3442" y="5396"/>
                    <a:pt x="3442" y="5515"/>
                    <a:pt x="3513" y="5574"/>
                  </a:cubicBezTo>
                  <a:lnTo>
                    <a:pt x="4299" y="6360"/>
                  </a:lnTo>
                  <a:lnTo>
                    <a:pt x="4084" y="6586"/>
                  </a:lnTo>
                  <a:cubicBezTo>
                    <a:pt x="3394" y="5932"/>
                    <a:pt x="2537" y="5515"/>
                    <a:pt x="1620" y="5396"/>
                  </a:cubicBezTo>
                  <a:cubicBezTo>
                    <a:pt x="1286" y="5348"/>
                    <a:pt x="941" y="5229"/>
                    <a:pt x="644" y="5050"/>
                  </a:cubicBezTo>
                  <a:cubicBezTo>
                    <a:pt x="621" y="5035"/>
                    <a:pt x="595" y="5029"/>
                    <a:pt x="568" y="5029"/>
                  </a:cubicBezTo>
                  <a:cubicBezTo>
                    <a:pt x="510" y="5029"/>
                    <a:pt x="446" y="5061"/>
                    <a:pt x="405" y="5110"/>
                  </a:cubicBezTo>
                  <a:cubicBezTo>
                    <a:pt x="358" y="5181"/>
                    <a:pt x="394" y="5289"/>
                    <a:pt x="465" y="5348"/>
                  </a:cubicBezTo>
                  <a:cubicBezTo>
                    <a:pt x="810" y="5562"/>
                    <a:pt x="1179" y="5681"/>
                    <a:pt x="1560" y="5741"/>
                  </a:cubicBezTo>
                  <a:cubicBezTo>
                    <a:pt x="2394" y="5836"/>
                    <a:pt x="3191" y="6229"/>
                    <a:pt x="3823" y="6824"/>
                  </a:cubicBezTo>
                  <a:lnTo>
                    <a:pt x="3751" y="6896"/>
                  </a:lnTo>
                  <a:cubicBezTo>
                    <a:pt x="3692" y="6955"/>
                    <a:pt x="3692" y="7075"/>
                    <a:pt x="3751" y="7134"/>
                  </a:cubicBezTo>
                  <a:lnTo>
                    <a:pt x="4525" y="7908"/>
                  </a:lnTo>
                  <a:cubicBezTo>
                    <a:pt x="4561" y="7944"/>
                    <a:pt x="4596" y="7956"/>
                    <a:pt x="4644" y="7956"/>
                  </a:cubicBezTo>
                  <a:cubicBezTo>
                    <a:pt x="4692" y="7956"/>
                    <a:pt x="4739" y="7944"/>
                    <a:pt x="4763" y="7908"/>
                  </a:cubicBezTo>
                  <a:lnTo>
                    <a:pt x="4882" y="7789"/>
                  </a:lnTo>
                  <a:lnTo>
                    <a:pt x="4918" y="7825"/>
                  </a:lnTo>
                  <a:cubicBezTo>
                    <a:pt x="5180" y="8087"/>
                    <a:pt x="5525" y="8217"/>
                    <a:pt x="5894" y="8217"/>
                  </a:cubicBezTo>
                  <a:cubicBezTo>
                    <a:pt x="6263" y="8217"/>
                    <a:pt x="6620" y="8075"/>
                    <a:pt x="6882" y="7825"/>
                  </a:cubicBezTo>
                  <a:cubicBezTo>
                    <a:pt x="7144" y="7551"/>
                    <a:pt x="7275" y="7205"/>
                    <a:pt x="7275" y="6836"/>
                  </a:cubicBezTo>
                  <a:cubicBezTo>
                    <a:pt x="7275" y="6467"/>
                    <a:pt x="7180" y="6122"/>
                    <a:pt x="6906" y="5860"/>
                  </a:cubicBezTo>
                  <a:lnTo>
                    <a:pt x="6882" y="5824"/>
                  </a:lnTo>
                  <a:lnTo>
                    <a:pt x="6990" y="5705"/>
                  </a:lnTo>
                  <a:cubicBezTo>
                    <a:pt x="7049" y="5646"/>
                    <a:pt x="7049" y="5527"/>
                    <a:pt x="6990" y="5467"/>
                  </a:cubicBezTo>
                  <a:lnTo>
                    <a:pt x="6216" y="4693"/>
                  </a:lnTo>
                  <a:cubicBezTo>
                    <a:pt x="6192" y="4669"/>
                    <a:pt x="6144" y="4646"/>
                    <a:pt x="6097" y="4646"/>
                  </a:cubicBezTo>
                  <a:cubicBezTo>
                    <a:pt x="6061" y="4646"/>
                    <a:pt x="6013" y="4669"/>
                    <a:pt x="5989" y="4693"/>
                  </a:cubicBezTo>
                  <a:lnTo>
                    <a:pt x="5906" y="4765"/>
                  </a:lnTo>
                  <a:cubicBezTo>
                    <a:pt x="5311" y="4157"/>
                    <a:pt x="4942" y="3372"/>
                    <a:pt x="4823" y="2491"/>
                  </a:cubicBezTo>
                  <a:cubicBezTo>
                    <a:pt x="4739" y="1848"/>
                    <a:pt x="4454" y="1276"/>
                    <a:pt x="3977" y="824"/>
                  </a:cubicBezTo>
                  <a:cubicBezTo>
                    <a:pt x="3453" y="324"/>
                    <a:pt x="2775" y="26"/>
                    <a:pt x="2037" y="2"/>
                  </a:cubicBezTo>
                  <a:cubicBezTo>
                    <a:pt x="2005" y="1"/>
                    <a:pt x="1973" y="1"/>
                    <a:pt x="19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TextBox 17"/>
          <p:cNvSpPr txBox="1"/>
          <p:nvPr/>
        </p:nvSpPr>
        <p:spPr>
          <a:xfrm>
            <a:off x="5103618" y="1970471"/>
            <a:ext cx="3352800" cy="400110"/>
          </a:xfrm>
          <a:prstGeom prst="rect">
            <a:avLst/>
          </a:prstGeom>
          <a:solidFill>
            <a:schemeClr val="accent5">
              <a:lumMod val="50000"/>
            </a:schemeClr>
          </a:solidFill>
          <a:ln>
            <a:solidFill>
              <a:schemeClr val="accent5">
                <a:lumMod val="50000"/>
              </a:schemeClr>
            </a:solidFill>
          </a:ln>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Chronic</a:t>
            </a:r>
          </a:p>
        </p:txBody>
      </p:sp>
      <p:sp>
        <p:nvSpPr>
          <p:cNvPr id="19" name="TextBox 18"/>
          <p:cNvSpPr txBox="1"/>
          <p:nvPr/>
        </p:nvSpPr>
        <p:spPr>
          <a:xfrm>
            <a:off x="687612" y="1970471"/>
            <a:ext cx="3352800" cy="400110"/>
          </a:xfrm>
          <a:prstGeom prst="rect">
            <a:avLst/>
          </a:prstGeom>
          <a:solidFill>
            <a:schemeClr val="accent5">
              <a:lumMod val="50000"/>
            </a:schemeClr>
          </a:solidFill>
          <a:ln>
            <a:solidFill>
              <a:schemeClr val="accent5">
                <a:lumMod val="50000"/>
              </a:schemeClr>
            </a:solidFill>
          </a:ln>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Acute</a:t>
            </a:r>
          </a:p>
        </p:txBody>
      </p:sp>
      <p:sp>
        <p:nvSpPr>
          <p:cNvPr id="5" name="TextBox 4"/>
          <p:cNvSpPr txBox="1"/>
          <p:nvPr/>
        </p:nvSpPr>
        <p:spPr>
          <a:xfrm>
            <a:off x="687612" y="2503951"/>
            <a:ext cx="3352800" cy="3970318"/>
          </a:xfrm>
          <a:prstGeom prst="rect">
            <a:avLst/>
          </a:prstGeom>
          <a:solidFill>
            <a:schemeClr val="accent5">
              <a:lumMod val="90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rPr>
              <a:t>Physical</a:t>
            </a:r>
          </a:p>
          <a:p>
            <a:r>
              <a:rPr lang="en-US" dirty="0">
                <a:latin typeface="Times New Roman" panose="02020603050405020304" pitchFamily="18" charset="0"/>
                <a:cs typeface="Times New Roman" panose="02020603050405020304" pitchFamily="18" charset="0"/>
              </a:rPr>
              <a:t>Headaches/Migraines</a:t>
            </a:r>
          </a:p>
          <a:p>
            <a:r>
              <a:rPr lang="en-US" dirty="0">
                <a:latin typeface="Times New Roman" panose="02020603050405020304" pitchFamily="18" charset="0"/>
                <a:cs typeface="Times New Roman" panose="02020603050405020304" pitchFamily="18" charset="0"/>
              </a:rPr>
              <a:t>Sweating</a:t>
            </a:r>
          </a:p>
          <a:p>
            <a:r>
              <a:rPr lang="en-US" dirty="0">
                <a:latin typeface="Times New Roman" panose="02020603050405020304" pitchFamily="18" charset="0"/>
                <a:cs typeface="Times New Roman" panose="02020603050405020304" pitchFamily="18" charset="0"/>
              </a:rPr>
              <a:t>Nausea</a:t>
            </a:r>
          </a:p>
          <a:p>
            <a:r>
              <a:rPr lang="en-US" dirty="0">
                <a:latin typeface="Times New Roman" panose="02020603050405020304" pitchFamily="18" charset="0"/>
                <a:cs typeface="Times New Roman" panose="02020603050405020304" pitchFamily="18" charset="0"/>
              </a:rPr>
              <a:t>Fatigue</a:t>
            </a:r>
          </a:p>
          <a:p>
            <a:r>
              <a:rPr lang="en-US" b="1" dirty="0">
                <a:latin typeface="Times New Roman" panose="02020603050405020304" pitchFamily="18" charset="0"/>
                <a:cs typeface="Times New Roman" panose="02020603050405020304" pitchFamily="18" charset="0"/>
              </a:rPr>
              <a:t>Emotional/Cognitive</a:t>
            </a:r>
          </a:p>
          <a:p>
            <a:r>
              <a:rPr lang="en-US" dirty="0">
                <a:latin typeface="Times New Roman" panose="02020603050405020304" pitchFamily="18" charset="0"/>
                <a:cs typeface="Times New Roman" panose="02020603050405020304" pitchFamily="18" charset="0"/>
              </a:rPr>
              <a:t>Worry</a:t>
            </a:r>
          </a:p>
          <a:p>
            <a:r>
              <a:rPr lang="en-US" dirty="0">
                <a:latin typeface="Times New Roman" panose="02020603050405020304" pitchFamily="18" charset="0"/>
                <a:cs typeface="Times New Roman" panose="02020603050405020304" pitchFamily="18" charset="0"/>
              </a:rPr>
              <a:t>Anger</a:t>
            </a:r>
          </a:p>
          <a:p>
            <a:r>
              <a:rPr lang="en-US" dirty="0">
                <a:latin typeface="Times New Roman" panose="02020603050405020304" pitchFamily="18" charset="0"/>
                <a:cs typeface="Times New Roman" panose="02020603050405020304" pitchFamily="18" charset="0"/>
              </a:rPr>
              <a:t>Irritability</a:t>
            </a:r>
          </a:p>
          <a:p>
            <a:r>
              <a:rPr lang="en-US" b="1" dirty="0">
                <a:latin typeface="Times New Roman" panose="02020603050405020304" pitchFamily="18" charset="0"/>
                <a:cs typeface="Times New Roman" panose="02020603050405020304" pitchFamily="18" charset="0"/>
              </a:rPr>
              <a:t>Behavioral</a:t>
            </a:r>
          </a:p>
          <a:p>
            <a:r>
              <a:rPr lang="en-US" dirty="0">
                <a:latin typeface="Times New Roman" panose="02020603050405020304" pitchFamily="18" charset="0"/>
                <a:cs typeface="Times New Roman" panose="02020603050405020304" pitchFamily="18" charset="0"/>
              </a:rPr>
              <a:t>Nail Biting</a:t>
            </a:r>
          </a:p>
          <a:p>
            <a:r>
              <a:rPr lang="en-US" dirty="0">
                <a:latin typeface="Times New Roman" panose="02020603050405020304" pitchFamily="18" charset="0"/>
                <a:cs typeface="Times New Roman" panose="02020603050405020304" pitchFamily="18" charset="0"/>
              </a:rPr>
              <a:t>Restlessness/Fidgeting</a:t>
            </a:r>
          </a:p>
          <a:p>
            <a:r>
              <a:rPr lang="en-US" dirty="0">
                <a:latin typeface="Times New Roman" panose="02020603050405020304" pitchFamily="18" charset="0"/>
                <a:cs typeface="Times New Roman" panose="02020603050405020304" pitchFamily="18" charset="0"/>
              </a:rPr>
              <a:t>Social Withdrawal</a:t>
            </a:r>
          </a:p>
          <a:p>
            <a:r>
              <a:rPr lang="en-US" dirty="0">
                <a:latin typeface="Times New Roman" panose="02020603050405020304" pitchFamily="18" charset="0"/>
                <a:cs typeface="Times New Roman" panose="02020603050405020304" pitchFamily="18" charset="0"/>
              </a:rPr>
              <a:t>Interpersonal Conflict</a:t>
            </a:r>
          </a:p>
        </p:txBody>
      </p:sp>
      <p:sp>
        <p:nvSpPr>
          <p:cNvPr id="21" name="TextBox 20"/>
          <p:cNvSpPr txBox="1"/>
          <p:nvPr/>
        </p:nvSpPr>
        <p:spPr>
          <a:xfrm>
            <a:off x="5103618" y="2503687"/>
            <a:ext cx="3352800" cy="3970318"/>
          </a:xfrm>
          <a:prstGeom prst="rect">
            <a:avLst/>
          </a:prstGeom>
          <a:solidFill>
            <a:schemeClr val="accent5">
              <a:lumMod val="90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Heart Diseases</a:t>
            </a:r>
          </a:p>
          <a:p>
            <a:r>
              <a:rPr lang="en-US" dirty="0">
                <a:latin typeface="Times New Roman" panose="02020603050405020304" pitchFamily="18" charset="0"/>
                <a:cs typeface="Times New Roman" panose="02020603050405020304" pitchFamily="18" charset="0"/>
              </a:rPr>
              <a:t>Anxiety Disorders</a:t>
            </a:r>
          </a:p>
          <a:p>
            <a:r>
              <a:rPr lang="en-US" dirty="0">
                <a:latin typeface="Times New Roman" panose="02020603050405020304" pitchFamily="18" charset="0"/>
                <a:cs typeface="Times New Roman" panose="02020603050405020304" pitchFamily="18" charset="0"/>
              </a:rPr>
              <a:t>Sleep Disorders</a:t>
            </a:r>
          </a:p>
          <a:p>
            <a:r>
              <a:rPr lang="en-US" dirty="0">
                <a:latin typeface="Times New Roman" panose="02020603050405020304" pitchFamily="18" charset="0"/>
                <a:cs typeface="Times New Roman" panose="02020603050405020304" pitchFamily="18" charset="0"/>
              </a:rPr>
              <a:t>Depression</a:t>
            </a:r>
          </a:p>
          <a:p>
            <a:r>
              <a:rPr lang="en-US" dirty="0">
                <a:latin typeface="Times New Roman" panose="02020603050405020304" pitchFamily="18" charset="0"/>
                <a:cs typeface="Times New Roman" panose="02020603050405020304" pitchFamily="18" charset="0"/>
              </a:rPr>
              <a:t>Weakened Immune System</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003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flipH="1">
            <a:off x="228600" y="228600"/>
            <a:ext cx="6493500" cy="1066800"/>
          </a:xfrm>
        </p:spPr>
        <p:txBody>
          <a:bodyPr/>
          <a:lstStyle/>
          <a:p>
            <a:pPr algn="l"/>
            <a:r>
              <a:rPr lang="en-US" sz="4400" b="1" dirty="0">
                <a:solidFill>
                  <a:schemeClr val="tx1">
                    <a:lumMod val="95000"/>
                    <a:lumOff val="5000"/>
                  </a:schemeClr>
                </a:solidFill>
                <a:latin typeface="Times New Roman" pitchFamily="18" charset="0"/>
                <a:cs typeface="Times New Roman" pitchFamily="18" charset="0"/>
              </a:rPr>
              <a:t>Eustress VS Distress</a:t>
            </a:r>
            <a:endParaRPr lang="en-US" sz="4400" dirty="0">
              <a:solidFill>
                <a:schemeClr val="tx1">
                  <a:lumMod val="95000"/>
                  <a:lumOff val="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flipH="1">
            <a:off x="381000" y="3429000"/>
            <a:ext cx="8305800" cy="3124200"/>
          </a:xfrm>
        </p:spPr>
        <p:txBody>
          <a:bodyPr/>
          <a:lstStyle/>
          <a:p>
            <a:pPr algn="l"/>
            <a:r>
              <a:rPr lang="en-US" sz="1800" b="1" i="1" dirty="0">
                <a:solidFill>
                  <a:schemeClr val="tx1">
                    <a:lumMod val="95000"/>
                    <a:lumOff val="5000"/>
                  </a:schemeClr>
                </a:solidFill>
                <a:latin typeface="Times New Roman" pitchFamily="18" charset="0"/>
                <a:cs typeface="Times New Roman" pitchFamily="18" charset="0"/>
              </a:rPr>
              <a:t>Eustress,</a:t>
            </a:r>
            <a:r>
              <a:rPr lang="en-US" sz="1800" dirty="0">
                <a:solidFill>
                  <a:schemeClr val="tx1">
                    <a:lumMod val="95000"/>
                    <a:lumOff val="5000"/>
                  </a:schemeClr>
                </a:solidFill>
                <a:latin typeface="Times New Roman" pitchFamily="18" charset="0"/>
                <a:cs typeface="Times New Roman" pitchFamily="18" charset="0"/>
              </a:rPr>
              <a:t> or positive stress, has the following characteristics:</a:t>
            </a:r>
          </a:p>
          <a:p>
            <a:pPr algn="l"/>
            <a:r>
              <a:rPr lang="en-US" sz="1800" dirty="0">
                <a:solidFill>
                  <a:schemeClr val="tx1">
                    <a:lumMod val="95000"/>
                    <a:lumOff val="5000"/>
                  </a:schemeClr>
                </a:solidFill>
                <a:latin typeface="Times New Roman" pitchFamily="18" charset="0"/>
                <a:cs typeface="Times New Roman" pitchFamily="18" charset="0"/>
              </a:rPr>
              <a:t>Motivates, focuses energy.</a:t>
            </a:r>
          </a:p>
          <a:p>
            <a:pPr algn="l"/>
            <a:r>
              <a:rPr lang="en-US" sz="1800" dirty="0">
                <a:solidFill>
                  <a:schemeClr val="tx1">
                    <a:lumMod val="95000"/>
                    <a:lumOff val="5000"/>
                  </a:schemeClr>
                </a:solidFill>
                <a:latin typeface="Times New Roman" pitchFamily="18" charset="0"/>
                <a:cs typeface="Times New Roman" pitchFamily="18" charset="0"/>
              </a:rPr>
              <a:t>Is short-term.</a:t>
            </a:r>
          </a:p>
          <a:p>
            <a:pPr algn="l"/>
            <a:r>
              <a:rPr lang="en-US" sz="1800" dirty="0">
                <a:solidFill>
                  <a:schemeClr val="tx1">
                    <a:lumMod val="95000"/>
                    <a:lumOff val="5000"/>
                  </a:schemeClr>
                </a:solidFill>
                <a:latin typeface="Times New Roman" pitchFamily="18" charset="0"/>
                <a:cs typeface="Times New Roman" pitchFamily="18" charset="0"/>
              </a:rPr>
              <a:t>Is perceived as within our coping abilities.</a:t>
            </a:r>
          </a:p>
          <a:p>
            <a:pPr algn="l"/>
            <a:r>
              <a:rPr lang="en-US" sz="1800" dirty="0">
                <a:solidFill>
                  <a:schemeClr val="tx1">
                    <a:lumMod val="95000"/>
                    <a:lumOff val="5000"/>
                  </a:schemeClr>
                </a:solidFill>
                <a:latin typeface="Times New Roman" pitchFamily="18" charset="0"/>
                <a:cs typeface="Times New Roman" pitchFamily="18" charset="0"/>
              </a:rPr>
              <a:t>Improves performance.</a:t>
            </a: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r>
              <a:rPr lang="en-US" sz="1800" b="1" i="1" dirty="0">
                <a:solidFill>
                  <a:schemeClr val="tx1">
                    <a:lumMod val="95000"/>
                    <a:lumOff val="5000"/>
                  </a:schemeClr>
                </a:solidFill>
                <a:latin typeface="Times New Roman" pitchFamily="18" charset="0"/>
                <a:cs typeface="Times New Roman" pitchFamily="18" charset="0"/>
              </a:rPr>
              <a:t>Distress, </a:t>
            </a:r>
            <a:r>
              <a:rPr lang="en-US" sz="1800" dirty="0">
                <a:solidFill>
                  <a:schemeClr val="tx1">
                    <a:lumMod val="95000"/>
                    <a:lumOff val="5000"/>
                  </a:schemeClr>
                </a:solidFill>
                <a:latin typeface="Times New Roman" pitchFamily="18" charset="0"/>
                <a:cs typeface="Times New Roman" pitchFamily="18" charset="0"/>
              </a:rPr>
              <a:t>or negative stress, has the following characteristics:</a:t>
            </a:r>
          </a:p>
          <a:p>
            <a:pPr algn="l"/>
            <a:r>
              <a:rPr lang="en-US" sz="1800" dirty="0">
                <a:solidFill>
                  <a:schemeClr val="tx1">
                    <a:lumMod val="95000"/>
                    <a:lumOff val="5000"/>
                  </a:schemeClr>
                </a:solidFill>
                <a:latin typeface="Times New Roman" pitchFamily="18" charset="0"/>
                <a:cs typeface="Times New Roman" pitchFamily="18" charset="0"/>
              </a:rPr>
              <a:t>Causes anxiety or concern.</a:t>
            </a:r>
          </a:p>
          <a:p>
            <a:pPr algn="l"/>
            <a:r>
              <a:rPr lang="en-US" sz="1800" dirty="0">
                <a:solidFill>
                  <a:schemeClr val="tx1">
                    <a:lumMod val="95000"/>
                    <a:lumOff val="5000"/>
                  </a:schemeClr>
                </a:solidFill>
                <a:latin typeface="Times New Roman" pitchFamily="18" charset="0"/>
                <a:cs typeface="Times New Roman" pitchFamily="18" charset="0"/>
              </a:rPr>
              <a:t>Can be short- or long-term.</a:t>
            </a:r>
          </a:p>
          <a:p>
            <a:pPr algn="l"/>
            <a:r>
              <a:rPr lang="en-US" sz="1800" dirty="0">
                <a:solidFill>
                  <a:schemeClr val="tx1">
                    <a:lumMod val="95000"/>
                    <a:lumOff val="5000"/>
                  </a:schemeClr>
                </a:solidFill>
                <a:latin typeface="Times New Roman" pitchFamily="18" charset="0"/>
                <a:cs typeface="Times New Roman" pitchFamily="18" charset="0"/>
              </a:rPr>
              <a:t>Is perceived as outside of our coping abilities.</a:t>
            </a:r>
          </a:p>
          <a:p>
            <a:pPr algn="l"/>
            <a:r>
              <a:rPr lang="en-US" sz="1800" dirty="0">
                <a:solidFill>
                  <a:schemeClr val="tx1">
                    <a:lumMod val="95000"/>
                    <a:lumOff val="5000"/>
                  </a:schemeClr>
                </a:solidFill>
                <a:latin typeface="Times New Roman" pitchFamily="18" charset="0"/>
                <a:cs typeface="Times New Roman" pitchFamily="18" charset="0"/>
              </a:rPr>
              <a:t>Feels unpleasant.</a:t>
            </a:r>
          </a:p>
          <a:p>
            <a:pPr algn="l"/>
            <a:r>
              <a:rPr lang="en-US" sz="1800" dirty="0">
                <a:solidFill>
                  <a:schemeClr val="tx1">
                    <a:lumMod val="95000"/>
                    <a:lumOff val="5000"/>
                  </a:schemeClr>
                </a:solidFill>
                <a:latin typeface="Times New Roman" pitchFamily="18" charset="0"/>
                <a:cs typeface="Times New Roman" pitchFamily="18" charset="0"/>
              </a:rPr>
              <a:t>Decreases performance.</a:t>
            </a:r>
          </a:p>
          <a:p>
            <a:pPr algn="l"/>
            <a:r>
              <a:rPr lang="en-US" sz="1800" dirty="0">
                <a:solidFill>
                  <a:schemeClr val="tx1">
                    <a:lumMod val="95000"/>
                    <a:lumOff val="5000"/>
                  </a:schemeClr>
                </a:solidFill>
                <a:latin typeface="Times New Roman" pitchFamily="18" charset="0"/>
                <a:cs typeface="Times New Roman" pitchFamily="18" charset="0"/>
              </a:rPr>
              <a:t>Can lead to mental and physical problems.</a:t>
            </a: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52346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F565A2-BA14-4140-9A16-9D891123D244}"/>
              </a:ext>
            </a:extLst>
          </p:cNvPr>
          <p:cNvSpPr>
            <a:spLocks noGrp="1"/>
          </p:cNvSpPr>
          <p:nvPr>
            <p:ph type="body" idx="1"/>
          </p:nvPr>
        </p:nvSpPr>
        <p:spPr/>
        <p:txBody>
          <a:bodyPr/>
          <a:lstStyle/>
          <a:p>
            <a:endParaRPr lang="en-US"/>
          </a:p>
        </p:txBody>
      </p:sp>
      <p:sp>
        <p:nvSpPr>
          <p:cNvPr id="3" name="Title 2">
            <a:extLst>
              <a:ext uri="{FF2B5EF4-FFF2-40B4-BE49-F238E27FC236}">
                <a16:creationId xmlns:a16="http://schemas.microsoft.com/office/drawing/2014/main" id="{4022D289-4E2C-49B1-B0D7-10B4A3AACDF8}"/>
              </a:ext>
            </a:extLst>
          </p:cNvPr>
          <p:cNvSpPr>
            <a:spLocks noGrp="1"/>
          </p:cNvSpPr>
          <p:nvPr>
            <p:ph type="title"/>
          </p:nvPr>
        </p:nvSpPr>
        <p:spPr/>
        <p:txBody>
          <a:bodyPr/>
          <a:lstStyle/>
          <a:p>
            <a:endParaRPr lang="en-US"/>
          </a:p>
        </p:txBody>
      </p:sp>
      <p:pic>
        <p:nvPicPr>
          <p:cNvPr id="4" name="Picture 1">
            <a:extLst>
              <a:ext uri="{FF2B5EF4-FFF2-40B4-BE49-F238E27FC236}">
                <a16:creationId xmlns:a16="http://schemas.microsoft.com/office/drawing/2014/main" id="{8B46A92D-4E98-499F-B65E-2CE27B2A0C5E}"/>
              </a:ext>
            </a:extLst>
          </p:cNvPr>
          <p:cNvPicPr>
            <a:picLocks noChangeAspect="1"/>
          </p:cNvPicPr>
          <p:nvPr/>
        </p:nvPicPr>
        <p:blipFill>
          <a:blip r:embed="rId2"/>
          <a:stretch>
            <a:fillRect/>
          </a:stretch>
        </p:blipFill>
        <p:spPr>
          <a:xfrm>
            <a:off x="1089212" y="1115948"/>
            <a:ext cx="6835588" cy="4451133"/>
          </a:xfrm>
          <a:prstGeom prst="rect">
            <a:avLst/>
          </a:prstGeom>
        </p:spPr>
      </p:pic>
    </p:spTree>
    <p:extLst>
      <p:ext uri="{BB962C8B-B14F-4D97-AF65-F5344CB8AC3E}">
        <p14:creationId xmlns:p14="http://schemas.microsoft.com/office/powerpoint/2010/main" val="3511173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6"/>
          <p:cNvSpPr txBox="1">
            <a:spLocks noGrp="1"/>
          </p:cNvSpPr>
          <p:nvPr>
            <p:ph type="body" idx="1"/>
          </p:nvPr>
        </p:nvSpPr>
        <p:spPr>
          <a:xfrm>
            <a:off x="377570" y="1212532"/>
            <a:ext cx="5776650" cy="5078400"/>
          </a:xfrm>
          <a:prstGeom prst="rect">
            <a:avLst/>
          </a:prstGeom>
        </p:spPr>
        <p:txBody>
          <a:bodyPr spcFirstLastPara="1" wrap="square" lIns="91425" tIns="91425" rIns="91425" bIns="91425" anchor="t" anchorCtr="0">
            <a:noAutofit/>
          </a:bodyPr>
          <a:lstStyle/>
          <a:p>
            <a:pPr marL="342900" lvl="0" indent="-342900" rtl="0">
              <a:spcBef>
                <a:spcPts val="0"/>
              </a:spcBef>
              <a:spcAft>
                <a:spcPts val="0"/>
              </a:spcAft>
              <a:buClr>
                <a:schemeClr val="bg1"/>
              </a:buClr>
              <a:buSzPts val="11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Balancing responsibilities – SMART goals</a:t>
            </a:r>
          </a:p>
          <a:p>
            <a:pPr marL="342900" lvl="0" indent="-342900" rtl="0">
              <a:spcBef>
                <a:spcPts val="0"/>
              </a:spcBef>
              <a:spcAft>
                <a:spcPts val="0"/>
              </a:spcAft>
              <a:buClr>
                <a:schemeClr val="bg1"/>
              </a:buClr>
              <a:buSzPts val="11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Specific, measurable, achievable, result-oriented, time-oriented</a:t>
            </a:r>
          </a:p>
          <a:p>
            <a:pPr marL="342900" lvl="0" indent="-342900" rtl="0">
              <a:spcBef>
                <a:spcPts val="0"/>
              </a:spcBef>
              <a:spcAft>
                <a:spcPts val="0"/>
              </a:spcAft>
              <a:buClr>
                <a:schemeClr val="bg1"/>
              </a:buClr>
              <a:buSzPts val="1100"/>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pPr marL="342900" lvl="0" indent="-342900" rtl="0">
              <a:spcBef>
                <a:spcPts val="0"/>
              </a:spcBef>
              <a:spcAft>
                <a:spcPts val="0"/>
              </a:spcAft>
              <a:buClr>
                <a:schemeClr val="bg1"/>
              </a:buClr>
              <a:buSzPts val="11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To-do lists (Most to least important tasks) – Sense of accomplishment</a:t>
            </a:r>
          </a:p>
          <a:p>
            <a:pPr marL="342900" lvl="0" indent="-342900" rtl="0">
              <a:spcBef>
                <a:spcPts val="0"/>
              </a:spcBef>
              <a:spcAft>
                <a:spcPts val="0"/>
              </a:spcAft>
              <a:buClr>
                <a:schemeClr val="bg1"/>
              </a:buClr>
              <a:buSzPts val="1100"/>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pPr marL="342900" lvl="0" indent="-342900" rtl="0">
              <a:spcBef>
                <a:spcPts val="0"/>
              </a:spcBef>
              <a:spcAft>
                <a:spcPts val="0"/>
              </a:spcAft>
              <a:buClr>
                <a:schemeClr val="bg1"/>
              </a:buClr>
              <a:buSzPts val="11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Limit distractions – record, flight mode</a:t>
            </a:r>
          </a:p>
          <a:p>
            <a:pPr marL="342900" lvl="0" indent="-342900" rtl="0">
              <a:spcBef>
                <a:spcPts val="0"/>
              </a:spcBef>
              <a:spcAft>
                <a:spcPts val="0"/>
              </a:spcAft>
              <a:buClr>
                <a:schemeClr val="bg1"/>
              </a:buClr>
              <a:buSzPts val="1100"/>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pPr marL="342900" lvl="0" indent="-342900" rtl="0">
              <a:spcBef>
                <a:spcPts val="0"/>
              </a:spcBef>
              <a:spcAft>
                <a:spcPts val="0"/>
              </a:spcAft>
              <a:buClr>
                <a:schemeClr val="bg1"/>
              </a:buClr>
              <a:buSzPts val="11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Progress not perfection</a:t>
            </a:r>
          </a:p>
        </p:txBody>
      </p:sp>
      <p:sp>
        <p:nvSpPr>
          <p:cNvPr id="4" name="TextBox 3"/>
          <p:cNvSpPr txBox="1"/>
          <p:nvPr/>
        </p:nvSpPr>
        <p:spPr>
          <a:xfrm>
            <a:off x="377570" y="635712"/>
            <a:ext cx="7717972" cy="677108"/>
          </a:xfrm>
          <a:prstGeom prst="rect">
            <a:avLst/>
          </a:prstGeom>
          <a:noFill/>
        </p:spPr>
        <p:txBody>
          <a:bodyPr wrap="square" rtlCol="0">
            <a:spAutoFit/>
          </a:bodyPr>
          <a:lstStyle/>
          <a:p>
            <a:r>
              <a:rPr lang="en-US" sz="2000" b="1" i="1" u="sng" dirty="0">
                <a:solidFill>
                  <a:schemeClr val="tx1"/>
                </a:solidFill>
                <a:latin typeface="Times New Roman" panose="02020603050405020304" pitchFamily="18" charset="0"/>
                <a:cs typeface="Times New Roman" panose="02020603050405020304" pitchFamily="18" charset="0"/>
              </a:rPr>
              <a:t>Time Management</a:t>
            </a:r>
          </a:p>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9157" y="981121"/>
            <a:ext cx="2747046" cy="3034628"/>
          </a:xfrm>
          <a:prstGeom prst="rect">
            <a:avLst/>
          </a:prstGeom>
          <a:ln>
            <a:noFill/>
          </a:ln>
          <a:effectLst>
            <a:softEdge rad="112500"/>
          </a:effec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7555" y="4015749"/>
            <a:ext cx="2698649" cy="2750601"/>
          </a:xfrm>
          <a:prstGeom prst="rect">
            <a:avLst/>
          </a:prstGeom>
          <a:ln>
            <a:noFill/>
          </a:ln>
          <a:effectLst>
            <a:softEdge rad="112500"/>
          </a:effec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57428" y="4015748"/>
            <a:ext cx="2873828" cy="2750600"/>
          </a:xfrm>
          <a:prstGeom prst="rect">
            <a:avLst/>
          </a:prstGeom>
          <a:ln>
            <a:noFill/>
          </a:ln>
          <a:effectLst>
            <a:softEdge rad="112500"/>
          </a:effectLst>
        </p:spPr>
      </p:pic>
    </p:spTree>
    <p:extLst>
      <p:ext uri="{BB962C8B-B14F-4D97-AF65-F5344CB8AC3E}">
        <p14:creationId xmlns:p14="http://schemas.microsoft.com/office/powerpoint/2010/main" val="3315882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47918"/>
            <a:ext cx="8534400" cy="6615953"/>
          </a:xfrm>
          <a:prstGeom prst="rect">
            <a:avLst/>
          </a:prstGeom>
        </p:spPr>
      </p:pic>
    </p:spTree>
    <p:extLst>
      <p:ext uri="{BB962C8B-B14F-4D97-AF65-F5344CB8AC3E}">
        <p14:creationId xmlns:p14="http://schemas.microsoft.com/office/powerpoint/2010/main" val="544901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pic>
        <p:nvPicPr>
          <p:cNvPr id="6146" name="Picture 2" descr="C:\Users\Ayesha\Downloads\e222c7a625b6753d70b762e8c29786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889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170" name="Picture 2" descr="C:\Users\Ayesha\Downloads\Copy-of-Copy-of-What-I-can-contro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459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flipH="1">
            <a:off x="228600" y="228600"/>
            <a:ext cx="8001000" cy="1066800"/>
          </a:xfrm>
        </p:spPr>
        <p:txBody>
          <a:bodyPr/>
          <a:lstStyle/>
          <a:p>
            <a:pPr algn="l"/>
            <a:r>
              <a:rPr lang="en" sz="4400" b="1" i="1" u="sng" dirty="0">
                <a:solidFill>
                  <a:schemeClr val="tx1"/>
                </a:solidFill>
                <a:latin typeface="Times New Roman" panose="02020603050405020304" pitchFamily="18" charset="0"/>
                <a:cs typeface="Times New Roman" panose="02020603050405020304" pitchFamily="18" charset="0"/>
              </a:rPr>
              <a:t>Repititive Prayers - Affirmations</a:t>
            </a:r>
            <a:endParaRPr lang="en-US" sz="4400" dirty="0">
              <a:solidFill>
                <a:schemeClr val="tx1">
                  <a:lumMod val="95000"/>
                  <a:lumOff val="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flipH="1">
            <a:off x="350520" y="1285240"/>
            <a:ext cx="7848600" cy="2667000"/>
          </a:xfrm>
        </p:spPr>
        <p:txBody>
          <a:bodyPr/>
          <a:lstStyle/>
          <a:p>
            <a:pPr marL="342900" lvl="0" indent="-342900" algn="just"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Prayer is a very powerful tool that we have been blessed with</a:t>
            </a:r>
          </a:p>
          <a:p>
            <a:pPr marL="342900" lvl="0" indent="-342900" algn="just" rtl="0">
              <a:spcBef>
                <a:spcPts val="0"/>
              </a:spcBef>
              <a:spcAft>
                <a:spcPts val="0"/>
              </a:spcAft>
              <a:buClr>
                <a:schemeClr val="bg1"/>
              </a:buClr>
              <a:buFont typeface="Wingdings" panose="05000000000000000000" pitchFamily="2" charset="2"/>
              <a:buChar char="Ø"/>
            </a:pPr>
            <a:endParaRPr lang="en" sz="1800" dirty="0">
              <a:solidFill>
                <a:schemeClr val="tx1"/>
              </a:solidFill>
              <a:latin typeface="Times New Roman" panose="02020603050405020304" pitchFamily="18" charset="0"/>
              <a:cs typeface="Times New Roman" panose="02020603050405020304" pitchFamily="18" charset="0"/>
            </a:endParaRPr>
          </a:p>
          <a:p>
            <a:pPr marL="342900" lvl="0" indent="-342900" algn="just"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O Lord! Help me in dealing with the stresses of life. Give me wisdom, strength, and patience to deal with them affectively</a:t>
            </a:r>
          </a:p>
          <a:p>
            <a:pPr marL="342900" lvl="0" indent="-342900" algn="just" rtl="0">
              <a:spcBef>
                <a:spcPts val="0"/>
              </a:spcBef>
              <a:spcAft>
                <a:spcPts val="0"/>
              </a:spcAft>
              <a:buClr>
                <a:schemeClr val="bg1"/>
              </a:buClr>
              <a:buFont typeface="Wingdings" panose="05000000000000000000" pitchFamily="2" charset="2"/>
              <a:buChar char="Ø"/>
            </a:pPr>
            <a:endParaRPr lang="en" sz="1800" dirty="0">
              <a:solidFill>
                <a:schemeClr val="tx1"/>
              </a:solidFill>
              <a:latin typeface="Times New Roman" panose="02020603050405020304" pitchFamily="18" charset="0"/>
              <a:cs typeface="Times New Roman" panose="02020603050405020304" pitchFamily="18" charset="0"/>
            </a:endParaRPr>
          </a:p>
          <a:p>
            <a:pPr marL="342900" lvl="0" indent="-342900" algn="just"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Affirmation – It is a stressful situation and I am giving my best and that is what matters</a:t>
            </a:r>
          </a:p>
        </p:txBody>
      </p:sp>
      <p:pic>
        <p:nvPicPr>
          <p:cNvPr id="4" name="Picture 3">
            <a:extLst>
              <a:ext uri="{FF2B5EF4-FFF2-40B4-BE49-F238E27FC236}">
                <a16:creationId xmlns:a16="http://schemas.microsoft.com/office/drawing/2014/main" id="{BE50D58D-2A70-42F2-AF7A-C6CF15BC0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514" y="3549371"/>
            <a:ext cx="6863686" cy="3080029"/>
          </a:xfrm>
          <a:prstGeom prst="rect">
            <a:avLst/>
          </a:prstGeom>
          <a:ln>
            <a:noFill/>
          </a:ln>
          <a:effectLst>
            <a:softEdge rad="112500"/>
          </a:effectLst>
        </p:spPr>
      </p:pic>
    </p:spTree>
    <p:extLst>
      <p:ext uri="{BB962C8B-B14F-4D97-AF65-F5344CB8AC3E}">
        <p14:creationId xmlns:p14="http://schemas.microsoft.com/office/powerpoint/2010/main" val="2640258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flipH="1">
            <a:off x="228600" y="228600"/>
            <a:ext cx="6493500" cy="1066800"/>
          </a:xfrm>
        </p:spPr>
        <p:txBody>
          <a:bodyPr/>
          <a:lstStyle/>
          <a:p>
            <a:pPr algn="l"/>
            <a:r>
              <a:rPr lang="en" sz="4400" b="1" i="1" u="sng" dirty="0">
                <a:solidFill>
                  <a:schemeClr val="tx1"/>
                </a:solidFill>
                <a:latin typeface="Times New Roman" panose="02020603050405020304" pitchFamily="18" charset="0"/>
                <a:cs typeface="Times New Roman" panose="02020603050405020304" pitchFamily="18" charset="0"/>
              </a:rPr>
              <a:t>Self-care </a:t>
            </a:r>
            <a:endParaRPr lang="en-US" sz="4400" dirty="0">
              <a:solidFill>
                <a:schemeClr val="tx1">
                  <a:lumMod val="95000"/>
                  <a:lumOff val="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flipH="1">
            <a:off x="381000" y="1219200"/>
            <a:ext cx="8305800" cy="5334000"/>
          </a:xfrm>
        </p:spPr>
        <p:txBody>
          <a:bodyPr/>
          <a:lstStyle/>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328BBD3E-585B-4049-ADF1-8CB42F71DFEF}"/>
              </a:ext>
            </a:extLst>
          </p:cNvPr>
          <p:cNvSpPr txBox="1"/>
          <p:nvPr/>
        </p:nvSpPr>
        <p:spPr>
          <a:xfrm>
            <a:off x="318760" y="1300480"/>
            <a:ext cx="6403340" cy="1477328"/>
          </a:xfrm>
          <a:prstGeom prst="rect">
            <a:avLst/>
          </a:prstGeom>
          <a:noFill/>
        </p:spPr>
        <p:txBody>
          <a:bodyPr wrap="square">
            <a:spAutoFit/>
          </a:bodyPr>
          <a:lstStyle/>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Hobbies – Sports, reading, art, sitting under the sun and observing nature</a:t>
            </a:r>
          </a:p>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Spend time with people you love</a:t>
            </a:r>
          </a:p>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Taking bath is mandatory – once a day</a:t>
            </a:r>
          </a:p>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Eat healthy food</a:t>
            </a:r>
          </a:p>
        </p:txBody>
      </p:sp>
      <p:pic>
        <p:nvPicPr>
          <p:cNvPr id="6" name="Picture 5">
            <a:extLst>
              <a:ext uri="{FF2B5EF4-FFF2-40B4-BE49-F238E27FC236}">
                <a16:creationId xmlns:a16="http://schemas.microsoft.com/office/drawing/2014/main" id="{77E214A4-69FE-4EA4-8FD2-093978329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1" y="3429000"/>
            <a:ext cx="5187312" cy="3140133"/>
          </a:xfrm>
          <a:prstGeom prst="rect">
            <a:avLst/>
          </a:prstGeom>
          <a:ln>
            <a:noFill/>
          </a:ln>
          <a:effectLst>
            <a:softEdge rad="112500"/>
          </a:effectLst>
        </p:spPr>
      </p:pic>
    </p:spTree>
    <p:extLst>
      <p:ext uri="{BB962C8B-B14F-4D97-AF65-F5344CB8AC3E}">
        <p14:creationId xmlns:p14="http://schemas.microsoft.com/office/powerpoint/2010/main" val="138626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9B522-A2BA-49F7-886A-8051C517485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B66E902-515C-4112-B7B7-347C1B026E99}"/>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5657EDEF-76EF-4860-A817-BC155A6F6DF2}"/>
              </a:ext>
            </a:extLst>
          </p:cNvPr>
          <p:cNvPicPr>
            <a:picLocks noChangeAspect="1"/>
          </p:cNvPicPr>
          <p:nvPr/>
        </p:nvPicPr>
        <p:blipFill>
          <a:blip r:embed="rId2"/>
          <a:stretch>
            <a:fillRect/>
          </a:stretch>
        </p:blipFill>
        <p:spPr>
          <a:xfrm>
            <a:off x="1371600" y="1309687"/>
            <a:ext cx="6400800" cy="4238625"/>
          </a:xfrm>
          <a:prstGeom prst="rect">
            <a:avLst/>
          </a:prstGeom>
        </p:spPr>
      </p:pic>
    </p:spTree>
    <p:extLst>
      <p:ext uri="{BB962C8B-B14F-4D97-AF65-F5344CB8AC3E}">
        <p14:creationId xmlns:p14="http://schemas.microsoft.com/office/powerpoint/2010/main" val="839344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flipH="1">
            <a:off x="228600" y="228600"/>
            <a:ext cx="6493500" cy="1066800"/>
          </a:xfrm>
        </p:spPr>
        <p:txBody>
          <a:bodyPr/>
          <a:lstStyle/>
          <a:p>
            <a:pPr algn="l"/>
            <a:r>
              <a:rPr lang="en-US" sz="4400" dirty="0">
                <a:solidFill>
                  <a:schemeClr val="tx1">
                    <a:lumMod val="95000"/>
                    <a:lumOff val="5000"/>
                  </a:schemeClr>
                </a:solidFill>
                <a:latin typeface="Times New Roman" pitchFamily="18" charset="0"/>
                <a:cs typeface="Times New Roman" pitchFamily="18" charset="0"/>
              </a:rPr>
              <a:t>Deep Breathing </a:t>
            </a:r>
          </a:p>
        </p:txBody>
      </p:sp>
      <p:sp>
        <p:nvSpPr>
          <p:cNvPr id="3" name="Subtitle 2"/>
          <p:cNvSpPr>
            <a:spLocks noGrp="1"/>
          </p:cNvSpPr>
          <p:nvPr>
            <p:ph type="subTitle" idx="1"/>
          </p:nvPr>
        </p:nvSpPr>
        <p:spPr>
          <a:xfrm flipH="1">
            <a:off x="381000" y="1219200"/>
            <a:ext cx="8305800" cy="5334000"/>
          </a:xfrm>
        </p:spPr>
        <p:txBody>
          <a:bodyPr/>
          <a:lstStyle/>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39AE34CB-A1D9-41CC-895C-EFD5560EBFF1}"/>
              </a:ext>
            </a:extLst>
          </p:cNvPr>
          <p:cNvSpPr txBox="1"/>
          <p:nvPr/>
        </p:nvSpPr>
        <p:spPr>
          <a:xfrm>
            <a:off x="381000" y="1859340"/>
            <a:ext cx="7315200" cy="2308324"/>
          </a:xfrm>
          <a:prstGeom prst="rect">
            <a:avLst/>
          </a:prstGeom>
          <a:noFill/>
        </p:spPr>
        <p:txBody>
          <a:bodyPr wrap="square">
            <a:spAutoFit/>
          </a:bodyPr>
          <a:lstStyle/>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Sress – Fight and Flight response (sympathetic nervous system)</a:t>
            </a:r>
          </a:p>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Deep breathing – Relaxation response (parasympathetic nervous system)</a:t>
            </a:r>
          </a:p>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Focus awareness on your breath.</a:t>
            </a:r>
          </a:p>
          <a:p>
            <a:pPr marL="342900" lvl="0" indent="-342900" algn="l" rtl="0">
              <a:spcBef>
                <a:spcPts val="0"/>
              </a:spcBef>
              <a:spcAft>
                <a:spcPts val="0"/>
              </a:spcAft>
              <a:buClr>
                <a:schemeClr val="bg1"/>
              </a:buClr>
              <a:buFont typeface="Wingdings" panose="05000000000000000000" pitchFamily="2" charset="2"/>
              <a:buChar char="Ø"/>
            </a:pPr>
            <a:r>
              <a:rPr lang="en" sz="1800" dirty="0">
                <a:solidFill>
                  <a:schemeClr val="tx1"/>
                </a:solidFill>
                <a:latin typeface="Times New Roman" panose="02020603050405020304" pitchFamily="18" charset="0"/>
                <a:cs typeface="Times New Roman" panose="02020603050405020304" pitchFamily="18" charset="0"/>
              </a:rPr>
              <a:t>Breathe in deeply through your nose for four seconds (your lungs expand and your belly rises). Hold your breath for four seconds. And then exhale for four seconds</a:t>
            </a:r>
          </a:p>
          <a:p>
            <a:pPr marL="342900" lvl="0" indent="-342900" algn="l" rtl="0">
              <a:spcBef>
                <a:spcPts val="0"/>
              </a:spcBef>
              <a:spcAft>
                <a:spcPts val="0"/>
              </a:spcAft>
              <a:buClr>
                <a:schemeClr val="bg1"/>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Heart rate slow</a:t>
            </a:r>
          </a:p>
          <a:p>
            <a:pPr marL="342900" lvl="0" indent="-342900" algn="l" rtl="0">
              <a:spcBef>
                <a:spcPts val="0"/>
              </a:spcBef>
              <a:spcAft>
                <a:spcPts val="0"/>
              </a:spcAft>
              <a:buClr>
                <a:schemeClr val="bg1"/>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Feel more peaceful</a:t>
            </a:r>
            <a:endParaRPr lang="en-US" dirty="0"/>
          </a:p>
        </p:txBody>
      </p:sp>
    </p:spTree>
    <p:extLst>
      <p:ext uri="{BB962C8B-B14F-4D97-AF65-F5344CB8AC3E}">
        <p14:creationId xmlns:p14="http://schemas.microsoft.com/office/powerpoint/2010/main" val="1961980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flipH="1">
            <a:off x="228600" y="228600"/>
            <a:ext cx="6493500" cy="1066800"/>
          </a:xfrm>
        </p:spPr>
        <p:txBody>
          <a:bodyPr/>
          <a:lstStyle/>
          <a:p>
            <a:pPr algn="l"/>
            <a:endParaRPr lang="en-US" sz="4400" dirty="0">
              <a:solidFill>
                <a:schemeClr val="tx1">
                  <a:lumMod val="95000"/>
                  <a:lumOff val="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flipH="1">
            <a:off x="381000" y="1219200"/>
            <a:ext cx="8305800" cy="5334000"/>
          </a:xfrm>
        </p:spPr>
        <p:txBody>
          <a:bodyPr/>
          <a:lstStyle/>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5A29D5F9-2EE4-40DD-AD97-1E7AEBC0A5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519531"/>
            <a:ext cx="4568461" cy="6033669"/>
          </a:xfrm>
          <a:prstGeom prst="rect">
            <a:avLst/>
          </a:prstGeom>
          <a:ln>
            <a:noFill/>
          </a:ln>
          <a:effectLst>
            <a:softEdge rad="112500"/>
          </a:effectLst>
        </p:spPr>
      </p:pic>
    </p:spTree>
    <p:extLst>
      <p:ext uri="{BB962C8B-B14F-4D97-AF65-F5344CB8AC3E}">
        <p14:creationId xmlns:p14="http://schemas.microsoft.com/office/powerpoint/2010/main" val="2695968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3F87BB3-0920-451E-8BD5-53D66A42AD91}"/>
              </a:ext>
            </a:extLst>
          </p:cNvPr>
          <p:cNvSpPr>
            <a:spLocks noGrp="1"/>
          </p:cNvSpPr>
          <p:nvPr>
            <p:ph type="body" idx="1"/>
          </p:nvPr>
        </p:nvSpPr>
        <p:spPr/>
        <p:txBody>
          <a:bodyPr/>
          <a:lstStyle/>
          <a:p>
            <a:endParaRPr lang="en-US" dirty="0"/>
          </a:p>
        </p:txBody>
      </p:sp>
      <p:sp>
        <p:nvSpPr>
          <p:cNvPr id="7" name="Title 6">
            <a:extLst>
              <a:ext uri="{FF2B5EF4-FFF2-40B4-BE49-F238E27FC236}">
                <a16:creationId xmlns:a16="http://schemas.microsoft.com/office/drawing/2014/main" id="{B07E4577-AB67-4BF5-A738-B45293CE9F19}"/>
              </a:ext>
            </a:extLst>
          </p:cNvPr>
          <p:cNvSpPr>
            <a:spLocks noGrp="1"/>
          </p:cNvSpPr>
          <p:nvPr>
            <p:ph type="title"/>
          </p:nvPr>
        </p:nvSpPr>
        <p:spPr/>
        <p:txBody>
          <a:bodyPr/>
          <a:lstStyle/>
          <a:p>
            <a:endParaRPr lang="en-US"/>
          </a:p>
        </p:txBody>
      </p:sp>
      <p:pic>
        <p:nvPicPr>
          <p:cNvPr id="9" name="Picture 3">
            <a:extLst>
              <a:ext uri="{FF2B5EF4-FFF2-40B4-BE49-F238E27FC236}">
                <a16:creationId xmlns:a16="http://schemas.microsoft.com/office/drawing/2014/main" id="{3F7AA51B-6DA5-401A-9CDD-9A695AB86D80}"/>
              </a:ext>
            </a:extLst>
          </p:cNvPr>
          <p:cNvPicPr>
            <a:picLocks noChangeAspect="1"/>
          </p:cNvPicPr>
          <p:nvPr/>
        </p:nvPicPr>
        <p:blipFill>
          <a:blip r:embed="rId2"/>
          <a:stretch>
            <a:fillRect/>
          </a:stretch>
        </p:blipFill>
        <p:spPr>
          <a:xfrm>
            <a:off x="1371600" y="1309687"/>
            <a:ext cx="6400800" cy="4238625"/>
          </a:xfrm>
          <a:prstGeom prst="rect">
            <a:avLst/>
          </a:prstGeom>
        </p:spPr>
      </p:pic>
    </p:spTree>
    <p:extLst>
      <p:ext uri="{BB962C8B-B14F-4D97-AF65-F5344CB8AC3E}">
        <p14:creationId xmlns:p14="http://schemas.microsoft.com/office/powerpoint/2010/main" val="2807592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3DCDB9-8AE4-465A-AB6A-64C158CD429C}"/>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70F322DD-79A3-43F6-B054-0AB1E7E526BB}"/>
              </a:ext>
            </a:extLst>
          </p:cNvPr>
          <p:cNvSpPr>
            <a:spLocks noGrp="1"/>
          </p:cNvSpPr>
          <p:nvPr>
            <p:ph type="title"/>
          </p:nvPr>
        </p:nvSpPr>
        <p:spPr/>
        <p:txBody>
          <a:bodyPr/>
          <a:lstStyle/>
          <a:p>
            <a:endParaRPr lang="en-US"/>
          </a:p>
        </p:txBody>
      </p:sp>
      <p:pic>
        <p:nvPicPr>
          <p:cNvPr id="4" name="Picture 2" descr="Related image">
            <a:extLst>
              <a:ext uri="{FF2B5EF4-FFF2-40B4-BE49-F238E27FC236}">
                <a16:creationId xmlns:a16="http://schemas.microsoft.com/office/drawing/2014/main" id="{B943297F-15E4-48FD-97EE-96EA2E949EFD}"/>
              </a:ext>
            </a:extLst>
          </p:cNvPr>
          <p:cNvPicPr>
            <a:picLocks noChangeAspect="1" noChangeArrowheads="1"/>
          </p:cNvPicPr>
          <p:nvPr/>
        </p:nvPicPr>
        <p:blipFill>
          <a:blip r:embed="rId2"/>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3846297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8CA9DA-72FC-4616-9FE9-DC6D2DD810C4}"/>
              </a:ext>
            </a:extLst>
          </p:cNvPr>
          <p:cNvSpPr>
            <a:spLocks noGrp="1"/>
          </p:cNvSpPr>
          <p:nvPr>
            <p:ph type="ctrTitle"/>
          </p:nvPr>
        </p:nvSpPr>
        <p:spPr/>
        <p:txBody>
          <a:bodyPr/>
          <a:lstStyle/>
          <a:p>
            <a:r>
              <a:rPr lang="en-US" sz="6000" b="1" dirty="0">
                <a:solidFill>
                  <a:schemeClr val="tx1"/>
                </a:solidFill>
                <a:latin typeface="Times New Roman" panose="02020603050405020304" pitchFamily="18" charset="0"/>
                <a:cs typeface="Times New Roman" panose="02020603050405020304" pitchFamily="18" charset="0"/>
              </a:rPr>
              <a:t>THANK YOU</a:t>
            </a:r>
            <a:br>
              <a:rPr lang="en-US" sz="6000" b="1" dirty="0">
                <a:solidFill>
                  <a:schemeClr val="tx1"/>
                </a:solidFill>
                <a:latin typeface="Times New Roman" panose="02020603050405020304" pitchFamily="18" charset="0"/>
                <a:cs typeface="Times New Roman" panose="02020603050405020304" pitchFamily="18" charset="0"/>
              </a:rPr>
            </a:br>
            <a:r>
              <a:rPr lang="en-US" sz="6000" b="1" dirty="0">
                <a:solidFill>
                  <a:schemeClr val="tx1"/>
                </a:solidFill>
                <a:latin typeface="Times New Roman" panose="02020603050405020304" pitchFamily="18" charset="0"/>
                <a:cs typeface="Times New Roman" panose="02020603050405020304" pitchFamily="18" charset="0"/>
              </a:rPr>
              <a:t>ANY QUESTIONS</a:t>
            </a:r>
            <a:endParaRPr lang="en-US" dirty="0"/>
          </a:p>
        </p:txBody>
      </p:sp>
      <p:sp>
        <p:nvSpPr>
          <p:cNvPr id="3" name="Subtitle 2"/>
          <p:cNvSpPr>
            <a:spLocks noGrp="1"/>
          </p:cNvSpPr>
          <p:nvPr>
            <p:ph type="subTitle" idx="1"/>
          </p:nvPr>
        </p:nvSpPr>
        <p:spPr/>
        <p:txBody>
          <a:bodyPr/>
          <a:lstStyle/>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a:p>
            <a:pPr algn="l"/>
            <a:endParaRPr lang="en-US" sz="1800" dirty="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128397146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TM03457515[[fn=View]]</Template>
  <TotalTime>160</TotalTime>
  <Words>825</Words>
  <Application>Microsoft Office PowerPoint</Application>
  <PresentationFormat>On-screen Show (4:3)</PresentationFormat>
  <Paragraphs>153</Paragraphs>
  <Slides>23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Century Schoolbook</vt:lpstr>
      <vt:lpstr>Nunito Light</vt:lpstr>
      <vt:lpstr>Times New Roman</vt:lpstr>
      <vt:lpstr>Wingdings</vt:lpstr>
      <vt:lpstr>Wingdings 2</vt:lpstr>
      <vt:lpstr>View</vt:lpstr>
      <vt:lpstr>PowerPoint Presentation</vt:lpstr>
      <vt:lpstr>What is Stress?</vt:lpstr>
      <vt:lpstr>STRESS</vt:lpstr>
      <vt:lpstr>Moderate levels of stress may actually improve performance and efficiency  Too little stress may result in boredom  Too much stress may cause an unproductive anxiety level </vt:lpstr>
      <vt:lpstr>Blood pressure rises Breathing becomes more rapid Digestive system slows down Heart rate rises</vt:lpstr>
      <vt:lpstr>PowerPoint Presentation</vt:lpstr>
      <vt:lpstr>Acute Stress It is usually for short time It may be due to work pressure, meeting deadlines pressure or minor accident, over exertion, increased physical activity, searching something but you misplaced it, or similar things.  Symptoms of this type of tension are headaches, back pain, stomach problems, rapid heartbeat, muscle aches or body pain.  Chronic Stress It is a prolonged stress that exists for weeks, months, or even years.  This stress is due to poverty, broken or stressed families and marriages, chronic illness and successive failures in life.  People suffering from this type of stress get used to it and may even not realize that they are under chronic stress.  It is very harmful to their health.  </vt:lpstr>
      <vt:lpstr> Negative &amp; Positive Stress:  Eustress: Manageable Stress, can lead to growth and enhanced competence.  Distress: Uncontrollable, prolonged, or overwhelming stress. It is destructive.  Acute Stress: Immediate response to a threat or challenge.  Chronic Stress: Ongoing exposure to stress, may seem unrelenting.  Types of Stressors:   External (physical environment, social interactions, organizational, major life events, daily hassles)    Internal (negative self-talk, lifestyle choices, mind traps, personality traits) </vt:lpstr>
      <vt:lpstr>SYMPTOMS OF STRESS</vt:lpstr>
      <vt:lpstr>Eustress VS Distress</vt:lpstr>
      <vt:lpstr>PowerPoint Presentation</vt:lpstr>
      <vt:lpstr>PowerPoint Presentation</vt:lpstr>
      <vt:lpstr>PowerPoint Presentation</vt:lpstr>
      <vt:lpstr>PowerPoint Presentation</vt:lpstr>
      <vt:lpstr>PowerPoint Presentation</vt:lpstr>
      <vt:lpstr>Repititive Prayers - Affirmations</vt:lpstr>
      <vt:lpstr>Self-care </vt:lpstr>
      <vt:lpstr>PowerPoint Presentation</vt:lpstr>
      <vt:lpstr>Deep Breathing </vt:lpstr>
      <vt:lpstr>PowerPoint Presentation</vt:lpstr>
      <vt:lpstr>PowerPoint Presentation</vt:lpstr>
      <vt:lpstr>PowerPoint Presentation</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 MANAGEMENT</dc:title>
  <dc:creator>Ayesha</dc:creator>
  <cp:lastModifiedBy>Qubsha Munir</cp:lastModifiedBy>
  <cp:revision>10</cp:revision>
  <dcterms:created xsi:type="dcterms:W3CDTF">2006-08-16T00:00:00Z</dcterms:created>
  <dcterms:modified xsi:type="dcterms:W3CDTF">2022-10-14T15:31:40Z</dcterms:modified>
</cp:coreProperties>
</file>