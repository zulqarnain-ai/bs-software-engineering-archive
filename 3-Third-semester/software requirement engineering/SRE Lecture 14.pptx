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6" r:id="rId1"/>
  </p:sldMasterIdLst>
  <p:notesMasterIdLst>
    <p:notesMasterId r:id="rId23"/>
  </p:notesMasterIdLst>
  <p:handoutMasterIdLst>
    <p:handoutMasterId r:id="rId24"/>
  </p:handoutMasterIdLst>
  <p:sldIdLst>
    <p:sldId id="265" r:id="rId2"/>
    <p:sldId id="368" r:id="rId3"/>
    <p:sldId id="371" r:id="rId4"/>
    <p:sldId id="370" r:id="rId5"/>
    <p:sldId id="318" r:id="rId6"/>
    <p:sldId id="319" r:id="rId7"/>
    <p:sldId id="320" r:id="rId8"/>
    <p:sldId id="321" r:id="rId9"/>
    <p:sldId id="353" r:id="rId10"/>
    <p:sldId id="325" r:id="rId11"/>
    <p:sldId id="326" r:id="rId12"/>
    <p:sldId id="327" r:id="rId13"/>
    <p:sldId id="328" r:id="rId14"/>
    <p:sldId id="329" r:id="rId15"/>
    <p:sldId id="330" r:id="rId16"/>
    <p:sldId id="331" r:id="rId17"/>
    <p:sldId id="332" r:id="rId18"/>
    <p:sldId id="333" r:id="rId19"/>
    <p:sldId id="334" r:id="rId20"/>
    <p:sldId id="335" r:id="rId21"/>
    <p:sldId id="301" r:id="rId22"/>
  </p:sldIdLst>
  <p:sldSz cx="9144000" cy="6858000" type="screen4x3"/>
  <p:notesSz cx="10234613" cy="71024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a:srgbClr val="CC0000"/>
    <a:srgbClr val="A1D8FD"/>
    <a:srgbClr val="66FF33"/>
    <a:srgbClr val="FFFF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4" autoAdjust="0"/>
    <p:restoredTop sz="94576" autoAdjust="0"/>
  </p:normalViewPr>
  <p:slideViewPr>
    <p:cSldViewPr>
      <p:cViewPr varScale="1">
        <p:scale>
          <a:sx n="70" d="100"/>
          <a:sy n="70" d="100"/>
        </p:scale>
        <p:origin x="14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5" name="Rectangle 3"/>
          <p:cNvSpPr>
            <a:spLocks noGrp="1" noChangeArrowheads="1"/>
          </p:cNvSpPr>
          <p:nvPr>
            <p:ph type="dt" sz="quarter" idx="1"/>
          </p:nvPr>
        </p:nvSpPr>
        <p:spPr bwMode="auto">
          <a:xfrm>
            <a:off x="5797583"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endParaRPr lang="en-US" dirty="0"/>
          </a:p>
        </p:txBody>
      </p:sp>
      <p:sp>
        <p:nvSpPr>
          <p:cNvPr id="74756" name="Rectangle 4"/>
          <p:cNvSpPr>
            <a:spLocks noGrp="1" noChangeArrowheads="1"/>
          </p:cNvSpPr>
          <p:nvPr>
            <p:ph type="ftr" sz="quarter" idx="2"/>
          </p:nvPr>
        </p:nvSpPr>
        <p:spPr bwMode="auto">
          <a:xfrm>
            <a:off x="0"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7" name="Rectangle 5"/>
          <p:cNvSpPr>
            <a:spLocks noGrp="1" noChangeArrowheads="1"/>
          </p:cNvSpPr>
          <p:nvPr>
            <p:ph type="sldNum" sz="quarter" idx="3"/>
          </p:nvPr>
        </p:nvSpPr>
        <p:spPr bwMode="auto">
          <a:xfrm>
            <a:off x="5797583"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8" charset="0"/>
              </a:defRPr>
            </a:lvl1pPr>
          </a:lstStyle>
          <a:p>
            <a:fld id="{98277AA0-422D-49C5-AD31-D6F6794DCACC}" type="slidenum">
              <a:rPr lang="en-US"/>
              <a:pPr/>
              <a:t>‹#›</a:t>
            </a:fld>
            <a:endParaRPr lang="en-US" dirty="0"/>
          </a:p>
        </p:txBody>
      </p:sp>
    </p:spTree>
    <p:extLst>
      <p:ext uri="{BB962C8B-B14F-4D97-AF65-F5344CB8AC3E}">
        <p14:creationId xmlns:p14="http://schemas.microsoft.com/office/powerpoint/2010/main" val="2189100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3" name="Rectangle 3"/>
          <p:cNvSpPr>
            <a:spLocks noGrp="1" noChangeArrowheads="1"/>
          </p:cNvSpPr>
          <p:nvPr>
            <p:ph type="dt" idx="1"/>
          </p:nvPr>
        </p:nvSpPr>
        <p:spPr bwMode="auto">
          <a:xfrm>
            <a:off x="5797583"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endParaRPr lang="en-US" dirty="0"/>
          </a:p>
        </p:txBody>
      </p:sp>
      <p:sp>
        <p:nvSpPr>
          <p:cNvPr id="128004" name="Rectangle 4"/>
          <p:cNvSpPr>
            <a:spLocks noGrp="1" noRot="1" noChangeAspect="1" noChangeArrowheads="1" noTextEdit="1"/>
          </p:cNvSpPr>
          <p:nvPr>
            <p:ph type="sldImg" idx="2"/>
          </p:nvPr>
        </p:nvSpPr>
        <p:spPr bwMode="auto">
          <a:xfrm>
            <a:off x="3341688" y="533400"/>
            <a:ext cx="3552825" cy="2663825"/>
          </a:xfrm>
          <a:prstGeom prst="rect">
            <a:avLst/>
          </a:prstGeom>
          <a:noFill/>
          <a:ln w="9525">
            <a:solidFill>
              <a:srgbClr val="000000"/>
            </a:solidFill>
            <a:miter lim="800000"/>
            <a:headEnd/>
            <a:tailEnd/>
          </a:ln>
          <a:effectLst/>
        </p:spPr>
      </p:sp>
      <p:sp>
        <p:nvSpPr>
          <p:cNvPr id="128005" name="Rectangle 5"/>
          <p:cNvSpPr>
            <a:spLocks noGrp="1" noChangeArrowheads="1"/>
          </p:cNvSpPr>
          <p:nvPr>
            <p:ph type="body" sz="quarter" idx="3"/>
          </p:nvPr>
        </p:nvSpPr>
        <p:spPr bwMode="auto">
          <a:xfrm>
            <a:off x="1023801" y="3373985"/>
            <a:ext cx="8187014" cy="3195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8006" name="Rectangle 6"/>
          <p:cNvSpPr>
            <a:spLocks noGrp="1" noChangeArrowheads="1"/>
          </p:cNvSpPr>
          <p:nvPr>
            <p:ph type="ftr" sz="quarter" idx="4"/>
          </p:nvPr>
        </p:nvSpPr>
        <p:spPr bwMode="auto">
          <a:xfrm>
            <a:off x="0"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7" name="Rectangle 7"/>
          <p:cNvSpPr>
            <a:spLocks noGrp="1" noChangeArrowheads="1"/>
          </p:cNvSpPr>
          <p:nvPr>
            <p:ph type="sldNum" sz="quarter" idx="5"/>
          </p:nvPr>
        </p:nvSpPr>
        <p:spPr bwMode="auto">
          <a:xfrm>
            <a:off x="5797583"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fld id="{B375FC27-C9DA-4FC8-8D8B-B445BA50C65D}" type="slidenum">
              <a:rPr lang="en-US"/>
              <a:pPr/>
              <a:t>‹#›</a:t>
            </a:fld>
            <a:endParaRPr lang="en-US" dirty="0"/>
          </a:p>
        </p:txBody>
      </p:sp>
    </p:spTree>
    <p:extLst>
      <p:ext uri="{BB962C8B-B14F-4D97-AF65-F5344CB8AC3E}">
        <p14:creationId xmlns:p14="http://schemas.microsoft.com/office/powerpoint/2010/main" val="17242816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rgbClr val="C00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D6F981B-5368-48B0-8DC1-5E439685D15B}" type="slidenum">
              <a:rPr lang="en-US" smtClean="0"/>
              <a:pPr/>
              <a:t>‹#›</a:t>
            </a:fld>
            <a:endParaRPr lang="en-US" dirty="0"/>
          </a:p>
        </p:txBody>
      </p:sp>
      <p:pic>
        <p:nvPicPr>
          <p:cNvPr id="13" name="Picture 12" descr="dse_logo_clr.jpg"/>
          <p:cNvPicPr>
            <a:picLocks noChangeAspect="1"/>
          </p:cNvPicPr>
          <p:nvPr userDrawn="1"/>
        </p:nvPicPr>
        <p:blipFill>
          <a:blip r:embed="rId3" cstate="print"/>
          <a:stretch>
            <a:fillRect/>
          </a:stretch>
        </p:blipFill>
        <p:spPr>
          <a:xfrm>
            <a:off x="7622841" y="54864"/>
            <a:ext cx="1451056" cy="169773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D8E39768-55DC-42DF-B2CB-4D4CE6063993}"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solidFill>
                  <a:srgbClr val="008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8483D255-0C04-4D39-A4CD-FCC0B5073F6E}"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13D9D79A-F946-4617-93EE-BA949AD47439}"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61081621-0B77-4E7D-8BD7-0767F3E05AB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EFB2B2A6-2657-4C65-993A-37AD5A8BFA13}"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D39BEC99-8755-42E6-A142-15F8A97C027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AFB4B43-2647-4DB3-812C-88FAA9FABE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4570D00-7FB1-483A-9555-997AB2D170E1}"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A9C22A75-4EAE-42DD-A329-D351D2353A1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210CC31-C690-42E2-91AE-B48223F38F8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4CA22F1-4A8B-4633-A241-853BEA80DC70}" type="slidenum">
              <a:rPr lang="en-US" smtClean="0"/>
              <a:pPr/>
              <a:t>‹#›</a:t>
            </a:fld>
            <a:endParaRPr lang="en-US" dirty="0"/>
          </a:p>
        </p:txBody>
      </p:sp>
      <p:pic>
        <p:nvPicPr>
          <p:cNvPr id="11" name="Picture 10" descr="dse_logo_clr.jpg"/>
          <p:cNvPicPr>
            <a:picLocks noChangeAspect="1"/>
          </p:cNvPicPr>
          <p:nvPr userDrawn="1"/>
        </p:nvPicPr>
        <p:blipFill>
          <a:blip r:embed="rId14" cstate="print"/>
          <a:stretch>
            <a:fillRect/>
          </a:stretch>
        </p:blipFill>
        <p:spPr>
          <a:xfrm>
            <a:off x="8548937" y="6172200"/>
            <a:ext cx="515815" cy="603503"/>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rtl="0" eaLnBrk="1" latinLnBrk="0" hangingPunct="1">
        <a:spcBef>
          <a:spcPct val="0"/>
        </a:spcBef>
        <a:buNone/>
        <a:defRPr kumimoji="0" sz="4100" b="1" kern="1200" baseline="0">
          <a:solidFill>
            <a:schemeClr val="bg2">
              <a:lumMod val="50000"/>
            </a:schemeClr>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6" name="Rectangle 10"/>
          <p:cNvSpPr>
            <a:spLocks noGrp="1" noChangeArrowheads="1"/>
          </p:cNvSpPr>
          <p:nvPr>
            <p:ph type="ctrTitle"/>
          </p:nvPr>
        </p:nvSpPr>
        <p:spPr/>
        <p:txBody>
          <a:bodyPr/>
          <a:lstStyle/>
          <a:p>
            <a:r>
              <a:rPr lang="en-US" dirty="0" smtClean="0"/>
              <a:t>Requirements Engineering</a:t>
            </a:r>
            <a:endParaRPr lang="en-US" dirty="0"/>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864291"/>
          </a:xfrm>
        </p:spPr>
        <p:txBody>
          <a:bodyPr>
            <a:normAutofit fontScale="85000" lnSpcReduction="20000"/>
          </a:bodyPr>
          <a:lstStyle/>
          <a:p>
            <a:r>
              <a:rPr lang="en-GB" dirty="0" smtClean="0"/>
              <a:t>Validation (&amp; verification) - the process of checking whether the requirements, as identified, do not contradict the expectations about the system of various stakeholders, and do not contradict each other.</a:t>
            </a:r>
          </a:p>
          <a:p>
            <a:r>
              <a:rPr lang="en-GB" dirty="0" smtClean="0"/>
              <a:t>It is Requirements Quality Control.</a:t>
            </a:r>
          </a:p>
          <a:p>
            <a:r>
              <a:rPr lang="en-GB" dirty="0" smtClean="0"/>
              <a:t>Validation – “Am I building the right product?” Checking a work product against higher-level work products or authorities that frame this particular product.</a:t>
            </a:r>
          </a:p>
          <a:p>
            <a:pPr lvl="1"/>
            <a:r>
              <a:rPr lang="en-GB" dirty="0" smtClean="0"/>
              <a:t>Requirements are validated by stakeholders.</a:t>
            </a:r>
          </a:p>
          <a:p>
            <a:r>
              <a:rPr lang="en-GB" dirty="0" smtClean="0"/>
              <a:t>Verification – “Am I building the product right?” Checking a work product against some standards and conditions imposed on this type of product and the process of its development.</a:t>
            </a:r>
          </a:p>
          <a:p>
            <a:pPr lvl="1"/>
            <a:r>
              <a:rPr lang="en-GB" dirty="0" smtClean="0"/>
              <a:t>Requirements are verified by the analysts mainly.</a:t>
            </a:r>
            <a:endParaRPr lang="en-GB" dirty="0"/>
          </a:p>
        </p:txBody>
      </p:sp>
      <p:sp>
        <p:nvSpPr>
          <p:cNvPr id="5" name="Title 4"/>
          <p:cNvSpPr>
            <a:spLocks noGrp="1"/>
          </p:cNvSpPr>
          <p:nvPr>
            <p:ph type="title"/>
          </p:nvPr>
        </p:nvSpPr>
        <p:spPr/>
        <p:txBody>
          <a:bodyPr/>
          <a:lstStyle/>
          <a:p>
            <a:r>
              <a:rPr lang="en-GB" dirty="0" smtClean="0"/>
              <a:t>Requirements Validation</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a:ln/>
        </p:spPr>
        <p:txBody>
          <a:bodyPr lIns="90488" tIns="44450" rIns="90488" bIns="44450" anchor="b"/>
          <a:lstStyle/>
          <a:p>
            <a:r>
              <a:rPr lang="en-US"/>
              <a:t>Validation objectives</a:t>
            </a:r>
          </a:p>
        </p:txBody>
      </p:sp>
      <p:sp>
        <p:nvSpPr>
          <p:cNvPr id="4099" name="Rectangle 3"/>
          <p:cNvSpPr>
            <a:spLocks noGrp="1" noChangeArrowheads="1"/>
          </p:cNvSpPr>
          <p:nvPr>
            <p:ph type="body" idx="1"/>
          </p:nvPr>
        </p:nvSpPr>
        <p:spPr>
          <a:noFill/>
          <a:ln/>
        </p:spPr>
        <p:txBody>
          <a:bodyPr lIns="90488" tIns="44450" rIns="90488" bIns="44450">
            <a:normAutofit fontScale="92500" lnSpcReduction="10000"/>
          </a:bodyPr>
          <a:lstStyle/>
          <a:p>
            <a:r>
              <a:rPr lang="en-US" dirty="0" smtClean="0"/>
              <a:t>Validation works with a final draft of the requirements document i.e. with negotiated and agreed requirements</a:t>
            </a:r>
          </a:p>
          <a:p>
            <a:pPr lvl="1"/>
            <a:r>
              <a:rPr lang="en-US" dirty="0" smtClean="0"/>
              <a:t>“Have we got the requirements right” is the key question to be answered at this stage</a:t>
            </a:r>
          </a:p>
          <a:p>
            <a:pPr>
              <a:lnSpc>
                <a:spcPct val="90000"/>
              </a:lnSpc>
            </a:pPr>
            <a:r>
              <a:rPr lang="en-US" dirty="0" smtClean="0"/>
              <a:t>Certifies that the requirements document is an acceptable description of the system to be implemented</a:t>
            </a:r>
          </a:p>
          <a:p>
            <a:pPr>
              <a:lnSpc>
                <a:spcPct val="90000"/>
              </a:lnSpc>
            </a:pPr>
            <a:r>
              <a:rPr lang="en-US" dirty="0" smtClean="0"/>
              <a:t>Checks a requirements document for</a:t>
            </a:r>
          </a:p>
          <a:p>
            <a:pPr lvl="1">
              <a:lnSpc>
                <a:spcPct val="90000"/>
              </a:lnSpc>
            </a:pPr>
            <a:r>
              <a:rPr lang="en-US" dirty="0" smtClean="0"/>
              <a:t>Completeness and consistency</a:t>
            </a:r>
          </a:p>
          <a:p>
            <a:pPr lvl="1">
              <a:lnSpc>
                <a:spcPct val="90000"/>
              </a:lnSpc>
            </a:pPr>
            <a:r>
              <a:rPr lang="en-US" dirty="0" smtClean="0"/>
              <a:t>Conformance to standards</a:t>
            </a:r>
          </a:p>
          <a:p>
            <a:pPr lvl="1">
              <a:lnSpc>
                <a:spcPct val="90000"/>
              </a:lnSpc>
            </a:pPr>
            <a:r>
              <a:rPr lang="en-US" dirty="0" smtClean="0"/>
              <a:t>Requirements conflicts</a:t>
            </a:r>
          </a:p>
          <a:p>
            <a:pPr lvl="1">
              <a:lnSpc>
                <a:spcPct val="90000"/>
              </a:lnSpc>
            </a:pPr>
            <a:r>
              <a:rPr lang="en-US" dirty="0" smtClean="0"/>
              <a:t>Technical errors</a:t>
            </a:r>
          </a:p>
          <a:p>
            <a:pPr lvl="1">
              <a:lnSpc>
                <a:spcPct val="90000"/>
              </a:lnSpc>
            </a:pPr>
            <a:r>
              <a:rPr lang="en-US" dirty="0" smtClean="0"/>
              <a:t>Ambiguous requirements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anim calcmode="lin" valueType="num">
                                      <p:cBhvr additive="base">
                                        <p:cTn id="11"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 calcmode="lin" valueType="num">
                                      <p:cBhvr additive="base">
                                        <p:cTn id="17"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099">
                                            <p:txEl>
                                              <p:pRg st="3" end="3"/>
                                            </p:txEl>
                                          </p:spTgt>
                                        </p:tgtEl>
                                        <p:attrNameLst>
                                          <p:attrName>style.visibility</p:attrName>
                                        </p:attrNameLst>
                                      </p:cBhvr>
                                      <p:to>
                                        <p:strVal val="visible"/>
                                      </p:to>
                                    </p:set>
                                    <p:anim calcmode="lin" valueType="num">
                                      <p:cBhvr additive="base">
                                        <p:cTn id="23" dur="500" fill="hold"/>
                                        <p:tgtEl>
                                          <p:spTgt spid="409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09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 calcmode="lin" valueType="num">
                                      <p:cBhvr additive="base">
                                        <p:cTn id="27" dur="500" fill="hold"/>
                                        <p:tgtEl>
                                          <p:spTgt spid="409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09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099">
                                            <p:txEl>
                                              <p:pRg st="5" end="5"/>
                                            </p:txEl>
                                          </p:spTgt>
                                        </p:tgtEl>
                                        <p:attrNameLst>
                                          <p:attrName>style.visibility</p:attrName>
                                        </p:attrNameLst>
                                      </p:cBhvr>
                                      <p:to>
                                        <p:strVal val="visible"/>
                                      </p:to>
                                    </p:set>
                                    <p:anim calcmode="lin" valueType="num">
                                      <p:cBhvr additive="base">
                                        <p:cTn id="31" dur="500" fill="hold"/>
                                        <p:tgtEl>
                                          <p:spTgt spid="409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099">
                                            <p:txEl>
                                              <p:pRg st="6" end="6"/>
                                            </p:txEl>
                                          </p:spTgt>
                                        </p:tgtEl>
                                        <p:attrNameLst>
                                          <p:attrName>style.visibility</p:attrName>
                                        </p:attrNameLst>
                                      </p:cBhvr>
                                      <p:to>
                                        <p:strVal val="visible"/>
                                      </p:to>
                                    </p:set>
                                    <p:anim calcmode="lin" valueType="num">
                                      <p:cBhvr additive="base">
                                        <p:cTn id="35" dur="500" fill="hold"/>
                                        <p:tgtEl>
                                          <p:spTgt spid="409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099">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099">
                                            <p:txEl>
                                              <p:pRg st="7" end="7"/>
                                            </p:txEl>
                                          </p:spTgt>
                                        </p:tgtEl>
                                        <p:attrNameLst>
                                          <p:attrName>style.visibility</p:attrName>
                                        </p:attrNameLst>
                                      </p:cBhvr>
                                      <p:to>
                                        <p:strVal val="visible"/>
                                      </p:to>
                                    </p:set>
                                    <p:anim calcmode="lin" valueType="num">
                                      <p:cBhvr additive="base">
                                        <p:cTn id="39" dur="500" fill="hold"/>
                                        <p:tgtEl>
                                          <p:spTgt spid="4099">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099">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099">
                                            <p:txEl>
                                              <p:pRg st="8" end="8"/>
                                            </p:txEl>
                                          </p:spTgt>
                                        </p:tgtEl>
                                        <p:attrNameLst>
                                          <p:attrName>style.visibility</p:attrName>
                                        </p:attrNameLst>
                                      </p:cBhvr>
                                      <p:to>
                                        <p:strVal val="visible"/>
                                      </p:to>
                                    </p:set>
                                    <p:anim calcmode="lin" valueType="num">
                                      <p:cBhvr additive="base">
                                        <p:cTn id="43" dur="500" fill="hold"/>
                                        <p:tgtEl>
                                          <p:spTgt spid="4099">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GB" dirty="0" smtClean="0"/>
              <a:t>Validation is not a mechanical process of checking documents.</a:t>
            </a:r>
          </a:p>
          <a:p>
            <a:r>
              <a:rPr lang="en-GB" dirty="0" smtClean="0"/>
              <a:t>It is more </a:t>
            </a:r>
            <a:r>
              <a:rPr lang="en-GB" i="1" dirty="0" smtClean="0"/>
              <a:t>an issue of communicating requirements, as constructed by the analysts, back to the stakeholders whose goals those requirements are supposed to meet, and to all those other stakeholders, with whose goals those requirements may conflict.</a:t>
            </a:r>
          </a:p>
          <a:p>
            <a:r>
              <a:rPr lang="en-GB" dirty="0" smtClean="0"/>
              <a:t>It is an information feedback link needed to:</a:t>
            </a:r>
          </a:p>
          <a:p>
            <a:pPr lvl="1"/>
            <a:r>
              <a:rPr lang="en-GB" dirty="0" smtClean="0"/>
              <a:t>give the stakeholders a chance to check early whether the solution proposed will really solve their problem</a:t>
            </a:r>
          </a:p>
          <a:p>
            <a:pPr lvl="1"/>
            <a:r>
              <a:rPr lang="en-GB" dirty="0" smtClean="0"/>
              <a:t>stimulate the evolution of customers’ understanding (of what is possible) and therefore act also as a catalyst of the elicitation process</a:t>
            </a:r>
            <a:endParaRPr lang="en-GB" dirty="0"/>
          </a:p>
        </p:txBody>
      </p:sp>
      <p:sp>
        <p:nvSpPr>
          <p:cNvPr id="3" name="Title 2"/>
          <p:cNvSpPr>
            <a:spLocks noGrp="1"/>
          </p:cNvSpPr>
          <p:nvPr>
            <p:ph type="title"/>
          </p:nvPr>
        </p:nvSpPr>
        <p:spPr/>
        <p:txBody>
          <a:bodyPr/>
          <a:lstStyle/>
          <a:p>
            <a:r>
              <a:rPr lang="en-GB" dirty="0" smtClean="0"/>
              <a:t>Validation Process</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8" tIns="44450" rIns="90488" bIns="44450" anchor="b"/>
          <a:lstStyle/>
          <a:p>
            <a:r>
              <a:rPr lang="en-US"/>
              <a:t>Validation inputs and outputs</a:t>
            </a:r>
          </a:p>
        </p:txBody>
      </p:sp>
      <p:graphicFrame>
        <p:nvGraphicFramePr>
          <p:cNvPr id="6147" name="Object 3"/>
          <p:cNvGraphicFramePr>
            <a:graphicFrameLocks/>
          </p:cNvGraphicFramePr>
          <p:nvPr/>
        </p:nvGraphicFramePr>
        <p:xfrm>
          <a:off x="774700" y="2400300"/>
          <a:ext cx="7691438" cy="2476500"/>
        </p:xfrm>
        <a:graphic>
          <a:graphicData uri="http://schemas.openxmlformats.org/presentationml/2006/ole">
            <mc:AlternateContent xmlns:mc="http://schemas.openxmlformats.org/markup-compatibility/2006">
              <mc:Choice xmlns:v="urn:schemas-microsoft-com:vml" Requires="v">
                <p:oleObj spid="_x0000_s105476"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700" y="2400300"/>
                        <a:ext cx="7691438"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8" tIns="44450" rIns="90488" bIns="44450" anchor="b"/>
          <a:lstStyle/>
          <a:p>
            <a:r>
              <a:rPr lang="en-US"/>
              <a:t>Validation inputs</a:t>
            </a:r>
          </a:p>
        </p:txBody>
      </p:sp>
      <p:sp>
        <p:nvSpPr>
          <p:cNvPr id="7171" name="Rectangle 3"/>
          <p:cNvSpPr>
            <a:spLocks noGrp="1" noChangeArrowheads="1"/>
          </p:cNvSpPr>
          <p:nvPr>
            <p:ph type="body" idx="1"/>
          </p:nvPr>
        </p:nvSpPr>
        <p:spPr>
          <a:noFill/>
          <a:ln/>
        </p:spPr>
        <p:txBody>
          <a:bodyPr lIns="90488" tIns="44450" rIns="90488" bIns="44450"/>
          <a:lstStyle/>
          <a:p>
            <a:r>
              <a:rPr lang="en-US" sz="2800"/>
              <a:t>Requirements document</a:t>
            </a:r>
          </a:p>
          <a:p>
            <a:pPr lvl="1"/>
            <a:r>
              <a:rPr lang="en-US" sz="2400"/>
              <a:t>Should be a complete version of the document, not an unfinished draft. Formatted and organized according to organizational standards</a:t>
            </a:r>
          </a:p>
          <a:p>
            <a:r>
              <a:rPr lang="en-US" sz="2800"/>
              <a:t>Organizational knowledge</a:t>
            </a:r>
          </a:p>
          <a:p>
            <a:pPr lvl="1"/>
            <a:r>
              <a:rPr lang="en-US" sz="2400"/>
              <a:t>Knowledge, often implicit, of the organization which may be used to judge the realism of the requirements</a:t>
            </a:r>
          </a:p>
          <a:p>
            <a:r>
              <a:rPr lang="en-US" sz="2800"/>
              <a:t>Organizational standards</a:t>
            </a:r>
          </a:p>
          <a:p>
            <a:pPr lvl="1"/>
            <a:r>
              <a:rPr lang="en-US" sz="2400"/>
              <a:t>Local standards e.g. for the organization of the requirements document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anim calcmode="lin" valueType="num">
                                      <p:cBhvr additive="base">
                                        <p:cTn id="11"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 calcmode="lin" valueType="num">
                                      <p:cBhvr additive="base">
                                        <p:cTn id="17"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7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171">
                                            <p:txEl>
                                              <p:pRg st="3" end="3"/>
                                            </p:txEl>
                                          </p:spTgt>
                                        </p:tgtEl>
                                        <p:attrNameLst>
                                          <p:attrName>style.visibility</p:attrName>
                                        </p:attrNameLst>
                                      </p:cBhvr>
                                      <p:to>
                                        <p:strVal val="visible"/>
                                      </p:to>
                                    </p:set>
                                    <p:anim calcmode="lin" valueType="num">
                                      <p:cBhvr additive="base">
                                        <p:cTn id="21"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 calcmode="lin" valueType="num">
                                      <p:cBhvr additive="base">
                                        <p:cTn id="27"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171">
                                            <p:txEl>
                                              <p:pRg st="5" end="5"/>
                                            </p:txEl>
                                          </p:spTgt>
                                        </p:tgtEl>
                                        <p:attrNameLst>
                                          <p:attrName>style.visibility</p:attrName>
                                        </p:attrNameLst>
                                      </p:cBhvr>
                                      <p:to>
                                        <p:strVal val="visible"/>
                                      </p:to>
                                    </p:set>
                                    <p:anim calcmode="lin" valueType="num">
                                      <p:cBhvr additive="base">
                                        <p:cTn id="31"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8" tIns="44450" rIns="90488" bIns="44450" anchor="b"/>
          <a:lstStyle/>
          <a:p>
            <a:r>
              <a:rPr lang="en-US"/>
              <a:t>Validation outputs</a:t>
            </a:r>
          </a:p>
        </p:txBody>
      </p:sp>
      <p:sp>
        <p:nvSpPr>
          <p:cNvPr id="8195" name="Rectangle 3"/>
          <p:cNvSpPr>
            <a:spLocks noGrp="1" noChangeArrowheads="1"/>
          </p:cNvSpPr>
          <p:nvPr>
            <p:ph type="body" idx="1"/>
          </p:nvPr>
        </p:nvSpPr>
        <p:spPr>
          <a:noFill/>
          <a:ln/>
        </p:spPr>
        <p:txBody>
          <a:bodyPr lIns="90488" tIns="44450" rIns="90488" bIns="44450"/>
          <a:lstStyle/>
          <a:p>
            <a:r>
              <a:rPr lang="en-US"/>
              <a:t>Problem list</a:t>
            </a:r>
          </a:p>
          <a:p>
            <a:pPr lvl="1"/>
            <a:r>
              <a:rPr lang="en-US"/>
              <a:t>List of discovered problems in the requirements document</a:t>
            </a:r>
          </a:p>
          <a:p>
            <a:r>
              <a:rPr lang="en-US"/>
              <a:t>Agreed actions</a:t>
            </a:r>
          </a:p>
          <a:p>
            <a:pPr lvl="1"/>
            <a:r>
              <a:rPr lang="en-US"/>
              <a:t>List of agreed actions in response to requirements problems. Some problems may have several corrective actions; some problems may have no associated actions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anim calcmode="lin" valueType="num">
                                      <p:cBhvr additive="base">
                                        <p:cTn id="11"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 calcmode="lin" valueType="num">
                                      <p:cBhvr additive="base">
                                        <p:cTn id="17"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1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195">
                                            <p:txEl>
                                              <p:pRg st="3" end="3"/>
                                            </p:txEl>
                                          </p:spTgt>
                                        </p:tgtEl>
                                        <p:attrNameLst>
                                          <p:attrName>style.visibility</p:attrName>
                                        </p:attrNameLst>
                                      </p:cBhvr>
                                      <p:to>
                                        <p:strVal val="visible"/>
                                      </p:to>
                                    </p:set>
                                    <p:anim calcmode="lin" valueType="num">
                                      <p:cBhvr additive="base">
                                        <p:cTn id="21"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1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b="0"/>
              <a:t>Validating Requirements</a:t>
            </a:r>
          </a:p>
        </p:txBody>
      </p:sp>
      <p:sp>
        <p:nvSpPr>
          <p:cNvPr id="44035" name="Rectangle 3"/>
          <p:cNvSpPr>
            <a:spLocks noGrp="1" noChangeArrowheads="1"/>
          </p:cNvSpPr>
          <p:nvPr>
            <p:ph type="body" idx="1"/>
          </p:nvPr>
        </p:nvSpPr>
        <p:spPr/>
        <p:txBody>
          <a:bodyPr/>
          <a:lstStyle/>
          <a:p>
            <a:r>
              <a:rPr lang="en-US" dirty="0" smtClean="0"/>
              <a:t>Inspections and Reviews</a:t>
            </a:r>
          </a:p>
          <a:p>
            <a:r>
              <a:rPr lang="en-US" dirty="0" smtClean="0"/>
              <a:t>Prototyping</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Requirements Review</a:t>
            </a:r>
            <a:endParaRPr lang="en-GB" dirty="0"/>
          </a:p>
        </p:txBody>
      </p:sp>
      <p:sp>
        <p:nvSpPr>
          <p:cNvPr id="5" name="Text Placeholder 4"/>
          <p:cNvSpPr>
            <a:spLocks noGrp="1"/>
          </p:cNvSpPr>
          <p:nvPr>
            <p:ph type="body" idx="1"/>
          </p:nvPr>
        </p:nvSpPr>
        <p:spPr/>
        <p:txBody>
          <a:bodyP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p:txBody>
          <a:bodyPr/>
          <a:lstStyle/>
          <a:p>
            <a:r>
              <a:rPr lang="en-US"/>
              <a:t>Requirements reviews</a:t>
            </a:r>
          </a:p>
        </p:txBody>
      </p:sp>
      <p:sp>
        <p:nvSpPr>
          <p:cNvPr id="9221" name="Rectangle 5"/>
          <p:cNvSpPr>
            <a:spLocks noGrp="1" noChangeArrowheads="1"/>
          </p:cNvSpPr>
          <p:nvPr>
            <p:ph type="body" idx="1"/>
          </p:nvPr>
        </p:nvSpPr>
        <p:spPr/>
        <p:txBody>
          <a:bodyPr/>
          <a:lstStyle/>
          <a:p>
            <a:r>
              <a:rPr lang="en-US"/>
              <a:t>A group of people read and analyse the requirements, look for problems, meet and discuss the problems and agree on actions to address these problems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8" tIns="44450" rIns="90488" bIns="44450" anchor="b"/>
          <a:lstStyle/>
          <a:p>
            <a:r>
              <a:rPr lang="en-US"/>
              <a:t>Requirements review process</a:t>
            </a:r>
          </a:p>
        </p:txBody>
      </p:sp>
      <p:graphicFrame>
        <p:nvGraphicFramePr>
          <p:cNvPr id="10243" name="Object 3"/>
          <p:cNvGraphicFramePr>
            <a:graphicFrameLocks/>
          </p:cNvGraphicFramePr>
          <p:nvPr/>
        </p:nvGraphicFramePr>
        <p:xfrm>
          <a:off x="800100" y="2095500"/>
          <a:ext cx="7670800" cy="3238500"/>
        </p:xfrm>
        <a:graphic>
          <a:graphicData uri="http://schemas.openxmlformats.org/presentationml/2006/ole">
            <mc:AlternateContent xmlns:mc="http://schemas.openxmlformats.org/markup-compatibility/2006">
              <mc:Choice xmlns:v="urn:schemas-microsoft-com:vml" Requires="v">
                <p:oleObj spid="_x0000_s106500"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 y="2095500"/>
                        <a:ext cx="7670800"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p:txBody>
          <a:bodyPr/>
          <a:lstStyle/>
          <a:p>
            <a:r>
              <a:rPr lang="en-US"/>
              <a:t>Review activities</a:t>
            </a:r>
          </a:p>
        </p:txBody>
      </p:sp>
      <p:sp>
        <p:nvSpPr>
          <p:cNvPr id="11269" name="Rectangle 5"/>
          <p:cNvSpPr>
            <a:spLocks noGrp="1" noChangeArrowheads="1"/>
          </p:cNvSpPr>
          <p:nvPr>
            <p:ph type="body" idx="1"/>
          </p:nvPr>
        </p:nvSpPr>
        <p:spPr/>
        <p:txBody>
          <a:bodyPr/>
          <a:lstStyle/>
          <a:p>
            <a:r>
              <a:rPr lang="en-US" sz="2800"/>
              <a:t>Plan review  </a:t>
            </a:r>
          </a:p>
          <a:p>
            <a:pPr lvl="1"/>
            <a:r>
              <a:rPr lang="en-US" sz="2400"/>
              <a:t>The review team is selected and a time and place for the review meeting is chosen.</a:t>
            </a:r>
          </a:p>
          <a:p>
            <a:r>
              <a:rPr lang="en-US" sz="2800"/>
              <a:t>Distribute documents </a:t>
            </a:r>
          </a:p>
          <a:p>
            <a:pPr lvl="1"/>
            <a:r>
              <a:rPr lang="en-US" sz="2400"/>
              <a:t>The requirements document is distributed to the review team members</a:t>
            </a:r>
          </a:p>
          <a:p>
            <a:r>
              <a:rPr lang="en-US" sz="2800"/>
              <a:t>Prepare for review  </a:t>
            </a:r>
          </a:p>
          <a:p>
            <a:pPr lvl="1"/>
            <a:r>
              <a:rPr lang="en-US" sz="2400"/>
              <a:t>Individual reviewers read the requirements to find conflicts, omissions, inconsistencies, deviations from standards and other problems.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 calcmode="lin" valueType="num">
                                      <p:cBhvr additive="base">
                                        <p:cTn id="7" dur="500" fill="hold"/>
                                        <p:tgtEl>
                                          <p:spTgt spid="1126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269">
                                            <p:txEl>
                                              <p:pRg st="1" end="1"/>
                                            </p:txEl>
                                          </p:spTgt>
                                        </p:tgtEl>
                                        <p:attrNameLst>
                                          <p:attrName>style.visibility</p:attrName>
                                        </p:attrNameLst>
                                      </p:cBhvr>
                                      <p:to>
                                        <p:strVal val="visible"/>
                                      </p:to>
                                    </p:set>
                                    <p:anim calcmode="lin" valueType="num">
                                      <p:cBhvr additive="base">
                                        <p:cTn id="11" dur="500" fill="hold"/>
                                        <p:tgtEl>
                                          <p:spTgt spid="1126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269">
                                            <p:txEl>
                                              <p:pRg st="2" end="2"/>
                                            </p:txEl>
                                          </p:spTgt>
                                        </p:tgtEl>
                                        <p:attrNameLst>
                                          <p:attrName>style.visibility</p:attrName>
                                        </p:attrNameLst>
                                      </p:cBhvr>
                                      <p:to>
                                        <p:strVal val="visible"/>
                                      </p:to>
                                    </p:set>
                                    <p:anim calcmode="lin" valueType="num">
                                      <p:cBhvr additive="base">
                                        <p:cTn id="17" dur="500" fill="hold"/>
                                        <p:tgtEl>
                                          <p:spTgt spid="1126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26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269">
                                            <p:txEl>
                                              <p:pRg st="3" end="3"/>
                                            </p:txEl>
                                          </p:spTgt>
                                        </p:tgtEl>
                                        <p:attrNameLst>
                                          <p:attrName>style.visibility</p:attrName>
                                        </p:attrNameLst>
                                      </p:cBhvr>
                                      <p:to>
                                        <p:strVal val="visible"/>
                                      </p:to>
                                    </p:set>
                                    <p:anim calcmode="lin" valueType="num">
                                      <p:cBhvr additive="base">
                                        <p:cTn id="21" dur="500" fill="hold"/>
                                        <p:tgtEl>
                                          <p:spTgt spid="1126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26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269">
                                            <p:txEl>
                                              <p:pRg st="4" end="4"/>
                                            </p:txEl>
                                          </p:spTgt>
                                        </p:tgtEl>
                                        <p:attrNameLst>
                                          <p:attrName>style.visibility</p:attrName>
                                        </p:attrNameLst>
                                      </p:cBhvr>
                                      <p:to>
                                        <p:strVal val="visible"/>
                                      </p:to>
                                    </p:set>
                                    <p:anim calcmode="lin" valueType="num">
                                      <p:cBhvr additive="base">
                                        <p:cTn id="27" dur="500" fill="hold"/>
                                        <p:tgtEl>
                                          <p:spTgt spid="1126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269">
                                            <p:txEl>
                                              <p:pRg st="5" end="5"/>
                                            </p:txEl>
                                          </p:spTgt>
                                        </p:tgtEl>
                                        <p:attrNameLst>
                                          <p:attrName>style.visibility</p:attrName>
                                        </p:attrNameLst>
                                      </p:cBhvr>
                                      <p:to>
                                        <p:strVal val="visible"/>
                                      </p:to>
                                    </p:set>
                                    <p:anim calcmode="lin" valueType="num">
                                      <p:cBhvr additive="base">
                                        <p:cTn id="31" dur="500" fill="hold"/>
                                        <p:tgtEl>
                                          <p:spTgt spid="1126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p:txBody>
          <a:bodyPr/>
          <a:lstStyle/>
          <a:p>
            <a:r>
              <a:rPr lang="en-US"/>
              <a:t>Review activities</a:t>
            </a:r>
          </a:p>
        </p:txBody>
      </p:sp>
      <p:sp>
        <p:nvSpPr>
          <p:cNvPr id="12293" name="Rectangle 5"/>
          <p:cNvSpPr>
            <a:spLocks noGrp="1" noChangeArrowheads="1"/>
          </p:cNvSpPr>
          <p:nvPr>
            <p:ph type="body" idx="1"/>
          </p:nvPr>
        </p:nvSpPr>
        <p:spPr/>
        <p:txBody>
          <a:bodyPr/>
          <a:lstStyle/>
          <a:p>
            <a:r>
              <a:rPr lang="en-US" sz="2800"/>
              <a:t>Hold review meeting  </a:t>
            </a:r>
          </a:p>
          <a:p>
            <a:pPr lvl="1"/>
            <a:r>
              <a:rPr lang="en-US" sz="2400"/>
              <a:t>Individual comments and problems are discussed and a set of actions to address the problems is agreed.</a:t>
            </a:r>
          </a:p>
          <a:p>
            <a:r>
              <a:rPr lang="en-US" sz="2800"/>
              <a:t>Follow-up actions  </a:t>
            </a:r>
          </a:p>
          <a:p>
            <a:pPr lvl="1"/>
            <a:r>
              <a:rPr lang="en-US" sz="2400"/>
              <a:t>The chair of the review checks that the agreed actions have been carried out.</a:t>
            </a:r>
          </a:p>
          <a:p>
            <a:r>
              <a:rPr lang="en-US" sz="2800"/>
              <a:t>Revise document  </a:t>
            </a:r>
          </a:p>
          <a:p>
            <a:pPr lvl="1"/>
            <a:r>
              <a:rPr lang="en-US" sz="2400"/>
              <a:t>The requirements document is revised to reflect the agreed actions. At this stage, it may be accepted or it may be re-reviewed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 calcmode="lin" valueType="num">
                                      <p:cBhvr additive="base">
                                        <p:cTn id="7" dur="500" fill="hold"/>
                                        <p:tgtEl>
                                          <p:spTgt spid="1229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293">
                                            <p:txEl>
                                              <p:pRg st="1" end="1"/>
                                            </p:txEl>
                                          </p:spTgt>
                                        </p:tgtEl>
                                        <p:attrNameLst>
                                          <p:attrName>style.visibility</p:attrName>
                                        </p:attrNameLst>
                                      </p:cBhvr>
                                      <p:to>
                                        <p:strVal val="visible"/>
                                      </p:to>
                                    </p:set>
                                    <p:anim calcmode="lin" valueType="num">
                                      <p:cBhvr additive="base">
                                        <p:cTn id="11" dur="500" fill="hold"/>
                                        <p:tgtEl>
                                          <p:spTgt spid="1229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9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293">
                                            <p:txEl>
                                              <p:pRg st="2" end="2"/>
                                            </p:txEl>
                                          </p:spTgt>
                                        </p:tgtEl>
                                        <p:attrNameLst>
                                          <p:attrName>style.visibility</p:attrName>
                                        </p:attrNameLst>
                                      </p:cBhvr>
                                      <p:to>
                                        <p:strVal val="visible"/>
                                      </p:to>
                                    </p:set>
                                    <p:anim calcmode="lin" valueType="num">
                                      <p:cBhvr additive="base">
                                        <p:cTn id="17" dur="500" fill="hold"/>
                                        <p:tgtEl>
                                          <p:spTgt spid="1229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293">
                                            <p:txEl>
                                              <p:pRg st="3" end="3"/>
                                            </p:txEl>
                                          </p:spTgt>
                                        </p:tgtEl>
                                        <p:attrNameLst>
                                          <p:attrName>style.visibility</p:attrName>
                                        </p:attrNameLst>
                                      </p:cBhvr>
                                      <p:to>
                                        <p:strVal val="visible"/>
                                      </p:to>
                                    </p:set>
                                    <p:anim calcmode="lin" valueType="num">
                                      <p:cBhvr additive="base">
                                        <p:cTn id="21" dur="500" fill="hold"/>
                                        <p:tgtEl>
                                          <p:spTgt spid="1229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29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293">
                                            <p:txEl>
                                              <p:pRg st="4" end="4"/>
                                            </p:txEl>
                                          </p:spTgt>
                                        </p:tgtEl>
                                        <p:attrNameLst>
                                          <p:attrName>style.visibility</p:attrName>
                                        </p:attrNameLst>
                                      </p:cBhvr>
                                      <p:to>
                                        <p:strVal val="visible"/>
                                      </p:to>
                                    </p:set>
                                    <p:anim calcmode="lin" valueType="num">
                                      <p:cBhvr additive="base">
                                        <p:cTn id="27" dur="500" fill="hold"/>
                                        <p:tgtEl>
                                          <p:spTgt spid="1229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29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293">
                                            <p:txEl>
                                              <p:pRg st="5" end="5"/>
                                            </p:txEl>
                                          </p:spTgt>
                                        </p:tgtEl>
                                        <p:attrNameLst>
                                          <p:attrName>style.visibility</p:attrName>
                                        </p:attrNameLst>
                                      </p:cBhvr>
                                      <p:to>
                                        <p:strVal val="visible"/>
                                      </p:to>
                                    </p:set>
                                    <p:anim calcmode="lin" valueType="num">
                                      <p:cBhvr additive="base">
                                        <p:cTn id="31" dur="500" fill="hold"/>
                                        <p:tgtEl>
                                          <p:spTgt spid="1229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9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6"/>
          <p:cNvSpPr>
            <a:spLocks noGrp="1" noChangeArrowheads="1"/>
          </p:cNvSpPr>
          <p:nvPr>
            <p:ph type="title"/>
          </p:nvPr>
        </p:nvSpPr>
        <p:spPr/>
        <p:txBody>
          <a:bodyPr/>
          <a:lstStyle/>
          <a:p>
            <a:r>
              <a:rPr lang="en-US"/>
              <a:t>Problem actions</a:t>
            </a:r>
          </a:p>
        </p:txBody>
      </p:sp>
      <p:sp>
        <p:nvSpPr>
          <p:cNvPr id="13319" name="Rectangle 7"/>
          <p:cNvSpPr>
            <a:spLocks noGrp="1" noChangeArrowheads="1"/>
          </p:cNvSpPr>
          <p:nvPr>
            <p:ph type="body" idx="1"/>
          </p:nvPr>
        </p:nvSpPr>
        <p:spPr/>
        <p:txBody>
          <a:bodyPr/>
          <a:lstStyle/>
          <a:p>
            <a:pPr>
              <a:lnSpc>
                <a:spcPct val="80000"/>
              </a:lnSpc>
            </a:pPr>
            <a:r>
              <a:rPr lang="en-US" sz="2000"/>
              <a:t>Requirements clarification </a:t>
            </a:r>
          </a:p>
          <a:p>
            <a:pPr lvl="1">
              <a:lnSpc>
                <a:spcPct val="80000"/>
              </a:lnSpc>
            </a:pPr>
            <a:r>
              <a:rPr lang="en-US" sz="1800"/>
              <a:t>The requirement may be badly expressed or may have accidentally omitted information which has been collected during requirements elicitation. </a:t>
            </a:r>
          </a:p>
          <a:p>
            <a:pPr>
              <a:lnSpc>
                <a:spcPct val="80000"/>
              </a:lnSpc>
            </a:pPr>
            <a:r>
              <a:rPr lang="en-US" sz="2000"/>
              <a:t>Missing information </a:t>
            </a:r>
          </a:p>
          <a:p>
            <a:pPr lvl="1">
              <a:lnSpc>
                <a:spcPct val="80000"/>
              </a:lnSpc>
            </a:pPr>
            <a:r>
              <a:rPr lang="en-US" sz="1800"/>
              <a:t>Some information is missing from the requirements document. It is the responsibility of the requirements engineers who are revising the document to discover this information from system stakeholders. </a:t>
            </a:r>
          </a:p>
          <a:p>
            <a:pPr>
              <a:lnSpc>
                <a:spcPct val="80000"/>
              </a:lnSpc>
            </a:pPr>
            <a:r>
              <a:rPr lang="en-US" sz="2000"/>
              <a:t>Requirements conflict </a:t>
            </a:r>
          </a:p>
          <a:p>
            <a:pPr lvl="1">
              <a:lnSpc>
                <a:spcPct val="80000"/>
              </a:lnSpc>
            </a:pPr>
            <a:r>
              <a:rPr lang="en-US" sz="1800"/>
              <a:t>There is a significant conflict between requirements. The stakeholders involved must negotiate to resolve the conflict.</a:t>
            </a:r>
          </a:p>
          <a:p>
            <a:pPr>
              <a:lnSpc>
                <a:spcPct val="80000"/>
              </a:lnSpc>
            </a:pPr>
            <a:r>
              <a:rPr lang="en-US" sz="2000"/>
              <a:t>Unrealistic requirement </a:t>
            </a:r>
          </a:p>
          <a:p>
            <a:pPr lvl="1">
              <a:lnSpc>
                <a:spcPct val="80000"/>
              </a:lnSpc>
            </a:pPr>
            <a:r>
              <a:rPr lang="en-US" sz="1800"/>
              <a:t>The requirement does not appear to be implementable with the technology available or given other constraints on the system.   Stakeholders must be consulted to decide how to make the requirement more realistic.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9">
                                            <p:txEl>
                                              <p:pRg st="0" end="0"/>
                                            </p:txEl>
                                          </p:spTgt>
                                        </p:tgtEl>
                                        <p:attrNameLst>
                                          <p:attrName>style.visibility</p:attrName>
                                        </p:attrNameLst>
                                      </p:cBhvr>
                                      <p:to>
                                        <p:strVal val="visible"/>
                                      </p:to>
                                    </p:set>
                                    <p:anim calcmode="lin" valueType="num">
                                      <p:cBhvr additive="base">
                                        <p:cTn id="7" dur="500" fill="hold"/>
                                        <p:tgtEl>
                                          <p:spTgt spid="133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9">
                                            <p:txEl>
                                              <p:pRg st="1" end="1"/>
                                            </p:txEl>
                                          </p:spTgt>
                                        </p:tgtEl>
                                        <p:attrNameLst>
                                          <p:attrName>style.visibility</p:attrName>
                                        </p:attrNameLst>
                                      </p:cBhvr>
                                      <p:to>
                                        <p:strVal val="visible"/>
                                      </p:to>
                                    </p:set>
                                    <p:anim calcmode="lin" valueType="num">
                                      <p:cBhvr additive="base">
                                        <p:cTn id="11" dur="500" fill="hold"/>
                                        <p:tgtEl>
                                          <p:spTgt spid="133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3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319">
                                            <p:txEl>
                                              <p:pRg st="2" end="2"/>
                                            </p:txEl>
                                          </p:spTgt>
                                        </p:tgtEl>
                                        <p:attrNameLst>
                                          <p:attrName>style.visibility</p:attrName>
                                        </p:attrNameLst>
                                      </p:cBhvr>
                                      <p:to>
                                        <p:strVal val="visible"/>
                                      </p:to>
                                    </p:set>
                                    <p:anim calcmode="lin" valueType="num">
                                      <p:cBhvr additive="base">
                                        <p:cTn id="17" dur="500" fill="hold"/>
                                        <p:tgtEl>
                                          <p:spTgt spid="133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319">
                                            <p:txEl>
                                              <p:pRg st="3" end="3"/>
                                            </p:txEl>
                                          </p:spTgt>
                                        </p:tgtEl>
                                        <p:attrNameLst>
                                          <p:attrName>style.visibility</p:attrName>
                                        </p:attrNameLst>
                                      </p:cBhvr>
                                      <p:to>
                                        <p:strVal val="visible"/>
                                      </p:to>
                                    </p:set>
                                    <p:anim calcmode="lin" valueType="num">
                                      <p:cBhvr additive="base">
                                        <p:cTn id="21" dur="500" fill="hold"/>
                                        <p:tgtEl>
                                          <p:spTgt spid="1331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3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319">
                                            <p:txEl>
                                              <p:pRg st="4" end="4"/>
                                            </p:txEl>
                                          </p:spTgt>
                                        </p:tgtEl>
                                        <p:attrNameLst>
                                          <p:attrName>style.visibility</p:attrName>
                                        </p:attrNameLst>
                                      </p:cBhvr>
                                      <p:to>
                                        <p:strVal val="visible"/>
                                      </p:to>
                                    </p:set>
                                    <p:anim calcmode="lin" valueType="num">
                                      <p:cBhvr additive="base">
                                        <p:cTn id="27" dur="500" fill="hold"/>
                                        <p:tgtEl>
                                          <p:spTgt spid="1331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31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319">
                                            <p:txEl>
                                              <p:pRg st="5" end="5"/>
                                            </p:txEl>
                                          </p:spTgt>
                                        </p:tgtEl>
                                        <p:attrNameLst>
                                          <p:attrName>style.visibility</p:attrName>
                                        </p:attrNameLst>
                                      </p:cBhvr>
                                      <p:to>
                                        <p:strVal val="visible"/>
                                      </p:to>
                                    </p:set>
                                    <p:anim calcmode="lin" valueType="num">
                                      <p:cBhvr additive="base">
                                        <p:cTn id="31" dur="500" fill="hold"/>
                                        <p:tgtEl>
                                          <p:spTgt spid="1331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9">
                                            <p:txEl>
                                              <p:pRg st="6" end="6"/>
                                            </p:txEl>
                                          </p:spTgt>
                                        </p:tgtEl>
                                        <p:attrNameLst>
                                          <p:attrName>style.visibility</p:attrName>
                                        </p:attrNameLst>
                                      </p:cBhvr>
                                      <p:to>
                                        <p:strVal val="visible"/>
                                      </p:to>
                                    </p:set>
                                    <p:anim calcmode="lin" valueType="num">
                                      <p:cBhvr additive="base">
                                        <p:cTn id="37" dur="500" fill="hold"/>
                                        <p:tgtEl>
                                          <p:spTgt spid="1331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9">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319">
                                            <p:txEl>
                                              <p:pRg st="7" end="7"/>
                                            </p:txEl>
                                          </p:spTgt>
                                        </p:tgtEl>
                                        <p:attrNameLst>
                                          <p:attrName>style.visibility</p:attrName>
                                        </p:attrNameLst>
                                      </p:cBhvr>
                                      <p:to>
                                        <p:strVal val="visible"/>
                                      </p:to>
                                    </p:set>
                                    <p:anim calcmode="lin" valueType="num">
                                      <p:cBhvr additive="base">
                                        <p:cTn id="41" dur="500" fill="hold"/>
                                        <p:tgtEl>
                                          <p:spTgt spid="1331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3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p:txBody>
          <a:bodyPr/>
          <a:lstStyle/>
          <a:p>
            <a:r>
              <a:rPr lang="en-US"/>
              <a:t>Pre-review checking</a:t>
            </a:r>
          </a:p>
        </p:txBody>
      </p:sp>
      <p:sp>
        <p:nvSpPr>
          <p:cNvPr id="14341" name="Rectangle 5"/>
          <p:cNvSpPr>
            <a:spLocks noGrp="1" noChangeArrowheads="1"/>
          </p:cNvSpPr>
          <p:nvPr>
            <p:ph type="body" idx="1"/>
          </p:nvPr>
        </p:nvSpPr>
        <p:spPr/>
        <p:txBody>
          <a:bodyPr>
            <a:normAutofit lnSpcReduction="10000"/>
          </a:bodyPr>
          <a:lstStyle/>
          <a:p>
            <a:pPr>
              <a:lnSpc>
                <a:spcPct val="90000"/>
              </a:lnSpc>
            </a:pPr>
            <a:r>
              <a:rPr lang="en-US" sz="2800"/>
              <a:t>Reviews are expensive because they involve a number of people spending time reading and checking the requirements document</a:t>
            </a:r>
          </a:p>
          <a:p>
            <a:pPr>
              <a:lnSpc>
                <a:spcPct val="90000"/>
              </a:lnSpc>
            </a:pPr>
            <a:r>
              <a:rPr lang="en-US" sz="2800"/>
              <a:t>This expense can be reduced by using pre-review checking where one person checks the document and looks for straightforward problems such as missing requirements, lack of conformance to standards, typographical errors, etc.</a:t>
            </a:r>
          </a:p>
          <a:p>
            <a:pPr>
              <a:lnSpc>
                <a:spcPct val="90000"/>
              </a:lnSpc>
            </a:pPr>
            <a:r>
              <a:rPr lang="en-US" sz="2800"/>
              <a:t>Document may be returned for correction or the list of problems distributed to other reviewers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anim calcmode="lin" valueType="num">
                                      <p:cBhvr additive="base">
                                        <p:cTn id="7" dur="500" fill="hold"/>
                                        <p:tgtEl>
                                          <p:spTgt spid="1434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1">
                                            <p:txEl>
                                              <p:pRg st="1" end="1"/>
                                            </p:txEl>
                                          </p:spTgt>
                                        </p:tgtEl>
                                        <p:attrNameLst>
                                          <p:attrName>style.visibility</p:attrName>
                                        </p:attrNameLst>
                                      </p:cBhvr>
                                      <p:to>
                                        <p:strVal val="visible"/>
                                      </p:to>
                                    </p:set>
                                    <p:anim calcmode="lin" valueType="num">
                                      <p:cBhvr additive="base">
                                        <p:cTn id="13" dur="500" fill="hold"/>
                                        <p:tgtEl>
                                          <p:spTgt spid="1434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1">
                                            <p:txEl>
                                              <p:pRg st="2" end="2"/>
                                            </p:txEl>
                                          </p:spTgt>
                                        </p:tgtEl>
                                        <p:attrNameLst>
                                          <p:attrName>style.visibility</p:attrName>
                                        </p:attrNameLst>
                                      </p:cBhvr>
                                      <p:to>
                                        <p:strVal val="visible"/>
                                      </p:to>
                                    </p:set>
                                    <p:anim calcmode="lin" valueType="num">
                                      <p:cBhvr additive="base">
                                        <p:cTn id="19" dur="500" fill="hold"/>
                                        <p:tgtEl>
                                          <p:spTgt spid="1434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4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lIns="90488" tIns="44450" rIns="90488" bIns="44450" anchor="b"/>
          <a:lstStyle/>
          <a:p>
            <a:r>
              <a:rPr lang="en-US"/>
              <a:t>Pre-review checking</a:t>
            </a:r>
          </a:p>
        </p:txBody>
      </p:sp>
      <p:graphicFrame>
        <p:nvGraphicFramePr>
          <p:cNvPr id="15363" name="Object 3"/>
          <p:cNvGraphicFramePr>
            <a:graphicFrameLocks/>
          </p:cNvGraphicFramePr>
          <p:nvPr/>
        </p:nvGraphicFramePr>
        <p:xfrm>
          <a:off x="304800" y="2247900"/>
          <a:ext cx="8534400" cy="2447925"/>
        </p:xfrm>
        <a:graphic>
          <a:graphicData uri="http://schemas.openxmlformats.org/presentationml/2006/ole">
            <mc:AlternateContent xmlns:mc="http://schemas.openxmlformats.org/markup-compatibility/2006">
              <mc:Choice xmlns:v="urn:schemas-microsoft-com:vml" Requires="v">
                <p:oleObj spid="_x0000_s107524"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47900"/>
                        <a:ext cx="85344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Review team membership</a:t>
            </a:r>
          </a:p>
        </p:txBody>
      </p:sp>
      <p:sp>
        <p:nvSpPr>
          <p:cNvPr id="48131" name="Rectangle 3"/>
          <p:cNvSpPr>
            <a:spLocks noGrp="1" noChangeArrowheads="1"/>
          </p:cNvSpPr>
          <p:nvPr>
            <p:ph type="body" idx="1"/>
          </p:nvPr>
        </p:nvSpPr>
        <p:spPr>
          <a:xfrm>
            <a:off x="381000" y="1143000"/>
            <a:ext cx="8458200" cy="5105400"/>
          </a:xfrm>
        </p:spPr>
        <p:txBody>
          <a:bodyPr>
            <a:noAutofit/>
          </a:bodyPr>
          <a:lstStyle/>
          <a:p>
            <a:pPr>
              <a:lnSpc>
                <a:spcPct val="80000"/>
              </a:lnSpc>
            </a:pPr>
            <a:r>
              <a:rPr lang="en-US" sz="2800" dirty="0"/>
              <a:t>Reviews should involve a number of stakeholders drawn from different backgrounds</a:t>
            </a:r>
            <a:endParaRPr lang="en-US" sz="2400" dirty="0"/>
          </a:p>
          <a:p>
            <a:pPr>
              <a:lnSpc>
                <a:spcPct val="80000"/>
              </a:lnSpc>
            </a:pPr>
            <a:r>
              <a:rPr lang="en-US" sz="2400" dirty="0"/>
              <a:t>Possibilities</a:t>
            </a:r>
          </a:p>
          <a:p>
            <a:pPr lvl="1">
              <a:lnSpc>
                <a:spcPct val="80000"/>
              </a:lnSpc>
            </a:pPr>
            <a:r>
              <a:rPr lang="en-US" sz="2000" dirty="0"/>
              <a:t>specialists in reviewing (e.g. QA people)</a:t>
            </a:r>
          </a:p>
          <a:p>
            <a:pPr lvl="1">
              <a:lnSpc>
                <a:spcPct val="80000"/>
              </a:lnSpc>
            </a:pPr>
            <a:r>
              <a:rPr lang="en-US" sz="2000" dirty="0"/>
              <a:t>people from the same team as the author</a:t>
            </a:r>
          </a:p>
          <a:p>
            <a:pPr lvl="1">
              <a:lnSpc>
                <a:spcPct val="80000"/>
              </a:lnSpc>
            </a:pPr>
            <a:r>
              <a:rPr lang="en-US" sz="2000" dirty="0"/>
              <a:t>people invited for specialist expertise</a:t>
            </a:r>
          </a:p>
          <a:p>
            <a:pPr lvl="1">
              <a:lnSpc>
                <a:spcPct val="80000"/>
              </a:lnSpc>
            </a:pPr>
            <a:r>
              <a:rPr lang="en-US" sz="2000" dirty="0"/>
              <a:t>people with an interest in the product</a:t>
            </a:r>
          </a:p>
          <a:p>
            <a:pPr lvl="1">
              <a:lnSpc>
                <a:spcPct val="80000"/>
              </a:lnSpc>
            </a:pPr>
            <a:r>
              <a:rPr lang="en-US" sz="2000" dirty="0"/>
              <a:t>visitors who have something to contribute</a:t>
            </a:r>
          </a:p>
          <a:p>
            <a:pPr lvl="1">
              <a:lnSpc>
                <a:spcPct val="80000"/>
              </a:lnSpc>
            </a:pPr>
            <a:r>
              <a:rPr lang="en-US" sz="2000" dirty="0"/>
              <a:t>people from other parts of the organization</a:t>
            </a:r>
          </a:p>
          <a:p>
            <a:pPr>
              <a:lnSpc>
                <a:spcPct val="80000"/>
              </a:lnSpc>
            </a:pPr>
            <a:r>
              <a:rPr lang="en-US" sz="2400" dirty="0"/>
              <a:t>Exclude</a:t>
            </a:r>
          </a:p>
          <a:p>
            <a:pPr lvl="1">
              <a:lnSpc>
                <a:spcPct val="80000"/>
              </a:lnSpc>
            </a:pPr>
            <a:r>
              <a:rPr lang="en-US" sz="2000" dirty="0"/>
              <a:t>anyone responsible for reviewing the author</a:t>
            </a:r>
          </a:p>
          <a:p>
            <a:pPr lvl="2">
              <a:lnSpc>
                <a:spcPct val="80000"/>
              </a:lnSpc>
            </a:pPr>
            <a:r>
              <a:rPr lang="en-US" sz="2000" dirty="0"/>
              <a:t>i.e. line manager, appraiser, etc.</a:t>
            </a:r>
          </a:p>
          <a:p>
            <a:pPr lvl="1">
              <a:lnSpc>
                <a:spcPct val="80000"/>
              </a:lnSpc>
            </a:pPr>
            <a:r>
              <a:rPr lang="en-US" sz="2000" dirty="0"/>
              <a:t>anyone with known personality clashes with other reviewers</a:t>
            </a:r>
          </a:p>
          <a:p>
            <a:pPr lvl="1">
              <a:lnSpc>
                <a:spcPct val="80000"/>
              </a:lnSpc>
            </a:pPr>
            <a:r>
              <a:rPr lang="en-US" sz="2000" dirty="0"/>
              <a:t>anyone who is not qualified to contribute</a:t>
            </a:r>
          </a:p>
          <a:p>
            <a:pPr lvl="1">
              <a:lnSpc>
                <a:spcPct val="80000"/>
              </a:lnSpc>
            </a:pPr>
            <a:r>
              <a:rPr lang="en-US" sz="2000" dirty="0"/>
              <a:t>all management</a:t>
            </a:r>
          </a:p>
          <a:p>
            <a:pPr lvl="1">
              <a:lnSpc>
                <a:spcPct val="80000"/>
              </a:lnSpc>
            </a:pPr>
            <a:r>
              <a:rPr lang="en-US" sz="2000" dirty="0"/>
              <a:t>anyone whose presence creates a conflict of </a:t>
            </a:r>
            <a:r>
              <a:rPr lang="en-US" sz="2000" dirty="0" smtClean="0"/>
              <a:t>interest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 calcmode="lin" valueType="num">
                                      <p:cBhvr additive="base">
                                        <p:cTn id="17"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813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8131">
                                            <p:txEl>
                                              <p:pRg st="3" end="3"/>
                                            </p:txEl>
                                          </p:spTgt>
                                        </p:tgtEl>
                                        <p:attrNameLst>
                                          <p:attrName>style.visibility</p:attrName>
                                        </p:attrNameLst>
                                      </p:cBhvr>
                                      <p:to>
                                        <p:strVal val="visible"/>
                                      </p:to>
                                    </p:set>
                                    <p:anim calcmode="lin" valueType="num">
                                      <p:cBhvr additive="base">
                                        <p:cTn id="21"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813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8131">
                                            <p:txEl>
                                              <p:pRg st="4" end="4"/>
                                            </p:txEl>
                                          </p:spTgt>
                                        </p:tgtEl>
                                        <p:attrNameLst>
                                          <p:attrName>style.visibility</p:attrName>
                                        </p:attrNameLst>
                                      </p:cBhvr>
                                      <p:to>
                                        <p:strVal val="visible"/>
                                      </p:to>
                                    </p:set>
                                    <p:anim calcmode="lin" valueType="num">
                                      <p:cBhvr additive="base">
                                        <p:cTn id="25" dur="500" fill="hold"/>
                                        <p:tgtEl>
                                          <p:spTgt spid="4813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3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8131">
                                            <p:txEl>
                                              <p:pRg st="5" end="5"/>
                                            </p:txEl>
                                          </p:spTgt>
                                        </p:tgtEl>
                                        <p:attrNameLst>
                                          <p:attrName>style.visibility</p:attrName>
                                        </p:attrNameLst>
                                      </p:cBhvr>
                                      <p:to>
                                        <p:strVal val="visible"/>
                                      </p:to>
                                    </p:set>
                                    <p:anim calcmode="lin" valueType="num">
                                      <p:cBhvr additive="base">
                                        <p:cTn id="29" dur="500" fill="hold"/>
                                        <p:tgtEl>
                                          <p:spTgt spid="4813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813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8131">
                                            <p:txEl>
                                              <p:pRg st="6" end="6"/>
                                            </p:txEl>
                                          </p:spTgt>
                                        </p:tgtEl>
                                        <p:attrNameLst>
                                          <p:attrName>style.visibility</p:attrName>
                                        </p:attrNameLst>
                                      </p:cBhvr>
                                      <p:to>
                                        <p:strVal val="visible"/>
                                      </p:to>
                                    </p:set>
                                    <p:anim calcmode="lin" valueType="num">
                                      <p:cBhvr additive="base">
                                        <p:cTn id="33" dur="500" fill="hold"/>
                                        <p:tgtEl>
                                          <p:spTgt spid="4813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813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8131">
                                            <p:txEl>
                                              <p:pRg st="7" end="7"/>
                                            </p:txEl>
                                          </p:spTgt>
                                        </p:tgtEl>
                                        <p:attrNameLst>
                                          <p:attrName>style.visibility</p:attrName>
                                        </p:attrNameLst>
                                      </p:cBhvr>
                                      <p:to>
                                        <p:strVal val="visible"/>
                                      </p:to>
                                    </p:set>
                                    <p:anim calcmode="lin" valueType="num">
                                      <p:cBhvr additive="base">
                                        <p:cTn id="37" dur="500" fill="hold"/>
                                        <p:tgtEl>
                                          <p:spTgt spid="4813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813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8131">
                                            <p:txEl>
                                              <p:pRg st="8" end="8"/>
                                            </p:txEl>
                                          </p:spTgt>
                                        </p:tgtEl>
                                        <p:attrNameLst>
                                          <p:attrName>style.visibility</p:attrName>
                                        </p:attrNameLst>
                                      </p:cBhvr>
                                      <p:to>
                                        <p:strVal val="visible"/>
                                      </p:to>
                                    </p:set>
                                    <p:anim calcmode="lin" valueType="num">
                                      <p:cBhvr additive="base">
                                        <p:cTn id="43" dur="500" fill="hold"/>
                                        <p:tgtEl>
                                          <p:spTgt spid="4813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131">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8131">
                                            <p:txEl>
                                              <p:pRg st="9" end="9"/>
                                            </p:txEl>
                                          </p:spTgt>
                                        </p:tgtEl>
                                        <p:attrNameLst>
                                          <p:attrName>style.visibility</p:attrName>
                                        </p:attrNameLst>
                                      </p:cBhvr>
                                      <p:to>
                                        <p:strVal val="visible"/>
                                      </p:to>
                                    </p:set>
                                    <p:anim calcmode="lin" valueType="num">
                                      <p:cBhvr additive="base">
                                        <p:cTn id="47" dur="500" fill="hold"/>
                                        <p:tgtEl>
                                          <p:spTgt spid="48131">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8131">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131">
                                            <p:txEl>
                                              <p:pRg st="10" end="10"/>
                                            </p:txEl>
                                          </p:spTgt>
                                        </p:tgtEl>
                                        <p:attrNameLst>
                                          <p:attrName>style.visibility</p:attrName>
                                        </p:attrNameLst>
                                      </p:cBhvr>
                                      <p:to>
                                        <p:strVal val="visible"/>
                                      </p:to>
                                    </p:set>
                                    <p:anim calcmode="lin" valueType="num">
                                      <p:cBhvr additive="base">
                                        <p:cTn id="51" dur="500" fill="hold"/>
                                        <p:tgtEl>
                                          <p:spTgt spid="48131">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8131">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8131">
                                            <p:txEl>
                                              <p:pRg st="11" end="11"/>
                                            </p:txEl>
                                          </p:spTgt>
                                        </p:tgtEl>
                                        <p:attrNameLst>
                                          <p:attrName>style.visibility</p:attrName>
                                        </p:attrNameLst>
                                      </p:cBhvr>
                                      <p:to>
                                        <p:strVal val="visible"/>
                                      </p:to>
                                    </p:set>
                                    <p:anim calcmode="lin" valueType="num">
                                      <p:cBhvr additive="base">
                                        <p:cTn id="55" dur="500" fill="hold"/>
                                        <p:tgtEl>
                                          <p:spTgt spid="48131">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8131">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8131">
                                            <p:txEl>
                                              <p:pRg st="12" end="12"/>
                                            </p:txEl>
                                          </p:spTgt>
                                        </p:tgtEl>
                                        <p:attrNameLst>
                                          <p:attrName>style.visibility</p:attrName>
                                        </p:attrNameLst>
                                      </p:cBhvr>
                                      <p:to>
                                        <p:strVal val="visible"/>
                                      </p:to>
                                    </p:set>
                                    <p:anim calcmode="lin" valueType="num">
                                      <p:cBhvr additive="base">
                                        <p:cTn id="59" dur="500" fill="hold"/>
                                        <p:tgtEl>
                                          <p:spTgt spid="48131">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8131">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8131">
                                            <p:txEl>
                                              <p:pRg st="13" end="13"/>
                                            </p:txEl>
                                          </p:spTgt>
                                        </p:tgtEl>
                                        <p:attrNameLst>
                                          <p:attrName>style.visibility</p:attrName>
                                        </p:attrNameLst>
                                      </p:cBhvr>
                                      <p:to>
                                        <p:strVal val="visible"/>
                                      </p:to>
                                    </p:set>
                                    <p:anim calcmode="lin" valueType="num">
                                      <p:cBhvr additive="base">
                                        <p:cTn id="63" dur="500" fill="hold"/>
                                        <p:tgtEl>
                                          <p:spTgt spid="48131">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48131">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8131">
                                            <p:txEl>
                                              <p:pRg st="14" end="14"/>
                                            </p:txEl>
                                          </p:spTgt>
                                        </p:tgtEl>
                                        <p:attrNameLst>
                                          <p:attrName>style.visibility</p:attrName>
                                        </p:attrNameLst>
                                      </p:cBhvr>
                                      <p:to>
                                        <p:strVal val="visible"/>
                                      </p:to>
                                    </p:set>
                                    <p:anim calcmode="lin" valueType="num">
                                      <p:cBhvr additive="base">
                                        <p:cTn id="67" dur="500" fill="hold"/>
                                        <p:tgtEl>
                                          <p:spTgt spid="48131">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8131">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lIns="90488" tIns="44450" rIns="90488" bIns="44450" anchor="b"/>
          <a:lstStyle/>
          <a:p>
            <a:r>
              <a:rPr lang="en-US"/>
              <a:t>Review checklists</a:t>
            </a:r>
          </a:p>
        </p:txBody>
      </p:sp>
      <p:sp>
        <p:nvSpPr>
          <p:cNvPr id="17411" name="Rectangle 3"/>
          <p:cNvSpPr>
            <a:spLocks noGrp="1" noChangeArrowheads="1"/>
          </p:cNvSpPr>
          <p:nvPr>
            <p:ph type="body" idx="1"/>
          </p:nvPr>
        </p:nvSpPr>
        <p:spPr>
          <a:noFill/>
          <a:ln/>
        </p:spPr>
        <p:txBody>
          <a:bodyPr lIns="90488" tIns="44450" rIns="90488" bIns="44450"/>
          <a:lstStyle/>
          <a:p>
            <a:pPr>
              <a:lnSpc>
                <a:spcPct val="90000"/>
              </a:lnSpc>
            </a:pPr>
            <a:r>
              <a:rPr lang="en-US" sz="2400"/>
              <a:t>Understandability</a:t>
            </a:r>
          </a:p>
          <a:p>
            <a:pPr lvl="1">
              <a:lnSpc>
                <a:spcPct val="90000"/>
              </a:lnSpc>
            </a:pPr>
            <a:r>
              <a:rPr lang="en-US" sz="2000"/>
              <a:t>Can readers of the document understand what the requirements mean?</a:t>
            </a:r>
          </a:p>
          <a:p>
            <a:pPr>
              <a:lnSpc>
                <a:spcPct val="90000"/>
              </a:lnSpc>
            </a:pPr>
            <a:r>
              <a:rPr lang="en-US" sz="2400"/>
              <a:t>Redundancy</a:t>
            </a:r>
          </a:p>
          <a:p>
            <a:pPr lvl="1">
              <a:lnSpc>
                <a:spcPct val="90000"/>
              </a:lnSpc>
            </a:pPr>
            <a:r>
              <a:rPr lang="en-US" sz="2000"/>
              <a:t>Is information unnecessarily repeated in the requirements document?</a:t>
            </a:r>
          </a:p>
          <a:p>
            <a:pPr>
              <a:lnSpc>
                <a:spcPct val="90000"/>
              </a:lnSpc>
            </a:pPr>
            <a:r>
              <a:rPr lang="en-US" sz="2400"/>
              <a:t>Completeness</a:t>
            </a:r>
          </a:p>
          <a:p>
            <a:pPr lvl="1">
              <a:lnSpc>
                <a:spcPct val="90000"/>
              </a:lnSpc>
            </a:pPr>
            <a:r>
              <a:rPr lang="en-US" sz="2000"/>
              <a:t>Does the checker know of any missing requirements or is there any information missing from individual requirement descriptions? </a:t>
            </a:r>
          </a:p>
          <a:p>
            <a:pPr>
              <a:lnSpc>
                <a:spcPct val="90000"/>
              </a:lnSpc>
            </a:pPr>
            <a:r>
              <a:rPr lang="en-US" sz="2400"/>
              <a:t>Ambiguity</a:t>
            </a:r>
          </a:p>
          <a:p>
            <a:pPr lvl="1">
              <a:lnSpc>
                <a:spcPct val="90000"/>
              </a:lnSpc>
            </a:pPr>
            <a:r>
              <a:rPr lang="en-US" sz="2000"/>
              <a:t>Are the requirements expressed using terms which are clearly defined?  Could readers from different backgrounds make different interpretations of the requirements?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anim calcmode="lin" valueType="num">
                                      <p:cBhvr additive="base">
                                        <p:cTn id="11"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 calcmode="lin" valueType="num">
                                      <p:cBhvr additive="base">
                                        <p:cTn id="17"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4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411">
                                            <p:txEl>
                                              <p:pRg st="3" end="3"/>
                                            </p:txEl>
                                          </p:spTgt>
                                        </p:tgtEl>
                                        <p:attrNameLst>
                                          <p:attrName>style.visibility</p:attrName>
                                        </p:attrNameLst>
                                      </p:cBhvr>
                                      <p:to>
                                        <p:strVal val="visible"/>
                                      </p:to>
                                    </p:set>
                                    <p:anim calcmode="lin" valueType="num">
                                      <p:cBhvr additive="base">
                                        <p:cTn id="21"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 calcmode="lin" valueType="num">
                                      <p:cBhvr additive="base">
                                        <p:cTn id="27"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4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411">
                                            <p:txEl>
                                              <p:pRg st="5" end="5"/>
                                            </p:txEl>
                                          </p:spTgt>
                                        </p:tgtEl>
                                        <p:attrNameLst>
                                          <p:attrName>style.visibility</p:attrName>
                                        </p:attrNameLst>
                                      </p:cBhvr>
                                      <p:to>
                                        <p:strVal val="visible"/>
                                      </p:to>
                                    </p:set>
                                    <p:anim calcmode="lin" valueType="num">
                                      <p:cBhvr additive="base">
                                        <p:cTn id="31"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411">
                                            <p:txEl>
                                              <p:pRg st="6" end="6"/>
                                            </p:txEl>
                                          </p:spTgt>
                                        </p:tgtEl>
                                        <p:attrNameLst>
                                          <p:attrName>style.visibility</p:attrName>
                                        </p:attrNameLst>
                                      </p:cBhvr>
                                      <p:to>
                                        <p:strVal val="visible"/>
                                      </p:to>
                                    </p:set>
                                    <p:anim calcmode="lin" valueType="num">
                                      <p:cBhvr additive="base">
                                        <p:cTn id="37"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1">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411">
                                            <p:txEl>
                                              <p:pRg st="7" end="7"/>
                                            </p:txEl>
                                          </p:spTgt>
                                        </p:tgtEl>
                                        <p:attrNameLst>
                                          <p:attrName>style.visibility</p:attrName>
                                        </p:attrNameLst>
                                      </p:cBhvr>
                                      <p:to>
                                        <p:strVal val="visible"/>
                                      </p:to>
                                    </p:set>
                                    <p:anim calcmode="lin" valueType="num">
                                      <p:cBhvr additive="base">
                                        <p:cTn id="41" dur="5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741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ChangeArrowheads="1"/>
          </p:cNvSpPr>
          <p:nvPr>
            <p:ph type="title"/>
          </p:nvPr>
        </p:nvSpPr>
        <p:spPr/>
        <p:txBody>
          <a:bodyPr/>
          <a:lstStyle/>
          <a:p>
            <a:r>
              <a:rPr lang="en-US"/>
              <a:t>Review checklists</a:t>
            </a:r>
          </a:p>
        </p:txBody>
      </p:sp>
      <p:sp>
        <p:nvSpPr>
          <p:cNvPr id="18437" name="Rectangle 5"/>
          <p:cNvSpPr>
            <a:spLocks noGrp="1" noChangeArrowheads="1"/>
          </p:cNvSpPr>
          <p:nvPr>
            <p:ph type="body" idx="1"/>
          </p:nvPr>
        </p:nvSpPr>
        <p:spPr>
          <a:xfrm>
            <a:off x="457200" y="1295400"/>
            <a:ext cx="8229600" cy="4876800"/>
          </a:xfrm>
        </p:spPr>
        <p:txBody>
          <a:bodyPr/>
          <a:lstStyle/>
          <a:p>
            <a:pPr>
              <a:lnSpc>
                <a:spcPct val="80000"/>
              </a:lnSpc>
            </a:pPr>
            <a:r>
              <a:rPr lang="en-US" sz="2400"/>
              <a:t>Consistency</a:t>
            </a:r>
          </a:p>
          <a:p>
            <a:pPr lvl="1">
              <a:lnSpc>
                <a:spcPct val="80000"/>
              </a:lnSpc>
            </a:pPr>
            <a:r>
              <a:rPr lang="en-US" sz="2000"/>
              <a:t>Do the descriptions of different requirements include contradictions? Are there contradictions between individual requirements and overall system requirements?</a:t>
            </a:r>
          </a:p>
          <a:p>
            <a:pPr>
              <a:lnSpc>
                <a:spcPct val="80000"/>
              </a:lnSpc>
            </a:pPr>
            <a:r>
              <a:rPr lang="en-US" sz="2400"/>
              <a:t>Organization</a:t>
            </a:r>
          </a:p>
          <a:p>
            <a:pPr lvl="1">
              <a:lnSpc>
                <a:spcPct val="80000"/>
              </a:lnSpc>
            </a:pPr>
            <a:r>
              <a:rPr lang="en-US" sz="2000"/>
              <a:t>Is the document structured in a sensible way? Are the descriptions of requirements organized so that related requirements are grouped?</a:t>
            </a:r>
          </a:p>
          <a:p>
            <a:pPr>
              <a:lnSpc>
                <a:spcPct val="80000"/>
              </a:lnSpc>
            </a:pPr>
            <a:r>
              <a:rPr lang="en-US" sz="2400"/>
              <a:t>Conformance to standards</a:t>
            </a:r>
          </a:p>
          <a:p>
            <a:pPr lvl="1">
              <a:lnSpc>
                <a:spcPct val="80000"/>
              </a:lnSpc>
            </a:pPr>
            <a:r>
              <a:rPr lang="en-US" sz="2000"/>
              <a:t>Does the requirements document and individual requirements conform to defined standards? Are departures from the standards, justified?</a:t>
            </a:r>
          </a:p>
          <a:p>
            <a:pPr>
              <a:lnSpc>
                <a:spcPct val="80000"/>
              </a:lnSpc>
            </a:pPr>
            <a:r>
              <a:rPr lang="en-US" sz="2400"/>
              <a:t>Traceability</a:t>
            </a:r>
          </a:p>
          <a:p>
            <a:pPr lvl="1">
              <a:lnSpc>
                <a:spcPct val="80000"/>
              </a:lnSpc>
            </a:pPr>
            <a:r>
              <a:rPr lang="en-US" sz="2000"/>
              <a:t>Are requirements unambiguously identified, include links to related requirements and to the reasons why these requirements have been included?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anim calcmode="lin" valueType="num">
                                      <p:cBhvr additive="base">
                                        <p:cTn id="7" dur="500" fill="hold"/>
                                        <p:tgtEl>
                                          <p:spTgt spid="184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7">
                                            <p:txEl>
                                              <p:pRg st="1" end="1"/>
                                            </p:txEl>
                                          </p:spTgt>
                                        </p:tgtEl>
                                        <p:attrNameLst>
                                          <p:attrName>style.visibility</p:attrName>
                                        </p:attrNameLst>
                                      </p:cBhvr>
                                      <p:to>
                                        <p:strVal val="visible"/>
                                      </p:to>
                                    </p:set>
                                    <p:anim calcmode="lin" valueType="num">
                                      <p:cBhvr additive="base">
                                        <p:cTn id="11" dur="500" fill="hold"/>
                                        <p:tgtEl>
                                          <p:spTgt spid="1843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437">
                                            <p:txEl>
                                              <p:pRg st="2" end="2"/>
                                            </p:txEl>
                                          </p:spTgt>
                                        </p:tgtEl>
                                        <p:attrNameLst>
                                          <p:attrName>style.visibility</p:attrName>
                                        </p:attrNameLst>
                                      </p:cBhvr>
                                      <p:to>
                                        <p:strVal val="visible"/>
                                      </p:to>
                                    </p:set>
                                    <p:anim calcmode="lin" valueType="num">
                                      <p:cBhvr additive="base">
                                        <p:cTn id="17" dur="500" fill="hold"/>
                                        <p:tgtEl>
                                          <p:spTgt spid="1843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437">
                                            <p:txEl>
                                              <p:pRg st="3" end="3"/>
                                            </p:txEl>
                                          </p:spTgt>
                                        </p:tgtEl>
                                        <p:attrNameLst>
                                          <p:attrName>style.visibility</p:attrName>
                                        </p:attrNameLst>
                                      </p:cBhvr>
                                      <p:to>
                                        <p:strVal val="visible"/>
                                      </p:to>
                                    </p:set>
                                    <p:anim calcmode="lin" valueType="num">
                                      <p:cBhvr additive="base">
                                        <p:cTn id="21" dur="500" fill="hold"/>
                                        <p:tgtEl>
                                          <p:spTgt spid="1843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4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437">
                                            <p:txEl>
                                              <p:pRg st="4" end="4"/>
                                            </p:txEl>
                                          </p:spTgt>
                                        </p:tgtEl>
                                        <p:attrNameLst>
                                          <p:attrName>style.visibility</p:attrName>
                                        </p:attrNameLst>
                                      </p:cBhvr>
                                      <p:to>
                                        <p:strVal val="visible"/>
                                      </p:to>
                                    </p:set>
                                    <p:anim calcmode="lin" valueType="num">
                                      <p:cBhvr additive="base">
                                        <p:cTn id="27" dur="500" fill="hold"/>
                                        <p:tgtEl>
                                          <p:spTgt spid="1843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43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437">
                                            <p:txEl>
                                              <p:pRg st="5" end="5"/>
                                            </p:txEl>
                                          </p:spTgt>
                                        </p:tgtEl>
                                        <p:attrNameLst>
                                          <p:attrName>style.visibility</p:attrName>
                                        </p:attrNameLst>
                                      </p:cBhvr>
                                      <p:to>
                                        <p:strVal val="visible"/>
                                      </p:to>
                                    </p:set>
                                    <p:anim calcmode="lin" valueType="num">
                                      <p:cBhvr additive="base">
                                        <p:cTn id="31" dur="500" fill="hold"/>
                                        <p:tgtEl>
                                          <p:spTgt spid="1843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437">
                                            <p:txEl>
                                              <p:pRg st="6" end="6"/>
                                            </p:txEl>
                                          </p:spTgt>
                                        </p:tgtEl>
                                        <p:attrNameLst>
                                          <p:attrName>style.visibility</p:attrName>
                                        </p:attrNameLst>
                                      </p:cBhvr>
                                      <p:to>
                                        <p:strVal val="visible"/>
                                      </p:to>
                                    </p:set>
                                    <p:anim calcmode="lin" valueType="num">
                                      <p:cBhvr additive="base">
                                        <p:cTn id="37" dur="500" fill="hold"/>
                                        <p:tgtEl>
                                          <p:spTgt spid="1843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43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437">
                                            <p:txEl>
                                              <p:pRg st="7" end="7"/>
                                            </p:txEl>
                                          </p:spTgt>
                                        </p:tgtEl>
                                        <p:attrNameLst>
                                          <p:attrName>style.visibility</p:attrName>
                                        </p:attrNameLst>
                                      </p:cBhvr>
                                      <p:to>
                                        <p:strVal val="visible"/>
                                      </p:to>
                                    </p:set>
                                    <p:anim calcmode="lin" valueType="num">
                                      <p:cBhvr additive="base">
                                        <p:cTn id="41" dur="500" fill="hold"/>
                                        <p:tgtEl>
                                          <p:spTgt spid="1843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843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Grp="1" noChangeArrowheads="1"/>
          </p:cNvSpPr>
          <p:nvPr>
            <p:ph type="title"/>
          </p:nvPr>
        </p:nvSpPr>
        <p:spPr/>
        <p:txBody>
          <a:bodyPr/>
          <a:lstStyle/>
          <a:p>
            <a:r>
              <a:rPr lang="en-US"/>
              <a:t>Checklist questions</a:t>
            </a:r>
          </a:p>
        </p:txBody>
      </p:sp>
      <p:sp>
        <p:nvSpPr>
          <p:cNvPr id="19461" name="Rectangle 5"/>
          <p:cNvSpPr>
            <a:spLocks noGrp="1" noChangeArrowheads="1"/>
          </p:cNvSpPr>
          <p:nvPr>
            <p:ph type="body" idx="1"/>
          </p:nvPr>
        </p:nvSpPr>
        <p:spPr/>
        <p:txBody>
          <a:bodyPr>
            <a:normAutofit fontScale="92500"/>
          </a:bodyPr>
          <a:lstStyle/>
          <a:p>
            <a:pPr>
              <a:lnSpc>
                <a:spcPct val="90000"/>
              </a:lnSpc>
            </a:pPr>
            <a:r>
              <a:rPr lang="en-US" sz="2400" dirty="0"/>
              <a:t>Is each requirement uniquely identified?</a:t>
            </a:r>
          </a:p>
          <a:p>
            <a:pPr>
              <a:lnSpc>
                <a:spcPct val="90000"/>
              </a:lnSpc>
            </a:pPr>
            <a:r>
              <a:rPr lang="en-US" sz="2400" dirty="0"/>
              <a:t>Are specialized terms defined in the glossary</a:t>
            </a:r>
          </a:p>
          <a:p>
            <a:pPr>
              <a:lnSpc>
                <a:spcPct val="90000"/>
              </a:lnSpc>
            </a:pPr>
            <a:r>
              <a:rPr lang="en-US" sz="2400" dirty="0"/>
              <a:t>Does a requirement stand on its own or do you have to examine other requirements to understand what it means?</a:t>
            </a:r>
          </a:p>
          <a:p>
            <a:pPr>
              <a:lnSpc>
                <a:spcPct val="90000"/>
              </a:lnSpc>
            </a:pPr>
            <a:r>
              <a:rPr lang="en-US" sz="2400" dirty="0"/>
              <a:t> Do individual requirements use the terms consistently</a:t>
            </a:r>
          </a:p>
          <a:p>
            <a:pPr>
              <a:lnSpc>
                <a:spcPct val="90000"/>
              </a:lnSpc>
            </a:pPr>
            <a:r>
              <a:rPr lang="en-US" sz="2400" dirty="0"/>
              <a:t>Is the same service requested in different requirements? Are there any contradictions in these requests?</a:t>
            </a:r>
          </a:p>
          <a:p>
            <a:pPr>
              <a:lnSpc>
                <a:spcPct val="90000"/>
              </a:lnSpc>
            </a:pPr>
            <a:r>
              <a:rPr lang="en-US" sz="2400" dirty="0"/>
              <a:t>If a requirement makes reference to some other facilities, are these described elsewhere in the document?</a:t>
            </a:r>
          </a:p>
          <a:p>
            <a:pPr>
              <a:lnSpc>
                <a:spcPct val="90000"/>
              </a:lnSpc>
            </a:pPr>
            <a:r>
              <a:rPr lang="en-US" sz="2400" dirty="0"/>
              <a:t>Are related requirements grouped together? If not, do they refer to each other?</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ctrTitle"/>
          </p:nvPr>
        </p:nvSpPr>
        <p:spPr/>
        <p:txBody>
          <a:bodyPr>
            <a:normAutofit/>
          </a:bodyPr>
          <a:lstStyle/>
          <a:p>
            <a:pPr algn="ctr"/>
            <a:r>
              <a:rPr lang="en-US" sz="9600" dirty="0"/>
              <a:t>Q</a:t>
            </a:r>
            <a:r>
              <a:rPr lang="en-US" sz="8000" dirty="0"/>
              <a:t>&amp;</a:t>
            </a:r>
            <a:r>
              <a:rPr lang="en-US" sz="9600" dirty="0"/>
              <a:t>A</a:t>
            </a:r>
          </a:p>
        </p:txBody>
      </p:sp>
      <p:sp>
        <p:nvSpPr>
          <p:cNvPr id="553987" name="Rectangle 3"/>
          <p:cNvSpPr>
            <a:spLocks noGrp="1" noChangeArrowheads="1"/>
          </p:cNvSpPr>
          <p:nvPr>
            <p:ph type="subTitle"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1667</TotalTime>
  <Words>1093</Words>
  <Application>Microsoft Office PowerPoint</Application>
  <PresentationFormat>On-screen Show (4:3)</PresentationFormat>
  <Paragraphs>115</Paragraphs>
  <Slides>21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Lucida Sans Unicode</vt:lpstr>
      <vt:lpstr>Times New Roman</vt:lpstr>
      <vt:lpstr>Verdana</vt:lpstr>
      <vt:lpstr>Wingdings 2</vt:lpstr>
      <vt:lpstr>Wingdings 3</vt:lpstr>
      <vt:lpstr>Concourse</vt:lpstr>
      <vt:lpstr>Document</vt:lpstr>
      <vt:lpstr>Requirements Engineering</vt:lpstr>
      <vt:lpstr>Requirements Validation</vt:lpstr>
      <vt:lpstr>Validation objectives</vt:lpstr>
      <vt:lpstr>Validation Process</vt:lpstr>
      <vt:lpstr>Validation inputs and outputs</vt:lpstr>
      <vt:lpstr>Validation inputs</vt:lpstr>
      <vt:lpstr>Validation outputs</vt:lpstr>
      <vt:lpstr>Validating Requirements</vt:lpstr>
      <vt:lpstr>Requirements Review</vt:lpstr>
      <vt:lpstr>Requirements reviews</vt:lpstr>
      <vt:lpstr>Requirements review process</vt:lpstr>
      <vt:lpstr>Review activities</vt:lpstr>
      <vt:lpstr>Review activities</vt:lpstr>
      <vt:lpstr>Problem actions</vt:lpstr>
      <vt:lpstr>Pre-review checking</vt:lpstr>
      <vt:lpstr>Pre-review checking</vt:lpstr>
      <vt:lpstr>Review team membership</vt:lpstr>
      <vt:lpstr>Review checklists</vt:lpstr>
      <vt:lpstr>Review checklists</vt:lpstr>
      <vt:lpstr>Checklist questions</vt:lpstr>
      <vt:lpstr>Q&amp;A</vt:lpstr>
    </vt:vector>
  </TitlesOfParts>
  <Company>Private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Ammad</dc:creator>
  <cp:lastModifiedBy>Pc Planet</cp:lastModifiedBy>
  <cp:revision>358</cp:revision>
  <dcterms:created xsi:type="dcterms:W3CDTF">2001-01-05T12:38:16Z</dcterms:created>
  <dcterms:modified xsi:type="dcterms:W3CDTF">2023-05-04T03:55:29Z</dcterms:modified>
</cp:coreProperties>
</file>