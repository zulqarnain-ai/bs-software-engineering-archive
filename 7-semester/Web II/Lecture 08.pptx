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9" r:id="rId6"/>
    <p:sldId id="260" r:id="rId7"/>
    <p:sldId id="27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96" r:id="rId17"/>
    <p:sldId id="297" r:id="rId18"/>
    <p:sldId id="298" r:id="rId19"/>
    <p:sldId id="299" r:id="rId20"/>
    <p:sldId id="300" r:id="rId21"/>
    <p:sldId id="301" r:id="rId22"/>
    <p:sldId id="302" r:id="rId23"/>
    <p:sldId id="303" r:id="rId24"/>
    <p:sldId id="304" r:id="rId25"/>
    <p:sldId id="305" r:id="rId26"/>
    <p:sldId id="30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4244940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628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517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277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663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630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290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725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389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677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4433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17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5503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1151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8660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4029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755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297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MongoDB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MongoDB is a </a:t>
            </a:r>
            <a:r>
              <a:rPr lang="en-US" b="1" dirty="0"/>
              <a:t>NoSQL, document-based database</a:t>
            </a:r>
            <a:r>
              <a:rPr lang="en-US" dirty="0"/>
              <a:t> designed for high performance, high availability, and flexible scalability.</a:t>
            </a:r>
            <a:br>
              <a:rPr lang="en-US" dirty="0"/>
            </a:br>
            <a:r>
              <a:rPr lang="en-US" dirty="0"/>
              <a:t>Instead of storing data in tables (like MySQL or SQL Server), MongoDB stores data in </a:t>
            </a:r>
            <a:r>
              <a:rPr lang="en-US" b="1" dirty="0"/>
              <a:t>JSON-like documents</a:t>
            </a:r>
            <a:r>
              <a:rPr lang="en-US" dirty="0"/>
              <a:t> called </a:t>
            </a:r>
            <a:r>
              <a:rPr lang="en-US" b="1" dirty="0"/>
              <a:t>BSON</a:t>
            </a:r>
            <a:r>
              <a:rPr lang="en-US" dirty="0"/>
              <a:t>.</a:t>
            </a:r>
          </a:p>
          <a:p>
            <a:r>
              <a:rPr lang="en-US" b="1" dirty="0"/>
              <a:t>Key Characteristics:</a:t>
            </a:r>
          </a:p>
          <a:p>
            <a:r>
              <a:rPr lang="en-US" dirty="0"/>
              <a:t>Schema-less (Flexible document structure)</a:t>
            </a:r>
          </a:p>
          <a:p>
            <a:r>
              <a:rPr lang="en-US" dirty="0"/>
              <a:t>Stores data as Documents (key-value pairs)</a:t>
            </a:r>
          </a:p>
          <a:p>
            <a:r>
              <a:rPr lang="en-US" dirty="0"/>
              <a:t>Designed for cloud &amp; distributed systems</a:t>
            </a:r>
          </a:p>
          <a:p>
            <a:r>
              <a:rPr lang="en-US" dirty="0"/>
              <a:t>Highly scalable and performs better for big data &amp; real-time apps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History of MongoDB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3F84F85-F1AA-77C2-1476-00942A60003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2007: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Developed by </a:t>
            </a: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Dwight Merriman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Eliot Horowitz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Originally part of a PAAS company called </a:t>
            </a: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10gen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2009: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Open-sourced and released as a standalone NoSQL database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Later, 10gen became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MongoDB Inc.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Today, MongoDB is one of the most widely used NoSQL databases globally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Need for MongoDB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Traditional SQL databases struggle with:</a:t>
            </a:r>
          </a:p>
          <a:p>
            <a:r>
              <a:rPr lang="en-US" dirty="0"/>
              <a:t>Massive unstructured datasets</a:t>
            </a:r>
          </a:p>
          <a:p>
            <a:r>
              <a:rPr lang="en-US" dirty="0"/>
              <a:t>Rapidly changing requirements</a:t>
            </a:r>
          </a:p>
          <a:p>
            <a:r>
              <a:rPr lang="en-US" dirty="0"/>
              <a:t>Horizontal scaling</a:t>
            </a:r>
          </a:p>
          <a:p>
            <a:r>
              <a:rPr lang="en-US" dirty="0"/>
              <a:t>Real-time analytics</a:t>
            </a:r>
          </a:p>
          <a:p>
            <a:r>
              <a:rPr lang="en-US" dirty="0"/>
              <a:t>MongoDB solves these with:</a:t>
            </a:r>
          </a:p>
          <a:p>
            <a:r>
              <a:rPr lang="en-US" b="1" dirty="0"/>
              <a:t>Flexible schema</a:t>
            </a:r>
            <a:endParaRPr lang="en-US" dirty="0"/>
          </a:p>
          <a:p>
            <a:r>
              <a:rPr lang="en-US" b="1" dirty="0"/>
              <a:t>Distributed architecture</a:t>
            </a:r>
            <a:endParaRPr lang="en-US" dirty="0"/>
          </a:p>
          <a:p>
            <a:r>
              <a:rPr lang="en-US" b="1" dirty="0"/>
              <a:t>High read/write performance</a:t>
            </a:r>
            <a:endParaRPr lang="en-US" dirty="0"/>
          </a:p>
          <a:p>
            <a:r>
              <a:rPr lang="en-US" b="1" dirty="0"/>
              <a:t>Easy integration with JavaScript-based apps (React, Node.js)</a:t>
            </a:r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8749" y="-147709"/>
            <a:ext cx="7704667" cy="1981200"/>
          </a:xfrm>
        </p:spPr>
        <p:txBody>
          <a:bodyPr/>
          <a:lstStyle/>
          <a:p>
            <a:r>
              <a:rPr dirty="0"/>
              <a:t>MongoDB vs RDBMS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D34B131-D5B0-6199-436F-0B86C665E2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5636310"/>
              </p:ext>
            </p:extLst>
          </p:nvPr>
        </p:nvGraphicFramePr>
        <p:xfrm>
          <a:off x="457200" y="1601800"/>
          <a:ext cx="8229600" cy="28346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8021503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146624685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5338111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MongoDB (NoSQL)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RDBMS (SQL)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97279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Storage 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Documents (JSON/BSON)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Tables + Rows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19202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Schema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Schema-less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Fixed Schema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38190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Joins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Not preferred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Strong support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2469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Scaling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Horizontal (sharding)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Vertical (bigger server)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627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Transactions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Limited (improving)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Strong ACID support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15438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Best Use Case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Big data, agile apps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Structured data, consistent apps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1320984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0E42D03E-8063-10D1-F3BD-6E2F0245D7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84406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Differences Between MongoDB &amp; Traditional RDBMS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39DE3-B24D-7EFB-5096-9C8DEA593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Comparisons with Other NoSQL Databases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B0C5E7F-2991-97CD-EA62-8A571DA9F85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2400141"/>
          <a:ext cx="8229600" cy="292608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419133309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409711767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362307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41743966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1802334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MongoDB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Firebase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Cassandra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Redis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25354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Document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Realtime cloud DB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Wide column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In-memory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76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Query Language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Mongo Query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REST/SDK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CQL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Key-value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4299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Scaling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Easy horizontal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Google cloud scale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Massive scale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Fast in-memory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0528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Best For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Web apps, analytics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Mobile apps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Big analytics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Caching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39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7117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MongoDB: JSON-like documents, dynamic schema</a:t>
            </a:r>
          </a:p>
          <a:p>
            <a:r>
              <a:rPr dirty="0"/>
              <a:t>RDBMS: Structured tables, predefined schema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A841B-8F84-2EF8-4D0D-E7DF78981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MongoDB Works (Core Concepts)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D9A40-E83B-C228-D1FA-8D57E1A9CA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MongoDB uses:</a:t>
            </a:r>
          </a:p>
          <a:p>
            <a:r>
              <a:rPr lang="en-US" b="1" dirty="0"/>
              <a:t>Document</a:t>
            </a:r>
            <a:r>
              <a:rPr lang="en-US" dirty="0"/>
              <a:t> → basic unit (JSON object)</a:t>
            </a:r>
          </a:p>
          <a:p>
            <a:r>
              <a:rPr lang="en-US" b="1" dirty="0"/>
              <a:t>Collection</a:t>
            </a:r>
            <a:r>
              <a:rPr lang="en-US" dirty="0"/>
              <a:t> → group of documents</a:t>
            </a:r>
          </a:p>
          <a:p>
            <a:r>
              <a:rPr lang="en-US" b="1" dirty="0"/>
              <a:t>Database</a:t>
            </a:r>
            <a:r>
              <a:rPr lang="en-US" dirty="0"/>
              <a:t> → container of collections</a:t>
            </a:r>
          </a:p>
          <a:p>
            <a:r>
              <a:rPr lang="en-US" b="1" dirty="0" err="1"/>
              <a:t>MongoD</a:t>
            </a:r>
            <a:r>
              <a:rPr lang="en-US" dirty="0"/>
              <a:t> → database engine</a:t>
            </a:r>
          </a:p>
          <a:p>
            <a:r>
              <a:rPr lang="en-US" b="1" dirty="0"/>
              <a:t>Mongo Shell</a:t>
            </a:r>
            <a:r>
              <a:rPr lang="en-US" dirty="0"/>
              <a:t> → command-line interface</a:t>
            </a:r>
          </a:p>
          <a:p>
            <a:r>
              <a:rPr lang="en-US" b="1" dirty="0"/>
              <a:t>Drivers</a:t>
            </a:r>
            <a:r>
              <a:rPr lang="en-US" dirty="0"/>
              <a:t> → Node.js, Python, Java, etc.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5748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MongoDB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Data is stored in collections</a:t>
            </a:r>
          </a:p>
          <a:p>
            <a:r>
              <a:t>Each record is a BSON document</a:t>
            </a:r>
          </a:p>
          <a:p>
            <a:r>
              <a:t>Uses indexes for performance</a:t>
            </a:r>
          </a:p>
          <a:p>
            <a:r>
              <a:t>Supports replication &amp; sharding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Database → Collection → Document</a:t>
            </a:r>
          </a:p>
          <a:p>
            <a:r>
              <a:t>Document = Key-value pairs</a:t>
            </a:r>
          </a:p>
          <a:p>
            <a:r>
              <a:t>BSON = Binary JSON for efficient storage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Installation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Download installer from mongodb.com</a:t>
            </a:r>
          </a:p>
          <a:p>
            <a:r>
              <a:t>Install MongoDB Community Edition</a:t>
            </a:r>
          </a:p>
          <a:p>
            <a:r>
              <a:t>Run MongoDB server (mongod)</a:t>
            </a:r>
          </a:p>
          <a:p>
            <a:r>
              <a:t>Use MongoDB Compass for GUI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Keywords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Database, Collection, Document</a:t>
            </a:r>
          </a:p>
          <a:p>
            <a:r>
              <a:t>Index, Aggregation</a:t>
            </a:r>
          </a:p>
          <a:p>
            <a:r>
              <a:t>Replica Set, Sharding, BSON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CRUD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Create → db.items.insertOne({})</a:t>
            </a:r>
          </a:p>
          <a:p>
            <a:r>
              <a:t>Read → db.items.find()</a:t>
            </a:r>
          </a:p>
          <a:p>
            <a:r>
              <a:t>Update → db.items.updateOne()</a:t>
            </a:r>
          </a:p>
          <a:p>
            <a:r>
              <a:t>Delete → db.items.deleteOne()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Access MongoDB in React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Use Express.js backend</a:t>
            </a:r>
          </a:p>
          <a:p>
            <a:r>
              <a:rPr dirty="0"/>
              <a:t>Connect Express to MongoDB using Mongoose</a:t>
            </a:r>
          </a:p>
          <a:p>
            <a:r>
              <a:rPr dirty="0"/>
              <a:t>Send data to React via API</a:t>
            </a:r>
          </a:p>
          <a:p>
            <a:r>
              <a:rPr dirty="0"/>
              <a:t>React fetches using Fetch API or Axios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to Use MongoDB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Fast-changing requirements</a:t>
            </a:r>
          </a:p>
          <a:p>
            <a:r>
              <a:t>Unstructured or semi-structured data</a:t>
            </a:r>
          </a:p>
          <a:p>
            <a:r>
              <a:t>High scalability requirements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Scalability &amp; Usability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Sharding enables large-scale data distribution</a:t>
            </a:r>
          </a:p>
          <a:p>
            <a:r>
              <a:t>Document model is intuitive and easy</a:t>
            </a:r>
          </a:p>
          <a:p>
            <a:r>
              <a:t>Accessible from almost all major programming languages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143000" y="1783556"/>
            <a:ext cx="6858000" cy="239316"/>
          </a:xfrm>
          <a:custGeom>
            <a:avLst/>
            <a:gdLst>
              <a:gd name="connsiteX0" fmla="*/ 0 w 9144000"/>
              <a:gd name="connsiteY0" fmla="*/ 320040 h 320040"/>
              <a:gd name="connsiteX1" fmla="*/ 9144000 w 9144000"/>
              <a:gd name="connsiteY1" fmla="*/ 320040 h 320040"/>
              <a:gd name="connsiteX2" fmla="*/ 9144000 w 9144000"/>
              <a:gd name="connsiteY2" fmla="*/ 0 h 320040"/>
              <a:gd name="connsiteX3" fmla="*/ 0 w 9144000"/>
              <a:gd name="connsiteY3" fmla="*/ 0 h 320040"/>
              <a:gd name="connsiteX4" fmla="*/ 0 w 9144000"/>
              <a:gd name="connsiteY4" fmla="*/ 320040 h 32004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320040">
                <a:moveTo>
                  <a:pt x="0" y="320040"/>
                </a:moveTo>
                <a:lnTo>
                  <a:pt x="9144000" y="320040"/>
                </a:lnTo>
                <a:lnTo>
                  <a:pt x="9144000" y="0"/>
                </a:lnTo>
                <a:lnTo>
                  <a:pt x="0" y="0"/>
                </a:lnTo>
                <a:lnTo>
                  <a:pt x="0" y="32004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48" tIns="34274" rIns="68548" bIns="34274" anchor="ctr"/>
          <a:lstStyle/>
          <a:p>
            <a:pPr algn="ctr" defTabSz="685800">
              <a:spcBef>
                <a:spcPct val="20000"/>
              </a:spcBef>
              <a:buFontTx/>
              <a:buChar char="•"/>
              <a:defRPr/>
            </a:pPr>
            <a:endParaRPr lang="zh-CN" altLang="en-US" sz="1350">
              <a:solidFill>
                <a:prstClr val="white"/>
              </a:solidFill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467139" y="1816894"/>
            <a:ext cx="7533861" cy="205979"/>
            <a:chOff x="1524000" y="1279525"/>
            <a:chExt cx="9144000" cy="228600"/>
          </a:xfrm>
        </p:grpSpPr>
        <p:sp>
          <p:nvSpPr>
            <p:cNvPr id="5" name="Freeform 3"/>
            <p:cNvSpPr/>
            <p:nvPr/>
          </p:nvSpPr>
          <p:spPr>
            <a:xfrm>
              <a:off x="1524000" y="1279525"/>
              <a:ext cx="533400" cy="228600"/>
            </a:xfrm>
            <a:custGeom>
              <a:avLst/>
              <a:gdLst>
                <a:gd name="connsiteX0" fmla="*/ 0 w 533400"/>
                <a:gd name="connsiteY0" fmla="*/ 228600 h 228600"/>
                <a:gd name="connsiteX1" fmla="*/ 533400 w 533400"/>
                <a:gd name="connsiteY1" fmla="*/ 228600 h 228600"/>
                <a:gd name="connsiteX2" fmla="*/ 533400 w 533400"/>
                <a:gd name="connsiteY2" fmla="*/ 0 h 228600"/>
                <a:gd name="connsiteX3" fmla="*/ 0 w 533400"/>
                <a:gd name="connsiteY3" fmla="*/ 0 h 228600"/>
                <a:gd name="connsiteX4" fmla="*/ 0 w 533400"/>
                <a:gd name="connsiteY4" fmla="*/ 228600 h 2286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  <a:cxn ang="2">
                  <a:pos x="connsiteX2" y="connsiteY2"/>
                </a:cxn>
                <a:cxn ang="3">
                  <a:pos x="connsiteX3" y="connsiteY3"/>
                </a:cxn>
                <a:cxn ang="4">
                  <a:pos x="connsiteX4" y="connsiteY4"/>
                </a:cxn>
              </a:cxnLst>
              <a:rect l="l" t="t" r="r" b="b"/>
              <a:pathLst>
                <a:path w="533400" h="228600">
                  <a:moveTo>
                    <a:pt x="0" y="228600"/>
                  </a:moveTo>
                  <a:lnTo>
                    <a:pt x="533400" y="228600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228600"/>
                  </a:lnTo>
                </a:path>
              </a:pathLst>
            </a:custGeom>
            <a:solidFill>
              <a:srgbClr val="CC8E60">
                <a:alpha val="10000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48" tIns="34274" rIns="68548" bIns="34274" anchor="ctr"/>
            <a:lstStyle/>
            <a:p>
              <a:pPr algn="ctr" defTabSz="685800">
                <a:spcBef>
                  <a:spcPct val="20000"/>
                </a:spcBef>
                <a:buFontTx/>
                <a:buChar char="•"/>
                <a:defRPr/>
              </a:pPr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6" name="Freeform 3"/>
            <p:cNvSpPr/>
            <p:nvPr/>
          </p:nvSpPr>
          <p:spPr>
            <a:xfrm>
              <a:off x="2114550" y="1279525"/>
              <a:ext cx="8553450" cy="228600"/>
            </a:xfrm>
            <a:custGeom>
              <a:avLst/>
              <a:gdLst>
                <a:gd name="connsiteX0" fmla="*/ 0 w 8553450"/>
                <a:gd name="connsiteY0" fmla="*/ 228600 h 228600"/>
                <a:gd name="connsiteX1" fmla="*/ 8553450 w 8553450"/>
                <a:gd name="connsiteY1" fmla="*/ 228600 h 228600"/>
                <a:gd name="connsiteX2" fmla="*/ 8553450 w 8553450"/>
                <a:gd name="connsiteY2" fmla="*/ 0 h 228600"/>
                <a:gd name="connsiteX3" fmla="*/ 0 w 8553450"/>
                <a:gd name="connsiteY3" fmla="*/ 0 h 228600"/>
                <a:gd name="connsiteX4" fmla="*/ 0 w 8553450"/>
                <a:gd name="connsiteY4" fmla="*/ 228600 h 2286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  <a:cxn ang="2">
                  <a:pos x="connsiteX2" y="connsiteY2"/>
                </a:cxn>
                <a:cxn ang="3">
                  <a:pos x="connsiteX3" y="connsiteY3"/>
                </a:cxn>
                <a:cxn ang="4">
                  <a:pos x="connsiteX4" y="connsiteY4"/>
                </a:cxn>
              </a:cxnLst>
              <a:rect l="l" t="t" r="r" b="b"/>
              <a:pathLst>
                <a:path w="8553450" h="228600">
                  <a:moveTo>
                    <a:pt x="0" y="228600"/>
                  </a:moveTo>
                  <a:lnTo>
                    <a:pt x="8553450" y="228600"/>
                  </a:lnTo>
                  <a:lnTo>
                    <a:pt x="8553450" y="0"/>
                  </a:lnTo>
                  <a:lnTo>
                    <a:pt x="0" y="0"/>
                  </a:lnTo>
                  <a:lnTo>
                    <a:pt x="0" y="228600"/>
                  </a:lnTo>
                </a:path>
              </a:pathLst>
            </a:custGeom>
            <a:solidFill>
              <a:srgbClr val="7E97AD">
                <a:alpha val="10000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48" tIns="34274" rIns="68548" bIns="34274" anchor="ctr"/>
            <a:lstStyle/>
            <a:p>
              <a:pPr algn="ctr" defTabSz="685800">
                <a:spcBef>
                  <a:spcPct val="20000"/>
                </a:spcBef>
                <a:buFontTx/>
                <a:buChar char="•"/>
                <a:defRPr/>
              </a:pPr>
              <a:endParaRPr lang="zh-CN" altLang="en-US" sz="1350">
                <a:solidFill>
                  <a:prstClr val="white"/>
                </a:solidFill>
              </a:endParaRPr>
            </a:p>
          </p:txBody>
        </p:sp>
      </p:grpSp>
      <p:sp>
        <p:nvSpPr>
          <p:cNvPr id="6151" name="TextBox 1"/>
          <p:cNvSpPr txBox="1">
            <a:spLocks noChangeArrowheads="1"/>
          </p:cNvSpPr>
          <p:nvPr/>
        </p:nvSpPr>
        <p:spPr bwMode="auto">
          <a:xfrm>
            <a:off x="467140" y="1177241"/>
            <a:ext cx="3482107" cy="4981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34274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685800">
              <a:lnSpc>
                <a:spcPts val="3450"/>
              </a:lnSpc>
              <a:buNone/>
            </a:pPr>
            <a:r>
              <a:rPr lang="en-US" sz="3300" b="1" dirty="0">
                <a:solidFill>
                  <a:srgbClr val="002060"/>
                </a:solidFill>
              </a:rPr>
              <a:t>Project Connection</a:t>
            </a:r>
            <a:endParaRPr lang="en-US" altLang="zh-CN" sz="3300" b="1" dirty="0">
              <a:solidFill>
                <a:srgbClr val="002060"/>
              </a:solidFill>
              <a:latin typeface="Lucida Sans Unicode" panose="020B0602030504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854839" y="3488985"/>
            <a:ext cx="451054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>
              <a:solidFill>
                <a:schemeClr val="accent2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008" y="2169138"/>
            <a:ext cx="7022206" cy="3634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9653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143000" y="1783556"/>
            <a:ext cx="6858000" cy="239316"/>
          </a:xfrm>
          <a:custGeom>
            <a:avLst/>
            <a:gdLst>
              <a:gd name="connsiteX0" fmla="*/ 0 w 9144000"/>
              <a:gd name="connsiteY0" fmla="*/ 320040 h 320040"/>
              <a:gd name="connsiteX1" fmla="*/ 9144000 w 9144000"/>
              <a:gd name="connsiteY1" fmla="*/ 320040 h 320040"/>
              <a:gd name="connsiteX2" fmla="*/ 9144000 w 9144000"/>
              <a:gd name="connsiteY2" fmla="*/ 0 h 320040"/>
              <a:gd name="connsiteX3" fmla="*/ 0 w 9144000"/>
              <a:gd name="connsiteY3" fmla="*/ 0 h 320040"/>
              <a:gd name="connsiteX4" fmla="*/ 0 w 9144000"/>
              <a:gd name="connsiteY4" fmla="*/ 320040 h 32004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320040">
                <a:moveTo>
                  <a:pt x="0" y="320040"/>
                </a:moveTo>
                <a:lnTo>
                  <a:pt x="9144000" y="320040"/>
                </a:lnTo>
                <a:lnTo>
                  <a:pt x="9144000" y="0"/>
                </a:lnTo>
                <a:lnTo>
                  <a:pt x="0" y="0"/>
                </a:lnTo>
                <a:lnTo>
                  <a:pt x="0" y="32004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48" tIns="34274" rIns="68548" bIns="34274" anchor="ctr"/>
          <a:lstStyle/>
          <a:p>
            <a:pPr algn="ctr" defTabSz="685800">
              <a:spcBef>
                <a:spcPct val="20000"/>
              </a:spcBef>
              <a:buFontTx/>
              <a:buChar char="•"/>
              <a:defRPr/>
            </a:pPr>
            <a:endParaRPr lang="zh-CN" altLang="en-US" sz="1350">
              <a:solidFill>
                <a:prstClr val="white"/>
              </a:solidFill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467139" y="1816894"/>
            <a:ext cx="7533861" cy="205979"/>
            <a:chOff x="1524000" y="1279525"/>
            <a:chExt cx="9144000" cy="228600"/>
          </a:xfrm>
        </p:grpSpPr>
        <p:sp>
          <p:nvSpPr>
            <p:cNvPr id="5" name="Freeform 3"/>
            <p:cNvSpPr/>
            <p:nvPr/>
          </p:nvSpPr>
          <p:spPr>
            <a:xfrm>
              <a:off x="1524000" y="1279525"/>
              <a:ext cx="533400" cy="228600"/>
            </a:xfrm>
            <a:custGeom>
              <a:avLst/>
              <a:gdLst>
                <a:gd name="connsiteX0" fmla="*/ 0 w 533400"/>
                <a:gd name="connsiteY0" fmla="*/ 228600 h 228600"/>
                <a:gd name="connsiteX1" fmla="*/ 533400 w 533400"/>
                <a:gd name="connsiteY1" fmla="*/ 228600 h 228600"/>
                <a:gd name="connsiteX2" fmla="*/ 533400 w 533400"/>
                <a:gd name="connsiteY2" fmla="*/ 0 h 228600"/>
                <a:gd name="connsiteX3" fmla="*/ 0 w 533400"/>
                <a:gd name="connsiteY3" fmla="*/ 0 h 228600"/>
                <a:gd name="connsiteX4" fmla="*/ 0 w 533400"/>
                <a:gd name="connsiteY4" fmla="*/ 228600 h 2286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  <a:cxn ang="2">
                  <a:pos x="connsiteX2" y="connsiteY2"/>
                </a:cxn>
                <a:cxn ang="3">
                  <a:pos x="connsiteX3" y="connsiteY3"/>
                </a:cxn>
                <a:cxn ang="4">
                  <a:pos x="connsiteX4" y="connsiteY4"/>
                </a:cxn>
              </a:cxnLst>
              <a:rect l="l" t="t" r="r" b="b"/>
              <a:pathLst>
                <a:path w="533400" h="228600">
                  <a:moveTo>
                    <a:pt x="0" y="228600"/>
                  </a:moveTo>
                  <a:lnTo>
                    <a:pt x="533400" y="228600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228600"/>
                  </a:lnTo>
                </a:path>
              </a:pathLst>
            </a:custGeom>
            <a:solidFill>
              <a:srgbClr val="CC8E60">
                <a:alpha val="10000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48" tIns="34274" rIns="68548" bIns="34274" anchor="ctr"/>
            <a:lstStyle/>
            <a:p>
              <a:pPr algn="ctr" defTabSz="685800">
                <a:spcBef>
                  <a:spcPct val="20000"/>
                </a:spcBef>
                <a:buFontTx/>
                <a:buChar char="•"/>
                <a:defRPr/>
              </a:pPr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6" name="Freeform 3"/>
            <p:cNvSpPr/>
            <p:nvPr/>
          </p:nvSpPr>
          <p:spPr>
            <a:xfrm>
              <a:off x="2114550" y="1279525"/>
              <a:ext cx="8553450" cy="228600"/>
            </a:xfrm>
            <a:custGeom>
              <a:avLst/>
              <a:gdLst>
                <a:gd name="connsiteX0" fmla="*/ 0 w 8553450"/>
                <a:gd name="connsiteY0" fmla="*/ 228600 h 228600"/>
                <a:gd name="connsiteX1" fmla="*/ 8553450 w 8553450"/>
                <a:gd name="connsiteY1" fmla="*/ 228600 h 228600"/>
                <a:gd name="connsiteX2" fmla="*/ 8553450 w 8553450"/>
                <a:gd name="connsiteY2" fmla="*/ 0 h 228600"/>
                <a:gd name="connsiteX3" fmla="*/ 0 w 8553450"/>
                <a:gd name="connsiteY3" fmla="*/ 0 h 228600"/>
                <a:gd name="connsiteX4" fmla="*/ 0 w 8553450"/>
                <a:gd name="connsiteY4" fmla="*/ 228600 h 2286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  <a:cxn ang="2">
                  <a:pos x="connsiteX2" y="connsiteY2"/>
                </a:cxn>
                <a:cxn ang="3">
                  <a:pos x="connsiteX3" y="connsiteY3"/>
                </a:cxn>
                <a:cxn ang="4">
                  <a:pos x="connsiteX4" y="connsiteY4"/>
                </a:cxn>
              </a:cxnLst>
              <a:rect l="l" t="t" r="r" b="b"/>
              <a:pathLst>
                <a:path w="8553450" h="228600">
                  <a:moveTo>
                    <a:pt x="0" y="228600"/>
                  </a:moveTo>
                  <a:lnTo>
                    <a:pt x="8553450" y="228600"/>
                  </a:lnTo>
                  <a:lnTo>
                    <a:pt x="8553450" y="0"/>
                  </a:lnTo>
                  <a:lnTo>
                    <a:pt x="0" y="0"/>
                  </a:lnTo>
                  <a:lnTo>
                    <a:pt x="0" y="228600"/>
                  </a:lnTo>
                </a:path>
              </a:pathLst>
            </a:custGeom>
            <a:solidFill>
              <a:srgbClr val="7E97AD">
                <a:alpha val="10000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48" tIns="34274" rIns="68548" bIns="34274" anchor="ctr"/>
            <a:lstStyle/>
            <a:p>
              <a:pPr algn="ctr" defTabSz="685800">
                <a:spcBef>
                  <a:spcPct val="20000"/>
                </a:spcBef>
                <a:buFontTx/>
                <a:buChar char="•"/>
                <a:defRPr/>
              </a:pPr>
              <a:endParaRPr lang="zh-CN" altLang="en-US" sz="1350">
                <a:solidFill>
                  <a:prstClr val="white"/>
                </a:solidFill>
              </a:endParaRPr>
            </a:p>
          </p:txBody>
        </p:sp>
      </p:grpSp>
      <p:sp>
        <p:nvSpPr>
          <p:cNvPr id="6151" name="TextBox 1"/>
          <p:cNvSpPr txBox="1">
            <a:spLocks noChangeArrowheads="1"/>
          </p:cNvSpPr>
          <p:nvPr/>
        </p:nvSpPr>
        <p:spPr bwMode="auto">
          <a:xfrm>
            <a:off x="467139" y="1177241"/>
            <a:ext cx="2801536" cy="4981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34274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685800">
              <a:lnSpc>
                <a:spcPts val="3450"/>
              </a:lnSpc>
              <a:buNone/>
            </a:pPr>
            <a:r>
              <a:rPr lang="en-US" sz="3300" b="1" dirty="0">
                <a:solidFill>
                  <a:srgbClr val="002060"/>
                </a:solidFill>
              </a:rPr>
              <a:t>Create Account</a:t>
            </a:r>
            <a:endParaRPr lang="en-US" altLang="zh-CN" sz="3300" b="1" dirty="0">
              <a:solidFill>
                <a:srgbClr val="002060"/>
              </a:solidFill>
              <a:latin typeface="Lucida Sans Unicode" panose="020B0602030504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854839" y="3488985"/>
            <a:ext cx="451054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>
              <a:solidFill>
                <a:schemeClr val="accent2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139" y="2599588"/>
            <a:ext cx="8201025" cy="1778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1313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143000" y="1783556"/>
            <a:ext cx="6858000" cy="239316"/>
          </a:xfrm>
          <a:custGeom>
            <a:avLst/>
            <a:gdLst>
              <a:gd name="connsiteX0" fmla="*/ 0 w 9144000"/>
              <a:gd name="connsiteY0" fmla="*/ 320040 h 320040"/>
              <a:gd name="connsiteX1" fmla="*/ 9144000 w 9144000"/>
              <a:gd name="connsiteY1" fmla="*/ 320040 h 320040"/>
              <a:gd name="connsiteX2" fmla="*/ 9144000 w 9144000"/>
              <a:gd name="connsiteY2" fmla="*/ 0 h 320040"/>
              <a:gd name="connsiteX3" fmla="*/ 0 w 9144000"/>
              <a:gd name="connsiteY3" fmla="*/ 0 h 320040"/>
              <a:gd name="connsiteX4" fmla="*/ 0 w 9144000"/>
              <a:gd name="connsiteY4" fmla="*/ 320040 h 32004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320040">
                <a:moveTo>
                  <a:pt x="0" y="320040"/>
                </a:moveTo>
                <a:lnTo>
                  <a:pt x="9144000" y="320040"/>
                </a:lnTo>
                <a:lnTo>
                  <a:pt x="9144000" y="0"/>
                </a:lnTo>
                <a:lnTo>
                  <a:pt x="0" y="0"/>
                </a:lnTo>
                <a:lnTo>
                  <a:pt x="0" y="32004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48" tIns="34274" rIns="68548" bIns="34274" anchor="ctr"/>
          <a:lstStyle/>
          <a:p>
            <a:pPr algn="ctr" defTabSz="685800">
              <a:spcBef>
                <a:spcPct val="20000"/>
              </a:spcBef>
              <a:buFontTx/>
              <a:buChar char="•"/>
              <a:defRPr/>
            </a:pPr>
            <a:endParaRPr lang="zh-CN" altLang="en-US" sz="1350">
              <a:solidFill>
                <a:prstClr val="white"/>
              </a:solidFill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467139" y="1816894"/>
            <a:ext cx="7533861" cy="205979"/>
            <a:chOff x="1524000" y="1279525"/>
            <a:chExt cx="9144000" cy="228600"/>
          </a:xfrm>
        </p:grpSpPr>
        <p:sp>
          <p:nvSpPr>
            <p:cNvPr id="5" name="Freeform 3"/>
            <p:cNvSpPr/>
            <p:nvPr/>
          </p:nvSpPr>
          <p:spPr>
            <a:xfrm>
              <a:off x="1524000" y="1279525"/>
              <a:ext cx="533400" cy="228600"/>
            </a:xfrm>
            <a:custGeom>
              <a:avLst/>
              <a:gdLst>
                <a:gd name="connsiteX0" fmla="*/ 0 w 533400"/>
                <a:gd name="connsiteY0" fmla="*/ 228600 h 228600"/>
                <a:gd name="connsiteX1" fmla="*/ 533400 w 533400"/>
                <a:gd name="connsiteY1" fmla="*/ 228600 h 228600"/>
                <a:gd name="connsiteX2" fmla="*/ 533400 w 533400"/>
                <a:gd name="connsiteY2" fmla="*/ 0 h 228600"/>
                <a:gd name="connsiteX3" fmla="*/ 0 w 533400"/>
                <a:gd name="connsiteY3" fmla="*/ 0 h 228600"/>
                <a:gd name="connsiteX4" fmla="*/ 0 w 533400"/>
                <a:gd name="connsiteY4" fmla="*/ 228600 h 2286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  <a:cxn ang="2">
                  <a:pos x="connsiteX2" y="connsiteY2"/>
                </a:cxn>
                <a:cxn ang="3">
                  <a:pos x="connsiteX3" y="connsiteY3"/>
                </a:cxn>
                <a:cxn ang="4">
                  <a:pos x="connsiteX4" y="connsiteY4"/>
                </a:cxn>
              </a:cxnLst>
              <a:rect l="l" t="t" r="r" b="b"/>
              <a:pathLst>
                <a:path w="533400" h="228600">
                  <a:moveTo>
                    <a:pt x="0" y="228600"/>
                  </a:moveTo>
                  <a:lnTo>
                    <a:pt x="533400" y="228600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228600"/>
                  </a:lnTo>
                </a:path>
              </a:pathLst>
            </a:custGeom>
            <a:solidFill>
              <a:srgbClr val="CC8E60">
                <a:alpha val="10000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48" tIns="34274" rIns="68548" bIns="34274" anchor="ctr"/>
            <a:lstStyle/>
            <a:p>
              <a:pPr algn="ctr" defTabSz="685800">
                <a:spcBef>
                  <a:spcPct val="20000"/>
                </a:spcBef>
                <a:buFontTx/>
                <a:buChar char="•"/>
                <a:defRPr/>
              </a:pPr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6" name="Freeform 3"/>
            <p:cNvSpPr/>
            <p:nvPr/>
          </p:nvSpPr>
          <p:spPr>
            <a:xfrm>
              <a:off x="2114550" y="1279525"/>
              <a:ext cx="8553450" cy="228600"/>
            </a:xfrm>
            <a:custGeom>
              <a:avLst/>
              <a:gdLst>
                <a:gd name="connsiteX0" fmla="*/ 0 w 8553450"/>
                <a:gd name="connsiteY0" fmla="*/ 228600 h 228600"/>
                <a:gd name="connsiteX1" fmla="*/ 8553450 w 8553450"/>
                <a:gd name="connsiteY1" fmla="*/ 228600 h 228600"/>
                <a:gd name="connsiteX2" fmla="*/ 8553450 w 8553450"/>
                <a:gd name="connsiteY2" fmla="*/ 0 h 228600"/>
                <a:gd name="connsiteX3" fmla="*/ 0 w 8553450"/>
                <a:gd name="connsiteY3" fmla="*/ 0 h 228600"/>
                <a:gd name="connsiteX4" fmla="*/ 0 w 8553450"/>
                <a:gd name="connsiteY4" fmla="*/ 228600 h 2286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  <a:cxn ang="2">
                  <a:pos x="connsiteX2" y="connsiteY2"/>
                </a:cxn>
                <a:cxn ang="3">
                  <a:pos x="connsiteX3" y="connsiteY3"/>
                </a:cxn>
                <a:cxn ang="4">
                  <a:pos x="connsiteX4" y="connsiteY4"/>
                </a:cxn>
              </a:cxnLst>
              <a:rect l="l" t="t" r="r" b="b"/>
              <a:pathLst>
                <a:path w="8553450" h="228600">
                  <a:moveTo>
                    <a:pt x="0" y="228600"/>
                  </a:moveTo>
                  <a:lnTo>
                    <a:pt x="8553450" y="228600"/>
                  </a:lnTo>
                  <a:lnTo>
                    <a:pt x="8553450" y="0"/>
                  </a:lnTo>
                  <a:lnTo>
                    <a:pt x="0" y="0"/>
                  </a:lnTo>
                  <a:lnTo>
                    <a:pt x="0" y="228600"/>
                  </a:lnTo>
                </a:path>
              </a:pathLst>
            </a:custGeom>
            <a:solidFill>
              <a:srgbClr val="7E97AD">
                <a:alpha val="10000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48" tIns="34274" rIns="68548" bIns="34274" anchor="ctr"/>
            <a:lstStyle/>
            <a:p>
              <a:pPr algn="ctr" defTabSz="685800">
                <a:spcBef>
                  <a:spcPct val="20000"/>
                </a:spcBef>
                <a:buFontTx/>
                <a:buChar char="•"/>
                <a:defRPr/>
              </a:pPr>
              <a:endParaRPr lang="zh-CN" altLang="en-US" sz="1350">
                <a:solidFill>
                  <a:prstClr val="white"/>
                </a:solidFill>
              </a:endParaRPr>
            </a:p>
          </p:txBody>
        </p:sp>
      </p:grpSp>
      <p:sp>
        <p:nvSpPr>
          <p:cNvPr id="6151" name="TextBox 1"/>
          <p:cNvSpPr txBox="1">
            <a:spLocks noChangeArrowheads="1"/>
          </p:cNvSpPr>
          <p:nvPr/>
        </p:nvSpPr>
        <p:spPr bwMode="auto">
          <a:xfrm>
            <a:off x="467139" y="1177241"/>
            <a:ext cx="2801536" cy="4981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34274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685800">
              <a:lnSpc>
                <a:spcPts val="3450"/>
              </a:lnSpc>
              <a:buNone/>
            </a:pPr>
            <a:r>
              <a:rPr lang="en-US" sz="3300" b="1" dirty="0">
                <a:solidFill>
                  <a:srgbClr val="002060"/>
                </a:solidFill>
              </a:rPr>
              <a:t>Create Account</a:t>
            </a:r>
            <a:endParaRPr lang="en-US" altLang="zh-CN" sz="3300" b="1" dirty="0">
              <a:solidFill>
                <a:srgbClr val="002060"/>
              </a:solidFill>
              <a:latin typeface="Lucida Sans Unicode" panose="020B0602030504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854839" y="3488985"/>
            <a:ext cx="451054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>
              <a:solidFill>
                <a:schemeClr val="accent2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029" y="2359848"/>
            <a:ext cx="5564981" cy="3401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1209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143000" y="1783556"/>
            <a:ext cx="6858000" cy="239316"/>
          </a:xfrm>
          <a:custGeom>
            <a:avLst/>
            <a:gdLst>
              <a:gd name="connsiteX0" fmla="*/ 0 w 9144000"/>
              <a:gd name="connsiteY0" fmla="*/ 320040 h 320040"/>
              <a:gd name="connsiteX1" fmla="*/ 9144000 w 9144000"/>
              <a:gd name="connsiteY1" fmla="*/ 320040 h 320040"/>
              <a:gd name="connsiteX2" fmla="*/ 9144000 w 9144000"/>
              <a:gd name="connsiteY2" fmla="*/ 0 h 320040"/>
              <a:gd name="connsiteX3" fmla="*/ 0 w 9144000"/>
              <a:gd name="connsiteY3" fmla="*/ 0 h 320040"/>
              <a:gd name="connsiteX4" fmla="*/ 0 w 9144000"/>
              <a:gd name="connsiteY4" fmla="*/ 320040 h 32004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320040">
                <a:moveTo>
                  <a:pt x="0" y="320040"/>
                </a:moveTo>
                <a:lnTo>
                  <a:pt x="9144000" y="320040"/>
                </a:lnTo>
                <a:lnTo>
                  <a:pt x="9144000" y="0"/>
                </a:lnTo>
                <a:lnTo>
                  <a:pt x="0" y="0"/>
                </a:lnTo>
                <a:lnTo>
                  <a:pt x="0" y="32004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48" tIns="34274" rIns="68548" bIns="34274" anchor="ctr"/>
          <a:lstStyle/>
          <a:p>
            <a:pPr algn="ctr" defTabSz="685800">
              <a:spcBef>
                <a:spcPct val="20000"/>
              </a:spcBef>
              <a:buFontTx/>
              <a:buChar char="•"/>
              <a:defRPr/>
            </a:pPr>
            <a:endParaRPr lang="zh-CN" altLang="en-US" sz="1350">
              <a:solidFill>
                <a:prstClr val="white"/>
              </a:solidFill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467139" y="1816894"/>
            <a:ext cx="7533861" cy="205979"/>
            <a:chOff x="1524000" y="1279525"/>
            <a:chExt cx="9144000" cy="228600"/>
          </a:xfrm>
        </p:grpSpPr>
        <p:sp>
          <p:nvSpPr>
            <p:cNvPr id="5" name="Freeform 3"/>
            <p:cNvSpPr/>
            <p:nvPr/>
          </p:nvSpPr>
          <p:spPr>
            <a:xfrm>
              <a:off x="1524000" y="1279525"/>
              <a:ext cx="533400" cy="228600"/>
            </a:xfrm>
            <a:custGeom>
              <a:avLst/>
              <a:gdLst>
                <a:gd name="connsiteX0" fmla="*/ 0 w 533400"/>
                <a:gd name="connsiteY0" fmla="*/ 228600 h 228600"/>
                <a:gd name="connsiteX1" fmla="*/ 533400 w 533400"/>
                <a:gd name="connsiteY1" fmla="*/ 228600 h 228600"/>
                <a:gd name="connsiteX2" fmla="*/ 533400 w 533400"/>
                <a:gd name="connsiteY2" fmla="*/ 0 h 228600"/>
                <a:gd name="connsiteX3" fmla="*/ 0 w 533400"/>
                <a:gd name="connsiteY3" fmla="*/ 0 h 228600"/>
                <a:gd name="connsiteX4" fmla="*/ 0 w 533400"/>
                <a:gd name="connsiteY4" fmla="*/ 228600 h 2286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  <a:cxn ang="2">
                  <a:pos x="connsiteX2" y="connsiteY2"/>
                </a:cxn>
                <a:cxn ang="3">
                  <a:pos x="connsiteX3" y="connsiteY3"/>
                </a:cxn>
                <a:cxn ang="4">
                  <a:pos x="connsiteX4" y="connsiteY4"/>
                </a:cxn>
              </a:cxnLst>
              <a:rect l="l" t="t" r="r" b="b"/>
              <a:pathLst>
                <a:path w="533400" h="228600">
                  <a:moveTo>
                    <a:pt x="0" y="228600"/>
                  </a:moveTo>
                  <a:lnTo>
                    <a:pt x="533400" y="228600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228600"/>
                  </a:lnTo>
                </a:path>
              </a:pathLst>
            </a:custGeom>
            <a:solidFill>
              <a:srgbClr val="CC8E60">
                <a:alpha val="10000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48" tIns="34274" rIns="68548" bIns="34274" anchor="ctr"/>
            <a:lstStyle/>
            <a:p>
              <a:pPr algn="ctr" defTabSz="685800">
                <a:spcBef>
                  <a:spcPct val="20000"/>
                </a:spcBef>
                <a:buFontTx/>
                <a:buChar char="•"/>
                <a:defRPr/>
              </a:pPr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6" name="Freeform 3"/>
            <p:cNvSpPr/>
            <p:nvPr/>
          </p:nvSpPr>
          <p:spPr>
            <a:xfrm>
              <a:off x="2114550" y="1279525"/>
              <a:ext cx="8553450" cy="228600"/>
            </a:xfrm>
            <a:custGeom>
              <a:avLst/>
              <a:gdLst>
                <a:gd name="connsiteX0" fmla="*/ 0 w 8553450"/>
                <a:gd name="connsiteY0" fmla="*/ 228600 h 228600"/>
                <a:gd name="connsiteX1" fmla="*/ 8553450 w 8553450"/>
                <a:gd name="connsiteY1" fmla="*/ 228600 h 228600"/>
                <a:gd name="connsiteX2" fmla="*/ 8553450 w 8553450"/>
                <a:gd name="connsiteY2" fmla="*/ 0 h 228600"/>
                <a:gd name="connsiteX3" fmla="*/ 0 w 8553450"/>
                <a:gd name="connsiteY3" fmla="*/ 0 h 228600"/>
                <a:gd name="connsiteX4" fmla="*/ 0 w 8553450"/>
                <a:gd name="connsiteY4" fmla="*/ 228600 h 2286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  <a:cxn ang="2">
                  <a:pos x="connsiteX2" y="connsiteY2"/>
                </a:cxn>
                <a:cxn ang="3">
                  <a:pos x="connsiteX3" y="connsiteY3"/>
                </a:cxn>
                <a:cxn ang="4">
                  <a:pos x="connsiteX4" y="connsiteY4"/>
                </a:cxn>
              </a:cxnLst>
              <a:rect l="l" t="t" r="r" b="b"/>
              <a:pathLst>
                <a:path w="8553450" h="228600">
                  <a:moveTo>
                    <a:pt x="0" y="228600"/>
                  </a:moveTo>
                  <a:lnTo>
                    <a:pt x="8553450" y="228600"/>
                  </a:lnTo>
                  <a:lnTo>
                    <a:pt x="8553450" y="0"/>
                  </a:lnTo>
                  <a:lnTo>
                    <a:pt x="0" y="0"/>
                  </a:lnTo>
                  <a:lnTo>
                    <a:pt x="0" y="228600"/>
                  </a:lnTo>
                </a:path>
              </a:pathLst>
            </a:custGeom>
            <a:solidFill>
              <a:srgbClr val="7E97AD">
                <a:alpha val="10000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48" tIns="34274" rIns="68548" bIns="34274" anchor="ctr"/>
            <a:lstStyle/>
            <a:p>
              <a:pPr algn="ctr" defTabSz="685800">
                <a:spcBef>
                  <a:spcPct val="20000"/>
                </a:spcBef>
                <a:buFontTx/>
                <a:buChar char="•"/>
                <a:defRPr/>
              </a:pPr>
              <a:endParaRPr lang="zh-CN" altLang="en-US" sz="1350">
                <a:solidFill>
                  <a:prstClr val="white"/>
                </a:solidFill>
              </a:endParaRPr>
            </a:p>
          </p:txBody>
        </p:sp>
      </p:grpSp>
      <p:sp>
        <p:nvSpPr>
          <p:cNvPr id="6151" name="TextBox 1"/>
          <p:cNvSpPr txBox="1">
            <a:spLocks noChangeArrowheads="1"/>
          </p:cNvSpPr>
          <p:nvPr/>
        </p:nvSpPr>
        <p:spPr bwMode="auto">
          <a:xfrm>
            <a:off x="467139" y="1177241"/>
            <a:ext cx="6019277" cy="4981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34274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685800">
              <a:lnSpc>
                <a:spcPts val="3450"/>
              </a:lnSpc>
              <a:buNone/>
            </a:pPr>
            <a:r>
              <a:rPr lang="en-US" altLang="zh-CN" sz="3300" b="1" dirty="0">
                <a:solidFill>
                  <a:srgbClr val="002060"/>
                </a:solidFill>
                <a:latin typeface="Lucida Sans Unicode" panose="020B0602030504020204" pitchFamily="34" charset="0"/>
              </a:rPr>
              <a:t>Create .</a:t>
            </a:r>
            <a:r>
              <a:rPr lang="en-US" altLang="zh-CN" sz="3300" b="1" dirty="0" err="1">
                <a:solidFill>
                  <a:srgbClr val="002060"/>
                </a:solidFill>
                <a:latin typeface="Lucida Sans Unicode" panose="020B0602030504020204" pitchFamily="34" charset="0"/>
              </a:rPr>
              <a:t>env</a:t>
            </a:r>
            <a:r>
              <a:rPr lang="en-US" altLang="zh-CN" sz="3300" b="1" dirty="0">
                <a:solidFill>
                  <a:srgbClr val="002060"/>
                </a:solidFill>
                <a:latin typeface="Lucida Sans Unicode" panose="020B0602030504020204" pitchFamily="34" charset="0"/>
              </a:rPr>
              <a:t> file inside project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854839" y="3488985"/>
            <a:ext cx="451054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6138" y="2220144"/>
            <a:ext cx="777937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50" dirty="0">
                <a:solidFill>
                  <a:srgbClr val="FF0000"/>
                </a:solidFill>
                <a:latin typeface="Consolas" panose="020B0609020204030204" pitchFamily="49" charset="0"/>
              </a:rPr>
              <a:t>MONGO_URI=</a:t>
            </a:r>
            <a:r>
              <a:rPr lang="en-US" sz="1350" dirty="0" err="1">
                <a:solidFill>
                  <a:srgbClr val="FF0000"/>
                </a:solidFill>
                <a:latin typeface="Consolas" panose="020B0609020204030204" pitchFamily="49" charset="0"/>
              </a:rPr>
              <a:t>mongodb+srv</a:t>
            </a:r>
            <a:r>
              <a:rPr lang="en-US" sz="1350" dirty="0">
                <a:solidFill>
                  <a:srgbClr val="FF0000"/>
                </a:solidFill>
                <a:latin typeface="Consolas" panose="020B0609020204030204" pitchFamily="49" charset="0"/>
              </a:rPr>
              <a:t>://admin:admin@cluster0.mongodb.net/</a:t>
            </a:r>
            <a:r>
              <a:rPr lang="en-US" sz="1350" dirty="0" err="1">
                <a:solidFill>
                  <a:srgbClr val="FF0000"/>
                </a:solidFill>
                <a:latin typeface="Consolas" panose="020B0609020204030204" pitchFamily="49" charset="0"/>
              </a:rPr>
              <a:t>mydatabase?retryWrites</a:t>
            </a:r>
            <a:r>
              <a:rPr lang="en-US" sz="1350" dirty="0">
                <a:solidFill>
                  <a:srgbClr val="FF0000"/>
                </a:solidFill>
                <a:latin typeface="Consolas" panose="020B0609020204030204" pitchFamily="49" charset="0"/>
              </a:rPr>
              <a:t>=</a:t>
            </a:r>
            <a:r>
              <a:rPr lang="en-US" sz="1350" dirty="0" err="1">
                <a:solidFill>
                  <a:srgbClr val="FF0000"/>
                </a:solidFill>
                <a:latin typeface="Consolas" panose="020B0609020204030204" pitchFamily="49" charset="0"/>
              </a:rPr>
              <a:t>true&amp;w</a:t>
            </a:r>
            <a:r>
              <a:rPr lang="en-US" sz="1350" dirty="0">
                <a:solidFill>
                  <a:srgbClr val="FF0000"/>
                </a:solidFill>
                <a:latin typeface="Consolas" panose="020B0609020204030204" pitchFamily="49" charset="0"/>
              </a:rPr>
              <a:t>=majority</a:t>
            </a:r>
          </a:p>
          <a:p>
            <a:br>
              <a:rPr lang="en-US" sz="1350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endParaRPr lang="en-US" sz="1350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806" y="2997249"/>
            <a:ext cx="6317088" cy="3045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3236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143000" y="1783556"/>
            <a:ext cx="6858000" cy="239316"/>
          </a:xfrm>
          <a:custGeom>
            <a:avLst/>
            <a:gdLst>
              <a:gd name="connsiteX0" fmla="*/ 0 w 9144000"/>
              <a:gd name="connsiteY0" fmla="*/ 320040 h 320040"/>
              <a:gd name="connsiteX1" fmla="*/ 9144000 w 9144000"/>
              <a:gd name="connsiteY1" fmla="*/ 320040 h 320040"/>
              <a:gd name="connsiteX2" fmla="*/ 9144000 w 9144000"/>
              <a:gd name="connsiteY2" fmla="*/ 0 h 320040"/>
              <a:gd name="connsiteX3" fmla="*/ 0 w 9144000"/>
              <a:gd name="connsiteY3" fmla="*/ 0 h 320040"/>
              <a:gd name="connsiteX4" fmla="*/ 0 w 9144000"/>
              <a:gd name="connsiteY4" fmla="*/ 320040 h 32004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320040">
                <a:moveTo>
                  <a:pt x="0" y="320040"/>
                </a:moveTo>
                <a:lnTo>
                  <a:pt x="9144000" y="320040"/>
                </a:lnTo>
                <a:lnTo>
                  <a:pt x="9144000" y="0"/>
                </a:lnTo>
                <a:lnTo>
                  <a:pt x="0" y="0"/>
                </a:lnTo>
                <a:lnTo>
                  <a:pt x="0" y="32004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48" tIns="34274" rIns="68548" bIns="34274" anchor="ctr"/>
          <a:lstStyle/>
          <a:p>
            <a:pPr algn="ctr" defTabSz="685800">
              <a:spcBef>
                <a:spcPct val="20000"/>
              </a:spcBef>
              <a:buFontTx/>
              <a:buChar char="•"/>
              <a:defRPr/>
            </a:pPr>
            <a:endParaRPr lang="zh-CN" altLang="en-US" sz="1350">
              <a:solidFill>
                <a:prstClr val="white"/>
              </a:solidFill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467139" y="1610915"/>
            <a:ext cx="7533861" cy="205979"/>
            <a:chOff x="1524000" y="1279525"/>
            <a:chExt cx="9144000" cy="228600"/>
          </a:xfrm>
        </p:grpSpPr>
        <p:sp>
          <p:nvSpPr>
            <p:cNvPr id="5" name="Freeform 3"/>
            <p:cNvSpPr/>
            <p:nvPr/>
          </p:nvSpPr>
          <p:spPr>
            <a:xfrm>
              <a:off x="1524000" y="1279525"/>
              <a:ext cx="533400" cy="228600"/>
            </a:xfrm>
            <a:custGeom>
              <a:avLst/>
              <a:gdLst>
                <a:gd name="connsiteX0" fmla="*/ 0 w 533400"/>
                <a:gd name="connsiteY0" fmla="*/ 228600 h 228600"/>
                <a:gd name="connsiteX1" fmla="*/ 533400 w 533400"/>
                <a:gd name="connsiteY1" fmla="*/ 228600 h 228600"/>
                <a:gd name="connsiteX2" fmla="*/ 533400 w 533400"/>
                <a:gd name="connsiteY2" fmla="*/ 0 h 228600"/>
                <a:gd name="connsiteX3" fmla="*/ 0 w 533400"/>
                <a:gd name="connsiteY3" fmla="*/ 0 h 228600"/>
                <a:gd name="connsiteX4" fmla="*/ 0 w 533400"/>
                <a:gd name="connsiteY4" fmla="*/ 228600 h 2286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  <a:cxn ang="2">
                  <a:pos x="connsiteX2" y="connsiteY2"/>
                </a:cxn>
                <a:cxn ang="3">
                  <a:pos x="connsiteX3" y="connsiteY3"/>
                </a:cxn>
                <a:cxn ang="4">
                  <a:pos x="connsiteX4" y="connsiteY4"/>
                </a:cxn>
              </a:cxnLst>
              <a:rect l="l" t="t" r="r" b="b"/>
              <a:pathLst>
                <a:path w="533400" h="228600">
                  <a:moveTo>
                    <a:pt x="0" y="228600"/>
                  </a:moveTo>
                  <a:lnTo>
                    <a:pt x="533400" y="228600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228600"/>
                  </a:lnTo>
                </a:path>
              </a:pathLst>
            </a:custGeom>
            <a:solidFill>
              <a:srgbClr val="CC8E60">
                <a:alpha val="10000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48" tIns="34274" rIns="68548" bIns="34274" anchor="ctr"/>
            <a:lstStyle/>
            <a:p>
              <a:pPr algn="ctr" defTabSz="685800">
                <a:spcBef>
                  <a:spcPct val="20000"/>
                </a:spcBef>
                <a:buFontTx/>
                <a:buChar char="•"/>
                <a:defRPr/>
              </a:pPr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6" name="Freeform 3"/>
            <p:cNvSpPr/>
            <p:nvPr/>
          </p:nvSpPr>
          <p:spPr>
            <a:xfrm>
              <a:off x="2114550" y="1279525"/>
              <a:ext cx="8553450" cy="228600"/>
            </a:xfrm>
            <a:custGeom>
              <a:avLst/>
              <a:gdLst>
                <a:gd name="connsiteX0" fmla="*/ 0 w 8553450"/>
                <a:gd name="connsiteY0" fmla="*/ 228600 h 228600"/>
                <a:gd name="connsiteX1" fmla="*/ 8553450 w 8553450"/>
                <a:gd name="connsiteY1" fmla="*/ 228600 h 228600"/>
                <a:gd name="connsiteX2" fmla="*/ 8553450 w 8553450"/>
                <a:gd name="connsiteY2" fmla="*/ 0 h 228600"/>
                <a:gd name="connsiteX3" fmla="*/ 0 w 8553450"/>
                <a:gd name="connsiteY3" fmla="*/ 0 h 228600"/>
                <a:gd name="connsiteX4" fmla="*/ 0 w 8553450"/>
                <a:gd name="connsiteY4" fmla="*/ 228600 h 2286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  <a:cxn ang="2">
                  <a:pos x="connsiteX2" y="connsiteY2"/>
                </a:cxn>
                <a:cxn ang="3">
                  <a:pos x="connsiteX3" y="connsiteY3"/>
                </a:cxn>
                <a:cxn ang="4">
                  <a:pos x="connsiteX4" y="connsiteY4"/>
                </a:cxn>
              </a:cxnLst>
              <a:rect l="l" t="t" r="r" b="b"/>
              <a:pathLst>
                <a:path w="8553450" h="228600">
                  <a:moveTo>
                    <a:pt x="0" y="228600"/>
                  </a:moveTo>
                  <a:lnTo>
                    <a:pt x="8553450" y="228600"/>
                  </a:lnTo>
                  <a:lnTo>
                    <a:pt x="8553450" y="0"/>
                  </a:lnTo>
                  <a:lnTo>
                    <a:pt x="0" y="0"/>
                  </a:lnTo>
                  <a:lnTo>
                    <a:pt x="0" y="228600"/>
                  </a:lnTo>
                </a:path>
              </a:pathLst>
            </a:custGeom>
            <a:solidFill>
              <a:srgbClr val="7E97AD">
                <a:alpha val="10000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48" tIns="34274" rIns="68548" bIns="34274" anchor="ctr"/>
            <a:lstStyle/>
            <a:p>
              <a:pPr algn="ctr" defTabSz="685800">
                <a:spcBef>
                  <a:spcPct val="20000"/>
                </a:spcBef>
                <a:buFontTx/>
                <a:buChar char="•"/>
                <a:defRPr/>
              </a:pPr>
              <a:endParaRPr lang="zh-CN" altLang="en-US" sz="1350">
                <a:solidFill>
                  <a:prstClr val="white"/>
                </a:solidFill>
              </a:endParaRPr>
            </a:p>
          </p:txBody>
        </p:sp>
      </p:grpSp>
      <p:sp>
        <p:nvSpPr>
          <p:cNvPr id="6151" name="TextBox 1"/>
          <p:cNvSpPr txBox="1">
            <a:spLocks noChangeArrowheads="1"/>
          </p:cNvSpPr>
          <p:nvPr/>
        </p:nvSpPr>
        <p:spPr bwMode="auto">
          <a:xfrm>
            <a:off x="467139" y="1177241"/>
            <a:ext cx="6177973" cy="4981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34274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685800">
              <a:lnSpc>
                <a:spcPts val="3450"/>
              </a:lnSpc>
              <a:buNone/>
            </a:pPr>
            <a:r>
              <a:rPr lang="en-US" altLang="zh-CN" sz="3300" b="1" dirty="0">
                <a:solidFill>
                  <a:srgbClr val="002060"/>
                </a:solidFill>
                <a:latin typeface="Lucida Sans Unicode" panose="020B0602030504020204" pitchFamily="34" charset="0"/>
              </a:rPr>
              <a:t>Create db.js file inside project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854839" y="3488985"/>
            <a:ext cx="451054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86876" y="1816894"/>
            <a:ext cx="8672845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50" dirty="0" err="1">
                <a:latin typeface="Consolas" panose="020B0609020204030204" pitchFamily="49" charset="0"/>
              </a:rPr>
              <a:t>const</a:t>
            </a:r>
            <a:r>
              <a:rPr lang="en-US" sz="1350" dirty="0">
                <a:latin typeface="Consolas" panose="020B0609020204030204" pitchFamily="49" charset="0"/>
              </a:rPr>
              <a:t> { </a:t>
            </a:r>
            <a:r>
              <a:rPr lang="en-US" sz="1350" dirty="0" err="1">
                <a:latin typeface="Consolas" panose="020B0609020204030204" pitchFamily="49" charset="0"/>
              </a:rPr>
              <a:t>MongoClient</a:t>
            </a:r>
            <a:r>
              <a:rPr lang="en-US" sz="1350" dirty="0">
                <a:latin typeface="Consolas" panose="020B0609020204030204" pitchFamily="49" charset="0"/>
              </a:rPr>
              <a:t> } = require('</a:t>
            </a:r>
            <a:r>
              <a:rPr lang="en-US" sz="1350" dirty="0" err="1">
                <a:latin typeface="Consolas" panose="020B0609020204030204" pitchFamily="49" charset="0"/>
              </a:rPr>
              <a:t>mongodb</a:t>
            </a:r>
            <a:r>
              <a:rPr lang="en-US" sz="1350" dirty="0">
                <a:latin typeface="Consolas" panose="020B0609020204030204" pitchFamily="49" charset="0"/>
              </a:rPr>
              <a:t>');</a:t>
            </a:r>
          </a:p>
          <a:p>
            <a:r>
              <a:rPr lang="en-US" sz="1350" dirty="0">
                <a:latin typeface="Consolas" panose="020B0609020204030204" pitchFamily="49" charset="0"/>
              </a:rPr>
              <a:t>require('</a:t>
            </a:r>
            <a:r>
              <a:rPr lang="en-US" sz="1350" dirty="0" err="1">
                <a:latin typeface="Consolas" panose="020B0609020204030204" pitchFamily="49" charset="0"/>
              </a:rPr>
              <a:t>dotenv</a:t>
            </a:r>
            <a:r>
              <a:rPr lang="en-US" sz="1350" dirty="0">
                <a:latin typeface="Consolas" panose="020B0609020204030204" pitchFamily="49" charset="0"/>
              </a:rPr>
              <a:t>').</a:t>
            </a:r>
            <a:r>
              <a:rPr lang="en-US" sz="1350" dirty="0" err="1">
                <a:latin typeface="Consolas" panose="020B0609020204030204" pitchFamily="49" charset="0"/>
              </a:rPr>
              <a:t>config</a:t>
            </a:r>
            <a:r>
              <a:rPr lang="en-US" sz="1350" dirty="0">
                <a:latin typeface="Consolas" panose="020B0609020204030204" pitchFamily="49" charset="0"/>
              </a:rPr>
              <a:t>();</a:t>
            </a:r>
            <a:br>
              <a:rPr lang="en-US" sz="1350" dirty="0">
                <a:latin typeface="Consolas" panose="020B0609020204030204" pitchFamily="49" charset="0"/>
              </a:rPr>
            </a:br>
            <a:r>
              <a:rPr lang="en-US" sz="1350" dirty="0" err="1">
                <a:latin typeface="Consolas" panose="020B0609020204030204" pitchFamily="49" charset="0"/>
              </a:rPr>
              <a:t>const</a:t>
            </a:r>
            <a:r>
              <a:rPr lang="en-US" sz="1350" dirty="0">
                <a:latin typeface="Consolas" panose="020B0609020204030204" pitchFamily="49" charset="0"/>
              </a:rPr>
              <a:t> </a:t>
            </a:r>
            <a:r>
              <a:rPr lang="en-US" sz="1350" dirty="0" err="1">
                <a:latin typeface="Consolas" panose="020B0609020204030204" pitchFamily="49" charset="0"/>
              </a:rPr>
              <a:t>uri</a:t>
            </a:r>
            <a:r>
              <a:rPr lang="en-US" sz="1350" dirty="0">
                <a:latin typeface="Consolas" panose="020B0609020204030204" pitchFamily="49" charset="0"/>
              </a:rPr>
              <a:t> = </a:t>
            </a:r>
            <a:r>
              <a:rPr lang="en-US" sz="1350" dirty="0" err="1">
                <a:latin typeface="Consolas" panose="020B0609020204030204" pitchFamily="49" charset="0"/>
              </a:rPr>
              <a:t>process.env.MONGO_URI</a:t>
            </a:r>
            <a:r>
              <a:rPr lang="en-US" sz="13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350" dirty="0" err="1">
                <a:latin typeface="Consolas" panose="020B0609020204030204" pitchFamily="49" charset="0"/>
              </a:rPr>
              <a:t>const</a:t>
            </a:r>
            <a:r>
              <a:rPr lang="en-US" sz="1350" dirty="0">
                <a:latin typeface="Consolas" panose="020B0609020204030204" pitchFamily="49" charset="0"/>
              </a:rPr>
              <a:t> client = new </a:t>
            </a:r>
            <a:r>
              <a:rPr lang="en-US" sz="1350" dirty="0" err="1">
                <a:latin typeface="Consolas" panose="020B0609020204030204" pitchFamily="49" charset="0"/>
              </a:rPr>
              <a:t>MongoClient</a:t>
            </a:r>
            <a:r>
              <a:rPr lang="en-US" sz="1350" dirty="0">
                <a:latin typeface="Consolas" panose="020B0609020204030204" pitchFamily="49" charset="0"/>
              </a:rPr>
              <a:t>(</a:t>
            </a:r>
            <a:r>
              <a:rPr lang="en-US" sz="1350" dirty="0" err="1">
                <a:latin typeface="Consolas" panose="020B0609020204030204" pitchFamily="49" charset="0"/>
              </a:rPr>
              <a:t>uri</a:t>
            </a:r>
            <a:r>
              <a:rPr lang="en-US" sz="1350" dirty="0">
                <a:latin typeface="Consolas" panose="020B0609020204030204" pitchFamily="49" charset="0"/>
              </a:rPr>
              <a:t>, { </a:t>
            </a:r>
            <a:r>
              <a:rPr lang="en-US" sz="1350" dirty="0" err="1">
                <a:latin typeface="Consolas" panose="020B0609020204030204" pitchFamily="49" charset="0"/>
              </a:rPr>
              <a:t>useNewUrlParser</a:t>
            </a:r>
            <a:r>
              <a:rPr lang="en-US" sz="1350" dirty="0">
                <a:latin typeface="Consolas" panose="020B0609020204030204" pitchFamily="49" charset="0"/>
              </a:rPr>
              <a:t>: true, </a:t>
            </a:r>
            <a:r>
              <a:rPr lang="en-US" sz="1350" dirty="0" err="1">
                <a:latin typeface="Consolas" panose="020B0609020204030204" pitchFamily="49" charset="0"/>
              </a:rPr>
              <a:t>useUnifiedTopology</a:t>
            </a:r>
            <a:r>
              <a:rPr lang="en-US" sz="1350" dirty="0">
                <a:latin typeface="Consolas" panose="020B0609020204030204" pitchFamily="49" charset="0"/>
              </a:rPr>
              <a:t>: true });</a:t>
            </a:r>
            <a:br>
              <a:rPr lang="en-US" sz="1350" dirty="0">
                <a:latin typeface="Consolas" panose="020B0609020204030204" pitchFamily="49" charset="0"/>
              </a:rPr>
            </a:br>
            <a:r>
              <a:rPr lang="en-US" sz="1350" dirty="0">
                <a:latin typeface="Consolas" panose="020B0609020204030204" pitchFamily="49" charset="0"/>
              </a:rPr>
              <a:t>let </a:t>
            </a:r>
            <a:r>
              <a:rPr lang="en-US" sz="1350" dirty="0" err="1">
                <a:latin typeface="Consolas" panose="020B0609020204030204" pitchFamily="49" charset="0"/>
              </a:rPr>
              <a:t>db</a:t>
            </a:r>
            <a:r>
              <a:rPr lang="en-US" sz="1350" dirty="0">
                <a:latin typeface="Consolas" panose="020B0609020204030204" pitchFamily="49" charset="0"/>
              </a:rPr>
              <a:t>;</a:t>
            </a:r>
            <a:br>
              <a:rPr lang="en-US" sz="1350" dirty="0">
                <a:latin typeface="Consolas" panose="020B0609020204030204" pitchFamily="49" charset="0"/>
              </a:rPr>
            </a:br>
            <a:r>
              <a:rPr lang="en-US" sz="1350" dirty="0" err="1">
                <a:latin typeface="Consolas" panose="020B0609020204030204" pitchFamily="49" charset="0"/>
              </a:rPr>
              <a:t>const</a:t>
            </a:r>
            <a:r>
              <a:rPr lang="en-US" sz="1350" dirty="0">
                <a:latin typeface="Consolas" panose="020B0609020204030204" pitchFamily="49" charset="0"/>
              </a:rPr>
              <a:t> </a:t>
            </a:r>
            <a:r>
              <a:rPr lang="en-US" sz="1350" dirty="0" err="1">
                <a:latin typeface="Consolas" panose="020B0609020204030204" pitchFamily="49" charset="0"/>
              </a:rPr>
              <a:t>connectToDatabase</a:t>
            </a:r>
            <a:r>
              <a:rPr lang="en-US" sz="1350" dirty="0">
                <a:latin typeface="Consolas" panose="020B0609020204030204" pitchFamily="49" charset="0"/>
              </a:rPr>
              <a:t> = </a:t>
            </a:r>
            <a:r>
              <a:rPr lang="en-US" sz="1350" dirty="0" err="1">
                <a:latin typeface="Consolas" panose="020B0609020204030204" pitchFamily="49" charset="0"/>
              </a:rPr>
              <a:t>async</a:t>
            </a:r>
            <a:r>
              <a:rPr lang="en-US" sz="1350" dirty="0">
                <a:latin typeface="Consolas" panose="020B0609020204030204" pitchFamily="49" charset="0"/>
              </a:rPr>
              <a:t> () =&gt; {</a:t>
            </a:r>
          </a:p>
          <a:p>
            <a:r>
              <a:rPr lang="en-US" sz="1350" dirty="0">
                <a:latin typeface="Consolas" panose="020B0609020204030204" pitchFamily="49" charset="0"/>
              </a:rPr>
              <a:t>  if (</a:t>
            </a:r>
            <a:r>
              <a:rPr lang="en-US" sz="1350" dirty="0" err="1">
                <a:latin typeface="Consolas" panose="020B0609020204030204" pitchFamily="49" charset="0"/>
              </a:rPr>
              <a:t>db</a:t>
            </a:r>
            <a:r>
              <a:rPr lang="en-US" sz="1350" dirty="0">
                <a:latin typeface="Consolas" panose="020B0609020204030204" pitchFamily="49" charset="0"/>
              </a:rPr>
              <a:t>) return </a:t>
            </a:r>
            <a:r>
              <a:rPr lang="en-US" sz="1350" dirty="0" err="1">
                <a:latin typeface="Consolas" panose="020B0609020204030204" pitchFamily="49" charset="0"/>
              </a:rPr>
              <a:t>db</a:t>
            </a:r>
            <a:r>
              <a:rPr lang="en-US" sz="1350" dirty="0">
                <a:latin typeface="Consolas" panose="020B0609020204030204" pitchFamily="49" charset="0"/>
              </a:rPr>
              <a:t>; // Return the existing </a:t>
            </a:r>
            <a:r>
              <a:rPr lang="en-US" sz="1350" dirty="0" err="1">
                <a:latin typeface="Consolas" panose="020B0609020204030204" pitchFamily="49" charset="0"/>
              </a:rPr>
              <a:t>db</a:t>
            </a:r>
            <a:r>
              <a:rPr lang="en-US" sz="1350" dirty="0">
                <a:latin typeface="Consolas" panose="020B0609020204030204" pitchFamily="49" charset="0"/>
              </a:rPr>
              <a:t> connection if it already exists</a:t>
            </a:r>
          </a:p>
          <a:p>
            <a:r>
              <a:rPr lang="en-US" sz="1350" dirty="0">
                <a:latin typeface="Consolas" panose="020B0609020204030204" pitchFamily="49" charset="0"/>
              </a:rPr>
              <a:t>  try {</a:t>
            </a:r>
          </a:p>
          <a:p>
            <a:r>
              <a:rPr lang="en-US" sz="1350" dirty="0">
                <a:latin typeface="Consolas" panose="020B0609020204030204" pitchFamily="49" charset="0"/>
              </a:rPr>
              <a:t>    // Connect to the MongoDB cluster</a:t>
            </a:r>
          </a:p>
          <a:p>
            <a:r>
              <a:rPr lang="en-US" sz="1350" dirty="0">
                <a:latin typeface="Consolas" panose="020B0609020204030204" pitchFamily="49" charset="0"/>
              </a:rPr>
              <a:t>    await </a:t>
            </a:r>
            <a:r>
              <a:rPr lang="en-US" sz="1350" dirty="0" err="1">
                <a:latin typeface="Consolas" panose="020B0609020204030204" pitchFamily="49" charset="0"/>
              </a:rPr>
              <a:t>client.connect</a:t>
            </a:r>
            <a:r>
              <a:rPr lang="en-US" sz="1350" dirty="0">
                <a:latin typeface="Consolas" panose="020B0609020204030204" pitchFamily="49" charset="0"/>
              </a:rPr>
              <a:t>();</a:t>
            </a:r>
          </a:p>
          <a:p>
            <a:r>
              <a:rPr lang="en-US" sz="1350" dirty="0">
                <a:latin typeface="Consolas" panose="020B0609020204030204" pitchFamily="49" charset="0"/>
              </a:rPr>
              <a:t>    </a:t>
            </a:r>
            <a:r>
              <a:rPr lang="en-US" sz="1350" dirty="0" err="1">
                <a:latin typeface="Consolas" panose="020B0609020204030204" pitchFamily="49" charset="0"/>
              </a:rPr>
              <a:t>db</a:t>
            </a:r>
            <a:r>
              <a:rPr lang="en-US" sz="1350" dirty="0">
                <a:latin typeface="Consolas" panose="020B0609020204030204" pitchFamily="49" charset="0"/>
              </a:rPr>
              <a:t> = </a:t>
            </a:r>
            <a:r>
              <a:rPr lang="en-US" sz="1350" dirty="0" err="1">
                <a:latin typeface="Consolas" panose="020B0609020204030204" pitchFamily="49" charset="0"/>
              </a:rPr>
              <a:t>client.db</a:t>
            </a:r>
            <a:r>
              <a:rPr lang="en-US" sz="1350" dirty="0">
                <a:latin typeface="Consolas" panose="020B0609020204030204" pitchFamily="49" charset="0"/>
              </a:rPr>
              <a:t>(); // Automatically uses the database from URI</a:t>
            </a:r>
          </a:p>
          <a:p>
            <a:r>
              <a:rPr lang="en-US" sz="1350" dirty="0">
                <a:latin typeface="Consolas" panose="020B0609020204030204" pitchFamily="49" charset="0"/>
              </a:rPr>
              <a:t>    console.log('✅ Connected to MongoDB Atlas');</a:t>
            </a:r>
          </a:p>
          <a:p>
            <a:r>
              <a:rPr lang="en-US" sz="1350" dirty="0">
                <a:latin typeface="Consolas" panose="020B0609020204030204" pitchFamily="49" charset="0"/>
              </a:rPr>
              <a:t>    return </a:t>
            </a:r>
            <a:r>
              <a:rPr lang="en-US" sz="1350" dirty="0" err="1">
                <a:latin typeface="Consolas" panose="020B0609020204030204" pitchFamily="49" charset="0"/>
              </a:rPr>
              <a:t>db</a:t>
            </a:r>
            <a:r>
              <a:rPr lang="en-US" sz="1350" dirty="0">
                <a:latin typeface="Consolas" panose="020B0609020204030204" pitchFamily="49" charset="0"/>
              </a:rPr>
              <a:t>; // Return the database object</a:t>
            </a:r>
          </a:p>
          <a:p>
            <a:r>
              <a:rPr lang="en-US" sz="1350" dirty="0">
                <a:latin typeface="Consolas" panose="020B0609020204030204" pitchFamily="49" charset="0"/>
              </a:rPr>
              <a:t>  } catch (error) {</a:t>
            </a:r>
          </a:p>
          <a:p>
            <a:r>
              <a:rPr lang="en-US" sz="1350" dirty="0">
                <a:latin typeface="Consolas" panose="020B0609020204030204" pitchFamily="49" charset="0"/>
              </a:rPr>
              <a:t>    </a:t>
            </a:r>
            <a:r>
              <a:rPr lang="en-US" sz="1350" dirty="0" err="1">
                <a:latin typeface="Consolas" panose="020B0609020204030204" pitchFamily="49" charset="0"/>
              </a:rPr>
              <a:t>console.error</a:t>
            </a:r>
            <a:r>
              <a:rPr lang="en-US" sz="1350" dirty="0">
                <a:latin typeface="Consolas" panose="020B0609020204030204" pitchFamily="49" charset="0"/>
              </a:rPr>
              <a:t>('❌ Connection failed:', error);</a:t>
            </a:r>
          </a:p>
          <a:p>
            <a:r>
              <a:rPr lang="en-US" sz="1350" dirty="0">
                <a:latin typeface="Consolas" panose="020B0609020204030204" pitchFamily="49" charset="0"/>
              </a:rPr>
              <a:t>    </a:t>
            </a:r>
            <a:r>
              <a:rPr lang="en-US" sz="1350" dirty="0" err="1">
                <a:latin typeface="Consolas" panose="020B0609020204030204" pitchFamily="49" charset="0"/>
              </a:rPr>
              <a:t>process.exit</a:t>
            </a:r>
            <a:r>
              <a:rPr lang="en-US" sz="1350" dirty="0">
                <a:latin typeface="Consolas" panose="020B0609020204030204" pitchFamily="49" charset="0"/>
              </a:rPr>
              <a:t>(1); // Exit the process if the connection fails</a:t>
            </a:r>
          </a:p>
          <a:p>
            <a:r>
              <a:rPr lang="en-US" sz="1350" dirty="0">
                <a:latin typeface="Consolas" panose="020B0609020204030204" pitchFamily="49" charset="0"/>
              </a:rPr>
              <a:t>  }</a:t>
            </a:r>
          </a:p>
          <a:p>
            <a:r>
              <a:rPr lang="en-US" sz="1350" dirty="0">
                <a:latin typeface="Consolas" panose="020B0609020204030204" pitchFamily="49" charset="0"/>
              </a:rPr>
              <a:t>};</a:t>
            </a:r>
            <a:br>
              <a:rPr lang="en-US" sz="1350" dirty="0">
                <a:latin typeface="Consolas" panose="020B0609020204030204" pitchFamily="49" charset="0"/>
              </a:rPr>
            </a:br>
            <a:r>
              <a:rPr lang="en-US" sz="1350" dirty="0" err="1">
                <a:latin typeface="Consolas" panose="020B0609020204030204" pitchFamily="49" charset="0"/>
              </a:rPr>
              <a:t>module.exports</a:t>
            </a:r>
            <a:r>
              <a:rPr lang="en-US" sz="1350" dirty="0">
                <a:latin typeface="Consolas" panose="020B0609020204030204" pitchFamily="49" charset="0"/>
              </a:rPr>
              <a:t> = { </a:t>
            </a:r>
            <a:r>
              <a:rPr lang="en-US" sz="1350" dirty="0" err="1">
                <a:latin typeface="Consolas" panose="020B0609020204030204" pitchFamily="49" charset="0"/>
              </a:rPr>
              <a:t>connectToDatabase</a:t>
            </a:r>
            <a:r>
              <a:rPr lang="en-US" sz="1350" dirty="0">
                <a:latin typeface="Consolas" panose="020B0609020204030204" pitchFamily="49" charset="0"/>
              </a:rPr>
              <a:t> };</a:t>
            </a:r>
          </a:p>
          <a:p>
            <a:endParaRPr lang="en-US" sz="135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57683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143000" y="1783556"/>
            <a:ext cx="6858000" cy="239316"/>
          </a:xfrm>
          <a:custGeom>
            <a:avLst/>
            <a:gdLst>
              <a:gd name="connsiteX0" fmla="*/ 0 w 9144000"/>
              <a:gd name="connsiteY0" fmla="*/ 320040 h 320040"/>
              <a:gd name="connsiteX1" fmla="*/ 9144000 w 9144000"/>
              <a:gd name="connsiteY1" fmla="*/ 320040 h 320040"/>
              <a:gd name="connsiteX2" fmla="*/ 9144000 w 9144000"/>
              <a:gd name="connsiteY2" fmla="*/ 0 h 320040"/>
              <a:gd name="connsiteX3" fmla="*/ 0 w 9144000"/>
              <a:gd name="connsiteY3" fmla="*/ 0 h 320040"/>
              <a:gd name="connsiteX4" fmla="*/ 0 w 9144000"/>
              <a:gd name="connsiteY4" fmla="*/ 320040 h 32004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320040">
                <a:moveTo>
                  <a:pt x="0" y="320040"/>
                </a:moveTo>
                <a:lnTo>
                  <a:pt x="9144000" y="320040"/>
                </a:lnTo>
                <a:lnTo>
                  <a:pt x="9144000" y="0"/>
                </a:lnTo>
                <a:lnTo>
                  <a:pt x="0" y="0"/>
                </a:lnTo>
                <a:lnTo>
                  <a:pt x="0" y="32004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48" tIns="34274" rIns="68548" bIns="34274" anchor="ctr"/>
          <a:lstStyle/>
          <a:p>
            <a:pPr algn="ctr" defTabSz="685800">
              <a:spcBef>
                <a:spcPct val="20000"/>
              </a:spcBef>
              <a:buFontTx/>
              <a:buChar char="•"/>
              <a:defRPr/>
            </a:pPr>
            <a:endParaRPr lang="zh-CN" altLang="en-US" sz="1350">
              <a:solidFill>
                <a:prstClr val="white"/>
              </a:solidFill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467139" y="1610915"/>
            <a:ext cx="7533861" cy="205979"/>
            <a:chOff x="1524000" y="1279525"/>
            <a:chExt cx="9144000" cy="228600"/>
          </a:xfrm>
        </p:grpSpPr>
        <p:sp>
          <p:nvSpPr>
            <p:cNvPr id="5" name="Freeform 3"/>
            <p:cNvSpPr/>
            <p:nvPr/>
          </p:nvSpPr>
          <p:spPr>
            <a:xfrm>
              <a:off x="1524000" y="1279525"/>
              <a:ext cx="533400" cy="228600"/>
            </a:xfrm>
            <a:custGeom>
              <a:avLst/>
              <a:gdLst>
                <a:gd name="connsiteX0" fmla="*/ 0 w 533400"/>
                <a:gd name="connsiteY0" fmla="*/ 228600 h 228600"/>
                <a:gd name="connsiteX1" fmla="*/ 533400 w 533400"/>
                <a:gd name="connsiteY1" fmla="*/ 228600 h 228600"/>
                <a:gd name="connsiteX2" fmla="*/ 533400 w 533400"/>
                <a:gd name="connsiteY2" fmla="*/ 0 h 228600"/>
                <a:gd name="connsiteX3" fmla="*/ 0 w 533400"/>
                <a:gd name="connsiteY3" fmla="*/ 0 h 228600"/>
                <a:gd name="connsiteX4" fmla="*/ 0 w 533400"/>
                <a:gd name="connsiteY4" fmla="*/ 228600 h 2286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  <a:cxn ang="2">
                  <a:pos x="connsiteX2" y="connsiteY2"/>
                </a:cxn>
                <a:cxn ang="3">
                  <a:pos x="connsiteX3" y="connsiteY3"/>
                </a:cxn>
                <a:cxn ang="4">
                  <a:pos x="connsiteX4" y="connsiteY4"/>
                </a:cxn>
              </a:cxnLst>
              <a:rect l="l" t="t" r="r" b="b"/>
              <a:pathLst>
                <a:path w="533400" h="228600">
                  <a:moveTo>
                    <a:pt x="0" y="228600"/>
                  </a:moveTo>
                  <a:lnTo>
                    <a:pt x="533400" y="228600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228600"/>
                  </a:lnTo>
                </a:path>
              </a:pathLst>
            </a:custGeom>
            <a:solidFill>
              <a:srgbClr val="CC8E60">
                <a:alpha val="10000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48" tIns="34274" rIns="68548" bIns="34274" anchor="ctr"/>
            <a:lstStyle/>
            <a:p>
              <a:pPr algn="ctr" defTabSz="685800">
                <a:spcBef>
                  <a:spcPct val="20000"/>
                </a:spcBef>
                <a:buFontTx/>
                <a:buChar char="•"/>
                <a:defRPr/>
              </a:pPr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6" name="Freeform 3"/>
            <p:cNvSpPr/>
            <p:nvPr/>
          </p:nvSpPr>
          <p:spPr>
            <a:xfrm>
              <a:off x="2114550" y="1279525"/>
              <a:ext cx="8553450" cy="228600"/>
            </a:xfrm>
            <a:custGeom>
              <a:avLst/>
              <a:gdLst>
                <a:gd name="connsiteX0" fmla="*/ 0 w 8553450"/>
                <a:gd name="connsiteY0" fmla="*/ 228600 h 228600"/>
                <a:gd name="connsiteX1" fmla="*/ 8553450 w 8553450"/>
                <a:gd name="connsiteY1" fmla="*/ 228600 h 228600"/>
                <a:gd name="connsiteX2" fmla="*/ 8553450 w 8553450"/>
                <a:gd name="connsiteY2" fmla="*/ 0 h 228600"/>
                <a:gd name="connsiteX3" fmla="*/ 0 w 8553450"/>
                <a:gd name="connsiteY3" fmla="*/ 0 h 228600"/>
                <a:gd name="connsiteX4" fmla="*/ 0 w 8553450"/>
                <a:gd name="connsiteY4" fmla="*/ 228600 h 2286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  <a:cxn ang="2">
                  <a:pos x="connsiteX2" y="connsiteY2"/>
                </a:cxn>
                <a:cxn ang="3">
                  <a:pos x="connsiteX3" y="connsiteY3"/>
                </a:cxn>
                <a:cxn ang="4">
                  <a:pos x="connsiteX4" y="connsiteY4"/>
                </a:cxn>
              </a:cxnLst>
              <a:rect l="l" t="t" r="r" b="b"/>
              <a:pathLst>
                <a:path w="8553450" h="228600">
                  <a:moveTo>
                    <a:pt x="0" y="228600"/>
                  </a:moveTo>
                  <a:lnTo>
                    <a:pt x="8553450" y="228600"/>
                  </a:lnTo>
                  <a:lnTo>
                    <a:pt x="8553450" y="0"/>
                  </a:lnTo>
                  <a:lnTo>
                    <a:pt x="0" y="0"/>
                  </a:lnTo>
                  <a:lnTo>
                    <a:pt x="0" y="228600"/>
                  </a:lnTo>
                </a:path>
              </a:pathLst>
            </a:custGeom>
            <a:solidFill>
              <a:srgbClr val="7E97AD">
                <a:alpha val="10000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48" tIns="34274" rIns="68548" bIns="34274" anchor="ctr"/>
            <a:lstStyle/>
            <a:p>
              <a:pPr algn="ctr" defTabSz="685800">
                <a:spcBef>
                  <a:spcPct val="20000"/>
                </a:spcBef>
                <a:buFontTx/>
                <a:buChar char="•"/>
                <a:defRPr/>
              </a:pPr>
              <a:endParaRPr lang="zh-CN" altLang="en-US" sz="1350">
                <a:solidFill>
                  <a:prstClr val="white"/>
                </a:solidFill>
              </a:endParaRPr>
            </a:p>
          </p:txBody>
        </p:sp>
      </p:grpSp>
      <p:sp>
        <p:nvSpPr>
          <p:cNvPr id="6151" name="TextBox 1"/>
          <p:cNvSpPr txBox="1">
            <a:spLocks noChangeArrowheads="1"/>
          </p:cNvSpPr>
          <p:nvPr/>
        </p:nvSpPr>
        <p:spPr bwMode="auto">
          <a:xfrm>
            <a:off x="467139" y="1177241"/>
            <a:ext cx="5786841" cy="4981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34274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685800">
              <a:lnSpc>
                <a:spcPts val="3450"/>
              </a:lnSpc>
              <a:buNone/>
            </a:pPr>
            <a:r>
              <a:rPr lang="en-US" altLang="zh-CN" sz="3300" b="1" dirty="0" err="1">
                <a:solidFill>
                  <a:srgbClr val="002060"/>
                </a:solidFill>
                <a:latin typeface="Lucida Sans Unicode" panose="020B0602030504020204" pitchFamily="34" charset="0"/>
              </a:rPr>
              <a:t>MongoDb</a:t>
            </a:r>
            <a:r>
              <a:rPr lang="en-US" altLang="zh-CN" sz="3300" b="1" dirty="0">
                <a:solidFill>
                  <a:srgbClr val="002060"/>
                </a:solidFill>
                <a:latin typeface="Lucida Sans Unicode" panose="020B0602030504020204" pitchFamily="34" charset="0"/>
              </a:rPr>
              <a:t> Queries insertion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854839" y="3488985"/>
            <a:ext cx="451054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117348" y="2550266"/>
            <a:ext cx="315641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err="1"/>
              <a:t>db.movies.insertOne</a:t>
            </a:r>
            <a:r>
              <a:rPr lang="en-US" sz="2000" dirty="0"/>
              <a:t>({</a:t>
            </a:r>
          </a:p>
          <a:p>
            <a:r>
              <a:rPr lang="en-US" sz="2000" dirty="0"/>
              <a:t>  title: "Inception",</a:t>
            </a:r>
          </a:p>
          <a:p>
            <a:r>
              <a:rPr lang="en-US" sz="2000" dirty="0"/>
              <a:t>  director: "Christopher Nolan",</a:t>
            </a:r>
          </a:p>
          <a:p>
            <a:r>
              <a:rPr lang="en-US" sz="2000" dirty="0"/>
              <a:t>  year: 2010,</a:t>
            </a:r>
          </a:p>
          <a:p>
            <a:r>
              <a:rPr lang="en-US" sz="2000" dirty="0"/>
              <a:t>  genres: ["Sci-Fi", "Thriller"]</a:t>
            </a:r>
          </a:p>
          <a:p>
            <a:r>
              <a:rPr lang="en-US" sz="2000" dirty="0"/>
              <a:t>})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3758" y="2193342"/>
            <a:ext cx="4572000" cy="440120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dirty="0" err="1"/>
              <a:t>db.movies.insertMany</a:t>
            </a:r>
            <a:r>
              <a:rPr lang="en-US" sz="2000" dirty="0"/>
              <a:t>([</a:t>
            </a:r>
          </a:p>
          <a:p>
            <a:r>
              <a:rPr lang="en-US" sz="2000" dirty="0"/>
              <a:t>  {</a:t>
            </a:r>
          </a:p>
          <a:p>
            <a:r>
              <a:rPr lang="en-US" sz="2000" dirty="0"/>
              <a:t>    title: "Interstellar",</a:t>
            </a:r>
          </a:p>
          <a:p>
            <a:r>
              <a:rPr lang="en-US" sz="2000" dirty="0"/>
              <a:t>    director: "Christopher Nolan",</a:t>
            </a:r>
          </a:p>
          <a:p>
            <a:r>
              <a:rPr lang="en-US" sz="2000" dirty="0"/>
              <a:t>    year: 2014,</a:t>
            </a:r>
          </a:p>
          <a:p>
            <a:r>
              <a:rPr lang="en-US" sz="2000" dirty="0"/>
              <a:t>    genres: ["Sci-Fi", "Drama"]</a:t>
            </a:r>
          </a:p>
          <a:p>
            <a:r>
              <a:rPr lang="en-US" sz="2000" dirty="0"/>
              <a:t>  },</a:t>
            </a:r>
          </a:p>
          <a:p>
            <a:r>
              <a:rPr lang="en-US" sz="2000" dirty="0"/>
              <a:t>  {</a:t>
            </a:r>
          </a:p>
          <a:p>
            <a:r>
              <a:rPr lang="en-US" sz="2000" dirty="0"/>
              <a:t>    </a:t>
            </a:r>
            <a:r>
              <a:rPr lang="en-US" sz="2000" dirty="0">
                <a:solidFill>
                  <a:schemeClr val="accent2"/>
                </a:solidFill>
              </a:rPr>
              <a:t>title: "The Matrix",</a:t>
            </a:r>
          </a:p>
          <a:p>
            <a:r>
              <a:rPr lang="en-US" sz="2000" dirty="0">
                <a:solidFill>
                  <a:schemeClr val="accent2"/>
                </a:solidFill>
              </a:rPr>
              <a:t>    director: "Wachowskis",</a:t>
            </a:r>
          </a:p>
          <a:p>
            <a:r>
              <a:rPr lang="en-US" sz="2000" dirty="0">
                <a:solidFill>
                  <a:schemeClr val="accent2"/>
                </a:solidFill>
              </a:rPr>
              <a:t>    year: 1999,</a:t>
            </a:r>
          </a:p>
          <a:p>
            <a:r>
              <a:rPr lang="en-US" sz="2000" dirty="0">
                <a:solidFill>
                  <a:schemeClr val="accent2"/>
                </a:solidFill>
              </a:rPr>
              <a:t>    genres: ["Action", "Sci-Fi"]</a:t>
            </a:r>
          </a:p>
          <a:p>
            <a:r>
              <a:rPr lang="en-US" sz="2000" dirty="0"/>
              <a:t>  }</a:t>
            </a:r>
          </a:p>
          <a:p>
            <a:r>
              <a:rPr lang="en-US" sz="2000" dirty="0"/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21608584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143000" y="1783556"/>
            <a:ext cx="6858000" cy="239316"/>
          </a:xfrm>
          <a:custGeom>
            <a:avLst/>
            <a:gdLst>
              <a:gd name="connsiteX0" fmla="*/ 0 w 9144000"/>
              <a:gd name="connsiteY0" fmla="*/ 320040 h 320040"/>
              <a:gd name="connsiteX1" fmla="*/ 9144000 w 9144000"/>
              <a:gd name="connsiteY1" fmla="*/ 320040 h 320040"/>
              <a:gd name="connsiteX2" fmla="*/ 9144000 w 9144000"/>
              <a:gd name="connsiteY2" fmla="*/ 0 h 320040"/>
              <a:gd name="connsiteX3" fmla="*/ 0 w 9144000"/>
              <a:gd name="connsiteY3" fmla="*/ 0 h 320040"/>
              <a:gd name="connsiteX4" fmla="*/ 0 w 9144000"/>
              <a:gd name="connsiteY4" fmla="*/ 320040 h 32004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320040">
                <a:moveTo>
                  <a:pt x="0" y="320040"/>
                </a:moveTo>
                <a:lnTo>
                  <a:pt x="9144000" y="320040"/>
                </a:lnTo>
                <a:lnTo>
                  <a:pt x="9144000" y="0"/>
                </a:lnTo>
                <a:lnTo>
                  <a:pt x="0" y="0"/>
                </a:lnTo>
                <a:lnTo>
                  <a:pt x="0" y="32004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48" tIns="34274" rIns="68548" bIns="34274" anchor="ctr"/>
          <a:lstStyle/>
          <a:p>
            <a:pPr algn="ctr" defTabSz="685800">
              <a:spcBef>
                <a:spcPct val="20000"/>
              </a:spcBef>
              <a:buFontTx/>
              <a:buChar char="•"/>
              <a:defRPr/>
            </a:pPr>
            <a:endParaRPr lang="zh-CN" altLang="en-US" sz="1350">
              <a:solidFill>
                <a:prstClr val="white"/>
              </a:solidFill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467139" y="1610915"/>
            <a:ext cx="7533861" cy="205979"/>
            <a:chOff x="1524000" y="1279525"/>
            <a:chExt cx="9144000" cy="228600"/>
          </a:xfrm>
        </p:grpSpPr>
        <p:sp>
          <p:nvSpPr>
            <p:cNvPr id="5" name="Freeform 3"/>
            <p:cNvSpPr/>
            <p:nvPr/>
          </p:nvSpPr>
          <p:spPr>
            <a:xfrm>
              <a:off x="1524000" y="1279525"/>
              <a:ext cx="533400" cy="228600"/>
            </a:xfrm>
            <a:custGeom>
              <a:avLst/>
              <a:gdLst>
                <a:gd name="connsiteX0" fmla="*/ 0 w 533400"/>
                <a:gd name="connsiteY0" fmla="*/ 228600 h 228600"/>
                <a:gd name="connsiteX1" fmla="*/ 533400 w 533400"/>
                <a:gd name="connsiteY1" fmla="*/ 228600 h 228600"/>
                <a:gd name="connsiteX2" fmla="*/ 533400 w 533400"/>
                <a:gd name="connsiteY2" fmla="*/ 0 h 228600"/>
                <a:gd name="connsiteX3" fmla="*/ 0 w 533400"/>
                <a:gd name="connsiteY3" fmla="*/ 0 h 228600"/>
                <a:gd name="connsiteX4" fmla="*/ 0 w 533400"/>
                <a:gd name="connsiteY4" fmla="*/ 228600 h 2286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  <a:cxn ang="2">
                  <a:pos x="connsiteX2" y="connsiteY2"/>
                </a:cxn>
                <a:cxn ang="3">
                  <a:pos x="connsiteX3" y="connsiteY3"/>
                </a:cxn>
                <a:cxn ang="4">
                  <a:pos x="connsiteX4" y="connsiteY4"/>
                </a:cxn>
              </a:cxnLst>
              <a:rect l="l" t="t" r="r" b="b"/>
              <a:pathLst>
                <a:path w="533400" h="228600">
                  <a:moveTo>
                    <a:pt x="0" y="228600"/>
                  </a:moveTo>
                  <a:lnTo>
                    <a:pt x="533400" y="228600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228600"/>
                  </a:lnTo>
                </a:path>
              </a:pathLst>
            </a:custGeom>
            <a:solidFill>
              <a:srgbClr val="CC8E60">
                <a:alpha val="10000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48" tIns="34274" rIns="68548" bIns="34274" anchor="ctr"/>
            <a:lstStyle/>
            <a:p>
              <a:pPr algn="ctr" defTabSz="685800">
                <a:spcBef>
                  <a:spcPct val="20000"/>
                </a:spcBef>
                <a:buFontTx/>
                <a:buChar char="•"/>
                <a:defRPr/>
              </a:pPr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6" name="Freeform 3"/>
            <p:cNvSpPr/>
            <p:nvPr/>
          </p:nvSpPr>
          <p:spPr>
            <a:xfrm>
              <a:off x="2114550" y="1279525"/>
              <a:ext cx="8553450" cy="228600"/>
            </a:xfrm>
            <a:custGeom>
              <a:avLst/>
              <a:gdLst>
                <a:gd name="connsiteX0" fmla="*/ 0 w 8553450"/>
                <a:gd name="connsiteY0" fmla="*/ 228600 h 228600"/>
                <a:gd name="connsiteX1" fmla="*/ 8553450 w 8553450"/>
                <a:gd name="connsiteY1" fmla="*/ 228600 h 228600"/>
                <a:gd name="connsiteX2" fmla="*/ 8553450 w 8553450"/>
                <a:gd name="connsiteY2" fmla="*/ 0 h 228600"/>
                <a:gd name="connsiteX3" fmla="*/ 0 w 8553450"/>
                <a:gd name="connsiteY3" fmla="*/ 0 h 228600"/>
                <a:gd name="connsiteX4" fmla="*/ 0 w 8553450"/>
                <a:gd name="connsiteY4" fmla="*/ 228600 h 2286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  <a:cxn ang="2">
                  <a:pos x="connsiteX2" y="connsiteY2"/>
                </a:cxn>
                <a:cxn ang="3">
                  <a:pos x="connsiteX3" y="connsiteY3"/>
                </a:cxn>
                <a:cxn ang="4">
                  <a:pos x="connsiteX4" y="connsiteY4"/>
                </a:cxn>
              </a:cxnLst>
              <a:rect l="l" t="t" r="r" b="b"/>
              <a:pathLst>
                <a:path w="8553450" h="228600">
                  <a:moveTo>
                    <a:pt x="0" y="228600"/>
                  </a:moveTo>
                  <a:lnTo>
                    <a:pt x="8553450" y="228600"/>
                  </a:lnTo>
                  <a:lnTo>
                    <a:pt x="8553450" y="0"/>
                  </a:lnTo>
                  <a:lnTo>
                    <a:pt x="0" y="0"/>
                  </a:lnTo>
                  <a:lnTo>
                    <a:pt x="0" y="228600"/>
                  </a:lnTo>
                </a:path>
              </a:pathLst>
            </a:custGeom>
            <a:solidFill>
              <a:srgbClr val="7E97AD">
                <a:alpha val="10000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48" tIns="34274" rIns="68548" bIns="34274" anchor="ctr"/>
            <a:lstStyle/>
            <a:p>
              <a:pPr algn="ctr" defTabSz="685800">
                <a:spcBef>
                  <a:spcPct val="20000"/>
                </a:spcBef>
                <a:buFontTx/>
                <a:buChar char="•"/>
                <a:defRPr/>
              </a:pPr>
              <a:endParaRPr lang="zh-CN" altLang="en-US" sz="1350">
                <a:solidFill>
                  <a:prstClr val="white"/>
                </a:solidFill>
              </a:endParaRPr>
            </a:p>
          </p:txBody>
        </p:sp>
      </p:grpSp>
      <p:sp>
        <p:nvSpPr>
          <p:cNvPr id="6151" name="TextBox 1"/>
          <p:cNvSpPr txBox="1">
            <a:spLocks noChangeArrowheads="1"/>
          </p:cNvSpPr>
          <p:nvPr/>
        </p:nvSpPr>
        <p:spPr bwMode="auto">
          <a:xfrm>
            <a:off x="467140" y="1177241"/>
            <a:ext cx="4748095" cy="4981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34274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685800">
              <a:lnSpc>
                <a:spcPts val="3450"/>
              </a:lnSpc>
              <a:buNone/>
            </a:pPr>
            <a:r>
              <a:rPr lang="en-US" altLang="zh-CN" sz="3300" b="1" dirty="0" err="1">
                <a:solidFill>
                  <a:srgbClr val="002060"/>
                </a:solidFill>
                <a:latin typeface="Lucida Sans Unicode" panose="020B0602030504020204" pitchFamily="34" charset="0"/>
              </a:rPr>
              <a:t>MongoDb</a:t>
            </a:r>
            <a:r>
              <a:rPr lang="en-US" altLang="zh-CN" sz="3300" b="1" dirty="0">
                <a:solidFill>
                  <a:srgbClr val="002060"/>
                </a:solidFill>
                <a:latin typeface="Lucida Sans Unicode" panose="020B0602030504020204" pitchFamily="34" charset="0"/>
              </a:rPr>
              <a:t> Queries read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869085" y="2082803"/>
            <a:ext cx="327293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err="1"/>
              <a:t>db.movies.find</a:t>
            </a:r>
            <a:r>
              <a:rPr lang="en-US" sz="2000" b="1" dirty="0"/>
              <a:t>({})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69085" y="2482913"/>
            <a:ext cx="39036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Conditions to read</a:t>
            </a:r>
          </a:p>
          <a:p>
            <a:r>
              <a:rPr lang="en-US" sz="2000" dirty="0" err="1">
                <a:solidFill>
                  <a:schemeClr val="accent2"/>
                </a:solidFill>
              </a:rPr>
              <a:t>db.movies.find</a:t>
            </a:r>
            <a:r>
              <a:rPr lang="en-US" sz="2000" dirty="0">
                <a:solidFill>
                  <a:schemeClr val="accent2"/>
                </a:solidFill>
              </a:rPr>
              <a:t>({ title: "Inception" })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76126" y="3220246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Find  show only title and year </a:t>
            </a:r>
          </a:p>
          <a:p>
            <a:r>
              <a:rPr lang="en-US" dirty="0" err="1"/>
              <a:t>db.movies.find</a:t>
            </a:r>
            <a:r>
              <a:rPr lang="en-US" dirty="0"/>
              <a:t>({}, { title: 1, year: 1, _id: 0 })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4265356"/>
            <a:ext cx="22595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Find with Comparison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5554" y="4252129"/>
            <a:ext cx="47632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/>
              <a:t>db.movies.find</a:t>
            </a:r>
            <a:r>
              <a:rPr lang="en-US" sz="2400" dirty="0"/>
              <a:t>({ year: { $</a:t>
            </a:r>
            <a:r>
              <a:rPr lang="en-US" sz="2400" dirty="0" err="1"/>
              <a:t>gt</a:t>
            </a:r>
            <a:r>
              <a:rPr lang="en-US" sz="2400" dirty="0"/>
              <a:t>: 2010 } })</a:t>
            </a:r>
          </a:p>
        </p:txBody>
      </p:sp>
    </p:spTree>
    <p:extLst>
      <p:ext uri="{BB962C8B-B14F-4D97-AF65-F5344CB8AC3E}">
        <p14:creationId xmlns:p14="http://schemas.microsoft.com/office/powerpoint/2010/main" val="9557959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143000" y="1783556"/>
            <a:ext cx="6858000" cy="239316"/>
          </a:xfrm>
          <a:custGeom>
            <a:avLst/>
            <a:gdLst>
              <a:gd name="connsiteX0" fmla="*/ 0 w 9144000"/>
              <a:gd name="connsiteY0" fmla="*/ 320040 h 320040"/>
              <a:gd name="connsiteX1" fmla="*/ 9144000 w 9144000"/>
              <a:gd name="connsiteY1" fmla="*/ 320040 h 320040"/>
              <a:gd name="connsiteX2" fmla="*/ 9144000 w 9144000"/>
              <a:gd name="connsiteY2" fmla="*/ 0 h 320040"/>
              <a:gd name="connsiteX3" fmla="*/ 0 w 9144000"/>
              <a:gd name="connsiteY3" fmla="*/ 0 h 320040"/>
              <a:gd name="connsiteX4" fmla="*/ 0 w 9144000"/>
              <a:gd name="connsiteY4" fmla="*/ 320040 h 32004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320040">
                <a:moveTo>
                  <a:pt x="0" y="320040"/>
                </a:moveTo>
                <a:lnTo>
                  <a:pt x="9144000" y="320040"/>
                </a:lnTo>
                <a:lnTo>
                  <a:pt x="9144000" y="0"/>
                </a:lnTo>
                <a:lnTo>
                  <a:pt x="0" y="0"/>
                </a:lnTo>
                <a:lnTo>
                  <a:pt x="0" y="32004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48" tIns="34274" rIns="68548" bIns="34274" anchor="ctr"/>
          <a:lstStyle/>
          <a:p>
            <a:pPr algn="ctr" defTabSz="685800">
              <a:spcBef>
                <a:spcPct val="20000"/>
              </a:spcBef>
              <a:buFontTx/>
              <a:buChar char="•"/>
              <a:defRPr/>
            </a:pPr>
            <a:endParaRPr lang="zh-CN" altLang="en-US" sz="1350">
              <a:solidFill>
                <a:prstClr val="white"/>
              </a:solidFill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467139" y="1610915"/>
            <a:ext cx="7533861" cy="205979"/>
            <a:chOff x="1524000" y="1279525"/>
            <a:chExt cx="9144000" cy="228600"/>
          </a:xfrm>
        </p:grpSpPr>
        <p:sp>
          <p:nvSpPr>
            <p:cNvPr id="5" name="Freeform 3"/>
            <p:cNvSpPr/>
            <p:nvPr/>
          </p:nvSpPr>
          <p:spPr>
            <a:xfrm>
              <a:off x="1524000" y="1279525"/>
              <a:ext cx="533400" cy="228600"/>
            </a:xfrm>
            <a:custGeom>
              <a:avLst/>
              <a:gdLst>
                <a:gd name="connsiteX0" fmla="*/ 0 w 533400"/>
                <a:gd name="connsiteY0" fmla="*/ 228600 h 228600"/>
                <a:gd name="connsiteX1" fmla="*/ 533400 w 533400"/>
                <a:gd name="connsiteY1" fmla="*/ 228600 h 228600"/>
                <a:gd name="connsiteX2" fmla="*/ 533400 w 533400"/>
                <a:gd name="connsiteY2" fmla="*/ 0 h 228600"/>
                <a:gd name="connsiteX3" fmla="*/ 0 w 533400"/>
                <a:gd name="connsiteY3" fmla="*/ 0 h 228600"/>
                <a:gd name="connsiteX4" fmla="*/ 0 w 533400"/>
                <a:gd name="connsiteY4" fmla="*/ 228600 h 2286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  <a:cxn ang="2">
                  <a:pos x="connsiteX2" y="connsiteY2"/>
                </a:cxn>
                <a:cxn ang="3">
                  <a:pos x="connsiteX3" y="connsiteY3"/>
                </a:cxn>
                <a:cxn ang="4">
                  <a:pos x="connsiteX4" y="connsiteY4"/>
                </a:cxn>
              </a:cxnLst>
              <a:rect l="l" t="t" r="r" b="b"/>
              <a:pathLst>
                <a:path w="533400" h="228600">
                  <a:moveTo>
                    <a:pt x="0" y="228600"/>
                  </a:moveTo>
                  <a:lnTo>
                    <a:pt x="533400" y="228600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228600"/>
                  </a:lnTo>
                </a:path>
              </a:pathLst>
            </a:custGeom>
            <a:solidFill>
              <a:srgbClr val="CC8E60">
                <a:alpha val="10000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48" tIns="34274" rIns="68548" bIns="34274" anchor="ctr"/>
            <a:lstStyle/>
            <a:p>
              <a:pPr algn="ctr" defTabSz="685800">
                <a:spcBef>
                  <a:spcPct val="20000"/>
                </a:spcBef>
                <a:buFontTx/>
                <a:buChar char="•"/>
                <a:defRPr/>
              </a:pPr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6" name="Freeform 3"/>
            <p:cNvSpPr/>
            <p:nvPr/>
          </p:nvSpPr>
          <p:spPr>
            <a:xfrm>
              <a:off x="2114550" y="1279525"/>
              <a:ext cx="8553450" cy="228600"/>
            </a:xfrm>
            <a:custGeom>
              <a:avLst/>
              <a:gdLst>
                <a:gd name="connsiteX0" fmla="*/ 0 w 8553450"/>
                <a:gd name="connsiteY0" fmla="*/ 228600 h 228600"/>
                <a:gd name="connsiteX1" fmla="*/ 8553450 w 8553450"/>
                <a:gd name="connsiteY1" fmla="*/ 228600 h 228600"/>
                <a:gd name="connsiteX2" fmla="*/ 8553450 w 8553450"/>
                <a:gd name="connsiteY2" fmla="*/ 0 h 228600"/>
                <a:gd name="connsiteX3" fmla="*/ 0 w 8553450"/>
                <a:gd name="connsiteY3" fmla="*/ 0 h 228600"/>
                <a:gd name="connsiteX4" fmla="*/ 0 w 8553450"/>
                <a:gd name="connsiteY4" fmla="*/ 228600 h 2286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  <a:cxn ang="2">
                  <a:pos x="connsiteX2" y="connsiteY2"/>
                </a:cxn>
                <a:cxn ang="3">
                  <a:pos x="connsiteX3" y="connsiteY3"/>
                </a:cxn>
                <a:cxn ang="4">
                  <a:pos x="connsiteX4" y="connsiteY4"/>
                </a:cxn>
              </a:cxnLst>
              <a:rect l="l" t="t" r="r" b="b"/>
              <a:pathLst>
                <a:path w="8553450" h="228600">
                  <a:moveTo>
                    <a:pt x="0" y="228600"/>
                  </a:moveTo>
                  <a:lnTo>
                    <a:pt x="8553450" y="228600"/>
                  </a:lnTo>
                  <a:lnTo>
                    <a:pt x="8553450" y="0"/>
                  </a:lnTo>
                  <a:lnTo>
                    <a:pt x="0" y="0"/>
                  </a:lnTo>
                  <a:lnTo>
                    <a:pt x="0" y="228600"/>
                  </a:lnTo>
                </a:path>
              </a:pathLst>
            </a:custGeom>
            <a:solidFill>
              <a:srgbClr val="7E97AD">
                <a:alpha val="10000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48" tIns="34274" rIns="68548" bIns="34274" anchor="ctr"/>
            <a:lstStyle/>
            <a:p>
              <a:pPr algn="ctr" defTabSz="685800">
                <a:spcBef>
                  <a:spcPct val="20000"/>
                </a:spcBef>
                <a:buFontTx/>
                <a:buChar char="•"/>
                <a:defRPr/>
              </a:pPr>
              <a:endParaRPr lang="zh-CN" altLang="en-US" sz="1350">
                <a:solidFill>
                  <a:prstClr val="white"/>
                </a:solidFill>
              </a:endParaRPr>
            </a:p>
          </p:txBody>
        </p:sp>
      </p:grpSp>
      <p:sp>
        <p:nvSpPr>
          <p:cNvPr id="6151" name="TextBox 1"/>
          <p:cNvSpPr txBox="1">
            <a:spLocks noChangeArrowheads="1"/>
          </p:cNvSpPr>
          <p:nvPr/>
        </p:nvSpPr>
        <p:spPr bwMode="auto">
          <a:xfrm>
            <a:off x="467140" y="1177241"/>
            <a:ext cx="5262659" cy="4981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34274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685800">
              <a:lnSpc>
                <a:spcPts val="3450"/>
              </a:lnSpc>
              <a:buNone/>
            </a:pPr>
            <a:r>
              <a:rPr lang="en-US" altLang="zh-CN" sz="3300" b="1" dirty="0" err="1">
                <a:solidFill>
                  <a:srgbClr val="002060"/>
                </a:solidFill>
                <a:latin typeface="Lucida Sans Unicode" panose="020B0602030504020204" pitchFamily="34" charset="0"/>
              </a:rPr>
              <a:t>MongoDb</a:t>
            </a:r>
            <a:r>
              <a:rPr lang="en-US" altLang="zh-CN" sz="3300" b="1" dirty="0">
                <a:solidFill>
                  <a:srgbClr val="002060"/>
                </a:solidFill>
                <a:latin typeface="Lucida Sans Unicode" panose="020B0602030504020204" pitchFamily="34" charset="0"/>
              </a:rPr>
              <a:t> Queries update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67139" y="2022872"/>
            <a:ext cx="4572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dirty="0" err="1"/>
              <a:t>db.movies.updateOne</a:t>
            </a:r>
            <a:r>
              <a:rPr lang="en-US" sz="2800" dirty="0"/>
              <a:t>(</a:t>
            </a:r>
          </a:p>
          <a:p>
            <a:r>
              <a:rPr lang="en-US" sz="2800" dirty="0"/>
              <a:t>  { title: "Inception" },</a:t>
            </a:r>
          </a:p>
          <a:p>
            <a:r>
              <a:rPr lang="en-US" sz="2800" dirty="0"/>
              <a:t>  { </a:t>
            </a:r>
            <a:r>
              <a:rPr lang="en-US" sz="2800" dirty="0">
                <a:solidFill>
                  <a:schemeClr val="accent2"/>
                </a:solidFill>
              </a:rPr>
              <a:t>$set: { year: 2012 </a:t>
            </a:r>
            <a:r>
              <a:rPr lang="en-US" sz="2800" dirty="0"/>
              <a:t>} }</a:t>
            </a:r>
          </a:p>
          <a:p>
            <a:r>
              <a:rPr lang="en-US" sz="2800" dirty="0"/>
              <a:t>)</a:t>
            </a:r>
          </a:p>
        </p:txBody>
      </p:sp>
      <p:sp>
        <p:nvSpPr>
          <p:cNvPr id="9" name="Rectangle 8"/>
          <p:cNvSpPr/>
          <p:nvPr/>
        </p:nvSpPr>
        <p:spPr>
          <a:xfrm>
            <a:off x="3098468" y="4280964"/>
            <a:ext cx="6045531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/>
              <a:t>db.movies.</a:t>
            </a:r>
            <a:r>
              <a:rPr lang="en-US" sz="2800" dirty="0" err="1">
                <a:solidFill>
                  <a:schemeClr val="accent2"/>
                </a:solidFill>
              </a:rPr>
              <a:t>updateMan</a:t>
            </a:r>
            <a:r>
              <a:rPr lang="en-US" sz="2800" dirty="0" err="1"/>
              <a:t>y</a:t>
            </a:r>
            <a:r>
              <a:rPr lang="en-US" sz="2800" dirty="0"/>
              <a:t>(</a:t>
            </a:r>
          </a:p>
          <a:p>
            <a:r>
              <a:rPr lang="en-US" sz="2800" dirty="0"/>
              <a:t>  { director: "Christopher Nolan" },</a:t>
            </a:r>
          </a:p>
          <a:p>
            <a:r>
              <a:rPr lang="en-US" sz="2800" dirty="0"/>
              <a:t>  { $set: { category: "Top Director" } }</a:t>
            </a:r>
          </a:p>
          <a:p>
            <a:r>
              <a:rPr lang="en-US" sz="2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498650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143000" y="1783556"/>
            <a:ext cx="6858000" cy="239316"/>
          </a:xfrm>
          <a:custGeom>
            <a:avLst/>
            <a:gdLst>
              <a:gd name="connsiteX0" fmla="*/ 0 w 9144000"/>
              <a:gd name="connsiteY0" fmla="*/ 320040 h 320040"/>
              <a:gd name="connsiteX1" fmla="*/ 9144000 w 9144000"/>
              <a:gd name="connsiteY1" fmla="*/ 320040 h 320040"/>
              <a:gd name="connsiteX2" fmla="*/ 9144000 w 9144000"/>
              <a:gd name="connsiteY2" fmla="*/ 0 h 320040"/>
              <a:gd name="connsiteX3" fmla="*/ 0 w 9144000"/>
              <a:gd name="connsiteY3" fmla="*/ 0 h 320040"/>
              <a:gd name="connsiteX4" fmla="*/ 0 w 9144000"/>
              <a:gd name="connsiteY4" fmla="*/ 320040 h 32004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320040">
                <a:moveTo>
                  <a:pt x="0" y="320040"/>
                </a:moveTo>
                <a:lnTo>
                  <a:pt x="9144000" y="320040"/>
                </a:lnTo>
                <a:lnTo>
                  <a:pt x="9144000" y="0"/>
                </a:lnTo>
                <a:lnTo>
                  <a:pt x="0" y="0"/>
                </a:lnTo>
                <a:lnTo>
                  <a:pt x="0" y="32004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48" tIns="34274" rIns="68548" bIns="34274" anchor="ctr"/>
          <a:lstStyle/>
          <a:p>
            <a:pPr algn="ctr" defTabSz="685800">
              <a:spcBef>
                <a:spcPct val="20000"/>
              </a:spcBef>
              <a:buFontTx/>
              <a:buChar char="•"/>
              <a:defRPr/>
            </a:pPr>
            <a:endParaRPr lang="zh-CN" altLang="en-US" sz="1350">
              <a:solidFill>
                <a:prstClr val="white"/>
              </a:solidFill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467139" y="1610915"/>
            <a:ext cx="7533861" cy="205979"/>
            <a:chOff x="1524000" y="1279525"/>
            <a:chExt cx="9144000" cy="228600"/>
          </a:xfrm>
        </p:grpSpPr>
        <p:sp>
          <p:nvSpPr>
            <p:cNvPr id="5" name="Freeform 3"/>
            <p:cNvSpPr/>
            <p:nvPr/>
          </p:nvSpPr>
          <p:spPr>
            <a:xfrm>
              <a:off x="1524000" y="1279525"/>
              <a:ext cx="533400" cy="228600"/>
            </a:xfrm>
            <a:custGeom>
              <a:avLst/>
              <a:gdLst>
                <a:gd name="connsiteX0" fmla="*/ 0 w 533400"/>
                <a:gd name="connsiteY0" fmla="*/ 228600 h 228600"/>
                <a:gd name="connsiteX1" fmla="*/ 533400 w 533400"/>
                <a:gd name="connsiteY1" fmla="*/ 228600 h 228600"/>
                <a:gd name="connsiteX2" fmla="*/ 533400 w 533400"/>
                <a:gd name="connsiteY2" fmla="*/ 0 h 228600"/>
                <a:gd name="connsiteX3" fmla="*/ 0 w 533400"/>
                <a:gd name="connsiteY3" fmla="*/ 0 h 228600"/>
                <a:gd name="connsiteX4" fmla="*/ 0 w 533400"/>
                <a:gd name="connsiteY4" fmla="*/ 228600 h 2286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  <a:cxn ang="2">
                  <a:pos x="connsiteX2" y="connsiteY2"/>
                </a:cxn>
                <a:cxn ang="3">
                  <a:pos x="connsiteX3" y="connsiteY3"/>
                </a:cxn>
                <a:cxn ang="4">
                  <a:pos x="connsiteX4" y="connsiteY4"/>
                </a:cxn>
              </a:cxnLst>
              <a:rect l="l" t="t" r="r" b="b"/>
              <a:pathLst>
                <a:path w="533400" h="228600">
                  <a:moveTo>
                    <a:pt x="0" y="228600"/>
                  </a:moveTo>
                  <a:lnTo>
                    <a:pt x="533400" y="228600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228600"/>
                  </a:lnTo>
                </a:path>
              </a:pathLst>
            </a:custGeom>
            <a:solidFill>
              <a:srgbClr val="CC8E60">
                <a:alpha val="10000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48" tIns="34274" rIns="68548" bIns="34274" anchor="ctr"/>
            <a:lstStyle/>
            <a:p>
              <a:pPr algn="ctr" defTabSz="685800">
                <a:spcBef>
                  <a:spcPct val="20000"/>
                </a:spcBef>
                <a:buFontTx/>
                <a:buChar char="•"/>
                <a:defRPr/>
              </a:pPr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6" name="Freeform 3"/>
            <p:cNvSpPr/>
            <p:nvPr/>
          </p:nvSpPr>
          <p:spPr>
            <a:xfrm>
              <a:off x="2114550" y="1279525"/>
              <a:ext cx="8553450" cy="228600"/>
            </a:xfrm>
            <a:custGeom>
              <a:avLst/>
              <a:gdLst>
                <a:gd name="connsiteX0" fmla="*/ 0 w 8553450"/>
                <a:gd name="connsiteY0" fmla="*/ 228600 h 228600"/>
                <a:gd name="connsiteX1" fmla="*/ 8553450 w 8553450"/>
                <a:gd name="connsiteY1" fmla="*/ 228600 h 228600"/>
                <a:gd name="connsiteX2" fmla="*/ 8553450 w 8553450"/>
                <a:gd name="connsiteY2" fmla="*/ 0 h 228600"/>
                <a:gd name="connsiteX3" fmla="*/ 0 w 8553450"/>
                <a:gd name="connsiteY3" fmla="*/ 0 h 228600"/>
                <a:gd name="connsiteX4" fmla="*/ 0 w 8553450"/>
                <a:gd name="connsiteY4" fmla="*/ 228600 h 2286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  <a:cxn ang="2">
                  <a:pos x="connsiteX2" y="connsiteY2"/>
                </a:cxn>
                <a:cxn ang="3">
                  <a:pos x="connsiteX3" y="connsiteY3"/>
                </a:cxn>
                <a:cxn ang="4">
                  <a:pos x="connsiteX4" y="connsiteY4"/>
                </a:cxn>
              </a:cxnLst>
              <a:rect l="l" t="t" r="r" b="b"/>
              <a:pathLst>
                <a:path w="8553450" h="228600">
                  <a:moveTo>
                    <a:pt x="0" y="228600"/>
                  </a:moveTo>
                  <a:lnTo>
                    <a:pt x="8553450" y="228600"/>
                  </a:lnTo>
                  <a:lnTo>
                    <a:pt x="8553450" y="0"/>
                  </a:lnTo>
                  <a:lnTo>
                    <a:pt x="0" y="0"/>
                  </a:lnTo>
                  <a:lnTo>
                    <a:pt x="0" y="228600"/>
                  </a:lnTo>
                </a:path>
              </a:pathLst>
            </a:custGeom>
            <a:solidFill>
              <a:srgbClr val="7E97AD">
                <a:alpha val="10000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48" tIns="34274" rIns="68548" bIns="34274" anchor="ctr"/>
            <a:lstStyle/>
            <a:p>
              <a:pPr algn="ctr" defTabSz="685800">
                <a:spcBef>
                  <a:spcPct val="20000"/>
                </a:spcBef>
                <a:buFontTx/>
                <a:buChar char="•"/>
                <a:defRPr/>
              </a:pPr>
              <a:endParaRPr lang="zh-CN" altLang="en-US" sz="1350">
                <a:solidFill>
                  <a:prstClr val="white"/>
                </a:solidFill>
              </a:endParaRPr>
            </a:p>
          </p:txBody>
        </p:sp>
      </p:grpSp>
      <p:sp>
        <p:nvSpPr>
          <p:cNvPr id="6151" name="TextBox 1"/>
          <p:cNvSpPr txBox="1">
            <a:spLocks noChangeArrowheads="1"/>
          </p:cNvSpPr>
          <p:nvPr/>
        </p:nvSpPr>
        <p:spPr bwMode="auto">
          <a:xfrm>
            <a:off x="467140" y="1177241"/>
            <a:ext cx="5262659" cy="4981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34274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685800">
              <a:lnSpc>
                <a:spcPts val="3450"/>
              </a:lnSpc>
              <a:buNone/>
            </a:pPr>
            <a:r>
              <a:rPr lang="en-US" altLang="zh-CN" sz="3300" b="1" dirty="0" err="1">
                <a:solidFill>
                  <a:srgbClr val="002060"/>
                </a:solidFill>
                <a:latin typeface="Lucida Sans Unicode" panose="020B0602030504020204" pitchFamily="34" charset="0"/>
              </a:rPr>
              <a:t>MongoDb</a:t>
            </a:r>
            <a:r>
              <a:rPr lang="en-US" altLang="zh-CN" sz="3300" b="1" dirty="0">
                <a:solidFill>
                  <a:srgbClr val="002060"/>
                </a:solidFill>
                <a:latin typeface="Lucida Sans Unicode" panose="020B0602030504020204" pitchFamily="34" charset="0"/>
              </a:rPr>
              <a:t> Queries update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67139" y="2022872"/>
            <a:ext cx="704729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/>
              <a:t>db.movies.updateOne</a:t>
            </a:r>
            <a:r>
              <a:rPr lang="en-US" sz="2800" dirty="0"/>
              <a:t>(</a:t>
            </a:r>
          </a:p>
          <a:p>
            <a:r>
              <a:rPr lang="en-US" sz="2800" dirty="0"/>
              <a:t>  { title: "Inception" },</a:t>
            </a:r>
          </a:p>
          <a:p>
            <a:r>
              <a:rPr lang="en-US" sz="2800" dirty="0"/>
              <a:t>  { </a:t>
            </a:r>
            <a:r>
              <a:rPr lang="en-US" sz="2800" dirty="0">
                <a:solidFill>
                  <a:schemeClr val="accent2"/>
                </a:solidFill>
              </a:rPr>
              <a:t>$set: { year: 2012 </a:t>
            </a:r>
            <a:r>
              <a:rPr lang="en-US" sz="2800" dirty="0"/>
              <a:t>} }</a:t>
            </a:r>
          </a:p>
          <a:p>
            <a:r>
              <a:rPr lang="en-US" sz="2800" dirty="0"/>
              <a:t>)</a:t>
            </a:r>
          </a:p>
        </p:txBody>
      </p:sp>
      <p:sp>
        <p:nvSpPr>
          <p:cNvPr id="9" name="Rectangle 8"/>
          <p:cNvSpPr/>
          <p:nvPr/>
        </p:nvSpPr>
        <p:spPr>
          <a:xfrm>
            <a:off x="2575534" y="4095660"/>
            <a:ext cx="5905526" cy="15927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err="1"/>
              <a:t>db.movies.</a:t>
            </a:r>
            <a:r>
              <a:rPr lang="en-US" sz="2800" b="1" dirty="0" err="1">
                <a:solidFill>
                  <a:schemeClr val="accent2"/>
                </a:solidFill>
              </a:rPr>
              <a:t>updateMan</a:t>
            </a:r>
            <a:r>
              <a:rPr lang="en-US" sz="2800" b="1" dirty="0" err="1"/>
              <a:t>y</a:t>
            </a:r>
            <a:r>
              <a:rPr lang="en-US" sz="2800" b="1" dirty="0"/>
              <a:t>(</a:t>
            </a:r>
          </a:p>
          <a:p>
            <a:r>
              <a:rPr lang="en-US" sz="2800" b="1" dirty="0"/>
              <a:t>  { director: "Christopher Nolan" },</a:t>
            </a:r>
          </a:p>
          <a:p>
            <a:r>
              <a:rPr lang="en-US" sz="2800" b="1" dirty="0"/>
              <a:t>  { $set: { category: "Top Director" } }</a:t>
            </a:r>
          </a:p>
          <a:p>
            <a:r>
              <a:rPr lang="en-US" sz="135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066784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143000" y="1783556"/>
            <a:ext cx="6858000" cy="239316"/>
          </a:xfrm>
          <a:custGeom>
            <a:avLst/>
            <a:gdLst>
              <a:gd name="connsiteX0" fmla="*/ 0 w 9144000"/>
              <a:gd name="connsiteY0" fmla="*/ 320040 h 320040"/>
              <a:gd name="connsiteX1" fmla="*/ 9144000 w 9144000"/>
              <a:gd name="connsiteY1" fmla="*/ 320040 h 320040"/>
              <a:gd name="connsiteX2" fmla="*/ 9144000 w 9144000"/>
              <a:gd name="connsiteY2" fmla="*/ 0 h 320040"/>
              <a:gd name="connsiteX3" fmla="*/ 0 w 9144000"/>
              <a:gd name="connsiteY3" fmla="*/ 0 h 320040"/>
              <a:gd name="connsiteX4" fmla="*/ 0 w 9144000"/>
              <a:gd name="connsiteY4" fmla="*/ 320040 h 32004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320040">
                <a:moveTo>
                  <a:pt x="0" y="320040"/>
                </a:moveTo>
                <a:lnTo>
                  <a:pt x="9144000" y="320040"/>
                </a:lnTo>
                <a:lnTo>
                  <a:pt x="9144000" y="0"/>
                </a:lnTo>
                <a:lnTo>
                  <a:pt x="0" y="0"/>
                </a:lnTo>
                <a:lnTo>
                  <a:pt x="0" y="32004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48" tIns="34274" rIns="68548" bIns="34274" anchor="ctr"/>
          <a:lstStyle/>
          <a:p>
            <a:pPr algn="ctr" defTabSz="685800">
              <a:spcBef>
                <a:spcPct val="20000"/>
              </a:spcBef>
              <a:buFontTx/>
              <a:buChar char="•"/>
              <a:defRPr/>
            </a:pPr>
            <a:endParaRPr lang="zh-CN" altLang="en-US" sz="1350">
              <a:solidFill>
                <a:prstClr val="white"/>
              </a:solidFill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467139" y="1610915"/>
            <a:ext cx="7533861" cy="205979"/>
            <a:chOff x="1524000" y="1279525"/>
            <a:chExt cx="9144000" cy="228600"/>
          </a:xfrm>
        </p:grpSpPr>
        <p:sp>
          <p:nvSpPr>
            <p:cNvPr id="5" name="Freeform 3"/>
            <p:cNvSpPr/>
            <p:nvPr/>
          </p:nvSpPr>
          <p:spPr>
            <a:xfrm>
              <a:off x="1524000" y="1279525"/>
              <a:ext cx="533400" cy="228600"/>
            </a:xfrm>
            <a:custGeom>
              <a:avLst/>
              <a:gdLst>
                <a:gd name="connsiteX0" fmla="*/ 0 w 533400"/>
                <a:gd name="connsiteY0" fmla="*/ 228600 h 228600"/>
                <a:gd name="connsiteX1" fmla="*/ 533400 w 533400"/>
                <a:gd name="connsiteY1" fmla="*/ 228600 h 228600"/>
                <a:gd name="connsiteX2" fmla="*/ 533400 w 533400"/>
                <a:gd name="connsiteY2" fmla="*/ 0 h 228600"/>
                <a:gd name="connsiteX3" fmla="*/ 0 w 533400"/>
                <a:gd name="connsiteY3" fmla="*/ 0 h 228600"/>
                <a:gd name="connsiteX4" fmla="*/ 0 w 533400"/>
                <a:gd name="connsiteY4" fmla="*/ 228600 h 2286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  <a:cxn ang="2">
                  <a:pos x="connsiteX2" y="connsiteY2"/>
                </a:cxn>
                <a:cxn ang="3">
                  <a:pos x="connsiteX3" y="connsiteY3"/>
                </a:cxn>
                <a:cxn ang="4">
                  <a:pos x="connsiteX4" y="connsiteY4"/>
                </a:cxn>
              </a:cxnLst>
              <a:rect l="l" t="t" r="r" b="b"/>
              <a:pathLst>
                <a:path w="533400" h="228600">
                  <a:moveTo>
                    <a:pt x="0" y="228600"/>
                  </a:moveTo>
                  <a:lnTo>
                    <a:pt x="533400" y="228600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228600"/>
                  </a:lnTo>
                </a:path>
              </a:pathLst>
            </a:custGeom>
            <a:solidFill>
              <a:srgbClr val="CC8E60">
                <a:alpha val="10000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48" tIns="34274" rIns="68548" bIns="34274" anchor="ctr"/>
            <a:lstStyle/>
            <a:p>
              <a:pPr algn="ctr" defTabSz="685800">
                <a:spcBef>
                  <a:spcPct val="20000"/>
                </a:spcBef>
                <a:buFontTx/>
                <a:buChar char="•"/>
                <a:defRPr/>
              </a:pPr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6" name="Freeform 3"/>
            <p:cNvSpPr/>
            <p:nvPr/>
          </p:nvSpPr>
          <p:spPr>
            <a:xfrm>
              <a:off x="2114550" y="1279525"/>
              <a:ext cx="8553450" cy="228600"/>
            </a:xfrm>
            <a:custGeom>
              <a:avLst/>
              <a:gdLst>
                <a:gd name="connsiteX0" fmla="*/ 0 w 8553450"/>
                <a:gd name="connsiteY0" fmla="*/ 228600 h 228600"/>
                <a:gd name="connsiteX1" fmla="*/ 8553450 w 8553450"/>
                <a:gd name="connsiteY1" fmla="*/ 228600 h 228600"/>
                <a:gd name="connsiteX2" fmla="*/ 8553450 w 8553450"/>
                <a:gd name="connsiteY2" fmla="*/ 0 h 228600"/>
                <a:gd name="connsiteX3" fmla="*/ 0 w 8553450"/>
                <a:gd name="connsiteY3" fmla="*/ 0 h 228600"/>
                <a:gd name="connsiteX4" fmla="*/ 0 w 8553450"/>
                <a:gd name="connsiteY4" fmla="*/ 228600 h 2286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  <a:cxn ang="2">
                  <a:pos x="connsiteX2" y="connsiteY2"/>
                </a:cxn>
                <a:cxn ang="3">
                  <a:pos x="connsiteX3" y="connsiteY3"/>
                </a:cxn>
                <a:cxn ang="4">
                  <a:pos x="connsiteX4" y="connsiteY4"/>
                </a:cxn>
              </a:cxnLst>
              <a:rect l="l" t="t" r="r" b="b"/>
              <a:pathLst>
                <a:path w="8553450" h="228600">
                  <a:moveTo>
                    <a:pt x="0" y="228600"/>
                  </a:moveTo>
                  <a:lnTo>
                    <a:pt x="8553450" y="228600"/>
                  </a:lnTo>
                  <a:lnTo>
                    <a:pt x="8553450" y="0"/>
                  </a:lnTo>
                  <a:lnTo>
                    <a:pt x="0" y="0"/>
                  </a:lnTo>
                  <a:lnTo>
                    <a:pt x="0" y="228600"/>
                  </a:lnTo>
                </a:path>
              </a:pathLst>
            </a:custGeom>
            <a:solidFill>
              <a:srgbClr val="7E97AD">
                <a:alpha val="10000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48" tIns="34274" rIns="68548" bIns="34274" anchor="ctr"/>
            <a:lstStyle/>
            <a:p>
              <a:pPr algn="ctr" defTabSz="685800">
                <a:spcBef>
                  <a:spcPct val="20000"/>
                </a:spcBef>
                <a:buFontTx/>
                <a:buChar char="•"/>
                <a:defRPr/>
              </a:pPr>
              <a:endParaRPr lang="zh-CN" altLang="en-US" sz="1350">
                <a:solidFill>
                  <a:prstClr val="white"/>
                </a:solidFill>
              </a:endParaRPr>
            </a:p>
          </p:txBody>
        </p:sp>
      </p:grpSp>
      <p:sp>
        <p:nvSpPr>
          <p:cNvPr id="6151" name="TextBox 1"/>
          <p:cNvSpPr txBox="1">
            <a:spLocks noChangeArrowheads="1"/>
          </p:cNvSpPr>
          <p:nvPr/>
        </p:nvSpPr>
        <p:spPr bwMode="auto">
          <a:xfrm>
            <a:off x="467139" y="1177241"/>
            <a:ext cx="5092741" cy="4981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34274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685800">
              <a:lnSpc>
                <a:spcPts val="3450"/>
              </a:lnSpc>
              <a:buNone/>
            </a:pPr>
            <a:r>
              <a:rPr lang="en-US" altLang="zh-CN" sz="3300" b="1" dirty="0" err="1">
                <a:solidFill>
                  <a:srgbClr val="002060"/>
                </a:solidFill>
                <a:latin typeface="Lucida Sans Unicode" panose="020B0602030504020204" pitchFamily="34" charset="0"/>
              </a:rPr>
              <a:t>MongoDb</a:t>
            </a:r>
            <a:r>
              <a:rPr lang="en-US" altLang="zh-CN" sz="3300" b="1" dirty="0">
                <a:solidFill>
                  <a:srgbClr val="002060"/>
                </a:solidFill>
                <a:latin typeface="Lucida Sans Unicode" panose="020B0602030504020204" pitchFamily="34" charset="0"/>
              </a:rPr>
              <a:t> Queries delete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68729" y="2057014"/>
            <a:ext cx="658225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err="1"/>
              <a:t>db.movies.deleteOne</a:t>
            </a:r>
            <a:r>
              <a:rPr lang="en-US" sz="2800" dirty="0"/>
              <a:t>({ title: "The Matrix" })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67513" y="3128918"/>
            <a:ext cx="659610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err="1"/>
              <a:t>db.movies.deleteMany</a:t>
            </a:r>
            <a:r>
              <a:rPr lang="en-US" sz="2800" dirty="0"/>
              <a:t>({ year: { $</a:t>
            </a:r>
            <a:r>
              <a:rPr lang="en-US" sz="2800" dirty="0" err="1"/>
              <a:t>lt</a:t>
            </a:r>
            <a:r>
              <a:rPr lang="en-US" sz="2800" dirty="0"/>
              <a:t>: 2010 } })</a:t>
            </a:r>
          </a:p>
        </p:txBody>
      </p:sp>
    </p:spTree>
    <p:extLst>
      <p:ext uri="{BB962C8B-B14F-4D97-AF65-F5344CB8AC3E}">
        <p14:creationId xmlns:p14="http://schemas.microsoft.com/office/powerpoint/2010/main" val="5673718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143000" y="1783556"/>
            <a:ext cx="6858000" cy="239316"/>
          </a:xfrm>
          <a:custGeom>
            <a:avLst/>
            <a:gdLst>
              <a:gd name="connsiteX0" fmla="*/ 0 w 9144000"/>
              <a:gd name="connsiteY0" fmla="*/ 320040 h 320040"/>
              <a:gd name="connsiteX1" fmla="*/ 9144000 w 9144000"/>
              <a:gd name="connsiteY1" fmla="*/ 320040 h 320040"/>
              <a:gd name="connsiteX2" fmla="*/ 9144000 w 9144000"/>
              <a:gd name="connsiteY2" fmla="*/ 0 h 320040"/>
              <a:gd name="connsiteX3" fmla="*/ 0 w 9144000"/>
              <a:gd name="connsiteY3" fmla="*/ 0 h 320040"/>
              <a:gd name="connsiteX4" fmla="*/ 0 w 9144000"/>
              <a:gd name="connsiteY4" fmla="*/ 320040 h 32004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320040">
                <a:moveTo>
                  <a:pt x="0" y="320040"/>
                </a:moveTo>
                <a:lnTo>
                  <a:pt x="9144000" y="320040"/>
                </a:lnTo>
                <a:lnTo>
                  <a:pt x="9144000" y="0"/>
                </a:lnTo>
                <a:lnTo>
                  <a:pt x="0" y="0"/>
                </a:lnTo>
                <a:lnTo>
                  <a:pt x="0" y="32004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48" tIns="34274" rIns="68548" bIns="34274" anchor="ctr"/>
          <a:lstStyle/>
          <a:p>
            <a:pPr algn="ctr" defTabSz="685800">
              <a:spcBef>
                <a:spcPct val="20000"/>
              </a:spcBef>
              <a:buFontTx/>
              <a:buChar char="•"/>
              <a:defRPr/>
            </a:pPr>
            <a:endParaRPr lang="zh-CN" altLang="en-US" sz="1350">
              <a:solidFill>
                <a:prstClr val="white"/>
              </a:solidFill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467139" y="1610915"/>
            <a:ext cx="7533861" cy="205979"/>
            <a:chOff x="1524000" y="1279525"/>
            <a:chExt cx="9144000" cy="228600"/>
          </a:xfrm>
        </p:grpSpPr>
        <p:sp>
          <p:nvSpPr>
            <p:cNvPr id="5" name="Freeform 3"/>
            <p:cNvSpPr/>
            <p:nvPr/>
          </p:nvSpPr>
          <p:spPr>
            <a:xfrm>
              <a:off x="1524000" y="1279525"/>
              <a:ext cx="533400" cy="228600"/>
            </a:xfrm>
            <a:custGeom>
              <a:avLst/>
              <a:gdLst>
                <a:gd name="connsiteX0" fmla="*/ 0 w 533400"/>
                <a:gd name="connsiteY0" fmla="*/ 228600 h 228600"/>
                <a:gd name="connsiteX1" fmla="*/ 533400 w 533400"/>
                <a:gd name="connsiteY1" fmla="*/ 228600 h 228600"/>
                <a:gd name="connsiteX2" fmla="*/ 533400 w 533400"/>
                <a:gd name="connsiteY2" fmla="*/ 0 h 228600"/>
                <a:gd name="connsiteX3" fmla="*/ 0 w 533400"/>
                <a:gd name="connsiteY3" fmla="*/ 0 h 228600"/>
                <a:gd name="connsiteX4" fmla="*/ 0 w 533400"/>
                <a:gd name="connsiteY4" fmla="*/ 228600 h 2286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  <a:cxn ang="2">
                  <a:pos x="connsiteX2" y="connsiteY2"/>
                </a:cxn>
                <a:cxn ang="3">
                  <a:pos x="connsiteX3" y="connsiteY3"/>
                </a:cxn>
                <a:cxn ang="4">
                  <a:pos x="connsiteX4" y="connsiteY4"/>
                </a:cxn>
              </a:cxnLst>
              <a:rect l="l" t="t" r="r" b="b"/>
              <a:pathLst>
                <a:path w="533400" h="228600">
                  <a:moveTo>
                    <a:pt x="0" y="228600"/>
                  </a:moveTo>
                  <a:lnTo>
                    <a:pt x="533400" y="228600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228600"/>
                  </a:lnTo>
                </a:path>
              </a:pathLst>
            </a:custGeom>
            <a:solidFill>
              <a:srgbClr val="CC8E60">
                <a:alpha val="10000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48" tIns="34274" rIns="68548" bIns="34274" anchor="ctr"/>
            <a:lstStyle/>
            <a:p>
              <a:pPr algn="ctr" defTabSz="685800">
                <a:spcBef>
                  <a:spcPct val="20000"/>
                </a:spcBef>
                <a:buFontTx/>
                <a:buChar char="•"/>
                <a:defRPr/>
              </a:pPr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6" name="Freeform 3"/>
            <p:cNvSpPr/>
            <p:nvPr/>
          </p:nvSpPr>
          <p:spPr>
            <a:xfrm>
              <a:off x="2114550" y="1279525"/>
              <a:ext cx="8553450" cy="228600"/>
            </a:xfrm>
            <a:custGeom>
              <a:avLst/>
              <a:gdLst>
                <a:gd name="connsiteX0" fmla="*/ 0 w 8553450"/>
                <a:gd name="connsiteY0" fmla="*/ 228600 h 228600"/>
                <a:gd name="connsiteX1" fmla="*/ 8553450 w 8553450"/>
                <a:gd name="connsiteY1" fmla="*/ 228600 h 228600"/>
                <a:gd name="connsiteX2" fmla="*/ 8553450 w 8553450"/>
                <a:gd name="connsiteY2" fmla="*/ 0 h 228600"/>
                <a:gd name="connsiteX3" fmla="*/ 0 w 8553450"/>
                <a:gd name="connsiteY3" fmla="*/ 0 h 228600"/>
                <a:gd name="connsiteX4" fmla="*/ 0 w 8553450"/>
                <a:gd name="connsiteY4" fmla="*/ 228600 h 2286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  <a:cxn ang="2">
                  <a:pos x="connsiteX2" y="connsiteY2"/>
                </a:cxn>
                <a:cxn ang="3">
                  <a:pos x="connsiteX3" y="connsiteY3"/>
                </a:cxn>
                <a:cxn ang="4">
                  <a:pos x="connsiteX4" y="connsiteY4"/>
                </a:cxn>
              </a:cxnLst>
              <a:rect l="l" t="t" r="r" b="b"/>
              <a:pathLst>
                <a:path w="8553450" h="228600">
                  <a:moveTo>
                    <a:pt x="0" y="228600"/>
                  </a:moveTo>
                  <a:lnTo>
                    <a:pt x="8553450" y="228600"/>
                  </a:lnTo>
                  <a:lnTo>
                    <a:pt x="8553450" y="0"/>
                  </a:lnTo>
                  <a:lnTo>
                    <a:pt x="0" y="0"/>
                  </a:lnTo>
                  <a:lnTo>
                    <a:pt x="0" y="228600"/>
                  </a:lnTo>
                </a:path>
              </a:pathLst>
            </a:custGeom>
            <a:solidFill>
              <a:srgbClr val="7E97AD">
                <a:alpha val="10000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48" tIns="34274" rIns="68548" bIns="34274" anchor="ctr"/>
            <a:lstStyle/>
            <a:p>
              <a:pPr algn="ctr" defTabSz="685800">
                <a:spcBef>
                  <a:spcPct val="20000"/>
                </a:spcBef>
                <a:buFontTx/>
                <a:buChar char="•"/>
                <a:defRPr/>
              </a:pPr>
              <a:endParaRPr lang="zh-CN" altLang="en-US" sz="1350">
                <a:solidFill>
                  <a:prstClr val="white"/>
                </a:solidFill>
              </a:endParaRPr>
            </a:p>
          </p:txBody>
        </p:sp>
      </p:grpSp>
      <p:sp>
        <p:nvSpPr>
          <p:cNvPr id="6151" name="TextBox 1"/>
          <p:cNvSpPr txBox="1">
            <a:spLocks noChangeArrowheads="1"/>
          </p:cNvSpPr>
          <p:nvPr/>
        </p:nvSpPr>
        <p:spPr bwMode="auto">
          <a:xfrm>
            <a:off x="467139" y="1177241"/>
            <a:ext cx="3483326" cy="4981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34274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685800">
              <a:lnSpc>
                <a:spcPts val="3450"/>
              </a:lnSpc>
              <a:buNone/>
            </a:pPr>
            <a:r>
              <a:rPr lang="en-US" altLang="zh-CN" sz="3300" b="1" dirty="0" err="1">
                <a:solidFill>
                  <a:srgbClr val="002060"/>
                </a:solidFill>
                <a:latin typeface="Lucida Sans Unicode" panose="020B0602030504020204" pitchFamily="34" charset="0"/>
              </a:rPr>
              <a:t>MongoDb</a:t>
            </a:r>
            <a:r>
              <a:rPr lang="en-US" altLang="zh-CN" sz="3300" b="1" dirty="0">
                <a:solidFill>
                  <a:srgbClr val="002060"/>
                </a:solidFill>
                <a:latin typeface="Lucida Sans Unicode" panose="020B0602030504020204" pitchFamily="34" charset="0"/>
              </a:rPr>
              <a:t> vs SQL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411" y="2022873"/>
            <a:ext cx="7672589" cy="3702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404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32</TotalTime>
  <Words>1081</Words>
  <Application>Microsoft Office PowerPoint</Application>
  <PresentationFormat>On-screen Show (4:3)</PresentationFormat>
  <Paragraphs>213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Consolas</vt:lpstr>
      <vt:lpstr>Corbel</vt:lpstr>
      <vt:lpstr>Lucida Sans Unicode</vt:lpstr>
      <vt:lpstr>Parallax</vt:lpstr>
      <vt:lpstr>MongoDB Introduction</vt:lpstr>
      <vt:lpstr>History of MongoDB</vt:lpstr>
      <vt:lpstr>Need for MongoDB</vt:lpstr>
      <vt:lpstr>MongoDB vs RDBMS</vt:lpstr>
      <vt:lpstr>Comparisons with Other NoSQL Databases</vt:lpstr>
      <vt:lpstr>Comparisons</vt:lpstr>
      <vt:lpstr>How MongoDB Works (Core Concepts)</vt:lpstr>
      <vt:lpstr>How MongoDB Works</vt:lpstr>
      <vt:lpstr>Basic Structure</vt:lpstr>
      <vt:lpstr>Installation Steps</vt:lpstr>
      <vt:lpstr>Main Keywords</vt:lpstr>
      <vt:lpstr>CRUD Operations</vt:lpstr>
      <vt:lpstr>Access MongoDB in React</vt:lpstr>
      <vt:lpstr>When to Use MongoDB</vt:lpstr>
      <vt:lpstr>Scalability &amp; Usability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 n</cp:lastModifiedBy>
  <cp:revision>2</cp:revision>
  <dcterms:created xsi:type="dcterms:W3CDTF">2013-01-27T09:14:16Z</dcterms:created>
  <dcterms:modified xsi:type="dcterms:W3CDTF">2025-11-25T09:14:44Z</dcterms:modified>
  <cp:category/>
</cp:coreProperties>
</file>