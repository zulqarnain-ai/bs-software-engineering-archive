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20"/>
  </p:notesMasterIdLst>
  <p:sldIdLst>
    <p:sldId id="293" r:id="rId2"/>
    <p:sldId id="295" r:id="rId3"/>
    <p:sldId id="296" r:id="rId4"/>
    <p:sldId id="297" r:id="rId5"/>
    <p:sldId id="298" r:id="rId6"/>
    <p:sldId id="299" r:id="rId7"/>
    <p:sldId id="301" r:id="rId8"/>
    <p:sldId id="300" r:id="rId9"/>
    <p:sldId id="302" r:id="rId10"/>
    <p:sldId id="303" r:id="rId11"/>
    <p:sldId id="304" r:id="rId12"/>
    <p:sldId id="305" r:id="rId13"/>
    <p:sldId id="306" r:id="rId14"/>
    <p:sldId id="307" r:id="rId15"/>
    <p:sldId id="308" r:id="rId16"/>
    <p:sldId id="309" r:id="rId17"/>
    <p:sldId id="310" r:id="rId18"/>
    <p:sldId id="31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15" autoAdjust="0"/>
    <p:restoredTop sz="95501" autoAdjust="0"/>
  </p:normalViewPr>
  <p:slideViewPr>
    <p:cSldViewPr snapToGrid="0">
      <p:cViewPr varScale="1">
        <p:scale>
          <a:sx n="120" d="100"/>
          <a:sy n="120" d="100"/>
        </p:scale>
        <p:origin x="102"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CC7E43-56F6-45CB-A194-C69F9D70AB1E}" type="datetimeFigureOut">
              <a:rPr lang="en-GB" smtClean="0"/>
              <a:t>22/09/2025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52DFD2-0C38-4B29-9BF4-608CE31B7683}" type="slidenum">
              <a:rPr lang="en-GB" smtClean="0"/>
              <a:t>‹#›</a:t>
            </a:fld>
            <a:endParaRPr lang="en-GB"/>
          </a:p>
        </p:txBody>
      </p:sp>
    </p:spTree>
    <p:extLst>
      <p:ext uri="{BB962C8B-B14F-4D97-AF65-F5344CB8AC3E}">
        <p14:creationId xmlns:p14="http://schemas.microsoft.com/office/powerpoint/2010/main" val="3058879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05258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2139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31851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10350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2651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80474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4295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2894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3825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2697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8888D9-A0EA-4496-9BE0-1249D5001021}" type="datetimeFigureOut">
              <a:rPr lang="en-US" smtClean="0">
                <a:solidFill>
                  <a:prstClr val="black">
                    <a:tint val="75000"/>
                  </a:prstClr>
                </a:solidFill>
              </a:rPr>
              <a:pPr/>
              <a:t>9/22/2025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819D0EF-033B-4C04-AD10-C244CD33FE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91396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638888D9-A0EA-4496-9BE0-1249D5001021}" type="datetimeFigureOut">
              <a:rPr lang="en-US" smtClean="0">
                <a:solidFill>
                  <a:prstClr val="black">
                    <a:tint val="75000"/>
                  </a:prstClr>
                </a:solidFill>
              </a:rPr>
              <a:pPr defTabSz="914400"/>
              <a:t>9/22/2025</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E819D0EF-033B-4C04-AD10-C244CD33FEE2}" type="slidenum">
              <a:rPr lang="en-US" smtClean="0">
                <a:solidFill>
                  <a:prstClr val="black">
                    <a:tint val="75000"/>
                  </a:prstClr>
                </a:solidFill>
              </a:rPr>
              <a:pPr defTabSz="914400"/>
              <a:t>‹#›</a:t>
            </a:fld>
            <a:endParaRPr lang="en-US">
              <a:solidFill>
                <a:prstClr val="black">
                  <a:tint val="75000"/>
                </a:prstClr>
              </a:solidFill>
            </a:endParaRPr>
          </a:p>
        </p:txBody>
      </p:sp>
    </p:spTree>
    <p:extLst>
      <p:ext uri="{BB962C8B-B14F-4D97-AF65-F5344CB8AC3E}">
        <p14:creationId xmlns:p14="http://schemas.microsoft.com/office/powerpoint/2010/main" val="1417324629"/>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151" name="TextBox 1"/>
          <p:cNvSpPr txBox="1">
            <a:spLocks noChangeArrowheads="1"/>
          </p:cNvSpPr>
          <p:nvPr/>
        </p:nvSpPr>
        <p:spPr bwMode="auto">
          <a:xfrm>
            <a:off x="4620958" y="395890"/>
            <a:ext cx="1620636" cy="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altLang="zh-CN" sz="4400" b="1" dirty="0">
                <a:solidFill>
                  <a:srgbClr val="0070C0"/>
                </a:solidFill>
                <a:latin typeface="Lucida Sans Unicode" panose="020B0602030504020204" pitchFamily="34" charset="0"/>
              </a:rPr>
              <a:t>WEB II</a:t>
            </a:r>
          </a:p>
        </p:txBody>
      </p:sp>
      <p:sp>
        <p:nvSpPr>
          <p:cNvPr id="6152" name="TextBox 1"/>
          <p:cNvSpPr txBox="1">
            <a:spLocks noChangeArrowheads="1"/>
          </p:cNvSpPr>
          <p:nvPr/>
        </p:nvSpPr>
        <p:spPr bwMode="auto">
          <a:xfrm>
            <a:off x="4620958" y="3711592"/>
            <a:ext cx="3518490" cy="8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45698">
            <a:spAutoFit/>
          </a:bodyPr>
          <a:lstStyle>
            <a:lvl1pPr>
              <a:spcBef>
                <a:spcPct val="20000"/>
              </a:spcBef>
              <a:buChar char="•"/>
              <a:tabLst>
                <a:tab pos="1281113" algn="l"/>
              </a:tabLst>
              <a:defRPr sz="3200">
                <a:solidFill>
                  <a:schemeClr val="tx1"/>
                </a:solidFill>
                <a:latin typeface="Times New Roman" panose="02020603050405020304" pitchFamily="18" charset="0"/>
              </a:defRPr>
            </a:lvl1pPr>
            <a:lvl2pPr marL="742950" indent="-285750">
              <a:spcBef>
                <a:spcPct val="20000"/>
              </a:spcBef>
              <a:buChar char="–"/>
              <a:tabLst>
                <a:tab pos="1281113" algn="l"/>
              </a:tabLst>
              <a:defRPr sz="2800">
                <a:solidFill>
                  <a:schemeClr val="tx1"/>
                </a:solidFill>
                <a:latin typeface="Times New Roman" panose="02020603050405020304" pitchFamily="18" charset="0"/>
              </a:defRPr>
            </a:lvl2pPr>
            <a:lvl3pPr marL="1143000" indent="-228600">
              <a:spcBef>
                <a:spcPct val="20000"/>
              </a:spcBef>
              <a:buChar char="•"/>
              <a:tabLst>
                <a:tab pos="1281113" algn="l"/>
              </a:tabLst>
              <a:defRPr sz="2400">
                <a:solidFill>
                  <a:schemeClr val="tx1"/>
                </a:solidFill>
                <a:latin typeface="Times New Roman" panose="02020603050405020304" pitchFamily="18" charset="0"/>
              </a:defRPr>
            </a:lvl3pPr>
            <a:lvl4pPr marL="1600200" indent="-228600">
              <a:spcBef>
                <a:spcPct val="20000"/>
              </a:spcBef>
              <a:buChar char="–"/>
              <a:tabLst>
                <a:tab pos="1281113" algn="l"/>
              </a:tabLst>
              <a:defRPr sz="2000">
                <a:solidFill>
                  <a:schemeClr val="tx1"/>
                </a:solidFill>
                <a:latin typeface="Times New Roman" panose="02020603050405020304" pitchFamily="18" charset="0"/>
              </a:defRPr>
            </a:lvl4pPr>
            <a:lvl5pPr marL="2057400" indent="-228600">
              <a:spcBef>
                <a:spcPct val="20000"/>
              </a:spcBef>
              <a:buChar char="»"/>
              <a:tabLst>
                <a:tab pos="12811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12811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12811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12811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1281113" algn="l"/>
              </a:tabLst>
              <a:defRPr sz="2000">
                <a:solidFill>
                  <a:schemeClr val="tx1"/>
                </a:solidFill>
                <a:latin typeface="Times New Roman" panose="02020603050405020304" pitchFamily="18" charset="0"/>
              </a:defRPr>
            </a:lvl9pPr>
          </a:lstStyle>
          <a:p>
            <a:pPr defTabSz="914400">
              <a:lnSpc>
                <a:spcPts val="2500"/>
              </a:lnSpc>
              <a:buNone/>
            </a:pPr>
            <a:r>
              <a:rPr lang="en-US" sz="6600" b="1" dirty="0">
                <a:solidFill>
                  <a:schemeClr val="accent2"/>
                </a:solidFill>
              </a:rPr>
              <a:t>React JS</a:t>
            </a:r>
            <a:br>
              <a:rPr lang="en-US" sz="6600" dirty="0">
                <a:solidFill>
                  <a:schemeClr val="accent2"/>
                </a:solidFill>
              </a:rPr>
            </a:br>
            <a:endParaRPr lang="en-US" sz="6600" b="1" dirty="0">
              <a:solidFill>
                <a:schemeClr val="accent2"/>
              </a:solidFill>
              <a:latin typeface="Adobe Fan Heiti Std B" panose="020B0700000000000000" pitchFamily="34" charset="-128"/>
              <a:ea typeface="Adobe Fan Heiti Std B" panose="020B0700000000000000" pitchFamily="34" charset="-128"/>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a:t>
            </a:fld>
            <a:endParaRPr lang="en-US" dirty="0">
              <a:solidFill>
                <a:prstClr val="black">
                  <a:tint val="75000"/>
                </a:prstClr>
              </a:solidFill>
            </a:endParaRPr>
          </a:p>
        </p:txBody>
      </p:sp>
    </p:spTree>
    <p:extLst>
      <p:ext uri="{BB962C8B-B14F-4D97-AF65-F5344CB8AC3E}">
        <p14:creationId xmlns:p14="http://schemas.microsoft.com/office/powerpoint/2010/main" val="4050887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4403450" cy="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solidFill>
                  <a:srgbClr val="002060"/>
                </a:solidFill>
              </a:rPr>
              <a:t>What is React JS?</a:t>
            </a:r>
            <a:endParaRPr lang="en-US" altLang="zh-CN" sz="4400" b="1" dirty="0">
              <a:solidFill>
                <a:srgbClr val="002060"/>
              </a:solidFill>
              <a:latin typeface="Lucida Sans Unicode" panose="020B0602030504020204"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2</a:t>
            </a:fld>
            <a:endParaRPr lang="en-US" dirty="0">
              <a:solidFill>
                <a:prstClr val="black">
                  <a:tint val="75000"/>
                </a:prstClr>
              </a:solidFill>
            </a:endParaRPr>
          </a:p>
        </p:txBody>
      </p:sp>
      <p:sp>
        <p:nvSpPr>
          <p:cNvPr id="2" name="TextBox 1"/>
          <p:cNvSpPr txBox="1"/>
          <p:nvPr/>
        </p:nvSpPr>
        <p:spPr>
          <a:xfrm>
            <a:off x="622852" y="1930474"/>
            <a:ext cx="9703490" cy="3785652"/>
          </a:xfrm>
          <a:prstGeom prst="rect">
            <a:avLst/>
          </a:prstGeom>
          <a:noFill/>
        </p:spPr>
        <p:txBody>
          <a:bodyPr wrap="square" rtlCol="0">
            <a:spAutoFit/>
          </a:bodyPr>
          <a:lstStyle/>
          <a:p>
            <a:pPr marL="342900" indent="-342900">
              <a:lnSpc>
                <a:spcPct val="200000"/>
              </a:lnSpc>
              <a:buSzPct val="110000"/>
              <a:buFont typeface="Arial" panose="020B0604020202020204" pitchFamily="34" charset="0"/>
              <a:buChar char="•"/>
            </a:pPr>
            <a:r>
              <a:rPr lang="en-US" sz="2400" dirty="0"/>
              <a:t>React is a JavaScript library</a:t>
            </a:r>
          </a:p>
          <a:p>
            <a:pPr marL="342900" indent="-342900">
              <a:lnSpc>
                <a:spcPct val="200000"/>
              </a:lnSpc>
              <a:buSzPct val="110000"/>
              <a:buFont typeface="Arial" panose="020B0604020202020204" pitchFamily="34" charset="0"/>
              <a:buChar char="•"/>
            </a:pPr>
            <a:r>
              <a:rPr lang="en-US" sz="2400" dirty="0"/>
              <a:t> Used for front end web development</a:t>
            </a:r>
          </a:p>
          <a:p>
            <a:pPr marL="342900" indent="-342900">
              <a:lnSpc>
                <a:spcPct val="200000"/>
              </a:lnSpc>
              <a:buSzPct val="110000"/>
              <a:buFont typeface="Arial" panose="020B0604020202020204" pitchFamily="34" charset="0"/>
              <a:buChar char="•"/>
            </a:pPr>
            <a:r>
              <a:rPr lang="en-US" sz="2400" dirty="0"/>
              <a:t> Think of </a:t>
            </a:r>
            <a:r>
              <a:rPr lang="en-US" sz="2400" dirty="0">
                <a:solidFill>
                  <a:srgbClr val="002060"/>
                </a:solidFill>
              </a:rPr>
              <a:t>jQuery</a:t>
            </a:r>
            <a:r>
              <a:rPr lang="en-US" sz="2400" dirty="0"/>
              <a:t>, but more structured</a:t>
            </a:r>
          </a:p>
          <a:p>
            <a:pPr marL="342900" indent="-342900">
              <a:lnSpc>
                <a:spcPct val="200000"/>
              </a:lnSpc>
              <a:buSzPct val="110000"/>
              <a:buFont typeface="Arial" panose="020B0604020202020204" pitchFamily="34" charset="0"/>
              <a:buChar char="•"/>
            </a:pPr>
            <a:r>
              <a:rPr lang="en-US" sz="2400" dirty="0"/>
              <a:t> Created and used by Facebook</a:t>
            </a:r>
          </a:p>
          <a:p>
            <a:pPr marL="342900" indent="-342900">
              <a:lnSpc>
                <a:spcPct val="200000"/>
              </a:lnSpc>
              <a:buSzPct val="110000"/>
              <a:buFont typeface="Arial" panose="020B0604020202020204" pitchFamily="34" charset="0"/>
              <a:buChar char="•"/>
            </a:pPr>
            <a:r>
              <a:rPr lang="en-US" sz="2400" dirty="0">
                <a:solidFill>
                  <a:srgbClr val="FF0000"/>
                </a:solidFill>
              </a:rPr>
              <a:t> Famous for implementing a virtual dom.</a:t>
            </a:r>
          </a:p>
        </p:txBody>
      </p:sp>
    </p:spTree>
    <p:extLst>
      <p:ext uri="{BB962C8B-B14F-4D97-AF65-F5344CB8AC3E}">
        <p14:creationId xmlns:p14="http://schemas.microsoft.com/office/powerpoint/2010/main" val="553163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7805022"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solidFill>
                  <a:srgbClr val="002060"/>
                </a:solidFill>
              </a:rPr>
              <a:t>What is React JS? virtual </a:t>
            </a:r>
            <a:r>
              <a:rPr lang="en-US" sz="4400" b="1" dirty="0" err="1">
                <a:solidFill>
                  <a:srgbClr val="002060"/>
                </a:solidFill>
              </a:rPr>
              <a:t>dom</a:t>
            </a:r>
            <a:r>
              <a:rPr lang="en-US" sz="4400" b="1" dirty="0">
                <a:solidFill>
                  <a:srgbClr val="002060"/>
                </a:solidFill>
              </a:rPr>
              <a:t> ?</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3</a:t>
            </a:fld>
            <a:endParaRPr lang="en-US" dirty="0">
              <a:solidFill>
                <a:prstClr val="black">
                  <a:tint val="75000"/>
                </a:prstClr>
              </a:solidFill>
            </a:endParaRPr>
          </a:p>
        </p:txBody>
      </p:sp>
      <p:sp>
        <p:nvSpPr>
          <p:cNvPr id="9" name="Rectangle 8"/>
          <p:cNvSpPr/>
          <p:nvPr/>
        </p:nvSpPr>
        <p:spPr>
          <a:xfrm>
            <a:off x="515154" y="1709470"/>
            <a:ext cx="10152845" cy="923330"/>
          </a:xfrm>
          <a:prstGeom prst="rect">
            <a:avLst/>
          </a:prstGeom>
        </p:spPr>
        <p:txBody>
          <a:bodyPr wrap="square">
            <a:spAutoFit/>
          </a:bodyPr>
          <a:lstStyle/>
          <a:p>
            <a:pPr algn="just"/>
            <a:r>
              <a:rPr lang="en-US" dirty="0"/>
              <a:t>The </a:t>
            </a:r>
            <a:r>
              <a:rPr lang="en-US" b="1" dirty="0"/>
              <a:t>Virtual DOM (VDOM)</a:t>
            </a:r>
            <a:r>
              <a:rPr lang="en-US" dirty="0"/>
              <a:t> is a </a:t>
            </a:r>
            <a:r>
              <a:rPr lang="en-US" b="1" dirty="0"/>
              <a:t>lightweight copy</a:t>
            </a:r>
            <a:r>
              <a:rPr lang="en-US" dirty="0"/>
              <a:t> of the real DOM that React uses to improve performance. Instead of updating the </a:t>
            </a:r>
            <a:r>
              <a:rPr lang="en-US" b="1" dirty="0"/>
              <a:t>actual DOM</a:t>
            </a:r>
            <a:r>
              <a:rPr lang="en-US" dirty="0"/>
              <a:t> directly (which is slow), React updates the </a:t>
            </a:r>
            <a:r>
              <a:rPr lang="en-US" b="1" dirty="0"/>
              <a:t>Virtual DOM first</a:t>
            </a:r>
            <a:r>
              <a:rPr lang="en-US" dirty="0"/>
              <a:t>, calculates the differences, and then efficiently updates only the necessary parts of the real DOM.</a:t>
            </a:r>
          </a:p>
        </p:txBody>
      </p:sp>
      <p:pic>
        <p:nvPicPr>
          <p:cNvPr id="10" name="Picture 9"/>
          <p:cNvPicPr>
            <a:picLocks noChangeAspect="1"/>
          </p:cNvPicPr>
          <p:nvPr/>
        </p:nvPicPr>
        <p:blipFill>
          <a:blip r:embed="rId2"/>
          <a:stretch>
            <a:fillRect/>
          </a:stretch>
        </p:blipFill>
        <p:spPr>
          <a:xfrm>
            <a:off x="2376188" y="2632800"/>
            <a:ext cx="7187223" cy="4187580"/>
          </a:xfrm>
          <a:prstGeom prst="rect">
            <a:avLst/>
          </a:prstGeom>
        </p:spPr>
      </p:pic>
    </p:spTree>
    <p:extLst>
      <p:ext uri="{BB962C8B-B14F-4D97-AF65-F5344CB8AC3E}">
        <p14:creationId xmlns:p14="http://schemas.microsoft.com/office/powerpoint/2010/main" val="3945349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7805022"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solidFill>
                  <a:srgbClr val="002060"/>
                </a:solidFill>
              </a:rPr>
              <a:t>What is React JS? virtual </a:t>
            </a:r>
            <a:r>
              <a:rPr lang="en-US" sz="4400" b="1" dirty="0" err="1">
                <a:solidFill>
                  <a:srgbClr val="002060"/>
                </a:solidFill>
              </a:rPr>
              <a:t>dom</a:t>
            </a:r>
            <a:r>
              <a:rPr lang="en-US" sz="4400" b="1" dirty="0">
                <a:solidFill>
                  <a:srgbClr val="002060"/>
                </a:solidFill>
              </a:rPr>
              <a:t> ?</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4</a:t>
            </a:fld>
            <a:endParaRPr lang="en-US" dirty="0">
              <a:solidFill>
                <a:prstClr val="black">
                  <a:tint val="75000"/>
                </a:prstClr>
              </a:solidFill>
            </a:endParaRPr>
          </a:p>
        </p:txBody>
      </p:sp>
      <p:pic>
        <p:nvPicPr>
          <p:cNvPr id="8" name="Picture 7"/>
          <p:cNvPicPr>
            <a:picLocks noChangeAspect="1"/>
          </p:cNvPicPr>
          <p:nvPr/>
        </p:nvPicPr>
        <p:blipFill>
          <a:blip r:embed="rId2"/>
          <a:stretch>
            <a:fillRect/>
          </a:stretch>
        </p:blipFill>
        <p:spPr>
          <a:xfrm>
            <a:off x="1208818" y="1930474"/>
            <a:ext cx="9459181" cy="4425876"/>
          </a:xfrm>
          <a:prstGeom prst="rect">
            <a:avLst/>
          </a:prstGeom>
        </p:spPr>
      </p:pic>
    </p:spTree>
    <p:extLst>
      <p:ext uri="{BB962C8B-B14F-4D97-AF65-F5344CB8AC3E}">
        <p14:creationId xmlns:p14="http://schemas.microsoft.com/office/powerpoint/2010/main" val="4066023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3101811"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solidFill>
                  <a:srgbClr val="002060"/>
                </a:solidFill>
              </a:rPr>
              <a:t>Why React ?</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5</a:t>
            </a:fld>
            <a:endParaRPr lang="en-US" dirty="0">
              <a:solidFill>
                <a:prstClr val="black">
                  <a:tint val="75000"/>
                </a:prstClr>
              </a:solidFill>
            </a:endParaRPr>
          </a:p>
        </p:txBody>
      </p:sp>
      <p:sp>
        <p:nvSpPr>
          <p:cNvPr id="2" name="Rectangle 1"/>
          <p:cNvSpPr>
            <a:spLocks noChangeArrowheads="1"/>
          </p:cNvSpPr>
          <p:nvPr/>
        </p:nvSpPr>
        <p:spPr bwMode="auto">
          <a:xfrm rot="10800000" flipV="1">
            <a:off x="622852" y="1693099"/>
            <a:ext cx="10668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Fast &amp; Efficient – Uses Virtual DOM for optimized rendering.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Component-Based – Build reusable, modular UI components.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Declarative Syntax – Write UI using JSX, making code more readable.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Strong Ecosystem – Large community, rich libraries, and tools.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Unidirectional Data Flow – Predictable state management.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Cross-Platform Development – Use React Native for mobile apps.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Easy State Management – Built-in </a:t>
            </a:r>
            <a:r>
              <a:rPr kumimoji="0" lang="en-US" altLang="en-US" sz="1800" i="0" u="none" strike="noStrike" cap="none" normalizeH="0" baseline="0" dirty="0" err="1">
                <a:ln>
                  <a:noFill/>
                </a:ln>
                <a:solidFill>
                  <a:schemeClr val="tx1"/>
                </a:solidFill>
                <a:effectLst/>
                <a:latin typeface="Arial" panose="020B0604020202020204" pitchFamily="34" charset="0"/>
              </a:rPr>
              <a:t>useState</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useReducer</a:t>
            </a:r>
            <a:r>
              <a:rPr kumimoji="0" lang="en-US" altLang="en-US" sz="1800" i="0" u="none" strike="noStrike" cap="none" normalizeH="0" baseline="0" dirty="0">
                <a:ln>
                  <a:noFill/>
                </a:ln>
                <a:solidFill>
                  <a:schemeClr val="tx1"/>
                </a:solidFill>
                <a:effectLst/>
                <a:latin typeface="Arial" panose="020B0604020202020204" pitchFamily="34" charset="0"/>
              </a:rPr>
              <a:t>, plus tools like Redux, </a:t>
            </a:r>
            <a:r>
              <a:rPr kumimoji="0" lang="en-US" altLang="en-US" sz="1800" i="0" u="none" strike="noStrike" cap="none" normalizeH="0" baseline="0" dirty="0" err="1">
                <a:ln>
                  <a:noFill/>
                </a:ln>
                <a:solidFill>
                  <a:schemeClr val="tx1"/>
                </a:solidFill>
                <a:effectLst/>
                <a:latin typeface="Arial" panose="020B0604020202020204" pitchFamily="34" charset="0"/>
              </a:rPr>
              <a:t>Zustand</a:t>
            </a:r>
            <a:r>
              <a:rPr kumimoji="0" lang="en-US" altLang="en-US" sz="180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Backed by Meta (Facebook) – Well-maintained and widely used. </a:t>
            </a:r>
          </a:p>
        </p:txBody>
      </p:sp>
    </p:spTree>
    <p:extLst>
      <p:ext uri="{BB962C8B-B14F-4D97-AF65-F5344CB8AC3E}">
        <p14:creationId xmlns:p14="http://schemas.microsoft.com/office/powerpoint/2010/main" val="261437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6130204"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solidFill>
                  <a:srgbClr val="002060"/>
                </a:solidFill>
              </a:rPr>
              <a:t>Create a Basic React App</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6</a:t>
            </a:fld>
            <a:endParaRPr lang="en-US" dirty="0">
              <a:solidFill>
                <a:prstClr val="black">
                  <a:tint val="75000"/>
                </a:prstClr>
              </a:solidFill>
            </a:endParaRPr>
          </a:p>
        </p:txBody>
      </p:sp>
      <p:sp>
        <p:nvSpPr>
          <p:cNvPr id="2" name="Rectangle 1"/>
          <p:cNvSpPr>
            <a:spLocks noChangeArrowheads="1"/>
          </p:cNvSpPr>
          <p:nvPr/>
        </p:nvSpPr>
        <p:spPr bwMode="auto">
          <a:xfrm rot="10800000" flipV="1">
            <a:off x="429667" y="1951812"/>
            <a:ext cx="685977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Open vs Code terminal and run the script</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err="1">
                <a:solidFill>
                  <a:srgbClr val="FF0000"/>
                </a:solidFill>
                <a:latin typeface="Arial" panose="020B0604020202020204" pitchFamily="34" charset="0"/>
              </a:rPr>
              <a:t>npx</a:t>
            </a:r>
            <a:r>
              <a:rPr lang="en-US" altLang="en-US" dirty="0">
                <a:solidFill>
                  <a:srgbClr val="FF0000"/>
                </a:solidFill>
                <a:latin typeface="Arial" panose="020B0604020202020204" pitchFamily="34" charset="0"/>
              </a:rPr>
              <a:t> create-react-app my-app</a:t>
            </a:r>
            <a:endParaRPr lang="en-US" altLang="en-US" dirty="0">
              <a:latin typeface="Arial" panose="020B0604020202020204" pitchFamily="34" charset="0"/>
            </a:endParaRP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Arial" panose="020B0604020202020204" pitchFamily="34" charset="0"/>
              </a:rPr>
              <a:t>If any current e</a:t>
            </a:r>
            <a:r>
              <a:rPr lang="en-US" dirty="0">
                <a:latin typeface="Arial" panose="020B0604020202020204" pitchFamily="34" charset="0"/>
              </a:rPr>
              <a:t>xecution policy restriction</a:t>
            </a:r>
            <a:r>
              <a:rPr lang="en-US" altLang="en-US" dirty="0">
                <a:latin typeface="Arial" panose="020B0604020202020204" pitchFamily="34" charset="0"/>
              </a:rPr>
              <a:t> open PowerShell and reset the user state.</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solidFill>
                  <a:srgbClr val="FF0000"/>
                </a:solidFill>
                <a:latin typeface="Arial" panose="020B0604020202020204" pitchFamily="34" charset="0"/>
              </a:rPr>
              <a:t>Set-</a:t>
            </a:r>
            <a:r>
              <a:rPr lang="en-US" altLang="en-US" dirty="0" err="1">
                <a:solidFill>
                  <a:srgbClr val="FF0000"/>
                </a:solidFill>
                <a:latin typeface="Arial" panose="020B0604020202020204" pitchFamily="34" charset="0"/>
              </a:rPr>
              <a:t>ExecutionPolicy</a:t>
            </a:r>
            <a:r>
              <a:rPr lang="en-US" altLang="en-US" dirty="0">
                <a:solidFill>
                  <a:srgbClr val="FF0000"/>
                </a:solidFill>
                <a:latin typeface="Arial" panose="020B0604020202020204" pitchFamily="34" charset="0"/>
              </a:rPr>
              <a:t> Unrestricted -Scope Process -Force </a:t>
            </a:r>
          </a:p>
          <a:p>
            <a:pPr marL="28575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Arial" panose="020B0604020202020204" pitchFamily="34" charset="0"/>
              </a:rPr>
              <a:t>Again run the command </a:t>
            </a:r>
            <a:r>
              <a:rPr lang="en-US" altLang="en-US" dirty="0">
                <a:solidFill>
                  <a:srgbClr val="FF0000"/>
                </a:solidFill>
                <a:latin typeface="Arial" panose="020B0604020202020204" pitchFamily="34" charset="0"/>
              </a:rPr>
              <a:t>(</a:t>
            </a:r>
            <a:r>
              <a:rPr lang="en-US" altLang="en-US" dirty="0" err="1">
                <a:solidFill>
                  <a:srgbClr val="FF0000"/>
                </a:solidFill>
                <a:latin typeface="Arial" panose="020B0604020202020204" pitchFamily="34" charset="0"/>
              </a:rPr>
              <a:t>npx</a:t>
            </a:r>
            <a:r>
              <a:rPr lang="en-US" altLang="en-US" dirty="0">
                <a:solidFill>
                  <a:srgbClr val="FF0000"/>
                </a:solidFill>
                <a:latin typeface="Arial" panose="020B0604020202020204" pitchFamily="34" charset="0"/>
              </a:rPr>
              <a:t> create-react-app my-app) </a:t>
            </a:r>
            <a:endParaRPr lang="en-US" altLang="en-US" dirty="0">
              <a:latin typeface="Arial" panose="020B0604020202020204" pitchFamily="34" charset="0"/>
            </a:endParaRPr>
          </a:p>
        </p:txBody>
      </p:sp>
      <p:pic>
        <p:nvPicPr>
          <p:cNvPr id="8" name="Picture 7"/>
          <p:cNvPicPr>
            <a:picLocks noChangeAspect="1"/>
          </p:cNvPicPr>
          <p:nvPr/>
        </p:nvPicPr>
        <p:blipFill>
          <a:blip r:embed="rId2"/>
          <a:stretch>
            <a:fillRect/>
          </a:stretch>
        </p:blipFill>
        <p:spPr>
          <a:xfrm>
            <a:off x="7289440" y="1726535"/>
            <a:ext cx="4250029" cy="4326535"/>
          </a:xfrm>
          <a:prstGeom prst="rect">
            <a:avLst/>
          </a:prstGeom>
        </p:spPr>
      </p:pic>
    </p:spTree>
    <p:extLst>
      <p:ext uri="{BB962C8B-B14F-4D97-AF65-F5344CB8AC3E}">
        <p14:creationId xmlns:p14="http://schemas.microsoft.com/office/powerpoint/2010/main" val="3892687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2662588"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 React JSX</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7</a:t>
            </a:fld>
            <a:endParaRPr lang="en-US" dirty="0">
              <a:solidFill>
                <a:prstClr val="black">
                  <a:tint val="75000"/>
                </a:prstClr>
              </a:solidFill>
            </a:endParaRPr>
          </a:p>
        </p:txBody>
      </p:sp>
      <p:sp>
        <p:nvSpPr>
          <p:cNvPr id="2" name="Rectangle 1"/>
          <p:cNvSpPr/>
          <p:nvPr/>
        </p:nvSpPr>
        <p:spPr>
          <a:xfrm>
            <a:off x="622852" y="1770985"/>
            <a:ext cx="10045148" cy="923330"/>
          </a:xfrm>
          <a:prstGeom prst="rect">
            <a:avLst/>
          </a:prstGeom>
        </p:spPr>
        <p:txBody>
          <a:bodyPr wrap="square">
            <a:spAutoFit/>
          </a:bodyPr>
          <a:lstStyle/>
          <a:p>
            <a:r>
              <a:rPr lang="en-US" dirty="0"/>
              <a:t>JSX (JavaScript XML) is a syntax extension for JavaScript used in React to describe UI elements. It looks similar to HTML but is actually JavaScript under the hood. JSX makes it easier to create React components in a readable and declarative way.</a:t>
            </a:r>
          </a:p>
        </p:txBody>
      </p:sp>
      <p:sp>
        <p:nvSpPr>
          <p:cNvPr id="11" name="Rectangle 10"/>
          <p:cNvSpPr/>
          <p:nvPr/>
        </p:nvSpPr>
        <p:spPr>
          <a:xfrm>
            <a:off x="622852" y="3497291"/>
            <a:ext cx="3549903" cy="2031325"/>
          </a:xfrm>
          <a:prstGeom prst="rect">
            <a:avLst/>
          </a:prstGeom>
        </p:spPr>
        <p:txBody>
          <a:bodyPr wrap="square">
            <a:spAutoFit/>
          </a:bodyPr>
          <a:lstStyle/>
          <a:p>
            <a:r>
              <a:rPr lang="en-US" b="1" dirty="0"/>
              <a:t>return (</a:t>
            </a:r>
          </a:p>
          <a:p>
            <a:r>
              <a:rPr lang="en-US" b="1" dirty="0"/>
              <a:t>  &lt;div&gt;</a:t>
            </a:r>
          </a:p>
          <a:p>
            <a:r>
              <a:rPr lang="en-US" b="1" dirty="0"/>
              <a:t>    &lt;h1&gt;Title&lt;/h1&gt;</a:t>
            </a:r>
          </a:p>
          <a:p>
            <a:r>
              <a:rPr lang="en-US" b="1" dirty="0"/>
              <a:t>    &lt;p&gt;Paragraph&lt;/p&gt;</a:t>
            </a:r>
          </a:p>
          <a:p>
            <a:r>
              <a:rPr lang="en-US" b="1" dirty="0"/>
              <a:t>  &lt;/div&gt;</a:t>
            </a:r>
          </a:p>
          <a:p>
            <a:r>
              <a:rPr lang="en-US" b="1" dirty="0"/>
              <a:t>);</a:t>
            </a:r>
          </a:p>
          <a:p>
            <a:r>
              <a:rPr lang="en-US" b="1" dirty="0"/>
              <a:t>Correct</a:t>
            </a:r>
          </a:p>
        </p:txBody>
      </p:sp>
      <p:sp>
        <p:nvSpPr>
          <p:cNvPr id="12" name="Rectangle 11"/>
          <p:cNvSpPr/>
          <p:nvPr/>
        </p:nvSpPr>
        <p:spPr>
          <a:xfrm>
            <a:off x="5417713" y="3524409"/>
            <a:ext cx="6096000" cy="1477328"/>
          </a:xfrm>
          <a:prstGeom prst="rect">
            <a:avLst/>
          </a:prstGeom>
        </p:spPr>
        <p:txBody>
          <a:bodyPr>
            <a:spAutoFit/>
          </a:bodyPr>
          <a:lstStyle/>
          <a:p>
            <a:r>
              <a:rPr lang="en-US" dirty="0">
                <a:solidFill>
                  <a:srgbClr val="FF0000"/>
                </a:solidFill>
              </a:rPr>
              <a:t>return (</a:t>
            </a:r>
          </a:p>
          <a:p>
            <a:r>
              <a:rPr lang="en-US" dirty="0">
                <a:solidFill>
                  <a:srgbClr val="FF0000"/>
                </a:solidFill>
              </a:rPr>
              <a:t>  &lt;h1&gt;Title&lt;/h1&gt;</a:t>
            </a:r>
          </a:p>
          <a:p>
            <a:r>
              <a:rPr lang="en-US" dirty="0">
                <a:solidFill>
                  <a:srgbClr val="FF0000"/>
                </a:solidFill>
              </a:rPr>
              <a:t>  &lt;p&gt;Paragraph&lt;/p&gt;</a:t>
            </a:r>
          </a:p>
          <a:p>
            <a:r>
              <a:rPr lang="en-US" dirty="0">
                <a:solidFill>
                  <a:srgbClr val="FF0000"/>
                </a:solidFill>
              </a:rPr>
              <a:t>);</a:t>
            </a:r>
          </a:p>
          <a:p>
            <a:r>
              <a:rPr lang="en-US" dirty="0">
                <a:solidFill>
                  <a:srgbClr val="FF0000"/>
                </a:solidFill>
              </a:rPr>
              <a:t>Incorrect</a:t>
            </a:r>
          </a:p>
        </p:txBody>
      </p:sp>
    </p:spTree>
    <p:extLst>
      <p:ext uri="{BB962C8B-B14F-4D97-AF65-F5344CB8AC3E}">
        <p14:creationId xmlns:p14="http://schemas.microsoft.com/office/powerpoint/2010/main" val="2399606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7115731"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altLang="zh-CN" sz="4400" b="1" dirty="0">
                <a:solidFill>
                  <a:srgbClr val="002060"/>
                </a:solidFill>
              </a:rPr>
              <a:t>Rendering Multiple Elements</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8</a:t>
            </a:fld>
            <a:endParaRPr lang="en-US" dirty="0">
              <a:solidFill>
                <a:prstClr val="black">
                  <a:tint val="75000"/>
                </a:prstClr>
              </a:solidFill>
            </a:endParaRPr>
          </a:p>
        </p:txBody>
      </p:sp>
      <p:pic>
        <p:nvPicPr>
          <p:cNvPr id="9" name="Picture 8"/>
          <p:cNvPicPr>
            <a:picLocks noChangeAspect="1"/>
          </p:cNvPicPr>
          <p:nvPr/>
        </p:nvPicPr>
        <p:blipFill>
          <a:blip r:embed="rId2"/>
          <a:stretch>
            <a:fillRect/>
          </a:stretch>
        </p:blipFill>
        <p:spPr>
          <a:xfrm>
            <a:off x="567070" y="1734486"/>
            <a:ext cx="5528930" cy="3862896"/>
          </a:xfrm>
          <a:prstGeom prst="rect">
            <a:avLst/>
          </a:prstGeom>
        </p:spPr>
      </p:pic>
      <p:pic>
        <p:nvPicPr>
          <p:cNvPr id="10" name="Picture 9"/>
          <p:cNvPicPr>
            <a:picLocks noChangeAspect="1"/>
          </p:cNvPicPr>
          <p:nvPr/>
        </p:nvPicPr>
        <p:blipFill>
          <a:blip r:embed="rId3"/>
          <a:stretch>
            <a:fillRect/>
          </a:stretch>
        </p:blipFill>
        <p:spPr>
          <a:xfrm>
            <a:off x="6283549" y="1770984"/>
            <a:ext cx="5600700" cy="3921477"/>
          </a:xfrm>
          <a:prstGeom prst="rect">
            <a:avLst/>
          </a:prstGeom>
        </p:spPr>
      </p:pic>
    </p:spTree>
    <p:extLst>
      <p:ext uri="{BB962C8B-B14F-4D97-AF65-F5344CB8AC3E}">
        <p14:creationId xmlns:p14="http://schemas.microsoft.com/office/powerpoint/2010/main" val="1160089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441249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Expression in JSX</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9</a:t>
            </a:fld>
            <a:endParaRPr lang="en-US" dirty="0">
              <a:solidFill>
                <a:prstClr val="black">
                  <a:tint val="75000"/>
                </a:prstClr>
              </a:solidFill>
            </a:endParaRPr>
          </a:p>
        </p:txBody>
      </p:sp>
      <p:sp>
        <p:nvSpPr>
          <p:cNvPr id="2" name="Rectangle 1"/>
          <p:cNvSpPr/>
          <p:nvPr/>
        </p:nvSpPr>
        <p:spPr>
          <a:xfrm>
            <a:off x="622852" y="1770985"/>
            <a:ext cx="10045148" cy="4801314"/>
          </a:xfrm>
          <a:prstGeom prst="rect">
            <a:avLst/>
          </a:prstGeom>
        </p:spPr>
        <p:txBody>
          <a:bodyPr wrap="square">
            <a:spAutoFit/>
          </a:bodyPr>
          <a:lstStyle/>
          <a:p>
            <a:r>
              <a:rPr lang="en-US" dirty="0"/>
              <a:t>import React from 'react';</a:t>
            </a:r>
          </a:p>
          <a:p>
            <a:r>
              <a:rPr lang="en-US" dirty="0"/>
              <a:t>import </a:t>
            </a:r>
            <a:r>
              <a:rPr lang="en-US" dirty="0" err="1"/>
              <a:t>ReactDOM</a:t>
            </a:r>
            <a:r>
              <a:rPr lang="en-US" dirty="0"/>
              <a:t> from 'react-</a:t>
            </a:r>
            <a:r>
              <a:rPr lang="en-US" dirty="0" err="1"/>
              <a:t>dom</a:t>
            </a:r>
            <a:r>
              <a:rPr lang="en-US" dirty="0"/>
              <a:t>/client';</a:t>
            </a:r>
          </a:p>
          <a:p>
            <a:r>
              <a:rPr lang="en-US" dirty="0"/>
              <a:t>import './index.css';</a:t>
            </a:r>
          </a:p>
          <a:p>
            <a:r>
              <a:rPr lang="en-US" dirty="0"/>
              <a:t>import App from './App';</a:t>
            </a:r>
          </a:p>
          <a:p>
            <a:r>
              <a:rPr lang="en-US" dirty="0"/>
              <a:t>import </a:t>
            </a:r>
            <a:r>
              <a:rPr lang="en-US" dirty="0" err="1"/>
              <a:t>reportWebVitals</a:t>
            </a:r>
            <a:r>
              <a:rPr lang="en-US" dirty="0"/>
              <a:t> from './</a:t>
            </a:r>
            <a:r>
              <a:rPr lang="en-US" dirty="0" err="1"/>
              <a:t>reportWebVitals</a:t>
            </a:r>
            <a:r>
              <a:rPr lang="en-US" dirty="0"/>
              <a:t>';</a:t>
            </a:r>
          </a:p>
          <a:p>
            <a:r>
              <a:rPr lang="en-US" dirty="0" err="1"/>
              <a:t>const</a:t>
            </a:r>
            <a:r>
              <a:rPr lang="en-US" dirty="0"/>
              <a:t> </a:t>
            </a:r>
            <a:r>
              <a:rPr lang="en-US" dirty="0" err="1"/>
              <a:t>flname</a:t>
            </a:r>
            <a:r>
              <a:rPr lang="en-US" dirty="0"/>
              <a:t> = 'Life is beautiful'</a:t>
            </a:r>
          </a:p>
          <a:p>
            <a:r>
              <a:rPr lang="en-US" dirty="0" err="1"/>
              <a:t>const</a:t>
            </a:r>
            <a:r>
              <a:rPr lang="en-US" dirty="0"/>
              <a:t> root = </a:t>
            </a:r>
            <a:r>
              <a:rPr lang="en-US" dirty="0" err="1"/>
              <a:t>ReactDOM.createRoot</a:t>
            </a:r>
            <a:r>
              <a:rPr lang="en-US" dirty="0"/>
              <a:t>(</a:t>
            </a:r>
            <a:r>
              <a:rPr lang="en-US" dirty="0" err="1"/>
              <a:t>document.getElementById</a:t>
            </a:r>
            <a:r>
              <a:rPr lang="en-US" dirty="0"/>
              <a:t>('root'));</a:t>
            </a:r>
          </a:p>
          <a:p>
            <a:r>
              <a:rPr lang="en-US" dirty="0" err="1"/>
              <a:t>root.render</a:t>
            </a:r>
            <a:r>
              <a:rPr lang="en-US" dirty="0"/>
              <a:t>(</a:t>
            </a:r>
          </a:p>
          <a:p>
            <a:r>
              <a:rPr lang="en-US" dirty="0"/>
              <a:t>  &lt;&gt;</a:t>
            </a:r>
          </a:p>
          <a:p>
            <a:r>
              <a:rPr lang="en-US" dirty="0"/>
              <a:t>  &lt;h1&gt;Hello World! {</a:t>
            </a:r>
            <a:r>
              <a:rPr lang="en-US" dirty="0" err="1"/>
              <a:t>flname</a:t>
            </a:r>
            <a:r>
              <a:rPr lang="en-US" dirty="0"/>
              <a:t>}&lt;/h1&gt;</a:t>
            </a:r>
          </a:p>
          <a:p>
            <a:r>
              <a:rPr lang="en-US" dirty="0"/>
              <a:t>  &lt;p&gt;Adding two numbers: {3 + 2}&lt;/p&gt;</a:t>
            </a:r>
          </a:p>
          <a:p>
            <a:r>
              <a:rPr lang="en-US" dirty="0"/>
              <a:t>&lt;/&gt;</a:t>
            </a:r>
          </a:p>
          <a:p>
            <a:r>
              <a:rPr lang="en-US" dirty="0"/>
              <a:t>);</a:t>
            </a:r>
          </a:p>
          <a:p>
            <a:r>
              <a:rPr lang="en-US" dirty="0" err="1"/>
              <a:t>reportWebVitals</a:t>
            </a:r>
            <a:r>
              <a:rPr lang="en-US" dirty="0"/>
              <a:t>();</a:t>
            </a:r>
          </a:p>
          <a:p>
            <a:br>
              <a:rPr lang="en-US" dirty="0"/>
            </a:br>
            <a:endParaRPr lang="en-US" dirty="0"/>
          </a:p>
          <a:p>
            <a:endParaRPr lang="en-US" dirty="0"/>
          </a:p>
        </p:txBody>
      </p:sp>
      <p:pic>
        <p:nvPicPr>
          <p:cNvPr id="8" name="Picture 7"/>
          <p:cNvPicPr>
            <a:picLocks noChangeAspect="1"/>
          </p:cNvPicPr>
          <p:nvPr/>
        </p:nvPicPr>
        <p:blipFill>
          <a:blip r:embed="rId2"/>
          <a:stretch>
            <a:fillRect/>
          </a:stretch>
        </p:blipFill>
        <p:spPr>
          <a:xfrm>
            <a:off x="5125792" y="3695239"/>
            <a:ext cx="6448357" cy="3026236"/>
          </a:xfrm>
          <a:prstGeom prst="rect">
            <a:avLst/>
          </a:prstGeom>
        </p:spPr>
      </p:pic>
    </p:spTree>
    <p:extLst>
      <p:ext uri="{BB962C8B-B14F-4D97-AF65-F5344CB8AC3E}">
        <p14:creationId xmlns:p14="http://schemas.microsoft.com/office/powerpoint/2010/main" val="1215756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5794343"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Template literals in JSX</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10</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sp>
        <p:nvSpPr>
          <p:cNvPr id="9" name="Rectangle 8"/>
          <p:cNvSpPr/>
          <p:nvPr/>
        </p:nvSpPr>
        <p:spPr>
          <a:xfrm>
            <a:off x="321194" y="1598613"/>
            <a:ext cx="9389475" cy="4801314"/>
          </a:xfrm>
          <a:prstGeom prst="rect">
            <a:avLst/>
          </a:prstGeom>
        </p:spPr>
        <p:txBody>
          <a:bodyPr wrap="square">
            <a:spAutoFit/>
          </a:bodyPr>
          <a:lstStyle/>
          <a:p>
            <a:r>
              <a:rPr lang="en-US" dirty="0">
                <a:solidFill>
                  <a:srgbClr val="569CD6"/>
                </a:solidFill>
                <a:latin typeface="Consolas" panose="020B0609020204030204" pitchFamily="49" charset="0"/>
              </a:rPr>
              <a:t>import</a:t>
            </a:r>
            <a:r>
              <a:rPr lang="en-US" dirty="0">
                <a:solidFill>
                  <a:srgbClr val="D4D4D4"/>
                </a:solidFill>
                <a:latin typeface="Consolas" panose="020B0609020204030204" pitchFamily="49" charset="0"/>
              </a:rPr>
              <a:t> React </a:t>
            </a:r>
            <a:r>
              <a:rPr lang="en-US" dirty="0">
                <a:solidFill>
                  <a:srgbClr val="569CD6"/>
                </a:solidFill>
                <a:latin typeface="Consolas" panose="020B0609020204030204" pitchFamily="49" charset="0"/>
              </a:rPr>
              <a:t>from</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'react'</a:t>
            </a:r>
            <a:r>
              <a:rPr lang="en-US" dirty="0">
                <a:solidFill>
                  <a:srgbClr val="D4D4D4"/>
                </a:solidFill>
                <a:latin typeface="Consolas" panose="020B0609020204030204" pitchFamily="49" charset="0"/>
              </a:rPr>
              <a:t>;</a:t>
            </a:r>
          </a:p>
          <a:p>
            <a:r>
              <a:rPr lang="en-US" dirty="0">
                <a:solidFill>
                  <a:srgbClr val="569CD6"/>
                </a:solidFill>
                <a:latin typeface="Consolas" panose="020B0609020204030204" pitchFamily="49" charset="0"/>
              </a:rPr>
              <a:t>import</a:t>
            </a:r>
            <a:r>
              <a:rPr lang="en-US" dirty="0">
                <a:solidFill>
                  <a:srgbClr val="D4D4D4"/>
                </a:solidFill>
                <a:latin typeface="Consolas" panose="020B0609020204030204" pitchFamily="49" charset="0"/>
              </a:rPr>
              <a:t> </a:t>
            </a:r>
            <a:r>
              <a:rPr lang="en-US" dirty="0" err="1">
                <a:solidFill>
                  <a:srgbClr val="D4D4D4"/>
                </a:solidFill>
                <a:latin typeface="Consolas" panose="020B0609020204030204" pitchFamily="49" charset="0"/>
              </a:rPr>
              <a:t>ReactDOM</a:t>
            </a:r>
            <a:r>
              <a:rPr lang="en-US" dirty="0">
                <a:solidFill>
                  <a:srgbClr val="D4D4D4"/>
                </a:solidFill>
                <a:latin typeface="Consolas" panose="020B0609020204030204" pitchFamily="49" charset="0"/>
              </a:rPr>
              <a:t> </a:t>
            </a:r>
            <a:r>
              <a:rPr lang="en-US" dirty="0">
                <a:solidFill>
                  <a:srgbClr val="569CD6"/>
                </a:solidFill>
                <a:latin typeface="Consolas" panose="020B0609020204030204" pitchFamily="49" charset="0"/>
              </a:rPr>
              <a:t>from</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'react-</a:t>
            </a:r>
            <a:r>
              <a:rPr lang="en-US" dirty="0" err="1">
                <a:solidFill>
                  <a:srgbClr val="CE9178"/>
                </a:solidFill>
                <a:latin typeface="Consolas" panose="020B0609020204030204" pitchFamily="49" charset="0"/>
              </a:rPr>
              <a:t>dom</a:t>
            </a:r>
            <a:r>
              <a:rPr lang="en-US" dirty="0">
                <a:solidFill>
                  <a:srgbClr val="CE9178"/>
                </a:solidFill>
                <a:latin typeface="Consolas" panose="020B0609020204030204" pitchFamily="49" charset="0"/>
              </a:rPr>
              <a:t>/client'</a:t>
            </a:r>
            <a:r>
              <a:rPr lang="en-US" dirty="0">
                <a:solidFill>
                  <a:srgbClr val="D4D4D4"/>
                </a:solidFill>
                <a:latin typeface="Consolas" panose="020B0609020204030204" pitchFamily="49" charset="0"/>
              </a:rPr>
              <a:t>;</a:t>
            </a:r>
          </a:p>
          <a:p>
            <a:r>
              <a:rPr lang="en-US" dirty="0">
                <a:solidFill>
                  <a:srgbClr val="569CD6"/>
                </a:solidFill>
                <a:latin typeface="Consolas" panose="020B0609020204030204" pitchFamily="49" charset="0"/>
              </a:rPr>
              <a:t>import</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'./index.css'</a:t>
            </a:r>
            <a:r>
              <a:rPr lang="en-US" dirty="0">
                <a:solidFill>
                  <a:srgbClr val="D4D4D4"/>
                </a:solidFill>
                <a:latin typeface="Consolas" panose="020B0609020204030204" pitchFamily="49" charset="0"/>
              </a:rPr>
              <a:t>;</a:t>
            </a:r>
          </a:p>
          <a:p>
            <a:r>
              <a:rPr lang="en-US" dirty="0">
                <a:solidFill>
                  <a:srgbClr val="569CD6"/>
                </a:solidFill>
                <a:latin typeface="Consolas" panose="020B0609020204030204" pitchFamily="49" charset="0"/>
              </a:rPr>
              <a:t>import</a:t>
            </a:r>
            <a:r>
              <a:rPr lang="en-US" dirty="0">
                <a:solidFill>
                  <a:srgbClr val="D4D4D4"/>
                </a:solidFill>
                <a:latin typeface="Consolas" panose="020B0609020204030204" pitchFamily="49" charset="0"/>
              </a:rPr>
              <a:t> App </a:t>
            </a:r>
            <a:r>
              <a:rPr lang="en-US" dirty="0">
                <a:solidFill>
                  <a:srgbClr val="569CD6"/>
                </a:solidFill>
                <a:latin typeface="Consolas" panose="020B0609020204030204" pitchFamily="49" charset="0"/>
              </a:rPr>
              <a:t>from</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'./App'</a:t>
            </a:r>
            <a:r>
              <a:rPr lang="en-US" dirty="0">
                <a:solidFill>
                  <a:srgbClr val="D4D4D4"/>
                </a:solidFill>
                <a:latin typeface="Consolas" panose="020B0609020204030204" pitchFamily="49" charset="0"/>
              </a:rPr>
              <a:t>;</a:t>
            </a:r>
          </a:p>
          <a:p>
            <a:r>
              <a:rPr lang="en-US" dirty="0">
                <a:solidFill>
                  <a:srgbClr val="569CD6"/>
                </a:solidFill>
                <a:latin typeface="Consolas" panose="020B0609020204030204" pitchFamily="49" charset="0"/>
              </a:rPr>
              <a:t>import</a:t>
            </a:r>
            <a:r>
              <a:rPr lang="en-US" dirty="0">
                <a:solidFill>
                  <a:srgbClr val="D4D4D4"/>
                </a:solidFill>
                <a:latin typeface="Consolas" panose="020B0609020204030204" pitchFamily="49" charset="0"/>
              </a:rPr>
              <a:t> </a:t>
            </a:r>
            <a:r>
              <a:rPr lang="en-US" dirty="0" err="1">
                <a:solidFill>
                  <a:srgbClr val="D4D4D4"/>
                </a:solidFill>
                <a:latin typeface="Consolas" panose="020B0609020204030204" pitchFamily="49" charset="0"/>
              </a:rPr>
              <a:t>reportWebVitals</a:t>
            </a:r>
            <a:r>
              <a:rPr lang="en-US" dirty="0">
                <a:solidFill>
                  <a:srgbClr val="D4D4D4"/>
                </a:solidFill>
                <a:latin typeface="Consolas" panose="020B0609020204030204" pitchFamily="49" charset="0"/>
              </a:rPr>
              <a:t> </a:t>
            </a:r>
            <a:r>
              <a:rPr lang="en-US" dirty="0">
                <a:solidFill>
                  <a:srgbClr val="569CD6"/>
                </a:solidFill>
                <a:latin typeface="Consolas" panose="020B0609020204030204" pitchFamily="49" charset="0"/>
              </a:rPr>
              <a:t>from</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a:t>
            </a:r>
            <a:r>
              <a:rPr lang="en-US" dirty="0" err="1">
                <a:solidFill>
                  <a:srgbClr val="CE9178"/>
                </a:solidFill>
                <a:latin typeface="Consolas" panose="020B0609020204030204" pitchFamily="49" charset="0"/>
              </a:rPr>
              <a:t>reportWebVitals</a:t>
            </a:r>
            <a:r>
              <a:rPr lang="en-US" dirty="0">
                <a:solidFill>
                  <a:srgbClr val="CE9178"/>
                </a:solidFill>
                <a:latin typeface="Consolas" panose="020B0609020204030204" pitchFamily="49" charset="0"/>
              </a:rPr>
              <a:t>'</a:t>
            </a:r>
            <a:r>
              <a:rPr lang="en-US" dirty="0">
                <a:solidFill>
                  <a:srgbClr val="D4D4D4"/>
                </a:solidFill>
                <a:latin typeface="Consolas" panose="020B0609020204030204" pitchFamily="49" charset="0"/>
              </a:rPr>
              <a:t>;</a:t>
            </a:r>
          </a:p>
          <a:p>
            <a:r>
              <a:rPr lang="en-US" dirty="0" err="1">
                <a:solidFill>
                  <a:srgbClr val="569CD6"/>
                </a:solidFill>
                <a:latin typeface="Consolas" panose="020B0609020204030204" pitchFamily="49" charset="0"/>
              </a:rPr>
              <a:t>const</a:t>
            </a:r>
            <a:r>
              <a:rPr lang="en-US" dirty="0">
                <a:solidFill>
                  <a:srgbClr val="D4D4D4"/>
                </a:solidFill>
                <a:latin typeface="Consolas" panose="020B0609020204030204" pitchFamily="49" charset="0"/>
              </a:rPr>
              <a:t> </a:t>
            </a:r>
            <a:r>
              <a:rPr lang="en-US" dirty="0" err="1">
                <a:solidFill>
                  <a:srgbClr val="D4D4D4"/>
                </a:solidFill>
                <a:latin typeface="Consolas" panose="020B0609020204030204" pitchFamily="49" charset="0"/>
              </a:rPr>
              <a:t>fname</a:t>
            </a:r>
            <a:r>
              <a:rPr lang="en-US" dirty="0">
                <a:solidFill>
                  <a:srgbClr val="D4D4D4"/>
                </a:solidFill>
                <a:latin typeface="Consolas" panose="020B0609020204030204" pitchFamily="49" charset="0"/>
              </a:rPr>
              <a:t> = </a:t>
            </a:r>
            <a:r>
              <a:rPr lang="en-US" dirty="0">
                <a:solidFill>
                  <a:srgbClr val="CE9178"/>
                </a:solidFill>
                <a:latin typeface="Consolas" panose="020B0609020204030204" pitchFamily="49" charset="0"/>
              </a:rPr>
              <a:t>'Life is beautiful'</a:t>
            </a:r>
            <a:r>
              <a:rPr lang="en-US" dirty="0">
                <a:solidFill>
                  <a:srgbClr val="D4D4D4"/>
                </a:solidFill>
                <a:latin typeface="Consolas" panose="020B0609020204030204" pitchFamily="49" charset="0"/>
              </a:rPr>
              <a:t>;</a:t>
            </a:r>
          </a:p>
          <a:p>
            <a:r>
              <a:rPr lang="en-US" dirty="0" err="1">
                <a:solidFill>
                  <a:srgbClr val="569CD6"/>
                </a:solidFill>
                <a:latin typeface="Consolas" panose="020B0609020204030204" pitchFamily="49" charset="0"/>
              </a:rPr>
              <a:t>const</a:t>
            </a:r>
            <a:r>
              <a:rPr lang="en-US" dirty="0">
                <a:solidFill>
                  <a:srgbClr val="D4D4D4"/>
                </a:solidFill>
                <a:latin typeface="Consolas" panose="020B0609020204030204" pitchFamily="49" charset="0"/>
              </a:rPr>
              <a:t> </a:t>
            </a:r>
            <a:r>
              <a:rPr lang="en-US" dirty="0" err="1">
                <a:solidFill>
                  <a:srgbClr val="D4D4D4"/>
                </a:solidFill>
                <a:latin typeface="Consolas" panose="020B0609020204030204" pitchFamily="49" charset="0"/>
              </a:rPr>
              <a:t>lname</a:t>
            </a:r>
            <a:r>
              <a:rPr lang="en-US" dirty="0">
                <a:solidFill>
                  <a:srgbClr val="D4D4D4"/>
                </a:solidFill>
                <a:latin typeface="Consolas" panose="020B0609020204030204" pitchFamily="49" charset="0"/>
              </a:rPr>
              <a:t> = </a:t>
            </a:r>
            <a:r>
              <a:rPr lang="en-US" dirty="0">
                <a:solidFill>
                  <a:srgbClr val="CE9178"/>
                </a:solidFill>
                <a:latin typeface="Consolas" panose="020B0609020204030204" pitchFamily="49" charset="0"/>
              </a:rPr>
              <a:t>'and wonderful'</a:t>
            </a:r>
            <a:r>
              <a:rPr lang="en-US" dirty="0">
                <a:solidFill>
                  <a:srgbClr val="D4D4D4"/>
                </a:solidFill>
                <a:latin typeface="Consolas" panose="020B0609020204030204" pitchFamily="49" charset="0"/>
              </a:rPr>
              <a:t>;</a:t>
            </a:r>
          </a:p>
          <a:p>
            <a:r>
              <a:rPr lang="en-US" dirty="0" err="1">
                <a:solidFill>
                  <a:srgbClr val="569CD6"/>
                </a:solidFill>
                <a:latin typeface="Consolas" panose="020B0609020204030204" pitchFamily="49" charset="0"/>
              </a:rPr>
              <a:t>const</a:t>
            </a:r>
            <a:r>
              <a:rPr lang="en-US" dirty="0">
                <a:solidFill>
                  <a:srgbClr val="D4D4D4"/>
                </a:solidFill>
                <a:latin typeface="Consolas" panose="020B0609020204030204" pitchFamily="49" charset="0"/>
              </a:rPr>
              <a:t> root = </a:t>
            </a:r>
            <a:r>
              <a:rPr lang="en-US" dirty="0" err="1">
                <a:solidFill>
                  <a:srgbClr val="D4D4D4"/>
                </a:solidFill>
                <a:latin typeface="Consolas" panose="020B0609020204030204" pitchFamily="49" charset="0"/>
              </a:rPr>
              <a:t>ReactDOM.createRoot</a:t>
            </a:r>
            <a:r>
              <a:rPr lang="en-US" dirty="0">
                <a:solidFill>
                  <a:srgbClr val="D4D4D4"/>
                </a:solidFill>
                <a:latin typeface="Consolas" panose="020B0609020204030204" pitchFamily="49" charset="0"/>
              </a:rPr>
              <a:t>(</a:t>
            </a:r>
            <a:r>
              <a:rPr lang="en-US" dirty="0" err="1">
                <a:solidFill>
                  <a:srgbClr val="D4D4D4"/>
                </a:solidFill>
                <a:latin typeface="Consolas" panose="020B0609020204030204" pitchFamily="49" charset="0"/>
              </a:rPr>
              <a:t>document.getElementById</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'root'</a:t>
            </a:r>
            <a:r>
              <a:rPr lang="en-US" dirty="0">
                <a:solidFill>
                  <a:srgbClr val="D4D4D4"/>
                </a:solidFill>
                <a:latin typeface="Consolas" panose="020B0609020204030204" pitchFamily="49" charset="0"/>
              </a:rPr>
              <a:t>));</a:t>
            </a:r>
          </a:p>
          <a:p>
            <a:r>
              <a:rPr lang="en-US" dirty="0" err="1">
                <a:solidFill>
                  <a:srgbClr val="D4D4D4"/>
                </a:solidFill>
                <a:latin typeface="Consolas" panose="020B0609020204030204" pitchFamily="49" charset="0"/>
              </a:rPr>
              <a:t>root.render</a:t>
            </a:r>
            <a:r>
              <a:rPr lang="en-US" dirty="0">
                <a:solidFill>
                  <a:srgbClr val="D4D4D4"/>
                </a:solidFill>
                <a:latin typeface="Consolas" panose="020B0609020204030204" pitchFamily="49" charset="0"/>
              </a:rPr>
              <a:t>(</a:t>
            </a:r>
          </a:p>
          <a:p>
            <a:r>
              <a:rPr lang="en-US" dirty="0">
                <a:solidFill>
                  <a:srgbClr val="D4D4D4"/>
                </a:solidFill>
                <a:latin typeface="Consolas" panose="020B0609020204030204" pitchFamily="49" charset="0"/>
              </a:rPr>
              <a:t>  </a:t>
            </a:r>
            <a:r>
              <a:rPr lang="en-US" dirty="0">
                <a:solidFill>
                  <a:srgbClr val="808080"/>
                </a:solidFill>
                <a:latin typeface="Consolas" panose="020B0609020204030204" pitchFamily="49" charset="0"/>
              </a:rPr>
              <a:t>&lt;&gt;</a:t>
            </a:r>
            <a:endParaRPr lang="en-US" dirty="0">
              <a:solidFill>
                <a:srgbClr val="D4D4D4"/>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a:solidFill>
                  <a:srgbClr val="808080"/>
                </a:solidFill>
                <a:latin typeface="Consolas" panose="020B0609020204030204" pitchFamily="49" charset="0"/>
              </a:rPr>
              <a:t>&lt;</a:t>
            </a:r>
            <a:r>
              <a:rPr lang="en-US" dirty="0">
                <a:solidFill>
                  <a:srgbClr val="569CD6"/>
                </a:solidFill>
                <a:latin typeface="Consolas" panose="020B0609020204030204" pitchFamily="49" charset="0"/>
              </a:rPr>
              <a:t>h1</a:t>
            </a:r>
            <a:r>
              <a:rPr lang="en-US" dirty="0">
                <a:solidFill>
                  <a:srgbClr val="808080"/>
                </a:solidFill>
                <a:latin typeface="Consolas" panose="020B0609020204030204" pitchFamily="49" charset="0"/>
              </a:rPr>
              <a:t>&gt;</a:t>
            </a:r>
            <a:r>
              <a:rPr lang="en-US" dirty="0">
                <a:solidFill>
                  <a:srgbClr val="D4D4D4"/>
                </a:solidFill>
                <a:latin typeface="Consolas" panose="020B0609020204030204" pitchFamily="49" charset="0"/>
              </a:rPr>
              <a:t> Hello World! </a:t>
            </a:r>
            <a:r>
              <a:rPr lang="en-US" dirty="0">
                <a:solidFill>
                  <a:srgbClr val="569CD6"/>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569CD6"/>
                </a:solidFill>
                <a:latin typeface="Consolas" panose="020B0609020204030204" pitchFamily="49" charset="0"/>
              </a:rPr>
              <a:t>${</a:t>
            </a:r>
            <a:r>
              <a:rPr lang="en-US" dirty="0" err="1">
                <a:solidFill>
                  <a:srgbClr val="D4D4D4"/>
                </a:solidFill>
                <a:latin typeface="Consolas" panose="020B0609020204030204" pitchFamily="49" charset="0"/>
              </a:rPr>
              <a:t>fname</a:t>
            </a:r>
            <a:r>
              <a:rPr lang="en-US" dirty="0">
                <a:solidFill>
                  <a:srgbClr val="569CD6"/>
                </a:solidFill>
                <a:latin typeface="Consolas" panose="020B0609020204030204" pitchFamily="49" charset="0"/>
              </a:rPr>
              <a:t>}</a:t>
            </a:r>
            <a:r>
              <a:rPr lang="en-US" dirty="0">
                <a:solidFill>
                  <a:srgbClr val="CE9178"/>
                </a:solidFill>
                <a:latin typeface="Consolas" panose="020B0609020204030204" pitchFamily="49" charset="0"/>
              </a:rPr>
              <a:t> </a:t>
            </a:r>
            <a:r>
              <a:rPr lang="en-US" dirty="0">
                <a:solidFill>
                  <a:srgbClr val="569CD6"/>
                </a:solidFill>
                <a:latin typeface="Consolas" panose="020B0609020204030204" pitchFamily="49" charset="0"/>
              </a:rPr>
              <a:t>${</a:t>
            </a:r>
            <a:r>
              <a:rPr lang="en-US" dirty="0" err="1">
                <a:solidFill>
                  <a:srgbClr val="D4D4D4"/>
                </a:solidFill>
                <a:latin typeface="Consolas" panose="020B0609020204030204" pitchFamily="49" charset="0"/>
              </a:rPr>
              <a:t>lname</a:t>
            </a:r>
            <a:r>
              <a:rPr lang="en-US" dirty="0">
                <a:solidFill>
                  <a:srgbClr val="569CD6"/>
                </a:solidFill>
                <a:latin typeface="Consolas" panose="020B0609020204030204" pitchFamily="49" charset="0"/>
              </a:rPr>
              <a:t>}</a:t>
            </a:r>
            <a:r>
              <a:rPr lang="en-US" dirty="0">
                <a:solidFill>
                  <a:srgbClr val="CE9178"/>
                </a:solidFill>
                <a:latin typeface="Consolas" panose="020B0609020204030204" pitchFamily="49" charset="0"/>
              </a:rPr>
              <a:t>`</a:t>
            </a:r>
            <a:r>
              <a:rPr lang="en-US" dirty="0">
                <a:solidFill>
                  <a:srgbClr val="569CD6"/>
                </a:solidFill>
                <a:latin typeface="Consolas" panose="020B0609020204030204" pitchFamily="49" charset="0"/>
              </a:rPr>
              <a:t>}</a:t>
            </a:r>
            <a:r>
              <a:rPr lang="en-US" dirty="0">
                <a:solidFill>
                  <a:srgbClr val="808080"/>
                </a:solidFill>
                <a:latin typeface="Consolas" panose="020B0609020204030204" pitchFamily="49" charset="0"/>
              </a:rPr>
              <a:t>&lt;/</a:t>
            </a:r>
            <a:r>
              <a:rPr lang="en-US" dirty="0">
                <a:solidFill>
                  <a:srgbClr val="569CD6"/>
                </a:solidFill>
                <a:latin typeface="Consolas" panose="020B0609020204030204" pitchFamily="49" charset="0"/>
              </a:rPr>
              <a:t>h1</a:t>
            </a:r>
            <a:r>
              <a:rPr lang="en-US" dirty="0">
                <a:solidFill>
                  <a:srgbClr val="808080"/>
                </a:solidFill>
                <a:latin typeface="Consolas" panose="020B0609020204030204" pitchFamily="49" charset="0"/>
              </a:rPr>
              <a:t>&gt;</a:t>
            </a:r>
            <a:endParaRPr lang="en-US" dirty="0">
              <a:solidFill>
                <a:srgbClr val="D4D4D4"/>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a:solidFill>
                  <a:srgbClr val="808080"/>
                </a:solidFill>
                <a:latin typeface="Consolas" panose="020B0609020204030204" pitchFamily="49" charset="0"/>
              </a:rPr>
              <a:t>&lt;</a:t>
            </a:r>
            <a:r>
              <a:rPr lang="en-US" dirty="0">
                <a:solidFill>
                  <a:srgbClr val="569CD6"/>
                </a:solidFill>
                <a:latin typeface="Consolas" panose="020B0609020204030204" pitchFamily="49" charset="0"/>
              </a:rPr>
              <a:t>p</a:t>
            </a:r>
            <a:r>
              <a:rPr lang="en-US" dirty="0">
                <a:solidFill>
                  <a:srgbClr val="808080"/>
                </a:solidFill>
                <a:latin typeface="Consolas" panose="020B0609020204030204" pitchFamily="49" charset="0"/>
              </a:rPr>
              <a:t>&gt;</a:t>
            </a:r>
            <a:r>
              <a:rPr lang="en-US" dirty="0">
                <a:solidFill>
                  <a:srgbClr val="D4D4D4"/>
                </a:solidFill>
                <a:latin typeface="Consolas" panose="020B0609020204030204" pitchFamily="49" charset="0"/>
              </a:rPr>
              <a:t> Adding two numbers </a:t>
            </a:r>
            <a:r>
              <a:rPr lang="en-US" dirty="0">
                <a:solidFill>
                  <a:srgbClr val="569CD6"/>
                </a:solidFill>
                <a:latin typeface="Consolas" panose="020B0609020204030204" pitchFamily="49" charset="0"/>
              </a:rPr>
              <a:t>{</a:t>
            </a:r>
            <a:r>
              <a:rPr lang="en-US" dirty="0">
                <a:solidFill>
                  <a:srgbClr val="B5CEA8"/>
                </a:solidFill>
                <a:latin typeface="Consolas" panose="020B0609020204030204" pitchFamily="49" charset="0"/>
              </a:rPr>
              <a:t>3</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2</a:t>
            </a:r>
            <a:r>
              <a:rPr lang="en-US" dirty="0">
                <a:solidFill>
                  <a:srgbClr val="569CD6"/>
                </a:solidFill>
                <a:latin typeface="Consolas" panose="020B0609020204030204" pitchFamily="49" charset="0"/>
              </a:rPr>
              <a:t>}</a:t>
            </a:r>
            <a:r>
              <a:rPr lang="en-US" dirty="0">
                <a:solidFill>
                  <a:srgbClr val="D4D4D4"/>
                </a:solidFill>
                <a:latin typeface="Consolas" panose="020B0609020204030204" pitchFamily="49" charset="0"/>
              </a:rPr>
              <a:t> </a:t>
            </a:r>
            <a:r>
              <a:rPr lang="en-US" dirty="0">
                <a:solidFill>
                  <a:srgbClr val="808080"/>
                </a:solidFill>
                <a:latin typeface="Consolas" panose="020B0609020204030204" pitchFamily="49" charset="0"/>
              </a:rPr>
              <a:t>&lt;/</a:t>
            </a:r>
            <a:r>
              <a:rPr lang="en-US" dirty="0">
                <a:solidFill>
                  <a:srgbClr val="569CD6"/>
                </a:solidFill>
                <a:latin typeface="Consolas" panose="020B0609020204030204" pitchFamily="49" charset="0"/>
              </a:rPr>
              <a:t>p</a:t>
            </a:r>
            <a:r>
              <a:rPr lang="en-US" dirty="0">
                <a:solidFill>
                  <a:srgbClr val="808080"/>
                </a:solidFill>
                <a:latin typeface="Consolas" panose="020B0609020204030204" pitchFamily="49" charset="0"/>
              </a:rPr>
              <a:t>&gt;</a:t>
            </a:r>
            <a:endParaRPr lang="en-US" dirty="0">
              <a:solidFill>
                <a:srgbClr val="D4D4D4"/>
              </a:solidFill>
              <a:latin typeface="Consolas" panose="020B0609020204030204" pitchFamily="49" charset="0"/>
            </a:endParaRPr>
          </a:p>
          <a:p>
            <a:r>
              <a:rPr lang="en-US" dirty="0">
                <a:solidFill>
                  <a:srgbClr val="808080"/>
                </a:solidFill>
                <a:latin typeface="Consolas" panose="020B0609020204030204" pitchFamily="49" charset="0"/>
              </a:rPr>
              <a:t>&lt;/&gt;</a:t>
            </a:r>
            <a:endParaRPr lang="en-US" dirty="0">
              <a:solidFill>
                <a:srgbClr val="D4D4D4"/>
              </a:solidFill>
              <a:latin typeface="Consolas" panose="020B0609020204030204" pitchFamily="49" charset="0"/>
            </a:endParaRPr>
          </a:p>
          <a:p>
            <a:r>
              <a:rPr lang="en-US" dirty="0">
                <a:solidFill>
                  <a:srgbClr val="D4D4D4"/>
                </a:solidFill>
                <a:latin typeface="Consolas" panose="020B0609020204030204" pitchFamily="49" charset="0"/>
              </a:rPr>
              <a:t>);</a:t>
            </a:r>
          </a:p>
          <a:p>
            <a:r>
              <a:rPr lang="en-US" dirty="0" err="1">
                <a:solidFill>
                  <a:srgbClr val="D4D4D4"/>
                </a:solidFill>
                <a:latin typeface="Consolas" panose="020B0609020204030204" pitchFamily="49" charset="0"/>
              </a:rPr>
              <a:t>reportWebVitals</a:t>
            </a:r>
            <a:r>
              <a:rPr lang="en-US" dirty="0">
                <a:solidFill>
                  <a:srgbClr val="D4D4D4"/>
                </a:solidFill>
                <a:latin typeface="Consolas" panose="020B0609020204030204" pitchFamily="49" charset="0"/>
              </a:rPr>
              <a:t>();</a:t>
            </a:r>
          </a:p>
          <a:p>
            <a:br>
              <a:rPr lang="en-US" dirty="0">
                <a:solidFill>
                  <a:srgbClr val="D4D4D4"/>
                </a:solidFill>
                <a:latin typeface="Consolas" panose="020B0609020204030204" pitchFamily="49" charset="0"/>
              </a:rPr>
            </a:br>
            <a:endParaRPr lang="en-US" b="0" dirty="0">
              <a:solidFill>
                <a:srgbClr val="D4D4D4"/>
              </a:solidFill>
              <a:effectLst/>
              <a:latin typeface="Consolas" panose="020B0609020204030204" pitchFamily="49" charset="0"/>
            </a:endParaRPr>
          </a:p>
        </p:txBody>
      </p:sp>
      <p:pic>
        <p:nvPicPr>
          <p:cNvPr id="10" name="Picture 9"/>
          <p:cNvPicPr>
            <a:picLocks noChangeAspect="1"/>
          </p:cNvPicPr>
          <p:nvPr/>
        </p:nvPicPr>
        <p:blipFill>
          <a:blip r:embed="rId2"/>
          <a:stretch>
            <a:fillRect/>
          </a:stretch>
        </p:blipFill>
        <p:spPr>
          <a:xfrm>
            <a:off x="6533105" y="2184767"/>
            <a:ext cx="5658895" cy="3726636"/>
          </a:xfrm>
          <a:prstGeom prst="rect">
            <a:avLst/>
          </a:prstGeom>
        </p:spPr>
      </p:pic>
    </p:spTree>
    <p:extLst>
      <p:ext uri="{BB962C8B-B14F-4D97-AF65-F5344CB8AC3E}">
        <p14:creationId xmlns:p14="http://schemas.microsoft.com/office/powerpoint/2010/main" val="2894104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570496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Current date and Time </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11</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sp>
        <p:nvSpPr>
          <p:cNvPr id="9" name="Rectangle 8"/>
          <p:cNvSpPr/>
          <p:nvPr/>
        </p:nvSpPr>
        <p:spPr>
          <a:xfrm>
            <a:off x="321194" y="1598613"/>
            <a:ext cx="9389475" cy="4801314"/>
          </a:xfrm>
          <a:prstGeom prst="rect">
            <a:avLst/>
          </a:prstGeom>
        </p:spPr>
        <p:txBody>
          <a:bodyPr wrap="square">
            <a:spAutoFit/>
          </a:bodyPr>
          <a:lstStyle/>
          <a:p>
            <a:r>
              <a:rPr lang="en-US">
                <a:solidFill>
                  <a:srgbClr val="569CD6"/>
                </a:solidFill>
                <a:latin typeface="Consolas" panose="020B0609020204030204" pitchFamily="49" charset="0"/>
              </a:rPr>
              <a:t>import</a:t>
            </a:r>
            <a:r>
              <a:rPr lang="en-US">
                <a:solidFill>
                  <a:srgbClr val="D4D4D4"/>
                </a:solidFill>
                <a:latin typeface="Consolas" panose="020B0609020204030204" pitchFamily="49" charset="0"/>
              </a:rPr>
              <a:t> React </a:t>
            </a:r>
            <a:r>
              <a:rPr lang="en-US">
                <a:solidFill>
                  <a:srgbClr val="569CD6"/>
                </a:solidFill>
                <a:latin typeface="Consolas" panose="020B0609020204030204" pitchFamily="49" charset="0"/>
              </a:rPr>
              <a:t>from</a:t>
            </a:r>
            <a:r>
              <a:rPr lang="en-US">
                <a:solidFill>
                  <a:srgbClr val="D4D4D4"/>
                </a:solidFill>
                <a:latin typeface="Consolas" panose="020B0609020204030204" pitchFamily="49" charset="0"/>
              </a:rPr>
              <a:t> </a:t>
            </a:r>
            <a:r>
              <a:rPr lang="en-US">
                <a:solidFill>
                  <a:srgbClr val="CE9178"/>
                </a:solidFill>
                <a:latin typeface="Consolas" panose="020B0609020204030204" pitchFamily="49" charset="0"/>
              </a:rPr>
              <a:t>'react'</a:t>
            </a:r>
            <a:r>
              <a:rPr lang="en-US">
                <a:solidFill>
                  <a:srgbClr val="D4D4D4"/>
                </a:solidFill>
                <a:latin typeface="Consolas" panose="020B0609020204030204" pitchFamily="49" charset="0"/>
              </a:rPr>
              <a:t>;</a:t>
            </a:r>
          </a:p>
          <a:p>
            <a:r>
              <a:rPr lang="en-US">
                <a:solidFill>
                  <a:srgbClr val="569CD6"/>
                </a:solidFill>
                <a:latin typeface="Consolas" panose="020B0609020204030204" pitchFamily="49" charset="0"/>
              </a:rPr>
              <a:t>import</a:t>
            </a:r>
            <a:r>
              <a:rPr lang="en-US">
                <a:solidFill>
                  <a:srgbClr val="D4D4D4"/>
                </a:solidFill>
                <a:latin typeface="Consolas" panose="020B0609020204030204" pitchFamily="49" charset="0"/>
              </a:rPr>
              <a:t> ReactDOM </a:t>
            </a:r>
            <a:r>
              <a:rPr lang="en-US">
                <a:solidFill>
                  <a:srgbClr val="569CD6"/>
                </a:solidFill>
                <a:latin typeface="Consolas" panose="020B0609020204030204" pitchFamily="49" charset="0"/>
              </a:rPr>
              <a:t>from</a:t>
            </a:r>
            <a:r>
              <a:rPr lang="en-US">
                <a:solidFill>
                  <a:srgbClr val="D4D4D4"/>
                </a:solidFill>
                <a:latin typeface="Consolas" panose="020B0609020204030204" pitchFamily="49" charset="0"/>
              </a:rPr>
              <a:t> </a:t>
            </a:r>
            <a:r>
              <a:rPr lang="en-US">
                <a:solidFill>
                  <a:srgbClr val="CE9178"/>
                </a:solidFill>
                <a:latin typeface="Consolas" panose="020B0609020204030204" pitchFamily="49" charset="0"/>
              </a:rPr>
              <a:t>'react-dom/client'</a:t>
            </a:r>
            <a:r>
              <a:rPr lang="en-US">
                <a:solidFill>
                  <a:srgbClr val="D4D4D4"/>
                </a:solidFill>
                <a:latin typeface="Consolas" panose="020B0609020204030204" pitchFamily="49" charset="0"/>
              </a:rPr>
              <a:t>;</a:t>
            </a:r>
          </a:p>
          <a:p>
            <a:r>
              <a:rPr lang="en-US">
                <a:solidFill>
                  <a:srgbClr val="569CD6"/>
                </a:solidFill>
                <a:latin typeface="Consolas" panose="020B0609020204030204" pitchFamily="49" charset="0"/>
              </a:rPr>
              <a:t>import</a:t>
            </a:r>
            <a:r>
              <a:rPr lang="en-US">
                <a:solidFill>
                  <a:srgbClr val="D4D4D4"/>
                </a:solidFill>
                <a:latin typeface="Consolas" panose="020B0609020204030204" pitchFamily="49" charset="0"/>
              </a:rPr>
              <a:t> </a:t>
            </a:r>
            <a:r>
              <a:rPr lang="en-US">
                <a:solidFill>
                  <a:srgbClr val="CE9178"/>
                </a:solidFill>
                <a:latin typeface="Consolas" panose="020B0609020204030204" pitchFamily="49" charset="0"/>
              </a:rPr>
              <a:t>'./index.css'</a:t>
            </a:r>
            <a:r>
              <a:rPr lang="en-US">
                <a:solidFill>
                  <a:srgbClr val="D4D4D4"/>
                </a:solidFill>
                <a:latin typeface="Consolas" panose="020B0609020204030204" pitchFamily="49" charset="0"/>
              </a:rPr>
              <a:t>;</a:t>
            </a:r>
          </a:p>
          <a:p>
            <a:r>
              <a:rPr lang="en-US">
                <a:solidFill>
                  <a:srgbClr val="569CD6"/>
                </a:solidFill>
                <a:latin typeface="Consolas" panose="020B0609020204030204" pitchFamily="49" charset="0"/>
              </a:rPr>
              <a:t>import</a:t>
            </a:r>
            <a:r>
              <a:rPr lang="en-US">
                <a:solidFill>
                  <a:srgbClr val="D4D4D4"/>
                </a:solidFill>
                <a:latin typeface="Consolas" panose="020B0609020204030204" pitchFamily="49" charset="0"/>
              </a:rPr>
              <a:t> App </a:t>
            </a:r>
            <a:r>
              <a:rPr lang="en-US">
                <a:solidFill>
                  <a:srgbClr val="569CD6"/>
                </a:solidFill>
                <a:latin typeface="Consolas" panose="020B0609020204030204" pitchFamily="49" charset="0"/>
              </a:rPr>
              <a:t>from</a:t>
            </a:r>
            <a:r>
              <a:rPr lang="en-US">
                <a:solidFill>
                  <a:srgbClr val="D4D4D4"/>
                </a:solidFill>
                <a:latin typeface="Consolas" panose="020B0609020204030204" pitchFamily="49" charset="0"/>
              </a:rPr>
              <a:t> </a:t>
            </a:r>
            <a:r>
              <a:rPr lang="en-US">
                <a:solidFill>
                  <a:srgbClr val="CE9178"/>
                </a:solidFill>
                <a:latin typeface="Consolas" panose="020B0609020204030204" pitchFamily="49" charset="0"/>
              </a:rPr>
              <a:t>'./App'</a:t>
            </a:r>
            <a:r>
              <a:rPr lang="en-US">
                <a:solidFill>
                  <a:srgbClr val="D4D4D4"/>
                </a:solidFill>
                <a:latin typeface="Consolas" panose="020B0609020204030204" pitchFamily="49" charset="0"/>
              </a:rPr>
              <a:t>;</a:t>
            </a:r>
          </a:p>
          <a:p>
            <a:r>
              <a:rPr lang="en-US">
                <a:solidFill>
                  <a:srgbClr val="569CD6"/>
                </a:solidFill>
                <a:latin typeface="Consolas" panose="020B0609020204030204" pitchFamily="49" charset="0"/>
              </a:rPr>
              <a:t>import</a:t>
            </a:r>
            <a:r>
              <a:rPr lang="en-US">
                <a:solidFill>
                  <a:srgbClr val="D4D4D4"/>
                </a:solidFill>
                <a:latin typeface="Consolas" panose="020B0609020204030204" pitchFamily="49" charset="0"/>
              </a:rPr>
              <a:t> reportWebVitals </a:t>
            </a:r>
            <a:r>
              <a:rPr lang="en-US">
                <a:solidFill>
                  <a:srgbClr val="569CD6"/>
                </a:solidFill>
                <a:latin typeface="Consolas" panose="020B0609020204030204" pitchFamily="49" charset="0"/>
              </a:rPr>
              <a:t>from</a:t>
            </a:r>
            <a:r>
              <a:rPr lang="en-US">
                <a:solidFill>
                  <a:srgbClr val="D4D4D4"/>
                </a:solidFill>
                <a:latin typeface="Consolas" panose="020B0609020204030204" pitchFamily="49" charset="0"/>
              </a:rPr>
              <a:t> </a:t>
            </a:r>
            <a:r>
              <a:rPr lang="en-US">
                <a:solidFill>
                  <a:srgbClr val="CE9178"/>
                </a:solidFill>
                <a:latin typeface="Consolas" panose="020B0609020204030204" pitchFamily="49" charset="0"/>
              </a:rPr>
              <a:t>'./reportWebVitals'</a:t>
            </a:r>
            <a:r>
              <a:rPr lang="en-US">
                <a:solidFill>
                  <a:srgbClr val="D4D4D4"/>
                </a:solidFill>
                <a:latin typeface="Consolas" panose="020B0609020204030204" pitchFamily="49" charset="0"/>
              </a:rPr>
              <a:t>;</a:t>
            </a:r>
          </a:p>
          <a:p>
            <a:r>
              <a:rPr lang="en-US">
                <a:solidFill>
                  <a:srgbClr val="569CD6"/>
                </a:solidFill>
                <a:latin typeface="Consolas" panose="020B0609020204030204" pitchFamily="49" charset="0"/>
              </a:rPr>
              <a:t>const</a:t>
            </a:r>
            <a:r>
              <a:rPr lang="en-US">
                <a:solidFill>
                  <a:srgbClr val="D4D4D4"/>
                </a:solidFill>
                <a:latin typeface="Consolas" panose="020B0609020204030204" pitchFamily="49" charset="0"/>
              </a:rPr>
              <a:t> fname = </a:t>
            </a:r>
            <a:r>
              <a:rPr lang="en-US">
                <a:solidFill>
                  <a:srgbClr val="CE9178"/>
                </a:solidFill>
                <a:latin typeface="Consolas" panose="020B0609020204030204" pitchFamily="49" charset="0"/>
              </a:rPr>
              <a:t>'Life is beautiful'</a:t>
            </a:r>
            <a:r>
              <a:rPr lang="en-US">
                <a:solidFill>
                  <a:srgbClr val="D4D4D4"/>
                </a:solidFill>
                <a:latin typeface="Consolas" panose="020B0609020204030204" pitchFamily="49" charset="0"/>
              </a:rPr>
              <a:t>;</a:t>
            </a:r>
          </a:p>
          <a:p>
            <a:r>
              <a:rPr lang="en-US">
                <a:solidFill>
                  <a:srgbClr val="569CD6"/>
                </a:solidFill>
                <a:latin typeface="Consolas" panose="020B0609020204030204" pitchFamily="49" charset="0"/>
              </a:rPr>
              <a:t>const</a:t>
            </a:r>
            <a:r>
              <a:rPr lang="en-US">
                <a:solidFill>
                  <a:srgbClr val="D4D4D4"/>
                </a:solidFill>
                <a:latin typeface="Consolas" panose="020B0609020204030204" pitchFamily="49" charset="0"/>
              </a:rPr>
              <a:t> currDate = </a:t>
            </a:r>
            <a:r>
              <a:rPr lang="en-US">
                <a:solidFill>
                  <a:srgbClr val="569CD6"/>
                </a:solidFill>
                <a:latin typeface="Consolas" panose="020B0609020204030204" pitchFamily="49" charset="0"/>
              </a:rPr>
              <a:t>new</a:t>
            </a:r>
            <a:r>
              <a:rPr lang="en-US">
                <a:solidFill>
                  <a:srgbClr val="D4D4D4"/>
                </a:solidFill>
                <a:latin typeface="Consolas" panose="020B0609020204030204" pitchFamily="49" charset="0"/>
              </a:rPr>
              <a:t> Date().toLocaleDateString();</a:t>
            </a:r>
          </a:p>
          <a:p>
            <a:r>
              <a:rPr lang="en-US">
                <a:solidFill>
                  <a:srgbClr val="569CD6"/>
                </a:solidFill>
                <a:latin typeface="Consolas" panose="020B0609020204030204" pitchFamily="49" charset="0"/>
              </a:rPr>
              <a:t>const</a:t>
            </a:r>
            <a:r>
              <a:rPr lang="en-US">
                <a:solidFill>
                  <a:srgbClr val="D4D4D4"/>
                </a:solidFill>
                <a:latin typeface="Consolas" panose="020B0609020204030204" pitchFamily="49" charset="0"/>
              </a:rPr>
              <a:t> currTime = </a:t>
            </a:r>
            <a:r>
              <a:rPr lang="en-US">
                <a:solidFill>
                  <a:srgbClr val="569CD6"/>
                </a:solidFill>
                <a:latin typeface="Consolas" panose="020B0609020204030204" pitchFamily="49" charset="0"/>
              </a:rPr>
              <a:t>new</a:t>
            </a:r>
            <a:r>
              <a:rPr lang="en-US">
                <a:solidFill>
                  <a:srgbClr val="D4D4D4"/>
                </a:solidFill>
                <a:latin typeface="Consolas" panose="020B0609020204030204" pitchFamily="49" charset="0"/>
              </a:rPr>
              <a:t> Date().toLocaleTimeString();</a:t>
            </a:r>
          </a:p>
          <a:p>
            <a:r>
              <a:rPr lang="en-US">
                <a:solidFill>
                  <a:srgbClr val="569CD6"/>
                </a:solidFill>
                <a:latin typeface="Consolas" panose="020B0609020204030204" pitchFamily="49" charset="0"/>
              </a:rPr>
              <a:t>const</a:t>
            </a:r>
            <a:r>
              <a:rPr lang="en-US">
                <a:solidFill>
                  <a:srgbClr val="D4D4D4"/>
                </a:solidFill>
                <a:latin typeface="Consolas" panose="020B0609020204030204" pitchFamily="49" charset="0"/>
              </a:rPr>
              <a:t> root = ReactDOM.createRoot(document.getElementById(</a:t>
            </a:r>
            <a:r>
              <a:rPr lang="en-US">
                <a:solidFill>
                  <a:srgbClr val="CE9178"/>
                </a:solidFill>
                <a:latin typeface="Consolas" panose="020B0609020204030204" pitchFamily="49" charset="0"/>
              </a:rPr>
              <a:t>'root'</a:t>
            </a:r>
            <a:r>
              <a:rPr lang="en-US">
                <a:solidFill>
                  <a:srgbClr val="D4D4D4"/>
                </a:solidFill>
                <a:latin typeface="Consolas" panose="020B0609020204030204" pitchFamily="49" charset="0"/>
              </a:rPr>
              <a:t>));</a:t>
            </a:r>
          </a:p>
          <a:p>
            <a:r>
              <a:rPr lang="en-US">
                <a:solidFill>
                  <a:srgbClr val="D4D4D4"/>
                </a:solidFill>
                <a:latin typeface="Consolas" panose="020B0609020204030204" pitchFamily="49" charset="0"/>
              </a:rPr>
              <a:t>root.render(</a:t>
            </a:r>
          </a:p>
          <a:p>
            <a:r>
              <a:rPr lang="en-US">
                <a:solidFill>
                  <a:srgbClr val="D4D4D4"/>
                </a:solidFill>
                <a:latin typeface="Consolas" panose="020B0609020204030204" pitchFamily="49" charset="0"/>
              </a:rPr>
              <a:t>  </a:t>
            </a:r>
            <a:r>
              <a:rPr lang="en-US">
                <a:solidFill>
                  <a:srgbClr val="808080"/>
                </a:solidFill>
                <a:latin typeface="Consolas" panose="020B0609020204030204" pitchFamily="49" charset="0"/>
              </a:rPr>
              <a:t>&lt;&gt;</a:t>
            </a:r>
            <a:endParaRPr lang="en-US">
              <a:solidFill>
                <a:srgbClr val="D4D4D4"/>
              </a:solidFill>
              <a:latin typeface="Consolas" panose="020B0609020204030204" pitchFamily="49" charset="0"/>
            </a:endParaRPr>
          </a:p>
          <a:p>
            <a:r>
              <a:rPr lang="en-US">
                <a:solidFill>
                  <a:srgbClr val="D4D4D4"/>
                </a:solidFill>
                <a:latin typeface="Consolas" panose="020B0609020204030204" pitchFamily="49" charset="0"/>
              </a:rPr>
              <a:t>  </a:t>
            </a:r>
            <a:r>
              <a:rPr lang="en-US">
                <a:solidFill>
                  <a:srgbClr val="808080"/>
                </a:solidFill>
                <a:latin typeface="Consolas" panose="020B0609020204030204" pitchFamily="49" charset="0"/>
              </a:rPr>
              <a:t>&lt;</a:t>
            </a:r>
            <a:r>
              <a:rPr lang="en-US">
                <a:solidFill>
                  <a:srgbClr val="569CD6"/>
                </a:solidFill>
                <a:latin typeface="Consolas" panose="020B0609020204030204" pitchFamily="49" charset="0"/>
              </a:rPr>
              <a:t>h1</a:t>
            </a:r>
            <a:r>
              <a:rPr lang="en-US">
                <a:solidFill>
                  <a:srgbClr val="808080"/>
                </a:solidFill>
                <a:latin typeface="Consolas" panose="020B0609020204030204" pitchFamily="49" charset="0"/>
              </a:rPr>
              <a:t>&gt;</a:t>
            </a:r>
            <a:r>
              <a:rPr lang="en-US">
                <a:solidFill>
                  <a:srgbClr val="D4D4D4"/>
                </a:solidFill>
                <a:latin typeface="Consolas" panose="020B0609020204030204" pitchFamily="49" charset="0"/>
              </a:rPr>
              <a:t> Hello World! </a:t>
            </a:r>
            <a:r>
              <a:rPr lang="en-US">
                <a:solidFill>
                  <a:srgbClr val="569CD6"/>
                </a:solidFill>
                <a:latin typeface="Consolas" panose="020B0609020204030204" pitchFamily="49" charset="0"/>
              </a:rPr>
              <a:t>{</a:t>
            </a:r>
            <a:r>
              <a:rPr lang="en-US">
                <a:solidFill>
                  <a:srgbClr val="CE9178"/>
                </a:solidFill>
                <a:latin typeface="Consolas" panose="020B0609020204030204" pitchFamily="49" charset="0"/>
              </a:rPr>
              <a:t>`</a:t>
            </a:r>
            <a:r>
              <a:rPr lang="en-US">
                <a:solidFill>
                  <a:srgbClr val="569CD6"/>
                </a:solidFill>
                <a:latin typeface="Consolas" panose="020B0609020204030204" pitchFamily="49" charset="0"/>
              </a:rPr>
              <a:t>${</a:t>
            </a:r>
            <a:r>
              <a:rPr lang="en-US">
                <a:solidFill>
                  <a:srgbClr val="D4D4D4"/>
                </a:solidFill>
                <a:latin typeface="Consolas" panose="020B0609020204030204" pitchFamily="49" charset="0"/>
              </a:rPr>
              <a:t>fname</a:t>
            </a:r>
            <a:r>
              <a:rPr lang="en-US">
                <a:solidFill>
                  <a:srgbClr val="569CD6"/>
                </a:solidFill>
                <a:latin typeface="Consolas" panose="020B0609020204030204" pitchFamily="49" charset="0"/>
              </a:rPr>
              <a:t>}</a:t>
            </a:r>
            <a:r>
              <a:rPr lang="en-US">
                <a:solidFill>
                  <a:srgbClr val="CE9178"/>
                </a:solidFill>
                <a:latin typeface="Consolas" panose="020B0609020204030204" pitchFamily="49" charset="0"/>
              </a:rPr>
              <a:t>`</a:t>
            </a:r>
            <a:r>
              <a:rPr lang="en-US">
                <a:solidFill>
                  <a:srgbClr val="569CD6"/>
                </a:solidFill>
                <a:latin typeface="Consolas" panose="020B0609020204030204" pitchFamily="49" charset="0"/>
              </a:rPr>
              <a:t>}</a:t>
            </a:r>
            <a:r>
              <a:rPr lang="en-US">
                <a:solidFill>
                  <a:srgbClr val="808080"/>
                </a:solidFill>
                <a:latin typeface="Consolas" panose="020B0609020204030204" pitchFamily="49" charset="0"/>
              </a:rPr>
              <a:t>&lt;/</a:t>
            </a:r>
            <a:r>
              <a:rPr lang="en-US">
                <a:solidFill>
                  <a:srgbClr val="569CD6"/>
                </a:solidFill>
                <a:latin typeface="Consolas" panose="020B0609020204030204" pitchFamily="49" charset="0"/>
              </a:rPr>
              <a:t>h1</a:t>
            </a:r>
            <a:r>
              <a:rPr lang="en-US">
                <a:solidFill>
                  <a:srgbClr val="808080"/>
                </a:solidFill>
                <a:latin typeface="Consolas" panose="020B0609020204030204" pitchFamily="49" charset="0"/>
              </a:rPr>
              <a:t>&gt;</a:t>
            </a:r>
            <a:endParaRPr lang="en-US">
              <a:solidFill>
                <a:srgbClr val="D4D4D4"/>
              </a:solidFill>
              <a:latin typeface="Consolas" panose="020B0609020204030204" pitchFamily="49" charset="0"/>
            </a:endParaRPr>
          </a:p>
          <a:p>
            <a:r>
              <a:rPr lang="en-US">
                <a:solidFill>
                  <a:srgbClr val="D4D4D4"/>
                </a:solidFill>
                <a:latin typeface="Consolas" panose="020B0609020204030204" pitchFamily="49" charset="0"/>
              </a:rPr>
              <a:t>  </a:t>
            </a:r>
            <a:r>
              <a:rPr lang="en-US">
                <a:solidFill>
                  <a:srgbClr val="808080"/>
                </a:solidFill>
                <a:latin typeface="Consolas" panose="020B0609020204030204" pitchFamily="49" charset="0"/>
              </a:rPr>
              <a:t>&lt;</a:t>
            </a:r>
            <a:r>
              <a:rPr lang="en-US">
                <a:solidFill>
                  <a:srgbClr val="569CD6"/>
                </a:solidFill>
                <a:latin typeface="Consolas" panose="020B0609020204030204" pitchFamily="49" charset="0"/>
              </a:rPr>
              <a:t>p</a:t>
            </a:r>
            <a:r>
              <a:rPr lang="en-US">
                <a:solidFill>
                  <a:srgbClr val="808080"/>
                </a:solidFill>
                <a:latin typeface="Consolas" panose="020B0609020204030204" pitchFamily="49" charset="0"/>
              </a:rPr>
              <a:t>&gt;</a:t>
            </a:r>
            <a:r>
              <a:rPr lang="en-US">
                <a:solidFill>
                  <a:srgbClr val="D4D4D4"/>
                </a:solidFill>
                <a:latin typeface="Consolas" panose="020B0609020204030204" pitchFamily="49" charset="0"/>
              </a:rPr>
              <a:t>The current data is </a:t>
            </a:r>
            <a:r>
              <a:rPr lang="en-US">
                <a:solidFill>
                  <a:srgbClr val="569CD6"/>
                </a:solidFill>
                <a:latin typeface="Consolas" panose="020B0609020204030204" pitchFamily="49" charset="0"/>
              </a:rPr>
              <a:t>{</a:t>
            </a:r>
            <a:r>
              <a:rPr lang="en-US">
                <a:solidFill>
                  <a:srgbClr val="D4D4D4"/>
                </a:solidFill>
                <a:latin typeface="Consolas" panose="020B0609020204030204" pitchFamily="49" charset="0"/>
              </a:rPr>
              <a:t>currDate</a:t>
            </a:r>
            <a:r>
              <a:rPr lang="en-US">
                <a:solidFill>
                  <a:srgbClr val="569CD6"/>
                </a:solidFill>
                <a:latin typeface="Consolas" panose="020B0609020204030204" pitchFamily="49" charset="0"/>
              </a:rPr>
              <a:t>}</a:t>
            </a:r>
            <a:r>
              <a:rPr lang="en-US">
                <a:solidFill>
                  <a:srgbClr val="808080"/>
                </a:solidFill>
                <a:latin typeface="Consolas" panose="020B0609020204030204" pitchFamily="49" charset="0"/>
              </a:rPr>
              <a:t>&lt;/</a:t>
            </a:r>
            <a:r>
              <a:rPr lang="en-US">
                <a:solidFill>
                  <a:srgbClr val="569CD6"/>
                </a:solidFill>
                <a:latin typeface="Consolas" panose="020B0609020204030204" pitchFamily="49" charset="0"/>
              </a:rPr>
              <a:t>p</a:t>
            </a:r>
            <a:r>
              <a:rPr lang="en-US">
                <a:solidFill>
                  <a:srgbClr val="808080"/>
                </a:solidFill>
                <a:latin typeface="Consolas" panose="020B0609020204030204" pitchFamily="49" charset="0"/>
              </a:rPr>
              <a:t>&gt;</a:t>
            </a:r>
            <a:endParaRPr lang="en-US">
              <a:solidFill>
                <a:srgbClr val="D4D4D4"/>
              </a:solidFill>
              <a:latin typeface="Consolas" panose="020B0609020204030204" pitchFamily="49" charset="0"/>
            </a:endParaRPr>
          </a:p>
          <a:p>
            <a:r>
              <a:rPr lang="en-US">
                <a:solidFill>
                  <a:srgbClr val="D4D4D4"/>
                </a:solidFill>
                <a:latin typeface="Consolas" panose="020B0609020204030204" pitchFamily="49" charset="0"/>
              </a:rPr>
              <a:t>  </a:t>
            </a:r>
            <a:r>
              <a:rPr lang="en-US">
                <a:solidFill>
                  <a:srgbClr val="808080"/>
                </a:solidFill>
                <a:latin typeface="Consolas" panose="020B0609020204030204" pitchFamily="49" charset="0"/>
              </a:rPr>
              <a:t>&lt;</a:t>
            </a:r>
            <a:r>
              <a:rPr lang="en-US">
                <a:solidFill>
                  <a:srgbClr val="569CD6"/>
                </a:solidFill>
                <a:latin typeface="Consolas" panose="020B0609020204030204" pitchFamily="49" charset="0"/>
              </a:rPr>
              <a:t>p</a:t>
            </a:r>
            <a:r>
              <a:rPr lang="en-US">
                <a:solidFill>
                  <a:srgbClr val="808080"/>
                </a:solidFill>
                <a:latin typeface="Consolas" panose="020B0609020204030204" pitchFamily="49" charset="0"/>
              </a:rPr>
              <a:t>&gt;</a:t>
            </a:r>
            <a:r>
              <a:rPr lang="en-US">
                <a:solidFill>
                  <a:srgbClr val="D4D4D4"/>
                </a:solidFill>
                <a:latin typeface="Consolas" panose="020B0609020204030204" pitchFamily="49" charset="0"/>
              </a:rPr>
              <a:t>The current tiem is </a:t>
            </a:r>
            <a:r>
              <a:rPr lang="en-US">
                <a:solidFill>
                  <a:srgbClr val="569CD6"/>
                </a:solidFill>
                <a:latin typeface="Consolas" panose="020B0609020204030204" pitchFamily="49" charset="0"/>
              </a:rPr>
              <a:t>{</a:t>
            </a:r>
            <a:r>
              <a:rPr lang="en-US">
                <a:solidFill>
                  <a:srgbClr val="D4D4D4"/>
                </a:solidFill>
                <a:latin typeface="Consolas" panose="020B0609020204030204" pitchFamily="49" charset="0"/>
              </a:rPr>
              <a:t>currTime</a:t>
            </a:r>
            <a:r>
              <a:rPr lang="en-US">
                <a:solidFill>
                  <a:srgbClr val="569CD6"/>
                </a:solidFill>
                <a:latin typeface="Consolas" panose="020B0609020204030204" pitchFamily="49" charset="0"/>
              </a:rPr>
              <a:t>}</a:t>
            </a:r>
            <a:r>
              <a:rPr lang="en-US">
                <a:solidFill>
                  <a:srgbClr val="808080"/>
                </a:solidFill>
                <a:latin typeface="Consolas" panose="020B0609020204030204" pitchFamily="49" charset="0"/>
              </a:rPr>
              <a:t>&lt;/</a:t>
            </a:r>
            <a:r>
              <a:rPr lang="en-US">
                <a:solidFill>
                  <a:srgbClr val="569CD6"/>
                </a:solidFill>
                <a:latin typeface="Consolas" panose="020B0609020204030204" pitchFamily="49" charset="0"/>
              </a:rPr>
              <a:t>p</a:t>
            </a:r>
            <a:r>
              <a:rPr lang="en-US">
                <a:solidFill>
                  <a:srgbClr val="808080"/>
                </a:solidFill>
                <a:latin typeface="Consolas" panose="020B0609020204030204" pitchFamily="49" charset="0"/>
              </a:rPr>
              <a:t>&gt;</a:t>
            </a:r>
            <a:endParaRPr lang="en-US">
              <a:solidFill>
                <a:srgbClr val="D4D4D4"/>
              </a:solidFill>
              <a:latin typeface="Consolas" panose="020B0609020204030204" pitchFamily="49" charset="0"/>
            </a:endParaRPr>
          </a:p>
          <a:p>
            <a:r>
              <a:rPr lang="en-US">
                <a:solidFill>
                  <a:srgbClr val="808080"/>
                </a:solidFill>
                <a:latin typeface="Consolas" panose="020B0609020204030204" pitchFamily="49" charset="0"/>
              </a:rPr>
              <a:t>&lt;/&gt;</a:t>
            </a:r>
            <a:endParaRPr lang="en-US">
              <a:solidFill>
                <a:srgbClr val="D4D4D4"/>
              </a:solidFill>
              <a:latin typeface="Consolas" panose="020B0609020204030204" pitchFamily="49" charset="0"/>
            </a:endParaRPr>
          </a:p>
          <a:p>
            <a:r>
              <a:rPr lang="en-US">
                <a:solidFill>
                  <a:srgbClr val="D4D4D4"/>
                </a:solidFill>
                <a:latin typeface="Consolas" panose="020B0609020204030204" pitchFamily="49" charset="0"/>
              </a:rPr>
              <a:t>);</a:t>
            </a:r>
          </a:p>
          <a:p>
            <a:r>
              <a:rPr lang="en-US">
                <a:solidFill>
                  <a:srgbClr val="D4D4D4"/>
                </a:solidFill>
                <a:latin typeface="Consolas" panose="020B0609020204030204" pitchFamily="49" charset="0"/>
              </a:rPr>
              <a:t>reportWebVitals();</a:t>
            </a:r>
            <a:endParaRPr lang="en-US" b="0">
              <a:solidFill>
                <a:srgbClr val="D4D4D4"/>
              </a:solidFill>
              <a:effectLst/>
              <a:latin typeface="Consolas" panose="020B0609020204030204" pitchFamily="49" charset="0"/>
            </a:endParaRPr>
          </a:p>
        </p:txBody>
      </p:sp>
      <p:pic>
        <p:nvPicPr>
          <p:cNvPr id="8" name="Picture 7"/>
          <p:cNvPicPr>
            <a:picLocks noChangeAspect="1"/>
          </p:cNvPicPr>
          <p:nvPr/>
        </p:nvPicPr>
        <p:blipFill>
          <a:blip r:embed="rId2"/>
          <a:stretch>
            <a:fillRect/>
          </a:stretch>
        </p:blipFill>
        <p:spPr>
          <a:xfrm>
            <a:off x="6601764" y="1770984"/>
            <a:ext cx="5311194" cy="3999211"/>
          </a:xfrm>
          <a:prstGeom prst="rect">
            <a:avLst/>
          </a:prstGeom>
        </p:spPr>
      </p:pic>
    </p:spTree>
    <p:extLst>
      <p:ext uri="{BB962C8B-B14F-4D97-AF65-F5344CB8AC3E}">
        <p14:creationId xmlns:p14="http://schemas.microsoft.com/office/powerpoint/2010/main" val="2094420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571881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JSX Attributes in React</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12</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pic>
        <p:nvPicPr>
          <p:cNvPr id="10" name="Picture 9"/>
          <p:cNvPicPr>
            <a:picLocks noChangeAspect="1"/>
          </p:cNvPicPr>
          <p:nvPr/>
        </p:nvPicPr>
        <p:blipFill>
          <a:blip r:embed="rId2"/>
          <a:stretch>
            <a:fillRect/>
          </a:stretch>
        </p:blipFill>
        <p:spPr>
          <a:xfrm>
            <a:off x="622851" y="1598612"/>
            <a:ext cx="8817363" cy="4943855"/>
          </a:xfrm>
          <a:prstGeom prst="rect">
            <a:avLst/>
          </a:prstGeom>
        </p:spPr>
      </p:pic>
      <p:pic>
        <p:nvPicPr>
          <p:cNvPr id="11" name="Picture 10"/>
          <p:cNvPicPr>
            <a:picLocks noChangeAspect="1"/>
          </p:cNvPicPr>
          <p:nvPr/>
        </p:nvPicPr>
        <p:blipFill>
          <a:blip r:embed="rId3"/>
          <a:stretch>
            <a:fillRect/>
          </a:stretch>
        </p:blipFill>
        <p:spPr>
          <a:xfrm>
            <a:off x="9623671" y="1869288"/>
            <a:ext cx="2379440" cy="3771900"/>
          </a:xfrm>
          <a:prstGeom prst="rect">
            <a:avLst/>
          </a:prstGeom>
        </p:spPr>
      </p:pic>
    </p:spTree>
    <p:extLst>
      <p:ext uri="{BB962C8B-B14F-4D97-AF65-F5344CB8AC3E}">
        <p14:creationId xmlns:p14="http://schemas.microsoft.com/office/powerpoint/2010/main" val="3771702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571881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JSX Attributes in React</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13</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pic>
        <p:nvPicPr>
          <p:cNvPr id="8" name="Picture 7"/>
          <p:cNvPicPr>
            <a:picLocks noChangeAspect="1"/>
          </p:cNvPicPr>
          <p:nvPr/>
        </p:nvPicPr>
        <p:blipFill>
          <a:blip r:embed="rId2"/>
          <a:stretch>
            <a:fillRect/>
          </a:stretch>
        </p:blipFill>
        <p:spPr>
          <a:xfrm>
            <a:off x="1271601" y="1629575"/>
            <a:ext cx="9057255" cy="4909337"/>
          </a:xfrm>
          <a:prstGeom prst="rect">
            <a:avLst/>
          </a:prstGeom>
        </p:spPr>
      </p:pic>
    </p:spTree>
    <p:extLst>
      <p:ext uri="{BB962C8B-B14F-4D97-AF65-F5344CB8AC3E}">
        <p14:creationId xmlns:p14="http://schemas.microsoft.com/office/powerpoint/2010/main" val="106753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571881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JSX Attributes in React</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14</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pic>
        <p:nvPicPr>
          <p:cNvPr id="9" name="Picture 8"/>
          <p:cNvPicPr>
            <a:picLocks noChangeAspect="1"/>
          </p:cNvPicPr>
          <p:nvPr/>
        </p:nvPicPr>
        <p:blipFill>
          <a:blip r:embed="rId2"/>
          <a:stretch>
            <a:fillRect/>
          </a:stretch>
        </p:blipFill>
        <p:spPr>
          <a:xfrm>
            <a:off x="622852" y="1598613"/>
            <a:ext cx="10851524" cy="5131465"/>
          </a:xfrm>
          <a:prstGeom prst="rect">
            <a:avLst/>
          </a:prstGeom>
        </p:spPr>
      </p:pic>
    </p:spTree>
    <p:extLst>
      <p:ext uri="{BB962C8B-B14F-4D97-AF65-F5344CB8AC3E}">
        <p14:creationId xmlns:p14="http://schemas.microsoft.com/office/powerpoint/2010/main" val="3146346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455894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React Components</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15</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sp>
        <p:nvSpPr>
          <p:cNvPr id="8" name="Rectangle 7"/>
          <p:cNvSpPr/>
          <p:nvPr/>
        </p:nvSpPr>
        <p:spPr>
          <a:xfrm>
            <a:off x="485104" y="1726535"/>
            <a:ext cx="9908147" cy="1754326"/>
          </a:xfrm>
          <a:prstGeom prst="rect">
            <a:avLst/>
          </a:prstGeom>
        </p:spPr>
        <p:txBody>
          <a:bodyPr wrap="square">
            <a:spAutoFit/>
          </a:bodyPr>
          <a:lstStyle/>
          <a:p>
            <a:pPr marL="285750" indent="-285750">
              <a:buFont typeface="Arial" panose="020B0604020202020204" pitchFamily="34" charset="0"/>
              <a:buChar char="•"/>
            </a:pPr>
            <a:r>
              <a:rPr lang="en-US" dirty="0">
                <a:solidFill>
                  <a:srgbClr val="000000"/>
                </a:solidFill>
                <a:latin typeface="Calibri" panose="020F0502020204030204" pitchFamily="34" charset="0"/>
              </a:rPr>
              <a:t>Components let you split the UI into independent, reusable pieces, and think about each piece in isolation.</a:t>
            </a:r>
          </a:p>
          <a:p>
            <a:pPr marL="285750" indent="-285750">
              <a:buFont typeface="Arial" panose="020B0604020202020204" pitchFamily="34" charset="0"/>
              <a:buChar char="•"/>
            </a:pPr>
            <a:r>
              <a:rPr lang="en-US" dirty="0">
                <a:solidFill>
                  <a:srgbClr val="000000"/>
                </a:solidFill>
                <a:latin typeface="Calibri" panose="020F0502020204030204" pitchFamily="34" charset="0"/>
              </a:rPr>
              <a:t>Conceptually, components are like JavaScript functions. They accept arbitrary inputs (called “props”) and return React elements describing what should appear on the screen.</a:t>
            </a:r>
          </a:p>
          <a:p>
            <a:pPr marL="285750" indent="-285750">
              <a:buFont typeface="Arial" panose="020B0604020202020204" pitchFamily="34" charset="0"/>
              <a:buChar char="•"/>
            </a:pPr>
            <a:r>
              <a:rPr lang="en-US" dirty="0">
                <a:solidFill>
                  <a:srgbClr val="000000"/>
                </a:solidFill>
                <a:latin typeface="Calibri" panose="020F0502020204030204" pitchFamily="34" charset="0"/>
              </a:rPr>
              <a:t>In next slides, creating functional component files ‘</a:t>
            </a:r>
            <a:r>
              <a:rPr lang="en-US" dirty="0" err="1">
                <a:solidFill>
                  <a:srgbClr val="000000"/>
                </a:solidFill>
                <a:latin typeface="Calibri" panose="020F0502020204030204" pitchFamily="34" charset="0"/>
              </a:rPr>
              <a:t>Heading.jsx</a:t>
            </a:r>
            <a:r>
              <a:rPr lang="en-US" dirty="0">
                <a:solidFill>
                  <a:srgbClr val="000000"/>
                </a:solidFill>
                <a:latin typeface="Calibri" panose="020F0502020204030204" pitchFamily="34" charset="0"/>
              </a:rPr>
              <a:t>’, ‘</a:t>
            </a:r>
            <a:r>
              <a:rPr lang="en-US" dirty="0" err="1">
                <a:solidFill>
                  <a:srgbClr val="000000"/>
                </a:solidFill>
                <a:latin typeface="Calibri" panose="020F0502020204030204" pitchFamily="34" charset="0"/>
              </a:rPr>
              <a:t>List.jsx</a:t>
            </a:r>
            <a:r>
              <a:rPr lang="en-US" dirty="0">
                <a:solidFill>
                  <a:srgbClr val="000000"/>
                </a:solidFill>
                <a:latin typeface="Calibri" panose="020F0502020204030204" pitchFamily="34" charset="0"/>
              </a:rPr>
              <a:t>’, and ‘</a:t>
            </a:r>
            <a:r>
              <a:rPr lang="en-US" dirty="0" err="1">
                <a:solidFill>
                  <a:srgbClr val="000000"/>
                </a:solidFill>
                <a:latin typeface="Calibri" panose="020F0502020204030204" pitchFamily="34" charset="0"/>
              </a:rPr>
              <a:t>Para.jsx</a:t>
            </a:r>
            <a:r>
              <a:rPr lang="en-US" dirty="0">
                <a:solidFill>
                  <a:srgbClr val="000000"/>
                </a:solidFill>
                <a:latin typeface="Calibri" panose="020F0502020204030204" pitchFamily="34" charset="0"/>
              </a:rPr>
              <a:t>’.</a:t>
            </a:r>
            <a:br>
              <a:rPr lang="en-US" dirty="0">
                <a:solidFill>
                  <a:srgbClr val="695D46"/>
                </a:solidFill>
                <a:latin typeface="ArialMT"/>
              </a:rPr>
            </a:br>
            <a:endParaRPr lang="en-US" dirty="0"/>
          </a:p>
        </p:txBody>
      </p:sp>
    </p:spTree>
    <p:extLst>
      <p:ext uri="{BB962C8B-B14F-4D97-AF65-F5344CB8AC3E}">
        <p14:creationId xmlns:p14="http://schemas.microsoft.com/office/powerpoint/2010/main" val="3346489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455894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React Components</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16</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pic>
        <p:nvPicPr>
          <p:cNvPr id="9" name="Picture 8"/>
          <p:cNvPicPr>
            <a:picLocks noChangeAspect="1"/>
          </p:cNvPicPr>
          <p:nvPr/>
        </p:nvPicPr>
        <p:blipFill>
          <a:blip r:embed="rId2"/>
          <a:stretch>
            <a:fillRect/>
          </a:stretch>
        </p:blipFill>
        <p:spPr>
          <a:xfrm>
            <a:off x="210355" y="1911201"/>
            <a:ext cx="6134637" cy="3897171"/>
          </a:xfrm>
          <a:prstGeom prst="rect">
            <a:avLst/>
          </a:prstGeom>
        </p:spPr>
      </p:pic>
      <p:pic>
        <p:nvPicPr>
          <p:cNvPr id="10" name="Picture 9"/>
          <p:cNvPicPr>
            <a:picLocks noChangeAspect="1"/>
          </p:cNvPicPr>
          <p:nvPr/>
        </p:nvPicPr>
        <p:blipFill>
          <a:blip r:embed="rId3"/>
          <a:stretch>
            <a:fillRect/>
          </a:stretch>
        </p:blipFill>
        <p:spPr>
          <a:xfrm>
            <a:off x="6619741" y="1911201"/>
            <a:ext cx="5422006" cy="3857625"/>
          </a:xfrm>
          <a:prstGeom prst="rect">
            <a:avLst/>
          </a:prstGeom>
        </p:spPr>
      </p:pic>
    </p:spTree>
    <p:extLst>
      <p:ext uri="{BB962C8B-B14F-4D97-AF65-F5344CB8AC3E}">
        <p14:creationId xmlns:p14="http://schemas.microsoft.com/office/powerpoint/2010/main" val="3095721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455894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React Components</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17</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pic>
        <p:nvPicPr>
          <p:cNvPr id="8" name="Picture 7"/>
          <p:cNvPicPr>
            <a:picLocks noChangeAspect="1"/>
          </p:cNvPicPr>
          <p:nvPr/>
        </p:nvPicPr>
        <p:blipFill>
          <a:blip r:embed="rId2"/>
          <a:stretch>
            <a:fillRect/>
          </a:stretch>
        </p:blipFill>
        <p:spPr>
          <a:xfrm>
            <a:off x="622852" y="1770985"/>
            <a:ext cx="6061283" cy="3509353"/>
          </a:xfrm>
          <a:prstGeom prst="rect">
            <a:avLst/>
          </a:prstGeom>
        </p:spPr>
      </p:pic>
      <p:pic>
        <p:nvPicPr>
          <p:cNvPr id="11" name="Picture 10"/>
          <p:cNvPicPr>
            <a:picLocks noChangeAspect="1"/>
          </p:cNvPicPr>
          <p:nvPr/>
        </p:nvPicPr>
        <p:blipFill>
          <a:blip r:embed="rId3"/>
          <a:stretch>
            <a:fillRect/>
          </a:stretch>
        </p:blipFill>
        <p:spPr>
          <a:xfrm>
            <a:off x="6936534" y="1554162"/>
            <a:ext cx="4857750" cy="4216033"/>
          </a:xfrm>
          <a:prstGeom prst="rect">
            <a:avLst/>
          </a:prstGeom>
        </p:spPr>
      </p:pic>
    </p:spTree>
    <p:extLst>
      <p:ext uri="{BB962C8B-B14F-4D97-AF65-F5344CB8AC3E}">
        <p14:creationId xmlns:p14="http://schemas.microsoft.com/office/powerpoint/2010/main" val="3853732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24000" y="1235075"/>
            <a:ext cx="9144000" cy="319088"/>
          </a:xfrm>
          <a:custGeom>
            <a:avLst/>
            <a:gdLst>
              <a:gd name="connsiteX0" fmla="*/ 0 w 9144000"/>
              <a:gd name="connsiteY0" fmla="*/ 320040 h 320040"/>
              <a:gd name="connsiteX1" fmla="*/ 9144000 w 9144000"/>
              <a:gd name="connsiteY1" fmla="*/ 320040 h 320040"/>
              <a:gd name="connsiteX2" fmla="*/ 9144000 w 9144000"/>
              <a:gd name="connsiteY2" fmla="*/ 0 h 320040"/>
              <a:gd name="connsiteX3" fmla="*/ 0 w 9144000"/>
              <a:gd name="connsiteY3" fmla="*/ 0 h 320040"/>
              <a:gd name="connsiteX4" fmla="*/ 0 w 91440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320040">
                <a:moveTo>
                  <a:pt x="0" y="320040"/>
                </a:moveTo>
                <a:lnTo>
                  <a:pt x="9144000" y="320040"/>
                </a:lnTo>
                <a:lnTo>
                  <a:pt x="9144000" y="0"/>
                </a:lnTo>
                <a:lnTo>
                  <a:pt x="0" y="0"/>
                </a:lnTo>
                <a:lnTo>
                  <a:pt x="0" y="32004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nvGrpSpPr>
          <p:cNvPr id="4" name="Group 3"/>
          <p:cNvGrpSpPr/>
          <p:nvPr/>
        </p:nvGrpSpPr>
        <p:grpSpPr>
          <a:xfrm>
            <a:off x="622852" y="1279525"/>
            <a:ext cx="10045148" cy="274638"/>
            <a:chOff x="1524000" y="1279525"/>
            <a:chExt cx="9144000" cy="228600"/>
          </a:xfrm>
        </p:grpSpPr>
        <p:sp>
          <p:nvSpPr>
            <p:cNvPr id="5" name="Freeform 3"/>
            <p:cNvSpPr/>
            <p:nvPr/>
          </p:nvSpPr>
          <p:spPr>
            <a:xfrm>
              <a:off x="1524000" y="1279525"/>
              <a:ext cx="533400" cy="228600"/>
            </a:xfrm>
            <a:custGeom>
              <a:avLst/>
              <a:gdLst>
                <a:gd name="connsiteX0" fmla="*/ 0 w 533400"/>
                <a:gd name="connsiteY0" fmla="*/ 228600 h 228600"/>
                <a:gd name="connsiteX1" fmla="*/ 533400 w 533400"/>
                <a:gd name="connsiteY1" fmla="*/ 228600 h 228600"/>
                <a:gd name="connsiteX2" fmla="*/ 533400 w 533400"/>
                <a:gd name="connsiteY2" fmla="*/ 0 h 228600"/>
                <a:gd name="connsiteX3" fmla="*/ 0 w 533400"/>
                <a:gd name="connsiteY3" fmla="*/ 0 h 228600"/>
                <a:gd name="connsiteX4" fmla="*/ 0 w 53340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533400" h="228600">
                  <a:moveTo>
                    <a:pt x="0" y="228600"/>
                  </a:moveTo>
                  <a:lnTo>
                    <a:pt x="533400" y="228600"/>
                  </a:lnTo>
                  <a:lnTo>
                    <a:pt x="533400" y="0"/>
                  </a:lnTo>
                  <a:lnTo>
                    <a:pt x="0" y="0"/>
                  </a:lnTo>
                  <a:lnTo>
                    <a:pt x="0" y="228600"/>
                  </a:lnTo>
                </a:path>
              </a:pathLst>
            </a:custGeom>
            <a:solidFill>
              <a:srgbClr val="CC8E6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sp>
          <p:nvSpPr>
            <p:cNvPr id="6" name="Freeform 3"/>
            <p:cNvSpPr/>
            <p:nvPr/>
          </p:nvSpPr>
          <p:spPr>
            <a:xfrm>
              <a:off x="2114550" y="1279525"/>
              <a:ext cx="8553450" cy="228600"/>
            </a:xfrm>
            <a:custGeom>
              <a:avLst/>
              <a:gdLst>
                <a:gd name="connsiteX0" fmla="*/ 0 w 8553450"/>
                <a:gd name="connsiteY0" fmla="*/ 228600 h 228600"/>
                <a:gd name="connsiteX1" fmla="*/ 8553450 w 8553450"/>
                <a:gd name="connsiteY1" fmla="*/ 228600 h 228600"/>
                <a:gd name="connsiteX2" fmla="*/ 8553450 w 8553450"/>
                <a:gd name="connsiteY2" fmla="*/ 0 h 228600"/>
                <a:gd name="connsiteX3" fmla="*/ 0 w 8553450"/>
                <a:gd name="connsiteY3" fmla="*/ 0 h 228600"/>
                <a:gd name="connsiteX4" fmla="*/ 0 w 8553450"/>
                <a:gd name="connsiteY4" fmla="*/ 228600 h 2286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8553450" h="228600">
                  <a:moveTo>
                    <a:pt x="0" y="228600"/>
                  </a:moveTo>
                  <a:lnTo>
                    <a:pt x="8553450" y="228600"/>
                  </a:lnTo>
                  <a:lnTo>
                    <a:pt x="8553450" y="0"/>
                  </a:lnTo>
                  <a:lnTo>
                    <a:pt x="0" y="0"/>
                  </a:lnTo>
                  <a:lnTo>
                    <a:pt x="0" y="228600"/>
                  </a:lnTo>
                </a:path>
              </a:pathLst>
            </a:custGeom>
            <a:solidFill>
              <a:srgbClr val="7E97AD">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397" tIns="45698" rIns="91397" bIns="45698" anchor="ctr"/>
            <a:lstStyle/>
            <a:p>
              <a:pPr algn="ctr" defTabSz="914400">
                <a:spcBef>
                  <a:spcPct val="20000"/>
                </a:spcBef>
                <a:buFontTx/>
                <a:buChar char="•"/>
                <a:defRPr/>
              </a:pPr>
              <a:endParaRPr lang="zh-CN" altLang="en-US">
                <a:solidFill>
                  <a:prstClr val="white"/>
                </a:solidFill>
              </a:endParaRPr>
            </a:p>
          </p:txBody>
        </p:sp>
      </p:grpSp>
      <p:sp>
        <p:nvSpPr>
          <p:cNvPr id="6151" name="TextBox 1"/>
          <p:cNvSpPr txBox="1">
            <a:spLocks noChangeArrowheads="1"/>
          </p:cNvSpPr>
          <p:nvPr/>
        </p:nvSpPr>
        <p:spPr bwMode="auto">
          <a:xfrm>
            <a:off x="622852" y="426654"/>
            <a:ext cx="4558940" cy="636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4569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defTabSz="914400">
              <a:lnSpc>
                <a:spcPts val="4600"/>
              </a:lnSpc>
              <a:buFontTx/>
              <a:buNone/>
            </a:pPr>
            <a:r>
              <a:rPr lang="en-US" sz="4400" b="1" dirty="0"/>
              <a:t>React Components</a:t>
            </a:r>
            <a:endParaRPr lang="en-US" altLang="zh-CN" sz="4400" b="1" dirty="0">
              <a:solidFill>
                <a:srgbClr val="00206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18</a:t>
            </a:fld>
            <a:endParaRPr lang="en-US" dirty="0">
              <a:solidFill>
                <a:prstClr val="black">
                  <a:tint val="75000"/>
                </a:prstClr>
              </a:solidFill>
            </a:endParaRPr>
          </a:p>
        </p:txBody>
      </p:sp>
      <p:sp>
        <p:nvSpPr>
          <p:cNvPr id="2" name="Rectangle 1"/>
          <p:cNvSpPr/>
          <p:nvPr/>
        </p:nvSpPr>
        <p:spPr>
          <a:xfrm>
            <a:off x="622852" y="1770985"/>
            <a:ext cx="10045148" cy="369332"/>
          </a:xfrm>
          <a:prstGeom prst="rect">
            <a:avLst/>
          </a:prstGeom>
        </p:spPr>
        <p:txBody>
          <a:bodyPr wrap="square">
            <a:spAutoFit/>
          </a:bodyPr>
          <a:lstStyle/>
          <a:p>
            <a:endParaRPr lang="en-US" dirty="0"/>
          </a:p>
        </p:txBody>
      </p:sp>
      <p:pic>
        <p:nvPicPr>
          <p:cNvPr id="9" name="Picture 8"/>
          <p:cNvPicPr>
            <a:picLocks noChangeAspect="1"/>
          </p:cNvPicPr>
          <p:nvPr/>
        </p:nvPicPr>
        <p:blipFill>
          <a:blip r:embed="rId2"/>
          <a:stretch>
            <a:fillRect/>
          </a:stretch>
        </p:blipFill>
        <p:spPr>
          <a:xfrm>
            <a:off x="622852" y="1645706"/>
            <a:ext cx="10172875" cy="4893206"/>
          </a:xfrm>
          <a:prstGeom prst="rect">
            <a:avLst/>
          </a:prstGeom>
        </p:spPr>
      </p:pic>
    </p:spTree>
    <p:extLst>
      <p:ext uri="{BB962C8B-B14F-4D97-AF65-F5344CB8AC3E}">
        <p14:creationId xmlns:p14="http://schemas.microsoft.com/office/powerpoint/2010/main" val="916718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1759</TotalTime>
  <Words>778</Words>
  <Application>Microsoft Office PowerPoint</Application>
  <PresentationFormat>Widescreen</PresentationFormat>
  <Paragraphs>120</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Adobe Fan Heiti Std B</vt:lpstr>
      <vt:lpstr>Arial</vt:lpstr>
      <vt:lpstr>ArialMT</vt:lpstr>
      <vt:lpstr>Calibri</vt:lpstr>
      <vt:lpstr>Calibri Light</vt:lpstr>
      <vt:lpstr>Consolas</vt:lpstr>
      <vt:lpstr>Lucida Sans Unicode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Mariya Hanif</dc:creator>
  <cp:lastModifiedBy>d n</cp:lastModifiedBy>
  <cp:revision>241</cp:revision>
  <dcterms:created xsi:type="dcterms:W3CDTF">2021-02-08T18:52:44Z</dcterms:created>
  <dcterms:modified xsi:type="dcterms:W3CDTF">2025-09-22T11:15:13Z</dcterms:modified>
</cp:coreProperties>
</file>