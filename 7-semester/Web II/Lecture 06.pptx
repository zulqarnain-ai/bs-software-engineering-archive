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14"/>
  </p:notesMasterIdLst>
  <p:sldIdLst>
    <p:sldId id="293" r:id="rId2"/>
    <p:sldId id="295" r:id="rId3"/>
    <p:sldId id="303" r:id="rId4"/>
    <p:sldId id="296" r:id="rId5"/>
    <p:sldId id="301" r:id="rId6"/>
    <p:sldId id="298" r:id="rId7"/>
    <p:sldId id="297" r:id="rId8"/>
    <p:sldId id="299" r:id="rId9"/>
    <p:sldId id="300" r:id="rId10"/>
    <p:sldId id="304" r:id="rId11"/>
    <p:sldId id="302" r:id="rId12"/>
    <p:sldId id="30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15" autoAdjust="0"/>
    <p:restoredTop sz="95501" autoAdjust="0"/>
  </p:normalViewPr>
  <p:slideViewPr>
    <p:cSldViewPr snapToGrid="0">
      <p:cViewPr varScale="1">
        <p:scale>
          <a:sx n="120" d="100"/>
          <a:sy n="120" d="100"/>
        </p:scale>
        <p:origin x="10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C7E43-56F6-45CB-A194-C69F9D70AB1E}" type="datetimeFigureOut">
              <a:rPr lang="en-GB" smtClean="0"/>
              <a:t>14/10/2025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52DFD2-0C38-4B29-9BF4-608CE31B7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8879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2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3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85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50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65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47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95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89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82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69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396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638888D9-A0EA-4496-9BE0-1249D500102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10/14/2025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E819D0EF-033B-4C04-AD10-C244CD33FEE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324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Freeform 3"/>
          <p:cNvSpPr/>
          <p:nvPr/>
        </p:nvSpPr>
        <p:spPr>
          <a:xfrm>
            <a:off x="1524000" y="1279525"/>
            <a:ext cx="533400" cy="228600"/>
          </a:xfrm>
          <a:custGeom>
            <a:avLst/>
            <a:gdLst>
              <a:gd name="connsiteX0" fmla="*/ 0 w 533400"/>
              <a:gd name="connsiteY0" fmla="*/ 228600 h 228600"/>
              <a:gd name="connsiteX1" fmla="*/ 533400 w 533400"/>
              <a:gd name="connsiteY1" fmla="*/ 228600 h 228600"/>
              <a:gd name="connsiteX2" fmla="*/ 533400 w 533400"/>
              <a:gd name="connsiteY2" fmla="*/ 0 h 228600"/>
              <a:gd name="connsiteX3" fmla="*/ 0 w 533400"/>
              <a:gd name="connsiteY3" fmla="*/ 0 h 228600"/>
              <a:gd name="connsiteX4" fmla="*/ 0 w 53340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CC8E6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Freeform 3"/>
          <p:cNvSpPr/>
          <p:nvPr/>
        </p:nvSpPr>
        <p:spPr>
          <a:xfrm>
            <a:off x="2114550" y="1279525"/>
            <a:ext cx="8553450" cy="228600"/>
          </a:xfrm>
          <a:custGeom>
            <a:avLst/>
            <a:gdLst>
              <a:gd name="connsiteX0" fmla="*/ 0 w 8553450"/>
              <a:gd name="connsiteY0" fmla="*/ 228600 h 228600"/>
              <a:gd name="connsiteX1" fmla="*/ 8553450 w 8553450"/>
              <a:gd name="connsiteY1" fmla="*/ 228600 h 228600"/>
              <a:gd name="connsiteX2" fmla="*/ 8553450 w 8553450"/>
              <a:gd name="connsiteY2" fmla="*/ 0 h 228600"/>
              <a:gd name="connsiteX3" fmla="*/ 0 w 8553450"/>
              <a:gd name="connsiteY3" fmla="*/ 0 h 228600"/>
              <a:gd name="connsiteX4" fmla="*/ 0 w 8553450"/>
              <a:gd name="connsiteY4" fmla="*/ 228600 h 2286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8553450" h="228600">
                <a:moveTo>
                  <a:pt x="0" y="228600"/>
                </a:moveTo>
                <a:lnTo>
                  <a:pt x="8553450" y="228600"/>
                </a:lnTo>
                <a:lnTo>
                  <a:pt x="8553450" y="0"/>
                </a:lnTo>
                <a:lnTo>
                  <a:pt x="0" y="0"/>
                </a:lnTo>
                <a:lnTo>
                  <a:pt x="0" y="228600"/>
                </a:lnTo>
              </a:path>
            </a:pathLst>
          </a:custGeom>
          <a:solidFill>
            <a:srgbClr val="7E97A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4620958" y="395890"/>
            <a:ext cx="2005357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>
                <a:solidFill>
                  <a:srgbClr val="0070C0"/>
                </a:solidFill>
                <a:latin typeface="Lucida Sans Unicode" panose="020B0602030504020204" pitchFamily="34" charset="0"/>
              </a:rPr>
              <a:t>WEB 11</a:t>
            </a:r>
          </a:p>
        </p:txBody>
      </p:sp>
      <p:sp>
        <p:nvSpPr>
          <p:cNvPr id="6152" name="TextBox 1"/>
          <p:cNvSpPr txBox="1">
            <a:spLocks noChangeArrowheads="1"/>
          </p:cNvSpPr>
          <p:nvPr/>
        </p:nvSpPr>
        <p:spPr bwMode="auto">
          <a:xfrm>
            <a:off x="1067873" y="3389620"/>
            <a:ext cx="10285927" cy="725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81113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81113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8111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81113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defTabSz="914400">
              <a:lnSpc>
                <a:spcPts val="2500"/>
              </a:lnSpc>
              <a:buNone/>
            </a:pPr>
            <a:r>
              <a:rPr lang="en-US" sz="4000" b="1" dirty="0">
                <a:solidFill>
                  <a:schemeClr val="accent2"/>
                </a:solidFill>
              </a:rPr>
              <a:t>React UI styling with States</a:t>
            </a:r>
            <a:br>
              <a:rPr lang="en-US" sz="4000" dirty="0">
                <a:solidFill>
                  <a:schemeClr val="accent2"/>
                </a:solidFill>
              </a:rPr>
            </a:br>
            <a:endParaRPr lang="en-US" sz="4000" b="1" dirty="0">
              <a:solidFill>
                <a:schemeClr val="accent2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8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1441100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States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2851" y="2100602"/>
            <a:ext cx="97188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States are variables that hold data for a component in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States are mutable and can change during the lifecycle of a component.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React component can have its own state.</a:t>
            </a:r>
          </a:p>
          <a:p>
            <a:endParaRPr lang="en-US" sz="2400" dirty="0"/>
          </a:p>
          <a:p>
            <a:r>
              <a:rPr lang="en-US" sz="2400" b="1" dirty="0"/>
              <a:t>Why use States for Styling?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dynamic styling based on user interaction or lifecycle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Enhances </a:t>
            </a:r>
            <a:r>
              <a:rPr lang="en-US" sz="2400" dirty="0">
                <a:solidFill>
                  <a:schemeClr val="accent2"/>
                </a:solidFill>
              </a:rPr>
              <a:t>user experience by reflecting changes </a:t>
            </a:r>
            <a:r>
              <a:rPr lang="en-US" sz="2400" dirty="0"/>
              <a:t>in real-time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16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1441100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States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2851" y="2100602"/>
            <a:ext cx="97188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States are variables that hold data for a component in React.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States are mutable and can change during the lifecycle of a component.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React component can have its own state.</a:t>
            </a:r>
          </a:p>
          <a:p>
            <a:endParaRPr lang="en-US" sz="2400" dirty="0"/>
          </a:p>
          <a:p>
            <a:r>
              <a:rPr lang="en-US" sz="2400" b="1" dirty="0"/>
              <a:t>Why use States for Styling?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dynamic styling based on user interaction or lifecycle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Enhances </a:t>
            </a:r>
            <a:r>
              <a:rPr lang="en-US" sz="2400" dirty="0">
                <a:solidFill>
                  <a:schemeClr val="accent2"/>
                </a:solidFill>
              </a:rPr>
              <a:t>user experience by reflecting changes </a:t>
            </a:r>
            <a:r>
              <a:rPr lang="en-US" sz="2400" dirty="0"/>
              <a:t>in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[counter,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setCounter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] =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(0);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5382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448060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Hook in React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r>
              <a:rPr lang="en-US" sz="2000" b="1" dirty="0"/>
              <a:t>Hooks</a:t>
            </a:r>
            <a:r>
              <a:rPr lang="en-US" sz="2000" dirty="0"/>
              <a:t> are special functions in React that allow functional components to use </a:t>
            </a:r>
            <a:r>
              <a:rPr lang="en-US" sz="2000" b="1" dirty="0"/>
              <a:t>state</a:t>
            </a:r>
            <a:r>
              <a:rPr lang="en-US" sz="2000" dirty="0"/>
              <a:t> and </a:t>
            </a:r>
            <a:r>
              <a:rPr lang="en-US" sz="2000" b="1" dirty="0"/>
              <a:t>lifecycle features</a:t>
            </a:r>
            <a:r>
              <a:rPr lang="en-US" sz="2000" dirty="0"/>
              <a:t> without needing class components. Introduced in </a:t>
            </a:r>
            <a:r>
              <a:rPr lang="en-US" sz="2000" b="1" dirty="0"/>
              <a:t>React 16.8</a:t>
            </a:r>
            <a:r>
              <a:rPr lang="en-US" sz="2000" dirty="0"/>
              <a:t>, hooks provide a more flexible and cleaner way to manage component logic.</a:t>
            </a:r>
          </a:p>
          <a:p>
            <a:pPr algn="just">
              <a:lnSpc>
                <a:spcPct val="150000"/>
              </a:lnSpc>
              <a:buSzPct val="110000"/>
            </a:pPr>
            <a:r>
              <a:rPr lang="en-US" sz="2000" dirty="0">
                <a:solidFill>
                  <a:schemeClr val="accent2"/>
                </a:solidFill>
              </a:rPr>
              <a:t>Basic Hook Types </a:t>
            </a:r>
          </a:p>
          <a:p>
            <a:pPr marL="342900" indent="-342900" algn="just">
              <a:lnSpc>
                <a:spcPct val="15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2000" b="1" dirty="0" err="1"/>
              <a:t>useState</a:t>
            </a:r>
            <a:r>
              <a:rPr lang="en-US" sz="2000" dirty="0"/>
              <a:t> – Manages state in functional components.</a:t>
            </a:r>
          </a:p>
          <a:p>
            <a:pPr marL="342900" indent="-342900" algn="just">
              <a:lnSpc>
                <a:spcPct val="15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2000" b="1" dirty="0" err="1"/>
              <a:t>useEffect</a:t>
            </a:r>
            <a:r>
              <a:rPr lang="en-US" sz="2000" dirty="0"/>
              <a:t> – Handles side effects like API calls, event listeners, and timers.</a:t>
            </a:r>
          </a:p>
          <a:p>
            <a:pPr marL="342900" indent="-342900" algn="just">
              <a:lnSpc>
                <a:spcPct val="15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sz="2000" b="1" dirty="0" err="1"/>
              <a:t>useContext</a:t>
            </a:r>
            <a:r>
              <a:rPr lang="en-US" sz="2000" dirty="0"/>
              <a:t> – Accesses global state via the Context API.</a:t>
            </a:r>
          </a:p>
        </p:txBody>
      </p:sp>
    </p:spTree>
    <p:extLst>
      <p:ext uri="{BB962C8B-B14F-4D97-AF65-F5344CB8AC3E}">
        <p14:creationId xmlns:p14="http://schemas.microsoft.com/office/powerpoint/2010/main" val="330877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698128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Use State Hook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110000"/>
            </a:pPr>
            <a:r>
              <a:rPr lang="en-US" sz="2000" b="1" dirty="0" err="1"/>
              <a:t>initialState</a:t>
            </a:r>
            <a:r>
              <a:rPr lang="en-US" sz="2000" b="1" dirty="0"/>
              <a:t>: </a:t>
            </a:r>
            <a:r>
              <a:rPr lang="en-US" sz="2000" dirty="0"/>
              <a:t>The value you want the state to be initially. It can be a value of any type, but there is a special behavior for functions. This argument is ignored after the initial render.</a:t>
            </a:r>
            <a:br>
              <a:rPr lang="en-US" sz="2000" dirty="0"/>
            </a:br>
            <a:r>
              <a:rPr lang="en-US" sz="2000" b="1" dirty="0"/>
              <a:t>Returns</a:t>
            </a:r>
            <a:br>
              <a:rPr lang="en-US" sz="2000" dirty="0"/>
            </a:br>
            <a:r>
              <a:rPr lang="en-US" sz="2000" dirty="0"/>
              <a:t>● </a:t>
            </a:r>
            <a:r>
              <a:rPr lang="en-US" sz="2000" dirty="0" err="1"/>
              <a:t>useState</a:t>
            </a:r>
            <a:r>
              <a:rPr lang="en-US" sz="2000" dirty="0"/>
              <a:t> returns an array with exactly two values:</a:t>
            </a:r>
            <a:br>
              <a:rPr lang="en-US" sz="2000" dirty="0"/>
            </a:br>
            <a:r>
              <a:rPr lang="en-US" sz="2000" b="1" dirty="0"/>
              <a:t>○ The current state</a:t>
            </a:r>
            <a:r>
              <a:rPr lang="en-US" sz="2000" dirty="0"/>
              <a:t>. During the first render, it will match the </a:t>
            </a:r>
            <a:r>
              <a:rPr lang="en-US" sz="2000" dirty="0" err="1"/>
              <a:t>initialState</a:t>
            </a:r>
            <a:r>
              <a:rPr lang="en-US" sz="2000" dirty="0"/>
              <a:t> you have passed.</a:t>
            </a:r>
            <a:br>
              <a:rPr lang="en-US" sz="2000" dirty="0"/>
            </a:br>
            <a:r>
              <a:rPr lang="en-US" sz="2000" b="1" dirty="0"/>
              <a:t>○ The set function </a:t>
            </a:r>
            <a:r>
              <a:rPr lang="en-US" sz="2000" dirty="0"/>
              <a:t>that lets you update the state to a different value and trigger a </a:t>
            </a:r>
            <a:r>
              <a:rPr lang="en-US" sz="2000" dirty="0" err="1"/>
              <a:t>rerender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1524000" y="4942462"/>
            <a:ext cx="5503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[counter,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setCounter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] =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(0);</a:t>
            </a: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81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455498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Without Hook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endParaRPr 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50" y="2024131"/>
            <a:ext cx="4057650" cy="25336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2852" y="1596186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React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"react"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'./index.js'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'./index.css'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StateT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counter =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increment =()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counter = counter +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console.log(counter);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"counter-container"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"counter-value"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span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className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"increment-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btn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increment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 Increment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};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StateT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58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2671629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sz="4400" b="1" dirty="0">
                <a:solidFill>
                  <a:srgbClr val="002060"/>
                </a:solidFill>
              </a:rPr>
              <a:t>With Hook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endParaRPr 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757" y="2356648"/>
            <a:ext cx="3741336" cy="18118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10862" y="1704734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React, {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"react"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'./index.js'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StateH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// let counter =0;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[counter,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setCounter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 =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(0);</a:t>
            </a:r>
          </a:p>
          <a:p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increment =() =&gt; {</a:t>
            </a:r>
          </a:p>
          <a:p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setCounter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(counter + 1);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counter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hr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onClick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={increment}&gt;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Increment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StateH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8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197991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>
                <a:solidFill>
                  <a:srgbClr val="002060"/>
                </a:solidFill>
              </a:rPr>
              <a:t>Rule of Hook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622852" y="4487691"/>
            <a:ext cx="9714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Hooks are defined using JavaScript functions, but they represent a special type of reusable UI logic</a:t>
            </a:r>
            <a:br>
              <a:rPr lang="en-US" dirty="0"/>
            </a:br>
            <a:r>
              <a:rPr lang="en-US" dirty="0"/>
              <a:t>with restrictions on where they can be called.</a:t>
            </a:r>
            <a:br>
              <a:rPr lang="en-US" dirty="0"/>
            </a:br>
            <a:r>
              <a:rPr lang="en-US" dirty="0"/>
              <a:t>● Only call Hooks at the top level</a:t>
            </a:r>
            <a:br>
              <a:rPr lang="en-US" dirty="0"/>
            </a:br>
            <a:r>
              <a:rPr lang="en-US" dirty="0"/>
              <a:t>● Only call Hooks from React functions</a:t>
            </a:r>
            <a:br>
              <a:rPr lang="en-US" dirty="0"/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BBC550-908C-05C0-1CD3-3441B9EE730E}"/>
              </a:ext>
            </a:extLst>
          </p:cNvPr>
          <p:cNvSpPr/>
          <p:nvPr/>
        </p:nvSpPr>
        <p:spPr>
          <a:xfrm>
            <a:off x="622851" y="2024131"/>
            <a:ext cx="9714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Only call Hooks from React functions</a:t>
            </a:r>
            <a:endParaRPr lang="en-US" dirty="0"/>
          </a:p>
          <a:p>
            <a:r>
              <a:rPr lang="en-US" dirty="0"/>
              <a:t>Hooks should only be used inside:</a:t>
            </a:r>
          </a:p>
          <a:p>
            <a:pPr lvl="1"/>
            <a:r>
              <a:rPr lang="en-US" dirty="0"/>
              <a:t>React </a:t>
            </a:r>
            <a:r>
              <a:rPr lang="en-US" b="1" dirty="0"/>
              <a:t>functional components</a:t>
            </a:r>
            <a:r>
              <a:rPr lang="en-US" dirty="0"/>
              <a:t>, or</a:t>
            </a:r>
          </a:p>
          <a:p>
            <a:pPr lvl="1"/>
            <a:r>
              <a:rPr lang="en-US" b="1" dirty="0"/>
              <a:t>Custom Hooks</a:t>
            </a:r>
            <a:r>
              <a:rPr lang="en-US" dirty="0"/>
              <a:t> (functions whose name starts with “use”).</a:t>
            </a:r>
          </a:p>
          <a:p>
            <a:r>
              <a:rPr lang="en-US" dirty="0"/>
              <a:t>You </a:t>
            </a:r>
            <a:r>
              <a:rPr lang="en-US" b="1" dirty="0"/>
              <a:t>can’t</a:t>
            </a:r>
            <a:r>
              <a:rPr lang="en-US" dirty="0"/>
              <a:t> call them inside regular JavaScript functions.</a:t>
            </a:r>
          </a:p>
        </p:txBody>
      </p:sp>
    </p:spTree>
    <p:extLst>
      <p:ext uri="{BB962C8B-B14F-4D97-AF65-F5344CB8AC3E}">
        <p14:creationId xmlns:p14="http://schemas.microsoft.com/office/powerpoint/2010/main" val="56930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197991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>
                <a:solidFill>
                  <a:srgbClr val="002060"/>
                </a:solidFill>
              </a:rPr>
              <a:t>Rule of Hook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510861" y="1704734"/>
            <a:ext cx="971496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It’s not supported to call Hooks (functions starting with use) in any other</a:t>
            </a:r>
            <a:br>
              <a:rPr lang="en-US" dirty="0"/>
            </a:br>
            <a:r>
              <a:rPr lang="en-US" dirty="0"/>
              <a:t>cases, for example:</a:t>
            </a:r>
            <a:br>
              <a:rPr lang="en-US" dirty="0"/>
            </a:br>
            <a:r>
              <a:rPr lang="en-US" dirty="0"/>
              <a:t>● Do not call Hooks inside conditions or loops.</a:t>
            </a:r>
            <a:br>
              <a:rPr lang="en-US" dirty="0"/>
            </a:br>
            <a:r>
              <a:rPr lang="en-US" dirty="0"/>
              <a:t>● Do not call Hooks after a conditional return statement.</a:t>
            </a:r>
            <a:br>
              <a:rPr lang="en-US" dirty="0"/>
            </a:br>
            <a:r>
              <a:rPr lang="en-US" dirty="0"/>
              <a:t>● Do not call Hooks in event handlers.</a:t>
            </a:r>
            <a:br>
              <a:rPr lang="en-US" dirty="0"/>
            </a:br>
            <a:r>
              <a:rPr lang="en-US" dirty="0"/>
              <a:t>● Do not call Hooks in class components.</a:t>
            </a:r>
            <a:br>
              <a:rPr lang="en-US" dirty="0"/>
            </a:br>
            <a:r>
              <a:rPr lang="en-US" dirty="0"/>
              <a:t>● Do not call Hooks inside functions passed to </a:t>
            </a:r>
            <a:r>
              <a:rPr lang="en-US" dirty="0" err="1"/>
              <a:t>useMemo</a:t>
            </a:r>
            <a:r>
              <a:rPr lang="en-US" dirty="0"/>
              <a:t>, </a:t>
            </a:r>
            <a:r>
              <a:rPr lang="en-US" dirty="0" err="1"/>
              <a:t>useReducer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or </a:t>
            </a:r>
            <a:r>
              <a:rPr lang="en-US" dirty="0" err="1"/>
              <a:t>useEffect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● Do not call Hooks inside try/catch/finally blocks.</a:t>
            </a:r>
            <a:br>
              <a:rPr lang="en-US" dirty="0"/>
            </a:br>
            <a:r>
              <a:rPr lang="en-US" dirty="0"/>
              <a:t>● If you break these rules, you might see this error.</a:t>
            </a:r>
            <a:br>
              <a:rPr lang="en-US" dirty="0"/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806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281E-36A6-1964-6F83-BA9197D4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09131-38B3-5BA2-A662-4A2F6621F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Hooks allow you to </a:t>
            </a:r>
            <a:r>
              <a:rPr lang="en-US" b="1" dirty="0"/>
              <a:t>reuse logic</a:t>
            </a:r>
            <a:r>
              <a:rPr lang="en-US" dirty="0"/>
              <a:t>, not markup.</a:t>
            </a:r>
            <a:br>
              <a:rPr lang="en-US" dirty="0"/>
            </a:br>
            <a:r>
              <a:rPr lang="en-US" dirty="0"/>
              <a:t>For example, you can create a hook that handles button color changes, and then reuse it in multiple components.</a:t>
            </a:r>
          </a:p>
          <a:p>
            <a:r>
              <a:rPr lang="en-US" dirty="0">
                <a:solidFill>
                  <a:schemeClr val="accent1"/>
                </a:solidFill>
              </a:rPr>
              <a:t>function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useToggleColor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{</a:t>
            </a:r>
          </a:p>
          <a:p>
            <a:r>
              <a:rPr lang="en-US" dirty="0"/>
              <a:t>  const [color, </a:t>
            </a:r>
            <a:r>
              <a:rPr lang="en-US" dirty="0" err="1"/>
              <a:t>setColor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("blue");</a:t>
            </a:r>
          </a:p>
          <a:p>
            <a:r>
              <a:rPr lang="en-US" dirty="0"/>
              <a:t>  const </a:t>
            </a:r>
            <a:r>
              <a:rPr lang="en-US" dirty="0" err="1"/>
              <a:t>toggleColor</a:t>
            </a:r>
            <a:r>
              <a:rPr lang="en-US" dirty="0"/>
              <a:t> = () =&gt; </a:t>
            </a:r>
            <a:r>
              <a:rPr lang="en-US" dirty="0" err="1"/>
              <a:t>setColor</a:t>
            </a:r>
            <a:r>
              <a:rPr lang="en-US" dirty="0"/>
              <a:t>(color === "blue" ? "red" : "blue");</a:t>
            </a:r>
          </a:p>
          <a:p>
            <a:r>
              <a:rPr lang="en-US" dirty="0"/>
              <a:t>  return [color, </a:t>
            </a:r>
            <a:r>
              <a:rPr lang="en-US" dirty="0" err="1"/>
              <a:t>toggleColor</a:t>
            </a:r>
            <a:r>
              <a:rPr lang="en-US" dirty="0"/>
              <a:t>];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2849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0" y="1235075"/>
            <a:ext cx="9144000" cy="319088"/>
          </a:xfrm>
          <a:custGeom>
            <a:avLst/>
            <a:gdLst>
              <a:gd name="connsiteX0" fmla="*/ 0 w 9144000"/>
              <a:gd name="connsiteY0" fmla="*/ 320040 h 320040"/>
              <a:gd name="connsiteX1" fmla="*/ 9144000 w 9144000"/>
              <a:gd name="connsiteY1" fmla="*/ 320040 h 320040"/>
              <a:gd name="connsiteX2" fmla="*/ 9144000 w 9144000"/>
              <a:gd name="connsiteY2" fmla="*/ 0 h 320040"/>
              <a:gd name="connsiteX3" fmla="*/ 0 w 9144000"/>
              <a:gd name="connsiteY3" fmla="*/ 0 h 320040"/>
              <a:gd name="connsiteX4" fmla="*/ 0 w 9144000"/>
              <a:gd name="connsiteY4" fmla="*/ 320040 h 32004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320040">
                <a:moveTo>
                  <a:pt x="0" y="320040"/>
                </a:moveTo>
                <a:lnTo>
                  <a:pt x="9144000" y="320040"/>
                </a:lnTo>
                <a:lnTo>
                  <a:pt x="9144000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97" tIns="45698" rIns="91397" bIns="45698" anchor="ctr"/>
          <a:lstStyle/>
          <a:p>
            <a:pPr algn="ctr" defTabSz="914400">
              <a:spcBef>
                <a:spcPct val="20000"/>
              </a:spcBef>
              <a:buFontTx/>
              <a:buChar char="•"/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22852" y="1279525"/>
            <a:ext cx="10045148" cy="274638"/>
            <a:chOff x="1524000" y="1279525"/>
            <a:chExt cx="9144000" cy="228600"/>
          </a:xfrm>
        </p:grpSpPr>
        <p:sp>
          <p:nvSpPr>
            <p:cNvPr id="5" name="Freeform 3"/>
            <p:cNvSpPr/>
            <p:nvPr/>
          </p:nvSpPr>
          <p:spPr>
            <a:xfrm>
              <a:off x="1524000" y="1279525"/>
              <a:ext cx="533400" cy="228600"/>
            </a:xfrm>
            <a:custGeom>
              <a:avLst/>
              <a:gdLst>
                <a:gd name="connsiteX0" fmla="*/ 0 w 533400"/>
                <a:gd name="connsiteY0" fmla="*/ 228600 h 228600"/>
                <a:gd name="connsiteX1" fmla="*/ 533400 w 533400"/>
                <a:gd name="connsiteY1" fmla="*/ 228600 h 228600"/>
                <a:gd name="connsiteX2" fmla="*/ 533400 w 533400"/>
                <a:gd name="connsiteY2" fmla="*/ 0 h 228600"/>
                <a:gd name="connsiteX3" fmla="*/ 0 w 533400"/>
                <a:gd name="connsiteY3" fmla="*/ 0 h 228600"/>
                <a:gd name="connsiteX4" fmla="*/ 0 w 53340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2286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CC8E60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Freeform 3"/>
            <p:cNvSpPr/>
            <p:nvPr/>
          </p:nvSpPr>
          <p:spPr>
            <a:xfrm>
              <a:off x="2114550" y="1279525"/>
              <a:ext cx="8553450" cy="228600"/>
            </a:xfrm>
            <a:custGeom>
              <a:avLst/>
              <a:gdLst>
                <a:gd name="connsiteX0" fmla="*/ 0 w 8553450"/>
                <a:gd name="connsiteY0" fmla="*/ 228600 h 228600"/>
                <a:gd name="connsiteX1" fmla="*/ 8553450 w 8553450"/>
                <a:gd name="connsiteY1" fmla="*/ 228600 h 228600"/>
                <a:gd name="connsiteX2" fmla="*/ 8553450 w 8553450"/>
                <a:gd name="connsiteY2" fmla="*/ 0 h 228600"/>
                <a:gd name="connsiteX3" fmla="*/ 0 w 8553450"/>
                <a:gd name="connsiteY3" fmla="*/ 0 h 228600"/>
                <a:gd name="connsiteX4" fmla="*/ 0 w 8553450"/>
                <a:gd name="connsiteY4" fmla="*/ 228600 h 228600"/>
              </a:gdLst>
              <a:ahLst/>
              <a:cxnLst>
                <a:cxn ang="0">
                  <a:pos x="connsiteX0" y="connsiteY0"/>
                </a:cxn>
                <a:cxn ang="1">
                  <a:pos x="connsiteX1" y="connsiteY1"/>
                </a:cxn>
                <a:cxn ang="2">
                  <a:pos x="connsiteX2" y="connsiteY2"/>
                </a:cxn>
                <a:cxn ang="3">
                  <a:pos x="connsiteX3" y="connsiteY3"/>
                </a:cxn>
                <a:cxn ang="4">
                  <a:pos x="connsiteX4" y="connsiteY4"/>
                </a:cxn>
              </a:cxnLst>
              <a:rect l="l" t="t" r="r" b="b"/>
              <a:pathLst>
                <a:path w="8553450" h="228600">
                  <a:moveTo>
                    <a:pt x="0" y="228600"/>
                  </a:moveTo>
                  <a:lnTo>
                    <a:pt x="8553450" y="228600"/>
                  </a:lnTo>
                  <a:lnTo>
                    <a:pt x="8553450" y="0"/>
                  </a:lnTo>
                  <a:lnTo>
                    <a:pt x="0" y="0"/>
                  </a:lnTo>
                  <a:lnTo>
                    <a:pt x="0" y="228600"/>
                  </a:lnTo>
                </a:path>
              </a:pathLst>
            </a:custGeom>
            <a:solidFill>
              <a:srgbClr val="7E97AD">
                <a:alpha val="100000"/>
              </a:srgbClr>
            </a:solidFill>
            <a:ln w="12700">
              <a:solidFill>
                <a:srgbClr val="000000">
                  <a:alpha val="0"/>
                </a:srgb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397" tIns="45698" rIns="91397" bIns="45698" anchor="ctr"/>
            <a:lstStyle/>
            <a:p>
              <a:pPr algn="ctr" defTabSz="914400">
                <a:spcBef>
                  <a:spcPct val="20000"/>
                </a:spcBef>
                <a:buFontTx/>
                <a:buChar char="•"/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6151" name="TextBox 1"/>
          <p:cNvSpPr txBox="1">
            <a:spLocks noChangeArrowheads="1"/>
          </p:cNvSpPr>
          <p:nvPr/>
        </p:nvSpPr>
        <p:spPr bwMode="auto">
          <a:xfrm>
            <a:off x="622852" y="426654"/>
            <a:ext cx="3811941" cy="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4569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lnSpc>
                <a:spcPts val="4600"/>
              </a:lnSpc>
              <a:buFontTx/>
              <a:buNone/>
            </a:pPr>
            <a:r>
              <a:rPr lang="en-US" altLang="zh-CN" sz="4400" b="1" dirty="0">
                <a:solidFill>
                  <a:srgbClr val="002060"/>
                </a:solidFill>
              </a:rPr>
              <a:t>Event Handling</a:t>
            </a:r>
            <a:endParaRPr lang="en-US" altLang="zh-CN" sz="4400" b="1" dirty="0">
              <a:solidFill>
                <a:srgbClr val="002060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2852" y="1770985"/>
            <a:ext cx="1055601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SzPct val="110000"/>
            </a:pP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510861" y="1704734"/>
            <a:ext cx="9714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0861" y="174918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React, {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"react"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'./index.js'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StateE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[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inputValue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setInputValue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] =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useState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"My name"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onChange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(event)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newValue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event.target.value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setInputValue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newValue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inputValue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hr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placeholder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"Enter Something..."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onChange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onChange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div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StateE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634" y="2949261"/>
            <a:ext cx="3504262" cy="166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63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B612-44BB-DF52-5521-9DD3BEC8D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E5EE-E0A5-444A-3FA9-31570DDF5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Product Rating Interface</a:t>
            </a:r>
            <a:br>
              <a:rPr lang="en-US" dirty="0"/>
            </a:br>
            <a:r>
              <a:rPr lang="en-US" dirty="0"/>
              <a:t>Develop a rating interface for products where clicking on stars changes their color (active/inactive), and the background or button styles adjust according to the selected rating.</a:t>
            </a:r>
          </a:p>
        </p:txBody>
      </p:sp>
    </p:spTree>
    <p:extLst>
      <p:ext uri="{BB962C8B-B14F-4D97-AF65-F5344CB8AC3E}">
        <p14:creationId xmlns:p14="http://schemas.microsoft.com/office/powerpoint/2010/main" val="139992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2236</TotalTime>
  <Words>920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Adobe Fan Heiti Std B</vt:lpstr>
      <vt:lpstr>Arial</vt:lpstr>
      <vt:lpstr>Calibri</vt:lpstr>
      <vt:lpstr>Calibri Light</vt:lpstr>
      <vt:lpstr>Consolas</vt:lpstr>
      <vt:lpstr>Lucida Sans Unicode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</vt:lpstr>
      <vt:lpstr>PowerPoint Presentation</vt:lpstr>
      <vt:lpstr>Practice 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Mariya Hanif</dc:creator>
  <cp:lastModifiedBy>d n</cp:lastModifiedBy>
  <cp:revision>283</cp:revision>
  <dcterms:created xsi:type="dcterms:W3CDTF">2021-02-08T18:52:44Z</dcterms:created>
  <dcterms:modified xsi:type="dcterms:W3CDTF">2025-10-14T09:57:48Z</dcterms:modified>
</cp:coreProperties>
</file>