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15"/>
  </p:notesMasterIdLst>
  <p:sldIdLst>
    <p:sldId id="256" r:id="rId2"/>
    <p:sldId id="264" r:id="rId3"/>
    <p:sldId id="265" r:id="rId4"/>
    <p:sldId id="266" r:id="rId5"/>
    <p:sldId id="280" r:id="rId6"/>
    <p:sldId id="267" r:id="rId7"/>
    <p:sldId id="268" r:id="rId8"/>
    <p:sldId id="269" r:id="rId9"/>
    <p:sldId id="281" r:id="rId10"/>
    <p:sldId id="270" r:id="rId11"/>
    <p:sldId id="282" r:id="rId12"/>
    <p:sldId id="271" r:id="rId13"/>
    <p:sldId id="272" r:id="rId14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60"/>
  </p:normalViewPr>
  <p:slideViewPr>
    <p:cSldViewPr>
      <p:cViewPr varScale="1">
        <p:scale>
          <a:sx n="76" d="100"/>
          <a:sy n="76" d="100"/>
        </p:scale>
        <p:origin x="1692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810D9D-594A-464E-9273-45C2B4CA9C4B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B5DAF-B041-47A6-92E2-4DDBDBA0D1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1089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parser is a program or component of a program that analyzes the syntax of input data (usually text) according to the rules of a formal grammar. It breaks down the input into its constituent parts and often generates a data structure representing the input in a way that can be easily manipulated or processed further.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5DAF-B041-47A6-92E2-4DDBDBA0D1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497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Forward slicing can be used to predict the parts of a program that will be affected by a modification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x = 1; y = 2; z = y-2; r = x; z =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x+y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; /* the slice point is the end of the program */. A backward slice – simply a version of the original program with some parts missing – can be compiled and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5DAF-B041-47A6-92E2-4DDBDBA0D1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3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5DAF-B041-47A6-92E2-4DDBDBA0D1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Forward slicing can be used to predict the parts of a program that will be affected by a modification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x = 1; y = 2; z = y-2; r = x; z =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x+y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; /* the slice point is the end of the program */. A backward slice – simply a version of the original program with some parts missing – can be compiled and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5DAF-B041-47A6-92E2-4DDBDBA0D1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805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Forward slicing can be used to predict the parts of a program that will be affected by a modification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. x = 1; y = 2; z = y-2; r = x; z = </a:t>
            </a:r>
            <a:r>
              <a:rPr lang="en-US" b="0" i="0" dirty="0" err="1">
                <a:solidFill>
                  <a:srgbClr val="202124"/>
                </a:solidFill>
                <a:effectLst/>
                <a:latin typeface="Google Sans"/>
              </a:rPr>
              <a:t>x+y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; /* the slice point is the end of the program */. A backward slice – simply a version of the original program with some parts missing – can be compiled and executed.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B5DAF-B041-47A6-92E2-4DDBDBA0D1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30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00A86274-AECA-4602-B404-A878824E60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6501"/>
            <a:ext cx="10058400" cy="1939399"/>
          </a:xfrm>
          <a:solidFill>
            <a:srgbClr val="00206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b"/>
          <a:lstStyle>
            <a:lvl1pPr algn="ctr">
              <a:defRPr sz="495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093DEEF-51A1-4F3F-93A2-FDC4789A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79404" y="5370309"/>
            <a:ext cx="4278412" cy="521911"/>
          </a:xfrm>
        </p:spPr>
        <p:txBody>
          <a:bodyPr>
            <a:normAutofit/>
          </a:bodyPr>
          <a:lstStyle>
            <a:lvl1pPr marL="0" indent="0" algn="ctr">
              <a:buNone/>
              <a:defRPr sz="2310" b="1">
                <a:solidFill>
                  <a:srgbClr val="001050"/>
                </a:solidFill>
              </a:defRPr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A33559CF-3A39-464E-8153-CFB2A1128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1515" y="7203864"/>
            <a:ext cx="2263140" cy="413808"/>
          </a:xfrm>
        </p:spPr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3FABC3BD-2AAA-4531-895B-3DD70DF72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03745" y="7203864"/>
            <a:ext cx="2263140" cy="413808"/>
          </a:xfrm>
        </p:spPr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070B560-5622-461A-9086-C81B8DFD0314}"/>
              </a:ext>
            </a:extLst>
          </p:cNvPr>
          <p:cNvSpPr txBox="1">
            <a:spLocks/>
          </p:cNvSpPr>
          <p:nvPr/>
        </p:nvSpPr>
        <p:spPr>
          <a:xfrm>
            <a:off x="-10777" y="676211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57C00DF-2495-4CA0-B9A7-6ED45A39B1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769" y="784642"/>
            <a:ext cx="3631801" cy="1184366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FE984078-D535-4E16-A9EF-E132281C5B64}"/>
              </a:ext>
            </a:extLst>
          </p:cNvPr>
          <p:cNvSpPr txBox="1">
            <a:spLocks/>
          </p:cNvSpPr>
          <p:nvPr/>
        </p:nvSpPr>
        <p:spPr>
          <a:xfrm>
            <a:off x="6236210" y="686080"/>
            <a:ext cx="3829930" cy="1411415"/>
          </a:xfrm>
          <a:prstGeom prst="rect">
            <a:avLst/>
          </a:prstGeom>
          <a:solidFill>
            <a:srgbClr val="001050"/>
          </a:solidFill>
          <a:ln>
            <a:miter lim="800000"/>
            <a:headEnd/>
            <a:tailEnd/>
          </a:ln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rtl="0" eaLnBrk="1" latinLnBrk="0" hangingPunct="1">
              <a:spcBef>
                <a:spcPct val="0"/>
              </a:spcBef>
              <a:buNone/>
              <a:defRPr kumimoji="0" sz="48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l">
              <a:defRPr/>
            </a:pPr>
            <a:endParaRPr lang="en-US" sz="4455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EC0F849A-A128-466B-9879-BD67134DE4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3685" y="784642"/>
            <a:ext cx="3685685" cy="1199170"/>
          </a:xfrm>
        </p:spPr>
        <p:txBody>
          <a:bodyPr>
            <a:normAutofit/>
          </a:bodyPr>
          <a:lstStyle>
            <a:lvl1pPr algn="ctr">
              <a:lnSpc>
                <a:spcPct val="100000"/>
              </a:lnSpc>
              <a:buNone/>
              <a:defRPr sz="396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68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C6514-E628-458B-AA9A-60A33D091D2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2060"/>
          </a:solidFill>
        </p:spPr>
        <p:txBody>
          <a:bodyPr/>
          <a:lstStyle>
            <a:lvl1pPr>
              <a:defRPr b="1">
                <a:solidFill>
                  <a:schemeClr val="bg1">
                    <a:lumMod val="9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04EEA8-1D0F-4EDA-AC1C-3D8EC8821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q"/>
              <a:defRPr b="1">
                <a:solidFill>
                  <a:srgbClr val="001050"/>
                </a:solidFill>
              </a:defRPr>
            </a:lvl1pPr>
            <a:lvl2pPr>
              <a:buFont typeface="Wingdings" panose="05000000000000000000" pitchFamily="2" charset="2"/>
              <a:buChar char="§"/>
              <a:defRPr b="0"/>
            </a:lvl2pPr>
            <a:lvl3pPr>
              <a:buFont typeface="Courier New" panose="02070309020205020404" pitchFamily="49" charset="0"/>
              <a:buChar char="o"/>
              <a:defRPr b="0">
                <a:latin typeface="+mj-lt"/>
              </a:defRPr>
            </a:lvl3pPr>
            <a:lvl4pPr>
              <a:buFont typeface="Arial" panose="020B0604020202020204" pitchFamily="34" charset="0"/>
              <a:buChar char="•"/>
              <a:defRPr b="0">
                <a:latin typeface="+mj-lt"/>
              </a:defRPr>
            </a:lvl4pPr>
            <a:lvl5pPr>
              <a:buFont typeface="Arial" panose="020B0604020202020204" pitchFamily="34" charset="0"/>
              <a:buChar char="•"/>
              <a:defRPr b="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3E359-53AB-4630-9445-BD1EC211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AB4D4-DD5B-499F-AF34-6F714EED9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134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4C5-DA85-42F4-9809-54A7416F1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276" y="1937704"/>
            <a:ext cx="8675370" cy="3233102"/>
          </a:xfrm>
          <a:solidFill>
            <a:srgbClr val="002060"/>
          </a:solidFill>
        </p:spPr>
        <p:txBody>
          <a:bodyPr anchor="b"/>
          <a:lstStyle>
            <a:lvl1pPr>
              <a:defRPr sz="495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C6D7-FA11-4EC0-B04D-17711775B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6276" y="5201392"/>
            <a:ext cx="8675370" cy="1700212"/>
          </a:xfrm>
        </p:spPr>
        <p:txBody>
          <a:bodyPr>
            <a:normAutofit/>
          </a:bodyPr>
          <a:lstStyle>
            <a:lvl1pPr marL="0" indent="0">
              <a:buNone/>
              <a:defRPr sz="2640" b="0">
                <a:solidFill>
                  <a:srgbClr val="001050"/>
                </a:solidFill>
                <a:latin typeface="+mj-lt"/>
              </a:defRPr>
            </a:lvl1pPr>
            <a:lvl2pPr marL="377190" indent="0">
              <a:buNone/>
              <a:defRPr sz="1650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790E4-1765-4F51-B6C8-CF3473463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3C99A-182B-47B9-803E-FD4A2E2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816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180E0-5E40-408E-BDD1-D6554F927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399004"/>
            <a:ext cx="8675370" cy="1502305"/>
          </a:xfrm>
          <a:solidFill>
            <a:srgbClr val="002060"/>
          </a:solidFill>
        </p:spPr>
        <p:txBody>
          <a:bodyPr>
            <a:normAutofit/>
          </a:bodyPr>
          <a:lstStyle>
            <a:lvl1pPr>
              <a:defRPr sz="396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A4002-4A0D-4A91-A1FF-EEA9F9CE6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26D3D0-22D7-4FE1-9BC2-28DE2F5EC7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>
            <a:lvl1pPr>
              <a:buFont typeface="Wingdings" panose="05000000000000000000" pitchFamily="2" charset="2"/>
              <a:buChar char="q"/>
              <a:defRPr/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Arial" panose="020B0604020202020204" pitchFamily="34" charset="0"/>
              <a:buChar char="•"/>
              <a:defRPr>
                <a:latin typeface="+mj-lt"/>
              </a:defRPr>
            </a:lvl3pPr>
            <a:lvl4pPr>
              <a:buFont typeface="Courier New" panose="02070309020205020404" pitchFamily="49" charset="0"/>
              <a:buChar char="o"/>
              <a:defRPr>
                <a:latin typeface="+mj-lt"/>
              </a:defRPr>
            </a:lvl4pPr>
            <a:lvl5pPr>
              <a:buFont typeface="Courier New" panose="02070309020205020404" pitchFamily="49" charset="0"/>
              <a:buChar char="o"/>
              <a:defRPr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E05DC-021E-4421-ACCD-6ED98EF2E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1E2AC-9805-48FF-BA68-31E79A971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2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B6EF0-EABB-4D40-99F9-02DEBD1ED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96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629DF0-9338-429B-894B-6BA89B81F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4F8401-E628-423C-AAB0-CEFA43993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80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698250-7BF9-4699-8DAA-10CA39A6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5DEACF-DE1A-4413-8881-A9F8E73A2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57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26DA1-7ABB-4B30-BC38-25B428BDC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515" y="413809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6C9A3-0ABC-4112-86CC-F1C647B8F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414F0-AD23-468C-BFE0-6A14B6401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151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</a:pPr>
            <a:r>
              <a:rPr lang="en-US"/>
              <a:t>© </a:t>
            </a:r>
            <a:r>
              <a:rPr lang="en-US" spc="-5"/>
              <a:t>Tripathy </a:t>
            </a:r>
            <a:r>
              <a:rPr lang="en-US"/>
              <a:t>&amp;</a:t>
            </a:r>
            <a:r>
              <a:rPr lang="en-US" spc="-55"/>
              <a:t> </a:t>
            </a:r>
            <a:r>
              <a:rPr lang="en-US" spc="-5"/>
              <a:t>Naik</a:t>
            </a:r>
            <a:endParaRPr lang="en-US" spc="-5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87060-9AB1-4B3A-A1EF-C8A00129B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03745" y="7203864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396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8595" indent="-188595" algn="l" defTabSz="754380" rtl="0" eaLnBrk="1" latinLnBrk="0" hangingPunct="1">
        <a:lnSpc>
          <a:spcPct val="90000"/>
        </a:lnSpc>
        <a:spcBef>
          <a:spcPts val="825"/>
        </a:spcBef>
        <a:buFont typeface="Wingdings" panose="05000000000000000000" pitchFamily="2" charset="2"/>
        <a:buChar char="q"/>
        <a:defRPr sz="2310" kern="1200">
          <a:solidFill>
            <a:schemeClr val="tx1"/>
          </a:solidFill>
          <a:latin typeface="+mn-lt"/>
          <a:ea typeface="+mn-ea"/>
          <a:cs typeface="+mn-cs"/>
        </a:defRPr>
      </a:lvl1pPr>
      <a:lvl2pPr marL="565785" indent="-188595" algn="l" defTabSz="754380" rtl="0" eaLnBrk="1" latinLnBrk="0" hangingPunct="1">
        <a:lnSpc>
          <a:spcPct val="90000"/>
        </a:lnSpc>
        <a:spcBef>
          <a:spcPts val="413"/>
        </a:spcBef>
        <a:buFont typeface="Wingdings" panose="05000000000000000000" pitchFamily="2" charset="2"/>
        <a:buChar char="§"/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942975" indent="-188595" algn="l" defTabSz="754380" rtl="0" eaLnBrk="1" latinLnBrk="0" hangingPunct="1">
        <a:lnSpc>
          <a:spcPct val="90000"/>
        </a:lnSpc>
        <a:spcBef>
          <a:spcPts val="413"/>
        </a:spcBef>
        <a:buFont typeface="Courier New" panose="02070309020205020404" pitchFamily="49" charset="0"/>
        <a:buChar char="o"/>
        <a:defRPr sz="1650" kern="1200">
          <a:solidFill>
            <a:schemeClr val="tx1"/>
          </a:solidFill>
          <a:latin typeface="+mj-lt"/>
          <a:ea typeface="+mn-ea"/>
          <a:cs typeface="+mn-cs"/>
        </a:defRPr>
      </a:lvl3pPr>
      <a:lvl4pPr marL="132016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4pPr>
      <a:lvl5pPr marL="169735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j-lt"/>
          <a:ea typeface="+mn-ea"/>
          <a:cs typeface="+mn-cs"/>
        </a:defRPr>
      </a:lvl5pPr>
      <a:lvl6pPr marL="207454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73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892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115" indent="-188595" algn="l" defTabSz="754380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0200" y="2286000"/>
            <a:ext cx="7543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Re</a:t>
            </a:r>
            <a:r>
              <a:rPr lang="en-US" sz="3600" b="1" spc="-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verse Engineering</a:t>
            </a:r>
            <a:r>
              <a:rPr sz="3600" b="1" spc="3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Techniques</a:t>
            </a:r>
            <a:endParaRPr sz="3600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8363" y="151143"/>
            <a:ext cx="7552054" cy="12309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 Techniques Used for Reverse Engineering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8200" y="1752600"/>
            <a:ext cx="7552055" cy="32829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265" marR="5080" indent="-457200">
              <a:lnSpc>
                <a:spcPts val="2590"/>
              </a:lnSpc>
              <a:spcBef>
                <a:spcPts val="425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r>
              <a:rPr sz="2400" spc="-5" dirty="0">
                <a:latin typeface="Times New Roman"/>
                <a:cs typeface="Times New Roman"/>
              </a:rPr>
              <a:t>The well-known </a:t>
            </a:r>
            <a:r>
              <a:rPr sz="2400" dirty="0">
                <a:latin typeface="Times New Roman"/>
                <a:cs typeface="Times New Roman"/>
              </a:rPr>
              <a:t>analysis techniques </a:t>
            </a:r>
            <a:r>
              <a:rPr sz="2400" spc="-5" dirty="0">
                <a:latin typeface="Times New Roman"/>
                <a:cs typeface="Times New Roman"/>
              </a:rPr>
              <a:t>that facilitate </a:t>
            </a:r>
            <a:r>
              <a:rPr sz="2400" dirty="0">
                <a:latin typeface="Times New Roman"/>
                <a:cs typeface="Times New Roman"/>
              </a:rPr>
              <a:t>reverse  engineering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are:</a:t>
            </a:r>
          </a:p>
          <a:p>
            <a:pPr marL="1727835" lvl="1" indent="-344170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spc="-5" dirty="0">
                <a:latin typeface="Times New Roman"/>
                <a:cs typeface="Times New Roman"/>
              </a:rPr>
              <a:t>Lexical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analysis.</a:t>
            </a:r>
            <a:endParaRPr sz="2000" dirty="0">
              <a:latin typeface="Times New Roman"/>
              <a:cs typeface="Times New Roman"/>
            </a:endParaRPr>
          </a:p>
          <a:p>
            <a:pPr marL="1727835" lvl="1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spc="-5" dirty="0">
                <a:latin typeface="Times New Roman"/>
                <a:cs typeface="Times New Roman"/>
              </a:rPr>
              <a:t>Syntactic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analysis.</a:t>
            </a:r>
            <a:endParaRPr sz="2000" dirty="0">
              <a:latin typeface="Times New Roman"/>
              <a:cs typeface="Times New Roman"/>
            </a:endParaRPr>
          </a:p>
          <a:p>
            <a:pPr marL="1727835" lvl="1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dirty="0">
                <a:solidFill>
                  <a:srgbClr val="3333FF"/>
                </a:solidFill>
                <a:latin typeface="Times New Roman"/>
                <a:cs typeface="Times New Roman"/>
              </a:rPr>
              <a:t>Control </a:t>
            </a:r>
            <a:r>
              <a:rPr sz="2000" spc="-5" dirty="0">
                <a:solidFill>
                  <a:srgbClr val="3333FF"/>
                </a:solidFill>
                <a:latin typeface="Times New Roman"/>
                <a:cs typeface="Times New Roman"/>
              </a:rPr>
              <a:t>flow</a:t>
            </a:r>
            <a:r>
              <a:rPr sz="2000" spc="-45" dirty="0">
                <a:solidFill>
                  <a:srgbClr val="3333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FF"/>
                </a:solidFill>
                <a:latin typeface="Times New Roman"/>
                <a:cs typeface="Times New Roman"/>
              </a:rPr>
              <a:t>analysis.</a:t>
            </a:r>
            <a:endParaRPr sz="2000" dirty="0">
              <a:latin typeface="Times New Roman"/>
              <a:cs typeface="Times New Roman"/>
            </a:endParaRPr>
          </a:p>
          <a:p>
            <a:pPr marL="1727835" lvl="1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spc="-5" dirty="0">
                <a:solidFill>
                  <a:srgbClr val="FF0033"/>
                </a:solidFill>
                <a:latin typeface="Times New Roman"/>
                <a:cs typeface="Times New Roman"/>
              </a:rPr>
              <a:t>Data flow</a:t>
            </a:r>
            <a:r>
              <a:rPr sz="2000" spc="-15" dirty="0">
                <a:solidFill>
                  <a:srgbClr val="FF0033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33"/>
                </a:solidFill>
                <a:latin typeface="Times New Roman"/>
                <a:cs typeface="Times New Roman"/>
              </a:rPr>
              <a:t>analysis.</a:t>
            </a:r>
            <a:endParaRPr sz="2000" dirty="0">
              <a:latin typeface="Times New Roman"/>
              <a:cs typeface="Times New Roman"/>
            </a:endParaRPr>
          </a:p>
          <a:p>
            <a:pPr marL="1727835" lvl="1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dirty="0">
                <a:solidFill>
                  <a:srgbClr val="FF0033"/>
                </a:solidFill>
                <a:latin typeface="Times New Roman"/>
                <a:cs typeface="Times New Roman"/>
              </a:rPr>
              <a:t>Program</a:t>
            </a:r>
            <a:r>
              <a:rPr sz="2000" spc="-40" dirty="0">
                <a:solidFill>
                  <a:srgbClr val="FF0033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33"/>
                </a:solidFill>
                <a:latin typeface="Times New Roman"/>
                <a:cs typeface="Times New Roman"/>
              </a:rPr>
              <a:t>slicing.</a:t>
            </a:r>
            <a:endParaRPr sz="2000" dirty="0">
              <a:latin typeface="Times New Roman"/>
              <a:cs typeface="Times New Roman"/>
            </a:endParaRPr>
          </a:p>
          <a:p>
            <a:pPr marL="1727835" lvl="1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spc="-5" dirty="0">
                <a:solidFill>
                  <a:srgbClr val="3333FF"/>
                </a:solidFill>
                <a:latin typeface="Times New Roman"/>
                <a:cs typeface="Times New Roman"/>
              </a:rPr>
              <a:t>Visualization.</a:t>
            </a:r>
            <a:endParaRPr sz="2000" dirty="0">
              <a:latin typeface="Times New Roman"/>
              <a:cs typeface="Times New Roman"/>
            </a:endParaRPr>
          </a:p>
          <a:p>
            <a:pPr marL="1727835" lvl="1" indent="-344170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1727835" algn="l"/>
                <a:tab pos="1728470" algn="l"/>
              </a:tabLst>
            </a:pPr>
            <a:r>
              <a:rPr sz="2000" dirty="0">
                <a:solidFill>
                  <a:srgbClr val="3333FF"/>
                </a:solidFill>
                <a:latin typeface="Times New Roman"/>
                <a:cs typeface="Times New Roman"/>
              </a:rPr>
              <a:t>Program</a:t>
            </a:r>
            <a:r>
              <a:rPr sz="2000" spc="-40" dirty="0">
                <a:solidFill>
                  <a:srgbClr val="3333F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3333FF"/>
                </a:solidFill>
                <a:latin typeface="Times New Roman"/>
                <a:cs typeface="Times New Roman"/>
              </a:rPr>
              <a:t>metrics.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600" y="455842"/>
            <a:ext cx="5412919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4.6.1 Lexical</a:t>
            </a:r>
            <a:r>
              <a:rPr spc="-45" dirty="0"/>
              <a:t> </a:t>
            </a:r>
            <a:r>
              <a:rPr spc="-5" dirty="0"/>
              <a:t>Analysis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112053"/>
            <a:ext cx="8713470" cy="3736279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900" marR="109855" indent="-457834">
              <a:lnSpc>
                <a:spcPts val="2160"/>
              </a:lnSpc>
              <a:spcBef>
                <a:spcPts val="37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Lexical analysis </a:t>
            </a:r>
            <a:r>
              <a:rPr sz="2000" dirty="0">
                <a:latin typeface="Times New Roman"/>
                <a:cs typeface="Times New Roman"/>
              </a:rPr>
              <a:t>is the process of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decomposing the sequence of characters in</a:t>
            </a:r>
            <a:r>
              <a:rPr sz="2000" spc="-254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source code</a:t>
            </a:r>
            <a:r>
              <a:rPr sz="2000" dirty="0">
                <a:latin typeface="Times New Roman"/>
                <a:cs typeface="Times New Roman"/>
              </a:rPr>
              <a:t> into </a:t>
            </a:r>
            <a:r>
              <a:rPr sz="2000" spc="-10" dirty="0">
                <a:latin typeface="Times New Roman"/>
                <a:cs typeface="Times New Roman"/>
              </a:rPr>
              <a:t>its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constituent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lexical</a:t>
            </a:r>
            <a:r>
              <a:rPr sz="2000" spc="-1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units.</a:t>
            </a:r>
            <a:endParaRPr sz="20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310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469900" marR="5080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A program </a:t>
            </a:r>
            <a:r>
              <a:rPr sz="2000" spc="-5" dirty="0">
                <a:latin typeface="Times New Roman"/>
                <a:cs typeface="Times New Roman"/>
              </a:rPr>
              <a:t>performing </a:t>
            </a:r>
            <a:r>
              <a:rPr sz="2000" dirty="0">
                <a:latin typeface="Times New Roman"/>
                <a:cs typeface="Times New Roman"/>
              </a:rPr>
              <a:t>lexical </a:t>
            </a:r>
            <a:r>
              <a:rPr sz="2000" spc="-5" dirty="0">
                <a:latin typeface="Times New Roman"/>
                <a:cs typeface="Times New Roman"/>
              </a:rPr>
              <a:t>analysis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called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lexical analyzer</a:t>
            </a:r>
            <a:r>
              <a:rPr sz="2000" spc="-5" dirty="0">
                <a:latin typeface="Times New Roman"/>
                <a:cs typeface="Times New Roman"/>
              </a:rPr>
              <a:t>, </a:t>
            </a:r>
            <a:r>
              <a:rPr sz="2000" spc="5" dirty="0">
                <a:latin typeface="Times New Roman"/>
                <a:cs typeface="Times New Roman"/>
              </a:rPr>
              <a:t>and </a:t>
            </a:r>
            <a:r>
              <a:rPr sz="2000" spc="-10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is a part  of a </a:t>
            </a:r>
            <a:r>
              <a:rPr sz="2000" spc="-5" dirty="0">
                <a:latin typeface="Times New Roman"/>
                <a:cs typeface="Times New Roman"/>
              </a:rPr>
              <a:t>programming </a:t>
            </a:r>
            <a:r>
              <a:rPr sz="2000" dirty="0">
                <a:latin typeface="Times New Roman"/>
                <a:cs typeface="Times New Roman"/>
              </a:rPr>
              <a:t>language’s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compiler.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3100" dirty="0">
              <a:latin typeface="Times New Roman"/>
              <a:cs typeface="Times New Roman"/>
            </a:endParaRPr>
          </a:p>
          <a:p>
            <a:pPr marL="469900" marR="37465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Typically </a:t>
            </a:r>
            <a:r>
              <a:rPr sz="2000" spc="-10" dirty="0">
                <a:latin typeface="Times New Roman"/>
                <a:cs typeface="Times New Roman"/>
              </a:rPr>
              <a:t>it </a:t>
            </a:r>
            <a:r>
              <a:rPr sz="2000" dirty="0">
                <a:latin typeface="Times New Roman"/>
                <a:cs typeface="Times New Roman"/>
              </a:rPr>
              <a:t>uses rules describing lexical program </a:t>
            </a:r>
            <a:r>
              <a:rPr sz="2000" spc="-5" dirty="0">
                <a:latin typeface="Times New Roman"/>
                <a:cs typeface="Times New Roman"/>
              </a:rPr>
              <a:t>structures </a:t>
            </a:r>
            <a:r>
              <a:rPr sz="2000" dirty="0">
                <a:latin typeface="Times New Roman"/>
                <a:cs typeface="Times New Roman"/>
              </a:rPr>
              <a:t>that are expressed</a:t>
            </a:r>
            <a:r>
              <a:rPr sz="2000" spc="-25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 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mathematical </a:t>
            </a:r>
            <a:r>
              <a:rPr sz="2000" dirty="0">
                <a:latin typeface="Times New Roman"/>
                <a:cs typeface="Times New Roman"/>
              </a:rPr>
              <a:t>notation </a:t>
            </a:r>
            <a:r>
              <a:rPr sz="2000" spc="-5" dirty="0">
                <a:latin typeface="Times New Roman"/>
                <a:cs typeface="Times New Roman"/>
              </a:rPr>
              <a:t>called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regular</a:t>
            </a:r>
            <a:r>
              <a:rPr sz="2000" spc="-6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expressions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3100" dirty="0">
              <a:latin typeface="Times New Roman"/>
              <a:cs typeface="Times New Roman"/>
            </a:endParaRPr>
          </a:p>
          <a:p>
            <a:pPr marL="469900" marR="753110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Modern </a:t>
            </a:r>
            <a:r>
              <a:rPr sz="2000" spc="-5" dirty="0">
                <a:latin typeface="Times New Roman"/>
                <a:cs typeface="Times New Roman"/>
              </a:rPr>
              <a:t>lexical analyzers </a:t>
            </a:r>
            <a:r>
              <a:rPr sz="2000" dirty="0">
                <a:latin typeface="Times New Roman"/>
                <a:cs typeface="Times New Roman"/>
              </a:rPr>
              <a:t>are </a:t>
            </a:r>
            <a:r>
              <a:rPr sz="2000" spc="-5" dirty="0">
                <a:latin typeface="Times New Roman"/>
                <a:cs typeface="Times New Roman"/>
              </a:rPr>
              <a:t>automatically </a:t>
            </a:r>
            <a:r>
              <a:rPr sz="2000" dirty="0">
                <a:latin typeface="Times New Roman"/>
                <a:cs typeface="Times New Roman"/>
              </a:rPr>
              <a:t>built </a:t>
            </a:r>
            <a:r>
              <a:rPr sz="2000" spc="5" dirty="0">
                <a:latin typeface="Times New Roman"/>
                <a:cs typeface="Times New Roman"/>
              </a:rPr>
              <a:t>using </a:t>
            </a:r>
            <a:r>
              <a:rPr sz="2000" dirty="0">
                <a:latin typeface="Times New Roman"/>
                <a:cs typeface="Times New Roman"/>
              </a:rPr>
              <a:t>tools </a:t>
            </a:r>
            <a:r>
              <a:rPr sz="2000" spc="-5" dirty="0">
                <a:latin typeface="Times New Roman"/>
                <a:cs typeface="Times New Roman"/>
              </a:rPr>
              <a:t>called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lexical  analyzer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generators</a:t>
            </a:r>
            <a:r>
              <a:rPr sz="2000" dirty="0">
                <a:latin typeface="Times New Roman"/>
                <a:cs typeface="Times New Roman"/>
              </a:rPr>
              <a:t>, </a:t>
            </a:r>
            <a:r>
              <a:rPr sz="2000" spc="-5" dirty="0">
                <a:latin typeface="Times New Roman"/>
                <a:cs typeface="Times New Roman"/>
              </a:rPr>
              <a:t>namely,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lex</a:t>
            </a:r>
            <a:r>
              <a:rPr sz="2000" spc="-5" dirty="0">
                <a:latin typeface="Times New Roman"/>
                <a:cs typeface="Times New Roman"/>
              </a:rPr>
              <a:t> and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flex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(fast </a:t>
            </a:r>
            <a:r>
              <a:rPr sz="2000" spc="-5" dirty="0">
                <a:latin typeface="Times New Roman"/>
                <a:cs typeface="Times New Roman"/>
              </a:rPr>
              <a:t>lexical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analyzer).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55842"/>
            <a:ext cx="5843248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4.6.2 </a:t>
            </a:r>
            <a:r>
              <a:rPr dirty="0"/>
              <a:t>Syntax</a:t>
            </a:r>
            <a:r>
              <a:rPr spc="-30" dirty="0"/>
              <a:t> </a:t>
            </a:r>
            <a:r>
              <a:rPr spc="-5" dirty="0"/>
              <a:t>Analysis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051718"/>
            <a:ext cx="8746490" cy="5616922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58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cs typeface="Times New Roman"/>
              </a:rPr>
              <a:t>Syntactic analysis </a:t>
            </a:r>
            <a:r>
              <a:rPr sz="2800" dirty="0">
                <a:cs typeface="Times New Roman"/>
              </a:rPr>
              <a:t>is </a:t>
            </a:r>
            <a:r>
              <a:rPr sz="2800" spc="-5" dirty="0">
                <a:cs typeface="Times New Roman"/>
              </a:rPr>
              <a:t>performed </a:t>
            </a:r>
            <a:r>
              <a:rPr sz="2800" dirty="0">
                <a:cs typeface="Times New Roman"/>
              </a:rPr>
              <a:t>by a</a:t>
            </a:r>
            <a:r>
              <a:rPr sz="2800" spc="-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parser.</a:t>
            </a:r>
            <a:endParaRPr lang="en-US" sz="2800" dirty="0"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58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lang="en-US" sz="2800" b="1" i="0" dirty="0">
                <a:solidFill>
                  <a:srgbClr val="FF0000"/>
                </a:solidFill>
                <a:effectLst/>
              </a:rPr>
              <a:t>Parser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 </a:t>
            </a:r>
            <a:r>
              <a:rPr lang="en-US" sz="2800" i="0" dirty="0">
                <a:solidFill>
                  <a:srgbClr val="202124"/>
                </a:solidFill>
                <a:effectLst/>
              </a:rPr>
              <a:t>is a compiler that is used to 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break the data into smaller elements</a:t>
            </a:r>
            <a:r>
              <a:rPr lang="en-US" sz="2800" i="0" dirty="0">
                <a:solidFill>
                  <a:srgbClr val="202124"/>
                </a:solidFill>
                <a:effectLst/>
              </a:rPr>
              <a:t> coming from lexical analysis phase</a:t>
            </a:r>
            <a:r>
              <a:rPr lang="en-US" sz="2800" i="0" dirty="0">
                <a:solidFill>
                  <a:srgbClr val="202124"/>
                </a:solidFill>
                <a:effectLst/>
                <a:cs typeface="Times New Roman"/>
              </a:rPr>
              <a:t>.</a:t>
            </a:r>
          </a:p>
          <a:p>
            <a:pPr marL="469900" indent="-457834">
              <a:lnSpc>
                <a:spcPct val="100000"/>
              </a:lnSpc>
              <a:spcBef>
                <a:spcPts val="58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lang="en-US" sz="2800" i="0" dirty="0">
                <a:solidFill>
                  <a:srgbClr val="202124"/>
                </a:solidFill>
                <a:effectLst/>
              </a:rPr>
              <a:t>A parser takes 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input</a:t>
            </a:r>
            <a:r>
              <a:rPr lang="en-US" sz="2800" i="0" dirty="0">
                <a:solidFill>
                  <a:srgbClr val="202124"/>
                </a:solidFill>
                <a:effectLst/>
              </a:rPr>
              <a:t> in the form of 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sequence of tokens </a:t>
            </a:r>
            <a:r>
              <a:rPr lang="en-US" sz="2800" i="0" dirty="0">
                <a:solidFill>
                  <a:srgbClr val="202124"/>
                </a:solidFill>
                <a:effectLst/>
              </a:rPr>
              <a:t>and produces 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output</a:t>
            </a:r>
            <a:r>
              <a:rPr lang="en-US" sz="2800" i="0" dirty="0">
                <a:solidFill>
                  <a:srgbClr val="202124"/>
                </a:solidFill>
                <a:effectLst/>
              </a:rPr>
              <a:t> in the form of </a:t>
            </a:r>
            <a:r>
              <a:rPr lang="en-US" sz="2800" i="0" dirty="0">
                <a:solidFill>
                  <a:srgbClr val="FF0000"/>
                </a:solidFill>
                <a:effectLst/>
              </a:rPr>
              <a:t>parse tree</a:t>
            </a:r>
            <a:endParaRPr sz="2800" dirty="0">
              <a:solidFill>
                <a:srgbClr val="FF0000"/>
              </a:solidFill>
              <a:cs typeface="Times New Roman"/>
            </a:endParaRPr>
          </a:p>
          <a:p>
            <a:pPr marL="469900" marR="308610" indent="-457834">
              <a:spcBef>
                <a:spcPts val="75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spc="-10" dirty="0">
                <a:cs typeface="Times New Roman"/>
              </a:rPr>
              <a:t>Similar </a:t>
            </a:r>
            <a:r>
              <a:rPr sz="2800" dirty="0">
                <a:cs typeface="Times New Roman"/>
              </a:rPr>
              <a:t>to </a:t>
            </a:r>
            <a:r>
              <a:rPr sz="2800" spc="-5" dirty="0">
                <a:cs typeface="Times New Roman"/>
              </a:rPr>
              <a:t>syntactic analyzers, parsers </a:t>
            </a:r>
            <a:r>
              <a:rPr sz="2800" dirty="0">
                <a:cs typeface="Times New Roman"/>
              </a:rPr>
              <a:t>can be </a:t>
            </a:r>
            <a:r>
              <a:rPr sz="2800" spc="-5" dirty="0">
                <a:cs typeface="Times New Roman"/>
              </a:rPr>
              <a:t>automatically constructed </a:t>
            </a:r>
            <a:r>
              <a:rPr sz="2800" dirty="0">
                <a:cs typeface="Times New Roman"/>
              </a:rPr>
              <a:t>from a  </a:t>
            </a:r>
            <a:r>
              <a:rPr sz="2800" spc="-5" dirty="0">
                <a:cs typeface="Times New Roman"/>
              </a:rPr>
              <a:t>description </a:t>
            </a:r>
            <a:r>
              <a:rPr sz="2800" dirty="0">
                <a:cs typeface="Times New Roman"/>
              </a:rPr>
              <a:t>of the </a:t>
            </a:r>
            <a:r>
              <a:rPr sz="2800" spc="-5" dirty="0">
                <a:cs typeface="Times New Roman"/>
              </a:rPr>
              <a:t>programatical properties </a:t>
            </a:r>
            <a:r>
              <a:rPr sz="2800" dirty="0">
                <a:cs typeface="Times New Roman"/>
              </a:rPr>
              <a:t>of a </a:t>
            </a:r>
            <a:r>
              <a:rPr sz="2800" spc="-5" dirty="0">
                <a:cs typeface="Times New Roman"/>
              </a:rPr>
              <a:t>programming</a:t>
            </a:r>
            <a:r>
              <a:rPr sz="2800" spc="-12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language.</a:t>
            </a:r>
          </a:p>
          <a:p>
            <a:pPr marL="469900" indent="-457834">
              <a:spcBef>
                <a:spcPts val="44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dirty="0">
                <a:solidFill>
                  <a:srgbClr val="FF0000"/>
                </a:solidFill>
                <a:cs typeface="Times New Roman"/>
              </a:rPr>
              <a:t>YACC</a:t>
            </a:r>
            <a:r>
              <a:rPr sz="2800" dirty="0">
                <a:cs typeface="Times New Roman"/>
              </a:rPr>
              <a:t> is </a:t>
            </a:r>
            <a:r>
              <a:rPr sz="2800" spc="5" dirty="0">
                <a:cs typeface="Times New Roman"/>
              </a:rPr>
              <a:t>one </a:t>
            </a:r>
            <a:r>
              <a:rPr sz="2800" spc="10" dirty="0">
                <a:cs typeface="Times New Roman"/>
              </a:rPr>
              <a:t>of </a:t>
            </a:r>
            <a:r>
              <a:rPr sz="2800" dirty="0">
                <a:cs typeface="Times New Roman"/>
              </a:rPr>
              <a:t>the </a:t>
            </a:r>
            <a:r>
              <a:rPr sz="2800" spc="-5" dirty="0">
                <a:cs typeface="Times New Roman"/>
              </a:rPr>
              <a:t>most commonly used </a:t>
            </a:r>
            <a:r>
              <a:rPr sz="2800" dirty="0">
                <a:cs typeface="Times New Roman"/>
              </a:rPr>
              <a:t>parsing</a:t>
            </a:r>
            <a:r>
              <a:rPr sz="2800" spc="-14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tools.</a:t>
            </a:r>
            <a:endParaRPr sz="2800" dirty="0">
              <a:cs typeface="Times New Roman"/>
            </a:endParaRPr>
          </a:p>
          <a:p>
            <a:pPr marL="469900" indent="-457834">
              <a:spcBef>
                <a:spcPts val="48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solidFill>
                  <a:srgbClr val="FF0000"/>
                </a:solidFill>
                <a:cs typeface="Times New Roman"/>
              </a:rPr>
              <a:t>Two types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of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representations</a:t>
            </a:r>
            <a:r>
              <a:rPr sz="2800" spc="-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are </a:t>
            </a:r>
            <a:r>
              <a:rPr sz="2800" spc="-5" dirty="0">
                <a:cs typeface="Times New Roman"/>
              </a:rPr>
              <a:t>used </a:t>
            </a:r>
            <a:r>
              <a:rPr sz="2800" spc="-10" dirty="0">
                <a:cs typeface="Times New Roman"/>
              </a:rPr>
              <a:t>to </a:t>
            </a:r>
            <a:r>
              <a:rPr sz="2800" dirty="0">
                <a:cs typeface="Times New Roman"/>
              </a:rPr>
              <a:t>hold the results of </a:t>
            </a:r>
            <a:r>
              <a:rPr sz="2800" spc="-5" dirty="0">
                <a:cs typeface="Times New Roman"/>
              </a:rPr>
              <a:t>syntactic</a:t>
            </a:r>
            <a:r>
              <a:rPr sz="2800" spc="-10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analysis:</a:t>
            </a:r>
            <a:endParaRPr sz="2800" dirty="0">
              <a:cs typeface="Times New Roman"/>
            </a:endParaRPr>
          </a:p>
          <a:p>
            <a:pPr marL="469900"/>
            <a:r>
              <a:rPr sz="2800" b="1" dirty="0">
                <a:solidFill>
                  <a:srgbClr val="FF0000"/>
                </a:solidFill>
                <a:cs typeface="Times New Roman"/>
              </a:rPr>
              <a:t>parse tree </a:t>
            </a:r>
            <a:r>
              <a:rPr sz="2800" spc="5" dirty="0">
                <a:cs typeface="Times New Roman"/>
              </a:rPr>
              <a:t>and </a:t>
            </a:r>
            <a:r>
              <a:rPr sz="2800" b="1" dirty="0">
                <a:solidFill>
                  <a:srgbClr val="FF0000"/>
                </a:solidFill>
                <a:cs typeface="Times New Roman"/>
              </a:rPr>
              <a:t>abstract syntax</a:t>
            </a:r>
            <a:r>
              <a:rPr sz="2800" b="1" spc="-15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b="1" dirty="0">
                <a:solidFill>
                  <a:srgbClr val="FF0000"/>
                </a:solidFill>
                <a:cs typeface="Times New Roman"/>
              </a:rPr>
              <a:t>tree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455842"/>
            <a:ext cx="6781800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4.6.2 </a:t>
            </a:r>
            <a:r>
              <a:rPr dirty="0"/>
              <a:t>Syntax</a:t>
            </a:r>
            <a:r>
              <a:rPr spc="-30" dirty="0"/>
              <a:t> </a:t>
            </a:r>
            <a:r>
              <a:rPr spc="-5" dirty="0"/>
              <a:t>Analysis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051718"/>
            <a:ext cx="8746490" cy="5003934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469900" marR="274320" indent="-457834">
              <a:lnSpc>
                <a:spcPts val="2160"/>
              </a:lnSpc>
              <a:spcBef>
                <a:spcPts val="75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dirty="0">
                <a:cs typeface="Times New Roman"/>
              </a:rPr>
              <a:t>A </a:t>
            </a:r>
            <a:r>
              <a:rPr sz="2800" b="1" dirty="0">
                <a:solidFill>
                  <a:srgbClr val="3333FF"/>
                </a:solidFill>
                <a:cs typeface="Times New Roman"/>
              </a:rPr>
              <a:t>parse tree </a:t>
            </a:r>
            <a:r>
              <a:rPr sz="2800" dirty="0">
                <a:cs typeface="Times New Roman"/>
              </a:rPr>
              <a:t>contains </a:t>
            </a:r>
            <a:r>
              <a:rPr sz="2800" spc="-5" dirty="0">
                <a:cs typeface="Times New Roman"/>
              </a:rPr>
              <a:t>details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unrelated</a:t>
            </a:r>
            <a:r>
              <a:rPr sz="2800" spc="-5" dirty="0"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to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actual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program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meaning</a:t>
            </a:r>
            <a:r>
              <a:rPr sz="2800" spc="-5" dirty="0">
                <a:cs typeface="Times New Roman"/>
              </a:rPr>
              <a:t>, </a:t>
            </a:r>
            <a:r>
              <a:rPr sz="2800" dirty="0">
                <a:cs typeface="Times New Roman"/>
              </a:rPr>
              <a:t>such </a:t>
            </a:r>
            <a:r>
              <a:rPr sz="2800" spc="-5" dirty="0">
                <a:cs typeface="Times New Roman"/>
              </a:rPr>
              <a:t>as </a:t>
            </a:r>
            <a:r>
              <a:rPr sz="2800" dirty="0">
                <a:cs typeface="Times New Roman"/>
              </a:rPr>
              <a:t>the  punctuation, </a:t>
            </a:r>
            <a:r>
              <a:rPr sz="2800" spc="5" dirty="0">
                <a:cs typeface="Times New Roman"/>
              </a:rPr>
              <a:t>whose </a:t>
            </a:r>
            <a:r>
              <a:rPr sz="2800" spc="-5" dirty="0">
                <a:cs typeface="Times New Roman"/>
              </a:rPr>
              <a:t>role </a:t>
            </a:r>
            <a:r>
              <a:rPr sz="2800" spc="-10" dirty="0">
                <a:cs typeface="Times New Roman"/>
              </a:rPr>
              <a:t>is </a:t>
            </a:r>
            <a:r>
              <a:rPr sz="2800" dirty="0">
                <a:cs typeface="Times New Roman"/>
              </a:rPr>
              <a:t>to </a:t>
            </a:r>
            <a:r>
              <a:rPr sz="2800" spc="-5" dirty="0">
                <a:cs typeface="Times New Roman"/>
              </a:rPr>
              <a:t>direct the </a:t>
            </a:r>
            <a:r>
              <a:rPr sz="2800" dirty="0">
                <a:cs typeface="Times New Roman"/>
              </a:rPr>
              <a:t>parsing</a:t>
            </a:r>
            <a:r>
              <a:rPr sz="2800" spc="-15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process.</a:t>
            </a:r>
          </a:p>
          <a:p>
            <a:pPr marL="469900" marR="5080" indent="-457834">
              <a:lnSpc>
                <a:spcPts val="2160"/>
              </a:lnSpc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dirty="0">
                <a:cs typeface="Times New Roman"/>
              </a:rPr>
              <a:t>Grouping parentheses are </a:t>
            </a:r>
            <a:r>
              <a:rPr sz="2800" spc="-10" dirty="0">
                <a:cs typeface="Times New Roman"/>
              </a:rPr>
              <a:t>implicit </a:t>
            </a:r>
            <a:r>
              <a:rPr sz="2800" dirty="0">
                <a:cs typeface="Times New Roman"/>
              </a:rPr>
              <a:t>in </a:t>
            </a:r>
            <a:r>
              <a:rPr sz="2800" spc="-5" dirty="0">
                <a:cs typeface="Times New Roman"/>
              </a:rPr>
              <a:t>the </a:t>
            </a:r>
            <a:r>
              <a:rPr sz="2800" dirty="0">
                <a:cs typeface="Times New Roman"/>
              </a:rPr>
              <a:t>tree </a:t>
            </a:r>
            <a:r>
              <a:rPr sz="2800" spc="-5" dirty="0">
                <a:cs typeface="Times New Roman"/>
              </a:rPr>
              <a:t>structure, </a:t>
            </a:r>
            <a:r>
              <a:rPr sz="2800" dirty="0">
                <a:cs typeface="Times New Roman"/>
              </a:rPr>
              <a:t>which can be </a:t>
            </a:r>
            <a:r>
              <a:rPr sz="2800" dirty="0" smtClean="0">
                <a:cs typeface="Times New Roman"/>
              </a:rPr>
              <a:t>trimmed</a:t>
            </a:r>
            <a:r>
              <a:rPr sz="2800" spc="-185" dirty="0" smtClean="0">
                <a:cs typeface="Times New Roman"/>
              </a:rPr>
              <a:t> </a:t>
            </a:r>
            <a:r>
              <a:rPr sz="2800" spc="5" dirty="0">
                <a:cs typeface="Times New Roman"/>
              </a:rPr>
              <a:t>from  </a:t>
            </a:r>
            <a:r>
              <a:rPr sz="2800" dirty="0">
                <a:cs typeface="Times New Roman"/>
              </a:rPr>
              <a:t>the parse</a:t>
            </a:r>
            <a:r>
              <a:rPr sz="2800" spc="-6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tree.</a:t>
            </a:r>
            <a:endParaRPr sz="2800" dirty="0">
              <a:cs typeface="Times New Roman"/>
            </a:endParaRPr>
          </a:p>
          <a:p>
            <a:pPr marL="469900" marR="502920" indent="-457834">
              <a:lnSpc>
                <a:spcPts val="2160"/>
              </a:lnSpc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solidFill>
                  <a:srgbClr val="FF0000"/>
                </a:solidFill>
                <a:cs typeface="Times New Roman"/>
              </a:rPr>
              <a:t>Removal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of </a:t>
            </a:r>
            <a:r>
              <a:rPr sz="2800" dirty="0">
                <a:cs typeface="Times New Roman"/>
              </a:rPr>
              <a:t>those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extraneous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details </a:t>
            </a:r>
            <a:r>
              <a:rPr sz="2800" dirty="0">
                <a:cs typeface="Times New Roman"/>
              </a:rPr>
              <a:t>produces a structure </a:t>
            </a:r>
            <a:r>
              <a:rPr sz="2800" spc="-5" dirty="0">
                <a:cs typeface="Times New Roman"/>
              </a:rPr>
              <a:t>called an</a:t>
            </a:r>
            <a:r>
              <a:rPr sz="2800" spc="-165" dirty="0">
                <a:cs typeface="Times New Roman"/>
              </a:rPr>
              <a:t> </a:t>
            </a:r>
            <a:r>
              <a:rPr sz="2800" b="1" dirty="0">
                <a:solidFill>
                  <a:srgbClr val="3333FF"/>
                </a:solidFill>
                <a:cs typeface="Times New Roman"/>
              </a:rPr>
              <a:t>Abstract  </a:t>
            </a:r>
            <a:r>
              <a:rPr sz="2800" b="1" spc="5" dirty="0">
                <a:solidFill>
                  <a:srgbClr val="3333FF"/>
                </a:solidFill>
                <a:cs typeface="Times New Roman"/>
              </a:rPr>
              <a:t>Syntax </a:t>
            </a:r>
            <a:r>
              <a:rPr sz="2800" b="1" spc="-5" dirty="0">
                <a:solidFill>
                  <a:srgbClr val="3333FF"/>
                </a:solidFill>
                <a:cs typeface="Times New Roman"/>
              </a:rPr>
              <a:t>Tree</a:t>
            </a:r>
            <a:r>
              <a:rPr sz="2800" b="1" spc="-55" dirty="0">
                <a:solidFill>
                  <a:srgbClr val="3333FF"/>
                </a:solidFill>
                <a:cs typeface="Times New Roman"/>
              </a:rPr>
              <a:t> </a:t>
            </a:r>
            <a:r>
              <a:rPr sz="2800" dirty="0">
                <a:solidFill>
                  <a:srgbClr val="3333FF"/>
                </a:solidFill>
                <a:cs typeface="Times New Roman"/>
              </a:rPr>
              <a:t>(AST).</a:t>
            </a:r>
            <a:endParaRPr sz="2800" dirty="0"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44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cs typeface="Times New Roman"/>
              </a:rPr>
              <a:t>An </a:t>
            </a:r>
            <a:r>
              <a:rPr sz="2800" b="1" dirty="0">
                <a:solidFill>
                  <a:srgbClr val="3333FF"/>
                </a:solidFill>
                <a:cs typeface="Times New Roman"/>
              </a:rPr>
              <a:t>AST</a:t>
            </a:r>
            <a:r>
              <a:rPr sz="2800" dirty="0">
                <a:cs typeface="Times New Roman"/>
              </a:rPr>
              <a:t> contains just those </a:t>
            </a:r>
            <a:r>
              <a:rPr sz="2800" spc="-5" dirty="0">
                <a:cs typeface="Times New Roman"/>
              </a:rPr>
              <a:t>details that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relate </a:t>
            </a:r>
            <a:r>
              <a:rPr sz="2800" spc="-10" dirty="0">
                <a:solidFill>
                  <a:srgbClr val="FF0000"/>
                </a:solidFill>
                <a:cs typeface="Times New Roman"/>
              </a:rPr>
              <a:t>to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the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actual meaning </a:t>
            </a:r>
            <a:r>
              <a:rPr sz="2800" spc="10" dirty="0">
                <a:solidFill>
                  <a:srgbClr val="FF0000"/>
                </a:solidFill>
                <a:cs typeface="Times New Roman"/>
              </a:rPr>
              <a:t>of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a</a:t>
            </a:r>
            <a:r>
              <a:rPr sz="2800" spc="-12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program</a:t>
            </a:r>
            <a:r>
              <a:rPr sz="2800" spc="-5" dirty="0">
                <a:cs typeface="Times New Roman"/>
              </a:rPr>
              <a:t>.</a:t>
            </a:r>
            <a:endParaRPr sz="2800" dirty="0">
              <a:cs typeface="Times New Roman"/>
            </a:endParaRPr>
          </a:p>
          <a:p>
            <a:pPr marL="469900" marR="332740" indent="-457834">
              <a:lnSpc>
                <a:spcPts val="2160"/>
              </a:lnSpc>
              <a:spcBef>
                <a:spcPts val="75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spc="-5" dirty="0">
                <a:cs typeface="Times New Roman"/>
              </a:rPr>
              <a:t>Many </a:t>
            </a:r>
            <a:r>
              <a:rPr sz="2800" dirty="0">
                <a:cs typeface="Times New Roman"/>
              </a:rPr>
              <a:t>tools have been based </a:t>
            </a:r>
            <a:r>
              <a:rPr sz="2800" spc="10" dirty="0">
                <a:cs typeface="Times New Roman"/>
              </a:rPr>
              <a:t>on </a:t>
            </a:r>
            <a:r>
              <a:rPr sz="2800" dirty="0">
                <a:cs typeface="Times New Roman"/>
              </a:rPr>
              <a:t>the AST concept; to </a:t>
            </a:r>
            <a:r>
              <a:rPr sz="2800" spc="-5" dirty="0">
                <a:cs typeface="Times New Roman"/>
              </a:rPr>
              <a:t>understand </a:t>
            </a:r>
            <a:r>
              <a:rPr sz="2800" dirty="0">
                <a:cs typeface="Times New Roman"/>
              </a:rPr>
              <a:t>a </a:t>
            </a:r>
            <a:r>
              <a:rPr sz="2800" spc="-5" dirty="0">
                <a:cs typeface="Times New Roman"/>
              </a:rPr>
              <a:t>program,</a:t>
            </a:r>
            <a:r>
              <a:rPr sz="2800" spc="-180" dirty="0">
                <a:cs typeface="Times New Roman"/>
              </a:rPr>
              <a:t> </a:t>
            </a:r>
            <a:r>
              <a:rPr sz="2800" spc="5" dirty="0">
                <a:cs typeface="Times New Roman"/>
              </a:rPr>
              <a:t>an  </a:t>
            </a:r>
            <a:r>
              <a:rPr sz="2800" spc="-5" dirty="0">
                <a:cs typeface="Times New Roman"/>
              </a:rPr>
              <a:t>analyst </a:t>
            </a:r>
            <a:r>
              <a:rPr sz="2800" spc="-10" dirty="0">
                <a:cs typeface="Times New Roman"/>
              </a:rPr>
              <a:t>makes </a:t>
            </a:r>
            <a:r>
              <a:rPr sz="2800" dirty="0">
                <a:cs typeface="Times New Roman"/>
              </a:rPr>
              <a:t>a query </a:t>
            </a:r>
            <a:r>
              <a:rPr sz="2800" spc="-10" dirty="0">
                <a:cs typeface="Times New Roman"/>
              </a:rPr>
              <a:t>in terms </a:t>
            </a:r>
            <a:r>
              <a:rPr sz="2800" dirty="0">
                <a:cs typeface="Times New Roman"/>
              </a:rPr>
              <a:t>of the </a:t>
            </a:r>
            <a:r>
              <a:rPr sz="2800" spc="5" dirty="0">
                <a:cs typeface="Times New Roman"/>
              </a:rPr>
              <a:t>node</a:t>
            </a:r>
            <a:r>
              <a:rPr sz="2800" spc="-6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types.</a:t>
            </a:r>
            <a:endParaRPr sz="2800" dirty="0"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44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dirty="0">
                <a:cs typeface="Times New Roman"/>
              </a:rPr>
              <a:t>The </a:t>
            </a:r>
            <a:r>
              <a:rPr sz="2800" spc="5" dirty="0">
                <a:cs typeface="Times New Roman"/>
              </a:rPr>
              <a:t>query </a:t>
            </a:r>
            <a:r>
              <a:rPr sz="2800" dirty="0">
                <a:cs typeface="Times New Roman"/>
              </a:rPr>
              <a:t>is </a:t>
            </a:r>
            <a:r>
              <a:rPr sz="2800" spc="-5" dirty="0">
                <a:cs typeface="Times New Roman"/>
              </a:rPr>
              <a:t>interpreted </a:t>
            </a:r>
            <a:r>
              <a:rPr sz="2800" dirty="0">
                <a:cs typeface="Times New Roman"/>
              </a:rPr>
              <a:t>by a </a:t>
            </a:r>
            <a:r>
              <a:rPr sz="2800" spc="-5" dirty="0">
                <a:cs typeface="Times New Roman"/>
              </a:rPr>
              <a:t>tree </a:t>
            </a:r>
            <a:r>
              <a:rPr sz="2800" dirty="0">
                <a:cs typeface="Times New Roman"/>
              </a:rPr>
              <a:t>walker </a:t>
            </a:r>
            <a:r>
              <a:rPr sz="2800" spc="-10" dirty="0">
                <a:cs typeface="Times New Roman"/>
              </a:rPr>
              <a:t>to </a:t>
            </a:r>
            <a:r>
              <a:rPr sz="2800" spc="-5" dirty="0">
                <a:cs typeface="Times New Roman"/>
              </a:rPr>
              <a:t>deliver </a:t>
            </a:r>
            <a:r>
              <a:rPr sz="2800" dirty="0">
                <a:cs typeface="Times New Roman"/>
              </a:rPr>
              <a:t>the requested</a:t>
            </a:r>
            <a:r>
              <a:rPr sz="2800" spc="-16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information.</a:t>
            </a:r>
            <a:endParaRPr sz="28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50678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3684" y="455842"/>
            <a:ext cx="6422400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4.6.3 Control Flow Analysis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816114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0973" y="1112053"/>
            <a:ext cx="8699500" cy="20681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900" marR="5080" indent="-457834">
              <a:lnSpc>
                <a:spcPts val="2160"/>
              </a:lnSpc>
              <a:spcBef>
                <a:spcPts val="37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After </a:t>
            </a:r>
            <a:r>
              <a:rPr sz="2000" spc="-5" dirty="0">
                <a:latin typeface="Times New Roman"/>
                <a:cs typeface="Times New Roman"/>
              </a:rPr>
              <a:t>determining </a:t>
            </a:r>
            <a:r>
              <a:rPr sz="2000" dirty="0">
                <a:latin typeface="Times New Roman"/>
                <a:cs typeface="Times New Roman"/>
              </a:rPr>
              <a:t>the structure </a:t>
            </a:r>
            <a:r>
              <a:rPr sz="2000" spc="10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program, </a:t>
            </a:r>
            <a:r>
              <a:rPr sz="2000" dirty="0">
                <a:latin typeface="Times New Roman"/>
                <a:cs typeface="Times New Roman"/>
              </a:rPr>
              <a:t>control </a:t>
            </a:r>
            <a:r>
              <a:rPr sz="2000" spc="-5" dirty="0">
                <a:latin typeface="Times New Roman"/>
                <a:cs typeface="Times New Roman"/>
              </a:rPr>
              <a:t>flow analysis </a:t>
            </a:r>
            <a:r>
              <a:rPr sz="2000" dirty="0">
                <a:latin typeface="Times New Roman"/>
                <a:cs typeface="Times New Roman"/>
              </a:rPr>
              <a:t>(CFA) </a:t>
            </a:r>
            <a:r>
              <a:rPr sz="2000" spc="-5" dirty="0">
                <a:latin typeface="Times New Roman"/>
                <a:cs typeface="Times New Roman"/>
              </a:rPr>
              <a:t>can</a:t>
            </a:r>
            <a:r>
              <a:rPr sz="2000" spc="-2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  </a:t>
            </a:r>
            <a:r>
              <a:rPr sz="2000" spc="-5" dirty="0">
                <a:latin typeface="Times New Roman"/>
                <a:cs typeface="Times New Roman"/>
              </a:rPr>
              <a:t>performed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on</a:t>
            </a:r>
            <a:r>
              <a:rPr lang="en-US"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it.</a:t>
            </a:r>
            <a:endParaRPr sz="20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45"/>
              </a:spcBef>
            </a:pPr>
            <a:r>
              <a:rPr sz="2000" dirty="0">
                <a:latin typeface="Times New Roman"/>
                <a:cs typeface="Times New Roman"/>
              </a:rPr>
              <a:t>The two kinds of control </a:t>
            </a:r>
            <a:r>
              <a:rPr sz="2000" spc="-5" dirty="0">
                <a:latin typeface="Times New Roman"/>
                <a:cs typeface="Times New Roman"/>
              </a:rPr>
              <a:t>flow analysis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are:</a:t>
            </a:r>
          </a:p>
          <a:p>
            <a:pPr marL="927100" marR="625475">
              <a:lnSpc>
                <a:spcPct val="120000"/>
              </a:lnSpc>
            </a:pPr>
            <a:r>
              <a:rPr sz="2000" b="1" spc="-5" dirty="0">
                <a:solidFill>
                  <a:srgbClr val="FF0033"/>
                </a:solidFill>
                <a:latin typeface="Times New Roman"/>
                <a:cs typeface="Times New Roman"/>
              </a:rPr>
              <a:t>Intraprocedural</a:t>
            </a:r>
            <a:r>
              <a:rPr sz="2000" spc="-5" dirty="0">
                <a:solidFill>
                  <a:srgbClr val="FF0033"/>
                </a:solidFill>
                <a:latin typeface="Times New Roman"/>
                <a:cs typeface="Times New Roman"/>
              </a:rPr>
              <a:t>: </a:t>
            </a:r>
            <a:r>
              <a:rPr sz="2000" spc="5" dirty="0">
                <a:solidFill>
                  <a:srgbClr val="663300"/>
                </a:solidFill>
                <a:latin typeface="Times New Roman"/>
                <a:cs typeface="Times New Roman"/>
              </a:rPr>
              <a:t>It </a:t>
            </a:r>
            <a:r>
              <a:rPr sz="2000" spc="5" dirty="0">
                <a:solidFill>
                  <a:srgbClr val="6633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shows </a:t>
            </a:r>
            <a:r>
              <a:rPr sz="2000" dirty="0">
                <a:solidFill>
                  <a:srgbClr val="6633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the order </a:t>
            </a:r>
            <a:r>
              <a:rPr sz="2000" dirty="0">
                <a:solidFill>
                  <a:srgbClr val="663300"/>
                </a:solidFill>
                <a:latin typeface="Times New Roman"/>
                <a:cs typeface="Times New Roman"/>
              </a:rPr>
              <a:t>in </a:t>
            </a:r>
            <a:r>
              <a:rPr sz="2000" spc="-5" dirty="0">
                <a:solidFill>
                  <a:srgbClr val="663300"/>
                </a:solidFill>
                <a:latin typeface="Times New Roman"/>
                <a:cs typeface="Times New Roman"/>
              </a:rPr>
              <a:t>which </a:t>
            </a:r>
            <a:r>
              <a:rPr sz="2000" spc="-10" dirty="0">
                <a:solidFill>
                  <a:srgbClr val="663300"/>
                </a:solidFill>
                <a:latin typeface="Times New Roman"/>
                <a:cs typeface="Times New Roman"/>
              </a:rPr>
              <a:t>statements </a:t>
            </a:r>
            <a:r>
              <a:rPr sz="2000" spc="-5" dirty="0">
                <a:solidFill>
                  <a:srgbClr val="663300"/>
                </a:solidFill>
                <a:latin typeface="Times New Roman"/>
                <a:cs typeface="Times New Roman"/>
              </a:rPr>
              <a:t>are </a:t>
            </a:r>
            <a:r>
              <a:rPr sz="2000" dirty="0">
                <a:solidFill>
                  <a:srgbClr val="663300"/>
                </a:solidFill>
                <a:latin typeface="Times New Roman"/>
                <a:cs typeface="Times New Roman"/>
              </a:rPr>
              <a:t>executed  </a:t>
            </a:r>
            <a:r>
              <a:rPr sz="2000" spc="-5" dirty="0">
                <a:solidFill>
                  <a:srgbClr val="663300"/>
                </a:solidFill>
                <a:latin typeface="Times New Roman"/>
                <a:cs typeface="Times New Roman"/>
              </a:rPr>
              <a:t>within </a:t>
            </a:r>
            <a:r>
              <a:rPr sz="2000" dirty="0">
                <a:solidFill>
                  <a:srgbClr val="663300"/>
                </a:solidFill>
                <a:latin typeface="Times New Roman"/>
                <a:cs typeface="Times New Roman"/>
              </a:rPr>
              <a:t>a</a:t>
            </a:r>
            <a:r>
              <a:rPr sz="2000" spc="-30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663300"/>
                </a:solidFill>
                <a:latin typeface="Times New Roman"/>
                <a:cs typeface="Times New Roman"/>
              </a:rPr>
              <a:t>subprogram.</a:t>
            </a:r>
            <a:endParaRPr sz="2000" dirty="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b="1" spc="-5" dirty="0">
                <a:solidFill>
                  <a:srgbClr val="FF0033"/>
                </a:solidFill>
                <a:latin typeface="Times New Roman"/>
                <a:cs typeface="Times New Roman"/>
              </a:rPr>
              <a:t>Interprocedural</a:t>
            </a:r>
            <a:r>
              <a:rPr sz="2000" spc="-5" dirty="0">
                <a:solidFill>
                  <a:srgbClr val="FF0033"/>
                </a:solidFill>
                <a:latin typeface="Times New Roman"/>
                <a:cs typeface="Times New Roman"/>
              </a:rPr>
              <a:t>: </a:t>
            </a:r>
            <a:r>
              <a:rPr sz="2000" spc="5" dirty="0">
                <a:solidFill>
                  <a:srgbClr val="663300"/>
                </a:solidFill>
                <a:latin typeface="Times New Roman"/>
                <a:cs typeface="Times New Roman"/>
              </a:rPr>
              <a:t>It </a:t>
            </a:r>
            <a:r>
              <a:rPr sz="2000" spc="5" dirty="0">
                <a:solidFill>
                  <a:srgbClr val="6633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shows </a:t>
            </a:r>
            <a:r>
              <a:rPr sz="2000" dirty="0">
                <a:solidFill>
                  <a:srgbClr val="6633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the </a:t>
            </a:r>
            <a:r>
              <a:rPr sz="2000" spc="-5" dirty="0">
                <a:solidFill>
                  <a:srgbClr val="663300"/>
                </a:solidFill>
                <a:highlight>
                  <a:srgbClr val="FFFF00"/>
                </a:highlight>
                <a:latin typeface="Times New Roman"/>
                <a:cs typeface="Times New Roman"/>
              </a:rPr>
              <a:t>calling relationship </a:t>
            </a:r>
            <a:r>
              <a:rPr sz="2000" dirty="0">
                <a:solidFill>
                  <a:srgbClr val="663300"/>
                </a:solidFill>
                <a:latin typeface="Times New Roman"/>
                <a:cs typeface="Times New Roman"/>
              </a:rPr>
              <a:t>among program</a:t>
            </a:r>
            <a:r>
              <a:rPr sz="2000" spc="-185" dirty="0">
                <a:solidFill>
                  <a:srgbClr val="6633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663300"/>
                </a:solidFill>
                <a:latin typeface="Times New Roman"/>
                <a:cs typeface="Times New Roman"/>
              </a:rPr>
              <a:t>units.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30973" y="3150965"/>
            <a:ext cx="8770620" cy="336887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1" u="heavy" spc="-935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400" b="1" spc="330" dirty="0">
                <a:solidFill>
                  <a:srgbClr val="3333FF"/>
                </a:solidFill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Times New Roman"/>
                <a:cs typeface="Times New Roman"/>
              </a:rPr>
              <a:t>ntraprocedural</a:t>
            </a:r>
            <a:r>
              <a:rPr sz="2400" b="1" u="heavy" spc="-20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heavy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Times New Roman"/>
                <a:cs typeface="Times New Roman"/>
              </a:rPr>
              <a:t>analysis</a:t>
            </a:r>
            <a:r>
              <a:rPr sz="2400" u="heavy" dirty="0">
                <a:solidFill>
                  <a:srgbClr val="3333FF"/>
                </a:solidFill>
                <a:uFill>
                  <a:solidFill>
                    <a:srgbClr val="3333FF"/>
                  </a:solidFill>
                </a:uFill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49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idea </a:t>
            </a:r>
            <a:r>
              <a:rPr sz="2000" spc="10" dirty="0">
                <a:latin typeface="Times New Roman"/>
                <a:cs typeface="Times New Roman"/>
              </a:rPr>
              <a:t>of </a:t>
            </a:r>
            <a:r>
              <a:rPr sz="2000" spc="-5" dirty="0">
                <a:latin typeface="Times New Roman"/>
                <a:cs typeface="Times New Roman"/>
              </a:rPr>
              <a:t>basic </a:t>
            </a:r>
            <a:r>
              <a:rPr sz="2000" dirty="0">
                <a:latin typeface="Times New Roman"/>
                <a:cs typeface="Times New Roman"/>
              </a:rPr>
              <a:t>blocks is central to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constructing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15" dirty="0">
                <a:latin typeface="Times New Roman"/>
                <a:cs typeface="Times New Roman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Control flow graph </a:t>
            </a:r>
            <a:r>
              <a:rPr lang="en-US" sz="2000" spc="-215" dirty="0">
                <a:solidFill>
                  <a:srgbClr val="FF0000"/>
                </a:solidFill>
                <a:latin typeface="Times New Roman"/>
                <a:cs typeface="Times New Roman"/>
              </a:rPr>
              <a:t>(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CFG</a:t>
            </a:r>
            <a:r>
              <a:rPr lang="en-US" sz="2000" spc="-5" dirty="0">
                <a:latin typeface="Times New Roman"/>
                <a:cs typeface="Times New Roman"/>
              </a:rPr>
              <a:t>)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469900" marR="33655" indent="-457834">
              <a:lnSpc>
                <a:spcPts val="2160"/>
              </a:lnSpc>
              <a:spcBef>
                <a:spcPts val="75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basic block </a:t>
            </a:r>
            <a:r>
              <a:rPr sz="2000" dirty="0">
                <a:latin typeface="Times New Roman"/>
                <a:cs typeface="Times New Roman"/>
              </a:rPr>
              <a:t>is a </a:t>
            </a:r>
            <a:r>
              <a:rPr sz="2000" spc="-10" dirty="0">
                <a:latin typeface="Times New Roman"/>
                <a:cs typeface="Times New Roman"/>
              </a:rPr>
              <a:t>maximal </a:t>
            </a:r>
            <a:r>
              <a:rPr sz="2000" dirty="0">
                <a:latin typeface="Times New Roman"/>
                <a:cs typeface="Times New Roman"/>
              </a:rPr>
              <a:t>sequence of program </a:t>
            </a:r>
            <a:r>
              <a:rPr sz="2000" spc="-10" dirty="0">
                <a:latin typeface="Times New Roman"/>
                <a:cs typeface="Times New Roman"/>
              </a:rPr>
              <a:t>statements </a:t>
            </a:r>
            <a:r>
              <a:rPr sz="2000" dirty="0">
                <a:latin typeface="Times New Roman"/>
                <a:cs typeface="Times New Roman"/>
              </a:rPr>
              <a:t>such </a:t>
            </a:r>
            <a:r>
              <a:rPr sz="2000" spc="-5" dirty="0">
                <a:latin typeface="Times New Roman"/>
                <a:cs typeface="Times New Roman"/>
              </a:rPr>
              <a:t>that </a:t>
            </a:r>
            <a:r>
              <a:rPr sz="2000" dirty="0">
                <a:latin typeface="Times New Roman"/>
                <a:cs typeface="Times New Roman"/>
              </a:rPr>
              <a:t>execution  </a:t>
            </a:r>
            <a:r>
              <a:rPr sz="2000" spc="-5" dirty="0">
                <a:latin typeface="Times New Roman"/>
                <a:cs typeface="Times New Roman"/>
              </a:rPr>
              <a:t>enters at </a:t>
            </a:r>
            <a:r>
              <a:rPr sz="2000" dirty="0">
                <a:latin typeface="Times New Roman"/>
                <a:cs typeface="Times New Roman"/>
              </a:rPr>
              <a:t>the top of the </a:t>
            </a:r>
            <a:r>
              <a:rPr sz="2000" spc="-5" dirty="0">
                <a:latin typeface="Times New Roman"/>
                <a:cs typeface="Times New Roman"/>
              </a:rPr>
              <a:t>block and </a:t>
            </a:r>
            <a:r>
              <a:rPr sz="2000" dirty="0">
                <a:latin typeface="Times New Roman"/>
                <a:cs typeface="Times New Roman"/>
              </a:rPr>
              <a:t>leaves only </a:t>
            </a:r>
            <a:r>
              <a:rPr sz="2000" spc="-5" dirty="0">
                <a:latin typeface="Times New Roman"/>
                <a:cs typeface="Times New Roman"/>
              </a:rPr>
              <a:t>at the </a:t>
            </a:r>
            <a:r>
              <a:rPr sz="2000" dirty="0">
                <a:latin typeface="Times New Roman"/>
                <a:cs typeface="Times New Roman"/>
              </a:rPr>
              <a:t>bottom via a </a:t>
            </a:r>
            <a:r>
              <a:rPr sz="2000" spc="-5" dirty="0">
                <a:latin typeface="Times New Roman"/>
                <a:cs typeface="Times New Roman"/>
              </a:rPr>
              <a:t>conditional </a:t>
            </a:r>
            <a:r>
              <a:rPr sz="2000" spc="10" dirty="0">
                <a:latin typeface="Times New Roman"/>
                <a:cs typeface="Times New Roman"/>
              </a:rPr>
              <a:t>or</a:t>
            </a:r>
            <a:r>
              <a:rPr sz="2000" spc="-18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an  </a:t>
            </a:r>
            <a:r>
              <a:rPr sz="2000" dirty="0">
                <a:latin typeface="Times New Roman"/>
                <a:cs typeface="Times New Roman"/>
              </a:rPr>
              <a:t>unconditional branch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statement.</a:t>
            </a:r>
            <a:endParaRPr sz="2000" dirty="0">
              <a:latin typeface="Times New Roman"/>
              <a:cs typeface="Times New Roman"/>
            </a:endParaRPr>
          </a:p>
          <a:p>
            <a:pPr marL="469900" marR="601345" indent="-457834">
              <a:lnSpc>
                <a:spcPts val="2160"/>
              </a:lnSpc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basic block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represented </a:t>
            </a:r>
            <a:r>
              <a:rPr sz="2000" dirty="0">
                <a:latin typeface="Times New Roman"/>
                <a:cs typeface="Times New Roman"/>
              </a:rPr>
              <a:t>with </a:t>
            </a:r>
            <a:r>
              <a:rPr sz="2000" spc="5" dirty="0">
                <a:latin typeface="Times New Roman"/>
                <a:cs typeface="Times New Roman"/>
              </a:rPr>
              <a:t>one node </a:t>
            </a:r>
            <a:r>
              <a:rPr sz="2000" dirty="0">
                <a:latin typeface="Times New Roman"/>
                <a:cs typeface="Times New Roman"/>
              </a:rPr>
              <a:t>in the CFG, </a:t>
            </a:r>
            <a:r>
              <a:rPr sz="2000" spc="-5" dirty="0">
                <a:latin typeface="Times New Roman"/>
                <a:cs typeface="Times New Roman"/>
              </a:rPr>
              <a:t>and an </a:t>
            </a:r>
            <a:r>
              <a:rPr sz="2000" dirty="0">
                <a:latin typeface="Times New Roman"/>
                <a:cs typeface="Times New Roman"/>
              </a:rPr>
              <a:t>arc</a:t>
            </a:r>
            <a:r>
              <a:rPr sz="2000" spc="-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indicates  possible </a:t>
            </a:r>
            <a:r>
              <a:rPr sz="2000" spc="-5" dirty="0">
                <a:latin typeface="Times New Roman"/>
                <a:cs typeface="Times New Roman"/>
              </a:rPr>
              <a:t>flow </a:t>
            </a:r>
            <a:r>
              <a:rPr sz="2000" dirty="0">
                <a:latin typeface="Times New Roman"/>
                <a:cs typeface="Times New Roman"/>
              </a:rPr>
              <a:t>of control from </a:t>
            </a:r>
            <a:r>
              <a:rPr sz="2000" spc="5" dirty="0">
                <a:latin typeface="Times New Roman"/>
                <a:cs typeface="Times New Roman"/>
              </a:rPr>
              <a:t>one node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another.</a:t>
            </a:r>
          </a:p>
          <a:p>
            <a:pPr marL="469900" marR="5080" indent="-457834">
              <a:lnSpc>
                <a:spcPts val="2160"/>
              </a:lnSpc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CFG can directly </a:t>
            </a:r>
            <a:r>
              <a:rPr sz="2000" dirty="0">
                <a:latin typeface="Times New Roman"/>
                <a:cs typeface="Times New Roman"/>
              </a:rPr>
              <a:t>be </a:t>
            </a:r>
            <a:r>
              <a:rPr sz="2000" spc="-5" dirty="0">
                <a:latin typeface="Times New Roman"/>
                <a:cs typeface="Times New Roman"/>
              </a:rPr>
              <a:t>constructed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-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AST</a:t>
            </a:r>
            <a:r>
              <a:rPr lang="en-US" sz="2000" dirty="0">
                <a:latin typeface="Times New Roman"/>
                <a:cs typeface="Times New Roman"/>
              </a:rPr>
              <a:t> (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Söhne"/>
              </a:rPr>
              <a:t>Abstract Syntax Tree</a:t>
            </a:r>
            <a:r>
              <a:rPr lang="en-US" sz="2000" dirty="0">
                <a:latin typeface="Times New Roman"/>
                <a:cs typeface="Times New Roman"/>
              </a:rPr>
              <a:t>)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Times New Roman"/>
                <a:cs typeface="Times New Roman"/>
              </a:rPr>
              <a:t>by </a:t>
            </a:r>
            <a:r>
              <a:rPr sz="2000" spc="-5" dirty="0">
                <a:latin typeface="Times New Roman"/>
                <a:cs typeface="Times New Roman"/>
              </a:rPr>
              <a:t>walking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tree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5" dirty="0">
                <a:latin typeface="Times New Roman"/>
                <a:cs typeface="Times New Roman"/>
              </a:rPr>
              <a:t>determine  basic </a:t>
            </a:r>
            <a:r>
              <a:rPr sz="2000" dirty="0">
                <a:latin typeface="Times New Roman"/>
                <a:cs typeface="Times New Roman"/>
              </a:rPr>
              <a:t>blocks </a:t>
            </a:r>
            <a:r>
              <a:rPr sz="2000" spc="5" dirty="0">
                <a:latin typeface="Times New Roman"/>
                <a:cs typeface="Times New Roman"/>
              </a:rPr>
              <a:t>and </a:t>
            </a:r>
            <a:r>
              <a:rPr sz="2000" spc="-5" dirty="0">
                <a:latin typeface="Times New Roman"/>
                <a:cs typeface="Times New Roman"/>
              </a:rPr>
              <a:t>then </a:t>
            </a:r>
            <a:r>
              <a:rPr sz="2000" dirty="0">
                <a:latin typeface="Times New Roman"/>
                <a:cs typeface="Times New Roman"/>
              </a:rPr>
              <a:t>connecting the blocks with control flow</a:t>
            </a:r>
            <a:r>
              <a:rPr sz="2000" spc="-25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arcs.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6" y="455842"/>
            <a:ext cx="6554568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4.6.3 Control Flow Analysis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029530"/>
            <a:ext cx="8769985" cy="5769528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400" b="1" u="heavy" spc="-935" dirty="0">
                <a:solidFill>
                  <a:srgbClr val="FF0033"/>
                </a:solidFill>
                <a:uFill>
                  <a:solidFill>
                    <a:srgbClr val="FF0033"/>
                  </a:solidFill>
                </a:uFill>
                <a:latin typeface="Times New Roman"/>
                <a:cs typeface="Times New Roman"/>
              </a:rPr>
              <a:t>I</a:t>
            </a:r>
            <a:r>
              <a:rPr sz="2400" b="1" spc="335" dirty="0">
                <a:solidFill>
                  <a:srgbClr val="FF0033"/>
                </a:solidFill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solidFill>
                  <a:srgbClr val="FF0033"/>
                </a:solidFill>
                <a:uFill>
                  <a:solidFill>
                    <a:srgbClr val="FF0033"/>
                  </a:solidFill>
                </a:uFill>
                <a:latin typeface="Times New Roman"/>
                <a:cs typeface="Times New Roman"/>
              </a:rPr>
              <a:t>nterprocedural</a:t>
            </a:r>
            <a:r>
              <a:rPr sz="2400" b="1" u="heavy" spc="-20" dirty="0">
                <a:solidFill>
                  <a:srgbClr val="FF0033"/>
                </a:solidFill>
                <a:uFill>
                  <a:solidFill>
                    <a:srgbClr val="FF0033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heavy" spc="-5" dirty="0">
                <a:solidFill>
                  <a:srgbClr val="FF0033"/>
                </a:solidFill>
                <a:uFill>
                  <a:solidFill>
                    <a:srgbClr val="FF0033"/>
                  </a:solidFill>
                </a:uFill>
                <a:latin typeface="Times New Roman"/>
                <a:cs typeface="Times New Roman"/>
              </a:rPr>
              <a:t>analysis</a:t>
            </a:r>
            <a:r>
              <a:rPr sz="2400" u="heavy" spc="-5" dirty="0">
                <a:solidFill>
                  <a:srgbClr val="FF0033"/>
                </a:solidFill>
                <a:uFill>
                  <a:solidFill>
                    <a:srgbClr val="FF0033"/>
                  </a:solidFill>
                </a:uFill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spcBef>
                <a:spcPts val="49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Interprocedural analysis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performed </a:t>
            </a:r>
            <a:r>
              <a:rPr sz="2000" dirty="0">
                <a:latin typeface="Times New Roman"/>
                <a:cs typeface="Times New Roman"/>
              </a:rPr>
              <a:t>by </a:t>
            </a:r>
            <a:r>
              <a:rPr sz="2000" spc="-5" dirty="0">
                <a:latin typeface="Times New Roman"/>
                <a:cs typeface="Times New Roman"/>
              </a:rPr>
              <a:t>constructing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call</a:t>
            </a:r>
            <a:r>
              <a:rPr sz="2000" spc="-1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3150" dirty="0">
              <a:latin typeface="Times New Roman"/>
              <a:cs typeface="Times New Roman"/>
            </a:endParaRPr>
          </a:p>
          <a:p>
            <a:pPr marL="469900" marR="201295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Calling relationships </a:t>
            </a:r>
            <a:r>
              <a:rPr sz="2000" dirty="0">
                <a:latin typeface="Times New Roman"/>
                <a:cs typeface="Times New Roman"/>
              </a:rPr>
              <a:t>between </a:t>
            </a:r>
            <a:r>
              <a:rPr sz="2000" spc="-5" dirty="0">
                <a:latin typeface="Times New Roman"/>
                <a:cs typeface="Times New Roman"/>
              </a:rPr>
              <a:t>subroutines </a:t>
            </a:r>
            <a:r>
              <a:rPr sz="2000" spc="-10" dirty="0">
                <a:latin typeface="Times New Roman"/>
                <a:cs typeface="Times New Roman"/>
              </a:rPr>
              <a:t>in </a:t>
            </a:r>
            <a:r>
              <a:rPr sz="2000" dirty="0">
                <a:latin typeface="Times New Roman"/>
                <a:cs typeface="Times New Roman"/>
              </a:rPr>
              <a:t>a program are </a:t>
            </a:r>
            <a:r>
              <a:rPr sz="2000" spc="-5" dirty="0">
                <a:latin typeface="Times New Roman"/>
                <a:cs typeface="Times New Roman"/>
              </a:rPr>
              <a:t>represented </a:t>
            </a:r>
            <a:r>
              <a:rPr sz="2000" spc="5" dirty="0">
                <a:latin typeface="Times New Roman"/>
                <a:cs typeface="Times New Roman"/>
              </a:rPr>
              <a:t>as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call  </a:t>
            </a:r>
            <a:r>
              <a:rPr sz="2000" dirty="0">
                <a:latin typeface="Times New Roman"/>
                <a:cs typeface="Times New Roman"/>
              </a:rPr>
              <a:t>graph which </a:t>
            </a:r>
            <a:r>
              <a:rPr sz="2000" spc="-1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basically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directed</a:t>
            </a:r>
            <a:r>
              <a:rPr sz="2000" spc="-1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graph</a:t>
            </a:r>
            <a:r>
              <a:rPr sz="2000" spc="5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3100" dirty="0">
              <a:latin typeface="Times New Roman"/>
              <a:cs typeface="Times New Roman"/>
            </a:endParaRPr>
          </a:p>
          <a:p>
            <a:pPr marL="469900" marR="5080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Specifically,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procedure </a:t>
            </a:r>
            <a:r>
              <a:rPr sz="2000" dirty="0">
                <a:latin typeface="Times New Roman"/>
                <a:cs typeface="Times New Roman"/>
              </a:rPr>
              <a:t>in the source code is </a:t>
            </a:r>
            <a:r>
              <a:rPr sz="2000" spc="-5" dirty="0">
                <a:latin typeface="Times New Roman"/>
                <a:cs typeface="Times New Roman"/>
              </a:rPr>
              <a:t>represented </a:t>
            </a:r>
            <a:r>
              <a:rPr sz="2000" dirty="0">
                <a:latin typeface="Times New Roman"/>
                <a:cs typeface="Times New Roman"/>
              </a:rPr>
              <a:t>by a </a:t>
            </a:r>
            <a:r>
              <a:rPr sz="2000" spc="5" dirty="0">
                <a:latin typeface="Times New Roman"/>
                <a:cs typeface="Times New Roman"/>
              </a:rPr>
              <a:t>node </a:t>
            </a:r>
            <a:r>
              <a:rPr sz="2000" dirty="0">
                <a:latin typeface="Times New Roman"/>
                <a:cs typeface="Times New Roman"/>
              </a:rPr>
              <a:t>in </a:t>
            </a:r>
            <a:r>
              <a:rPr sz="2000" spc="-5" dirty="0">
                <a:latin typeface="Times New Roman"/>
                <a:cs typeface="Times New Roman"/>
              </a:rPr>
              <a:t>the</a:t>
            </a:r>
            <a:r>
              <a:rPr sz="2000" spc="-165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graph,  and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edge </a:t>
            </a:r>
            <a:r>
              <a:rPr sz="2000" dirty="0">
                <a:latin typeface="Times New Roman"/>
                <a:cs typeface="Times New Roman"/>
              </a:rPr>
              <a:t>from </a:t>
            </a:r>
            <a:r>
              <a:rPr sz="2000" spc="5" dirty="0">
                <a:latin typeface="Times New Roman"/>
                <a:cs typeface="Times New Roman"/>
              </a:rPr>
              <a:t>node </a:t>
            </a:r>
            <a:r>
              <a:rPr sz="2000" i="1" dirty="0">
                <a:latin typeface="Times New Roman"/>
                <a:cs typeface="Times New Roman"/>
              </a:rPr>
              <a:t>f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i="1" dirty="0">
                <a:latin typeface="Times New Roman"/>
                <a:cs typeface="Times New Roman"/>
              </a:rPr>
              <a:t>g </a:t>
            </a:r>
            <a:r>
              <a:rPr sz="2000" spc="-5" dirty="0">
                <a:latin typeface="Times New Roman"/>
                <a:cs typeface="Times New Roman"/>
              </a:rPr>
              <a:t>indicates </a:t>
            </a:r>
            <a:r>
              <a:rPr sz="2000" dirty="0">
                <a:latin typeface="Times New Roman"/>
                <a:cs typeface="Times New Roman"/>
              </a:rPr>
              <a:t>that </a:t>
            </a:r>
            <a:r>
              <a:rPr sz="2000" spc="-5" dirty="0">
                <a:latin typeface="Times New Roman"/>
                <a:cs typeface="Times New Roman"/>
              </a:rPr>
              <a:t>procedure </a:t>
            </a:r>
            <a:r>
              <a:rPr sz="2000" i="1" dirty="0">
                <a:latin typeface="Times New Roman"/>
                <a:cs typeface="Times New Roman"/>
              </a:rPr>
              <a:t>f </a:t>
            </a:r>
            <a:r>
              <a:rPr sz="2000" spc="-5" dirty="0">
                <a:latin typeface="Times New Roman"/>
                <a:cs typeface="Times New Roman"/>
              </a:rPr>
              <a:t>calls </a:t>
            </a:r>
            <a:r>
              <a:rPr sz="2000" dirty="0">
                <a:latin typeface="Times New Roman"/>
                <a:cs typeface="Times New Roman"/>
              </a:rPr>
              <a:t>procedure</a:t>
            </a:r>
            <a:r>
              <a:rPr sz="2000" spc="-24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g</a:t>
            </a:r>
            <a:r>
              <a:rPr sz="2000" dirty="0">
                <a:latin typeface="Times New Roman"/>
                <a:cs typeface="Times New Roman"/>
              </a:rPr>
              <a:t>.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Times New Roman"/>
              <a:buChar char="•"/>
            </a:pPr>
            <a:endParaRPr sz="3100" dirty="0">
              <a:latin typeface="Times New Roman"/>
              <a:cs typeface="Times New Roman"/>
            </a:endParaRPr>
          </a:p>
          <a:p>
            <a:pPr marL="469900" marR="143510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Call </a:t>
            </a:r>
            <a:r>
              <a:rPr sz="2000" spc="5" dirty="0">
                <a:latin typeface="Times New Roman"/>
                <a:cs typeface="Times New Roman"/>
              </a:rPr>
              <a:t>graphs </a:t>
            </a:r>
            <a:r>
              <a:rPr sz="2000" dirty="0">
                <a:latin typeface="Times New Roman"/>
                <a:cs typeface="Times New Roman"/>
              </a:rPr>
              <a:t>can be </a:t>
            </a:r>
            <a:r>
              <a:rPr sz="2000" spc="-5" dirty="0">
                <a:latin typeface="Times New Roman"/>
                <a:cs typeface="Times New Roman"/>
              </a:rPr>
              <a:t>static </a:t>
            </a:r>
            <a:r>
              <a:rPr sz="2000" dirty="0">
                <a:latin typeface="Times New Roman"/>
                <a:cs typeface="Times New Roman"/>
              </a:rPr>
              <a:t>or </a:t>
            </a:r>
            <a:r>
              <a:rPr sz="2000" spc="-5" dirty="0">
                <a:latin typeface="Times New Roman"/>
                <a:cs typeface="Times New Roman"/>
              </a:rPr>
              <a:t>dynamic.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latin typeface="Times New Roman"/>
                <a:cs typeface="Times New Roman"/>
              </a:rPr>
              <a:t>dynamic call </a:t>
            </a:r>
            <a:r>
              <a:rPr sz="2000" spc="5" dirty="0">
                <a:latin typeface="Times New Roman"/>
                <a:cs typeface="Times New Roman"/>
              </a:rPr>
              <a:t>graph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5" dirty="0">
                <a:latin typeface="Times New Roman"/>
                <a:cs typeface="Times New Roman"/>
              </a:rPr>
              <a:t>an </a:t>
            </a:r>
            <a:r>
              <a:rPr sz="2000" dirty="0">
                <a:latin typeface="Times New Roman"/>
                <a:cs typeface="Times New Roman"/>
              </a:rPr>
              <a:t>execution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trace  </a:t>
            </a:r>
            <a:r>
              <a:rPr sz="2000" dirty="0">
                <a:latin typeface="Times New Roman"/>
                <a:cs typeface="Times New Roman"/>
              </a:rPr>
              <a:t>of 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program.</a:t>
            </a:r>
          </a:p>
          <a:p>
            <a:pPr>
              <a:lnSpc>
                <a:spcPct val="100000"/>
              </a:lnSpc>
              <a:spcBef>
                <a:spcPts val="50"/>
              </a:spcBef>
              <a:buFont typeface="Times New Roman"/>
              <a:buChar char="•"/>
            </a:pPr>
            <a:endParaRPr sz="2850" dirty="0">
              <a:latin typeface="Times New Roman"/>
              <a:cs typeface="Times New Roman"/>
            </a:endParaRPr>
          </a:p>
          <a:p>
            <a:pPr marL="469900" indent="-457834">
              <a:lnSpc>
                <a:spcPct val="10000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5" dirty="0">
                <a:latin typeface="Times New Roman"/>
                <a:cs typeface="Times New Roman"/>
              </a:rPr>
              <a:t>Thus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5" dirty="0">
                <a:highlight>
                  <a:srgbClr val="FFFF00"/>
                </a:highlight>
                <a:latin typeface="Times New Roman"/>
                <a:cs typeface="Times New Roman"/>
              </a:rPr>
              <a:t>dynamic call </a:t>
            </a:r>
            <a:r>
              <a:rPr sz="2000" dirty="0">
                <a:highlight>
                  <a:srgbClr val="FFFF00"/>
                </a:highlight>
                <a:latin typeface="Times New Roman"/>
                <a:cs typeface="Times New Roman"/>
              </a:rPr>
              <a:t>graph</a:t>
            </a:r>
            <a:r>
              <a:rPr sz="2000" dirty="0">
                <a:latin typeface="Times New Roman"/>
                <a:cs typeface="Times New Roman"/>
              </a:rPr>
              <a:t> is </a:t>
            </a:r>
            <a:r>
              <a:rPr sz="2000" spc="-5" dirty="0">
                <a:latin typeface="Times New Roman"/>
                <a:cs typeface="Times New Roman"/>
              </a:rPr>
              <a:t>exact, </a:t>
            </a:r>
            <a:r>
              <a:rPr sz="2000" spc="5" dirty="0">
                <a:latin typeface="Times New Roman"/>
                <a:cs typeface="Times New Roman"/>
              </a:rPr>
              <a:t>but </a:t>
            </a:r>
            <a:r>
              <a:rPr sz="2000" spc="-10" dirty="0">
                <a:latin typeface="Times New Roman"/>
                <a:cs typeface="Times New Roman"/>
              </a:rPr>
              <a:t>it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only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describes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one 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run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of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sz="2000" spc="-18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program.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Times New Roman"/>
              <a:buChar char="•"/>
            </a:pPr>
            <a:endParaRPr sz="3150" dirty="0">
              <a:latin typeface="Times New Roman"/>
              <a:cs typeface="Times New Roman"/>
            </a:endParaRPr>
          </a:p>
          <a:p>
            <a:pPr marL="469900" marR="897255" indent="-457834">
              <a:lnSpc>
                <a:spcPts val="2160"/>
              </a:lnSpc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000" spc="-5" dirty="0">
                <a:latin typeface="Times New Roman"/>
                <a:cs typeface="Times New Roman"/>
              </a:rPr>
              <a:t>On </a:t>
            </a:r>
            <a:r>
              <a:rPr sz="2000" dirty="0">
                <a:latin typeface="Times New Roman"/>
                <a:cs typeface="Times New Roman"/>
              </a:rPr>
              <a:t>the </a:t>
            </a:r>
            <a:r>
              <a:rPr sz="2000" spc="-5" dirty="0">
                <a:latin typeface="Times New Roman"/>
                <a:cs typeface="Times New Roman"/>
              </a:rPr>
              <a:t>other </a:t>
            </a:r>
            <a:r>
              <a:rPr sz="2000" spc="5" dirty="0">
                <a:latin typeface="Times New Roman"/>
                <a:cs typeface="Times New Roman"/>
              </a:rPr>
              <a:t>hand,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highlight>
                  <a:srgbClr val="FFFF00"/>
                </a:highlight>
                <a:latin typeface="Times New Roman"/>
                <a:cs typeface="Times New Roman"/>
              </a:rPr>
              <a:t>static </a:t>
            </a:r>
            <a:r>
              <a:rPr sz="2000" spc="-5" dirty="0">
                <a:highlight>
                  <a:srgbClr val="FFFF00"/>
                </a:highlight>
                <a:latin typeface="Times New Roman"/>
                <a:cs typeface="Times New Roman"/>
              </a:rPr>
              <a:t>call </a:t>
            </a:r>
            <a:r>
              <a:rPr sz="2000" dirty="0">
                <a:highlight>
                  <a:srgbClr val="FFFF00"/>
                </a:highlight>
                <a:latin typeface="Times New Roman"/>
                <a:cs typeface="Times New Roman"/>
              </a:rPr>
              <a:t>graph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represents every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possible </a:t>
            </a:r>
            <a:r>
              <a:rPr sz="2000" spc="5" dirty="0">
                <a:solidFill>
                  <a:srgbClr val="FF0000"/>
                </a:solidFill>
                <a:latin typeface="Times New Roman"/>
                <a:cs typeface="Times New Roman"/>
              </a:rPr>
              <a:t>run 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000" spc="-16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the  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program.</a:t>
            </a:r>
            <a:endParaRPr sz="2000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4495"/>
            <a:ext cx="5829300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4.6.4 Data Flow</a:t>
            </a:r>
            <a:r>
              <a:rPr dirty="0"/>
              <a:t> </a:t>
            </a:r>
            <a:r>
              <a:rPr spc="-5" dirty="0"/>
              <a:t>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792" y="1816114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8165" y="860331"/>
            <a:ext cx="8751570" cy="547893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265" marR="5080" indent="-457200" algn="just">
              <a:lnSpc>
                <a:spcPts val="2160"/>
              </a:lnSpc>
              <a:spcBef>
                <a:spcPts val="375"/>
              </a:spcBef>
              <a:buSzPct val="75000"/>
              <a:buChar char="•"/>
              <a:tabLst>
                <a:tab pos="469900" algn="l"/>
              </a:tabLst>
            </a:pPr>
            <a:r>
              <a:rPr sz="2800" spc="-5" dirty="0">
                <a:cs typeface="Times New Roman"/>
              </a:rPr>
              <a:t>Data </a:t>
            </a:r>
            <a:r>
              <a:rPr sz="2800" dirty="0">
                <a:cs typeface="Times New Roman"/>
              </a:rPr>
              <a:t>flow </a:t>
            </a:r>
            <a:r>
              <a:rPr sz="2800" spc="-5" dirty="0">
                <a:cs typeface="Times New Roman"/>
              </a:rPr>
              <a:t>analysis </a:t>
            </a:r>
            <a:r>
              <a:rPr sz="2800" dirty="0">
                <a:cs typeface="Times New Roman"/>
              </a:rPr>
              <a:t>(DFA) concerns </a:t>
            </a:r>
            <a:r>
              <a:rPr sz="2800" spc="5" dirty="0">
                <a:cs typeface="Times New Roman"/>
              </a:rPr>
              <a:t>how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values of defined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variables </a:t>
            </a:r>
            <a:r>
              <a:rPr sz="2800" dirty="0">
                <a:cs typeface="Times New Roman"/>
              </a:rPr>
              <a:t>flow</a:t>
            </a:r>
            <a:r>
              <a:rPr sz="2800" spc="-17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through  </a:t>
            </a:r>
            <a:r>
              <a:rPr sz="2800" spc="5" dirty="0">
                <a:cs typeface="Times New Roman"/>
              </a:rPr>
              <a:t>and </a:t>
            </a:r>
            <a:r>
              <a:rPr sz="2800" dirty="0">
                <a:cs typeface="Times New Roman"/>
              </a:rPr>
              <a:t>are </a:t>
            </a:r>
            <a:r>
              <a:rPr sz="2800" spc="-5" dirty="0">
                <a:cs typeface="Times New Roman"/>
              </a:rPr>
              <a:t>used </a:t>
            </a:r>
            <a:r>
              <a:rPr sz="2800" dirty="0">
                <a:cs typeface="Times New Roman"/>
              </a:rPr>
              <a:t>in a</a:t>
            </a:r>
            <a:r>
              <a:rPr sz="2800" spc="-6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program.</a:t>
            </a:r>
            <a:endParaRPr lang="en-US" sz="2800" dirty="0">
              <a:cs typeface="Times New Roman"/>
            </a:endParaRPr>
          </a:p>
          <a:p>
            <a:pPr marL="469265" marR="5080" indent="-457200" algn="just">
              <a:lnSpc>
                <a:spcPts val="2160"/>
              </a:lnSpc>
              <a:spcBef>
                <a:spcPts val="375"/>
              </a:spcBef>
              <a:buSzPct val="75000"/>
              <a:buChar char="•"/>
              <a:tabLst>
                <a:tab pos="469900" algn="l"/>
              </a:tabLst>
            </a:pPr>
            <a:endParaRPr sz="2800" dirty="0">
              <a:cs typeface="Times New Roman"/>
            </a:endParaRPr>
          </a:p>
          <a:p>
            <a:pPr marL="469265" marR="273685" algn="just">
              <a:lnSpc>
                <a:spcPts val="2160"/>
              </a:lnSpc>
              <a:spcBef>
                <a:spcPts val="720"/>
              </a:spcBef>
            </a:pPr>
            <a:r>
              <a:rPr sz="2800" spc="-5" dirty="0">
                <a:solidFill>
                  <a:srgbClr val="FF0000"/>
                </a:solidFill>
                <a:cs typeface="Times New Roman"/>
              </a:rPr>
              <a:t>CFA</a:t>
            </a:r>
            <a:r>
              <a:rPr sz="2800" spc="-5" dirty="0">
                <a:cs typeface="Times New Roman"/>
              </a:rPr>
              <a:t> can detect the possibility </a:t>
            </a:r>
            <a:r>
              <a:rPr sz="2800" dirty="0">
                <a:cs typeface="Times New Roman"/>
              </a:rPr>
              <a:t>of loops, </a:t>
            </a:r>
            <a:r>
              <a:rPr lang="en-US" sz="2800" dirty="0">
                <a:cs typeface="Times New Roman"/>
              </a:rPr>
              <a:t>and</a:t>
            </a:r>
            <a:r>
              <a:rPr sz="2800" dirty="0"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DFA</a:t>
            </a:r>
            <a:r>
              <a:rPr sz="2800" dirty="0">
                <a:cs typeface="Times New Roman"/>
              </a:rPr>
              <a:t> can </a:t>
            </a:r>
            <a:r>
              <a:rPr lang="en-US" sz="2800" dirty="0">
                <a:cs typeface="Times New Roman"/>
              </a:rPr>
              <a:t>also </a:t>
            </a:r>
            <a:r>
              <a:rPr sz="2800" spc="-5" dirty="0">
                <a:cs typeface="Times New Roman"/>
              </a:rPr>
              <a:t>determine data </a:t>
            </a:r>
            <a:r>
              <a:rPr sz="2800" dirty="0">
                <a:cs typeface="Times New Roman"/>
              </a:rPr>
              <a:t>flow  </a:t>
            </a:r>
            <a:r>
              <a:rPr sz="2800" spc="-5" dirty="0">
                <a:cs typeface="Times New Roman"/>
              </a:rPr>
              <a:t>anomalies.</a:t>
            </a:r>
            <a:endParaRPr lang="en-US" sz="2800" spc="-5" dirty="0">
              <a:cs typeface="Times New Roman"/>
            </a:endParaRPr>
          </a:p>
          <a:p>
            <a:pPr marL="469265" marR="273685" algn="just">
              <a:lnSpc>
                <a:spcPts val="2160"/>
              </a:lnSpc>
              <a:spcBef>
                <a:spcPts val="720"/>
              </a:spcBef>
            </a:pPr>
            <a:endParaRPr sz="2800" dirty="0">
              <a:cs typeface="Times New Roman"/>
            </a:endParaRPr>
          </a:p>
          <a:p>
            <a:pPr marL="469265" indent="-457200" algn="just">
              <a:lnSpc>
                <a:spcPct val="100000"/>
              </a:lnSpc>
              <a:spcBef>
                <a:spcPts val="445"/>
              </a:spcBef>
              <a:buSzPct val="75000"/>
              <a:buChar char="•"/>
              <a:tabLst>
                <a:tab pos="469900" algn="l"/>
              </a:tabLst>
            </a:pPr>
            <a:r>
              <a:rPr sz="2800" spc="5" dirty="0">
                <a:cs typeface="Times New Roman"/>
              </a:rPr>
              <a:t>One </a:t>
            </a:r>
            <a:r>
              <a:rPr sz="2800" spc="-5" dirty="0">
                <a:cs typeface="Times New Roman"/>
              </a:rPr>
              <a:t>example </a:t>
            </a:r>
            <a:r>
              <a:rPr sz="2800" dirty="0">
                <a:cs typeface="Times New Roman"/>
              </a:rPr>
              <a:t>of </a:t>
            </a:r>
            <a:r>
              <a:rPr sz="2800" spc="-5" dirty="0">
                <a:cs typeface="Times New Roman"/>
              </a:rPr>
              <a:t>data flow anomaly </a:t>
            </a:r>
            <a:r>
              <a:rPr sz="2800" dirty="0">
                <a:cs typeface="Times New Roman"/>
              </a:rPr>
              <a:t>is </a:t>
            </a:r>
            <a:r>
              <a:rPr sz="2800" spc="-5" dirty="0">
                <a:cs typeface="Times New Roman"/>
              </a:rPr>
              <a:t>that </a:t>
            </a:r>
            <a:r>
              <a:rPr sz="2800" spc="5" dirty="0">
                <a:cs typeface="Times New Roman"/>
              </a:rPr>
              <a:t>an </a:t>
            </a:r>
            <a:r>
              <a:rPr sz="2800" dirty="0">
                <a:cs typeface="Times New Roman"/>
              </a:rPr>
              <a:t>undefined variable is</a:t>
            </a:r>
            <a:r>
              <a:rPr sz="2800" spc="-14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referenced.</a:t>
            </a:r>
            <a:endParaRPr lang="en-US" sz="2800" spc="-5" dirty="0">
              <a:cs typeface="Times New Roman"/>
            </a:endParaRPr>
          </a:p>
          <a:p>
            <a:pPr marL="12065" marR="172720" algn="just">
              <a:lnSpc>
                <a:spcPts val="2160"/>
              </a:lnSpc>
              <a:spcBef>
                <a:spcPts val="755"/>
              </a:spcBef>
              <a:buSzPct val="75000"/>
              <a:tabLst>
                <a:tab pos="469900" algn="l"/>
              </a:tabLst>
            </a:pPr>
            <a:endParaRPr sz="2800" dirty="0">
              <a:cs typeface="Times New Roman"/>
            </a:endParaRPr>
          </a:p>
          <a:p>
            <a:pPr marL="469265" marR="565150" indent="-457200" algn="just">
              <a:spcBef>
                <a:spcPts val="720"/>
              </a:spcBef>
              <a:buSzPct val="75000"/>
              <a:buChar char="•"/>
              <a:tabLst>
                <a:tab pos="469900" algn="l"/>
              </a:tabLst>
            </a:pPr>
            <a:r>
              <a:rPr sz="2800" spc="-5" dirty="0">
                <a:cs typeface="Times New Roman"/>
              </a:rPr>
              <a:t>Data </a:t>
            </a:r>
            <a:r>
              <a:rPr sz="2800" dirty="0">
                <a:cs typeface="Times New Roman"/>
              </a:rPr>
              <a:t>flow </a:t>
            </a:r>
            <a:r>
              <a:rPr sz="2800" spc="-5" dirty="0">
                <a:cs typeface="Times New Roman"/>
              </a:rPr>
              <a:t>analysis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enables the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identification </a:t>
            </a:r>
            <a:r>
              <a:rPr sz="2800" spc="10" dirty="0">
                <a:solidFill>
                  <a:srgbClr val="FF0000"/>
                </a:solidFill>
                <a:cs typeface="Times New Roman"/>
              </a:rPr>
              <a:t>of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code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that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can never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execute</a:t>
            </a:r>
            <a:r>
              <a:rPr sz="2800" spc="-5" dirty="0">
                <a:cs typeface="Times New Roman"/>
              </a:rPr>
              <a:t>,  variables </a:t>
            </a:r>
            <a:r>
              <a:rPr sz="2800" dirty="0">
                <a:cs typeface="Times New Roman"/>
              </a:rPr>
              <a:t>that </a:t>
            </a:r>
            <a:r>
              <a:rPr sz="2800" spc="-5" dirty="0">
                <a:cs typeface="Times New Roman"/>
              </a:rPr>
              <a:t>might </a:t>
            </a:r>
            <a:r>
              <a:rPr sz="2800" spc="5" dirty="0">
                <a:cs typeface="Times New Roman"/>
              </a:rPr>
              <a:t>not </a:t>
            </a:r>
            <a:r>
              <a:rPr sz="2800" dirty="0">
                <a:cs typeface="Times New Roman"/>
              </a:rPr>
              <a:t>be defined before </a:t>
            </a:r>
            <a:r>
              <a:rPr sz="2800" spc="-5" dirty="0">
                <a:cs typeface="Times New Roman"/>
              </a:rPr>
              <a:t>they </a:t>
            </a:r>
            <a:r>
              <a:rPr sz="2800" dirty="0">
                <a:cs typeface="Times New Roman"/>
              </a:rPr>
              <a:t>are used, </a:t>
            </a:r>
            <a:r>
              <a:rPr sz="2800" spc="5" dirty="0">
                <a:cs typeface="Times New Roman"/>
              </a:rPr>
              <a:t>and </a:t>
            </a:r>
            <a:r>
              <a:rPr sz="2800" spc="-10" dirty="0">
                <a:cs typeface="Times New Roman"/>
              </a:rPr>
              <a:t>statements</a:t>
            </a:r>
            <a:r>
              <a:rPr sz="2800" spc="-165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that  might </a:t>
            </a:r>
            <a:r>
              <a:rPr sz="2800" dirty="0">
                <a:cs typeface="Times New Roman"/>
              </a:rPr>
              <a:t>have to </a:t>
            </a:r>
            <a:r>
              <a:rPr sz="2800" spc="10" dirty="0">
                <a:cs typeface="Times New Roman"/>
              </a:rPr>
              <a:t>be </a:t>
            </a:r>
            <a:r>
              <a:rPr sz="2800" spc="-5" dirty="0">
                <a:cs typeface="Times New Roman"/>
              </a:rPr>
              <a:t>altered </a:t>
            </a:r>
            <a:r>
              <a:rPr sz="2800" dirty="0">
                <a:cs typeface="Times New Roman"/>
              </a:rPr>
              <a:t>when a </a:t>
            </a:r>
            <a:r>
              <a:rPr sz="2800" spc="5" dirty="0">
                <a:cs typeface="Times New Roman"/>
              </a:rPr>
              <a:t>bug </a:t>
            </a:r>
            <a:r>
              <a:rPr sz="2800" dirty="0">
                <a:cs typeface="Times New Roman"/>
              </a:rPr>
              <a:t>is</a:t>
            </a:r>
            <a:r>
              <a:rPr sz="2800" spc="-17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fixed.</a:t>
            </a:r>
          </a:p>
          <a:p>
            <a:pPr marL="469265" marR="34290" indent="-457200">
              <a:lnSpc>
                <a:spcPts val="2160"/>
              </a:lnSpc>
              <a:spcBef>
                <a:spcPts val="720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endParaRPr sz="2800" dirty="0"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1515" y="-12660"/>
            <a:ext cx="5975985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4.6.4 Data Flow</a:t>
            </a:r>
            <a:r>
              <a:rPr dirty="0"/>
              <a:t> </a:t>
            </a:r>
            <a:r>
              <a:rPr spc="-5" dirty="0"/>
              <a:t>Analysis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792" y="1816114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4800" y="573970"/>
            <a:ext cx="9098808" cy="6008696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265" marR="34290" indent="-457200">
              <a:spcBef>
                <a:spcPts val="720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r>
              <a:rPr sz="2800" dirty="0">
                <a:solidFill>
                  <a:srgbClr val="FF0000"/>
                </a:solidFill>
                <a:cs typeface="Times New Roman"/>
              </a:rPr>
              <a:t>Control flow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analysis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cannot answer the question</a:t>
            </a:r>
            <a:r>
              <a:rPr sz="2800" dirty="0">
                <a:cs typeface="Times New Roman"/>
              </a:rPr>
              <a:t>: </a:t>
            </a:r>
            <a:r>
              <a:rPr sz="2800" spc="5" dirty="0">
                <a:cs typeface="Times New Roman"/>
              </a:rPr>
              <a:t>Which </a:t>
            </a:r>
            <a:r>
              <a:rPr sz="2800" dirty="0">
                <a:cs typeface="Times New Roman"/>
              </a:rPr>
              <a:t>program </a:t>
            </a:r>
            <a:r>
              <a:rPr sz="2800" spc="-5" dirty="0">
                <a:cs typeface="Times New Roman"/>
              </a:rPr>
              <a:t>statements</a:t>
            </a:r>
            <a:r>
              <a:rPr sz="2800" spc="-270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are  </a:t>
            </a:r>
            <a:r>
              <a:rPr sz="2800" spc="-5" dirty="0">
                <a:cs typeface="Times New Roman"/>
              </a:rPr>
              <a:t>likely </a:t>
            </a:r>
            <a:r>
              <a:rPr sz="2800" spc="-10" dirty="0">
                <a:cs typeface="Times New Roman"/>
              </a:rPr>
              <a:t>to </a:t>
            </a:r>
            <a:r>
              <a:rPr sz="2800" dirty="0">
                <a:cs typeface="Times New Roman"/>
              </a:rPr>
              <a:t>be </a:t>
            </a:r>
            <a:r>
              <a:rPr sz="2800" spc="-5" dirty="0">
                <a:cs typeface="Times New Roman"/>
              </a:rPr>
              <a:t>impacted </a:t>
            </a:r>
            <a:r>
              <a:rPr sz="2800" dirty="0">
                <a:cs typeface="Times New Roman"/>
              </a:rPr>
              <a:t>by the execution of a given </a:t>
            </a:r>
            <a:r>
              <a:rPr sz="2800" spc="-5" dirty="0">
                <a:cs typeface="Times New Roman"/>
              </a:rPr>
              <a:t>assignment</a:t>
            </a:r>
            <a:r>
              <a:rPr sz="2800" spc="-110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statement?</a:t>
            </a:r>
            <a:endParaRPr sz="2800" dirty="0">
              <a:cs typeface="Times New Roman"/>
            </a:endParaRPr>
          </a:p>
          <a:p>
            <a:pPr marL="469265" marR="851535" indent="-457200">
              <a:spcBef>
                <a:spcPts val="720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r>
              <a:rPr sz="2800" spc="-5" dirty="0">
                <a:cs typeface="Times New Roman"/>
              </a:rPr>
              <a:t>To </a:t>
            </a:r>
            <a:r>
              <a:rPr sz="2800" dirty="0">
                <a:cs typeface="Times New Roman"/>
              </a:rPr>
              <a:t>answer </a:t>
            </a:r>
            <a:r>
              <a:rPr sz="2800" spc="-5" dirty="0">
                <a:cs typeface="Times New Roman"/>
              </a:rPr>
              <a:t>this </a:t>
            </a:r>
            <a:r>
              <a:rPr sz="2800" dirty="0">
                <a:cs typeface="Times New Roman"/>
              </a:rPr>
              <a:t>kind of questions, </a:t>
            </a:r>
            <a:r>
              <a:rPr sz="2800" spc="-5" dirty="0">
                <a:cs typeface="Times New Roman"/>
              </a:rPr>
              <a:t>an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understanding </a:t>
            </a:r>
            <a:r>
              <a:rPr lang="en-GB" sz="2800" spc="10" dirty="0" smtClean="0">
                <a:solidFill>
                  <a:srgbClr val="FF0000"/>
                </a:solidFill>
                <a:cs typeface="Times New Roman"/>
              </a:rPr>
              <a:t>the</a:t>
            </a:r>
            <a:r>
              <a:rPr sz="2800" spc="10" dirty="0" smtClean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definitions</a:t>
            </a:r>
            <a:r>
              <a:rPr sz="2800" spc="-16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of 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variables</a:t>
            </a:r>
            <a:r>
              <a:rPr sz="2800" spc="-5" dirty="0">
                <a:cs typeface="Times New Roman"/>
              </a:rPr>
              <a:t> </a:t>
            </a:r>
            <a:r>
              <a:rPr sz="2800" spc="5" dirty="0">
                <a:cs typeface="Times New Roman"/>
              </a:rPr>
              <a:t>and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references (uses) </a:t>
            </a:r>
            <a:r>
              <a:rPr sz="2800" spc="10" dirty="0">
                <a:solidFill>
                  <a:srgbClr val="FF0000"/>
                </a:solidFill>
                <a:cs typeface="Times New Roman"/>
              </a:rPr>
              <a:t>of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variables </a:t>
            </a:r>
            <a:r>
              <a:rPr sz="2800" spc="-10" dirty="0">
                <a:solidFill>
                  <a:srgbClr val="FF0000"/>
                </a:solidFill>
                <a:cs typeface="Times New Roman"/>
              </a:rPr>
              <a:t>is</a:t>
            </a:r>
            <a:r>
              <a:rPr sz="2800" spc="-22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required.</a:t>
            </a:r>
          </a:p>
          <a:p>
            <a:pPr marL="469265" marR="339725" indent="-457200">
              <a:spcBef>
                <a:spcPts val="720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r>
              <a:rPr sz="2800" spc="5" dirty="0">
                <a:cs typeface="Times New Roman"/>
              </a:rPr>
              <a:t>If </a:t>
            </a:r>
            <a:r>
              <a:rPr sz="2800" dirty="0">
                <a:cs typeface="Times New Roman"/>
              </a:rPr>
              <a:t>a variable appears </a:t>
            </a:r>
            <a:r>
              <a:rPr sz="2800" spc="10" dirty="0">
                <a:cs typeface="Times New Roman"/>
              </a:rPr>
              <a:t>on </a:t>
            </a:r>
            <a:r>
              <a:rPr sz="2800" dirty="0">
                <a:cs typeface="Times New Roman"/>
              </a:rPr>
              <a:t>the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left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hand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side </a:t>
            </a:r>
            <a:r>
              <a:rPr sz="2800" dirty="0">
                <a:cs typeface="Times New Roman"/>
              </a:rPr>
              <a:t>of </a:t>
            </a:r>
            <a:r>
              <a:rPr sz="2800" spc="-5" dirty="0">
                <a:cs typeface="Times New Roman"/>
              </a:rPr>
              <a:t>an assignment </a:t>
            </a:r>
            <a:r>
              <a:rPr sz="2800" spc="-10" dirty="0">
                <a:cs typeface="Times New Roman"/>
              </a:rPr>
              <a:t>statement, </a:t>
            </a:r>
            <a:r>
              <a:rPr sz="2800" spc="-5" dirty="0">
                <a:cs typeface="Times New Roman"/>
              </a:rPr>
              <a:t>then </a:t>
            </a:r>
            <a:r>
              <a:rPr sz="2800" dirty="0">
                <a:cs typeface="Times New Roman"/>
              </a:rPr>
              <a:t>the  variable </a:t>
            </a:r>
            <a:r>
              <a:rPr sz="2800" spc="-10" dirty="0">
                <a:cs typeface="Times New Roman"/>
              </a:rPr>
              <a:t>is said </a:t>
            </a:r>
            <a:r>
              <a:rPr sz="2800" dirty="0">
                <a:cs typeface="Times New Roman"/>
              </a:rPr>
              <a:t>to be</a:t>
            </a:r>
            <a:r>
              <a:rPr sz="2800" spc="-45" dirty="0"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defined.</a:t>
            </a:r>
            <a:endParaRPr lang="en-US" sz="2800" dirty="0">
              <a:solidFill>
                <a:srgbClr val="FF0000"/>
              </a:solidFill>
              <a:cs typeface="Times New Roman"/>
            </a:endParaRPr>
          </a:p>
          <a:p>
            <a:pPr marL="469265" marR="339725" indent="-457200">
              <a:spcBef>
                <a:spcPts val="720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endParaRPr sz="2800" dirty="0">
              <a:cs typeface="Times New Roman"/>
            </a:endParaRPr>
          </a:p>
          <a:p>
            <a:pPr marL="469265" marR="137160" indent="-457200">
              <a:spcBef>
                <a:spcPts val="720"/>
              </a:spcBef>
              <a:buSzPct val="75000"/>
              <a:buChar char="•"/>
              <a:tabLst>
                <a:tab pos="469265" algn="l"/>
                <a:tab pos="469900" algn="l"/>
              </a:tabLst>
            </a:pPr>
            <a:r>
              <a:rPr sz="2800" spc="5" dirty="0">
                <a:cs typeface="Times New Roman"/>
              </a:rPr>
              <a:t>If </a:t>
            </a:r>
            <a:r>
              <a:rPr sz="2800" dirty="0">
                <a:cs typeface="Times New Roman"/>
              </a:rPr>
              <a:t>a variable appears </a:t>
            </a:r>
            <a:r>
              <a:rPr sz="2800" spc="10" dirty="0">
                <a:cs typeface="Times New Roman"/>
              </a:rPr>
              <a:t>on </a:t>
            </a:r>
            <a:r>
              <a:rPr sz="2800" dirty="0">
                <a:cs typeface="Times New Roman"/>
              </a:rPr>
              <a:t>the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right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hand </a:t>
            </a:r>
            <a:r>
              <a:rPr sz="2800" dirty="0">
                <a:cs typeface="Times New Roman"/>
              </a:rPr>
              <a:t>side </a:t>
            </a:r>
            <a:r>
              <a:rPr sz="2800" spc="10" dirty="0">
                <a:cs typeface="Times New Roman"/>
              </a:rPr>
              <a:t>of </a:t>
            </a:r>
            <a:r>
              <a:rPr sz="2800" spc="-5" dirty="0">
                <a:cs typeface="Times New Roman"/>
              </a:rPr>
              <a:t>an assignment statement, </a:t>
            </a:r>
            <a:r>
              <a:rPr sz="2800" dirty="0">
                <a:cs typeface="Times New Roman"/>
              </a:rPr>
              <a:t>then </a:t>
            </a:r>
            <a:r>
              <a:rPr sz="2800" spc="-10" dirty="0">
                <a:cs typeface="Times New Roman"/>
              </a:rPr>
              <a:t>it</a:t>
            </a:r>
            <a:r>
              <a:rPr sz="2800" spc="-265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is  </a:t>
            </a:r>
            <a:r>
              <a:rPr sz="2800" spc="-5" dirty="0">
                <a:cs typeface="Times New Roman"/>
              </a:rPr>
              <a:t>said </a:t>
            </a:r>
            <a:r>
              <a:rPr sz="2800" dirty="0">
                <a:cs typeface="Times New Roman"/>
              </a:rPr>
              <a:t>to </a:t>
            </a:r>
            <a:r>
              <a:rPr sz="2800" spc="10" dirty="0">
                <a:cs typeface="Times New Roman"/>
              </a:rPr>
              <a:t>be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referenced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in that</a:t>
            </a:r>
            <a:r>
              <a:rPr sz="2800" spc="-145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statement.</a:t>
            </a:r>
            <a:endParaRPr sz="2800" dirty="0">
              <a:solidFill>
                <a:srgbClr val="FF0000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0098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-2027"/>
            <a:ext cx="5360670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4.6.5 Program Slicing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816114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•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200" y="595876"/>
            <a:ext cx="8765540" cy="6098464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900" marR="40640" indent="-457834">
              <a:spcBef>
                <a:spcPts val="375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lang="en-US" sz="2800" spc="-5" dirty="0">
                <a:cs typeface="Times New Roman"/>
              </a:rPr>
              <a:t>P</a:t>
            </a:r>
            <a:r>
              <a:rPr sz="2800" dirty="0">
                <a:cs typeface="Times New Roman"/>
              </a:rPr>
              <a:t>rogram </a:t>
            </a:r>
            <a:r>
              <a:rPr sz="2800" spc="-5" dirty="0">
                <a:cs typeface="Times New Roman"/>
              </a:rPr>
              <a:t>slicing has </a:t>
            </a:r>
            <a:r>
              <a:rPr sz="2800" dirty="0">
                <a:cs typeface="Times New Roman"/>
              </a:rPr>
              <a:t>served </a:t>
            </a:r>
            <a:r>
              <a:rPr sz="2800" spc="-5" dirty="0">
                <a:cs typeface="Times New Roman"/>
              </a:rPr>
              <a:t>as the basis </a:t>
            </a:r>
            <a:r>
              <a:rPr sz="2800" spc="10" dirty="0">
                <a:cs typeface="Times New Roman"/>
              </a:rPr>
              <a:t>of  </a:t>
            </a:r>
            <a:r>
              <a:rPr sz="2800" dirty="0">
                <a:cs typeface="Times New Roman"/>
              </a:rPr>
              <a:t>numerous</a:t>
            </a:r>
            <a:r>
              <a:rPr sz="2800" spc="-4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tools.</a:t>
            </a:r>
          </a:p>
          <a:p>
            <a:pPr marL="469900" marR="5080">
              <a:spcBef>
                <a:spcPts val="720"/>
              </a:spcBef>
            </a:pPr>
            <a:r>
              <a:rPr sz="2800" spc="-5" dirty="0">
                <a:cs typeface="Times New Roman"/>
              </a:rPr>
              <a:t>In </a:t>
            </a:r>
            <a:r>
              <a:rPr sz="2800" dirty="0">
                <a:cs typeface="Times New Roman"/>
              </a:rPr>
              <a:t>Weiser’s </a:t>
            </a:r>
            <a:r>
              <a:rPr sz="2800" spc="-5" dirty="0">
                <a:cs typeface="Times New Roman"/>
              </a:rPr>
              <a:t>definition, </a:t>
            </a:r>
            <a:r>
              <a:rPr sz="2800" dirty="0">
                <a:cs typeface="Times New Roman"/>
              </a:rPr>
              <a:t>a </a:t>
            </a:r>
            <a:r>
              <a:rPr sz="2800" spc="-5" dirty="0">
                <a:cs typeface="Times New Roman"/>
              </a:rPr>
              <a:t>slicing criterion </a:t>
            </a:r>
            <a:r>
              <a:rPr sz="2800" spc="10" dirty="0">
                <a:cs typeface="Times New Roman"/>
              </a:rPr>
              <a:t>of </a:t>
            </a:r>
            <a:r>
              <a:rPr sz="2800" dirty="0">
                <a:cs typeface="Times New Roman"/>
              </a:rPr>
              <a:t>a program P is S &lt; p; v &gt; where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p </a:t>
            </a:r>
            <a:r>
              <a:rPr sz="2800" spc="-10" dirty="0">
                <a:solidFill>
                  <a:srgbClr val="FF0000"/>
                </a:solidFill>
                <a:cs typeface="Times New Roman"/>
              </a:rPr>
              <a:t>is</a:t>
            </a:r>
            <a:r>
              <a:rPr sz="2800" spc="-240" dirty="0">
                <a:solidFill>
                  <a:srgbClr val="FF0000"/>
                </a:solidFill>
                <a:cs typeface="Times New Roman"/>
              </a:rPr>
              <a:t>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a  program </a:t>
            </a:r>
            <a:r>
              <a:rPr sz="2800" spc="5" dirty="0">
                <a:cs typeface="Times New Roman"/>
              </a:rPr>
              <a:t>point and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v </a:t>
            </a:r>
            <a:r>
              <a:rPr sz="2800" spc="-10" dirty="0">
                <a:solidFill>
                  <a:srgbClr val="FF0000"/>
                </a:solidFill>
                <a:cs typeface="Times New Roman"/>
              </a:rPr>
              <a:t>is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a subset of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variables</a:t>
            </a:r>
            <a:r>
              <a:rPr sz="2800" spc="-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in</a:t>
            </a:r>
            <a:r>
              <a:rPr sz="2800" spc="-195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P.</a:t>
            </a:r>
            <a:endParaRPr lang="en-US" sz="2800" spc="-10" dirty="0">
              <a:cs typeface="Times New Roman"/>
            </a:endParaRPr>
          </a:p>
          <a:p>
            <a:pPr marL="469900" marR="5080">
              <a:spcBef>
                <a:spcPts val="720"/>
              </a:spcBef>
            </a:pPr>
            <a:endParaRPr sz="2800" dirty="0">
              <a:cs typeface="Times New Roman"/>
            </a:endParaRPr>
          </a:p>
          <a:p>
            <a:pPr marL="469900" marR="64135" indent="-457834"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dirty="0">
                <a:cs typeface="Times New Roman"/>
              </a:rPr>
              <a:t>A </a:t>
            </a:r>
            <a:r>
              <a:rPr sz="2800" dirty="0">
                <a:solidFill>
                  <a:srgbClr val="FF0000"/>
                </a:solidFill>
                <a:cs typeface="Times New Roman"/>
              </a:rPr>
              <a:t>program </a:t>
            </a:r>
            <a:r>
              <a:rPr sz="2800" spc="-5" dirty="0">
                <a:solidFill>
                  <a:srgbClr val="FF0000"/>
                </a:solidFill>
                <a:cs typeface="Times New Roman"/>
              </a:rPr>
              <a:t>slice </a:t>
            </a:r>
            <a:r>
              <a:rPr sz="2800" dirty="0">
                <a:cs typeface="Times New Roman"/>
              </a:rPr>
              <a:t>is a portion of a program with </a:t>
            </a:r>
            <a:r>
              <a:rPr sz="2800" spc="5" dirty="0">
                <a:cs typeface="Times New Roman"/>
              </a:rPr>
              <a:t>an </a:t>
            </a:r>
            <a:r>
              <a:rPr sz="2800" dirty="0">
                <a:cs typeface="Times New Roman"/>
              </a:rPr>
              <a:t>execution behavior </a:t>
            </a:r>
            <a:r>
              <a:rPr sz="2800" spc="-5" dirty="0">
                <a:cs typeface="Times New Roman"/>
              </a:rPr>
              <a:t>identical</a:t>
            </a:r>
            <a:r>
              <a:rPr sz="2800" spc="-280" dirty="0">
                <a:cs typeface="Times New Roman"/>
              </a:rPr>
              <a:t> </a:t>
            </a:r>
            <a:r>
              <a:rPr sz="2800" spc="-10" dirty="0">
                <a:cs typeface="Times New Roman"/>
              </a:rPr>
              <a:t>to  </a:t>
            </a:r>
            <a:r>
              <a:rPr sz="2800" dirty="0">
                <a:cs typeface="Times New Roman"/>
              </a:rPr>
              <a:t>the </a:t>
            </a:r>
            <a:r>
              <a:rPr sz="2800" spc="-10" dirty="0">
                <a:cs typeface="Times New Roman"/>
              </a:rPr>
              <a:t>initial </a:t>
            </a:r>
            <a:r>
              <a:rPr sz="2800" dirty="0">
                <a:cs typeface="Times New Roman"/>
              </a:rPr>
              <a:t>program with </a:t>
            </a:r>
            <a:r>
              <a:rPr sz="2800" spc="-5" dirty="0">
                <a:cs typeface="Times New Roman"/>
              </a:rPr>
              <a:t>respect </a:t>
            </a:r>
            <a:r>
              <a:rPr sz="2800" dirty="0">
                <a:cs typeface="Times New Roman"/>
              </a:rPr>
              <a:t>to a given </a:t>
            </a:r>
            <a:r>
              <a:rPr sz="2800" spc="-5" dirty="0">
                <a:cs typeface="Times New Roman"/>
              </a:rPr>
              <a:t>criterion, </a:t>
            </a:r>
            <a:r>
              <a:rPr sz="2800" spc="5" dirty="0">
                <a:cs typeface="Times New Roman"/>
              </a:rPr>
              <a:t>but </a:t>
            </a:r>
            <a:r>
              <a:rPr sz="2800" spc="-10" dirty="0">
                <a:cs typeface="Times New Roman"/>
              </a:rPr>
              <a:t>may </a:t>
            </a:r>
            <a:r>
              <a:rPr sz="2800" spc="-5" dirty="0">
                <a:cs typeface="Times New Roman"/>
              </a:rPr>
              <a:t>have </a:t>
            </a:r>
            <a:r>
              <a:rPr sz="2800" dirty="0">
                <a:cs typeface="Times New Roman"/>
              </a:rPr>
              <a:t>a reduced</a:t>
            </a:r>
            <a:r>
              <a:rPr sz="2800" spc="-120" dirty="0">
                <a:cs typeface="Times New Roman"/>
              </a:rPr>
              <a:t> </a:t>
            </a:r>
            <a:r>
              <a:rPr sz="2800" spc="-5" dirty="0">
                <a:cs typeface="Times New Roman"/>
              </a:rPr>
              <a:t>size.</a:t>
            </a:r>
            <a:endParaRPr lang="en-US" sz="2800" spc="-5" dirty="0">
              <a:cs typeface="Times New Roman"/>
            </a:endParaRPr>
          </a:p>
          <a:p>
            <a:pPr marL="469900" marR="64135" indent="-457834"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endParaRPr sz="2800" dirty="0">
              <a:cs typeface="Times New Roman"/>
            </a:endParaRPr>
          </a:p>
          <a:p>
            <a:pPr marL="469900" marR="207645" indent="-457834">
              <a:spcBef>
                <a:spcPts val="720"/>
              </a:spcBef>
              <a:buSzPct val="75000"/>
              <a:buChar char="•"/>
              <a:tabLst>
                <a:tab pos="469900" algn="l"/>
                <a:tab pos="470534" algn="l"/>
              </a:tabLst>
            </a:pPr>
            <a:r>
              <a:rPr sz="2800" dirty="0">
                <a:cs typeface="Times New Roman"/>
              </a:rPr>
              <a:t>A </a:t>
            </a:r>
            <a:r>
              <a:rPr sz="2800" b="1" dirty="0">
                <a:solidFill>
                  <a:srgbClr val="3333FF"/>
                </a:solidFill>
                <a:cs typeface="Times New Roman"/>
              </a:rPr>
              <a:t>backward </a:t>
            </a:r>
            <a:r>
              <a:rPr sz="2800" b="1" spc="-5" dirty="0">
                <a:solidFill>
                  <a:srgbClr val="3333FF"/>
                </a:solidFill>
                <a:cs typeface="Times New Roman"/>
              </a:rPr>
              <a:t>slice </a:t>
            </a:r>
            <a:r>
              <a:rPr sz="2800" dirty="0">
                <a:cs typeface="Times New Roman"/>
              </a:rPr>
              <a:t>with </a:t>
            </a:r>
            <a:r>
              <a:rPr sz="2800" spc="-5" dirty="0">
                <a:cs typeface="Times New Roman"/>
              </a:rPr>
              <a:t>respect </a:t>
            </a:r>
            <a:r>
              <a:rPr sz="2800" dirty="0">
                <a:cs typeface="Times New Roman"/>
              </a:rPr>
              <a:t>to a variable v </a:t>
            </a:r>
            <a:r>
              <a:rPr sz="2800" spc="-5" dirty="0">
                <a:cs typeface="Times New Roman"/>
              </a:rPr>
              <a:t>and </a:t>
            </a:r>
            <a:r>
              <a:rPr sz="2800" dirty="0">
                <a:cs typeface="Times New Roman"/>
              </a:rPr>
              <a:t>a </a:t>
            </a:r>
            <a:r>
              <a:rPr sz="2800" spc="-5" dirty="0">
                <a:cs typeface="Times New Roman"/>
              </a:rPr>
              <a:t>given </a:t>
            </a:r>
            <a:r>
              <a:rPr sz="2800" dirty="0">
                <a:cs typeface="Times New Roman"/>
              </a:rPr>
              <a:t>point p </a:t>
            </a:r>
            <a:r>
              <a:rPr sz="2800" spc="-5" dirty="0">
                <a:cs typeface="Times New Roman"/>
              </a:rPr>
              <a:t>comprises all  instructions </a:t>
            </a:r>
            <a:r>
              <a:rPr sz="2800" spc="5" dirty="0">
                <a:cs typeface="Times New Roman"/>
              </a:rPr>
              <a:t>and </a:t>
            </a:r>
            <a:r>
              <a:rPr sz="2800" dirty="0">
                <a:cs typeface="Times New Roman"/>
              </a:rPr>
              <a:t>predicates </a:t>
            </a:r>
            <a:r>
              <a:rPr sz="2800" spc="-5" dirty="0">
                <a:cs typeface="Times New Roman"/>
              </a:rPr>
              <a:t>which affect the </a:t>
            </a:r>
            <a:r>
              <a:rPr sz="2800" dirty="0">
                <a:cs typeface="Times New Roman"/>
              </a:rPr>
              <a:t>value of v </a:t>
            </a:r>
            <a:r>
              <a:rPr sz="2800" spc="-5" dirty="0">
                <a:cs typeface="Times New Roman"/>
              </a:rPr>
              <a:t>at </a:t>
            </a:r>
            <a:r>
              <a:rPr sz="2800" dirty="0">
                <a:cs typeface="Times New Roman"/>
              </a:rPr>
              <a:t>point</a:t>
            </a:r>
            <a:r>
              <a:rPr sz="2800" spc="-185" dirty="0">
                <a:cs typeface="Times New Roman"/>
              </a:rPr>
              <a:t> </a:t>
            </a:r>
            <a:r>
              <a:rPr sz="2800" dirty="0">
                <a:cs typeface="Times New Roman"/>
              </a:rPr>
              <a:t>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3683" y="357057"/>
            <a:ext cx="5351893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4.6.5 Program Slicing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© </a:t>
            </a:r>
            <a:r>
              <a:rPr spc="-5" dirty="0"/>
              <a:t>Tripathy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5" dirty="0"/>
              <a:t>Naik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4294967295"/>
          </p:nvPr>
        </p:nvSpPr>
        <p:spPr>
          <a:xfrm>
            <a:off x="0" y="7058025"/>
            <a:ext cx="3778250" cy="185738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pc="-5" dirty="0"/>
              <a:t>Software Evolution and Maintenance </a:t>
            </a:r>
            <a:r>
              <a:rPr spc="-5" dirty="0">
                <a:latin typeface="Arial"/>
                <a:cs typeface="Arial"/>
              </a:rPr>
              <a:t>(Chapter </a:t>
            </a:r>
            <a:r>
              <a:rPr dirty="0">
                <a:latin typeface="Arial"/>
                <a:cs typeface="Arial"/>
              </a:rPr>
              <a:t>4:</a:t>
            </a:r>
            <a:r>
              <a:rPr spc="-2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Reengineering)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0973" y="1816114"/>
            <a:ext cx="927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dirty="0">
                <a:latin typeface="Times New Roman"/>
                <a:cs typeface="Times New Roman"/>
              </a:rPr>
              <a:t>•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9177" y="1793235"/>
            <a:ext cx="8765540" cy="49083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469900" marR="133350" indent="-457834">
              <a:spcBef>
                <a:spcPts val="720"/>
              </a:spcBef>
              <a:buSzPct val="75000"/>
              <a:buFont typeface="Times New Roman"/>
              <a:buChar char="•"/>
              <a:tabLst>
                <a:tab pos="469900" algn="l"/>
                <a:tab pos="470534" algn="l"/>
              </a:tabLst>
            </a:pPr>
            <a:r>
              <a:rPr lang="en-US" sz="2800" b="1" dirty="0">
                <a:solidFill>
                  <a:srgbClr val="3333FF"/>
                </a:solidFill>
                <a:cs typeface="Times New Roman"/>
              </a:rPr>
              <a:t>Backward </a:t>
            </a:r>
            <a:r>
              <a:rPr lang="en-US" sz="2800" b="1" spc="-5" dirty="0">
                <a:solidFill>
                  <a:srgbClr val="3333FF"/>
                </a:solidFill>
                <a:cs typeface="Times New Roman"/>
              </a:rPr>
              <a:t>slices </a:t>
            </a:r>
            <a:r>
              <a:rPr lang="en-US" sz="2800" dirty="0">
                <a:cs typeface="Times New Roman"/>
              </a:rPr>
              <a:t>answer the question “</a:t>
            </a:r>
            <a:r>
              <a:rPr lang="en-US" sz="2800" b="1" i="1" dirty="0">
                <a:cs typeface="Times New Roman"/>
              </a:rPr>
              <a:t>What program </a:t>
            </a:r>
            <a:r>
              <a:rPr lang="en-US" sz="2800" b="1" i="1" spc="-5" dirty="0">
                <a:cs typeface="Times New Roman"/>
              </a:rPr>
              <a:t>components might</a:t>
            </a:r>
            <a:r>
              <a:rPr lang="en-US" sz="2800" b="1" i="1" spc="-145" dirty="0">
                <a:cs typeface="Times New Roman"/>
              </a:rPr>
              <a:t> </a:t>
            </a:r>
            <a:r>
              <a:rPr lang="en-US" sz="2800" b="1" i="1" spc="-5" dirty="0">
                <a:cs typeface="Times New Roman"/>
              </a:rPr>
              <a:t>effect  </a:t>
            </a:r>
            <a:r>
              <a:rPr lang="en-US" sz="2800" b="1" i="1" dirty="0">
                <a:cs typeface="Times New Roman"/>
              </a:rPr>
              <a:t>a </a:t>
            </a:r>
            <a:r>
              <a:rPr lang="en-US" sz="2800" b="1" i="1" spc="-5" dirty="0">
                <a:cs typeface="Times New Roman"/>
              </a:rPr>
              <a:t>selected</a:t>
            </a:r>
            <a:r>
              <a:rPr lang="en-US" sz="2800" b="1" i="1" spc="-25" dirty="0">
                <a:cs typeface="Times New Roman"/>
              </a:rPr>
              <a:t> </a:t>
            </a:r>
            <a:r>
              <a:rPr lang="en-US" sz="2800" b="1" i="1" dirty="0">
                <a:cs typeface="Times New Roman"/>
              </a:rPr>
              <a:t>computation?”</a:t>
            </a:r>
          </a:p>
          <a:p>
            <a:pPr marL="12066" marR="133350">
              <a:spcBef>
                <a:spcPts val="720"/>
              </a:spcBef>
              <a:buSzPct val="75000"/>
              <a:tabLst>
                <a:tab pos="469900" algn="l"/>
                <a:tab pos="470534" algn="l"/>
              </a:tabLst>
            </a:pPr>
            <a:endParaRPr lang="en-US" sz="2800" b="1" dirty="0">
              <a:solidFill>
                <a:srgbClr val="FF0033"/>
              </a:solidFill>
              <a:cs typeface="Times New Roman"/>
            </a:endParaRPr>
          </a:p>
          <a:p>
            <a:pPr marL="469266" marR="133350" indent="-457200">
              <a:spcBef>
                <a:spcPts val="720"/>
              </a:spcBef>
              <a:buSzPct val="75000"/>
              <a:buFont typeface="Arial" panose="020B0604020202020204" pitchFamily="34" charset="0"/>
              <a:buChar char="•"/>
              <a:tabLst>
                <a:tab pos="469900" algn="l"/>
                <a:tab pos="470534" algn="l"/>
              </a:tabLst>
            </a:pPr>
            <a:r>
              <a:rPr lang="en-US" sz="2800" b="1" dirty="0">
                <a:solidFill>
                  <a:srgbClr val="FF0033"/>
                </a:solidFill>
                <a:cs typeface="Times New Roman"/>
              </a:rPr>
              <a:t>Forward </a:t>
            </a:r>
            <a:r>
              <a:rPr lang="en-US" sz="2800" b="1" spc="-5" dirty="0">
                <a:solidFill>
                  <a:srgbClr val="FF0033"/>
                </a:solidFill>
                <a:cs typeface="Times New Roman"/>
              </a:rPr>
              <a:t>slicing </a:t>
            </a:r>
            <a:r>
              <a:rPr lang="en-US" sz="2800" dirty="0">
                <a:cs typeface="Times New Roman"/>
              </a:rPr>
              <a:t>answers the question “</a:t>
            </a:r>
            <a:r>
              <a:rPr lang="en-US" sz="2800" b="1" i="1" dirty="0">
                <a:cs typeface="Times New Roman"/>
              </a:rPr>
              <a:t>What program </a:t>
            </a:r>
            <a:r>
              <a:rPr lang="en-US" sz="2800" b="1" i="1" spc="-5" dirty="0">
                <a:cs typeface="Times New Roman"/>
              </a:rPr>
              <a:t>components might</a:t>
            </a:r>
            <a:r>
              <a:rPr lang="en-US" sz="2800" b="1" i="1" spc="-180" dirty="0">
                <a:cs typeface="Times New Roman"/>
              </a:rPr>
              <a:t> </a:t>
            </a:r>
            <a:r>
              <a:rPr lang="en-US" sz="2800" b="1" i="1" dirty="0">
                <a:cs typeface="Times New Roman"/>
              </a:rPr>
              <a:t>be  </a:t>
            </a:r>
            <a:r>
              <a:rPr lang="en-US" sz="2800" b="1" i="1" spc="-5" dirty="0">
                <a:cs typeface="Times New Roman"/>
              </a:rPr>
              <a:t>effected </a:t>
            </a:r>
            <a:r>
              <a:rPr lang="en-US" sz="2800" b="1" i="1" dirty="0">
                <a:cs typeface="Times New Roman"/>
              </a:rPr>
              <a:t>by a </a:t>
            </a:r>
            <a:r>
              <a:rPr lang="en-US" sz="2800" b="1" i="1" spc="-5" dirty="0">
                <a:cs typeface="Times New Roman"/>
              </a:rPr>
              <a:t>selected</a:t>
            </a:r>
            <a:r>
              <a:rPr lang="en-US" sz="2800" b="1" i="1" spc="-45" dirty="0">
                <a:cs typeface="Times New Roman"/>
              </a:rPr>
              <a:t> </a:t>
            </a:r>
            <a:r>
              <a:rPr lang="en-US" sz="2800" b="1" i="1" spc="-5" dirty="0">
                <a:cs typeface="Times New Roman"/>
              </a:rPr>
              <a:t>computation?”</a:t>
            </a:r>
          </a:p>
          <a:p>
            <a:pPr marL="12066" marR="10795">
              <a:spcBef>
                <a:spcPts val="755"/>
              </a:spcBef>
              <a:buSzPct val="75000"/>
              <a:tabLst>
                <a:tab pos="469900" algn="l"/>
                <a:tab pos="470534" algn="l"/>
              </a:tabLst>
            </a:pPr>
            <a:endParaRPr sz="2800" dirty="0">
              <a:cs typeface="Times New Roman"/>
            </a:endParaRPr>
          </a:p>
          <a:p>
            <a:pPr marL="469900" marR="402590" indent="-457834">
              <a:spcBef>
                <a:spcPts val="720"/>
              </a:spcBef>
              <a:buSzPct val="75000"/>
              <a:buFont typeface="Times New Roman"/>
              <a:buChar char="•"/>
              <a:tabLst>
                <a:tab pos="469900" algn="l"/>
                <a:tab pos="470534" algn="l"/>
              </a:tabLst>
            </a:pPr>
            <a:endParaRPr lang="en-US" sz="2800" b="1" i="1" spc="-5" dirty="0">
              <a:cs typeface="Times New Roman"/>
            </a:endParaRPr>
          </a:p>
          <a:p>
            <a:pPr marL="469900" marR="402590" indent="-457834">
              <a:spcBef>
                <a:spcPts val="720"/>
              </a:spcBef>
              <a:buSzPct val="75000"/>
              <a:buFont typeface="Times New Roman"/>
              <a:buChar char="•"/>
              <a:tabLst>
                <a:tab pos="469900" algn="l"/>
                <a:tab pos="470534" algn="l"/>
              </a:tabLst>
            </a:pPr>
            <a:r>
              <a:rPr lang="en-US" sz="2800" dirty="0">
                <a:cs typeface="Times New Roman"/>
              </a:rPr>
              <a:t>The dual of </a:t>
            </a:r>
            <a:r>
              <a:rPr lang="en-US" sz="2800" b="1" dirty="0">
                <a:solidFill>
                  <a:srgbClr val="3333FF"/>
                </a:solidFill>
                <a:cs typeface="Times New Roman"/>
              </a:rPr>
              <a:t>backward </a:t>
            </a:r>
            <a:r>
              <a:rPr lang="en-US" sz="2800" b="1" spc="-5" dirty="0">
                <a:solidFill>
                  <a:srgbClr val="3333FF"/>
                </a:solidFill>
                <a:cs typeface="Times New Roman"/>
              </a:rPr>
              <a:t>slicing </a:t>
            </a:r>
            <a:r>
              <a:rPr lang="en-US" sz="2800" dirty="0">
                <a:cs typeface="Times New Roman"/>
              </a:rPr>
              <a:t>is </a:t>
            </a:r>
            <a:r>
              <a:rPr lang="en-US" sz="2800" b="1" dirty="0">
                <a:solidFill>
                  <a:srgbClr val="FF0033"/>
                </a:solidFill>
                <a:cs typeface="Times New Roman"/>
              </a:rPr>
              <a:t>forward</a:t>
            </a:r>
            <a:r>
              <a:rPr lang="en-US" sz="2800" b="1" spc="-120" dirty="0">
                <a:solidFill>
                  <a:srgbClr val="FF0033"/>
                </a:solidFill>
                <a:cs typeface="Times New Roman"/>
              </a:rPr>
              <a:t> </a:t>
            </a:r>
            <a:r>
              <a:rPr lang="en-US" sz="2800" b="1" spc="-5" dirty="0">
                <a:solidFill>
                  <a:srgbClr val="FF0033"/>
                </a:solidFill>
                <a:cs typeface="Times New Roman"/>
              </a:rPr>
              <a:t>slicing</a:t>
            </a:r>
            <a:r>
              <a:rPr lang="en-US" sz="2800" spc="-5" dirty="0">
                <a:cs typeface="Times New Roman"/>
              </a:rPr>
              <a:t>.</a:t>
            </a:r>
          </a:p>
          <a:p>
            <a:pPr marL="469900" marR="402590" indent="-457834">
              <a:spcBef>
                <a:spcPts val="720"/>
              </a:spcBef>
              <a:buSzPct val="75000"/>
              <a:buFont typeface="Times New Roman"/>
              <a:buChar char="•"/>
              <a:tabLst>
                <a:tab pos="469900" algn="l"/>
                <a:tab pos="470534" algn="l"/>
              </a:tabLst>
            </a:pPr>
            <a:endParaRPr sz="2800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04879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424763"/>
            <a:ext cx="9144000" cy="49228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-8429"/>
            <a:ext cx="7600950" cy="12309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accent1">
                    <a:lumMod val="50000"/>
                  </a:schemeClr>
                </a:solidFill>
              </a:rPr>
              <a:t>4.6.5 Program Slicing:Example of </a:t>
            </a:r>
            <a:r>
              <a:rPr spc="-15" dirty="0">
                <a:solidFill>
                  <a:schemeClr val="accent1">
                    <a:lumMod val="50000"/>
                  </a:schemeClr>
                </a:solidFill>
              </a:rPr>
              <a:t>Backward</a:t>
            </a:r>
            <a:r>
              <a:rPr spc="135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spc="-5" dirty="0">
                <a:solidFill>
                  <a:schemeClr val="accent1">
                    <a:lumMod val="50000"/>
                  </a:schemeClr>
                </a:solidFill>
              </a:rPr>
              <a:t>Slice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801" y="139351"/>
            <a:ext cx="7473315" cy="12309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accent1">
                    <a:lumMod val="50000"/>
                  </a:schemeClr>
                </a:solidFill>
              </a:rPr>
              <a:t>4.6.5 Program Slicing: Example of Forward Slice</a:t>
            </a:r>
          </a:p>
        </p:txBody>
      </p:sp>
      <p:sp>
        <p:nvSpPr>
          <p:cNvPr id="3" name="object 3"/>
          <p:cNvSpPr/>
          <p:nvPr/>
        </p:nvSpPr>
        <p:spPr>
          <a:xfrm>
            <a:off x="685801" y="1524000"/>
            <a:ext cx="8951646" cy="27937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1" y="4471415"/>
            <a:ext cx="8951646" cy="261518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Lecture-1-SRE-Intro</Template>
  <TotalTime>399</TotalTime>
  <Words>1335</Words>
  <Application>Microsoft Office PowerPoint</Application>
  <PresentationFormat>Custom</PresentationFormat>
  <Paragraphs>118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Google Sans</vt:lpstr>
      <vt:lpstr>Söhne</vt:lpstr>
      <vt:lpstr>Times New Roman</vt:lpstr>
      <vt:lpstr>Wingdings</vt:lpstr>
      <vt:lpstr>Office Theme</vt:lpstr>
      <vt:lpstr>PowerPoint Presentation</vt:lpstr>
      <vt:lpstr>4.6 Techniques Used for Reverse Engineering</vt:lpstr>
      <vt:lpstr>4.6.1 Lexical Analysis</vt:lpstr>
      <vt:lpstr>4.6.2 Syntax Analysis</vt:lpstr>
      <vt:lpstr>4.6.2 Syntax Analysis</vt:lpstr>
      <vt:lpstr>4.6.3 Control Flow Analysis</vt:lpstr>
      <vt:lpstr>4.6.3 Control Flow Analysis</vt:lpstr>
      <vt:lpstr>4.6.4 Data Flow Analysis</vt:lpstr>
      <vt:lpstr>4.6.4 Data Flow Analysis</vt:lpstr>
      <vt:lpstr>4.6.5 Program Slicing</vt:lpstr>
      <vt:lpstr>4.6.5 Program Slicing</vt:lpstr>
      <vt:lpstr>4.6.5 Program Slicing:Example of Backward Slice</vt:lpstr>
      <vt:lpstr>4.6.5 Program Slicing: Example of Forward Slice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week 10 - reeng [Compatibility Mode]</dc:title>
  <dc:creator>Shumaila Iqbal</dc:creator>
  <cp:lastModifiedBy>Admin</cp:lastModifiedBy>
  <cp:revision>45</cp:revision>
  <dcterms:created xsi:type="dcterms:W3CDTF">2022-05-17T05:14:05Z</dcterms:created>
  <dcterms:modified xsi:type="dcterms:W3CDTF">2025-04-22T04:54:23Z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2021-12-22T00:00:00Z</vt:filetime>
  </property>
  <property fmtid="{D5CDD505-2E9C-101B-9397-08002B2CF9AE}" pid="3" name="LastSaved">
    <vt:filetime>2022-05-17T00:00:00Z</vt:filetime>
  </property>
</Properties>
</file>