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1" r:id="rId3"/>
    <p:sldId id="550" r:id="rId4"/>
    <p:sldId id="551" r:id="rId5"/>
    <p:sldId id="552" r:id="rId6"/>
    <p:sldId id="553" r:id="rId7"/>
    <p:sldId id="554" r:id="rId8"/>
    <p:sldId id="555" r:id="rId9"/>
    <p:sldId id="556" r:id="rId10"/>
    <p:sldId id="557" r:id="rId11"/>
    <p:sldId id="562" r:id="rId12"/>
    <p:sldId id="5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4353" autoAdjust="0"/>
  </p:normalViewPr>
  <p:slideViewPr>
    <p:cSldViewPr snapToGrid="0">
      <p:cViewPr varScale="1">
        <p:scale>
          <a:sx n="90" d="100"/>
          <a:sy n="90" d="100"/>
        </p:scale>
        <p:origin x="7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892352-B4B8-4883-A7AE-74A1CD73CC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988E6-59B9-48DC-9B4A-57289DC710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95C29-67EF-49A4-98C1-FCB15B72695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B0436-9CF9-4A1C-A1A4-6B867600F0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D58C5-83E6-49AD-8389-6E84C9EF0A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1700E-07F4-4037-B9BA-0B17596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42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83B8F-3A1C-4F2C-B130-8969D6C1E4AD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C6B6B-DEB4-4104-BA10-F9FA8AE5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C0E30B0-E077-4993-974F-9A916C82C114}" type="datetime1">
              <a:rPr lang="en-US" smtClean="0"/>
              <a:t>2/26/2025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070B560-5622-461A-9086-C81B8DFD0314}"/>
              </a:ext>
            </a:extLst>
          </p:cNvPr>
          <p:cNvSpPr txBox="1">
            <a:spLocks/>
          </p:cNvSpPr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6514-E628-458B-AA9A-60A33D091D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EA8-1D0F-4EDA-AC1C-3D8EC882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E359-53AB-4630-9445-BD1EC21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B4D4-DD5B-499F-AF34-6F714EE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0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4C5-DA85-42F4-9809-54A7416F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rgbClr val="002060"/>
          </a:solidFill>
        </p:spPr>
        <p:txBody>
          <a:bodyPr anchor="b"/>
          <a:lstStyle>
            <a:lvl1pPr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C6D7-FA11-4EC0-B04D-17711775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rgbClr val="001050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90E4-1765-4F51-B6C8-CF347346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30EE-1BA8-420F-B2C9-CE22107EC47A}" type="datetime1">
              <a:rPr lang="en-US" smtClean="0"/>
              <a:t>2/26/2025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C99A-182B-47B9-803E-FD4A2E2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1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80E0-5E40-408E-BDD1-D6554F9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062"/>
            <a:ext cx="10515600" cy="1325563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4002-4A0D-4A91-A1FF-EEA9F9CE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6D3D0-22D7-4FE1-9BC2-28DE2F5EC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E05DC-021E-4421-ACCD-6ED98EF2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0214-E8A3-43BC-B597-D3E30C8B00C0}" type="datetime1">
              <a:rPr lang="en-US" smtClean="0"/>
              <a:t>2/26/2025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1E2AC-9805-48FF-BA68-31E79A9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7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6EF0-EABB-4D40-99F9-02DEBD1E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9DF0-9338-429B-894B-6BA89B81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38542-80B1-4CF8-8433-4FF09B77E667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F8401-E628-423C-AAB0-CEFA4399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98250-7BF9-4699-8DAA-10CA39A6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6DA35-5107-4BD5-8AAB-1BDDC0BFF481}" type="datetime1">
              <a:rPr lang="en-US" smtClean="0"/>
              <a:t>2/26/2025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DEACF-DE1A-4413-8881-A9F8E73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0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26DA1-7ABB-4B30-BC38-25B428BD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6C9A3-0ABC-4112-86CC-F1C647B8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14F0-AD23-468C-BFE0-6A14B6401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A08FD-3D60-442C-B673-50DEA1E71820}" type="datetime1">
              <a:rPr lang="en-US" smtClean="0"/>
              <a:t>2/26/2025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87060-9AB1-4B3A-A1EF-C8A00129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3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3A08-5DAE-4AF9-898B-437FB4DCE9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Re-Engineering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EFB2B-D101-4F13-9CD7-92D3F27417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Instructor</a:t>
            </a:r>
            <a:r>
              <a:rPr lang="en-US"/>
              <a:t>: Muhammad Usman Shahid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46440-FFC7-47D9-82FF-48B7F66EBD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1" y="697368"/>
            <a:ext cx="4532812" cy="1045029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 No.05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6F98B-6F84-40A3-A2C3-2A0ADF2766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BSSE – 7 &amp; 8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4ED84E-60DD-47EC-B4DE-DE8CA8C4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52C-3CFC-4FAB-945A-BCF95F4812D3}" type="datetime1">
              <a:rPr lang="en-US" smtClean="0"/>
              <a:t>2/26/2025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85CF7-82D0-438F-957D-503B6DDA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1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0" y="0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Lecture 5: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27" y="674703"/>
            <a:ext cx="10714608" cy="4944862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Evolution And Maintenance Models</a:t>
            </a:r>
            <a:endParaRPr lang="en-US" sz="4000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80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Autofit/>
          </a:bodyPr>
          <a:lstStyle/>
          <a:p>
            <a:r>
              <a:rPr lang="en-US" sz="3600" dirty="0"/>
              <a:t>Software Maintenance Life Cycle (SMLC)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software maintenance should have its own software maintenance life cycle (SMLC) model as it involves many unique activities.</a:t>
            </a:r>
          </a:p>
          <a:p>
            <a:pPr algn="l"/>
            <a:r>
              <a:rPr lang="en-US" b="0" i="0" u="none" strike="noStrike" baseline="0" dirty="0"/>
              <a:t>Focus on product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enhancement</a:t>
            </a:r>
            <a:r>
              <a:rPr lang="en-US" b="0" i="0" u="none" strike="noStrike" baseline="0" dirty="0"/>
              <a:t> and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correction</a:t>
            </a:r>
            <a:r>
              <a:rPr lang="en-US" b="0" i="0" u="none" strike="noStrike" baseline="0" dirty="0"/>
              <a:t>,</a:t>
            </a:r>
          </a:p>
          <a:p>
            <a:pPr algn="l"/>
            <a:r>
              <a:rPr lang="en-US" b="0" i="0" u="none" strike="noStrike" baseline="0" dirty="0"/>
              <a:t>The software product which is released to a customer is in the form of executable code, whereas the corresponding “product” within the supplier organization is source code</a:t>
            </a:r>
          </a:p>
          <a:p>
            <a:pPr algn="l"/>
            <a:r>
              <a:rPr lang="en-US" b="0" i="0" u="none" strike="noStrike" baseline="0" dirty="0"/>
              <a:t>Source code can be modified without affecting the executable version in use.</a:t>
            </a:r>
            <a:endParaRPr lang="en-US" sz="6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1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Autofit/>
          </a:bodyPr>
          <a:lstStyle/>
          <a:p>
            <a:r>
              <a:rPr lang="en-US" sz="3600" dirty="0"/>
              <a:t>Software Maintenance Life Cycle (SMLC)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In addition,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documentation</a:t>
            </a:r>
            <a:r>
              <a:rPr lang="en-US" b="0" i="0" u="none" strike="noStrike" baseline="0" dirty="0"/>
              <a:t> associated with the system must be compatible, otherwise the customer may not be able to understand the system.</a:t>
            </a:r>
          </a:p>
          <a:p>
            <a:pPr algn="l"/>
            <a:r>
              <a:rPr lang="en-US" b="0" i="0" u="none" strike="noStrike" baseline="0" dirty="0"/>
              <a:t>Therefore, tight documentation control is necessary. In other words, the set of products that are released to the customer must be controlled.</a:t>
            </a:r>
            <a:endParaRPr lang="en-US" sz="6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24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/>
              <a:t>Reuse-oriented Model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One obtains a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new version of an old system </a:t>
            </a:r>
            <a:r>
              <a:rPr lang="en-US" b="0" i="0" u="none" strike="noStrike" baseline="0" dirty="0"/>
              <a:t>by modifying one or several components of the old system and possibly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adding new components</a:t>
            </a:r>
            <a:r>
              <a:rPr lang="en-US" b="0" i="0" u="none" strike="noStrike" baseline="0" dirty="0"/>
              <a:t>. </a:t>
            </a:r>
          </a:p>
          <a:p>
            <a:pPr algn="l"/>
            <a:r>
              <a:rPr lang="en-US" b="0" i="0" u="none" strike="noStrike" baseline="0" dirty="0"/>
              <a:t>Therefore, the new system is likely to reuse many components of the old system.</a:t>
            </a:r>
            <a:endParaRPr lang="en-US" sz="60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56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Autofit/>
          </a:bodyPr>
          <a:lstStyle/>
          <a:p>
            <a:r>
              <a:rPr lang="en-US" sz="3600" b="1" i="0" u="none" strike="noStrike" baseline="0" dirty="0"/>
              <a:t>Reuse-oriented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A new version of the system can be created after the maintenance activities are implemented on some of the old system’s components.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03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Autofit/>
          </a:bodyPr>
          <a:lstStyle/>
          <a:p>
            <a:r>
              <a:rPr lang="en-US" sz="3600" b="1" i="0" u="none" strike="noStrike" baseline="0" dirty="0"/>
              <a:t>Reuse-oriented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</a:rPr>
              <a:t>T</a:t>
            </a:r>
            <a:r>
              <a:rPr lang="en-US" sz="2400" i="0" u="none" strike="noStrike" baseline="0" dirty="0">
                <a:solidFill>
                  <a:srgbClr val="FF0000"/>
                </a:solidFill>
              </a:rPr>
              <a:t>hree process models for maintenance</a:t>
            </a:r>
          </a:p>
          <a:p>
            <a:pPr marL="0" indent="0" algn="l">
              <a:buNone/>
            </a:pPr>
            <a:r>
              <a:rPr lang="en-US" sz="2400" i="1" u="none" strike="noStrike" baseline="0" dirty="0"/>
              <a:t>1) Quick fix model</a:t>
            </a:r>
            <a:r>
              <a:rPr lang="en-US" sz="2400" b="0" i="1" u="none" strike="noStrike" baseline="0" dirty="0"/>
              <a:t>. </a:t>
            </a:r>
            <a:r>
              <a:rPr lang="en-US" sz="2400" b="0" i="0" u="none" strike="noStrike" baseline="0" dirty="0"/>
              <a:t>In this model, necessary changes are quickly made to the code and then to the accompanying documentation</a:t>
            </a:r>
          </a:p>
          <a:p>
            <a:pPr marL="0" indent="0" algn="l">
              <a:buNone/>
            </a:pP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57992C-F422-43DF-B334-A8B606C00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357437"/>
            <a:ext cx="7379208" cy="391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00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Autofit/>
          </a:bodyPr>
          <a:lstStyle/>
          <a:p>
            <a:r>
              <a:rPr lang="en-US" sz="3600" b="1" i="0" u="none" strike="noStrike" baseline="0" dirty="0"/>
              <a:t>Reuse-oriented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</a:t>
            </a:r>
            <a:r>
              <a:rPr lang="en-US" sz="2400" i="0" u="none" strike="noStrike" baseline="0" dirty="0"/>
              <a:t>hree process models for maintenance</a:t>
            </a:r>
            <a:endParaRPr lang="en-US" sz="2400" b="0" i="1" u="none" strike="noStrike" baseline="0" dirty="0"/>
          </a:p>
          <a:p>
            <a:pPr marL="0" indent="0" algn="l">
              <a:buNone/>
            </a:pPr>
            <a:r>
              <a:rPr lang="en-US" sz="2400" i="1" dirty="0"/>
              <a:t>2) </a:t>
            </a:r>
            <a:r>
              <a:rPr lang="en-US" sz="2400" i="1" u="none" strike="noStrike" baseline="0" dirty="0"/>
              <a:t>Iterative enhancement model. </a:t>
            </a:r>
            <a:r>
              <a:rPr lang="en-US" sz="2400" b="0" i="0" u="none" strike="noStrike" baseline="0" dirty="0"/>
              <a:t>In this model, first changes are made to the highest-level documents.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/>
              <a:t>Eventually, changes are propagated down to the code level.</a:t>
            </a:r>
            <a:endParaRPr lang="en-US" sz="5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69FF2A-9100-4D25-A7CC-14A01A33C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586" y="2918958"/>
            <a:ext cx="5815614" cy="380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67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Autofit/>
          </a:bodyPr>
          <a:lstStyle/>
          <a:p>
            <a:r>
              <a:rPr lang="en-US" sz="3600" b="1" i="0" u="none" strike="noStrike" baseline="0" dirty="0"/>
              <a:t>Reuse-oriented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US" i="0" u="none" strike="noStrike" baseline="0" dirty="0"/>
              <a:t>hree process models for maintenance</a:t>
            </a:r>
            <a:endParaRPr lang="en-US" b="0" i="1" u="none" strike="noStrike" baseline="0" dirty="0"/>
          </a:p>
          <a:p>
            <a:pPr marL="0" indent="0" algn="l">
              <a:buNone/>
            </a:pPr>
            <a:r>
              <a:rPr lang="en-US" b="0" i="0" u="none" strike="noStrike" baseline="0" dirty="0"/>
              <a:t>3) </a:t>
            </a:r>
            <a:r>
              <a:rPr lang="en-US" i="1" u="none" strike="noStrike" baseline="0" dirty="0"/>
              <a:t>Full reuse model</a:t>
            </a:r>
            <a:r>
              <a:rPr lang="en-US" b="0" i="1" u="none" strike="noStrike" baseline="0" dirty="0"/>
              <a:t>. </a:t>
            </a:r>
            <a:r>
              <a:rPr lang="en-US" b="0" i="0" u="none" strike="noStrike" baseline="0" dirty="0"/>
              <a:t>In this model, a new system is built from components of the old system and others available in the repository.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573706-3E50-4623-B6FC-F017A18B6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345" y="3114306"/>
            <a:ext cx="5953310" cy="324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1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Autofit/>
          </a:bodyPr>
          <a:lstStyle/>
          <a:p>
            <a:r>
              <a:rPr lang="en-US" sz="3600" b="1" i="0" u="none" strike="noStrike" baseline="0" dirty="0"/>
              <a:t>The Staged Model For Closed Source Software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3200" i="0" u="none" strike="noStrike" baseline="0" dirty="0"/>
              <a:t>comprises a sequence of five stages:</a:t>
            </a:r>
          </a:p>
          <a:p>
            <a:pPr marL="0" indent="0" algn="l">
              <a:buNone/>
            </a:pPr>
            <a:r>
              <a:rPr lang="en-US" i="1" dirty="0"/>
              <a:t>1) Initial development. </a:t>
            </a:r>
            <a:r>
              <a:rPr lang="en-US" b="0" i="0" u="none" strike="noStrike" baseline="0" dirty="0"/>
              <a:t>Develop 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first functioning version </a:t>
            </a:r>
            <a:r>
              <a:rPr lang="en-US" b="0" i="0" u="none" strike="noStrike" baseline="0" dirty="0"/>
              <a:t>of the software.</a:t>
            </a:r>
          </a:p>
          <a:p>
            <a:pPr marL="0" indent="0" algn="l">
              <a:buNone/>
            </a:pPr>
            <a:r>
              <a:rPr lang="en-US" i="1" dirty="0"/>
              <a:t>2) Evolution</a:t>
            </a:r>
            <a:r>
              <a:rPr lang="en-US" i="1" u="none" strike="noStrike" baseline="0" dirty="0"/>
              <a:t>. </a:t>
            </a:r>
            <a:r>
              <a:rPr lang="en-US" b="0" i="0" u="none" strike="noStrike" baseline="0" dirty="0"/>
              <a:t>The developers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improve </a:t>
            </a:r>
            <a:r>
              <a:rPr lang="en-US" b="0" i="0" u="none" strike="noStrike" baseline="0" dirty="0"/>
              <a:t>the functionalities and capabilities of the software to meet the needs and expectations of the customer.</a:t>
            </a:r>
          </a:p>
          <a:p>
            <a:pPr marL="0" indent="0" algn="l">
              <a:buNone/>
            </a:pPr>
            <a:r>
              <a:rPr lang="en-US" i="1" dirty="0"/>
              <a:t>3) Servicing</a:t>
            </a:r>
            <a:r>
              <a:rPr lang="en-US" b="0" i="1" u="none" strike="noStrike" baseline="0" dirty="0"/>
              <a:t>. </a:t>
            </a:r>
            <a:r>
              <a:rPr lang="en-US" b="0" i="0" u="none" strike="noStrike" baseline="0" dirty="0"/>
              <a:t>The developers only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fix minor and emergency defects</a:t>
            </a:r>
            <a:r>
              <a:rPr lang="en-US" b="0" i="0" u="none" strike="noStrike" baseline="0" dirty="0"/>
              <a:t>, and no major functionality is included.</a:t>
            </a:r>
          </a:p>
          <a:p>
            <a:pPr marL="0" indent="0" algn="l">
              <a:buNone/>
            </a:pPr>
            <a:endParaRPr lang="en-US" sz="36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9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Autofit/>
          </a:bodyPr>
          <a:lstStyle/>
          <a:p>
            <a:r>
              <a:rPr lang="en-US" sz="3600" b="1" i="0" u="none" strike="noStrike" baseline="0" dirty="0"/>
              <a:t>The Staged Model For Closed Source Software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0" u="none" strike="noStrike" baseline="0" dirty="0"/>
              <a:t>comprises a sequence of five stages:</a:t>
            </a:r>
          </a:p>
          <a:p>
            <a:pPr marL="0" indent="0" algn="l">
              <a:buNone/>
            </a:pPr>
            <a:r>
              <a:rPr lang="en-US" dirty="0"/>
              <a:t>4) </a:t>
            </a:r>
            <a:r>
              <a:rPr lang="en-US" i="1" u="none" strike="noStrike" baseline="0" dirty="0"/>
              <a:t>Phaseout</a:t>
            </a:r>
            <a:r>
              <a:rPr lang="en-US" b="0" i="1" u="none" strike="noStrike" baseline="0" dirty="0"/>
              <a:t>. </a:t>
            </a:r>
            <a:r>
              <a:rPr lang="en-US" b="0" i="0" u="none" strike="noStrike" baseline="0" dirty="0"/>
              <a:t>During this stage, the supplier may decide to not perform any more servicing.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/>
              <a:t>The software may still be in use, but because change requests (CRs) are no longer honored, it is becoming increasingly outdated.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/>
              <a:t>The users must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work around the known deficiencies</a:t>
            </a:r>
            <a:r>
              <a:rPr lang="en-US" b="0" i="0" u="none" strike="noStrike" baseline="0" dirty="0"/>
              <a:t> of the system more often.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/>
              <a:t>Going back to an earlier servicing stage becomes very difficult because of the increasingly large number of CRs.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/>
              <a:t>Eventually, the software system becomes a </a:t>
            </a:r>
            <a:r>
              <a:rPr lang="en-US" b="0" i="1" u="none" strike="noStrike" baseline="0" dirty="0">
                <a:solidFill>
                  <a:srgbClr val="FF0000"/>
                </a:solidFill>
              </a:rPr>
              <a:t>legacy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system </a:t>
            </a:r>
            <a:r>
              <a:rPr lang="en-US" b="0" i="0" u="none" strike="noStrike" baseline="0" dirty="0"/>
              <a:t>application.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23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Autofit/>
          </a:bodyPr>
          <a:lstStyle/>
          <a:p>
            <a:r>
              <a:rPr lang="en-US" sz="3600" b="1" i="0" u="none" strike="noStrike" baseline="0" dirty="0"/>
              <a:t>The Staged Model For Closed Source Software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69420"/>
            <a:ext cx="11105225" cy="5218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/>
              <a:t>5) </a:t>
            </a:r>
            <a:r>
              <a:rPr lang="en-US" i="1" u="none" strike="noStrike" baseline="0" dirty="0"/>
              <a:t>Closedown. </a:t>
            </a:r>
            <a:r>
              <a:rPr lang="en-US" b="0" i="0" u="none" strike="noStrike" baseline="0" dirty="0"/>
              <a:t>The software is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withdrawn from the market</a:t>
            </a:r>
            <a:r>
              <a:rPr lang="en-US" b="0" i="0" u="none" strike="noStrike" baseline="0" dirty="0"/>
              <a:t>, and customers are directed to migrate to a replacement.</a:t>
            </a:r>
          </a:p>
          <a:p>
            <a:pPr marL="0" indent="0">
              <a:buNone/>
            </a:pPr>
            <a:endParaRPr lang="en-US" sz="2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58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6731</TotalTime>
  <Words>558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Wingdings</vt:lpstr>
      <vt:lpstr>Office Theme</vt:lpstr>
      <vt:lpstr>Software Re-Engineering</vt:lpstr>
      <vt:lpstr>Lecture 5: Content</vt:lpstr>
      <vt:lpstr>Software Maintenance Life Cycle (SMLC)</vt:lpstr>
      <vt:lpstr>Software Maintenance Life Cycle (SMLC)</vt:lpstr>
      <vt:lpstr>Reuse-oriented Model</vt:lpstr>
      <vt:lpstr>Reuse-oriented Model</vt:lpstr>
      <vt:lpstr>Reuse-oriented Model</vt:lpstr>
      <vt:lpstr>Reuse-oriented Model</vt:lpstr>
      <vt:lpstr>Reuse-oriented Model</vt:lpstr>
      <vt:lpstr>The Staged Model For Closed Source Software</vt:lpstr>
      <vt:lpstr>The Staged Model For Closed Source Software</vt:lpstr>
      <vt:lpstr>The Staged Model For Closed Source Software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Waqar ul Hassan</dc:creator>
  <cp:lastModifiedBy>zakiya suman</cp:lastModifiedBy>
  <cp:revision>490</cp:revision>
  <dcterms:created xsi:type="dcterms:W3CDTF">2020-10-13T09:21:17Z</dcterms:created>
  <dcterms:modified xsi:type="dcterms:W3CDTF">2025-02-26T10:28:56Z</dcterms:modified>
</cp:coreProperties>
</file>