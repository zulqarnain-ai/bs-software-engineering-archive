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 id="2147483810" r:id="rId2"/>
  </p:sldMasterIdLst>
  <p:notesMasterIdLst>
    <p:notesMasterId r:id="rId55"/>
  </p:notesMasterIdLst>
  <p:sldIdLst>
    <p:sldId id="368" r:id="rId3"/>
    <p:sldId id="509" r:id="rId4"/>
    <p:sldId id="590" r:id="rId5"/>
    <p:sldId id="592" r:id="rId6"/>
    <p:sldId id="510" r:id="rId7"/>
    <p:sldId id="585" r:id="rId8"/>
    <p:sldId id="589" r:id="rId9"/>
    <p:sldId id="511" r:id="rId10"/>
    <p:sldId id="579" r:id="rId11"/>
    <p:sldId id="540" r:id="rId12"/>
    <p:sldId id="541" r:id="rId13"/>
    <p:sldId id="542" r:id="rId14"/>
    <p:sldId id="543" r:id="rId15"/>
    <p:sldId id="544" r:id="rId16"/>
    <p:sldId id="545" r:id="rId17"/>
    <p:sldId id="546" r:id="rId18"/>
    <p:sldId id="547" r:id="rId19"/>
    <p:sldId id="591" r:id="rId20"/>
    <p:sldId id="586" r:id="rId21"/>
    <p:sldId id="548" r:id="rId22"/>
    <p:sldId id="580" r:id="rId23"/>
    <p:sldId id="549" r:id="rId24"/>
    <p:sldId id="557" r:id="rId25"/>
    <p:sldId id="558" r:id="rId26"/>
    <p:sldId id="559" r:id="rId27"/>
    <p:sldId id="560" r:id="rId28"/>
    <p:sldId id="561" r:id="rId29"/>
    <p:sldId id="562" r:id="rId30"/>
    <p:sldId id="563" r:id="rId31"/>
    <p:sldId id="564" r:id="rId32"/>
    <p:sldId id="565" r:id="rId33"/>
    <p:sldId id="587" r:id="rId34"/>
    <p:sldId id="588" r:id="rId35"/>
    <p:sldId id="566" r:id="rId36"/>
    <p:sldId id="581" r:id="rId37"/>
    <p:sldId id="567" r:id="rId38"/>
    <p:sldId id="568" r:id="rId39"/>
    <p:sldId id="569" r:id="rId40"/>
    <p:sldId id="570" r:id="rId41"/>
    <p:sldId id="571" r:id="rId42"/>
    <p:sldId id="572" r:id="rId43"/>
    <p:sldId id="573" r:id="rId44"/>
    <p:sldId id="574" r:id="rId45"/>
    <p:sldId id="576" r:id="rId46"/>
    <p:sldId id="577" r:id="rId47"/>
    <p:sldId id="578" r:id="rId48"/>
    <p:sldId id="582" r:id="rId49"/>
    <p:sldId id="583" r:id="rId50"/>
    <p:sldId id="594" r:id="rId51"/>
    <p:sldId id="584" r:id="rId52"/>
    <p:sldId id="595" r:id="rId53"/>
    <p:sldId id="410" r:id="rId5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291" autoAdjust="0"/>
  </p:normalViewPr>
  <p:slideViewPr>
    <p:cSldViewPr snapToGrid="0">
      <p:cViewPr>
        <p:scale>
          <a:sx n="71" d="100"/>
          <a:sy n="71" d="100"/>
        </p:scale>
        <p:origin x="-1160" y="124"/>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notesMaster" Target="notesMasters/notesMaster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slide" Target="slides/slide39.xml"/><Relationship Id="rId54" Type="http://schemas.openxmlformats.org/officeDocument/2006/relationships/slide" Target="slides/slide52.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presProps" Target="presProps.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F9194E4-79C8-41B0-9AF4-53058728BAB5}" type="datetimeFigureOut">
              <a:rPr lang="en-US" smtClean="0"/>
              <a:t>3/25/2025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ABFD4BB-E70E-4D5C-83E2-D95045F6F69E}" type="slidenum">
              <a:rPr lang="en-US" smtClean="0"/>
              <a:t>‹#›</a:t>
            </a:fld>
            <a:endParaRPr lang="en-US"/>
          </a:p>
        </p:txBody>
      </p:sp>
    </p:spTree>
    <p:extLst>
      <p:ext uri="{BB962C8B-B14F-4D97-AF65-F5344CB8AC3E}">
        <p14:creationId xmlns:p14="http://schemas.microsoft.com/office/powerpoint/2010/main" val="18591674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371600"/>
            <a:ext cx="7848600" cy="1927225"/>
          </a:xfrm>
        </p:spPr>
        <p:txBody>
          <a:bodyPr anchor="b">
            <a:noAutofit/>
          </a:bodyPr>
          <a:lstStyle>
            <a:lvl1pPr>
              <a:defRPr sz="5400" cap="all" baseline="0"/>
            </a:lvl1pPr>
          </a:lstStyle>
          <a:p>
            <a:r>
              <a:rPr lang="en-US"/>
              <a:t>Click to edit Master title style</a:t>
            </a:r>
            <a:endParaRPr lang="en-US" dirty="0"/>
          </a:p>
        </p:txBody>
      </p:sp>
      <p:sp>
        <p:nvSpPr>
          <p:cNvPr id="3" name="Subtitle 2"/>
          <p:cNvSpPr>
            <a:spLocks noGrp="1"/>
          </p:cNvSpPr>
          <p:nvPr>
            <p:ph type="subTitle" idx="1"/>
          </p:nvPr>
        </p:nvSpPr>
        <p:spPr>
          <a:xfrm>
            <a:off x="685800" y="3505200"/>
            <a:ext cx="6400800" cy="1752600"/>
          </a:xfrm>
        </p:spPr>
        <p:txBody>
          <a:bodyPr/>
          <a:lstStyle>
            <a:lvl1pPr marL="0" indent="0" algn="l">
              <a:buNone/>
              <a:defRPr>
                <a:solidFill>
                  <a:schemeClr val="tx1">
                    <a:lumMod val="75000"/>
                    <a:lumOff val="2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E69D63FB-4DD9-4903-83FE-F80270576417}" type="datetime1">
              <a:rPr lang="en-US" smtClean="0"/>
              <a:pPr/>
              <a:t>3/25/2025</a:t>
            </a:fld>
            <a:endParaRPr lang="en-US"/>
          </a:p>
        </p:txBody>
      </p:sp>
      <p:sp>
        <p:nvSpPr>
          <p:cNvPr id="5" name="Footer Placeholder 4"/>
          <p:cNvSpPr>
            <a:spLocks noGrp="1"/>
          </p:cNvSpPr>
          <p:nvPr>
            <p:ph type="ftr" sz="quarter" idx="11"/>
          </p:nvPr>
        </p:nvSpPr>
        <p:spPr/>
        <p:txBody>
          <a:bodyPr/>
          <a:lstStyle/>
          <a:p>
            <a:r>
              <a:rPr lang="en-US"/>
              <a:t>CSC102 Discrete Structures</a:t>
            </a:r>
          </a:p>
        </p:txBody>
      </p:sp>
      <p:sp>
        <p:nvSpPr>
          <p:cNvPr id="6" name="Slide Number Placeholder 5"/>
          <p:cNvSpPr>
            <a:spLocks noGrp="1"/>
          </p:cNvSpPr>
          <p:nvPr>
            <p:ph type="sldNum" sz="quarter" idx="12"/>
          </p:nvPr>
        </p:nvSpPr>
        <p:spPr/>
        <p:txBody>
          <a:bodyPr/>
          <a:lstStyle/>
          <a:p>
            <a:fld id="{8ACE3F9D-533B-438E-AA49-48601E6C708E}" type="slidenum">
              <a:rPr lang="en-US" smtClean="0"/>
              <a:pPr/>
              <a:t>‹#›</a:t>
            </a:fld>
            <a:endParaRPr lang="en-US"/>
          </a:p>
        </p:txBody>
      </p:sp>
      <p:cxnSp>
        <p:nvCxnSpPr>
          <p:cNvPr id="8" name="Straight Connector 7"/>
          <p:cNvCxnSpPr/>
          <p:nvPr/>
        </p:nvCxnSpPr>
        <p:spPr>
          <a:xfrm>
            <a:off x="685800" y="3398520"/>
            <a:ext cx="784860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919800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A7DFA81-FF35-40E2-AA6F-C4E4697E2C73}" type="datetime1">
              <a:rPr lang="en-US" smtClean="0"/>
              <a:pPr/>
              <a:t>3/25/2025</a:t>
            </a:fld>
            <a:endParaRPr lang="en-US"/>
          </a:p>
        </p:txBody>
      </p:sp>
      <p:sp>
        <p:nvSpPr>
          <p:cNvPr id="5" name="Footer Placeholder 4"/>
          <p:cNvSpPr>
            <a:spLocks noGrp="1"/>
          </p:cNvSpPr>
          <p:nvPr>
            <p:ph type="ftr" sz="quarter" idx="11"/>
          </p:nvPr>
        </p:nvSpPr>
        <p:spPr/>
        <p:txBody>
          <a:bodyPr/>
          <a:lstStyle/>
          <a:p>
            <a:r>
              <a:rPr lang="en-US"/>
              <a:t>CSC102 Discrete Structures</a:t>
            </a:r>
          </a:p>
        </p:txBody>
      </p:sp>
      <p:sp>
        <p:nvSpPr>
          <p:cNvPr id="6" name="Slide Number Placeholder 5"/>
          <p:cNvSpPr>
            <a:spLocks noGrp="1"/>
          </p:cNvSpPr>
          <p:nvPr>
            <p:ph type="sldNum" sz="quarter" idx="12"/>
          </p:nvPr>
        </p:nvSpPr>
        <p:spPr/>
        <p:txBody>
          <a:bodyPr/>
          <a:lstStyle/>
          <a:p>
            <a:fld id="{8ACE3F9D-533B-438E-AA49-48601E6C708E}" type="slidenum">
              <a:rPr lang="en-US" smtClean="0"/>
              <a:pPr/>
              <a:t>‹#›</a:t>
            </a:fld>
            <a:endParaRPr lang="en-US"/>
          </a:p>
        </p:txBody>
      </p:sp>
    </p:spTree>
    <p:extLst>
      <p:ext uri="{BB962C8B-B14F-4D97-AF65-F5344CB8AC3E}">
        <p14:creationId xmlns:p14="http://schemas.microsoft.com/office/powerpoint/2010/main" val="22145027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22313" y="2362200"/>
            <a:ext cx="7772400" cy="2200275"/>
          </a:xfrm>
        </p:spPr>
        <p:txBody>
          <a:bodyPr anchor="b">
            <a:normAutofit/>
          </a:bodyPr>
          <a:lstStyle>
            <a:lvl1pPr algn="l">
              <a:defRPr sz="4800" b="0" cap="all"/>
            </a:lvl1pPr>
          </a:lstStyle>
          <a:p>
            <a:r>
              <a:rPr lang="en-US"/>
              <a:t>Click to edit Master title style</a:t>
            </a:r>
            <a:endParaRPr lang="en-US" dirty="0"/>
          </a:p>
        </p:txBody>
      </p:sp>
      <p:sp>
        <p:nvSpPr>
          <p:cNvPr id="3" name="Text Placeholder 2"/>
          <p:cNvSpPr>
            <a:spLocks noGrp="1"/>
          </p:cNvSpPr>
          <p:nvPr>
            <p:ph type="body" idx="1"/>
          </p:nvPr>
        </p:nvSpPr>
        <p:spPr>
          <a:xfrm>
            <a:off x="722313" y="4626864"/>
            <a:ext cx="7772400" cy="1500187"/>
          </a:xfrm>
        </p:spPr>
        <p:txBody>
          <a:bodyPr anchor="t">
            <a:normAutofit/>
          </a:bodyPr>
          <a:lstStyle>
            <a:lvl1pPr marL="0" indent="0">
              <a:buNone/>
              <a:defRPr sz="24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D708B4E-9E6D-47DB-A8C9-443A66B04FA1}" type="datetime1">
              <a:rPr lang="en-US" smtClean="0"/>
              <a:pPr/>
              <a:t>3/25/2025</a:t>
            </a:fld>
            <a:endParaRPr lang="en-US"/>
          </a:p>
        </p:txBody>
      </p:sp>
      <p:sp>
        <p:nvSpPr>
          <p:cNvPr id="5" name="Footer Placeholder 4"/>
          <p:cNvSpPr>
            <a:spLocks noGrp="1"/>
          </p:cNvSpPr>
          <p:nvPr>
            <p:ph type="ftr" sz="quarter" idx="11"/>
          </p:nvPr>
        </p:nvSpPr>
        <p:spPr/>
        <p:txBody>
          <a:bodyPr/>
          <a:lstStyle/>
          <a:p>
            <a:r>
              <a:rPr lang="en-US"/>
              <a:t>CSC102 Discrete Structures</a:t>
            </a:r>
          </a:p>
        </p:txBody>
      </p:sp>
      <p:sp>
        <p:nvSpPr>
          <p:cNvPr id="6" name="Slide Number Placeholder 5"/>
          <p:cNvSpPr>
            <a:spLocks noGrp="1"/>
          </p:cNvSpPr>
          <p:nvPr>
            <p:ph type="sldNum" sz="quarter" idx="12"/>
          </p:nvPr>
        </p:nvSpPr>
        <p:spPr/>
        <p:txBody>
          <a:bodyPr/>
          <a:lstStyle/>
          <a:p>
            <a:fld id="{8ACE3F9D-533B-438E-AA49-48601E6C708E}" type="slidenum">
              <a:rPr lang="en-US" smtClean="0"/>
              <a:pPr/>
              <a:t>‹#›</a:t>
            </a:fld>
            <a:endParaRPr lang="en-US"/>
          </a:p>
        </p:txBody>
      </p:sp>
      <p:cxnSp>
        <p:nvCxnSpPr>
          <p:cNvPr id="7" name="Straight Connector 6"/>
          <p:cNvCxnSpPr/>
          <p:nvPr/>
        </p:nvCxnSpPr>
        <p:spPr>
          <a:xfrm>
            <a:off x="731520" y="4599432"/>
            <a:ext cx="784860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01942696"/>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73352"/>
            <a:ext cx="4038600" cy="471830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48200" y="1673352"/>
            <a:ext cx="4038600" cy="471830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46AD187-3CAF-4EEB-B511-D277A7E40C82}" type="datetime1">
              <a:rPr lang="en-US" smtClean="0"/>
              <a:pPr/>
              <a:t>3/25/2025</a:t>
            </a:fld>
            <a:endParaRPr lang="en-US"/>
          </a:p>
        </p:txBody>
      </p:sp>
      <p:sp>
        <p:nvSpPr>
          <p:cNvPr id="6" name="Footer Placeholder 5"/>
          <p:cNvSpPr>
            <a:spLocks noGrp="1"/>
          </p:cNvSpPr>
          <p:nvPr>
            <p:ph type="ftr" sz="quarter" idx="11"/>
          </p:nvPr>
        </p:nvSpPr>
        <p:spPr/>
        <p:txBody>
          <a:bodyPr/>
          <a:lstStyle/>
          <a:p>
            <a:r>
              <a:rPr lang="en-US"/>
              <a:t>CSC102 Discrete Structures</a:t>
            </a:r>
          </a:p>
        </p:txBody>
      </p:sp>
      <p:sp>
        <p:nvSpPr>
          <p:cNvPr id="7" name="Slide Number Placeholder 6"/>
          <p:cNvSpPr>
            <a:spLocks noGrp="1"/>
          </p:cNvSpPr>
          <p:nvPr>
            <p:ph type="sldNum" sz="quarter" idx="12"/>
          </p:nvPr>
        </p:nvSpPr>
        <p:spPr/>
        <p:txBody>
          <a:bodyPr/>
          <a:lstStyle/>
          <a:p>
            <a:fld id="{8ACE3F9D-533B-438E-AA49-48601E6C708E}" type="slidenum">
              <a:rPr lang="en-US" smtClean="0"/>
              <a:pPr/>
              <a:t>‹#›</a:t>
            </a:fld>
            <a:endParaRPr lang="en-US"/>
          </a:p>
        </p:txBody>
      </p:sp>
    </p:spTree>
    <p:extLst>
      <p:ext uri="{BB962C8B-B14F-4D97-AF65-F5344CB8AC3E}">
        <p14:creationId xmlns:p14="http://schemas.microsoft.com/office/powerpoint/2010/main" val="27596629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457200" y="1676400"/>
            <a:ext cx="3931920" cy="639762"/>
          </a:xfrm>
          <a:noFill/>
          <a:ln>
            <a:noFill/>
          </a:ln>
          <a:effectLst/>
        </p:spPr>
        <p:style>
          <a:lnRef idx="3">
            <a:schemeClr val="lt1"/>
          </a:lnRef>
          <a:fillRef idx="1">
            <a:schemeClr val="accent2"/>
          </a:fillRef>
          <a:effectRef idx="1">
            <a:schemeClr val="accent2"/>
          </a:effectRef>
          <a:fontRef idx="none"/>
        </p:style>
        <p:txBody>
          <a:bodyPr anchor="ctr">
            <a:normAutofit/>
          </a:bodyPr>
          <a:lstStyle>
            <a:lvl1pPr marL="0" indent="0" algn="ctr">
              <a:buNone/>
              <a:defRPr sz="20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438400"/>
            <a:ext cx="393192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754880" y="1676400"/>
            <a:ext cx="3931920" cy="639762"/>
          </a:xfrm>
          <a:noFill/>
          <a:ln>
            <a:noFill/>
          </a:ln>
          <a:effectLst/>
        </p:spPr>
        <p:style>
          <a:lnRef idx="3">
            <a:schemeClr val="lt1"/>
          </a:lnRef>
          <a:fillRef idx="1">
            <a:schemeClr val="accent2"/>
          </a:fillRef>
          <a:effectRef idx="1">
            <a:schemeClr val="accent2"/>
          </a:effectRef>
          <a:fontRef idx="none"/>
        </p:style>
        <p:txBody>
          <a:bodyPr anchor="ctr">
            <a:normAutofit/>
          </a:bodyPr>
          <a:lstStyle>
            <a:lvl1pPr marL="0" indent="0" algn="ctr">
              <a:buNone/>
              <a:defRPr lang="en-US" sz="2000" b="0" kern="1200" dirty="0" smtClean="0">
                <a:solidFill>
                  <a:schemeClr val="tx2"/>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754880" y="2438400"/>
            <a:ext cx="393192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9DFEB82-3297-42CA-9AC7-D3ECF198E013}" type="datetime1">
              <a:rPr lang="en-US" smtClean="0"/>
              <a:pPr/>
              <a:t>3/25/2025</a:t>
            </a:fld>
            <a:endParaRPr lang="en-US"/>
          </a:p>
        </p:txBody>
      </p:sp>
      <p:sp>
        <p:nvSpPr>
          <p:cNvPr id="8" name="Footer Placeholder 7"/>
          <p:cNvSpPr>
            <a:spLocks noGrp="1"/>
          </p:cNvSpPr>
          <p:nvPr>
            <p:ph type="ftr" sz="quarter" idx="11"/>
          </p:nvPr>
        </p:nvSpPr>
        <p:spPr/>
        <p:txBody>
          <a:bodyPr/>
          <a:lstStyle/>
          <a:p>
            <a:r>
              <a:rPr lang="en-US"/>
              <a:t>CSC102 Discrete Structures</a:t>
            </a:r>
          </a:p>
        </p:txBody>
      </p:sp>
      <p:sp>
        <p:nvSpPr>
          <p:cNvPr id="9" name="Slide Number Placeholder 8"/>
          <p:cNvSpPr>
            <a:spLocks noGrp="1"/>
          </p:cNvSpPr>
          <p:nvPr>
            <p:ph type="sldNum" sz="quarter" idx="12"/>
          </p:nvPr>
        </p:nvSpPr>
        <p:spPr/>
        <p:txBody>
          <a:bodyPr/>
          <a:lstStyle/>
          <a:p>
            <a:fld id="{8ACE3F9D-533B-438E-AA49-48601E6C708E}" type="slidenum">
              <a:rPr lang="en-US" smtClean="0"/>
              <a:pPr/>
              <a:t>‹#›</a:t>
            </a:fld>
            <a:endParaRPr lang="en-US"/>
          </a:p>
        </p:txBody>
      </p:sp>
      <p:cxnSp>
        <p:nvCxnSpPr>
          <p:cNvPr id="11" name="Straight Connector 10"/>
          <p:cNvCxnSpPr/>
          <p:nvPr/>
        </p:nvCxnSpPr>
        <p:spPr>
          <a:xfrm rot="5400000">
            <a:off x="2217817" y="4045823"/>
            <a:ext cx="4709160" cy="794"/>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092860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8348733-E273-4EF3-8143-57B6AA49A592}" type="datetime1">
              <a:rPr lang="en-US" smtClean="0"/>
              <a:pPr/>
              <a:t>3/25/2025</a:t>
            </a:fld>
            <a:endParaRPr lang="en-US"/>
          </a:p>
        </p:txBody>
      </p:sp>
      <p:sp>
        <p:nvSpPr>
          <p:cNvPr id="4" name="Footer Placeholder 3"/>
          <p:cNvSpPr>
            <a:spLocks noGrp="1"/>
          </p:cNvSpPr>
          <p:nvPr>
            <p:ph type="ftr" sz="quarter" idx="11"/>
          </p:nvPr>
        </p:nvSpPr>
        <p:spPr/>
        <p:txBody>
          <a:bodyPr/>
          <a:lstStyle/>
          <a:p>
            <a:r>
              <a:rPr lang="en-US"/>
              <a:t>CSC102 Discrete Structures</a:t>
            </a:r>
          </a:p>
        </p:txBody>
      </p:sp>
      <p:sp>
        <p:nvSpPr>
          <p:cNvPr id="5" name="Slide Number Placeholder 4"/>
          <p:cNvSpPr>
            <a:spLocks noGrp="1"/>
          </p:cNvSpPr>
          <p:nvPr>
            <p:ph type="sldNum" sz="quarter" idx="12"/>
          </p:nvPr>
        </p:nvSpPr>
        <p:spPr/>
        <p:txBody>
          <a:bodyPr/>
          <a:lstStyle/>
          <a:p>
            <a:fld id="{8ACE3F9D-533B-438E-AA49-48601E6C708E}" type="slidenum">
              <a:rPr lang="en-US" smtClean="0"/>
              <a:pPr/>
              <a:t>‹#›</a:t>
            </a:fld>
            <a:endParaRPr lang="en-US"/>
          </a:p>
        </p:txBody>
      </p:sp>
    </p:spTree>
    <p:extLst>
      <p:ext uri="{BB962C8B-B14F-4D97-AF65-F5344CB8AC3E}">
        <p14:creationId xmlns:p14="http://schemas.microsoft.com/office/powerpoint/2010/main" val="28449931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7616BD8-1159-4CEE-BF69-08E8DE6F04D4}" type="datetime1">
              <a:rPr lang="en-US" smtClean="0"/>
              <a:pPr/>
              <a:t>3/25/2025</a:t>
            </a:fld>
            <a:endParaRPr lang="en-US"/>
          </a:p>
        </p:txBody>
      </p:sp>
      <p:sp>
        <p:nvSpPr>
          <p:cNvPr id="3" name="Footer Placeholder 2"/>
          <p:cNvSpPr>
            <a:spLocks noGrp="1"/>
          </p:cNvSpPr>
          <p:nvPr>
            <p:ph type="ftr" sz="quarter" idx="11"/>
          </p:nvPr>
        </p:nvSpPr>
        <p:spPr/>
        <p:txBody>
          <a:bodyPr/>
          <a:lstStyle/>
          <a:p>
            <a:r>
              <a:rPr lang="en-US"/>
              <a:t>CSC102 Discrete Structures</a:t>
            </a:r>
          </a:p>
        </p:txBody>
      </p:sp>
      <p:sp>
        <p:nvSpPr>
          <p:cNvPr id="4" name="Slide Number Placeholder 3"/>
          <p:cNvSpPr>
            <a:spLocks noGrp="1"/>
          </p:cNvSpPr>
          <p:nvPr>
            <p:ph type="sldNum" sz="quarter" idx="12"/>
          </p:nvPr>
        </p:nvSpPr>
        <p:spPr/>
        <p:txBody>
          <a:bodyPr/>
          <a:lstStyle/>
          <a:p>
            <a:fld id="{8ACE3F9D-533B-438E-AA49-48601E6C708E}" type="slidenum">
              <a:rPr lang="en-US" smtClean="0"/>
              <a:pPr/>
              <a:t>‹#›</a:t>
            </a:fld>
            <a:endParaRPr lang="en-US"/>
          </a:p>
        </p:txBody>
      </p:sp>
    </p:spTree>
    <p:extLst>
      <p:ext uri="{BB962C8B-B14F-4D97-AF65-F5344CB8AC3E}">
        <p14:creationId xmlns:p14="http://schemas.microsoft.com/office/powerpoint/2010/main" val="4186558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792080"/>
            <a:ext cx="2139696" cy="1261872"/>
          </a:xfrm>
        </p:spPr>
        <p:txBody>
          <a:bodyPr anchor="b">
            <a:no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2971800" y="792080"/>
            <a:ext cx="5715000" cy="557784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1" y="2130552"/>
            <a:ext cx="2139696" cy="4243615"/>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355B0FE-4AC0-4D7B-83B1-A18CD9CB8AEE}" type="datetime1">
              <a:rPr lang="en-US" smtClean="0"/>
              <a:pPr/>
              <a:t>3/25/2025</a:t>
            </a:fld>
            <a:endParaRPr lang="en-US"/>
          </a:p>
        </p:txBody>
      </p:sp>
      <p:sp>
        <p:nvSpPr>
          <p:cNvPr id="6" name="Footer Placeholder 5"/>
          <p:cNvSpPr>
            <a:spLocks noGrp="1"/>
          </p:cNvSpPr>
          <p:nvPr>
            <p:ph type="ftr" sz="quarter" idx="11"/>
          </p:nvPr>
        </p:nvSpPr>
        <p:spPr/>
        <p:txBody>
          <a:bodyPr/>
          <a:lstStyle/>
          <a:p>
            <a:r>
              <a:rPr lang="en-US"/>
              <a:t>CSC102 Discrete Structures</a:t>
            </a:r>
          </a:p>
        </p:txBody>
      </p:sp>
      <p:sp>
        <p:nvSpPr>
          <p:cNvPr id="7" name="Slide Number Placeholder 6"/>
          <p:cNvSpPr>
            <a:spLocks noGrp="1"/>
          </p:cNvSpPr>
          <p:nvPr>
            <p:ph type="sldNum" sz="quarter" idx="12"/>
          </p:nvPr>
        </p:nvSpPr>
        <p:spPr/>
        <p:txBody>
          <a:bodyPr/>
          <a:lstStyle/>
          <a:p>
            <a:fld id="{8ACE3F9D-533B-438E-AA49-48601E6C708E}" type="slidenum">
              <a:rPr lang="en-US" smtClean="0"/>
              <a:pPr/>
              <a:t>‹#›</a:t>
            </a:fld>
            <a:endParaRPr lang="en-US"/>
          </a:p>
        </p:txBody>
      </p:sp>
      <p:cxnSp>
        <p:nvCxnSpPr>
          <p:cNvPr id="9" name="Straight Connector 8"/>
          <p:cNvCxnSpPr/>
          <p:nvPr/>
        </p:nvCxnSpPr>
        <p:spPr>
          <a:xfrm rot="5400000">
            <a:off x="-13116" y="3580206"/>
            <a:ext cx="557784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126147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792480"/>
            <a:ext cx="2142680" cy="1264920"/>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p:cNvSpPr>
          <p:nvPr>
            <p:ph type="pic" idx="1"/>
          </p:nvPr>
        </p:nvSpPr>
        <p:spPr>
          <a:xfrm>
            <a:off x="2858610" y="838201"/>
            <a:ext cx="5904390" cy="5500456"/>
          </a:xfrm>
          <a:solidFill>
            <a:schemeClr val="bg2"/>
          </a:solidFill>
          <a:ln w="76200">
            <a:solidFill>
              <a:srgbClr val="FFFFFF"/>
            </a:solidFill>
            <a:miter lim="800000"/>
          </a:ln>
          <a:effectLst>
            <a:outerShdw blurRad="50800" dist="12700" dir="5400000" algn="t" rotWithShape="0">
              <a:prstClr val="black">
                <a:alpha val="59000"/>
              </a:prstClr>
            </a:outerShdw>
          </a:effectLst>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457200" y="2133600"/>
            <a:ext cx="2139696" cy="424281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952F497-D16F-472A-8AB2-6923D245D09D}" type="datetime1">
              <a:rPr lang="en-US" smtClean="0"/>
              <a:pPr/>
              <a:t>3/25/2025</a:t>
            </a:fld>
            <a:endParaRPr lang="en-US"/>
          </a:p>
        </p:txBody>
      </p:sp>
      <p:sp>
        <p:nvSpPr>
          <p:cNvPr id="6" name="Footer Placeholder 5"/>
          <p:cNvSpPr>
            <a:spLocks noGrp="1"/>
          </p:cNvSpPr>
          <p:nvPr>
            <p:ph type="ftr" sz="quarter" idx="11"/>
          </p:nvPr>
        </p:nvSpPr>
        <p:spPr/>
        <p:txBody>
          <a:bodyPr/>
          <a:lstStyle/>
          <a:p>
            <a:r>
              <a:rPr lang="en-US"/>
              <a:t>CSC102 Discrete Structures</a:t>
            </a:r>
          </a:p>
        </p:txBody>
      </p:sp>
      <p:sp>
        <p:nvSpPr>
          <p:cNvPr id="7" name="Slide Number Placeholder 6"/>
          <p:cNvSpPr>
            <a:spLocks noGrp="1"/>
          </p:cNvSpPr>
          <p:nvPr>
            <p:ph type="sldNum" sz="quarter" idx="12"/>
          </p:nvPr>
        </p:nvSpPr>
        <p:spPr/>
        <p:txBody>
          <a:bodyPr/>
          <a:lstStyle/>
          <a:p>
            <a:fld id="{8ACE3F9D-533B-438E-AA49-48601E6C708E}" type="slidenum">
              <a:rPr lang="en-US" smtClean="0"/>
              <a:pPr/>
              <a:t>‹#›</a:t>
            </a:fld>
            <a:endParaRPr lang="en-US"/>
          </a:p>
        </p:txBody>
      </p:sp>
    </p:spTree>
    <p:extLst>
      <p:ext uri="{BB962C8B-B14F-4D97-AF65-F5344CB8AC3E}">
        <p14:creationId xmlns:p14="http://schemas.microsoft.com/office/powerpoint/2010/main" val="21538744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30E3EED-3DA2-4ED4-9C83-CEA1A9E43AAB}" type="datetime1">
              <a:rPr lang="en-US" smtClean="0"/>
              <a:pPr/>
              <a:t>3/25/2025</a:t>
            </a:fld>
            <a:endParaRPr lang="en-US"/>
          </a:p>
        </p:txBody>
      </p:sp>
      <p:sp>
        <p:nvSpPr>
          <p:cNvPr id="5" name="Footer Placeholder 4"/>
          <p:cNvSpPr>
            <a:spLocks noGrp="1"/>
          </p:cNvSpPr>
          <p:nvPr>
            <p:ph type="ftr" sz="quarter" idx="11"/>
          </p:nvPr>
        </p:nvSpPr>
        <p:spPr/>
        <p:txBody>
          <a:bodyPr/>
          <a:lstStyle/>
          <a:p>
            <a:r>
              <a:rPr lang="en-US"/>
              <a:t>CSC102 Discrete Structures</a:t>
            </a:r>
          </a:p>
        </p:txBody>
      </p:sp>
      <p:sp>
        <p:nvSpPr>
          <p:cNvPr id="6" name="Slide Number Placeholder 5"/>
          <p:cNvSpPr>
            <a:spLocks noGrp="1"/>
          </p:cNvSpPr>
          <p:nvPr>
            <p:ph type="sldNum" sz="quarter" idx="12"/>
          </p:nvPr>
        </p:nvSpPr>
        <p:spPr/>
        <p:txBody>
          <a:bodyPr/>
          <a:lstStyle/>
          <a:p>
            <a:fld id="{8ACE3F9D-533B-438E-AA49-48601E6C708E}" type="slidenum">
              <a:rPr lang="en-US" smtClean="0"/>
              <a:pPr/>
              <a:t>‹#›</a:t>
            </a:fld>
            <a:endParaRPr lang="en-US"/>
          </a:p>
        </p:txBody>
      </p:sp>
    </p:spTree>
    <p:extLst>
      <p:ext uri="{BB962C8B-B14F-4D97-AF65-F5344CB8AC3E}">
        <p14:creationId xmlns:p14="http://schemas.microsoft.com/office/powerpoint/2010/main" val="41371730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609600"/>
            <a:ext cx="2057400" cy="5867400"/>
          </a:xfrm>
        </p:spPr>
        <p:txBody>
          <a:bodyPr vert="eaVert" anchor="b"/>
          <a:lstStyle/>
          <a:p>
            <a:r>
              <a:rPr lang="en-US"/>
              <a:t>Click to edit Master title style</a:t>
            </a:r>
            <a:endParaRPr lang="en-US" dirty="0"/>
          </a:p>
        </p:txBody>
      </p:sp>
      <p:sp>
        <p:nvSpPr>
          <p:cNvPr id="3" name="Vertical Text Placeholder 2"/>
          <p:cNvSpPr>
            <a:spLocks noGrp="1"/>
          </p:cNvSpPr>
          <p:nvPr>
            <p:ph type="body" orient="vert" idx="1"/>
          </p:nvPr>
        </p:nvSpPr>
        <p:spPr>
          <a:xfrm>
            <a:off x="457200" y="609600"/>
            <a:ext cx="6019800" cy="5867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BE7ADCE-E054-4FA0-B715-AC4537BA8B51}" type="datetime1">
              <a:rPr lang="en-US" smtClean="0"/>
              <a:pPr/>
              <a:t>3/25/2025</a:t>
            </a:fld>
            <a:endParaRPr lang="en-US"/>
          </a:p>
        </p:txBody>
      </p:sp>
      <p:sp>
        <p:nvSpPr>
          <p:cNvPr id="5" name="Footer Placeholder 4"/>
          <p:cNvSpPr>
            <a:spLocks noGrp="1"/>
          </p:cNvSpPr>
          <p:nvPr>
            <p:ph type="ftr" sz="quarter" idx="11"/>
          </p:nvPr>
        </p:nvSpPr>
        <p:spPr/>
        <p:txBody>
          <a:bodyPr/>
          <a:lstStyle/>
          <a:p>
            <a:r>
              <a:rPr lang="en-US"/>
              <a:t>CSC102 Discrete Structures</a:t>
            </a:r>
          </a:p>
        </p:txBody>
      </p:sp>
      <p:sp>
        <p:nvSpPr>
          <p:cNvPr id="6" name="Slide Number Placeholder 5"/>
          <p:cNvSpPr>
            <a:spLocks noGrp="1"/>
          </p:cNvSpPr>
          <p:nvPr>
            <p:ph type="sldNum" sz="quarter" idx="12"/>
          </p:nvPr>
        </p:nvSpPr>
        <p:spPr/>
        <p:txBody>
          <a:bodyPr/>
          <a:lstStyle/>
          <a:p>
            <a:fld id="{8ACE3F9D-533B-438E-AA49-48601E6C708E}" type="slidenum">
              <a:rPr lang="en-US" smtClean="0"/>
              <a:pPr/>
              <a:t>‹#›</a:t>
            </a:fld>
            <a:endParaRPr lang="en-US"/>
          </a:p>
        </p:txBody>
      </p:sp>
    </p:spTree>
    <p:extLst>
      <p:ext uri="{BB962C8B-B14F-4D97-AF65-F5344CB8AC3E}">
        <p14:creationId xmlns:p14="http://schemas.microsoft.com/office/powerpoint/2010/main" val="228570421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62" name="Picture 2" descr="\\DROBO-FS\QuickDrops\JB\PPTX NG\Droplets\LightingOverlay.png"/>
          <p:cNvPicPr>
            <a:picLocks noChangeAspect="1" noChangeArrowheads="1"/>
          </p:cNvPicPr>
          <p:nvPr/>
        </p:nvPicPr>
        <p:blipFill>
          <a:blip r:embed="rId2">
            <a:alphaModFix amt="30000"/>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1" y="-1"/>
            <a:ext cx="9144002" cy="6858001"/>
          </a:xfrm>
          <a:prstGeom prst="rect">
            <a:avLst/>
          </a:prstGeom>
          <a:noFill/>
          <a:extLst>
            <a:ext uri="{909E8E84-426E-40DD-AFC4-6F175D3DCCD1}">
              <a14:hiddenFill xmlns:a14="http://schemas.microsoft.com/office/drawing/2010/main">
                <a:solidFill>
                  <a:srgbClr val="FFFFFF"/>
                </a:solidFill>
              </a14:hiddenFill>
            </a:ext>
          </a:extLst>
        </p:spPr>
      </p:pic>
      <p:grpSp>
        <p:nvGrpSpPr>
          <p:cNvPr id="66" name="Group 65"/>
          <p:cNvGrpSpPr/>
          <p:nvPr/>
        </p:nvGrpSpPr>
        <p:grpSpPr>
          <a:xfrm>
            <a:off x="0" y="0"/>
            <a:ext cx="2305051" cy="6858001"/>
            <a:chOff x="0" y="0"/>
            <a:chExt cx="2305051" cy="6858001"/>
          </a:xfrm>
          <a:gradFill flip="none" rotWithShape="1">
            <a:gsLst>
              <a:gs pos="0">
                <a:schemeClr val="tx2"/>
              </a:gs>
              <a:gs pos="100000">
                <a:schemeClr val="tx2">
                  <a:lumMod val="50000"/>
                </a:schemeClr>
              </a:gs>
            </a:gsLst>
            <a:lin ang="5400000" scaled="0"/>
            <a:tileRect/>
          </a:gradFill>
        </p:grpSpPr>
        <p:sp>
          <p:nvSpPr>
            <p:cNvPr id="67" name="Rectangle 5"/>
            <p:cNvSpPr>
              <a:spLocks noChangeArrowheads="1"/>
            </p:cNvSpPr>
            <p:nvPr/>
          </p:nvSpPr>
          <p:spPr bwMode="auto">
            <a:xfrm>
              <a:off x="1209675" y="4763"/>
              <a:ext cx="23813" cy="21812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sp>
        <p:sp>
          <p:nvSpPr>
            <p:cNvPr id="68"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69"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70" name="Rectangle 8"/>
            <p:cNvSpPr>
              <a:spLocks noChangeArrowheads="1"/>
            </p:cNvSpPr>
            <p:nvPr/>
          </p:nvSpPr>
          <p:spPr bwMode="auto">
            <a:xfrm>
              <a:off x="414338" y="9525"/>
              <a:ext cx="28575" cy="44815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sp>
        <p:sp>
          <p:nvSpPr>
            <p:cNvPr id="71"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72"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73"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74"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75"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76"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77"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78"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79"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80"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81"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82"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83"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84"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85"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86"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87"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88"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89"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90"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91"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92"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93"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94"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95"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sp>
        <p:sp>
          <p:nvSpPr>
            <p:cNvPr id="96"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97"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98"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99"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100"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101"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102"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103"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104"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105"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106"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107"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sp>
        <p:sp>
          <p:nvSpPr>
            <p:cNvPr id="108"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109"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110"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111"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112"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113"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114"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115"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116"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117"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118"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119"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120"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grpSp>
      <p:sp>
        <p:nvSpPr>
          <p:cNvPr id="2" name="Title 1"/>
          <p:cNvSpPr>
            <a:spLocks noGrp="1"/>
          </p:cNvSpPr>
          <p:nvPr>
            <p:ph type="ctrTitle"/>
          </p:nvPr>
        </p:nvSpPr>
        <p:spPr>
          <a:xfrm>
            <a:off x="1900238" y="1122363"/>
            <a:ext cx="6593681" cy="2387600"/>
          </a:xfrm>
        </p:spPr>
        <p:txBody>
          <a:bodyPr anchor="b">
            <a:normAutofit/>
          </a:bodyPr>
          <a:lstStyle>
            <a:lvl1pPr algn="l">
              <a:defRPr sz="4800"/>
            </a:lvl1pPr>
          </a:lstStyle>
          <a:p>
            <a:r>
              <a:rPr lang="en-US"/>
              <a:t>Click to edit Master title style</a:t>
            </a:r>
            <a:endParaRPr lang="en-US" dirty="0"/>
          </a:p>
        </p:txBody>
      </p:sp>
      <p:sp>
        <p:nvSpPr>
          <p:cNvPr id="3" name="Subtitle 2"/>
          <p:cNvSpPr>
            <a:spLocks noGrp="1"/>
          </p:cNvSpPr>
          <p:nvPr>
            <p:ph type="subTitle" idx="1"/>
          </p:nvPr>
        </p:nvSpPr>
        <p:spPr>
          <a:xfrm>
            <a:off x="1900238" y="3602038"/>
            <a:ext cx="6593681"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5801052" y="5410202"/>
            <a:ext cx="2057400" cy="365125"/>
          </a:xfrm>
        </p:spPr>
        <p:txBody>
          <a:bodyPr/>
          <a:lstStyle/>
          <a:p>
            <a:fld id="{3B539F5C-786E-4BDB-B868-73CB6082799F}" type="datetimeFigureOut">
              <a:rPr lang="en-US" smtClean="0"/>
              <a:pPr/>
              <a:t>3/25/2025</a:t>
            </a:fld>
            <a:endParaRPr lang="en-US"/>
          </a:p>
        </p:txBody>
      </p:sp>
      <p:sp>
        <p:nvSpPr>
          <p:cNvPr id="5" name="Footer Placeholder 4"/>
          <p:cNvSpPr>
            <a:spLocks noGrp="1"/>
          </p:cNvSpPr>
          <p:nvPr>
            <p:ph type="ftr" sz="quarter" idx="11"/>
          </p:nvPr>
        </p:nvSpPr>
        <p:spPr>
          <a:xfrm>
            <a:off x="1900237" y="5410202"/>
            <a:ext cx="3843665" cy="365125"/>
          </a:xfrm>
        </p:spPr>
        <p:txBody>
          <a:bodyPr/>
          <a:lstStyle/>
          <a:p>
            <a:endParaRPr lang="en-US"/>
          </a:p>
        </p:txBody>
      </p:sp>
      <p:sp>
        <p:nvSpPr>
          <p:cNvPr id="6" name="Slide Number Placeholder 5"/>
          <p:cNvSpPr>
            <a:spLocks noGrp="1"/>
          </p:cNvSpPr>
          <p:nvPr>
            <p:ph type="sldNum" sz="quarter" idx="12"/>
          </p:nvPr>
        </p:nvSpPr>
        <p:spPr>
          <a:xfrm>
            <a:off x="7915603" y="5410200"/>
            <a:ext cx="578317" cy="365125"/>
          </a:xfrm>
        </p:spPr>
        <p:txBody>
          <a:bodyPr/>
          <a:lstStyle/>
          <a:p>
            <a:fld id="{5B454187-9C8A-4D01-8196-68D867131FBF}" type="slidenum">
              <a:rPr lang="en-US" smtClean="0"/>
              <a:pPr/>
              <a:t>‹#›</a:t>
            </a:fld>
            <a:endParaRPr lang="en-US"/>
          </a:p>
        </p:txBody>
      </p:sp>
    </p:spTree>
    <p:extLst>
      <p:ext uri="{BB962C8B-B14F-4D97-AF65-F5344CB8AC3E}">
        <p14:creationId xmlns:p14="http://schemas.microsoft.com/office/powerpoint/2010/main" val="141624545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47" name="Title 1"/>
          <p:cNvSpPr>
            <a:spLocks noGrp="1"/>
          </p:cNvSpPr>
          <p:nvPr>
            <p:ph type="title"/>
          </p:nvPr>
        </p:nvSpPr>
        <p:spPr>
          <a:xfrm>
            <a:off x="856060" y="618518"/>
            <a:ext cx="7429499" cy="1478570"/>
          </a:xfrm>
        </p:spPr>
        <p:txBody>
          <a:bodyPr/>
          <a:lstStyle/>
          <a:p>
            <a:r>
              <a:rPr lang="en-US"/>
              <a:t>Click to edit Master title style</a:t>
            </a:r>
            <a:endParaRPr lang="en-US" dirty="0"/>
          </a:p>
        </p:txBody>
      </p:sp>
      <p:sp>
        <p:nvSpPr>
          <p:cNvPr id="48" name="Content Placeholder 2"/>
          <p:cNvSpPr>
            <a:spLocks noGrp="1"/>
          </p:cNvSpPr>
          <p:nvPr>
            <p:ph idx="1"/>
          </p:nvPr>
        </p:nvSpPr>
        <p:spPr>
          <a:xfrm>
            <a:off x="856060" y="2249487"/>
            <a:ext cx="7429499"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9" name="Date Placeholder 3"/>
          <p:cNvSpPr>
            <a:spLocks noGrp="1"/>
          </p:cNvSpPr>
          <p:nvPr>
            <p:ph type="dt" sz="half" idx="10"/>
          </p:nvPr>
        </p:nvSpPr>
        <p:spPr>
          <a:xfrm>
            <a:off x="5592691" y="5883277"/>
            <a:ext cx="2057400" cy="365125"/>
          </a:xfrm>
        </p:spPr>
        <p:txBody>
          <a:bodyPr/>
          <a:lstStyle/>
          <a:p>
            <a:fld id="{3B539F5C-786E-4BDB-B868-73CB6082799F}" type="datetimeFigureOut">
              <a:rPr lang="en-US" smtClean="0"/>
              <a:pPr/>
              <a:t>3/25/2025</a:t>
            </a:fld>
            <a:endParaRPr lang="en-US"/>
          </a:p>
        </p:txBody>
      </p:sp>
      <p:sp>
        <p:nvSpPr>
          <p:cNvPr id="50" name="Footer Placeholder 4"/>
          <p:cNvSpPr>
            <a:spLocks noGrp="1"/>
          </p:cNvSpPr>
          <p:nvPr>
            <p:ph type="ftr" sz="quarter" idx="11"/>
          </p:nvPr>
        </p:nvSpPr>
        <p:spPr>
          <a:xfrm>
            <a:off x="856059" y="5883276"/>
            <a:ext cx="4679482" cy="365125"/>
          </a:xfrm>
        </p:spPr>
        <p:txBody>
          <a:bodyPr/>
          <a:lstStyle/>
          <a:p>
            <a:endParaRPr lang="en-US"/>
          </a:p>
        </p:txBody>
      </p:sp>
      <p:sp>
        <p:nvSpPr>
          <p:cNvPr id="51" name="Slide Number Placeholder 5"/>
          <p:cNvSpPr>
            <a:spLocks noGrp="1"/>
          </p:cNvSpPr>
          <p:nvPr>
            <p:ph type="sldNum" sz="quarter" idx="12"/>
          </p:nvPr>
        </p:nvSpPr>
        <p:spPr>
          <a:xfrm>
            <a:off x="7707241" y="5883275"/>
            <a:ext cx="578317" cy="365125"/>
          </a:xfrm>
        </p:spPr>
        <p:txBody>
          <a:bodyPr/>
          <a:lstStyle/>
          <a:p>
            <a:fld id="{5B454187-9C8A-4D01-8196-68D867131FBF}" type="slidenum">
              <a:rPr lang="en-US" smtClean="0"/>
              <a:pPr/>
              <a:t>‹#›</a:t>
            </a:fld>
            <a:endParaRPr lang="en-US"/>
          </a:p>
        </p:txBody>
      </p:sp>
    </p:spTree>
    <p:extLst>
      <p:ext uri="{BB962C8B-B14F-4D97-AF65-F5344CB8AC3E}">
        <p14:creationId xmlns:p14="http://schemas.microsoft.com/office/powerpoint/2010/main" val="392500730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56058" y="1419227"/>
            <a:ext cx="7429500" cy="2852737"/>
          </a:xfrm>
        </p:spPr>
        <p:txBody>
          <a:bodyPr anchor="b">
            <a:normAutofit/>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856058" y="4424362"/>
            <a:ext cx="74295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B539F5C-786E-4BDB-B868-73CB6082799F}" type="datetimeFigureOut">
              <a:rPr lang="en-US" smtClean="0"/>
              <a:pPr/>
              <a:t>3/25/2025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B454187-9C8A-4D01-8196-68D867131FBF}" type="slidenum">
              <a:rPr lang="en-US" smtClean="0"/>
              <a:pPr/>
              <a:t>‹#›</a:t>
            </a:fld>
            <a:endParaRPr lang="en-US"/>
          </a:p>
        </p:txBody>
      </p:sp>
    </p:spTree>
    <p:extLst>
      <p:ext uri="{BB962C8B-B14F-4D97-AF65-F5344CB8AC3E}">
        <p14:creationId xmlns:p14="http://schemas.microsoft.com/office/powerpoint/2010/main" val="27887158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56058" y="2249486"/>
            <a:ext cx="3658792"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1" y="2249486"/>
            <a:ext cx="3656408"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B539F5C-786E-4BDB-B868-73CB6082799F}" type="datetimeFigureOut">
              <a:rPr lang="en-US" smtClean="0"/>
              <a:pPr/>
              <a:t>3/25/2025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B454187-9C8A-4D01-8196-68D867131FBF}" type="slidenum">
              <a:rPr lang="en-US" smtClean="0"/>
              <a:pPr/>
              <a:t>‹#›</a:t>
            </a:fld>
            <a:endParaRPr lang="en-US"/>
          </a:p>
        </p:txBody>
      </p:sp>
    </p:spTree>
    <p:extLst>
      <p:ext uri="{BB962C8B-B14F-4D97-AF65-F5344CB8AC3E}">
        <p14:creationId xmlns:p14="http://schemas.microsoft.com/office/powerpoint/2010/main" val="290772894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56058" y="619127"/>
            <a:ext cx="7429500" cy="1477961"/>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78902" y="2249486"/>
            <a:ext cx="3435949"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56058" y="3073398"/>
            <a:ext cx="3658793"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851992" y="2249485"/>
            <a:ext cx="3433565"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3073398"/>
            <a:ext cx="3656408"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B539F5C-786E-4BDB-B868-73CB6082799F}" type="datetimeFigureOut">
              <a:rPr lang="en-US" smtClean="0"/>
              <a:pPr/>
              <a:t>3/25/2025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B454187-9C8A-4D01-8196-68D867131FBF}" type="slidenum">
              <a:rPr lang="en-US" smtClean="0"/>
              <a:pPr/>
              <a:t>‹#›</a:t>
            </a:fld>
            <a:endParaRPr lang="en-US"/>
          </a:p>
        </p:txBody>
      </p:sp>
    </p:spTree>
    <p:extLst>
      <p:ext uri="{BB962C8B-B14F-4D97-AF65-F5344CB8AC3E}">
        <p14:creationId xmlns:p14="http://schemas.microsoft.com/office/powerpoint/2010/main" val="4195738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B539F5C-786E-4BDB-B868-73CB6082799F}" type="datetimeFigureOut">
              <a:rPr lang="en-US" smtClean="0"/>
              <a:pPr/>
              <a:t>3/25/2025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B454187-9C8A-4D01-8196-68D867131FBF}" type="slidenum">
              <a:rPr lang="en-US" smtClean="0"/>
              <a:pPr/>
              <a:t>‹#›</a:t>
            </a:fld>
            <a:endParaRPr lang="en-US"/>
          </a:p>
        </p:txBody>
      </p:sp>
    </p:spTree>
    <p:extLst>
      <p:ext uri="{BB962C8B-B14F-4D97-AF65-F5344CB8AC3E}">
        <p14:creationId xmlns:p14="http://schemas.microsoft.com/office/powerpoint/2010/main" val="332316962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B539F5C-786E-4BDB-B868-73CB6082799F}" type="datetimeFigureOut">
              <a:rPr lang="en-US" smtClean="0"/>
              <a:pPr/>
              <a:t>3/25/2025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B454187-9C8A-4D01-8196-68D867131FBF}" type="slidenum">
              <a:rPr lang="en-US" smtClean="0"/>
              <a:pPr/>
              <a:t>‹#›</a:t>
            </a:fld>
            <a:endParaRPr lang="en-US"/>
          </a:p>
        </p:txBody>
      </p:sp>
    </p:spTree>
    <p:extLst>
      <p:ext uri="{BB962C8B-B14F-4D97-AF65-F5344CB8AC3E}">
        <p14:creationId xmlns:p14="http://schemas.microsoft.com/office/powerpoint/2010/main" val="175556965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0029" y="609601"/>
            <a:ext cx="2892028" cy="1639884"/>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67150" y="592666"/>
            <a:ext cx="4418407" cy="5198534"/>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60029" y="2249486"/>
            <a:ext cx="2892028"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B539F5C-786E-4BDB-B868-73CB6082799F}" type="datetimeFigureOut">
              <a:rPr lang="en-US" smtClean="0"/>
              <a:pPr/>
              <a:t>3/25/2025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B454187-9C8A-4D01-8196-68D867131FBF}" type="slidenum">
              <a:rPr lang="en-US" smtClean="0"/>
              <a:pPr/>
              <a:t>‹#›</a:t>
            </a:fld>
            <a:endParaRPr lang="en-US"/>
          </a:p>
        </p:txBody>
      </p:sp>
    </p:spTree>
    <p:extLst>
      <p:ext uri="{BB962C8B-B14F-4D97-AF65-F5344CB8AC3E}">
        <p14:creationId xmlns:p14="http://schemas.microsoft.com/office/powerpoint/2010/main" val="42908278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56061" y="609600"/>
            <a:ext cx="3753962" cy="1639886"/>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4832866" y="609600"/>
            <a:ext cx="3452693" cy="5181602"/>
          </a:xfrm>
          <a:prstGeom prst="round2DiagRect">
            <a:avLst>
              <a:gd name="adj1" fmla="val 6074"/>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defRPr lang="en-US" sz="3200"/>
            </a:lvl1pPr>
          </a:lstStyle>
          <a:p>
            <a:pPr marL="0" lvl="0" indent="0">
              <a:buNone/>
            </a:pPr>
            <a:r>
              <a:rPr lang="en-US"/>
              <a:t>Click icon to add picture</a:t>
            </a:r>
            <a:endParaRPr lang="en-US" dirty="0"/>
          </a:p>
        </p:txBody>
      </p:sp>
      <p:sp>
        <p:nvSpPr>
          <p:cNvPr id="4" name="Text Placeholder 3"/>
          <p:cNvSpPr>
            <a:spLocks noGrp="1"/>
          </p:cNvSpPr>
          <p:nvPr>
            <p:ph type="body" sz="half" idx="2"/>
          </p:nvPr>
        </p:nvSpPr>
        <p:spPr>
          <a:xfrm>
            <a:off x="856059" y="2249486"/>
            <a:ext cx="3753964"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B539F5C-786E-4BDB-B868-73CB6082799F}" type="datetimeFigureOut">
              <a:rPr lang="en-US" smtClean="0"/>
              <a:pPr/>
              <a:t>3/25/2025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B454187-9C8A-4D01-8196-68D867131FBF}" type="slidenum">
              <a:rPr lang="en-US" smtClean="0"/>
              <a:pPr/>
              <a:t>‹#›</a:t>
            </a:fld>
            <a:endParaRPr lang="en-US"/>
          </a:p>
        </p:txBody>
      </p:sp>
    </p:spTree>
    <p:extLst>
      <p:ext uri="{BB962C8B-B14F-4D97-AF65-F5344CB8AC3E}">
        <p14:creationId xmlns:p14="http://schemas.microsoft.com/office/powerpoint/2010/main" val="25091895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56058" y="4304665"/>
            <a:ext cx="7434266" cy="819355"/>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56058" y="606426"/>
            <a:ext cx="7434266" cy="3299778"/>
          </a:xfrm>
          <a:prstGeom prst="round2DiagRect">
            <a:avLst>
              <a:gd name="adj1" fmla="val 5101"/>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n-US"/>
              <a:t>Click icon to add picture</a:t>
            </a:r>
            <a:endParaRPr lang="en-US" dirty="0"/>
          </a:p>
        </p:txBody>
      </p:sp>
      <p:sp>
        <p:nvSpPr>
          <p:cNvPr id="4" name="Text Placeholder 3"/>
          <p:cNvSpPr>
            <a:spLocks noGrp="1"/>
          </p:cNvSpPr>
          <p:nvPr>
            <p:ph type="body" sz="half" idx="2"/>
          </p:nvPr>
        </p:nvSpPr>
        <p:spPr>
          <a:xfrm>
            <a:off x="856024" y="5124020"/>
            <a:ext cx="7433144"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B539F5C-786E-4BDB-B868-73CB6082799F}" type="datetimeFigureOut">
              <a:rPr lang="en-US" smtClean="0"/>
              <a:pPr/>
              <a:t>3/25/2025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B454187-9C8A-4D01-8196-68D867131FBF}" type="slidenum">
              <a:rPr lang="en-US" smtClean="0"/>
              <a:pPr/>
              <a:t>‹#›</a:t>
            </a:fld>
            <a:endParaRPr lang="en-US"/>
          </a:p>
        </p:txBody>
      </p:sp>
    </p:spTree>
    <p:extLst>
      <p:ext uri="{BB962C8B-B14F-4D97-AF65-F5344CB8AC3E}">
        <p14:creationId xmlns:p14="http://schemas.microsoft.com/office/powerpoint/2010/main" val="316408135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856093" y="609600"/>
            <a:ext cx="7429466" cy="3429000"/>
          </a:xfrm>
        </p:spPr>
        <p:txBody>
          <a:bodyPr anchor="ctr">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856058" y="4419600"/>
            <a:ext cx="7428344"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B539F5C-786E-4BDB-B868-73CB6082799F}" type="datetimeFigureOut">
              <a:rPr lang="en-US" smtClean="0"/>
              <a:pPr/>
              <a:t>3/25/2025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B454187-9C8A-4D01-8196-68D867131FBF}" type="slidenum">
              <a:rPr lang="en-US" smtClean="0"/>
              <a:pPr/>
              <a:t>‹#›</a:t>
            </a:fld>
            <a:endParaRPr lang="en-US"/>
          </a:p>
        </p:txBody>
      </p:sp>
    </p:spTree>
    <p:extLst>
      <p:ext uri="{BB962C8B-B14F-4D97-AF65-F5344CB8AC3E}">
        <p14:creationId xmlns:p14="http://schemas.microsoft.com/office/powerpoint/2010/main" val="119402307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084659" y="609600"/>
            <a:ext cx="6977064" cy="2748429"/>
          </a:xfrm>
        </p:spPr>
        <p:txBody>
          <a:bodyPr anchor="ctr">
            <a:normAutofit/>
          </a:bodyPr>
          <a:lstStyle>
            <a:lvl1pPr>
              <a:defRPr sz="3600"/>
            </a:lvl1pPr>
          </a:lstStyle>
          <a:p>
            <a:r>
              <a:rPr lang="en-US"/>
              <a:t>Click to edit Master title style</a:t>
            </a:r>
            <a:endParaRPr lang="en-US" dirty="0"/>
          </a:p>
        </p:txBody>
      </p:sp>
      <p:sp>
        <p:nvSpPr>
          <p:cNvPr id="12" name="Text Placeholder 3"/>
          <p:cNvSpPr>
            <a:spLocks noGrp="1"/>
          </p:cNvSpPr>
          <p:nvPr>
            <p:ph type="body" sz="half" idx="13"/>
          </p:nvPr>
        </p:nvSpPr>
        <p:spPr>
          <a:xfrm>
            <a:off x="1290484" y="3365557"/>
            <a:ext cx="6564224"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856058" y="4309919"/>
            <a:ext cx="74295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B539F5C-786E-4BDB-B868-73CB6082799F}" type="datetimeFigureOut">
              <a:rPr lang="en-US" smtClean="0"/>
              <a:pPr/>
              <a:t>3/25/2025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B454187-9C8A-4D01-8196-68D867131FBF}" type="slidenum">
              <a:rPr lang="en-US" smtClean="0"/>
              <a:pPr/>
              <a:t>‹#›</a:t>
            </a:fld>
            <a:endParaRPr lang="en-US"/>
          </a:p>
        </p:txBody>
      </p:sp>
      <p:sp>
        <p:nvSpPr>
          <p:cNvPr id="52" name="TextBox 51"/>
          <p:cNvSpPr txBox="1"/>
          <p:nvPr/>
        </p:nvSpPr>
        <p:spPr>
          <a:xfrm>
            <a:off x="696579" y="718458"/>
            <a:ext cx="4572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53" name="TextBox 52"/>
          <p:cNvSpPr txBox="1"/>
          <p:nvPr/>
        </p:nvSpPr>
        <p:spPr>
          <a:xfrm>
            <a:off x="7817473" y="2764972"/>
            <a:ext cx="4572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Tree>
    <p:extLst>
      <p:ext uri="{BB962C8B-B14F-4D97-AF65-F5344CB8AC3E}">
        <p14:creationId xmlns:p14="http://schemas.microsoft.com/office/powerpoint/2010/main" val="139008404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856058" y="2134042"/>
            <a:ext cx="7429501" cy="2511835"/>
          </a:xfrm>
        </p:spPr>
        <p:txBody>
          <a:bodyPr anchor="b">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856023" y="4657655"/>
            <a:ext cx="7428379"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B539F5C-786E-4BDB-B868-73CB6082799F}" type="datetimeFigureOut">
              <a:rPr lang="en-US" smtClean="0"/>
              <a:pPr/>
              <a:t>3/25/2025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B454187-9C8A-4D01-8196-68D867131FBF}" type="slidenum">
              <a:rPr lang="en-US" smtClean="0"/>
              <a:pPr/>
              <a:t>‹#›</a:t>
            </a:fld>
            <a:endParaRPr lang="en-US"/>
          </a:p>
        </p:txBody>
      </p:sp>
    </p:spTree>
    <p:extLst>
      <p:ext uri="{BB962C8B-B14F-4D97-AF65-F5344CB8AC3E}">
        <p14:creationId xmlns:p14="http://schemas.microsoft.com/office/powerpoint/2010/main" val="252384321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856060" y="609600"/>
            <a:ext cx="7429499" cy="1905000"/>
          </a:xfrm>
        </p:spPr>
        <p:txBody>
          <a:bodyPr/>
          <a:lstStyle/>
          <a:p>
            <a:r>
              <a:rPr lang="en-US"/>
              <a:t>Click to edit Master title style</a:t>
            </a:r>
            <a:endParaRPr lang="en-US" dirty="0"/>
          </a:p>
        </p:txBody>
      </p:sp>
      <p:sp>
        <p:nvSpPr>
          <p:cNvPr id="7" name="Text Placeholder 2"/>
          <p:cNvSpPr>
            <a:spLocks noGrp="1"/>
          </p:cNvSpPr>
          <p:nvPr>
            <p:ph type="body" idx="1"/>
          </p:nvPr>
        </p:nvSpPr>
        <p:spPr>
          <a:xfrm>
            <a:off x="856058" y="2674463"/>
            <a:ext cx="2397674" cy="685800"/>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856059" y="3360263"/>
            <a:ext cx="2396432"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3386075" y="2677635"/>
            <a:ext cx="2388289" cy="685800"/>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3386075" y="3363435"/>
            <a:ext cx="238895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5889332" y="2674463"/>
            <a:ext cx="2396226" cy="685800"/>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5889332" y="3360263"/>
            <a:ext cx="2396226"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3B539F5C-786E-4BDB-B868-73CB6082799F}" type="datetimeFigureOut">
              <a:rPr lang="en-US" smtClean="0"/>
              <a:pPr/>
              <a:t>3/25/2025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B454187-9C8A-4D01-8196-68D867131FBF}" type="slidenum">
              <a:rPr lang="en-US" smtClean="0"/>
              <a:pPr/>
              <a:t>‹#›</a:t>
            </a:fld>
            <a:endParaRPr lang="en-US"/>
          </a:p>
        </p:txBody>
      </p:sp>
    </p:spTree>
    <p:extLst>
      <p:ext uri="{BB962C8B-B14F-4D97-AF65-F5344CB8AC3E}">
        <p14:creationId xmlns:p14="http://schemas.microsoft.com/office/powerpoint/2010/main" val="87506861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856059" y="609600"/>
            <a:ext cx="7429499" cy="19050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856060" y="4404596"/>
            <a:ext cx="239643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856060" y="2666998"/>
            <a:ext cx="239643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1800" dirty="0"/>
            </a:lvl1pPr>
          </a:lstStyle>
          <a:p>
            <a:pPr marL="0" lvl="0" indent="0">
              <a:buNone/>
            </a:pPr>
            <a:r>
              <a:rPr lang="en-US"/>
              <a:t>Click icon to add picture</a:t>
            </a:r>
            <a:endParaRPr lang="en-US" dirty="0"/>
          </a:p>
        </p:txBody>
      </p:sp>
      <p:sp>
        <p:nvSpPr>
          <p:cNvPr id="21" name="Text Placeholder 3"/>
          <p:cNvSpPr>
            <a:spLocks noGrp="1"/>
          </p:cNvSpPr>
          <p:nvPr>
            <p:ph type="body" sz="half" idx="18"/>
          </p:nvPr>
        </p:nvSpPr>
        <p:spPr>
          <a:xfrm>
            <a:off x="856060" y="4980859"/>
            <a:ext cx="239643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3366790" y="4404596"/>
            <a:ext cx="24003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3366790" y="2666998"/>
            <a:ext cx="2399205"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1800" dirty="0"/>
            </a:lvl1pPr>
          </a:lstStyle>
          <a:p>
            <a:pPr marL="0" lvl="0" indent="0">
              <a:buNone/>
            </a:pPr>
            <a:r>
              <a:rPr lang="en-US"/>
              <a:t>Click icon to add picture</a:t>
            </a:r>
            <a:endParaRPr lang="en-US" dirty="0"/>
          </a:p>
        </p:txBody>
      </p:sp>
      <p:sp>
        <p:nvSpPr>
          <p:cNvPr id="24" name="Text Placeholder 3"/>
          <p:cNvSpPr>
            <a:spLocks noGrp="1"/>
          </p:cNvSpPr>
          <p:nvPr>
            <p:ph type="body" sz="half" idx="19"/>
          </p:nvPr>
        </p:nvSpPr>
        <p:spPr>
          <a:xfrm>
            <a:off x="3365695" y="4980857"/>
            <a:ext cx="24003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5889426" y="4404595"/>
            <a:ext cx="2393056"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5889332" y="2666998"/>
            <a:ext cx="2396227"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1800" dirty="0"/>
            </a:lvl1pPr>
          </a:lstStyle>
          <a:p>
            <a:pPr marL="0" lvl="0" indent="0">
              <a:buNone/>
            </a:pPr>
            <a:r>
              <a:rPr lang="en-US"/>
              <a:t>Click icon to add picture</a:t>
            </a:r>
            <a:endParaRPr lang="en-US" dirty="0"/>
          </a:p>
        </p:txBody>
      </p:sp>
      <p:sp>
        <p:nvSpPr>
          <p:cNvPr id="27" name="Text Placeholder 3"/>
          <p:cNvSpPr>
            <a:spLocks noGrp="1"/>
          </p:cNvSpPr>
          <p:nvPr>
            <p:ph type="body" sz="half" idx="20"/>
          </p:nvPr>
        </p:nvSpPr>
        <p:spPr>
          <a:xfrm>
            <a:off x="5889332" y="4980855"/>
            <a:ext cx="2396226"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3B539F5C-786E-4BDB-B868-73CB6082799F}" type="datetimeFigureOut">
              <a:rPr lang="en-US" smtClean="0"/>
              <a:pPr/>
              <a:t>3/25/2025</a:t>
            </a:fld>
            <a:endParaRPr lang="en-US"/>
          </a:p>
        </p:txBody>
      </p:sp>
      <p:sp>
        <p:nvSpPr>
          <p:cNvPr id="4" name="Footer Placeholder 3"/>
          <p:cNvSpPr>
            <a:spLocks noGrp="1"/>
          </p:cNvSpPr>
          <p:nvPr>
            <p:ph type="ftr" sz="quarter" idx="11"/>
          </p:nvPr>
        </p:nvSpPr>
        <p:spPr/>
        <p:txBody>
          <a:bodyPr/>
          <a:lstStyle>
            <a:lvl1pPr>
              <a:defRPr cap="all" baseline="0"/>
            </a:lvl1pPr>
          </a:lstStyle>
          <a:p>
            <a:endParaRPr lang="en-US"/>
          </a:p>
        </p:txBody>
      </p:sp>
      <p:sp>
        <p:nvSpPr>
          <p:cNvPr id="5" name="Slide Number Placeholder 4"/>
          <p:cNvSpPr>
            <a:spLocks noGrp="1"/>
          </p:cNvSpPr>
          <p:nvPr>
            <p:ph type="sldNum" sz="quarter" idx="12"/>
          </p:nvPr>
        </p:nvSpPr>
        <p:spPr/>
        <p:txBody>
          <a:bodyPr/>
          <a:lstStyle/>
          <a:p>
            <a:fld id="{5B454187-9C8A-4D01-8196-68D867131FBF}" type="slidenum">
              <a:rPr lang="en-US" smtClean="0"/>
              <a:pPr/>
              <a:t>‹#›</a:t>
            </a:fld>
            <a:endParaRPr lang="en-US"/>
          </a:p>
        </p:txBody>
      </p:sp>
    </p:spTree>
    <p:extLst>
      <p:ext uri="{BB962C8B-B14F-4D97-AF65-F5344CB8AC3E}">
        <p14:creationId xmlns:p14="http://schemas.microsoft.com/office/powerpoint/2010/main" val="276669025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B539F5C-786E-4BDB-B868-73CB6082799F}" type="datetimeFigureOut">
              <a:rPr lang="en-US" smtClean="0"/>
              <a:pPr/>
              <a:t>3/25/2025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B454187-9C8A-4D01-8196-68D867131FBF}" type="slidenum">
              <a:rPr lang="en-US" smtClean="0"/>
              <a:pPr/>
              <a:t>‹#›</a:t>
            </a:fld>
            <a:endParaRPr lang="en-US"/>
          </a:p>
        </p:txBody>
      </p:sp>
    </p:spTree>
    <p:extLst>
      <p:ext uri="{BB962C8B-B14F-4D97-AF65-F5344CB8AC3E}">
        <p14:creationId xmlns:p14="http://schemas.microsoft.com/office/powerpoint/2010/main" val="199600716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81801" y="609600"/>
            <a:ext cx="1503758"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56057" y="609600"/>
            <a:ext cx="5811443"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B539F5C-786E-4BDB-B868-73CB6082799F}" type="datetimeFigureOut">
              <a:rPr lang="en-US" smtClean="0"/>
              <a:pPr/>
              <a:t>3/25/2025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B454187-9C8A-4D01-8196-68D867131FBF}" type="slidenum">
              <a:rPr lang="en-US" smtClean="0"/>
              <a:pPr/>
              <a:t>‹#›</a:t>
            </a:fld>
            <a:endParaRPr lang="en-US"/>
          </a:p>
        </p:txBody>
      </p:sp>
    </p:spTree>
    <p:extLst>
      <p:ext uri="{BB962C8B-B14F-4D97-AF65-F5344CB8AC3E}">
        <p14:creationId xmlns:p14="http://schemas.microsoft.com/office/powerpoint/2010/main" val="38593406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18"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17" Type="http://schemas.openxmlformats.org/officeDocument/2006/relationships/slideLayout" Target="../slideLayouts/slideLayout28.xml"/><Relationship Id="rId2" Type="http://schemas.openxmlformats.org/officeDocument/2006/relationships/slideLayout" Target="../slideLayouts/slideLayout13.xml"/><Relationship Id="rId16" Type="http://schemas.openxmlformats.org/officeDocument/2006/relationships/slideLayout" Target="../slideLayouts/slideLayout27.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10" Type="http://schemas.openxmlformats.org/officeDocument/2006/relationships/slideLayout" Target="../slideLayouts/slideLayout21.xml"/><Relationship Id="rId19" Type="http://schemas.openxmlformats.org/officeDocument/2006/relationships/image" Target="../media/image3.png"/><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Rectangle 9"/>
          <p:cNvSpPr/>
          <p:nvPr/>
        </p:nvSpPr>
        <p:spPr>
          <a:xfrm>
            <a:off x="0" y="220786"/>
            <a:ext cx="9144000" cy="2286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457200" y="533400"/>
            <a:ext cx="8229600" cy="9906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457200" y="1600200"/>
            <a:ext cx="8229600" cy="4876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Rectangle 6"/>
          <p:cNvSpPr/>
          <p:nvPr/>
        </p:nvSpPr>
        <p:spPr>
          <a:xfrm>
            <a:off x="0" y="0"/>
            <a:ext cx="9144000" cy="3657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p:cNvSpPr>
            <a:spLocks noGrp="1"/>
          </p:cNvSpPr>
          <p:nvPr>
            <p:ph type="dt" sz="half" idx="2"/>
          </p:nvPr>
        </p:nvSpPr>
        <p:spPr>
          <a:xfrm>
            <a:off x="457200" y="18288"/>
            <a:ext cx="2895600" cy="329184"/>
          </a:xfrm>
          <a:prstGeom prst="rect">
            <a:avLst/>
          </a:prstGeom>
        </p:spPr>
        <p:txBody>
          <a:bodyPr vert="horz" lIns="91440" tIns="45720" rIns="91440" bIns="45720" rtlCol="0" anchor="ctr"/>
          <a:lstStyle>
            <a:lvl1pPr algn="l">
              <a:defRPr sz="1200">
                <a:solidFill>
                  <a:srgbClr val="FFFFFF"/>
                </a:solidFill>
              </a:defRPr>
            </a:lvl1pPr>
          </a:lstStyle>
          <a:p>
            <a:fld id="{E9BFFB69-46B3-4750-912C-E29F4B8DA29C}" type="datetime1">
              <a:rPr lang="en-US" smtClean="0"/>
              <a:pPr/>
              <a:t>3/25/2025</a:t>
            </a:fld>
            <a:endParaRPr lang="en-US"/>
          </a:p>
        </p:txBody>
      </p:sp>
      <p:sp>
        <p:nvSpPr>
          <p:cNvPr id="5" name="Footer Placeholder 4"/>
          <p:cNvSpPr>
            <a:spLocks noGrp="1"/>
          </p:cNvSpPr>
          <p:nvPr>
            <p:ph type="ftr" sz="quarter" idx="3"/>
          </p:nvPr>
        </p:nvSpPr>
        <p:spPr>
          <a:xfrm>
            <a:off x="3429000" y="18288"/>
            <a:ext cx="4114800" cy="329184"/>
          </a:xfrm>
          <a:prstGeom prst="rect">
            <a:avLst/>
          </a:prstGeom>
        </p:spPr>
        <p:txBody>
          <a:bodyPr vert="horz" lIns="91440" tIns="45720" rIns="91440" bIns="45720" rtlCol="0" anchor="ctr"/>
          <a:lstStyle>
            <a:lvl1pPr algn="ctr">
              <a:defRPr sz="1200">
                <a:solidFill>
                  <a:srgbClr val="FFFFFF"/>
                </a:solidFill>
              </a:defRPr>
            </a:lvl1pPr>
          </a:lstStyle>
          <a:p>
            <a:r>
              <a:rPr lang="en-US"/>
              <a:t>CSC102 Discrete Structures</a:t>
            </a:r>
          </a:p>
        </p:txBody>
      </p:sp>
      <p:sp>
        <p:nvSpPr>
          <p:cNvPr id="6" name="Slide Number Placeholder 5"/>
          <p:cNvSpPr>
            <a:spLocks noGrp="1"/>
          </p:cNvSpPr>
          <p:nvPr>
            <p:ph type="sldNum" sz="quarter" idx="4"/>
          </p:nvPr>
        </p:nvSpPr>
        <p:spPr>
          <a:xfrm>
            <a:off x="7620000" y="18288"/>
            <a:ext cx="1066800" cy="329184"/>
          </a:xfrm>
          <a:prstGeom prst="rect">
            <a:avLst/>
          </a:prstGeom>
        </p:spPr>
        <p:txBody>
          <a:bodyPr vert="horz" lIns="91440" tIns="45720" rIns="91440" bIns="45720" rtlCol="0" anchor="ctr"/>
          <a:lstStyle>
            <a:lvl1pPr algn="l">
              <a:defRPr sz="1400" b="1">
                <a:solidFill>
                  <a:srgbClr val="FFFFFF"/>
                </a:solidFill>
              </a:defRPr>
            </a:lvl1pPr>
          </a:lstStyle>
          <a:p>
            <a:fld id="{8ACE3F9D-533B-438E-AA49-48601E6C708E}" type="slidenum">
              <a:rPr lang="en-US" smtClean="0"/>
              <a:pPr/>
              <a:t>‹#›</a:t>
            </a:fld>
            <a:endParaRPr lang="en-US"/>
          </a:p>
        </p:txBody>
      </p:sp>
    </p:spTree>
    <p:extLst>
      <p:ext uri="{BB962C8B-B14F-4D97-AF65-F5344CB8AC3E}">
        <p14:creationId xmlns:p14="http://schemas.microsoft.com/office/powerpoint/2010/main" val="2024446830"/>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sldNum="0" hdr="0" ftr="0" dt="0"/>
  <p:txStyles>
    <p:titleStyle>
      <a:lvl1pPr algn="l" defTabSz="914400" rtl="0" eaLnBrk="1" latinLnBrk="0" hangingPunct="1">
        <a:spcBef>
          <a:spcPct val="0"/>
        </a:spcBef>
        <a:buNone/>
        <a:defRPr sz="4000" kern="1200" spc="-100" baseline="0">
          <a:solidFill>
            <a:schemeClr val="tx2"/>
          </a:solidFill>
          <a:latin typeface="+mj-lt"/>
          <a:ea typeface="+mj-ea"/>
          <a:cs typeface="+mj-cs"/>
        </a:defRPr>
      </a:lvl1pPr>
    </p:titleStyle>
    <p:bodyStyle>
      <a:lvl1pPr marL="182880" indent="-182880" algn="l" defTabSz="914400" rtl="0" eaLnBrk="1" latinLnBrk="0" hangingPunct="1">
        <a:spcBef>
          <a:spcPct val="20000"/>
        </a:spcBef>
        <a:buClr>
          <a:schemeClr val="accent1"/>
        </a:buClr>
        <a:buSzPct val="85000"/>
        <a:buFont typeface="Arial" pitchFamily="34" charset="0"/>
        <a:buChar char="•"/>
        <a:defRPr sz="2400" kern="1200">
          <a:solidFill>
            <a:schemeClr val="tx1"/>
          </a:solidFill>
          <a:latin typeface="+mn-lt"/>
          <a:ea typeface="+mn-ea"/>
          <a:cs typeface="+mn-cs"/>
        </a:defRPr>
      </a:lvl1pPr>
      <a:lvl2pPr marL="457200" indent="-182880" algn="l" defTabSz="914400" rtl="0" eaLnBrk="1" latinLnBrk="0" hangingPunct="1">
        <a:spcBef>
          <a:spcPct val="20000"/>
        </a:spcBef>
        <a:buClr>
          <a:schemeClr val="accent1"/>
        </a:buClr>
        <a:buSzPct val="85000"/>
        <a:buFont typeface="Arial" pitchFamily="34" charset="0"/>
        <a:buChar char="•"/>
        <a:defRPr sz="2000" kern="1200">
          <a:solidFill>
            <a:schemeClr val="tx1"/>
          </a:solidFill>
          <a:latin typeface="+mn-lt"/>
          <a:ea typeface="+mn-ea"/>
          <a:cs typeface="+mn-cs"/>
        </a:defRPr>
      </a:lvl2pPr>
      <a:lvl3pPr marL="731520" indent="-182880" algn="l" defTabSz="914400" rtl="0" eaLnBrk="1" latinLnBrk="0" hangingPunct="1">
        <a:spcBef>
          <a:spcPct val="20000"/>
        </a:spcBef>
        <a:buClr>
          <a:schemeClr val="accent1"/>
        </a:buClr>
        <a:buSzPct val="90000"/>
        <a:buFont typeface="Arial" pitchFamily="34" charset="0"/>
        <a:buChar char="•"/>
        <a:defRPr sz="1800" kern="1200">
          <a:solidFill>
            <a:schemeClr val="tx1"/>
          </a:solidFill>
          <a:latin typeface="+mn-lt"/>
          <a:ea typeface="+mn-ea"/>
          <a:cs typeface="+mn-cs"/>
        </a:defRPr>
      </a:lvl3pPr>
      <a:lvl4pPr marL="1005840" indent="-182880" algn="l" defTabSz="914400" rtl="0" eaLnBrk="1" latinLnBrk="0" hangingPunct="1">
        <a:spcBef>
          <a:spcPct val="20000"/>
        </a:spcBef>
        <a:buClr>
          <a:schemeClr val="accent1"/>
        </a:buClr>
        <a:buFont typeface="Arial" pitchFamily="34" charset="0"/>
        <a:buChar char="•"/>
        <a:defRPr sz="1600" kern="1200">
          <a:solidFill>
            <a:schemeClr val="tx1"/>
          </a:solidFill>
          <a:latin typeface="+mn-lt"/>
          <a:ea typeface="+mn-ea"/>
          <a:cs typeface="+mn-cs"/>
        </a:defRPr>
      </a:lvl4pPr>
      <a:lvl5pPr marL="1188720" indent="-137160" algn="l" defTabSz="914400" rtl="0" eaLnBrk="1" latinLnBrk="0" hangingPunct="1">
        <a:spcBef>
          <a:spcPct val="20000"/>
        </a:spcBef>
        <a:buClr>
          <a:schemeClr val="accent1"/>
        </a:buClr>
        <a:buSzPct val="100000"/>
        <a:buFont typeface="Arial" pitchFamily="34" charset="0"/>
        <a:buChar char="•"/>
        <a:defRPr sz="1400" kern="1200" baseline="0">
          <a:solidFill>
            <a:schemeClr val="tx1"/>
          </a:solidFill>
          <a:latin typeface="+mn-lt"/>
          <a:ea typeface="+mn-ea"/>
          <a:cs typeface="+mn-cs"/>
        </a:defRPr>
      </a:lvl5pPr>
      <a:lvl6pPr marL="137160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6pPr>
      <a:lvl7pPr marL="155448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7pPr>
      <a:lvl8pPr marL="173736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8pPr>
      <a:lvl9pPr marL="192024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1" y="-1"/>
            <a:ext cx="9144002" cy="6858001"/>
          </a:xfrm>
          <a:prstGeom prst="rect">
            <a:avLst/>
          </a:prstGeom>
          <a:noFill/>
          <a:extLst>
            <a:ext uri="{909E8E84-426E-40DD-AFC4-6F175D3DCCD1}">
              <a14:hiddenFill xmlns:a14="http://schemas.microsoft.com/office/drawing/2010/main">
                <a:solidFill>
                  <a:srgbClr val="FFFFFF"/>
                </a:solidFill>
              </a14:hiddenFill>
            </a:ext>
          </a:extLst>
        </p:spPr>
      </p:pic>
      <p:grpSp>
        <p:nvGrpSpPr>
          <p:cNvPr id="8" name="Group 7"/>
          <p:cNvGrpSpPr/>
          <p:nvPr/>
        </p:nvGrpSpPr>
        <p:grpSpPr>
          <a:xfrm>
            <a:off x="-14288" y="0"/>
            <a:ext cx="9041774" cy="6858001"/>
            <a:chOff x="-14288" y="0"/>
            <a:chExt cx="9041774" cy="6858001"/>
          </a:xfrm>
          <a:gradFill flip="none" rotWithShape="1">
            <a:gsLst>
              <a:gs pos="0">
                <a:schemeClr val="tx2"/>
              </a:gs>
              <a:gs pos="100000">
                <a:schemeClr val="tx2">
                  <a:lumMod val="50000"/>
                </a:schemeClr>
              </a:gs>
            </a:gsLst>
            <a:lin ang="5400000" scaled="0"/>
            <a:tileRect/>
          </a:gradFill>
        </p:grpSpPr>
        <p:grpSp>
          <p:nvGrpSpPr>
            <p:cNvPr id="9" name="Group 8"/>
            <p:cNvGrpSpPr/>
            <p:nvPr/>
          </p:nvGrpSpPr>
          <p:grpSpPr>
            <a:xfrm>
              <a:off x="-14288" y="0"/>
              <a:ext cx="1220788" cy="6858001"/>
              <a:chOff x="-14288" y="0"/>
              <a:chExt cx="1220788" cy="6858001"/>
            </a:xfrm>
            <a:grp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grpSp>
        <p:grpSp>
          <p:nvGrpSpPr>
            <p:cNvPr id="10" name="Group 9"/>
            <p:cNvGrpSpPr/>
            <p:nvPr/>
          </p:nvGrpSpPr>
          <p:grpSpPr>
            <a:xfrm>
              <a:off x="8352798" y="0"/>
              <a:ext cx="674688" cy="6848476"/>
              <a:chOff x="11364912" y="0"/>
              <a:chExt cx="674688" cy="6848476"/>
            </a:xfrm>
            <a:grp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sp>
        </p:grpSp>
      </p:grpSp>
      <p:sp>
        <p:nvSpPr>
          <p:cNvPr id="2" name="Title Placeholder 1"/>
          <p:cNvSpPr>
            <a:spLocks noGrp="1"/>
          </p:cNvSpPr>
          <p:nvPr>
            <p:ph type="title"/>
          </p:nvPr>
        </p:nvSpPr>
        <p:spPr>
          <a:xfrm>
            <a:off x="856060" y="618518"/>
            <a:ext cx="7429499"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856060" y="2249487"/>
            <a:ext cx="7429499" cy="354171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592691" y="5883277"/>
            <a:ext cx="20574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E9BFFB69-46B3-4750-912C-E29F4B8DA29C}" type="datetime1">
              <a:rPr lang="en-US" smtClean="0"/>
              <a:pPr/>
              <a:t>3/25/2025</a:t>
            </a:fld>
            <a:endParaRPr lang="en-US"/>
          </a:p>
        </p:txBody>
      </p:sp>
      <p:sp>
        <p:nvSpPr>
          <p:cNvPr id="5" name="Footer Placeholder 4"/>
          <p:cNvSpPr>
            <a:spLocks noGrp="1"/>
          </p:cNvSpPr>
          <p:nvPr>
            <p:ph type="ftr" sz="quarter" idx="3"/>
          </p:nvPr>
        </p:nvSpPr>
        <p:spPr>
          <a:xfrm>
            <a:off x="856059" y="5883276"/>
            <a:ext cx="4679482" cy="365125"/>
          </a:xfrm>
          <a:prstGeom prst="rect">
            <a:avLst/>
          </a:prstGeom>
        </p:spPr>
        <p:txBody>
          <a:bodyPr vert="horz" lIns="91440" tIns="45720" rIns="91440" bIns="45720" rtlCol="0" anchor="ctr"/>
          <a:lstStyle>
            <a:lvl1pPr algn="l">
              <a:defRPr sz="1050">
                <a:solidFill>
                  <a:schemeClr val="tx1">
                    <a:tint val="75000"/>
                  </a:schemeClr>
                </a:solidFill>
              </a:defRPr>
            </a:lvl1pPr>
          </a:lstStyle>
          <a:p>
            <a:r>
              <a:rPr lang="en-US"/>
              <a:t>CSC102 Discrete Structures</a:t>
            </a:r>
          </a:p>
        </p:txBody>
      </p:sp>
      <p:sp>
        <p:nvSpPr>
          <p:cNvPr id="6" name="Slide Number Placeholder 5"/>
          <p:cNvSpPr>
            <a:spLocks noGrp="1"/>
          </p:cNvSpPr>
          <p:nvPr>
            <p:ph type="sldNum" sz="quarter" idx="4"/>
          </p:nvPr>
        </p:nvSpPr>
        <p:spPr>
          <a:xfrm>
            <a:off x="7707241" y="5883275"/>
            <a:ext cx="578317"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8ACE3F9D-533B-438E-AA49-48601E6C708E}" type="slidenum">
              <a:rPr lang="en-US" smtClean="0"/>
              <a:pPr/>
              <a:t>‹#›</a:t>
            </a:fld>
            <a:endParaRPr lang="en-US"/>
          </a:p>
        </p:txBody>
      </p:sp>
    </p:spTree>
    <p:extLst>
      <p:ext uri="{BB962C8B-B14F-4D97-AF65-F5344CB8AC3E}">
        <p14:creationId xmlns:p14="http://schemas.microsoft.com/office/powerpoint/2010/main" val="3099450994"/>
      </p:ext>
    </p:extLst>
  </p:cSld>
  <p:clrMap bg1="dk1" tx1="lt1" bg2="dk2" tx2="lt2" accent1="accent1" accent2="accent2" accent3="accent3" accent4="accent4" accent5="accent5" accent6="accent6" hlink="hlink" folHlink="folHlink"/>
  <p:sldLayoutIdLst>
    <p:sldLayoutId id="2147483811" r:id="rId1"/>
    <p:sldLayoutId id="2147483812" r:id="rId2"/>
    <p:sldLayoutId id="2147483813" r:id="rId3"/>
    <p:sldLayoutId id="2147483814" r:id="rId4"/>
    <p:sldLayoutId id="2147483815" r:id="rId5"/>
    <p:sldLayoutId id="2147483816" r:id="rId6"/>
    <p:sldLayoutId id="2147483817" r:id="rId7"/>
    <p:sldLayoutId id="2147483818" r:id="rId8"/>
    <p:sldLayoutId id="2147483819" r:id="rId9"/>
    <p:sldLayoutId id="2147483820" r:id="rId10"/>
    <p:sldLayoutId id="2147483821" r:id="rId11"/>
    <p:sldLayoutId id="2147483822" r:id="rId12"/>
    <p:sldLayoutId id="2147483823" r:id="rId13"/>
    <p:sldLayoutId id="2147483824" r:id="rId14"/>
    <p:sldLayoutId id="2147483825" r:id="rId15"/>
    <p:sldLayoutId id="2147483826" r:id="rId16"/>
    <p:sldLayoutId id="2147483827" r:id="rId17"/>
  </p:sldLayoutIdLst>
  <p:hf sldNum="0" hdr="0" ftr="0" dt="0"/>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3.xml"/></Relationships>
</file>

<file path=ppt/slides/_rels/slide51.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1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07C545C-EAC2-4814-AE8B-2D0C943C3029}"/>
              </a:ext>
            </a:extLst>
          </p:cNvPr>
          <p:cNvSpPr>
            <a:spLocks noGrp="1"/>
          </p:cNvSpPr>
          <p:nvPr>
            <p:ph type="ctrTitle"/>
          </p:nvPr>
        </p:nvSpPr>
        <p:spPr/>
        <p:txBody>
          <a:bodyPr/>
          <a:lstStyle/>
          <a:p>
            <a:endParaRPr lang="en-US" dirty="0"/>
          </a:p>
        </p:txBody>
      </p:sp>
      <p:sp>
        <p:nvSpPr>
          <p:cNvPr id="3" name="Subtitle 2">
            <a:extLst>
              <a:ext uri="{FF2B5EF4-FFF2-40B4-BE49-F238E27FC236}">
                <a16:creationId xmlns:a16="http://schemas.microsoft.com/office/drawing/2014/main" xmlns="" id="{39211BDA-D7DF-4130-A3B3-EE0167636377}"/>
              </a:ext>
            </a:extLst>
          </p:cNvPr>
          <p:cNvSpPr>
            <a:spLocks noGrp="1"/>
          </p:cNvSpPr>
          <p:nvPr>
            <p:ph type="subTitle" idx="1"/>
          </p:nvPr>
        </p:nvSpPr>
        <p:spPr>
          <a:xfrm>
            <a:off x="1192237" y="4391464"/>
            <a:ext cx="6400800" cy="2206283"/>
          </a:xfrm>
        </p:spPr>
        <p:txBody>
          <a:bodyPr>
            <a:normAutofit/>
          </a:bodyPr>
          <a:lstStyle/>
          <a:p>
            <a:pPr algn="ctr"/>
            <a:r>
              <a:rPr lang="en-US" sz="3900" b="1" dirty="0"/>
              <a:t>Operations Research</a:t>
            </a:r>
          </a:p>
          <a:p>
            <a:pPr algn="ctr"/>
            <a:r>
              <a:rPr lang="en-US" sz="2800" b="1" dirty="0">
                <a:solidFill>
                  <a:srgbClr val="000000">
                    <a:lumMod val="75000"/>
                    <a:lumOff val="25000"/>
                  </a:srgbClr>
                </a:solidFill>
              </a:rPr>
              <a:t>(Software Engineering</a:t>
            </a:r>
            <a:r>
              <a:rPr lang="en-US" sz="2800" b="1" dirty="0" smtClean="0">
                <a:solidFill>
                  <a:srgbClr val="000000">
                    <a:lumMod val="75000"/>
                    <a:lumOff val="25000"/>
                  </a:srgbClr>
                </a:solidFill>
              </a:rPr>
              <a:t>)</a:t>
            </a:r>
            <a:endParaRPr lang="en-US" sz="3200" b="1" dirty="0"/>
          </a:p>
        </p:txBody>
      </p:sp>
      <p:pic>
        <p:nvPicPr>
          <p:cNvPr id="4" name="Picture 3">
            <a:extLst>
              <a:ext uri="{FF2B5EF4-FFF2-40B4-BE49-F238E27FC236}">
                <a16:creationId xmlns:a16="http://schemas.microsoft.com/office/drawing/2014/main" xmlns="" id="{667F458A-708A-4E75-9D30-9C4DBEA489A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371600"/>
            <a:ext cx="9144000" cy="2661764"/>
          </a:xfrm>
          <a:prstGeom prst="rect">
            <a:avLst/>
          </a:prstGeom>
        </p:spPr>
      </p:pic>
      <p:sp>
        <p:nvSpPr>
          <p:cNvPr id="5" name="Rectangle 4">
            <a:extLst>
              <a:ext uri="{FF2B5EF4-FFF2-40B4-BE49-F238E27FC236}">
                <a16:creationId xmlns:a16="http://schemas.microsoft.com/office/drawing/2014/main" xmlns="" id="{CA972A36-04A5-41D7-9B19-15A743E4476F}"/>
              </a:ext>
            </a:extLst>
          </p:cNvPr>
          <p:cNvSpPr/>
          <p:nvPr/>
        </p:nvSpPr>
        <p:spPr>
          <a:xfrm>
            <a:off x="3713463" y="637061"/>
            <a:ext cx="1717073" cy="523220"/>
          </a:xfrm>
          <a:prstGeom prst="rect">
            <a:avLst/>
          </a:prstGeom>
        </p:spPr>
        <p:txBody>
          <a:bodyPr wrap="none">
            <a:spAutoFit/>
          </a:bodyPr>
          <a:lstStyle/>
          <a:p>
            <a:pPr algn="ctr"/>
            <a:r>
              <a:rPr lang="en-US" sz="2800" b="1" u="sng" dirty="0">
                <a:solidFill>
                  <a:srgbClr val="FF0000"/>
                </a:solidFill>
                <a:latin typeface="Arial" panose="020B0604020202020204" pitchFamily="34" charset="0"/>
                <a:cs typeface="Arial" panose="020B0604020202020204" pitchFamily="34" charset="0"/>
              </a:rPr>
              <a:t>Week # 9</a:t>
            </a:r>
            <a:endParaRPr lang="en-GB" sz="2800" u="sng" dirty="0">
              <a:solidFill>
                <a:srgbClr val="FF0000"/>
              </a:solidFill>
            </a:endParaRPr>
          </a:p>
        </p:txBody>
      </p:sp>
    </p:spTree>
    <p:extLst>
      <p:ext uri="{BB962C8B-B14F-4D97-AF65-F5344CB8AC3E}">
        <p14:creationId xmlns:p14="http://schemas.microsoft.com/office/powerpoint/2010/main" val="31553155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solidFill>
                  <a:srgbClr val="C00000"/>
                </a:solidFill>
                <a:latin typeface="Arial" panose="020B0604020202020204" pitchFamily="34" charset="0"/>
                <a:cs typeface="Arial" panose="020B0604020202020204" pitchFamily="34" charset="0"/>
              </a:rPr>
              <a:t>Transportation model</a:t>
            </a:r>
          </a:p>
        </p:txBody>
      </p:sp>
      <p:sp>
        <p:nvSpPr>
          <p:cNvPr id="6" name="Content Placeholder 5">
            <a:extLst>
              <a:ext uri="{FF2B5EF4-FFF2-40B4-BE49-F238E27FC236}">
                <a16:creationId xmlns:a16="http://schemas.microsoft.com/office/drawing/2014/main" xmlns="" id="{12C3F38F-06D5-4ADF-BB89-374D8DB47BD2}"/>
              </a:ext>
            </a:extLst>
          </p:cNvPr>
          <p:cNvSpPr>
            <a:spLocks noGrp="1"/>
          </p:cNvSpPr>
          <p:nvPr>
            <p:ph idx="1"/>
          </p:nvPr>
        </p:nvSpPr>
        <p:spPr>
          <a:xfrm>
            <a:off x="856060" y="2249486"/>
            <a:ext cx="7429499" cy="4608513"/>
          </a:xfrm>
        </p:spPr>
        <p:txBody>
          <a:bodyPr>
            <a:normAutofit/>
          </a:bodyPr>
          <a:lstStyle/>
          <a:p>
            <a:pPr lvl="1" algn="just">
              <a:defRPr/>
            </a:pPr>
            <a:r>
              <a:rPr lang="en-US" sz="2400" dirty="0">
                <a:effectLst/>
                <a:latin typeface="Arial" panose="020B0604020202020204" pitchFamily="34" charset="0"/>
                <a:cs typeface="Arial" panose="020B0604020202020204" pitchFamily="34" charset="0"/>
              </a:rPr>
              <a:t>The </a:t>
            </a:r>
            <a:r>
              <a:rPr lang="en-US" sz="2400" i="1" dirty="0">
                <a:solidFill>
                  <a:schemeClr val="accent2"/>
                </a:solidFill>
                <a:effectLst/>
                <a:latin typeface="Arial" panose="020B0604020202020204" pitchFamily="34" charset="0"/>
                <a:cs typeface="Arial" panose="020B0604020202020204" pitchFamily="34" charset="0"/>
              </a:rPr>
              <a:t>transportation problem</a:t>
            </a:r>
            <a:r>
              <a:rPr lang="en-US" sz="2400" dirty="0">
                <a:effectLst/>
                <a:latin typeface="Arial" panose="020B0604020202020204" pitchFamily="34" charset="0"/>
                <a:cs typeface="Arial" panose="020B0604020202020204" pitchFamily="34" charset="0"/>
              </a:rPr>
              <a:t> deals with the distribution of goods from several points of supply (</a:t>
            </a:r>
            <a:r>
              <a:rPr lang="en-US" sz="2400" i="1" dirty="0">
                <a:solidFill>
                  <a:schemeClr val="accent2"/>
                </a:solidFill>
                <a:effectLst/>
                <a:latin typeface="Arial" panose="020B0604020202020204" pitchFamily="34" charset="0"/>
                <a:cs typeface="Arial" panose="020B0604020202020204" pitchFamily="34" charset="0"/>
              </a:rPr>
              <a:t>sources</a:t>
            </a:r>
            <a:r>
              <a:rPr lang="en-US" sz="2400" dirty="0">
                <a:effectLst/>
                <a:latin typeface="Arial" panose="020B0604020202020204" pitchFamily="34" charset="0"/>
                <a:cs typeface="Arial" panose="020B0604020202020204" pitchFamily="34" charset="0"/>
              </a:rPr>
              <a:t>) to a number of points of demand (</a:t>
            </a:r>
            <a:r>
              <a:rPr lang="en-US" sz="2400" i="1" dirty="0">
                <a:solidFill>
                  <a:schemeClr val="accent2"/>
                </a:solidFill>
                <a:effectLst/>
                <a:latin typeface="Arial" panose="020B0604020202020204" pitchFamily="34" charset="0"/>
                <a:cs typeface="Arial" panose="020B0604020202020204" pitchFamily="34" charset="0"/>
              </a:rPr>
              <a:t>destinations</a:t>
            </a:r>
            <a:r>
              <a:rPr lang="en-US" sz="2400" dirty="0">
                <a:effectLst/>
                <a:latin typeface="Arial" panose="020B0604020202020204" pitchFamily="34" charset="0"/>
                <a:cs typeface="Arial" panose="020B0604020202020204" pitchFamily="34" charset="0"/>
              </a:rPr>
              <a:t>)</a:t>
            </a:r>
          </a:p>
          <a:p>
            <a:pPr lvl="1" algn="just">
              <a:defRPr/>
            </a:pPr>
            <a:r>
              <a:rPr lang="en-US" sz="2400" dirty="0">
                <a:effectLst/>
                <a:latin typeface="Arial" panose="020B0604020202020204" pitchFamily="34" charset="0"/>
                <a:cs typeface="Arial" panose="020B0604020202020204" pitchFamily="34" charset="0"/>
              </a:rPr>
              <a:t>Usually we are given the capacity of goods at each source and the requirements at each destination</a:t>
            </a:r>
          </a:p>
          <a:p>
            <a:pPr lvl="1" algn="just">
              <a:defRPr/>
            </a:pPr>
            <a:r>
              <a:rPr lang="en-US" sz="2400" dirty="0">
                <a:effectLst/>
                <a:latin typeface="Arial" panose="020B0604020202020204" pitchFamily="34" charset="0"/>
                <a:cs typeface="Arial" panose="020B0604020202020204" pitchFamily="34" charset="0"/>
              </a:rPr>
              <a:t>Typically the objective is to minimize total transportation and production costs</a:t>
            </a: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pPr marL="0" indent="0">
              <a:buNone/>
            </a:pPr>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2423696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11623" y="394446"/>
            <a:ext cx="7243482" cy="6302189"/>
          </a:xfrm>
        </p:spPr>
      </p:pic>
    </p:spTree>
    <p:extLst>
      <p:ext uri="{BB962C8B-B14F-4D97-AF65-F5344CB8AC3E}">
        <p14:creationId xmlns:p14="http://schemas.microsoft.com/office/powerpoint/2010/main" val="28947809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18813" y="1989509"/>
            <a:ext cx="7429499" cy="4402325"/>
          </a:xfrm>
        </p:spPr>
        <p:txBody>
          <a:bodyPr>
            <a:noAutofit/>
          </a:bodyPr>
          <a:lstStyle/>
          <a:p>
            <a:pPr marL="0" indent="0">
              <a:buNone/>
            </a:pPr>
            <a:r>
              <a:rPr lang="en-GB" sz="1400" dirty="0" smtClean="0">
                <a:latin typeface="Arial" pitchFamily="34" charset="0"/>
                <a:cs typeface="Arial" pitchFamily="34" charset="0"/>
              </a:rPr>
              <a:t>Following three different methods are discussed to obtain an initial solution:</a:t>
            </a:r>
          </a:p>
          <a:p>
            <a:r>
              <a:rPr lang="en-GB" sz="1400" dirty="0" smtClean="0">
                <a:latin typeface="Arial" pitchFamily="34" charset="0"/>
                <a:cs typeface="Arial" pitchFamily="34" charset="0"/>
              </a:rPr>
              <a:t>North-West Corner Method,</a:t>
            </a:r>
          </a:p>
          <a:p>
            <a:r>
              <a:rPr lang="en-GB" sz="1400" dirty="0" smtClean="0">
                <a:latin typeface="Arial" pitchFamily="34" charset="0"/>
                <a:cs typeface="Arial" pitchFamily="34" charset="0"/>
              </a:rPr>
              <a:t> Least Cost Method, and</a:t>
            </a:r>
          </a:p>
          <a:p>
            <a:r>
              <a:rPr lang="en-GB" sz="1400" dirty="0" smtClean="0">
                <a:latin typeface="Arial" pitchFamily="34" charset="0"/>
                <a:cs typeface="Arial" pitchFamily="34" charset="0"/>
              </a:rPr>
              <a:t>Vogel’s Approximation (or Penalty) Method.</a:t>
            </a:r>
          </a:p>
          <a:p>
            <a:pPr marL="0" indent="0">
              <a:buNone/>
            </a:pPr>
            <a:r>
              <a:rPr lang="en-GB" sz="1400" dirty="0" smtClean="0">
                <a:latin typeface="Arial" pitchFamily="34" charset="0"/>
                <a:cs typeface="Arial" pitchFamily="34" charset="0"/>
              </a:rPr>
              <a:t>The initial solution obtained by any of the three methods must satisfy the following conditions:</a:t>
            </a:r>
          </a:p>
          <a:p>
            <a:pPr marL="0" indent="0">
              <a:buNone/>
            </a:pPr>
            <a:r>
              <a:rPr lang="en-GB" sz="1400" dirty="0" smtClean="0">
                <a:latin typeface="Arial" pitchFamily="34" charset="0"/>
                <a:cs typeface="Arial" pitchFamily="34" charset="0"/>
              </a:rPr>
              <a:t>(i) The solution must be feasible, i.e. it must satisfy all the supply and demand constraints (also called rim conditions).</a:t>
            </a:r>
          </a:p>
          <a:p>
            <a:pPr marL="0" indent="0">
              <a:buNone/>
            </a:pPr>
            <a:r>
              <a:rPr lang="en-GB" sz="1400" dirty="0" smtClean="0">
                <a:latin typeface="Arial" pitchFamily="34" charset="0"/>
                <a:cs typeface="Arial" pitchFamily="34" charset="0"/>
              </a:rPr>
              <a:t>(ii) The number of positive allocations must be equal to m + n – 1, where m is the number of rows and n is the number of columns of the cost table.</a:t>
            </a:r>
          </a:p>
          <a:p>
            <a:pPr marL="0" indent="0">
              <a:buNone/>
            </a:pPr>
            <a:r>
              <a:rPr lang="en-GB" sz="1400" dirty="0" smtClean="0">
                <a:latin typeface="Arial" pitchFamily="34" charset="0"/>
                <a:cs typeface="Arial" pitchFamily="34" charset="0"/>
              </a:rPr>
              <a:t>Any solution that satisfies the above conditions is called non-degenerate basic feasible solution, otherwise, degenerate solution.</a:t>
            </a:r>
            <a:endParaRPr lang="en-GB" sz="1400" dirty="0">
              <a:latin typeface="Arial" pitchFamily="34" charset="0"/>
              <a:cs typeface="Arial" pitchFamily="34" charset="0"/>
            </a:endParaRPr>
          </a:p>
        </p:txBody>
      </p:sp>
      <p:sp>
        <p:nvSpPr>
          <p:cNvPr id="4" name="Title 1"/>
          <p:cNvSpPr>
            <a:spLocks noGrp="1"/>
          </p:cNvSpPr>
          <p:nvPr>
            <p:ph type="title"/>
          </p:nvPr>
        </p:nvSpPr>
        <p:spPr>
          <a:xfrm>
            <a:off x="856060" y="618518"/>
            <a:ext cx="7429499" cy="1478570"/>
          </a:xfrm>
        </p:spPr>
        <p:txBody>
          <a:bodyPr>
            <a:normAutofit/>
          </a:bodyPr>
          <a:lstStyle/>
          <a:p>
            <a:r>
              <a:rPr lang="en-GB" sz="4000" dirty="0">
                <a:solidFill>
                  <a:srgbClr val="C00000"/>
                </a:solidFill>
                <a:latin typeface="Arial" pitchFamily="34" charset="0"/>
                <a:cs typeface="Arial" pitchFamily="34" charset="0"/>
              </a:rPr>
              <a:t>Obtain an initial basic feasible solution</a:t>
            </a:r>
            <a:endParaRPr lang="en-US" sz="4000" dirty="0">
              <a:solidFill>
                <a:srgbClr val="C0000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8145422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81565" y="152353"/>
            <a:ext cx="7429499" cy="1478570"/>
          </a:xfrm>
        </p:spPr>
        <p:txBody>
          <a:bodyPr>
            <a:normAutofit/>
          </a:bodyPr>
          <a:lstStyle/>
          <a:p>
            <a:r>
              <a:rPr lang="en-US" sz="4000" dirty="0">
                <a:solidFill>
                  <a:srgbClr val="C00000"/>
                </a:solidFill>
                <a:latin typeface="Arial" panose="020B0604020202020204" pitchFamily="34" charset="0"/>
                <a:cs typeface="Arial" panose="020B0604020202020204" pitchFamily="34" charset="0"/>
              </a:rPr>
              <a:t>North west cost method (Procedure)</a:t>
            </a:r>
          </a:p>
        </p:txBody>
      </p:sp>
      <p:sp>
        <p:nvSpPr>
          <p:cNvPr id="6" name="Content Placeholder 5">
            <a:extLst>
              <a:ext uri="{FF2B5EF4-FFF2-40B4-BE49-F238E27FC236}">
                <a16:creationId xmlns:a16="http://schemas.microsoft.com/office/drawing/2014/main" xmlns="" id="{12C3F38F-06D5-4ADF-BB89-374D8DB47BD2}"/>
              </a:ext>
            </a:extLst>
          </p:cNvPr>
          <p:cNvSpPr>
            <a:spLocks noGrp="1"/>
          </p:cNvSpPr>
          <p:nvPr>
            <p:ph idx="1"/>
          </p:nvPr>
        </p:nvSpPr>
        <p:spPr>
          <a:xfrm>
            <a:off x="891919" y="1514381"/>
            <a:ext cx="7429499" cy="4608513"/>
          </a:xfrm>
        </p:spPr>
        <p:txBody>
          <a:bodyPr>
            <a:normAutofit fontScale="85000" lnSpcReduction="20000"/>
          </a:bodyPr>
          <a:lstStyle/>
          <a:p>
            <a:pPr algn="just"/>
            <a:r>
              <a:rPr lang="en-US" dirty="0">
                <a:effectLst/>
                <a:latin typeface="Arial" panose="020B0604020202020204" pitchFamily="34" charset="0"/>
                <a:cs typeface="Arial" panose="020B0604020202020204" pitchFamily="34" charset="0"/>
              </a:rPr>
              <a:t>First we check the problem is balance or unbalance. If supply equal demands then the problem is balance otherwise unbalance</a:t>
            </a:r>
            <a:r>
              <a:rPr lang="en-US" dirty="0" smtClean="0">
                <a:effectLst/>
                <a:latin typeface="Arial" panose="020B0604020202020204" pitchFamily="34" charset="0"/>
                <a:cs typeface="Arial" panose="020B0604020202020204" pitchFamily="34" charset="0"/>
              </a:rPr>
              <a:t>.</a:t>
            </a:r>
            <a:endParaRPr lang="en-GB" dirty="0"/>
          </a:p>
          <a:p>
            <a:r>
              <a:rPr lang="en-GB" dirty="0">
                <a:latin typeface="TimesNewRoman"/>
              </a:rPr>
              <a:t>The </a:t>
            </a:r>
            <a:r>
              <a:rPr lang="en-GB" dirty="0" smtClean="0">
                <a:latin typeface="TimesNewRoman"/>
              </a:rPr>
              <a:t>unbalanced transportation </a:t>
            </a:r>
            <a:r>
              <a:rPr lang="en-GB" dirty="0">
                <a:latin typeface="TimesNewRoman"/>
              </a:rPr>
              <a:t>problem can be made balanced by adding a dummy supply centre (row) or a </a:t>
            </a:r>
            <a:r>
              <a:rPr lang="en-GB" dirty="0" smtClean="0">
                <a:latin typeface="TimesNewRoman"/>
              </a:rPr>
              <a:t>dummy demand </a:t>
            </a:r>
            <a:r>
              <a:rPr lang="en-GB" dirty="0">
                <a:latin typeface="TimesNewRoman"/>
              </a:rPr>
              <a:t>centre (column) as the need arises. </a:t>
            </a:r>
            <a:endParaRPr lang="en-GB" dirty="0" smtClean="0">
              <a:latin typeface="TimesNewRoman"/>
            </a:endParaRPr>
          </a:p>
          <a:p>
            <a:r>
              <a:rPr lang="en-US" dirty="0" smtClean="0">
                <a:effectLst/>
                <a:latin typeface="Arial" panose="020B0604020202020204" pitchFamily="34" charset="0"/>
                <a:cs typeface="Arial" panose="020B0604020202020204" pitchFamily="34" charset="0"/>
              </a:rPr>
              <a:t>Select </a:t>
            </a:r>
            <a:r>
              <a:rPr lang="en-US" dirty="0">
                <a:effectLst/>
                <a:latin typeface="Arial" panose="020B0604020202020204" pitchFamily="34" charset="0"/>
                <a:cs typeface="Arial" panose="020B0604020202020204" pitchFamily="34" charset="0"/>
              </a:rPr>
              <a:t>the top left corner cell (box) of the transportation problem and allocates as many unit as possible equal to the minimum between available supply and demand.</a:t>
            </a:r>
          </a:p>
          <a:p>
            <a:pPr algn="just"/>
            <a:r>
              <a:rPr lang="en-US" dirty="0">
                <a:effectLst/>
                <a:latin typeface="Arial" panose="020B0604020202020204" pitchFamily="34" charset="0"/>
                <a:cs typeface="Arial" panose="020B0604020202020204" pitchFamily="34" charset="0"/>
              </a:rPr>
              <a:t>Adjust the supply and demand number in the respective rows and column.</a:t>
            </a:r>
          </a:p>
          <a:p>
            <a:pPr algn="just"/>
            <a:r>
              <a:rPr lang="en-US" dirty="0">
                <a:effectLst/>
                <a:latin typeface="Arial" panose="020B0604020202020204" pitchFamily="34" charset="0"/>
                <a:cs typeface="Arial" panose="020B0604020202020204" pitchFamily="34" charset="0"/>
              </a:rPr>
              <a:t>If the demand for the first cell is satisfied then move horizontally to the next cell in the second column.</a:t>
            </a:r>
          </a:p>
          <a:p>
            <a:pPr marL="0" indent="0">
              <a:buNone/>
            </a:pPr>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99007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solidFill>
                  <a:srgbClr val="C00000"/>
                </a:solidFill>
                <a:latin typeface="Arial" panose="020B0604020202020204" pitchFamily="34" charset="0"/>
                <a:cs typeface="Arial" panose="020B0604020202020204" pitchFamily="34" charset="0"/>
              </a:rPr>
              <a:t>North west cost method (Procedure)</a:t>
            </a:r>
          </a:p>
        </p:txBody>
      </p:sp>
      <p:sp>
        <p:nvSpPr>
          <p:cNvPr id="6" name="Content Placeholder 5">
            <a:extLst>
              <a:ext uri="{FF2B5EF4-FFF2-40B4-BE49-F238E27FC236}">
                <a16:creationId xmlns:a16="http://schemas.microsoft.com/office/drawing/2014/main" xmlns="" id="{12C3F38F-06D5-4ADF-BB89-374D8DB47BD2}"/>
              </a:ext>
            </a:extLst>
          </p:cNvPr>
          <p:cNvSpPr>
            <a:spLocks noGrp="1"/>
          </p:cNvSpPr>
          <p:nvPr>
            <p:ph idx="1"/>
          </p:nvPr>
        </p:nvSpPr>
        <p:spPr>
          <a:xfrm>
            <a:off x="856060" y="2249486"/>
            <a:ext cx="7429499" cy="4608513"/>
          </a:xfrm>
        </p:spPr>
        <p:txBody>
          <a:bodyPr>
            <a:normAutofit/>
          </a:bodyPr>
          <a:lstStyle/>
          <a:p>
            <a:pPr algn="just"/>
            <a:r>
              <a:rPr lang="en-US" dirty="0">
                <a:effectLst/>
                <a:latin typeface="Arial" panose="020B0604020202020204" pitchFamily="34" charset="0"/>
                <a:cs typeface="Arial" panose="020B0604020202020204" pitchFamily="34" charset="0"/>
              </a:rPr>
              <a:t>If the supply for the first cell is satisfied then move down in the second row.</a:t>
            </a:r>
          </a:p>
          <a:p>
            <a:pPr algn="just"/>
            <a:r>
              <a:rPr lang="en-US" dirty="0">
                <a:effectLst/>
                <a:latin typeface="Arial" panose="020B0604020202020204" pitchFamily="34" charset="0"/>
                <a:cs typeface="Arial" panose="020B0604020202020204" pitchFamily="34" charset="0"/>
              </a:rPr>
              <a:t>If demand is satisfied then delete (×) the column.</a:t>
            </a:r>
          </a:p>
          <a:p>
            <a:pPr algn="just"/>
            <a:r>
              <a:rPr lang="en-US" dirty="0">
                <a:effectLst/>
                <a:latin typeface="Arial" panose="020B0604020202020204" pitchFamily="34" charset="0"/>
                <a:cs typeface="Arial" panose="020B0604020202020204" pitchFamily="34" charset="0"/>
              </a:rPr>
              <a:t>If supply is satisfied then delete (×) the row.</a:t>
            </a:r>
          </a:p>
          <a:p>
            <a:pPr algn="just"/>
            <a:r>
              <a:rPr lang="en-US" dirty="0">
                <a:effectLst/>
                <a:latin typeface="Arial" panose="020B0604020202020204" pitchFamily="34" charset="0"/>
                <a:cs typeface="Arial" panose="020B0604020202020204" pitchFamily="34" charset="0"/>
              </a:rPr>
              <a:t>Continue the process until all supply and demand are satisfied.</a:t>
            </a:r>
          </a:p>
          <a:p>
            <a:endParaRPr lang="en-US" dirty="0">
              <a:latin typeface="Arial" panose="020B0604020202020204" pitchFamily="34" charset="0"/>
              <a:cs typeface="Arial" panose="020B0604020202020204" pitchFamily="34" charset="0"/>
            </a:endParaRPr>
          </a:p>
          <a:p>
            <a:pPr marL="0" indent="0">
              <a:buNone/>
            </a:pPr>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4014017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36742" y="1506070"/>
            <a:ext cx="7429499" cy="4966447"/>
          </a:xfrm>
        </p:spPr>
        <p:txBody>
          <a:bodyPr>
            <a:normAutofit fontScale="92500"/>
          </a:bodyPr>
          <a:lstStyle/>
          <a:p>
            <a:pPr marL="0" indent="0">
              <a:buNone/>
            </a:pPr>
            <a:r>
              <a:rPr lang="en-GB" dirty="0"/>
              <a:t>Karachi and Lahore </a:t>
            </a:r>
            <a:r>
              <a:rPr lang="en-GB" dirty="0" smtClean="0"/>
              <a:t>factories are </a:t>
            </a:r>
            <a:r>
              <a:rPr lang="en-GB" dirty="0"/>
              <a:t>two car </a:t>
            </a:r>
            <a:r>
              <a:rPr lang="en-GB" dirty="0" smtClean="0"/>
              <a:t>supplier factories. The transportation cost per car to transport from Karachi to </a:t>
            </a:r>
            <a:r>
              <a:rPr lang="en-GB" dirty="0"/>
              <a:t>Peshawar, Sialkot, and </a:t>
            </a:r>
            <a:r>
              <a:rPr lang="en-GB" dirty="0" smtClean="0"/>
              <a:t>Multan is </a:t>
            </a:r>
            <a:r>
              <a:rPr lang="en-GB" dirty="0"/>
              <a:t>13, 11, and 40 </a:t>
            </a:r>
            <a:r>
              <a:rPr lang="en-GB" dirty="0" smtClean="0"/>
              <a:t>thousand, </a:t>
            </a:r>
            <a:r>
              <a:rPr lang="en-GB" dirty="0"/>
              <a:t>respectively. The transportation cost per car to transport from </a:t>
            </a:r>
            <a:r>
              <a:rPr lang="en-GB" dirty="0" smtClean="0"/>
              <a:t>Lahore </a:t>
            </a:r>
            <a:r>
              <a:rPr lang="en-GB" dirty="0"/>
              <a:t>to Peshawar, Sialkot, and </a:t>
            </a:r>
            <a:r>
              <a:rPr lang="en-GB" dirty="0" smtClean="0"/>
              <a:t>Multan</a:t>
            </a:r>
            <a:r>
              <a:rPr lang="en-GB" dirty="0"/>
              <a:t> </a:t>
            </a:r>
            <a:r>
              <a:rPr lang="en-GB" dirty="0" smtClean="0"/>
              <a:t>is </a:t>
            </a:r>
            <a:r>
              <a:rPr lang="en-GB" dirty="0"/>
              <a:t>18, 18, and 12 </a:t>
            </a:r>
            <a:r>
              <a:rPr lang="en-GB" dirty="0" smtClean="0"/>
              <a:t>thousand, </a:t>
            </a:r>
            <a:r>
              <a:rPr lang="en-GB" dirty="0"/>
              <a:t>respectively. However, Karachi can only supply a maximum of 2 cars per month in </a:t>
            </a:r>
            <a:r>
              <a:rPr lang="en-GB" dirty="0" smtClean="0"/>
              <a:t>total and Lahore </a:t>
            </a:r>
            <a:r>
              <a:rPr lang="en-GB" dirty="0"/>
              <a:t>can only supply a maximum of 7 cars per month in total</a:t>
            </a:r>
            <a:r>
              <a:rPr lang="en-GB" dirty="0" smtClean="0"/>
              <a:t>. The </a:t>
            </a:r>
            <a:r>
              <a:rPr lang="en-GB" dirty="0"/>
              <a:t>cities Peshawar, Sialkot, and Multan have monthly </a:t>
            </a:r>
            <a:r>
              <a:rPr lang="en-GB" dirty="0" smtClean="0"/>
              <a:t>demand </a:t>
            </a:r>
            <a:r>
              <a:rPr lang="en-GB" dirty="0"/>
              <a:t>of 1, 3, and 5 cars, respectively</a:t>
            </a:r>
            <a:r>
              <a:rPr lang="en-GB" dirty="0" smtClean="0"/>
              <a:t>. Determine the cost per month for supplying these cars. </a:t>
            </a:r>
            <a:r>
              <a:rPr lang="en-GB" dirty="0"/>
              <a:t>Use North-West Corner Method (NWCM) to find an initial basic feasible </a:t>
            </a:r>
            <a:r>
              <a:rPr lang="en-GB" dirty="0" smtClean="0"/>
              <a:t>solution.</a:t>
            </a:r>
            <a:endParaRPr lang="en-GB" dirty="0"/>
          </a:p>
        </p:txBody>
      </p:sp>
      <p:sp>
        <p:nvSpPr>
          <p:cNvPr id="2" name="TextBox 1"/>
          <p:cNvSpPr txBox="1"/>
          <p:nvPr/>
        </p:nvSpPr>
        <p:spPr>
          <a:xfrm>
            <a:off x="1084730" y="923365"/>
            <a:ext cx="3666564" cy="461665"/>
          </a:xfrm>
          <a:prstGeom prst="rect">
            <a:avLst/>
          </a:prstGeom>
          <a:noFill/>
        </p:spPr>
        <p:txBody>
          <a:bodyPr wrap="square" rtlCol="0">
            <a:spAutoFit/>
          </a:bodyPr>
          <a:lstStyle/>
          <a:p>
            <a:r>
              <a:rPr lang="en-US" sz="2400" b="1" dirty="0" smtClean="0">
                <a:solidFill>
                  <a:srgbClr val="FF0000"/>
                </a:solidFill>
                <a:latin typeface="Arial" pitchFamily="34" charset="0"/>
                <a:cs typeface="Arial" pitchFamily="34" charset="0"/>
              </a:rPr>
              <a:t>Example 1:</a:t>
            </a:r>
            <a:endParaRPr lang="en-GB" b="1" dirty="0">
              <a:solidFill>
                <a:srgbClr val="FF0000"/>
              </a:solidFill>
              <a:latin typeface="Arial" pitchFamily="34" charset="0"/>
              <a:cs typeface="Arial" pitchFamily="34" charset="0"/>
            </a:endParaRPr>
          </a:p>
        </p:txBody>
      </p:sp>
    </p:spTree>
    <p:extLst>
      <p:ext uri="{BB962C8B-B14F-4D97-AF65-F5344CB8AC3E}">
        <p14:creationId xmlns:p14="http://schemas.microsoft.com/office/powerpoint/2010/main" val="16979643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solidFill>
                  <a:srgbClr val="C00000"/>
                </a:solidFill>
                <a:latin typeface="Arial" panose="020B0604020202020204" pitchFamily="34" charset="0"/>
                <a:cs typeface="Arial" panose="020B0604020202020204" pitchFamily="34" charset="0"/>
              </a:rPr>
              <a:t>North west cost </a:t>
            </a:r>
            <a:r>
              <a:rPr lang="en-US" sz="4000" dirty="0" smtClean="0">
                <a:solidFill>
                  <a:srgbClr val="C00000"/>
                </a:solidFill>
                <a:latin typeface="Arial" panose="020B0604020202020204" pitchFamily="34" charset="0"/>
                <a:cs typeface="Arial" panose="020B0604020202020204" pitchFamily="34" charset="0"/>
              </a:rPr>
              <a:t>method </a:t>
            </a:r>
            <a:r>
              <a:rPr lang="en-GB" sz="4000" dirty="0">
                <a:solidFill>
                  <a:srgbClr val="C00000"/>
                </a:solidFill>
                <a:latin typeface="Arial" pitchFamily="34" charset="0"/>
                <a:cs typeface="Arial" pitchFamily="34" charset="0"/>
              </a:rPr>
              <a:t>(NWCM)</a:t>
            </a:r>
            <a:endParaRPr lang="en-US" sz="4000" dirty="0">
              <a:solidFill>
                <a:srgbClr val="C00000"/>
              </a:solidFill>
              <a:latin typeface="Arial" panose="020B0604020202020204" pitchFamily="34" charset="0"/>
              <a:cs typeface="Arial" panose="020B0604020202020204" pitchFamily="34" charset="0"/>
            </a:endParaRPr>
          </a:p>
        </p:txBody>
      </p:sp>
      <p:sp>
        <p:nvSpPr>
          <p:cNvPr id="6" name="Content Placeholder 5">
            <a:extLst>
              <a:ext uri="{FF2B5EF4-FFF2-40B4-BE49-F238E27FC236}">
                <a16:creationId xmlns:a16="http://schemas.microsoft.com/office/drawing/2014/main" xmlns="" id="{12C3F38F-06D5-4ADF-BB89-374D8DB47BD2}"/>
              </a:ext>
            </a:extLst>
          </p:cNvPr>
          <p:cNvSpPr>
            <a:spLocks noGrp="1"/>
          </p:cNvSpPr>
          <p:nvPr>
            <p:ph idx="1"/>
          </p:nvPr>
        </p:nvSpPr>
        <p:spPr>
          <a:xfrm>
            <a:off x="856060" y="2249486"/>
            <a:ext cx="7429499" cy="4608513"/>
          </a:xfrm>
        </p:spPr>
        <p:txBody>
          <a:bodyPr>
            <a:normAutofit/>
          </a:bodyPr>
          <a:lstStyle/>
          <a:p>
            <a:pPr marL="0" indent="0">
              <a:buNone/>
            </a:pPr>
            <a:endParaRPr lang="en-US" dirty="0">
              <a:latin typeface="Arial" panose="020B0604020202020204" pitchFamily="34" charset="0"/>
              <a:cs typeface="Arial" panose="020B0604020202020204" pitchFamily="34" charset="0"/>
            </a:endParaRPr>
          </a:p>
          <a:p>
            <a:pPr marL="0" indent="0">
              <a:buNone/>
            </a:pPr>
            <a:endParaRPr lang="en-US" dirty="0">
              <a:latin typeface="Arial" panose="020B0604020202020204" pitchFamily="34" charset="0"/>
              <a:cs typeface="Arial" panose="020B0604020202020204" pitchFamily="34" charset="0"/>
            </a:endParaRPr>
          </a:p>
          <a:p>
            <a:pPr marL="0" indent="0">
              <a:buNone/>
            </a:pPr>
            <a:endParaRPr lang="en-US" dirty="0">
              <a:latin typeface="Arial" panose="020B0604020202020204" pitchFamily="34" charset="0"/>
              <a:cs typeface="Arial" panose="020B0604020202020204" pitchFamily="34" charset="0"/>
            </a:endParaRPr>
          </a:p>
        </p:txBody>
      </p:sp>
      <p:graphicFrame>
        <p:nvGraphicFramePr>
          <p:cNvPr id="5" name="Group 123">
            <a:extLst>
              <a:ext uri="{FF2B5EF4-FFF2-40B4-BE49-F238E27FC236}">
                <a16:creationId xmlns:a16="http://schemas.microsoft.com/office/drawing/2014/main" xmlns="" id="{A5DA3B2A-2E25-4DFF-9E0E-EBF2CA28C54C}"/>
              </a:ext>
            </a:extLst>
          </p:cNvPr>
          <p:cNvGraphicFramePr>
            <a:graphicFrameLocks noGrp="1"/>
          </p:cNvGraphicFramePr>
          <p:nvPr>
            <p:extLst>
              <p:ext uri="{D42A27DB-BD31-4B8C-83A1-F6EECF244321}">
                <p14:modId xmlns:p14="http://schemas.microsoft.com/office/powerpoint/2010/main" val="3833603792"/>
              </p:ext>
            </p:extLst>
          </p:nvPr>
        </p:nvGraphicFramePr>
        <p:xfrm>
          <a:off x="856060" y="2249486"/>
          <a:ext cx="6163297" cy="2543466"/>
        </p:xfrm>
        <a:graphic>
          <a:graphicData uri="http://schemas.openxmlformats.org/drawingml/2006/table">
            <a:tbl>
              <a:tblPr/>
              <a:tblGrid>
                <a:gridCol w="1737009">
                  <a:extLst>
                    <a:ext uri="{9D8B030D-6E8A-4147-A177-3AD203B41FA5}">
                      <a16:colId xmlns:a16="http://schemas.microsoft.com/office/drawing/2014/main" xmlns="" val="20000"/>
                    </a:ext>
                  </a:extLst>
                </a:gridCol>
                <a:gridCol w="1019792">
                  <a:extLst>
                    <a:ext uri="{9D8B030D-6E8A-4147-A177-3AD203B41FA5}">
                      <a16:colId xmlns:a16="http://schemas.microsoft.com/office/drawing/2014/main" xmlns="" val="20001"/>
                    </a:ext>
                  </a:extLst>
                </a:gridCol>
                <a:gridCol w="381020">
                  <a:extLst>
                    <a:ext uri="{9D8B030D-6E8A-4147-A177-3AD203B41FA5}">
                      <a16:colId xmlns:a16="http://schemas.microsoft.com/office/drawing/2014/main" xmlns="" val="20002"/>
                    </a:ext>
                  </a:extLst>
                </a:gridCol>
                <a:gridCol w="571532">
                  <a:extLst>
                    <a:ext uri="{9D8B030D-6E8A-4147-A177-3AD203B41FA5}">
                      <a16:colId xmlns:a16="http://schemas.microsoft.com/office/drawing/2014/main" xmlns="" val="20003"/>
                    </a:ext>
                  </a:extLst>
                </a:gridCol>
                <a:gridCol w="358608">
                  <a:extLst>
                    <a:ext uri="{9D8B030D-6E8A-4147-A177-3AD203B41FA5}">
                      <a16:colId xmlns:a16="http://schemas.microsoft.com/office/drawing/2014/main" xmlns="" val="20004"/>
                    </a:ext>
                  </a:extLst>
                </a:gridCol>
                <a:gridCol w="428943">
                  <a:extLst>
                    <a:ext uri="{9D8B030D-6E8A-4147-A177-3AD203B41FA5}">
                      <a16:colId xmlns:a16="http://schemas.microsoft.com/office/drawing/2014/main" xmlns="" val="20005"/>
                    </a:ext>
                  </a:extLst>
                </a:gridCol>
                <a:gridCol w="500915">
                  <a:extLst>
                    <a:ext uri="{9D8B030D-6E8A-4147-A177-3AD203B41FA5}">
                      <a16:colId xmlns:a16="http://schemas.microsoft.com/office/drawing/2014/main" xmlns="" val="20006"/>
                    </a:ext>
                  </a:extLst>
                </a:gridCol>
                <a:gridCol w="1165478">
                  <a:extLst>
                    <a:ext uri="{9D8B030D-6E8A-4147-A177-3AD203B41FA5}">
                      <a16:colId xmlns:a16="http://schemas.microsoft.com/office/drawing/2014/main" xmlns="" val="20007"/>
                    </a:ext>
                  </a:extLst>
                </a:gridCol>
              </a:tblGrid>
              <a:tr h="555364">
                <a:tc>
                  <a:txBody>
                    <a:bodyPr/>
                    <a:lstStyle/>
                    <a:p>
                      <a:pPr marL="0" marR="0" lvl="0" indent="0" algn="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bg1"/>
                          </a:solidFill>
                          <a:effectLst/>
                          <a:latin typeface="Arial" charset="0"/>
                          <a:ea typeface="ＭＳ Ｐゴシック" pitchFamily="34" charset="-128"/>
                        </a:rPr>
                        <a:t>TO</a:t>
                      </a:r>
                    </a:p>
                    <a:p>
                      <a:pPr marL="0" marR="0" lvl="0" indent="0" algn="l"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bg1"/>
                          </a:solidFill>
                          <a:effectLst/>
                          <a:latin typeface="Arial" charset="0"/>
                          <a:ea typeface="ＭＳ Ｐゴシック" pitchFamily="34" charset="-128"/>
                        </a:rPr>
                        <a:t>FROM</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9050" cap="flat" cmpd="sng" algn="ctr">
                      <a:solidFill>
                        <a:schemeClr val="tx1"/>
                      </a:solidFill>
                      <a:prstDash val="solid"/>
                      <a:round/>
                      <a:headEnd type="none" w="med" len="med"/>
                      <a:tailEnd type="none" w="med" len="med"/>
                    </a:lnTlToBr>
                    <a:lnBlToTr>
                      <a:noFill/>
                    </a:lnBlToTr>
                    <a:solidFill>
                      <a:srgbClr val="63BDE0"/>
                    </a:solidFill>
                  </a:tcPr>
                </a:tc>
                <a:tc gridSpan="2">
                  <a:txBody>
                    <a:bodyPr/>
                    <a:lstStyle/>
                    <a:p>
                      <a:pPr marL="0" marR="0" lvl="0" indent="0" algn="l"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bg1"/>
                          </a:solidFill>
                          <a:effectLst/>
                          <a:latin typeface="Arial" charset="0"/>
                          <a:ea typeface="ＭＳ Ｐゴシック" pitchFamily="34" charset="-128"/>
                        </a:rPr>
                        <a:t>Peshawar </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rgbClr val="63BDE0"/>
                    </a:solidFill>
                  </a:tcPr>
                </a:tc>
                <a:tc hMerge="1">
                  <a:txBody>
                    <a:bodyPr/>
                    <a:lstStyle/>
                    <a:p>
                      <a:endParaRPr lang="en-US"/>
                    </a:p>
                  </a:txBody>
                  <a:tcPr/>
                </a:tc>
                <a:tc gridSpan="2">
                  <a:txBody>
                    <a:bodyPr/>
                    <a:lstStyle/>
                    <a:p>
                      <a:pPr marL="0" marR="0" lvl="0" indent="0" algn="l"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bg1"/>
                          </a:solidFill>
                          <a:effectLst/>
                          <a:latin typeface="Arial" charset="0"/>
                          <a:ea typeface="ＭＳ Ｐゴシック" pitchFamily="34" charset="-128"/>
                        </a:rPr>
                        <a:t>Sialkot</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rgbClr val="63BDE0"/>
                    </a:solidFill>
                  </a:tcPr>
                </a:tc>
                <a:tc hMerge="1">
                  <a:txBody>
                    <a:bodyPr/>
                    <a:lstStyle/>
                    <a:p>
                      <a:endParaRPr lang="en-US"/>
                    </a:p>
                  </a:txBody>
                  <a:tcPr/>
                </a:tc>
                <a:tc gridSpan="2">
                  <a:txBody>
                    <a:bodyPr/>
                    <a:lstStyle/>
                    <a:p>
                      <a:pPr marL="0" marR="0" lvl="0" indent="0" algn="l"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bg1"/>
                          </a:solidFill>
                          <a:effectLst/>
                          <a:latin typeface="Arial" charset="0"/>
                          <a:ea typeface="ＭＳ Ｐゴシック" pitchFamily="34" charset="-128"/>
                        </a:rPr>
                        <a:t> Multan</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rgbClr val="63BDE0"/>
                    </a:solidFill>
                  </a:tcPr>
                </a:tc>
                <a:tc hMerge="1">
                  <a:txBody>
                    <a:bodyPr/>
                    <a:lstStyle/>
                    <a:p>
                      <a:endParaRPr lang="en-US"/>
                    </a:p>
                  </a:txBody>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bg1"/>
                          </a:solidFill>
                          <a:effectLst/>
                          <a:latin typeface="Arial" charset="0"/>
                          <a:ea typeface="ＭＳ Ｐゴシック" pitchFamily="34" charset="-128"/>
                        </a:rPr>
                        <a:t>FACTORY CAPACITY/Supply</a:t>
                      </a:r>
                    </a:p>
                  </a:txBody>
                  <a:tcPr marT="45709" marB="45709" anchor="b"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rgbClr val="63BDE0"/>
                    </a:solidFill>
                  </a:tcPr>
                </a:tc>
                <a:extLst>
                  <a:ext uri="{0D108BD9-81ED-4DB2-BD59-A6C34878D82A}">
                    <a16:rowId xmlns:a16="http://schemas.microsoft.com/office/drawing/2014/main" xmlns="" val="10000"/>
                  </a:ext>
                </a:extLst>
              </a:tr>
              <a:tr h="312663">
                <a:tc rowSpan="2">
                  <a:txBody>
                    <a:bodyPr/>
                    <a:lstStyle/>
                    <a:p>
                      <a:pPr marL="0" marR="0" lvl="0" indent="0" algn="l"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bg1"/>
                          </a:solidFill>
                          <a:effectLst/>
                          <a:latin typeface="Arial" charset="0"/>
                          <a:ea typeface="ＭＳ Ｐゴシック" pitchFamily="34" charset="-128"/>
                        </a:rPr>
                        <a:t> </a:t>
                      </a:r>
                      <a:br>
                        <a:rPr kumimoji="0" lang="en-US" sz="1400" b="1" i="0" u="none" strike="noStrike" cap="none" normalizeH="0" baseline="0" dirty="0">
                          <a:ln>
                            <a:noFill/>
                          </a:ln>
                          <a:solidFill>
                            <a:schemeClr val="bg1"/>
                          </a:solidFill>
                          <a:effectLst/>
                          <a:latin typeface="Arial" charset="0"/>
                          <a:ea typeface="ＭＳ Ｐゴシック" pitchFamily="34" charset="-128"/>
                        </a:rPr>
                      </a:br>
                      <a:r>
                        <a:rPr kumimoji="0" lang="en-US" sz="1400" b="1" i="0" u="none" strike="noStrike" cap="none" normalizeH="0" baseline="0" dirty="0">
                          <a:ln>
                            <a:noFill/>
                          </a:ln>
                          <a:solidFill>
                            <a:schemeClr val="bg1"/>
                          </a:solidFill>
                          <a:effectLst/>
                          <a:latin typeface="Arial" charset="0"/>
                          <a:ea typeface="ＭＳ Ｐゴシック" pitchFamily="34" charset="-128"/>
                        </a:rPr>
                        <a:t>Karachi</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rgbClr val="63BDE0"/>
                    </a:solidFill>
                  </a:tcPr>
                </a:tc>
                <a:tc rowSpan="2">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tx1"/>
                          </a:solidFill>
                          <a:effectLst>
                            <a:outerShdw blurRad="38100" dist="38100" dir="2700000" algn="tl">
                              <a:srgbClr val="C0C0C0"/>
                            </a:outerShdw>
                          </a:effectLst>
                          <a:latin typeface="Arial" charset="0"/>
                          <a:ea typeface="ＭＳ Ｐゴシック" pitchFamily="34" charset="-128"/>
                        </a:rPr>
                        <a:t>13</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endParaRPr kumimoji="0" lang="en-US" sz="1400" b="1" i="0" u="none" strike="noStrike" cap="none" normalizeH="0" baseline="0" dirty="0">
                        <a:ln>
                          <a:noFill/>
                        </a:ln>
                        <a:solidFill>
                          <a:schemeClr val="tx1"/>
                        </a:solidFill>
                        <a:effectLst/>
                        <a:latin typeface="Arial" charset="0"/>
                        <a:ea typeface="ＭＳ Ｐゴシック" pitchFamily="34" charset="-128"/>
                      </a:endParaRP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tx1"/>
                          </a:solidFill>
                          <a:effectLst/>
                          <a:latin typeface="Arial" charset="0"/>
                          <a:ea typeface="ＭＳ Ｐゴシック" pitchFamily="34" charset="-128"/>
                        </a:rPr>
                        <a:t>11</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endParaRPr kumimoji="0" lang="en-US" sz="1400" b="1" i="0" u="none" strike="noStrike" cap="none" normalizeH="0" baseline="0" dirty="0">
                        <a:ln>
                          <a:noFill/>
                        </a:ln>
                        <a:solidFill>
                          <a:schemeClr val="tx1"/>
                        </a:solidFill>
                        <a:effectLst/>
                        <a:latin typeface="Arial" charset="0"/>
                        <a:ea typeface="ＭＳ Ｐゴシック" pitchFamily="34" charset="-128"/>
                      </a:endParaRP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tx1"/>
                          </a:solidFill>
                          <a:effectLst/>
                          <a:latin typeface="Arial" charset="0"/>
                          <a:ea typeface="ＭＳ Ｐゴシック" pitchFamily="34" charset="-128"/>
                        </a:rPr>
                        <a:t>40</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endParaRPr kumimoji="0" lang="en-US" sz="1400" b="1" i="0" u="none" strike="noStrike" cap="none" normalizeH="0" baseline="0" dirty="0">
                        <a:ln>
                          <a:noFill/>
                        </a:ln>
                        <a:solidFill>
                          <a:schemeClr val="tx1"/>
                        </a:solidFill>
                        <a:effectLst/>
                        <a:latin typeface="Arial" charset="0"/>
                        <a:ea typeface="ＭＳ Ｐゴシック" pitchFamily="34" charset="-128"/>
                      </a:endParaRP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tx1"/>
                          </a:solidFill>
                          <a:effectLst/>
                          <a:latin typeface="Arial" charset="0"/>
                          <a:ea typeface="ＭＳ Ｐゴシック" pitchFamily="34" charset="-128"/>
                        </a:rPr>
                        <a:t>2</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1"/>
                  </a:ext>
                </a:extLst>
              </a:tr>
              <a:tr h="312663">
                <a:tc vMerge="1">
                  <a:txBody>
                    <a:bodyPr/>
                    <a:lstStyle/>
                    <a:p>
                      <a:endParaRPr lang="en-US"/>
                    </a:p>
                  </a:txBody>
                  <a:tcPr/>
                </a:tc>
                <a:tc vMerge="1">
                  <a:txBody>
                    <a:bodyPr/>
                    <a:lstStyle/>
                    <a:p>
                      <a:endParaRPr lang="en-US"/>
                    </a:p>
                  </a:txBody>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endParaRPr kumimoji="0" lang="en-US" sz="1400" b="1" i="0" u="none" strike="noStrike" cap="none" normalizeH="0" baseline="0" dirty="0">
                        <a:ln>
                          <a:noFill/>
                        </a:ln>
                        <a:solidFill>
                          <a:schemeClr val="tx1"/>
                        </a:solidFill>
                        <a:effectLst/>
                        <a:latin typeface="Arial" charset="0"/>
                        <a:ea typeface="ＭＳ Ｐゴシック" pitchFamily="34" charset="-128"/>
                      </a:endParaRPr>
                    </a:p>
                  </a:txBody>
                  <a:tcPr marT="45709" marB="45709" anchor="ctr" horzOverflow="overflow">
                    <a:lnL>
                      <a:noFill/>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vMerge="1">
                  <a:txBody>
                    <a:bodyPr/>
                    <a:lstStyle/>
                    <a:p>
                      <a:endParaRPr lang="en-US"/>
                    </a:p>
                  </a:txBody>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endParaRPr kumimoji="0" lang="en-US" sz="1400" b="1" i="0" u="none" strike="noStrike" cap="none" normalizeH="0" baseline="0" dirty="0">
                        <a:ln>
                          <a:noFill/>
                        </a:ln>
                        <a:solidFill>
                          <a:schemeClr val="tx1"/>
                        </a:solidFill>
                        <a:effectLst/>
                        <a:latin typeface="Arial" charset="0"/>
                        <a:ea typeface="ＭＳ Ｐゴシック" pitchFamily="34" charset="-128"/>
                      </a:endParaRPr>
                    </a:p>
                  </a:txBody>
                  <a:tcPr marT="45709" marB="45709" anchor="ctr" horzOverflow="overflow">
                    <a:lnL>
                      <a:noFill/>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vMerge="1">
                  <a:txBody>
                    <a:bodyPr/>
                    <a:lstStyle/>
                    <a:p>
                      <a:endParaRPr lang="en-US"/>
                    </a:p>
                  </a:txBody>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endParaRPr kumimoji="0" lang="en-US" sz="1400" b="1" i="0" u="none" strike="noStrike" cap="none" normalizeH="0" baseline="0" dirty="0">
                        <a:ln>
                          <a:noFill/>
                        </a:ln>
                        <a:solidFill>
                          <a:schemeClr val="tx1"/>
                        </a:solidFill>
                        <a:effectLst/>
                        <a:latin typeface="Arial" charset="0"/>
                        <a:ea typeface="ＭＳ Ｐゴシック" pitchFamily="34" charset="-128"/>
                      </a:endParaRPr>
                    </a:p>
                  </a:txBody>
                  <a:tcPr marT="45709" marB="45709" anchor="ctr" horzOverflow="overflow">
                    <a:lnL>
                      <a:noFill/>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vMerge="1">
                  <a:txBody>
                    <a:bodyPr/>
                    <a:lstStyle/>
                    <a:p>
                      <a:endParaRPr lang="en-US"/>
                    </a:p>
                  </a:txBody>
                  <a:tcPr/>
                </a:tc>
                <a:extLst>
                  <a:ext uri="{0D108BD9-81ED-4DB2-BD59-A6C34878D82A}">
                    <a16:rowId xmlns:a16="http://schemas.microsoft.com/office/drawing/2014/main" xmlns="" val="10002"/>
                  </a:ext>
                </a:extLst>
              </a:tr>
              <a:tr h="312663">
                <a:tc rowSpan="2">
                  <a:txBody>
                    <a:bodyPr/>
                    <a:lstStyle/>
                    <a:p>
                      <a:pPr marL="0" marR="0" lvl="0" indent="0" algn="l"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bg1"/>
                          </a:solidFill>
                          <a:effectLst/>
                          <a:latin typeface="Arial" charset="0"/>
                          <a:ea typeface="ＭＳ Ｐゴシック" pitchFamily="34" charset="-128"/>
                        </a:rPr>
                        <a:t>Lahore</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rgbClr val="63BDE0"/>
                    </a:solidFill>
                  </a:tcPr>
                </a:tc>
                <a:tc rowSpan="2">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tx1"/>
                          </a:solidFill>
                          <a:effectLst/>
                          <a:latin typeface="Arial" charset="0"/>
                          <a:ea typeface="ＭＳ Ｐゴシック" pitchFamily="34" charset="-128"/>
                        </a:rPr>
                        <a:t>18</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endParaRPr kumimoji="0" lang="en-US" sz="1400" b="1" i="0" u="none" strike="noStrike" cap="none" normalizeH="0" baseline="0" dirty="0">
                        <a:ln>
                          <a:noFill/>
                        </a:ln>
                        <a:solidFill>
                          <a:schemeClr val="tx1"/>
                        </a:solidFill>
                        <a:effectLst/>
                        <a:latin typeface="Arial" charset="0"/>
                        <a:ea typeface="ＭＳ Ｐゴシック" pitchFamily="34" charset="-128"/>
                      </a:endParaRP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tx1"/>
                          </a:solidFill>
                          <a:effectLst/>
                          <a:latin typeface="Arial" charset="0"/>
                          <a:ea typeface="ＭＳ Ｐゴシック" pitchFamily="34" charset="-128"/>
                        </a:rPr>
                        <a:t>18</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endParaRPr kumimoji="0" lang="en-US" sz="1400" b="1" i="0" u="none" strike="noStrike" cap="none" normalizeH="0" baseline="0" dirty="0">
                        <a:ln>
                          <a:noFill/>
                        </a:ln>
                        <a:solidFill>
                          <a:schemeClr val="tx1"/>
                        </a:solidFill>
                        <a:effectLst/>
                        <a:latin typeface="Arial" charset="0"/>
                        <a:ea typeface="ＭＳ Ｐゴシック" pitchFamily="34" charset="-128"/>
                      </a:endParaRP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tx1"/>
                          </a:solidFill>
                          <a:effectLst/>
                          <a:latin typeface="Arial" charset="0"/>
                          <a:ea typeface="ＭＳ Ｐゴシック" pitchFamily="34" charset="-128"/>
                        </a:rPr>
                        <a:t>12</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endParaRPr kumimoji="0" lang="en-US" sz="1400" b="1" i="0" u="none" strike="noStrike" cap="none" normalizeH="0" baseline="0" dirty="0">
                        <a:ln>
                          <a:noFill/>
                        </a:ln>
                        <a:solidFill>
                          <a:schemeClr val="tx1"/>
                        </a:solidFill>
                        <a:effectLst/>
                        <a:latin typeface="Arial" charset="0"/>
                        <a:ea typeface="ＭＳ Ｐゴシック" pitchFamily="34" charset="-128"/>
                      </a:endParaRP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tx1"/>
                          </a:solidFill>
                          <a:effectLst/>
                          <a:latin typeface="Arial" charset="0"/>
                          <a:ea typeface="ＭＳ Ｐゴシック" pitchFamily="34" charset="-128"/>
                        </a:rPr>
                        <a:t>7</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5"/>
                  </a:ext>
                </a:extLst>
              </a:tr>
              <a:tr h="312663">
                <a:tc vMerge="1">
                  <a:txBody>
                    <a:bodyPr/>
                    <a:lstStyle/>
                    <a:p>
                      <a:endParaRPr lang="en-US"/>
                    </a:p>
                  </a:txBody>
                  <a:tcPr/>
                </a:tc>
                <a:tc vMerge="1">
                  <a:txBody>
                    <a:bodyPr/>
                    <a:lstStyle/>
                    <a:p>
                      <a:endParaRPr lang="en-US"/>
                    </a:p>
                  </a:txBody>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endParaRPr kumimoji="0" lang="en-US" sz="1400" b="1" i="0" u="none" strike="noStrike" cap="none" normalizeH="0" baseline="0" dirty="0">
                        <a:ln>
                          <a:noFill/>
                        </a:ln>
                        <a:solidFill>
                          <a:schemeClr val="tx1"/>
                        </a:solidFill>
                        <a:effectLst/>
                        <a:latin typeface="Arial" charset="0"/>
                        <a:ea typeface="ＭＳ Ｐゴシック" pitchFamily="34" charset="-128"/>
                      </a:endParaRPr>
                    </a:p>
                  </a:txBody>
                  <a:tcPr marT="45709" marB="45709" anchor="ctr" horzOverflow="overflow">
                    <a:lnL>
                      <a:noFill/>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vMerge="1">
                  <a:txBody>
                    <a:bodyPr/>
                    <a:lstStyle/>
                    <a:p>
                      <a:endParaRPr lang="en-US"/>
                    </a:p>
                  </a:txBody>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endParaRPr kumimoji="0" lang="en-US" sz="1400" b="1" i="0" u="none" strike="noStrike" cap="none" normalizeH="0" baseline="0" dirty="0">
                        <a:ln>
                          <a:noFill/>
                        </a:ln>
                        <a:solidFill>
                          <a:schemeClr val="tx1"/>
                        </a:solidFill>
                        <a:effectLst/>
                        <a:latin typeface="Arial" charset="0"/>
                        <a:ea typeface="ＭＳ Ｐゴシック" pitchFamily="34" charset="-128"/>
                      </a:endParaRPr>
                    </a:p>
                  </a:txBody>
                  <a:tcPr marT="45709" marB="45709" anchor="ctr" horzOverflow="overflow">
                    <a:lnL>
                      <a:noFill/>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vMerge="1">
                  <a:txBody>
                    <a:bodyPr/>
                    <a:lstStyle/>
                    <a:p>
                      <a:endParaRPr lang="en-US"/>
                    </a:p>
                  </a:txBody>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endParaRPr kumimoji="0" lang="en-US" sz="1400" b="1" i="0" u="none" strike="noStrike" cap="none" normalizeH="0" baseline="0" dirty="0">
                        <a:ln>
                          <a:noFill/>
                        </a:ln>
                        <a:solidFill>
                          <a:schemeClr val="tx1"/>
                        </a:solidFill>
                        <a:effectLst/>
                        <a:latin typeface="Arial" charset="0"/>
                        <a:ea typeface="ＭＳ Ｐゴシック" pitchFamily="34" charset="-128"/>
                      </a:endParaRPr>
                    </a:p>
                  </a:txBody>
                  <a:tcPr marT="45709" marB="45709" anchor="ctr" horzOverflow="overflow">
                    <a:lnL>
                      <a:noFill/>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vMerge="1">
                  <a:txBody>
                    <a:bodyPr/>
                    <a:lstStyle/>
                    <a:p>
                      <a:endParaRPr lang="en-US"/>
                    </a:p>
                  </a:txBody>
                  <a:tcPr/>
                </a:tc>
                <a:extLst>
                  <a:ext uri="{0D108BD9-81ED-4DB2-BD59-A6C34878D82A}">
                    <a16:rowId xmlns:a16="http://schemas.microsoft.com/office/drawing/2014/main" xmlns="" val="10006"/>
                  </a:ext>
                </a:extLst>
              </a:tr>
              <a:tr h="625324">
                <a:tc>
                  <a:txBody>
                    <a:bodyPr/>
                    <a:lstStyle/>
                    <a:p>
                      <a:pPr marL="0" marR="0" lvl="0" indent="0" algn="l"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bg1"/>
                          </a:solidFill>
                          <a:effectLst/>
                          <a:latin typeface="Arial" charset="0"/>
                          <a:ea typeface="ＭＳ Ｐゴシック" pitchFamily="34" charset="-128"/>
                        </a:rPr>
                        <a:t>Requirement/</a:t>
                      </a:r>
                    </a:p>
                    <a:p>
                      <a:pPr marL="0" marR="0" lvl="0" indent="0" algn="l"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bg1"/>
                          </a:solidFill>
                          <a:effectLst/>
                          <a:latin typeface="Arial" charset="0"/>
                          <a:ea typeface="ＭＳ Ｐゴシック" pitchFamily="34" charset="-128"/>
                        </a:rPr>
                        <a:t>Demand</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rgbClr val="63BDE0"/>
                    </a:solidFill>
                  </a:tcPr>
                </a:tc>
                <a:tc gridSpan="2">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tx1"/>
                          </a:solidFill>
                          <a:effectLst/>
                          <a:latin typeface="Arial" charset="0"/>
                          <a:ea typeface="ＭＳ Ｐゴシック" pitchFamily="34" charset="-128"/>
                        </a:rPr>
                        <a:t>1</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tc gridSpan="2">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tx1"/>
                          </a:solidFill>
                          <a:effectLst/>
                          <a:latin typeface="Arial" charset="0"/>
                          <a:ea typeface="ＭＳ Ｐゴシック" pitchFamily="34" charset="-128"/>
                        </a:rPr>
                        <a:t>3</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tc gridSpan="2">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tx1"/>
                          </a:solidFill>
                          <a:effectLst/>
                          <a:latin typeface="Arial" charset="0"/>
                          <a:ea typeface="ＭＳ Ｐゴシック" pitchFamily="34" charset="-128"/>
                        </a:rPr>
                        <a:t>5</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endParaRPr kumimoji="0" lang="en-US" sz="1400" b="1" i="0" u="none" strike="noStrike" cap="none" normalizeH="0" baseline="0" dirty="0">
                        <a:ln>
                          <a:noFill/>
                        </a:ln>
                        <a:solidFill>
                          <a:schemeClr val="tx1"/>
                        </a:solidFill>
                        <a:effectLst/>
                        <a:latin typeface="Arial" charset="0"/>
                        <a:ea typeface="ＭＳ Ｐゴシック" pitchFamily="34" charset="-128"/>
                      </a:endParaRP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7"/>
                  </a:ext>
                </a:extLst>
              </a:tr>
            </a:tbl>
          </a:graphicData>
        </a:graphic>
      </p:graphicFrame>
    </p:spTree>
    <p:extLst>
      <p:ext uri="{BB962C8B-B14F-4D97-AF65-F5344CB8AC3E}">
        <p14:creationId xmlns:p14="http://schemas.microsoft.com/office/powerpoint/2010/main" val="37123198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6" fill="hold" nodeType="afterEffect">
                                  <p:stCondLst>
                                    <p:cond delay="1000"/>
                                  </p:stCondLst>
                                  <p:childTnLst>
                                    <p:set>
                                      <p:cBhvr>
                                        <p:cTn id="6" dur="1" fill="hold">
                                          <p:stCondLst>
                                            <p:cond delay="0"/>
                                          </p:stCondLst>
                                        </p:cTn>
                                        <p:tgtEl>
                                          <p:spTgt spid="5"/>
                                        </p:tgtEl>
                                        <p:attrNameLst>
                                          <p:attrName>style.visibility</p:attrName>
                                        </p:attrNameLst>
                                      </p:cBhvr>
                                      <p:to>
                                        <p:strVal val="visible"/>
                                      </p:to>
                                    </p:set>
                                    <p:animEffect transition="in" filter="strips(downRight)">
                                      <p:cBhvr>
                                        <p:cTn id="7"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27778" y="80635"/>
            <a:ext cx="7429499" cy="1478570"/>
          </a:xfrm>
        </p:spPr>
        <p:txBody>
          <a:bodyPr>
            <a:normAutofit/>
          </a:bodyPr>
          <a:lstStyle/>
          <a:p>
            <a:r>
              <a:rPr lang="en-US" sz="4000" dirty="0">
                <a:solidFill>
                  <a:srgbClr val="C00000"/>
                </a:solidFill>
                <a:latin typeface="Arial" panose="020B0604020202020204" pitchFamily="34" charset="0"/>
                <a:cs typeface="Arial" panose="020B0604020202020204" pitchFamily="34" charset="0"/>
              </a:rPr>
              <a:t>Initial basic feasible solution</a:t>
            </a:r>
          </a:p>
        </p:txBody>
      </p:sp>
      <mc:AlternateContent xmlns:mc="http://schemas.openxmlformats.org/markup-compatibility/2006" xmlns:a14="http://schemas.microsoft.com/office/drawing/2010/main">
        <mc:Choice Requires="a14">
          <p:sp>
            <p:nvSpPr>
              <p:cNvPr id="6" name="Content Placeholder 5">
                <a:extLst>
                  <a:ext uri="{FF2B5EF4-FFF2-40B4-BE49-F238E27FC236}">
                    <a16:creationId xmlns:a16="http://schemas.microsoft.com/office/drawing/2014/main" xmlns="" id="{12C3F38F-06D5-4ADF-BB89-374D8DB47BD2}"/>
                  </a:ext>
                </a:extLst>
              </p:cNvPr>
              <p:cNvSpPr>
                <a:spLocks noGrp="1"/>
              </p:cNvSpPr>
              <p:nvPr>
                <p:ph idx="1"/>
              </p:nvPr>
            </p:nvSpPr>
            <p:spPr>
              <a:xfrm>
                <a:off x="945707" y="1379910"/>
                <a:ext cx="6602575" cy="4608513"/>
              </a:xfrm>
            </p:spPr>
            <p:txBody>
              <a:bodyPr>
                <a:normAutofit fontScale="92500" lnSpcReduction="10000"/>
              </a:bodyPr>
              <a:lstStyle/>
              <a:p>
                <a:r>
                  <a:rPr lang="en-GB" dirty="0"/>
                  <a:t>The </a:t>
                </a:r>
                <a:r>
                  <a:rPr lang="en-GB" dirty="0" smtClean="0"/>
                  <a:t>unbalanced transportation </a:t>
                </a:r>
                <a:r>
                  <a:rPr lang="en-GB" dirty="0"/>
                  <a:t>problem can be made balanced by adding a dummy supply centre (row) or a </a:t>
                </a:r>
                <a:r>
                  <a:rPr lang="en-GB" dirty="0" smtClean="0"/>
                  <a:t>dummy demand </a:t>
                </a:r>
                <a:r>
                  <a:rPr lang="en-GB" dirty="0"/>
                  <a:t>centre (column) as the need arises</a:t>
                </a:r>
                <a:r>
                  <a:rPr lang="en-GB" dirty="0" smtClean="0"/>
                  <a:t>.</a:t>
                </a:r>
              </a:p>
              <a:p>
                <a:pPr marL="0" indent="0">
                  <a:buNone/>
                </a:pPr>
                <a:r>
                  <a:rPr lang="en-US" b="1" dirty="0" smtClean="0">
                    <a:effectLst/>
                    <a:latin typeface="Arial" panose="020B0604020202020204" pitchFamily="34" charset="0"/>
                    <a:cs typeface="Arial" panose="020B0604020202020204" pitchFamily="34" charset="0"/>
                  </a:rPr>
                  <a:t>Rim condition: </a:t>
                </a:r>
                <a:r>
                  <a:rPr lang="en-US" dirty="0" smtClean="0">
                    <a:effectLst/>
                    <a:latin typeface="Arial" panose="020B0604020202020204" pitchFamily="34" charset="0"/>
                    <a:cs typeface="Arial" panose="020B0604020202020204" pitchFamily="34" charset="0"/>
                  </a:rPr>
                  <a:t>m+n-1</a:t>
                </a:r>
                <a14:m>
                  <m:oMath xmlns:m="http://schemas.openxmlformats.org/officeDocument/2006/math">
                    <m:r>
                      <a:rPr lang="en-US" b="0" i="0" smtClean="0">
                        <a:effectLst/>
                        <a:latin typeface="Cambria Math"/>
                        <a:ea typeface="Cambria Math"/>
                        <a:cs typeface="Arial" panose="020B0604020202020204" pitchFamily="34" charset="0"/>
                      </a:rPr>
                      <m:t> </m:t>
                    </m:r>
                    <m:r>
                      <a:rPr lang="en-US" i="1" smtClean="0">
                        <a:effectLst/>
                        <a:latin typeface="Cambria Math"/>
                        <a:ea typeface="Cambria Math"/>
                        <a:cs typeface="Arial" panose="020B0604020202020204" pitchFamily="34" charset="0"/>
                      </a:rPr>
                      <m:t>≥</m:t>
                    </m:r>
                  </m:oMath>
                </a14:m>
                <a:r>
                  <a:rPr lang="en-US" dirty="0" smtClean="0">
                    <a:effectLst/>
                    <a:latin typeface="Arial" panose="020B0604020202020204" pitchFamily="34" charset="0"/>
                    <a:cs typeface="Arial" panose="020B0604020202020204" pitchFamily="34" charset="0"/>
                  </a:rPr>
                  <a:t> </a:t>
                </a:r>
                <a:r>
                  <a:rPr lang="en-US" dirty="0">
                    <a:latin typeface="Arial" panose="020B0604020202020204" pitchFamily="34" charset="0"/>
                    <a:cs typeface="Arial" panose="020B0604020202020204" pitchFamily="34" charset="0"/>
                  </a:rPr>
                  <a:t>0, </a:t>
                </a:r>
                <a:r>
                  <a:rPr lang="en-US" dirty="0" smtClean="0">
                    <a:latin typeface="Arial" panose="020B0604020202020204" pitchFamily="34" charset="0"/>
                    <a:cs typeface="Arial" panose="020B0604020202020204" pitchFamily="34" charset="0"/>
                  </a:rPr>
                  <a:t>where </a:t>
                </a:r>
                <a:r>
                  <a:rPr lang="en-US" dirty="0">
                    <a:latin typeface="Arial" panose="020B0604020202020204" pitchFamily="34" charset="0"/>
                    <a:cs typeface="Arial" panose="020B0604020202020204" pitchFamily="34" charset="0"/>
                  </a:rPr>
                  <a:t>m = no of rows,</a:t>
                </a:r>
              </a:p>
              <a:p>
                <a:pPr marL="0" indent="0">
                  <a:buNone/>
                </a:pPr>
                <a:r>
                  <a:rPr lang="en-US" dirty="0">
                    <a:latin typeface="Arial" panose="020B0604020202020204" pitchFamily="34" charset="0"/>
                    <a:cs typeface="Arial" panose="020B0604020202020204" pitchFamily="34" charset="0"/>
                  </a:rPr>
                  <a:t>n=no of columns</a:t>
                </a:r>
                <a:r>
                  <a:rPr lang="en-US" dirty="0" smtClean="0">
                    <a:latin typeface="Arial" panose="020B0604020202020204" pitchFamily="34" charset="0"/>
                    <a:cs typeface="Arial" panose="020B0604020202020204" pitchFamily="34" charset="0"/>
                  </a:rPr>
                  <a:t>.</a:t>
                </a:r>
                <a:endParaRPr lang="en-US" dirty="0" smtClean="0">
                  <a:effectLst/>
                  <a:latin typeface="Arial" panose="020B0604020202020204" pitchFamily="34" charset="0"/>
                  <a:cs typeface="Arial" panose="020B0604020202020204" pitchFamily="34" charset="0"/>
                </a:endParaRPr>
              </a:p>
              <a:p>
                <a:pPr marL="0" indent="0">
                  <a:buNone/>
                </a:pPr>
                <a:r>
                  <a:rPr lang="en-GB" dirty="0" smtClean="0"/>
                  <a:t>The </a:t>
                </a:r>
                <a:r>
                  <a:rPr lang="en-GB" dirty="0"/>
                  <a:t>rim condition ensures that the problem is balanced and has enough constraints to uniquely determine the solution.</a:t>
                </a:r>
                <a:endParaRPr lang="en-US" dirty="0">
                  <a:effectLst/>
                  <a:latin typeface="Arial" panose="020B0604020202020204" pitchFamily="34" charset="0"/>
                  <a:cs typeface="Arial" panose="020B0604020202020204" pitchFamily="34" charset="0"/>
                </a:endParaRPr>
              </a:p>
              <a:p>
                <a:pPr marL="0" indent="0">
                  <a:buNone/>
                </a:pPr>
                <a:r>
                  <a:rPr lang="en-US" dirty="0" smtClean="0">
                    <a:effectLst/>
                    <a:latin typeface="Arial" panose="020B0604020202020204" pitchFamily="34" charset="0"/>
                    <a:cs typeface="Arial" panose="020B0604020202020204" pitchFamily="34" charset="0"/>
                  </a:rPr>
                  <a:t>Here m=2, n=3</a:t>
                </a:r>
                <a:r>
                  <a:rPr lang="en-US" dirty="0">
                    <a:effectLst/>
                    <a:latin typeface="Arial" panose="020B0604020202020204" pitchFamily="34" charset="0"/>
                    <a:cs typeface="Arial" panose="020B0604020202020204" pitchFamily="34" charset="0"/>
                  </a:rPr>
                  <a:t>,</a:t>
                </a:r>
              </a:p>
              <a:p>
                <a:pPr marL="0" indent="0">
                  <a:buNone/>
                </a:pPr>
                <a:r>
                  <a:rPr lang="en-US" dirty="0">
                    <a:effectLst/>
                    <a:latin typeface="Arial" panose="020B0604020202020204" pitchFamily="34" charset="0"/>
                    <a:cs typeface="Arial" panose="020B0604020202020204" pitchFamily="34" charset="0"/>
                  </a:rPr>
                  <a:t>m+n-1=2+3-1=4</a:t>
                </a:r>
              </a:p>
              <a:p>
                <a:endParaRPr lang="en-US" dirty="0">
                  <a:latin typeface="Arial" panose="020B0604020202020204" pitchFamily="34" charset="0"/>
                  <a:cs typeface="Arial" panose="020B0604020202020204" pitchFamily="34" charset="0"/>
                </a:endParaRPr>
              </a:p>
              <a:p>
                <a:pPr marL="0" indent="0">
                  <a:buNone/>
                </a:pPr>
                <a:endParaRPr lang="en-US" dirty="0">
                  <a:latin typeface="Arial" panose="020B0604020202020204" pitchFamily="34" charset="0"/>
                  <a:cs typeface="Arial" panose="020B0604020202020204" pitchFamily="34" charset="0"/>
                </a:endParaRPr>
              </a:p>
            </p:txBody>
          </p:sp>
        </mc:Choice>
        <mc:Fallback xmlns="">
          <p:sp>
            <p:nvSpPr>
              <p:cNvPr id="6" name="Content Placeholder 5">
                <a:extLst>
                  <a:ext uri="{FF2B5EF4-FFF2-40B4-BE49-F238E27FC236}">
                    <a16:creationId xmlns:a16="http://schemas.microsoft.com/office/drawing/2014/main" xmlns="" id="{12C3F38F-06D5-4ADF-BB89-374D8DB47BD2}"/>
                  </a:ext>
                </a:extLst>
              </p:cNvPr>
              <p:cNvSpPr>
                <a:spLocks noGrp="1" noRot="1" noChangeAspect="1" noMove="1" noResize="1" noEditPoints="1" noAdjustHandles="1" noChangeArrowheads="1" noChangeShapeType="1" noTextEdit="1"/>
              </p:cNvSpPr>
              <p:nvPr>
                <p:ph idx="1"/>
              </p:nvPr>
            </p:nvSpPr>
            <p:spPr>
              <a:xfrm>
                <a:off x="945707" y="1379910"/>
                <a:ext cx="6602575" cy="4608513"/>
              </a:xfrm>
              <a:blipFill rotWithShape="1">
                <a:blip r:embed="rId2"/>
                <a:stretch>
                  <a:fillRect l="-1570" t="-2116" r="-1385" b="-19444"/>
                </a:stretch>
              </a:blipFill>
            </p:spPr>
            <p:txBody>
              <a:bodyPr/>
              <a:lstStyle/>
              <a:p>
                <a:r>
                  <a:rPr lang="en-GB">
                    <a:noFill/>
                  </a:rPr>
                  <a:t> </a:t>
                </a:r>
              </a:p>
            </p:txBody>
          </p:sp>
        </mc:Fallback>
      </mc:AlternateContent>
      <p:sp>
        <p:nvSpPr>
          <p:cNvPr id="4" name="TextBox 3"/>
          <p:cNvSpPr txBox="1"/>
          <p:nvPr/>
        </p:nvSpPr>
        <p:spPr>
          <a:xfrm>
            <a:off x="8274424" y="2196353"/>
            <a:ext cx="753035" cy="369332"/>
          </a:xfrm>
          <a:prstGeom prst="rect">
            <a:avLst/>
          </a:prstGeom>
          <a:noFill/>
        </p:spPr>
        <p:txBody>
          <a:bodyPr wrap="square" rtlCol="0">
            <a:spAutoFit/>
          </a:bodyPr>
          <a:lstStyle/>
          <a:p>
            <a:endParaRPr lang="en-GB" dirty="0"/>
          </a:p>
        </p:txBody>
      </p:sp>
    </p:spTree>
    <p:extLst>
      <p:ext uri="{BB962C8B-B14F-4D97-AF65-F5344CB8AC3E}">
        <p14:creationId xmlns:p14="http://schemas.microsoft.com/office/powerpoint/2010/main" val="9626458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solidFill>
                  <a:srgbClr val="C00000"/>
                </a:solidFill>
                <a:latin typeface="Arial" panose="020B0604020202020204" pitchFamily="34" charset="0"/>
                <a:cs typeface="Arial" panose="020B0604020202020204" pitchFamily="34" charset="0"/>
              </a:rPr>
              <a:t>North west cost method</a:t>
            </a:r>
          </a:p>
        </p:txBody>
      </p:sp>
      <p:sp>
        <p:nvSpPr>
          <p:cNvPr id="6" name="Content Placeholder 5">
            <a:extLst>
              <a:ext uri="{FF2B5EF4-FFF2-40B4-BE49-F238E27FC236}">
                <a16:creationId xmlns:a16="http://schemas.microsoft.com/office/drawing/2014/main" xmlns="" id="{12C3F38F-06D5-4ADF-BB89-374D8DB47BD2}"/>
              </a:ext>
            </a:extLst>
          </p:cNvPr>
          <p:cNvSpPr>
            <a:spLocks noGrp="1"/>
          </p:cNvSpPr>
          <p:nvPr>
            <p:ph idx="1"/>
          </p:nvPr>
        </p:nvSpPr>
        <p:spPr>
          <a:xfrm>
            <a:off x="856060" y="2249486"/>
            <a:ext cx="7429499" cy="4608513"/>
          </a:xfrm>
        </p:spPr>
        <p:txBody>
          <a:bodyPr>
            <a:normAutofit/>
          </a:bodyPr>
          <a:lstStyle/>
          <a:p>
            <a:pPr marL="0" indent="0">
              <a:buNone/>
            </a:pPr>
            <a:endParaRPr lang="en-US" dirty="0">
              <a:latin typeface="Arial" panose="020B0604020202020204" pitchFamily="34" charset="0"/>
              <a:cs typeface="Arial" panose="020B0604020202020204" pitchFamily="34" charset="0"/>
            </a:endParaRPr>
          </a:p>
          <a:p>
            <a:pPr marL="0" indent="0">
              <a:buNone/>
            </a:pPr>
            <a:endParaRPr lang="en-US" dirty="0">
              <a:latin typeface="Arial" panose="020B0604020202020204" pitchFamily="34" charset="0"/>
              <a:cs typeface="Arial" panose="020B0604020202020204" pitchFamily="34" charset="0"/>
            </a:endParaRPr>
          </a:p>
          <a:p>
            <a:pPr marL="0" indent="0">
              <a:buNone/>
            </a:pPr>
            <a:endParaRPr lang="en-US" dirty="0">
              <a:latin typeface="Arial" panose="020B0604020202020204" pitchFamily="34" charset="0"/>
              <a:cs typeface="Arial" panose="020B0604020202020204" pitchFamily="34" charset="0"/>
            </a:endParaRPr>
          </a:p>
        </p:txBody>
      </p:sp>
      <p:graphicFrame>
        <p:nvGraphicFramePr>
          <p:cNvPr id="5" name="Group 123">
            <a:extLst>
              <a:ext uri="{FF2B5EF4-FFF2-40B4-BE49-F238E27FC236}">
                <a16:creationId xmlns:a16="http://schemas.microsoft.com/office/drawing/2014/main" xmlns="" id="{A5DA3B2A-2E25-4DFF-9E0E-EBF2CA28C54C}"/>
              </a:ext>
            </a:extLst>
          </p:cNvPr>
          <p:cNvGraphicFramePr>
            <a:graphicFrameLocks noGrp="1"/>
          </p:cNvGraphicFramePr>
          <p:nvPr>
            <p:extLst>
              <p:ext uri="{D42A27DB-BD31-4B8C-83A1-F6EECF244321}">
                <p14:modId xmlns:p14="http://schemas.microsoft.com/office/powerpoint/2010/main" val="196590809"/>
              </p:ext>
            </p:extLst>
          </p:nvPr>
        </p:nvGraphicFramePr>
        <p:xfrm>
          <a:off x="856060" y="2249486"/>
          <a:ext cx="6163297" cy="2670976"/>
        </p:xfrm>
        <a:graphic>
          <a:graphicData uri="http://schemas.openxmlformats.org/drawingml/2006/table">
            <a:tbl>
              <a:tblPr/>
              <a:tblGrid>
                <a:gridCol w="1737009">
                  <a:extLst>
                    <a:ext uri="{9D8B030D-6E8A-4147-A177-3AD203B41FA5}">
                      <a16:colId xmlns:a16="http://schemas.microsoft.com/office/drawing/2014/main" xmlns="" val="20000"/>
                    </a:ext>
                  </a:extLst>
                </a:gridCol>
                <a:gridCol w="1019792">
                  <a:extLst>
                    <a:ext uri="{9D8B030D-6E8A-4147-A177-3AD203B41FA5}">
                      <a16:colId xmlns:a16="http://schemas.microsoft.com/office/drawing/2014/main" xmlns="" val="20001"/>
                    </a:ext>
                  </a:extLst>
                </a:gridCol>
                <a:gridCol w="381020">
                  <a:extLst>
                    <a:ext uri="{9D8B030D-6E8A-4147-A177-3AD203B41FA5}">
                      <a16:colId xmlns:a16="http://schemas.microsoft.com/office/drawing/2014/main" xmlns="" val="20002"/>
                    </a:ext>
                  </a:extLst>
                </a:gridCol>
                <a:gridCol w="571532">
                  <a:extLst>
                    <a:ext uri="{9D8B030D-6E8A-4147-A177-3AD203B41FA5}">
                      <a16:colId xmlns:a16="http://schemas.microsoft.com/office/drawing/2014/main" xmlns="" val="20003"/>
                    </a:ext>
                  </a:extLst>
                </a:gridCol>
                <a:gridCol w="358608">
                  <a:extLst>
                    <a:ext uri="{9D8B030D-6E8A-4147-A177-3AD203B41FA5}">
                      <a16:colId xmlns:a16="http://schemas.microsoft.com/office/drawing/2014/main" xmlns="" val="20004"/>
                    </a:ext>
                  </a:extLst>
                </a:gridCol>
                <a:gridCol w="428943">
                  <a:extLst>
                    <a:ext uri="{9D8B030D-6E8A-4147-A177-3AD203B41FA5}">
                      <a16:colId xmlns:a16="http://schemas.microsoft.com/office/drawing/2014/main" xmlns="" val="20005"/>
                    </a:ext>
                  </a:extLst>
                </a:gridCol>
                <a:gridCol w="500915">
                  <a:extLst>
                    <a:ext uri="{9D8B030D-6E8A-4147-A177-3AD203B41FA5}">
                      <a16:colId xmlns:a16="http://schemas.microsoft.com/office/drawing/2014/main" xmlns="" val="20006"/>
                    </a:ext>
                  </a:extLst>
                </a:gridCol>
                <a:gridCol w="1165478">
                  <a:extLst>
                    <a:ext uri="{9D8B030D-6E8A-4147-A177-3AD203B41FA5}">
                      <a16:colId xmlns:a16="http://schemas.microsoft.com/office/drawing/2014/main" xmlns="" val="20007"/>
                    </a:ext>
                  </a:extLst>
                </a:gridCol>
              </a:tblGrid>
              <a:tr h="555364">
                <a:tc>
                  <a:txBody>
                    <a:bodyPr/>
                    <a:lstStyle/>
                    <a:p>
                      <a:pPr marL="0" marR="0" lvl="0" indent="0" algn="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bg1"/>
                          </a:solidFill>
                          <a:effectLst/>
                          <a:latin typeface="Arial" charset="0"/>
                          <a:ea typeface="ＭＳ Ｐゴシック" pitchFamily="34" charset="-128"/>
                        </a:rPr>
                        <a:t>TO</a:t>
                      </a:r>
                    </a:p>
                    <a:p>
                      <a:pPr marL="0" marR="0" lvl="0" indent="0" algn="l"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bg1"/>
                          </a:solidFill>
                          <a:effectLst/>
                          <a:latin typeface="Arial" charset="0"/>
                          <a:ea typeface="ＭＳ Ｐゴシック" pitchFamily="34" charset="-128"/>
                        </a:rPr>
                        <a:t>FROM</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9050" cap="flat" cmpd="sng" algn="ctr">
                      <a:solidFill>
                        <a:schemeClr val="tx1"/>
                      </a:solidFill>
                      <a:prstDash val="solid"/>
                      <a:round/>
                      <a:headEnd type="none" w="med" len="med"/>
                      <a:tailEnd type="none" w="med" len="med"/>
                    </a:lnTlToBr>
                    <a:lnBlToTr>
                      <a:noFill/>
                    </a:lnBlToTr>
                    <a:solidFill>
                      <a:srgbClr val="63BDE0"/>
                    </a:solidFill>
                  </a:tcPr>
                </a:tc>
                <a:tc gridSpan="2">
                  <a:txBody>
                    <a:bodyPr/>
                    <a:lstStyle/>
                    <a:p>
                      <a:pPr marL="0" marR="0" lvl="0" indent="0" algn="l"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bg1"/>
                          </a:solidFill>
                          <a:effectLst/>
                          <a:latin typeface="Arial" charset="0"/>
                          <a:ea typeface="ＭＳ Ｐゴシック" pitchFamily="34" charset="-128"/>
                        </a:rPr>
                        <a:t>Peshawar </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rgbClr val="63BDE0"/>
                    </a:solidFill>
                  </a:tcPr>
                </a:tc>
                <a:tc hMerge="1">
                  <a:txBody>
                    <a:bodyPr/>
                    <a:lstStyle/>
                    <a:p>
                      <a:endParaRPr lang="en-US"/>
                    </a:p>
                  </a:txBody>
                  <a:tcPr/>
                </a:tc>
                <a:tc gridSpan="2">
                  <a:txBody>
                    <a:bodyPr/>
                    <a:lstStyle/>
                    <a:p>
                      <a:pPr marL="0" marR="0" lvl="0" indent="0" algn="l"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bg1"/>
                          </a:solidFill>
                          <a:effectLst/>
                          <a:latin typeface="Arial" charset="0"/>
                          <a:ea typeface="ＭＳ Ｐゴシック" pitchFamily="34" charset="-128"/>
                        </a:rPr>
                        <a:t>Sialkot</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rgbClr val="63BDE0"/>
                    </a:solidFill>
                  </a:tcPr>
                </a:tc>
                <a:tc hMerge="1">
                  <a:txBody>
                    <a:bodyPr/>
                    <a:lstStyle/>
                    <a:p>
                      <a:endParaRPr lang="en-US"/>
                    </a:p>
                  </a:txBody>
                  <a:tcPr/>
                </a:tc>
                <a:tc gridSpan="2">
                  <a:txBody>
                    <a:bodyPr/>
                    <a:lstStyle/>
                    <a:p>
                      <a:pPr marL="0" marR="0" lvl="0" indent="0" algn="l"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bg1"/>
                          </a:solidFill>
                          <a:effectLst/>
                          <a:latin typeface="Arial" charset="0"/>
                          <a:ea typeface="ＭＳ Ｐゴシック" pitchFamily="34" charset="-128"/>
                        </a:rPr>
                        <a:t> Multan</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rgbClr val="63BDE0"/>
                    </a:solidFill>
                  </a:tcPr>
                </a:tc>
                <a:tc hMerge="1">
                  <a:txBody>
                    <a:bodyPr/>
                    <a:lstStyle/>
                    <a:p>
                      <a:endParaRPr lang="en-US"/>
                    </a:p>
                  </a:txBody>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bg1"/>
                          </a:solidFill>
                          <a:effectLst/>
                          <a:latin typeface="Arial" charset="0"/>
                          <a:ea typeface="ＭＳ Ｐゴシック" pitchFamily="34" charset="-128"/>
                        </a:rPr>
                        <a:t>FACTORY CAPACITY/Supply</a:t>
                      </a:r>
                    </a:p>
                  </a:txBody>
                  <a:tcPr marT="45709" marB="45709" anchor="b"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rgbClr val="63BDE0"/>
                    </a:solidFill>
                  </a:tcPr>
                </a:tc>
                <a:extLst>
                  <a:ext uri="{0D108BD9-81ED-4DB2-BD59-A6C34878D82A}">
                    <a16:rowId xmlns:a16="http://schemas.microsoft.com/office/drawing/2014/main" xmlns="" val="10000"/>
                  </a:ext>
                </a:extLst>
              </a:tr>
              <a:tr h="312663">
                <a:tc rowSpan="2">
                  <a:txBody>
                    <a:bodyPr/>
                    <a:lstStyle/>
                    <a:p>
                      <a:pPr marL="0" marR="0" lvl="0" indent="0" algn="l"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bg1"/>
                          </a:solidFill>
                          <a:effectLst/>
                          <a:latin typeface="Arial" charset="0"/>
                          <a:ea typeface="ＭＳ Ｐゴシック" pitchFamily="34" charset="-128"/>
                        </a:rPr>
                        <a:t> </a:t>
                      </a:r>
                      <a:br>
                        <a:rPr kumimoji="0" lang="en-US" sz="1400" b="1" i="0" u="none" strike="noStrike" cap="none" normalizeH="0" baseline="0" dirty="0">
                          <a:ln>
                            <a:noFill/>
                          </a:ln>
                          <a:solidFill>
                            <a:schemeClr val="bg1"/>
                          </a:solidFill>
                          <a:effectLst/>
                          <a:latin typeface="Arial" charset="0"/>
                          <a:ea typeface="ＭＳ Ｐゴシック" pitchFamily="34" charset="-128"/>
                        </a:rPr>
                      </a:br>
                      <a:r>
                        <a:rPr kumimoji="0" lang="en-US" sz="1400" b="1" i="0" u="none" strike="noStrike" cap="none" normalizeH="0" baseline="0" dirty="0">
                          <a:ln>
                            <a:noFill/>
                          </a:ln>
                          <a:solidFill>
                            <a:schemeClr val="bg1"/>
                          </a:solidFill>
                          <a:effectLst/>
                          <a:latin typeface="Arial" charset="0"/>
                          <a:ea typeface="ＭＳ Ｐゴシック" pitchFamily="34" charset="-128"/>
                        </a:rPr>
                        <a:t>Karachi</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rgbClr val="63BDE0"/>
                    </a:solidFill>
                  </a:tcPr>
                </a:tc>
                <a:tc rowSpan="2">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accent2"/>
                          </a:solidFill>
                          <a:effectLst>
                            <a:outerShdw blurRad="38100" dist="38100" dir="2700000" algn="tl">
                              <a:srgbClr val="C0C0C0"/>
                            </a:outerShdw>
                          </a:effectLst>
                          <a:latin typeface="Arial" charset="0"/>
                          <a:ea typeface="ＭＳ Ｐゴシック" pitchFamily="34" charset="-128"/>
                        </a:rPr>
                        <a:t>13</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tx1"/>
                          </a:solidFill>
                          <a:effectLst/>
                          <a:latin typeface="Arial" charset="0"/>
                          <a:ea typeface="ＭＳ Ｐゴシック" pitchFamily="34" charset="-128"/>
                        </a:rPr>
                        <a:t>1</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tx1"/>
                          </a:solidFill>
                          <a:effectLst/>
                          <a:latin typeface="Arial" charset="0"/>
                          <a:ea typeface="ＭＳ Ｐゴシック" pitchFamily="34" charset="-128"/>
                        </a:rPr>
                        <a:t>11</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endParaRPr kumimoji="0" lang="en-US" sz="1400" b="1" i="0" u="none" strike="noStrike" cap="none" normalizeH="0" baseline="0" dirty="0">
                        <a:ln>
                          <a:noFill/>
                        </a:ln>
                        <a:solidFill>
                          <a:schemeClr val="tx1"/>
                        </a:solidFill>
                        <a:effectLst/>
                        <a:latin typeface="Arial" charset="0"/>
                        <a:ea typeface="ＭＳ Ｐゴシック" pitchFamily="34" charset="-128"/>
                      </a:endParaRP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tx1"/>
                          </a:solidFill>
                          <a:effectLst/>
                          <a:latin typeface="Arial" charset="0"/>
                          <a:ea typeface="ＭＳ Ｐゴシック" pitchFamily="34" charset="-128"/>
                        </a:rPr>
                        <a:t>40</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endParaRPr kumimoji="0" lang="en-US" sz="1400" b="1" i="0" u="none" strike="noStrike" cap="none" normalizeH="0" baseline="0" dirty="0">
                        <a:ln>
                          <a:noFill/>
                        </a:ln>
                        <a:solidFill>
                          <a:schemeClr val="tx1"/>
                        </a:solidFill>
                        <a:effectLst/>
                        <a:latin typeface="Arial" charset="0"/>
                        <a:ea typeface="ＭＳ Ｐゴシック" pitchFamily="34" charset="-128"/>
                      </a:endParaRP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rgbClr val="FFC000"/>
                          </a:solidFill>
                          <a:effectLst/>
                          <a:latin typeface="Arial" charset="0"/>
                          <a:ea typeface="ＭＳ Ｐゴシック" pitchFamily="34" charset="-128"/>
                        </a:rPr>
                        <a:t>2</a:t>
                      </a:r>
                      <a:r>
                        <a:rPr kumimoji="0" lang="en-US" sz="1400" b="1" i="0" u="none" strike="noStrike" cap="none" normalizeH="0" baseline="0" dirty="0">
                          <a:ln>
                            <a:noFill/>
                          </a:ln>
                          <a:solidFill>
                            <a:schemeClr val="tx1"/>
                          </a:solidFill>
                          <a:effectLst/>
                          <a:latin typeface="Arial" charset="0"/>
                          <a:ea typeface="ＭＳ Ｐゴシック" pitchFamily="34" charset="-128"/>
                        </a:rPr>
                        <a:t>-1=1</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1"/>
                  </a:ext>
                </a:extLst>
              </a:tr>
              <a:tr h="312663">
                <a:tc vMerge="1">
                  <a:txBody>
                    <a:bodyPr/>
                    <a:lstStyle/>
                    <a:p>
                      <a:endParaRPr lang="en-US"/>
                    </a:p>
                  </a:txBody>
                  <a:tcPr/>
                </a:tc>
                <a:tc vMerge="1">
                  <a:txBody>
                    <a:bodyPr/>
                    <a:lstStyle/>
                    <a:p>
                      <a:endParaRPr lang="en-US"/>
                    </a:p>
                  </a:txBody>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endParaRPr kumimoji="0" lang="en-US" sz="1400" b="1" i="0" u="none" strike="noStrike" cap="none" normalizeH="0" baseline="0" dirty="0">
                        <a:ln>
                          <a:noFill/>
                        </a:ln>
                        <a:solidFill>
                          <a:schemeClr val="tx1"/>
                        </a:solidFill>
                        <a:effectLst/>
                        <a:latin typeface="Arial" charset="0"/>
                        <a:ea typeface="ＭＳ Ｐゴシック" pitchFamily="34" charset="-128"/>
                      </a:endParaRPr>
                    </a:p>
                  </a:txBody>
                  <a:tcPr marT="45709" marB="45709" anchor="ctr" horzOverflow="overflow">
                    <a:lnL>
                      <a:noFill/>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vMerge="1">
                  <a:txBody>
                    <a:bodyPr/>
                    <a:lstStyle/>
                    <a:p>
                      <a:endParaRPr lang="en-US"/>
                    </a:p>
                  </a:txBody>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endParaRPr kumimoji="0" lang="en-US" sz="1400" b="1" i="0" u="none" strike="noStrike" cap="none" normalizeH="0" baseline="0" dirty="0">
                        <a:ln>
                          <a:noFill/>
                        </a:ln>
                        <a:solidFill>
                          <a:schemeClr val="tx1"/>
                        </a:solidFill>
                        <a:effectLst/>
                        <a:latin typeface="Arial" charset="0"/>
                        <a:ea typeface="ＭＳ Ｐゴシック" pitchFamily="34" charset="-128"/>
                      </a:endParaRPr>
                    </a:p>
                  </a:txBody>
                  <a:tcPr marT="45709" marB="45709" anchor="ctr" horzOverflow="overflow">
                    <a:lnL>
                      <a:noFill/>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vMerge="1">
                  <a:txBody>
                    <a:bodyPr/>
                    <a:lstStyle/>
                    <a:p>
                      <a:endParaRPr lang="en-US"/>
                    </a:p>
                  </a:txBody>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endParaRPr kumimoji="0" lang="en-US" sz="1400" b="1" i="0" u="none" strike="noStrike" cap="none" normalizeH="0" baseline="0" dirty="0">
                        <a:ln>
                          <a:noFill/>
                        </a:ln>
                        <a:solidFill>
                          <a:schemeClr val="tx1"/>
                        </a:solidFill>
                        <a:effectLst/>
                        <a:latin typeface="Arial" charset="0"/>
                        <a:ea typeface="ＭＳ Ｐゴシック" pitchFamily="34" charset="-128"/>
                      </a:endParaRPr>
                    </a:p>
                  </a:txBody>
                  <a:tcPr marT="45709" marB="45709" anchor="ctr" horzOverflow="overflow">
                    <a:lnL>
                      <a:noFill/>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vMerge="1">
                  <a:txBody>
                    <a:bodyPr/>
                    <a:lstStyle/>
                    <a:p>
                      <a:endParaRPr lang="en-US"/>
                    </a:p>
                  </a:txBody>
                  <a:tcPr/>
                </a:tc>
                <a:extLst>
                  <a:ext uri="{0D108BD9-81ED-4DB2-BD59-A6C34878D82A}">
                    <a16:rowId xmlns:a16="http://schemas.microsoft.com/office/drawing/2014/main" xmlns="" val="10002"/>
                  </a:ext>
                </a:extLst>
              </a:tr>
              <a:tr h="312663">
                <a:tc rowSpan="2">
                  <a:txBody>
                    <a:bodyPr/>
                    <a:lstStyle/>
                    <a:p>
                      <a:pPr marL="0" marR="0" lvl="0" indent="0" algn="l"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bg1"/>
                          </a:solidFill>
                          <a:effectLst/>
                          <a:latin typeface="Arial" charset="0"/>
                          <a:ea typeface="ＭＳ Ｐゴシック" pitchFamily="34" charset="-128"/>
                        </a:rPr>
                        <a:t>Lahore</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rgbClr val="63BDE0"/>
                    </a:solidFill>
                  </a:tcPr>
                </a:tc>
                <a:tc rowSpan="2">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tx1"/>
                          </a:solidFill>
                          <a:effectLst/>
                          <a:latin typeface="Arial" charset="0"/>
                          <a:ea typeface="ＭＳ Ｐゴシック" pitchFamily="34" charset="-128"/>
                        </a:rPr>
                        <a:t>18</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endParaRPr kumimoji="0" lang="en-US" sz="1400" b="1" i="0" u="none" strike="noStrike" cap="none" normalizeH="0" baseline="0" dirty="0">
                        <a:ln>
                          <a:noFill/>
                        </a:ln>
                        <a:solidFill>
                          <a:schemeClr val="tx1"/>
                        </a:solidFill>
                        <a:effectLst/>
                        <a:latin typeface="Arial" charset="0"/>
                        <a:ea typeface="ＭＳ Ｐゴシック" pitchFamily="34" charset="-128"/>
                      </a:endParaRP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tx1"/>
                          </a:solidFill>
                          <a:effectLst/>
                          <a:latin typeface="Arial" charset="0"/>
                          <a:ea typeface="ＭＳ Ｐゴシック" pitchFamily="34" charset="-128"/>
                        </a:rPr>
                        <a:t>18</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endParaRPr kumimoji="0" lang="en-US" sz="1400" b="1" i="0" u="none" strike="noStrike" cap="none" normalizeH="0" baseline="0" dirty="0">
                        <a:ln>
                          <a:noFill/>
                        </a:ln>
                        <a:solidFill>
                          <a:schemeClr val="tx1"/>
                        </a:solidFill>
                        <a:effectLst/>
                        <a:latin typeface="Arial" charset="0"/>
                        <a:ea typeface="ＭＳ Ｐゴシック" pitchFamily="34" charset="-128"/>
                      </a:endParaRP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tx1"/>
                          </a:solidFill>
                          <a:effectLst/>
                          <a:latin typeface="Arial" charset="0"/>
                          <a:ea typeface="ＭＳ Ｐゴシック" pitchFamily="34" charset="-128"/>
                        </a:rPr>
                        <a:t>12</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endParaRPr kumimoji="0" lang="en-US" sz="1400" b="1" i="0" u="none" strike="noStrike" cap="none" normalizeH="0" baseline="0" dirty="0">
                        <a:ln>
                          <a:noFill/>
                        </a:ln>
                        <a:solidFill>
                          <a:schemeClr val="tx1"/>
                        </a:solidFill>
                        <a:effectLst/>
                        <a:latin typeface="Arial" charset="0"/>
                        <a:ea typeface="ＭＳ Ｐゴシック" pitchFamily="34" charset="-128"/>
                      </a:endParaRP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tx1"/>
                          </a:solidFill>
                          <a:effectLst/>
                          <a:latin typeface="Arial" charset="0"/>
                          <a:ea typeface="ＭＳ Ｐゴシック" pitchFamily="34" charset="-128"/>
                        </a:rPr>
                        <a:t>7</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5"/>
                  </a:ext>
                </a:extLst>
              </a:tr>
              <a:tr h="312663">
                <a:tc vMerge="1">
                  <a:txBody>
                    <a:bodyPr/>
                    <a:lstStyle/>
                    <a:p>
                      <a:endParaRPr lang="en-US"/>
                    </a:p>
                  </a:txBody>
                  <a:tcPr/>
                </a:tc>
                <a:tc vMerge="1">
                  <a:txBody>
                    <a:bodyPr/>
                    <a:lstStyle/>
                    <a:p>
                      <a:endParaRPr lang="en-US"/>
                    </a:p>
                  </a:txBody>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endParaRPr kumimoji="0" lang="en-US" sz="1400" b="1" i="0" u="none" strike="noStrike" cap="none" normalizeH="0" baseline="0" dirty="0">
                        <a:ln>
                          <a:noFill/>
                        </a:ln>
                        <a:solidFill>
                          <a:schemeClr val="tx1"/>
                        </a:solidFill>
                        <a:effectLst/>
                        <a:latin typeface="Arial" charset="0"/>
                        <a:ea typeface="ＭＳ Ｐゴシック" pitchFamily="34" charset="-128"/>
                      </a:endParaRPr>
                    </a:p>
                  </a:txBody>
                  <a:tcPr marT="45709" marB="45709" anchor="ctr" horzOverflow="overflow">
                    <a:lnL>
                      <a:noFill/>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vMerge="1">
                  <a:txBody>
                    <a:bodyPr/>
                    <a:lstStyle/>
                    <a:p>
                      <a:endParaRPr lang="en-US"/>
                    </a:p>
                  </a:txBody>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endParaRPr kumimoji="0" lang="en-US" sz="1400" b="1" i="0" u="none" strike="noStrike" cap="none" normalizeH="0" baseline="0" dirty="0">
                        <a:ln>
                          <a:noFill/>
                        </a:ln>
                        <a:solidFill>
                          <a:schemeClr val="tx1"/>
                        </a:solidFill>
                        <a:effectLst/>
                        <a:latin typeface="Arial" charset="0"/>
                        <a:ea typeface="ＭＳ Ｐゴシック" pitchFamily="34" charset="-128"/>
                      </a:endParaRPr>
                    </a:p>
                  </a:txBody>
                  <a:tcPr marT="45709" marB="45709" anchor="ctr" horzOverflow="overflow">
                    <a:lnL>
                      <a:noFill/>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vMerge="1">
                  <a:txBody>
                    <a:bodyPr/>
                    <a:lstStyle/>
                    <a:p>
                      <a:endParaRPr lang="en-US"/>
                    </a:p>
                  </a:txBody>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endParaRPr kumimoji="0" lang="en-US" sz="1400" b="1" i="0" u="none" strike="noStrike" cap="none" normalizeH="0" baseline="0" dirty="0">
                        <a:ln>
                          <a:noFill/>
                        </a:ln>
                        <a:solidFill>
                          <a:schemeClr val="tx1"/>
                        </a:solidFill>
                        <a:effectLst/>
                        <a:latin typeface="Arial" charset="0"/>
                        <a:ea typeface="ＭＳ Ｐゴシック" pitchFamily="34" charset="-128"/>
                      </a:endParaRPr>
                    </a:p>
                  </a:txBody>
                  <a:tcPr marT="45709" marB="45709" anchor="ctr" horzOverflow="overflow">
                    <a:lnL>
                      <a:noFill/>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vMerge="1">
                  <a:txBody>
                    <a:bodyPr/>
                    <a:lstStyle/>
                    <a:p>
                      <a:endParaRPr lang="en-US"/>
                    </a:p>
                  </a:txBody>
                  <a:tcPr/>
                </a:tc>
                <a:extLst>
                  <a:ext uri="{0D108BD9-81ED-4DB2-BD59-A6C34878D82A}">
                    <a16:rowId xmlns:a16="http://schemas.microsoft.com/office/drawing/2014/main" xmlns="" val="10006"/>
                  </a:ext>
                </a:extLst>
              </a:tr>
              <a:tr h="625324">
                <a:tc>
                  <a:txBody>
                    <a:bodyPr/>
                    <a:lstStyle/>
                    <a:p>
                      <a:pPr marL="0" marR="0" lvl="0" indent="0" algn="l"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bg1"/>
                          </a:solidFill>
                          <a:effectLst/>
                          <a:latin typeface="Arial" charset="0"/>
                          <a:ea typeface="ＭＳ Ｐゴシック" pitchFamily="34" charset="-128"/>
                        </a:rPr>
                        <a:t>Requirement/</a:t>
                      </a:r>
                    </a:p>
                    <a:p>
                      <a:pPr marL="0" marR="0" lvl="0" indent="0" algn="l"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bg1"/>
                          </a:solidFill>
                          <a:effectLst/>
                          <a:latin typeface="Arial" charset="0"/>
                          <a:ea typeface="ＭＳ Ｐゴシック" pitchFamily="34" charset="-128"/>
                        </a:rPr>
                        <a:t>Demand</a:t>
                      </a:r>
                    </a:p>
                    <a:p>
                      <a:pPr marL="0" marR="0" lvl="0" indent="0" algn="l"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endParaRPr kumimoji="0" lang="en-US" sz="1400" b="1" i="0" u="none" strike="noStrike" cap="none" normalizeH="0" baseline="0" dirty="0">
                        <a:ln>
                          <a:noFill/>
                        </a:ln>
                        <a:solidFill>
                          <a:schemeClr val="bg1"/>
                        </a:solidFill>
                        <a:effectLst/>
                        <a:latin typeface="Arial" charset="0"/>
                        <a:ea typeface="ＭＳ Ｐゴシック" pitchFamily="34" charset="-128"/>
                      </a:endParaRP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rgbClr val="63BDE0"/>
                    </a:solidFill>
                  </a:tcPr>
                </a:tc>
                <a:tc gridSpan="2">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3200" b="1" i="0" u="none" strike="noStrike" cap="none" normalizeH="0" baseline="0" dirty="0">
                          <a:ln>
                            <a:noFill/>
                          </a:ln>
                          <a:solidFill>
                            <a:srgbClr val="FFC000"/>
                          </a:solidFill>
                          <a:effectLst/>
                          <a:latin typeface="Arial" charset="0"/>
                          <a:ea typeface="ＭＳ Ｐゴシック" pitchFamily="34" charset="-128"/>
                        </a:rPr>
                        <a:t>1</a:t>
                      </a:r>
                      <a:r>
                        <a:rPr kumimoji="0" lang="en-US" sz="1400" b="1" i="0" u="none" strike="noStrike" cap="none" normalizeH="0" baseline="0" dirty="0">
                          <a:ln>
                            <a:noFill/>
                          </a:ln>
                          <a:solidFill>
                            <a:schemeClr val="tx1"/>
                          </a:solidFill>
                          <a:effectLst/>
                          <a:latin typeface="Arial" charset="0"/>
                          <a:ea typeface="ＭＳ Ｐゴシック" pitchFamily="34" charset="-128"/>
                        </a:rPr>
                        <a:t>-1=0</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tc gridSpan="2">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tx1"/>
                          </a:solidFill>
                          <a:effectLst/>
                          <a:latin typeface="Arial" charset="0"/>
                          <a:ea typeface="ＭＳ Ｐゴシック" pitchFamily="34" charset="-128"/>
                        </a:rPr>
                        <a:t>3</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tc gridSpan="2">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tx1"/>
                          </a:solidFill>
                          <a:effectLst/>
                          <a:latin typeface="Arial" charset="0"/>
                          <a:ea typeface="ＭＳ Ｐゴシック" pitchFamily="34" charset="-128"/>
                        </a:rPr>
                        <a:t>5</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endParaRPr kumimoji="0" lang="en-US" sz="1400" b="1" i="0" u="none" strike="noStrike" cap="none" normalizeH="0" baseline="0" dirty="0">
                        <a:ln>
                          <a:noFill/>
                        </a:ln>
                        <a:solidFill>
                          <a:schemeClr val="tx1"/>
                        </a:solidFill>
                        <a:effectLst/>
                        <a:latin typeface="Arial" charset="0"/>
                        <a:ea typeface="ＭＳ Ｐゴシック" pitchFamily="34" charset="-128"/>
                      </a:endParaRP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7"/>
                  </a:ext>
                </a:extLst>
              </a:tr>
            </a:tbl>
          </a:graphicData>
        </a:graphic>
      </p:graphicFrame>
    </p:spTree>
    <p:extLst>
      <p:ext uri="{BB962C8B-B14F-4D97-AF65-F5344CB8AC3E}">
        <p14:creationId xmlns:p14="http://schemas.microsoft.com/office/powerpoint/2010/main" val="7220141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6" fill="hold" nodeType="afterEffect">
                                  <p:stCondLst>
                                    <p:cond delay="1000"/>
                                  </p:stCondLst>
                                  <p:childTnLst>
                                    <p:set>
                                      <p:cBhvr>
                                        <p:cTn id="6" dur="1" fill="hold">
                                          <p:stCondLst>
                                            <p:cond delay="0"/>
                                          </p:stCondLst>
                                        </p:cTn>
                                        <p:tgtEl>
                                          <p:spTgt spid="5"/>
                                        </p:tgtEl>
                                        <p:attrNameLst>
                                          <p:attrName>style.visibility</p:attrName>
                                        </p:attrNameLst>
                                      </p:cBhvr>
                                      <p:to>
                                        <p:strVal val="visible"/>
                                      </p:to>
                                    </p:set>
                                    <p:animEffect transition="in" filter="strips(downRight)">
                                      <p:cBhvr>
                                        <p:cTn id="7"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solidFill>
                  <a:srgbClr val="C00000"/>
                </a:solidFill>
                <a:latin typeface="Arial" panose="020B0604020202020204" pitchFamily="34" charset="0"/>
                <a:cs typeface="Arial" panose="020B0604020202020204" pitchFamily="34" charset="0"/>
              </a:rPr>
              <a:t>North west cost method</a:t>
            </a:r>
          </a:p>
        </p:txBody>
      </p:sp>
      <p:sp>
        <p:nvSpPr>
          <p:cNvPr id="6" name="Content Placeholder 5">
            <a:extLst>
              <a:ext uri="{FF2B5EF4-FFF2-40B4-BE49-F238E27FC236}">
                <a16:creationId xmlns:a16="http://schemas.microsoft.com/office/drawing/2014/main" xmlns="" id="{12C3F38F-06D5-4ADF-BB89-374D8DB47BD2}"/>
              </a:ext>
            </a:extLst>
          </p:cNvPr>
          <p:cNvSpPr>
            <a:spLocks noGrp="1"/>
          </p:cNvSpPr>
          <p:nvPr>
            <p:ph idx="1"/>
          </p:nvPr>
        </p:nvSpPr>
        <p:spPr>
          <a:xfrm>
            <a:off x="856060" y="2249486"/>
            <a:ext cx="7429499" cy="4608513"/>
          </a:xfrm>
        </p:spPr>
        <p:txBody>
          <a:bodyPr>
            <a:normAutofit/>
          </a:bodyPr>
          <a:lstStyle/>
          <a:p>
            <a:pPr marL="0" indent="0">
              <a:buNone/>
            </a:pPr>
            <a:endParaRPr lang="en-US" dirty="0">
              <a:latin typeface="Arial" panose="020B0604020202020204" pitchFamily="34" charset="0"/>
              <a:cs typeface="Arial" panose="020B0604020202020204" pitchFamily="34" charset="0"/>
            </a:endParaRPr>
          </a:p>
          <a:p>
            <a:pPr marL="0" indent="0">
              <a:buNone/>
            </a:pPr>
            <a:endParaRPr lang="en-US" dirty="0">
              <a:latin typeface="Arial" panose="020B0604020202020204" pitchFamily="34" charset="0"/>
              <a:cs typeface="Arial" panose="020B0604020202020204" pitchFamily="34" charset="0"/>
            </a:endParaRPr>
          </a:p>
          <a:p>
            <a:pPr marL="0" indent="0">
              <a:buNone/>
            </a:pPr>
            <a:endParaRPr lang="en-US" dirty="0">
              <a:latin typeface="Arial" panose="020B0604020202020204" pitchFamily="34" charset="0"/>
              <a:cs typeface="Arial" panose="020B0604020202020204" pitchFamily="34" charset="0"/>
            </a:endParaRPr>
          </a:p>
        </p:txBody>
      </p:sp>
      <p:graphicFrame>
        <p:nvGraphicFramePr>
          <p:cNvPr id="5" name="Group 123">
            <a:extLst>
              <a:ext uri="{FF2B5EF4-FFF2-40B4-BE49-F238E27FC236}">
                <a16:creationId xmlns:a16="http://schemas.microsoft.com/office/drawing/2014/main" xmlns="" id="{A5DA3B2A-2E25-4DFF-9E0E-EBF2CA28C54C}"/>
              </a:ext>
            </a:extLst>
          </p:cNvPr>
          <p:cNvGraphicFramePr>
            <a:graphicFrameLocks noGrp="1"/>
          </p:cNvGraphicFramePr>
          <p:nvPr>
            <p:extLst>
              <p:ext uri="{D42A27DB-BD31-4B8C-83A1-F6EECF244321}">
                <p14:modId xmlns:p14="http://schemas.microsoft.com/office/powerpoint/2010/main" val="3831059660"/>
              </p:ext>
            </p:extLst>
          </p:nvPr>
        </p:nvGraphicFramePr>
        <p:xfrm>
          <a:off x="856060" y="2249486"/>
          <a:ext cx="4762485" cy="2670976"/>
        </p:xfrm>
        <a:graphic>
          <a:graphicData uri="http://schemas.openxmlformats.org/drawingml/2006/table">
            <a:tbl>
              <a:tblPr/>
              <a:tblGrid>
                <a:gridCol w="1737009">
                  <a:extLst>
                    <a:ext uri="{9D8B030D-6E8A-4147-A177-3AD203B41FA5}">
                      <a16:colId xmlns:a16="http://schemas.microsoft.com/office/drawing/2014/main" xmlns="" val="20000"/>
                    </a:ext>
                  </a:extLst>
                </a:gridCol>
                <a:gridCol w="571532">
                  <a:extLst>
                    <a:ext uri="{9D8B030D-6E8A-4147-A177-3AD203B41FA5}">
                      <a16:colId xmlns:a16="http://schemas.microsoft.com/office/drawing/2014/main" xmlns="" val="20003"/>
                    </a:ext>
                  </a:extLst>
                </a:gridCol>
                <a:gridCol w="358608">
                  <a:extLst>
                    <a:ext uri="{9D8B030D-6E8A-4147-A177-3AD203B41FA5}">
                      <a16:colId xmlns:a16="http://schemas.microsoft.com/office/drawing/2014/main" xmlns="" val="20004"/>
                    </a:ext>
                  </a:extLst>
                </a:gridCol>
                <a:gridCol w="428943">
                  <a:extLst>
                    <a:ext uri="{9D8B030D-6E8A-4147-A177-3AD203B41FA5}">
                      <a16:colId xmlns:a16="http://schemas.microsoft.com/office/drawing/2014/main" xmlns="" val="20005"/>
                    </a:ext>
                  </a:extLst>
                </a:gridCol>
                <a:gridCol w="500915">
                  <a:extLst>
                    <a:ext uri="{9D8B030D-6E8A-4147-A177-3AD203B41FA5}">
                      <a16:colId xmlns:a16="http://schemas.microsoft.com/office/drawing/2014/main" xmlns="" val="20006"/>
                    </a:ext>
                  </a:extLst>
                </a:gridCol>
                <a:gridCol w="1165478">
                  <a:extLst>
                    <a:ext uri="{9D8B030D-6E8A-4147-A177-3AD203B41FA5}">
                      <a16:colId xmlns:a16="http://schemas.microsoft.com/office/drawing/2014/main" xmlns="" val="20007"/>
                    </a:ext>
                  </a:extLst>
                </a:gridCol>
              </a:tblGrid>
              <a:tr h="555364">
                <a:tc>
                  <a:txBody>
                    <a:bodyPr/>
                    <a:lstStyle/>
                    <a:p>
                      <a:pPr marL="0" marR="0" lvl="0" indent="0" algn="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bg1"/>
                          </a:solidFill>
                          <a:effectLst/>
                          <a:latin typeface="Arial" charset="0"/>
                          <a:ea typeface="ＭＳ Ｐゴシック" pitchFamily="34" charset="-128"/>
                        </a:rPr>
                        <a:t>TO</a:t>
                      </a:r>
                    </a:p>
                    <a:p>
                      <a:pPr marL="0" marR="0" lvl="0" indent="0" algn="l"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bg1"/>
                          </a:solidFill>
                          <a:effectLst/>
                          <a:latin typeface="Arial" charset="0"/>
                          <a:ea typeface="ＭＳ Ｐゴシック" pitchFamily="34" charset="-128"/>
                        </a:rPr>
                        <a:t>FROM</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9050" cap="flat" cmpd="sng" algn="ctr">
                      <a:solidFill>
                        <a:schemeClr val="tx1"/>
                      </a:solidFill>
                      <a:prstDash val="solid"/>
                      <a:round/>
                      <a:headEnd type="none" w="med" len="med"/>
                      <a:tailEnd type="none" w="med" len="med"/>
                    </a:lnTlToBr>
                    <a:lnBlToTr>
                      <a:noFill/>
                    </a:lnBlToTr>
                    <a:solidFill>
                      <a:srgbClr val="63BDE0"/>
                    </a:solidFill>
                  </a:tcPr>
                </a:tc>
                <a:tc gridSpan="2">
                  <a:txBody>
                    <a:bodyPr/>
                    <a:lstStyle/>
                    <a:p>
                      <a:pPr marL="0" marR="0" lvl="0" indent="0" algn="l"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bg1"/>
                          </a:solidFill>
                          <a:effectLst/>
                          <a:latin typeface="Arial" charset="0"/>
                          <a:ea typeface="ＭＳ Ｐゴシック" pitchFamily="34" charset="-128"/>
                        </a:rPr>
                        <a:t>Sialkot</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rgbClr val="63BDE0"/>
                    </a:solidFill>
                  </a:tcPr>
                </a:tc>
                <a:tc hMerge="1">
                  <a:txBody>
                    <a:bodyPr/>
                    <a:lstStyle/>
                    <a:p>
                      <a:endParaRPr lang="en-US"/>
                    </a:p>
                  </a:txBody>
                  <a:tcPr/>
                </a:tc>
                <a:tc gridSpan="2">
                  <a:txBody>
                    <a:bodyPr/>
                    <a:lstStyle/>
                    <a:p>
                      <a:pPr marL="0" marR="0" lvl="0" indent="0" algn="l"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bg1"/>
                          </a:solidFill>
                          <a:effectLst/>
                          <a:latin typeface="Arial" charset="0"/>
                          <a:ea typeface="ＭＳ Ｐゴシック" pitchFamily="34" charset="-128"/>
                        </a:rPr>
                        <a:t> Multan</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rgbClr val="63BDE0"/>
                    </a:solidFill>
                  </a:tcPr>
                </a:tc>
                <a:tc hMerge="1">
                  <a:txBody>
                    <a:bodyPr/>
                    <a:lstStyle/>
                    <a:p>
                      <a:endParaRPr lang="en-US"/>
                    </a:p>
                  </a:txBody>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bg1"/>
                          </a:solidFill>
                          <a:effectLst/>
                          <a:latin typeface="Arial" charset="0"/>
                          <a:ea typeface="ＭＳ Ｐゴシック" pitchFamily="34" charset="-128"/>
                        </a:rPr>
                        <a:t>FACTORY CAPACITY/Supply</a:t>
                      </a:r>
                    </a:p>
                  </a:txBody>
                  <a:tcPr marT="45709" marB="45709" anchor="b"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rgbClr val="63BDE0"/>
                    </a:solidFill>
                  </a:tcPr>
                </a:tc>
                <a:extLst>
                  <a:ext uri="{0D108BD9-81ED-4DB2-BD59-A6C34878D82A}">
                    <a16:rowId xmlns:a16="http://schemas.microsoft.com/office/drawing/2014/main" xmlns="" val="10000"/>
                  </a:ext>
                </a:extLst>
              </a:tr>
              <a:tr h="312663">
                <a:tc rowSpan="2">
                  <a:txBody>
                    <a:bodyPr/>
                    <a:lstStyle/>
                    <a:p>
                      <a:pPr marL="0" marR="0" lvl="0" indent="0" algn="l"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bg1"/>
                          </a:solidFill>
                          <a:effectLst/>
                          <a:latin typeface="Arial" charset="0"/>
                          <a:ea typeface="ＭＳ Ｐゴシック" pitchFamily="34" charset="-128"/>
                        </a:rPr>
                        <a:t> </a:t>
                      </a:r>
                      <a:br>
                        <a:rPr kumimoji="0" lang="en-US" sz="1400" b="1" i="0" u="none" strike="noStrike" cap="none" normalizeH="0" baseline="0" dirty="0">
                          <a:ln>
                            <a:noFill/>
                          </a:ln>
                          <a:solidFill>
                            <a:schemeClr val="bg1"/>
                          </a:solidFill>
                          <a:effectLst/>
                          <a:latin typeface="Arial" charset="0"/>
                          <a:ea typeface="ＭＳ Ｐゴシック" pitchFamily="34" charset="-128"/>
                        </a:rPr>
                      </a:br>
                      <a:r>
                        <a:rPr kumimoji="0" lang="en-US" sz="1400" b="1" i="0" u="none" strike="noStrike" cap="none" normalizeH="0" baseline="0" dirty="0">
                          <a:ln>
                            <a:noFill/>
                          </a:ln>
                          <a:solidFill>
                            <a:schemeClr val="bg1"/>
                          </a:solidFill>
                          <a:effectLst/>
                          <a:latin typeface="Arial" charset="0"/>
                          <a:ea typeface="ＭＳ Ｐゴシック" pitchFamily="34" charset="-128"/>
                        </a:rPr>
                        <a:t>Karachi</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rgbClr val="63BDE0"/>
                    </a:solidFill>
                  </a:tcPr>
                </a:tc>
                <a:tc rowSpan="2">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tx1"/>
                          </a:solidFill>
                          <a:effectLst/>
                          <a:latin typeface="Arial" charset="0"/>
                          <a:ea typeface="ＭＳ Ｐゴシック" pitchFamily="34" charset="-128"/>
                        </a:rPr>
                        <a:t>11</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endParaRPr kumimoji="0" lang="en-US" sz="1400" b="1" i="0" u="none" strike="noStrike" cap="none" normalizeH="0" baseline="0" dirty="0">
                        <a:ln>
                          <a:noFill/>
                        </a:ln>
                        <a:solidFill>
                          <a:schemeClr val="tx1"/>
                        </a:solidFill>
                        <a:effectLst/>
                        <a:latin typeface="Arial" charset="0"/>
                        <a:ea typeface="ＭＳ Ｐゴシック" pitchFamily="34" charset="-128"/>
                      </a:endParaRP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tx1"/>
                          </a:solidFill>
                          <a:effectLst/>
                          <a:latin typeface="Arial" charset="0"/>
                          <a:ea typeface="ＭＳ Ｐゴシック" pitchFamily="34" charset="-128"/>
                        </a:rPr>
                        <a:t>40</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endParaRPr kumimoji="0" lang="en-US" sz="1400" b="1" i="0" u="none" strike="noStrike" cap="none" normalizeH="0" baseline="0" dirty="0">
                        <a:ln>
                          <a:noFill/>
                        </a:ln>
                        <a:solidFill>
                          <a:schemeClr val="tx1"/>
                        </a:solidFill>
                        <a:effectLst/>
                        <a:latin typeface="Arial" charset="0"/>
                        <a:ea typeface="ＭＳ Ｐゴシック" pitchFamily="34" charset="-128"/>
                      </a:endParaRP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tx1"/>
                          </a:solidFill>
                          <a:effectLst/>
                          <a:latin typeface="Arial" charset="0"/>
                          <a:ea typeface="ＭＳ Ｐゴシック" pitchFamily="34" charset="-128"/>
                        </a:rPr>
                        <a:t>1</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1"/>
                  </a:ext>
                </a:extLst>
              </a:tr>
              <a:tr h="312663">
                <a:tc vMerge="1">
                  <a:txBody>
                    <a:bodyPr/>
                    <a:lstStyle/>
                    <a:p>
                      <a:endParaRPr lang="en-US"/>
                    </a:p>
                  </a:txBody>
                  <a:tcPr/>
                </a:tc>
                <a:tc vMerge="1">
                  <a:txBody>
                    <a:bodyPr/>
                    <a:lstStyle/>
                    <a:p>
                      <a:endParaRPr lang="en-US"/>
                    </a:p>
                  </a:txBody>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endParaRPr kumimoji="0" lang="en-US" sz="1400" b="1" i="0" u="none" strike="noStrike" cap="none" normalizeH="0" baseline="0" dirty="0">
                        <a:ln>
                          <a:noFill/>
                        </a:ln>
                        <a:solidFill>
                          <a:schemeClr val="tx1"/>
                        </a:solidFill>
                        <a:effectLst/>
                        <a:latin typeface="Arial" charset="0"/>
                        <a:ea typeface="ＭＳ Ｐゴシック" pitchFamily="34" charset="-128"/>
                      </a:endParaRPr>
                    </a:p>
                  </a:txBody>
                  <a:tcPr marT="45709" marB="45709" anchor="ctr" horzOverflow="overflow">
                    <a:lnL>
                      <a:noFill/>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vMerge="1">
                  <a:txBody>
                    <a:bodyPr/>
                    <a:lstStyle/>
                    <a:p>
                      <a:endParaRPr lang="en-US"/>
                    </a:p>
                  </a:txBody>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endParaRPr kumimoji="0" lang="en-US" sz="1400" b="1" i="0" u="none" strike="noStrike" cap="none" normalizeH="0" baseline="0" dirty="0">
                        <a:ln>
                          <a:noFill/>
                        </a:ln>
                        <a:solidFill>
                          <a:schemeClr val="tx1"/>
                        </a:solidFill>
                        <a:effectLst/>
                        <a:latin typeface="Arial" charset="0"/>
                        <a:ea typeface="ＭＳ Ｐゴシック" pitchFamily="34" charset="-128"/>
                      </a:endParaRPr>
                    </a:p>
                  </a:txBody>
                  <a:tcPr marT="45709" marB="45709" anchor="ctr" horzOverflow="overflow">
                    <a:lnL>
                      <a:noFill/>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vMerge="1">
                  <a:txBody>
                    <a:bodyPr/>
                    <a:lstStyle/>
                    <a:p>
                      <a:endParaRPr lang="en-US"/>
                    </a:p>
                  </a:txBody>
                  <a:tcPr/>
                </a:tc>
                <a:extLst>
                  <a:ext uri="{0D108BD9-81ED-4DB2-BD59-A6C34878D82A}">
                    <a16:rowId xmlns:a16="http://schemas.microsoft.com/office/drawing/2014/main" xmlns="" val="10002"/>
                  </a:ext>
                </a:extLst>
              </a:tr>
              <a:tr h="312663">
                <a:tc rowSpan="2">
                  <a:txBody>
                    <a:bodyPr/>
                    <a:lstStyle/>
                    <a:p>
                      <a:pPr marL="0" marR="0" lvl="0" indent="0" algn="l"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bg1"/>
                          </a:solidFill>
                          <a:effectLst/>
                          <a:latin typeface="Arial" charset="0"/>
                          <a:ea typeface="ＭＳ Ｐゴシック" pitchFamily="34" charset="-128"/>
                        </a:rPr>
                        <a:t>Lahore</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rgbClr val="63BDE0"/>
                    </a:solidFill>
                  </a:tcPr>
                </a:tc>
                <a:tc rowSpan="2">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tx1"/>
                          </a:solidFill>
                          <a:effectLst/>
                          <a:latin typeface="Arial" charset="0"/>
                          <a:ea typeface="ＭＳ Ｐゴシック" pitchFamily="34" charset="-128"/>
                        </a:rPr>
                        <a:t>18</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endParaRPr kumimoji="0" lang="en-US" sz="1400" b="1" i="0" u="none" strike="noStrike" cap="none" normalizeH="0" baseline="0" dirty="0">
                        <a:ln>
                          <a:noFill/>
                        </a:ln>
                        <a:solidFill>
                          <a:schemeClr val="tx1"/>
                        </a:solidFill>
                        <a:effectLst/>
                        <a:latin typeface="Arial" charset="0"/>
                        <a:ea typeface="ＭＳ Ｐゴシック" pitchFamily="34" charset="-128"/>
                      </a:endParaRP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tx1"/>
                          </a:solidFill>
                          <a:effectLst/>
                          <a:latin typeface="Arial" charset="0"/>
                          <a:ea typeface="ＭＳ Ｐゴシック" pitchFamily="34" charset="-128"/>
                        </a:rPr>
                        <a:t>12</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endParaRPr kumimoji="0" lang="en-US" sz="1400" b="1" i="0" u="none" strike="noStrike" cap="none" normalizeH="0" baseline="0" dirty="0">
                        <a:ln>
                          <a:noFill/>
                        </a:ln>
                        <a:solidFill>
                          <a:schemeClr val="tx1"/>
                        </a:solidFill>
                        <a:effectLst/>
                        <a:latin typeface="Arial" charset="0"/>
                        <a:ea typeface="ＭＳ Ｐゴシック" pitchFamily="34" charset="-128"/>
                      </a:endParaRP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tx1"/>
                          </a:solidFill>
                          <a:effectLst/>
                          <a:latin typeface="Arial" charset="0"/>
                          <a:ea typeface="ＭＳ Ｐゴシック" pitchFamily="34" charset="-128"/>
                        </a:rPr>
                        <a:t>7</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5"/>
                  </a:ext>
                </a:extLst>
              </a:tr>
              <a:tr h="312663">
                <a:tc vMerge="1">
                  <a:txBody>
                    <a:bodyPr/>
                    <a:lstStyle/>
                    <a:p>
                      <a:endParaRPr lang="en-US"/>
                    </a:p>
                  </a:txBody>
                  <a:tcPr/>
                </a:tc>
                <a:tc vMerge="1">
                  <a:txBody>
                    <a:bodyPr/>
                    <a:lstStyle/>
                    <a:p>
                      <a:endParaRPr lang="en-US"/>
                    </a:p>
                  </a:txBody>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endParaRPr kumimoji="0" lang="en-US" sz="1400" b="1" i="0" u="none" strike="noStrike" cap="none" normalizeH="0" baseline="0" dirty="0">
                        <a:ln>
                          <a:noFill/>
                        </a:ln>
                        <a:solidFill>
                          <a:schemeClr val="tx1"/>
                        </a:solidFill>
                        <a:effectLst/>
                        <a:latin typeface="Arial" charset="0"/>
                        <a:ea typeface="ＭＳ Ｐゴシック" pitchFamily="34" charset="-128"/>
                      </a:endParaRPr>
                    </a:p>
                  </a:txBody>
                  <a:tcPr marT="45709" marB="45709" anchor="ctr" horzOverflow="overflow">
                    <a:lnL>
                      <a:noFill/>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vMerge="1">
                  <a:txBody>
                    <a:bodyPr/>
                    <a:lstStyle/>
                    <a:p>
                      <a:endParaRPr lang="en-US"/>
                    </a:p>
                  </a:txBody>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endParaRPr kumimoji="0" lang="en-US" sz="1400" b="1" i="0" u="none" strike="noStrike" cap="none" normalizeH="0" baseline="0" dirty="0">
                        <a:ln>
                          <a:noFill/>
                        </a:ln>
                        <a:solidFill>
                          <a:schemeClr val="tx1"/>
                        </a:solidFill>
                        <a:effectLst/>
                        <a:latin typeface="Arial" charset="0"/>
                        <a:ea typeface="ＭＳ Ｐゴシック" pitchFamily="34" charset="-128"/>
                      </a:endParaRPr>
                    </a:p>
                  </a:txBody>
                  <a:tcPr marT="45709" marB="45709" anchor="ctr" horzOverflow="overflow">
                    <a:lnL>
                      <a:noFill/>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vMerge="1">
                  <a:txBody>
                    <a:bodyPr/>
                    <a:lstStyle/>
                    <a:p>
                      <a:endParaRPr lang="en-US"/>
                    </a:p>
                  </a:txBody>
                  <a:tcPr/>
                </a:tc>
                <a:extLst>
                  <a:ext uri="{0D108BD9-81ED-4DB2-BD59-A6C34878D82A}">
                    <a16:rowId xmlns:a16="http://schemas.microsoft.com/office/drawing/2014/main" xmlns="" val="10006"/>
                  </a:ext>
                </a:extLst>
              </a:tr>
              <a:tr h="625324">
                <a:tc>
                  <a:txBody>
                    <a:bodyPr/>
                    <a:lstStyle/>
                    <a:p>
                      <a:pPr marL="0" marR="0" lvl="0" indent="0" algn="l"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bg1"/>
                          </a:solidFill>
                          <a:effectLst/>
                          <a:latin typeface="Arial" charset="0"/>
                          <a:ea typeface="ＭＳ Ｐゴシック" pitchFamily="34" charset="-128"/>
                        </a:rPr>
                        <a:t>Requirement/</a:t>
                      </a:r>
                    </a:p>
                    <a:p>
                      <a:pPr marL="0" marR="0" lvl="0" indent="0" algn="l"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bg1"/>
                          </a:solidFill>
                          <a:effectLst/>
                          <a:latin typeface="Arial" charset="0"/>
                          <a:ea typeface="ＭＳ Ｐゴシック" pitchFamily="34" charset="-128"/>
                        </a:rPr>
                        <a:t>Demand</a:t>
                      </a:r>
                    </a:p>
                    <a:p>
                      <a:pPr marL="0" marR="0" lvl="0" indent="0" algn="l"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endParaRPr kumimoji="0" lang="en-US" sz="1400" b="1" i="0" u="none" strike="noStrike" cap="none" normalizeH="0" baseline="0" dirty="0">
                        <a:ln>
                          <a:noFill/>
                        </a:ln>
                        <a:solidFill>
                          <a:schemeClr val="bg1"/>
                        </a:solidFill>
                        <a:effectLst/>
                        <a:latin typeface="Arial" charset="0"/>
                        <a:ea typeface="ＭＳ Ｐゴシック" pitchFamily="34" charset="-128"/>
                      </a:endParaRP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rgbClr val="63BDE0"/>
                    </a:solidFill>
                  </a:tcPr>
                </a:tc>
                <a:tc gridSpan="2">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tx1"/>
                          </a:solidFill>
                          <a:effectLst/>
                          <a:latin typeface="Arial" charset="0"/>
                          <a:ea typeface="ＭＳ Ｐゴシック" pitchFamily="34" charset="-128"/>
                        </a:rPr>
                        <a:t>3</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tc gridSpan="2">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tx1"/>
                          </a:solidFill>
                          <a:effectLst/>
                          <a:latin typeface="Arial" charset="0"/>
                          <a:ea typeface="ＭＳ Ｐゴシック" pitchFamily="34" charset="-128"/>
                        </a:rPr>
                        <a:t>5</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endParaRPr kumimoji="0" lang="en-US" sz="1400" b="1" i="0" u="none" strike="noStrike" cap="none" normalizeH="0" baseline="0" dirty="0">
                        <a:ln>
                          <a:noFill/>
                        </a:ln>
                        <a:solidFill>
                          <a:schemeClr val="tx1"/>
                        </a:solidFill>
                        <a:effectLst/>
                        <a:latin typeface="Arial" charset="0"/>
                        <a:ea typeface="ＭＳ Ｐゴシック" pitchFamily="34" charset="-128"/>
                      </a:endParaRP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7"/>
                  </a:ext>
                </a:extLst>
              </a:tr>
            </a:tbl>
          </a:graphicData>
        </a:graphic>
      </p:graphicFrame>
    </p:spTree>
    <p:extLst>
      <p:ext uri="{BB962C8B-B14F-4D97-AF65-F5344CB8AC3E}">
        <p14:creationId xmlns:p14="http://schemas.microsoft.com/office/powerpoint/2010/main" val="34369593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6" fill="hold" nodeType="afterEffect">
                                  <p:stCondLst>
                                    <p:cond delay="1000"/>
                                  </p:stCondLst>
                                  <p:childTnLst>
                                    <p:set>
                                      <p:cBhvr>
                                        <p:cTn id="6" dur="1" fill="hold">
                                          <p:stCondLst>
                                            <p:cond delay="0"/>
                                          </p:stCondLst>
                                        </p:cTn>
                                        <p:tgtEl>
                                          <p:spTgt spid="5"/>
                                        </p:tgtEl>
                                        <p:attrNameLst>
                                          <p:attrName>style.visibility</p:attrName>
                                        </p:attrNameLst>
                                      </p:cBhvr>
                                      <p:to>
                                        <p:strVal val="visible"/>
                                      </p:to>
                                    </p:set>
                                    <p:animEffect transition="in" filter="strips(downRight)">
                                      <p:cBhvr>
                                        <p:cTn id="7"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solidFill>
                  <a:srgbClr val="C00000"/>
                </a:solidFill>
                <a:latin typeface="Arial" panose="020B0604020202020204" pitchFamily="34" charset="0"/>
                <a:cs typeface="Arial" panose="020B0604020202020204" pitchFamily="34" charset="0"/>
              </a:rPr>
              <a:t>North west cost method</a:t>
            </a:r>
          </a:p>
        </p:txBody>
      </p:sp>
      <p:sp>
        <p:nvSpPr>
          <p:cNvPr id="6" name="Content Placeholder 5">
            <a:extLst>
              <a:ext uri="{FF2B5EF4-FFF2-40B4-BE49-F238E27FC236}">
                <a16:creationId xmlns:a16="http://schemas.microsoft.com/office/drawing/2014/main" xmlns="" id="{12C3F38F-06D5-4ADF-BB89-374D8DB47BD2}"/>
              </a:ext>
            </a:extLst>
          </p:cNvPr>
          <p:cNvSpPr>
            <a:spLocks noGrp="1"/>
          </p:cNvSpPr>
          <p:nvPr>
            <p:ph idx="1"/>
          </p:nvPr>
        </p:nvSpPr>
        <p:spPr>
          <a:xfrm>
            <a:off x="856060" y="2249486"/>
            <a:ext cx="7429499" cy="4608513"/>
          </a:xfrm>
        </p:spPr>
        <p:txBody>
          <a:bodyPr>
            <a:normAutofit/>
          </a:bodyPr>
          <a:lstStyle/>
          <a:p>
            <a:pPr marL="0" indent="0">
              <a:buNone/>
            </a:pPr>
            <a:endParaRPr lang="en-US" dirty="0">
              <a:latin typeface="Arial" panose="020B0604020202020204" pitchFamily="34" charset="0"/>
              <a:cs typeface="Arial" panose="020B0604020202020204" pitchFamily="34" charset="0"/>
            </a:endParaRPr>
          </a:p>
          <a:p>
            <a:pPr marL="0" indent="0">
              <a:buNone/>
            </a:pPr>
            <a:endParaRPr lang="en-US" dirty="0">
              <a:latin typeface="Arial" panose="020B0604020202020204" pitchFamily="34" charset="0"/>
              <a:cs typeface="Arial" panose="020B0604020202020204" pitchFamily="34" charset="0"/>
            </a:endParaRPr>
          </a:p>
          <a:p>
            <a:pPr marL="0" indent="0">
              <a:buNone/>
            </a:pPr>
            <a:endParaRPr lang="en-US" dirty="0">
              <a:latin typeface="Arial" panose="020B0604020202020204" pitchFamily="34" charset="0"/>
              <a:cs typeface="Arial" panose="020B0604020202020204" pitchFamily="34" charset="0"/>
            </a:endParaRPr>
          </a:p>
        </p:txBody>
      </p:sp>
      <p:graphicFrame>
        <p:nvGraphicFramePr>
          <p:cNvPr id="5" name="Group 123">
            <a:extLst>
              <a:ext uri="{FF2B5EF4-FFF2-40B4-BE49-F238E27FC236}">
                <a16:creationId xmlns:a16="http://schemas.microsoft.com/office/drawing/2014/main" xmlns="" id="{A5DA3B2A-2E25-4DFF-9E0E-EBF2CA28C54C}"/>
              </a:ext>
            </a:extLst>
          </p:cNvPr>
          <p:cNvGraphicFramePr>
            <a:graphicFrameLocks noGrp="1"/>
          </p:cNvGraphicFramePr>
          <p:nvPr>
            <p:extLst>
              <p:ext uri="{D42A27DB-BD31-4B8C-83A1-F6EECF244321}">
                <p14:modId xmlns:p14="http://schemas.microsoft.com/office/powerpoint/2010/main" val="905017049"/>
              </p:ext>
            </p:extLst>
          </p:nvPr>
        </p:nvGraphicFramePr>
        <p:xfrm>
          <a:off x="856060" y="2249486"/>
          <a:ext cx="4762485" cy="2670976"/>
        </p:xfrm>
        <a:graphic>
          <a:graphicData uri="http://schemas.openxmlformats.org/drawingml/2006/table">
            <a:tbl>
              <a:tblPr/>
              <a:tblGrid>
                <a:gridCol w="1737009">
                  <a:extLst>
                    <a:ext uri="{9D8B030D-6E8A-4147-A177-3AD203B41FA5}">
                      <a16:colId xmlns:a16="http://schemas.microsoft.com/office/drawing/2014/main" xmlns="" val="20000"/>
                    </a:ext>
                  </a:extLst>
                </a:gridCol>
                <a:gridCol w="571532">
                  <a:extLst>
                    <a:ext uri="{9D8B030D-6E8A-4147-A177-3AD203B41FA5}">
                      <a16:colId xmlns:a16="http://schemas.microsoft.com/office/drawing/2014/main" xmlns="" val="20003"/>
                    </a:ext>
                  </a:extLst>
                </a:gridCol>
                <a:gridCol w="358608">
                  <a:extLst>
                    <a:ext uri="{9D8B030D-6E8A-4147-A177-3AD203B41FA5}">
                      <a16:colId xmlns:a16="http://schemas.microsoft.com/office/drawing/2014/main" xmlns="" val="20004"/>
                    </a:ext>
                  </a:extLst>
                </a:gridCol>
                <a:gridCol w="428943">
                  <a:extLst>
                    <a:ext uri="{9D8B030D-6E8A-4147-A177-3AD203B41FA5}">
                      <a16:colId xmlns:a16="http://schemas.microsoft.com/office/drawing/2014/main" xmlns="" val="20005"/>
                    </a:ext>
                  </a:extLst>
                </a:gridCol>
                <a:gridCol w="500915">
                  <a:extLst>
                    <a:ext uri="{9D8B030D-6E8A-4147-A177-3AD203B41FA5}">
                      <a16:colId xmlns:a16="http://schemas.microsoft.com/office/drawing/2014/main" xmlns="" val="20006"/>
                    </a:ext>
                  </a:extLst>
                </a:gridCol>
                <a:gridCol w="1165478">
                  <a:extLst>
                    <a:ext uri="{9D8B030D-6E8A-4147-A177-3AD203B41FA5}">
                      <a16:colId xmlns:a16="http://schemas.microsoft.com/office/drawing/2014/main" xmlns="" val="20007"/>
                    </a:ext>
                  </a:extLst>
                </a:gridCol>
              </a:tblGrid>
              <a:tr h="555364">
                <a:tc>
                  <a:txBody>
                    <a:bodyPr/>
                    <a:lstStyle/>
                    <a:p>
                      <a:pPr marL="0" marR="0" lvl="0" indent="0" algn="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bg1"/>
                          </a:solidFill>
                          <a:effectLst/>
                          <a:latin typeface="Arial" charset="0"/>
                          <a:ea typeface="ＭＳ Ｐゴシック" pitchFamily="34" charset="-128"/>
                        </a:rPr>
                        <a:t>TO</a:t>
                      </a:r>
                    </a:p>
                    <a:p>
                      <a:pPr marL="0" marR="0" lvl="0" indent="0" algn="l"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bg1"/>
                          </a:solidFill>
                          <a:effectLst/>
                          <a:latin typeface="Arial" charset="0"/>
                          <a:ea typeface="ＭＳ Ｐゴシック" pitchFamily="34" charset="-128"/>
                        </a:rPr>
                        <a:t>FROM</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9050" cap="flat" cmpd="sng" algn="ctr">
                      <a:solidFill>
                        <a:schemeClr val="tx1"/>
                      </a:solidFill>
                      <a:prstDash val="solid"/>
                      <a:round/>
                      <a:headEnd type="none" w="med" len="med"/>
                      <a:tailEnd type="none" w="med" len="med"/>
                    </a:lnTlToBr>
                    <a:lnBlToTr>
                      <a:noFill/>
                    </a:lnBlToTr>
                    <a:solidFill>
                      <a:srgbClr val="63BDE0"/>
                    </a:solidFill>
                  </a:tcPr>
                </a:tc>
                <a:tc gridSpan="2">
                  <a:txBody>
                    <a:bodyPr/>
                    <a:lstStyle/>
                    <a:p>
                      <a:pPr marL="0" marR="0" lvl="0" indent="0" algn="l"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bg1"/>
                          </a:solidFill>
                          <a:effectLst/>
                          <a:latin typeface="Arial" charset="0"/>
                          <a:ea typeface="ＭＳ Ｐゴシック" pitchFamily="34" charset="-128"/>
                        </a:rPr>
                        <a:t>Sialkot</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rgbClr val="63BDE0"/>
                    </a:solidFill>
                  </a:tcPr>
                </a:tc>
                <a:tc hMerge="1">
                  <a:txBody>
                    <a:bodyPr/>
                    <a:lstStyle/>
                    <a:p>
                      <a:endParaRPr lang="en-US"/>
                    </a:p>
                  </a:txBody>
                  <a:tcPr/>
                </a:tc>
                <a:tc gridSpan="2">
                  <a:txBody>
                    <a:bodyPr/>
                    <a:lstStyle/>
                    <a:p>
                      <a:pPr marL="0" marR="0" lvl="0" indent="0" algn="l"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bg1"/>
                          </a:solidFill>
                          <a:effectLst/>
                          <a:latin typeface="Arial" charset="0"/>
                          <a:ea typeface="ＭＳ Ｐゴシック" pitchFamily="34" charset="-128"/>
                        </a:rPr>
                        <a:t> Multan</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rgbClr val="63BDE0"/>
                    </a:solidFill>
                  </a:tcPr>
                </a:tc>
                <a:tc hMerge="1">
                  <a:txBody>
                    <a:bodyPr/>
                    <a:lstStyle/>
                    <a:p>
                      <a:endParaRPr lang="en-US"/>
                    </a:p>
                  </a:txBody>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bg1"/>
                          </a:solidFill>
                          <a:effectLst/>
                          <a:latin typeface="Arial" charset="0"/>
                          <a:ea typeface="ＭＳ Ｐゴシック" pitchFamily="34" charset="-128"/>
                        </a:rPr>
                        <a:t>FACTORY CAPACITY/Supply</a:t>
                      </a:r>
                    </a:p>
                  </a:txBody>
                  <a:tcPr marT="45709" marB="45709" anchor="b"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rgbClr val="63BDE0"/>
                    </a:solidFill>
                  </a:tcPr>
                </a:tc>
                <a:extLst>
                  <a:ext uri="{0D108BD9-81ED-4DB2-BD59-A6C34878D82A}">
                    <a16:rowId xmlns:a16="http://schemas.microsoft.com/office/drawing/2014/main" xmlns="" val="10000"/>
                  </a:ext>
                </a:extLst>
              </a:tr>
              <a:tr h="312663">
                <a:tc rowSpan="2">
                  <a:txBody>
                    <a:bodyPr/>
                    <a:lstStyle/>
                    <a:p>
                      <a:pPr marL="0" marR="0" lvl="0" indent="0" algn="l"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bg1"/>
                          </a:solidFill>
                          <a:effectLst/>
                          <a:latin typeface="Arial" charset="0"/>
                          <a:ea typeface="ＭＳ Ｐゴシック" pitchFamily="34" charset="-128"/>
                        </a:rPr>
                        <a:t> </a:t>
                      </a:r>
                      <a:br>
                        <a:rPr kumimoji="0" lang="en-US" sz="1400" b="1" i="0" u="none" strike="noStrike" cap="none" normalizeH="0" baseline="0" dirty="0">
                          <a:ln>
                            <a:noFill/>
                          </a:ln>
                          <a:solidFill>
                            <a:schemeClr val="bg1"/>
                          </a:solidFill>
                          <a:effectLst/>
                          <a:latin typeface="Arial" charset="0"/>
                          <a:ea typeface="ＭＳ Ｐゴシック" pitchFamily="34" charset="-128"/>
                        </a:rPr>
                      </a:br>
                      <a:r>
                        <a:rPr kumimoji="0" lang="en-US" sz="1400" b="1" i="0" u="none" strike="noStrike" cap="none" normalizeH="0" baseline="0" dirty="0">
                          <a:ln>
                            <a:noFill/>
                          </a:ln>
                          <a:solidFill>
                            <a:schemeClr val="bg1"/>
                          </a:solidFill>
                          <a:effectLst/>
                          <a:latin typeface="Arial" charset="0"/>
                          <a:ea typeface="ＭＳ Ｐゴシック" pitchFamily="34" charset="-128"/>
                        </a:rPr>
                        <a:t>Karachi</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rgbClr val="63BDE0"/>
                    </a:solidFill>
                  </a:tcPr>
                </a:tc>
                <a:tc rowSpan="2">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accent2"/>
                          </a:solidFill>
                          <a:effectLst/>
                          <a:latin typeface="Arial" charset="0"/>
                          <a:ea typeface="ＭＳ Ｐゴシック" pitchFamily="34" charset="-128"/>
                        </a:rPr>
                        <a:t>11</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tx1"/>
                          </a:solidFill>
                          <a:effectLst/>
                          <a:latin typeface="Arial" charset="0"/>
                          <a:ea typeface="ＭＳ Ｐゴシック" pitchFamily="34" charset="-128"/>
                        </a:rPr>
                        <a:t>1</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tx1"/>
                          </a:solidFill>
                          <a:effectLst/>
                          <a:latin typeface="Arial" charset="0"/>
                          <a:ea typeface="ＭＳ Ｐゴシック" pitchFamily="34" charset="-128"/>
                        </a:rPr>
                        <a:t>40</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endParaRPr kumimoji="0" lang="en-US" sz="1400" b="1" i="0" u="none" strike="noStrike" cap="none" normalizeH="0" baseline="0" dirty="0">
                        <a:ln>
                          <a:noFill/>
                        </a:ln>
                        <a:solidFill>
                          <a:schemeClr val="tx1"/>
                        </a:solidFill>
                        <a:effectLst/>
                        <a:latin typeface="Arial" charset="0"/>
                        <a:ea typeface="ＭＳ Ｐゴシック" pitchFamily="34" charset="-128"/>
                      </a:endParaRP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tx1"/>
                          </a:solidFill>
                          <a:effectLst/>
                          <a:latin typeface="Arial" charset="0"/>
                          <a:ea typeface="ＭＳ Ｐゴシック" pitchFamily="34" charset="-128"/>
                        </a:rPr>
                        <a:t>1-1=0</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1"/>
                  </a:ext>
                </a:extLst>
              </a:tr>
              <a:tr h="312663">
                <a:tc vMerge="1">
                  <a:txBody>
                    <a:bodyPr/>
                    <a:lstStyle/>
                    <a:p>
                      <a:endParaRPr lang="en-US"/>
                    </a:p>
                  </a:txBody>
                  <a:tcPr/>
                </a:tc>
                <a:tc vMerge="1">
                  <a:txBody>
                    <a:bodyPr/>
                    <a:lstStyle/>
                    <a:p>
                      <a:endParaRPr lang="en-US"/>
                    </a:p>
                  </a:txBody>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endParaRPr kumimoji="0" lang="en-US" sz="1400" b="1" i="0" u="none" strike="noStrike" cap="none" normalizeH="0" baseline="0" dirty="0">
                        <a:ln>
                          <a:noFill/>
                        </a:ln>
                        <a:solidFill>
                          <a:schemeClr val="tx1"/>
                        </a:solidFill>
                        <a:effectLst/>
                        <a:latin typeface="Arial" charset="0"/>
                        <a:ea typeface="ＭＳ Ｐゴシック" pitchFamily="34" charset="-128"/>
                      </a:endParaRPr>
                    </a:p>
                  </a:txBody>
                  <a:tcPr marT="45709" marB="45709" anchor="ctr" horzOverflow="overflow">
                    <a:lnL>
                      <a:noFill/>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vMerge="1">
                  <a:txBody>
                    <a:bodyPr/>
                    <a:lstStyle/>
                    <a:p>
                      <a:endParaRPr lang="en-US"/>
                    </a:p>
                  </a:txBody>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endParaRPr kumimoji="0" lang="en-US" sz="1400" b="1" i="0" u="none" strike="noStrike" cap="none" normalizeH="0" baseline="0" dirty="0">
                        <a:ln>
                          <a:noFill/>
                        </a:ln>
                        <a:solidFill>
                          <a:schemeClr val="tx1"/>
                        </a:solidFill>
                        <a:effectLst/>
                        <a:latin typeface="Arial" charset="0"/>
                        <a:ea typeface="ＭＳ Ｐゴシック" pitchFamily="34" charset="-128"/>
                      </a:endParaRPr>
                    </a:p>
                  </a:txBody>
                  <a:tcPr marT="45709" marB="45709" anchor="ctr" horzOverflow="overflow">
                    <a:lnL>
                      <a:noFill/>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vMerge="1">
                  <a:txBody>
                    <a:bodyPr/>
                    <a:lstStyle/>
                    <a:p>
                      <a:endParaRPr lang="en-US"/>
                    </a:p>
                  </a:txBody>
                  <a:tcPr/>
                </a:tc>
                <a:extLst>
                  <a:ext uri="{0D108BD9-81ED-4DB2-BD59-A6C34878D82A}">
                    <a16:rowId xmlns:a16="http://schemas.microsoft.com/office/drawing/2014/main" xmlns="" val="10002"/>
                  </a:ext>
                </a:extLst>
              </a:tr>
              <a:tr h="312663">
                <a:tc rowSpan="2">
                  <a:txBody>
                    <a:bodyPr/>
                    <a:lstStyle/>
                    <a:p>
                      <a:pPr marL="0" marR="0" lvl="0" indent="0" algn="l"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bg1"/>
                          </a:solidFill>
                          <a:effectLst/>
                          <a:latin typeface="Arial" charset="0"/>
                          <a:ea typeface="ＭＳ Ｐゴシック" pitchFamily="34" charset="-128"/>
                        </a:rPr>
                        <a:t>Lahore</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rgbClr val="63BDE0"/>
                    </a:solidFill>
                  </a:tcPr>
                </a:tc>
                <a:tc rowSpan="2">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tx1"/>
                          </a:solidFill>
                          <a:effectLst/>
                          <a:latin typeface="Arial" charset="0"/>
                          <a:ea typeface="ＭＳ Ｐゴシック" pitchFamily="34" charset="-128"/>
                        </a:rPr>
                        <a:t>18</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endParaRPr kumimoji="0" lang="en-US" sz="1400" b="1" i="0" u="none" strike="noStrike" cap="none" normalizeH="0" baseline="0" dirty="0">
                        <a:ln>
                          <a:noFill/>
                        </a:ln>
                        <a:solidFill>
                          <a:schemeClr val="tx1"/>
                        </a:solidFill>
                        <a:effectLst/>
                        <a:latin typeface="Arial" charset="0"/>
                        <a:ea typeface="ＭＳ Ｐゴシック" pitchFamily="34" charset="-128"/>
                      </a:endParaRP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tx1"/>
                          </a:solidFill>
                          <a:effectLst/>
                          <a:latin typeface="Arial" charset="0"/>
                          <a:ea typeface="ＭＳ Ｐゴシック" pitchFamily="34" charset="-128"/>
                        </a:rPr>
                        <a:t>12</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endParaRPr kumimoji="0" lang="en-US" sz="1400" b="1" i="0" u="none" strike="noStrike" cap="none" normalizeH="0" baseline="0" dirty="0">
                        <a:ln>
                          <a:noFill/>
                        </a:ln>
                        <a:solidFill>
                          <a:schemeClr val="tx1"/>
                        </a:solidFill>
                        <a:effectLst/>
                        <a:latin typeface="Arial" charset="0"/>
                        <a:ea typeface="ＭＳ Ｐゴシック" pitchFamily="34" charset="-128"/>
                      </a:endParaRP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tx1"/>
                          </a:solidFill>
                          <a:effectLst/>
                          <a:latin typeface="Arial" charset="0"/>
                          <a:ea typeface="ＭＳ Ｐゴシック" pitchFamily="34" charset="-128"/>
                        </a:rPr>
                        <a:t>7</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5"/>
                  </a:ext>
                </a:extLst>
              </a:tr>
              <a:tr h="312663">
                <a:tc vMerge="1">
                  <a:txBody>
                    <a:bodyPr/>
                    <a:lstStyle/>
                    <a:p>
                      <a:endParaRPr lang="en-US"/>
                    </a:p>
                  </a:txBody>
                  <a:tcPr/>
                </a:tc>
                <a:tc vMerge="1">
                  <a:txBody>
                    <a:bodyPr/>
                    <a:lstStyle/>
                    <a:p>
                      <a:endParaRPr lang="en-US"/>
                    </a:p>
                  </a:txBody>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endParaRPr kumimoji="0" lang="en-US" sz="1400" b="1" i="0" u="none" strike="noStrike" cap="none" normalizeH="0" baseline="0" dirty="0">
                        <a:ln>
                          <a:noFill/>
                        </a:ln>
                        <a:solidFill>
                          <a:schemeClr val="tx1"/>
                        </a:solidFill>
                        <a:effectLst/>
                        <a:latin typeface="Arial" charset="0"/>
                        <a:ea typeface="ＭＳ Ｐゴシック" pitchFamily="34" charset="-128"/>
                      </a:endParaRPr>
                    </a:p>
                  </a:txBody>
                  <a:tcPr marT="45709" marB="45709" anchor="ctr" horzOverflow="overflow">
                    <a:lnL>
                      <a:noFill/>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vMerge="1">
                  <a:txBody>
                    <a:bodyPr/>
                    <a:lstStyle/>
                    <a:p>
                      <a:endParaRPr lang="en-US"/>
                    </a:p>
                  </a:txBody>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endParaRPr kumimoji="0" lang="en-US" sz="1400" b="1" i="0" u="none" strike="noStrike" cap="none" normalizeH="0" baseline="0" dirty="0">
                        <a:ln>
                          <a:noFill/>
                        </a:ln>
                        <a:solidFill>
                          <a:schemeClr val="tx1"/>
                        </a:solidFill>
                        <a:effectLst/>
                        <a:latin typeface="Arial" charset="0"/>
                        <a:ea typeface="ＭＳ Ｐゴシック" pitchFamily="34" charset="-128"/>
                      </a:endParaRPr>
                    </a:p>
                  </a:txBody>
                  <a:tcPr marT="45709" marB="45709" anchor="ctr" horzOverflow="overflow">
                    <a:lnL>
                      <a:noFill/>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vMerge="1">
                  <a:txBody>
                    <a:bodyPr/>
                    <a:lstStyle/>
                    <a:p>
                      <a:endParaRPr lang="en-US"/>
                    </a:p>
                  </a:txBody>
                  <a:tcPr/>
                </a:tc>
                <a:extLst>
                  <a:ext uri="{0D108BD9-81ED-4DB2-BD59-A6C34878D82A}">
                    <a16:rowId xmlns:a16="http://schemas.microsoft.com/office/drawing/2014/main" xmlns="" val="10006"/>
                  </a:ext>
                </a:extLst>
              </a:tr>
              <a:tr h="625324">
                <a:tc>
                  <a:txBody>
                    <a:bodyPr/>
                    <a:lstStyle/>
                    <a:p>
                      <a:pPr marL="0" marR="0" lvl="0" indent="0" algn="l"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bg1"/>
                          </a:solidFill>
                          <a:effectLst/>
                          <a:latin typeface="Arial" charset="0"/>
                          <a:ea typeface="ＭＳ Ｐゴシック" pitchFamily="34" charset="-128"/>
                        </a:rPr>
                        <a:t>Requirement/</a:t>
                      </a:r>
                    </a:p>
                    <a:p>
                      <a:pPr marL="0" marR="0" lvl="0" indent="0" algn="l"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bg1"/>
                          </a:solidFill>
                          <a:effectLst/>
                          <a:latin typeface="Arial" charset="0"/>
                          <a:ea typeface="ＭＳ Ｐゴシック" pitchFamily="34" charset="-128"/>
                        </a:rPr>
                        <a:t>Demand</a:t>
                      </a:r>
                    </a:p>
                    <a:p>
                      <a:pPr marL="0" marR="0" lvl="0" indent="0" algn="l"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endParaRPr kumimoji="0" lang="en-US" sz="1400" b="1" i="0" u="none" strike="noStrike" cap="none" normalizeH="0" baseline="0" dirty="0">
                        <a:ln>
                          <a:noFill/>
                        </a:ln>
                        <a:solidFill>
                          <a:schemeClr val="bg1"/>
                        </a:solidFill>
                        <a:effectLst/>
                        <a:latin typeface="Arial" charset="0"/>
                        <a:ea typeface="ＭＳ Ｐゴシック" pitchFamily="34" charset="-128"/>
                      </a:endParaRP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rgbClr val="63BDE0"/>
                    </a:solidFill>
                  </a:tcPr>
                </a:tc>
                <a:tc gridSpan="2">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tx1"/>
                          </a:solidFill>
                          <a:effectLst/>
                          <a:latin typeface="Arial" charset="0"/>
                          <a:ea typeface="ＭＳ Ｐゴシック" pitchFamily="34" charset="-128"/>
                        </a:rPr>
                        <a:t>3-1=2</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tc gridSpan="2">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tx1"/>
                          </a:solidFill>
                          <a:effectLst/>
                          <a:latin typeface="Arial" charset="0"/>
                          <a:ea typeface="ＭＳ Ｐゴシック" pitchFamily="34" charset="-128"/>
                        </a:rPr>
                        <a:t>5</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endParaRPr kumimoji="0" lang="en-US" sz="1400" b="1" i="0" u="none" strike="noStrike" cap="none" normalizeH="0" baseline="0" dirty="0">
                        <a:ln>
                          <a:noFill/>
                        </a:ln>
                        <a:solidFill>
                          <a:schemeClr val="tx1"/>
                        </a:solidFill>
                        <a:effectLst/>
                        <a:latin typeface="Arial" charset="0"/>
                        <a:ea typeface="ＭＳ Ｐゴシック" pitchFamily="34" charset="-128"/>
                      </a:endParaRP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7"/>
                  </a:ext>
                </a:extLst>
              </a:tr>
            </a:tbl>
          </a:graphicData>
        </a:graphic>
      </p:graphicFrame>
    </p:spTree>
    <p:extLst>
      <p:ext uri="{BB962C8B-B14F-4D97-AF65-F5344CB8AC3E}">
        <p14:creationId xmlns:p14="http://schemas.microsoft.com/office/powerpoint/2010/main" val="20867417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6" fill="hold" nodeType="afterEffect">
                                  <p:stCondLst>
                                    <p:cond delay="1000"/>
                                  </p:stCondLst>
                                  <p:childTnLst>
                                    <p:set>
                                      <p:cBhvr>
                                        <p:cTn id="6" dur="1" fill="hold">
                                          <p:stCondLst>
                                            <p:cond delay="0"/>
                                          </p:stCondLst>
                                        </p:cTn>
                                        <p:tgtEl>
                                          <p:spTgt spid="5"/>
                                        </p:tgtEl>
                                        <p:attrNameLst>
                                          <p:attrName>style.visibility</p:attrName>
                                        </p:attrNameLst>
                                      </p:cBhvr>
                                      <p:to>
                                        <p:strVal val="visible"/>
                                      </p:to>
                                    </p:set>
                                    <p:animEffect transition="in" filter="strips(downRight)">
                                      <p:cBhvr>
                                        <p:cTn id="7"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solidFill>
                  <a:srgbClr val="C00000"/>
                </a:solidFill>
                <a:latin typeface="Arial" panose="020B0604020202020204" pitchFamily="34" charset="0"/>
                <a:cs typeface="Arial" panose="020B0604020202020204" pitchFamily="34" charset="0"/>
              </a:rPr>
              <a:t>North west cost method</a:t>
            </a:r>
          </a:p>
        </p:txBody>
      </p:sp>
      <p:sp>
        <p:nvSpPr>
          <p:cNvPr id="6" name="Content Placeholder 5">
            <a:extLst>
              <a:ext uri="{FF2B5EF4-FFF2-40B4-BE49-F238E27FC236}">
                <a16:creationId xmlns:a16="http://schemas.microsoft.com/office/drawing/2014/main" xmlns="" id="{12C3F38F-06D5-4ADF-BB89-374D8DB47BD2}"/>
              </a:ext>
            </a:extLst>
          </p:cNvPr>
          <p:cNvSpPr>
            <a:spLocks noGrp="1"/>
          </p:cNvSpPr>
          <p:nvPr>
            <p:ph idx="1"/>
          </p:nvPr>
        </p:nvSpPr>
        <p:spPr>
          <a:xfrm>
            <a:off x="856060" y="2249486"/>
            <a:ext cx="7429499" cy="4608513"/>
          </a:xfrm>
        </p:spPr>
        <p:txBody>
          <a:bodyPr>
            <a:normAutofit/>
          </a:bodyPr>
          <a:lstStyle/>
          <a:p>
            <a:pPr marL="0" indent="0">
              <a:buNone/>
            </a:pPr>
            <a:endParaRPr lang="en-US" dirty="0">
              <a:latin typeface="Arial" panose="020B0604020202020204" pitchFamily="34" charset="0"/>
              <a:cs typeface="Arial" panose="020B0604020202020204" pitchFamily="34" charset="0"/>
            </a:endParaRPr>
          </a:p>
          <a:p>
            <a:pPr marL="0" indent="0">
              <a:buNone/>
            </a:pPr>
            <a:endParaRPr lang="en-US" dirty="0">
              <a:latin typeface="Arial" panose="020B0604020202020204" pitchFamily="34" charset="0"/>
              <a:cs typeface="Arial" panose="020B0604020202020204" pitchFamily="34" charset="0"/>
            </a:endParaRPr>
          </a:p>
          <a:p>
            <a:pPr marL="0" indent="0">
              <a:buNone/>
            </a:pPr>
            <a:endParaRPr lang="en-US" dirty="0">
              <a:latin typeface="Arial" panose="020B0604020202020204" pitchFamily="34" charset="0"/>
              <a:cs typeface="Arial" panose="020B0604020202020204" pitchFamily="34" charset="0"/>
            </a:endParaRPr>
          </a:p>
        </p:txBody>
      </p:sp>
      <p:graphicFrame>
        <p:nvGraphicFramePr>
          <p:cNvPr id="5" name="Group 123">
            <a:extLst>
              <a:ext uri="{FF2B5EF4-FFF2-40B4-BE49-F238E27FC236}">
                <a16:creationId xmlns:a16="http://schemas.microsoft.com/office/drawing/2014/main" xmlns="" id="{A5DA3B2A-2E25-4DFF-9E0E-EBF2CA28C54C}"/>
              </a:ext>
            </a:extLst>
          </p:cNvPr>
          <p:cNvGraphicFramePr>
            <a:graphicFrameLocks noGrp="1"/>
          </p:cNvGraphicFramePr>
          <p:nvPr>
            <p:extLst>
              <p:ext uri="{D42A27DB-BD31-4B8C-83A1-F6EECF244321}">
                <p14:modId xmlns:p14="http://schemas.microsoft.com/office/powerpoint/2010/main" val="4242934519"/>
              </p:ext>
            </p:extLst>
          </p:nvPr>
        </p:nvGraphicFramePr>
        <p:xfrm>
          <a:off x="856060" y="2249486"/>
          <a:ext cx="4762485" cy="2045650"/>
        </p:xfrm>
        <a:graphic>
          <a:graphicData uri="http://schemas.openxmlformats.org/drawingml/2006/table">
            <a:tbl>
              <a:tblPr/>
              <a:tblGrid>
                <a:gridCol w="1737009">
                  <a:extLst>
                    <a:ext uri="{9D8B030D-6E8A-4147-A177-3AD203B41FA5}">
                      <a16:colId xmlns:a16="http://schemas.microsoft.com/office/drawing/2014/main" xmlns="" val="20000"/>
                    </a:ext>
                  </a:extLst>
                </a:gridCol>
                <a:gridCol w="571532">
                  <a:extLst>
                    <a:ext uri="{9D8B030D-6E8A-4147-A177-3AD203B41FA5}">
                      <a16:colId xmlns:a16="http://schemas.microsoft.com/office/drawing/2014/main" xmlns="" val="20003"/>
                    </a:ext>
                  </a:extLst>
                </a:gridCol>
                <a:gridCol w="358608">
                  <a:extLst>
                    <a:ext uri="{9D8B030D-6E8A-4147-A177-3AD203B41FA5}">
                      <a16:colId xmlns:a16="http://schemas.microsoft.com/office/drawing/2014/main" xmlns="" val="20004"/>
                    </a:ext>
                  </a:extLst>
                </a:gridCol>
                <a:gridCol w="428943">
                  <a:extLst>
                    <a:ext uri="{9D8B030D-6E8A-4147-A177-3AD203B41FA5}">
                      <a16:colId xmlns:a16="http://schemas.microsoft.com/office/drawing/2014/main" xmlns="" val="20005"/>
                    </a:ext>
                  </a:extLst>
                </a:gridCol>
                <a:gridCol w="500915">
                  <a:extLst>
                    <a:ext uri="{9D8B030D-6E8A-4147-A177-3AD203B41FA5}">
                      <a16:colId xmlns:a16="http://schemas.microsoft.com/office/drawing/2014/main" xmlns="" val="20006"/>
                    </a:ext>
                  </a:extLst>
                </a:gridCol>
                <a:gridCol w="1165478">
                  <a:extLst>
                    <a:ext uri="{9D8B030D-6E8A-4147-A177-3AD203B41FA5}">
                      <a16:colId xmlns:a16="http://schemas.microsoft.com/office/drawing/2014/main" xmlns="" val="20007"/>
                    </a:ext>
                  </a:extLst>
                </a:gridCol>
              </a:tblGrid>
              <a:tr h="555364">
                <a:tc>
                  <a:txBody>
                    <a:bodyPr/>
                    <a:lstStyle/>
                    <a:p>
                      <a:pPr marL="0" marR="0" lvl="0" indent="0" algn="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bg1"/>
                          </a:solidFill>
                          <a:effectLst/>
                          <a:latin typeface="Arial" charset="0"/>
                          <a:ea typeface="ＭＳ Ｐゴシック" pitchFamily="34" charset="-128"/>
                        </a:rPr>
                        <a:t>TO</a:t>
                      </a:r>
                    </a:p>
                    <a:p>
                      <a:pPr marL="0" marR="0" lvl="0" indent="0" algn="l"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bg1"/>
                          </a:solidFill>
                          <a:effectLst/>
                          <a:latin typeface="Arial" charset="0"/>
                          <a:ea typeface="ＭＳ Ｐゴシック" pitchFamily="34" charset="-128"/>
                        </a:rPr>
                        <a:t>FROM</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9050" cap="flat" cmpd="sng" algn="ctr">
                      <a:solidFill>
                        <a:schemeClr val="tx1"/>
                      </a:solidFill>
                      <a:prstDash val="solid"/>
                      <a:round/>
                      <a:headEnd type="none" w="med" len="med"/>
                      <a:tailEnd type="none" w="med" len="med"/>
                    </a:lnTlToBr>
                    <a:lnBlToTr>
                      <a:noFill/>
                    </a:lnBlToTr>
                    <a:solidFill>
                      <a:srgbClr val="63BDE0"/>
                    </a:solidFill>
                  </a:tcPr>
                </a:tc>
                <a:tc gridSpan="2">
                  <a:txBody>
                    <a:bodyPr/>
                    <a:lstStyle/>
                    <a:p>
                      <a:pPr marL="0" marR="0" lvl="0" indent="0" algn="l"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bg1"/>
                          </a:solidFill>
                          <a:effectLst/>
                          <a:latin typeface="Arial" charset="0"/>
                          <a:ea typeface="ＭＳ Ｐゴシック" pitchFamily="34" charset="-128"/>
                        </a:rPr>
                        <a:t>Sialkot</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rgbClr val="63BDE0"/>
                    </a:solidFill>
                  </a:tcPr>
                </a:tc>
                <a:tc hMerge="1">
                  <a:txBody>
                    <a:bodyPr/>
                    <a:lstStyle/>
                    <a:p>
                      <a:endParaRPr lang="en-US"/>
                    </a:p>
                  </a:txBody>
                  <a:tcPr/>
                </a:tc>
                <a:tc gridSpan="2">
                  <a:txBody>
                    <a:bodyPr/>
                    <a:lstStyle/>
                    <a:p>
                      <a:pPr marL="0" marR="0" lvl="0" indent="0" algn="l"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bg1"/>
                          </a:solidFill>
                          <a:effectLst/>
                          <a:latin typeface="Arial" charset="0"/>
                          <a:ea typeface="ＭＳ Ｐゴシック" pitchFamily="34" charset="-128"/>
                        </a:rPr>
                        <a:t> Multan</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rgbClr val="63BDE0"/>
                    </a:solidFill>
                  </a:tcPr>
                </a:tc>
                <a:tc hMerge="1">
                  <a:txBody>
                    <a:bodyPr/>
                    <a:lstStyle/>
                    <a:p>
                      <a:endParaRPr lang="en-US"/>
                    </a:p>
                  </a:txBody>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bg1"/>
                          </a:solidFill>
                          <a:effectLst/>
                          <a:latin typeface="Arial" charset="0"/>
                          <a:ea typeface="ＭＳ Ｐゴシック" pitchFamily="34" charset="-128"/>
                        </a:rPr>
                        <a:t>FACTORY CAPACITY/Supply</a:t>
                      </a:r>
                    </a:p>
                  </a:txBody>
                  <a:tcPr marT="45709" marB="45709" anchor="b"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rgbClr val="63BDE0"/>
                    </a:solidFill>
                  </a:tcPr>
                </a:tc>
                <a:extLst>
                  <a:ext uri="{0D108BD9-81ED-4DB2-BD59-A6C34878D82A}">
                    <a16:rowId xmlns:a16="http://schemas.microsoft.com/office/drawing/2014/main" xmlns="" val="10000"/>
                  </a:ext>
                </a:extLst>
              </a:tr>
              <a:tr h="312663">
                <a:tc rowSpan="2">
                  <a:txBody>
                    <a:bodyPr/>
                    <a:lstStyle/>
                    <a:p>
                      <a:pPr marL="0" marR="0" lvl="0" indent="0" algn="l"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bg1"/>
                          </a:solidFill>
                          <a:effectLst/>
                          <a:latin typeface="Arial" charset="0"/>
                          <a:ea typeface="ＭＳ Ｐゴシック" pitchFamily="34" charset="-128"/>
                        </a:rPr>
                        <a:t>Lahore</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rgbClr val="63BDE0"/>
                    </a:solidFill>
                  </a:tcPr>
                </a:tc>
                <a:tc rowSpan="2">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tx1"/>
                          </a:solidFill>
                          <a:effectLst/>
                          <a:latin typeface="Arial" charset="0"/>
                          <a:ea typeface="ＭＳ Ｐゴシック" pitchFamily="34" charset="-128"/>
                        </a:rPr>
                        <a:t>18</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endParaRPr kumimoji="0" lang="en-US" sz="1400" b="1" i="0" u="none" strike="noStrike" cap="none" normalizeH="0" baseline="0" dirty="0">
                        <a:ln>
                          <a:noFill/>
                        </a:ln>
                        <a:solidFill>
                          <a:schemeClr val="tx1"/>
                        </a:solidFill>
                        <a:effectLst/>
                        <a:latin typeface="Arial" charset="0"/>
                        <a:ea typeface="ＭＳ Ｐゴシック" pitchFamily="34" charset="-128"/>
                      </a:endParaRP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tx1"/>
                          </a:solidFill>
                          <a:effectLst/>
                          <a:latin typeface="Arial" charset="0"/>
                          <a:ea typeface="ＭＳ Ｐゴシック" pitchFamily="34" charset="-128"/>
                        </a:rPr>
                        <a:t>12</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endParaRPr kumimoji="0" lang="en-US" sz="1400" b="1" i="0" u="none" strike="noStrike" cap="none" normalizeH="0" baseline="0" dirty="0">
                        <a:ln>
                          <a:noFill/>
                        </a:ln>
                        <a:solidFill>
                          <a:schemeClr val="tx1"/>
                        </a:solidFill>
                        <a:effectLst/>
                        <a:latin typeface="Arial" charset="0"/>
                        <a:ea typeface="ＭＳ Ｐゴシック" pitchFamily="34" charset="-128"/>
                      </a:endParaRP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tx1"/>
                          </a:solidFill>
                          <a:effectLst/>
                          <a:latin typeface="Arial" charset="0"/>
                          <a:ea typeface="ＭＳ Ｐゴシック" pitchFamily="34" charset="-128"/>
                        </a:rPr>
                        <a:t>7</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5"/>
                  </a:ext>
                </a:extLst>
              </a:tr>
              <a:tr h="312663">
                <a:tc vMerge="1">
                  <a:txBody>
                    <a:bodyPr/>
                    <a:lstStyle/>
                    <a:p>
                      <a:endParaRPr lang="en-US"/>
                    </a:p>
                  </a:txBody>
                  <a:tcPr/>
                </a:tc>
                <a:tc vMerge="1">
                  <a:txBody>
                    <a:bodyPr/>
                    <a:lstStyle/>
                    <a:p>
                      <a:endParaRPr lang="en-US"/>
                    </a:p>
                  </a:txBody>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endParaRPr kumimoji="0" lang="en-US" sz="1400" b="1" i="0" u="none" strike="noStrike" cap="none" normalizeH="0" baseline="0" dirty="0">
                        <a:ln>
                          <a:noFill/>
                        </a:ln>
                        <a:solidFill>
                          <a:schemeClr val="tx1"/>
                        </a:solidFill>
                        <a:effectLst/>
                        <a:latin typeface="Arial" charset="0"/>
                        <a:ea typeface="ＭＳ Ｐゴシック" pitchFamily="34" charset="-128"/>
                      </a:endParaRPr>
                    </a:p>
                  </a:txBody>
                  <a:tcPr marT="45709" marB="45709" anchor="ctr" horzOverflow="overflow">
                    <a:lnL>
                      <a:noFill/>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vMerge="1">
                  <a:txBody>
                    <a:bodyPr/>
                    <a:lstStyle/>
                    <a:p>
                      <a:endParaRPr lang="en-US"/>
                    </a:p>
                  </a:txBody>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endParaRPr kumimoji="0" lang="en-US" sz="1400" b="1" i="0" u="none" strike="noStrike" cap="none" normalizeH="0" baseline="0" dirty="0">
                        <a:ln>
                          <a:noFill/>
                        </a:ln>
                        <a:solidFill>
                          <a:schemeClr val="tx1"/>
                        </a:solidFill>
                        <a:effectLst/>
                        <a:latin typeface="Arial" charset="0"/>
                        <a:ea typeface="ＭＳ Ｐゴシック" pitchFamily="34" charset="-128"/>
                      </a:endParaRPr>
                    </a:p>
                  </a:txBody>
                  <a:tcPr marT="45709" marB="45709" anchor="ctr" horzOverflow="overflow">
                    <a:lnL>
                      <a:noFill/>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vMerge="1">
                  <a:txBody>
                    <a:bodyPr/>
                    <a:lstStyle/>
                    <a:p>
                      <a:endParaRPr lang="en-US"/>
                    </a:p>
                  </a:txBody>
                  <a:tcPr/>
                </a:tc>
                <a:extLst>
                  <a:ext uri="{0D108BD9-81ED-4DB2-BD59-A6C34878D82A}">
                    <a16:rowId xmlns:a16="http://schemas.microsoft.com/office/drawing/2014/main" xmlns="" val="10006"/>
                  </a:ext>
                </a:extLst>
              </a:tr>
              <a:tr h="625324">
                <a:tc>
                  <a:txBody>
                    <a:bodyPr/>
                    <a:lstStyle/>
                    <a:p>
                      <a:pPr marL="0" marR="0" lvl="0" indent="0" algn="l"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bg1"/>
                          </a:solidFill>
                          <a:effectLst/>
                          <a:latin typeface="Arial" charset="0"/>
                          <a:ea typeface="ＭＳ Ｐゴシック" pitchFamily="34" charset="-128"/>
                        </a:rPr>
                        <a:t>Requirement/</a:t>
                      </a:r>
                    </a:p>
                    <a:p>
                      <a:pPr marL="0" marR="0" lvl="0" indent="0" algn="l"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bg1"/>
                          </a:solidFill>
                          <a:effectLst/>
                          <a:latin typeface="Arial" charset="0"/>
                          <a:ea typeface="ＭＳ Ｐゴシック" pitchFamily="34" charset="-128"/>
                        </a:rPr>
                        <a:t>Demand</a:t>
                      </a:r>
                    </a:p>
                    <a:p>
                      <a:pPr marL="0" marR="0" lvl="0" indent="0" algn="l"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endParaRPr kumimoji="0" lang="en-US" sz="1400" b="1" i="0" u="none" strike="noStrike" cap="none" normalizeH="0" baseline="0" dirty="0">
                        <a:ln>
                          <a:noFill/>
                        </a:ln>
                        <a:solidFill>
                          <a:schemeClr val="bg1"/>
                        </a:solidFill>
                        <a:effectLst/>
                        <a:latin typeface="Arial" charset="0"/>
                        <a:ea typeface="ＭＳ Ｐゴシック" pitchFamily="34" charset="-128"/>
                      </a:endParaRP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rgbClr val="63BDE0"/>
                    </a:solidFill>
                  </a:tcPr>
                </a:tc>
                <a:tc gridSpan="2">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tx1"/>
                          </a:solidFill>
                          <a:effectLst/>
                          <a:latin typeface="Arial" charset="0"/>
                          <a:ea typeface="ＭＳ Ｐゴシック" pitchFamily="34" charset="-128"/>
                        </a:rPr>
                        <a:t>2</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tc gridSpan="2">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tx1"/>
                          </a:solidFill>
                          <a:effectLst/>
                          <a:latin typeface="Arial" charset="0"/>
                          <a:ea typeface="ＭＳ Ｐゴシック" pitchFamily="34" charset="-128"/>
                        </a:rPr>
                        <a:t>5</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endParaRPr kumimoji="0" lang="en-US" sz="1400" b="1" i="0" u="none" strike="noStrike" cap="none" normalizeH="0" baseline="0" dirty="0">
                        <a:ln>
                          <a:noFill/>
                        </a:ln>
                        <a:solidFill>
                          <a:schemeClr val="tx1"/>
                        </a:solidFill>
                        <a:effectLst/>
                        <a:latin typeface="Arial" charset="0"/>
                        <a:ea typeface="ＭＳ Ｐゴシック" pitchFamily="34" charset="-128"/>
                      </a:endParaRP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7"/>
                  </a:ext>
                </a:extLst>
              </a:tr>
            </a:tbl>
          </a:graphicData>
        </a:graphic>
      </p:graphicFrame>
    </p:spTree>
    <p:extLst>
      <p:ext uri="{BB962C8B-B14F-4D97-AF65-F5344CB8AC3E}">
        <p14:creationId xmlns:p14="http://schemas.microsoft.com/office/powerpoint/2010/main" val="32052322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6" fill="hold" nodeType="afterEffect">
                                  <p:stCondLst>
                                    <p:cond delay="1000"/>
                                  </p:stCondLst>
                                  <p:childTnLst>
                                    <p:set>
                                      <p:cBhvr>
                                        <p:cTn id="6" dur="1" fill="hold">
                                          <p:stCondLst>
                                            <p:cond delay="0"/>
                                          </p:stCondLst>
                                        </p:cTn>
                                        <p:tgtEl>
                                          <p:spTgt spid="5"/>
                                        </p:tgtEl>
                                        <p:attrNameLst>
                                          <p:attrName>style.visibility</p:attrName>
                                        </p:attrNameLst>
                                      </p:cBhvr>
                                      <p:to>
                                        <p:strVal val="visible"/>
                                      </p:to>
                                    </p:set>
                                    <p:animEffect transition="in" filter="strips(downRight)">
                                      <p:cBhvr>
                                        <p:cTn id="7"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solidFill>
                  <a:srgbClr val="C00000"/>
                </a:solidFill>
                <a:latin typeface="Arial" panose="020B0604020202020204" pitchFamily="34" charset="0"/>
                <a:cs typeface="Arial" panose="020B0604020202020204" pitchFamily="34" charset="0"/>
              </a:rPr>
              <a:t>North west cost method</a:t>
            </a:r>
          </a:p>
        </p:txBody>
      </p:sp>
      <p:sp>
        <p:nvSpPr>
          <p:cNvPr id="6" name="Content Placeholder 5">
            <a:extLst>
              <a:ext uri="{FF2B5EF4-FFF2-40B4-BE49-F238E27FC236}">
                <a16:creationId xmlns:a16="http://schemas.microsoft.com/office/drawing/2014/main" xmlns="" id="{12C3F38F-06D5-4ADF-BB89-374D8DB47BD2}"/>
              </a:ext>
            </a:extLst>
          </p:cNvPr>
          <p:cNvSpPr>
            <a:spLocks noGrp="1"/>
          </p:cNvSpPr>
          <p:nvPr>
            <p:ph idx="1"/>
          </p:nvPr>
        </p:nvSpPr>
        <p:spPr>
          <a:xfrm>
            <a:off x="856060" y="2249486"/>
            <a:ext cx="7429499" cy="4608513"/>
          </a:xfrm>
        </p:spPr>
        <p:txBody>
          <a:bodyPr>
            <a:normAutofit/>
          </a:bodyPr>
          <a:lstStyle/>
          <a:p>
            <a:pPr marL="0" indent="0">
              <a:buNone/>
            </a:pPr>
            <a:endParaRPr lang="en-US" dirty="0">
              <a:latin typeface="Arial" panose="020B0604020202020204" pitchFamily="34" charset="0"/>
              <a:cs typeface="Arial" panose="020B0604020202020204" pitchFamily="34" charset="0"/>
            </a:endParaRPr>
          </a:p>
          <a:p>
            <a:pPr marL="0" indent="0">
              <a:buNone/>
            </a:pPr>
            <a:endParaRPr lang="en-US" dirty="0">
              <a:latin typeface="Arial" panose="020B0604020202020204" pitchFamily="34" charset="0"/>
              <a:cs typeface="Arial" panose="020B0604020202020204" pitchFamily="34" charset="0"/>
            </a:endParaRPr>
          </a:p>
          <a:p>
            <a:pPr marL="0" indent="0">
              <a:buNone/>
            </a:pPr>
            <a:endParaRPr lang="en-US" dirty="0">
              <a:latin typeface="Arial" panose="020B0604020202020204" pitchFamily="34" charset="0"/>
              <a:cs typeface="Arial" panose="020B0604020202020204" pitchFamily="34" charset="0"/>
            </a:endParaRPr>
          </a:p>
        </p:txBody>
      </p:sp>
      <p:graphicFrame>
        <p:nvGraphicFramePr>
          <p:cNvPr id="5" name="Group 123">
            <a:extLst>
              <a:ext uri="{FF2B5EF4-FFF2-40B4-BE49-F238E27FC236}">
                <a16:creationId xmlns:a16="http://schemas.microsoft.com/office/drawing/2014/main" xmlns="" id="{A5DA3B2A-2E25-4DFF-9E0E-EBF2CA28C54C}"/>
              </a:ext>
            </a:extLst>
          </p:cNvPr>
          <p:cNvGraphicFramePr>
            <a:graphicFrameLocks noGrp="1"/>
          </p:cNvGraphicFramePr>
          <p:nvPr>
            <p:extLst>
              <p:ext uri="{D42A27DB-BD31-4B8C-83A1-F6EECF244321}">
                <p14:modId xmlns:p14="http://schemas.microsoft.com/office/powerpoint/2010/main" val="1084189388"/>
              </p:ext>
            </p:extLst>
          </p:nvPr>
        </p:nvGraphicFramePr>
        <p:xfrm>
          <a:off x="856060" y="2249486"/>
          <a:ext cx="4762485" cy="2045650"/>
        </p:xfrm>
        <a:graphic>
          <a:graphicData uri="http://schemas.openxmlformats.org/drawingml/2006/table">
            <a:tbl>
              <a:tblPr/>
              <a:tblGrid>
                <a:gridCol w="1737009">
                  <a:extLst>
                    <a:ext uri="{9D8B030D-6E8A-4147-A177-3AD203B41FA5}">
                      <a16:colId xmlns:a16="http://schemas.microsoft.com/office/drawing/2014/main" xmlns="" val="20000"/>
                    </a:ext>
                  </a:extLst>
                </a:gridCol>
                <a:gridCol w="571532">
                  <a:extLst>
                    <a:ext uri="{9D8B030D-6E8A-4147-A177-3AD203B41FA5}">
                      <a16:colId xmlns:a16="http://schemas.microsoft.com/office/drawing/2014/main" xmlns="" val="20003"/>
                    </a:ext>
                  </a:extLst>
                </a:gridCol>
                <a:gridCol w="358608">
                  <a:extLst>
                    <a:ext uri="{9D8B030D-6E8A-4147-A177-3AD203B41FA5}">
                      <a16:colId xmlns:a16="http://schemas.microsoft.com/office/drawing/2014/main" xmlns="" val="20004"/>
                    </a:ext>
                  </a:extLst>
                </a:gridCol>
                <a:gridCol w="428943">
                  <a:extLst>
                    <a:ext uri="{9D8B030D-6E8A-4147-A177-3AD203B41FA5}">
                      <a16:colId xmlns:a16="http://schemas.microsoft.com/office/drawing/2014/main" xmlns="" val="20005"/>
                    </a:ext>
                  </a:extLst>
                </a:gridCol>
                <a:gridCol w="500915">
                  <a:extLst>
                    <a:ext uri="{9D8B030D-6E8A-4147-A177-3AD203B41FA5}">
                      <a16:colId xmlns:a16="http://schemas.microsoft.com/office/drawing/2014/main" xmlns="" val="20006"/>
                    </a:ext>
                  </a:extLst>
                </a:gridCol>
                <a:gridCol w="1165478">
                  <a:extLst>
                    <a:ext uri="{9D8B030D-6E8A-4147-A177-3AD203B41FA5}">
                      <a16:colId xmlns:a16="http://schemas.microsoft.com/office/drawing/2014/main" xmlns="" val="20007"/>
                    </a:ext>
                  </a:extLst>
                </a:gridCol>
              </a:tblGrid>
              <a:tr h="555364">
                <a:tc>
                  <a:txBody>
                    <a:bodyPr/>
                    <a:lstStyle/>
                    <a:p>
                      <a:pPr marL="0" marR="0" lvl="0" indent="0" algn="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bg1"/>
                          </a:solidFill>
                          <a:effectLst/>
                          <a:latin typeface="Arial" charset="0"/>
                          <a:ea typeface="ＭＳ Ｐゴシック" pitchFamily="34" charset="-128"/>
                        </a:rPr>
                        <a:t>TO</a:t>
                      </a:r>
                    </a:p>
                    <a:p>
                      <a:pPr marL="0" marR="0" lvl="0" indent="0" algn="l"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bg1"/>
                          </a:solidFill>
                          <a:effectLst/>
                          <a:latin typeface="Arial" charset="0"/>
                          <a:ea typeface="ＭＳ Ｐゴシック" pitchFamily="34" charset="-128"/>
                        </a:rPr>
                        <a:t>FROM</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9050" cap="flat" cmpd="sng" algn="ctr">
                      <a:solidFill>
                        <a:schemeClr val="tx1"/>
                      </a:solidFill>
                      <a:prstDash val="solid"/>
                      <a:round/>
                      <a:headEnd type="none" w="med" len="med"/>
                      <a:tailEnd type="none" w="med" len="med"/>
                    </a:lnTlToBr>
                    <a:lnBlToTr>
                      <a:noFill/>
                    </a:lnBlToTr>
                    <a:solidFill>
                      <a:srgbClr val="63BDE0"/>
                    </a:solidFill>
                  </a:tcPr>
                </a:tc>
                <a:tc gridSpan="2">
                  <a:txBody>
                    <a:bodyPr/>
                    <a:lstStyle/>
                    <a:p>
                      <a:pPr marL="0" marR="0" lvl="0" indent="0" algn="l"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bg1"/>
                          </a:solidFill>
                          <a:effectLst/>
                          <a:latin typeface="Arial" charset="0"/>
                          <a:ea typeface="ＭＳ Ｐゴシック" pitchFamily="34" charset="-128"/>
                        </a:rPr>
                        <a:t>Sialkot</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rgbClr val="63BDE0"/>
                    </a:solidFill>
                  </a:tcPr>
                </a:tc>
                <a:tc hMerge="1">
                  <a:txBody>
                    <a:bodyPr/>
                    <a:lstStyle/>
                    <a:p>
                      <a:endParaRPr lang="en-US"/>
                    </a:p>
                  </a:txBody>
                  <a:tcPr/>
                </a:tc>
                <a:tc gridSpan="2">
                  <a:txBody>
                    <a:bodyPr/>
                    <a:lstStyle/>
                    <a:p>
                      <a:pPr marL="0" marR="0" lvl="0" indent="0" algn="l"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bg1"/>
                          </a:solidFill>
                          <a:effectLst/>
                          <a:latin typeface="Arial" charset="0"/>
                          <a:ea typeface="ＭＳ Ｐゴシック" pitchFamily="34" charset="-128"/>
                        </a:rPr>
                        <a:t> Multan</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rgbClr val="63BDE0"/>
                    </a:solidFill>
                  </a:tcPr>
                </a:tc>
                <a:tc hMerge="1">
                  <a:txBody>
                    <a:bodyPr/>
                    <a:lstStyle/>
                    <a:p>
                      <a:endParaRPr lang="en-US"/>
                    </a:p>
                  </a:txBody>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bg1"/>
                          </a:solidFill>
                          <a:effectLst/>
                          <a:latin typeface="Arial" charset="0"/>
                          <a:ea typeface="ＭＳ Ｐゴシック" pitchFamily="34" charset="-128"/>
                        </a:rPr>
                        <a:t>FACTORY CAPACITY/Supply</a:t>
                      </a:r>
                    </a:p>
                  </a:txBody>
                  <a:tcPr marT="45709" marB="45709" anchor="b"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rgbClr val="63BDE0"/>
                    </a:solidFill>
                  </a:tcPr>
                </a:tc>
                <a:extLst>
                  <a:ext uri="{0D108BD9-81ED-4DB2-BD59-A6C34878D82A}">
                    <a16:rowId xmlns:a16="http://schemas.microsoft.com/office/drawing/2014/main" xmlns="" val="10000"/>
                  </a:ext>
                </a:extLst>
              </a:tr>
              <a:tr h="312663">
                <a:tc rowSpan="2">
                  <a:txBody>
                    <a:bodyPr/>
                    <a:lstStyle/>
                    <a:p>
                      <a:pPr marL="0" marR="0" lvl="0" indent="0" algn="l"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bg1"/>
                          </a:solidFill>
                          <a:effectLst/>
                          <a:latin typeface="Arial" charset="0"/>
                          <a:ea typeface="ＭＳ Ｐゴシック" pitchFamily="34" charset="-128"/>
                        </a:rPr>
                        <a:t>Lahore</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rgbClr val="63BDE0"/>
                    </a:solidFill>
                  </a:tcPr>
                </a:tc>
                <a:tc rowSpan="2">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tx1"/>
                          </a:solidFill>
                          <a:effectLst/>
                          <a:latin typeface="Arial" charset="0"/>
                          <a:ea typeface="ＭＳ Ｐゴシック" pitchFamily="34" charset="-128"/>
                        </a:rPr>
                        <a:t>18</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tx1"/>
                          </a:solidFill>
                          <a:effectLst/>
                          <a:latin typeface="Arial" charset="0"/>
                          <a:ea typeface="ＭＳ Ｐゴシック" pitchFamily="34" charset="-128"/>
                        </a:rPr>
                        <a:t>2</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tx1"/>
                          </a:solidFill>
                          <a:effectLst/>
                          <a:latin typeface="Arial" charset="0"/>
                          <a:ea typeface="ＭＳ Ｐゴシック" pitchFamily="34" charset="-128"/>
                        </a:rPr>
                        <a:t>12</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endParaRPr kumimoji="0" lang="en-US" sz="1400" b="1" i="0" u="none" strike="noStrike" cap="none" normalizeH="0" baseline="0" dirty="0">
                        <a:ln>
                          <a:noFill/>
                        </a:ln>
                        <a:solidFill>
                          <a:schemeClr val="tx1"/>
                        </a:solidFill>
                        <a:effectLst/>
                        <a:latin typeface="Arial" charset="0"/>
                        <a:ea typeface="ＭＳ Ｐゴシック" pitchFamily="34" charset="-128"/>
                      </a:endParaRP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tx1"/>
                          </a:solidFill>
                          <a:effectLst/>
                          <a:latin typeface="Arial" charset="0"/>
                          <a:ea typeface="ＭＳ Ｐゴシック" pitchFamily="34" charset="-128"/>
                        </a:rPr>
                        <a:t>7-2=5</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5"/>
                  </a:ext>
                </a:extLst>
              </a:tr>
              <a:tr h="312663">
                <a:tc vMerge="1">
                  <a:txBody>
                    <a:bodyPr/>
                    <a:lstStyle/>
                    <a:p>
                      <a:endParaRPr lang="en-US"/>
                    </a:p>
                  </a:txBody>
                  <a:tcPr/>
                </a:tc>
                <a:tc vMerge="1">
                  <a:txBody>
                    <a:bodyPr/>
                    <a:lstStyle/>
                    <a:p>
                      <a:endParaRPr lang="en-US"/>
                    </a:p>
                  </a:txBody>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endParaRPr kumimoji="0" lang="en-US" sz="1400" b="1" i="0" u="none" strike="noStrike" cap="none" normalizeH="0" baseline="0" dirty="0">
                        <a:ln>
                          <a:noFill/>
                        </a:ln>
                        <a:solidFill>
                          <a:schemeClr val="tx1"/>
                        </a:solidFill>
                        <a:effectLst/>
                        <a:latin typeface="Arial" charset="0"/>
                        <a:ea typeface="ＭＳ Ｐゴシック" pitchFamily="34" charset="-128"/>
                      </a:endParaRPr>
                    </a:p>
                  </a:txBody>
                  <a:tcPr marT="45709" marB="45709" anchor="ctr" horzOverflow="overflow">
                    <a:lnL>
                      <a:noFill/>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vMerge="1">
                  <a:txBody>
                    <a:bodyPr/>
                    <a:lstStyle/>
                    <a:p>
                      <a:endParaRPr lang="en-US"/>
                    </a:p>
                  </a:txBody>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endParaRPr kumimoji="0" lang="en-US" sz="1400" b="1" i="0" u="none" strike="noStrike" cap="none" normalizeH="0" baseline="0" dirty="0">
                        <a:ln>
                          <a:noFill/>
                        </a:ln>
                        <a:solidFill>
                          <a:schemeClr val="tx1"/>
                        </a:solidFill>
                        <a:effectLst/>
                        <a:latin typeface="Arial" charset="0"/>
                        <a:ea typeface="ＭＳ Ｐゴシック" pitchFamily="34" charset="-128"/>
                      </a:endParaRPr>
                    </a:p>
                  </a:txBody>
                  <a:tcPr marT="45709" marB="45709" anchor="ctr" horzOverflow="overflow">
                    <a:lnL>
                      <a:noFill/>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vMerge="1">
                  <a:txBody>
                    <a:bodyPr/>
                    <a:lstStyle/>
                    <a:p>
                      <a:endParaRPr lang="en-US"/>
                    </a:p>
                  </a:txBody>
                  <a:tcPr/>
                </a:tc>
                <a:extLst>
                  <a:ext uri="{0D108BD9-81ED-4DB2-BD59-A6C34878D82A}">
                    <a16:rowId xmlns:a16="http://schemas.microsoft.com/office/drawing/2014/main" xmlns="" val="10006"/>
                  </a:ext>
                </a:extLst>
              </a:tr>
              <a:tr h="625324">
                <a:tc>
                  <a:txBody>
                    <a:bodyPr/>
                    <a:lstStyle/>
                    <a:p>
                      <a:pPr marL="0" marR="0" lvl="0" indent="0" algn="l"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bg1"/>
                          </a:solidFill>
                          <a:effectLst/>
                          <a:latin typeface="Arial" charset="0"/>
                          <a:ea typeface="ＭＳ Ｐゴシック" pitchFamily="34" charset="-128"/>
                        </a:rPr>
                        <a:t>Requirement/</a:t>
                      </a:r>
                    </a:p>
                    <a:p>
                      <a:pPr marL="0" marR="0" lvl="0" indent="0" algn="l"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bg1"/>
                          </a:solidFill>
                          <a:effectLst/>
                          <a:latin typeface="Arial" charset="0"/>
                          <a:ea typeface="ＭＳ Ｐゴシック" pitchFamily="34" charset="-128"/>
                        </a:rPr>
                        <a:t>Demand</a:t>
                      </a:r>
                    </a:p>
                    <a:p>
                      <a:pPr marL="0" marR="0" lvl="0" indent="0" algn="l"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endParaRPr kumimoji="0" lang="en-US" sz="1400" b="1" i="0" u="none" strike="noStrike" cap="none" normalizeH="0" baseline="0" dirty="0">
                        <a:ln>
                          <a:noFill/>
                        </a:ln>
                        <a:solidFill>
                          <a:schemeClr val="bg1"/>
                        </a:solidFill>
                        <a:effectLst/>
                        <a:latin typeface="Arial" charset="0"/>
                        <a:ea typeface="ＭＳ Ｐゴシック" pitchFamily="34" charset="-128"/>
                      </a:endParaRP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rgbClr val="63BDE0"/>
                    </a:solidFill>
                  </a:tcPr>
                </a:tc>
                <a:tc gridSpan="2">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tx1"/>
                          </a:solidFill>
                          <a:effectLst/>
                          <a:latin typeface="Arial" charset="0"/>
                          <a:ea typeface="ＭＳ Ｐゴシック" pitchFamily="34" charset="-128"/>
                        </a:rPr>
                        <a:t>2-2=0</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tc gridSpan="2">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tx1"/>
                          </a:solidFill>
                          <a:effectLst/>
                          <a:latin typeface="Arial" charset="0"/>
                          <a:ea typeface="ＭＳ Ｐゴシック" pitchFamily="34" charset="-128"/>
                        </a:rPr>
                        <a:t>5</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endParaRPr kumimoji="0" lang="en-US" sz="1400" b="1" i="0" u="none" strike="noStrike" cap="none" normalizeH="0" baseline="0" dirty="0">
                        <a:ln>
                          <a:noFill/>
                        </a:ln>
                        <a:solidFill>
                          <a:schemeClr val="tx1"/>
                        </a:solidFill>
                        <a:effectLst/>
                        <a:latin typeface="Arial" charset="0"/>
                        <a:ea typeface="ＭＳ Ｐゴシック" pitchFamily="34" charset="-128"/>
                      </a:endParaRP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7"/>
                  </a:ext>
                </a:extLst>
              </a:tr>
            </a:tbl>
          </a:graphicData>
        </a:graphic>
      </p:graphicFrame>
    </p:spTree>
    <p:extLst>
      <p:ext uri="{BB962C8B-B14F-4D97-AF65-F5344CB8AC3E}">
        <p14:creationId xmlns:p14="http://schemas.microsoft.com/office/powerpoint/2010/main" val="24245041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6" fill="hold" nodeType="afterEffect">
                                  <p:stCondLst>
                                    <p:cond delay="1000"/>
                                  </p:stCondLst>
                                  <p:childTnLst>
                                    <p:set>
                                      <p:cBhvr>
                                        <p:cTn id="6" dur="1" fill="hold">
                                          <p:stCondLst>
                                            <p:cond delay="0"/>
                                          </p:stCondLst>
                                        </p:cTn>
                                        <p:tgtEl>
                                          <p:spTgt spid="5"/>
                                        </p:tgtEl>
                                        <p:attrNameLst>
                                          <p:attrName>style.visibility</p:attrName>
                                        </p:attrNameLst>
                                      </p:cBhvr>
                                      <p:to>
                                        <p:strVal val="visible"/>
                                      </p:to>
                                    </p:set>
                                    <p:animEffect transition="in" filter="strips(downRight)">
                                      <p:cBhvr>
                                        <p:cTn id="7"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solidFill>
                  <a:srgbClr val="C00000"/>
                </a:solidFill>
                <a:latin typeface="Arial" panose="020B0604020202020204" pitchFamily="34" charset="0"/>
                <a:cs typeface="Arial" panose="020B0604020202020204" pitchFamily="34" charset="0"/>
              </a:rPr>
              <a:t>North west cost method</a:t>
            </a:r>
          </a:p>
        </p:txBody>
      </p:sp>
      <p:sp>
        <p:nvSpPr>
          <p:cNvPr id="6" name="Content Placeholder 5">
            <a:extLst>
              <a:ext uri="{FF2B5EF4-FFF2-40B4-BE49-F238E27FC236}">
                <a16:creationId xmlns:a16="http://schemas.microsoft.com/office/drawing/2014/main" xmlns="" id="{12C3F38F-06D5-4ADF-BB89-374D8DB47BD2}"/>
              </a:ext>
            </a:extLst>
          </p:cNvPr>
          <p:cNvSpPr>
            <a:spLocks noGrp="1"/>
          </p:cNvSpPr>
          <p:nvPr>
            <p:ph idx="1"/>
          </p:nvPr>
        </p:nvSpPr>
        <p:spPr>
          <a:xfrm>
            <a:off x="856060" y="2249486"/>
            <a:ext cx="7429499" cy="4608513"/>
          </a:xfrm>
        </p:spPr>
        <p:txBody>
          <a:bodyPr>
            <a:normAutofit/>
          </a:bodyPr>
          <a:lstStyle/>
          <a:p>
            <a:pPr marL="0" indent="0">
              <a:buNone/>
            </a:pPr>
            <a:endParaRPr lang="en-US" dirty="0">
              <a:latin typeface="Arial" panose="020B0604020202020204" pitchFamily="34" charset="0"/>
              <a:cs typeface="Arial" panose="020B0604020202020204" pitchFamily="34" charset="0"/>
            </a:endParaRPr>
          </a:p>
          <a:p>
            <a:pPr marL="0" indent="0">
              <a:buNone/>
            </a:pPr>
            <a:endParaRPr lang="en-US" dirty="0">
              <a:latin typeface="Arial" panose="020B0604020202020204" pitchFamily="34" charset="0"/>
              <a:cs typeface="Arial" panose="020B0604020202020204" pitchFamily="34" charset="0"/>
            </a:endParaRPr>
          </a:p>
          <a:p>
            <a:pPr marL="0" indent="0">
              <a:buNone/>
            </a:pPr>
            <a:endParaRPr lang="en-US" dirty="0">
              <a:latin typeface="Arial" panose="020B0604020202020204" pitchFamily="34" charset="0"/>
              <a:cs typeface="Arial" panose="020B0604020202020204" pitchFamily="34" charset="0"/>
            </a:endParaRPr>
          </a:p>
        </p:txBody>
      </p:sp>
      <p:graphicFrame>
        <p:nvGraphicFramePr>
          <p:cNvPr id="5" name="Group 123">
            <a:extLst>
              <a:ext uri="{FF2B5EF4-FFF2-40B4-BE49-F238E27FC236}">
                <a16:creationId xmlns:a16="http://schemas.microsoft.com/office/drawing/2014/main" xmlns="" id="{A5DA3B2A-2E25-4DFF-9E0E-EBF2CA28C54C}"/>
              </a:ext>
            </a:extLst>
          </p:cNvPr>
          <p:cNvGraphicFramePr>
            <a:graphicFrameLocks noGrp="1"/>
          </p:cNvGraphicFramePr>
          <p:nvPr>
            <p:extLst>
              <p:ext uri="{D42A27DB-BD31-4B8C-83A1-F6EECF244321}">
                <p14:modId xmlns:p14="http://schemas.microsoft.com/office/powerpoint/2010/main" val="654125670"/>
              </p:ext>
            </p:extLst>
          </p:nvPr>
        </p:nvGraphicFramePr>
        <p:xfrm>
          <a:off x="856060" y="2249486"/>
          <a:ext cx="3832345" cy="2045650"/>
        </p:xfrm>
        <a:graphic>
          <a:graphicData uri="http://schemas.openxmlformats.org/drawingml/2006/table">
            <a:tbl>
              <a:tblPr/>
              <a:tblGrid>
                <a:gridCol w="1737009">
                  <a:extLst>
                    <a:ext uri="{9D8B030D-6E8A-4147-A177-3AD203B41FA5}">
                      <a16:colId xmlns:a16="http://schemas.microsoft.com/office/drawing/2014/main" xmlns="" val="20000"/>
                    </a:ext>
                  </a:extLst>
                </a:gridCol>
                <a:gridCol w="428943">
                  <a:extLst>
                    <a:ext uri="{9D8B030D-6E8A-4147-A177-3AD203B41FA5}">
                      <a16:colId xmlns:a16="http://schemas.microsoft.com/office/drawing/2014/main" xmlns="" val="20005"/>
                    </a:ext>
                  </a:extLst>
                </a:gridCol>
                <a:gridCol w="500915">
                  <a:extLst>
                    <a:ext uri="{9D8B030D-6E8A-4147-A177-3AD203B41FA5}">
                      <a16:colId xmlns:a16="http://schemas.microsoft.com/office/drawing/2014/main" xmlns="" val="20006"/>
                    </a:ext>
                  </a:extLst>
                </a:gridCol>
                <a:gridCol w="1165478">
                  <a:extLst>
                    <a:ext uri="{9D8B030D-6E8A-4147-A177-3AD203B41FA5}">
                      <a16:colId xmlns:a16="http://schemas.microsoft.com/office/drawing/2014/main" xmlns="" val="20007"/>
                    </a:ext>
                  </a:extLst>
                </a:gridCol>
              </a:tblGrid>
              <a:tr h="555364">
                <a:tc>
                  <a:txBody>
                    <a:bodyPr/>
                    <a:lstStyle/>
                    <a:p>
                      <a:pPr marL="0" marR="0" lvl="0" indent="0" algn="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bg1"/>
                          </a:solidFill>
                          <a:effectLst/>
                          <a:latin typeface="Arial" charset="0"/>
                          <a:ea typeface="ＭＳ Ｐゴシック" pitchFamily="34" charset="-128"/>
                        </a:rPr>
                        <a:t>TO</a:t>
                      </a:r>
                    </a:p>
                    <a:p>
                      <a:pPr marL="0" marR="0" lvl="0" indent="0" algn="l"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bg1"/>
                          </a:solidFill>
                          <a:effectLst/>
                          <a:latin typeface="Arial" charset="0"/>
                          <a:ea typeface="ＭＳ Ｐゴシック" pitchFamily="34" charset="-128"/>
                        </a:rPr>
                        <a:t>FROM</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9050" cap="flat" cmpd="sng" algn="ctr">
                      <a:solidFill>
                        <a:schemeClr val="tx1"/>
                      </a:solidFill>
                      <a:prstDash val="solid"/>
                      <a:round/>
                      <a:headEnd type="none" w="med" len="med"/>
                      <a:tailEnd type="none" w="med" len="med"/>
                    </a:lnTlToBr>
                    <a:lnBlToTr>
                      <a:noFill/>
                    </a:lnBlToTr>
                    <a:solidFill>
                      <a:srgbClr val="63BDE0"/>
                    </a:solidFill>
                  </a:tcPr>
                </a:tc>
                <a:tc gridSpan="2">
                  <a:txBody>
                    <a:bodyPr/>
                    <a:lstStyle/>
                    <a:p>
                      <a:pPr marL="0" marR="0" lvl="0" indent="0" algn="l"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bg1"/>
                          </a:solidFill>
                          <a:effectLst/>
                          <a:latin typeface="Arial" charset="0"/>
                          <a:ea typeface="ＭＳ Ｐゴシック" pitchFamily="34" charset="-128"/>
                        </a:rPr>
                        <a:t> Multan</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rgbClr val="63BDE0"/>
                    </a:solidFill>
                  </a:tcPr>
                </a:tc>
                <a:tc hMerge="1">
                  <a:txBody>
                    <a:bodyPr/>
                    <a:lstStyle/>
                    <a:p>
                      <a:endParaRPr lang="en-US"/>
                    </a:p>
                  </a:txBody>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bg1"/>
                          </a:solidFill>
                          <a:effectLst/>
                          <a:latin typeface="Arial" charset="0"/>
                          <a:ea typeface="ＭＳ Ｐゴシック" pitchFamily="34" charset="-128"/>
                        </a:rPr>
                        <a:t>FACTORY CAPACITY/Supply</a:t>
                      </a:r>
                    </a:p>
                  </a:txBody>
                  <a:tcPr marT="45709" marB="45709" anchor="b"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rgbClr val="63BDE0"/>
                    </a:solidFill>
                  </a:tcPr>
                </a:tc>
                <a:extLst>
                  <a:ext uri="{0D108BD9-81ED-4DB2-BD59-A6C34878D82A}">
                    <a16:rowId xmlns:a16="http://schemas.microsoft.com/office/drawing/2014/main" xmlns="" val="10000"/>
                  </a:ext>
                </a:extLst>
              </a:tr>
              <a:tr h="312663">
                <a:tc rowSpan="2">
                  <a:txBody>
                    <a:bodyPr/>
                    <a:lstStyle/>
                    <a:p>
                      <a:pPr marL="0" marR="0" lvl="0" indent="0" algn="l"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bg1"/>
                          </a:solidFill>
                          <a:effectLst/>
                          <a:latin typeface="Arial" charset="0"/>
                          <a:ea typeface="ＭＳ Ｐゴシック" pitchFamily="34" charset="-128"/>
                        </a:rPr>
                        <a:t>Lahore</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rgbClr val="63BDE0"/>
                    </a:solidFill>
                  </a:tcPr>
                </a:tc>
                <a:tc rowSpan="2">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tx1"/>
                          </a:solidFill>
                          <a:effectLst/>
                          <a:latin typeface="Arial" charset="0"/>
                          <a:ea typeface="ＭＳ Ｐゴシック" pitchFamily="34" charset="-128"/>
                        </a:rPr>
                        <a:t>12</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endParaRPr kumimoji="0" lang="en-US" sz="1400" b="1" i="0" u="none" strike="noStrike" cap="none" normalizeH="0" baseline="0" dirty="0">
                        <a:ln>
                          <a:noFill/>
                        </a:ln>
                        <a:solidFill>
                          <a:schemeClr val="tx1"/>
                        </a:solidFill>
                        <a:effectLst/>
                        <a:latin typeface="Arial" charset="0"/>
                        <a:ea typeface="ＭＳ Ｐゴシック" pitchFamily="34" charset="-128"/>
                      </a:endParaRP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tx1"/>
                          </a:solidFill>
                          <a:effectLst/>
                          <a:latin typeface="Arial" charset="0"/>
                          <a:ea typeface="ＭＳ Ｐゴシック" pitchFamily="34" charset="-128"/>
                        </a:rPr>
                        <a:t>5</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5"/>
                  </a:ext>
                </a:extLst>
              </a:tr>
              <a:tr h="312663">
                <a:tc vMerge="1">
                  <a:txBody>
                    <a:bodyPr/>
                    <a:lstStyle/>
                    <a:p>
                      <a:endParaRPr lang="en-US"/>
                    </a:p>
                  </a:txBody>
                  <a:tcPr/>
                </a:tc>
                <a:tc vMerge="1">
                  <a:txBody>
                    <a:bodyPr/>
                    <a:lstStyle/>
                    <a:p>
                      <a:endParaRPr lang="en-US"/>
                    </a:p>
                  </a:txBody>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endParaRPr kumimoji="0" lang="en-US" sz="1400" b="1" i="0" u="none" strike="noStrike" cap="none" normalizeH="0" baseline="0" dirty="0">
                        <a:ln>
                          <a:noFill/>
                        </a:ln>
                        <a:solidFill>
                          <a:schemeClr val="tx1"/>
                        </a:solidFill>
                        <a:effectLst/>
                        <a:latin typeface="Arial" charset="0"/>
                        <a:ea typeface="ＭＳ Ｐゴシック" pitchFamily="34" charset="-128"/>
                      </a:endParaRPr>
                    </a:p>
                  </a:txBody>
                  <a:tcPr marT="45709" marB="45709" anchor="ctr" horzOverflow="overflow">
                    <a:lnL>
                      <a:noFill/>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vMerge="1">
                  <a:txBody>
                    <a:bodyPr/>
                    <a:lstStyle/>
                    <a:p>
                      <a:endParaRPr lang="en-US"/>
                    </a:p>
                  </a:txBody>
                  <a:tcPr/>
                </a:tc>
                <a:extLst>
                  <a:ext uri="{0D108BD9-81ED-4DB2-BD59-A6C34878D82A}">
                    <a16:rowId xmlns:a16="http://schemas.microsoft.com/office/drawing/2014/main" xmlns="" val="10006"/>
                  </a:ext>
                </a:extLst>
              </a:tr>
              <a:tr h="625324">
                <a:tc>
                  <a:txBody>
                    <a:bodyPr/>
                    <a:lstStyle/>
                    <a:p>
                      <a:pPr marL="0" marR="0" lvl="0" indent="0" algn="l"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bg1"/>
                          </a:solidFill>
                          <a:effectLst/>
                          <a:latin typeface="Arial" charset="0"/>
                          <a:ea typeface="ＭＳ Ｐゴシック" pitchFamily="34" charset="-128"/>
                        </a:rPr>
                        <a:t>Requirement/</a:t>
                      </a:r>
                    </a:p>
                    <a:p>
                      <a:pPr marL="0" marR="0" lvl="0" indent="0" algn="l"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bg1"/>
                          </a:solidFill>
                          <a:effectLst/>
                          <a:latin typeface="Arial" charset="0"/>
                          <a:ea typeface="ＭＳ Ｐゴシック" pitchFamily="34" charset="-128"/>
                        </a:rPr>
                        <a:t>Demand</a:t>
                      </a:r>
                    </a:p>
                    <a:p>
                      <a:pPr marL="0" marR="0" lvl="0" indent="0" algn="l"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endParaRPr kumimoji="0" lang="en-US" sz="1400" b="1" i="0" u="none" strike="noStrike" cap="none" normalizeH="0" baseline="0" dirty="0">
                        <a:ln>
                          <a:noFill/>
                        </a:ln>
                        <a:solidFill>
                          <a:schemeClr val="bg1"/>
                        </a:solidFill>
                        <a:effectLst/>
                        <a:latin typeface="Arial" charset="0"/>
                        <a:ea typeface="ＭＳ Ｐゴシック" pitchFamily="34" charset="-128"/>
                      </a:endParaRP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rgbClr val="63BDE0"/>
                    </a:solidFill>
                  </a:tcPr>
                </a:tc>
                <a:tc gridSpan="2">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tx1"/>
                          </a:solidFill>
                          <a:effectLst/>
                          <a:latin typeface="Arial" charset="0"/>
                          <a:ea typeface="ＭＳ Ｐゴシック" pitchFamily="34" charset="-128"/>
                        </a:rPr>
                        <a:t>5</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endParaRPr kumimoji="0" lang="en-US" sz="1400" b="1" i="0" u="none" strike="noStrike" cap="none" normalizeH="0" baseline="0" dirty="0">
                        <a:ln>
                          <a:noFill/>
                        </a:ln>
                        <a:solidFill>
                          <a:schemeClr val="tx1"/>
                        </a:solidFill>
                        <a:effectLst/>
                        <a:latin typeface="Arial" charset="0"/>
                        <a:ea typeface="ＭＳ Ｐゴシック" pitchFamily="34" charset="-128"/>
                      </a:endParaRP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7"/>
                  </a:ext>
                </a:extLst>
              </a:tr>
            </a:tbl>
          </a:graphicData>
        </a:graphic>
      </p:graphicFrame>
    </p:spTree>
    <p:extLst>
      <p:ext uri="{BB962C8B-B14F-4D97-AF65-F5344CB8AC3E}">
        <p14:creationId xmlns:p14="http://schemas.microsoft.com/office/powerpoint/2010/main" val="5038991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6" fill="hold" nodeType="afterEffect">
                                  <p:stCondLst>
                                    <p:cond delay="1000"/>
                                  </p:stCondLst>
                                  <p:childTnLst>
                                    <p:set>
                                      <p:cBhvr>
                                        <p:cTn id="6" dur="1" fill="hold">
                                          <p:stCondLst>
                                            <p:cond delay="0"/>
                                          </p:stCondLst>
                                        </p:cTn>
                                        <p:tgtEl>
                                          <p:spTgt spid="5"/>
                                        </p:tgtEl>
                                        <p:attrNameLst>
                                          <p:attrName>style.visibility</p:attrName>
                                        </p:attrNameLst>
                                      </p:cBhvr>
                                      <p:to>
                                        <p:strVal val="visible"/>
                                      </p:to>
                                    </p:set>
                                    <p:animEffect transition="in" filter="strips(downRight)">
                                      <p:cBhvr>
                                        <p:cTn id="7"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solidFill>
                  <a:srgbClr val="C00000"/>
                </a:solidFill>
                <a:latin typeface="Arial" panose="020B0604020202020204" pitchFamily="34" charset="0"/>
                <a:cs typeface="Arial" panose="020B0604020202020204" pitchFamily="34" charset="0"/>
              </a:rPr>
              <a:t>North west cost method</a:t>
            </a:r>
          </a:p>
        </p:txBody>
      </p:sp>
      <p:sp>
        <p:nvSpPr>
          <p:cNvPr id="6" name="Content Placeholder 5">
            <a:extLst>
              <a:ext uri="{FF2B5EF4-FFF2-40B4-BE49-F238E27FC236}">
                <a16:creationId xmlns:a16="http://schemas.microsoft.com/office/drawing/2014/main" xmlns="" id="{12C3F38F-06D5-4ADF-BB89-374D8DB47BD2}"/>
              </a:ext>
            </a:extLst>
          </p:cNvPr>
          <p:cNvSpPr>
            <a:spLocks noGrp="1"/>
          </p:cNvSpPr>
          <p:nvPr>
            <p:ph idx="1"/>
          </p:nvPr>
        </p:nvSpPr>
        <p:spPr>
          <a:xfrm>
            <a:off x="856060" y="2249486"/>
            <a:ext cx="7429499" cy="4608513"/>
          </a:xfrm>
        </p:spPr>
        <p:txBody>
          <a:bodyPr>
            <a:normAutofit/>
          </a:bodyPr>
          <a:lstStyle/>
          <a:p>
            <a:pPr marL="0" indent="0">
              <a:buNone/>
            </a:pPr>
            <a:endParaRPr lang="en-US" dirty="0">
              <a:latin typeface="Arial" panose="020B0604020202020204" pitchFamily="34" charset="0"/>
              <a:cs typeface="Arial" panose="020B0604020202020204" pitchFamily="34" charset="0"/>
            </a:endParaRPr>
          </a:p>
          <a:p>
            <a:pPr marL="0" indent="0">
              <a:buNone/>
            </a:pPr>
            <a:endParaRPr lang="en-US" dirty="0">
              <a:latin typeface="Arial" panose="020B0604020202020204" pitchFamily="34" charset="0"/>
              <a:cs typeface="Arial" panose="020B0604020202020204" pitchFamily="34" charset="0"/>
            </a:endParaRPr>
          </a:p>
          <a:p>
            <a:pPr marL="0" indent="0">
              <a:buNone/>
            </a:pPr>
            <a:endParaRPr lang="en-US" dirty="0">
              <a:latin typeface="Arial" panose="020B0604020202020204" pitchFamily="34" charset="0"/>
              <a:cs typeface="Arial" panose="020B0604020202020204" pitchFamily="34" charset="0"/>
            </a:endParaRPr>
          </a:p>
        </p:txBody>
      </p:sp>
      <p:graphicFrame>
        <p:nvGraphicFramePr>
          <p:cNvPr id="5" name="Group 123">
            <a:extLst>
              <a:ext uri="{FF2B5EF4-FFF2-40B4-BE49-F238E27FC236}">
                <a16:creationId xmlns:a16="http://schemas.microsoft.com/office/drawing/2014/main" xmlns="" id="{A5DA3B2A-2E25-4DFF-9E0E-EBF2CA28C54C}"/>
              </a:ext>
            </a:extLst>
          </p:cNvPr>
          <p:cNvGraphicFramePr>
            <a:graphicFrameLocks noGrp="1"/>
          </p:cNvGraphicFramePr>
          <p:nvPr>
            <p:extLst>
              <p:ext uri="{D42A27DB-BD31-4B8C-83A1-F6EECF244321}">
                <p14:modId xmlns:p14="http://schemas.microsoft.com/office/powerpoint/2010/main" val="3744563453"/>
              </p:ext>
            </p:extLst>
          </p:nvPr>
        </p:nvGraphicFramePr>
        <p:xfrm>
          <a:off x="856060" y="2249486"/>
          <a:ext cx="3832345" cy="2045650"/>
        </p:xfrm>
        <a:graphic>
          <a:graphicData uri="http://schemas.openxmlformats.org/drawingml/2006/table">
            <a:tbl>
              <a:tblPr/>
              <a:tblGrid>
                <a:gridCol w="1737009">
                  <a:extLst>
                    <a:ext uri="{9D8B030D-6E8A-4147-A177-3AD203B41FA5}">
                      <a16:colId xmlns:a16="http://schemas.microsoft.com/office/drawing/2014/main" xmlns="" val="20000"/>
                    </a:ext>
                  </a:extLst>
                </a:gridCol>
                <a:gridCol w="428943">
                  <a:extLst>
                    <a:ext uri="{9D8B030D-6E8A-4147-A177-3AD203B41FA5}">
                      <a16:colId xmlns:a16="http://schemas.microsoft.com/office/drawing/2014/main" xmlns="" val="20005"/>
                    </a:ext>
                  </a:extLst>
                </a:gridCol>
                <a:gridCol w="500915">
                  <a:extLst>
                    <a:ext uri="{9D8B030D-6E8A-4147-A177-3AD203B41FA5}">
                      <a16:colId xmlns:a16="http://schemas.microsoft.com/office/drawing/2014/main" xmlns="" val="20006"/>
                    </a:ext>
                  </a:extLst>
                </a:gridCol>
                <a:gridCol w="1165478">
                  <a:extLst>
                    <a:ext uri="{9D8B030D-6E8A-4147-A177-3AD203B41FA5}">
                      <a16:colId xmlns:a16="http://schemas.microsoft.com/office/drawing/2014/main" xmlns="" val="20007"/>
                    </a:ext>
                  </a:extLst>
                </a:gridCol>
              </a:tblGrid>
              <a:tr h="555364">
                <a:tc>
                  <a:txBody>
                    <a:bodyPr/>
                    <a:lstStyle/>
                    <a:p>
                      <a:pPr marL="0" marR="0" lvl="0" indent="0" algn="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bg1"/>
                          </a:solidFill>
                          <a:effectLst/>
                          <a:latin typeface="Arial" charset="0"/>
                          <a:ea typeface="ＭＳ Ｐゴシック" pitchFamily="34" charset="-128"/>
                        </a:rPr>
                        <a:t>TO</a:t>
                      </a:r>
                    </a:p>
                    <a:p>
                      <a:pPr marL="0" marR="0" lvl="0" indent="0" algn="l"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bg1"/>
                          </a:solidFill>
                          <a:effectLst/>
                          <a:latin typeface="Arial" charset="0"/>
                          <a:ea typeface="ＭＳ Ｐゴシック" pitchFamily="34" charset="-128"/>
                        </a:rPr>
                        <a:t>FROM</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9050" cap="flat" cmpd="sng" algn="ctr">
                      <a:solidFill>
                        <a:schemeClr val="tx1"/>
                      </a:solidFill>
                      <a:prstDash val="solid"/>
                      <a:round/>
                      <a:headEnd type="none" w="med" len="med"/>
                      <a:tailEnd type="none" w="med" len="med"/>
                    </a:lnTlToBr>
                    <a:lnBlToTr>
                      <a:noFill/>
                    </a:lnBlToTr>
                    <a:solidFill>
                      <a:srgbClr val="63BDE0"/>
                    </a:solidFill>
                  </a:tcPr>
                </a:tc>
                <a:tc gridSpan="2">
                  <a:txBody>
                    <a:bodyPr/>
                    <a:lstStyle/>
                    <a:p>
                      <a:pPr marL="0" marR="0" lvl="0" indent="0" algn="l"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bg1"/>
                          </a:solidFill>
                          <a:effectLst/>
                          <a:latin typeface="Arial" charset="0"/>
                          <a:ea typeface="ＭＳ Ｐゴシック" pitchFamily="34" charset="-128"/>
                        </a:rPr>
                        <a:t> Multan</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rgbClr val="63BDE0"/>
                    </a:solidFill>
                  </a:tcPr>
                </a:tc>
                <a:tc hMerge="1">
                  <a:txBody>
                    <a:bodyPr/>
                    <a:lstStyle/>
                    <a:p>
                      <a:endParaRPr lang="en-US"/>
                    </a:p>
                  </a:txBody>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bg1"/>
                          </a:solidFill>
                          <a:effectLst/>
                          <a:latin typeface="Arial" charset="0"/>
                          <a:ea typeface="ＭＳ Ｐゴシック" pitchFamily="34" charset="-128"/>
                        </a:rPr>
                        <a:t>FACTORY CAPACITY/Supply</a:t>
                      </a:r>
                    </a:p>
                  </a:txBody>
                  <a:tcPr marT="45709" marB="45709" anchor="b"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rgbClr val="63BDE0"/>
                    </a:solidFill>
                  </a:tcPr>
                </a:tc>
                <a:extLst>
                  <a:ext uri="{0D108BD9-81ED-4DB2-BD59-A6C34878D82A}">
                    <a16:rowId xmlns:a16="http://schemas.microsoft.com/office/drawing/2014/main" xmlns="" val="10000"/>
                  </a:ext>
                </a:extLst>
              </a:tr>
              <a:tr h="312663">
                <a:tc rowSpan="2">
                  <a:txBody>
                    <a:bodyPr/>
                    <a:lstStyle/>
                    <a:p>
                      <a:pPr marL="0" marR="0" lvl="0" indent="0" algn="l"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bg1"/>
                          </a:solidFill>
                          <a:effectLst/>
                          <a:latin typeface="Arial" charset="0"/>
                          <a:ea typeface="ＭＳ Ｐゴシック" pitchFamily="34" charset="-128"/>
                        </a:rPr>
                        <a:t>Lahore</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rgbClr val="63BDE0"/>
                    </a:solidFill>
                  </a:tcPr>
                </a:tc>
                <a:tc rowSpan="2">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tx1"/>
                          </a:solidFill>
                          <a:effectLst/>
                          <a:latin typeface="Arial" charset="0"/>
                          <a:ea typeface="ＭＳ Ｐゴシック" pitchFamily="34" charset="-128"/>
                        </a:rPr>
                        <a:t>12</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tx1"/>
                          </a:solidFill>
                          <a:effectLst/>
                          <a:latin typeface="Arial" charset="0"/>
                          <a:ea typeface="ＭＳ Ｐゴシック" pitchFamily="34" charset="-128"/>
                        </a:rPr>
                        <a:t>5</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tx1"/>
                          </a:solidFill>
                          <a:effectLst/>
                          <a:latin typeface="Arial" charset="0"/>
                          <a:ea typeface="ＭＳ Ｐゴシック" pitchFamily="34" charset="-128"/>
                        </a:rPr>
                        <a:t>5-5=0</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5"/>
                  </a:ext>
                </a:extLst>
              </a:tr>
              <a:tr h="312663">
                <a:tc vMerge="1">
                  <a:txBody>
                    <a:bodyPr/>
                    <a:lstStyle/>
                    <a:p>
                      <a:endParaRPr lang="en-US"/>
                    </a:p>
                  </a:txBody>
                  <a:tcPr/>
                </a:tc>
                <a:tc vMerge="1">
                  <a:txBody>
                    <a:bodyPr/>
                    <a:lstStyle/>
                    <a:p>
                      <a:endParaRPr lang="en-US"/>
                    </a:p>
                  </a:txBody>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endParaRPr kumimoji="0" lang="en-US" sz="1400" b="1" i="0" u="none" strike="noStrike" cap="none" normalizeH="0" baseline="0" dirty="0">
                        <a:ln>
                          <a:noFill/>
                        </a:ln>
                        <a:solidFill>
                          <a:schemeClr val="tx1"/>
                        </a:solidFill>
                        <a:effectLst/>
                        <a:latin typeface="Arial" charset="0"/>
                        <a:ea typeface="ＭＳ Ｐゴシック" pitchFamily="34" charset="-128"/>
                      </a:endParaRPr>
                    </a:p>
                  </a:txBody>
                  <a:tcPr marT="45709" marB="45709" anchor="ctr" horzOverflow="overflow">
                    <a:lnL>
                      <a:noFill/>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vMerge="1">
                  <a:txBody>
                    <a:bodyPr/>
                    <a:lstStyle/>
                    <a:p>
                      <a:endParaRPr lang="en-US"/>
                    </a:p>
                  </a:txBody>
                  <a:tcPr/>
                </a:tc>
                <a:extLst>
                  <a:ext uri="{0D108BD9-81ED-4DB2-BD59-A6C34878D82A}">
                    <a16:rowId xmlns:a16="http://schemas.microsoft.com/office/drawing/2014/main" xmlns="" val="10006"/>
                  </a:ext>
                </a:extLst>
              </a:tr>
              <a:tr h="625324">
                <a:tc>
                  <a:txBody>
                    <a:bodyPr/>
                    <a:lstStyle/>
                    <a:p>
                      <a:pPr marL="0" marR="0" lvl="0" indent="0" algn="l"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bg1"/>
                          </a:solidFill>
                          <a:effectLst/>
                          <a:latin typeface="Arial" charset="0"/>
                          <a:ea typeface="ＭＳ Ｐゴシック" pitchFamily="34" charset="-128"/>
                        </a:rPr>
                        <a:t>Requirement/</a:t>
                      </a:r>
                    </a:p>
                    <a:p>
                      <a:pPr marL="0" marR="0" lvl="0" indent="0" algn="l"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bg1"/>
                          </a:solidFill>
                          <a:effectLst/>
                          <a:latin typeface="Arial" charset="0"/>
                          <a:ea typeface="ＭＳ Ｐゴシック" pitchFamily="34" charset="-128"/>
                        </a:rPr>
                        <a:t>Demand</a:t>
                      </a:r>
                    </a:p>
                    <a:p>
                      <a:pPr marL="0" marR="0" lvl="0" indent="0" algn="l"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endParaRPr kumimoji="0" lang="en-US" sz="1400" b="1" i="0" u="none" strike="noStrike" cap="none" normalizeH="0" baseline="0" dirty="0">
                        <a:ln>
                          <a:noFill/>
                        </a:ln>
                        <a:solidFill>
                          <a:schemeClr val="bg1"/>
                        </a:solidFill>
                        <a:effectLst/>
                        <a:latin typeface="Arial" charset="0"/>
                        <a:ea typeface="ＭＳ Ｐゴシック" pitchFamily="34" charset="-128"/>
                      </a:endParaRP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rgbClr val="63BDE0"/>
                    </a:solidFill>
                  </a:tcPr>
                </a:tc>
                <a:tc gridSpan="2">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tx1"/>
                          </a:solidFill>
                          <a:effectLst/>
                          <a:latin typeface="Arial" charset="0"/>
                          <a:ea typeface="ＭＳ Ｐゴシック" pitchFamily="34" charset="-128"/>
                        </a:rPr>
                        <a:t>5-5=0</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endParaRPr kumimoji="0" lang="en-US" sz="1400" b="1" i="0" u="none" strike="noStrike" cap="none" normalizeH="0" baseline="0" dirty="0">
                        <a:ln>
                          <a:noFill/>
                        </a:ln>
                        <a:solidFill>
                          <a:schemeClr val="tx1"/>
                        </a:solidFill>
                        <a:effectLst/>
                        <a:latin typeface="Arial" charset="0"/>
                        <a:ea typeface="ＭＳ Ｐゴシック" pitchFamily="34" charset="-128"/>
                      </a:endParaRP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7"/>
                  </a:ext>
                </a:extLst>
              </a:tr>
            </a:tbl>
          </a:graphicData>
        </a:graphic>
      </p:graphicFrame>
    </p:spTree>
    <p:extLst>
      <p:ext uri="{BB962C8B-B14F-4D97-AF65-F5344CB8AC3E}">
        <p14:creationId xmlns:p14="http://schemas.microsoft.com/office/powerpoint/2010/main" val="35939544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6" fill="hold" nodeType="afterEffect">
                                  <p:stCondLst>
                                    <p:cond delay="1000"/>
                                  </p:stCondLst>
                                  <p:childTnLst>
                                    <p:set>
                                      <p:cBhvr>
                                        <p:cTn id="6" dur="1" fill="hold">
                                          <p:stCondLst>
                                            <p:cond delay="0"/>
                                          </p:stCondLst>
                                        </p:cTn>
                                        <p:tgtEl>
                                          <p:spTgt spid="5"/>
                                        </p:tgtEl>
                                        <p:attrNameLst>
                                          <p:attrName>style.visibility</p:attrName>
                                        </p:attrNameLst>
                                      </p:cBhvr>
                                      <p:to>
                                        <p:strVal val="visible"/>
                                      </p:to>
                                    </p:set>
                                    <p:animEffect transition="in" filter="strips(downRight)">
                                      <p:cBhvr>
                                        <p:cTn id="7"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09849" y="331647"/>
            <a:ext cx="7429499" cy="1478570"/>
          </a:xfrm>
        </p:spPr>
        <p:txBody>
          <a:bodyPr>
            <a:normAutofit/>
          </a:bodyPr>
          <a:lstStyle/>
          <a:p>
            <a:r>
              <a:rPr lang="en-US" sz="4000" dirty="0">
                <a:solidFill>
                  <a:srgbClr val="C00000"/>
                </a:solidFill>
                <a:latin typeface="Arial" panose="020B0604020202020204" pitchFamily="34" charset="0"/>
                <a:cs typeface="Arial" panose="020B0604020202020204" pitchFamily="34" charset="0"/>
              </a:rPr>
              <a:t>North west cost method</a:t>
            </a:r>
          </a:p>
        </p:txBody>
      </p:sp>
      <p:sp>
        <p:nvSpPr>
          <p:cNvPr id="6" name="Content Placeholder 5">
            <a:extLst>
              <a:ext uri="{FF2B5EF4-FFF2-40B4-BE49-F238E27FC236}">
                <a16:creationId xmlns:a16="http://schemas.microsoft.com/office/drawing/2014/main" xmlns="" id="{12C3F38F-06D5-4ADF-BB89-374D8DB47BD2}"/>
              </a:ext>
            </a:extLst>
          </p:cNvPr>
          <p:cNvSpPr>
            <a:spLocks noGrp="1"/>
          </p:cNvSpPr>
          <p:nvPr>
            <p:ph idx="1"/>
          </p:nvPr>
        </p:nvSpPr>
        <p:spPr>
          <a:xfrm>
            <a:off x="856060" y="2249486"/>
            <a:ext cx="7429499" cy="4608513"/>
          </a:xfrm>
        </p:spPr>
        <p:txBody>
          <a:bodyPr>
            <a:normAutofit/>
          </a:bodyPr>
          <a:lstStyle/>
          <a:p>
            <a:pPr marL="0" indent="0">
              <a:buNone/>
            </a:pPr>
            <a:endParaRPr lang="en-US" dirty="0">
              <a:latin typeface="Arial" panose="020B0604020202020204" pitchFamily="34" charset="0"/>
              <a:cs typeface="Arial" panose="020B0604020202020204" pitchFamily="34" charset="0"/>
            </a:endParaRPr>
          </a:p>
          <a:p>
            <a:pPr marL="0" indent="0">
              <a:buNone/>
            </a:pPr>
            <a:endParaRPr lang="en-US" dirty="0">
              <a:latin typeface="Arial" panose="020B0604020202020204" pitchFamily="34" charset="0"/>
              <a:cs typeface="Arial" panose="020B0604020202020204" pitchFamily="34" charset="0"/>
            </a:endParaRPr>
          </a:p>
          <a:p>
            <a:pPr marL="0" indent="0">
              <a:buNone/>
            </a:pPr>
            <a:endParaRPr lang="en-US" dirty="0">
              <a:latin typeface="Arial" panose="020B0604020202020204" pitchFamily="34" charset="0"/>
              <a:cs typeface="Arial" panose="020B0604020202020204" pitchFamily="34" charset="0"/>
            </a:endParaRPr>
          </a:p>
        </p:txBody>
      </p:sp>
      <p:graphicFrame>
        <p:nvGraphicFramePr>
          <p:cNvPr id="5" name="Group 123">
            <a:extLst>
              <a:ext uri="{FF2B5EF4-FFF2-40B4-BE49-F238E27FC236}">
                <a16:creationId xmlns:a16="http://schemas.microsoft.com/office/drawing/2014/main" xmlns="" id="{A5DA3B2A-2E25-4DFF-9E0E-EBF2CA28C54C}"/>
              </a:ext>
            </a:extLst>
          </p:cNvPr>
          <p:cNvGraphicFramePr>
            <a:graphicFrameLocks noGrp="1"/>
          </p:cNvGraphicFramePr>
          <p:nvPr>
            <p:extLst>
              <p:ext uri="{D42A27DB-BD31-4B8C-83A1-F6EECF244321}">
                <p14:modId xmlns:p14="http://schemas.microsoft.com/office/powerpoint/2010/main" val="1496108826"/>
              </p:ext>
            </p:extLst>
          </p:nvPr>
        </p:nvGraphicFramePr>
        <p:xfrm>
          <a:off x="963636" y="1738498"/>
          <a:ext cx="6163297" cy="2670976"/>
        </p:xfrm>
        <a:graphic>
          <a:graphicData uri="http://schemas.openxmlformats.org/drawingml/2006/table">
            <a:tbl>
              <a:tblPr/>
              <a:tblGrid>
                <a:gridCol w="1737009">
                  <a:extLst>
                    <a:ext uri="{9D8B030D-6E8A-4147-A177-3AD203B41FA5}">
                      <a16:colId xmlns:a16="http://schemas.microsoft.com/office/drawing/2014/main" xmlns="" val="20000"/>
                    </a:ext>
                  </a:extLst>
                </a:gridCol>
                <a:gridCol w="1019792">
                  <a:extLst>
                    <a:ext uri="{9D8B030D-6E8A-4147-A177-3AD203B41FA5}">
                      <a16:colId xmlns:a16="http://schemas.microsoft.com/office/drawing/2014/main" xmlns="" val="20001"/>
                    </a:ext>
                  </a:extLst>
                </a:gridCol>
                <a:gridCol w="381020">
                  <a:extLst>
                    <a:ext uri="{9D8B030D-6E8A-4147-A177-3AD203B41FA5}">
                      <a16:colId xmlns:a16="http://schemas.microsoft.com/office/drawing/2014/main" xmlns="" val="20002"/>
                    </a:ext>
                  </a:extLst>
                </a:gridCol>
                <a:gridCol w="571532">
                  <a:extLst>
                    <a:ext uri="{9D8B030D-6E8A-4147-A177-3AD203B41FA5}">
                      <a16:colId xmlns:a16="http://schemas.microsoft.com/office/drawing/2014/main" xmlns="" val="20003"/>
                    </a:ext>
                  </a:extLst>
                </a:gridCol>
                <a:gridCol w="358608">
                  <a:extLst>
                    <a:ext uri="{9D8B030D-6E8A-4147-A177-3AD203B41FA5}">
                      <a16:colId xmlns:a16="http://schemas.microsoft.com/office/drawing/2014/main" xmlns="" val="20004"/>
                    </a:ext>
                  </a:extLst>
                </a:gridCol>
                <a:gridCol w="428943">
                  <a:extLst>
                    <a:ext uri="{9D8B030D-6E8A-4147-A177-3AD203B41FA5}">
                      <a16:colId xmlns:a16="http://schemas.microsoft.com/office/drawing/2014/main" xmlns="" val="20005"/>
                    </a:ext>
                  </a:extLst>
                </a:gridCol>
                <a:gridCol w="500915">
                  <a:extLst>
                    <a:ext uri="{9D8B030D-6E8A-4147-A177-3AD203B41FA5}">
                      <a16:colId xmlns:a16="http://schemas.microsoft.com/office/drawing/2014/main" xmlns="" val="20006"/>
                    </a:ext>
                  </a:extLst>
                </a:gridCol>
                <a:gridCol w="1165478">
                  <a:extLst>
                    <a:ext uri="{9D8B030D-6E8A-4147-A177-3AD203B41FA5}">
                      <a16:colId xmlns:a16="http://schemas.microsoft.com/office/drawing/2014/main" xmlns="" val="20007"/>
                    </a:ext>
                  </a:extLst>
                </a:gridCol>
              </a:tblGrid>
              <a:tr h="555364">
                <a:tc>
                  <a:txBody>
                    <a:bodyPr/>
                    <a:lstStyle/>
                    <a:p>
                      <a:pPr marL="0" marR="0" lvl="0" indent="0" algn="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bg1"/>
                          </a:solidFill>
                          <a:effectLst/>
                          <a:latin typeface="Arial" charset="0"/>
                          <a:ea typeface="ＭＳ Ｐゴシック" pitchFamily="34" charset="-128"/>
                        </a:rPr>
                        <a:t>TO</a:t>
                      </a:r>
                    </a:p>
                    <a:p>
                      <a:pPr marL="0" marR="0" lvl="0" indent="0" algn="l"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bg1"/>
                          </a:solidFill>
                          <a:effectLst/>
                          <a:latin typeface="Arial" charset="0"/>
                          <a:ea typeface="ＭＳ Ｐゴシック" pitchFamily="34" charset="-128"/>
                        </a:rPr>
                        <a:t>FROM</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9050" cap="flat" cmpd="sng" algn="ctr">
                      <a:solidFill>
                        <a:schemeClr val="tx1"/>
                      </a:solidFill>
                      <a:prstDash val="solid"/>
                      <a:round/>
                      <a:headEnd type="none" w="med" len="med"/>
                      <a:tailEnd type="none" w="med" len="med"/>
                    </a:lnTlToBr>
                    <a:lnBlToTr>
                      <a:noFill/>
                    </a:lnBlToTr>
                    <a:solidFill>
                      <a:srgbClr val="63BDE0"/>
                    </a:solidFill>
                  </a:tcPr>
                </a:tc>
                <a:tc gridSpan="2">
                  <a:txBody>
                    <a:bodyPr/>
                    <a:lstStyle/>
                    <a:p>
                      <a:pPr marL="0" marR="0" lvl="0" indent="0" algn="l"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bg1"/>
                          </a:solidFill>
                          <a:effectLst/>
                          <a:latin typeface="Arial" charset="0"/>
                          <a:ea typeface="ＭＳ Ｐゴシック" pitchFamily="34" charset="-128"/>
                        </a:rPr>
                        <a:t>Peshawar </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rgbClr val="63BDE0"/>
                    </a:solidFill>
                  </a:tcPr>
                </a:tc>
                <a:tc hMerge="1">
                  <a:txBody>
                    <a:bodyPr/>
                    <a:lstStyle/>
                    <a:p>
                      <a:endParaRPr lang="en-US"/>
                    </a:p>
                  </a:txBody>
                  <a:tcPr/>
                </a:tc>
                <a:tc gridSpan="2">
                  <a:txBody>
                    <a:bodyPr/>
                    <a:lstStyle/>
                    <a:p>
                      <a:pPr marL="0" marR="0" lvl="0" indent="0" algn="l"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bg1"/>
                          </a:solidFill>
                          <a:effectLst/>
                          <a:latin typeface="Arial" charset="0"/>
                          <a:ea typeface="ＭＳ Ｐゴシック" pitchFamily="34" charset="-128"/>
                        </a:rPr>
                        <a:t>Sialkot</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rgbClr val="63BDE0"/>
                    </a:solidFill>
                  </a:tcPr>
                </a:tc>
                <a:tc hMerge="1">
                  <a:txBody>
                    <a:bodyPr/>
                    <a:lstStyle/>
                    <a:p>
                      <a:endParaRPr lang="en-US"/>
                    </a:p>
                  </a:txBody>
                  <a:tcPr/>
                </a:tc>
                <a:tc gridSpan="2">
                  <a:txBody>
                    <a:bodyPr/>
                    <a:lstStyle/>
                    <a:p>
                      <a:pPr marL="0" marR="0" lvl="0" indent="0" algn="l"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bg1"/>
                          </a:solidFill>
                          <a:effectLst/>
                          <a:latin typeface="Arial" charset="0"/>
                          <a:ea typeface="ＭＳ Ｐゴシック" pitchFamily="34" charset="-128"/>
                        </a:rPr>
                        <a:t> Multan</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rgbClr val="63BDE0"/>
                    </a:solidFill>
                  </a:tcPr>
                </a:tc>
                <a:tc hMerge="1">
                  <a:txBody>
                    <a:bodyPr/>
                    <a:lstStyle/>
                    <a:p>
                      <a:endParaRPr lang="en-US"/>
                    </a:p>
                  </a:txBody>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bg1"/>
                          </a:solidFill>
                          <a:effectLst/>
                          <a:latin typeface="Arial" charset="0"/>
                          <a:ea typeface="ＭＳ Ｐゴシック" pitchFamily="34" charset="-128"/>
                        </a:rPr>
                        <a:t>FACTORY CAPACITY/Supply</a:t>
                      </a:r>
                    </a:p>
                  </a:txBody>
                  <a:tcPr marT="45709" marB="45709" anchor="b"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rgbClr val="63BDE0"/>
                    </a:solidFill>
                  </a:tcPr>
                </a:tc>
                <a:extLst>
                  <a:ext uri="{0D108BD9-81ED-4DB2-BD59-A6C34878D82A}">
                    <a16:rowId xmlns:a16="http://schemas.microsoft.com/office/drawing/2014/main" xmlns="" val="10000"/>
                  </a:ext>
                </a:extLst>
              </a:tr>
              <a:tr h="312663">
                <a:tc rowSpan="2">
                  <a:txBody>
                    <a:bodyPr/>
                    <a:lstStyle/>
                    <a:p>
                      <a:pPr marL="0" marR="0" lvl="0" indent="0" algn="l"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bg1"/>
                          </a:solidFill>
                          <a:effectLst/>
                          <a:latin typeface="Arial" charset="0"/>
                          <a:ea typeface="ＭＳ Ｐゴシック" pitchFamily="34" charset="-128"/>
                        </a:rPr>
                        <a:t> </a:t>
                      </a:r>
                      <a:br>
                        <a:rPr kumimoji="0" lang="en-US" sz="1400" b="1" i="0" u="none" strike="noStrike" cap="none" normalizeH="0" baseline="0" dirty="0">
                          <a:ln>
                            <a:noFill/>
                          </a:ln>
                          <a:solidFill>
                            <a:schemeClr val="bg1"/>
                          </a:solidFill>
                          <a:effectLst/>
                          <a:latin typeface="Arial" charset="0"/>
                          <a:ea typeface="ＭＳ Ｐゴシック" pitchFamily="34" charset="-128"/>
                        </a:rPr>
                      </a:br>
                      <a:r>
                        <a:rPr kumimoji="0" lang="en-US" sz="1400" b="1" i="0" u="none" strike="noStrike" cap="none" normalizeH="0" baseline="0" dirty="0">
                          <a:ln>
                            <a:noFill/>
                          </a:ln>
                          <a:solidFill>
                            <a:schemeClr val="bg1"/>
                          </a:solidFill>
                          <a:effectLst/>
                          <a:latin typeface="Arial" charset="0"/>
                          <a:ea typeface="ＭＳ Ｐゴシック" pitchFamily="34" charset="-128"/>
                        </a:rPr>
                        <a:t>Karachi</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rgbClr val="63BDE0"/>
                    </a:solidFill>
                  </a:tcPr>
                </a:tc>
                <a:tc rowSpan="2">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accent2"/>
                          </a:solidFill>
                          <a:effectLst>
                            <a:outerShdw blurRad="38100" dist="38100" dir="2700000" algn="tl">
                              <a:srgbClr val="C0C0C0"/>
                            </a:outerShdw>
                          </a:effectLst>
                          <a:latin typeface="Arial" charset="0"/>
                          <a:ea typeface="ＭＳ Ｐゴシック" pitchFamily="34" charset="-128"/>
                        </a:rPr>
                        <a:t>13</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tx1"/>
                          </a:solidFill>
                          <a:effectLst/>
                          <a:latin typeface="Arial" charset="0"/>
                          <a:ea typeface="ＭＳ Ｐゴシック" pitchFamily="34" charset="-128"/>
                        </a:rPr>
                        <a:t>1</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accent2"/>
                          </a:solidFill>
                          <a:effectLst/>
                          <a:latin typeface="Arial" charset="0"/>
                          <a:ea typeface="ＭＳ Ｐゴシック" pitchFamily="34" charset="-128"/>
                        </a:rPr>
                        <a:t>11</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tx1"/>
                          </a:solidFill>
                          <a:effectLst/>
                          <a:latin typeface="Arial" charset="0"/>
                          <a:ea typeface="ＭＳ Ｐゴシック" pitchFamily="34" charset="-128"/>
                        </a:rPr>
                        <a:t>1</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tx1"/>
                          </a:solidFill>
                          <a:effectLst/>
                          <a:latin typeface="Arial" charset="0"/>
                          <a:ea typeface="ＭＳ Ｐゴシック" pitchFamily="34" charset="-128"/>
                        </a:rPr>
                        <a:t>40</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endParaRPr kumimoji="0" lang="en-US" sz="1400" b="1" i="0" u="none" strike="noStrike" cap="none" normalizeH="0" baseline="0" dirty="0">
                        <a:ln>
                          <a:noFill/>
                        </a:ln>
                        <a:solidFill>
                          <a:schemeClr val="tx1"/>
                        </a:solidFill>
                        <a:effectLst/>
                        <a:latin typeface="Arial" charset="0"/>
                        <a:ea typeface="ＭＳ Ｐゴシック" pitchFamily="34" charset="-128"/>
                      </a:endParaRP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tx1"/>
                          </a:solidFill>
                          <a:effectLst/>
                          <a:latin typeface="Arial" charset="0"/>
                          <a:ea typeface="ＭＳ Ｐゴシック" pitchFamily="34" charset="-128"/>
                        </a:rPr>
                        <a:t>2</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1"/>
                  </a:ext>
                </a:extLst>
              </a:tr>
              <a:tr h="312663">
                <a:tc vMerge="1">
                  <a:txBody>
                    <a:bodyPr/>
                    <a:lstStyle/>
                    <a:p>
                      <a:endParaRPr lang="en-US"/>
                    </a:p>
                  </a:txBody>
                  <a:tcPr/>
                </a:tc>
                <a:tc vMerge="1">
                  <a:txBody>
                    <a:bodyPr/>
                    <a:lstStyle/>
                    <a:p>
                      <a:endParaRPr lang="en-US"/>
                    </a:p>
                  </a:txBody>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endParaRPr kumimoji="0" lang="en-US" sz="1400" b="1" i="0" u="none" strike="noStrike" cap="none" normalizeH="0" baseline="0" dirty="0">
                        <a:ln>
                          <a:noFill/>
                        </a:ln>
                        <a:solidFill>
                          <a:schemeClr val="tx1"/>
                        </a:solidFill>
                        <a:effectLst/>
                        <a:latin typeface="Arial" charset="0"/>
                        <a:ea typeface="ＭＳ Ｐゴシック" pitchFamily="34" charset="-128"/>
                      </a:endParaRPr>
                    </a:p>
                  </a:txBody>
                  <a:tcPr marT="45709" marB="45709" anchor="ctr" horzOverflow="overflow">
                    <a:lnL>
                      <a:noFill/>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vMerge="1">
                  <a:txBody>
                    <a:bodyPr/>
                    <a:lstStyle/>
                    <a:p>
                      <a:endParaRPr lang="en-US"/>
                    </a:p>
                  </a:txBody>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endParaRPr kumimoji="0" lang="en-US" sz="1400" b="1" i="0" u="none" strike="noStrike" cap="none" normalizeH="0" baseline="0" dirty="0">
                        <a:ln>
                          <a:noFill/>
                        </a:ln>
                        <a:solidFill>
                          <a:schemeClr val="tx1"/>
                        </a:solidFill>
                        <a:effectLst/>
                        <a:latin typeface="Arial" charset="0"/>
                        <a:ea typeface="ＭＳ Ｐゴシック" pitchFamily="34" charset="-128"/>
                      </a:endParaRPr>
                    </a:p>
                  </a:txBody>
                  <a:tcPr marT="45709" marB="45709" anchor="ctr" horzOverflow="overflow">
                    <a:lnL>
                      <a:noFill/>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vMerge="1">
                  <a:txBody>
                    <a:bodyPr/>
                    <a:lstStyle/>
                    <a:p>
                      <a:endParaRPr lang="en-US"/>
                    </a:p>
                  </a:txBody>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endParaRPr kumimoji="0" lang="en-US" sz="1400" b="1" i="0" u="none" strike="noStrike" cap="none" normalizeH="0" baseline="0" dirty="0">
                        <a:ln>
                          <a:noFill/>
                        </a:ln>
                        <a:solidFill>
                          <a:schemeClr val="tx1"/>
                        </a:solidFill>
                        <a:effectLst/>
                        <a:latin typeface="Arial" charset="0"/>
                        <a:ea typeface="ＭＳ Ｐゴシック" pitchFamily="34" charset="-128"/>
                      </a:endParaRPr>
                    </a:p>
                  </a:txBody>
                  <a:tcPr marT="45709" marB="45709" anchor="ctr" horzOverflow="overflow">
                    <a:lnL>
                      <a:noFill/>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vMerge="1">
                  <a:txBody>
                    <a:bodyPr/>
                    <a:lstStyle/>
                    <a:p>
                      <a:endParaRPr lang="en-US"/>
                    </a:p>
                  </a:txBody>
                  <a:tcPr/>
                </a:tc>
                <a:extLst>
                  <a:ext uri="{0D108BD9-81ED-4DB2-BD59-A6C34878D82A}">
                    <a16:rowId xmlns:a16="http://schemas.microsoft.com/office/drawing/2014/main" xmlns="" val="10002"/>
                  </a:ext>
                </a:extLst>
              </a:tr>
              <a:tr h="312663">
                <a:tc rowSpan="2">
                  <a:txBody>
                    <a:bodyPr/>
                    <a:lstStyle/>
                    <a:p>
                      <a:pPr marL="0" marR="0" lvl="0" indent="0" algn="l"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bg1"/>
                          </a:solidFill>
                          <a:effectLst/>
                          <a:latin typeface="Arial" charset="0"/>
                          <a:ea typeface="ＭＳ Ｐゴシック" pitchFamily="34" charset="-128"/>
                        </a:rPr>
                        <a:t>Lahore</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rgbClr val="63BDE0"/>
                    </a:solidFill>
                  </a:tcPr>
                </a:tc>
                <a:tc rowSpan="2">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tx1"/>
                          </a:solidFill>
                          <a:effectLst/>
                          <a:latin typeface="Arial" charset="0"/>
                          <a:ea typeface="ＭＳ Ｐゴシック" pitchFamily="34" charset="-128"/>
                        </a:rPr>
                        <a:t>18</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endParaRPr kumimoji="0" lang="en-US" sz="1400" b="1" i="0" u="none" strike="noStrike" cap="none" normalizeH="0" baseline="0" dirty="0">
                        <a:ln>
                          <a:noFill/>
                        </a:ln>
                        <a:solidFill>
                          <a:schemeClr val="tx1"/>
                        </a:solidFill>
                        <a:effectLst/>
                        <a:latin typeface="Arial" charset="0"/>
                        <a:ea typeface="ＭＳ Ｐゴシック" pitchFamily="34" charset="-128"/>
                      </a:endParaRP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accent2"/>
                          </a:solidFill>
                          <a:effectLst/>
                          <a:latin typeface="Arial" charset="0"/>
                          <a:ea typeface="ＭＳ Ｐゴシック" pitchFamily="34" charset="-128"/>
                        </a:rPr>
                        <a:t>18</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tx1"/>
                          </a:solidFill>
                          <a:effectLst/>
                          <a:latin typeface="Arial" charset="0"/>
                          <a:ea typeface="ＭＳ Ｐゴシック" pitchFamily="34" charset="-128"/>
                        </a:rPr>
                        <a:t>2</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accent2"/>
                          </a:solidFill>
                          <a:effectLst/>
                          <a:latin typeface="Arial" charset="0"/>
                          <a:ea typeface="ＭＳ Ｐゴシック" pitchFamily="34" charset="-128"/>
                        </a:rPr>
                        <a:t>12</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tx1"/>
                          </a:solidFill>
                          <a:effectLst/>
                          <a:latin typeface="Arial" charset="0"/>
                          <a:ea typeface="ＭＳ Ｐゴシック" pitchFamily="34" charset="-128"/>
                        </a:rPr>
                        <a:t>5</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tx1"/>
                          </a:solidFill>
                          <a:effectLst/>
                          <a:latin typeface="Arial" charset="0"/>
                          <a:ea typeface="ＭＳ Ｐゴシック" pitchFamily="34" charset="-128"/>
                        </a:rPr>
                        <a:t>7</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5"/>
                  </a:ext>
                </a:extLst>
              </a:tr>
              <a:tr h="312663">
                <a:tc vMerge="1">
                  <a:txBody>
                    <a:bodyPr/>
                    <a:lstStyle/>
                    <a:p>
                      <a:endParaRPr lang="en-US"/>
                    </a:p>
                  </a:txBody>
                  <a:tcPr/>
                </a:tc>
                <a:tc vMerge="1">
                  <a:txBody>
                    <a:bodyPr/>
                    <a:lstStyle/>
                    <a:p>
                      <a:endParaRPr lang="en-US"/>
                    </a:p>
                  </a:txBody>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endParaRPr kumimoji="0" lang="en-US" sz="1400" b="1" i="0" u="none" strike="noStrike" cap="none" normalizeH="0" baseline="0" dirty="0">
                        <a:ln>
                          <a:noFill/>
                        </a:ln>
                        <a:solidFill>
                          <a:schemeClr val="tx1"/>
                        </a:solidFill>
                        <a:effectLst/>
                        <a:latin typeface="Arial" charset="0"/>
                        <a:ea typeface="ＭＳ Ｐゴシック" pitchFamily="34" charset="-128"/>
                      </a:endParaRPr>
                    </a:p>
                  </a:txBody>
                  <a:tcPr marT="45709" marB="45709" anchor="ctr" horzOverflow="overflow">
                    <a:lnL>
                      <a:noFill/>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vMerge="1">
                  <a:txBody>
                    <a:bodyPr/>
                    <a:lstStyle/>
                    <a:p>
                      <a:endParaRPr lang="en-US"/>
                    </a:p>
                  </a:txBody>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endParaRPr kumimoji="0" lang="en-US" sz="1400" b="1" i="0" u="none" strike="noStrike" cap="none" normalizeH="0" baseline="0" dirty="0">
                        <a:ln>
                          <a:noFill/>
                        </a:ln>
                        <a:solidFill>
                          <a:schemeClr val="tx1"/>
                        </a:solidFill>
                        <a:effectLst/>
                        <a:latin typeface="Arial" charset="0"/>
                        <a:ea typeface="ＭＳ Ｐゴシック" pitchFamily="34" charset="-128"/>
                      </a:endParaRPr>
                    </a:p>
                  </a:txBody>
                  <a:tcPr marT="45709" marB="45709" anchor="ctr" horzOverflow="overflow">
                    <a:lnL>
                      <a:noFill/>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vMerge="1">
                  <a:txBody>
                    <a:bodyPr/>
                    <a:lstStyle/>
                    <a:p>
                      <a:endParaRPr lang="en-US"/>
                    </a:p>
                  </a:txBody>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endParaRPr kumimoji="0" lang="en-US" sz="1400" b="1" i="0" u="none" strike="noStrike" cap="none" normalizeH="0" baseline="0" dirty="0">
                        <a:ln>
                          <a:noFill/>
                        </a:ln>
                        <a:solidFill>
                          <a:schemeClr val="tx1"/>
                        </a:solidFill>
                        <a:effectLst/>
                        <a:latin typeface="Arial" charset="0"/>
                        <a:ea typeface="ＭＳ Ｐゴシック" pitchFamily="34" charset="-128"/>
                      </a:endParaRPr>
                    </a:p>
                  </a:txBody>
                  <a:tcPr marT="45709" marB="45709" anchor="ctr" horzOverflow="overflow">
                    <a:lnL>
                      <a:noFill/>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vMerge="1">
                  <a:txBody>
                    <a:bodyPr/>
                    <a:lstStyle/>
                    <a:p>
                      <a:endParaRPr lang="en-US"/>
                    </a:p>
                  </a:txBody>
                  <a:tcPr/>
                </a:tc>
                <a:extLst>
                  <a:ext uri="{0D108BD9-81ED-4DB2-BD59-A6C34878D82A}">
                    <a16:rowId xmlns:a16="http://schemas.microsoft.com/office/drawing/2014/main" xmlns="" val="10006"/>
                  </a:ext>
                </a:extLst>
              </a:tr>
              <a:tr h="625324">
                <a:tc>
                  <a:txBody>
                    <a:bodyPr/>
                    <a:lstStyle/>
                    <a:p>
                      <a:pPr marL="0" marR="0" lvl="0" indent="0" algn="l"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bg1"/>
                          </a:solidFill>
                          <a:effectLst/>
                          <a:latin typeface="Arial" charset="0"/>
                          <a:ea typeface="ＭＳ Ｐゴシック" pitchFamily="34" charset="-128"/>
                        </a:rPr>
                        <a:t>Requirement/</a:t>
                      </a:r>
                    </a:p>
                    <a:p>
                      <a:pPr marL="0" marR="0" lvl="0" indent="0" algn="l"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bg1"/>
                          </a:solidFill>
                          <a:effectLst/>
                          <a:latin typeface="Arial" charset="0"/>
                          <a:ea typeface="ＭＳ Ｐゴシック" pitchFamily="34" charset="-128"/>
                        </a:rPr>
                        <a:t>Demand</a:t>
                      </a:r>
                    </a:p>
                    <a:p>
                      <a:pPr marL="0" marR="0" lvl="0" indent="0" algn="l"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endParaRPr kumimoji="0" lang="en-US" sz="1400" b="1" i="0" u="none" strike="noStrike" cap="none" normalizeH="0" baseline="0" dirty="0">
                        <a:ln>
                          <a:noFill/>
                        </a:ln>
                        <a:solidFill>
                          <a:schemeClr val="bg1"/>
                        </a:solidFill>
                        <a:effectLst/>
                        <a:latin typeface="Arial" charset="0"/>
                        <a:ea typeface="ＭＳ Ｐゴシック" pitchFamily="34" charset="-128"/>
                      </a:endParaRP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rgbClr val="63BDE0"/>
                    </a:solidFill>
                  </a:tcPr>
                </a:tc>
                <a:tc gridSpan="2">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tx1"/>
                          </a:solidFill>
                          <a:effectLst/>
                          <a:latin typeface="Arial" charset="0"/>
                          <a:ea typeface="ＭＳ Ｐゴシック" pitchFamily="34" charset="-128"/>
                        </a:rPr>
                        <a:t>1</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tc gridSpan="2">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tx1"/>
                          </a:solidFill>
                          <a:effectLst/>
                          <a:latin typeface="Arial" charset="0"/>
                          <a:ea typeface="ＭＳ Ｐゴシック" pitchFamily="34" charset="-128"/>
                        </a:rPr>
                        <a:t>3</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tc gridSpan="2">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tx1"/>
                          </a:solidFill>
                          <a:effectLst/>
                          <a:latin typeface="Arial" charset="0"/>
                          <a:ea typeface="ＭＳ Ｐゴシック" pitchFamily="34" charset="-128"/>
                        </a:rPr>
                        <a:t>5</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endParaRPr kumimoji="0" lang="en-US" sz="1400" b="1" i="0" u="none" strike="noStrike" cap="none" normalizeH="0" baseline="0" dirty="0">
                        <a:ln>
                          <a:noFill/>
                        </a:ln>
                        <a:solidFill>
                          <a:schemeClr val="tx1"/>
                        </a:solidFill>
                        <a:effectLst/>
                        <a:latin typeface="Arial" charset="0"/>
                        <a:ea typeface="ＭＳ Ｐゴシック" pitchFamily="34" charset="-128"/>
                      </a:endParaRP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7"/>
                  </a:ext>
                </a:extLst>
              </a:tr>
            </a:tbl>
          </a:graphicData>
        </a:graphic>
      </p:graphicFrame>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xmlns="" id="{C7DFF237-F9DC-40CD-BCAC-2A0623F5F561}"/>
                  </a:ext>
                </a:extLst>
              </p:cNvPr>
              <p:cNvSpPr txBox="1"/>
              <p:nvPr/>
            </p:nvSpPr>
            <p:spPr>
              <a:xfrm>
                <a:off x="1097280" y="4769101"/>
                <a:ext cx="6134949" cy="1107996"/>
              </a:xfrm>
              <a:prstGeom prst="rect">
                <a:avLst/>
              </a:prstGeom>
              <a:noFill/>
            </p:spPr>
            <p:txBody>
              <a:bodyPr wrap="none" lIns="0" tIns="0" rIns="0" bIns="0" rtlCol="0">
                <a:spAutoFit/>
              </a:bodyPr>
              <a:lstStyle/>
              <a:p>
                <a14:m>
                  <m:oMath xmlns:m="http://schemas.openxmlformats.org/officeDocument/2006/math">
                    <m:r>
                      <m:rPr>
                        <m:sty m:val="p"/>
                      </m:rPr>
                      <a:rPr lang="en-US" sz="2400" b="0" i="0" smtClean="0">
                        <a:latin typeface="Cambria Math" panose="02040503050406030204" pitchFamily="18" charset="0"/>
                      </a:rPr>
                      <m:t>Total</m:t>
                    </m:r>
                    <m:r>
                      <a:rPr lang="en-US" sz="2400" b="0" i="0" smtClean="0">
                        <a:latin typeface="Cambria Math" panose="02040503050406030204" pitchFamily="18" charset="0"/>
                      </a:rPr>
                      <m:t> </m:t>
                    </m:r>
                    <m:r>
                      <m:rPr>
                        <m:sty m:val="p"/>
                      </m:rPr>
                      <a:rPr lang="en-US" sz="2400" b="0" i="0" smtClean="0">
                        <a:latin typeface="Cambria Math" panose="02040503050406030204" pitchFamily="18" charset="0"/>
                      </a:rPr>
                      <m:t>Cost</m:t>
                    </m:r>
                    <m:r>
                      <a:rPr lang="en-US" sz="2400" b="1" i="0" smtClean="0">
                        <a:latin typeface="Cambria Math" panose="02040503050406030204" pitchFamily="18" charset="0"/>
                      </a:rPr>
                      <m:t>=</m:t>
                    </m:r>
                  </m:oMath>
                </a14:m>
                <a:r>
                  <a:rPr lang="en-US" sz="2400" dirty="0"/>
                  <a:t>13</a:t>
                </a:r>
                <a14:m>
                  <m:oMath xmlns:m="http://schemas.openxmlformats.org/officeDocument/2006/math">
                    <m:r>
                      <a:rPr lang="en-US" sz="2400" i="1" dirty="0" smtClean="0">
                        <a:latin typeface="Cambria Math" panose="02040503050406030204" pitchFamily="18" charset="0"/>
                        <a:ea typeface="Cambria Math" panose="02040503050406030204" pitchFamily="18" charset="0"/>
                      </a:rPr>
                      <m:t>×</m:t>
                    </m:r>
                    <m:r>
                      <a:rPr lang="en-US" sz="2400" b="0" i="1" dirty="0" smtClean="0">
                        <a:latin typeface="Cambria Math" panose="02040503050406030204" pitchFamily="18" charset="0"/>
                        <a:ea typeface="Cambria Math" panose="02040503050406030204" pitchFamily="18" charset="0"/>
                      </a:rPr>
                      <m:t>1+11</m:t>
                    </m:r>
                    <m:r>
                      <a:rPr lang="en-US" sz="2400" i="1" dirty="0">
                        <a:latin typeface="Cambria Math" panose="02040503050406030204" pitchFamily="18" charset="0"/>
                        <a:ea typeface="Cambria Math" panose="02040503050406030204" pitchFamily="18" charset="0"/>
                      </a:rPr>
                      <m:t>×</m:t>
                    </m:r>
                    <m:r>
                      <a:rPr lang="en-US" sz="2400" b="0" i="1" dirty="0" smtClean="0">
                        <a:latin typeface="Cambria Math" panose="02040503050406030204" pitchFamily="18" charset="0"/>
                        <a:ea typeface="Cambria Math" panose="02040503050406030204" pitchFamily="18" charset="0"/>
                      </a:rPr>
                      <m:t>1+18</m:t>
                    </m:r>
                    <m:r>
                      <a:rPr lang="en-US" sz="2400" i="1" dirty="0">
                        <a:latin typeface="Cambria Math" panose="02040503050406030204" pitchFamily="18" charset="0"/>
                        <a:ea typeface="Cambria Math" panose="02040503050406030204" pitchFamily="18" charset="0"/>
                      </a:rPr>
                      <m:t>×</m:t>
                    </m:r>
                    <m:r>
                      <a:rPr lang="en-US" sz="2400" b="0" i="1" dirty="0" smtClean="0">
                        <a:latin typeface="Cambria Math" panose="02040503050406030204" pitchFamily="18" charset="0"/>
                        <a:ea typeface="Cambria Math" panose="02040503050406030204" pitchFamily="18" charset="0"/>
                      </a:rPr>
                      <m:t>2+12</m:t>
                    </m:r>
                    <m:r>
                      <a:rPr lang="en-US" sz="2400" i="1" dirty="0">
                        <a:latin typeface="Cambria Math" panose="02040503050406030204" pitchFamily="18" charset="0"/>
                        <a:ea typeface="Cambria Math" panose="02040503050406030204" pitchFamily="18" charset="0"/>
                      </a:rPr>
                      <m:t>×</m:t>
                    </m:r>
                    <m:r>
                      <a:rPr lang="en-US" sz="2400" b="0" i="1" dirty="0" smtClean="0">
                        <a:latin typeface="Cambria Math" panose="02040503050406030204" pitchFamily="18" charset="0"/>
                        <a:ea typeface="Cambria Math" panose="02040503050406030204" pitchFamily="18" charset="0"/>
                      </a:rPr>
                      <m:t>5</m:t>
                    </m:r>
                  </m:oMath>
                </a14:m>
                <a:endParaRPr lang="en-US" sz="2400" b="0" dirty="0">
                  <a:ea typeface="Cambria Math" panose="02040503050406030204" pitchFamily="18" charset="0"/>
                </a:endParaRPr>
              </a:p>
              <a:p>
                <a:r>
                  <a:rPr lang="en-US" sz="2400" dirty="0"/>
                  <a:t>                 =13+11+36+60</a:t>
                </a:r>
              </a:p>
              <a:p>
                <a:r>
                  <a:rPr lang="en-US" sz="2400" dirty="0"/>
                  <a:t>                 =</a:t>
                </a:r>
                <a:r>
                  <a:rPr lang="en-US" sz="2400" dirty="0" smtClean="0"/>
                  <a:t>120 thousand</a:t>
                </a:r>
                <a:endParaRPr lang="en-US" sz="2400" dirty="0"/>
              </a:p>
            </p:txBody>
          </p:sp>
        </mc:Choice>
        <mc:Fallback xmlns="">
          <p:sp>
            <p:nvSpPr>
              <p:cNvPr id="4" name="TextBox 3">
                <a:extLst>
                  <a:ext uri="{FF2B5EF4-FFF2-40B4-BE49-F238E27FC236}">
                    <a16:creationId xmlns:a16="http://schemas.microsoft.com/office/drawing/2014/main" xmlns="" xmlns:a14="http://schemas.microsoft.com/office/drawing/2010/main" id="{C7DFF237-F9DC-40CD-BCAC-2A0623F5F561}"/>
                  </a:ext>
                </a:extLst>
              </p:cNvPr>
              <p:cNvSpPr txBox="1">
                <a:spLocks noRot="1" noChangeAspect="1" noMove="1" noResize="1" noEditPoints="1" noAdjustHandles="1" noChangeArrowheads="1" noChangeShapeType="1" noTextEdit="1"/>
              </p:cNvSpPr>
              <p:nvPr/>
            </p:nvSpPr>
            <p:spPr>
              <a:xfrm>
                <a:off x="1097280" y="4769101"/>
                <a:ext cx="6134949" cy="1107996"/>
              </a:xfrm>
              <a:prstGeom prst="rect">
                <a:avLst/>
              </a:prstGeom>
              <a:blipFill rotWithShape="1">
                <a:blip r:embed="rId2"/>
                <a:stretch>
                  <a:fillRect l="-2982" t="-8242" r="-3479" b="-15934"/>
                </a:stretch>
              </a:blipFill>
            </p:spPr>
            <p:txBody>
              <a:bodyPr/>
              <a:lstStyle/>
              <a:p>
                <a:r>
                  <a:rPr lang="en-GB">
                    <a:noFill/>
                  </a:rPr>
                  <a:t> </a:t>
                </a:r>
              </a:p>
            </p:txBody>
          </p:sp>
        </mc:Fallback>
      </mc:AlternateContent>
    </p:spTree>
    <p:extLst>
      <p:ext uri="{BB962C8B-B14F-4D97-AF65-F5344CB8AC3E}">
        <p14:creationId xmlns:p14="http://schemas.microsoft.com/office/powerpoint/2010/main" val="27594837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6" fill="hold" nodeType="afterEffect">
                                  <p:stCondLst>
                                    <p:cond delay="1000"/>
                                  </p:stCondLst>
                                  <p:childTnLst>
                                    <p:set>
                                      <p:cBhvr>
                                        <p:cTn id="6" dur="1" fill="hold">
                                          <p:stCondLst>
                                            <p:cond delay="0"/>
                                          </p:stCondLst>
                                        </p:cTn>
                                        <p:tgtEl>
                                          <p:spTgt spid="5"/>
                                        </p:tgtEl>
                                        <p:attrNameLst>
                                          <p:attrName>style.visibility</p:attrName>
                                        </p:attrNameLst>
                                      </p:cBhvr>
                                      <p:to>
                                        <p:strVal val="visible"/>
                                      </p:to>
                                    </p:set>
                                    <p:animEffect transition="in" filter="strips(downRight)">
                                      <p:cBhvr>
                                        <p:cTn id="7"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36743" y="617910"/>
            <a:ext cx="7429499" cy="3165195"/>
          </a:xfrm>
        </p:spPr>
        <p:txBody>
          <a:bodyPr>
            <a:normAutofit fontScale="92500" lnSpcReduction="10000"/>
          </a:bodyPr>
          <a:lstStyle/>
          <a:p>
            <a:r>
              <a:rPr lang="en-GB" dirty="0"/>
              <a:t>A company has three production facilities </a:t>
            </a:r>
            <a:r>
              <a:rPr lang="en-GB" i="1" dirty="0"/>
              <a:t>S</a:t>
            </a:r>
            <a:r>
              <a:rPr lang="en-GB" dirty="0"/>
              <a:t>1, </a:t>
            </a:r>
            <a:r>
              <a:rPr lang="en-GB" i="1" dirty="0"/>
              <a:t>S</a:t>
            </a:r>
            <a:r>
              <a:rPr lang="en-GB" dirty="0"/>
              <a:t>2 and </a:t>
            </a:r>
            <a:r>
              <a:rPr lang="en-GB" i="1" dirty="0"/>
              <a:t>S</a:t>
            </a:r>
            <a:r>
              <a:rPr lang="en-GB" dirty="0"/>
              <a:t>3 with production capacity of </a:t>
            </a:r>
            <a:r>
              <a:rPr lang="en-GB" dirty="0" smtClean="0"/>
              <a:t>7, 9 </a:t>
            </a:r>
            <a:r>
              <a:rPr lang="en-GB" dirty="0"/>
              <a:t>and 18 units (in 100s) per week of a product, respectively. These units are to be shipped to </a:t>
            </a:r>
            <a:r>
              <a:rPr lang="en-GB" dirty="0" smtClean="0"/>
              <a:t>four warehouses </a:t>
            </a:r>
            <a:r>
              <a:rPr lang="en-GB" i="1" dirty="0"/>
              <a:t>D</a:t>
            </a:r>
            <a:r>
              <a:rPr lang="en-GB" dirty="0"/>
              <a:t>1, </a:t>
            </a:r>
            <a:r>
              <a:rPr lang="en-GB" i="1" dirty="0"/>
              <a:t>D</a:t>
            </a:r>
            <a:r>
              <a:rPr lang="en-GB" dirty="0"/>
              <a:t>2, </a:t>
            </a:r>
            <a:r>
              <a:rPr lang="en-GB" i="1" dirty="0"/>
              <a:t>D</a:t>
            </a:r>
            <a:r>
              <a:rPr lang="en-GB" dirty="0"/>
              <a:t>3 and </a:t>
            </a:r>
            <a:r>
              <a:rPr lang="en-GB" i="1" dirty="0"/>
              <a:t>D</a:t>
            </a:r>
            <a:r>
              <a:rPr lang="en-GB" dirty="0"/>
              <a:t>4 with requirement of 5, 6, 7 and 14 units (in 100s) per week, </a:t>
            </a:r>
            <a:r>
              <a:rPr lang="en-GB" dirty="0" smtClean="0"/>
              <a:t>respectively. The </a:t>
            </a:r>
            <a:r>
              <a:rPr lang="en-GB" dirty="0"/>
              <a:t>transportation costs (in rupees) per unit between factories to warehouses are given in the table </a:t>
            </a:r>
            <a:r>
              <a:rPr lang="en-GB" dirty="0" smtClean="0"/>
              <a:t>below. </a:t>
            </a:r>
            <a:r>
              <a:rPr lang="en-GB" dirty="0"/>
              <a:t>M</a:t>
            </a:r>
            <a:r>
              <a:rPr lang="en-GB" dirty="0" smtClean="0"/>
              <a:t>inimize </a:t>
            </a:r>
            <a:r>
              <a:rPr lang="en-GB" dirty="0"/>
              <a:t>the total transportation cost.</a:t>
            </a:r>
            <a:endParaRPr lang="en-GB" dirty="0" smtClean="0"/>
          </a:p>
          <a:p>
            <a:endParaRPr lang="en-GB"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53672" y="3783105"/>
            <a:ext cx="6391834" cy="2698377"/>
          </a:xfrm>
          <a:prstGeom prst="rect">
            <a:avLst/>
          </a:prstGeom>
        </p:spPr>
      </p:pic>
    </p:spTree>
    <p:extLst>
      <p:ext uri="{BB962C8B-B14F-4D97-AF65-F5344CB8AC3E}">
        <p14:creationId xmlns:p14="http://schemas.microsoft.com/office/powerpoint/2010/main" val="139906112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solidFill>
                  <a:srgbClr val="C00000"/>
                </a:solidFill>
                <a:latin typeface="Arial" panose="020B0604020202020204" pitchFamily="34" charset="0"/>
                <a:cs typeface="Arial" panose="020B0604020202020204" pitchFamily="34" charset="0"/>
              </a:rPr>
              <a:t>Least cost method (procedure)</a:t>
            </a:r>
          </a:p>
        </p:txBody>
      </p:sp>
      <p:sp>
        <p:nvSpPr>
          <p:cNvPr id="6" name="Content Placeholder 5">
            <a:extLst>
              <a:ext uri="{FF2B5EF4-FFF2-40B4-BE49-F238E27FC236}">
                <a16:creationId xmlns:a16="http://schemas.microsoft.com/office/drawing/2014/main" xmlns="" id="{12C3F38F-06D5-4ADF-BB89-374D8DB47BD2}"/>
              </a:ext>
            </a:extLst>
          </p:cNvPr>
          <p:cNvSpPr>
            <a:spLocks noGrp="1"/>
          </p:cNvSpPr>
          <p:nvPr>
            <p:ph idx="1"/>
          </p:nvPr>
        </p:nvSpPr>
        <p:spPr>
          <a:xfrm>
            <a:off x="856060" y="2249486"/>
            <a:ext cx="7429499" cy="4608513"/>
          </a:xfrm>
        </p:spPr>
        <p:txBody>
          <a:bodyPr>
            <a:normAutofit fontScale="92500"/>
          </a:bodyPr>
          <a:lstStyle/>
          <a:p>
            <a:pPr algn="just"/>
            <a:r>
              <a:rPr lang="en-US" dirty="0">
                <a:effectLst/>
                <a:latin typeface="Arial" panose="020B0604020202020204" pitchFamily="34" charset="0"/>
                <a:cs typeface="Arial" panose="020B0604020202020204" pitchFamily="34" charset="0"/>
              </a:rPr>
              <a:t>First of all we check the problem is balance or unbalance.</a:t>
            </a:r>
          </a:p>
          <a:p>
            <a:pPr algn="just"/>
            <a:r>
              <a:rPr lang="en-US" dirty="0">
                <a:effectLst/>
                <a:latin typeface="Arial" panose="020B0604020202020204" pitchFamily="34" charset="0"/>
                <a:cs typeface="Arial" panose="020B0604020202020204" pitchFamily="34" charset="0"/>
              </a:rPr>
              <a:t>Identify the box having minimum unit transportation cost </a:t>
            </a:r>
          </a:p>
          <a:p>
            <a:pPr algn="just"/>
            <a:r>
              <a:rPr lang="en-US" dirty="0">
                <a:effectLst/>
                <a:latin typeface="Arial" panose="020B0604020202020204" pitchFamily="34" charset="0"/>
                <a:cs typeface="Arial" panose="020B0604020202020204" pitchFamily="34" charset="0"/>
              </a:rPr>
              <a:t>If the minimum cost is not unique then </a:t>
            </a:r>
            <a:r>
              <a:rPr lang="en-US" dirty="0" smtClean="0">
                <a:effectLst/>
                <a:latin typeface="Arial" panose="020B0604020202020204" pitchFamily="34" charset="0"/>
                <a:cs typeface="Arial" panose="020B0604020202020204" pitchFamily="34" charset="0"/>
              </a:rPr>
              <a:t>choose top left box or where </a:t>
            </a:r>
            <a:r>
              <a:rPr lang="en-US" dirty="0" smtClean="0">
                <a:latin typeface="Arial" panose="020B0604020202020204" pitchFamily="34" charset="0"/>
                <a:cs typeface="Arial" panose="020B0604020202020204" pitchFamily="34" charset="0"/>
              </a:rPr>
              <a:t>maximum allocation</a:t>
            </a:r>
            <a:r>
              <a:rPr lang="en-US" dirty="0" smtClean="0">
                <a:effectLst/>
                <a:latin typeface="Arial" panose="020B0604020202020204" pitchFamily="34" charset="0"/>
                <a:cs typeface="Arial" panose="020B0604020202020204" pitchFamily="34" charset="0"/>
              </a:rPr>
              <a:t> can be made.</a:t>
            </a:r>
            <a:endParaRPr lang="en-US" dirty="0">
              <a:effectLst/>
              <a:latin typeface="Arial" panose="020B0604020202020204" pitchFamily="34" charset="0"/>
              <a:cs typeface="Arial" panose="020B0604020202020204" pitchFamily="34" charset="0"/>
            </a:endParaRPr>
          </a:p>
          <a:p>
            <a:pPr algn="just"/>
            <a:r>
              <a:rPr lang="en-US" dirty="0">
                <a:effectLst/>
                <a:latin typeface="Arial" panose="020B0604020202020204" pitchFamily="34" charset="0"/>
                <a:cs typeface="Arial" panose="020B0604020202020204" pitchFamily="34" charset="0"/>
              </a:rPr>
              <a:t>Choose the value from the corresponding demand or supply, where the value is less.</a:t>
            </a:r>
          </a:p>
          <a:p>
            <a:pPr algn="just"/>
            <a:r>
              <a:rPr lang="en-US" dirty="0">
                <a:effectLst/>
                <a:latin typeface="Arial" panose="020B0604020202020204" pitchFamily="34" charset="0"/>
                <a:cs typeface="Arial" panose="020B0604020202020204" pitchFamily="34" charset="0"/>
              </a:rPr>
              <a:t>Repeat the above steps until all restrictions are satisfied.</a:t>
            </a:r>
          </a:p>
        </p:txBody>
      </p:sp>
    </p:spTree>
    <p:extLst>
      <p:ext uri="{BB962C8B-B14F-4D97-AF65-F5344CB8AC3E}">
        <p14:creationId xmlns:p14="http://schemas.microsoft.com/office/powerpoint/2010/main" val="160441024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solidFill>
                  <a:srgbClr val="C00000"/>
                </a:solidFill>
                <a:latin typeface="Arial" panose="020B0604020202020204" pitchFamily="34" charset="0"/>
                <a:cs typeface="Arial" panose="020B0604020202020204" pitchFamily="34" charset="0"/>
              </a:rPr>
              <a:t>Least Cost Method</a:t>
            </a:r>
          </a:p>
        </p:txBody>
      </p:sp>
      <p:sp>
        <p:nvSpPr>
          <p:cNvPr id="6" name="Content Placeholder 5">
            <a:extLst>
              <a:ext uri="{FF2B5EF4-FFF2-40B4-BE49-F238E27FC236}">
                <a16:creationId xmlns:a16="http://schemas.microsoft.com/office/drawing/2014/main" xmlns="" id="{12C3F38F-06D5-4ADF-BB89-374D8DB47BD2}"/>
              </a:ext>
            </a:extLst>
          </p:cNvPr>
          <p:cNvSpPr>
            <a:spLocks noGrp="1"/>
          </p:cNvSpPr>
          <p:nvPr>
            <p:ph idx="1"/>
          </p:nvPr>
        </p:nvSpPr>
        <p:spPr>
          <a:xfrm>
            <a:off x="856060" y="2249486"/>
            <a:ext cx="7429499" cy="4608513"/>
          </a:xfrm>
        </p:spPr>
        <p:txBody>
          <a:bodyPr>
            <a:normAutofit/>
          </a:bodyPr>
          <a:lstStyle/>
          <a:p>
            <a:pPr marL="0" indent="0">
              <a:buNone/>
            </a:pPr>
            <a:endParaRPr lang="en-US" dirty="0">
              <a:latin typeface="Arial" panose="020B0604020202020204" pitchFamily="34" charset="0"/>
              <a:cs typeface="Arial" panose="020B0604020202020204" pitchFamily="34" charset="0"/>
            </a:endParaRPr>
          </a:p>
          <a:p>
            <a:pPr marL="0" indent="0">
              <a:buNone/>
            </a:pPr>
            <a:endParaRPr lang="en-US" dirty="0">
              <a:latin typeface="Arial" panose="020B0604020202020204" pitchFamily="34" charset="0"/>
              <a:cs typeface="Arial" panose="020B0604020202020204" pitchFamily="34" charset="0"/>
            </a:endParaRPr>
          </a:p>
          <a:p>
            <a:pPr marL="0" indent="0">
              <a:buNone/>
            </a:pPr>
            <a:endParaRPr lang="en-US" dirty="0">
              <a:latin typeface="Arial" panose="020B0604020202020204" pitchFamily="34" charset="0"/>
              <a:cs typeface="Arial" panose="020B0604020202020204" pitchFamily="34" charset="0"/>
            </a:endParaRPr>
          </a:p>
        </p:txBody>
      </p:sp>
      <p:graphicFrame>
        <p:nvGraphicFramePr>
          <p:cNvPr id="5" name="Group 123">
            <a:extLst>
              <a:ext uri="{FF2B5EF4-FFF2-40B4-BE49-F238E27FC236}">
                <a16:creationId xmlns:a16="http://schemas.microsoft.com/office/drawing/2014/main" xmlns="" id="{A5DA3B2A-2E25-4DFF-9E0E-EBF2CA28C54C}"/>
              </a:ext>
            </a:extLst>
          </p:cNvPr>
          <p:cNvGraphicFramePr>
            <a:graphicFrameLocks noGrp="1"/>
          </p:cNvGraphicFramePr>
          <p:nvPr>
            <p:extLst>
              <p:ext uri="{D42A27DB-BD31-4B8C-83A1-F6EECF244321}">
                <p14:modId xmlns:p14="http://schemas.microsoft.com/office/powerpoint/2010/main" val="3248276879"/>
              </p:ext>
            </p:extLst>
          </p:nvPr>
        </p:nvGraphicFramePr>
        <p:xfrm>
          <a:off x="856060" y="2249486"/>
          <a:ext cx="6163297" cy="2670976"/>
        </p:xfrm>
        <a:graphic>
          <a:graphicData uri="http://schemas.openxmlformats.org/drawingml/2006/table">
            <a:tbl>
              <a:tblPr/>
              <a:tblGrid>
                <a:gridCol w="1737009">
                  <a:extLst>
                    <a:ext uri="{9D8B030D-6E8A-4147-A177-3AD203B41FA5}">
                      <a16:colId xmlns:a16="http://schemas.microsoft.com/office/drawing/2014/main" xmlns="" val="20000"/>
                    </a:ext>
                  </a:extLst>
                </a:gridCol>
                <a:gridCol w="1019792">
                  <a:extLst>
                    <a:ext uri="{9D8B030D-6E8A-4147-A177-3AD203B41FA5}">
                      <a16:colId xmlns:a16="http://schemas.microsoft.com/office/drawing/2014/main" xmlns="" val="20001"/>
                    </a:ext>
                  </a:extLst>
                </a:gridCol>
                <a:gridCol w="381020">
                  <a:extLst>
                    <a:ext uri="{9D8B030D-6E8A-4147-A177-3AD203B41FA5}">
                      <a16:colId xmlns:a16="http://schemas.microsoft.com/office/drawing/2014/main" xmlns="" val="20002"/>
                    </a:ext>
                  </a:extLst>
                </a:gridCol>
                <a:gridCol w="571532">
                  <a:extLst>
                    <a:ext uri="{9D8B030D-6E8A-4147-A177-3AD203B41FA5}">
                      <a16:colId xmlns:a16="http://schemas.microsoft.com/office/drawing/2014/main" xmlns="" val="20003"/>
                    </a:ext>
                  </a:extLst>
                </a:gridCol>
                <a:gridCol w="358608">
                  <a:extLst>
                    <a:ext uri="{9D8B030D-6E8A-4147-A177-3AD203B41FA5}">
                      <a16:colId xmlns:a16="http://schemas.microsoft.com/office/drawing/2014/main" xmlns="" val="20004"/>
                    </a:ext>
                  </a:extLst>
                </a:gridCol>
                <a:gridCol w="428943">
                  <a:extLst>
                    <a:ext uri="{9D8B030D-6E8A-4147-A177-3AD203B41FA5}">
                      <a16:colId xmlns:a16="http://schemas.microsoft.com/office/drawing/2014/main" xmlns="" val="20005"/>
                    </a:ext>
                  </a:extLst>
                </a:gridCol>
                <a:gridCol w="500915">
                  <a:extLst>
                    <a:ext uri="{9D8B030D-6E8A-4147-A177-3AD203B41FA5}">
                      <a16:colId xmlns:a16="http://schemas.microsoft.com/office/drawing/2014/main" xmlns="" val="20006"/>
                    </a:ext>
                  </a:extLst>
                </a:gridCol>
                <a:gridCol w="1165478">
                  <a:extLst>
                    <a:ext uri="{9D8B030D-6E8A-4147-A177-3AD203B41FA5}">
                      <a16:colId xmlns:a16="http://schemas.microsoft.com/office/drawing/2014/main" xmlns="" val="20007"/>
                    </a:ext>
                  </a:extLst>
                </a:gridCol>
              </a:tblGrid>
              <a:tr h="555364">
                <a:tc>
                  <a:txBody>
                    <a:bodyPr/>
                    <a:lstStyle/>
                    <a:p>
                      <a:pPr marL="0" marR="0" lvl="0" indent="0" algn="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bg1"/>
                          </a:solidFill>
                          <a:effectLst/>
                          <a:latin typeface="Arial" charset="0"/>
                          <a:ea typeface="ＭＳ Ｐゴシック" pitchFamily="34" charset="-128"/>
                        </a:rPr>
                        <a:t>TO</a:t>
                      </a:r>
                    </a:p>
                    <a:p>
                      <a:pPr marL="0" marR="0" lvl="0" indent="0" algn="l"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bg1"/>
                          </a:solidFill>
                          <a:effectLst/>
                          <a:latin typeface="Arial" charset="0"/>
                          <a:ea typeface="ＭＳ Ｐゴシック" pitchFamily="34" charset="-128"/>
                        </a:rPr>
                        <a:t>FROM</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9050" cap="flat" cmpd="sng" algn="ctr">
                      <a:solidFill>
                        <a:schemeClr val="tx1"/>
                      </a:solidFill>
                      <a:prstDash val="solid"/>
                      <a:round/>
                      <a:headEnd type="none" w="med" len="med"/>
                      <a:tailEnd type="none" w="med" len="med"/>
                    </a:lnTlToBr>
                    <a:lnBlToTr>
                      <a:noFill/>
                    </a:lnBlToTr>
                    <a:solidFill>
                      <a:srgbClr val="63BDE0"/>
                    </a:solidFill>
                  </a:tcPr>
                </a:tc>
                <a:tc gridSpan="2">
                  <a:txBody>
                    <a:bodyPr/>
                    <a:lstStyle/>
                    <a:p>
                      <a:pPr marL="0" marR="0" lvl="0" indent="0" algn="l"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bg1"/>
                          </a:solidFill>
                          <a:effectLst/>
                          <a:latin typeface="Arial" charset="0"/>
                          <a:ea typeface="ＭＳ Ｐゴシック" pitchFamily="34" charset="-128"/>
                        </a:rPr>
                        <a:t>Peshawar </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rgbClr val="63BDE0"/>
                    </a:solidFill>
                  </a:tcPr>
                </a:tc>
                <a:tc hMerge="1">
                  <a:txBody>
                    <a:bodyPr/>
                    <a:lstStyle/>
                    <a:p>
                      <a:endParaRPr lang="en-US"/>
                    </a:p>
                  </a:txBody>
                  <a:tcPr/>
                </a:tc>
                <a:tc gridSpan="2">
                  <a:txBody>
                    <a:bodyPr/>
                    <a:lstStyle/>
                    <a:p>
                      <a:pPr marL="0" marR="0" lvl="0" indent="0" algn="l"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bg1"/>
                          </a:solidFill>
                          <a:effectLst/>
                          <a:latin typeface="Arial" charset="0"/>
                          <a:ea typeface="ＭＳ Ｐゴシック" pitchFamily="34" charset="-128"/>
                        </a:rPr>
                        <a:t>Sialkot</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rgbClr val="63BDE0"/>
                    </a:solidFill>
                  </a:tcPr>
                </a:tc>
                <a:tc hMerge="1">
                  <a:txBody>
                    <a:bodyPr/>
                    <a:lstStyle/>
                    <a:p>
                      <a:endParaRPr lang="en-US"/>
                    </a:p>
                  </a:txBody>
                  <a:tcPr/>
                </a:tc>
                <a:tc gridSpan="2">
                  <a:txBody>
                    <a:bodyPr/>
                    <a:lstStyle/>
                    <a:p>
                      <a:pPr marL="0" marR="0" lvl="0" indent="0" algn="l"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bg1"/>
                          </a:solidFill>
                          <a:effectLst/>
                          <a:latin typeface="Arial" charset="0"/>
                          <a:ea typeface="ＭＳ Ｐゴシック" pitchFamily="34" charset="-128"/>
                        </a:rPr>
                        <a:t> Multan</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rgbClr val="63BDE0"/>
                    </a:solidFill>
                  </a:tcPr>
                </a:tc>
                <a:tc hMerge="1">
                  <a:txBody>
                    <a:bodyPr/>
                    <a:lstStyle/>
                    <a:p>
                      <a:endParaRPr lang="en-US"/>
                    </a:p>
                  </a:txBody>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bg1"/>
                          </a:solidFill>
                          <a:effectLst/>
                          <a:latin typeface="Arial" charset="0"/>
                          <a:ea typeface="ＭＳ Ｐゴシック" pitchFamily="34" charset="-128"/>
                        </a:rPr>
                        <a:t>FACTORY CAPACITY/Supply</a:t>
                      </a:r>
                    </a:p>
                  </a:txBody>
                  <a:tcPr marT="45709" marB="45709" anchor="b"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rgbClr val="63BDE0"/>
                    </a:solidFill>
                  </a:tcPr>
                </a:tc>
                <a:extLst>
                  <a:ext uri="{0D108BD9-81ED-4DB2-BD59-A6C34878D82A}">
                    <a16:rowId xmlns:a16="http://schemas.microsoft.com/office/drawing/2014/main" xmlns="" val="10000"/>
                  </a:ext>
                </a:extLst>
              </a:tr>
              <a:tr h="312663">
                <a:tc rowSpan="2">
                  <a:txBody>
                    <a:bodyPr/>
                    <a:lstStyle/>
                    <a:p>
                      <a:pPr marL="0" marR="0" lvl="0" indent="0" algn="l"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bg1"/>
                          </a:solidFill>
                          <a:effectLst/>
                          <a:latin typeface="Arial" charset="0"/>
                          <a:ea typeface="ＭＳ Ｐゴシック" pitchFamily="34" charset="-128"/>
                        </a:rPr>
                        <a:t> </a:t>
                      </a:r>
                      <a:br>
                        <a:rPr kumimoji="0" lang="en-US" sz="1400" b="1" i="0" u="none" strike="noStrike" cap="none" normalizeH="0" baseline="0" dirty="0">
                          <a:ln>
                            <a:noFill/>
                          </a:ln>
                          <a:solidFill>
                            <a:schemeClr val="bg1"/>
                          </a:solidFill>
                          <a:effectLst/>
                          <a:latin typeface="Arial" charset="0"/>
                          <a:ea typeface="ＭＳ Ｐゴシック" pitchFamily="34" charset="-128"/>
                        </a:rPr>
                      </a:br>
                      <a:r>
                        <a:rPr kumimoji="0" lang="en-US" sz="1400" b="1" i="0" u="none" strike="noStrike" cap="none" normalizeH="0" baseline="0" dirty="0">
                          <a:ln>
                            <a:noFill/>
                          </a:ln>
                          <a:solidFill>
                            <a:schemeClr val="bg1"/>
                          </a:solidFill>
                          <a:effectLst/>
                          <a:latin typeface="Arial" charset="0"/>
                          <a:ea typeface="ＭＳ Ｐゴシック" pitchFamily="34" charset="-128"/>
                        </a:rPr>
                        <a:t>Karachi</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rgbClr val="63BDE0"/>
                    </a:solidFill>
                  </a:tcPr>
                </a:tc>
                <a:tc rowSpan="2">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tx1"/>
                          </a:solidFill>
                          <a:effectLst>
                            <a:outerShdw blurRad="38100" dist="38100" dir="2700000" algn="tl">
                              <a:srgbClr val="C0C0C0"/>
                            </a:outerShdw>
                          </a:effectLst>
                          <a:latin typeface="Arial" charset="0"/>
                          <a:ea typeface="ＭＳ Ｐゴシック" pitchFamily="34" charset="-128"/>
                        </a:rPr>
                        <a:t>13</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endParaRPr kumimoji="0" lang="en-US" sz="1400" b="1" i="0" u="none" strike="noStrike" cap="none" normalizeH="0" baseline="0" dirty="0">
                        <a:ln>
                          <a:noFill/>
                        </a:ln>
                        <a:solidFill>
                          <a:schemeClr val="tx1"/>
                        </a:solidFill>
                        <a:effectLst/>
                        <a:latin typeface="Arial" charset="0"/>
                        <a:ea typeface="ＭＳ Ｐゴシック" pitchFamily="34" charset="-128"/>
                      </a:endParaRP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tx1"/>
                          </a:solidFill>
                          <a:effectLst/>
                          <a:latin typeface="Arial" charset="0"/>
                          <a:ea typeface="ＭＳ Ｐゴシック" pitchFamily="34" charset="-128"/>
                        </a:rPr>
                        <a:t>11</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endParaRPr kumimoji="0" lang="en-US" sz="1400" b="1" i="0" u="none" strike="noStrike" cap="none" normalizeH="0" baseline="0" dirty="0">
                        <a:ln>
                          <a:noFill/>
                        </a:ln>
                        <a:solidFill>
                          <a:schemeClr val="tx1"/>
                        </a:solidFill>
                        <a:effectLst/>
                        <a:latin typeface="Arial" charset="0"/>
                        <a:ea typeface="ＭＳ Ｐゴシック" pitchFamily="34" charset="-128"/>
                      </a:endParaRP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tx1"/>
                          </a:solidFill>
                          <a:effectLst/>
                          <a:latin typeface="Arial" charset="0"/>
                          <a:ea typeface="ＭＳ Ｐゴシック" pitchFamily="34" charset="-128"/>
                        </a:rPr>
                        <a:t>40</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endParaRPr kumimoji="0" lang="en-US" sz="1400" b="1" i="0" u="none" strike="noStrike" cap="none" normalizeH="0" baseline="0" dirty="0">
                        <a:ln>
                          <a:noFill/>
                        </a:ln>
                        <a:solidFill>
                          <a:schemeClr val="tx1"/>
                        </a:solidFill>
                        <a:effectLst/>
                        <a:latin typeface="Arial" charset="0"/>
                        <a:ea typeface="ＭＳ Ｐゴシック" pitchFamily="34" charset="-128"/>
                      </a:endParaRP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tx1"/>
                          </a:solidFill>
                          <a:effectLst/>
                          <a:latin typeface="Arial" charset="0"/>
                          <a:ea typeface="ＭＳ Ｐゴシック" pitchFamily="34" charset="-128"/>
                        </a:rPr>
                        <a:t>2</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1"/>
                  </a:ext>
                </a:extLst>
              </a:tr>
              <a:tr h="312663">
                <a:tc vMerge="1">
                  <a:txBody>
                    <a:bodyPr/>
                    <a:lstStyle/>
                    <a:p>
                      <a:endParaRPr lang="en-US"/>
                    </a:p>
                  </a:txBody>
                  <a:tcPr/>
                </a:tc>
                <a:tc vMerge="1">
                  <a:txBody>
                    <a:bodyPr/>
                    <a:lstStyle/>
                    <a:p>
                      <a:endParaRPr lang="en-US"/>
                    </a:p>
                  </a:txBody>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endParaRPr kumimoji="0" lang="en-US" sz="1400" b="1" i="0" u="none" strike="noStrike" cap="none" normalizeH="0" baseline="0" dirty="0">
                        <a:ln>
                          <a:noFill/>
                        </a:ln>
                        <a:solidFill>
                          <a:schemeClr val="tx1"/>
                        </a:solidFill>
                        <a:effectLst/>
                        <a:latin typeface="Arial" charset="0"/>
                        <a:ea typeface="ＭＳ Ｐゴシック" pitchFamily="34" charset="-128"/>
                      </a:endParaRPr>
                    </a:p>
                  </a:txBody>
                  <a:tcPr marT="45709" marB="45709" anchor="ctr" horzOverflow="overflow">
                    <a:lnL>
                      <a:noFill/>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vMerge="1">
                  <a:txBody>
                    <a:bodyPr/>
                    <a:lstStyle/>
                    <a:p>
                      <a:endParaRPr lang="en-US"/>
                    </a:p>
                  </a:txBody>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endParaRPr kumimoji="0" lang="en-US" sz="1400" b="1" i="0" u="none" strike="noStrike" cap="none" normalizeH="0" baseline="0" dirty="0">
                        <a:ln>
                          <a:noFill/>
                        </a:ln>
                        <a:solidFill>
                          <a:schemeClr val="tx1"/>
                        </a:solidFill>
                        <a:effectLst/>
                        <a:latin typeface="Arial" charset="0"/>
                        <a:ea typeface="ＭＳ Ｐゴシック" pitchFamily="34" charset="-128"/>
                      </a:endParaRPr>
                    </a:p>
                  </a:txBody>
                  <a:tcPr marT="45709" marB="45709" anchor="ctr" horzOverflow="overflow">
                    <a:lnL>
                      <a:noFill/>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vMerge="1">
                  <a:txBody>
                    <a:bodyPr/>
                    <a:lstStyle/>
                    <a:p>
                      <a:endParaRPr lang="en-US"/>
                    </a:p>
                  </a:txBody>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endParaRPr kumimoji="0" lang="en-US" sz="1400" b="1" i="0" u="none" strike="noStrike" cap="none" normalizeH="0" baseline="0" dirty="0">
                        <a:ln>
                          <a:noFill/>
                        </a:ln>
                        <a:solidFill>
                          <a:schemeClr val="tx1"/>
                        </a:solidFill>
                        <a:effectLst/>
                        <a:latin typeface="Arial" charset="0"/>
                        <a:ea typeface="ＭＳ Ｐゴシック" pitchFamily="34" charset="-128"/>
                      </a:endParaRPr>
                    </a:p>
                  </a:txBody>
                  <a:tcPr marT="45709" marB="45709" anchor="ctr" horzOverflow="overflow">
                    <a:lnL>
                      <a:noFill/>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vMerge="1">
                  <a:txBody>
                    <a:bodyPr/>
                    <a:lstStyle/>
                    <a:p>
                      <a:endParaRPr lang="en-US"/>
                    </a:p>
                  </a:txBody>
                  <a:tcPr/>
                </a:tc>
                <a:extLst>
                  <a:ext uri="{0D108BD9-81ED-4DB2-BD59-A6C34878D82A}">
                    <a16:rowId xmlns:a16="http://schemas.microsoft.com/office/drawing/2014/main" xmlns="" val="10002"/>
                  </a:ext>
                </a:extLst>
              </a:tr>
              <a:tr h="312663">
                <a:tc rowSpan="2">
                  <a:txBody>
                    <a:bodyPr/>
                    <a:lstStyle/>
                    <a:p>
                      <a:pPr marL="0" marR="0" lvl="0" indent="0" algn="l"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bg1"/>
                          </a:solidFill>
                          <a:effectLst/>
                          <a:latin typeface="Arial" charset="0"/>
                          <a:ea typeface="ＭＳ Ｐゴシック" pitchFamily="34" charset="-128"/>
                        </a:rPr>
                        <a:t>Lahore</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rgbClr val="63BDE0"/>
                    </a:solidFill>
                  </a:tcPr>
                </a:tc>
                <a:tc rowSpan="2">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tx1"/>
                          </a:solidFill>
                          <a:effectLst/>
                          <a:latin typeface="Arial" charset="0"/>
                          <a:ea typeface="ＭＳ Ｐゴシック" pitchFamily="34" charset="-128"/>
                        </a:rPr>
                        <a:t>18</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endParaRPr kumimoji="0" lang="en-US" sz="1400" b="1" i="0" u="none" strike="noStrike" cap="none" normalizeH="0" baseline="0" dirty="0">
                        <a:ln>
                          <a:noFill/>
                        </a:ln>
                        <a:solidFill>
                          <a:schemeClr val="tx1"/>
                        </a:solidFill>
                        <a:effectLst/>
                        <a:latin typeface="Arial" charset="0"/>
                        <a:ea typeface="ＭＳ Ｐゴシック" pitchFamily="34" charset="-128"/>
                      </a:endParaRP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tx1"/>
                          </a:solidFill>
                          <a:effectLst/>
                          <a:latin typeface="Arial" charset="0"/>
                          <a:ea typeface="ＭＳ Ｐゴシック" pitchFamily="34" charset="-128"/>
                        </a:rPr>
                        <a:t>18</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endParaRPr kumimoji="0" lang="en-US" sz="1400" b="1" i="0" u="none" strike="noStrike" cap="none" normalizeH="0" baseline="0" dirty="0">
                        <a:ln>
                          <a:noFill/>
                        </a:ln>
                        <a:solidFill>
                          <a:schemeClr val="tx1"/>
                        </a:solidFill>
                        <a:effectLst/>
                        <a:latin typeface="Arial" charset="0"/>
                        <a:ea typeface="ＭＳ Ｐゴシック" pitchFamily="34" charset="-128"/>
                      </a:endParaRP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tx1"/>
                          </a:solidFill>
                          <a:effectLst/>
                          <a:latin typeface="Arial" charset="0"/>
                          <a:ea typeface="ＭＳ Ｐゴシック" pitchFamily="34" charset="-128"/>
                        </a:rPr>
                        <a:t>12</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endParaRPr kumimoji="0" lang="en-US" sz="1400" b="1" i="0" u="none" strike="noStrike" cap="none" normalizeH="0" baseline="0" dirty="0">
                        <a:ln>
                          <a:noFill/>
                        </a:ln>
                        <a:solidFill>
                          <a:schemeClr val="tx1"/>
                        </a:solidFill>
                        <a:effectLst/>
                        <a:latin typeface="Arial" charset="0"/>
                        <a:ea typeface="ＭＳ Ｐゴシック" pitchFamily="34" charset="-128"/>
                      </a:endParaRP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tx1"/>
                          </a:solidFill>
                          <a:effectLst/>
                          <a:latin typeface="Arial" charset="0"/>
                          <a:ea typeface="ＭＳ Ｐゴシック" pitchFamily="34" charset="-128"/>
                        </a:rPr>
                        <a:t>7</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5"/>
                  </a:ext>
                </a:extLst>
              </a:tr>
              <a:tr h="312663">
                <a:tc vMerge="1">
                  <a:txBody>
                    <a:bodyPr/>
                    <a:lstStyle/>
                    <a:p>
                      <a:endParaRPr lang="en-US"/>
                    </a:p>
                  </a:txBody>
                  <a:tcPr/>
                </a:tc>
                <a:tc vMerge="1">
                  <a:txBody>
                    <a:bodyPr/>
                    <a:lstStyle/>
                    <a:p>
                      <a:endParaRPr lang="en-US"/>
                    </a:p>
                  </a:txBody>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endParaRPr kumimoji="0" lang="en-US" sz="1400" b="1" i="0" u="none" strike="noStrike" cap="none" normalizeH="0" baseline="0" dirty="0">
                        <a:ln>
                          <a:noFill/>
                        </a:ln>
                        <a:solidFill>
                          <a:schemeClr val="tx1"/>
                        </a:solidFill>
                        <a:effectLst/>
                        <a:latin typeface="Arial" charset="0"/>
                        <a:ea typeface="ＭＳ Ｐゴシック" pitchFamily="34" charset="-128"/>
                      </a:endParaRPr>
                    </a:p>
                  </a:txBody>
                  <a:tcPr marT="45709" marB="45709" anchor="ctr" horzOverflow="overflow">
                    <a:lnL>
                      <a:noFill/>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vMerge="1">
                  <a:txBody>
                    <a:bodyPr/>
                    <a:lstStyle/>
                    <a:p>
                      <a:endParaRPr lang="en-US"/>
                    </a:p>
                  </a:txBody>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endParaRPr kumimoji="0" lang="en-US" sz="1400" b="1" i="0" u="none" strike="noStrike" cap="none" normalizeH="0" baseline="0" dirty="0">
                        <a:ln>
                          <a:noFill/>
                        </a:ln>
                        <a:solidFill>
                          <a:schemeClr val="tx1"/>
                        </a:solidFill>
                        <a:effectLst/>
                        <a:latin typeface="Arial" charset="0"/>
                        <a:ea typeface="ＭＳ Ｐゴシック" pitchFamily="34" charset="-128"/>
                      </a:endParaRPr>
                    </a:p>
                  </a:txBody>
                  <a:tcPr marT="45709" marB="45709" anchor="ctr" horzOverflow="overflow">
                    <a:lnL>
                      <a:noFill/>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vMerge="1">
                  <a:txBody>
                    <a:bodyPr/>
                    <a:lstStyle/>
                    <a:p>
                      <a:endParaRPr lang="en-US"/>
                    </a:p>
                  </a:txBody>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endParaRPr kumimoji="0" lang="en-US" sz="1400" b="1" i="0" u="none" strike="noStrike" cap="none" normalizeH="0" baseline="0" dirty="0">
                        <a:ln>
                          <a:noFill/>
                        </a:ln>
                        <a:solidFill>
                          <a:schemeClr val="tx1"/>
                        </a:solidFill>
                        <a:effectLst/>
                        <a:latin typeface="Arial" charset="0"/>
                        <a:ea typeface="ＭＳ Ｐゴシック" pitchFamily="34" charset="-128"/>
                      </a:endParaRPr>
                    </a:p>
                  </a:txBody>
                  <a:tcPr marT="45709" marB="45709" anchor="ctr" horzOverflow="overflow">
                    <a:lnL>
                      <a:noFill/>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vMerge="1">
                  <a:txBody>
                    <a:bodyPr/>
                    <a:lstStyle/>
                    <a:p>
                      <a:endParaRPr lang="en-US"/>
                    </a:p>
                  </a:txBody>
                  <a:tcPr/>
                </a:tc>
                <a:extLst>
                  <a:ext uri="{0D108BD9-81ED-4DB2-BD59-A6C34878D82A}">
                    <a16:rowId xmlns:a16="http://schemas.microsoft.com/office/drawing/2014/main" xmlns="" val="10006"/>
                  </a:ext>
                </a:extLst>
              </a:tr>
              <a:tr h="625324">
                <a:tc>
                  <a:txBody>
                    <a:bodyPr/>
                    <a:lstStyle/>
                    <a:p>
                      <a:pPr marL="0" marR="0" lvl="0" indent="0" algn="l"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bg1"/>
                          </a:solidFill>
                          <a:effectLst/>
                          <a:latin typeface="Arial" charset="0"/>
                          <a:ea typeface="ＭＳ Ｐゴシック" pitchFamily="34" charset="-128"/>
                        </a:rPr>
                        <a:t>Requirement/</a:t>
                      </a:r>
                    </a:p>
                    <a:p>
                      <a:pPr marL="0" marR="0" lvl="0" indent="0" algn="l"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bg1"/>
                          </a:solidFill>
                          <a:effectLst/>
                          <a:latin typeface="Arial" charset="0"/>
                          <a:ea typeface="ＭＳ Ｐゴシック" pitchFamily="34" charset="-128"/>
                        </a:rPr>
                        <a:t>Demand</a:t>
                      </a:r>
                    </a:p>
                    <a:p>
                      <a:pPr marL="0" marR="0" lvl="0" indent="0" algn="l"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endParaRPr kumimoji="0" lang="en-US" sz="1400" b="1" i="0" u="none" strike="noStrike" cap="none" normalizeH="0" baseline="0" dirty="0">
                        <a:ln>
                          <a:noFill/>
                        </a:ln>
                        <a:solidFill>
                          <a:schemeClr val="bg1"/>
                        </a:solidFill>
                        <a:effectLst/>
                        <a:latin typeface="Arial" charset="0"/>
                        <a:ea typeface="ＭＳ Ｐゴシック" pitchFamily="34" charset="-128"/>
                      </a:endParaRP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rgbClr val="63BDE0"/>
                    </a:solidFill>
                  </a:tcPr>
                </a:tc>
                <a:tc gridSpan="2">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tx1"/>
                          </a:solidFill>
                          <a:effectLst/>
                          <a:latin typeface="Arial" charset="0"/>
                          <a:ea typeface="ＭＳ Ｐゴシック" pitchFamily="34" charset="-128"/>
                        </a:rPr>
                        <a:t>1</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tc gridSpan="2">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tx1"/>
                          </a:solidFill>
                          <a:effectLst/>
                          <a:latin typeface="Arial" charset="0"/>
                          <a:ea typeface="ＭＳ Ｐゴシック" pitchFamily="34" charset="-128"/>
                        </a:rPr>
                        <a:t>3</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tc gridSpan="2">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tx1"/>
                          </a:solidFill>
                          <a:effectLst/>
                          <a:latin typeface="Arial" charset="0"/>
                          <a:ea typeface="ＭＳ Ｐゴシック" pitchFamily="34" charset="-128"/>
                        </a:rPr>
                        <a:t>5</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endParaRPr kumimoji="0" lang="en-US" sz="1400" b="1" i="0" u="none" strike="noStrike" cap="none" normalizeH="0" baseline="0" dirty="0">
                        <a:ln>
                          <a:noFill/>
                        </a:ln>
                        <a:solidFill>
                          <a:schemeClr val="tx1"/>
                        </a:solidFill>
                        <a:effectLst/>
                        <a:latin typeface="Arial" charset="0"/>
                        <a:ea typeface="ＭＳ Ｐゴシック" pitchFamily="34" charset="-128"/>
                      </a:endParaRP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7"/>
                  </a:ext>
                </a:extLst>
              </a:tr>
            </a:tbl>
          </a:graphicData>
        </a:graphic>
      </p:graphicFrame>
    </p:spTree>
    <p:extLst>
      <p:ext uri="{BB962C8B-B14F-4D97-AF65-F5344CB8AC3E}">
        <p14:creationId xmlns:p14="http://schemas.microsoft.com/office/powerpoint/2010/main" val="14775975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6" fill="hold" nodeType="afterEffect">
                                  <p:stCondLst>
                                    <p:cond delay="1000"/>
                                  </p:stCondLst>
                                  <p:childTnLst>
                                    <p:set>
                                      <p:cBhvr>
                                        <p:cTn id="6" dur="1" fill="hold">
                                          <p:stCondLst>
                                            <p:cond delay="0"/>
                                          </p:stCondLst>
                                        </p:cTn>
                                        <p:tgtEl>
                                          <p:spTgt spid="5"/>
                                        </p:tgtEl>
                                        <p:attrNameLst>
                                          <p:attrName>style.visibility</p:attrName>
                                        </p:attrNameLst>
                                      </p:cBhvr>
                                      <p:to>
                                        <p:strVal val="visible"/>
                                      </p:to>
                                    </p:set>
                                    <p:animEffect transition="in" filter="strips(downRight)">
                                      <p:cBhvr>
                                        <p:cTn id="7"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solidFill>
                  <a:srgbClr val="C00000"/>
                </a:solidFill>
                <a:latin typeface="Arial" panose="020B0604020202020204" pitchFamily="34" charset="0"/>
                <a:cs typeface="Arial" panose="020B0604020202020204" pitchFamily="34" charset="0"/>
              </a:rPr>
              <a:t>Initial basic feasible solution</a:t>
            </a:r>
          </a:p>
        </p:txBody>
      </p:sp>
      <p:sp>
        <p:nvSpPr>
          <p:cNvPr id="6" name="Content Placeholder 5">
            <a:extLst>
              <a:ext uri="{FF2B5EF4-FFF2-40B4-BE49-F238E27FC236}">
                <a16:creationId xmlns:a16="http://schemas.microsoft.com/office/drawing/2014/main" xmlns="" id="{12C3F38F-06D5-4ADF-BB89-374D8DB47BD2}"/>
              </a:ext>
            </a:extLst>
          </p:cNvPr>
          <p:cNvSpPr>
            <a:spLocks noGrp="1"/>
          </p:cNvSpPr>
          <p:nvPr>
            <p:ph idx="1"/>
          </p:nvPr>
        </p:nvSpPr>
        <p:spPr>
          <a:xfrm>
            <a:off x="856060" y="2249486"/>
            <a:ext cx="7429499" cy="4608513"/>
          </a:xfrm>
        </p:spPr>
        <p:txBody>
          <a:bodyPr>
            <a:normAutofit/>
          </a:bodyPr>
          <a:lstStyle/>
          <a:p>
            <a:pPr marL="0" indent="0">
              <a:buNone/>
            </a:pPr>
            <a:r>
              <a:rPr lang="en-US" dirty="0">
                <a:effectLst/>
                <a:latin typeface="Arial" panose="020B0604020202020204" pitchFamily="34" charset="0"/>
                <a:cs typeface="Arial" panose="020B0604020202020204" pitchFamily="34" charset="0"/>
              </a:rPr>
              <a:t>m+n-1,</a:t>
            </a:r>
          </a:p>
          <a:p>
            <a:pPr marL="0" indent="0">
              <a:buNone/>
            </a:pPr>
            <a:r>
              <a:rPr lang="en-US" dirty="0">
                <a:effectLst/>
                <a:latin typeface="Arial" panose="020B0604020202020204" pitchFamily="34" charset="0"/>
                <a:cs typeface="Arial" panose="020B0604020202020204" pitchFamily="34" charset="0"/>
              </a:rPr>
              <a:t>Where m = no of rows,</a:t>
            </a:r>
          </a:p>
          <a:p>
            <a:pPr marL="0" indent="0">
              <a:buNone/>
            </a:pPr>
            <a:r>
              <a:rPr lang="en-US" dirty="0">
                <a:effectLst/>
                <a:latin typeface="Arial" panose="020B0604020202020204" pitchFamily="34" charset="0"/>
                <a:cs typeface="Arial" panose="020B0604020202020204" pitchFamily="34" charset="0"/>
              </a:rPr>
              <a:t>n=no of columns,</a:t>
            </a:r>
          </a:p>
          <a:p>
            <a:pPr marL="0" indent="0">
              <a:buNone/>
            </a:pPr>
            <a:r>
              <a:rPr lang="en-US" dirty="0">
                <a:effectLst/>
                <a:latin typeface="Arial" panose="020B0604020202020204" pitchFamily="34" charset="0"/>
                <a:cs typeface="Arial" panose="020B0604020202020204" pitchFamily="34" charset="0"/>
              </a:rPr>
              <a:t>m=2,</a:t>
            </a:r>
          </a:p>
          <a:p>
            <a:pPr marL="0" indent="0">
              <a:buNone/>
            </a:pPr>
            <a:r>
              <a:rPr lang="en-US" dirty="0">
                <a:effectLst/>
                <a:latin typeface="Arial" panose="020B0604020202020204" pitchFamily="34" charset="0"/>
                <a:cs typeface="Arial" panose="020B0604020202020204" pitchFamily="34" charset="0"/>
              </a:rPr>
              <a:t>n=3,</a:t>
            </a:r>
          </a:p>
          <a:p>
            <a:pPr marL="0" indent="0">
              <a:buNone/>
            </a:pPr>
            <a:r>
              <a:rPr lang="en-US" dirty="0">
                <a:effectLst/>
                <a:latin typeface="Arial" panose="020B0604020202020204" pitchFamily="34" charset="0"/>
                <a:cs typeface="Arial" panose="020B0604020202020204" pitchFamily="34" charset="0"/>
              </a:rPr>
              <a:t>m+n-1=2+3-1=4</a:t>
            </a:r>
          </a:p>
          <a:p>
            <a:endParaRPr lang="en-US" dirty="0">
              <a:latin typeface="Arial" panose="020B0604020202020204" pitchFamily="34" charset="0"/>
              <a:cs typeface="Arial" panose="020B0604020202020204" pitchFamily="34" charset="0"/>
            </a:endParaRPr>
          </a:p>
          <a:p>
            <a:pPr marL="0" indent="0">
              <a:buNone/>
            </a:pPr>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43784153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solidFill>
                  <a:srgbClr val="C00000"/>
                </a:solidFill>
                <a:latin typeface="Arial" panose="020B0604020202020204" pitchFamily="34" charset="0"/>
                <a:cs typeface="Arial" panose="020B0604020202020204" pitchFamily="34" charset="0"/>
              </a:rPr>
              <a:t>Least Cost Method</a:t>
            </a:r>
          </a:p>
        </p:txBody>
      </p:sp>
      <p:sp>
        <p:nvSpPr>
          <p:cNvPr id="6" name="Content Placeholder 5">
            <a:extLst>
              <a:ext uri="{FF2B5EF4-FFF2-40B4-BE49-F238E27FC236}">
                <a16:creationId xmlns:a16="http://schemas.microsoft.com/office/drawing/2014/main" xmlns="" id="{12C3F38F-06D5-4ADF-BB89-374D8DB47BD2}"/>
              </a:ext>
            </a:extLst>
          </p:cNvPr>
          <p:cNvSpPr>
            <a:spLocks noGrp="1"/>
          </p:cNvSpPr>
          <p:nvPr>
            <p:ph idx="1"/>
          </p:nvPr>
        </p:nvSpPr>
        <p:spPr>
          <a:xfrm>
            <a:off x="856060" y="2249486"/>
            <a:ext cx="7429499" cy="4608513"/>
          </a:xfrm>
        </p:spPr>
        <p:txBody>
          <a:bodyPr>
            <a:normAutofit/>
          </a:bodyPr>
          <a:lstStyle/>
          <a:p>
            <a:pPr marL="0" indent="0">
              <a:buNone/>
            </a:pPr>
            <a:endParaRPr lang="en-US" dirty="0">
              <a:latin typeface="Arial" panose="020B0604020202020204" pitchFamily="34" charset="0"/>
              <a:cs typeface="Arial" panose="020B0604020202020204" pitchFamily="34" charset="0"/>
            </a:endParaRPr>
          </a:p>
          <a:p>
            <a:pPr marL="0" indent="0">
              <a:buNone/>
            </a:pPr>
            <a:endParaRPr lang="en-US" dirty="0">
              <a:latin typeface="Arial" panose="020B0604020202020204" pitchFamily="34" charset="0"/>
              <a:cs typeface="Arial" panose="020B0604020202020204" pitchFamily="34" charset="0"/>
            </a:endParaRPr>
          </a:p>
          <a:p>
            <a:pPr marL="0" indent="0">
              <a:buNone/>
            </a:pPr>
            <a:endParaRPr lang="en-US" dirty="0">
              <a:latin typeface="Arial" panose="020B0604020202020204" pitchFamily="34" charset="0"/>
              <a:cs typeface="Arial" panose="020B0604020202020204" pitchFamily="34" charset="0"/>
            </a:endParaRPr>
          </a:p>
        </p:txBody>
      </p:sp>
      <p:graphicFrame>
        <p:nvGraphicFramePr>
          <p:cNvPr id="5" name="Group 123">
            <a:extLst>
              <a:ext uri="{FF2B5EF4-FFF2-40B4-BE49-F238E27FC236}">
                <a16:creationId xmlns:a16="http://schemas.microsoft.com/office/drawing/2014/main" xmlns="" id="{A5DA3B2A-2E25-4DFF-9E0E-EBF2CA28C54C}"/>
              </a:ext>
            </a:extLst>
          </p:cNvPr>
          <p:cNvGraphicFramePr>
            <a:graphicFrameLocks noGrp="1"/>
          </p:cNvGraphicFramePr>
          <p:nvPr>
            <p:extLst>
              <p:ext uri="{D42A27DB-BD31-4B8C-83A1-F6EECF244321}">
                <p14:modId xmlns:p14="http://schemas.microsoft.com/office/powerpoint/2010/main" val="837441061"/>
              </p:ext>
            </p:extLst>
          </p:nvPr>
        </p:nvGraphicFramePr>
        <p:xfrm>
          <a:off x="856060" y="2249486"/>
          <a:ext cx="6163297" cy="2670976"/>
        </p:xfrm>
        <a:graphic>
          <a:graphicData uri="http://schemas.openxmlformats.org/drawingml/2006/table">
            <a:tbl>
              <a:tblPr/>
              <a:tblGrid>
                <a:gridCol w="1737009">
                  <a:extLst>
                    <a:ext uri="{9D8B030D-6E8A-4147-A177-3AD203B41FA5}">
                      <a16:colId xmlns:a16="http://schemas.microsoft.com/office/drawing/2014/main" xmlns="" val="20000"/>
                    </a:ext>
                  </a:extLst>
                </a:gridCol>
                <a:gridCol w="1019792">
                  <a:extLst>
                    <a:ext uri="{9D8B030D-6E8A-4147-A177-3AD203B41FA5}">
                      <a16:colId xmlns:a16="http://schemas.microsoft.com/office/drawing/2014/main" xmlns="" val="20001"/>
                    </a:ext>
                  </a:extLst>
                </a:gridCol>
                <a:gridCol w="396431">
                  <a:extLst>
                    <a:ext uri="{9D8B030D-6E8A-4147-A177-3AD203B41FA5}">
                      <a16:colId xmlns:a16="http://schemas.microsoft.com/office/drawing/2014/main" xmlns="" val="20002"/>
                    </a:ext>
                  </a:extLst>
                </a:gridCol>
                <a:gridCol w="556121">
                  <a:extLst>
                    <a:ext uri="{9D8B030D-6E8A-4147-A177-3AD203B41FA5}">
                      <a16:colId xmlns:a16="http://schemas.microsoft.com/office/drawing/2014/main" xmlns="" val="20003"/>
                    </a:ext>
                  </a:extLst>
                </a:gridCol>
                <a:gridCol w="358608">
                  <a:extLst>
                    <a:ext uri="{9D8B030D-6E8A-4147-A177-3AD203B41FA5}">
                      <a16:colId xmlns:a16="http://schemas.microsoft.com/office/drawing/2014/main" xmlns="" val="20004"/>
                    </a:ext>
                  </a:extLst>
                </a:gridCol>
                <a:gridCol w="428943">
                  <a:extLst>
                    <a:ext uri="{9D8B030D-6E8A-4147-A177-3AD203B41FA5}">
                      <a16:colId xmlns:a16="http://schemas.microsoft.com/office/drawing/2014/main" xmlns="" val="20005"/>
                    </a:ext>
                  </a:extLst>
                </a:gridCol>
                <a:gridCol w="500915">
                  <a:extLst>
                    <a:ext uri="{9D8B030D-6E8A-4147-A177-3AD203B41FA5}">
                      <a16:colId xmlns:a16="http://schemas.microsoft.com/office/drawing/2014/main" xmlns="" val="20006"/>
                    </a:ext>
                  </a:extLst>
                </a:gridCol>
                <a:gridCol w="1165478">
                  <a:extLst>
                    <a:ext uri="{9D8B030D-6E8A-4147-A177-3AD203B41FA5}">
                      <a16:colId xmlns:a16="http://schemas.microsoft.com/office/drawing/2014/main" xmlns="" val="20007"/>
                    </a:ext>
                  </a:extLst>
                </a:gridCol>
              </a:tblGrid>
              <a:tr h="555364">
                <a:tc>
                  <a:txBody>
                    <a:bodyPr/>
                    <a:lstStyle/>
                    <a:p>
                      <a:pPr marL="0" marR="0" lvl="0" indent="0" algn="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bg1"/>
                          </a:solidFill>
                          <a:effectLst/>
                          <a:latin typeface="Arial" charset="0"/>
                          <a:ea typeface="ＭＳ Ｐゴシック" pitchFamily="34" charset="-128"/>
                        </a:rPr>
                        <a:t>TO</a:t>
                      </a:r>
                    </a:p>
                    <a:p>
                      <a:pPr marL="0" marR="0" lvl="0" indent="0" algn="l"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bg1"/>
                          </a:solidFill>
                          <a:effectLst/>
                          <a:latin typeface="Arial" charset="0"/>
                          <a:ea typeface="ＭＳ Ｐゴシック" pitchFamily="34" charset="-128"/>
                        </a:rPr>
                        <a:t>FROM</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9050" cap="flat" cmpd="sng" algn="ctr">
                      <a:solidFill>
                        <a:schemeClr val="tx1"/>
                      </a:solidFill>
                      <a:prstDash val="solid"/>
                      <a:round/>
                      <a:headEnd type="none" w="med" len="med"/>
                      <a:tailEnd type="none" w="med" len="med"/>
                    </a:lnTlToBr>
                    <a:lnBlToTr>
                      <a:noFill/>
                    </a:lnBlToTr>
                    <a:solidFill>
                      <a:srgbClr val="63BDE0"/>
                    </a:solidFill>
                  </a:tcPr>
                </a:tc>
                <a:tc gridSpan="2">
                  <a:txBody>
                    <a:bodyPr/>
                    <a:lstStyle/>
                    <a:p>
                      <a:pPr marL="0" marR="0" lvl="0" indent="0" algn="l"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bg1"/>
                          </a:solidFill>
                          <a:effectLst/>
                          <a:latin typeface="Arial" charset="0"/>
                          <a:ea typeface="ＭＳ Ｐゴシック" pitchFamily="34" charset="-128"/>
                        </a:rPr>
                        <a:t>Peshawar </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rgbClr val="63BDE0"/>
                    </a:solidFill>
                  </a:tcPr>
                </a:tc>
                <a:tc hMerge="1">
                  <a:txBody>
                    <a:bodyPr/>
                    <a:lstStyle/>
                    <a:p>
                      <a:endParaRPr lang="en-US"/>
                    </a:p>
                  </a:txBody>
                  <a:tcPr/>
                </a:tc>
                <a:tc gridSpan="2">
                  <a:txBody>
                    <a:bodyPr/>
                    <a:lstStyle/>
                    <a:p>
                      <a:pPr marL="0" marR="0" lvl="0" indent="0" algn="l"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bg1"/>
                          </a:solidFill>
                          <a:effectLst/>
                          <a:latin typeface="Arial" charset="0"/>
                          <a:ea typeface="ＭＳ Ｐゴシック" pitchFamily="34" charset="-128"/>
                        </a:rPr>
                        <a:t>Sialkot</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rgbClr val="63BDE0"/>
                    </a:solidFill>
                  </a:tcPr>
                </a:tc>
                <a:tc hMerge="1">
                  <a:txBody>
                    <a:bodyPr/>
                    <a:lstStyle/>
                    <a:p>
                      <a:endParaRPr lang="en-US"/>
                    </a:p>
                  </a:txBody>
                  <a:tcPr/>
                </a:tc>
                <a:tc gridSpan="2">
                  <a:txBody>
                    <a:bodyPr/>
                    <a:lstStyle/>
                    <a:p>
                      <a:pPr marL="0" marR="0" lvl="0" indent="0" algn="l"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bg1"/>
                          </a:solidFill>
                          <a:effectLst/>
                          <a:latin typeface="Arial" charset="0"/>
                          <a:ea typeface="ＭＳ Ｐゴシック" pitchFamily="34" charset="-128"/>
                        </a:rPr>
                        <a:t> Multan</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rgbClr val="63BDE0"/>
                    </a:solidFill>
                  </a:tcPr>
                </a:tc>
                <a:tc hMerge="1">
                  <a:txBody>
                    <a:bodyPr/>
                    <a:lstStyle/>
                    <a:p>
                      <a:endParaRPr lang="en-US"/>
                    </a:p>
                  </a:txBody>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bg1"/>
                          </a:solidFill>
                          <a:effectLst/>
                          <a:latin typeface="Arial" charset="0"/>
                          <a:ea typeface="ＭＳ Ｐゴシック" pitchFamily="34" charset="-128"/>
                        </a:rPr>
                        <a:t>FACTORY CAPACITY/Supply</a:t>
                      </a:r>
                    </a:p>
                  </a:txBody>
                  <a:tcPr marT="45709" marB="45709" anchor="b"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rgbClr val="63BDE0"/>
                    </a:solidFill>
                  </a:tcPr>
                </a:tc>
                <a:extLst>
                  <a:ext uri="{0D108BD9-81ED-4DB2-BD59-A6C34878D82A}">
                    <a16:rowId xmlns:a16="http://schemas.microsoft.com/office/drawing/2014/main" xmlns="" val="10000"/>
                  </a:ext>
                </a:extLst>
              </a:tr>
              <a:tr h="312663">
                <a:tc rowSpan="2">
                  <a:txBody>
                    <a:bodyPr/>
                    <a:lstStyle/>
                    <a:p>
                      <a:pPr marL="0" marR="0" lvl="0" indent="0" algn="l"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bg1"/>
                          </a:solidFill>
                          <a:effectLst/>
                          <a:latin typeface="Arial" charset="0"/>
                          <a:ea typeface="ＭＳ Ｐゴシック" pitchFamily="34" charset="-128"/>
                        </a:rPr>
                        <a:t> </a:t>
                      </a:r>
                      <a:br>
                        <a:rPr kumimoji="0" lang="en-US" sz="1400" b="1" i="0" u="none" strike="noStrike" cap="none" normalizeH="0" baseline="0" dirty="0">
                          <a:ln>
                            <a:noFill/>
                          </a:ln>
                          <a:solidFill>
                            <a:schemeClr val="bg1"/>
                          </a:solidFill>
                          <a:effectLst/>
                          <a:latin typeface="Arial" charset="0"/>
                          <a:ea typeface="ＭＳ Ｐゴシック" pitchFamily="34" charset="-128"/>
                        </a:rPr>
                      </a:br>
                      <a:r>
                        <a:rPr kumimoji="0" lang="en-US" sz="1400" b="1" i="0" u="none" strike="noStrike" cap="none" normalizeH="0" baseline="0" dirty="0">
                          <a:ln>
                            <a:noFill/>
                          </a:ln>
                          <a:solidFill>
                            <a:schemeClr val="bg1"/>
                          </a:solidFill>
                          <a:effectLst/>
                          <a:latin typeface="Arial" charset="0"/>
                          <a:ea typeface="ＭＳ Ｐゴシック" pitchFamily="34" charset="-128"/>
                        </a:rPr>
                        <a:t>Karachi</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rgbClr val="63BDE0"/>
                    </a:solidFill>
                  </a:tcPr>
                </a:tc>
                <a:tc rowSpan="2">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tx1"/>
                          </a:solidFill>
                          <a:effectLst>
                            <a:outerShdw blurRad="38100" dist="38100" dir="2700000" algn="tl">
                              <a:srgbClr val="C0C0C0"/>
                            </a:outerShdw>
                          </a:effectLst>
                          <a:latin typeface="Arial" charset="0"/>
                          <a:ea typeface="ＭＳ Ｐゴシック" pitchFamily="34" charset="-128"/>
                        </a:rPr>
                        <a:t>13</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endParaRPr kumimoji="0" lang="en-US" sz="1400" b="1" i="0" u="none" strike="noStrike" cap="none" normalizeH="0" baseline="0" dirty="0">
                        <a:ln>
                          <a:noFill/>
                        </a:ln>
                        <a:solidFill>
                          <a:schemeClr val="tx1"/>
                        </a:solidFill>
                        <a:effectLst/>
                        <a:latin typeface="Arial" charset="0"/>
                        <a:ea typeface="ＭＳ Ｐゴシック" pitchFamily="34" charset="-128"/>
                      </a:endParaRP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accent2"/>
                          </a:solidFill>
                          <a:effectLst/>
                          <a:latin typeface="Arial" charset="0"/>
                          <a:ea typeface="ＭＳ Ｐゴシック" pitchFamily="34" charset="-128"/>
                        </a:rPr>
                        <a:t>11</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endParaRPr kumimoji="0" lang="en-US" sz="1400" b="1" i="0" u="none" strike="noStrike" cap="none" normalizeH="0" baseline="0" dirty="0">
                        <a:ln>
                          <a:noFill/>
                        </a:ln>
                        <a:solidFill>
                          <a:schemeClr val="tx1"/>
                        </a:solidFill>
                        <a:effectLst/>
                        <a:latin typeface="Arial" charset="0"/>
                        <a:ea typeface="ＭＳ Ｐゴシック" pitchFamily="34" charset="-128"/>
                      </a:endParaRP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tx1"/>
                          </a:solidFill>
                          <a:effectLst/>
                          <a:latin typeface="Arial" charset="0"/>
                          <a:ea typeface="ＭＳ Ｐゴシック" pitchFamily="34" charset="-128"/>
                        </a:rPr>
                        <a:t>40</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endParaRPr kumimoji="0" lang="en-US" sz="1400" b="1" i="0" u="none" strike="noStrike" cap="none" normalizeH="0" baseline="0" dirty="0">
                        <a:ln>
                          <a:noFill/>
                        </a:ln>
                        <a:solidFill>
                          <a:schemeClr val="tx1"/>
                        </a:solidFill>
                        <a:effectLst/>
                        <a:latin typeface="Arial" charset="0"/>
                        <a:ea typeface="ＭＳ Ｐゴシック" pitchFamily="34" charset="-128"/>
                      </a:endParaRP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tx1"/>
                          </a:solidFill>
                          <a:effectLst/>
                          <a:latin typeface="Arial" charset="0"/>
                          <a:ea typeface="ＭＳ Ｐゴシック" pitchFamily="34" charset="-128"/>
                        </a:rPr>
                        <a:t>2</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1"/>
                  </a:ext>
                </a:extLst>
              </a:tr>
              <a:tr h="312663">
                <a:tc vMerge="1">
                  <a:txBody>
                    <a:bodyPr/>
                    <a:lstStyle/>
                    <a:p>
                      <a:endParaRPr lang="en-US"/>
                    </a:p>
                  </a:txBody>
                  <a:tcPr/>
                </a:tc>
                <a:tc vMerge="1">
                  <a:txBody>
                    <a:bodyPr/>
                    <a:lstStyle/>
                    <a:p>
                      <a:endParaRPr lang="en-US"/>
                    </a:p>
                  </a:txBody>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endParaRPr kumimoji="0" lang="en-US" sz="1400" b="1" i="0" u="none" strike="noStrike" cap="none" normalizeH="0" baseline="0" dirty="0">
                        <a:ln>
                          <a:noFill/>
                        </a:ln>
                        <a:solidFill>
                          <a:schemeClr val="tx1"/>
                        </a:solidFill>
                        <a:effectLst/>
                        <a:latin typeface="Arial" charset="0"/>
                        <a:ea typeface="ＭＳ Ｐゴシック" pitchFamily="34" charset="-128"/>
                      </a:endParaRPr>
                    </a:p>
                  </a:txBody>
                  <a:tcPr marT="45709" marB="45709" anchor="ctr" horzOverflow="overflow">
                    <a:lnL>
                      <a:noFill/>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vMerge="1">
                  <a:txBody>
                    <a:bodyPr/>
                    <a:lstStyle/>
                    <a:p>
                      <a:endParaRPr lang="en-US"/>
                    </a:p>
                  </a:txBody>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endParaRPr kumimoji="0" lang="en-US" sz="1400" b="1" i="0" u="none" strike="noStrike" cap="none" normalizeH="0" baseline="0" dirty="0">
                        <a:ln>
                          <a:noFill/>
                        </a:ln>
                        <a:solidFill>
                          <a:schemeClr val="tx1"/>
                        </a:solidFill>
                        <a:effectLst/>
                        <a:latin typeface="Arial" charset="0"/>
                        <a:ea typeface="ＭＳ Ｐゴシック" pitchFamily="34" charset="-128"/>
                      </a:endParaRPr>
                    </a:p>
                  </a:txBody>
                  <a:tcPr marT="45709" marB="45709" anchor="ctr" horzOverflow="overflow">
                    <a:lnL>
                      <a:noFill/>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vMerge="1">
                  <a:txBody>
                    <a:bodyPr/>
                    <a:lstStyle/>
                    <a:p>
                      <a:endParaRPr lang="en-US"/>
                    </a:p>
                  </a:txBody>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endParaRPr kumimoji="0" lang="en-US" sz="1400" b="1" i="0" u="none" strike="noStrike" cap="none" normalizeH="0" baseline="0" dirty="0">
                        <a:ln>
                          <a:noFill/>
                        </a:ln>
                        <a:solidFill>
                          <a:schemeClr val="tx1"/>
                        </a:solidFill>
                        <a:effectLst/>
                        <a:latin typeface="Arial" charset="0"/>
                        <a:ea typeface="ＭＳ Ｐゴシック" pitchFamily="34" charset="-128"/>
                      </a:endParaRPr>
                    </a:p>
                  </a:txBody>
                  <a:tcPr marT="45709" marB="45709" anchor="ctr" horzOverflow="overflow">
                    <a:lnL>
                      <a:noFill/>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vMerge="1">
                  <a:txBody>
                    <a:bodyPr/>
                    <a:lstStyle/>
                    <a:p>
                      <a:endParaRPr lang="en-US"/>
                    </a:p>
                  </a:txBody>
                  <a:tcPr/>
                </a:tc>
                <a:extLst>
                  <a:ext uri="{0D108BD9-81ED-4DB2-BD59-A6C34878D82A}">
                    <a16:rowId xmlns:a16="http://schemas.microsoft.com/office/drawing/2014/main" xmlns="" val="10002"/>
                  </a:ext>
                </a:extLst>
              </a:tr>
              <a:tr h="312663">
                <a:tc rowSpan="2">
                  <a:txBody>
                    <a:bodyPr/>
                    <a:lstStyle/>
                    <a:p>
                      <a:pPr marL="0" marR="0" lvl="0" indent="0" algn="l"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bg1"/>
                          </a:solidFill>
                          <a:effectLst/>
                          <a:latin typeface="Arial" charset="0"/>
                          <a:ea typeface="ＭＳ Ｐゴシック" pitchFamily="34" charset="-128"/>
                        </a:rPr>
                        <a:t>Lahore</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rgbClr val="63BDE0"/>
                    </a:solidFill>
                  </a:tcPr>
                </a:tc>
                <a:tc rowSpan="2">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tx1"/>
                          </a:solidFill>
                          <a:effectLst/>
                          <a:latin typeface="Arial" charset="0"/>
                          <a:ea typeface="ＭＳ Ｐゴシック" pitchFamily="34" charset="-128"/>
                        </a:rPr>
                        <a:t>18</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endParaRPr kumimoji="0" lang="en-US" sz="1400" b="1" i="0" u="none" strike="noStrike" cap="none" normalizeH="0" baseline="0" dirty="0">
                        <a:ln>
                          <a:noFill/>
                        </a:ln>
                        <a:solidFill>
                          <a:schemeClr val="tx1"/>
                        </a:solidFill>
                        <a:effectLst/>
                        <a:latin typeface="Arial" charset="0"/>
                        <a:ea typeface="ＭＳ Ｐゴシック" pitchFamily="34" charset="-128"/>
                      </a:endParaRP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tx1"/>
                          </a:solidFill>
                          <a:effectLst/>
                          <a:latin typeface="Arial" charset="0"/>
                          <a:ea typeface="ＭＳ Ｐゴシック" pitchFamily="34" charset="-128"/>
                        </a:rPr>
                        <a:t>18</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endParaRPr kumimoji="0" lang="en-US" sz="1400" b="1" i="0" u="none" strike="noStrike" cap="none" normalizeH="0" baseline="0" dirty="0">
                        <a:ln>
                          <a:noFill/>
                        </a:ln>
                        <a:solidFill>
                          <a:schemeClr val="tx1"/>
                        </a:solidFill>
                        <a:effectLst/>
                        <a:latin typeface="Arial" charset="0"/>
                        <a:ea typeface="ＭＳ Ｐゴシック" pitchFamily="34" charset="-128"/>
                      </a:endParaRP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tx1"/>
                          </a:solidFill>
                          <a:effectLst/>
                          <a:latin typeface="Arial" charset="0"/>
                          <a:ea typeface="ＭＳ Ｐゴシック" pitchFamily="34" charset="-128"/>
                        </a:rPr>
                        <a:t>12</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endParaRPr kumimoji="0" lang="en-US" sz="1400" b="1" i="0" u="none" strike="noStrike" cap="none" normalizeH="0" baseline="0" dirty="0">
                        <a:ln>
                          <a:noFill/>
                        </a:ln>
                        <a:solidFill>
                          <a:schemeClr val="tx1"/>
                        </a:solidFill>
                        <a:effectLst/>
                        <a:latin typeface="Arial" charset="0"/>
                        <a:ea typeface="ＭＳ Ｐゴシック" pitchFamily="34" charset="-128"/>
                      </a:endParaRP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tx1"/>
                          </a:solidFill>
                          <a:effectLst/>
                          <a:latin typeface="Arial" charset="0"/>
                          <a:ea typeface="ＭＳ Ｐゴシック" pitchFamily="34" charset="-128"/>
                        </a:rPr>
                        <a:t>7</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5"/>
                  </a:ext>
                </a:extLst>
              </a:tr>
              <a:tr h="312663">
                <a:tc vMerge="1">
                  <a:txBody>
                    <a:bodyPr/>
                    <a:lstStyle/>
                    <a:p>
                      <a:endParaRPr lang="en-US"/>
                    </a:p>
                  </a:txBody>
                  <a:tcPr/>
                </a:tc>
                <a:tc vMerge="1">
                  <a:txBody>
                    <a:bodyPr/>
                    <a:lstStyle/>
                    <a:p>
                      <a:endParaRPr lang="en-US"/>
                    </a:p>
                  </a:txBody>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endParaRPr kumimoji="0" lang="en-US" sz="1400" b="1" i="0" u="none" strike="noStrike" cap="none" normalizeH="0" baseline="0" dirty="0">
                        <a:ln>
                          <a:noFill/>
                        </a:ln>
                        <a:solidFill>
                          <a:schemeClr val="tx1"/>
                        </a:solidFill>
                        <a:effectLst/>
                        <a:latin typeface="Arial" charset="0"/>
                        <a:ea typeface="ＭＳ Ｐゴシック" pitchFamily="34" charset="-128"/>
                      </a:endParaRPr>
                    </a:p>
                  </a:txBody>
                  <a:tcPr marT="45709" marB="45709" anchor="ctr" horzOverflow="overflow">
                    <a:lnL>
                      <a:noFill/>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vMerge="1">
                  <a:txBody>
                    <a:bodyPr/>
                    <a:lstStyle/>
                    <a:p>
                      <a:endParaRPr lang="en-US"/>
                    </a:p>
                  </a:txBody>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endParaRPr kumimoji="0" lang="en-US" sz="1400" b="1" i="0" u="none" strike="noStrike" cap="none" normalizeH="0" baseline="0" dirty="0">
                        <a:ln>
                          <a:noFill/>
                        </a:ln>
                        <a:solidFill>
                          <a:schemeClr val="tx1"/>
                        </a:solidFill>
                        <a:effectLst/>
                        <a:latin typeface="Arial" charset="0"/>
                        <a:ea typeface="ＭＳ Ｐゴシック" pitchFamily="34" charset="-128"/>
                      </a:endParaRPr>
                    </a:p>
                  </a:txBody>
                  <a:tcPr marT="45709" marB="45709" anchor="ctr" horzOverflow="overflow">
                    <a:lnL>
                      <a:noFill/>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vMerge="1">
                  <a:txBody>
                    <a:bodyPr/>
                    <a:lstStyle/>
                    <a:p>
                      <a:endParaRPr lang="en-US"/>
                    </a:p>
                  </a:txBody>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endParaRPr kumimoji="0" lang="en-US" sz="1400" b="1" i="0" u="none" strike="noStrike" cap="none" normalizeH="0" baseline="0" dirty="0">
                        <a:ln>
                          <a:noFill/>
                        </a:ln>
                        <a:solidFill>
                          <a:schemeClr val="tx1"/>
                        </a:solidFill>
                        <a:effectLst/>
                        <a:latin typeface="Arial" charset="0"/>
                        <a:ea typeface="ＭＳ Ｐゴシック" pitchFamily="34" charset="-128"/>
                      </a:endParaRPr>
                    </a:p>
                  </a:txBody>
                  <a:tcPr marT="45709" marB="45709" anchor="ctr" horzOverflow="overflow">
                    <a:lnL>
                      <a:noFill/>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vMerge="1">
                  <a:txBody>
                    <a:bodyPr/>
                    <a:lstStyle/>
                    <a:p>
                      <a:endParaRPr lang="en-US"/>
                    </a:p>
                  </a:txBody>
                  <a:tcPr/>
                </a:tc>
                <a:extLst>
                  <a:ext uri="{0D108BD9-81ED-4DB2-BD59-A6C34878D82A}">
                    <a16:rowId xmlns:a16="http://schemas.microsoft.com/office/drawing/2014/main" xmlns="" val="10006"/>
                  </a:ext>
                </a:extLst>
              </a:tr>
              <a:tr h="625324">
                <a:tc>
                  <a:txBody>
                    <a:bodyPr/>
                    <a:lstStyle/>
                    <a:p>
                      <a:pPr marL="0" marR="0" lvl="0" indent="0" algn="l"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bg1"/>
                          </a:solidFill>
                          <a:effectLst/>
                          <a:latin typeface="Arial" charset="0"/>
                          <a:ea typeface="ＭＳ Ｐゴシック" pitchFamily="34" charset="-128"/>
                        </a:rPr>
                        <a:t>Requirement/</a:t>
                      </a:r>
                    </a:p>
                    <a:p>
                      <a:pPr marL="0" marR="0" lvl="0" indent="0" algn="l"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bg1"/>
                          </a:solidFill>
                          <a:effectLst/>
                          <a:latin typeface="Arial" charset="0"/>
                          <a:ea typeface="ＭＳ Ｐゴシック" pitchFamily="34" charset="-128"/>
                        </a:rPr>
                        <a:t>Demand</a:t>
                      </a:r>
                    </a:p>
                    <a:p>
                      <a:pPr marL="0" marR="0" lvl="0" indent="0" algn="l"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endParaRPr kumimoji="0" lang="en-US" sz="1400" b="1" i="0" u="none" strike="noStrike" cap="none" normalizeH="0" baseline="0" dirty="0">
                        <a:ln>
                          <a:noFill/>
                        </a:ln>
                        <a:solidFill>
                          <a:schemeClr val="bg1"/>
                        </a:solidFill>
                        <a:effectLst/>
                        <a:latin typeface="Arial" charset="0"/>
                        <a:ea typeface="ＭＳ Ｐゴシック" pitchFamily="34" charset="-128"/>
                      </a:endParaRP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rgbClr val="63BDE0"/>
                    </a:solidFill>
                  </a:tcPr>
                </a:tc>
                <a:tc gridSpan="2">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tx1"/>
                          </a:solidFill>
                          <a:effectLst/>
                          <a:latin typeface="Arial" charset="0"/>
                          <a:ea typeface="ＭＳ Ｐゴシック" pitchFamily="34" charset="-128"/>
                        </a:rPr>
                        <a:t>1</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tc gridSpan="2">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tx1"/>
                          </a:solidFill>
                          <a:effectLst/>
                          <a:latin typeface="Arial" charset="0"/>
                          <a:ea typeface="ＭＳ Ｐゴシック" pitchFamily="34" charset="-128"/>
                        </a:rPr>
                        <a:t>3</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tc gridSpan="2">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tx1"/>
                          </a:solidFill>
                          <a:effectLst/>
                          <a:latin typeface="Arial" charset="0"/>
                          <a:ea typeface="ＭＳ Ｐゴシック" pitchFamily="34" charset="-128"/>
                        </a:rPr>
                        <a:t>5</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endParaRPr kumimoji="0" lang="en-US" sz="1400" b="1" i="0" u="none" strike="noStrike" cap="none" normalizeH="0" baseline="0" dirty="0">
                        <a:ln>
                          <a:noFill/>
                        </a:ln>
                        <a:solidFill>
                          <a:schemeClr val="tx1"/>
                        </a:solidFill>
                        <a:effectLst/>
                        <a:latin typeface="Arial" charset="0"/>
                        <a:ea typeface="ＭＳ Ｐゴシック" pitchFamily="34" charset="-128"/>
                      </a:endParaRP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7"/>
                  </a:ext>
                </a:extLst>
              </a:tr>
            </a:tbl>
          </a:graphicData>
        </a:graphic>
      </p:graphicFrame>
    </p:spTree>
    <p:extLst>
      <p:ext uri="{BB962C8B-B14F-4D97-AF65-F5344CB8AC3E}">
        <p14:creationId xmlns:p14="http://schemas.microsoft.com/office/powerpoint/2010/main" val="2673975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6" fill="hold" nodeType="afterEffect">
                                  <p:stCondLst>
                                    <p:cond delay="1000"/>
                                  </p:stCondLst>
                                  <p:childTnLst>
                                    <p:set>
                                      <p:cBhvr>
                                        <p:cTn id="6" dur="1" fill="hold">
                                          <p:stCondLst>
                                            <p:cond delay="0"/>
                                          </p:stCondLst>
                                        </p:cTn>
                                        <p:tgtEl>
                                          <p:spTgt spid="5"/>
                                        </p:tgtEl>
                                        <p:attrNameLst>
                                          <p:attrName>style.visibility</p:attrName>
                                        </p:attrNameLst>
                                      </p:cBhvr>
                                      <p:to>
                                        <p:strVal val="visible"/>
                                      </p:to>
                                    </p:set>
                                    <p:animEffect transition="in" filter="strips(downRight)">
                                      <p:cBhvr>
                                        <p:cTn id="7"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solidFill>
                  <a:srgbClr val="C00000"/>
                </a:solidFill>
                <a:latin typeface="Arial" panose="020B0604020202020204" pitchFamily="34" charset="0"/>
                <a:cs typeface="Arial" panose="020B0604020202020204" pitchFamily="34" charset="0"/>
              </a:rPr>
              <a:t>Least Cost Method</a:t>
            </a:r>
          </a:p>
        </p:txBody>
      </p:sp>
      <p:sp>
        <p:nvSpPr>
          <p:cNvPr id="6" name="Content Placeholder 5">
            <a:extLst>
              <a:ext uri="{FF2B5EF4-FFF2-40B4-BE49-F238E27FC236}">
                <a16:creationId xmlns:a16="http://schemas.microsoft.com/office/drawing/2014/main" xmlns="" id="{12C3F38F-06D5-4ADF-BB89-374D8DB47BD2}"/>
              </a:ext>
            </a:extLst>
          </p:cNvPr>
          <p:cNvSpPr>
            <a:spLocks noGrp="1"/>
          </p:cNvSpPr>
          <p:nvPr>
            <p:ph idx="1"/>
          </p:nvPr>
        </p:nvSpPr>
        <p:spPr>
          <a:xfrm>
            <a:off x="856060" y="2249486"/>
            <a:ext cx="7429499" cy="4608513"/>
          </a:xfrm>
        </p:spPr>
        <p:txBody>
          <a:bodyPr>
            <a:normAutofit/>
          </a:bodyPr>
          <a:lstStyle/>
          <a:p>
            <a:pPr marL="0" indent="0">
              <a:buNone/>
            </a:pPr>
            <a:endParaRPr lang="en-US" dirty="0">
              <a:latin typeface="Arial" panose="020B0604020202020204" pitchFamily="34" charset="0"/>
              <a:cs typeface="Arial" panose="020B0604020202020204" pitchFamily="34" charset="0"/>
            </a:endParaRPr>
          </a:p>
          <a:p>
            <a:pPr marL="0" indent="0">
              <a:buNone/>
            </a:pPr>
            <a:endParaRPr lang="en-US" dirty="0">
              <a:latin typeface="Arial" panose="020B0604020202020204" pitchFamily="34" charset="0"/>
              <a:cs typeface="Arial" panose="020B0604020202020204" pitchFamily="34" charset="0"/>
            </a:endParaRPr>
          </a:p>
          <a:p>
            <a:pPr marL="0" indent="0">
              <a:buNone/>
            </a:pPr>
            <a:endParaRPr lang="en-US" dirty="0">
              <a:latin typeface="Arial" panose="020B0604020202020204" pitchFamily="34" charset="0"/>
              <a:cs typeface="Arial" panose="020B0604020202020204" pitchFamily="34" charset="0"/>
            </a:endParaRPr>
          </a:p>
        </p:txBody>
      </p:sp>
      <p:graphicFrame>
        <p:nvGraphicFramePr>
          <p:cNvPr id="5" name="Group 123">
            <a:extLst>
              <a:ext uri="{FF2B5EF4-FFF2-40B4-BE49-F238E27FC236}">
                <a16:creationId xmlns:a16="http://schemas.microsoft.com/office/drawing/2014/main" xmlns="" id="{A5DA3B2A-2E25-4DFF-9E0E-EBF2CA28C54C}"/>
              </a:ext>
            </a:extLst>
          </p:cNvPr>
          <p:cNvGraphicFramePr>
            <a:graphicFrameLocks noGrp="1"/>
          </p:cNvGraphicFramePr>
          <p:nvPr>
            <p:extLst>
              <p:ext uri="{D42A27DB-BD31-4B8C-83A1-F6EECF244321}">
                <p14:modId xmlns:p14="http://schemas.microsoft.com/office/powerpoint/2010/main" val="3177586291"/>
              </p:ext>
            </p:extLst>
          </p:nvPr>
        </p:nvGraphicFramePr>
        <p:xfrm>
          <a:off x="856060" y="2249486"/>
          <a:ext cx="6163297" cy="2670976"/>
        </p:xfrm>
        <a:graphic>
          <a:graphicData uri="http://schemas.openxmlformats.org/drawingml/2006/table">
            <a:tbl>
              <a:tblPr/>
              <a:tblGrid>
                <a:gridCol w="1737009">
                  <a:extLst>
                    <a:ext uri="{9D8B030D-6E8A-4147-A177-3AD203B41FA5}">
                      <a16:colId xmlns:a16="http://schemas.microsoft.com/office/drawing/2014/main" xmlns="" val="20000"/>
                    </a:ext>
                  </a:extLst>
                </a:gridCol>
                <a:gridCol w="1019792">
                  <a:extLst>
                    <a:ext uri="{9D8B030D-6E8A-4147-A177-3AD203B41FA5}">
                      <a16:colId xmlns:a16="http://schemas.microsoft.com/office/drawing/2014/main" xmlns="" val="20001"/>
                    </a:ext>
                  </a:extLst>
                </a:gridCol>
                <a:gridCol w="396431">
                  <a:extLst>
                    <a:ext uri="{9D8B030D-6E8A-4147-A177-3AD203B41FA5}">
                      <a16:colId xmlns:a16="http://schemas.microsoft.com/office/drawing/2014/main" xmlns="" val="20002"/>
                    </a:ext>
                  </a:extLst>
                </a:gridCol>
                <a:gridCol w="556121">
                  <a:extLst>
                    <a:ext uri="{9D8B030D-6E8A-4147-A177-3AD203B41FA5}">
                      <a16:colId xmlns:a16="http://schemas.microsoft.com/office/drawing/2014/main" xmlns="" val="20003"/>
                    </a:ext>
                  </a:extLst>
                </a:gridCol>
                <a:gridCol w="358608">
                  <a:extLst>
                    <a:ext uri="{9D8B030D-6E8A-4147-A177-3AD203B41FA5}">
                      <a16:colId xmlns:a16="http://schemas.microsoft.com/office/drawing/2014/main" xmlns="" val="20004"/>
                    </a:ext>
                  </a:extLst>
                </a:gridCol>
                <a:gridCol w="428943">
                  <a:extLst>
                    <a:ext uri="{9D8B030D-6E8A-4147-A177-3AD203B41FA5}">
                      <a16:colId xmlns:a16="http://schemas.microsoft.com/office/drawing/2014/main" xmlns="" val="20005"/>
                    </a:ext>
                  </a:extLst>
                </a:gridCol>
                <a:gridCol w="500915">
                  <a:extLst>
                    <a:ext uri="{9D8B030D-6E8A-4147-A177-3AD203B41FA5}">
                      <a16:colId xmlns:a16="http://schemas.microsoft.com/office/drawing/2014/main" xmlns="" val="20006"/>
                    </a:ext>
                  </a:extLst>
                </a:gridCol>
                <a:gridCol w="1165478">
                  <a:extLst>
                    <a:ext uri="{9D8B030D-6E8A-4147-A177-3AD203B41FA5}">
                      <a16:colId xmlns:a16="http://schemas.microsoft.com/office/drawing/2014/main" xmlns="" val="20007"/>
                    </a:ext>
                  </a:extLst>
                </a:gridCol>
              </a:tblGrid>
              <a:tr h="555364">
                <a:tc>
                  <a:txBody>
                    <a:bodyPr/>
                    <a:lstStyle/>
                    <a:p>
                      <a:pPr marL="0" marR="0" lvl="0" indent="0" algn="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bg1"/>
                          </a:solidFill>
                          <a:effectLst/>
                          <a:latin typeface="Arial" charset="0"/>
                          <a:ea typeface="ＭＳ Ｐゴシック" pitchFamily="34" charset="-128"/>
                        </a:rPr>
                        <a:t>TO</a:t>
                      </a:r>
                    </a:p>
                    <a:p>
                      <a:pPr marL="0" marR="0" lvl="0" indent="0" algn="l"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bg1"/>
                          </a:solidFill>
                          <a:effectLst/>
                          <a:latin typeface="Arial" charset="0"/>
                          <a:ea typeface="ＭＳ Ｐゴシック" pitchFamily="34" charset="-128"/>
                        </a:rPr>
                        <a:t>FROM</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9050" cap="flat" cmpd="sng" algn="ctr">
                      <a:solidFill>
                        <a:schemeClr val="tx1"/>
                      </a:solidFill>
                      <a:prstDash val="solid"/>
                      <a:round/>
                      <a:headEnd type="none" w="med" len="med"/>
                      <a:tailEnd type="none" w="med" len="med"/>
                    </a:lnTlToBr>
                    <a:lnBlToTr>
                      <a:noFill/>
                    </a:lnBlToTr>
                    <a:solidFill>
                      <a:srgbClr val="63BDE0"/>
                    </a:solidFill>
                  </a:tcPr>
                </a:tc>
                <a:tc gridSpan="2">
                  <a:txBody>
                    <a:bodyPr/>
                    <a:lstStyle/>
                    <a:p>
                      <a:pPr marL="0" marR="0" lvl="0" indent="0" algn="l"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bg1"/>
                          </a:solidFill>
                          <a:effectLst/>
                          <a:latin typeface="Arial" charset="0"/>
                          <a:ea typeface="ＭＳ Ｐゴシック" pitchFamily="34" charset="-128"/>
                        </a:rPr>
                        <a:t>Peshawar </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rgbClr val="63BDE0"/>
                    </a:solidFill>
                  </a:tcPr>
                </a:tc>
                <a:tc hMerge="1">
                  <a:txBody>
                    <a:bodyPr/>
                    <a:lstStyle/>
                    <a:p>
                      <a:endParaRPr lang="en-US"/>
                    </a:p>
                  </a:txBody>
                  <a:tcPr/>
                </a:tc>
                <a:tc gridSpan="2">
                  <a:txBody>
                    <a:bodyPr/>
                    <a:lstStyle/>
                    <a:p>
                      <a:pPr marL="0" marR="0" lvl="0" indent="0" algn="l"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bg1"/>
                          </a:solidFill>
                          <a:effectLst/>
                          <a:latin typeface="Arial" charset="0"/>
                          <a:ea typeface="ＭＳ Ｐゴシック" pitchFamily="34" charset="-128"/>
                        </a:rPr>
                        <a:t>Sialkot</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rgbClr val="63BDE0"/>
                    </a:solidFill>
                  </a:tcPr>
                </a:tc>
                <a:tc hMerge="1">
                  <a:txBody>
                    <a:bodyPr/>
                    <a:lstStyle/>
                    <a:p>
                      <a:endParaRPr lang="en-US"/>
                    </a:p>
                  </a:txBody>
                  <a:tcPr/>
                </a:tc>
                <a:tc gridSpan="2">
                  <a:txBody>
                    <a:bodyPr/>
                    <a:lstStyle/>
                    <a:p>
                      <a:pPr marL="0" marR="0" lvl="0" indent="0" algn="l"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bg1"/>
                          </a:solidFill>
                          <a:effectLst/>
                          <a:latin typeface="Arial" charset="0"/>
                          <a:ea typeface="ＭＳ Ｐゴシック" pitchFamily="34" charset="-128"/>
                        </a:rPr>
                        <a:t> Multan</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rgbClr val="63BDE0"/>
                    </a:solidFill>
                  </a:tcPr>
                </a:tc>
                <a:tc hMerge="1">
                  <a:txBody>
                    <a:bodyPr/>
                    <a:lstStyle/>
                    <a:p>
                      <a:endParaRPr lang="en-US"/>
                    </a:p>
                  </a:txBody>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bg1"/>
                          </a:solidFill>
                          <a:effectLst/>
                          <a:latin typeface="Arial" charset="0"/>
                          <a:ea typeface="ＭＳ Ｐゴシック" pitchFamily="34" charset="-128"/>
                        </a:rPr>
                        <a:t>FACTORY CAPACITY/Supply</a:t>
                      </a:r>
                    </a:p>
                  </a:txBody>
                  <a:tcPr marT="45709" marB="45709" anchor="b"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rgbClr val="63BDE0"/>
                    </a:solidFill>
                  </a:tcPr>
                </a:tc>
                <a:extLst>
                  <a:ext uri="{0D108BD9-81ED-4DB2-BD59-A6C34878D82A}">
                    <a16:rowId xmlns:a16="http://schemas.microsoft.com/office/drawing/2014/main" xmlns="" val="10000"/>
                  </a:ext>
                </a:extLst>
              </a:tr>
              <a:tr h="312663">
                <a:tc rowSpan="2">
                  <a:txBody>
                    <a:bodyPr/>
                    <a:lstStyle/>
                    <a:p>
                      <a:pPr marL="0" marR="0" lvl="0" indent="0" algn="l"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bg1"/>
                          </a:solidFill>
                          <a:effectLst/>
                          <a:latin typeface="Arial" charset="0"/>
                          <a:ea typeface="ＭＳ Ｐゴシック" pitchFamily="34" charset="-128"/>
                        </a:rPr>
                        <a:t> </a:t>
                      </a:r>
                      <a:br>
                        <a:rPr kumimoji="0" lang="en-US" sz="1400" b="1" i="0" u="none" strike="noStrike" cap="none" normalizeH="0" baseline="0" dirty="0">
                          <a:ln>
                            <a:noFill/>
                          </a:ln>
                          <a:solidFill>
                            <a:schemeClr val="bg1"/>
                          </a:solidFill>
                          <a:effectLst/>
                          <a:latin typeface="Arial" charset="0"/>
                          <a:ea typeface="ＭＳ Ｐゴシック" pitchFamily="34" charset="-128"/>
                        </a:rPr>
                      </a:br>
                      <a:r>
                        <a:rPr kumimoji="0" lang="en-US" sz="1400" b="1" i="0" u="none" strike="noStrike" cap="none" normalizeH="0" baseline="0" dirty="0">
                          <a:ln>
                            <a:noFill/>
                          </a:ln>
                          <a:solidFill>
                            <a:schemeClr val="bg1"/>
                          </a:solidFill>
                          <a:effectLst/>
                          <a:latin typeface="Arial" charset="0"/>
                          <a:ea typeface="ＭＳ Ｐゴシック" pitchFamily="34" charset="-128"/>
                        </a:rPr>
                        <a:t>Karachi</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rgbClr val="63BDE0"/>
                    </a:solidFill>
                  </a:tcPr>
                </a:tc>
                <a:tc rowSpan="2">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tx1"/>
                          </a:solidFill>
                          <a:effectLst>
                            <a:outerShdw blurRad="38100" dist="38100" dir="2700000" algn="tl">
                              <a:srgbClr val="C0C0C0"/>
                            </a:outerShdw>
                          </a:effectLst>
                          <a:latin typeface="Arial" charset="0"/>
                          <a:ea typeface="ＭＳ Ｐゴシック" pitchFamily="34" charset="-128"/>
                        </a:rPr>
                        <a:t>13</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endParaRPr kumimoji="0" lang="en-US" sz="1400" b="1" i="0" u="none" strike="noStrike" cap="none" normalizeH="0" baseline="0" dirty="0">
                        <a:ln>
                          <a:noFill/>
                        </a:ln>
                        <a:solidFill>
                          <a:schemeClr val="tx1"/>
                        </a:solidFill>
                        <a:effectLst/>
                        <a:latin typeface="Arial" charset="0"/>
                        <a:ea typeface="ＭＳ Ｐゴシック" pitchFamily="34" charset="-128"/>
                      </a:endParaRP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accent2"/>
                          </a:solidFill>
                          <a:effectLst/>
                          <a:latin typeface="Arial" charset="0"/>
                          <a:ea typeface="ＭＳ Ｐゴシック" pitchFamily="34" charset="-128"/>
                        </a:rPr>
                        <a:t>11</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tx1"/>
                          </a:solidFill>
                          <a:effectLst/>
                          <a:latin typeface="Arial" charset="0"/>
                          <a:ea typeface="ＭＳ Ｐゴシック" pitchFamily="34" charset="-128"/>
                        </a:rPr>
                        <a:t>2</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tx1"/>
                          </a:solidFill>
                          <a:effectLst/>
                          <a:latin typeface="Arial" charset="0"/>
                          <a:ea typeface="ＭＳ Ｐゴシック" pitchFamily="34" charset="-128"/>
                        </a:rPr>
                        <a:t>40</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endParaRPr kumimoji="0" lang="en-US" sz="1400" b="1" i="0" u="none" strike="noStrike" cap="none" normalizeH="0" baseline="0" dirty="0">
                        <a:ln>
                          <a:noFill/>
                        </a:ln>
                        <a:solidFill>
                          <a:schemeClr val="tx1"/>
                        </a:solidFill>
                        <a:effectLst/>
                        <a:latin typeface="Arial" charset="0"/>
                        <a:ea typeface="ＭＳ Ｐゴシック" pitchFamily="34" charset="-128"/>
                      </a:endParaRP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tx1"/>
                          </a:solidFill>
                          <a:effectLst/>
                          <a:latin typeface="Arial" charset="0"/>
                          <a:ea typeface="ＭＳ Ｐゴシック" pitchFamily="34" charset="-128"/>
                        </a:rPr>
                        <a:t>2-2=0</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1"/>
                  </a:ext>
                </a:extLst>
              </a:tr>
              <a:tr h="312663">
                <a:tc vMerge="1">
                  <a:txBody>
                    <a:bodyPr/>
                    <a:lstStyle/>
                    <a:p>
                      <a:endParaRPr lang="en-US"/>
                    </a:p>
                  </a:txBody>
                  <a:tcPr/>
                </a:tc>
                <a:tc vMerge="1">
                  <a:txBody>
                    <a:bodyPr/>
                    <a:lstStyle/>
                    <a:p>
                      <a:endParaRPr lang="en-US"/>
                    </a:p>
                  </a:txBody>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endParaRPr kumimoji="0" lang="en-US" sz="1400" b="1" i="0" u="none" strike="noStrike" cap="none" normalizeH="0" baseline="0" dirty="0">
                        <a:ln>
                          <a:noFill/>
                        </a:ln>
                        <a:solidFill>
                          <a:schemeClr val="tx1"/>
                        </a:solidFill>
                        <a:effectLst/>
                        <a:latin typeface="Arial" charset="0"/>
                        <a:ea typeface="ＭＳ Ｐゴシック" pitchFamily="34" charset="-128"/>
                      </a:endParaRPr>
                    </a:p>
                  </a:txBody>
                  <a:tcPr marT="45709" marB="45709" anchor="ctr" horzOverflow="overflow">
                    <a:lnL>
                      <a:noFill/>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vMerge="1">
                  <a:txBody>
                    <a:bodyPr/>
                    <a:lstStyle/>
                    <a:p>
                      <a:endParaRPr lang="en-US"/>
                    </a:p>
                  </a:txBody>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endParaRPr kumimoji="0" lang="en-US" sz="1400" b="1" i="0" u="none" strike="noStrike" cap="none" normalizeH="0" baseline="0" dirty="0">
                        <a:ln>
                          <a:noFill/>
                        </a:ln>
                        <a:solidFill>
                          <a:schemeClr val="tx1"/>
                        </a:solidFill>
                        <a:effectLst/>
                        <a:latin typeface="Arial" charset="0"/>
                        <a:ea typeface="ＭＳ Ｐゴシック" pitchFamily="34" charset="-128"/>
                      </a:endParaRPr>
                    </a:p>
                  </a:txBody>
                  <a:tcPr marT="45709" marB="45709" anchor="ctr" horzOverflow="overflow">
                    <a:lnL>
                      <a:noFill/>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vMerge="1">
                  <a:txBody>
                    <a:bodyPr/>
                    <a:lstStyle/>
                    <a:p>
                      <a:endParaRPr lang="en-US"/>
                    </a:p>
                  </a:txBody>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endParaRPr kumimoji="0" lang="en-US" sz="1400" b="1" i="0" u="none" strike="noStrike" cap="none" normalizeH="0" baseline="0" dirty="0">
                        <a:ln>
                          <a:noFill/>
                        </a:ln>
                        <a:solidFill>
                          <a:schemeClr val="tx1"/>
                        </a:solidFill>
                        <a:effectLst/>
                        <a:latin typeface="Arial" charset="0"/>
                        <a:ea typeface="ＭＳ Ｐゴシック" pitchFamily="34" charset="-128"/>
                      </a:endParaRPr>
                    </a:p>
                  </a:txBody>
                  <a:tcPr marT="45709" marB="45709" anchor="ctr" horzOverflow="overflow">
                    <a:lnL>
                      <a:noFill/>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vMerge="1">
                  <a:txBody>
                    <a:bodyPr/>
                    <a:lstStyle/>
                    <a:p>
                      <a:endParaRPr lang="en-US"/>
                    </a:p>
                  </a:txBody>
                  <a:tcPr/>
                </a:tc>
                <a:extLst>
                  <a:ext uri="{0D108BD9-81ED-4DB2-BD59-A6C34878D82A}">
                    <a16:rowId xmlns:a16="http://schemas.microsoft.com/office/drawing/2014/main" xmlns="" val="10002"/>
                  </a:ext>
                </a:extLst>
              </a:tr>
              <a:tr h="312663">
                <a:tc rowSpan="2">
                  <a:txBody>
                    <a:bodyPr/>
                    <a:lstStyle/>
                    <a:p>
                      <a:pPr marL="0" marR="0" lvl="0" indent="0" algn="l"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bg1"/>
                          </a:solidFill>
                          <a:effectLst/>
                          <a:latin typeface="Arial" charset="0"/>
                          <a:ea typeface="ＭＳ Ｐゴシック" pitchFamily="34" charset="-128"/>
                        </a:rPr>
                        <a:t>Lahore</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rgbClr val="63BDE0"/>
                    </a:solidFill>
                  </a:tcPr>
                </a:tc>
                <a:tc rowSpan="2">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tx1"/>
                          </a:solidFill>
                          <a:effectLst/>
                          <a:latin typeface="Arial" charset="0"/>
                          <a:ea typeface="ＭＳ Ｐゴシック" pitchFamily="34" charset="-128"/>
                        </a:rPr>
                        <a:t>18</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endParaRPr kumimoji="0" lang="en-US" sz="1400" b="1" i="0" u="none" strike="noStrike" cap="none" normalizeH="0" baseline="0" dirty="0">
                        <a:ln>
                          <a:noFill/>
                        </a:ln>
                        <a:solidFill>
                          <a:schemeClr val="tx1"/>
                        </a:solidFill>
                        <a:effectLst/>
                        <a:latin typeface="Arial" charset="0"/>
                        <a:ea typeface="ＭＳ Ｐゴシック" pitchFamily="34" charset="-128"/>
                      </a:endParaRP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tx1"/>
                          </a:solidFill>
                          <a:effectLst/>
                          <a:latin typeface="Arial" charset="0"/>
                          <a:ea typeface="ＭＳ Ｐゴシック" pitchFamily="34" charset="-128"/>
                        </a:rPr>
                        <a:t>18</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endParaRPr kumimoji="0" lang="en-US" sz="1400" b="1" i="0" u="none" strike="noStrike" cap="none" normalizeH="0" baseline="0" dirty="0">
                        <a:ln>
                          <a:noFill/>
                        </a:ln>
                        <a:solidFill>
                          <a:schemeClr val="tx1"/>
                        </a:solidFill>
                        <a:effectLst/>
                        <a:latin typeface="Arial" charset="0"/>
                        <a:ea typeface="ＭＳ Ｐゴシック" pitchFamily="34" charset="-128"/>
                      </a:endParaRP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tx1"/>
                          </a:solidFill>
                          <a:effectLst/>
                          <a:latin typeface="Arial" charset="0"/>
                          <a:ea typeface="ＭＳ Ｐゴシック" pitchFamily="34" charset="-128"/>
                        </a:rPr>
                        <a:t>12</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endParaRPr kumimoji="0" lang="en-US" sz="1400" b="1" i="0" u="none" strike="noStrike" cap="none" normalizeH="0" baseline="0" dirty="0">
                        <a:ln>
                          <a:noFill/>
                        </a:ln>
                        <a:solidFill>
                          <a:schemeClr val="tx1"/>
                        </a:solidFill>
                        <a:effectLst/>
                        <a:latin typeface="Arial" charset="0"/>
                        <a:ea typeface="ＭＳ Ｐゴシック" pitchFamily="34" charset="-128"/>
                      </a:endParaRP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tx1"/>
                          </a:solidFill>
                          <a:effectLst/>
                          <a:latin typeface="Arial" charset="0"/>
                          <a:ea typeface="ＭＳ Ｐゴシック" pitchFamily="34" charset="-128"/>
                        </a:rPr>
                        <a:t>7</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5"/>
                  </a:ext>
                </a:extLst>
              </a:tr>
              <a:tr h="312663">
                <a:tc vMerge="1">
                  <a:txBody>
                    <a:bodyPr/>
                    <a:lstStyle/>
                    <a:p>
                      <a:endParaRPr lang="en-US"/>
                    </a:p>
                  </a:txBody>
                  <a:tcPr/>
                </a:tc>
                <a:tc vMerge="1">
                  <a:txBody>
                    <a:bodyPr/>
                    <a:lstStyle/>
                    <a:p>
                      <a:endParaRPr lang="en-US"/>
                    </a:p>
                  </a:txBody>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endParaRPr kumimoji="0" lang="en-US" sz="1400" b="1" i="0" u="none" strike="noStrike" cap="none" normalizeH="0" baseline="0" dirty="0">
                        <a:ln>
                          <a:noFill/>
                        </a:ln>
                        <a:solidFill>
                          <a:schemeClr val="tx1"/>
                        </a:solidFill>
                        <a:effectLst/>
                        <a:latin typeface="Arial" charset="0"/>
                        <a:ea typeface="ＭＳ Ｐゴシック" pitchFamily="34" charset="-128"/>
                      </a:endParaRPr>
                    </a:p>
                  </a:txBody>
                  <a:tcPr marT="45709" marB="45709" anchor="ctr" horzOverflow="overflow">
                    <a:lnL>
                      <a:noFill/>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vMerge="1">
                  <a:txBody>
                    <a:bodyPr/>
                    <a:lstStyle/>
                    <a:p>
                      <a:endParaRPr lang="en-US"/>
                    </a:p>
                  </a:txBody>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endParaRPr kumimoji="0" lang="en-US" sz="1400" b="1" i="0" u="none" strike="noStrike" cap="none" normalizeH="0" baseline="0" dirty="0">
                        <a:ln>
                          <a:noFill/>
                        </a:ln>
                        <a:solidFill>
                          <a:schemeClr val="tx1"/>
                        </a:solidFill>
                        <a:effectLst/>
                        <a:latin typeface="Arial" charset="0"/>
                        <a:ea typeface="ＭＳ Ｐゴシック" pitchFamily="34" charset="-128"/>
                      </a:endParaRPr>
                    </a:p>
                  </a:txBody>
                  <a:tcPr marT="45709" marB="45709" anchor="ctr" horzOverflow="overflow">
                    <a:lnL>
                      <a:noFill/>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vMerge="1">
                  <a:txBody>
                    <a:bodyPr/>
                    <a:lstStyle/>
                    <a:p>
                      <a:endParaRPr lang="en-US"/>
                    </a:p>
                  </a:txBody>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endParaRPr kumimoji="0" lang="en-US" sz="1400" b="1" i="0" u="none" strike="noStrike" cap="none" normalizeH="0" baseline="0" dirty="0">
                        <a:ln>
                          <a:noFill/>
                        </a:ln>
                        <a:solidFill>
                          <a:schemeClr val="tx1"/>
                        </a:solidFill>
                        <a:effectLst/>
                        <a:latin typeface="Arial" charset="0"/>
                        <a:ea typeface="ＭＳ Ｐゴシック" pitchFamily="34" charset="-128"/>
                      </a:endParaRPr>
                    </a:p>
                  </a:txBody>
                  <a:tcPr marT="45709" marB="45709" anchor="ctr" horzOverflow="overflow">
                    <a:lnL>
                      <a:noFill/>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vMerge="1">
                  <a:txBody>
                    <a:bodyPr/>
                    <a:lstStyle/>
                    <a:p>
                      <a:endParaRPr lang="en-US"/>
                    </a:p>
                  </a:txBody>
                  <a:tcPr/>
                </a:tc>
                <a:extLst>
                  <a:ext uri="{0D108BD9-81ED-4DB2-BD59-A6C34878D82A}">
                    <a16:rowId xmlns:a16="http://schemas.microsoft.com/office/drawing/2014/main" xmlns="" val="10006"/>
                  </a:ext>
                </a:extLst>
              </a:tr>
              <a:tr h="625324">
                <a:tc>
                  <a:txBody>
                    <a:bodyPr/>
                    <a:lstStyle/>
                    <a:p>
                      <a:pPr marL="0" marR="0" lvl="0" indent="0" algn="l"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bg1"/>
                          </a:solidFill>
                          <a:effectLst/>
                          <a:latin typeface="Arial" charset="0"/>
                          <a:ea typeface="ＭＳ Ｐゴシック" pitchFamily="34" charset="-128"/>
                        </a:rPr>
                        <a:t>Requirement/</a:t>
                      </a:r>
                    </a:p>
                    <a:p>
                      <a:pPr marL="0" marR="0" lvl="0" indent="0" algn="l"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bg1"/>
                          </a:solidFill>
                          <a:effectLst/>
                          <a:latin typeface="Arial" charset="0"/>
                          <a:ea typeface="ＭＳ Ｐゴシック" pitchFamily="34" charset="-128"/>
                        </a:rPr>
                        <a:t>Demand</a:t>
                      </a:r>
                    </a:p>
                    <a:p>
                      <a:pPr marL="0" marR="0" lvl="0" indent="0" algn="l"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endParaRPr kumimoji="0" lang="en-US" sz="1400" b="1" i="0" u="none" strike="noStrike" cap="none" normalizeH="0" baseline="0" dirty="0">
                        <a:ln>
                          <a:noFill/>
                        </a:ln>
                        <a:solidFill>
                          <a:schemeClr val="bg1"/>
                        </a:solidFill>
                        <a:effectLst/>
                        <a:latin typeface="Arial" charset="0"/>
                        <a:ea typeface="ＭＳ Ｐゴシック" pitchFamily="34" charset="-128"/>
                      </a:endParaRP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rgbClr val="63BDE0"/>
                    </a:solidFill>
                  </a:tcPr>
                </a:tc>
                <a:tc gridSpan="2">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tx1"/>
                          </a:solidFill>
                          <a:effectLst/>
                          <a:latin typeface="Arial" charset="0"/>
                          <a:ea typeface="ＭＳ Ｐゴシック" pitchFamily="34" charset="-128"/>
                        </a:rPr>
                        <a:t>1</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tc gridSpan="2">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tx1"/>
                          </a:solidFill>
                          <a:effectLst/>
                          <a:latin typeface="Arial" charset="0"/>
                          <a:ea typeface="ＭＳ Ｐゴシック" pitchFamily="34" charset="-128"/>
                        </a:rPr>
                        <a:t>3-2=1</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tc gridSpan="2">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tx1"/>
                          </a:solidFill>
                          <a:effectLst/>
                          <a:latin typeface="Arial" charset="0"/>
                          <a:ea typeface="ＭＳ Ｐゴシック" pitchFamily="34" charset="-128"/>
                        </a:rPr>
                        <a:t>5</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endParaRPr kumimoji="0" lang="en-US" sz="1400" b="1" i="0" u="none" strike="noStrike" cap="none" normalizeH="0" baseline="0" dirty="0">
                        <a:ln>
                          <a:noFill/>
                        </a:ln>
                        <a:solidFill>
                          <a:schemeClr val="tx1"/>
                        </a:solidFill>
                        <a:effectLst/>
                        <a:latin typeface="Arial" charset="0"/>
                        <a:ea typeface="ＭＳ Ｐゴシック" pitchFamily="34" charset="-128"/>
                      </a:endParaRP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7"/>
                  </a:ext>
                </a:extLst>
              </a:tr>
            </a:tbl>
          </a:graphicData>
        </a:graphic>
      </p:graphicFrame>
    </p:spTree>
    <p:extLst>
      <p:ext uri="{BB962C8B-B14F-4D97-AF65-F5344CB8AC3E}">
        <p14:creationId xmlns:p14="http://schemas.microsoft.com/office/powerpoint/2010/main" val="21459968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6" fill="hold" nodeType="afterEffect">
                                  <p:stCondLst>
                                    <p:cond delay="1000"/>
                                  </p:stCondLst>
                                  <p:childTnLst>
                                    <p:set>
                                      <p:cBhvr>
                                        <p:cTn id="6" dur="1" fill="hold">
                                          <p:stCondLst>
                                            <p:cond delay="0"/>
                                          </p:stCondLst>
                                        </p:cTn>
                                        <p:tgtEl>
                                          <p:spTgt spid="5"/>
                                        </p:tgtEl>
                                        <p:attrNameLst>
                                          <p:attrName>style.visibility</p:attrName>
                                        </p:attrNameLst>
                                      </p:cBhvr>
                                      <p:to>
                                        <p:strVal val="visible"/>
                                      </p:to>
                                    </p:set>
                                    <p:animEffect transition="in" filter="strips(downRight)">
                                      <p:cBhvr>
                                        <p:cTn id="7"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solidFill>
                  <a:srgbClr val="C00000"/>
                </a:solidFill>
                <a:latin typeface="Arial" panose="020B0604020202020204" pitchFamily="34" charset="0"/>
                <a:cs typeface="Arial" panose="020B0604020202020204" pitchFamily="34" charset="0"/>
              </a:rPr>
              <a:t>Least Cost Method</a:t>
            </a:r>
          </a:p>
        </p:txBody>
      </p:sp>
      <p:sp>
        <p:nvSpPr>
          <p:cNvPr id="6" name="Content Placeholder 5">
            <a:extLst>
              <a:ext uri="{FF2B5EF4-FFF2-40B4-BE49-F238E27FC236}">
                <a16:creationId xmlns:a16="http://schemas.microsoft.com/office/drawing/2014/main" xmlns="" id="{12C3F38F-06D5-4ADF-BB89-374D8DB47BD2}"/>
              </a:ext>
            </a:extLst>
          </p:cNvPr>
          <p:cNvSpPr>
            <a:spLocks noGrp="1"/>
          </p:cNvSpPr>
          <p:nvPr>
            <p:ph idx="1"/>
          </p:nvPr>
        </p:nvSpPr>
        <p:spPr>
          <a:xfrm>
            <a:off x="856060" y="2249486"/>
            <a:ext cx="7429499" cy="4608513"/>
          </a:xfrm>
        </p:spPr>
        <p:txBody>
          <a:bodyPr>
            <a:normAutofit/>
          </a:bodyPr>
          <a:lstStyle/>
          <a:p>
            <a:pPr marL="0" indent="0">
              <a:buNone/>
            </a:pPr>
            <a:endParaRPr lang="en-US" dirty="0">
              <a:latin typeface="Arial" panose="020B0604020202020204" pitchFamily="34" charset="0"/>
              <a:cs typeface="Arial" panose="020B0604020202020204" pitchFamily="34" charset="0"/>
            </a:endParaRPr>
          </a:p>
          <a:p>
            <a:pPr marL="0" indent="0">
              <a:buNone/>
            </a:pPr>
            <a:endParaRPr lang="en-US" dirty="0">
              <a:latin typeface="Arial" panose="020B0604020202020204" pitchFamily="34" charset="0"/>
              <a:cs typeface="Arial" panose="020B0604020202020204" pitchFamily="34" charset="0"/>
            </a:endParaRPr>
          </a:p>
          <a:p>
            <a:pPr marL="0" indent="0">
              <a:buNone/>
            </a:pPr>
            <a:endParaRPr lang="en-US" dirty="0">
              <a:latin typeface="Arial" panose="020B0604020202020204" pitchFamily="34" charset="0"/>
              <a:cs typeface="Arial" panose="020B0604020202020204" pitchFamily="34" charset="0"/>
            </a:endParaRPr>
          </a:p>
        </p:txBody>
      </p:sp>
      <p:graphicFrame>
        <p:nvGraphicFramePr>
          <p:cNvPr id="5" name="Group 123">
            <a:extLst>
              <a:ext uri="{FF2B5EF4-FFF2-40B4-BE49-F238E27FC236}">
                <a16:creationId xmlns:a16="http://schemas.microsoft.com/office/drawing/2014/main" xmlns="" id="{A5DA3B2A-2E25-4DFF-9E0E-EBF2CA28C54C}"/>
              </a:ext>
            </a:extLst>
          </p:cNvPr>
          <p:cNvGraphicFramePr>
            <a:graphicFrameLocks noGrp="1"/>
          </p:cNvGraphicFramePr>
          <p:nvPr>
            <p:extLst>
              <p:ext uri="{D42A27DB-BD31-4B8C-83A1-F6EECF244321}">
                <p14:modId xmlns:p14="http://schemas.microsoft.com/office/powerpoint/2010/main" val="2683886039"/>
              </p:ext>
            </p:extLst>
          </p:nvPr>
        </p:nvGraphicFramePr>
        <p:xfrm>
          <a:off x="856060" y="2249486"/>
          <a:ext cx="6163297" cy="2670976"/>
        </p:xfrm>
        <a:graphic>
          <a:graphicData uri="http://schemas.openxmlformats.org/drawingml/2006/table">
            <a:tbl>
              <a:tblPr/>
              <a:tblGrid>
                <a:gridCol w="1737009">
                  <a:extLst>
                    <a:ext uri="{9D8B030D-6E8A-4147-A177-3AD203B41FA5}">
                      <a16:colId xmlns:a16="http://schemas.microsoft.com/office/drawing/2014/main" xmlns="" val="20000"/>
                    </a:ext>
                  </a:extLst>
                </a:gridCol>
                <a:gridCol w="1019792">
                  <a:extLst>
                    <a:ext uri="{9D8B030D-6E8A-4147-A177-3AD203B41FA5}">
                      <a16:colId xmlns:a16="http://schemas.microsoft.com/office/drawing/2014/main" xmlns="" val="20001"/>
                    </a:ext>
                  </a:extLst>
                </a:gridCol>
                <a:gridCol w="396431">
                  <a:extLst>
                    <a:ext uri="{9D8B030D-6E8A-4147-A177-3AD203B41FA5}">
                      <a16:colId xmlns:a16="http://schemas.microsoft.com/office/drawing/2014/main" xmlns="" val="20002"/>
                    </a:ext>
                  </a:extLst>
                </a:gridCol>
                <a:gridCol w="556121">
                  <a:extLst>
                    <a:ext uri="{9D8B030D-6E8A-4147-A177-3AD203B41FA5}">
                      <a16:colId xmlns:a16="http://schemas.microsoft.com/office/drawing/2014/main" xmlns="" val="20003"/>
                    </a:ext>
                  </a:extLst>
                </a:gridCol>
                <a:gridCol w="358608">
                  <a:extLst>
                    <a:ext uri="{9D8B030D-6E8A-4147-A177-3AD203B41FA5}">
                      <a16:colId xmlns:a16="http://schemas.microsoft.com/office/drawing/2014/main" xmlns="" val="20004"/>
                    </a:ext>
                  </a:extLst>
                </a:gridCol>
                <a:gridCol w="428943">
                  <a:extLst>
                    <a:ext uri="{9D8B030D-6E8A-4147-A177-3AD203B41FA5}">
                      <a16:colId xmlns:a16="http://schemas.microsoft.com/office/drawing/2014/main" xmlns="" val="20005"/>
                    </a:ext>
                  </a:extLst>
                </a:gridCol>
                <a:gridCol w="500915">
                  <a:extLst>
                    <a:ext uri="{9D8B030D-6E8A-4147-A177-3AD203B41FA5}">
                      <a16:colId xmlns:a16="http://schemas.microsoft.com/office/drawing/2014/main" xmlns="" val="20006"/>
                    </a:ext>
                  </a:extLst>
                </a:gridCol>
                <a:gridCol w="1165478">
                  <a:extLst>
                    <a:ext uri="{9D8B030D-6E8A-4147-A177-3AD203B41FA5}">
                      <a16:colId xmlns:a16="http://schemas.microsoft.com/office/drawing/2014/main" xmlns="" val="20007"/>
                    </a:ext>
                  </a:extLst>
                </a:gridCol>
              </a:tblGrid>
              <a:tr h="555364">
                <a:tc>
                  <a:txBody>
                    <a:bodyPr/>
                    <a:lstStyle/>
                    <a:p>
                      <a:pPr marL="0" marR="0" lvl="0" indent="0" algn="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bg1"/>
                          </a:solidFill>
                          <a:effectLst/>
                          <a:latin typeface="Arial" charset="0"/>
                          <a:ea typeface="ＭＳ Ｐゴシック" pitchFamily="34" charset="-128"/>
                        </a:rPr>
                        <a:t>TO</a:t>
                      </a:r>
                    </a:p>
                    <a:p>
                      <a:pPr marL="0" marR="0" lvl="0" indent="0" algn="l"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bg1"/>
                          </a:solidFill>
                          <a:effectLst/>
                          <a:latin typeface="Arial" charset="0"/>
                          <a:ea typeface="ＭＳ Ｐゴシック" pitchFamily="34" charset="-128"/>
                        </a:rPr>
                        <a:t>FROM</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9050" cap="flat" cmpd="sng" algn="ctr">
                      <a:solidFill>
                        <a:schemeClr val="tx1"/>
                      </a:solidFill>
                      <a:prstDash val="solid"/>
                      <a:round/>
                      <a:headEnd type="none" w="med" len="med"/>
                      <a:tailEnd type="none" w="med" len="med"/>
                    </a:lnTlToBr>
                    <a:lnBlToTr>
                      <a:noFill/>
                    </a:lnBlToTr>
                    <a:solidFill>
                      <a:srgbClr val="63BDE0"/>
                    </a:solidFill>
                  </a:tcPr>
                </a:tc>
                <a:tc gridSpan="2">
                  <a:txBody>
                    <a:bodyPr/>
                    <a:lstStyle/>
                    <a:p>
                      <a:pPr marL="0" marR="0" lvl="0" indent="0" algn="l"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bg1"/>
                          </a:solidFill>
                          <a:effectLst/>
                          <a:latin typeface="Arial" charset="0"/>
                          <a:ea typeface="ＭＳ Ｐゴシック" pitchFamily="34" charset="-128"/>
                        </a:rPr>
                        <a:t>Peshawar </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rgbClr val="63BDE0"/>
                    </a:solidFill>
                  </a:tcPr>
                </a:tc>
                <a:tc hMerge="1">
                  <a:txBody>
                    <a:bodyPr/>
                    <a:lstStyle/>
                    <a:p>
                      <a:endParaRPr lang="en-US"/>
                    </a:p>
                  </a:txBody>
                  <a:tcPr/>
                </a:tc>
                <a:tc gridSpan="2">
                  <a:txBody>
                    <a:bodyPr/>
                    <a:lstStyle/>
                    <a:p>
                      <a:pPr marL="0" marR="0" lvl="0" indent="0" algn="l"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bg1"/>
                          </a:solidFill>
                          <a:effectLst/>
                          <a:latin typeface="Arial" charset="0"/>
                          <a:ea typeface="ＭＳ Ｐゴシック" pitchFamily="34" charset="-128"/>
                        </a:rPr>
                        <a:t>Sialkot</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rgbClr val="63BDE0"/>
                    </a:solidFill>
                  </a:tcPr>
                </a:tc>
                <a:tc hMerge="1">
                  <a:txBody>
                    <a:bodyPr/>
                    <a:lstStyle/>
                    <a:p>
                      <a:endParaRPr lang="en-US"/>
                    </a:p>
                  </a:txBody>
                  <a:tcPr/>
                </a:tc>
                <a:tc gridSpan="2">
                  <a:txBody>
                    <a:bodyPr/>
                    <a:lstStyle/>
                    <a:p>
                      <a:pPr marL="0" marR="0" lvl="0" indent="0" algn="l"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bg1"/>
                          </a:solidFill>
                          <a:effectLst/>
                          <a:latin typeface="Arial" charset="0"/>
                          <a:ea typeface="ＭＳ Ｐゴシック" pitchFamily="34" charset="-128"/>
                        </a:rPr>
                        <a:t> Multan</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rgbClr val="63BDE0"/>
                    </a:solidFill>
                  </a:tcPr>
                </a:tc>
                <a:tc hMerge="1">
                  <a:txBody>
                    <a:bodyPr/>
                    <a:lstStyle/>
                    <a:p>
                      <a:endParaRPr lang="en-US"/>
                    </a:p>
                  </a:txBody>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bg1"/>
                          </a:solidFill>
                          <a:effectLst/>
                          <a:latin typeface="Arial" charset="0"/>
                          <a:ea typeface="ＭＳ Ｐゴシック" pitchFamily="34" charset="-128"/>
                        </a:rPr>
                        <a:t>FACTORY CAPACITY/Supply</a:t>
                      </a:r>
                    </a:p>
                  </a:txBody>
                  <a:tcPr marT="45709" marB="45709" anchor="b"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rgbClr val="63BDE0"/>
                    </a:solidFill>
                  </a:tcPr>
                </a:tc>
                <a:extLst>
                  <a:ext uri="{0D108BD9-81ED-4DB2-BD59-A6C34878D82A}">
                    <a16:rowId xmlns:a16="http://schemas.microsoft.com/office/drawing/2014/main" xmlns="" val="10000"/>
                  </a:ext>
                </a:extLst>
              </a:tr>
              <a:tr h="312663">
                <a:tc rowSpan="2">
                  <a:txBody>
                    <a:bodyPr/>
                    <a:lstStyle/>
                    <a:p>
                      <a:pPr marL="0" marR="0" lvl="0" indent="0" algn="l"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bg1"/>
                          </a:solidFill>
                          <a:effectLst/>
                          <a:latin typeface="Arial" charset="0"/>
                          <a:ea typeface="ＭＳ Ｐゴシック" pitchFamily="34" charset="-128"/>
                        </a:rPr>
                        <a:t> </a:t>
                      </a:r>
                      <a:br>
                        <a:rPr kumimoji="0" lang="en-US" sz="1400" b="1" i="0" u="none" strike="noStrike" cap="none" normalizeH="0" baseline="0" dirty="0">
                          <a:ln>
                            <a:noFill/>
                          </a:ln>
                          <a:solidFill>
                            <a:schemeClr val="bg1"/>
                          </a:solidFill>
                          <a:effectLst/>
                          <a:latin typeface="Arial" charset="0"/>
                          <a:ea typeface="ＭＳ Ｐゴシック" pitchFamily="34" charset="-128"/>
                        </a:rPr>
                      </a:br>
                      <a:r>
                        <a:rPr kumimoji="0" lang="en-US" sz="1400" b="1" i="0" u="none" strike="noStrike" cap="none" normalizeH="0" baseline="0" dirty="0">
                          <a:ln>
                            <a:noFill/>
                          </a:ln>
                          <a:solidFill>
                            <a:schemeClr val="bg1"/>
                          </a:solidFill>
                          <a:effectLst/>
                          <a:latin typeface="Arial" charset="0"/>
                          <a:ea typeface="ＭＳ Ｐゴシック" pitchFamily="34" charset="-128"/>
                        </a:rPr>
                        <a:t>Karachi</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rgbClr val="63BDE0"/>
                    </a:solidFill>
                  </a:tcPr>
                </a:tc>
                <a:tc rowSpan="2">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tx1"/>
                          </a:solidFill>
                          <a:effectLst>
                            <a:outerShdw blurRad="38100" dist="38100" dir="2700000" algn="tl">
                              <a:srgbClr val="C0C0C0"/>
                            </a:outerShdw>
                          </a:effectLst>
                          <a:latin typeface="Arial" charset="0"/>
                          <a:ea typeface="ＭＳ Ｐゴシック" pitchFamily="34" charset="-128"/>
                        </a:rPr>
                        <a:t>13</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endParaRPr kumimoji="0" lang="en-US" sz="1400" b="1" i="0" u="none" strike="noStrike" cap="none" normalizeH="0" baseline="0" dirty="0">
                        <a:ln>
                          <a:noFill/>
                        </a:ln>
                        <a:solidFill>
                          <a:schemeClr val="tx1"/>
                        </a:solidFill>
                        <a:effectLst/>
                        <a:latin typeface="Arial" charset="0"/>
                        <a:ea typeface="ＭＳ Ｐゴシック" pitchFamily="34" charset="-128"/>
                      </a:endParaRP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accent2"/>
                          </a:solidFill>
                          <a:effectLst/>
                          <a:latin typeface="Arial" charset="0"/>
                          <a:ea typeface="ＭＳ Ｐゴシック" pitchFamily="34" charset="-128"/>
                        </a:rPr>
                        <a:t>11</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tx1"/>
                          </a:solidFill>
                          <a:effectLst/>
                          <a:latin typeface="Arial" charset="0"/>
                          <a:ea typeface="ＭＳ Ｐゴシック" pitchFamily="34" charset="-128"/>
                        </a:rPr>
                        <a:t>2</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tx1"/>
                          </a:solidFill>
                          <a:effectLst/>
                          <a:latin typeface="Arial" charset="0"/>
                          <a:ea typeface="ＭＳ Ｐゴシック" pitchFamily="34" charset="-128"/>
                        </a:rPr>
                        <a:t>40</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endParaRPr kumimoji="0" lang="en-US" sz="1400" b="1" i="0" u="none" strike="noStrike" cap="none" normalizeH="0" baseline="0" dirty="0">
                        <a:ln>
                          <a:noFill/>
                        </a:ln>
                        <a:solidFill>
                          <a:schemeClr val="tx1"/>
                        </a:solidFill>
                        <a:effectLst/>
                        <a:latin typeface="Arial" charset="0"/>
                        <a:ea typeface="ＭＳ Ｐゴシック" pitchFamily="34" charset="-128"/>
                      </a:endParaRP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tx1"/>
                          </a:solidFill>
                          <a:effectLst/>
                          <a:latin typeface="Arial" charset="0"/>
                          <a:ea typeface="ＭＳ Ｐゴシック" pitchFamily="34" charset="-128"/>
                        </a:rPr>
                        <a:t>0</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1"/>
                  </a:ext>
                </a:extLst>
              </a:tr>
              <a:tr h="312663">
                <a:tc vMerge="1">
                  <a:txBody>
                    <a:bodyPr/>
                    <a:lstStyle/>
                    <a:p>
                      <a:endParaRPr lang="en-US"/>
                    </a:p>
                  </a:txBody>
                  <a:tcPr/>
                </a:tc>
                <a:tc vMerge="1">
                  <a:txBody>
                    <a:bodyPr/>
                    <a:lstStyle/>
                    <a:p>
                      <a:endParaRPr lang="en-US"/>
                    </a:p>
                  </a:txBody>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endParaRPr kumimoji="0" lang="en-US" sz="1400" b="1" i="0" u="none" strike="noStrike" cap="none" normalizeH="0" baseline="0" dirty="0">
                        <a:ln>
                          <a:noFill/>
                        </a:ln>
                        <a:solidFill>
                          <a:schemeClr val="tx1"/>
                        </a:solidFill>
                        <a:effectLst/>
                        <a:latin typeface="Arial" charset="0"/>
                        <a:ea typeface="ＭＳ Ｐゴシック" pitchFamily="34" charset="-128"/>
                      </a:endParaRPr>
                    </a:p>
                  </a:txBody>
                  <a:tcPr marT="45709" marB="45709" anchor="ctr" horzOverflow="overflow">
                    <a:lnL>
                      <a:noFill/>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vMerge="1">
                  <a:txBody>
                    <a:bodyPr/>
                    <a:lstStyle/>
                    <a:p>
                      <a:endParaRPr lang="en-US"/>
                    </a:p>
                  </a:txBody>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endParaRPr kumimoji="0" lang="en-US" sz="1400" b="1" i="0" u="none" strike="noStrike" cap="none" normalizeH="0" baseline="0" dirty="0">
                        <a:ln>
                          <a:noFill/>
                        </a:ln>
                        <a:solidFill>
                          <a:schemeClr val="tx1"/>
                        </a:solidFill>
                        <a:effectLst/>
                        <a:latin typeface="Arial" charset="0"/>
                        <a:ea typeface="ＭＳ Ｐゴシック" pitchFamily="34" charset="-128"/>
                      </a:endParaRPr>
                    </a:p>
                  </a:txBody>
                  <a:tcPr marT="45709" marB="45709" anchor="ctr" horzOverflow="overflow">
                    <a:lnL>
                      <a:noFill/>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vMerge="1">
                  <a:txBody>
                    <a:bodyPr/>
                    <a:lstStyle/>
                    <a:p>
                      <a:endParaRPr lang="en-US"/>
                    </a:p>
                  </a:txBody>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endParaRPr kumimoji="0" lang="en-US" sz="1400" b="1" i="0" u="none" strike="noStrike" cap="none" normalizeH="0" baseline="0" dirty="0">
                        <a:ln>
                          <a:noFill/>
                        </a:ln>
                        <a:solidFill>
                          <a:schemeClr val="tx1"/>
                        </a:solidFill>
                        <a:effectLst/>
                        <a:latin typeface="Arial" charset="0"/>
                        <a:ea typeface="ＭＳ Ｐゴシック" pitchFamily="34" charset="-128"/>
                      </a:endParaRPr>
                    </a:p>
                  </a:txBody>
                  <a:tcPr marT="45709" marB="45709" anchor="ctr" horzOverflow="overflow">
                    <a:lnL>
                      <a:noFill/>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vMerge="1">
                  <a:txBody>
                    <a:bodyPr/>
                    <a:lstStyle/>
                    <a:p>
                      <a:endParaRPr lang="en-US"/>
                    </a:p>
                  </a:txBody>
                  <a:tcPr/>
                </a:tc>
                <a:extLst>
                  <a:ext uri="{0D108BD9-81ED-4DB2-BD59-A6C34878D82A}">
                    <a16:rowId xmlns:a16="http://schemas.microsoft.com/office/drawing/2014/main" xmlns="" val="10002"/>
                  </a:ext>
                </a:extLst>
              </a:tr>
              <a:tr h="312663">
                <a:tc rowSpan="2">
                  <a:txBody>
                    <a:bodyPr/>
                    <a:lstStyle/>
                    <a:p>
                      <a:pPr marL="0" marR="0" lvl="0" indent="0" algn="l"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bg1"/>
                          </a:solidFill>
                          <a:effectLst/>
                          <a:latin typeface="Arial" charset="0"/>
                          <a:ea typeface="ＭＳ Ｐゴシック" pitchFamily="34" charset="-128"/>
                        </a:rPr>
                        <a:t>Lahore</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rgbClr val="63BDE0"/>
                    </a:solidFill>
                  </a:tcPr>
                </a:tc>
                <a:tc rowSpan="2">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tx1"/>
                          </a:solidFill>
                          <a:effectLst/>
                          <a:latin typeface="Arial" charset="0"/>
                          <a:ea typeface="ＭＳ Ｐゴシック" pitchFamily="34" charset="-128"/>
                        </a:rPr>
                        <a:t>18</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endParaRPr kumimoji="0" lang="en-US" sz="1400" b="1" i="0" u="none" strike="noStrike" cap="none" normalizeH="0" baseline="0" dirty="0">
                        <a:ln>
                          <a:noFill/>
                        </a:ln>
                        <a:solidFill>
                          <a:schemeClr val="tx1"/>
                        </a:solidFill>
                        <a:effectLst/>
                        <a:latin typeface="Arial" charset="0"/>
                        <a:ea typeface="ＭＳ Ｐゴシック" pitchFamily="34" charset="-128"/>
                      </a:endParaRP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tx1"/>
                          </a:solidFill>
                          <a:effectLst/>
                          <a:latin typeface="Arial" charset="0"/>
                          <a:ea typeface="ＭＳ Ｐゴシック" pitchFamily="34" charset="-128"/>
                        </a:rPr>
                        <a:t>18</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endParaRPr kumimoji="0" lang="en-US" sz="1400" b="1" i="0" u="none" strike="noStrike" cap="none" normalizeH="0" baseline="0" dirty="0">
                        <a:ln>
                          <a:noFill/>
                        </a:ln>
                        <a:solidFill>
                          <a:schemeClr val="tx1"/>
                        </a:solidFill>
                        <a:effectLst/>
                        <a:latin typeface="Arial" charset="0"/>
                        <a:ea typeface="ＭＳ Ｐゴシック" pitchFamily="34" charset="-128"/>
                      </a:endParaRP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tx1"/>
                          </a:solidFill>
                          <a:effectLst/>
                          <a:latin typeface="Arial" charset="0"/>
                          <a:ea typeface="ＭＳ Ｐゴシック" pitchFamily="34" charset="-128"/>
                        </a:rPr>
                        <a:t>12</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endParaRPr kumimoji="0" lang="en-US" sz="1400" b="1" i="0" u="none" strike="noStrike" cap="none" normalizeH="0" baseline="0" dirty="0">
                        <a:ln>
                          <a:noFill/>
                        </a:ln>
                        <a:solidFill>
                          <a:schemeClr val="tx1"/>
                        </a:solidFill>
                        <a:effectLst/>
                        <a:latin typeface="Arial" charset="0"/>
                        <a:ea typeface="ＭＳ Ｐゴシック" pitchFamily="34" charset="-128"/>
                      </a:endParaRP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tx1"/>
                          </a:solidFill>
                          <a:effectLst/>
                          <a:latin typeface="Arial" charset="0"/>
                          <a:ea typeface="ＭＳ Ｐゴシック" pitchFamily="34" charset="-128"/>
                        </a:rPr>
                        <a:t>7</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5"/>
                  </a:ext>
                </a:extLst>
              </a:tr>
              <a:tr h="312663">
                <a:tc vMerge="1">
                  <a:txBody>
                    <a:bodyPr/>
                    <a:lstStyle/>
                    <a:p>
                      <a:endParaRPr lang="en-US"/>
                    </a:p>
                  </a:txBody>
                  <a:tcPr/>
                </a:tc>
                <a:tc vMerge="1">
                  <a:txBody>
                    <a:bodyPr/>
                    <a:lstStyle/>
                    <a:p>
                      <a:endParaRPr lang="en-US"/>
                    </a:p>
                  </a:txBody>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endParaRPr kumimoji="0" lang="en-US" sz="1400" b="1" i="0" u="none" strike="noStrike" cap="none" normalizeH="0" baseline="0" dirty="0">
                        <a:ln>
                          <a:noFill/>
                        </a:ln>
                        <a:solidFill>
                          <a:schemeClr val="tx1"/>
                        </a:solidFill>
                        <a:effectLst/>
                        <a:latin typeface="Arial" charset="0"/>
                        <a:ea typeface="ＭＳ Ｐゴシック" pitchFamily="34" charset="-128"/>
                      </a:endParaRPr>
                    </a:p>
                  </a:txBody>
                  <a:tcPr marT="45709" marB="45709" anchor="ctr" horzOverflow="overflow">
                    <a:lnL>
                      <a:noFill/>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vMerge="1">
                  <a:txBody>
                    <a:bodyPr/>
                    <a:lstStyle/>
                    <a:p>
                      <a:endParaRPr lang="en-US"/>
                    </a:p>
                  </a:txBody>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endParaRPr kumimoji="0" lang="en-US" sz="1400" b="1" i="0" u="none" strike="noStrike" cap="none" normalizeH="0" baseline="0" dirty="0">
                        <a:ln>
                          <a:noFill/>
                        </a:ln>
                        <a:solidFill>
                          <a:schemeClr val="tx1"/>
                        </a:solidFill>
                        <a:effectLst/>
                        <a:latin typeface="Arial" charset="0"/>
                        <a:ea typeface="ＭＳ Ｐゴシック" pitchFamily="34" charset="-128"/>
                      </a:endParaRPr>
                    </a:p>
                  </a:txBody>
                  <a:tcPr marT="45709" marB="45709" anchor="ctr" horzOverflow="overflow">
                    <a:lnL>
                      <a:noFill/>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vMerge="1">
                  <a:txBody>
                    <a:bodyPr/>
                    <a:lstStyle/>
                    <a:p>
                      <a:endParaRPr lang="en-US"/>
                    </a:p>
                  </a:txBody>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endParaRPr kumimoji="0" lang="en-US" sz="1400" b="1" i="0" u="none" strike="noStrike" cap="none" normalizeH="0" baseline="0" dirty="0">
                        <a:ln>
                          <a:noFill/>
                        </a:ln>
                        <a:solidFill>
                          <a:schemeClr val="tx1"/>
                        </a:solidFill>
                        <a:effectLst/>
                        <a:latin typeface="Arial" charset="0"/>
                        <a:ea typeface="ＭＳ Ｐゴシック" pitchFamily="34" charset="-128"/>
                      </a:endParaRPr>
                    </a:p>
                  </a:txBody>
                  <a:tcPr marT="45709" marB="45709" anchor="ctr" horzOverflow="overflow">
                    <a:lnL>
                      <a:noFill/>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vMerge="1">
                  <a:txBody>
                    <a:bodyPr/>
                    <a:lstStyle/>
                    <a:p>
                      <a:endParaRPr lang="en-US"/>
                    </a:p>
                  </a:txBody>
                  <a:tcPr/>
                </a:tc>
                <a:extLst>
                  <a:ext uri="{0D108BD9-81ED-4DB2-BD59-A6C34878D82A}">
                    <a16:rowId xmlns:a16="http://schemas.microsoft.com/office/drawing/2014/main" xmlns="" val="10006"/>
                  </a:ext>
                </a:extLst>
              </a:tr>
              <a:tr h="625324">
                <a:tc>
                  <a:txBody>
                    <a:bodyPr/>
                    <a:lstStyle/>
                    <a:p>
                      <a:pPr marL="0" marR="0" lvl="0" indent="0" algn="l"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bg1"/>
                          </a:solidFill>
                          <a:effectLst/>
                          <a:latin typeface="Arial" charset="0"/>
                          <a:ea typeface="ＭＳ Ｐゴシック" pitchFamily="34" charset="-128"/>
                        </a:rPr>
                        <a:t>Requirement/</a:t>
                      </a:r>
                    </a:p>
                    <a:p>
                      <a:pPr marL="0" marR="0" lvl="0" indent="0" algn="l"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bg1"/>
                          </a:solidFill>
                          <a:effectLst/>
                          <a:latin typeface="Arial" charset="0"/>
                          <a:ea typeface="ＭＳ Ｐゴシック" pitchFamily="34" charset="-128"/>
                        </a:rPr>
                        <a:t>Demand</a:t>
                      </a:r>
                    </a:p>
                    <a:p>
                      <a:pPr marL="0" marR="0" lvl="0" indent="0" algn="l"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endParaRPr kumimoji="0" lang="en-US" sz="1400" b="1" i="0" u="none" strike="noStrike" cap="none" normalizeH="0" baseline="0" dirty="0">
                        <a:ln>
                          <a:noFill/>
                        </a:ln>
                        <a:solidFill>
                          <a:schemeClr val="bg1"/>
                        </a:solidFill>
                        <a:effectLst/>
                        <a:latin typeface="Arial" charset="0"/>
                        <a:ea typeface="ＭＳ Ｐゴシック" pitchFamily="34" charset="-128"/>
                      </a:endParaRP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rgbClr val="63BDE0"/>
                    </a:solidFill>
                  </a:tcPr>
                </a:tc>
                <a:tc gridSpan="2">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tx1"/>
                          </a:solidFill>
                          <a:effectLst/>
                          <a:latin typeface="Arial" charset="0"/>
                          <a:ea typeface="ＭＳ Ｐゴシック" pitchFamily="34" charset="-128"/>
                        </a:rPr>
                        <a:t>1</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tc gridSpan="2">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tx1"/>
                          </a:solidFill>
                          <a:effectLst/>
                          <a:latin typeface="Arial" charset="0"/>
                          <a:ea typeface="ＭＳ Ｐゴシック" pitchFamily="34" charset="-128"/>
                        </a:rPr>
                        <a:t>1</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tc gridSpan="2">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tx1"/>
                          </a:solidFill>
                          <a:effectLst/>
                          <a:latin typeface="Arial" charset="0"/>
                          <a:ea typeface="ＭＳ Ｐゴシック" pitchFamily="34" charset="-128"/>
                        </a:rPr>
                        <a:t>5</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endParaRPr kumimoji="0" lang="en-US" sz="1400" b="1" i="0" u="none" strike="noStrike" cap="none" normalizeH="0" baseline="0" dirty="0">
                        <a:ln>
                          <a:noFill/>
                        </a:ln>
                        <a:solidFill>
                          <a:schemeClr val="tx1"/>
                        </a:solidFill>
                        <a:effectLst/>
                        <a:latin typeface="Arial" charset="0"/>
                        <a:ea typeface="ＭＳ Ｐゴシック" pitchFamily="34" charset="-128"/>
                      </a:endParaRP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7"/>
                  </a:ext>
                </a:extLst>
              </a:tr>
            </a:tbl>
          </a:graphicData>
        </a:graphic>
      </p:graphicFrame>
    </p:spTree>
    <p:extLst>
      <p:ext uri="{BB962C8B-B14F-4D97-AF65-F5344CB8AC3E}">
        <p14:creationId xmlns:p14="http://schemas.microsoft.com/office/powerpoint/2010/main" val="40584378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6" fill="hold" nodeType="afterEffect">
                                  <p:stCondLst>
                                    <p:cond delay="1000"/>
                                  </p:stCondLst>
                                  <p:childTnLst>
                                    <p:set>
                                      <p:cBhvr>
                                        <p:cTn id="6" dur="1" fill="hold">
                                          <p:stCondLst>
                                            <p:cond delay="0"/>
                                          </p:stCondLst>
                                        </p:cTn>
                                        <p:tgtEl>
                                          <p:spTgt spid="5"/>
                                        </p:tgtEl>
                                        <p:attrNameLst>
                                          <p:attrName>style.visibility</p:attrName>
                                        </p:attrNameLst>
                                      </p:cBhvr>
                                      <p:to>
                                        <p:strVal val="visible"/>
                                      </p:to>
                                    </p:set>
                                    <p:animEffect transition="in" filter="strips(downRight)">
                                      <p:cBhvr>
                                        <p:cTn id="7"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solidFill>
                  <a:srgbClr val="C00000"/>
                </a:solidFill>
                <a:latin typeface="Arial" panose="020B0604020202020204" pitchFamily="34" charset="0"/>
                <a:cs typeface="Arial" panose="020B0604020202020204" pitchFamily="34" charset="0"/>
              </a:rPr>
              <a:t>Least Cost Method</a:t>
            </a:r>
          </a:p>
        </p:txBody>
      </p:sp>
      <p:sp>
        <p:nvSpPr>
          <p:cNvPr id="6" name="Content Placeholder 5">
            <a:extLst>
              <a:ext uri="{FF2B5EF4-FFF2-40B4-BE49-F238E27FC236}">
                <a16:creationId xmlns:a16="http://schemas.microsoft.com/office/drawing/2014/main" xmlns="" id="{12C3F38F-06D5-4ADF-BB89-374D8DB47BD2}"/>
              </a:ext>
            </a:extLst>
          </p:cNvPr>
          <p:cNvSpPr>
            <a:spLocks noGrp="1"/>
          </p:cNvSpPr>
          <p:nvPr>
            <p:ph idx="1"/>
          </p:nvPr>
        </p:nvSpPr>
        <p:spPr>
          <a:xfrm>
            <a:off x="856060" y="2249486"/>
            <a:ext cx="7429499" cy="4608513"/>
          </a:xfrm>
        </p:spPr>
        <p:txBody>
          <a:bodyPr>
            <a:normAutofit/>
          </a:bodyPr>
          <a:lstStyle/>
          <a:p>
            <a:pPr marL="0" indent="0">
              <a:buNone/>
            </a:pPr>
            <a:endParaRPr lang="en-US" dirty="0">
              <a:latin typeface="Arial" panose="020B0604020202020204" pitchFamily="34" charset="0"/>
              <a:cs typeface="Arial" panose="020B0604020202020204" pitchFamily="34" charset="0"/>
            </a:endParaRPr>
          </a:p>
          <a:p>
            <a:pPr marL="0" indent="0">
              <a:buNone/>
            </a:pPr>
            <a:endParaRPr lang="en-US" dirty="0">
              <a:latin typeface="Arial" panose="020B0604020202020204" pitchFamily="34" charset="0"/>
              <a:cs typeface="Arial" panose="020B0604020202020204" pitchFamily="34" charset="0"/>
            </a:endParaRPr>
          </a:p>
          <a:p>
            <a:pPr marL="0" indent="0">
              <a:buNone/>
            </a:pPr>
            <a:endParaRPr lang="en-US" dirty="0">
              <a:latin typeface="Arial" panose="020B0604020202020204" pitchFamily="34" charset="0"/>
              <a:cs typeface="Arial" panose="020B0604020202020204" pitchFamily="34" charset="0"/>
            </a:endParaRPr>
          </a:p>
        </p:txBody>
      </p:sp>
      <p:graphicFrame>
        <p:nvGraphicFramePr>
          <p:cNvPr id="5" name="Group 123">
            <a:extLst>
              <a:ext uri="{FF2B5EF4-FFF2-40B4-BE49-F238E27FC236}">
                <a16:creationId xmlns:a16="http://schemas.microsoft.com/office/drawing/2014/main" xmlns="" id="{A5DA3B2A-2E25-4DFF-9E0E-EBF2CA28C54C}"/>
              </a:ext>
            </a:extLst>
          </p:cNvPr>
          <p:cNvGraphicFramePr>
            <a:graphicFrameLocks noGrp="1"/>
          </p:cNvGraphicFramePr>
          <p:nvPr>
            <p:extLst>
              <p:ext uri="{D42A27DB-BD31-4B8C-83A1-F6EECF244321}">
                <p14:modId xmlns:p14="http://schemas.microsoft.com/office/powerpoint/2010/main" val="782523296"/>
              </p:ext>
            </p:extLst>
          </p:nvPr>
        </p:nvGraphicFramePr>
        <p:xfrm>
          <a:off x="856060" y="2249486"/>
          <a:ext cx="6163297" cy="2045650"/>
        </p:xfrm>
        <a:graphic>
          <a:graphicData uri="http://schemas.openxmlformats.org/drawingml/2006/table">
            <a:tbl>
              <a:tblPr/>
              <a:tblGrid>
                <a:gridCol w="1737009">
                  <a:extLst>
                    <a:ext uri="{9D8B030D-6E8A-4147-A177-3AD203B41FA5}">
                      <a16:colId xmlns:a16="http://schemas.microsoft.com/office/drawing/2014/main" xmlns="" val="20000"/>
                    </a:ext>
                  </a:extLst>
                </a:gridCol>
                <a:gridCol w="1019792">
                  <a:extLst>
                    <a:ext uri="{9D8B030D-6E8A-4147-A177-3AD203B41FA5}">
                      <a16:colId xmlns:a16="http://schemas.microsoft.com/office/drawing/2014/main" xmlns="" val="20001"/>
                    </a:ext>
                  </a:extLst>
                </a:gridCol>
                <a:gridCol w="396431">
                  <a:extLst>
                    <a:ext uri="{9D8B030D-6E8A-4147-A177-3AD203B41FA5}">
                      <a16:colId xmlns:a16="http://schemas.microsoft.com/office/drawing/2014/main" xmlns="" val="20002"/>
                    </a:ext>
                  </a:extLst>
                </a:gridCol>
                <a:gridCol w="556121">
                  <a:extLst>
                    <a:ext uri="{9D8B030D-6E8A-4147-A177-3AD203B41FA5}">
                      <a16:colId xmlns:a16="http://schemas.microsoft.com/office/drawing/2014/main" xmlns="" val="20003"/>
                    </a:ext>
                  </a:extLst>
                </a:gridCol>
                <a:gridCol w="358608">
                  <a:extLst>
                    <a:ext uri="{9D8B030D-6E8A-4147-A177-3AD203B41FA5}">
                      <a16:colId xmlns:a16="http://schemas.microsoft.com/office/drawing/2014/main" xmlns="" val="20004"/>
                    </a:ext>
                  </a:extLst>
                </a:gridCol>
                <a:gridCol w="428943">
                  <a:extLst>
                    <a:ext uri="{9D8B030D-6E8A-4147-A177-3AD203B41FA5}">
                      <a16:colId xmlns:a16="http://schemas.microsoft.com/office/drawing/2014/main" xmlns="" val="20005"/>
                    </a:ext>
                  </a:extLst>
                </a:gridCol>
                <a:gridCol w="500915">
                  <a:extLst>
                    <a:ext uri="{9D8B030D-6E8A-4147-A177-3AD203B41FA5}">
                      <a16:colId xmlns:a16="http://schemas.microsoft.com/office/drawing/2014/main" xmlns="" val="20006"/>
                    </a:ext>
                  </a:extLst>
                </a:gridCol>
                <a:gridCol w="1165478">
                  <a:extLst>
                    <a:ext uri="{9D8B030D-6E8A-4147-A177-3AD203B41FA5}">
                      <a16:colId xmlns:a16="http://schemas.microsoft.com/office/drawing/2014/main" xmlns="" val="20007"/>
                    </a:ext>
                  </a:extLst>
                </a:gridCol>
              </a:tblGrid>
              <a:tr h="555364">
                <a:tc>
                  <a:txBody>
                    <a:bodyPr/>
                    <a:lstStyle/>
                    <a:p>
                      <a:pPr marL="0" marR="0" lvl="0" indent="0" algn="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bg1"/>
                          </a:solidFill>
                          <a:effectLst/>
                          <a:latin typeface="Arial" charset="0"/>
                          <a:ea typeface="ＭＳ Ｐゴシック" pitchFamily="34" charset="-128"/>
                        </a:rPr>
                        <a:t>TO</a:t>
                      </a:r>
                    </a:p>
                    <a:p>
                      <a:pPr marL="0" marR="0" lvl="0" indent="0" algn="l"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bg1"/>
                          </a:solidFill>
                          <a:effectLst/>
                          <a:latin typeface="Arial" charset="0"/>
                          <a:ea typeface="ＭＳ Ｐゴシック" pitchFamily="34" charset="-128"/>
                        </a:rPr>
                        <a:t>FROM</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9050" cap="flat" cmpd="sng" algn="ctr">
                      <a:solidFill>
                        <a:schemeClr val="tx1"/>
                      </a:solidFill>
                      <a:prstDash val="solid"/>
                      <a:round/>
                      <a:headEnd type="none" w="med" len="med"/>
                      <a:tailEnd type="none" w="med" len="med"/>
                    </a:lnTlToBr>
                    <a:lnBlToTr>
                      <a:noFill/>
                    </a:lnBlToTr>
                    <a:solidFill>
                      <a:srgbClr val="63BDE0"/>
                    </a:solidFill>
                  </a:tcPr>
                </a:tc>
                <a:tc gridSpan="2">
                  <a:txBody>
                    <a:bodyPr/>
                    <a:lstStyle/>
                    <a:p>
                      <a:pPr marL="0" marR="0" lvl="0" indent="0" algn="l"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bg1"/>
                          </a:solidFill>
                          <a:effectLst/>
                          <a:latin typeface="Arial" charset="0"/>
                          <a:ea typeface="ＭＳ Ｐゴシック" pitchFamily="34" charset="-128"/>
                        </a:rPr>
                        <a:t>Peshawar </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rgbClr val="63BDE0"/>
                    </a:solidFill>
                  </a:tcPr>
                </a:tc>
                <a:tc hMerge="1">
                  <a:txBody>
                    <a:bodyPr/>
                    <a:lstStyle/>
                    <a:p>
                      <a:endParaRPr lang="en-US"/>
                    </a:p>
                  </a:txBody>
                  <a:tcPr/>
                </a:tc>
                <a:tc gridSpan="2">
                  <a:txBody>
                    <a:bodyPr/>
                    <a:lstStyle/>
                    <a:p>
                      <a:pPr marL="0" marR="0" lvl="0" indent="0" algn="l"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bg1"/>
                          </a:solidFill>
                          <a:effectLst/>
                          <a:latin typeface="Arial" charset="0"/>
                          <a:ea typeface="ＭＳ Ｐゴシック" pitchFamily="34" charset="-128"/>
                        </a:rPr>
                        <a:t>Sialkot</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rgbClr val="63BDE0"/>
                    </a:solidFill>
                  </a:tcPr>
                </a:tc>
                <a:tc hMerge="1">
                  <a:txBody>
                    <a:bodyPr/>
                    <a:lstStyle/>
                    <a:p>
                      <a:endParaRPr lang="en-US"/>
                    </a:p>
                  </a:txBody>
                  <a:tcPr/>
                </a:tc>
                <a:tc gridSpan="2">
                  <a:txBody>
                    <a:bodyPr/>
                    <a:lstStyle/>
                    <a:p>
                      <a:pPr marL="0" marR="0" lvl="0" indent="0" algn="l"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bg1"/>
                          </a:solidFill>
                          <a:effectLst/>
                          <a:latin typeface="Arial" charset="0"/>
                          <a:ea typeface="ＭＳ Ｐゴシック" pitchFamily="34" charset="-128"/>
                        </a:rPr>
                        <a:t> Multan</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rgbClr val="63BDE0"/>
                    </a:solidFill>
                  </a:tcPr>
                </a:tc>
                <a:tc hMerge="1">
                  <a:txBody>
                    <a:bodyPr/>
                    <a:lstStyle/>
                    <a:p>
                      <a:endParaRPr lang="en-US"/>
                    </a:p>
                  </a:txBody>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bg1"/>
                          </a:solidFill>
                          <a:effectLst/>
                          <a:latin typeface="Arial" charset="0"/>
                          <a:ea typeface="ＭＳ Ｐゴシック" pitchFamily="34" charset="-128"/>
                        </a:rPr>
                        <a:t>FACTORY CAPACITY/Supply</a:t>
                      </a:r>
                    </a:p>
                  </a:txBody>
                  <a:tcPr marT="45709" marB="45709" anchor="b"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rgbClr val="63BDE0"/>
                    </a:solidFill>
                  </a:tcPr>
                </a:tc>
                <a:extLst>
                  <a:ext uri="{0D108BD9-81ED-4DB2-BD59-A6C34878D82A}">
                    <a16:rowId xmlns:a16="http://schemas.microsoft.com/office/drawing/2014/main" xmlns="" val="10000"/>
                  </a:ext>
                </a:extLst>
              </a:tr>
              <a:tr h="312663">
                <a:tc rowSpan="2">
                  <a:txBody>
                    <a:bodyPr/>
                    <a:lstStyle/>
                    <a:p>
                      <a:pPr marL="0" marR="0" lvl="0" indent="0" algn="l"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bg1"/>
                          </a:solidFill>
                          <a:effectLst/>
                          <a:latin typeface="Arial" charset="0"/>
                          <a:ea typeface="ＭＳ Ｐゴシック" pitchFamily="34" charset="-128"/>
                        </a:rPr>
                        <a:t>Lahore</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rgbClr val="63BDE0"/>
                    </a:solidFill>
                  </a:tcPr>
                </a:tc>
                <a:tc rowSpan="2">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tx1"/>
                          </a:solidFill>
                          <a:effectLst/>
                          <a:latin typeface="Arial" charset="0"/>
                          <a:ea typeface="ＭＳ Ｐゴシック" pitchFamily="34" charset="-128"/>
                        </a:rPr>
                        <a:t>18</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endParaRPr kumimoji="0" lang="en-US" sz="1400" b="1" i="0" u="none" strike="noStrike" cap="none" normalizeH="0" baseline="0" dirty="0">
                        <a:ln>
                          <a:noFill/>
                        </a:ln>
                        <a:solidFill>
                          <a:schemeClr val="tx1"/>
                        </a:solidFill>
                        <a:effectLst/>
                        <a:latin typeface="Arial" charset="0"/>
                        <a:ea typeface="ＭＳ Ｐゴシック" pitchFamily="34" charset="-128"/>
                      </a:endParaRP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tx1"/>
                          </a:solidFill>
                          <a:effectLst/>
                          <a:latin typeface="Arial" charset="0"/>
                          <a:ea typeface="ＭＳ Ｐゴシック" pitchFamily="34" charset="-128"/>
                        </a:rPr>
                        <a:t>18</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endParaRPr kumimoji="0" lang="en-US" sz="1400" b="1" i="0" u="none" strike="noStrike" cap="none" normalizeH="0" baseline="0" dirty="0">
                        <a:ln>
                          <a:noFill/>
                        </a:ln>
                        <a:solidFill>
                          <a:schemeClr val="tx1"/>
                        </a:solidFill>
                        <a:effectLst/>
                        <a:latin typeface="Arial" charset="0"/>
                        <a:ea typeface="ＭＳ Ｐゴシック" pitchFamily="34" charset="-128"/>
                      </a:endParaRP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accent2"/>
                          </a:solidFill>
                          <a:effectLst/>
                          <a:latin typeface="Arial" charset="0"/>
                          <a:ea typeface="ＭＳ Ｐゴシック" pitchFamily="34" charset="-128"/>
                        </a:rPr>
                        <a:t>12</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endParaRPr kumimoji="0" lang="en-US" sz="1400" b="1" i="0" u="none" strike="noStrike" cap="none" normalizeH="0" baseline="0" dirty="0">
                        <a:ln>
                          <a:noFill/>
                        </a:ln>
                        <a:solidFill>
                          <a:schemeClr val="tx1"/>
                        </a:solidFill>
                        <a:effectLst/>
                        <a:latin typeface="Arial" charset="0"/>
                        <a:ea typeface="ＭＳ Ｐゴシック" pitchFamily="34" charset="-128"/>
                      </a:endParaRP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tx1"/>
                          </a:solidFill>
                          <a:effectLst/>
                          <a:latin typeface="Arial" charset="0"/>
                          <a:ea typeface="ＭＳ Ｐゴシック" pitchFamily="34" charset="-128"/>
                        </a:rPr>
                        <a:t>7</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5"/>
                  </a:ext>
                </a:extLst>
              </a:tr>
              <a:tr h="312663">
                <a:tc vMerge="1">
                  <a:txBody>
                    <a:bodyPr/>
                    <a:lstStyle/>
                    <a:p>
                      <a:endParaRPr lang="en-US"/>
                    </a:p>
                  </a:txBody>
                  <a:tcPr/>
                </a:tc>
                <a:tc vMerge="1">
                  <a:txBody>
                    <a:bodyPr/>
                    <a:lstStyle/>
                    <a:p>
                      <a:endParaRPr lang="en-US"/>
                    </a:p>
                  </a:txBody>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endParaRPr kumimoji="0" lang="en-US" sz="1400" b="1" i="0" u="none" strike="noStrike" cap="none" normalizeH="0" baseline="0" dirty="0">
                        <a:ln>
                          <a:noFill/>
                        </a:ln>
                        <a:solidFill>
                          <a:schemeClr val="tx1"/>
                        </a:solidFill>
                        <a:effectLst/>
                        <a:latin typeface="Arial" charset="0"/>
                        <a:ea typeface="ＭＳ Ｐゴシック" pitchFamily="34" charset="-128"/>
                      </a:endParaRPr>
                    </a:p>
                  </a:txBody>
                  <a:tcPr marT="45709" marB="45709" anchor="ctr" horzOverflow="overflow">
                    <a:lnL>
                      <a:noFill/>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vMerge="1">
                  <a:txBody>
                    <a:bodyPr/>
                    <a:lstStyle/>
                    <a:p>
                      <a:endParaRPr lang="en-US"/>
                    </a:p>
                  </a:txBody>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endParaRPr kumimoji="0" lang="en-US" sz="1400" b="1" i="0" u="none" strike="noStrike" cap="none" normalizeH="0" baseline="0" dirty="0">
                        <a:ln>
                          <a:noFill/>
                        </a:ln>
                        <a:solidFill>
                          <a:schemeClr val="tx1"/>
                        </a:solidFill>
                        <a:effectLst/>
                        <a:latin typeface="Arial" charset="0"/>
                        <a:ea typeface="ＭＳ Ｐゴシック" pitchFamily="34" charset="-128"/>
                      </a:endParaRPr>
                    </a:p>
                  </a:txBody>
                  <a:tcPr marT="45709" marB="45709" anchor="ctr" horzOverflow="overflow">
                    <a:lnL>
                      <a:noFill/>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vMerge="1">
                  <a:txBody>
                    <a:bodyPr/>
                    <a:lstStyle/>
                    <a:p>
                      <a:endParaRPr lang="en-US"/>
                    </a:p>
                  </a:txBody>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endParaRPr kumimoji="0" lang="en-US" sz="1400" b="1" i="0" u="none" strike="noStrike" cap="none" normalizeH="0" baseline="0" dirty="0">
                        <a:ln>
                          <a:noFill/>
                        </a:ln>
                        <a:solidFill>
                          <a:schemeClr val="tx1"/>
                        </a:solidFill>
                        <a:effectLst/>
                        <a:latin typeface="Arial" charset="0"/>
                        <a:ea typeface="ＭＳ Ｐゴシック" pitchFamily="34" charset="-128"/>
                      </a:endParaRPr>
                    </a:p>
                  </a:txBody>
                  <a:tcPr marT="45709" marB="45709" anchor="ctr" horzOverflow="overflow">
                    <a:lnL>
                      <a:noFill/>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vMerge="1">
                  <a:txBody>
                    <a:bodyPr/>
                    <a:lstStyle/>
                    <a:p>
                      <a:endParaRPr lang="en-US"/>
                    </a:p>
                  </a:txBody>
                  <a:tcPr/>
                </a:tc>
                <a:extLst>
                  <a:ext uri="{0D108BD9-81ED-4DB2-BD59-A6C34878D82A}">
                    <a16:rowId xmlns:a16="http://schemas.microsoft.com/office/drawing/2014/main" xmlns="" val="10006"/>
                  </a:ext>
                </a:extLst>
              </a:tr>
              <a:tr h="625324">
                <a:tc>
                  <a:txBody>
                    <a:bodyPr/>
                    <a:lstStyle/>
                    <a:p>
                      <a:pPr marL="0" marR="0" lvl="0" indent="0" algn="l"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bg1"/>
                          </a:solidFill>
                          <a:effectLst/>
                          <a:latin typeface="Arial" charset="0"/>
                          <a:ea typeface="ＭＳ Ｐゴシック" pitchFamily="34" charset="-128"/>
                        </a:rPr>
                        <a:t>Requirement/</a:t>
                      </a:r>
                    </a:p>
                    <a:p>
                      <a:pPr marL="0" marR="0" lvl="0" indent="0" algn="l"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bg1"/>
                          </a:solidFill>
                          <a:effectLst/>
                          <a:latin typeface="Arial" charset="0"/>
                          <a:ea typeface="ＭＳ Ｐゴシック" pitchFamily="34" charset="-128"/>
                        </a:rPr>
                        <a:t>Demand</a:t>
                      </a:r>
                    </a:p>
                    <a:p>
                      <a:pPr marL="0" marR="0" lvl="0" indent="0" algn="l"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endParaRPr kumimoji="0" lang="en-US" sz="1400" b="1" i="0" u="none" strike="noStrike" cap="none" normalizeH="0" baseline="0" dirty="0">
                        <a:ln>
                          <a:noFill/>
                        </a:ln>
                        <a:solidFill>
                          <a:schemeClr val="bg1"/>
                        </a:solidFill>
                        <a:effectLst/>
                        <a:latin typeface="Arial" charset="0"/>
                        <a:ea typeface="ＭＳ Ｐゴシック" pitchFamily="34" charset="-128"/>
                      </a:endParaRP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rgbClr val="63BDE0"/>
                    </a:solidFill>
                  </a:tcPr>
                </a:tc>
                <a:tc gridSpan="2">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tx1"/>
                          </a:solidFill>
                          <a:effectLst/>
                          <a:latin typeface="Arial" charset="0"/>
                          <a:ea typeface="ＭＳ Ｐゴシック" pitchFamily="34" charset="-128"/>
                        </a:rPr>
                        <a:t>1</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tc gridSpan="2">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tx1"/>
                          </a:solidFill>
                          <a:effectLst/>
                          <a:latin typeface="Arial" charset="0"/>
                          <a:ea typeface="ＭＳ Ｐゴシック" pitchFamily="34" charset="-128"/>
                        </a:rPr>
                        <a:t>1</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tc gridSpan="2">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tx1"/>
                          </a:solidFill>
                          <a:effectLst/>
                          <a:latin typeface="Arial" charset="0"/>
                          <a:ea typeface="ＭＳ Ｐゴシック" pitchFamily="34" charset="-128"/>
                        </a:rPr>
                        <a:t>5</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endParaRPr kumimoji="0" lang="en-US" sz="1400" b="1" i="0" u="none" strike="noStrike" cap="none" normalizeH="0" baseline="0" dirty="0">
                        <a:ln>
                          <a:noFill/>
                        </a:ln>
                        <a:solidFill>
                          <a:schemeClr val="tx1"/>
                        </a:solidFill>
                        <a:effectLst/>
                        <a:latin typeface="Arial" charset="0"/>
                        <a:ea typeface="ＭＳ Ｐゴシック" pitchFamily="34" charset="-128"/>
                      </a:endParaRP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7"/>
                  </a:ext>
                </a:extLst>
              </a:tr>
            </a:tbl>
          </a:graphicData>
        </a:graphic>
      </p:graphicFrame>
    </p:spTree>
    <p:extLst>
      <p:ext uri="{BB962C8B-B14F-4D97-AF65-F5344CB8AC3E}">
        <p14:creationId xmlns:p14="http://schemas.microsoft.com/office/powerpoint/2010/main" val="9255609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6" fill="hold" nodeType="afterEffect">
                                  <p:stCondLst>
                                    <p:cond delay="1000"/>
                                  </p:stCondLst>
                                  <p:childTnLst>
                                    <p:set>
                                      <p:cBhvr>
                                        <p:cTn id="6" dur="1" fill="hold">
                                          <p:stCondLst>
                                            <p:cond delay="0"/>
                                          </p:stCondLst>
                                        </p:cTn>
                                        <p:tgtEl>
                                          <p:spTgt spid="5"/>
                                        </p:tgtEl>
                                        <p:attrNameLst>
                                          <p:attrName>style.visibility</p:attrName>
                                        </p:attrNameLst>
                                      </p:cBhvr>
                                      <p:to>
                                        <p:strVal val="visible"/>
                                      </p:to>
                                    </p:set>
                                    <p:animEffect transition="in" filter="strips(downRight)">
                                      <p:cBhvr>
                                        <p:cTn id="7"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solidFill>
                  <a:srgbClr val="C00000"/>
                </a:solidFill>
                <a:latin typeface="Arial" panose="020B0604020202020204" pitchFamily="34" charset="0"/>
                <a:cs typeface="Arial" panose="020B0604020202020204" pitchFamily="34" charset="0"/>
              </a:rPr>
              <a:t>Least Cost Method</a:t>
            </a:r>
          </a:p>
        </p:txBody>
      </p:sp>
      <p:sp>
        <p:nvSpPr>
          <p:cNvPr id="6" name="Content Placeholder 5">
            <a:extLst>
              <a:ext uri="{FF2B5EF4-FFF2-40B4-BE49-F238E27FC236}">
                <a16:creationId xmlns:a16="http://schemas.microsoft.com/office/drawing/2014/main" xmlns="" id="{12C3F38F-06D5-4ADF-BB89-374D8DB47BD2}"/>
              </a:ext>
            </a:extLst>
          </p:cNvPr>
          <p:cNvSpPr>
            <a:spLocks noGrp="1"/>
          </p:cNvSpPr>
          <p:nvPr>
            <p:ph idx="1"/>
          </p:nvPr>
        </p:nvSpPr>
        <p:spPr>
          <a:xfrm>
            <a:off x="856060" y="2249486"/>
            <a:ext cx="7429499" cy="4608513"/>
          </a:xfrm>
        </p:spPr>
        <p:txBody>
          <a:bodyPr>
            <a:normAutofit/>
          </a:bodyPr>
          <a:lstStyle/>
          <a:p>
            <a:pPr marL="0" indent="0">
              <a:buNone/>
            </a:pPr>
            <a:endParaRPr lang="en-US" dirty="0">
              <a:latin typeface="Arial" panose="020B0604020202020204" pitchFamily="34" charset="0"/>
              <a:cs typeface="Arial" panose="020B0604020202020204" pitchFamily="34" charset="0"/>
            </a:endParaRPr>
          </a:p>
          <a:p>
            <a:pPr marL="0" indent="0">
              <a:buNone/>
            </a:pPr>
            <a:endParaRPr lang="en-US" dirty="0">
              <a:latin typeface="Arial" panose="020B0604020202020204" pitchFamily="34" charset="0"/>
              <a:cs typeface="Arial" panose="020B0604020202020204" pitchFamily="34" charset="0"/>
            </a:endParaRPr>
          </a:p>
          <a:p>
            <a:pPr marL="0" indent="0">
              <a:buNone/>
            </a:pPr>
            <a:endParaRPr lang="en-US" dirty="0">
              <a:latin typeface="Arial" panose="020B0604020202020204" pitchFamily="34" charset="0"/>
              <a:cs typeface="Arial" panose="020B0604020202020204" pitchFamily="34" charset="0"/>
            </a:endParaRPr>
          </a:p>
        </p:txBody>
      </p:sp>
      <p:graphicFrame>
        <p:nvGraphicFramePr>
          <p:cNvPr id="5" name="Group 123">
            <a:extLst>
              <a:ext uri="{FF2B5EF4-FFF2-40B4-BE49-F238E27FC236}">
                <a16:creationId xmlns:a16="http://schemas.microsoft.com/office/drawing/2014/main" xmlns="" id="{A5DA3B2A-2E25-4DFF-9E0E-EBF2CA28C54C}"/>
              </a:ext>
            </a:extLst>
          </p:cNvPr>
          <p:cNvGraphicFramePr>
            <a:graphicFrameLocks noGrp="1"/>
          </p:cNvGraphicFramePr>
          <p:nvPr>
            <p:extLst>
              <p:ext uri="{D42A27DB-BD31-4B8C-83A1-F6EECF244321}">
                <p14:modId xmlns:p14="http://schemas.microsoft.com/office/powerpoint/2010/main" val="819946808"/>
              </p:ext>
            </p:extLst>
          </p:nvPr>
        </p:nvGraphicFramePr>
        <p:xfrm>
          <a:off x="856060" y="2249486"/>
          <a:ext cx="6163297" cy="2045650"/>
        </p:xfrm>
        <a:graphic>
          <a:graphicData uri="http://schemas.openxmlformats.org/drawingml/2006/table">
            <a:tbl>
              <a:tblPr/>
              <a:tblGrid>
                <a:gridCol w="1737009">
                  <a:extLst>
                    <a:ext uri="{9D8B030D-6E8A-4147-A177-3AD203B41FA5}">
                      <a16:colId xmlns:a16="http://schemas.microsoft.com/office/drawing/2014/main" xmlns="" val="20000"/>
                    </a:ext>
                  </a:extLst>
                </a:gridCol>
                <a:gridCol w="1019792">
                  <a:extLst>
                    <a:ext uri="{9D8B030D-6E8A-4147-A177-3AD203B41FA5}">
                      <a16:colId xmlns:a16="http://schemas.microsoft.com/office/drawing/2014/main" xmlns="" val="20001"/>
                    </a:ext>
                  </a:extLst>
                </a:gridCol>
                <a:gridCol w="396431">
                  <a:extLst>
                    <a:ext uri="{9D8B030D-6E8A-4147-A177-3AD203B41FA5}">
                      <a16:colId xmlns:a16="http://schemas.microsoft.com/office/drawing/2014/main" xmlns="" val="20002"/>
                    </a:ext>
                  </a:extLst>
                </a:gridCol>
                <a:gridCol w="556121">
                  <a:extLst>
                    <a:ext uri="{9D8B030D-6E8A-4147-A177-3AD203B41FA5}">
                      <a16:colId xmlns:a16="http://schemas.microsoft.com/office/drawing/2014/main" xmlns="" val="20003"/>
                    </a:ext>
                  </a:extLst>
                </a:gridCol>
                <a:gridCol w="358608">
                  <a:extLst>
                    <a:ext uri="{9D8B030D-6E8A-4147-A177-3AD203B41FA5}">
                      <a16:colId xmlns:a16="http://schemas.microsoft.com/office/drawing/2014/main" xmlns="" val="20004"/>
                    </a:ext>
                  </a:extLst>
                </a:gridCol>
                <a:gridCol w="428943">
                  <a:extLst>
                    <a:ext uri="{9D8B030D-6E8A-4147-A177-3AD203B41FA5}">
                      <a16:colId xmlns:a16="http://schemas.microsoft.com/office/drawing/2014/main" xmlns="" val="20005"/>
                    </a:ext>
                  </a:extLst>
                </a:gridCol>
                <a:gridCol w="500915">
                  <a:extLst>
                    <a:ext uri="{9D8B030D-6E8A-4147-A177-3AD203B41FA5}">
                      <a16:colId xmlns:a16="http://schemas.microsoft.com/office/drawing/2014/main" xmlns="" val="20006"/>
                    </a:ext>
                  </a:extLst>
                </a:gridCol>
                <a:gridCol w="1165478">
                  <a:extLst>
                    <a:ext uri="{9D8B030D-6E8A-4147-A177-3AD203B41FA5}">
                      <a16:colId xmlns:a16="http://schemas.microsoft.com/office/drawing/2014/main" xmlns="" val="20007"/>
                    </a:ext>
                  </a:extLst>
                </a:gridCol>
              </a:tblGrid>
              <a:tr h="555364">
                <a:tc>
                  <a:txBody>
                    <a:bodyPr/>
                    <a:lstStyle/>
                    <a:p>
                      <a:pPr marL="0" marR="0" lvl="0" indent="0" algn="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bg1"/>
                          </a:solidFill>
                          <a:effectLst/>
                          <a:latin typeface="Arial" charset="0"/>
                          <a:ea typeface="ＭＳ Ｐゴシック" pitchFamily="34" charset="-128"/>
                        </a:rPr>
                        <a:t>TO</a:t>
                      </a:r>
                    </a:p>
                    <a:p>
                      <a:pPr marL="0" marR="0" lvl="0" indent="0" algn="l"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bg1"/>
                          </a:solidFill>
                          <a:effectLst/>
                          <a:latin typeface="Arial" charset="0"/>
                          <a:ea typeface="ＭＳ Ｐゴシック" pitchFamily="34" charset="-128"/>
                        </a:rPr>
                        <a:t>FROM</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9050" cap="flat" cmpd="sng" algn="ctr">
                      <a:solidFill>
                        <a:schemeClr val="tx1"/>
                      </a:solidFill>
                      <a:prstDash val="solid"/>
                      <a:round/>
                      <a:headEnd type="none" w="med" len="med"/>
                      <a:tailEnd type="none" w="med" len="med"/>
                    </a:lnTlToBr>
                    <a:lnBlToTr>
                      <a:noFill/>
                    </a:lnBlToTr>
                    <a:solidFill>
                      <a:srgbClr val="63BDE0"/>
                    </a:solidFill>
                  </a:tcPr>
                </a:tc>
                <a:tc gridSpan="2">
                  <a:txBody>
                    <a:bodyPr/>
                    <a:lstStyle/>
                    <a:p>
                      <a:pPr marL="0" marR="0" lvl="0" indent="0" algn="l"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bg1"/>
                          </a:solidFill>
                          <a:effectLst/>
                          <a:latin typeface="Arial" charset="0"/>
                          <a:ea typeface="ＭＳ Ｐゴシック" pitchFamily="34" charset="-128"/>
                        </a:rPr>
                        <a:t>Peshawar </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rgbClr val="63BDE0"/>
                    </a:solidFill>
                  </a:tcPr>
                </a:tc>
                <a:tc hMerge="1">
                  <a:txBody>
                    <a:bodyPr/>
                    <a:lstStyle/>
                    <a:p>
                      <a:endParaRPr lang="en-US"/>
                    </a:p>
                  </a:txBody>
                  <a:tcPr/>
                </a:tc>
                <a:tc gridSpan="2">
                  <a:txBody>
                    <a:bodyPr/>
                    <a:lstStyle/>
                    <a:p>
                      <a:pPr marL="0" marR="0" lvl="0" indent="0" algn="l"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bg1"/>
                          </a:solidFill>
                          <a:effectLst/>
                          <a:latin typeface="Arial" charset="0"/>
                          <a:ea typeface="ＭＳ Ｐゴシック" pitchFamily="34" charset="-128"/>
                        </a:rPr>
                        <a:t>Sialkot</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rgbClr val="63BDE0"/>
                    </a:solidFill>
                  </a:tcPr>
                </a:tc>
                <a:tc hMerge="1">
                  <a:txBody>
                    <a:bodyPr/>
                    <a:lstStyle/>
                    <a:p>
                      <a:endParaRPr lang="en-US"/>
                    </a:p>
                  </a:txBody>
                  <a:tcPr/>
                </a:tc>
                <a:tc gridSpan="2">
                  <a:txBody>
                    <a:bodyPr/>
                    <a:lstStyle/>
                    <a:p>
                      <a:pPr marL="0" marR="0" lvl="0" indent="0" algn="l"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bg1"/>
                          </a:solidFill>
                          <a:effectLst/>
                          <a:latin typeface="Arial" charset="0"/>
                          <a:ea typeface="ＭＳ Ｐゴシック" pitchFamily="34" charset="-128"/>
                        </a:rPr>
                        <a:t> Multan</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rgbClr val="63BDE0"/>
                    </a:solidFill>
                  </a:tcPr>
                </a:tc>
                <a:tc hMerge="1">
                  <a:txBody>
                    <a:bodyPr/>
                    <a:lstStyle/>
                    <a:p>
                      <a:endParaRPr lang="en-US"/>
                    </a:p>
                  </a:txBody>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bg1"/>
                          </a:solidFill>
                          <a:effectLst/>
                          <a:latin typeface="Arial" charset="0"/>
                          <a:ea typeface="ＭＳ Ｐゴシック" pitchFamily="34" charset="-128"/>
                        </a:rPr>
                        <a:t>FACTORY CAPACITY/Supply</a:t>
                      </a:r>
                    </a:p>
                  </a:txBody>
                  <a:tcPr marT="45709" marB="45709" anchor="b"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rgbClr val="63BDE0"/>
                    </a:solidFill>
                  </a:tcPr>
                </a:tc>
                <a:extLst>
                  <a:ext uri="{0D108BD9-81ED-4DB2-BD59-A6C34878D82A}">
                    <a16:rowId xmlns:a16="http://schemas.microsoft.com/office/drawing/2014/main" xmlns="" val="10000"/>
                  </a:ext>
                </a:extLst>
              </a:tr>
              <a:tr h="312663">
                <a:tc rowSpan="2">
                  <a:txBody>
                    <a:bodyPr/>
                    <a:lstStyle/>
                    <a:p>
                      <a:pPr marL="0" marR="0" lvl="0" indent="0" algn="l"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bg1"/>
                          </a:solidFill>
                          <a:effectLst/>
                          <a:latin typeface="Arial" charset="0"/>
                          <a:ea typeface="ＭＳ Ｐゴシック" pitchFamily="34" charset="-128"/>
                        </a:rPr>
                        <a:t>Lahore</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rgbClr val="63BDE0"/>
                    </a:solidFill>
                  </a:tcPr>
                </a:tc>
                <a:tc rowSpan="2">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tx1"/>
                          </a:solidFill>
                          <a:effectLst/>
                          <a:latin typeface="Arial" charset="0"/>
                          <a:ea typeface="ＭＳ Ｐゴシック" pitchFamily="34" charset="-128"/>
                        </a:rPr>
                        <a:t>18</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endParaRPr kumimoji="0" lang="en-US" sz="1400" b="1" i="0" u="none" strike="noStrike" cap="none" normalizeH="0" baseline="0" dirty="0">
                        <a:ln>
                          <a:noFill/>
                        </a:ln>
                        <a:solidFill>
                          <a:schemeClr val="tx1"/>
                        </a:solidFill>
                        <a:effectLst/>
                        <a:latin typeface="Arial" charset="0"/>
                        <a:ea typeface="ＭＳ Ｐゴシック" pitchFamily="34" charset="-128"/>
                      </a:endParaRP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tx1"/>
                          </a:solidFill>
                          <a:effectLst/>
                          <a:latin typeface="Arial" charset="0"/>
                          <a:ea typeface="ＭＳ Ｐゴシック" pitchFamily="34" charset="-128"/>
                        </a:rPr>
                        <a:t>18</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endParaRPr kumimoji="0" lang="en-US" sz="1400" b="1" i="0" u="none" strike="noStrike" cap="none" normalizeH="0" baseline="0" dirty="0">
                        <a:ln>
                          <a:noFill/>
                        </a:ln>
                        <a:solidFill>
                          <a:schemeClr val="tx1"/>
                        </a:solidFill>
                        <a:effectLst/>
                        <a:latin typeface="Arial" charset="0"/>
                        <a:ea typeface="ＭＳ Ｐゴシック" pitchFamily="34" charset="-128"/>
                      </a:endParaRP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accent2"/>
                          </a:solidFill>
                          <a:effectLst/>
                          <a:latin typeface="Arial" charset="0"/>
                          <a:ea typeface="ＭＳ Ｐゴシック" pitchFamily="34" charset="-128"/>
                        </a:rPr>
                        <a:t>12</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tx1"/>
                          </a:solidFill>
                          <a:effectLst/>
                          <a:latin typeface="Arial" charset="0"/>
                          <a:ea typeface="ＭＳ Ｐゴシック" pitchFamily="34" charset="-128"/>
                        </a:rPr>
                        <a:t>5</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tx1"/>
                          </a:solidFill>
                          <a:effectLst/>
                          <a:latin typeface="Arial" charset="0"/>
                          <a:ea typeface="ＭＳ Ｐゴシック" pitchFamily="34" charset="-128"/>
                        </a:rPr>
                        <a:t>7-5=2</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5"/>
                  </a:ext>
                </a:extLst>
              </a:tr>
              <a:tr h="312663">
                <a:tc vMerge="1">
                  <a:txBody>
                    <a:bodyPr/>
                    <a:lstStyle/>
                    <a:p>
                      <a:endParaRPr lang="en-US"/>
                    </a:p>
                  </a:txBody>
                  <a:tcPr/>
                </a:tc>
                <a:tc vMerge="1">
                  <a:txBody>
                    <a:bodyPr/>
                    <a:lstStyle/>
                    <a:p>
                      <a:endParaRPr lang="en-US"/>
                    </a:p>
                  </a:txBody>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endParaRPr kumimoji="0" lang="en-US" sz="1400" b="1" i="0" u="none" strike="noStrike" cap="none" normalizeH="0" baseline="0" dirty="0">
                        <a:ln>
                          <a:noFill/>
                        </a:ln>
                        <a:solidFill>
                          <a:schemeClr val="tx1"/>
                        </a:solidFill>
                        <a:effectLst/>
                        <a:latin typeface="Arial" charset="0"/>
                        <a:ea typeface="ＭＳ Ｐゴシック" pitchFamily="34" charset="-128"/>
                      </a:endParaRPr>
                    </a:p>
                  </a:txBody>
                  <a:tcPr marT="45709" marB="45709" anchor="ctr" horzOverflow="overflow">
                    <a:lnL>
                      <a:noFill/>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vMerge="1">
                  <a:txBody>
                    <a:bodyPr/>
                    <a:lstStyle/>
                    <a:p>
                      <a:endParaRPr lang="en-US"/>
                    </a:p>
                  </a:txBody>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endParaRPr kumimoji="0" lang="en-US" sz="1400" b="1" i="0" u="none" strike="noStrike" cap="none" normalizeH="0" baseline="0" dirty="0">
                        <a:ln>
                          <a:noFill/>
                        </a:ln>
                        <a:solidFill>
                          <a:schemeClr val="tx1"/>
                        </a:solidFill>
                        <a:effectLst/>
                        <a:latin typeface="Arial" charset="0"/>
                        <a:ea typeface="ＭＳ Ｐゴシック" pitchFamily="34" charset="-128"/>
                      </a:endParaRPr>
                    </a:p>
                  </a:txBody>
                  <a:tcPr marT="45709" marB="45709" anchor="ctr" horzOverflow="overflow">
                    <a:lnL>
                      <a:noFill/>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vMerge="1">
                  <a:txBody>
                    <a:bodyPr/>
                    <a:lstStyle/>
                    <a:p>
                      <a:endParaRPr lang="en-US"/>
                    </a:p>
                  </a:txBody>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endParaRPr kumimoji="0" lang="en-US" sz="1400" b="1" i="0" u="none" strike="noStrike" cap="none" normalizeH="0" baseline="0" dirty="0">
                        <a:ln>
                          <a:noFill/>
                        </a:ln>
                        <a:solidFill>
                          <a:schemeClr val="tx1"/>
                        </a:solidFill>
                        <a:effectLst/>
                        <a:latin typeface="Arial" charset="0"/>
                        <a:ea typeface="ＭＳ Ｐゴシック" pitchFamily="34" charset="-128"/>
                      </a:endParaRPr>
                    </a:p>
                  </a:txBody>
                  <a:tcPr marT="45709" marB="45709" anchor="ctr" horzOverflow="overflow">
                    <a:lnL>
                      <a:noFill/>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vMerge="1">
                  <a:txBody>
                    <a:bodyPr/>
                    <a:lstStyle/>
                    <a:p>
                      <a:endParaRPr lang="en-US"/>
                    </a:p>
                  </a:txBody>
                  <a:tcPr/>
                </a:tc>
                <a:extLst>
                  <a:ext uri="{0D108BD9-81ED-4DB2-BD59-A6C34878D82A}">
                    <a16:rowId xmlns:a16="http://schemas.microsoft.com/office/drawing/2014/main" xmlns="" val="10006"/>
                  </a:ext>
                </a:extLst>
              </a:tr>
              <a:tr h="625324">
                <a:tc>
                  <a:txBody>
                    <a:bodyPr/>
                    <a:lstStyle/>
                    <a:p>
                      <a:pPr marL="0" marR="0" lvl="0" indent="0" algn="l"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bg1"/>
                          </a:solidFill>
                          <a:effectLst/>
                          <a:latin typeface="Arial" charset="0"/>
                          <a:ea typeface="ＭＳ Ｐゴシック" pitchFamily="34" charset="-128"/>
                        </a:rPr>
                        <a:t>Requirement/</a:t>
                      </a:r>
                    </a:p>
                    <a:p>
                      <a:pPr marL="0" marR="0" lvl="0" indent="0" algn="l"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bg1"/>
                          </a:solidFill>
                          <a:effectLst/>
                          <a:latin typeface="Arial" charset="0"/>
                          <a:ea typeface="ＭＳ Ｐゴシック" pitchFamily="34" charset="-128"/>
                        </a:rPr>
                        <a:t>Demand</a:t>
                      </a:r>
                    </a:p>
                    <a:p>
                      <a:pPr marL="0" marR="0" lvl="0" indent="0" algn="l"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endParaRPr kumimoji="0" lang="en-US" sz="1400" b="1" i="0" u="none" strike="noStrike" cap="none" normalizeH="0" baseline="0" dirty="0">
                        <a:ln>
                          <a:noFill/>
                        </a:ln>
                        <a:solidFill>
                          <a:schemeClr val="bg1"/>
                        </a:solidFill>
                        <a:effectLst/>
                        <a:latin typeface="Arial" charset="0"/>
                        <a:ea typeface="ＭＳ Ｐゴシック" pitchFamily="34" charset="-128"/>
                      </a:endParaRP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rgbClr val="63BDE0"/>
                    </a:solidFill>
                  </a:tcPr>
                </a:tc>
                <a:tc gridSpan="2">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tx1"/>
                          </a:solidFill>
                          <a:effectLst/>
                          <a:latin typeface="Arial" charset="0"/>
                          <a:ea typeface="ＭＳ Ｐゴシック" pitchFamily="34" charset="-128"/>
                        </a:rPr>
                        <a:t>1</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tc gridSpan="2">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tx1"/>
                          </a:solidFill>
                          <a:effectLst/>
                          <a:latin typeface="Arial" charset="0"/>
                          <a:ea typeface="ＭＳ Ｐゴシック" pitchFamily="34" charset="-128"/>
                        </a:rPr>
                        <a:t>1</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tc gridSpan="2">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tx1"/>
                          </a:solidFill>
                          <a:effectLst/>
                          <a:latin typeface="Arial" charset="0"/>
                          <a:ea typeface="ＭＳ Ｐゴシック" pitchFamily="34" charset="-128"/>
                        </a:rPr>
                        <a:t>5-5=0</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endParaRPr kumimoji="0" lang="en-US" sz="1400" b="1" i="0" u="none" strike="noStrike" cap="none" normalizeH="0" baseline="0" dirty="0">
                        <a:ln>
                          <a:noFill/>
                        </a:ln>
                        <a:solidFill>
                          <a:schemeClr val="tx1"/>
                        </a:solidFill>
                        <a:effectLst/>
                        <a:latin typeface="Arial" charset="0"/>
                        <a:ea typeface="ＭＳ Ｐゴシック" pitchFamily="34" charset="-128"/>
                      </a:endParaRP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7"/>
                  </a:ext>
                </a:extLst>
              </a:tr>
            </a:tbl>
          </a:graphicData>
        </a:graphic>
      </p:graphicFrame>
    </p:spTree>
    <p:extLst>
      <p:ext uri="{BB962C8B-B14F-4D97-AF65-F5344CB8AC3E}">
        <p14:creationId xmlns:p14="http://schemas.microsoft.com/office/powerpoint/2010/main" val="31443059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6" fill="hold" nodeType="afterEffect">
                                  <p:stCondLst>
                                    <p:cond delay="1000"/>
                                  </p:stCondLst>
                                  <p:childTnLst>
                                    <p:set>
                                      <p:cBhvr>
                                        <p:cTn id="6" dur="1" fill="hold">
                                          <p:stCondLst>
                                            <p:cond delay="0"/>
                                          </p:stCondLst>
                                        </p:cTn>
                                        <p:tgtEl>
                                          <p:spTgt spid="5"/>
                                        </p:tgtEl>
                                        <p:attrNameLst>
                                          <p:attrName>style.visibility</p:attrName>
                                        </p:attrNameLst>
                                      </p:cBhvr>
                                      <p:to>
                                        <p:strVal val="visible"/>
                                      </p:to>
                                    </p:set>
                                    <p:animEffect transition="in" filter="strips(downRight)">
                                      <p:cBhvr>
                                        <p:cTn id="7"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solidFill>
                  <a:srgbClr val="C00000"/>
                </a:solidFill>
                <a:latin typeface="Arial" panose="020B0604020202020204" pitchFamily="34" charset="0"/>
                <a:cs typeface="Arial" panose="020B0604020202020204" pitchFamily="34" charset="0"/>
              </a:rPr>
              <a:t>Least Cost Method</a:t>
            </a:r>
          </a:p>
        </p:txBody>
      </p:sp>
      <p:sp>
        <p:nvSpPr>
          <p:cNvPr id="6" name="Content Placeholder 5">
            <a:extLst>
              <a:ext uri="{FF2B5EF4-FFF2-40B4-BE49-F238E27FC236}">
                <a16:creationId xmlns:a16="http://schemas.microsoft.com/office/drawing/2014/main" xmlns="" id="{12C3F38F-06D5-4ADF-BB89-374D8DB47BD2}"/>
              </a:ext>
            </a:extLst>
          </p:cNvPr>
          <p:cNvSpPr>
            <a:spLocks noGrp="1"/>
          </p:cNvSpPr>
          <p:nvPr>
            <p:ph idx="1"/>
          </p:nvPr>
        </p:nvSpPr>
        <p:spPr>
          <a:xfrm>
            <a:off x="856060" y="2249486"/>
            <a:ext cx="7429499" cy="4608513"/>
          </a:xfrm>
        </p:spPr>
        <p:txBody>
          <a:bodyPr>
            <a:normAutofit/>
          </a:bodyPr>
          <a:lstStyle/>
          <a:p>
            <a:pPr marL="0" indent="0">
              <a:buNone/>
            </a:pPr>
            <a:endParaRPr lang="en-US" dirty="0">
              <a:latin typeface="Arial" panose="020B0604020202020204" pitchFamily="34" charset="0"/>
              <a:cs typeface="Arial" panose="020B0604020202020204" pitchFamily="34" charset="0"/>
            </a:endParaRPr>
          </a:p>
          <a:p>
            <a:pPr marL="0" indent="0">
              <a:buNone/>
            </a:pPr>
            <a:endParaRPr lang="en-US" dirty="0">
              <a:latin typeface="Arial" panose="020B0604020202020204" pitchFamily="34" charset="0"/>
              <a:cs typeface="Arial" panose="020B0604020202020204" pitchFamily="34" charset="0"/>
            </a:endParaRPr>
          </a:p>
          <a:p>
            <a:pPr marL="0" indent="0">
              <a:buNone/>
            </a:pPr>
            <a:endParaRPr lang="en-US" dirty="0">
              <a:latin typeface="Arial" panose="020B0604020202020204" pitchFamily="34" charset="0"/>
              <a:cs typeface="Arial" panose="020B0604020202020204" pitchFamily="34" charset="0"/>
            </a:endParaRPr>
          </a:p>
        </p:txBody>
      </p:sp>
      <p:graphicFrame>
        <p:nvGraphicFramePr>
          <p:cNvPr id="5" name="Group 123">
            <a:extLst>
              <a:ext uri="{FF2B5EF4-FFF2-40B4-BE49-F238E27FC236}">
                <a16:creationId xmlns:a16="http://schemas.microsoft.com/office/drawing/2014/main" xmlns="" id="{A5DA3B2A-2E25-4DFF-9E0E-EBF2CA28C54C}"/>
              </a:ext>
            </a:extLst>
          </p:cNvPr>
          <p:cNvGraphicFramePr>
            <a:graphicFrameLocks noGrp="1"/>
          </p:cNvGraphicFramePr>
          <p:nvPr>
            <p:extLst>
              <p:ext uri="{D42A27DB-BD31-4B8C-83A1-F6EECF244321}">
                <p14:modId xmlns:p14="http://schemas.microsoft.com/office/powerpoint/2010/main" val="1284588085"/>
              </p:ext>
            </p:extLst>
          </p:nvPr>
        </p:nvGraphicFramePr>
        <p:xfrm>
          <a:off x="856060" y="2249486"/>
          <a:ext cx="6163297" cy="2045650"/>
        </p:xfrm>
        <a:graphic>
          <a:graphicData uri="http://schemas.openxmlformats.org/drawingml/2006/table">
            <a:tbl>
              <a:tblPr/>
              <a:tblGrid>
                <a:gridCol w="1737009">
                  <a:extLst>
                    <a:ext uri="{9D8B030D-6E8A-4147-A177-3AD203B41FA5}">
                      <a16:colId xmlns:a16="http://schemas.microsoft.com/office/drawing/2014/main" xmlns="" val="20000"/>
                    </a:ext>
                  </a:extLst>
                </a:gridCol>
                <a:gridCol w="1019792">
                  <a:extLst>
                    <a:ext uri="{9D8B030D-6E8A-4147-A177-3AD203B41FA5}">
                      <a16:colId xmlns:a16="http://schemas.microsoft.com/office/drawing/2014/main" xmlns="" val="20001"/>
                    </a:ext>
                  </a:extLst>
                </a:gridCol>
                <a:gridCol w="396431">
                  <a:extLst>
                    <a:ext uri="{9D8B030D-6E8A-4147-A177-3AD203B41FA5}">
                      <a16:colId xmlns:a16="http://schemas.microsoft.com/office/drawing/2014/main" xmlns="" val="20002"/>
                    </a:ext>
                  </a:extLst>
                </a:gridCol>
                <a:gridCol w="556121">
                  <a:extLst>
                    <a:ext uri="{9D8B030D-6E8A-4147-A177-3AD203B41FA5}">
                      <a16:colId xmlns:a16="http://schemas.microsoft.com/office/drawing/2014/main" xmlns="" val="20003"/>
                    </a:ext>
                  </a:extLst>
                </a:gridCol>
                <a:gridCol w="358608">
                  <a:extLst>
                    <a:ext uri="{9D8B030D-6E8A-4147-A177-3AD203B41FA5}">
                      <a16:colId xmlns:a16="http://schemas.microsoft.com/office/drawing/2014/main" xmlns="" val="20004"/>
                    </a:ext>
                  </a:extLst>
                </a:gridCol>
                <a:gridCol w="428943">
                  <a:extLst>
                    <a:ext uri="{9D8B030D-6E8A-4147-A177-3AD203B41FA5}">
                      <a16:colId xmlns:a16="http://schemas.microsoft.com/office/drawing/2014/main" xmlns="" val="20005"/>
                    </a:ext>
                  </a:extLst>
                </a:gridCol>
                <a:gridCol w="500915">
                  <a:extLst>
                    <a:ext uri="{9D8B030D-6E8A-4147-A177-3AD203B41FA5}">
                      <a16:colId xmlns:a16="http://schemas.microsoft.com/office/drawing/2014/main" xmlns="" val="20006"/>
                    </a:ext>
                  </a:extLst>
                </a:gridCol>
                <a:gridCol w="1165478">
                  <a:extLst>
                    <a:ext uri="{9D8B030D-6E8A-4147-A177-3AD203B41FA5}">
                      <a16:colId xmlns:a16="http://schemas.microsoft.com/office/drawing/2014/main" xmlns="" val="20007"/>
                    </a:ext>
                  </a:extLst>
                </a:gridCol>
              </a:tblGrid>
              <a:tr h="555364">
                <a:tc>
                  <a:txBody>
                    <a:bodyPr/>
                    <a:lstStyle/>
                    <a:p>
                      <a:pPr marL="0" marR="0" lvl="0" indent="0" algn="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bg1"/>
                          </a:solidFill>
                          <a:effectLst/>
                          <a:latin typeface="Arial" charset="0"/>
                          <a:ea typeface="ＭＳ Ｐゴシック" pitchFamily="34" charset="-128"/>
                        </a:rPr>
                        <a:t>TO</a:t>
                      </a:r>
                    </a:p>
                    <a:p>
                      <a:pPr marL="0" marR="0" lvl="0" indent="0" algn="l"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bg1"/>
                          </a:solidFill>
                          <a:effectLst/>
                          <a:latin typeface="Arial" charset="0"/>
                          <a:ea typeface="ＭＳ Ｐゴシック" pitchFamily="34" charset="-128"/>
                        </a:rPr>
                        <a:t>FROM</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9050" cap="flat" cmpd="sng" algn="ctr">
                      <a:solidFill>
                        <a:schemeClr val="tx1"/>
                      </a:solidFill>
                      <a:prstDash val="solid"/>
                      <a:round/>
                      <a:headEnd type="none" w="med" len="med"/>
                      <a:tailEnd type="none" w="med" len="med"/>
                    </a:lnTlToBr>
                    <a:lnBlToTr>
                      <a:noFill/>
                    </a:lnBlToTr>
                    <a:solidFill>
                      <a:srgbClr val="63BDE0"/>
                    </a:solidFill>
                  </a:tcPr>
                </a:tc>
                <a:tc gridSpan="2">
                  <a:txBody>
                    <a:bodyPr/>
                    <a:lstStyle/>
                    <a:p>
                      <a:pPr marL="0" marR="0" lvl="0" indent="0" algn="l"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bg1"/>
                          </a:solidFill>
                          <a:effectLst/>
                          <a:latin typeface="Arial" charset="0"/>
                          <a:ea typeface="ＭＳ Ｐゴシック" pitchFamily="34" charset="-128"/>
                        </a:rPr>
                        <a:t>Peshawar </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rgbClr val="63BDE0"/>
                    </a:solidFill>
                  </a:tcPr>
                </a:tc>
                <a:tc hMerge="1">
                  <a:txBody>
                    <a:bodyPr/>
                    <a:lstStyle/>
                    <a:p>
                      <a:endParaRPr lang="en-US"/>
                    </a:p>
                  </a:txBody>
                  <a:tcPr/>
                </a:tc>
                <a:tc gridSpan="2">
                  <a:txBody>
                    <a:bodyPr/>
                    <a:lstStyle/>
                    <a:p>
                      <a:pPr marL="0" marR="0" lvl="0" indent="0" algn="l"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bg1"/>
                          </a:solidFill>
                          <a:effectLst/>
                          <a:latin typeface="Arial" charset="0"/>
                          <a:ea typeface="ＭＳ Ｐゴシック" pitchFamily="34" charset="-128"/>
                        </a:rPr>
                        <a:t>Sialkot</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rgbClr val="63BDE0"/>
                    </a:solidFill>
                  </a:tcPr>
                </a:tc>
                <a:tc hMerge="1">
                  <a:txBody>
                    <a:bodyPr/>
                    <a:lstStyle/>
                    <a:p>
                      <a:endParaRPr lang="en-US"/>
                    </a:p>
                  </a:txBody>
                  <a:tcPr/>
                </a:tc>
                <a:tc gridSpan="2">
                  <a:txBody>
                    <a:bodyPr/>
                    <a:lstStyle/>
                    <a:p>
                      <a:pPr marL="0" marR="0" lvl="0" indent="0" algn="l"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bg1"/>
                          </a:solidFill>
                          <a:effectLst/>
                          <a:latin typeface="Arial" charset="0"/>
                          <a:ea typeface="ＭＳ Ｐゴシック" pitchFamily="34" charset="-128"/>
                        </a:rPr>
                        <a:t> Multan</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rgbClr val="63BDE0"/>
                    </a:solidFill>
                  </a:tcPr>
                </a:tc>
                <a:tc hMerge="1">
                  <a:txBody>
                    <a:bodyPr/>
                    <a:lstStyle/>
                    <a:p>
                      <a:endParaRPr lang="en-US"/>
                    </a:p>
                  </a:txBody>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bg1"/>
                          </a:solidFill>
                          <a:effectLst/>
                          <a:latin typeface="Arial" charset="0"/>
                          <a:ea typeface="ＭＳ Ｐゴシック" pitchFamily="34" charset="-128"/>
                        </a:rPr>
                        <a:t>FACTORY CAPACITY/Supply</a:t>
                      </a:r>
                    </a:p>
                  </a:txBody>
                  <a:tcPr marT="45709" marB="45709" anchor="b"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rgbClr val="63BDE0"/>
                    </a:solidFill>
                  </a:tcPr>
                </a:tc>
                <a:extLst>
                  <a:ext uri="{0D108BD9-81ED-4DB2-BD59-A6C34878D82A}">
                    <a16:rowId xmlns:a16="http://schemas.microsoft.com/office/drawing/2014/main" xmlns="" val="10000"/>
                  </a:ext>
                </a:extLst>
              </a:tr>
              <a:tr h="312663">
                <a:tc rowSpan="2">
                  <a:txBody>
                    <a:bodyPr/>
                    <a:lstStyle/>
                    <a:p>
                      <a:pPr marL="0" marR="0" lvl="0" indent="0" algn="l"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bg1"/>
                          </a:solidFill>
                          <a:effectLst/>
                          <a:latin typeface="Arial" charset="0"/>
                          <a:ea typeface="ＭＳ Ｐゴシック" pitchFamily="34" charset="-128"/>
                        </a:rPr>
                        <a:t>Lahore</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rgbClr val="63BDE0"/>
                    </a:solidFill>
                  </a:tcPr>
                </a:tc>
                <a:tc rowSpan="2">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tx1"/>
                          </a:solidFill>
                          <a:effectLst/>
                          <a:latin typeface="Arial" charset="0"/>
                          <a:ea typeface="ＭＳ Ｐゴシック" pitchFamily="34" charset="-128"/>
                        </a:rPr>
                        <a:t>18</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endParaRPr kumimoji="0" lang="en-US" sz="1400" b="1" i="0" u="none" strike="noStrike" cap="none" normalizeH="0" baseline="0" dirty="0">
                        <a:ln>
                          <a:noFill/>
                        </a:ln>
                        <a:solidFill>
                          <a:schemeClr val="tx1"/>
                        </a:solidFill>
                        <a:effectLst/>
                        <a:latin typeface="Arial" charset="0"/>
                        <a:ea typeface="ＭＳ Ｐゴシック" pitchFamily="34" charset="-128"/>
                      </a:endParaRP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tx1"/>
                          </a:solidFill>
                          <a:effectLst/>
                          <a:latin typeface="Arial" charset="0"/>
                          <a:ea typeface="ＭＳ Ｐゴシック" pitchFamily="34" charset="-128"/>
                        </a:rPr>
                        <a:t>18</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endParaRPr kumimoji="0" lang="en-US" sz="1400" b="1" i="0" u="none" strike="noStrike" cap="none" normalizeH="0" baseline="0" dirty="0">
                        <a:ln>
                          <a:noFill/>
                        </a:ln>
                        <a:solidFill>
                          <a:schemeClr val="tx1"/>
                        </a:solidFill>
                        <a:effectLst/>
                        <a:latin typeface="Arial" charset="0"/>
                        <a:ea typeface="ＭＳ Ｐゴシック" pitchFamily="34" charset="-128"/>
                      </a:endParaRP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accent2"/>
                          </a:solidFill>
                          <a:effectLst/>
                          <a:latin typeface="Arial" charset="0"/>
                          <a:ea typeface="ＭＳ Ｐゴシック" pitchFamily="34" charset="-128"/>
                        </a:rPr>
                        <a:t>12</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tx1"/>
                          </a:solidFill>
                          <a:effectLst/>
                          <a:latin typeface="Arial" charset="0"/>
                          <a:ea typeface="ＭＳ Ｐゴシック" pitchFamily="34" charset="-128"/>
                        </a:rPr>
                        <a:t>5</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tx1"/>
                          </a:solidFill>
                          <a:effectLst/>
                          <a:latin typeface="Arial" charset="0"/>
                          <a:ea typeface="ＭＳ Ｐゴシック" pitchFamily="34" charset="-128"/>
                        </a:rPr>
                        <a:t>2</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5"/>
                  </a:ext>
                </a:extLst>
              </a:tr>
              <a:tr h="312663">
                <a:tc vMerge="1">
                  <a:txBody>
                    <a:bodyPr/>
                    <a:lstStyle/>
                    <a:p>
                      <a:endParaRPr lang="en-US"/>
                    </a:p>
                  </a:txBody>
                  <a:tcPr/>
                </a:tc>
                <a:tc vMerge="1">
                  <a:txBody>
                    <a:bodyPr/>
                    <a:lstStyle/>
                    <a:p>
                      <a:endParaRPr lang="en-US"/>
                    </a:p>
                  </a:txBody>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endParaRPr kumimoji="0" lang="en-US" sz="1400" b="1" i="0" u="none" strike="noStrike" cap="none" normalizeH="0" baseline="0" dirty="0">
                        <a:ln>
                          <a:noFill/>
                        </a:ln>
                        <a:solidFill>
                          <a:schemeClr val="tx1"/>
                        </a:solidFill>
                        <a:effectLst/>
                        <a:latin typeface="Arial" charset="0"/>
                        <a:ea typeface="ＭＳ Ｐゴシック" pitchFamily="34" charset="-128"/>
                      </a:endParaRPr>
                    </a:p>
                  </a:txBody>
                  <a:tcPr marT="45709" marB="45709" anchor="ctr" horzOverflow="overflow">
                    <a:lnL>
                      <a:noFill/>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vMerge="1">
                  <a:txBody>
                    <a:bodyPr/>
                    <a:lstStyle/>
                    <a:p>
                      <a:endParaRPr lang="en-US"/>
                    </a:p>
                  </a:txBody>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endParaRPr kumimoji="0" lang="en-US" sz="1400" b="1" i="0" u="none" strike="noStrike" cap="none" normalizeH="0" baseline="0" dirty="0">
                        <a:ln>
                          <a:noFill/>
                        </a:ln>
                        <a:solidFill>
                          <a:schemeClr val="tx1"/>
                        </a:solidFill>
                        <a:effectLst/>
                        <a:latin typeface="Arial" charset="0"/>
                        <a:ea typeface="ＭＳ Ｐゴシック" pitchFamily="34" charset="-128"/>
                      </a:endParaRPr>
                    </a:p>
                  </a:txBody>
                  <a:tcPr marT="45709" marB="45709" anchor="ctr" horzOverflow="overflow">
                    <a:lnL>
                      <a:noFill/>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vMerge="1">
                  <a:txBody>
                    <a:bodyPr/>
                    <a:lstStyle/>
                    <a:p>
                      <a:endParaRPr lang="en-US"/>
                    </a:p>
                  </a:txBody>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endParaRPr kumimoji="0" lang="en-US" sz="1400" b="1" i="0" u="none" strike="noStrike" cap="none" normalizeH="0" baseline="0" dirty="0">
                        <a:ln>
                          <a:noFill/>
                        </a:ln>
                        <a:solidFill>
                          <a:schemeClr val="tx1"/>
                        </a:solidFill>
                        <a:effectLst/>
                        <a:latin typeface="Arial" charset="0"/>
                        <a:ea typeface="ＭＳ Ｐゴシック" pitchFamily="34" charset="-128"/>
                      </a:endParaRPr>
                    </a:p>
                  </a:txBody>
                  <a:tcPr marT="45709" marB="45709" anchor="ctr" horzOverflow="overflow">
                    <a:lnL>
                      <a:noFill/>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vMerge="1">
                  <a:txBody>
                    <a:bodyPr/>
                    <a:lstStyle/>
                    <a:p>
                      <a:endParaRPr lang="en-US"/>
                    </a:p>
                  </a:txBody>
                  <a:tcPr/>
                </a:tc>
                <a:extLst>
                  <a:ext uri="{0D108BD9-81ED-4DB2-BD59-A6C34878D82A}">
                    <a16:rowId xmlns:a16="http://schemas.microsoft.com/office/drawing/2014/main" xmlns="" val="10006"/>
                  </a:ext>
                </a:extLst>
              </a:tr>
              <a:tr h="625324">
                <a:tc>
                  <a:txBody>
                    <a:bodyPr/>
                    <a:lstStyle/>
                    <a:p>
                      <a:pPr marL="0" marR="0" lvl="0" indent="0" algn="l"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bg1"/>
                          </a:solidFill>
                          <a:effectLst/>
                          <a:latin typeface="Arial" charset="0"/>
                          <a:ea typeface="ＭＳ Ｐゴシック" pitchFamily="34" charset="-128"/>
                        </a:rPr>
                        <a:t>Requirement/</a:t>
                      </a:r>
                    </a:p>
                    <a:p>
                      <a:pPr marL="0" marR="0" lvl="0" indent="0" algn="l"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bg1"/>
                          </a:solidFill>
                          <a:effectLst/>
                          <a:latin typeface="Arial" charset="0"/>
                          <a:ea typeface="ＭＳ Ｐゴシック" pitchFamily="34" charset="-128"/>
                        </a:rPr>
                        <a:t>Demand</a:t>
                      </a:r>
                    </a:p>
                    <a:p>
                      <a:pPr marL="0" marR="0" lvl="0" indent="0" algn="l"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endParaRPr kumimoji="0" lang="en-US" sz="1400" b="1" i="0" u="none" strike="noStrike" cap="none" normalizeH="0" baseline="0" dirty="0">
                        <a:ln>
                          <a:noFill/>
                        </a:ln>
                        <a:solidFill>
                          <a:schemeClr val="bg1"/>
                        </a:solidFill>
                        <a:effectLst/>
                        <a:latin typeface="Arial" charset="0"/>
                        <a:ea typeface="ＭＳ Ｐゴシック" pitchFamily="34" charset="-128"/>
                      </a:endParaRP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rgbClr val="63BDE0"/>
                    </a:solidFill>
                  </a:tcPr>
                </a:tc>
                <a:tc gridSpan="2">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tx1"/>
                          </a:solidFill>
                          <a:effectLst/>
                          <a:latin typeface="Arial" charset="0"/>
                          <a:ea typeface="ＭＳ Ｐゴシック" pitchFamily="34" charset="-128"/>
                        </a:rPr>
                        <a:t>1</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tc gridSpan="2">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tx1"/>
                          </a:solidFill>
                          <a:effectLst/>
                          <a:latin typeface="Arial" charset="0"/>
                          <a:ea typeface="ＭＳ Ｐゴシック" pitchFamily="34" charset="-128"/>
                        </a:rPr>
                        <a:t>1</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tc gridSpan="2">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tx1"/>
                          </a:solidFill>
                          <a:effectLst/>
                          <a:latin typeface="Arial" charset="0"/>
                          <a:ea typeface="ＭＳ Ｐゴシック" pitchFamily="34" charset="-128"/>
                        </a:rPr>
                        <a:t>0</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endParaRPr kumimoji="0" lang="en-US" sz="1400" b="1" i="0" u="none" strike="noStrike" cap="none" normalizeH="0" baseline="0" dirty="0">
                        <a:ln>
                          <a:noFill/>
                        </a:ln>
                        <a:solidFill>
                          <a:schemeClr val="tx1"/>
                        </a:solidFill>
                        <a:effectLst/>
                        <a:latin typeface="Arial" charset="0"/>
                        <a:ea typeface="ＭＳ Ｐゴシック" pitchFamily="34" charset="-128"/>
                      </a:endParaRP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7"/>
                  </a:ext>
                </a:extLst>
              </a:tr>
            </a:tbl>
          </a:graphicData>
        </a:graphic>
      </p:graphicFrame>
    </p:spTree>
    <p:extLst>
      <p:ext uri="{BB962C8B-B14F-4D97-AF65-F5344CB8AC3E}">
        <p14:creationId xmlns:p14="http://schemas.microsoft.com/office/powerpoint/2010/main" val="41181750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6" fill="hold" nodeType="afterEffect">
                                  <p:stCondLst>
                                    <p:cond delay="1000"/>
                                  </p:stCondLst>
                                  <p:childTnLst>
                                    <p:set>
                                      <p:cBhvr>
                                        <p:cTn id="6" dur="1" fill="hold">
                                          <p:stCondLst>
                                            <p:cond delay="0"/>
                                          </p:stCondLst>
                                        </p:cTn>
                                        <p:tgtEl>
                                          <p:spTgt spid="5"/>
                                        </p:tgtEl>
                                        <p:attrNameLst>
                                          <p:attrName>style.visibility</p:attrName>
                                        </p:attrNameLst>
                                      </p:cBhvr>
                                      <p:to>
                                        <p:strVal val="visible"/>
                                      </p:to>
                                    </p:set>
                                    <p:animEffect transition="in" filter="strips(downRight)">
                                      <p:cBhvr>
                                        <p:cTn id="7"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solidFill>
                  <a:srgbClr val="C00000"/>
                </a:solidFill>
                <a:latin typeface="Arial" panose="020B0604020202020204" pitchFamily="34" charset="0"/>
                <a:cs typeface="Arial" panose="020B0604020202020204" pitchFamily="34" charset="0"/>
              </a:rPr>
              <a:t>Least Cost Method</a:t>
            </a:r>
          </a:p>
        </p:txBody>
      </p:sp>
      <p:sp>
        <p:nvSpPr>
          <p:cNvPr id="6" name="Content Placeholder 5">
            <a:extLst>
              <a:ext uri="{FF2B5EF4-FFF2-40B4-BE49-F238E27FC236}">
                <a16:creationId xmlns:a16="http://schemas.microsoft.com/office/drawing/2014/main" xmlns="" id="{12C3F38F-06D5-4ADF-BB89-374D8DB47BD2}"/>
              </a:ext>
            </a:extLst>
          </p:cNvPr>
          <p:cNvSpPr>
            <a:spLocks noGrp="1"/>
          </p:cNvSpPr>
          <p:nvPr>
            <p:ph idx="1"/>
          </p:nvPr>
        </p:nvSpPr>
        <p:spPr>
          <a:xfrm>
            <a:off x="856060" y="2249486"/>
            <a:ext cx="7429499" cy="4608513"/>
          </a:xfrm>
        </p:spPr>
        <p:txBody>
          <a:bodyPr>
            <a:normAutofit/>
          </a:bodyPr>
          <a:lstStyle/>
          <a:p>
            <a:pPr marL="0" indent="0">
              <a:buNone/>
            </a:pPr>
            <a:endParaRPr lang="en-US" dirty="0">
              <a:latin typeface="Arial" panose="020B0604020202020204" pitchFamily="34" charset="0"/>
              <a:cs typeface="Arial" panose="020B0604020202020204" pitchFamily="34" charset="0"/>
            </a:endParaRPr>
          </a:p>
          <a:p>
            <a:pPr marL="0" indent="0">
              <a:buNone/>
            </a:pPr>
            <a:endParaRPr lang="en-US" dirty="0">
              <a:latin typeface="Arial" panose="020B0604020202020204" pitchFamily="34" charset="0"/>
              <a:cs typeface="Arial" panose="020B0604020202020204" pitchFamily="34" charset="0"/>
            </a:endParaRPr>
          </a:p>
          <a:p>
            <a:pPr marL="0" indent="0">
              <a:buNone/>
            </a:pPr>
            <a:endParaRPr lang="en-US" dirty="0">
              <a:latin typeface="Arial" panose="020B0604020202020204" pitchFamily="34" charset="0"/>
              <a:cs typeface="Arial" panose="020B0604020202020204" pitchFamily="34" charset="0"/>
            </a:endParaRPr>
          </a:p>
        </p:txBody>
      </p:sp>
      <p:graphicFrame>
        <p:nvGraphicFramePr>
          <p:cNvPr id="5" name="Group 123">
            <a:extLst>
              <a:ext uri="{FF2B5EF4-FFF2-40B4-BE49-F238E27FC236}">
                <a16:creationId xmlns:a16="http://schemas.microsoft.com/office/drawing/2014/main" xmlns="" id="{A5DA3B2A-2E25-4DFF-9E0E-EBF2CA28C54C}"/>
              </a:ext>
            </a:extLst>
          </p:cNvPr>
          <p:cNvGraphicFramePr>
            <a:graphicFrameLocks noGrp="1"/>
          </p:cNvGraphicFramePr>
          <p:nvPr>
            <p:extLst>
              <p:ext uri="{D42A27DB-BD31-4B8C-83A1-F6EECF244321}">
                <p14:modId xmlns:p14="http://schemas.microsoft.com/office/powerpoint/2010/main" val="3413524001"/>
              </p:ext>
            </p:extLst>
          </p:nvPr>
        </p:nvGraphicFramePr>
        <p:xfrm>
          <a:off x="856060" y="2249486"/>
          <a:ext cx="5233439" cy="2045650"/>
        </p:xfrm>
        <a:graphic>
          <a:graphicData uri="http://schemas.openxmlformats.org/drawingml/2006/table">
            <a:tbl>
              <a:tblPr/>
              <a:tblGrid>
                <a:gridCol w="1737009">
                  <a:extLst>
                    <a:ext uri="{9D8B030D-6E8A-4147-A177-3AD203B41FA5}">
                      <a16:colId xmlns:a16="http://schemas.microsoft.com/office/drawing/2014/main" xmlns="" val="20000"/>
                    </a:ext>
                  </a:extLst>
                </a:gridCol>
                <a:gridCol w="1019792">
                  <a:extLst>
                    <a:ext uri="{9D8B030D-6E8A-4147-A177-3AD203B41FA5}">
                      <a16:colId xmlns:a16="http://schemas.microsoft.com/office/drawing/2014/main" xmlns="" val="20001"/>
                    </a:ext>
                  </a:extLst>
                </a:gridCol>
                <a:gridCol w="396431">
                  <a:extLst>
                    <a:ext uri="{9D8B030D-6E8A-4147-A177-3AD203B41FA5}">
                      <a16:colId xmlns:a16="http://schemas.microsoft.com/office/drawing/2014/main" xmlns="" val="20002"/>
                    </a:ext>
                  </a:extLst>
                </a:gridCol>
                <a:gridCol w="556121">
                  <a:extLst>
                    <a:ext uri="{9D8B030D-6E8A-4147-A177-3AD203B41FA5}">
                      <a16:colId xmlns:a16="http://schemas.microsoft.com/office/drawing/2014/main" xmlns="" val="20003"/>
                    </a:ext>
                  </a:extLst>
                </a:gridCol>
                <a:gridCol w="358608">
                  <a:extLst>
                    <a:ext uri="{9D8B030D-6E8A-4147-A177-3AD203B41FA5}">
                      <a16:colId xmlns:a16="http://schemas.microsoft.com/office/drawing/2014/main" xmlns="" val="20004"/>
                    </a:ext>
                  </a:extLst>
                </a:gridCol>
                <a:gridCol w="1165478">
                  <a:extLst>
                    <a:ext uri="{9D8B030D-6E8A-4147-A177-3AD203B41FA5}">
                      <a16:colId xmlns:a16="http://schemas.microsoft.com/office/drawing/2014/main" xmlns="" val="20007"/>
                    </a:ext>
                  </a:extLst>
                </a:gridCol>
              </a:tblGrid>
              <a:tr h="555364">
                <a:tc>
                  <a:txBody>
                    <a:bodyPr/>
                    <a:lstStyle/>
                    <a:p>
                      <a:pPr marL="0" marR="0" lvl="0" indent="0" algn="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bg1"/>
                          </a:solidFill>
                          <a:effectLst/>
                          <a:latin typeface="Arial" charset="0"/>
                          <a:ea typeface="ＭＳ Ｐゴシック" pitchFamily="34" charset="-128"/>
                        </a:rPr>
                        <a:t>TO</a:t>
                      </a:r>
                    </a:p>
                    <a:p>
                      <a:pPr marL="0" marR="0" lvl="0" indent="0" algn="l"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bg1"/>
                          </a:solidFill>
                          <a:effectLst/>
                          <a:latin typeface="Arial" charset="0"/>
                          <a:ea typeface="ＭＳ Ｐゴシック" pitchFamily="34" charset="-128"/>
                        </a:rPr>
                        <a:t>FROM</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9050" cap="flat" cmpd="sng" algn="ctr">
                      <a:solidFill>
                        <a:schemeClr val="tx1"/>
                      </a:solidFill>
                      <a:prstDash val="solid"/>
                      <a:round/>
                      <a:headEnd type="none" w="med" len="med"/>
                      <a:tailEnd type="none" w="med" len="med"/>
                    </a:lnTlToBr>
                    <a:lnBlToTr>
                      <a:noFill/>
                    </a:lnBlToTr>
                    <a:solidFill>
                      <a:srgbClr val="63BDE0"/>
                    </a:solidFill>
                  </a:tcPr>
                </a:tc>
                <a:tc gridSpan="2">
                  <a:txBody>
                    <a:bodyPr/>
                    <a:lstStyle/>
                    <a:p>
                      <a:pPr marL="0" marR="0" lvl="0" indent="0" algn="l"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bg1"/>
                          </a:solidFill>
                          <a:effectLst/>
                          <a:latin typeface="Arial" charset="0"/>
                          <a:ea typeface="ＭＳ Ｐゴシック" pitchFamily="34" charset="-128"/>
                        </a:rPr>
                        <a:t>Peshawar </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rgbClr val="63BDE0"/>
                    </a:solidFill>
                  </a:tcPr>
                </a:tc>
                <a:tc hMerge="1">
                  <a:txBody>
                    <a:bodyPr/>
                    <a:lstStyle/>
                    <a:p>
                      <a:endParaRPr lang="en-US"/>
                    </a:p>
                  </a:txBody>
                  <a:tcPr/>
                </a:tc>
                <a:tc gridSpan="2">
                  <a:txBody>
                    <a:bodyPr/>
                    <a:lstStyle/>
                    <a:p>
                      <a:pPr marL="0" marR="0" lvl="0" indent="0" algn="l"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bg1"/>
                          </a:solidFill>
                          <a:effectLst/>
                          <a:latin typeface="Arial" charset="0"/>
                          <a:ea typeface="ＭＳ Ｐゴシック" pitchFamily="34" charset="-128"/>
                        </a:rPr>
                        <a:t>Sialkot</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rgbClr val="63BDE0"/>
                    </a:solidFill>
                  </a:tcPr>
                </a:tc>
                <a:tc hMerge="1">
                  <a:txBody>
                    <a:bodyPr/>
                    <a:lstStyle/>
                    <a:p>
                      <a:endParaRPr lang="en-US"/>
                    </a:p>
                  </a:txBody>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bg1"/>
                          </a:solidFill>
                          <a:effectLst/>
                          <a:latin typeface="Arial" charset="0"/>
                          <a:ea typeface="ＭＳ Ｐゴシック" pitchFamily="34" charset="-128"/>
                        </a:rPr>
                        <a:t>FACTORY CAPACITY/Supply</a:t>
                      </a:r>
                    </a:p>
                  </a:txBody>
                  <a:tcPr marT="45709" marB="45709" anchor="b"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rgbClr val="63BDE0"/>
                    </a:solidFill>
                  </a:tcPr>
                </a:tc>
                <a:extLst>
                  <a:ext uri="{0D108BD9-81ED-4DB2-BD59-A6C34878D82A}">
                    <a16:rowId xmlns:a16="http://schemas.microsoft.com/office/drawing/2014/main" xmlns="" val="10000"/>
                  </a:ext>
                </a:extLst>
              </a:tr>
              <a:tr h="312663">
                <a:tc rowSpan="2">
                  <a:txBody>
                    <a:bodyPr/>
                    <a:lstStyle/>
                    <a:p>
                      <a:pPr marL="0" marR="0" lvl="0" indent="0" algn="l"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bg1"/>
                          </a:solidFill>
                          <a:effectLst/>
                          <a:latin typeface="Arial" charset="0"/>
                          <a:ea typeface="ＭＳ Ｐゴシック" pitchFamily="34" charset="-128"/>
                        </a:rPr>
                        <a:t>Lahore</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rgbClr val="63BDE0"/>
                    </a:solidFill>
                  </a:tcPr>
                </a:tc>
                <a:tc rowSpan="2">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accent2"/>
                          </a:solidFill>
                          <a:effectLst/>
                          <a:latin typeface="Arial" charset="0"/>
                          <a:ea typeface="ＭＳ Ｐゴシック" pitchFamily="34" charset="-128"/>
                        </a:rPr>
                        <a:t>18</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tx1"/>
                          </a:solidFill>
                          <a:effectLst/>
                          <a:latin typeface="Arial" charset="0"/>
                          <a:ea typeface="ＭＳ Ｐゴシック" pitchFamily="34" charset="-128"/>
                        </a:rPr>
                        <a:t>1</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tx1"/>
                          </a:solidFill>
                          <a:effectLst/>
                          <a:latin typeface="Arial" charset="0"/>
                          <a:ea typeface="ＭＳ Ｐゴシック" pitchFamily="34" charset="-128"/>
                        </a:rPr>
                        <a:t>18</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endParaRPr kumimoji="0" lang="en-US" sz="1400" b="1" i="0" u="none" strike="noStrike" cap="none" normalizeH="0" baseline="0" dirty="0">
                        <a:ln>
                          <a:noFill/>
                        </a:ln>
                        <a:solidFill>
                          <a:schemeClr val="tx1"/>
                        </a:solidFill>
                        <a:effectLst/>
                        <a:latin typeface="Arial" charset="0"/>
                        <a:ea typeface="ＭＳ Ｐゴシック" pitchFamily="34" charset="-128"/>
                      </a:endParaRP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tx1"/>
                          </a:solidFill>
                          <a:effectLst/>
                          <a:latin typeface="Arial" charset="0"/>
                          <a:ea typeface="ＭＳ Ｐゴシック" pitchFamily="34" charset="-128"/>
                        </a:rPr>
                        <a:t>2-1=1</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5"/>
                  </a:ext>
                </a:extLst>
              </a:tr>
              <a:tr h="312663">
                <a:tc vMerge="1">
                  <a:txBody>
                    <a:bodyPr/>
                    <a:lstStyle/>
                    <a:p>
                      <a:endParaRPr lang="en-US"/>
                    </a:p>
                  </a:txBody>
                  <a:tcPr/>
                </a:tc>
                <a:tc vMerge="1">
                  <a:txBody>
                    <a:bodyPr/>
                    <a:lstStyle/>
                    <a:p>
                      <a:endParaRPr lang="en-US"/>
                    </a:p>
                  </a:txBody>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endParaRPr kumimoji="0" lang="en-US" sz="1400" b="1" i="0" u="none" strike="noStrike" cap="none" normalizeH="0" baseline="0" dirty="0">
                        <a:ln>
                          <a:noFill/>
                        </a:ln>
                        <a:solidFill>
                          <a:schemeClr val="tx1"/>
                        </a:solidFill>
                        <a:effectLst/>
                        <a:latin typeface="Arial" charset="0"/>
                        <a:ea typeface="ＭＳ Ｐゴシック" pitchFamily="34" charset="-128"/>
                      </a:endParaRPr>
                    </a:p>
                  </a:txBody>
                  <a:tcPr marT="45709" marB="45709" anchor="ctr" horzOverflow="overflow">
                    <a:lnL>
                      <a:noFill/>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vMerge="1">
                  <a:txBody>
                    <a:bodyPr/>
                    <a:lstStyle/>
                    <a:p>
                      <a:endParaRPr lang="en-US"/>
                    </a:p>
                  </a:txBody>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endParaRPr kumimoji="0" lang="en-US" sz="1400" b="1" i="0" u="none" strike="noStrike" cap="none" normalizeH="0" baseline="0" dirty="0">
                        <a:ln>
                          <a:noFill/>
                        </a:ln>
                        <a:solidFill>
                          <a:schemeClr val="tx1"/>
                        </a:solidFill>
                        <a:effectLst/>
                        <a:latin typeface="Arial" charset="0"/>
                        <a:ea typeface="ＭＳ Ｐゴシック" pitchFamily="34" charset="-128"/>
                      </a:endParaRPr>
                    </a:p>
                  </a:txBody>
                  <a:tcPr marT="45709" marB="45709" anchor="ctr" horzOverflow="overflow">
                    <a:lnL>
                      <a:noFill/>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vMerge="1">
                  <a:txBody>
                    <a:bodyPr/>
                    <a:lstStyle/>
                    <a:p>
                      <a:endParaRPr lang="en-US"/>
                    </a:p>
                  </a:txBody>
                  <a:tcPr/>
                </a:tc>
                <a:extLst>
                  <a:ext uri="{0D108BD9-81ED-4DB2-BD59-A6C34878D82A}">
                    <a16:rowId xmlns:a16="http://schemas.microsoft.com/office/drawing/2014/main" xmlns="" val="10006"/>
                  </a:ext>
                </a:extLst>
              </a:tr>
              <a:tr h="625324">
                <a:tc>
                  <a:txBody>
                    <a:bodyPr/>
                    <a:lstStyle/>
                    <a:p>
                      <a:pPr marL="0" marR="0" lvl="0" indent="0" algn="l"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bg1"/>
                          </a:solidFill>
                          <a:effectLst/>
                          <a:latin typeface="Arial" charset="0"/>
                          <a:ea typeface="ＭＳ Ｐゴシック" pitchFamily="34" charset="-128"/>
                        </a:rPr>
                        <a:t>Requirement/</a:t>
                      </a:r>
                    </a:p>
                    <a:p>
                      <a:pPr marL="0" marR="0" lvl="0" indent="0" algn="l"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bg1"/>
                          </a:solidFill>
                          <a:effectLst/>
                          <a:latin typeface="Arial" charset="0"/>
                          <a:ea typeface="ＭＳ Ｐゴシック" pitchFamily="34" charset="-128"/>
                        </a:rPr>
                        <a:t>Demand</a:t>
                      </a:r>
                    </a:p>
                    <a:p>
                      <a:pPr marL="0" marR="0" lvl="0" indent="0" algn="l"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endParaRPr kumimoji="0" lang="en-US" sz="1400" b="1" i="0" u="none" strike="noStrike" cap="none" normalizeH="0" baseline="0" dirty="0">
                        <a:ln>
                          <a:noFill/>
                        </a:ln>
                        <a:solidFill>
                          <a:schemeClr val="bg1"/>
                        </a:solidFill>
                        <a:effectLst/>
                        <a:latin typeface="Arial" charset="0"/>
                        <a:ea typeface="ＭＳ Ｐゴシック" pitchFamily="34" charset="-128"/>
                      </a:endParaRP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rgbClr val="63BDE0"/>
                    </a:solidFill>
                  </a:tcPr>
                </a:tc>
                <a:tc gridSpan="2">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tx1"/>
                          </a:solidFill>
                          <a:effectLst/>
                          <a:latin typeface="Arial" charset="0"/>
                          <a:ea typeface="ＭＳ Ｐゴシック" pitchFamily="34" charset="-128"/>
                        </a:rPr>
                        <a:t>1-1=0</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tc gridSpan="2">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tx1"/>
                          </a:solidFill>
                          <a:effectLst/>
                          <a:latin typeface="Arial" charset="0"/>
                          <a:ea typeface="ＭＳ Ｐゴシック" pitchFamily="34" charset="-128"/>
                        </a:rPr>
                        <a:t>1</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endParaRPr kumimoji="0" lang="en-US" sz="1400" b="1" i="0" u="none" strike="noStrike" cap="none" normalizeH="0" baseline="0" dirty="0">
                        <a:ln>
                          <a:noFill/>
                        </a:ln>
                        <a:solidFill>
                          <a:schemeClr val="tx1"/>
                        </a:solidFill>
                        <a:effectLst/>
                        <a:latin typeface="Arial" charset="0"/>
                        <a:ea typeface="ＭＳ Ｐゴシック" pitchFamily="34" charset="-128"/>
                      </a:endParaRP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7"/>
                  </a:ext>
                </a:extLst>
              </a:tr>
            </a:tbl>
          </a:graphicData>
        </a:graphic>
      </p:graphicFrame>
    </p:spTree>
    <p:extLst>
      <p:ext uri="{BB962C8B-B14F-4D97-AF65-F5344CB8AC3E}">
        <p14:creationId xmlns:p14="http://schemas.microsoft.com/office/powerpoint/2010/main" val="37617304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6" fill="hold" nodeType="afterEffect">
                                  <p:stCondLst>
                                    <p:cond delay="1000"/>
                                  </p:stCondLst>
                                  <p:childTnLst>
                                    <p:set>
                                      <p:cBhvr>
                                        <p:cTn id="6" dur="1" fill="hold">
                                          <p:stCondLst>
                                            <p:cond delay="0"/>
                                          </p:stCondLst>
                                        </p:cTn>
                                        <p:tgtEl>
                                          <p:spTgt spid="5"/>
                                        </p:tgtEl>
                                        <p:attrNameLst>
                                          <p:attrName>style.visibility</p:attrName>
                                        </p:attrNameLst>
                                      </p:cBhvr>
                                      <p:to>
                                        <p:strVal val="visible"/>
                                      </p:to>
                                    </p:set>
                                    <p:animEffect transition="in" filter="strips(downRight)">
                                      <p:cBhvr>
                                        <p:cTn id="7"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solidFill>
                  <a:srgbClr val="C00000"/>
                </a:solidFill>
                <a:latin typeface="Arial" panose="020B0604020202020204" pitchFamily="34" charset="0"/>
                <a:cs typeface="Arial" panose="020B0604020202020204" pitchFamily="34" charset="0"/>
              </a:rPr>
              <a:t>Least Cost Method</a:t>
            </a:r>
          </a:p>
        </p:txBody>
      </p:sp>
      <p:sp>
        <p:nvSpPr>
          <p:cNvPr id="6" name="Content Placeholder 5">
            <a:extLst>
              <a:ext uri="{FF2B5EF4-FFF2-40B4-BE49-F238E27FC236}">
                <a16:creationId xmlns:a16="http://schemas.microsoft.com/office/drawing/2014/main" xmlns="" id="{12C3F38F-06D5-4ADF-BB89-374D8DB47BD2}"/>
              </a:ext>
            </a:extLst>
          </p:cNvPr>
          <p:cNvSpPr>
            <a:spLocks noGrp="1"/>
          </p:cNvSpPr>
          <p:nvPr>
            <p:ph idx="1"/>
          </p:nvPr>
        </p:nvSpPr>
        <p:spPr>
          <a:xfrm>
            <a:off x="856060" y="2249486"/>
            <a:ext cx="7429499" cy="4608513"/>
          </a:xfrm>
        </p:spPr>
        <p:txBody>
          <a:bodyPr>
            <a:normAutofit/>
          </a:bodyPr>
          <a:lstStyle/>
          <a:p>
            <a:pPr marL="0" indent="0">
              <a:buNone/>
            </a:pPr>
            <a:endParaRPr lang="en-US" dirty="0">
              <a:latin typeface="Arial" panose="020B0604020202020204" pitchFamily="34" charset="0"/>
              <a:cs typeface="Arial" panose="020B0604020202020204" pitchFamily="34" charset="0"/>
            </a:endParaRPr>
          </a:p>
          <a:p>
            <a:pPr marL="0" indent="0">
              <a:buNone/>
            </a:pPr>
            <a:endParaRPr lang="en-US" dirty="0">
              <a:latin typeface="Arial" panose="020B0604020202020204" pitchFamily="34" charset="0"/>
              <a:cs typeface="Arial" panose="020B0604020202020204" pitchFamily="34" charset="0"/>
            </a:endParaRPr>
          </a:p>
          <a:p>
            <a:pPr marL="0" indent="0">
              <a:buNone/>
            </a:pPr>
            <a:endParaRPr lang="en-US" dirty="0">
              <a:latin typeface="Arial" panose="020B0604020202020204" pitchFamily="34" charset="0"/>
              <a:cs typeface="Arial" panose="020B0604020202020204" pitchFamily="34" charset="0"/>
            </a:endParaRPr>
          </a:p>
        </p:txBody>
      </p:sp>
      <p:graphicFrame>
        <p:nvGraphicFramePr>
          <p:cNvPr id="5" name="Group 123">
            <a:extLst>
              <a:ext uri="{FF2B5EF4-FFF2-40B4-BE49-F238E27FC236}">
                <a16:creationId xmlns:a16="http://schemas.microsoft.com/office/drawing/2014/main" xmlns="" id="{A5DA3B2A-2E25-4DFF-9E0E-EBF2CA28C54C}"/>
              </a:ext>
            </a:extLst>
          </p:cNvPr>
          <p:cNvGraphicFramePr>
            <a:graphicFrameLocks noGrp="1"/>
          </p:cNvGraphicFramePr>
          <p:nvPr>
            <p:extLst>
              <p:ext uri="{D42A27DB-BD31-4B8C-83A1-F6EECF244321}">
                <p14:modId xmlns:p14="http://schemas.microsoft.com/office/powerpoint/2010/main" val="2791842475"/>
              </p:ext>
            </p:extLst>
          </p:nvPr>
        </p:nvGraphicFramePr>
        <p:xfrm>
          <a:off x="856060" y="2249486"/>
          <a:ext cx="5233439" cy="2045650"/>
        </p:xfrm>
        <a:graphic>
          <a:graphicData uri="http://schemas.openxmlformats.org/drawingml/2006/table">
            <a:tbl>
              <a:tblPr/>
              <a:tblGrid>
                <a:gridCol w="1737009">
                  <a:extLst>
                    <a:ext uri="{9D8B030D-6E8A-4147-A177-3AD203B41FA5}">
                      <a16:colId xmlns:a16="http://schemas.microsoft.com/office/drawing/2014/main" xmlns="" val="20000"/>
                    </a:ext>
                  </a:extLst>
                </a:gridCol>
                <a:gridCol w="1019792">
                  <a:extLst>
                    <a:ext uri="{9D8B030D-6E8A-4147-A177-3AD203B41FA5}">
                      <a16:colId xmlns:a16="http://schemas.microsoft.com/office/drawing/2014/main" xmlns="" val="20001"/>
                    </a:ext>
                  </a:extLst>
                </a:gridCol>
                <a:gridCol w="396431">
                  <a:extLst>
                    <a:ext uri="{9D8B030D-6E8A-4147-A177-3AD203B41FA5}">
                      <a16:colId xmlns:a16="http://schemas.microsoft.com/office/drawing/2014/main" xmlns="" val="20002"/>
                    </a:ext>
                  </a:extLst>
                </a:gridCol>
                <a:gridCol w="556121">
                  <a:extLst>
                    <a:ext uri="{9D8B030D-6E8A-4147-A177-3AD203B41FA5}">
                      <a16:colId xmlns:a16="http://schemas.microsoft.com/office/drawing/2014/main" xmlns="" val="20003"/>
                    </a:ext>
                  </a:extLst>
                </a:gridCol>
                <a:gridCol w="358608">
                  <a:extLst>
                    <a:ext uri="{9D8B030D-6E8A-4147-A177-3AD203B41FA5}">
                      <a16:colId xmlns:a16="http://schemas.microsoft.com/office/drawing/2014/main" xmlns="" val="20004"/>
                    </a:ext>
                  </a:extLst>
                </a:gridCol>
                <a:gridCol w="1165478">
                  <a:extLst>
                    <a:ext uri="{9D8B030D-6E8A-4147-A177-3AD203B41FA5}">
                      <a16:colId xmlns:a16="http://schemas.microsoft.com/office/drawing/2014/main" xmlns="" val="20007"/>
                    </a:ext>
                  </a:extLst>
                </a:gridCol>
              </a:tblGrid>
              <a:tr h="555364">
                <a:tc>
                  <a:txBody>
                    <a:bodyPr/>
                    <a:lstStyle/>
                    <a:p>
                      <a:pPr marL="0" marR="0" lvl="0" indent="0" algn="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bg1"/>
                          </a:solidFill>
                          <a:effectLst/>
                          <a:latin typeface="Arial" charset="0"/>
                          <a:ea typeface="ＭＳ Ｐゴシック" pitchFamily="34" charset="-128"/>
                        </a:rPr>
                        <a:t>TO</a:t>
                      </a:r>
                    </a:p>
                    <a:p>
                      <a:pPr marL="0" marR="0" lvl="0" indent="0" algn="l"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bg1"/>
                          </a:solidFill>
                          <a:effectLst/>
                          <a:latin typeface="Arial" charset="0"/>
                          <a:ea typeface="ＭＳ Ｐゴシック" pitchFamily="34" charset="-128"/>
                        </a:rPr>
                        <a:t>FROM</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9050" cap="flat" cmpd="sng" algn="ctr">
                      <a:solidFill>
                        <a:schemeClr val="tx1"/>
                      </a:solidFill>
                      <a:prstDash val="solid"/>
                      <a:round/>
                      <a:headEnd type="none" w="med" len="med"/>
                      <a:tailEnd type="none" w="med" len="med"/>
                    </a:lnTlToBr>
                    <a:lnBlToTr>
                      <a:noFill/>
                    </a:lnBlToTr>
                    <a:solidFill>
                      <a:srgbClr val="63BDE0"/>
                    </a:solidFill>
                  </a:tcPr>
                </a:tc>
                <a:tc gridSpan="2">
                  <a:txBody>
                    <a:bodyPr/>
                    <a:lstStyle/>
                    <a:p>
                      <a:pPr marL="0" marR="0" lvl="0" indent="0" algn="l"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bg1"/>
                          </a:solidFill>
                          <a:effectLst/>
                          <a:latin typeface="Arial" charset="0"/>
                          <a:ea typeface="ＭＳ Ｐゴシック" pitchFamily="34" charset="-128"/>
                        </a:rPr>
                        <a:t>Peshawar </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rgbClr val="63BDE0"/>
                    </a:solidFill>
                  </a:tcPr>
                </a:tc>
                <a:tc hMerge="1">
                  <a:txBody>
                    <a:bodyPr/>
                    <a:lstStyle/>
                    <a:p>
                      <a:endParaRPr lang="en-US"/>
                    </a:p>
                  </a:txBody>
                  <a:tcPr/>
                </a:tc>
                <a:tc gridSpan="2">
                  <a:txBody>
                    <a:bodyPr/>
                    <a:lstStyle/>
                    <a:p>
                      <a:pPr marL="0" marR="0" lvl="0" indent="0" algn="l"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bg1"/>
                          </a:solidFill>
                          <a:effectLst/>
                          <a:latin typeface="Arial" charset="0"/>
                          <a:ea typeface="ＭＳ Ｐゴシック" pitchFamily="34" charset="-128"/>
                        </a:rPr>
                        <a:t>Sialkot</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rgbClr val="63BDE0"/>
                    </a:solidFill>
                  </a:tcPr>
                </a:tc>
                <a:tc hMerge="1">
                  <a:txBody>
                    <a:bodyPr/>
                    <a:lstStyle/>
                    <a:p>
                      <a:endParaRPr lang="en-US"/>
                    </a:p>
                  </a:txBody>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bg1"/>
                          </a:solidFill>
                          <a:effectLst/>
                          <a:latin typeface="Arial" charset="0"/>
                          <a:ea typeface="ＭＳ Ｐゴシック" pitchFamily="34" charset="-128"/>
                        </a:rPr>
                        <a:t>FACTORY CAPACITY/Supply</a:t>
                      </a:r>
                    </a:p>
                  </a:txBody>
                  <a:tcPr marT="45709" marB="45709" anchor="b"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rgbClr val="63BDE0"/>
                    </a:solidFill>
                  </a:tcPr>
                </a:tc>
                <a:extLst>
                  <a:ext uri="{0D108BD9-81ED-4DB2-BD59-A6C34878D82A}">
                    <a16:rowId xmlns:a16="http://schemas.microsoft.com/office/drawing/2014/main" xmlns="" val="10000"/>
                  </a:ext>
                </a:extLst>
              </a:tr>
              <a:tr h="312663">
                <a:tc rowSpan="2">
                  <a:txBody>
                    <a:bodyPr/>
                    <a:lstStyle/>
                    <a:p>
                      <a:pPr marL="0" marR="0" lvl="0" indent="0" algn="l"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bg1"/>
                          </a:solidFill>
                          <a:effectLst/>
                          <a:latin typeface="Arial" charset="0"/>
                          <a:ea typeface="ＭＳ Ｐゴシック" pitchFamily="34" charset="-128"/>
                        </a:rPr>
                        <a:t>Lahore</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rgbClr val="63BDE0"/>
                    </a:solidFill>
                  </a:tcPr>
                </a:tc>
                <a:tc rowSpan="2">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accent2"/>
                          </a:solidFill>
                          <a:effectLst/>
                          <a:latin typeface="Arial" charset="0"/>
                          <a:ea typeface="ＭＳ Ｐゴシック" pitchFamily="34" charset="-128"/>
                        </a:rPr>
                        <a:t>18</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tx1"/>
                          </a:solidFill>
                          <a:effectLst/>
                          <a:latin typeface="Arial" charset="0"/>
                          <a:ea typeface="ＭＳ Ｐゴシック" pitchFamily="34" charset="-128"/>
                        </a:rPr>
                        <a:t>1</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tx1"/>
                          </a:solidFill>
                          <a:effectLst/>
                          <a:latin typeface="Arial" charset="0"/>
                          <a:ea typeface="ＭＳ Ｐゴシック" pitchFamily="34" charset="-128"/>
                        </a:rPr>
                        <a:t>18</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endParaRPr kumimoji="0" lang="en-US" sz="1400" b="1" i="0" u="none" strike="noStrike" cap="none" normalizeH="0" baseline="0" dirty="0">
                        <a:ln>
                          <a:noFill/>
                        </a:ln>
                        <a:solidFill>
                          <a:schemeClr val="tx1"/>
                        </a:solidFill>
                        <a:effectLst/>
                        <a:latin typeface="Arial" charset="0"/>
                        <a:ea typeface="ＭＳ Ｐゴシック" pitchFamily="34" charset="-128"/>
                      </a:endParaRP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tx1"/>
                          </a:solidFill>
                          <a:effectLst/>
                          <a:latin typeface="Arial" charset="0"/>
                          <a:ea typeface="ＭＳ Ｐゴシック" pitchFamily="34" charset="-128"/>
                        </a:rPr>
                        <a:t>1</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5"/>
                  </a:ext>
                </a:extLst>
              </a:tr>
              <a:tr h="312663">
                <a:tc vMerge="1">
                  <a:txBody>
                    <a:bodyPr/>
                    <a:lstStyle/>
                    <a:p>
                      <a:endParaRPr lang="en-US"/>
                    </a:p>
                  </a:txBody>
                  <a:tcPr/>
                </a:tc>
                <a:tc vMerge="1">
                  <a:txBody>
                    <a:bodyPr/>
                    <a:lstStyle/>
                    <a:p>
                      <a:endParaRPr lang="en-US"/>
                    </a:p>
                  </a:txBody>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endParaRPr kumimoji="0" lang="en-US" sz="1400" b="1" i="0" u="none" strike="noStrike" cap="none" normalizeH="0" baseline="0" dirty="0">
                        <a:ln>
                          <a:noFill/>
                        </a:ln>
                        <a:solidFill>
                          <a:schemeClr val="tx1"/>
                        </a:solidFill>
                        <a:effectLst/>
                        <a:latin typeface="Arial" charset="0"/>
                        <a:ea typeface="ＭＳ Ｐゴシック" pitchFamily="34" charset="-128"/>
                      </a:endParaRPr>
                    </a:p>
                  </a:txBody>
                  <a:tcPr marT="45709" marB="45709" anchor="ctr" horzOverflow="overflow">
                    <a:lnL>
                      <a:noFill/>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vMerge="1">
                  <a:txBody>
                    <a:bodyPr/>
                    <a:lstStyle/>
                    <a:p>
                      <a:endParaRPr lang="en-US"/>
                    </a:p>
                  </a:txBody>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endParaRPr kumimoji="0" lang="en-US" sz="1400" b="1" i="0" u="none" strike="noStrike" cap="none" normalizeH="0" baseline="0" dirty="0">
                        <a:ln>
                          <a:noFill/>
                        </a:ln>
                        <a:solidFill>
                          <a:schemeClr val="tx1"/>
                        </a:solidFill>
                        <a:effectLst/>
                        <a:latin typeface="Arial" charset="0"/>
                        <a:ea typeface="ＭＳ Ｐゴシック" pitchFamily="34" charset="-128"/>
                      </a:endParaRPr>
                    </a:p>
                  </a:txBody>
                  <a:tcPr marT="45709" marB="45709" anchor="ctr" horzOverflow="overflow">
                    <a:lnL>
                      <a:noFill/>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vMerge="1">
                  <a:txBody>
                    <a:bodyPr/>
                    <a:lstStyle/>
                    <a:p>
                      <a:endParaRPr lang="en-US"/>
                    </a:p>
                  </a:txBody>
                  <a:tcPr/>
                </a:tc>
                <a:extLst>
                  <a:ext uri="{0D108BD9-81ED-4DB2-BD59-A6C34878D82A}">
                    <a16:rowId xmlns:a16="http://schemas.microsoft.com/office/drawing/2014/main" xmlns="" val="10006"/>
                  </a:ext>
                </a:extLst>
              </a:tr>
              <a:tr h="625324">
                <a:tc>
                  <a:txBody>
                    <a:bodyPr/>
                    <a:lstStyle/>
                    <a:p>
                      <a:pPr marL="0" marR="0" lvl="0" indent="0" algn="l"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bg1"/>
                          </a:solidFill>
                          <a:effectLst/>
                          <a:latin typeface="Arial" charset="0"/>
                          <a:ea typeface="ＭＳ Ｐゴシック" pitchFamily="34" charset="-128"/>
                        </a:rPr>
                        <a:t>Requirement/</a:t>
                      </a:r>
                    </a:p>
                    <a:p>
                      <a:pPr marL="0" marR="0" lvl="0" indent="0" algn="l"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bg1"/>
                          </a:solidFill>
                          <a:effectLst/>
                          <a:latin typeface="Arial" charset="0"/>
                          <a:ea typeface="ＭＳ Ｐゴシック" pitchFamily="34" charset="-128"/>
                        </a:rPr>
                        <a:t>Demand</a:t>
                      </a:r>
                    </a:p>
                    <a:p>
                      <a:pPr marL="0" marR="0" lvl="0" indent="0" algn="l"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endParaRPr kumimoji="0" lang="en-US" sz="1400" b="1" i="0" u="none" strike="noStrike" cap="none" normalizeH="0" baseline="0" dirty="0">
                        <a:ln>
                          <a:noFill/>
                        </a:ln>
                        <a:solidFill>
                          <a:schemeClr val="bg1"/>
                        </a:solidFill>
                        <a:effectLst/>
                        <a:latin typeface="Arial" charset="0"/>
                        <a:ea typeface="ＭＳ Ｐゴシック" pitchFamily="34" charset="-128"/>
                      </a:endParaRP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rgbClr val="63BDE0"/>
                    </a:solidFill>
                  </a:tcPr>
                </a:tc>
                <a:tc gridSpan="2">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tx1"/>
                          </a:solidFill>
                          <a:effectLst/>
                          <a:latin typeface="Arial" charset="0"/>
                          <a:ea typeface="ＭＳ Ｐゴシック" pitchFamily="34" charset="-128"/>
                        </a:rPr>
                        <a:t>0</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tc gridSpan="2">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tx1"/>
                          </a:solidFill>
                          <a:effectLst/>
                          <a:latin typeface="Arial" charset="0"/>
                          <a:ea typeface="ＭＳ Ｐゴシック" pitchFamily="34" charset="-128"/>
                        </a:rPr>
                        <a:t>1</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endParaRPr kumimoji="0" lang="en-US" sz="1400" b="1" i="0" u="none" strike="noStrike" cap="none" normalizeH="0" baseline="0" dirty="0">
                        <a:ln>
                          <a:noFill/>
                        </a:ln>
                        <a:solidFill>
                          <a:schemeClr val="tx1"/>
                        </a:solidFill>
                        <a:effectLst/>
                        <a:latin typeface="Arial" charset="0"/>
                        <a:ea typeface="ＭＳ Ｐゴシック" pitchFamily="34" charset="-128"/>
                      </a:endParaRP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7"/>
                  </a:ext>
                </a:extLst>
              </a:tr>
            </a:tbl>
          </a:graphicData>
        </a:graphic>
      </p:graphicFrame>
    </p:spTree>
    <p:extLst>
      <p:ext uri="{BB962C8B-B14F-4D97-AF65-F5344CB8AC3E}">
        <p14:creationId xmlns:p14="http://schemas.microsoft.com/office/powerpoint/2010/main" val="26548624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6" fill="hold" nodeType="afterEffect">
                                  <p:stCondLst>
                                    <p:cond delay="1000"/>
                                  </p:stCondLst>
                                  <p:childTnLst>
                                    <p:set>
                                      <p:cBhvr>
                                        <p:cTn id="6" dur="1" fill="hold">
                                          <p:stCondLst>
                                            <p:cond delay="0"/>
                                          </p:stCondLst>
                                        </p:cTn>
                                        <p:tgtEl>
                                          <p:spTgt spid="5"/>
                                        </p:tgtEl>
                                        <p:attrNameLst>
                                          <p:attrName>style.visibility</p:attrName>
                                        </p:attrNameLst>
                                      </p:cBhvr>
                                      <p:to>
                                        <p:strVal val="visible"/>
                                      </p:to>
                                    </p:set>
                                    <p:animEffect transition="in" filter="strips(downRight)">
                                      <p:cBhvr>
                                        <p:cTn id="7"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solidFill>
                  <a:srgbClr val="C00000"/>
                </a:solidFill>
                <a:latin typeface="Arial" panose="020B0604020202020204" pitchFamily="34" charset="0"/>
                <a:cs typeface="Arial" panose="020B0604020202020204" pitchFamily="34" charset="0"/>
              </a:rPr>
              <a:t>Least Cost Method</a:t>
            </a:r>
          </a:p>
        </p:txBody>
      </p:sp>
      <p:sp>
        <p:nvSpPr>
          <p:cNvPr id="6" name="Content Placeholder 5">
            <a:extLst>
              <a:ext uri="{FF2B5EF4-FFF2-40B4-BE49-F238E27FC236}">
                <a16:creationId xmlns:a16="http://schemas.microsoft.com/office/drawing/2014/main" xmlns="" id="{12C3F38F-06D5-4ADF-BB89-374D8DB47BD2}"/>
              </a:ext>
            </a:extLst>
          </p:cNvPr>
          <p:cNvSpPr>
            <a:spLocks noGrp="1"/>
          </p:cNvSpPr>
          <p:nvPr>
            <p:ph idx="1"/>
          </p:nvPr>
        </p:nvSpPr>
        <p:spPr>
          <a:xfrm>
            <a:off x="856060" y="2249486"/>
            <a:ext cx="7429499" cy="4608513"/>
          </a:xfrm>
        </p:spPr>
        <p:txBody>
          <a:bodyPr>
            <a:normAutofit/>
          </a:bodyPr>
          <a:lstStyle/>
          <a:p>
            <a:pPr marL="0" indent="0">
              <a:buNone/>
            </a:pPr>
            <a:endParaRPr lang="en-US" dirty="0">
              <a:latin typeface="Arial" panose="020B0604020202020204" pitchFamily="34" charset="0"/>
              <a:cs typeface="Arial" panose="020B0604020202020204" pitchFamily="34" charset="0"/>
            </a:endParaRPr>
          </a:p>
          <a:p>
            <a:pPr marL="0" indent="0">
              <a:buNone/>
            </a:pPr>
            <a:endParaRPr lang="en-US" dirty="0">
              <a:latin typeface="Arial" panose="020B0604020202020204" pitchFamily="34" charset="0"/>
              <a:cs typeface="Arial" panose="020B0604020202020204" pitchFamily="34" charset="0"/>
            </a:endParaRPr>
          </a:p>
          <a:p>
            <a:pPr marL="0" indent="0">
              <a:buNone/>
            </a:pPr>
            <a:endParaRPr lang="en-US" dirty="0">
              <a:latin typeface="Arial" panose="020B0604020202020204" pitchFamily="34" charset="0"/>
              <a:cs typeface="Arial" panose="020B0604020202020204" pitchFamily="34" charset="0"/>
            </a:endParaRPr>
          </a:p>
        </p:txBody>
      </p:sp>
      <p:graphicFrame>
        <p:nvGraphicFramePr>
          <p:cNvPr id="5" name="Group 123">
            <a:extLst>
              <a:ext uri="{FF2B5EF4-FFF2-40B4-BE49-F238E27FC236}">
                <a16:creationId xmlns:a16="http://schemas.microsoft.com/office/drawing/2014/main" xmlns="" id="{A5DA3B2A-2E25-4DFF-9E0E-EBF2CA28C54C}"/>
              </a:ext>
            </a:extLst>
          </p:cNvPr>
          <p:cNvGraphicFramePr>
            <a:graphicFrameLocks noGrp="1"/>
          </p:cNvGraphicFramePr>
          <p:nvPr>
            <p:extLst>
              <p:ext uri="{D42A27DB-BD31-4B8C-83A1-F6EECF244321}">
                <p14:modId xmlns:p14="http://schemas.microsoft.com/office/powerpoint/2010/main" val="117108858"/>
              </p:ext>
            </p:extLst>
          </p:nvPr>
        </p:nvGraphicFramePr>
        <p:xfrm>
          <a:off x="856060" y="2249486"/>
          <a:ext cx="3817216" cy="2045650"/>
        </p:xfrm>
        <a:graphic>
          <a:graphicData uri="http://schemas.openxmlformats.org/drawingml/2006/table">
            <a:tbl>
              <a:tblPr/>
              <a:tblGrid>
                <a:gridCol w="1737009">
                  <a:extLst>
                    <a:ext uri="{9D8B030D-6E8A-4147-A177-3AD203B41FA5}">
                      <a16:colId xmlns:a16="http://schemas.microsoft.com/office/drawing/2014/main" xmlns="" val="20000"/>
                    </a:ext>
                  </a:extLst>
                </a:gridCol>
                <a:gridCol w="556121">
                  <a:extLst>
                    <a:ext uri="{9D8B030D-6E8A-4147-A177-3AD203B41FA5}">
                      <a16:colId xmlns:a16="http://schemas.microsoft.com/office/drawing/2014/main" xmlns="" val="20003"/>
                    </a:ext>
                  </a:extLst>
                </a:gridCol>
                <a:gridCol w="358608">
                  <a:extLst>
                    <a:ext uri="{9D8B030D-6E8A-4147-A177-3AD203B41FA5}">
                      <a16:colId xmlns:a16="http://schemas.microsoft.com/office/drawing/2014/main" xmlns="" val="20004"/>
                    </a:ext>
                  </a:extLst>
                </a:gridCol>
                <a:gridCol w="1165478">
                  <a:extLst>
                    <a:ext uri="{9D8B030D-6E8A-4147-A177-3AD203B41FA5}">
                      <a16:colId xmlns:a16="http://schemas.microsoft.com/office/drawing/2014/main" xmlns="" val="20007"/>
                    </a:ext>
                  </a:extLst>
                </a:gridCol>
              </a:tblGrid>
              <a:tr h="555364">
                <a:tc>
                  <a:txBody>
                    <a:bodyPr/>
                    <a:lstStyle/>
                    <a:p>
                      <a:pPr marL="0" marR="0" lvl="0" indent="0" algn="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bg1"/>
                          </a:solidFill>
                          <a:effectLst/>
                          <a:latin typeface="Arial" charset="0"/>
                          <a:ea typeface="ＭＳ Ｐゴシック" pitchFamily="34" charset="-128"/>
                        </a:rPr>
                        <a:t>TO</a:t>
                      </a:r>
                    </a:p>
                    <a:p>
                      <a:pPr marL="0" marR="0" lvl="0" indent="0" algn="l"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bg1"/>
                          </a:solidFill>
                          <a:effectLst/>
                          <a:latin typeface="Arial" charset="0"/>
                          <a:ea typeface="ＭＳ Ｐゴシック" pitchFamily="34" charset="-128"/>
                        </a:rPr>
                        <a:t>FROM</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9050" cap="flat" cmpd="sng" algn="ctr">
                      <a:solidFill>
                        <a:schemeClr val="tx1"/>
                      </a:solidFill>
                      <a:prstDash val="solid"/>
                      <a:round/>
                      <a:headEnd type="none" w="med" len="med"/>
                      <a:tailEnd type="none" w="med" len="med"/>
                    </a:lnTlToBr>
                    <a:lnBlToTr>
                      <a:noFill/>
                    </a:lnBlToTr>
                    <a:solidFill>
                      <a:srgbClr val="63BDE0"/>
                    </a:solidFill>
                  </a:tcPr>
                </a:tc>
                <a:tc gridSpan="2">
                  <a:txBody>
                    <a:bodyPr/>
                    <a:lstStyle/>
                    <a:p>
                      <a:pPr marL="0" marR="0" lvl="0" indent="0" algn="l"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bg1"/>
                          </a:solidFill>
                          <a:effectLst/>
                          <a:latin typeface="Arial" charset="0"/>
                          <a:ea typeface="ＭＳ Ｐゴシック" pitchFamily="34" charset="-128"/>
                        </a:rPr>
                        <a:t>Sialkot</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rgbClr val="63BDE0"/>
                    </a:solidFill>
                  </a:tcPr>
                </a:tc>
                <a:tc hMerge="1">
                  <a:txBody>
                    <a:bodyPr/>
                    <a:lstStyle/>
                    <a:p>
                      <a:endParaRPr lang="en-US"/>
                    </a:p>
                  </a:txBody>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bg1"/>
                          </a:solidFill>
                          <a:effectLst/>
                          <a:latin typeface="Arial" charset="0"/>
                          <a:ea typeface="ＭＳ Ｐゴシック" pitchFamily="34" charset="-128"/>
                        </a:rPr>
                        <a:t>FACTORY CAPACITY/Supply</a:t>
                      </a:r>
                    </a:p>
                  </a:txBody>
                  <a:tcPr marT="45709" marB="45709" anchor="b"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rgbClr val="63BDE0"/>
                    </a:solidFill>
                  </a:tcPr>
                </a:tc>
                <a:extLst>
                  <a:ext uri="{0D108BD9-81ED-4DB2-BD59-A6C34878D82A}">
                    <a16:rowId xmlns:a16="http://schemas.microsoft.com/office/drawing/2014/main" xmlns="" val="10000"/>
                  </a:ext>
                </a:extLst>
              </a:tr>
              <a:tr h="312663">
                <a:tc rowSpan="2">
                  <a:txBody>
                    <a:bodyPr/>
                    <a:lstStyle/>
                    <a:p>
                      <a:pPr marL="0" marR="0" lvl="0" indent="0" algn="l"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bg1"/>
                          </a:solidFill>
                          <a:effectLst/>
                          <a:latin typeface="Arial" charset="0"/>
                          <a:ea typeface="ＭＳ Ｐゴシック" pitchFamily="34" charset="-128"/>
                        </a:rPr>
                        <a:t>Lahore</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rgbClr val="63BDE0"/>
                    </a:solidFill>
                  </a:tcPr>
                </a:tc>
                <a:tc rowSpan="2">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accent2"/>
                          </a:solidFill>
                          <a:effectLst/>
                          <a:latin typeface="Arial" charset="0"/>
                          <a:ea typeface="ＭＳ Ｐゴシック" pitchFamily="34" charset="-128"/>
                        </a:rPr>
                        <a:t>18</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tx1"/>
                          </a:solidFill>
                          <a:effectLst/>
                          <a:latin typeface="Arial" charset="0"/>
                          <a:ea typeface="ＭＳ Ｐゴシック" pitchFamily="34" charset="-128"/>
                        </a:rPr>
                        <a:t>1</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tx1"/>
                          </a:solidFill>
                          <a:effectLst/>
                          <a:latin typeface="Arial" charset="0"/>
                          <a:ea typeface="ＭＳ Ｐゴシック" pitchFamily="34" charset="-128"/>
                        </a:rPr>
                        <a:t>1-1=0</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5"/>
                  </a:ext>
                </a:extLst>
              </a:tr>
              <a:tr h="312663">
                <a:tc vMerge="1">
                  <a:txBody>
                    <a:bodyPr/>
                    <a:lstStyle/>
                    <a:p>
                      <a:endParaRPr lang="en-US"/>
                    </a:p>
                  </a:txBody>
                  <a:tcPr/>
                </a:tc>
                <a:tc vMerge="1">
                  <a:txBody>
                    <a:bodyPr/>
                    <a:lstStyle/>
                    <a:p>
                      <a:endParaRPr lang="en-US"/>
                    </a:p>
                  </a:txBody>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endParaRPr kumimoji="0" lang="en-US" sz="1400" b="1" i="0" u="none" strike="noStrike" cap="none" normalizeH="0" baseline="0" dirty="0">
                        <a:ln>
                          <a:noFill/>
                        </a:ln>
                        <a:solidFill>
                          <a:schemeClr val="tx1"/>
                        </a:solidFill>
                        <a:effectLst/>
                        <a:latin typeface="Arial" charset="0"/>
                        <a:ea typeface="ＭＳ Ｐゴシック" pitchFamily="34" charset="-128"/>
                      </a:endParaRPr>
                    </a:p>
                  </a:txBody>
                  <a:tcPr marT="45709" marB="45709" anchor="ctr" horzOverflow="overflow">
                    <a:lnL>
                      <a:noFill/>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vMerge="1">
                  <a:txBody>
                    <a:bodyPr/>
                    <a:lstStyle/>
                    <a:p>
                      <a:endParaRPr lang="en-US"/>
                    </a:p>
                  </a:txBody>
                  <a:tcPr/>
                </a:tc>
                <a:extLst>
                  <a:ext uri="{0D108BD9-81ED-4DB2-BD59-A6C34878D82A}">
                    <a16:rowId xmlns:a16="http://schemas.microsoft.com/office/drawing/2014/main" xmlns="" val="10006"/>
                  </a:ext>
                </a:extLst>
              </a:tr>
              <a:tr h="625324">
                <a:tc>
                  <a:txBody>
                    <a:bodyPr/>
                    <a:lstStyle/>
                    <a:p>
                      <a:pPr marL="0" marR="0" lvl="0" indent="0" algn="l"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bg1"/>
                          </a:solidFill>
                          <a:effectLst/>
                          <a:latin typeface="Arial" charset="0"/>
                          <a:ea typeface="ＭＳ Ｐゴシック" pitchFamily="34" charset="-128"/>
                        </a:rPr>
                        <a:t>Requirement/</a:t>
                      </a:r>
                    </a:p>
                    <a:p>
                      <a:pPr marL="0" marR="0" lvl="0" indent="0" algn="l"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bg1"/>
                          </a:solidFill>
                          <a:effectLst/>
                          <a:latin typeface="Arial" charset="0"/>
                          <a:ea typeface="ＭＳ Ｐゴシック" pitchFamily="34" charset="-128"/>
                        </a:rPr>
                        <a:t>Demand</a:t>
                      </a:r>
                    </a:p>
                    <a:p>
                      <a:pPr marL="0" marR="0" lvl="0" indent="0" algn="l"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endParaRPr kumimoji="0" lang="en-US" sz="1400" b="1" i="0" u="none" strike="noStrike" cap="none" normalizeH="0" baseline="0" dirty="0">
                        <a:ln>
                          <a:noFill/>
                        </a:ln>
                        <a:solidFill>
                          <a:schemeClr val="bg1"/>
                        </a:solidFill>
                        <a:effectLst/>
                        <a:latin typeface="Arial" charset="0"/>
                        <a:ea typeface="ＭＳ Ｐゴシック" pitchFamily="34" charset="-128"/>
                      </a:endParaRP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rgbClr val="63BDE0"/>
                    </a:solidFill>
                  </a:tcPr>
                </a:tc>
                <a:tc gridSpan="2">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tx1"/>
                          </a:solidFill>
                          <a:effectLst/>
                          <a:latin typeface="Arial" charset="0"/>
                          <a:ea typeface="ＭＳ Ｐゴシック" pitchFamily="34" charset="-128"/>
                        </a:rPr>
                        <a:t>1-1=0</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endParaRPr kumimoji="0" lang="en-US" sz="1400" b="1" i="0" u="none" strike="noStrike" cap="none" normalizeH="0" baseline="0" dirty="0">
                        <a:ln>
                          <a:noFill/>
                        </a:ln>
                        <a:solidFill>
                          <a:schemeClr val="tx1"/>
                        </a:solidFill>
                        <a:effectLst/>
                        <a:latin typeface="Arial" charset="0"/>
                        <a:ea typeface="ＭＳ Ｐゴシック" pitchFamily="34" charset="-128"/>
                      </a:endParaRP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7"/>
                  </a:ext>
                </a:extLst>
              </a:tr>
            </a:tbl>
          </a:graphicData>
        </a:graphic>
      </p:graphicFrame>
    </p:spTree>
    <p:extLst>
      <p:ext uri="{BB962C8B-B14F-4D97-AF65-F5344CB8AC3E}">
        <p14:creationId xmlns:p14="http://schemas.microsoft.com/office/powerpoint/2010/main" val="41299927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6" fill="hold" nodeType="afterEffect">
                                  <p:stCondLst>
                                    <p:cond delay="1000"/>
                                  </p:stCondLst>
                                  <p:childTnLst>
                                    <p:set>
                                      <p:cBhvr>
                                        <p:cTn id="6" dur="1" fill="hold">
                                          <p:stCondLst>
                                            <p:cond delay="0"/>
                                          </p:stCondLst>
                                        </p:cTn>
                                        <p:tgtEl>
                                          <p:spTgt spid="5"/>
                                        </p:tgtEl>
                                        <p:attrNameLst>
                                          <p:attrName>style.visibility</p:attrName>
                                        </p:attrNameLst>
                                      </p:cBhvr>
                                      <p:to>
                                        <p:strVal val="visible"/>
                                      </p:to>
                                    </p:set>
                                    <p:animEffect transition="in" filter="strips(downRight)">
                                      <p:cBhvr>
                                        <p:cTn id="7"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solidFill>
                  <a:srgbClr val="C00000"/>
                </a:solidFill>
                <a:latin typeface="Arial" panose="020B0604020202020204" pitchFamily="34" charset="0"/>
                <a:cs typeface="Arial" panose="020B0604020202020204" pitchFamily="34" charset="0"/>
              </a:rPr>
              <a:t>Least Cost Method</a:t>
            </a:r>
          </a:p>
        </p:txBody>
      </p:sp>
      <p:sp>
        <p:nvSpPr>
          <p:cNvPr id="6" name="Content Placeholder 5">
            <a:extLst>
              <a:ext uri="{FF2B5EF4-FFF2-40B4-BE49-F238E27FC236}">
                <a16:creationId xmlns:a16="http://schemas.microsoft.com/office/drawing/2014/main" xmlns="" id="{12C3F38F-06D5-4ADF-BB89-374D8DB47BD2}"/>
              </a:ext>
            </a:extLst>
          </p:cNvPr>
          <p:cNvSpPr>
            <a:spLocks noGrp="1"/>
          </p:cNvSpPr>
          <p:nvPr>
            <p:ph idx="1"/>
          </p:nvPr>
        </p:nvSpPr>
        <p:spPr>
          <a:xfrm>
            <a:off x="856060" y="2249486"/>
            <a:ext cx="7429499" cy="4608513"/>
          </a:xfrm>
        </p:spPr>
        <p:txBody>
          <a:bodyPr>
            <a:normAutofit/>
          </a:bodyPr>
          <a:lstStyle/>
          <a:p>
            <a:pPr marL="0" indent="0">
              <a:buNone/>
            </a:pPr>
            <a:endParaRPr lang="en-US" dirty="0">
              <a:latin typeface="Arial" panose="020B0604020202020204" pitchFamily="34" charset="0"/>
              <a:cs typeface="Arial" panose="020B0604020202020204" pitchFamily="34" charset="0"/>
            </a:endParaRPr>
          </a:p>
          <a:p>
            <a:pPr marL="0" indent="0">
              <a:buNone/>
            </a:pPr>
            <a:endParaRPr lang="en-US" dirty="0">
              <a:latin typeface="Arial" panose="020B0604020202020204" pitchFamily="34" charset="0"/>
              <a:cs typeface="Arial" panose="020B0604020202020204" pitchFamily="34" charset="0"/>
            </a:endParaRPr>
          </a:p>
          <a:p>
            <a:pPr marL="0" indent="0">
              <a:buNone/>
            </a:pPr>
            <a:endParaRPr lang="en-US" dirty="0">
              <a:latin typeface="Arial" panose="020B0604020202020204" pitchFamily="34" charset="0"/>
              <a:cs typeface="Arial" panose="020B0604020202020204" pitchFamily="34" charset="0"/>
            </a:endParaRPr>
          </a:p>
        </p:txBody>
      </p:sp>
      <p:graphicFrame>
        <p:nvGraphicFramePr>
          <p:cNvPr id="5" name="Group 123">
            <a:extLst>
              <a:ext uri="{FF2B5EF4-FFF2-40B4-BE49-F238E27FC236}">
                <a16:creationId xmlns:a16="http://schemas.microsoft.com/office/drawing/2014/main" xmlns="" id="{A5DA3B2A-2E25-4DFF-9E0E-EBF2CA28C54C}"/>
              </a:ext>
            </a:extLst>
          </p:cNvPr>
          <p:cNvGraphicFramePr>
            <a:graphicFrameLocks noGrp="1"/>
          </p:cNvGraphicFramePr>
          <p:nvPr>
            <p:extLst>
              <p:ext uri="{D42A27DB-BD31-4B8C-83A1-F6EECF244321}">
                <p14:modId xmlns:p14="http://schemas.microsoft.com/office/powerpoint/2010/main" val="3755893467"/>
              </p:ext>
            </p:extLst>
          </p:nvPr>
        </p:nvGraphicFramePr>
        <p:xfrm>
          <a:off x="856060" y="2249486"/>
          <a:ext cx="6163297" cy="2670976"/>
        </p:xfrm>
        <a:graphic>
          <a:graphicData uri="http://schemas.openxmlformats.org/drawingml/2006/table">
            <a:tbl>
              <a:tblPr/>
              <a:tblGrid>
                <a:gridCol w="1737009">
                  <a:extLst>
                    <a:ext uri="{9D8B030D-6E8A-4147-A177-3AD203B41FA5}">
                      <a16:colId xmlns:a16="http://schemas.microsoft.com/office/drawing/2014/main" xmlns="" val="20000"/>
                    </a:ext>
                  </a:extLst>
                </a:gridCol>
                <a:gridCol w="1019792">
                  <a:extLst>
                    <a:ext uri="{9D8B030D-6E8A-4147-A177-3AD203B41FA5}">
                      <a16:colId xmlns:a16="http://schemas.microsoft.com/office/drawing/2014/main" xmlns="" val="20001"/>
                    </a:ext>
                  </a:extLst>
                </a:gridCol>
                <a:gridCol w="381020">
                  <a:extLst>
                    <a:ext uri="{9D8B030D-6E8A-4147-A177-3AD203B41FA5}">
                      <a16:colId xmlns:a16="http://schemas.microsoft.com/office/drawing/2014/main" xmlns="" val="20002"/>
                    </a:ext>
                  </a:extLst>
                </a:gridCol>
                <a:gridCol w="571532">
                  <a:extLst>
                    <a:ext uri="{9D8B030D-6E8A-4147-A177-3AD203B41FA5}">
                      <a16:colId xmlns:a16="http://schemas.microsoft.com/office/drawing/2014/main" xmlns="" val="20003"/>
                    </a:ext>
                  </a:extLst>
                </a:gridCol>
                <a:gridCol w="358608">
                  <a:extLst>
                    <a:ext uri="{9D8B030D-6E8A-4147-A177-3AD203B41FA5}">
                      <a16:colId xmlns:a16="http://schemas.microsoft.com/office/drawing/2014/main" xmlns="" val="20004"/>
                    </a:ext>
                  </a:extLst>
                </a:gridCol>
                <a:gridCol w="428943">
                  <a:extLst>
                    <a:ext uri="{9D8B030D-6E8A-4147-A177-3AD203B41FA5}">
                      <a16:colId xmlns:a16="http://schemas.microsoft.com/office/drawing/2014/main" xmlns="" val="20005"/>
                    </a:ext>
                  </a:extLst>
                </a:gridCol>
                <a:gridCol w="500915">
                  <a:extLst>
                    <a:ext uri="{9D8B030D-6E8A-4147-A177-3AD203B41FA5}">
                      <a16:colId xmlns:a16="http://schemas.microsoft.com/office/drawing/2014/main" xmlns="" val="20006"/>
                    </a:ext>
                  </a:extLst>
                </a:gridCol>
                <a:gridCol w="1165478">
                  <a:extLst>
                    <a:ext uri="{9D8B030D-6E8A-4147-A177-3AD203B41FA5}">
                      <a16:colId xmlns:a16="http://schemas.microsoft.com/office/drawing/2014/main" xmlns="" val="20007"/>
                    </a:ext>
                  </a:extLst>
                </a:gridCol>
              </a:tblGrid>
              <a:tr h="555364">
                <a:tc>
                  <a:txBody>
                    <a:bodyPr/>
                    <a:lstStyle/>
                    <a:p>
                      <a:pPr marL="0" marR="0" lvl="0" indent="0" algn="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bg1"/>
                          </a:solidFill>
                          <a:effectLst/>
                          <a:latin typeface="Arial" charset="0"/>
                          <a:ea typeface="ＭＳ Ｐゴシック" pitchFamily="34" charset="-128"/>
                        </a:rPr>
                        <a:t>TO</a:t>
                      </a:r>
                    </a:p>
                    <a:p>
                      <a:pPr marL="0" marR="0" lvl="0" indent="0" algn="l"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bg1"/>
                          </a:solidFill>
                          <a:effectLst/>
                          <a:latin typeface="Arial" charset="0"/>
                          <a:ea typeface="ＭＳ Ｐゴシック" pitchFamily="34" charset="-128"/>
                        </a:rPr>
                        <a:t>FROM</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9050" cap="flat" cmpd="sng" algn="ctr">
                      <a:solidFill>
                        <a:schemeClr val="tx1"/>
                      </a:solidFill>
                      <a:prstDash val="solid"/>
                      <a:round/>
                      <a:headEnd type="none" w="med" len="med"/>
                      <a:tailEnd type="none" w="med" len="med"/>
                    </a:lnTlToBr>
                    <a:lnBlToTr>
                      <a:noFill/>
                    </a:lnBlToTr>
                    <a:solidFill>
                      <a:srgbClr val="63BDE0"/>
                    </a:solidFill>
                  </a:tcPr>
                </a:tc>
                <a:tc gridSpan="2">
                  <a:txBody>
                    <a:bodyPr/>
                    <a:lstStyle/>
                    <a:p>
                      <a:pPr marL="0" marR="0" lvl="0" indent="0" algn="l"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bg1"/>
                          </a:solidFill>
                          <a:effectLst/>
                          <a:latin typeface="Arial" charset="0"/>
                          <a:ea typeface="ＭＳ Ｐゴシック" pitchFamily="34" charset="-128"/>
                        </a:rPr>
                        <a:t>Peshawar </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rgbClr val="63BDE0"/>
                    </a:solidFill>
                  </a:tcPr>
                </a:tc>
                <a:tc hMerge="1">
                  <a:txBody>
                    <a:bodyPr/>
                    <a:lstStyle/>
                    <a:p>
                      <a:endParaRPr lang="en-US"/>
                    </a:p>
                  </a:txBody>
                  <a:tcPr/>
                </a:tc>
                <a:tc gridSpan="2">
                  <a:txBody>
                    <a:bodyPr/>
                    <a:lstStyle/>
                    <a:p>
                      <a:pPr marL="0" marR="0" lvl="0" indent="0" algn="l"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bg1"/>
                          </a:solidFill>
                          <a:effectLst/>
                          <a:latin typeface="Arial" charset="0"/>
                          <a:ea typeface="ＭＳ Ｐゴシック" pitchFamily="34" charset="-128"/>
                        </a:rPr>
                        <a:t>Sialkot</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rgbClr val="63BDE0"/>
                    </a:solidFill>
                  </a:tcPr>
                </a:tc>
                <a:tc hMerge="1">
                  <a:txBody>
                    <a:bodyPr/>
                    <a:lstStyle/>
                    <a:p>
                      <a:endParaRPr lang="en-US"/>
                    </a:p>
                  </a:txBody>
                  <a:tcPr/>
                </a:tc>
                <a:tc gridSpan="2">
                  <a:txBody>
                    <a:bodyPr/>
                    <a:lstStyle/>
                    <a:p>
                      <a:pPr marL="0" marR="0" lvl="0" indent="0" algn="l"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bg1"/>
                          </a:solidFill>
                          <a:effectLst/>
                          <a:latin typeface="Arial" charset="0"/>
                          <a:ea typeface="ＭＳ Ｐゴシック" pitchFamily="34" charset="-128"/>
                        </a:rPr>
                        <a:t> Multan</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rgbClr val="63BDE0"/>
                    </a:solidFill>
                  </a:tcPr>
                </a:tc>
                <a:tc hMerge="1">
                  <a:txBody>
                    <a:bodyPr/>
                    <a:lstStyle/>
                    <a:p>
                      <a:endParaRPr lang="en-US"/>
                    </a:p>
                  </a:txBody>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bg1"/>
                          </a:solidFill>
                          <a:effectLst/>
                          <a:latin typeface="Arial" charset="0"/>
                          <a:ea typeface="ＭＳ Ｐゴシック" pitchFamily="34" charset="-128"/>
                        </a:rPr>
                        <a:t>FACTORY CAPACITY/Supply</a:t>
                      </a:r>
                    </a:p>
                  </a:txBody>
                  <a:tcPr marT="45709" marB="45709" anchor="b"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rgbClr val="63BDE0"/>
                    </a:solidFill>
                  </a:tcPr>
                </a:tc>
                <a:extLst>
                  <a:ext uri="{0D108BD9-81ED-4DB2-BD59-A6C34878D82A}">
                    <a16:rowId xmlns:a16="http://schemas.microsoft.com/office/drawing/2014/main" xmlns="" val="10000"/>
                  </a:ext>
                </a:extLst>
              </a:tr>
              <a:tr h="312663">
                <a:tc rowSpan="2">
                  <a:txBody>
                    <a:bodyPr/>
                    <a:lstStyle/>
                    <a:p>
                      <a:pPr marL="0" marR="0" lvl="0" indent="0" algn="l"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bg1"/>
                          </a:solidFill>
                          <a:effectLst/>
                          <a:latin typeface="Arial" charset="0"/>
                          <a:ea typeface="ＭＳ Ｐゴシック" pitchFamily="34" charset="-128"/>
                        </a:rPr>
                        <a:t> </a:t>
                      </a:r>
                      <a:br>
                        <a:rPr kumimoji="0" lang="en-US" sz="1400" b="1" i="0" u="none" strike="noStrike" cap="none" normalizeH="0" baseline="0" dirty="0">
                          <a:ln>
                            <a:noFill/>
                          </a:ln>
                          <a:solidFill>
                            <a:schemeClr val="bg1"/>
                          </a:solidFill>
                          <a:effectLst/>
                          <a:latin typeface="Arial" charset="0"/>
                          <a:ea typeface="ＭＳ Ｐゴシック" pitchFamily="34" charset="-128"/>
                        </a:rPr>
                      </a:br>
                      <a:r>
                        <a:rPr kumimoji="0" lang="en-US" sz="1400" b="1" i="0" u="none" strike="noStrike" cap="none" normalizeH="0" baseline="0" dirty="0">
                          <a:ln>
                            <a:noFill/>
                          </a:ln>
                          <a:solidFill>
                            <a:schemeClr val="bg1"/>
                          </a:solidFill>
                          <a:effectLst/>
                          <a:latin typeface="Arial" charset="0"/>
                          <a:ea typeface="ＭＳ Ｐゴシック" pitchFamily="34" charset="-128"/>
                        </a:rPr>
                        <a:t>Karachi</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rgbClr val="63BDE0"/>
                    </a:solidFill>
                  </a:tcPr>
                </a:tc>
                <a:tc rowSpan="2">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tx1"/>
                          </a:solidFill>
                          <a:effectLst>
                            <a:outerShdw blurRad="38100" dist="38100" dir="2700000" algn="tl">
                              <a:srgbClr val="C0C0C0"/>
                            </a:outerShdw>
                          </a:effectLst>
                          <a:latin typeface="Arial" charset="0"/>
                          <a:ea typeface="ＭＳ Ｐゴシック" pitchFamily="34" charset="-128"/>
                        </a:rPr>
                        <a:t>13</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tx1"/>
                          </a:solidFill>
                          <a:effectLst/>
                          <a:latin typeface="Arial" charset="0"/>
                          <a:ea typeface="ＭＳ Ｐゴシック" pitchFamily="34" charset="-128"/>
                        </a:rPr>
                        <a:t>1</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accent2"/>
                          </a:solidFill>
                          <a:effectLst/>
                          <a:latin typeface="Arial" charset="0"/>
                          <a:ea typeface="ＭＳ Ｐゴシック" pitchFamily="34" charset="-128"/>
                        </a:rPr>
                        <a:t>11</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tx1"/>
                          </a:solidFill>
                          <a:effectLst/>
                          <a:latin typeface="Arial" charset="0"/>
                          <a:ea typeface="ＭＳ Ｐゴシック" pitchFamily="34" charset="-128"/>
                        </a:rPr>
                        <a:t>2</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tx1"/>
                          </a:solidFill>
                          <a:effectLst/>
                          <a:latin typeface="Arial" charset="0"/>
                          <a:ea typeface="ＭＳ Ｐゴシック" pitchFamily="34" charset="-128"/>
                        </a:rPr>
                        <a:t>40</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endParaRPr kumimoji="0" lang="en-US" sz="1400" b="1" i="0" u="none" strike="noStrike" cap="none" normalizeH="0" baseline="0" dirty="0">
                        <a:ln>
                          <a:noFill/>
                        </a:ln>
                        <a:solidFill>
                          <a:schemeClr val="tx1"/>
                        </a:solidFill>
                        <a:effectLst/>
                        <a:latin typeface="Arial" charset="0"/>
                        <a:ea typeface="ＭＳ Ｐゴシック" pitchFamily="34" charset="-128"/>
                      </a:endParaRP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tx1"/>
                          </a:solidFill>
                          <a:effectLst/>
                          <a:latin typeface="Arial" charset="0"/>
                          <a:ea typeface="ＭＳ Ｐゴシック" pitchFamily="34" charset="-128"/>
                        </a:rPr>
                        <a:t>2</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1"/>
                  </a:ext>
                </a:extLst>
              </a:tr>
              <a:tr h="312663">
                <a:tc vMerge="1">
                  <a:txBody>
                    <a:bodyPr/>
                    <a:lstStyle/>
                    <a:p>
                      <a:endParaRPr lang="en-US"/>
                    </a:p>
                  </a:txBody>
                  <a:tcPr/>
                </a:tc>
                <a:tc vMerge="1">
                  <a:txBody>
                    <a:bodyPr/>
                    <a:lstStyle/>
                    <a:p>
                      <a:endParaRPr lang="en-US"/>
                    </a:p>
                  </a:txBody>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endParaRPr kumimoji="0" lang="en-US" sz="1400" b="1" i="0" u="none" strike="noStrike" cap="none" normalizeH="0" baseline="0" dirty="0">
                        <a:ln>
                          <a:noFill/>
                        </a:ln>
                        <a:solidFill>
                          <a:schemeClr val="tx1"/>
                        </a:solidFill>
                        <a:effectLst/>
                        <a:latin typeface="Arial" charset="0"/>
                        <a:ea typeface="ＭＳ Ｐゴシック" pitchFamily="34" charset="-128"/>
                      </a:endParaRPr>
                    </a:p>
                  </a:txBody>
                  <a:tcPr marT="45709" marB="45709" anchor="ctr" horzOverflow="overflow">
                    <a:lnL>
                      <a:noFill/>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vMerge="1">
                  <a:txBody>
                    <a:bodyPr/>
                    <a:lstStyle/>
                    <a:p>
                      <a:endParaRPr lang="en-US"/>
                    </a:p>
                  </a:txBody>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endParaRPr kumimoji="0" lang="en-US" sz="1400" b="1" i="0" u="none" strike="noStrike" cap="none" normalizeH="0" baseline="0" dirty="0">
                        <a:ln>
                          <a:noFill/>
                        </a:ln>
                        <a:solidFill>
                          <a:schemeClr val="tx1"/>
                        </a:solidFill>
                        <a:effectLst/>
                        <a:latin typeface="Arial" charset="0"/>
                        <a:ea typeface="ＭＳ Ｐゴシック" pitchFamily="34" charset="-128"/>
                      </a:endParaRPr>
                    </a:p>
                  </a:txBody>
                  <a:tcPr marT="45709" marB="45709" anchor="ctr" horzOverflow="overflow">
                    <a:lnL>
                      <a:noFill/>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vMerge="1">
                  <a:txBody>
                    <a:bodyPr/>
                    <a:lstStyle/>
                    <a:p>
                      <a:endParaRPr lang="en-US"/>
                    </a:p>
                  </a:txBody>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endParaRPr kumimoji="0" lang="en-US" sz="1400" b="1" i="0" u="none" strike="noStrike" cap="none" normalizeH="0" baseline="0" dirty="0">
                        <a:ln>
                          <a:noFill/>
                        </a:ln>
                        <a:solidFill>
                          <a:schemeClr val="tx1"/>
                        </a:solidFill>
                        <a:effectLst/>
                        <a:latin typeface="Arial" charset="0"/>
                        <a:ea typeface="ＭＳ Ｐゴシック" pitchFamily="34" charset="-128"/>
                      </a:endParaRPr>
                    </a:p>
                  </a:txBody>
                  <a:tcPr marT="45709" marB="45709" anchor="ctr" horzOverflow="overflow">
                    <a:lnL>
                      <a:noFill/>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vMerge="1">
                  <a:txBody>
                    <a:bodyPr/>
                    <a:lstStyle/>
                    <a:p>
                      <a:endParaRPr lang="en-US"/>
                    </a:p>
                  </a:txBody>
                  <a:tcPr/>
                </a:tc>
                <a:extLst>
                  <a:ext uri="{0D108BD9-81ED-4DB2-BD59-A6C34878D82A}">
                    <a16:rowId xmlns:a16="http://schemas.microsoft.com/office/drawing/2014/main" xmlns="" val="10002"/>
                  </a:ext>
                </a:extLst>
              </a:tr>
              <a:tr h="312663">
                <a:tc rowSpan="2">
                  <a:txBody>
                    <a:bodyPr/>
                    <a:lstStyle/>
                    <a:p>
                      <a:pPr marL="0" marR="0" lvl="0" indent="0" algn="l"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bg1"/>
                          </a:solidFill>
                          <a:effectLst/>
                          <a:latin typeface="Arial" charset="0"/>
                          <a:ea typeface="ＭＳ Ｐゴシック" pitchFamily="34" charset="-128"/>
                        </a:rPr>
                        <a:t>Lahore</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rgbClr val="63BDE0"/>
                    </a:solidFill>
                  </a:tcPr>
                </a:tc>
                <a:tc rowSpan="2">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accent2"/>
                          </a:solidFill>
                          <a:effectLst/>
                          <a:latin typeface="Arial" charset="0"/>
                          <a:ea typeface="ＭＳ Ｐゴシック" pitchFamily="34" charset="-128"/>
                        </a:rPr>
                        <a:t>18</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tx1"/>
                          </a:solidFill>
                          <a:effectLst/>
                          <a:latin typeface="Arial" charset="0"/>
                          <a:ea typeface="ＭＳ Ｐゴシック" pitchFamily="34" charset="-128"/>
                        </a:rPr>
                        <a:t>1</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accent2"/>
                          </a:solidFill>
                          <a:effectLst/>
                          <a:latin typeface="Arial" charset="0"/>
                          <a:ea typeface="ＭＳ Ｐゴシック" pitchFamily="34" charset="-128"/>
                        </a:rPr>
                        <a:t>18</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tx1"/>
                          </a:solidFill>
                          <a:effectLst/>
                          <a:latin typeface="Arial" charset="0"/>
                          <a:ea typeface="ＭＳ Ｐゴシック" pitchFamily="34" charset="-128"/>
                        </a:rPr>
                        <a:t>1</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rgbClr val="FFC000"/>
                          </a:solidFill>
                          <a:effectLst/>
                          <a:latin typeface="Arial" charset="0"/>
                          <a:ea typeface="ＭＳ Ｐゴシック" pitchFamily="34" charset="-128"/>
                        </a:rPr>
                        <a:t>12</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tx1"/>
                          </a:solidFill>
                          <a:effectLst/>
                          <a:latin typeface="Arial" charset="0"/>
                          <a:ea typeface="ＭＳ Ｐゴシック" pitchFamily="34" charset="-128"/>
                        </a:rPr>
                        <a:t>5</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tx1"/>
                          </a:solidFill>
                          <a:effectLst/>
                          <a:latin typeface="Arial" charset="0"/>
                          <a:ea typeface="ＭＳ Ｐゴシック" pitchFamily="34" charset="-128"/>
                        </a:rPr>
                        <a:t>7</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5"/>
                  </a:ext>
                </a:extLst>
              </a:tr>
              <a:tr h="312663">
                <a:tc vMerge="1">
                  <a:txBody>
                    <a:bodyPr/>
                    <a:lstStyle/>
                    <a:p>
                      <a:endParaRPr lang="en-US"/>
                    </a:p>
                  </a:txBody>
                  <a:tcPr/>
                </a:tc>
                <a:tc vMerge="1">
                  <a:txBody>
                    <a:bodyPr/>
                    <a:lstStyle/>
                    <a:p>
                      <a:endParaRPr lang="en-US"/>
                    </a:p>
                  </a:txBody>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endParaRPr kumimoji="0" lang="en-US" sz="1400" b="1" i="0" u="none" strike="noStrike" cap="none" normalizeH="0" baseline="0" dirty="0">
                        <a:ln>
                          <a:noFill/>
                        </a:ln>
                        <a:solidFill>
                          <a:schemeClr val="tx1"/>
                        </a:solidFill>
                        <a:effectLst/>
                        <a:latin typeface="Arial" charset="0"/>
                        <a:ea typeface="ＭＳ Ｐゴシック" pitchFamily="34" charset="-128"/>
                      </a:endParaRPr>
                    </a:p>
                  </a:txBody>
                  <a:tcPr marT="45709" marB="45709" anchor="ctr" horzOverflow="overflow">
                    <a:lnL>
                      <a:noFill/>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vMerge="1">
                  <a:txBody>
                    <a:bodyPr/>
                    <a:lstStyle/>
                    <a:p>
                      <a:endParaRPr lang="en-US"/>
                    </a:p>
                  </a:txBody>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endParaRPr kumimoji="0" lang="en-US" sz="1400" b="1" i="0" u="none" strike="noStrike" cap="none" normalizeH="0" baseline="0" dirty="0">
                        <a:ln>
                          <a:noFill/>
                        </a:ln>
                        <a:solidFill>
                          <a:schemeClr val="tx1"/>
                        </a:solidFill>
                        <a:effectLst/>
                        <a:latin typeface="Arial" charset="0"/>
                        <a:ea typeface="ＭＳ Ｐゴシック" pitchFamily="34" charset="-128"/>
                      </a:endParaRPr>
                    </a:p>
                  </a:txBody>
                  <a:tcPr marT="45709" marB="45709" anchor="ctr" horzOverflow="overflow">
                    <a:lnL>
                      <a:noFill/>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vMerge="1">
                  <a:txBody>
                    <a:bodyPr/>
                    <a:lstStyle/>
                    <a:p>
                      <a:endParaRPr lang="en-US"/>
                    </a:p>
                  </a:txBody>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endParaRPr kumimoji="0" lang="en-US" sz="1400" b="1" i="0" u="none" strike="noStrike" cap="none" normalizeH="0" baseline="0" dirty="0">
                        <a:ln>
                          <a:noFill/>
                        </a:ln>
                        <a:solidFill>
                          <a:schemeClr val="tx1"/>
                        </a:solidFill>
                        <a:effectLst/>
                        <a:latin typeface="Arial" charset="0"/>
                        <a:ea typeface="ＭＳ Ｐゴシック" pitchFamily="34" charset="-128"/>
                      </a:endParaRPr>
                    </a:p>
                  </a:txBody>
                  <a:tcPr marT="45709" marB="45709" anchor="ctr" horzOverflow="overflow">
                    <a:lnL>
                      <a:noFill/>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vMerge="1">
                  <a:txBody>
                    <a:bodyPr/>
                    <a:lstStyle/>
                    <a:p>
                      <a:endParaRPr lang="en-US"/>
                    </a:p>
                  </a:txBody>
                  <a:tcPr/>
                </a:tc>
                <a:extLst>
                  <a:ext uri="{0D108BD9-81ED-4DB2-BD59-A6C34878D82A}">
                    <a16:rowId xmlns:a16="http://schemas.microsoft.com/office/drawing/2014/main" xmlns="" val="10006"/>
                  </a:ext>
                </a:extLst>
              </a:tr>
              <a:tr h="625324">
                <a:tc>
                  <a:txBody>
                    <a:bodyPr/>
                    <a:lstStyle/>
                    <a:p>
                      <a:pPr marL="0" marR="0" lvl="0" indent="0" algn="l"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bg1"/>
                          </a:solidFill>
                          <a:effectLst/>
                          <a:latin typeface="Arial" charset="0"/>
                          <a:ea typeface="ＭＳ Ｐゴシック" pitchFamily="34" charset="-128"/>
                        </a:rPr>
                        <a:t>Requirement/</a:t>
                      </a:r>
                    </a:p>
                    <a:p>
                      <a:pPr marL="0" marR="0" lvl="0" indent="0" algn="l"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bg1"/>
                          </a:solidFill>
                          <a:effectLst/>
                          <a:latin typeface="Arial" charset="0"/>
                          <a:ea typeface="ＭＳ Ｐゴシック" pitchFamily="34" charset="-128"/>
                        </a:rPr>
                        <a:t>Demand</a:t>
                      </a:r>
                    </a:p>
                    <a:p>
                      <a:pPr marL="0" marR="0" lvl="0" indent="0" algn="l"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endParaRPr kumimoji="0" lang="en-US" sz="1400" b="1" i="0" u="none" strike="noStrike" cap="none" normalizeH="0" baseline="0" dirty="0">
                        <a:ln>
                          <a:noFill/>
                        </a:ln>
                        <a:solidFill>
                          <a:schemeClr val="bg1"/>
                        </a:solidFill>
                        <a:effectLst/>
                        <a:latin typeface="Arial" charset="0"/>
                        <a:ea typeface="ＭＳ Ｐゴシック" pitchFamily="34" charset="-128"/>
                      </a:endParaRP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rgbClr val="63BDE0"/>
                    </a:solidFill>
                  </a:tcPr>
                </a:tc>
                <a:tc gridSpan="2">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tx1"/>
                          </a:solidFill>
                          <a:effectLst/>
                          <a:latin typeface="Arial" charset="0"/>
                          <a:ea typeface="ＭＳ Ｐゴシック" pitchFamily="34" charset="-128"/>
                        </a:rPr>
                        <a:t>1</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tc gridSpan="2">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tx1"/>
                          </a:solidFill>
                          <a:effectLst/>
                          <a:latin typeface="Arial" charset="0"/>
                          <a:ea typeface="ＭＳ Ｐゴシック" pitchFamily="34" charset="-128"/>
                        </a:rPr>
                        <a:t>3</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tc gridSpan="2">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tx1"/>
                          </a:solidFill>
                          <a:effectLst/>
                          <a:latin typeface="Arial" charset="0"/>
                          <a:ea typeface="ＭＳ Ｐゴシック" pitchFamily="34" charset="-128"/>
                        </a:rPr>
                        <a:t>5</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endParaRPr kumimoji="0" lang="en-US" sz="1400" b="1" i="0" u="none" strike="noStrike" cap="none" normalizeH="0" baseline="0" dirty="0">
                        <a:ln>
                          <a:noFill/>
                        </a:ln>
                        <a:solidFill>
                          <a:schemeClr val="tx1"/>
                        </a:solidFill>
                        <a:effectLst/>
                        <a:latin typeface="Arial" charset="0"/>
                        <a:ea typeface="ＭＳ Ｐゴシック" pitchFamily="34" charset="-128"/>
                      </a:endParaRP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7"/>
                  </a:ext>
                </a:extLst>
              </a:tr>
            </a:tbl>
          </a:graphicData>
        </a:graphic>
      </p:graphicFrame>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xmlns="" id="{364937D7-0718-470D-9391-C274EF12573E}"/>
                  </a:ext>
                </a:extLst>
              </p:cNvPr>
              <p:cNvSpPr txBox="1"/>
              <p:nvPr/>
            </p:nvSpPr>
            <p:spPr>
              <a:xfrm>
                <a:off x="1097280" y="5333032"/>
                <a:ext cx="6543201" cy="110799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sz="2400" b="0" i="0" smtClean="0">
                          <a:latin typeface="Cambria Math" panose="02040503050406030204" pitchFamily="18" charset="0"/>
                        </a:rPr>
                        <m:t>Total</m:t>
                      </m:r>
                      <m:r>
                        <a:rPr lang="en-US" sz="2400" b="0" i="0" smtClean="0">
                          <a:latin typeface="Cambria Math" panose="02040503050406030204" pitchFamily="18" charset="0"/>
                        </a:rPr>
                        <m:t> </m:t>
                      </m:r>
                      <m:r>
                        <m:rPr>
                          <m:sty m:val="p"/>
                        </m:rPr>
                        <a:rPr lang="en-US" sz="2400" b="0" i="0" smtClean="0">
                          <a:latin typeface="Cambria Math" panose="02040503050406030204" pitchFamily="18" charset="0"/>
                        </a:rPr>
                        <m:t>Cost</m:t>
                      </m:r>
                      <m:r>
                        <a:rPr lang="en-US" sz="2400" b="1" i="0" smtClean="0">
                          <a:latin typeface="Cambria Math" panose="02040503050406030204" pitchFamily="18" charset="0"/>
                        </a:rPr>
                        <m:t>=</m:t>
                      </m:r>
                      <m:r>
                        <a:rPr lang="en-US" sz="2400" b="0" i="1" dirty="0" smtClean="0">
                          <a:latin typeface="Cambria Math" panose="02040503050406030204" pitchFamily="18" charset="0"/>
                          <a:ea typeface="Cambria Math" panose="02040503050406030204" pitchFamily="18" charset="0"/>
                        </a:rPr>
                        <m:t>11</m:t>
                      </m:r>
                      <m:r>
                        <a:rPr lang="en-US" sz="2400" i="1" dirty="0">
                          <a:latin typeface="Cambria Math" panose="02040503050406030204" pitchFamily="18" charset="0"/>
                          <a:ea typeface="Cambria Math" panose="02040503050406030204" pitchFamily="18" charset="0"/>
                        </a:rPr>
                        <m:t>×</m:t>
                      </m:r>
                      <m:r>
                        <a:rPr lang="en-US" sz="2400" b="0" i="1" dirty="0" smtClean="0">
                          <a:latin typeface="Cambria Math" panose="02040503050406030204" pitchFamily="18" charset="0"/>
                          <a:ea typeface="Cambria Math" panose="02040503050406030204" pitchFamily="18" charset="0"/>
                        </a:rPr>
                        <m:t>2+18</m:t>
                      </m:r>
                      <m:r>
                        <a:rPr lang="en-US" sz="2400" i="1" dirty="0">
                          <a:latin typeface="Cambria Math" panose="02040503050406030204" pitchFamily="18" charset="0"/>
                          <a:ea typeface="Cambria Math" panose="02040503050406030204" pitchFamily="18" charset="0"/>
                        </a:rPr>
                        <m:t>×</m:t>
                      </m:r>
                      <m:r>
                        <a:rPr lang="en-US" sz="2400" b="0" i="1" dirty="0" smtClean="0">
                          <a:latin typeface="Cambria Math" panose="02040503050406030204" pitchFamily="18" charset="0"/>
                          <a:ea typeface="Cambria Math" panose="02040503050406030204" pitchFamily="18" charset="0"/>
                        </a:rPr>
                        <m:t>1+18</m:t>
                      </m:r>
                      <m:r>
                        <a:rPr lang="en-US" sz="2400" i="1" dirty="0">
                          <a:latin typeface="Cambria Math" panose="02040503050406030204" pitchFamily="18" charset="0"/>
                          <a:ea typeface="Cambria Math" panose="02040503050406030204" pitchFamily="18" charset="0"/>
                        </a:rPr>
                        <m:t>×</m:t>
                      </m:r>
                      <m:r>
                        <a:rPr lang="en-US" sz="2400" b="0" i="1" dirty="0" smtClean="0">
                          <a:latin typeface="Cambria Math" panose="02040503050406030204" pitchFamily="18" charset="0"/>
                          <a:ea typeface="Cambria Math" panose="02040503050406030204" pitchFamily="18" charset="0"/>
                        </a:rPr>
                        <m:t>1+12</m:t>
                      </m:r>
                      <m:r>
                        <a:rPr lang="en-US" sz="2400" i="1" dirty="0">
                          <a:latin typeface="Cambria Math" panose="02040503050406030204" pitchFamily="18" charset="0"/>
                          <a:ea typeface="Cambria Math" panose="02040503050406030204" pitchFamily="18" charset="0"/>
                        </a:rPr>
                        <m:t>×</m:t>
                      </m:r>
                      <m:r>
                        <a:rPr lang="en-US" sz="2400" b="0" i="1" dirty="0" smtClean="0">
                          <a:latin typeface="Cambria Math" panose="02040503050406030204" pitchFamily="18" charset="0"/>
                          <a:ea typeface="Cambria Math" panose="02040503050406030204" pitchFamily="18" charset="0"/>
                        </a:rPr>
                        <m:t>5</m:t>
                      </m:r>
                    </m:oMath>
                  </m:oMathPara>
                </a14:m>
                <a:endParaRPr lang="en-US" sz="2400" b="0" dirty="0">
                  <a:ea typeface="Cambria Math" panose="02040503050406030204" pitchFamily="18" charset="0"/>
                </a:endParaRPr>
              </a:p>
              <a:p>
                <a:r>
                  <a:rPr lang="en-US" sz="2400" dirty="0"/>
                  <a:t>                 =22+18+18+60</a:t>
                </a:r>
              </a:p>
              <a:p>
                <a:r>
                  <a:rPr lang="en-US" sz="2400" dirty="0"/>
                  <a:t>                 =118</a:t>
                </a:r>
              </a:p>
            </p:txBody>
          </p:sp>
        </mc:Choice>
        <mc:Fallback xmlns="">
          <p:sp>
            <p:nvSpPr>
              <p:cNvPr id="7" name="TextBox 6">
                <a:extLst>
                  <a:ext uri="{FF2B5EF4-FFF2-40B4-BE49-F238E27FC236}">
                    <a16:creationId xmlns:a16="http://schemas.microsoft.com/office/drawing/2014/main" id="{364937D7-0718-470D-9391-C274EF12573E}"/>
                  </a:ext>
                </a:extLst>
              </p:cNvPr>
              <p:cNvSpPr txBox="1">
                <a:spLocks noRot="1" noChangeAspect="1" noMove="1" noResize="1" noEditPoints="1" noAdjustHandles="1" noChangeArrowheads="1" noChangeShapeType="1" noTextEdit="1"/>
              </p:cNvSpPr>
              <p:nvPr/>
            </p:nvSpPr>
            <p:spPr>
              <a:xfrm>
                <a:off x="1097280" y="5333032"/>
                <a:ext cx="6543201" cy="1107996"/>
              </a:xfrm>
              <a:prstGeom prst="rect">
                <a:avLst/>
              </a:prstGeom>
              <a:blipFill>
                <a:blip r:embed="rId2"/>
                <a:stretch>
                  <a:fillRect b="-15385"/>
                </a:stretch>
              </a:blipFill>
            </p:spPr>
            <p:txBody>
              <a:bodyPr/>
              <a:lstStyle/>
              <a:p>
                <a:r>
                  <a:rPr lang="en-US">
                    <a:noFill/>
                  </a:rPr>
                  <a:t> </a:t>
                </a:r>
              </a:p>
            </p:txBody>
          </p:sp>
        </mc:Fallback>
      </mc:AlternateContent>
    </p:spTree>
    <p:extLst>
      <p:ext uri="{BB962C8B-B14F-4D97-AF65-F5344CB8AC3E}">
        <p14:creationId xmlns:p14="http://schemas.microsoft.com/office/powerpoint/2010/main" val="12954044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6" fill="hold" nodeType="afterEffect">
                                  <p:stCondLst>
                                    <p:cond delay="1000"/>
                                  </p:stCondLst>
                                  <p:childTnLst>
                                    <p:set>
                                      <p:cBhvr>
                                        <p:cTn id="6" dur="1" fill="hold">
                                          <p:stCondLst>
                                            <p:cond delay="0"/>
                                          </p:stCondLst>
                                        </p:cTn>
                                        <p:tgtEl>
                                          <p:spTgt spid="5"/>
                                        </p:tgtEl>
                                        <p:attrNameLst>
                                          <p:attrName>style.visibility</p:attrName>
                                        </p:attrNameLst>
                                      </p:cBhvr>
                                      <p:to>
                                        <p:strVal val="visible"/>
                                      </p:to>
                                    </p:set>
                                    <p:animEffect transition="in" filter="strips(downRight)">
                                      <p:cBhvr>
                                        <p:cTn id="7"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solidFill>
                  <a:srgbClr val="C00000"/>
                </a:solidFill>
                <a:latin typeface="Arial" panose="020B0604020202020204" pitchFamily="34" charset="0"/>
                <a:cs typeface="Arial" panose="020B0604020202020204" pitchFamily="34" charset="0"/>
              </a:rPr>
              <a:t>Vogel’s Approximation (procedure)</a:t>
            </a:r>
          </a:p>
        </p:txBody>
      </p:sp>
      <p:sp>
        <p:nvSpPr>
          <p:cNvPr id="6" name="Content Placeholder 5">
            <a:extLst>
              <a:ext uri="{FF2B5EF4-FFF2-40B4-BE49-F238E27FC236}">
                <a16:creationId xmlns:a16="http://schemas.microsoft.com/office/drawing/2014/main" xmlns="" id="{12C3F38F-06D5-4ADF-BB89-374D8DB47BD2}"/>
              </a:ext>
            </a:extLst>
          </p:cNvPr>
          <p:cNvSpPr>
            <a:spLocks noGrp="1"/>
          </p:cNvSpPr>
          <p:nvPr>
            <p:ph idx="1"/>
          </p:nvPr>
        </p:nvSpPr>
        <p:spPr>
          <a:xfrm>
            <a:off x="856060" y="2249486"/>
            <a:ext cx="7429499" cy="4608513"/>
          </a:xfrm>
        </p:spPr>
        <p:txBody>
          <a:bodyPr>
            <a:normAutofit lnSpcReduction="10000"/>
          </a:bodyPr>
          <a:lstStyle/>
          <a:p>
            <a:pPr algn="just"/>
            <a:r>
              <a:rPr lang="en-US" dirty="0">
                <a:effectLst/>
                <a:latin typeface="Arial" panose="020B0604020202020204" pitchFamily="34" charset="0"/>
                <a:cs typeface="Arial" panose="020B0604020202020204" pitchFamily="34" charset="0"/>
              </a:rPr>
              <a:t>First of all, we check our problem is balance or unbalance.</a:t>
            </a:r>
          </a:p>
          <a:p>
            <a:pPr algn="just"/>
            <a:r>
              <a:rPr lang="en-US" dirty="0">
                <a:effectLst/>
                <a:latin typeface="Arial" panose="020B0604020202020204" pitchFamily="34" charset="0"/>
                <a:cs typeface="Arial" panose="020B0604020202020204" pitchFamily="34" charset="0"/>
              </a:rPr>
              <a:t>Identify the boxes having minimum and next to minimum transportation cost in each row or column and write the difference (penalty) along the side of the table against the corresponding row and column</a:t>
            </a:r>
          </a:p>
          <a:p>
            <a:pPr algn="just"/>
            <a:r>
              <a:rPr lang="en-US" dirty="0">
                <a:effectLst/>
                <a:latin typeface="Arial" panose="020B0604020202020204" pitchFamily="34" charset="0"/>
                <a:cs typeface="Arial" panose="020B0604020202020204" pitchFamily="34" charset="0"/>
              </a:rPr>
              <a:t>Identify the maximum penalty, then go to the minimum cost in that row or column. Choose the value from the corresponding demand or supply, where the value is less.</a:t>
            </a:r>
          </a:p>
          <a:p>
            <a:pPr algn="just"/>
            <a:endParaRPr lang="en-US" dirty="0">
              <a:effectLst/>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31885353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solidFill>
                  <a:srgbClr val="C00000"/>
                </a:solidFill>
                <a:latin typeface="Arial" panose="020B0604020202020204" pitchFamily="34" charset="0"/>
                <a:cs typeface="Arial" panose="020B0604020202020204" pitchFamily="34" charset="0"/>
              </a:rPr>
              <a:t>Vogel’s Approximation (procedure)</a:t>
            </a:r>
          </a:p>
        </p:txBody>
      </p:sp>
      <p:sp>
        <p:nvSpPr>
          <p:cNvPr id="6" name="Content Placeholder 5">
            <a:extLst>
              <a:ext uri="{FF2B5EF4-FFF2-40B4-BE49-F238E27FC236}">
                <a16:creationId xmlns:a16="http://schemas.microsoft.com/office/drawing/2014/main" xmlns="" id="{12C3F38F-06D5-4ADF-BB89-374D8DB47BD2}"/>
              </a:ext>
            </a:extLst>
          </p:cNvPr>
          <p:cNvSpPr>
            <a:spLocks noGrp="1"/>
          </p:cNvSpPr>
          <p:nvPr>
            <p:ph idx="1"/>
          </p:nvPr>
        </p:nvSpPr>
        <p:spPr>
          <a:xfrm>
            <a:off x="838130" y="2043297"/>
            <a:ext cx="7429499" cy="4608513"/>
          </a:xfrm>
        </p:spPr>
        <p:txBody>
          <a:bodyPr>
            <a:normAutofit fontScale="92500"/>
          </a:bodyPr>
          <a:lstStyle/>
          <a:p>
            <a:pPr algn="just"/>
            <a:r>
              <a:rPr lang="en-US" dirty="0">
                <a:effectLst/>
                <a:latin typeface="Arial" panose="020B0604020202020204" pitchFamily="34" charset="0"/>
                <a:cs typeface="Arial" panose="020B0604020202020204" pitchFamily="34" charset="0"/>
              </a:rPr>
              <a:t>If the penalties corresponding to two or more rows or columns are equal you are at liberty to break the tie arbitrarily.</a:t>
            </a:r>
          </a:p>
          <a:p>
            <a:pPr algn="just"/>
            <a:r>
              <a:rPr lang="en-US" dirty="0">
                <a:effectLst/>
                <a:latin typeface="Arial" panose="020B0604020202020204" pitchFamily="34" charset="0"/>
                <a:cs typeface="Arial" panose="020B0604020202020204" pitchFamily="34" charset="0"/>
              </a:rPr>
              <a:t>Repeat the above steps until all restrictions are satisfied.</a:t>
            </a:r>
          </a:p>
          <a:p>
            <a:pPr marL="0" indent="0">
              <a:buNone/>
            </a:pPr>
            <a:r>
              <a:rPr lang="en-GB" dirty="0">
                <a:solidFill>
                  <a:srgbClr val="FF0000"/>
                </a:solidFill>
                <a:latin typeface="Arial" pitchFamily="34" charset="0"/>
                <a:cs typeface="Arial" pitchFamily="34" charset="0"/>
              </a:rPr>
              <a:t>Adjust the supply and demand and cross out the satisfied row or column. If a row and a </a:t>
            </a:r>
            <a:r>
              <a:rPr lang="en-GB" dirty="0" smtClean="0">
                <a:solidFill>
                  <a:srgbClr val="FF0000"/>
                </a:solidFill>
                <a:latin typeface="Arial" pitchFamily="34" charset="0"/>
                <a:cs typeface="Arial" pitchFamily="34" charset="0"/>
              </a:rPr>
              <a:t>column are </a:t>
            </a:r>
            <a:r>
              <a:rPr lang="en-GB" dirty="0">
                <a:solidFill>
                  <a:srgbClr val="FF0000"/>
                </a:solidFill>
                <a:latin typeface="Arial" pitchFamily="34" charset="0"/>
                <a:cs typeface="Arial" pitchFamily="34" charset="0"/>
              </a:rPr>
              <a:t>satisfied simultaneously, only one of them is crossed out and the remaining row (column) is </a:t>
            </a:r>
            <a:r>
              <a:rPr lang="en-GB" dirty="0" smtClean="0">
                <a:solidFill>
                  <a:srgbClr val="FF0000"/>
                </a:solidFill>
                <a:latin typeface="Arial" pitchFamily="34" charset="0"/>
                <a:cs typeface="Arial" pitchFamily="34" charset="0"/>
              </a:rPr>
              <a:t>assigned a </a:t>
            </a:r>
            <a:r>
              <a:rPr lang="en-GB" dirty="0">
                <a:solidFill>
                  <a:srgbClr val="FF0000"/>
                </a:solidFill>
                <a:latin typeface="Arial" pitchFamily="34" charset="0"/>
                <a:cs typeface="Arial" pitchFamily="34" charset="0"/>
              </a:rPr>
              <a:t>zero supply (demand). Any row or column with zero supply or demand should not be used in </a:t>
            </a:r>
            <a:r>
              <a:rPr lang="en-GB" dirty="0" smtClean="0">
                <a:solidFill>
                  <a:srgbClr val="FF0000"/>
                </a:solidFill>
                <a:latin typeface="Arial" pitchFamily="34" charset="0"/>
                <a:cs typeface="Arial" pitchFamily="34" charset="0"/>
              </a:rPr>
              <a:t>computing future penalties.</a:t>
            </a:r>
            <a:endParaRPr lang="en-US" dirty="0">
              <a:solidFill>
                <a:srgbClr val="FF000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32816286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solidFill>
                  <a:srgbClr val="C00000"/>
                </a:solidFill>
                <a:latin typeface="Arial" panose="020B0604020202020204" pitchFamily="34" charset="0"/>
                <a:cs typeface="Arial" panose="020B0604020202020204" pitchFamily="34" charset="0"/>
              </a:rPr>
              <a:t>Vogel’s approximation</a:t>
            </a:r>
          </a:p>
        </p:txBody>
      </p:sp>
      <p:sp>
        <p:nvSpPr>
          <p:cNvPr id="6" name="Content Placeholder 5">
            <a:extLst>
              <a:ext uri="{FF2B5EF4-FFF2-40B4-BE49-F238E27FC236}">
                <a16:creationId xmlns:a16="http://schemas.microsoft.com/office/drawing/2014/main" xmlns="" id="{12C3F38F-06D5-4ADF-BB89-374D8DB47BD2}"/>
              </a:ext>
            </a:extLst>
          </p:cNvPr>
          <p:cNvSpPr>
            <a:spLocks noGrp="1"/>
          </p:cNvSpPr>
          <p:nvPr>
            <p:ph idx="1"/>
          </p:nvPr>
        </p:nvSpPr>
        <p:spPr>
          <a:xfrm>
            <a:off x="856060" y="2249486"/>
            <a:ext cx="7429499" cy="4608513"/>
          </a:xfrm>
        </p:spPr>
        <p:txBody>
          <a:bodyPr>
            <a:normAutofit/>
          </a:bodyPr>
          <a:lstStyle/>
          <a:p>
            <a:pPr marL="0" indent="0">
              <a:buNone/>
            </a:pPr>
            <a:endParaRPr lang="en-US" dirty="0">
              <a:latin typeface="Arial" panose="020B0604020202020204" pitchFamily="34" charset="0"/>
              <a:cs typeface="Arial" panose="020B0604020202020204" pitchFamily="34" charset="0"/>
            </a:endParaRPr>
          </a:p>
          <a:p>
            <a:pPr marL="0" indent="0">
              <a:buNone/>
            </a:pPr>
            <a:endParaRPr lang="en-US" dirty="0">
              <a:latin typeface="Arial" panose="020B0604020202020204" pitchFamily="34" charset="0"/>
              <a:cs typeface="Arial" panose="020B0604020202020204" pitchFamily="34" charset="0"/>
            </a:endParaRPr>
          </a:p>
          <a:p>
            <a:pPr marL="0" indent="0">
              <a:buNone/>
            </a:pPr>
            <a:endParaRPr lang="en-US" dirty="0">
              <a:latin typeface="Arial" panose="020B0604020202020204" pitchFamily="34" charset="0"/>
              <a:cs typeface="Arial" panose="020B0604020202020204" pitchFamily="34" charset="0"/>
            </a:endParaRPr>
          </a:p>
        </p:txBody>
      </p:sp>
      <p:graphicFrame>
        <p:nvGraphicFramePr>
          <p:cNvPr id="5" name="Group 123">
            <a:extLst>
              <a:ext uri="{FF2B5EF4-FFF2-40B4-BE49-F238E27FC236}">
                <a16:creationId xmlns:a16="http://schemas.microsoft.com/office/drawing/2014/main" xmlns="" id="{A5DA3B2A-2E25-4DFF-9E0E-EBF2CA28C54C}"/>
              </a:ext>
            </a:extLst>
          </p:cNvPr>
          <p:cNvGraphicFramePr>
            <a:graphicFrameLocks noGrp="1"/>
          </p:cNvGraphicFramePr>
          <p:nvPr>
            <p:extLst>
              <p:ext uri="{D42A27DB-BD31-4B8C-83A1-F6EECF244321}">
                <p14:modId xmlns:p14="http://schemas.microsoft.com/office/powerpoint/2010/main" val="49641614"/>
              </p:ext>
            </p:extLst>
          </p:nvPr>
        </p:nvGraphicFramePr>
        <p:xfrm>
          <a:off x="856060" y="2249486"/>
          <a:ext cx="6163297" cy="2670976"/>
        </p:xfrm>
        <a:graphic>
          <a:graphicData uri="http://schemas.openxmlformats.org/drawingml/2006/table">
            <a:tbl>
              <a:tblPr/>
              <a:tblGrid>
                <a:gridCol w="1737009">
                  <a:extLst>
                    <a:ext uri="{9D8B030D-6E8A-4147-A177-3AD203B41FA5}">
                      <a16:colId xmlns:a16="http://schemas.microsoft.com/office/drawing/2014/main" xmlns="" val="20000"/>
                    </a:ext>
                  </a:extLst>
                </a:gridCol>
                <a:gridCol w="1019792">
                  <a:extLst>
                    <a:ext uri="{9D8B030D-6E8A-4147-A177-3AD203B41FA5}">
                      <a16:colId xmlns:a16="http://schemas.microsoft.com/office/drawing/2014/main" xmlns="" val="20001"/>
                    </a:ext>
                  </a:extLst>
                </a:gridCol>
                <a:gridCol w="381020">
                  <a:extLst>
                    <a:ext uri="{9D8B030D-6E8A-4147-A177-3AD203B41FA5}">
                      <a16:colId xmlns:a16="http://schemas.microsoft.com/office/drawing/2014/main" xmlns="" val="20002"/>
                    </a:ext>
                  </a:extLst>
                </a:gridCol>
                <a:gridCol w="571532">
                  <a:extLst>
                    <a:ext uri="{9D8B030D-6E8A-4147-A177-3AD203B41FA5}">
                      <a16:colId xmlns:a16="http://schemas.microsoft.com/office/drawing/2014/main" xmlns="" val="20003"/>
                    </a:ext>
                  </a:extLst>
                </a:gridCol>
                <a:gridCol w="358608">
                  <a:extLst>
                    <a:ext uri="{9D8B030D-6E8A-4147-A177-3AD203B41FA5}">
                      <a16:colId xmlns:a16="http://schemas.microsoft.com/office/drawing/2014/main" xmlns="" val="20004"/>
                    </a:ext>
                  </a:extLst>
                </a:gridCol>
                <a:gridCol w="428943">
                  <a:extLst>
                    <a:ext uri="{9D8B030D-6E8A-4147-A177-3AD203B41FA5}">
                      <a16:colId xmlns:a16="http://schemas.microsoft.com/office/drawing/2014/main" xmlns="" val="20005"/>
                    </a:ext>
                  </a:extLst>
                </a:gridCol>
                <a:gridCol w="500915">
                  <a:extLst>
                    <a:ext uri="{9D8B030D-6E8A-4147-A177-3AD203B41FA5}">
                      <a16:colId xmlns:a16="http://schemas.microsoft.com/office/drawing/2014/main" xmlns="" val="20006"/>
                    </a:ext>
                  </a:extLst>
                </a:gridCol>
                <a:gridCol w="1165478">
                  <a:extLst>
                    <a:ext uri="{9D8B030D-6E8A-4147-A177-3AD203B41FA5}">
                      <a16:colId xmlns:a16="http://schemas.microsoft.com/office/drawing/2014/main" xmlns="" val="20007"/>
                    </a:ext>
                  </a:extLst>
                </a:gridCol>
              </a:tblGrid>
              <a:tr h="555364">
                <a:tc>
                  <a:txBody>
                    <a:bodyPr/>
                    <a:lstStyle/>
                    <a:p>
                      <a:pPr marL="0" marR="0" lvl="0" indent="0" algn="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bg1"/>
                          </a:solidFill>
                          <a:effectLst/>
                          <a:latin typeface="Arial" charset="0"/>
                          <a:ea typeface="ＭＳ Ｐゴシック" pitchFamily="34" charset="-128"/>
                        </a:rPr>
                        <a:t>TO</a:t>
                      </a:r>
                    </a:p>
                    <a:p>
                      <a:pPr marL="0" marR="0" lvl="0" indent="0" algn="l"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bg1"/>
                          </a:solidFill>
                          <a:effectLst/>
                          <a:latin typeface="Arial" charset="0"/>
                          <a:ea typeface="ＭＳ Ｐゴシック" pitchFamily="34" charset="-128"/>
                        </a:rPr>
                        <a:t>FROM</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9050" cap="flat" cmpd="sng" algn="ctr">
                      <a:solidFill>
                        <a:schemeClr val="tx1"/>
                      </a:solidFill>
                      <a:prstDash val="solid"/>
                      <a:round/>
                      <a:headEnd type="none" w="med" len="med"/>
                      <a:tailEnd type="none" w="med" len="med"/>
                    </a:lnTlToBr>
                    <a:lnBlToTr>
                      <a:noFill/>
                    </a:lnBlToTr>
                    <a:solidFill>
                      <a:srgbClr val="63BDE0"/>
                    </a:solidFill>
                  </a:tcPr>
                </a:tc>
                <a:tc gridSpan="2">
                  <a:txBody>
                    <a:bodyPr/>
                    <a:lstStyle/>
                    <a:p>
                      <a:pPr marL="0" marR="0" lvl="0" indent="0" algn="l"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bg1"/>
                          </a:solidFill>
                          <a:effectLst/>
                          <a:latin typeface="Arial" charset="0"/>
                          <a:ea typeface="ＭＳ Ｐゴシック" pitchFamily="34" charset="-128"/>
                        </a:rPr>
                        <a:t>Peshawar </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rgbClr val="63BDE0"/>
                    </a:solidFill>
                  </a:tcPr>
                </a:tc>
                <a:tc hMerge="1">
                  <a:txBody>
                    <a:bodyPr/>
                    <a:lstStyle/>
                    <a:p>
                      <a:endParaRPr lang="en-US"/>
                    </a:p>
                  </a:txBody>
                  <a:tcPr/>
                </a:tc>
                <a:tc gridSpan="2">
                  <a:txBody>
                    <a:bodyPr/>
                    <a:lstStyle/>
                    <a:p>
                      <a:pPr marL="0" marR="0" lvl="0" indent="0" algn="l"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bg1"/>
                          </a:solidFill>
                          <a:effectLst/>
                          <a:latin typeface="Arial" charset="0"/>
                          <a:ea typeface="ＭＳ Ｐゴシック" pitchFamily="34" charset="-128"/>
                        </a:rPr>
                        <a:t>Sialkot</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rgbClr val="63BDE0"/>
                    </a:solidFill>
                  </a:tcPr>
                </a:tc>
                <a:tc hMerge="1">
                  <a:txBody>
                    <a:bodyPr/>
                    <a:lstStyle/>
                    <a:p>
                      <a:endParaRPr lang="en-US"/>
                    </a:p>
                  </a:txBody>
                  <a:tcPr/>
                </a:tc>
                <a:tc gridSpan="2">
                  <a:txBody>
                    <a:bodyPr/>
                    <a:lstStyle/>
                    <a:p>
                      <a:pPr marL="0" marR="0" lvl="0" indent="0" algn="l"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bg1"/>
                          </a:solidFill>
                          <a:effectLst/>
                          <a:latin typeface="Arial" charset="0"/>
                          <a:ea typeface="ＭＳ Ｐゴシック" pitchFamily="34" charset="-128"/>
                        </a:rPr>
                        <a:t> Multan</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rgbClr val="63BDE0"/>
                    </a:solidFill>
                  </a:tcPr>
                </a:tc>
                <a:tc hMerge="1">
                  <a:txBody>
                    <a:bodyPr/>
                    <a:lstStyle/>
                    <a:p>
                      <a:endParaRPr lang="en-US"/>
                    </a:p>
                  </a:txBody>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bg1"/>
                          </a:solidFill>
                          <a:effectLst/>
                          <a:latin typeface="Arial" charset="0"/>
                          <a:ea typeface="ＭＳ Ｐゴシック" pitchFamily="34" charset="-128"/>
                        </a:rPr>
                        <a:t>FACTORY CAPACITY/Supply</a:t>
                      </a:r>
                    </a:p>
                  </a:txBody>
                  <a:tcPr marT="45709" marB="45709" anchor="b"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rgbClr val="63BDE0"/>
                    </a:solidFill>
                  </a:tcPr>
                </a:tc>
                <a:extLst>
                  <a:ext uri="{0D108BD9-81ED-4DB2-BD59-A6C34878D82A}">
                    <a16:rowId xmlns:a16="http://schemas.microsoft.com/office/drawing/2014/main" xmlns="" val="10000"/>
                  </a:ext>
                </a:extLst>
              </a:tr>
              <a:tr h="312663">
                <a:tc rowSpan="2">
                  <a:txBody>
                    <a:bodyPr/>
                    <a:lstStyle/>
                    <a:p>
                      <a:pPr marL="0" marR="0" lvl="0" indent="0" algn="l"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bg1"/>
                          </a:solidFill>
                          <a:effectLst/>
                          <a:latin typeface="Arial" charset="0"/>
                          <a:ea typeface="ＭＳ Ｐゴシック" pitchFamily="34" charset="-128"/>
                        </a:rPr>
                        <a:t> </a:t>
                      </a:r>
                      <a:br>
                        <a:rPr kumimoji="0" lang="en-US" sz="1400" b="1" i="0" u="none" strike="noStrike" cap="none" normalizeH="0" baseline="0" dirty="0">
                          <a:ln>
                            <a:noFill/>
                          </a:ln>
                          <a:solidFill>
                            <a:schemeClr val="bg1"/>
                          </a:solidFill>
                          <a:effectLst/>
                          <a:latin typeface="Arial" charset="0"/>
                          <a:ea typeface="ＭＳ Ｐゴシック" pitchFamily="34" charset="-128"/>
                        </a:rPr>
                      </a:br>
                      <a:r>
                        <a:rPr kumimoji="0" lang="en-US" sz="1400" b="1" i="0" u="none" strike="noStrike" cap="none" normalizeH="0" baseline="0" dirty="0">
                          <a:ln>
                            <a:noFill/>
                          </a:ln>
                          <a:solidFill>
                            <a:schemeClr val="bg1"/>
                          </a:solidFill>
                          <a:effectLst/>
                          <a:latin typeface="Arial" charset="0"/>
                          <a:ea typeface="ＭＳ Ｐゴシック" pitchFamily="34" charset="-128"/>
                        </a:rPr>
                        <a:t>Karachi</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rgbClr val="63BDE0"/>
                    </a:solidFill>
                  </a:tcPr>
                </a:tc>
                <a:tc rowSpan="2">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tx1"/>
                          </a:solidFill>
                          <a:effectLst>
                            <a:outerShdw blurRad="38100" dist="38100" dir="2700000" algn="tl">
                              <a:srgbClr val="C0C0C0"/>
                            </a:outerShdw>
                          </a:effectLst>
                          <a:latin typeface="Arial" charset="0"/>
                          <a:ea typeface="ＭＳ Ｐゴシック" pitchFamily="34" charset="-128"/>
                        </a:rPr>
                        <a:t>13</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endParaRPr kumimoji="0" lang="en-US" sz="1400" b="1" i="0" u="none" strike="noStrike" cap="none" normalizeH="0" baseline="0" dirty="0">
                        <a:ln>
                          <a:noFill/>
                        </a:ln>
                        <a:solidFill>
                          <a:schemeClr val="tx1"/>
                        </a:solidFill>
                        <a:effectLst/>
                        <a:latin typeface="Arial" charset="0"/>
                        <a:ea typeface="ＭＳ Ｐゴシック" pitchFamily="34" charset="-128"/>
                      </a:endParaRP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tx1"/>
                          </a:solidFill>
                          <a:effectLst/>
                          <a:latin typeface="Arial" charset="0"/>
                          <a:ea typeface="ＭＳ Ｐゴシック" pitchFamily="34" charset="-128"/>
                        </a:rPr>
                        <a:t>11</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endParaRPr kumimoji="0" lang="en-US" sz="1400" b="1" i="0" u="none" strike="noStrike" cap="none" normalizeH="0" baseline="0" dirty="0">
                        <a:ln>
                          <a:noFill/>
                        </a:ln>
                        <a:solidFill>
                          <a:schemeClr val="tx1"/>
                        </a:solidFill>
                        <a:effectLst/>
                        <a:latin typeface="Arial" charset="0"/>
                        <a:ea typeface="ＭＳ Ｐゴシック" pitchFamily="34" charset="-128"/>
                      </a:endParaRP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tx1"/>
                          </a:solidFill>
                          <a:effectLst/>
                          <a:latin typeface="Arial" charset="0"/>
                          <a:ea typeface="ＭＳ Ｐゴシック" pitchFamily="34" charset="-128"/>
                        </a:rPr>
                        <a:t>40</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endParaRPr kumimoji="0" lang="en-US" sz="1400" b="1" i="0" u="none" strike="noStrike" cap="none" normalizeH="0" baseline="0" dirty="0">
                        <a:ln>
                          <a:noFill/>
                        </a:ln>
                        <a:solidFill>
                          <a:schemeClr val="tx1"/>
                        </a:solidFill>
                        <a:effectLst/>
                        <a:latin typeface="Arial" charset="0"/>
                        <a:ea typeface="ＭＳ Ｐゴシック" pitchFamily="34" charset="-128"/>
                      </a:endParaRP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tx1"/>
                          </a:solidFill>
                          <a:effectLst/>
                          <a:latin typeface="Arial" charset="0"/>
                          <a:ea typeface="ＭＳ Ｐゴシック" pitchFamily="34" charset="-128"/>
                        </a:rPr>
                        <a:t>2</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1"/>
                  </a:ext>
                </a:extLst>
              </a:tr>
              <a:tr h="312663">
                <a:tc vMerge="1">
                  <a:txBody>
                    <a:bodyPr/>
                    <a:lstStyle/>
                    <a:p>
                      <a:endParaRPr lang="en-US"/>
                    </a:p>
                  </a:txBody>
                  <a:tcPr/>
                </a:tc>
                <a:tc vMerge="1">
                  <a:txBody>
                    <a:bodyPr/>
                    <a:lstStyle/>
                    <a:p>
                      <a:endParaRPr lang="en-US"/>
                    </a:p>
                  </a:txBody>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endParaRPr kumimoji="0" lang="en-US" sz="1400" b="1" i="0" u="none" strike="noStrike" cap="none" normalizeH="0" baseline="0" dirty="0">
                        <a:ln>
                          <a:noFill/>
                        </a:ln>
                        <a:solidFill>
                          <a:schemeClr val="tx1"/>
                        </a:solidFill>
                        <a:effectLst/>
                        <a:latin typeface="Arial" charset="0"/>
                        <a:ea typeface="ＭＳ Ｐゴシック" pitchFamily="34" charset="-128"/>
                      </a:endParaRPr>
                    </a:p>
                  </a:txBody>
                  <a:tcPr marT="45709" marB="45709" anchor="ctr" horzOverflow="overflow">
                    <a:lnL>
                      <a:noFill/>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vMerge="1">
                  <a:txBody>
                    <a:bodyPr/>
                    <a:lstStyle/>
                    <a:p>
                      <a:endParaRPr lang="en-US"/>
                    </a:p>
                  </a:txBody>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endParaRPr kumimoji="0" lang="en-US" sz="1400" b="1" i="0" u="none" strike="noStrike" cap="none" normalizeH="0" baseline="0" dirty="0">
                        <a:ln>
                          <a:noFill/>
                        </a:ln>
                        <a:solidFill>
                          <a:schemeClr val="tx1"/>
                        </a:solidFill>
                        <a:effectLst/>
                        <a:latin typeface="Arial" charset="0"/>
                        <a:ea typeface="ＭＳ Ｐゴシック" pitchFamily="34" charset="-128"/>
                      </a:endParaRPr>
                    </a:p>
                  </a:txBody>
                  <a:tcPr marT="45709" marB="45709" anchor="ctr" horzOverflow="overflow">
                    <a:lnL>
                      <a:noFill/>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vMerge="1">
                  <a:txBody>
                    <a:bodyPr/>
                    <a:lstStyle/>
                    <a:p>
                      <a:endParaRPr lang="en-US"/>
                    </a:p>
                  </a:txBody>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endParaRPr kumimoji="0" lang="en-US" sz="1400" b="1" i="0" u="none" strike="noStrike" cap="none" normalizeH="0" baseline="0" dirty="0">
                        <a:ln>
                          <a:noFill/>
                        </a:ln>
                        <a:solidFill>
                          <a:schemeClr val="tx1"/>
                        </a:solidFill>
                        <a:effectLst/>
                        <a:latin typeface="Arial" charset="0"/>
                        <a:ea typeface="ＭＳ Ｐゴシック" pitchFamily="34" charset="-128"/>
                      </a:endParaRPr>
                    </a:p>
                  </a:txBody>
                  <a:tcPr marT="45709" marB="45709" anchor="ctr" horzOverflow="overflow">
                    <a:lnL>
                      <a:noFill/>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vMerge="1">
                  <a:txBody>
                    <a:bodyPr/>
                    <a:lstStyle/>
                    <a:p>
                      <a:endParaRPr lang="en-US"/>
                    </a:p>
                  </a:txBody>
                  <a:tcPr/>
                </a:tc>
                <a:extLst>
                  <a:ext uri="{0D108BD9-81ED-4DB2-BD59-A6C34878D82A}">
                    <a16:rowId xmlns:a16="http://schemas.microsoft.com/office/drawing/2014/main" xmlns="" val="10002"/>
                  </a:ext>
                </a:extLst>
              </a:tr>
              <a:tr h="312663">
                <a:tc rowSpan="2">
                  <a:txBody>
                    <a:bodyPr/>
                    <a:lstStyle/>
                    <a:p>
                      <a:pPr marL="0" marR="0" lvl="0" indent="0" algn="l"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bg1"/>
                          </a:solidFill>
                          <a:effectLst/>
                          <a:latin typeface="Arial" charset="0"/>
                          <a:ea typeface="ＭＳ Ｐゴシック" pitchFamily="34" charset="-128"/>
                        </a:rPr>
                        <a:t>Lahore</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rgbClr val="63BDE0"/>
                    </a:solidFill>
                  </a:tcPr>
                </a:tc>
                <a:tc rowSpan="2">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tx1"/>
                          </a:solidFill>
                          <a:effectLst/>
                          <a:latin typeface="Arial" charset="0"/>
                          <a:ea typeface="ＭＳ Ｐゴシック" pitchFamily="34" charset="-128"/>
                        </a:rPr>
                        <a:t>18</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endParaRPr kumimoji="0" lang="en-US" sz="1400" b="1" i="0" u="none" strike="noStrike" cap="none" normalizeH="0" baseline="0" dirty="0">
                        <a:ln>
                          <a:noFill/>
                        </a:ln>
                        <a:solidFill>
                          <a:schemeClr val="tx1"/>
                        </a:solidFill>
                        <a:effectLst/>
                        <a:latin typeface="Arial" charset="0"/>
                        <a:ea typeface="ＭＳ Ｐゴシック" pitchFamily="34" charset="-128"/>
                      </a:endParaRP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tx1"/>
                          </a:solidFill>
                          <a:effectLst/>
                          <a:latin typeface="Arial" charset="0"/>
                          <a:ea typeface="ＭＳ Ｐゴシック" pitchFamily="34" charset="-128"/>
                        </a:rPr>
                        <a:t>18</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endParaRPr kumimoji="0" lang="en-US" sz="1400" b="1" i="0" u="none" strike="noStrike" cap="none" normalizeH="0" baseline="0" dirty="0">
                        <a:ln>
                          <a:noFill/>
                        </a:ln>
                        <a:solidFill>
                          <a:schemeClr val="tx1"/>
                        </a:solidFill>
                        <a:effectLst/>
                        <a:latin typeface="Arial" charset="0"/>
                        <a:ea typeface="ＭＳ Ｐゴシック" pitchFamily="34" charset="-128"/>
                      </a:endParaRP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tx1"/>
                          </a:solidFill>
                          <a:effectLst/>
                          <a:latin typeface="Arial" charset="0"/>
                          <a:ea typeface="ＭＳ Ｐゴシック" pitchFamily="34" charset="-128"/>
                        </a:rPr>
                        <a:t>12</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endParaRPr kumimoji="0" lang="en-US" sz="1400" b="1" i="0" u="none" strike="noStrike" cap="none" normalizeH="0" baseline="0" dirty="0">
                        <a:ln>
                          <a:noFill/>
                        </a:ln>
                        <a:solidFill>
                          <a:schemeClr val="tx1"/>
                        </a:solidFill>
                        <a:effectLst/>
                        <a:latin typeface="Arial" charset="0"/>
                        <a:ea typeface="ＭＳ Ｐゴシック" pitchFamily="34" charset="-128"/>
                      </a:endParaRP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tx1"/>
                          </a:solidFill>
                          <a:effectLst/>
                          <a:latin typeface="Arial" charset="0"/>
                          <a:ea typeface="ＭＳ Ｐゴシック" pitchFamily="34" charset="-128"/>
                        </a:rPr>
                        <a:t>7</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5"/>
                  </a:ext>
                </a:extLst>
              </a:tr>
              <a:tr h="312663">
                <a:tc vMerge="1">
                  <a:txBody>
                    <a:bodyPr/>
                    <a:lstStyle/>
                    <a:p>
                      <a:endParaRPr lang="en-US"/>
                    </a:p>
                  </a:txBody>
                  <a:tcPr/>
                </a:tc>
                <a:tc vMerge="1">
                  <a:txBody>
                    <a:bodyPr/>
                    <a:lstStyle/>
                    <a:p>
                      <a:endParaRPr lang="en-US"/>
                    </a:p>
                  </a:txBody>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endParaRPr kumimoji="0" lang="en-US" sz="1400" b="1" i="0" u="none" strike="noStrike" cap="none" normalizeH="0" baseline="0" dirty="0">
                        <a:ln>
                          <a:noFill/>
                        </a:ln>
                        <a:solidFill>
                          <a:schemeClr val="tx1"/>
                        </a:solidFill>
                        <a:effectLst/>
                        <a:latin typeface="Arial" charset="0"/>
                        <a:ea typeface="ＭＳ Ｐゴシック" pitchFamily="34" charset="-128"/>
                      </a:endParaRPr>
                    </a:p>
                  </a:txBody>
                  <a:tcPr marT="45709" marB="45709" anchor="ctr" horzOverflow="overflow">
                    <a:lnL>
                      <a:noFill/>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vMerge="1">
                  <a:txBody>
                    <a:bodyPr/>
                    <a:lstStyle/>
                    <a:p>
                      <a:endParaRPr lang="en-US"/>
                    </a:p>
                  </a:txBody>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endParaRPr kumimoji="0" lang="en-US" sz="1400" b="1" i="0" u="none" strike="noStrike" cap="none" normalizeH="0" baseline="0" dirty="0">
                        <a:ln>
                          <a:noFill/>
                        </a:ln>
                        <a:solidFill>
                          <a:schemeClr val="tx1"/>
                        </a:solidFill>
                        <a:effectLst/>
                        <a:latin typeface="Arial" charset="0"/>
                        <a:ea typeface="ＭＳ Ｐゴシック" pitchFamily="34" charset="-128"/>
                      </a:endParaRPr>
                    </a:p>
                  </a:txBody>
                  <a:tcPr marT="45709" marB="45709" anchor="ctr" horzOverflow="overflow">
                    <a:lnL>
                      <a:noFill/>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vMerge="1">
                  <a:txBody>
                    <a:bodyPr/>
                    <a:lstStyle/>
                    <a:p>
                      <a:endParaRPr lang="en-US"/>
                    </a:p>
                  </a:txBody>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endParaRPr kumimoji="0" lang="en-US" sz="1400" b="1" i="0" u="none" strike="noStrike" cap="none" normalizeH="0" baseline="0" dirty="0">
                        <a:ln>
                          <a:noFill/>
                        </a:ln>
                        <a:solidFill>
                          <a:schemeClr val="tx1"/>
                        </a:solidFill>
                        <a:effectLst/>
                        <a:latin typeface="Arial" charset="0"/>
                        <a:ea typeface="ＭＳ Ｐゴシック" pitchFamily="34" charset="-128"/>
                      </a:endParaRPr>
                    </a:p>
                  </a:txBody>
                  <a:tcPr marT="45709" marB="45709" anchor="ctr" horzOverflow="overflow">
                    <a:lnL>
                      <a:noFill/>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vMerge="1">
                  <a:txBody>
                    <a:bodyPr/>
                    <a:lstStyle/>
                    <a:p>
                      <a:endParaRPr lang="en-US"/>
                    </a:p>
                  </a:txBody>
                  <a:tcPr/>
                </a:tc>
                <a:extLst>
                  <a:ext uri="{0D108BD9-81ED-4DB2-BD59-A6C34878D82A}">
                    <a16:rowId xmlns:a16="http://schemas.microsoft.com/office/drawing/2014/main" xmlns="" val="10006"/>
                  </a:ext>
                </a:extLst>
              </a:tr>
              <a:tr h="625324">
                <a:tc>
                  <a:txBody>
                    <a:bodyPr/>
                    <a:lstStyle/>
                    <a:p>
                      <a:pPr marL="0" marR="0" lvl="0" indent="0" algn="l"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bg1"/>
                          </a:solidFill>
                          <a:effectLst/>
                          <a:latin typeface="Arial" charset="0"/>
                          <a:ea typeface="ＭＳ Ｐゴシック" pitchFamily="34" charset="-128"/>
                        </a:rPr>
                        <a:t>Requirement/</a:t>
                      </a:r>
                    </a:p>
                    <a:p>
                      <a:pPr marL="0" marR="0" lvl="0" indent="0" algn="l"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bg1"/>
                          </a:solidFill>
                          <a:effectLst/>
                          <a:latin typeface="Arial" charset="0"/>
                          <a:ea typeface="ＭＳ Ｐゴシック" pitchFamily="34" charset="-128"/>
                        </a:rPr>
                        <a:t>Demand</a:t>
                      </a:r>
                    </a:p>
                    <a:p>
                      <a:pPr marL="0" marR="0" lvl="0" indent="0" algn="l"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endParaRPr kumimoji="0" lang="en-US" sz="1400" b="1" i="0" u="none" strike="noStrike" cap="none" normalizeH="0" baseline="0" dirty="0">
                        <a:ln>
                          <a:noFill/>
                        </a:ln>
                        <a:solidFill>
                          <a:schemeClr val="bg1"/>
                        </a:solidFill>
                        <a:effectLst/>
                        <a:latin typeface="Arial" charset="0"/>
                        <a:ea typeface="ＭＳ Ｐゴシック" pitchFamily="34" charset="-128"/>
                      </a:endParaRP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rgbClr val="63BDE0"/>
                    </a:solidFill>
                  </a:tcPr>
                </a:tc>
                <a:tc gridSpan="2">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tx1"/>
                          </a:solidFill>
                          <a:effectLst/>
                          <a:latin typeface="Arial" charset="0"/>
                          <a:ea typeface="ＭＳ Ｐゴシック" pitchFamily="34" charset="-128"/>
                        </a:rPr>
                        <a:t>1</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tc gridSpan="2">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tx1"/>
                          </a:solidFill>
                          <a:effectLst/>
                          <a:latin typeface="Arial" charset="0"/>
                          <a:ea typeface="ＭＳ Ｐゴシック" pitchFamily="34" charset="-128"/>
                        </a:rPr>
                        <a:t>3</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tc gridSpan="2">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tx1"/>
                          </a:solidFill>
                          <a:effectLst/>
                          <a:latin typeface="Arial" charset="0"/>
                          <a:ea typeface="ＭＳ Ｐゴシック" pitchFamily="34" charset="-128"/>
                        </a:rPr>
                        <a:t>5</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endParaRPr kumimoji="0" lang="en-US" sz="1400" b="1" i="0" u="none" strike="noStrike" cap="none" normalizeH="0" baseline="0" dirty="0">
                        <a:ln>
                          <a:noFill/>
                        </a:ln>
                        <a:solidFill>
                          <a:schemeClr val="tx1"/>
                        </a:solidFill>
                        <a:effectLst/>
                        <a:latin typeface="Arial" charset="0"/>
                        <a:ea typeface="ＭＳ Ｐゴシック" pitchFamily="34" charset="-128"/>
                      </a:endParaRP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7"/>
                  </a:ext>
                </a:extLst>
              </a:tr>
            </a:tbl>
          </a:graphicData>
        </a:graphic>
      </p:graphicFrame>
    </p:spTree>
    <p:extLst>
      <p:ext uri="{BB962C8B-B14F-4D97-AF65-F5344CB8AC3E}">
        <p14:creationId xmlns:p14="http://schemas.microsoft.com/office/powerpoint/2010/main" val="30451098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6" fill="hold" nodeType="afterEffect">
                                  <p:stCondLst>
                                    <p:cond delay="1000"/>
                                  </p:stCondLst>
                                  <p:childTnLst>
                                    <p:set>
                                      <p:cBhvr>
                                        <p:cTn id="6" dur="1" fill="hold">
                                          <p:stCondLst>
                                            <p:cond delay="0"/>
                                          </p:stCondLst>
                                        </p:cTn>
                                        <p:tgtEl>
                                          <p:spTgt spid="5"/>
                                        </p:tgtEl>
                                        <p:attrNameLst>
                                          <p:attrName>style.visibility</p:attrName>
                                        </p:attrNameLst>
                                      </p:cBhvr>
                                      <p:to>
                                        <p:strVal val="visible"/>
                                      </p:to>
                                    </p:set>
                                    <p:animEffect transition="in" filter="strips(downRight)">
                                      <p:cBhvr>
                                        <p:cTn id="7"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solidFill>
                  <a:srgbClr val="C00000"/>
                </a:solidFill>
                <a:latin typeface="Arial" panose="020B0604020202020204" pitchFamily="34" charset="0"/>
                <a:cs typeface="Arial" panose="020B0604020202020204" pitchFamily="34" charset="0"/>
              </a:rPr>
              <a:t>Initial basic feasible solution</a:t>
            </a:r>
          </a:p>
        </p:txBody>
      </p:sp>
      <p:sp>
        <p:nvSpPr>
          <p:cNvPr id="6" name="Content Placeholder 5">
            <a:extLst>
              <a:ext uri="{FF2B5EF4-FFF2-40B4-BE49-F238E27FC236}">
                <a16:creationId xmlns:a16="http://schemas.microsoft.com/office/drawing/2014/main" xmlns="" id="{12C3F38F-06D5-4ADF-BB89-374D8DB47BD2}"/>
              </a:ext>
            </a:extLst>
          </p:cNvPr>
          <p:cNvSpPr>
            <a:spLocks noGrp="1"/>
          </p:cNvSpPr>
          <p:nvPr>
            <p:ph idx="1"/>
          </p:nvPr>
        </p:nvSpPr>
        <p:spPr>
          <a:xfrm>
            <a:off x="856060" y="2249486"/>
            <a:ext cx="7429499" cy="4608513"/>
          </a:xfrm>
        </p:spPr>
        <p:txBody>
          <a:bodyPr>
            <a:normAutofit/>
          </a:bodyPr>
          <a:lstStyle/>
          <a:p>
            <a:pPr marL="0" indent="0">
              <a:buNone/>
            </a:pPr>
            <a:r>
              <a:rPr lang="en-US" dirty="0">
                <a:effectLst/>
                <a:latin typeface="Arial" panose="020B0604020202020204" pitchFamily="34" charset="0"/>
                <a:cs typeface="Arial" panose="020B0604020202020204" pitchFamily="34" charset="0"/>
              </a:rPr>
              <a:t>m+n-1,</a:t>
            </a:r>
          </a:p>
          <a:p>
            <a:pPr marL="0" indent="0">
              <a:buNone/>
            </a:pPr>
            <a:r>
              <a:rPr lang="en-US" dirty="0">
                <a:effectLst/>
                <a:latin typeface="Arial" panose="020B0604020202020204" pitchFamily="34" charset="0"/>
                <a:cs typeface="Arial" panose="020B0604020202020204" pitchFamily="34" charset="0"/>
              </a:rPr>
              <a:t>Where m = no of rows,</a:t>
            </a:r>
          </a:p>
          <a:p>
            <a:pPr marL="0" indent="0">
              <a:buNone/>
            </a:pPr>
            <a:r>
              <a:rPr lang="en-US" dirty="0">
                <a:effectLst/>
                <a:latin typeface="Arial" panose="020B0604020202020204" pitchFamily="34" charset="0"/>
                <a:cs typeface="Arial" panose="020B0604020202020204" pitchFamily="34" charset="0"/>
              </a:rPr>
              <a:t>n=no of columns,</a:t>
            </a:r>
          </a:p>
          <a:p>
            <a:pPr marL="0" indent="0">
              <a:buNone/>
            </a:pPr>
            <a:r>
              <a:rPr lang="en-US" dirty="0">
                <a:effectLst/>
                <a:latin typeface="Arial" panose="020B0604020202020204" pitchFamily="34" charset="0"/>
                <a:cs typeface="Arial" panose="020B0604020202020204" pitchFamily="34" charset="0"/>
              </a:rPr>
              <a:t>m=2,</a:t>
            </a:r>
          </a:p>
          <a:p>
            <a:pPr marL="0" indent="0">
              <a:buNone/>
            </a:pPr>
            <a:r>
              <a:rPr lang="en-US" dirty="0">
                <a:effectLst/>
                <a:latin typeface="Arial" panose="020B0604020202020204" pitchFamily="34" charset="0"/>
                <a:cs typeface="Arial" panose="020B0604020202020204" pitchFamily="34" charset="0"/>
              </a:rPr>
              <a:t>n=3,</a:t>
            </a:r>
          </a:p>
          <a:p>
            <a:pPr marL="0" indent="0">
              <a:buNone/>
            </a:pPr>
            <a:r>
              <a:rPr lang="en-US" dirty="0">
                <a:effectLst/>
                <a:latin typeface="Arial" panose="020B0604020202020204" pitchFamily="34" charset="0"/>
                <a:cs typeface="Arial" panose="020B0604020202020204" pitchFamily="34" charset="0"/>
              </a:rPr>
              <a:t>m+n-1=2+3-1=4</a:t>
            </a:r>
          </a:p>
          <a:p>
            <a:endParaRPr lang="en-US" dirty="0">
              <a:latin typeface="Arial" panose="020B0604020202020204" pitchFamily="34" charset="0"/>
              <a:cs typeface="Arial" panose="020B0604020202020204" pitchFamily="34" charset="0"/>
            </a:endParaRPr>
          </a:p>
          <a:p>
            <a:pPr marL="0" indent="0">
              <a:buNone/>
            </a:pPr>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73109920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solidFill>
                  <a:srgbClr val="C00000"/>
                </a:solidFill>
                <a:latin typeface="Arial" panose="020B0604020202020204" pitchFamily="34" charset="0"/>
                <a:cs typeface="Arial" panose="020B0604020202020204" pitchFamily="34" charset="0"/>
              </a:rPr>
              <a:t>Vogel’s approximation</a:t>
            </a:r>
          </a:p>
        </p:txBody>
      </p:sp>
      <p:sp>
        <p:nvSpPr>
          <p:cNvPr id="6" name="Content Placeholder 5">
            <a:extLst>
              <a:ext uri="{FF2B5EF4-FFF2-40B4-BE49-F238E27FC236}">
                <a16:creationId xmlns:a16="http://schemas.microsoft.com/office/drawing/2014/main" xmlns="" id="{12C3F38F-06D5-4ADF-BB89-374D8DB47BD2}"/>
              </a:ext>
            </a:extLst>
          </p:cNvPr>
          <p:cNvSpPr>
            <a:spLocks noGrp="1"/>
          </p:cNvSpPr>
          <p:nvPr>
            <p:ph idx="1"/>
          </p:nvPr>
        </p:nvSpPr>
        <p:spPr>
          <a:xfrm>
            <a:off x="856060" y="2249486"/>
            <a:ext cx="7429499" cy="4608513"/>
          </a:xfrm>
        </p:spPr>
        <p:txBody>
          <a:bodyPr>
            <a:normAutofit/>
          </a:bodyPr>
          <a:lstStyle/>
          <a:p>
            <a:pPr marL="0" indent="0">
              <a:buNone/>
            </a:pPr>
            <a:endParaRPr lang="en-US" dirty="0">
              <a:latin typeface="Arial" panose="020B0604020202020204" pitchFamily="34" charset="0"/>
              <a:cs typeface="Arial" panose="020B0604020202020204" pitchFamily="34" charset="0"/>
            </a:endParaRPr>
          </a:p>
          <a:p>
            <a:pPr marL="0" indent="0">
              <a:buNone/>
            </a:pPr>
            <a:endParaRPr lang="en-US" dirty="0">
              <a:latin typeface="Arial" panose="020B0604020202020204" pitchFamily="34" charset="0"/>
              <a:cs typeface="Arial" panose="020B0604020202020204" pitchFamily="34" charset="0"/>
            </a:endParaRPr>
          </a:p>
          <a:p>
            <a:pPr marL="0" indent="0">
              <a:buNone/>
            </a:pPr>
            <a:endParaRPr lang="en-US" dirty="0">
              <a:latin typeface="Arial" panose="020B0604020202020204" pitchFamily="34" charset="0"/>
              <a:cs typeface="Arial" panose="020B0604020202020204" pitchFamily="34" charset="0"/>
            </a:endParaRPr>
          </a:p>
        </p:txBody>
      </p:sp>
      <p:graphicFrame>
        <p:nvGraphicFramePr>
          <p:cNvPr id="5" name="Group 123">
            <a:extLst>
              <a:ext uri="{FF2B5EF4-FFF2-40B4-BE49-F238E27FC236}">
                <a16:creationId xmlns:a16="http://schemas.microsoft.com/office/drawing/2014/main" xmlns="" id="{A5DA3B2A-2E25-4DFF-9E0E-EBF2CA28C54C}"/>
              </a:ext>
            </a:extLst>
          </p:cNvPr>
          <p:cNvGraphicFramePr>
            <a:graphicFrameLocks noGrp="1"/>
          </p:cNvGraphicFramePr>
          <p:nvPr>
            <p:extLst>
              <p:ext uri="{D42A27DB-BD31-4B8C-83A1-F6EECF244321}">
                <p14:modId xmlns:p14="http://schemas.microsoft.com/office/powerpoint/2010/main" val="2230949550"/>
              </p:ext>
            </p:extLst>
          </p:nvPr>
        </p:nvGraphicFramePr>
        <p:xfrm>
          <a:off x="856060" y="2249486"/>
          <a:ext cx="7429500" cy="3296300"/>
        </p:xfrm>
        <a:graphic>
          <a:graphicData uri="http://schemas.openxmlformats.org/drawingml/2006/table">
            <a:tbl>
              <a:tblPr/>
              <a:tblGrid>
                <a:gridCol w="1660749">
                  <a:extLst>
                    <a:ext uri="{9D8B030D-6E8A-4147-A177-3AD203B41FA5}">
                      <a16:colId xmlns:a16="http://schemas.microsoft.com/office/drawing/2014/main" xmlns="" val="20000"/>
                    </a:ext>
                  </a:extLst>
                </a:gridCol>
                <a:gridCol w="975020">
                  <a:extLst>
                    <a:ext uri="{9D8B030D-6E8A-4147-A177-3AD203B41FA5}">
                      <a16:colId xmlns:a16="http://schemas.microsoft.com/office/drawing/2014/main" xmlns="" val="20001"/>
                    </a:ext>
                  </a:extLst>
                </a:gridCol>
                <a:gridCol w="364291">
                  <a:extLst>
                    <a:ext uri="{9D8B030D-6E8A-4147-A177-3AD203B41FA5}">
                      <a16:colId xmlns:a16="http://schemas.microsoft.com/office/drawing/2014/main" xmlns="" val="20002"/>
                    </a:ext>
                  </a:extLst>
                </a:gridCol>
                <a:gridCol w="546440">
                  <a:extLst>
                    <a:ext uri="{9D8B030D-6E8A-4147-A177-3AD203B41FA5}">
                      <a16:colId xmlns:a16="http://schemas.microsoft.com/office/drawing/2014/main" xmlns="" val="20003"/>
                    </a:ext>
                  </a:extLst>
                </a:gridCol>
                <a:gridCol w="342863">
                  <a:extLst>
                    <a:ext uri="{9D8B030D-6E8A-4147-A177-3AD203B41FA5}">
                      <a16:colId xmlns:a16="http://schemas.microsoft.com/office/drawing/2014/main" xmlns="" val="20004"/>
                    </a:ext>
                  </a:extLst>
                </a:gridCol>
                <a:gridCol w="410111">
                  <a:extLst>
                    <a:ext uri="{9D8B030D-6E8A-4147-A177-3AD203B41FA5}">
                      <a16:colId xmlns:a16="http://schemas.microsoft.com/office/drawing/2014/main" xmlns="" val="20005"/>
                    </a:ext>
                  </a:extLst>
                </a:gridCol>
                <a:gridCol w="390711">
                  <a:extLst>
                    <a:ext uri="{9D8B030D-6E8A-4147-A177-3AD203B41FA5}">
                      <a16:colId xmlns:a16="http://schemas.microsoft.com/office/drawing/2014/main" xmlns="" val="20006"/>
                    </a:ext>
                  </a:extLst>
                </a:gridCol>
                <a:gridCol w="1049390">
                  <a:extLst>
                    <a:ext uri="{9D8B030D-6E8A-4147-A177-3AD203B41FA5}">
                      <a16:colId xmlns:a16="http://schemas.microsoft.com/office/drawing/2014/main" xmlns="" val="20007"/>
                    </a:ext>
                  </a:extLst>
                </a:gridCol>
                <a:gridCol w="1689925">
                  <a:extLst>
                    <a:ext uri="{9D8B030D-6E8A-4147-A177-3AD203B41FA5}">
                      <a16:colId xmlns:a16="http://schemas.microsoft.com/office/drawing/2014/main" xmlns="" val="323396379"/>
                    </a:ext>
                  </a:extLst>
                </a:gridCol>
              </a:tblGrid>
              <a:tr h="555364">
                <a:tc>
                  <a:txBody>
                    <a:bodyPr/>
                    <a:lstStyle/>
                    <a:p>
                      <a:pPr marL="0" marR="0" lvl="0" indent="0" algn="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bg1"/>
                          </a:solidFill>
                          <a:effectLst/>
                          <a:latin typeface="Arial" charset="0"/>
                          <a:ea typeface="ＭＳ Ｐゴシック" pitchFamily="34" charset="-128"/>
                        </a:rPr>
                        <a:t>TO</a:t>
                      </a:r>
                    </a:p>
                    <a:p>
                      <a:pPr marL="0" marR="0" lvl="0" indent="0" algn="l"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bg1"/>
                          </a:solidFill>
                          <a:effectLst/>
                          <a:latin typeface="Arial" charset="0"/>
                          <a:ea typeface="ＭＳ Ｐゴシック" pitchFamily="34" charset="-128"/>
                        </a:rPr>
                        <a:t>FROM</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9050" cap="flat" cmpd="sng" algn="ctr">
                      <a:solidFill>
                        <a:schemeClr val="tx1"/>
                      </a:solidFill>
                      <a:prstDash val="solid"/>
                      <a:round/>
                      <a:headEnd type="none" w="med" len="med"/>
                      <a:tailEnd type="none" w="med" len="med"/>
                    </a:lnTlToBr>
                    <a:lnBlToTr>
                      <a:noFill/>
                    </a:lnBlToTr>
                    <a:solidFill>
                      <a:srgbClr val="63BDE0"/>
                    </a:solidFill>
                  </a:tcPr>
                </a:tc>
                <a:tc gridSpan="2">
                  <a:txBody>
                    <a:bodyPr/>
                    <a:lstStyle/>
                    <a:p>
                      <a:pPr marL="0" marR="0" lvl="0" indent="0" algn="l"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bg1"/>
                          </a:solidFill>
                          <a:effectLst/>
                          <a:latin typeface="Arial" charset="0"/>
                          <a:ea typeface="ＭＳ Ｐゴシック" pitchFamily="34" charset="-128"/>
                        </a:rPr>
                        <a:t>Peshawar </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rgbClr val="63BDE0"/>
                    </a:solidFill>
                  </a:tcPr>
                </a:tc>
                <a:tc hMerge="1">
                  <a:txBody>
                    <a:bodyPr/>
                    <a:lstStyle/>
                    <a:p>
                      <a:endParaRPr lang="en-US"/>
                    </a:p>
                  </a:txBody>
                  <a:tcPr/>
                </a:tc>
                <a:tc gridSpan="2">
                  <a:txBody>
                    <a:bodyPr/>
                    <a:lstStyle/>
                    <a:p>
                      <a:pPr marL="0" marR="0" lvl="0" indent="0" algn="l"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bg1"/>
                          </a:solidFill>
                          <a:effectLst/>
                          <a:latin typeface="Arial" charset="0"/>
                          <a:ea typeface="ＭＳ Ｐゴシック" pitchFamily="34" charset="-128"/>
                        </a:rPr>
                        <a:t>Sialkot</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rgbClr val="63BDE0"/>
                    </a:solidFill>
                  </a:tcPr>
                </a:tc>
                <a:tc hMerge="1">
                  <a:txBody>
                    <a:bodyPr/>
                    <a:lstStyle/>
                    <a:p>
                      <a:endParaRPr lang="en-US"/>
                    </a:p>
                  </a:txBody>
                  <a:tcPr/>
                </a:tc>
                <a:tc gridSpan="2">
                  <a:txBody>
                    <a:bodyPr/>
                    <a:lstStyle/>
                    <a:p>
                      <a:pPr marL="0" marR="0" lvl="0" indent="0" algn="l"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bg1"/>
                          </a:solidFill>
                          <a:effectLst/>
                          <a:latin typeface="Arial" charset="0"/>
                          <a:ea typeface="ＭＳ Ｐゴシック" pitchFamily="34" charset="-128"/>
                        </a:rPr>
                        <a:t> Multan</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rgbClr val="63BDE0"/>
                    </a:solidFill>
                  </a:tcPr>
                </a:tc>
                <a:tc hMerge="1">
                  <a:txBody>
                    <a:bodyPr/>
                    <a:lstStyle/>
                    <a:p>
                      <a:endParaRPr lang="en-US"/>
                    </a:p>
                  </a:txBody>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bg1"/>
                          </a:solidFill>
                          <a:effectLst/>
                          <a:latin typeface="Arial" charset="0"/>
                          <a:ea typeface="ＭＳ Ｐゴシック" pitchFamily="34" charset="-128"/>
                        </a:rPr>
                        <a:t>FACTORY CAPACITY/Supply</a:t>
                      </a:r>
                    </a:p>
                  </a:txBody>
                  <a:tcPr marT="45709" marB="45709" anchor="b"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rgbClr val="63BDE0"/>
                    </a:solidFill>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bg1"/>
                          </a:solidFill>
                          <a:effectLst/>
                          <a:latin typeface="Arial" charset="0"/>
                          <a:ea typeface="ＭＳ Ｐゴシック" pitchFamily="34" charset="-128"/>
                        </a:rPr>
                        <a:t>Penalty</a:t>
                      </a:r>
                    </a:p>
                  </a:txBody>
                  <a:tcPr marT="45709" marB="45709" anchor="b"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rgbClr val="63BDE0"/>
                    </a:solidFill>
                  </a:tcPr>
                </a:tc>
                <a:extLst>
                  <a:ext uri="{0D108BD9-81ED-4DB2-BD59-A6C34878D82A}">
                    <a16:rowId xmlns:a16="http://schemas.microsoft.com/office/drawing/2014/main" xmlns="" val="10000"/>
                  </a:ext>
                </a:extLst>
              </a:tr>
              <a:tr h="312663">
                <a:tc rowSpan="2">
                  <a:txBody>
                    <a:bodyPr/>
                    <a:lstStyle/>
                    <a:p>
                      <a:pPr marL="0" marR="0" lvl="0" indent="0" algn="l"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bg1"/>
                          </a:solidFill>
                          <a:effectLst/>
                          <a:latin typeface="Arial" charset="0"/>
                          <a:ea typeface="ＭＳ Ｐゴシック" pitchFamily="34" charset="-128"/>
                        </a:rPr>
                        <a:t> </a:t>
                      </a:r>
                      <a:br>
                        <a:rPr kumimoji="0" lang="en-US" sz="1400" b="1" i="0" u="none" strike="noStrike" cap="none" normalizeH="0" baseline="0" dirty="0">
                          <a:ln>
                            <a:noFill/>
                          </a:ln>
                          <a:solidFill>
                            <a:schemeClr val="bg1"/>
                          </a:solidFill>
                          <a:effectLst/>
                          <a:latin typeface="Arial" charset="0"/>
                          <a:ea typeface="ＭＳ Ｐゴシック" pitchFamily="34" charset="-128"/>
                        </a:rPr>
                      </a:br>
                      <a:r>
                        <a:rPr kumimoji="0" lang="en-US" sz="1400" b="1" i="0" u="none" strike="noStrike" cap="none" normalizeH="0" baseline="0" dirty="0">
                          <a:ln>
                            <a:noFill/>
                          </a:ln>
                          <a:solidFill>
                            <a:schemeClr val="bg1"/>
                          </a:solidFill>
                          <a:effectLst/>
                          <a:latin typeface="Arial" charset="0"/>
                          <a:ea typeface="ＭＳ Ｐゴシック" pitchFamily="34" charset="-128"/>
                        </a:rPr>
                        <a:t>Karachi</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rgbClr val="63BDE0"/>
                    </a:solidFill>
                  </a:tcPr>
                </a:tc>
                <a:tc rowSpan="2">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tx1"/>
                          </a:solidFill>
                          <a:effectLst>
                            <a:outerShdw blurRad="38100" dist="38100" dir="2700000" algn="tl">
                              <a:srgbClr val="C0C0C0"/>
                            </a:outerShdw>
                          </a:effectLst>
                          <a:latin typeface="Arial" charset="0"/>
                          <a:ea typeface="ＭＳ Ｐゴシック" pitchFamily="34" charset="-128"/>
                        </a:rPr>
                        <a:t>13</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endParaRPr kumimoji="0" lang="en-US" sz="1400" b="1" i="0" u="none" strike="noStrike" cap="none" normalizeH="0" baseline="0" dirty="0">
                        <a:ln>
                          <a:noFill/>
                        </a:ln>
                        <a:solidFill>
                          <a:schemeClr val="tx1"/>
                        </a:solidFill>
                        <a:effectLst/>
                        <a:latin typeface="Arial" charset="0"/>
                        <a:ea typeface="ＭＳ Ｐゴシック" pitchFamily="34" charset="-128"/>
                      </a:endParaRP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tx1"/>
                          </a:solidFill>
                          <a:effectLst/>
                          <a:latin typeface="Arial" charset="0"/>
                          <a:ea typeface="ＭＳ Ｐゴシック" pitchFamily="34" charset="-128"/>
                        </a:rPr>
                        <a:t>11</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endParaRPr kumimoji="0" lang="en-US" sz="1400" b="1" i="0" u="none" strike="noStrike" cap="none" normalizeH="0" baseline="0" dirty="0">
                        <a:ln>
                          <a:noFill/>
                        </a:ln>
                        <a:solidFill>
                          <a:schemeClr val="tx1"/>
                        </a:solidFill>
                        <a:effectLst/>
                        <a:latin typeface="Arial" charset="0"/>
                        <a:ea typeface="ＭＳ Ｐゴシック" pitchFamily="34" charset="-128"/>
                      </a:endParaRP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tx1"/>
                          </a:solidFill>
                          <a:effectLst/>
                          <a:latin typeface="Arial" charset="0"/>
                          <a:ea typeface="ＭＳ Ｐゴシック" pitchFamily="34" charset="-128"/>
                        </a:rPr>
                        <a:t>40</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endParaRPr kumimoji="0" lang="en-US" sz="1400" b="1" i="0" u="none" strike="noStrike" cap="none" normalizeH="0" baseline="0" dirty="0">
                        <a:ln>
                          <a:noFill/>
                        </a:ln>
                        <a:solidFill>
                          <a:schemeClr val="tx1"/>
                        </a:solidFill>
                        <a:effectLst/>
                        <a:latin typeface="Arial" charset="0"/>
                        <a:ea typeface="ＭＳ Ｐゴシック" pitchFamily="34" charset="-128"/>
                      </a:endParaRP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tx1"/>
                          </a:solidFill>
                          <a:effectLst/>
                          <a:latin typeface="Arial" charset="0"/>
                          <a:ea typeface="ＭＳ Ｐゴシック" pitchFamily="34" charset="-128"/>
                        </a:rPr>
                        <a:t>2</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tx1"/>
                          </a:solidFill>
                          <a:effectLst/>
                          <a:latin typeface="Arial" charset="0"/>
                          <a:ea typeface="ＭＳ Ｐゴシック" pitchFamily="34" charset="-128"/>
                        </a:rPr>
                        <a:t>(2)</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1"/>
                  </a:ext>
                </a:extLst>
              </a:tr>
              <a:tr h="312663">
                <a:tc vMerge="1">
                  <a:txBody>
                    <a:bodyPr/>
                    <a:lstStyle/>
                    <a:p>
                      <a:endParaRPr lang="en-US"/>
                    </a:p>
                  </a:txBody>
                  <a:tcPr/>
                </a:tc>
                <a:tc vMerge="1">
                  <a:txBody>
                    <a:bodyPr/>
                    <a:lstStyle/>
                    <a:p>
                      <a:endParaRPr lang="en-US"/>
                    </a:p>
                  </a:txBody>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endParaRPr kumimoji="0" lang="en-US" sz="1400" b="1" i="0" u="none" strike="noStrike" cap="none" normalizeH="0" baseline="0" dirty="0">
                        <a:ln>
                          <a:noFill/>
                        </a:ln>
                        <a:solidFill>
                          <a:schemeClr val="tx1"/>
                        </a:solidFill>
                        <a:effectLst/>
                        <a:latin typeface="Arial" charset="0"/>
                        <a:ea typeface="ＭＳ Ｐゴシック" pitchFamily="34" charset="-128"/>
                      </a:endParaRPr>
                    </a:p>
                  </a:txBody>
                  <a:tcPr marT="45709" marB="45709" anchor="ctr" horzOverflow="overflow">
                    <a:lnL>
                      <a:noFill/>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vMerge="1">
                  <a:txBody>
                    <a:bodyPr/>
                    <a:lstStyle/>
                    <a:p>
                      <a:endParaRPr lang="en-US"/>
                    </a:p>
                  </a:txBody>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endParaRPr kumimoji="0" lang="en-US" sz="1400" b="1" i="0" u="none" strike="noStrike" cap="none" normalizeH="0" baseline="0" dirty="0">
                        <a:ln>
                          <a:noFill/>
                        </a:ln>
                        <a:solidFill>
                          <a:schemeClr val="tx1"/>
                        </a:solidFill>
                        <a:effectLst/>
                        <a:latin typeface="Arial" charset="0"/>
                        <a:ea typeface="ＭＳ Ｐゴシック" pitchFamily="34" charset="-128"/>
                      </a:endParaRPr>
                    </a:p>
                  </a:txBody>
                  <a:tcPr marT="45709" marB="45709" anchor="ctr" horzOverflow="overflow">
                    <a:lnL>
                      <a:noFill/>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vMerge="1">
                  <a:txBody>
                    <a:bodyPr/>
                    <a:lstStyle/>
                    <a:p>
                      <a:endParaRPr lang="en-US"/>
                    </a:p>
                  </a:txBody>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endParaRPr kumimoji="0" lang="en-US" sz="1400" b="1" i="0" u="none" strike="noStrike" cap="none" normalizeH="0" baseline="0" dirty="0">
                        <a:ln>
                          <a:noFill/>
                        </a:ln>
                        <a:solidFill>
                          <a:schemeClr val="tx1"/>
                        </a:solidFill>
                        <a:effectLst/>
                        <a:latin typeface="Arial" charset="0"/>
                        <a:ea typeface="ＭＳ Ｐゴシック" pitchFamily="34" charset="-128"/>
                      </a:endParaRPr>
                    </a:p>
                  </a:txBody>
                  <a:tcPr marT="45709" marB="45709" anchor="ctr" horzOverflow="overflow">
                    <a:lnL>
                      <a:noFill/>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xmlns="" val="10002"/>
                  </a:ext>
                </a:extLst>
              </a:tr>
              <a:tr h="312663">
                <a:tc rowSpan="2">
                  <a:txBody>
                    <a:bodyPr/>
                    <a:lstStyle/>
                    <a:p>
                      <a:pPr marL="0" marR="0" lvl="0" indent="0" algn="l"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bg1"/>
                          </a:solidFill>
                          <a:effectLst/>
                          <a:latin typeface="Arial" charset="0"/>
                          <a:ea typeface="ＭＳ Ｐゴシック" pitchFamily="34" charset="-128"/>
                        </a:rPr>
                        <a:t>Lahore</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rgbClr val="63BDE0"/>
                    </a:solidFill>
                  </a:tcPr>
                </a:tc>
                <a:tc rowSpan="2">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tx1"/>
                          </a:solidFill>
                          <a:effectLst/>
                          <a:latin typeface="Arial" charset="0"/>
                          <a:ea typeface="ＭＳ Ｐゴシック" pitchFamily="34" charset="-128"/>
                        </a:rPr>
                        <a:t>18</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endParaRPr kumimoji="0" lang="en-US" sz="1400" b="1" i="0" u="none" strike="noStrike" cap="none" normalizeH="0" baseline="0" dirty="0">
                        <a:ln>
                          <a:noFill/>
                        </a:ln>
                        <a:solidFill>
                          <a:schemeClr val="tx1"/>
                        </a:solidFill>
                        <a:effectLst/>
                        <a:latin typeface="Arial" charset="0"/>
                        <a:ea typeface="ＭＳ Ｐゴシック" pitchFamily="34" charset="-128"/>
                      </a:endParaRP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tx1"/>
                          </a:solidFill>
                          <a:effectLst/>
                          <a:latin typeface="Arial" charset="0"/>
                          <a:ea typeface="ＭＳ Ｐゴシック" pitchFamily="34" charset="-128"/>
                        </a:rPr>
                        <a:t>18</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endParaRPr kumimoji="0" lang="en-US" sz="1400" b="1" i="0" u="none" strike="noStrike" cap="none" normalizeH="0" baseline="0" dirty="0">
                        <a:ln>
                          <a:noFill/>
                        </a:ln>
                        <a:solidFill>
                          <a:schemeClr val="tx1"/>
                        </a:solidFill>
                        <a:effectLst/>
                        <a:latin typeface="Arial" charset="0"/>
                        <a:ea typeface="ＭＳ Ｐゴシック" pitchFamily="34" charset="-128"/>
                      </a:endParaRP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tx1"/>
                          </a:solidFill>
                          <a:effectLst/>
                          <a:latin typeface="Arial" charset="0"/>
                          <a:ea typeface="ＭＳ Ｐゴシック" pitchFamily="34" charset="-128"/>
                        </a:rPr>
                        <a:t>12</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endParaRPr kumimoji="0" lang="en-US" sz="1400" b="1" i="0" u="none" strike="noStrike" cap="none" normalizeH="0" baseline="0" dirty="0">
                        <a:ln>
                          <a:noFill/>
                        </a:ln>
                        <a:solidFill>
                          <a:schemeClr val="tx1"/>
                        </a:solidFill>
                        <a:effectLst/>
                        <a:latin typeface="Arial" charset="0"/>
                        <a:ea typeface="ＭＳ Ｐゴシック" pitchFamily="34" charset="-128"/>
                      </a:endParaRP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tx1"/>
                          </a:solidFill>
                          <a:effectLst/>
                          <a:latin typeface="Arial" charset="0"/>
                          <a:ea typeface="ＭＳ Ｐゴシック" pitchFamily="34" charset="-128"/>
                        </a:rPr>
                        <a:t>7</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tx1"/>
                          </a:solidFill>
                          <a:effectLst/>
                          <a:latin typeface="Arial" charset="0"/>
                          <a:ea typeface="ＭＳ Ｐゴシック" pitchFamily="34" charset="-128"/>
                        </a:rPr>
                        <a:t>(6)</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5"/>
                  </a:ext>
                </a:extLst>
              </a:tr>
              <a:tr h="312663">
                <a:tc vMerge="1">
                  <a:txBody>
                    <a:bodyPr/>
                    <a:lstStyle/>
                    <a:p>
                      <a:endParaRPr lang="en-US"/>
                    </a:p>
                  </a:txBody>
                  <a:tcPr/>
                </a:tc>
                <a:tc vMerge="1">
                  <a:txBody>
                    <a:bodyPr/>
                    <a:lstStyle/>
                    <a:p>
                      <a:endParaRPr lang="en-US"/>
                    </a:p>
                  </a:txBody>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endParaRPr kumimoji="0" lang="en-US" sz="1400" b="1" i="0" u="none" strike="noStrike" cap="none" normalizeH="0" baseline="0" dirty="0">
                        <a:ln>
                          <a:noFill/>
                        </a:ln>
                        <a:solidFill>
                          <a:schemeClr val="tx1"/>
                        </a:solidFill>
                        <a:effectLst/>
                        <a:latin typeface="Arial" charset="0"/>
                        <a:ea typeface="ＭＳ Ｐゴシック" pitchFamily="34" charset="-128"/>
                      </a:endParaRPr>
                    </a:p>
                  </a:txBody>
                  <a:tcPr marT="45709" marB="45709" anchor="ctr" horzOverflow="overflow">
                    <a:lnL>
                      <a:noFill/>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vMerge="1">
                  <a:txBody>
                    <a:bodyPr/>
                    <a:lstStyle/>
                    <a:p>
                      <a:endParaRPr lang="en-US"/>
                    </a:p>
                  </a:txBody>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endParaRPr kumimoji="0" lang="en-US" sz="1400" b="1" i="0" u="none" strike="noStrike" cap="none" normalizeH="0" baseline="0" dirty="0">
                        <a:ln>
                          <a:noFill/>
                        </a:ln>
                        <a:solidFill>
                          <a:schemeClr val="tx1"/>
                        </a:solidFill>
                        <a:effectLst/>
                        <a:latin typeface="Arial" charset="0"/>
                        <a:ea typeface="ＭＳ Ｐゴシック" pitchFamily="34" charset="-128"/>
                      </a:endParaRPr>
                    </a:p>
                  </a:txBody>
                  <a:tcPr marT="45709" marB="45709" anchor="ctr" horzOverflow="overflow">
                    <a:lnL>
                      <a:noFill/>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vMerge="1">
                  <a:txBody>
                    <a:bodyPr/>
                    <a:lstStyle/>
                    <a:p>
                      <a:endParaRPr lang="en-US"/>
                    </a:p>
                  </a:txBody>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endParaRPr kumimoji="0" lang="en-US" sz="1400" b="1" i="0" u="none" strike="noStrike" cap="none" normalizeH="0" baseline="0" dirty="0">
                        <a:ln>
                          <a:noFill/>
                        </a:ln>
                        <a:solidFill>
                          <a:schemeClr val="tx1"/>
                        </a:solidFill>
                        <a:effectLst/>
                        <a:latin typeface="Arial" charset="0"/>
                        <a:ea typeface="ＭＳ Ｐゴシック" pitchFamily="34" charset="-128"/>
                      </a:endParaRPr>
                    </a:p>
                  </a:txBody>
                  <a:tcPr marT="45709" marB="45709" anchor="ctr" horzOverflow="overflow">
                    <a:lnL>
                      <a:noFill/>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xmlns="" val="10006"/>
                  </a:ext>
                </a:extLst>
              </a:tr>
              <a:tr h="625324">
                <a:tc>
                  <a:txBody>
                    <a:bodyPr/>
                    <a:lstStyle/>
                    <a:p>
                      <a:pPr marL="0" marR="0" lvl="0" indent="0" algn="l"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bg1"/>
                          </a:solidFill>
                          <a:effectLst/>
                          <a:latin typeface="Arial" charset="0"/>
                          <a:ea typeface="ＭＳ Ｐゴシック" pitchFamily="34" charset="-128"/>
                        </a:rPr>
                        <a:t>Requirement/</a:t>
                      </a:r>
                    </a:p>
                    <a:p>
                      <a:pPr marL="0" marR="0" lvl="0" indent="0" algn="l"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bg1"/>
                          </a:solidFill>
                          <a:effectLst/>
                          <a:latin typeface="Arial" charset="0"/>
                          <a:ea typeface="ＭＳ Ｐゴシック" pitchFamily="34" charset="-128"/>
                        </a:rPr>
                        <a:t>Demand</a:t>
                      </a:r>
                    </a:p>
                    <a:p>
                      <a:pPr marL="0" marR="0" lvl="0" indent="0" algn="l"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endParaRPr kumimoji="0" lang="en-US" sz="1400" b="1" i="0" u="none" strike="noStrike" cap="none" normalizeH="0" baseline="0" dirty="0">
                        <a:ln>
                          <a:noFill/>
                        </a:ln>
                        <a:solidFill>
                          <a:schemeClr val="bg1"/>
                        </a:solidFill>
                        <a:effectLst/>
                        <a:latin typeface="Arial" charset="0"/>
                        <a:ea typeface="ＭＳ Ｐゴシック" pitchFamily="34" charset="-128"/>
                      </a:endParaRP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rgbClr val="63BDE0"/>
                    </a:solidFill>
                  </a:tcPr>
                </a:tc>
                <a:tc gridSpan="2">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tx1"/>
                          </a:solidFill>
                          <a:effectLst/>
                          <a:latin typeface="Arial" charset="0"/>
                          <a:ea typeface="ＭＳ Ｐゴシック" pitchFamily="34" charset="-128"/>
                        </a:rPr>
                        <a:t>1</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tc gridSpan="2">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tx1"/>
                          </a:solidFill>
                          <a:effectLst/>
                          <a:latin typeface="Arial" charset="0"/>
                          <a:ea typeface="ＭＳ Ｐゴシック" pitchFamily="34" charset="-128"/>
                        </a:rPr>
                        <a:t>3</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tc gridSpan="2">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tx1"/>
                          </a:solidFill>
                          <a:effectLst/>
                          <a:latin typeface="Arial" charset="0"/>
                          <a:ea typeface="ＭＳ Ｐゴシック" pitchFamily="34" charset="-128"/>
                        </a:rPr>
                        <a:t>5</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endParaRPr kumimoji="0" lang="en-US" sz="1400" b="1" i="0" u="none" strike="noStrike" cap="none" normalizeH="0" baseline="0" dirty="0">
                        <a:ln>
                          <a:noFill/>
                        </a:ln>
                        <a:solidFill>
                          <a:schemeClr val="tx1"/>
                        </a:solidFill>
                        <a:effectLst/>
                        <a:latin typeface="Arial" charset="0"/>
                        <a:ea typeface="ＭＳ Ｐゴシック" pitchFamily="34" charset="-128"/>
                      </a:endParaRP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endParaRPr kumimoji="0" lang="en-US" sz="1400" b="1" i="0" u="none" strike="noStrike" cap="none" normalizeH="0" baseline="0" dirty="0">
                        <a:ln>
                          <a:noFill/>
                        </a:ln>
                        <a:solidFill>
                          <a:schemeClr val="tx1"/>
                        </a:solidFill>
                        <a:effectLst/>
                        <a:latin typeface="Arial" charset="0"/>
                        <a:ea typeface="ＭＳ Ｐゴシック" pitchFamily="34" charset="-128"/>
                      </a:endParaRP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7"/>
                  </a:ext>
                </a:extLst>
              </a:tr>
              <a:tr h="625324">
                <a:tc>
                  <a:txBody>
                    <a:bodyPr/>
                    <a:lstStyle/>
                    <a:p>
                      <a:pPr marL="0" marR="0" lvl="0" indent="0" algn="l"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bg1"/>
                          </a:solidFill>
                          <a:effectLst/>
                          <a:latin typeface="Arial" charset="0"/>
                          <a:ea typeface="ＭＳ Ｐゴシック" pitchFamily="34" charset="-128"/>
                        </a:rPr>
                        <a:t>Penalty</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rgbClr val="63BDE0"/>
                    </a:solidFill>
                  </a:tcPr>
                </a:tc>
                <a:tc gridSpan="2">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tx1"/>
                          </a:solidFill>
                          <a:effectLst/>
                          <a:latin typeface="Arial" charset="0"/>
                          <a:ea typeface="ＭＳ Ｐゴシック" pitchFamily="34" charset="-128"/>
                        </a:rPr>
                        <a:t>(5)</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tc gridSpan="2">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tx1"/>
                          </a:solidFill>
                          <a:effectLst/>
                          <a:latin typeface="Arial" charset="0"/>
                          <a:ea typeface="ＭＳ Ｐゴシック" pitchFamily="34" charset="-128"/>
                        </a:rPr>
                        <a:t>(7)</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tc gridSpan="2">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tx1"/>
                          </a:solidFill>
                          <a:effectLst/>
                          <a:latin typeface="Arial" charset="0"/>
                          <a:ea typeface="ＭＳ Ｐゴシック" pitchFamily="34" charset="-128"/>
                        </a:rPr>
                        <a:t>(28)</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endParaRPr kumimoji="0" lang="en-US" sz="1400" b="1" i="0" u="none" strike="noStrike" cap="none" normalizeH="0" baseline="0" dirty="0">
                        <a:ln>
                          <a:noFill/>
                        </a:ln>
                        <a:solidFill>
                          <a:schemeClr val="tx1"/>
                        </a:solidFill>
                        <a:effectLst/>
                        <a:latin typeface="Arial" charset="0"/>
                        <a:ea typeface="ＭＳ Ｐゴシック" pitchFamily="34" charset="-128"/>
                      </a:endParaRP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endParaRPr kumimoji="0" lang="en-US" sz="1400" b="1" i="0" u="none" strike="noStrike" cap="none" normalizeH="0" baseline="0" dirty="0">
                        <a:ln>
                          <a:noFill/>
                        </a:ln>
                        <a:solidFill>
                          <a:schemeClr val="tx1"/>
                        </a:solidFill>
                        <a:effectLst/>
                        <a:latin typeface="Arial" charset="0"/>
                        <a:ea typeface="ＭＳ Ｐゴシック" pitchFamily="34" charset="-128"/>
                      </a:endParaRP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240329034"/>
                  </a:ext>
                </a:extLst>
              </a:tr>
            </a:tbl>
          </a:graphicData>
        </a:graphic>
      </p:graphicFrame>
    </p:spTree>
    <p:extLst>
      <p:ext uri="{BB962C8B-B14F-4D97-AF65-F5344CB8AC3E}">
        <p14:creationId xmlns:p14="http://schemas.microsoft.com/office/powerpoint/2010/main" val="38148314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6" fill="hold" nodeType="afterEffect">
                                  <p:stCondLst>
                                    <p:cond delay="1000"/>
                                  </p:stCondLst>
                                  <p:childTnLst>
                                    <p:set>
                                      <p:cBhvr>
                                        <p:cTn id="6" dur="1" fill="hold">
                                          <p:stCondLst>
                                            <p:cond delay="0"/>
                                          </p:stCondLst>
                                        </p:cTn>
                                        <p:tgtEl>
                                          <p:spTgt spid="5"/>
                                        </p:tgtEl>
                                        <p:attrNameLst>
                                          <p:attrName>style.visibility</p:attrName>
                                        </p:attrNameLst>
                                      </p:cBhvr>
                                      <p:to>
                                        <p:strVal val="visible"/>
                                      </p:to>
                                    </p:set>
                                    <p:animEffect transition="in" filter="strips(downRight)">
                                      <p:cBhvr>
                                        <p:cTn id="7"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solidFill>
                  <a:srgbClr val="C00000"/>
                </a:solidFill>
                <a:latin typeface="Arial" panose="020B0604020202020204" pitchFamily="34" charset="0"/>
                <a:cs typeface="Arial" panose="020B0604020202020204" pitchFamily="34" charset="0"/>
              </a:rPr>
              <a:t>Vogel’s approximation</a:t>
            </a:r>
          </a:p>
        </p:txBody>
      </p:sp>
      <p:sp>
        <p:nvSpPr>
          <p:cNvPr id="6" name="Content Placeholder 5">
            <a:extLst>
              <a:ext uri="{FF2B5EF4-FFF2-40B4-BE49-F238E27FC236}">
                <a16:creationId xmlns:a16="http://schemas.microsoft.com/office/drawing/2014/main" xmlns="" id="{12C3F38F-06D5-4ADF-BB89-374D8DB47BD2}"/>
              </a:ext>
            </a:extLst>
          </p:cNvPr>
          <p:cNvSpPr>
            <a:spLocks noGrp="1"/>
          </p:cNvSpPr>
          <p:nvPr>
            <p:ph idx="1"/>
          </p:nvPr>
        </p:nvSpPr>
        <p:spPr>
          <a:xfrm>
            <a:off x="856060" y="2249486"/>
            <a:ext cx="7429499" cy="4608513"/>
          </a:xfrm>
        </p:spPr>
        <p:txBody>
          <a:bodyPr>
            <a:normAutofit/>
          </a:bodyPr>
          <a:lstStyle/>
          <a:p>
            <a:pPr marL="0" indent="0">
              <a:buNone/>
            </a:pPr>
            <a:endParaRPr lang="en-US" dirty="0">
              <a:latin typeface="Arial" panose="020B0604020202020204" pitchFamily="34" charset="0"/>
              <a:cs typeface="Arial" panose="020B0604020202020204" pitchFamily="34" charset="0"/>
            </a:endParaRPr>
          </a:p>
          <a:p>
            <a:pPr marL="0" indent="0">
              <a:buNone/>
            </a:pPr>
            <a:endParaRPr lang="en-US" dirty="0">
              <a:latin typeface="Arial" panose="020B0604020202020204" pitchFamily="34" charset="0"/>
              <a:cs typeface="Arial" panose="020B0604020202020204" pitchFamily="34" charset="0"/>
            </a:endParaRPr>
          </a:p>
          <a:p>
            <a:pPr marL="0" indent="0">
              <a:buNone/>
            </a:pPr>
            <a:endParaRPr lang="en-US" dirty="0">
              <a:latin typeface="Arial" panose="020B0604020202020204" pitchFamily="34" charset="0"/>
              <a:cs typeface="Arial" panose="020B0604020202020204" pitchFamily="34" charset="0"/>
            </a:endParaRPr>
          </a:p>
        </p:txBody>
      </p:sp>
      <p:graphicFrame>
        <p:nvGraphicFramePr>
          <p:cNvPr id="5" name="Group 123">
            <a:extLst>
              <a:ext uri="{FF2B5EF4-FFF2-40B4-BE49-F238E27FC236}">
                <a16:creationId xmlns:a16="http://schemas.microsoft.com/office/drawing/2014/main" xmlns="" id="{A5DA3B2A-2E25-4DFF-9E0E-EBF2CA28C54C}"/>
              </a:ext>
            </a:extLst>
          </p:cNvPr>
          <p:cNvGraphicFramePr>
            <a:graphicFrameLocks noGrp="1"/>
          </p:cNvGraphicFramePr>
          <p:nvPr>
            <p:extLst>
              <p:ext uri="{D42A27DB-BD31-4B8C-83A1-F6EECF244321}">
                <p14:modId xmlns:p14="http://schemas.microsoft.com/office/powerpoint/2010/main" val="2015281017"/>
              </p:ext>
            </p:extLst>
          </p:nvPr>
        </p:nvGraphicFramePr>
        <p:xfrm>
          <a:off x="856060" y="2249486"/>
          <a:ext cx="7429500" cy="3296300"/>
        </p:xfrm>
        <a:graphic>
          <a:graphicData uri="http://schemas.openxmlformats.org/drawingml/2006/table">
            <a:tbl>
              <a:tblPr/>
              <a:tblGrid>
                <a:gridCol w="1660749">
                  <a:extLst>
                    <a:ext uri="{9D8B030D-6E8A-4147-A177-3AD203B41FA5}">
                      <a16:colId xmlns:a16="http://schemas.microsoft.com/office/drawing/2014/main" xmlns="" val="20000"/>
                    </a:ext>
                  </a:extLst>
                </a:gridCol>
                <a:gridCol w="975020">
                  <a:extLst>
                    <a:ext uri="{9D8B030D-6E8A-4147-A177-3AD203B41FA5}">
                      <a16:colId xmlns:a16="http://schemas.microsoft.com/office/drawing/2014/main" xmlns="" val="20001"/>
                    </a:ext>
                  </a:extLst>
                </a:gridCol>
                <a:gridCol w="364291">
                  <a:extLst>
                    <a:ext uri="{9D8B030D-6E8A-4147-A177-3AD203B41FA5}">
                      <a16:colId xmlns:a16="http://schemas.microsoft.com/office/drawing/2014/main" xmlns="" val="20002"/>
                    </a:ext>
                  </a:extLst>
                </a:gridCol>
                <a:gridCol w="546440">
                  <a:extLst>
                    <a:ext uri="{9D8B030D-6E8A-4147-A177-3AD203B41FA5}">
                      <a16:colId xmlns:a16="http://schemas.microsoft.com/office/drawing/2014/main" xmlns="" val="20003"/>
                    </a:ext>
                  </a:extLst>
                </a:gridCol>
                <a:gridCol w="342863">
                  <a:extLst>
                    <a:ext uri="{9D8B030D-6E8A-4147-A177-3AD203B41FA5}">
                      <a16:colId xmlns:a16="http://schemas.microsoft.com/office/drawing/2014/main" xmlns="" val="20004"/>
                    </a:ext>
                  </a:extLst>
                </a:gridCol>
                <a:gridCol w="410111">
                  <a:extLst>
                    <a:ext uri="{9D8B030D-6E8A-4147-A177-3AD203B41FA5}">
                      <a16:colId xmlns:a16="http://schemas.microsoft.com/office/drawing/2014/main" xmlns="" val="20005"/>
                    </a:ext>
                  </a:extLst>
                </a:gridCol>
                <a:gridCol w="390711">
                  <a:extLst>
                    <a:ext uri="{9D8B030D-6E8A-4147-A177-3AD203B41FA5}">
                      <a16:colId xmlns:a16="http://schemas.microsoft.com/office/drawing/2014/main" xmlns="" val="20006"/>
                    </a:ext>
                  </a:extLst>
                </a:gridCol>
                <a:gridCol w="1049390">
                  <a:extLst>
                    <a:ext uri="{9D8B030D-6E8A-4147-A177-3AD203B41FA5}">
                      <a16:colId xmlns:a16="http://schemas.microsoft.com/office/drawing/2014/main" xmlns="" val="20007"/>
                    </a:ext>
                  </a:extLst>
                </a:gridCol>
                <a:gridCol w="1689925">
                  <a:extLst>
                    <a:ext uri="{9D8B030D-6E8A-4147-A177-3AD203B41FA5}">
                      <a16:colId xmlns:a16="http://schemas.microsoft.com/office/drawing/2014/main" xmlns="" val="323396379"/>
                    </a:ext>
                  </a:extLst>
                </a:gridCol>
              </a:tblGrid>
              <a:tr h="555364">
                <a:tc>
                  <a:txBody>
                    <a:bodyPr/>
                    <a:lstStyle/>
                    <a:p>
                      <a:pPr marL="0" marR="0" lvl="0" indent="0" algn="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bg1"/>
                          </a:solidFill>
                          <a:effectLst/>
                          <a:latin typeface="Arial" charset="0"/>
                          <a:ea typeface="ＭＳ Ｐゴシック" pitchFamily="34" charset="-128"/>
                        </a:rPr>
                        <a:t>TO</a:t>
                      </a:r>
                    </a:p>
                    <a:p>
                      <a:pPr marL="0" marR="0" lvl="0" indent="0" algn="l"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bg1"/>
                          </a:solidFill>
                          <a:effectLst/>
                          <a:latin typeface="Arial" charset="0"/>
                          <a:ea typeface="ＭＳ Ｐゴシック" pitchFamily="34" charset="-128"/>
                        </a:rPr>
                        <a:t>FROM</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9050" cap="flat" cmpd="sng" algn="ctr">
                      <a:solidFill>
                        <a:schemeClr val="tx1"/>
                      </a:solidFill>
                      <a:prstDash val="solid"/>
                      <a:round/>
                      <a:headEnd type="none" w="med" len="med"/>
                      <a:tailEnd type="none" w="med" len="med"/>
                    </a:lnTlToBr>
                    <a:lnBlToTr>
                      <a:noFill/>
                    </a:lnBlToTr>
                    <a:solidFill>
                      <a:srgbClr val="63BDE0"/>
                    </a:solidFill>
                  </a:tcPr>
                </a:tc>
                <a:tc gridSpan="2">
                  <a:txBody>
                    <a:bodyPr/>
                    <a:lstStyle/>
                    <a:p>
                      <a:pPr marL="0" marR="0" lvl="0" indent="0" algn="l"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bg1"/>
                          </a:solidFill>
                          <a:effectLst/>
                          <a:latin typeface="Arial" charset="0"/>
                          <a:ea typeface="ＭＳ Ｐゴシック" pitchFamily="34" charset="-128"/>
                        </a:rPr>
                        <a:t>Peshawar </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rgbClr val="63BDE0"/>
                    </a:solidFill>
                  </a:tcPr>
                </a:tc>
                <a:tc hMerge="1">
                  <a:txBody>
                    <a:bodyPr/>
                    <a:lstStyle/>
                    <a:p>
                      <a:endParaRPr lang="en-US"/>
                    </a:p>
                  </a:txBody>
                  <a:tcPr/>
                </a:tc>
                <a:tc gridSpan="2">
                  <a:txBody>
                    <a:bodyPr/>
                    <a:lstStyle/>
                    <a:p>
                      <a:pPr marL="0" marR="0" lvl="0" indent="0" algn="l"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bg1"/>
                          </a:solidFill>
                          <a:effectLst/>
                          <a:latin typeface="Arial" charset="0"/>
                          <a:ea typeface="ＭＳ Ｐゴシック" pitchFamily="34" charset="-128"/>
                        </a:rPr>
                        <a:t>Sialkot</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rgbClr val="63BDE0"/>
                    </a:solidFill>
                  </a:tcPr>
                </a:tc>
                <a:tc hMerge="1">
                  <a:txBody>
                    <a:bodyPr/>
                    <a:lstStyle/>
                    <a:p>
                      <a:endParaRPr lang="en-US"/>
                    </a:p>
                  </a:txBody>
                  <a:tcPr/>
                </a:tc>
                <a:tc gridSpan="2">
                  <a:txBody>
                    <a:bodyPr/>
                    <a:lstStyle/>
                    <a:p>
                      <a:pPr marL="0" marR="0" lvl="0" indent="0" algn="l"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bg1"/>
                          </a:solidFill>
                          <a:effectLst/>
                          <a:latin typeface="Arial" charset="0"/>
                          <a:ea typeface="ＭＳ Ｐゴシック" pitchFamily="34" charset="-128"/>
                        </a:rPr>
                        <a:t> Multan</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rgbClr val="63BDE0"/>
                    </a:solidFill>
                  </a:tcPr>
                </a:tc>
                <a:tc hMerge="1">
                  <a:txBody>
                    <a:bodyPr/>
                    <a:lstStyle/>
                    <a:p>
                      <a:endParaRPr lang="en-US"/>
                    </a:p>
                  </a:txBody>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bg1"/>
                          </a:solidFill>
                          <a:effectLst/>
                          <a:latin typeface="Arial" charset="0"/>
                          <a:ea typeface="ＭＳ Ｐゴシック" pitchFamily="34" charset="-128"/>
                        </a:rPr>
                        <a:t>FACTORY CAPACITY/Supply</a:t>
                      </a:r>
                    </a:p>
                  </a:txBody>
                  <a:tcPr marT="45709" marB="45709" anchor="b"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rgbClr val="63BDE0"/>
                    </a:solidFill>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bg1"/>
                          </a:solidFill>
                          <a:effectLst/>
                          <a:latin typeface="Arial" charset="0"/>
                          <a:ea typeface="ＭＳ Ｐゴシック" pitchFamily="34" charset="-128"/>
                        </a:rPr>
                        <a:t>Penalty</a:t>
                      </a:r>
                    </a:p>
                  </a:txBody>
                  <a:tcPr marT="45709" marB="45709" anchor="b"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rgbClr val="63BDE0"/>
                    </a:solidFill>
                  </a:tcPr>
                </a:tc>
                <a:extLst>
                  <a:ext uri="{0D108BD9-81ED-4DB2-BD59-A6C34878D82A}">
                    <a16:rowId xmlns:a16="http://schemas.microsoft.com/office/drawing/2014/main" xmlns="" val="10000"/>
                  </a:ext>
                </a:extLst>
              </a:tr>
              <a:tr h="312663">
                <a:tc rowSpan="2">
                  <a:txBody>
                    <a:bodyPr/>
                    <a:lstStyle/>
                    <a:p>
                      <a:pPr marL="0" marR="0" lvl="0" indent="0" algn="l"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bg1"/>
                          </a:solidFill>
                          <a:effectLst/>
                          <a:latin typeface="Arial" charset="0"/>
                          <a:ea typeface="ＭＳ Ｐゴシック" pitchFamily="34" charset="-128"/>
                        </a:rPr>
                        <a:t> </a:t>
                      </a:r>
                      <a:br>
                        <a:rPr kumimoji="0" lang="en-US" sz="1400" b="1" i="0" u="none" strike="noStrike" cap="none" normalizeH="0" baseline="0" dirty="0">
                          <a:ln>
                            <a:noFill/>
                          </a:ln>
                          <a:solidFill>
                            <a:schemeClr val="bg1"/>
                          </a:solidFill>
                          <a:effectLst/>
                          <a:latin typeface="Arial" charset="0"/>
                          <a:ea typeface="ＭＳ Ｐゴシック" pitchFamily="34" charset="-128"/>
                        </a:rPr>
                      </a:br>
                      <a:r>
                        <a:rPr kumimoji="0" lang="en-US" sz="1400" b="1" i="0" u="none" strike="noStrike" cap="none" normalizeH="0" baseline="0" dirty="0">
                          <a:ln>
                            <a:noFill/>
                          </a:ln>
                          <a:solidFill>
                            <a:schemeClr val="bg1"/>
                          </a:solidFill>
                          <a:effectLst/>
                          <a:latin typeface="Arial" charset="0"/>
                          <a:ea typeface="ＭＳ Ｐゴシック" pitchFamily="34" charset="-128"/>
                        </a:rPr>
                        <a:t>Karachi</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rgbClr val="63BDE0"/>
                    </a:solidFill>
                  </a:tcPr>
                </a:tc>
                <a:tc rowSpan="2">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tx1"/>
                          </a:solidFill>
                          <a:effectLst>
                            <a:outerShdw blurRad="38100" dist="38100" dir="2700000" algn="tl">
                              <a:srgbClr val="C0C0C0"/>
                            </a:outerShdw>
                          </a:effectLst>
                          <a:latin typeface="Arial" charset="0"/>
                          <a:ea typeface="ＭＳ Ｐゴシック" pitchFamily="34" charset="-128"/>
                        </a:rPr>
                        <a:t>13</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endParaRPr kumimoji="0" lang="en-US" sz="1400" b="1" i="0" u="none" strike="noStrike" cap="none" normalizeH="0" baseline="0" dirty="0">
                        <a:ln>
                          <a:noFill/>
                        </a:ln>
                        <a:solidFill>
                          <a:schemeClr val="tx1"/>
                        </a:solidFill>
                        <a:effectLst/>
                        <a:latin typeface="Arial" charset="0"/>
                        <a:ea typeface="ＭＳ Ｐゴシック" pitchFamily="34" charset="-128"/>
                      </a:endParaRP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tx1"/>
                          </a:solidFill>
                          <a:effectLst/>
                          <a:latin typeface="Arial" charset="0"/>
                          <a:ea typeface="ＭＳ Ｐゴシック" pitchFamily="34" charset="-128"/>
                        </a:rPr>
                        <a:t>11</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endParaRPr kumimoji="0" lang="en-US" sz="1400" b="1" i="0" u="none" strike="noStrike" cap="none" normalizeH="0" baseline="0" dirty="0">
                        <a:ln>
                          <a:noFill/>
                        </a:ln>
                        <a:solidFill>
                          <a:schemeClr val="tx1"/>
                        </a:solidFill>
                        <a:effectLst/>
                        <a:latin typeface="Arial" charset="0"/>
                        <a:ea typeface="ＭＳ Ｐゴシック" pitchFamily="34" charset="-128"/>
                      </a:endParaRP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tx1"/>
                          </a:solidFill>
                          <a:effectLst/>
                          <a:latin typeface="Arial" charset="0"/>
                          <a:ea typeface="ＭＳ Ｐゴシック" pitchFamily="34" charset="-128"/>
                        </a:rPr>
                        <a:t>40</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endParaRPr kumimoji="0" lang="en-US" sz="1400" b="1" i="0" u="none" strike="noStrike" cap="none" normalizeH="0" baseline="0" dirty="0">
                        <a:ln>
                          <a:noFill/>
                        </a:ln>
                        <a:solidFill>
                          <a:schemeClr val="tx1"/>
                        </a:solidFill>
                        <a:effectLst/>
                        <a:latin typeface="Arial" charset="0"/>
                        <a:ea typeface="ＭＳ Ｐゴシック" pitchFamily="34" charset="-128"/>
                      </a:endParaRP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tx1"/>
                          </a:solidFill>
                          <a:effectLst/>
                          <a:latin typeface="Arial" charset="0"/>
                          <a:ea typeface="ＭＳ Ｐゴシック" pitchFamily="34" charset="-128"/>
                        </a:rPr>
                        <a:t>2</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tx1"/>
                          </a:solidFill>
                          <a:effectLst/>
                          <a:latin typeface="Arial" charset="0"/>
                          <a:ea typeface="ＭＳ Ｐゴシック" pitchFamily="34" charset="-128"/>
                        </a:rPr>
                        <a:t>(2)</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1"/>
                  </a:ext>
                </a:extLst>
              </a:tr>
              <a:tr h="312663">
                <a:tc vMerge="1">
                  <a:txBody>
                    <a:bodyPr/>
                    <a:lstStyle/>
                    <a:p>
                      <a:endParaRPr lang="en-US"/>
                    </a:p>
                  </a:txBody>
                  <a:tcPr/>
                </a:tc>
                <a:tc vMerge="1">
                  <a:txBody>
                    <a:bodyPr/>
                    <a:lstStyle/>
                    <a:p>
                      <a:endParaRPr lang="en-US"/>
                    </a:p>
                  </a:txBody>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endParaRPr kumimoji="0" lang="en-US" sz="1400" b="1" i="0" u="none" strike="noStrike" cap="none" normalizeH="0" baseline="0" dirty="0">
                        <a:ln>
                          <a:noFill/>
                        </a:ln>
                        <a:solidFill>
                          <a:schemeClr val="tx1"/>
                        </a:solidFill>
                        <a:effectLst/>
                        <a:latin typeface="Arial" charset="0"/>
                        <a:ea typeface="ＭＳ Ｐゴシック" pitchFamily="34" charset="-128"/>
                      </a:endParaRPr>
                    </a:p>
                  </a:txBody>
                  <a:tcPr marT="45709" marB="45709" anchor="ctr" horzOverflow="overflow">
                    <a:lnL>
                      <a:noFill/>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vMerge="1">
                  <a:txBody>
                    <a:bodyPr/>
                    <a:lstStyle/>
                    <a:p>
                      <a:endParaRPr lang="en-US"/>
                    </a:p>
                  </a:txBody>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endParaRPr kumimoji="0" lang="en-US" sz="1400" b="1" i="0" u="none" strike="noStrike" cap="none" normalizeH="0" baseline="0" dirty="0">
                        <a:ln>
                          <a:noFill/>
                        </a:ln>
                        <a:solidFill>
                          <a:schemeClr val="tx1"/>
                        </a:solidFill>
                        <a:effectLst/>
                        <a:latin typeface="Arial" charset="0"/>
                        <a:ea typeface="ＭＳ Ｐゴシック" pitchFamily="34" charset="-128"/>
                      </a:endParaRPr>
                    </a:p>
                  </a:txBody>
                  <a:tcPr marT="45709" marB="45709" anchor="ctr" horzOverflow="overflow">
                    <a:lnL>
                      <a:noFill/>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vMerge="1">
                  <a:txBody>
                    <a:bodyPr/>
                    <a:lstStyle/>
                    <a:p>
                      <a:endParaRPr lang="en-US"/>
                    </a:p>
                  </a:txBody>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endParaRPr kumimoji="0" lang="en-US" sz="1400" b="1" i="0" u="none" strike="noStrike" cap="none" normalizeH="0" baseline="0" dirty="0">
                        <a:ln>
                          <a:noFill/>
                        </a:ln>
                        <a:solidFill>
                          <a:schemeClr val="tx1"/>
                        </a:solidFill>
                        <a:effectLst/>
                        <a:latin typeface="Arial" charset="0"/>
                        <a:ea typeface="ＭＳ Ｐゴシック" pitchFamily="34" charset="-128"/>
                      </a:endParaRPr>
                    </a:p>
                  </a:txBody>
                  <a:tcPr marT="45709" marB="45709" anchor="ctr" horzOverflow="overflow">
                    <a:lnL>
                      <a:noFill/>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xmlns="" val="10002"/>
                  </a:ext>
                </a:extLst>
              </a:tr>
              <a:tr h="312663">
                <a:tc rowSpan="2">
                  <a:txBody>
                    <a:bodyPr/>
                    <a:lstStyle/>
                    <a:p>
                      <a:pPr marL="0" marR="0" lvl="0" indent="0" algn="l"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bg1"/>
                          </a:solidFill>
                          <a:effectLst/>
                          <a:latin typeface="Arial" charset="0"/>
                          <a:ea typeface="ＭＳ Ｐゴシック" pitchFamily="34" charset="-128"/>
                        </a:rPr>
                        <a:t>Lahore</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rgbClr val="63BDE0"/>
                    </a:solidFill>
                  </a:tcPr>
                </a:tc>
                <a:tc rowSpan="2">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tx1"/>
                          </a:solidFill>
                          <a:effectLst/>
                          <a:latin typeface="Arial" charset="0"/>
                          <a:ea typeface="ＭＳ Ｐゴシック" pitchFamily="34" charset="-128"/>
                        </a:rPr>
                        <a:t>18</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endParaRPr kumimoji="0" lang="en-US" sz="1400" b="1" i="0" u="none" strike="noStrike" cap="none" normalizeH="0" baseline="0" dirty="0">
                        <a:ln>
                          <a:noFill/>
                        </a:ln>
                        <a:solidFill>
                          <a:schemeClr val="tx1"/>
                        </a:solidFill>
                        <a:effectLst/>
                        <a:latin typeface="Arial" charset="0"/>
                        <a:ea typeface="ＭＳ Ｐゴシック" pitchFamily="34" charset="-128"/>
                      </a:endParaRP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tx1"/>
                          </a:solidFill>
                          <a:effectLst/>
                          <a:latin typeface="Arial" charset="0"/>
                          <a:ea typeface="ＭＳ Ｐゴシック" pitchFamily="34" charset="-128"/>
                        </a:rPr>
                        <a:t>18</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endParaRPr kumimoji="0" lang="en-US" sz="1400" b="1" i="0" u="none" strike="noStrike" cap="none" normalizeH="0" baseline="0" dirty="0">
                        <a:ln>
                          <a:noFill/>
                        </a:ln>
                        <a:solidFill>
                          <a:schemeClr val="tx1"/>
                        </a:solidFill>
                        <a:effectLst/>
                        <a:latin typeface="Arial" charset="0"/>
                        <a:ea typeface="ＭＳ Ｐゴシック" pitchFamily="34" charset="-128"/>
                      </a:endParaRP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rgbClr val="C00000"/>
                          </a:solidFill>
                          <a:effectLst/>
                          <a:latin typeface="Arial" charset="0"/>
                          <a:ea typeface="ＭＳ Ｐゴシック" pitchFamily="34" charset="-128"/>
                        </a:rPr>
                        <a:t>12</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endParaRPr kumimoji="0" lang="en-US" sz="1400" b="1" i="0" u="none" strike="noStrike" cap="none" normalizeH="0" baseline="0" dirty="0">
                        <a:ln>
                          <a:noFill/>
                        </a:ln>
                        <a:solidFill>
                          <a:schemeClr val="tx1"/>
                        </a:solidFill>
                        <a:effectLst/>
                        <a:latin typeface="Arial" charset="0"/>
                        <a:ea typeface="ＭＳ Ｐゴシック" pitchFamily="34" charset="-128"/>
                      </a:endParaRP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rgbClr val="92D050"/>
                          </a:solidFill>
                          <a:effectLst/>
                          <a:latin typeface="Arial" charset="0"/>
                          <a:ea typeface="ＭＳ Ｐゴシック" pitchFamily="34" charset="-128"/>
                        </a:rPr>
                        <a:t>7</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tx1"/>
                          </a:solidFill>
                          <a:effectLst/>
                          <a:latin typeface="Arial" charset="0"/>
                          <a:ea typeface="ＭＳ Ｐゴシック" pitchFamily="34" charset="-128"/>
                        </a:rPr>
                        <a:t>(6)</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5"/>
                  </a:ext>
                </a:extLst>
              </a:tr>
              <a:tr h="312663">
                <a:tc vMerge="1">
                  <a:txBody>
                    <a:bodyPr/>
                    <a:lstStyle/>
                    <a:p>
                      <a:endParaRPr lang="en-US"/>
                    </a:p>
                  </a:txBody>
                  <a:tcPr/>
                </a:tc>
                <a:tc vMerge="1">
                  <a:txBody>
                    <a:bodyPr/>
                    <a:lstStyle/>
                    <a:p>
                      <a:endParaRPr lang="en-US"/>
                    </a:p>
                  </a:txBody>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endParaRPr kumimoji="0" lang="en-US" sz="1400" b="1" i="0" u="none" strike="noStrike" cap="none" normalizeH="0" baseline="0" dirty="0">
                        <a:ln>
                          <a:noFill/>
                        </a:ln>
                        <a:solidFill>
                          <a:schemeClr val="tx1"/>
                        </a:solidFill>
                        <a:effectLst/>
                        <a:latin typeface="Arial" charset="0"/>
                        <a:ea typeface="ＭＳ Ｐゴシック" pitchFamily="34" charset="-128"/>
                      </a:endParaRPr>
                    </a:p>
                  </a:txBody>
                  <a:tcPr marT="45709" marB="45709" anchor="ctr" horzOverflow="overflow">
                    <a:lnL>
                      <a:noFill/>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vMerge="1">
                  <a:txBody>
                    <a:bodyPr/>
                    <a:lstStyle/>
                    <a:p>
                      <a:endParaRPr lang="en-US"/>
                    </a:p>
                  </a:txBody>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endParaRPr kumimoji="0" lang="en-US" sz="1400" b="1" i="0" u="none" strike="noStrike" cap="none" normalizeH="0" baseline="0" dirty="0">
                        <a:ln>
                          <a:noFill/>
                        </a:ln>
                        <a:solidFill>
                          <a:schemeClr val="tx1"/>
                        </a:solidFill>
                        <a:effectLst/>
                        <a:latin typeface="Arial" charset="0"/>
                        <a:ea typeface="ＭＳ Ｐゴシック" pitchFamily="34" charset="-128"/>
                      </a:endParaRPr>
                    </a:p>
                  </a:txBody>
                  <a:tcPr marT="45709" marB="45709" anchor="ctr" horzOverflow="overflow">
                    <a:lnL>
                      <a:noFill/>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vMerge="1">
                  <a:txBody>
                    <a:bodyPr/>
                    <a:lstStyle/>
                    <a:p>
                      <a:endParaRPr lang="en-US"/>
                    </a:p>
                  </a:txBody>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endParaRPr kumimoji="0" lang="en-US" sz="1400" b="1" i="0" u="none" strike="noStrike" cap="none" normalizeH="0" baseline="0" dirty="0">
                        <a:ln>
                          <a:noFill/>
                        </a:ln>
                        <a:solidFill>
                          <a:schemeClr val="tx1"/>
                        </a:solidFill>
                        <a:effectLst/>
                        <a:latin typeface="Arial" charset="0"/>
                        <a:ea typeface="ＭＳ Ｐゴシック" pitchFamily="34" charset="-128"/>
                      </a:endParaRPr>
                    </a:p>
                  </a:txBody>
                  <a:tcPr marT="45709" marB="45709" anchor="ctr" horzOverflow="overflow">
                    <a:lnL>
                      <a:noFill/>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xmlns="" val="10006"/>
                  </a:ext>
                </a:extLst>
              </a:tr>
              <a:tr h="625324">
                <a:tc>
                  <a:txBody>
                    <a:bodyPr/>
                    <a:lstStyle/>
                    <a:p>
                      <a:pPr marL="0" marR="0" lvl="0" indent="0" algn="l"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bg1"/>
                          </a:solidFill>
                          <a:effectLst/>
                          <a:latin typeface="Arial" charset="0"/>
                          <a:ea typeface="ＭＳ Ｐゴシック" pitchFamily="34" charset="-128"/>
                        </a:rPr>
                        <a:t>Requirement/</a:t>
                      </a:r>
                    </a:p>
                    <a:p>
                      <a:pPr marL="0" marR="0" lvl="0" indent="0" algn="l"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bg1"/>
                          </a:solidFill>
                          <a:effectLst/>
                          <a:latin typeface="Arial" charset="0"/>
                          <a:ea typeface="ＭＳ Ｐゴシック" pitchFamily="34" charset="-128"/>
                        </a:rPr>
                        <a:t>Demand</a:t>
                      </a:r>
                    </a:p>
                    <a:p>
                      <a:pPr marL="0" marR="0" lvl="0" indent="0" algn="l"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endParaRPr kumimoji="0" lang="en-US" sz="1400" b="1" i="0" u="none" strike="noStrike" cap="none" normalizeH="0" baseline="0" dirty="0">
                        <a:ln>
                          <a:noFill/>
                        </a:ln>
                        <a:solidFill>
                          <a:schemeClr val="bg1"/>
                        </a:solidFill>
                        <a:effectLst/>
                        <a:latin typeface="Arial" charset="0"/>
                        <a:ea typeface="ＭＳ Ｐゴシック" pitchFamily="34" charset="-128"/>
                      </a:endParaRP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rgbClr val="63BDE0"/>
                    </a:solidFill>
                  </a:tcPr>
                </a:tc>
                <a:tc gridSpan="2">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tx1"/>
                          </a:solidFill>
                          <a:effectLst/>
                          <a:latin typeface="Arial" charset="0"/>
                          <a:ea typeface="ＭＳ Ｐゴシック" pitchFamily="34" charset="-128"/>
                        </a:rPr>
                        <a:t>1</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tc gridSpan="2">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tx1"/>
                          </a:solidFill>
                          <a:effectLst/>
                          <a:latin typeface="Arial" charset="0"/>
                          <a:ea typeface="ＭＳ Ｐゴシック" pitchFamily="34" charset="-128"/>
                        </a:rPr>
                        <a:t>3</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tc gridSpan="2">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2800" b="1" i="0" u="none" strike="noStrike" cap="none" normalizeH="0" baseline="0" dirty="0">
                          <a:ln>
                            <a:noFill/>
                          </a:ln>
                          <a:solidFill>
                            <a:srgbClr val="92D050"/>
                          </a:solidFill>
                          <a:effectLst/>
                          <a:latin typeface="Arial" charset="0"/>
                          <a:ea typeface="ＭＳ Ｐゴシック" pitchFamily="34" charset="-128"/>
                        </a:rPr>
                        <a:t>5</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endParaRPr kumimoji="0" lang="en-US" sz="1400" b="1" i="0" u="none" strike="noStrike" cap="none" normalizeH="0" baseline="0" dirty="0">
                        <a:ln>
                          <a:noFill/>
                        </a:ln>
                        <a:solidFill>
                          <a:schemeClr val="tx1"/>
                        </a:solidFill>
                        <a:effectLst/>
                        <a:latin typeface="Arial" charset="0"/>
                        <a:ea typeface="ＭＳ Ｐゴシック" pitchFamily="34" charset="-128"/>
                      </a:endParaRP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endParaRPr kumimoji="0" lang="en-US" sz="1400" b="1" i="0" u="none" strike="noStrike" cap="none" normalizeH="0" baseline="0" dirty="0">
                        <a:ln>
                          <a:noFill/>
                        </a:ln>
                        <a:solidFill>
                          <a:schemeClr val="tx1"/>
                        </a:solidFill>
                        <a:effectLst/>
                        <a:latin typeface="Arial" charset="0"/>
                        <a:ea typeface="ＭＳ Ｐゴシック" pitchFamily="34" charset="-128"/>
                      </a:endParaRP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7"/>
                  </a:ext>
                </a:extLst>
              </a:tr>
              <a:tr h="625324">
                <a:tc>
                  <a:txBody>
                    <a:bodyPr/>
                    <a:lstStyle/>
                    <a:p>
                      <a:pPr marL="0" marR="0" lvl="0" indent="0" algn="l"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bg1"/>
                          </a:solidFill>
                          <a:effectLst/>
                          <a:latin typeface="Arial" charset="0"/>
                          <a:ea typeface="ＭＳ Ｐゴシック" pitchFamily="34" charset="-128"/>
                        </a:rPr>
                        <a:t>Penalty</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rgbClr val="63BDE0"/>
                    </a:solidFill>
                  </a:tcPr>
                </a:tc>
                <a:tc gridSpan="2">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tx1"/>
                          </a:solidFill>
                          <a:effectLst/>
                          <a:latin typeface="Arial" charset="0"/>
                          <a:ea typeface="ＭＳ Ｐゴシック" pitchFamily="34" charset="-128"/>
                        </a:rPr>
                        <a:t>(5)</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tc gridSpan="2">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tx1"/>
                          </a:solidFill>
                          <a:effectLst/>
                          <a:latin typeface="Arial" charset="0"/>
                          <a:ea typeface="ＭＳ Ｐゴシック" pitchFamily="34" charset="-128"/>
                        </a:rPr>
                        <a:t>(7)</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tc gridSpan="2">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rgbClr val="FF0000"/>
                          </a:solidFill>
                          <a:effectLst/>
                          <a:latin typeface="Arial" charset="0"/>
                          <a:ea typeface="ＭＳ Ｐゴシック" pitchFamily="34" charset="-128"/>
                        </a:rPr>
                        <a:t>(28)</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endParaRPr kumimoji="0" lang="en-US" sz="1400" b="1" i="0" u="none" strike="noStrike" cap="none" normalizeH="0" baseline="0" dirty="0">
                        <a:ln>
                          <a:noFill/>
                        </a:ln>
                        <a:solidFill>
                          <a:schemeClr val="tx1"/>
                        </a:solidFill>
                        <a:effectLst/>
                        <a:latin typeface="Arial" charset="0"/>
                        <a:ea typeface="ＭＳ Ｐゴシック" pitchFamily="34" charset="-128"/>
                      </a:endParaRP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endParaRPr kumimoji="0" lang="en-US" sz="1400" b="1" i="0" u="none" strike="noStrike" cap="none" normalizeH="0" baseline="0" dirty="0">
                        <a:ln>
                          <a:noFill/>
                        </a:ln>
                        <a:solidFill>
                          <a:schemeClr val="tx1"/>
                        </a:solidFill>
                        <a:effectLst/>
                        <a:latin typeface="Arial" charset="0"/>
                        <a:ea typeface="ＭＳ Ｐゴシック" pitchFamily="34" charset="-128"/>
                      </a:endParaRP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240329034"/>
                  </a:ext>
                </a:extLst>
              </a:tr>
            </a:tbl>
          </a:graphicData>
        </a:graphic>
      </p:graphicFrame>
    </p:spTree>
    <p:extLst>
      <p:ext uri="{BB962C8B-B14F-4D97-AF65-F5344CB8AC3E}">
        <p14:creationId xmlns:p14="http://schemas.microsoft.com/office/powerpoint/2010/main" val="7042174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6" fill="hold" nodeType="afterEffect">
                                  <p:stCondLst>
                                    <p:cond delay="1000"/>
                                  </p:stCondLst>
                                  <p:childTnLst>
                                    <p:set>
                                      <p:cBhvr>
                                        <p:cTn id="6" dur="1" fill="hold">
                                          <p:stCondLst>
                                            <p:cond delay="0"/>
                                          </p:stCondLst>
                                        </p:cTn>
                                        <p:tgtEl>
                                          <p:spTgt spid="5"/>
                                        </p:tgtEl>
                                        <p:attrNameLst>
                                          <p:attrName>style.visibility</p:attrName>
                                        </p:attrNameLst>
                                      </p:cBhvr>
                                      <p:to>
                                        <p:strVal val="visible"/>
                                      </p:to>
                                    </p:set>
                                    <p:animEffect transition="in" filter="strips(downRight)">
                                      <p:cBhvr>
                                        <p:cTn id="7"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solidFill>
                  <a:srgbClr val="C00000"/>
                </a:solidFill>
                <a:latin typeface="Arial" panose="020B0604020202020204" pitchFamily="34" charset="0"/>
                <a:cs typeface="Arial" panose="020B0604020202020204" pitchFamily="34" charset="0"/>
              </a:rPr>
              <a:t>Vogel’s approximation</a:t>
            </a:r>
          </a:p>
        </p:txBody>
      </p:sp>
      <p:sp>
        <p:nvSpPr>
          <p:cNvPr id="6" name="Content Placeholder 5">
            <a:extLst>
              <a:ext uri="{FF2B5EF4-FFF2-40B4-BE49-F238E27FC236}">
                <a16:creationId xmlns:a16="http://schemas.microsoft.com/office/drawing/2014/main" xmlns="" id="{12C3F38F-06D5-4ADF-BB89-374D8DB47BD2}"/>
              </a:ext>
            </a:extLst>
          </p:cNvPr>
          <p:cNvSpPr>
            <a:spLocks noGrp="1"/>
          </p:cNvSpPr>
          <p:nvPr>
            <p:ph idx="1"/>
          </p:nvPr>
        </p:nvSpPr>
        <p:spPr>
          <a:xfrm>
            <a:off x="856060" y="2249486"/>
            <a:ext cx="7429499" cy="4608513"/>
          </a:xfrm>
        </p:spPr>
        <p:txBody>
          <a:bodyPr>
            <a:normAutofit/>
          </a:bodyPr>
          <a:lstStyle/>
          <a:p>
            <a:pPr marL="0" indent="0">
              <a:buNone/>
            </a:pPr>
            <a:endParaRPr lang="en-US" dirty="0">
              <a:latin typeface="Arial" panose="020B0604020202020204" pitchFamily="34" charset="0"/>
              <a:cs typeface="Arial" panose="020B0604020202020204" pitchFamily="34" charset="0"/>
            </a:endParaRPr>
          </a:p>
          <a:p>
            <a:pPr marL="0" indent="0">
              <a:buNone/>
            </a:pPr>
            <a:endParaRPr lang="en-US" dirty="0">
              <a:latin typeface="Arial" panose="020B0604020202020204" pitchFamily="34" charset="0"/>
              <a:cs typeface="Arial" panose="020B0604020202020204" pitchFamily="34" charset="0"/>
            </a:endParaRPr>
          </a:p>
          <a:p>
            <a:pPr marL="0" indent="0">
              <a:buNone/>
            </a:pPr>
            <a:endParaRPr lang="en-US" dirty="0">
              <a:latin typeface="Arial" panose="020B0604020202020204" pitchFamily="34" charset="0"/>
              <a:cs typeface="Arial" panose="020B0604020202020204" pitchFamily="34" charset="0"/>
            </a:endParaRPr>
          </a:p>
        </p:txBody>
      </p:sp>
      <p:graphicFrame>
        <p:nvGraphicFramePr>
          <p:cNvPr id="5" name="Group 123">
            <a:extLst>
              <a:ext uri="{FF2B5EF4-FFF2-40B4-BE49-F238E27FC236}">
                <a16:creationId xmlns:a16="http://schemas.microsoft.com/office/drawing/2014/main" xmlns="" id="{A5DA3B2A-2E25-4DFF-9E0E-EBF2CA28C54C}"/>
              </a:ext>
            </a:extLst>
          </p:cNvPr>
          <p:cNvGraphicFramePr>
            <a:graphicFrameLocks noGrp="1"/>
          </p:cNvGraphicFramePr>
          <p:nvPr>
            <p:extLst>
              <p:ext uri="{D42A27DB-BD31-4B8C-83A1-F6EECF244321}">
                <p14:modId xmlns:p14="http://schemas.microsoft.com/office/powerpoint/2010/main" val="2125378346"/>
              </p:ext>
            </p:extLst>
          </p:nvPr>
        </p:nvGraphicFramePr>
        <p:xfrm>
          <a:off x="856060" y="2249486"/>
          <a:ext cx="7429500" cy="3296300"/>
        </p:xfrm>
        <a:graphic>
          <a:graphicData uri="http://schemas.openxmlformats.org/drawingml/2006/table">
            <a:tbl>
              <a:tblPr/>
              <a:tblGrid>
                <a:gridCol w="1660749">
                  <a:extLst>
                    <a:ext uri="{9D8B030D-6E8A-4147-A177-3AD203B41FA5}">
                      <a16:colId xmlns:a16="http://schemas.microsoft.com/office/drawing/2014/main" xmlns="" val="20000"/>
                    </a:ext>
                  </a:extLst>
                </a:gridCol>
                <a:gridCol w="975020">
                  <a:extLst>
                    <a:ext uri="{9D8B030D-6E8A-4147-A177-3AD203B41FA5}">
                      <a16:colId xmlns:a16="http://schemas.microsoft.com/office/drawing/2014/main" xmlns="" val="20001"/>
                    </a:ext>
                  </a:extLst>
                </a:gridCol>
                <a:gridCol w="364291">
                  <a:extLst>
                    <a:ext uri="{9D8B030D-6E8A-4147-A177-3AD203B41FA5}">
                      <a16:colId xmlns:a16="http://schemas.microsoft.com/office/drawing/2014/main" xmlns="" val="20002"/>
                    </a:ext>
                  </a:extLst>
                </a:gridCol>
                <a:gridCol w="546440">
                  <a:extLst>
                    <a:ext uri="{9D8B030D-6E8A-4147-A177-3AD203B41FA5}">
                      <a16:colId xmlns:a16="http://schemas.microsoft.com/office/drawing/2014/main" xmlns="" val="20003"/>
                    </a:ext>
                  </a:extLst>
                </a:gridCol>
                <a:gridCol w="342863">
                  <a:extLst>
                    <a:ext uri="{9D8B030D-6E8A-4147-A177-3AD203B41FA5}">
                      <a16:colId xmlns:a16="http://schemas.microsoft.com/office/drawing/2014/main" xmlns="" val="20004"/>
                    </a:ext>
                  </a:extLst>
                </a:gridCol>
                <a:gridCol w="410111">
                  <a:extLst>
                    <a:ext uri="{9D8B030D-6E8A-4147-A177-3AD203B41FA5}">
                      <a16:colId xmlns:a16="http://schemas.microsoft.com/office/drawing/2014/main" xmlns="" val="20005"/>
                    </a:ext>
                  </a:extLst>
                </a:gridCol>
                <a:gridCol w="390711">
                  <a:extLst>
                    <a:ext uri="{9D8B030D-6E8A-4147-A177-3AD203B41FA5}">
                      <a16:colId xmlns:a16="http://schemas.microsoft.com/office/drawing/2014/main" xmlns="" val="20006"/>
                    </a:ext>
                  </a:extLst>
                </a:gridCol>
                <a:gridCol w="1049390">
                  <a:extLst>
                    <a:ext uri="{9D8B030D-6E8A-4147-A177-3AD203B41FA5}">
                      <a16:colId xmlns:a16="http://schemas.microsoft.com/office/drawing/2014/main" xmlns="" val="20007"/>
                    </a:ext>
                  </a:extLst>
                </a:gridCol>
                <a:gridCol w="1689925">
                  <a:extLst>
                    <a:ext uri="{9D8B030D-6E8A-4147-A177-3AD203B41FA5}">
                      <a16:colId xmlns:a16="http://schemas.microsoft.com/office/drawing/2014/main" xmlns="" val="323396379"/>
                    </a:ext>
                  </a:extLst>
                </a:gridCol>
              </a:tblGrid>
              <a:tr h="555364">
                <a:tc>
                  <a:txBody>
                    <a:bodyPr/>
                    <a:lstStyle/>
                    <a:p>
                      <a:pPr marL="0" marR="0" lvl="0" indent="0" algn="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bg1"/>
                          </a:solidFill>
                          <a:effectLst/>
                          <a:latin typeface="Arial" charset="0"/>
                          <a:ea typeface="ＭＳ Ｐゴシック" pitchFamily="34" charset="-128"/>
                        </a:rPr>
                        <a:t>TO</a:t>
                      </a:r>
                    </a:p>
                    <a:p>
                      <a:pPr marL="0" marR="0" lvl="0" indent="0" algn="l"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bg1"/>
                          </a:solidFill>
                          <a:effectLst/>
                          <a:latin typeface="Arial" charset="0"/>
                          <a:ea typeface="ＭＳ Ｐゴシック" pitchFamily="34" charset="-128"/>
                        </a:rPr>
                        <a:t>FROM</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9050" cap="flat" cmpd="sng" algn="ctr">
                      <a:solidFill>
                        <a:schemeClr val="tx1"/>
                      </a:solidFill>
                      <a:prstDash val="solid"/>
                      <a:round/>
                      <a:headEnd type="none" w="med" len="med"/>
                      <a:tailEnd type="none" w="med" len="med"/>
                    </a:lnTlToBr>
                    <a:lnBlToTr>
                      <a:noFill/>
                    </a:lnBlToTr>
                    <a:solidFill>
                      <a:srgbClr val="63BDE0"/>
                    </a:solidFill>
                  </a:tcPr>
                </a:tc>
                <a:tc gridSpan="2">
                  <a:txBody>
                    <a:bodyPr/>
                    <a:lstStyle/>
                    <a:p>
                      <a:pPr marL="0" marR="0" lvl="0" indent="0" algn="l"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bg1"/>
                          </a:solidFill>
                          <a:effectLst/>
                          <a:latin typeface="Arial" charset="0"/>
                          <a:ea typeface="ＭＳ Ｐゴシック" pitchFamily="34" charset="-128"/>
                        </a:rPr>
                        <a:t>Peshawar </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rgbClr val="63BDE0"/>
                    </a:solidFill>
                  </a:tcPr>
                </a:tc>
                <a:tc hMerge="1">
                  <a:txBody>
                    <a:bodyPr/>
                    <a:lstStyle/>
                    <a:p>
                      <a:endParaRPr lang="en-US"/>
                    </a:p>
                  </a:txBody>
                  <a:tcPr/>
                </a:tc>
                <a:tc gridSpan="2">
                  <a:txBody>
                    <a:bodyPr/>
                    <a:lstStyle/>
                    <a:p>
                      <a:pPr marL="0" marR="0" lvl="0" indent="0" algn="l"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bg1"/>
                          </a:solidFill>
                          <a:effectLst/>
                          <a:latin typeface="Arial" charset="0"/>
                          <a:ea typeface="ＭＳ Ｐゴシック" pitchFamily="34" charset="-128"/>
                        </a:rPr>
                        <a:t>Sialkot</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rgbClr val="63BDE0"/>
                    </a:solidFill>
                  </a:tcPr>
                </a:tc>
                <a:tc hMerge="1">
                  <a:txBody>
                    <a:bodyPr/>
                    <a:lstStyle/>
                    <a:p>
                      <a:endParaRPr lang="en-US"/>
                    </a:p>
                  </a:txBody>
                  <a:tcPr/>
                </a:tc>
                <a:tc gridSpan="2">
                  <a:txBody>
                    <a:bodyPr/>
                    <a:lstStyle/>
                    <a:p>
                      <a:pPr marL="0" marR="0" lvl="0" indent="0" algn="l"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bg1"/>
                          </a:solidFill>
                          <a:effectLst/>
                          <a:latin typeface="Arial" charset="0"/>
                          <a:ea typeface="ＭＳ Ｐゴシック" pitchFamily="34" charset="-128"/>
                        </a:rPr>
                        <a:t> Multan</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rgbClr val="63BDE0"/>
                    </a:solidFill>
                  </a:tcPr>
                </a:tc>
                <a:tc hMerge="1">
                  <a:txBody>
                    <a:bodyPr/>
                    <a:lstStyle/>
                    <a:p>
                      <a:endParaRPr lang="en-US"/>
                    </a:p>
                  </a:txBody>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bg1"/>
                          </a:solidFill>
                          <a:effectLst/>
                          <a:latin typeface="Arial" charset="0"/>
                          <a:ea typeface="ＭＳ Ｐゴシック" pitchFamily="34" charset="-128"/>
                        </a:rPr>
                        <a:t>FACTORY CAPACITY/Supply</a:t>
                      </a:r>
                    </a:p>
                  </a:txBody>
                  <a:tcPr marT="45709" marB="45709" anchor="b"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rgbClr val="63BDE0"/>
                    </a:solidFill>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bg1"/>
                          </a:solidFill>
                          <a:effectLst/>
                          <a:latin typeface="Arial" charset="0"/>
                          <a:ea typeface="ＭＳ Ｐゴシック" pitchFamily="34" charset="-128"/>
                        </a:rPr>
                        <a:t>Penalty</a:t>
                      </a:r>
                    </a:p>
                  </a:txBody>
                  <a:tcPr marT="45709" marB="45709" anchor="b"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rgbClr val="63BDE0"/>
                    </a:solidFill>
                  </a:tcPr>
                </a:tc>
                <a:extLst>
                  <a:ext uri="{0D108BD9-81ED-4DB2-BD59-A6C34878D82A}">
                    <a16:rowId xmlns:a16="http://schemas.microsoft.com/office/drawing/2014/main" xmlns="" val="10000"/>
                  </a:ext>
                </a:extLst>
              </a:tr>
              <a:tr h="312663">
                <a:tc rowSpan="2">
                  <a:txBody>
                    <a:bodyPr/>
                    <a:lstStyle/>
                    <a:p>
                      <a:pPr marL="0" marR="0" lvl="0" indent="0" algn="l"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bg1"/>
                          </a:solidFill>
                          <a:effectLst/>
                          <a:latin typeface="Arial" charset="0"/>
                          <a:ea typeface="ＭＳ Ｐゴシック" pitchFamily="34" charset="-128"/>
                        </a:rPr>
                        <a:t> </a:t>
                      </a:r>
                      <a:br>
                        <a:rPr kumimoji="0" lang="en-US" sz="1400" b="1" i="0" u="none" strike="noStrike" cap="none" normalizeH="0" baseline="0" dirty="0">
                          <a:ln>
                            <a:noFill/>
                          </a:ln>
                          <a:solidFill>
                            <a:schemeClr val="bg1"/>
                          </a:solidFill>
                          <a:effectLst/>
                          <a:latin typeface="Arial" charset="0"/>
                          <a:ea typeface="ＭＳ Ｐゴシック" pitchFamily="34" charset="-128"/>
                        </a:rPr>
                      </a:br>
                      <a:r>
                        <a:rPr kumimoji="0" lang="en-US" sz="1400" b="1" i="0" u="none" strike="noStrike" cap="none" normalizeH="0" baseline="0" dirty="0">
                          <a:ln>
                            <a:noFill/>
                          </a:ln>
                          <a:solidFill>
                            <a:schemeClr val="bg1"/>
                          </a:solidFill>
                          <a:effectLst/>
                          <a:latin typeface="Arial" charset="0"/>
                          <a:ea typeface="ＭＳ Ｐゴシック" pitchFamily="34" charset="-128"/>
                        </a:rPr>
                        <a:t>Karachi</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rgbClr val="63BDE0"/>
                    </a:solidFill>
                  </a:tcPr>
                </a:tc>
                <a:tc rowSpan="2">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tx1"/>
                          </a:solidFill>
                          <a:effectLst>
                            <a:outerShdw blurRad="38100" dist="38100" dir="2700000" algn="tl">
                              <a:srgbClr val="C0C0C0"/>
                            </a:outerShdw>
                          </a:effectLst>
                          <a:latin typeface="Arial" charset="0"/>
                          <a:ea typeface="ＭＳ Ｐゴシック" pitchFamily="34" charset="-128"/>
                        </a:rPr>
                        <a:t>13</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endParaRPr kumimoji="0" lang="en-US" sz="1400" b="1" i="0" u="none" strike="noStrike" cap="none" normalizeH="0" baseline="0" dirty="0">
                        <a:ln>
                          <a:noFill/>
                        </a:ln>
                        <a:solidFill>
                          <a:schemeClr val="tx1"/>
                        </a:solidFill>
                        <a:effectLst/>
                        <a:latin typeface="Arial" charset="0"/>
                        <a:ea typeface="ＭＳ Ｐゴシック" pitchFamily="34" charset="-128"/>
                      </a:endParaRP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tx1"/>
                          </a:solidFill>
                          <a:effectLst/>
                          <a:latin typeface="Arial" charset="0"/>
                          <a:ea typeface="ＭＳ Ｐゴシック" pitchFamily="34" charset="-128"/>
                        </a:rPr>
                        <a:t>11</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endParaRPr kumimoji="0" lang="en-US" sz="1400" b="1" i="0" u="none" strike="noStrike" cap="none" normalizeH="0" baseline="0" dirty="0">
                        <a:ln>
                          <a:noFill/>
                        </a:ln>
                        <a:solidFill>
                          <a:schemeClr val="tx1"/>
                        </a:solidFill>
                        <a:effectLst/>
                        <a:latin typeface="Arial" charset="0"/>
                        <a:ea typeface="ＭＳ Ｐゴシック" pitchFamily="34" charset="-128"/>
                      </a:endParaRP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tx1"/>
                          </a:solidFill>
                          <a:effectLst/>
                          <a:latin typeface="Arial" charset="0"/>
                          <a:ea typeface="ＭＳ Ｐゴシック" pitchFamily="34" charset="-128"/>
                        </a:rPr>
                        <a:t>40</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endParaRPr kumimoji="0" lang="en-US" sz="1400" b="1" i="0" u="none" strike="noStrike" cap="none" normalizeH="0" baseline="0" dirty="0">
                        <a:ln>
                          <a:noFill/>
                        </a:ln>
                        <a:solidFill>
                          <a:schemeClr val="tx1"/>
                        </a:solidFill>
                        <a:effectLst/>
                        <a:latin typeface="Arial" charset="0"/>
                        <a:ea typeface="ＭＳ Ｐゴシック" pitchFamily="34" charset="-128"/>
                      </a:endParaRP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tx1"/>
                          </a:solidFill>
                          <a:effectLst/>
                          <a:latin typeface="Arial" charset="0"/>
                          <a:ea typeface="ＭＳ Ｐゴシック" pitchFamily="34" charset="-128"/>
                        </a:rPr>
                        <a:t>2</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tx1"/>
                          </a:solidFill>
                          <a:effectLst/>
                          <a:latin typeface="Arial" charset="0"/>
                          <a:ea typeface="ＭＳ Ｐゴシック" pitchFamily="34" charset="-128"/>
                        </a:rPr>
                        <a:t>(2)</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1"/>
                  </a:ext>
                </a:extLst>
              </a:tr>
              <a:tr h="312663">
                <a:tc vMerge="1">
                  <a:txBody>
                    <a:bodyPr/>
                    <a:lstStyle/>
                    <a:p>
                      <a:endParaRPr lang="en-US"/>
                    </a:p>
                  </a:txBody>
                  <a:tcPr/>
                </a:tc>
                <a:tc vMerge="1">
                  <a:txBody>
                    <a:bodyPr/>
                    <a:lstStyle/>
                    <a:p>
                      <a:endParaRPr lang="en-US"/>
                    </a:p>
                  </a:txBody>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endParaRPr kumimoji="0" lang="en-US" sz="1400" b="1" i="0" u="none" strike="noStrike" cap="none" normalizeH="0" baseline="0" dirty="0">
                        <a:ln>
                          <a:noFill/>
                        </a:ln>
                        <a:solidFill>
                          <a:schemeClr val="tx1"/>
                        </a:solidFill>
                        <a:effectLst/>
                        <a:latin typeface="Arial" charset="0"/>
                        <a:ea typeface="ＭＳ Ｐゴシック" pitchFamily="34" charset="-128"/>
                      </a:endParaRPr>
                    </a:p>
                  </a:txBody>
                  <a:tcPr marT="45709" marB="45709" anchor="ctr" horzOverflow="overflow">
                    <a:lnL>
                      <a:noFill/>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vMerge="1">
                  <a:txBody>
                    <a:bodyPr/>
                    <a:lstStyle/>
                    <a:p>
                      <a:endParaRPr lang="en-US"/>
                    </a:p>
                  </a:txBody>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endParaRPr kumimoji="0" lang="en-US" sz="1400" b="1" i="0" u="none" strike="noStrike" cap="none" normalizeH="0" baseline="0" dirty="0">
                        <a:ln>
                          <a:noFill/>
                        </a:ln>
                        <a:solidFill>
                          <a:schemeClr val="tx1"/>
                        </a:solidFill>
                        <a:effectLst/>
                        <a:latin typeface="Arial" charset="0"/>
                        <a:ea typeface="ＭＳ Ｐゴシック" pitchFamily="34" charset="-128"/>
                      </a:endParaRPr>
                    </a:p>
                  </a:txBody>
                  <a:tcPr marT="45709" marB="45709" anchor="ctr" horzOverflow="overflow">
                    <a:lnL>
                      <a:noFill/>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vMerge="1">
                  <a:txBody>
                    <a:bodyPr/>
                    <a:lstStyle/>
                    <a:p>
                      <a:endParaRPr lang="en-US"/>
                    </a:p>
                  </a:txBody>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endParaRPr kumimoji="0" lang="en-US" sz="1400" b="1" i="0" u="none" strike="noStrike" cap="none" normalizeH="0" baseline="0" dirty="0">
                        <a:ln>
                          <a:noFill/>
                        </a:ln>
                        <a:solidFill>
                          <a:schemeClr val="tx1"/>
                        </a:solidFill>
                        <a:effectLst/>
                        <a:latin typeface="Arial" charset="0"/>
                        <a:ea typeface="ＭＳ Ｐゴシック" pitchFamily="34" charset="-128"/>
                      </a:endParaRPr>
                    </a:p>
                  </a:txBody>
                  <a:tcPr marT="45709" marB="45709" anchor="ctr" horzOverflow="overflow">
                    <a:lnL>
                      <a:noFill/>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xmlns="" val="10002"/>
                  </a:ext>
                </a:extLst>
              </a:tr>
              <a:tr h="312663">
                <a:tc rowSpan="2">
                  <a:txBody>
                    <a:bodyPr/>
                    <a:lstStyle/>
                    <a:p>
                      <a:pPr marL="0" marR="0" lvl="0" indent="0" algn="l"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bg1"/>
                          </a:solidFill>
                          <a:effectLst/>
                          <a:latin typeface="Arial" charset="0"/>
                          <a:ea typeface="ＭＳ Ｐゴシック" pitchFamily="34" charset="-128"/>
                        </a:rPr>
                        <a:t>Lahore</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rgbClr val="63BDE0"/>
                    </a:solidFill>
                  </a:tcPr>
                </a:tc>
                <a:tc rowSpan="2">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tx1"/>
                          </a:solidFill>
                          <a:effectLst/>
                          <a:latin typeface="Arial" charset="0"/>
                          <a:ea typeface="ＭＳ Ｐゴシック" pitchFamily="34" charset="-128"/>
                        </a:rPr>
                        <a:t>18</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endParaRPr kumimoji="0" lang="en-US" sz="1400" b="1" i="0" u="none" strike="noStrike" cap="none" normalizeH="0" baseline="0" dirty="0">
                        <a:ln>
                          <a:noFill/>
                        </a:ln>
                        <a:solidFill>
                          <a:schemeClr val="tx1"/>
                        </a:solidFill>
                        <a:effectLst/>
                        <a:latin typeface="Arial" charset="0"/>
                        <a:ea typeface="ＭＳ Ｐゴシック" pitchFamily="34" charset="-128"/>
                      </a:endParaRP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tx1"/>
                          </a:solidFill>
                          <a:effectLst/>
                          <a:latin typeface="Arial" charset="0"/>
                          <a:ea typeface="ＭＳ Ｐゴシック" pitchFamily="34" charset="-128"/>
                        </a:rPr>
                        <a:t>18</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endParaRPr kumimoji="0" lang="en-US" sz="1400" b="1" i="0" u="none" strike="noStrike" cap="none" normalizeH="0" baseline="0" dirty="0">
                        <a:ln>
                          <a:noFill/>
                        </a:ln>
                        <a:solidFill>
                          <a:schemeClr val="tx1"/>
                        </a:solidFill>
                        <a:effectLst/>
                        <a:latin typeface="Arial" charset="0"/>
                        <a:ea typeface="ＭＳ Ｐゴシック" pitchFamily="34" charset="-128"/>
                      </a:endParaRP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tx1"/>
                          </a:solidFill>
                          <a:effectLst/>
                          <a:latin typeface="Arial" charset="0"/>
                          <a:ea typeface="ＭＳ Ｐゴシック" pitchFamily="34" charset="-128"/>
                        </a:rPr>
                        <a:t>12</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tx1"/>
                          </a:solidFill>
                          <a:effectLst/>
                          <a:latin typeface="Arial" charset="0"/>
                          <a:ea typeface="ＭＳ Ｐゴシック" pitchFamily="34" charset="-128"/>
                        </a:rPr>
                        <a:t>5</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tx1"/>
                          </a:solidFill>
                          <a:effectLst/>
                          <a:latin typeface="Arial" charset="0"/>
                          <a:ea typeface="ＭＳ Ｐゴシック" pitchFamily="34" charset="-128"/>
                        </a:rPr>
                        <a:t>7-5=2</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tx1"/>
                          </a:solidFill>
                          <a:effectLst/>
                          <a:latin typeface="Arial" charset="0"/>
                          <a:ea typeface="ＭＳ Ｐゴシック" pitchFamily="34" charset="-128"/>
                        </a:rPr>
                        <a:t>(6)</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5"/>
                  </a:ext>
                </a:extLst>
              </a:tr>
              <a:tr h="312663">
                <a:tc vMerge="1">
                  <a:txBody>
                    <a:bodyPr/>
                    <a:lstStyle/>
                    <a:p>
                      <a:endParaRPr lang="en-US"/>
                    </a:p>
                  </a:txBody>
                  <a:tcPr/>
                </a:tc>
                <a:tc vMerge="1">
                  <a:txBody>
                    <a:bodyPr/>
                    <a:lstStyle/>
                    <a:p>
                      <a:endParaRPr lang="en-US"/>
                    </a:p>
                  </a:txBody>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endParaRPr kumimoji="0" lang="en-US" sz="1400" b="1" i="0" u="none" strike="noStrike" cap="none" normalizeH="0" baseline="0" dirty="0">
                        <a:ln>
                          <a:noFill/>
                        </a:ln>
                        <a:solidFill>
                          <a:schemeClr val="tx1"/>
                        </a:solidFill>
                        <a:effectLst/>
                        <a:latin typeface="Arial" charset="0"/>
                        <a:ea typeface="ＭＳ Ｐゴシック" pitchFamily="34" charset="-128"/>
                      </a:endParaRPr>
                    </a:p>
                  </a:txBody>
                  <a:tcPr marT="45709" marB="45709" anchor="ctr" horzOverflow="overflow">
                    <a:lnL>
                      <a:noFill/>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vMerge="1">
                  <a:txBody>
                    <a:bodyPr/>
                    <a:lstStyle/>
                    <a:p>
                      <a:endParaRPr lang="en-US"/>
                    </a:p>
                  </a:txBody>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endParaRPr kumimoji="0" lang="en-US" sz="1400" b="1" i="0" u="none" strike="noStrike" cap="none" normalizeH="0" baseline="0" dirty="0">
                        <a:ln>
                          <a:noFill/>
                        </a:ln>
                        <a:solidFill>
                          <a:schemeClr val="tx1"/>
                        </a:solidFill>
                        <a:effectLst/>
                        <a:latin typeface="Arial" charset="0"/>
                        <a:ea typeface="ＭＳ Ｐゴシック" pitchFamily="34" charset="-128"/>
                      </a:endParaRPr>
                    </a:p>
                  </a:txBody>
                  <a:tcPr marT="45709" marB="45709" anchor="ctr" horzOverflow="overflow">
                    <a:lnL>
                      <a:noFill/>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vMerge="1">
                  <a:txBody>
                    <a:bodyPr/>
                    <a:lstStyle/>
                    <a:p>
                      <a:endParaRPr lang="en-US"/>
                    </a:p>
                  </a:txBody>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endParaRPr kumimoji="0" lang="en-US" sz="1400" b="1" i="0" u="none" strike="noStrike" cap="none" normalizeH="0" baseline="0" dirty="0">
                        <a:ln>
                          <a:noFill/>
                        </a:ln>
                        <a:solidFill>
                          <a:schemeClr val="tx1"/>
                        </a:solidFill>
                        <a:effectLst/>
                        <a:latin typeface="Arial" charset="0"/>
                        <a:ea typeface="ＭＳ Ｐゴシック" pitchFamily="34" charset="-128"/>
                      </a:endParaRPr>
                    </a:p>
                  </a:txBody>
                  <a:tcPr marT="45709" marB="45709" anchor="ctr" horzOverflow="overflow">
                    <a:lnL>
                      <a:noFill/>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xmlns="" val="10006"/>
                  </a:ext>
                </a:extLst>
              </a:tr>
              <a:tr h="625324">
                <a:tc>
                  <a:txBody>
                    <a:bodyPr/>
                    <a:lstStyle/>
                    <a:p>
                      <a:pPr marL="0" marR="0" lvl="0" indent="0" algn="l"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bg1"/>
                          </a:solidFill>
                          <a:effectLst/>
                          <a:latin typeface="Arial" charset="0"/>
                          <a:ea typeface="ＭＳ Ｐゴシック" pitchFamily="34" charset="-128"/>
                        </a:rPr>
                        <a:t>Requirement/</a:t>
                      </a:r>
                    </a:p>
                    <a:p>
                      <a:pPr marL="0" marR="0" lvl="0" indent="0" algn="l"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bg1"/>
                          </a:solidFill>
                          <a:effectLst/>
                          <a:latin typeface="Arial" charset="0"/>
                          <a:ea typeface="ＭＳ Ｐゴシック" pitchFamily="34" charset="-128"/>
                        </a:rPr>
                        <a:t>Demand</a:t>
                      </a:r>
                    </a:p>
                    <a:p>
                      <a:pPr marL="0" marR="0" lvl="0" indent="0" algn="l"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endParaRPr kumimoji="0" lang="en-US" sz="1400" b="1" i="0" u="none" strike="noStrike" cap="none" normalizeH="0" baseline="0" dirty="0">
                        <a:ln>
                          <a:noFill/>
                        </a:ln>
                        <a:solidFill>
                          <a:schemeClr val="bg1"/>
                        </a:solidFill>
                        <a:effectLst/>
                        <a:latin typeface="Arial" charset="0"/>
                        <a:ea typeface="ＭＳ Ｐゴシック" pitchFamily="34" charset="-128"/>
                      </a:endParaRP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rgbClr val="63BDE0"/>
                    </a:solidFill>
                  </a:tcPr>
                </a:tc>
                <a:tc gridSpan="2">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tx1"/>
                          </a:solidFill>
                          <a:effectLst/>
                          <a:latin typeface="Arial" charset="0"/>
                          <a:ea typeface="ＭＳ Ｐゴシック" pitchFamily="34" charset="-128"/>
                        </a:rPr>
                        <a:t>1</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tc gridSpan="2">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tx1"/>
                          </a:solidFill>
                          <a:effectLst/>
                          <a:latin typeface="Arial" charset="0"/>
                          <a:ea typeface="ＭＳ Ｐゴシック" pitchFamily="34" charset="-128"/>
                        </a:rPr>
                        <a:t>3</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tc gridSpan="2">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tx1"/>
                          </a:solidFill>
                          <a:effectLst/>
                          <a:latin typeface="Arial" charset="0"/>
                          <a:ea typeface="ＭＳ Ｐゴシック" pitchFamily="34" charset="-128"/>
                        </a:rPr>
                        <a:t>5-5=0</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endParaRPr kumimoji="0" lang="en-US" sz="1400" b="1" i="0" u="none" strike="noStrike" cap="none" normalizeH="0" baseline="0" dirty="0">
                        <a:ln>
                          <a:noFill/>
                        </a:ln>
                        <a:solidFill>
                          <a:schemeClr val="tx1"/>
                        </a:solidFill>
                        <a:effectLst/>
                        <a:latin typeface="Arial" charset="0"/>
                        <a:ea typeface="ＭＳ Ｐゴシック" pitchFamily="34" charset="-128"/>
                      </a:endParaRP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endParaRPr kumimoji="0" lang="en-US" sz="1400" b="1" i="0" u="none" strike="noStrike" cap="none" normalizeH="0" baseline="0" dirty="0">
                        <a:ln>
                          <a:noFill/>
                        </a:ln>
                        <a:solidFill>
                          <a:schemeClr val="tx1"/>
                        </a:solidFill>
                        <a:effectLst/>
                        <a:latin typeface="Arial" charset="0"/>
                        <a:ea typeface="ＭＳ Ｐゴシック" pitchFamily="34" charset="-128"/>
                      </a:endParaRP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7"/>
                  </a:ext>
                </a:extLst>
              </a:tr>
              <a:tr h="625324">
                <a:tc>
                  <a:txBody>
                    <a:bodyPr/>
                    <a:lstStyle/>
                    <a:p>
                      <a:pPr marL="0" marR="0" lvl="0" indent="0" algn="l"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bg1"/>
                          </a:solidFill>
                          <a:effectLst/>
                          <a:latin typeface="Arial" charset="0"/>
                          <a:ea typeface="ＭＳ Ｐゴシック" pitchFamily="34" charset="-128"/>
                        </a:rPr>
                        <a:t>Penalty</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rgbClr val="63BDE0"/>
                    </a:solidFill>
                  </a:tcPr>
                </a:tc>
                <a:tc gridSpan="2">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tx1"/>
                          </a:solidFill>
                          <a:effectLst/>
                          <a:latin typeface="Arial" charset="0"/>
                          <a:ea typeface="ＭＳ Ｐゴシック" pitchFamily="34" charset="-128"/>
                        </a:rPr>
                        <a:t>(5)</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tc gridSpan="2">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tx1"/>
                          </a:solidFill>
                          <a:effectLst/>
                          <a:latin typeface="Arial" charset="0"/>
                          <a:ea typeface="ＭＳ Ｐゴシック" pitchFamily="34" charset="-128"/>
                        </a:rPr>
                        <a:t>(7)</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tc gridSpan="2">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rgbClr val="FF0000"/>
                          </a:solidFill>
                          <a:effectLst/>
                          <a:latin typeface="Arial" charset="0"/>
                          <a:ea typeface="ＭＳ Ｐゴシック" pitchFamily="34" charset="-128"/>
                        </a:rPr>
                        <a:t>(28)</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endParaRPr kumimoji="0" lang="en-US" sz="1400" b="1" i="0" u="none" strike="noStrike" cap="none" normalizeH="0" baseline="0" dirty="0">
                        <a:ln>
                          <a:noFill/>
                        </a:ln>
                        <a:solidFill>
                          <a:schemeClr val="tx1"/>
                        </a:solidFill>
                        <a:effectLst/>
                        <a:latin typeface="Arial" charset="0"/>
                        <a:ea typeface="ＭＳ Ｐゴシック" pitchFamily="34" charset="-128"/>
                      </a:endParaRP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endParaRPr kumimoji="0" lang="en-US" sz="1400" b="1" i="0" u="none" strike="noStrike" cap="none" normalizeH="0" baseline="0" dirty="0">
                        <a:ln>
                          <a:noFill/>
                        </a:ln>
                        <a:solidFill>
                          <a:schemeClr val="tx1"/>
                        </a:solidFill>
                        <a:effectLst/>
                        <a:latin typeface="Arial" charset="0"/>
                        <a:ea typeface="ＭＳ Ｐゴシック" pitchFamily="34" charset="-128"/>
                      </a:endParaRP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240329034"/>
                  </a:ext>
                </a:extLst>
              </a:tr>
            </a:tbl>
          </a:graphicData>
        </a:graphic>
      </p:graphicFrame>
    </p:spTree>
    <p:extLst>
      <p:ext uri="{BB962C8B-B14F-4D97-AF65-F5344CB8AC3E}">
        <p14:creationId xmlns:p14="http://schemas.microsoft.com/office/powerpoint/2010/main" val="3964407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6" fill="hold" nodeType="afterEffect">
                                  <p:stCondLst>
                                    <p:cond delay="1000"/>
                                  </p:stCondLst>
                                  <p:childTnLst>
                                    <p:set>
                                      <p:cBhvr>
                                        <p:cTn id="6" dur="1" fill="hold">
                                          <p:stCondLst>
                                            <p:cond delay="0"/>
                                          </p:stCondLst>
                                        </p:cTn>
                                        <p:tgtEl>
                                          <p:spTgt spid="5"/>
                                        </p:tgtEl>
                                        <p:attrNameLst>
                                          <p:attrName>style.visibility</p:attrName>
                                        </p:attrNameLst>
                                      </p:cBhvr>
                                      <p:to>
                                        <p:strVal val="visible"/>
                                      </p:to>
                                    </p:set>
                                    <p:animEffect transition="in" filter="strips(downRight)">
                                      <p:cBhvr>
                                        <p:cTn id="7"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solidFill>
                  <a:srgbClr val="C00000"/>
                </a:solidFill>
                <a:latin typeface="Arial" panose="020B0604020202020204" pitchFamily="34" charset="0"/>
                <a:cs typeface="Arial" panose="020B0604020202020204" pitchFamily="34" charset="0"/>
              </a:rPr>
              <a:t>Vogel’s approximation</a:t>
            </a:r>
          </a:p>
        </p:txBody>
      </p:sp>
      <p:sp>
        <p:nvSpPr>
          <p:cNvPr id="6" name="Content Placeholder 5">
            <a:extLst>
              <a:ext uri="{FF2B5EF4-FFF2-40B4-BE49-F238E27FC236}">
                <a16:creationId xmlns:a16="http://schemas.microsoft.com/office/drawing/2014/main" xmlns="" id="{12C3F38F-06D5-4ADF-BB89-374D8DB47BD2}"/>
              </a:ext>
            </a:extLst>
          </p:cNvPr>
          <p:cNvSpPr>
            <a:spLocks noGrp="1"/>
          </p:cNvSpPr>
          <p:nvPr>
            <p:ph idx="1"/>
          </p:nvPr>
        </p:nvSpPr>
        <p:spPr>
          <a:xfrm>
            <a:off x="856060" y="2249486"/>
            <a:ext cx="7429499" cy="4608513"/>
          </a:xfrm>
        </p:spPr>
        <p:txBody>
          <a:bodyPr>
            <a:normAutofit/>
          </a:bodyPr>
          <a:lstStyle/>
          <a:p>
            <a:pPr marL="0" indent="0">
              <a:buNone/>
            </a:pPr>
            <a:endParaRPr lang="en-US" dirty="0">
              <a:latin typeface="Arial" panose="020B0604020202020204" pitchFamily="34" charset="0"/>
              <a:cs typeface="Arial" panose="020B0604020202020204" pitchFamily="34" charset="0"/>
            </a:endParaRPr>
          </a:p>
          <a:p>
            <a:pPr marL="0" indent="0">
              <a:buNone/>
            </a:pPr>
            <a:endParaRPr lang="en-US" dirty="0">
              <a:latin typeface="Arial" panose="020B0604020202020204" pitchFamily="34" charset="0"/>
              <a:cs typeface="Arial" panose="020B0604020202020204" pitchFamily="34" charset="0"/>
            </a:endParaRPr>
          </a:p>
          <a:p>
            <a:pPr marL="0" indent="0">
              <a:buNone/>
            </a:pPr>
            <a:endParaRPr lang="en-US" dirty="0">
              <a:latin typeface="Arial" panose="020B0604020202020204" pitchFamily="34" charset="0"/>
              <a:cs typeface="Arial" panose="020B0604020202020204" pitchFamily="34" charset="0"/>
            </a:endParaRPr>
          </a:p>
        </p:txBody>
      </p:sp>
      <p:graphicFrame>
        <p:nvGraphicFramePr>
          <p:cNvPr id="5" name="Group 123">
            <a:extLst>
              <a:ext uri="{FF2B5EF4-FFF2-40B4-BE49-F238E27FC236}">
                <a16:creationId xmlns:a16="http://schemas.microsoft.com/office/drawing/2014/main" xmlns="" id="{A5DA3B2A-2E25-4DFF-9E0E-EBF2CA28C54C}"/>
              </a:ext>
            </a:extLst>
          </p:cNvPr>
          <p:cNvGraphicFramePr>
            <a:graphicFrameLocks noGrp="1"/>
          </p:cNvGraphicFramePr>
          <p:nvPr>
            <p:extLst>
              <p:ext uri="{D42A27DB-BD31-4B8C-83A1-F6EECF244321}">
                <p14:modId xmlns:p14="http://schemas.microsoft.com/office/powerpoint/2010/main" val="729871969"/>
              </p:ext>
            </p:extLst>
          </p:nvPr>
        </p:nvGraphicFramePr>
        <p:xfrm>
          <a:off x="856060" y="2249486"/>
          <a:ext cx="7429500" cy="3296300"/>
        </p:xfrm>
        <a:graphic>
          <a:graphicData uri="http://schemas.openxmlformats.org/drawingml/2006/table">
            <a:tbl>
              <a:tblPr/>
              <a:tblGrid>
                <a:gridCol w="1660749">
                  <a:extLst>
                    <a:ext uri="{9D8B030D-6E8A-4147-A177-3AD203B41FA5}">
                      <a16:colId xmlns:a16="http://schemas.microsoft.com/office/drawing/2014/main" xmlns="" val="20000"/>
                    </a:ext>
                  </a:extLst>
                </a:gridCol>
                <a:gridCol w="975020">
                  <a:extLst>
                    <a:ext uri="{9D8B030D-6E8A-4147-A177-3AD203B41FA5}">
                      <a16:colId xmlns:a16="http://schemas.microsoft.com/office/drawing/2014/main" xmlns="" val="20001"/>
                    </a:ext>
                  </a:extLst>
                </a:gridCol>
                <a:gridCol w="364291">
                  <a:extLst>
                    <a:ext uri="{9D8B030D-6E8A-4147-A177-3AD203B41FA5}">
                      <a16:colId xmlns:a16="http://schemas.microsoft.com/office/drawing/2014/main" xmlns="" val="20002"/>
                    </a:ext>
                  </a:extLst>
                </a:gridCol>
                <a:gridCol w="546440">
                  <a:extLst>
                    <a:ext uri="{9D8B030D-6E8A-4147-A177-3AD203B41FA5}">
                      <a16:colId xmlns:a16="http://schemas.microsoft.com/office/drawing/2014/main" xmlns="" val="20003"/>
                    </a:ext>
                  </a:extLst>
                </a:gridCol>
                <a:gridCol w="342863">
                  <a:extLst>
                    <a:ext uri="{9D8B030D-6E8A-4147-A177-3AD203B41FA5}">
                      <a16:colId xmlns:a16="http://schemas.microsoft.com/office/drawing/2014/main" xmlns="" val="20004"/>
                    </a:ext>
                  </a:extLst>
                </a:gridCol>
                <a:gridCol w="410111">
                  <a:extLst>
                    <a:ext uri="{9D8B030D-6E8A-4147-A177-3AD203B41FA5}">
                      <a16:colId xmlns:a16="http://schemas.microsoft.com/office/drawing/2014/main" xmlns="" val="20005"/>
                    </a:ext>
                  </a:extLst>
                </a:gridCol>
                <a:gridCol w="390711">
                  <a:extLst>
                    <a:ext uri="{9D8B030D-6E8A-4147-A177-3AD203B41FA5}">
                      <a16:colId xmlns:a16="http://schemas.microsoft.com/office/drawing/2014/main" xmlns="" val="20006"/>
                    </a:ext>
                  </a:extLst>
                </a:gridCol>
                <a:gridCol w="1049390">
                  <a:extLst>
                    <a:ext uri="{9D8B030D-6E8A-4147-A177-3AD203B41FA5}">
                      <a16:colId xmlns:a16="http://schemas.microsoft.com/office/drawing/2014/main" xmlns="" val="20007"/>
                    </a:ext>
                  </a:extLst>
                </a:gridCol>
                <a:gridCol w="1689925">
                  <a:extLst>
                    <a:ext uri="{9D8B030D-6E8A-4147-A177-3AD203B41FA5}">
                      <a16:colId xmlns:a16="http://schemas.microsoft.com/office/drawing/2014/main" xmlns="" val="323396379"/>
                    </a:ext>
                  </a:extLst>
                </a:gridCol>
              </a:tblGrid>
              <a:tr h="555364">
                <a:tc>
                  <a:txBody>
                    <a:bodyPr/>
                    <a:lstStyle/>
                    <a:p>
                      <a:pPr marL="0" marR="0" lvl="0" indent="0" algn="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bg1"/>
                          </a:solidFill>
                          <a:effectLst/>
                          <a:latin typeface="Arial" charset="0"/>
                          <a:ea typeface="ＭＳ Ｐゴシック" pitchFamily="34" charset="-128"/>
                        </a:rPr>
                        <a:t>TO</a:t>
                      </a:r>
                    </a:p>
                    <a:p>
                      <a:pPr marL="0" marR="0" lvl="0" indent="0" algn="l"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bg1"/>
                          </a:solidFill>
                          <a:effectLst/>
                          <a:latin typeface="Arial" charset="0"/>
                          <a:ea typeface="ＭＳ Ｐゴシック" pitchFamily="34" charset="-128"/>
                        </a:rPr>
                        <a:t>FROM</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9050" cap="flat" cmpd="sng" algn="ctr">
                      <a:solidFill>
                        <a:schemeClr val="tx1"/>
                      </a:solidFill>
                      <a:prstDash val="solid"/>
                      <a:round/>
                      <a:headEnd type="none" w="med" len="med"/>
                      <a:tailEnd type="none" w="med" len="med"/>
                    </a:lnTlToBr>
                    <a:lnBlToTr>
                      <a:noFill/>
                    </a:lnBlToTr>
                    <a:solidFill>
                      <a:srgbClr val="63BDE0"/>
                    </a:solidFill>
                  </a:tcPr>
                </a:tc>
                <a:tc gridSpan="2">
                  <a:txBody>
                    <a:bodyPr/>
                    <a:lstStyle/>
                    <a:p>
                      <a:pPr marL="0" marR="0" lvl="0" indent="0" algn="l"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bg1"/>
                          </a:solidFill>
                          <a:effectLst/>
                          <a:latin typeface="Arial" charset="0"/>
                          <a:ea typeface="ＭＳ Ｐゴシック" pitchFamily="34" charset="-128"/>
                        </a:rPr>
                        <a:t>Peshawar </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rgbClr val="63BDE0"/>
                    </a:solidFill>
                  </a:tcPr>
                </a:tc>
                <a:tc hMerge="1">
                  <a:txBody>
                    <a:bodyPr/>
                    <a:lstStyle/>
                    <a:p>
                      <a:endParaRPr lang="en-US"/>
                    </a:p>
                  </a:txBody>
                  <a:tcPr/>
                </a:tc>
                <a:tc gridSpan="2">
                  <a:txBody>
                    <a:bodyPr/>
                    <a:lstStyle/>
                    <a:p>
                      <a:pPr marL="0" marR="0" lvl="0" indent="0" algn="l"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bg1"/>
                          </a:solidFill>
                          <a:effectLst/>
                          <a:latin typeface="Arial" charset="0"/>
                          <a:ea typeface="ＭＳ Ｐゴシック" pitchFamily="34" charset="-128"/>
                        </a:rPr>
                        <a:t>Sialkot</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rgbClr val="63BDE0"/>
                    </a:solidFill>
                  </a:tcPr>
                </a:tc>
                <a:tc hMerge="1">
                  <a:txBody>
                    <a:bodyPr/>
                    <a:lstStyle/>
                    <a:p>
                      <a:endParaRPr lang="en-US"/>
                    </a:p>
                  </a:txBody>
                  <a:tcPr/>
                </a:tc>
                <a:tc gridSpan="2">
                  <a:txBody>
                    <a:bodyPr/>
                    <a:lstStyle/>
                    <a:p>
                      <a:pPr marL="0" marR="0" lvl="0" indent="0" algn="l"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bg1"/>
                          </a:solidFill>
                          <a:effectLst/>
                          <a:latin typeface="Arial" charset="0"/>
                          <a:ea typeface="ＭＳ Ｐゴシック" pitchFamily="34" charset="-128"/>
                        </a:rPr>
                        <a:t> Multan</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rgbClr val="63BDE0"/>
                    </a:solidFill>
                  </a:tcPr>
                </a:tc>
                <a:tc hMerge="1">
                  <a:txBody>
                    <a:bodyPr/>
                    <a:lstStyle/>
                    <a:p>
                      <a:endParaRPr lang="en-US"/>
                    </a:p>
                  </a:txBody>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bg1"/>
                          </a:solidFill>
                          <a:effectLst/>
                          <a:latin typeface="Arial" charset="0"/>
                          <a:ea typeface="ＭＳ Ｐゴシック" pitchFamily="34" charset="-128"/>
                        </a:rPr>
                        <a:t>FACTORY CAPACITY/Supply</a:t>
                      </a:r>
                    </a:p>
                  </a:txBody>
                  <a:tcPr marT="45709" marB="45709" anchor="b"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rgbClr val="63BDE0"/>
                    </a:solidFill>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bg1"/>
                          </a:solidFill>
                          <a:effectLst/>
                          <a:latin typeface="Arial" charset="0"/>
                          <a:ea typeface="ＭＳ Ｐゴシック" pitchFamily="34" charset="-128"/>
                        </a:rPr>
                        <a:t>Penalty</a:t>
                      </a:r>
                    </a:p>
                  </a:txBody>
                  <a:tcPr marT="45709" marB="45709" anchor="b"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rgbClr val="63BDE0"/>
                    </a:solidFill>
                  </a:tcPr>
                </a:tc>
                <a:extLst>
                  <a:ext uri="{0D108BD9-81ED-4DB2-BD59-A6C34878D82A}">
                    <a16:rowId xmlns:a16="http://schemas.microsoft.com/office/drawing/2014/main" xmlns="" val="10000"/>
                  </a:ext>
                </a:extLst>
              </a:tr>
              <a:tr h="312663">
                <a:tc rowSpan="2">
                  <a:txBody>
                    <a:bodyPr/>
                    <a:lstStyle/>
                    <a:p>
                      <a:pPr marL="0" marR="0" lvl="0" indent="0" algn="l"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bg1"/>
                          </a:solidFill>
                          <a:effectLst/>
                          <a:latin typeface="Arial" charset="0"/>
                          <a:ea typeface="ＭＳ Ｐゴシック" pitchFamily="34" charset="-128"/>
                        </a:rPr>
                        <a:t> </a:t>
                      </a:r>
                      <a:br>
                        <a:rPr kumimoji="0" lang="en-US" sz="1400" b="1" i="0" u="none" strike="noStrike" cap="none" normalizeH="0" baseline="0" dirty="0">
                          <a:ln>
                            <a:noFill/>
                          </a:ln>
                          <a:solidFill>
                            <a:schemeClr val="bg1"/>
                          </a:solidFill>
                          <a:effectLst/>
                          <a:latin typeface="Arial" charset="0"/>
                          <a:ea typeface="ＭＳ Ｐゴシック" pitchFamily="34" charset="-128"/>
                        </a:rPr>
                      </a:br>
                      <a:r>
                        <a:rPr kumimoji="0" lang="en-US" sz="1400" b="1" i="0" u="none" strike="noStrike" cap="none" normalizeH="0" baseline="0" dirty="0">
                          <a:ln>
                            <a:noFill/>
                          </a:ln>
                          <a:solidFill>
                            <a:schemeClr val="bg1"/>
                          </a:solidFill>
                          <a:effectLst/>
                          <a:latin typeface="Arial" charset="0"/>
                          <a:ea typeface="ＭＳ Ｐゴシック" pitchFamily="34" charset="-128"/>
                        </a:rPr>
                        <a:t>Karachi</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rgbClr val="63BDE0"/>
                    </a:solidFill>
                  </a:tcPr>
                </a:tc>
                <a:tc rowSpan="2">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tx1"/>
                          </a:solidFill>
                          <a:effectLst>
                            <a:outerShdw blurRad="38100" dist="38100" dir="2700000" algn="tl">
                              <a:srgbClr val="C0C0C0"/>
                            </a:outerShdw>
                          </a:effectLst>
                          <a:latin typeface="Arial" charset="0"/>
                          <a:ea typeface="ＭＳ Ｐゴシック" pitchFamily="34" charset="-128"/>
                        </a:rPr>
                        <a:t>13</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endParaRPr kumimoji="0" lang="en-US" sz="1400" b="1" i="0" u="none" strike="noStrike" cap="none" normalizeH="0" baseline="0" dirty="0">
                        <a:ln>
                          <a:noFill/>
                        </a:ln>
                        <a:solidFill>
                          <a:schemeClr val="tx1"/>
                        </a:solidFill>
                        <a:effectLst/>
                        <a:latin typeface="Arial" charset="0"/>
                        <a:ea typeface="ＭＳ Ｐゴシック" pitchFamily="34" charset="-128"/>
                      </a:endParaRP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tx1"/>
                          </a:solidFill>
                          <a:effectLst/>
                          <a:latin typeface="Arial" charset="0"/>
                          <a:ea typeface="ＭＳ Ｐゴシック" pitchFamily="34" charset="-128"/>
                        </a:rPr>
                        <a:t>11</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endParaRPr kumimoji="0" lang="en-US" sz="1400" b="1" i="0" u="none" strike="noStrike" cap="none" normalizeH="0" baseline="0" dirty="0">
                        <a:ln>
                          <a:noFill/>
                        </a:ln>
                        <a:solidFill>
                          <a:schemeClr val="tx1"/>
                        </a:solidFill>
                        <a:effectLst/>
                        <a:latin typeface="Arial" charset="0"/>
                        <a:ea typeface="ＭＳ Ｐゴシック" pitchFamily="34" charset="-128"/>
                      </a:endParaRP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tx1"/>
                          </a:solidFill>
                          <a:effectLst/>
                          <a:latin typeface="Arial" charset="0"/>
                          <a:ea typeface="ＭＳ Ｐゴシック" pitchFamily="34" charset="-128"/>
                        </a:rPr>
                        <a:t>40</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endParaRPr kumimoji="0" lang="en-US" sz="1400" b="1" i="0" u="none" strike="noStrike" cap="none" normalizeH="0" baseline="0" dirty="0">
                        <a:ln>
                          <a:noFill/>
                        </a:ln>
                        <a:solidFill>
                          <a:schemeClr val="tx1"/>
                        </a:solidFill>
                        <a:effectLst/>
                        <a:latin typeface="Arial" charset="0"/>
                        <a:ea typeface="ＭＳ Ｐゴシック" pitchFamily="34" charset="-128"/>
                      </a:endParaRP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tx1"/>
                          </a:solidFill>
                          <a:effectLst/>
                          <a:latin typeface="Arial" charset="0"/>
                          <a:ea typeface="ＭＳ Ｐゴシック" pitchFamily="34" charset="-128"/>
                        </a:rPr>
                        <a:t>2</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tx1"/>
                          </a:solidFill>
                          <a:effectLst/>
                          <a:latin typeface="Arial" charset="0"/>
                          <a:ea typeface="ＭＳ Ｐゴシック" pitchFamily="34" charset="-128"/>
                        </a:rPr>
                        <a:t>(2)</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1"/>
                  </a:ext>
                </a:extLst>
              </a:tr>
              <a:tr h="312663">
                <a:tc vMerge="1">
                  <a:txBody>
                    <a:bodyPr/>
                    <a:lstStyle/>
                    <a:p>
                      <a:endParaRPr lang="en-US"/>
                    </a:p>
                  </a:txBody>
                  <a:tcPr/>
                </a:tc>
                <a:tc vMerge="1">
                  <a:txBody>
                    <a:bodyPr/>
                    <a:lstStyle/>
                    <a:p>
                      <a:endParaRPr lang="en-US"/>
                    </a:p>
                  </a:txBody>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endParaRPr kumimoji="0" lang="en-US" sz="1400" b="1" i="0" u="none" strike="noStrike" cap="none" normalizeH="0" baseline="0" dirty="0">
                        <a:ln>
                          <a:noFill/>
                        </a:ln>
                        <a:solidFill>
                          <a:schemeClr val="tx1"/>
                        </a:solidFill>
                        <a:effectLst/>
                        <a:latin typeface="Arial" charset="0"/>
                        <a:ea typeface="ＭＳ Ｐゴシック" pitchFamily="34" charset="-128"/>
                      </a:endParaRPr>
                    </a:p>
                  </a:txBody>
                  <a:tcPr marT="45709" marB="45709" anchor="ctr" horzOverflow="overflow">
                    <a:lnL>
                      <a:noFill/>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vMerge="1">
                  <a:txBody>
                    <a:bodyPr/>
                    <a:lstStyle/>
                    <a:p>
                      <a:endParaRPr lang="en-US"/>
                    </a:p>
                  </a:txBody>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endParaRPr kumimoji="0" lang="en-US" sz="1400" b="1" i="0" u="none" strike="noStrike" cap="none" normalizeH="0" baseline="0" dirty="0">
                        <a:ln>
                          <a:noFill/>
                        </a:ln>
                        <a:solidFill>
                          <a:schemeClr val="tx1"/>
                        </a:solidFill>
                        <a:effectLst/>
                        <a:latin typeface="Arial" charset="0"/>
                        <a:ea typeface="ＭＳ Ｐゴシック" pitchFamily="34" charset="-128"/>
                      </a:endParaRPr>
                    </a:p>
                  </a:txBody>
                  <a:tcPr marT="45709" marB="45709" anchor="ctr" horzOverflow="overflow">
                    <a:lnL>
                      <a:noFill/>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vMerge="1">
                  <a:txBody>
                    <a:bodyPr/>
                    <a:lstStyle/>
                    <a:p>
                      <a:endParaRPr lang="en-US"/>
                    </a:p>
                  </a:txBody>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endParaRPr kumimoji="0" lang="en-US" sz="1400" b="1" i="0" u="none" strike="noStrike" cap="none" normalizeH="0" baseline="0" dirty="0">
                        <a:ln>
                          <a:noFill/>
                        </a:ln>
                        <a:solidFill>
                          <a:schemeClr val="tx1"/>
                        </a:solidFill>
                        <a:effectLst/>
                        <a:latin typeface="Arial" charset="0"/>
                        <a:ea typeface="ＭＳ Ｐゴシック" pitchFamily="34" charset="-128"/>
                      </a:endParaRPr>
                    </a:p>
                  </a:txBody>
                  <a:tcPr marT="45709" marB="45709" anchor="ctr" horzOverflow="overflow">
                    <a:lnL>
                      <a:noFill/>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xmlns="" val="10002"/>
                  </a:ext>
                </a:extLst>
              </a:tr>
              <a:tr h="312663">
                <a:tc rowSpan="2">
                  <a:txBody>
                    <a:bodyPr/>
                    <a:lstStyle/>
                    <a:p>
                      <a:pPr marL="0" marR="0" lvl="0" indent="0" algn="l"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bg1"/>
                          </a:solidFill>
                          <a:effectLst/>
                          <a:latin typeface="Arial" charset="0"/>
                          <a:ea typeface="ＭＳ Ｐゴシック" pitchFamily="34" charset="-128"/>
                        </a:rPr>
                        <a:t>Lahore</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rgbClr val="63BDE0"/>
                    </a:solidFill>
                  </a:tcPr>
                </a:tc>
                <a:tc rowSpan="2">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tx1"/>
                          </a:solidFill>
                          <a:effectLst/>
                          <a:latin typeface="Arial" charset="0"/>
                          <a:ea typeface="ＭＳ Ｐゴシック" pitchFamily="34" charset="-128"/>
                        </a:rPr>
                        <a:t>18</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endParaRPr kumimoji="0" lang="en-US" sz="1400" b="1" i="0" u="none" strike="noStrike" cap="none" normalizeH="0" baseline="0" dirty="0">
                        <a:ln>
                          <a:noFill/>
                        </a:ln>
                        <a:solidFill>
                          <a:schemeClr val="tx1"/>
                        </a:solidFill>
                        <a:effectLst/>
                        <a:latin typeface="Arial" charset="0"/>
                        <a:ea typeface="ＭＳ Ｐゴシック" pitchFamily="34" charset="-128"/>
                      </a:endParaRP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tx1"/>
                          </a:solidFill>
                          <a:effectLst/>
                          <a:latin typeface="Arial" charset="0"/>
                          <a:ea typeface="ＭＳ Ｐゴシック" pitchFamily="34" charset="-128"/>
                        </a:rPr>
                        <a:t>18</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endParaRPr kumimoji="0" lang="en-US" sz="1400" b="1" i="0" u="none" strike="noStrike" cap="none" normalizeH="0" baseline="0" dirty="0">
                        <a:ln>
                          <a:noFill/>
                        </a:ln>
                        <a:solidFill>
                          <a:schemeClr val="tx1"/>
                        </a:solidFill>
                        <a:effectLst/>
                        <a:latin typeface="Arial" charset="0"/>
                        <a:ea typeface="ＭＳ Ｐゴシック" pitchFamily="34" charset="-128"/>
                      </a:endParaRP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tx1"/>
                          </a:solidFill>
                          <a:effectLst/>
                          <a:latin typeface="Arial" charset="0"/>
                          <a:ea typeface="ＭＳ Ｐゴシック" pitchFamily="34" charset="-128"/>
                        </a:rPr>
                        <a:t>12</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tx1"/>
                          </a:solidFill>
                          <a:effectLst/>
                          <a:latin typeface="Arial" charset="0"/>
                          <a:ea typeface="ＭＳ Ｐゴシック" pitchFamily="34" charset="-128"/>
                        </a:rPr>
                        <a:t>5</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tx1"/>
                          </a:solidFill>
                          <a:effectLst/>
                          <a:latin typeface="Arial" charset="0"/>
                          <a:ea typeface="ＭＳ Ｐゴシック" pitchFamily="34" charset="-128"/>
                        </a:rPr>
                        <a:t>2</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tx1"/>
                          </a:solidFill>
                          <a:effectLst/>
                          <a:latin typeface="Arial" charset="0"/>
                          <a:ea typeface="ＭＳ Ｐゴシック" pitchFamily="34" charset="-128"/>
                        </a:rPr>
                        <a:t>(6)</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5"/>
                  </a:ext>
                </a:extLst>
              </a:tr>
              <a:tr h="312663">
                <a:tc vMerge="1">
                  <a:txBody>
                    <a:bodyPr/>
                    <a:lstStyle/>
                    <a:p>
                      <a:endParaRPr lang="en-US"/>
                    </a:p>
                  </a:txBody>
                  <a:tcPr/>
                </a:tc>
                <a:tc vMerge="1">
                  <a:txBody>
                    <a:bodyPr/>
                    <a:lstStyle/>
                    <a:p>
                      <a:endParaRPr lang="en-US"/>
                    </a:p>
                  </a:txBody>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endParaRPr kumimoji="0" lang="en-US" sz="1400" b="1" i="0" u="none" strike="noStrike" cap="none" normalizeH="0" baseline="0" dirty="0">
                        <a:ln>
                          <a:noFill/>
                        </a:ln>
                        <a:solidFill>
                          <a:schemeClr val="tx1"/>
                        </a:solidFill>
                        <a:effectLst/>
                        <a:latin typeface="Arial" charset="0"/>
                        <a:ea typeface="ＭＳ Ｐゴシック" pitchFamily="34" charset="-128"/>
                      </a:endParaRPr>
                    </a:p>
                  </a:txBody>
                  <a:tcPr marT="45709" marB="45709" anchor="ctr" horzOverflow="overflow">
                    <a:lnL>
                      <a:noFill/>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vMerge="1">
                  <a:txBody>
                    <a:bodyPr/>
                    <a:lstStyle/>
                    <a:p>
                      <a:endParaRPr lang="en-US"/>
                    </a:p>
                  </a:txBody>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endParaRPr kumimoji="0" lang="en-US" sz="1400" b="1" i="0" u="none" strike="noStrike" cap="none" normalizeH="0" baseline="0" dirty="0">
                        <a:ln>
                          <a:noFill/>
                        </a:ln>
                        <a:solidFill>
                          <a:schemeClr val="tx1"/>
                        </a:solidFill>
                        <a:effectLst/>
                        <a:latin typeface="Arial" charset="0"/>
                        <a:ea typeface="ＭＳ Ｐゴシック" pitchFamily="34" charset="-128"/>
                      </a:endParaRPr>
                    </a:p>
                  </a:txBody>
                  <a:tcPr marT="45709" marB="45709" anchor="ctr" horzOverflow="overflow">
                    <a:lnL>
                      <a:noFill/>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vMerge="1">
                  <a:txBody>
                    <a:bodyPr/>
                    <a:lstStyle/>
                    <a:p>
                      <a:endParaRPr lang="en-US"/>
                    </a:p>
                  </a:txBody>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endParaRPr kumimoji="0" lang="en-US" sz="1400" b="1" i="0" u="none" strike="noStrike" cap="none" normalizeH="0" baseline="0" dirty="0">
                        <a:ln>
                          <a:noFill/>
                        </a:ln>
                        <a:solidFill>
                          <a:schemeClr val="tx1"/>
                        </a:solidFill>
                        <a:effectLst/>
                        <a:latin typeface="Arial" charset="0"/>
                        <a:ea typeface="ＭＳ Ｐゴシック" pitchFamily="34" charset="-128"/>
                      </a:endParaRPr>
                    </a:p>
                  </a:txBody>
                  <a:tcPr marT="45709" marB="45709" anchor="ctr" horzOverflow="overflow">
                    <a:lnL>
                      <a:noFill/>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xmlns="" val="10006"/>
                  </a:ext>
                </a:extLst>
              </a:tr>
              <a:tr h="625324">
                <a:tc>
                  <a:txBody>
                    <a:bodyPr/>
                    <a:lstStyle/>
                    <a:p>
                      <a:pPr marL="0" marR="0" lvl="0" indent="0" algn="l"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bg1"/>
                          </a:solidFill>
                          <a:effectLst/>
                          <a:latin typeface="Arial" charset="0"/>
                          <a:ea typeface="ＭＳ Ｐゴシック" pitchFamily="34" charset="-128"/>
                        </a:rPr>
                        <a:t>Requirement/</a:t>
                      </a:r>
                    </a:p>
                    <a:p>
                      <a:pPr marL="0" marR="0" lvl="0" indent="0" algn="l"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bg1"/>
                          </a:solidFill>
                          <a:effectLst/>
                          <a:latin typeface="Arial" charset="0"/>
                          <a:ea typeface="ＭＳ Ｐゴシック" pitchFamily="34" charset="-128"/>
                        </a:rPr>
                        <a:t>Demand</a:t>
                      </a:r>
                    </a:p>
                    <a:p>
                      <a:pPr marL="0" marR="0" lvl="0" indent="0" algn="l"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endParaRPr kumimoji="0" lang="en-US" sz="1400" b="1" i="0" u="none" strike="noStrike" cap="none" normalizeH="0" baseline="0" dirty="0">
                        <a:ln>
                          <a:noFill/>
                        </a:ln>
                        <a:solidFill>
                          <a:schemeClr val="bg1"/>
                        </a:solidFill>
                        <a:effectLst/>
                        <a:latin typeface="Arial" charset="0"/>
                        <a:ea typeface="ＭＳ Ｐゴシック" pitchFamily="34" charset="-128"/>
                      </a:endParaRP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rgbClr val="63BDE0"/>
                    </a:solidFill>
                  </a:tcPr>
                </a:tc>
                <a:tc gridSpan="2">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tx1"/>
                          </a:solidFill>
                          <a:effectLst/>
                          <a:latin typeface="Arial" charset="0"/>
                          <a:ea typeface="ＭＳ Ｐゴシック" pitchFamily="34" charset="-128"/>
                        </a:rPr>
                        <a:t>1</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tc gridSpan="2">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tx1"/>
                          </a:solidFill>
                          <a:effectLst/>
                          <a:latin typeface="Arial" charset="0"/>
                          <a:ea typeface="ＭＳ Ｐゴシック" pitchFamily="34" charset="-128"/>
                        </a:rPr>
                        <a:t>3</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tc gridSpan="2">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tx1"/>
                          </a:solidFill>
                          <a:effectLst/>
                          <a:latin typeface="Arial" charset="0"/>
                          <a:ea typeface="ＭＳ Ｐゴシック" pitchFamily="34" charset="-128"/>
                        </a:rPr>
                        <a:t>0</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endParaRPr kumimoji="0" lang="en-US" sz="1400" b="1" i="0" u="none" strike="noStrike" cap="none" normalizeH="0" baseline="0" dirty="0">
                        <a:ln>
                          <a:noFill/>
                        </a:ln>
                        <a:solidFill>
                          <a:schemeClr val="tx1"/>
                        </a:solidFill>
                        <a:effectLst/>
                        <a:latin typeface="Arial" charset="0"/>
                        <a:ea typeface="ＭＳ Ｐゴシック" pitchFamily="34" charset="-128"/>
                      </a:endParaRP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endParaRPr kumimoji="0" lang="en-US" sz="1400" b="1" i="0" u="none" strike="noStrike" cap="none" normalizeH="0" baseline="0" dirty="0">
                        <a:ln>
                          <a:noFill/>
                        </a:ln>
                        <a:solidFill>
                          <a:schemeClr val="tx1"/>
                        </a:solidFill>
                        <a:effectLst/>
                        <a:latin typeface="Arial" charset="0"/>
                        <a:ea typeface="ＭＳ Ｐゴシック" pitchFamily="34" charset="-128"/>
                      </a:endParaRP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7"/>
                  </a:ext>
                </a:extLst>
              </a:tr>
              <a:tr h="625324">
                <a:tc>
                  <a:txBody>
                    <a:bodyPr/>
                    <a:lstStyle/>
                    <a:p>
                      <a:pPr marL="0" marR="0" lvl="0" indent="0" algn="l"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bg1"/>
                          </a:solidFill>
                          <a:effectLst/>
                          <a:latin typeface="Arial" charset="0"/>
                          <a:ea typeface="ＭＳ Ｐゴシック" pitchFamily="34" charset="-128"/>
                        </a:rPr>
                        <a:t>Penalty</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rgbClr val="63BDE0"/>
                    </a:solidFill>
                  </a:tcPr>
                </a:tc>
                <a:tc gridSpan="2">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tx1"/>
                          </a:solidFill>
                          <a:effectLst/>
                          <a:latin typeface="Arial" charset="0"/>
                          <a:ea typeface="ＭＳ Ｐゴシック" pitchFamily="34" charset="-128"/>
                        </a:rPr>
                        <a:t>(5)</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tc gridSpan="2">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tx1"/>
                          </a:solidFill>
                          <a:effectLst/>
                          <a:latin typeface="Arial" charset="0"/>
                          <a:ea typeface="ＭＳ Ｐゴシック" pitchFamily="34" charset="-128"/>
                        </a:rPr>
                        <a:t>(7)</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tc gridSpan="2">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rgbClr val="FF0000"/>
                          </a:solidFill>
                          <a:effectLst/>
                          <a:latin typeface="Arial" charset="0"/>
                          <a:ea typeface="ＭＳ Ｐゴシック" pitchFamily="34" charset="-128"/>
                        </a:rPr>
                        <a:t>(28)</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endParaRPr kumimoji="0" lang="en-US" sz="1400" b="1" i="0" u="none" strike="noStrike" cap="none" normalizeH="0" baseline="0" dirty="0">
                        <a:ln>
                          <a:noFill/>
                        </a:ln>
                        <a:solidFill>
                          <a:schemeClr val="tx1"/>
                        </a:solidFill>
                        <a:effectLst/>
                        <a:latin typeface="Arial" charset="0"/>
                        <a:ea typeface="ＭＳ Ｐゴシック" pitchFamily="34" charset="-128"/>
                      </a:endParaRP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endParaRPr kumimoji="0" lang="en-US" sz="1400" b="1" i="0" u="none" strike="noStrike" cap="none" normalizeH="0" baseline="0" dirty="0">
                        <a:ln>
                          <a:noFill/>
                        </a:ln>
                        <a:solidFill>
                          <a:schemeClr val="tx1"/>
                        </a:solidFill>
                        <a:effectLst/>
                        <a:latin typeface="Arial" charset="0"/>
                        <a:ea typeface="ＭＳ Ｐゴシック" pitchFamily="34" charset="-128"/>
                      </a:endParaRP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240329034"/>
                  </a:ext>
                </a:extLst>
              </a:tr>
            </a:tbl>
          </a:graphicData>
        </a:graphic>
      </p:graphicFrame>
    </p:spTree>
    <p:extLst>
      <p:ext uri="{BB962C8B-B14F-4D97-AF65-F5344CB8AC3E}">
        <p14:creationId xmlns:p14="http://schemas.microsoft.com/office/powerpoint/2010/main" val="13493263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6" fill="hold" nodeType="afterEffect">
                                  <p:stCondLst>
                                    <p:cond delay="1000"/>
                                  </p:stCondLst>
                                  <p:childTnLst>
                                    <p:set>
                                      <p:cBhvr>
                                        <p:cTn id="6" dur="1" fill="hold">
                                          <p:stCondLst>
                                            <p:cond delay="0"/>
                                          </p:stCondLst>
                                        </p:cTn>
                                        <p:tgtEl>
                                          <p:spTgt spid="5"/>
                                        </p:tgtEl>
                                        <p:attrNameLst>
                                          <p:attrName>style.visibility</p:attrName>
                                        </p:attrNameLst>
                                      </p:cBhvr>
                                      <p:to>
                                        <p:strVal val="visible"/>
                                      </p:to>
                                    </p:set>
                                    <p:animEffect transition="in" filter="strips(downRight)">
                                      <p:cBhvr>
                                        <p:cTn id="7"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solidFill>
                  <a:srgbClr val="C00000"/>
                </a:solidFill>
                <a:latin typeface="Arial" panose="020B0604020202020204" pitchFamily="34" charset="0"/>
                <a:cs typeface="Arial" panose="020B0604020202020204" pitchFamily="34" charset="0"/>
              </a:rPr>
              <a:t>Vogel’s approximation</a:t>
            </a:r>
          </a:p>
        </p:txBody>
      </p:sp>
      <p:sp>
        <p:nvSpPr>
          <p:cNvPr id="6" name="Content Placeholder 5">
            <a:extLst>
              <a:ext uri="{FF2B5EF4-FFF2-40B4-BE49-F238E27FC236}">
                <a16:creationId xmlns:a16="http://schemas.microsoft.com/office/drawing/2014/main" xmlns="" id="{12C3F38F-06D5-4ADF-BB89-374D8DB47BD2}"/>
              </a:ext>
            </a:extLst>
          </p:cNvPr>
          <p:cNvSpPr>
            <a:spLocks noGrp="1"/>
          </p:cNvSpPr>
          <p:nvPr>
            <p:ph idx="1"/>
          </p:nvPr>
        </p:nvSpPr>
        <p:spPr>
          <a:xfrm>
            <a:off x="856060" y="2249486"/>
            <a:ext cx="7429499" cy="4608513"/>
          </a:xfrm>
        </p:spPr>
        <p:txBody>
          <a:bodyPr>
            <a:normAutofit/>
          </a:bodyPr>
          <a:lstStyle/>
          <a:p>
            <a:pPr marL="0" indent="0">
              <a:buNone/>
            </a:pPr>
            <a:endParaRPr lang="en-US" dirty="0">
              <a:latin typeface="Arial" panose="020B0604020202020204" pitchFamily="34" charset="0"/>
              <a:cs typeface="Arial" panose="020B0604020202020204" pitchFamily="34" charset="0"/>
            </a:endParaRPr>
          </a:p>
          <a:p>
            <a:pPr marL="0" indent="0">
              <a:buNone/>
            </a:pPr>
            <a:endParaRPr lang="en-US" dirty="0">
              <a:latin typeface="Arial" panose="020B0604020202020204" pitchFamily="34" charset="0"/>
              <a:cs typeface="Arial" panose="020B0604020202020204" pitchFamily="34" charset="0"/>
            </a:endParaRPr>
          </a:p>
          <a:p>
            <a:pPr marL="0" indent="0">
              <a:buNone/>
            </a:pPr>
            <a:endParaRPr lang="en-US" dirty="0">
              <a:latin typeface="Arial" panose="020B0604020202020204" pitchFamily="34" charset="0"/>
              <a:cs typeface="Arial" panose="020B0604020202020204" pitchFamily="34" charset="0"/>
            </a:endParaRPr>
          </a:p>
        </p:txBody>
      </p:sp>
      <p:graphicFrame>
        <p:nvGraphicFramePr>
          <p:cNvPr id="5" name="Group 123">
            <a:extLst>
              <a:ext uri="{FF2B5EF4-FFF2-40B4-BE49-F238E27FC236}">
                <a16:creationId xmlns:a16="http://schemas.microsoft.com/office/drawing/2014/main" xmlns="" id="{A5DA3B2A-2E25-4DFF-9E0E-EBF2CA28C54C}"/>
              </a:ext>
            </a:extLst>
          </p:cNvPr>
          <p:cNvGraphicFramePr>
            <a:graphicFrameLocks noGrp="1"/>
          </p:cNvGraphicFramePr>
          <p:nvPr>
            <p:extLst>
              <p:ext uri="{D42A27DB-BD31-4B8C-83A1-F6EECF244321}">
                <p14:modId xmlns:p14="http://schemas.microsoft.com/office/powerpoint/2010/main" val="1870778658"/>
              </p:ext>
            </p:extLst>
          </p:nvPr>
        </p:nvGraphicFramePr>
        <p:xfrm>
          <a:off x="856060" y="2249486"/>
          <a:ext cx="6628678" cy="3296300"/>
        </p:xfrm>
        <a:graphic>
          <a:graphicData uri="http://schemas.openxmlformats.org/drawingml/2006/table">
            <a:tbl>
              <a:tblPr/>
              <a:tblGrid>
                <a:gridCol w="1660749">
                  <a:extLst>
                    <a:ext uri="{9D8B030D-6E8A-4147-A177-3AD203B41FA5}">
                      <a16:colId xmlns:a16="http://schemas.microsoft.com/office/drawing/2014/main" xmlns="" val="20000"/>
                    </a:ext>
                  </a:extLst>
                </a:gridCol>
                <a:gridCol w="975020">
                  <a:extLst>
                    <a:ext uri="{9D8B030D-6E8A-4147-A177-3AD203B41FA5}">
                      <a16:colId xmlns:a16="http://schemas.microsoft.com/office/drawing/2014/main" xmlns="" val="20001"/>
                    </a:ext>
                  </a:extLst>
                </a:gridCol>
                <a:gridCol w="364291">
                  <a:extLst>
                    <a:ext uri="{9D8B030D-6E8A-4147-A177-3AD203B41FA5}">
                      <a16:colId xmlns:a16="http://schemas.microsoft.com/office/drawing/2014/main" xmlns="" val="20002"/>
                    </a:ext>
                  </a:extLst>
                </a:gridCol>
                <a:gridCol w="546440">
                  <a:extLst>
                    <a:ext uri="{9D8B030D-6E8A-4147-A177-3AD203B41FA5}">
                      <a16:colId xmlns:a16="http://schemas.microsoft.com/office/drawing/2014/main" xmlns="" val="20003"/>
                    </a:ext>
                  </a:extLst>
                </a:gridCol>
                <a:gridCol w="342863">
                  <a:extLst>
                    <a:ext uri="{9D8B030D-6E8A-4147-A177-3AD203B41FA5}">
                      <a16:colId xmlns:a16="http://schemas.microsoft.com/office/drawing/2014/main" xmlns="" val="20004"/>
                    </a:ext>
                  </a:extLst>
                </a:gridCol>
                <a:gridCol w="1049390">
                  <a:extLst>
                    <a:ext uri="{9D8B030D-6E8A-4147-A177-3AD203B41FA5}">
                      <a16:colId xmlns:a16="http://schemas.microsoft.com/office/drawing/2014/main" xmlns="" val="20007"/>
                    </a:ext>
                  </a:extLst>
                </a:gridCol>
                <a:gridCol w="1689925">
                  <a:extLst>
                    <a:ext uri="{9D8B030D-6E8A-4147-A177-3AD203B41FA5}">
                      <a16:colId xmlns:a16="http://schemas.microsoft.com/office/drawing/2014/main" xmlns="" val="323396379"/>
                    </a:ext>
                  </a:extLst>
                </a:gridCol>
              </a:tblGrid>
              <a:tr h="555364">
                <a:tc>
                  <a:txBody>
                    <a:bodyPr/>
                    <a:lstStyle/>
                    <a:p>
                      <a:pPr marL="0" marR="0" lvl="0" indent="0" algn="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bg1"/>
                          </a:solidFill>
                          <a:effectLst/>
                          <a:latin typeface="Arial" charset="0"/>
                          <a:ea typeface="ＭＳ Ｐゴシック" pitchFamily="34" charset="-128"/>
                        </a:rPr>
                        <a:t>TO</a:t>
                      </a:r>
                    </a:p>
                    <a:p>
                      <a:pPr marL="0" marR="0" lvl="0" indent="0" algn="l"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bg1"/>
                          </a:solidFill>
                          <a:effectLst/>
                          <a:latin typeface="Arial" charset="0"/>
                          <a:ea typeface="ＭＳ Ｐゴシック" pitchFamily="34" charset="-128"/>
                        </a:rPr>
                        <a:t>FROM</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9050" cap="flat" cmpd="sng" algn="ctr">
                      <a:solidFill>
                        <a:schemeClr val="tx1"/>
                      </a:solidFill>
                      <a:prstDash val="solid"/>
                      <a:round/>
                      <a:headEnd type="none" w="med" len="med"/>
                      <a:tailEnd type="none" w="med" len="med"/>
                    </a:lnTlToBr>
                    <a:lnBlToTr>
                      <a:noFill/>
                    </a:lnBlToTr>
                    <a:solidFill>
                      <a:srgbClr val="63BDE0"/>
                    </a:solidFill>
                  </a:tcPr>
                </a:tc>
                <a:tc gridSpan="2">
                  <a:txBody>
                    <a:bodyPr/>
                    <a:lstStyle/>
                    <a:p>
                      <a:pPr marL="0" marR="0" lvl="0" indent="0" algn="l"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bg1"/>
                          </a:solidFill>
                          <a:effectLst/>
                          <a:latin typeface="Arial" charset="0"/>
                          <a:ea typeface="ＭＳ Ｐゴシック" pitchFamily="34" charset="-128"/>
                        </a:rPr>
                        <a:t>Peshawar </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rgbClr val="63BDE0"/>
                    </a:solidFill>
                  </a:tcPr>
                </a:tc>
                <a:tc hMerge="1">
                  <a:txBody>
                    <a:bodyPr/>
                    <a:lstStyle/>
                    <a:p>
                      <a:endParaRPr lang="en-US"/>
                    </a:p>
                  </a:txBody>
                  <a:tcPr/>
                </a:tc>
                <a:tc gridSpan="2">
                  <a:txBody>
                    <a:bodyPr/>
                    <a:lstStyle/>
                    <a:p>
                      <a:pPr marL="0" marR="0" lvl="0" indent="0" algn="l"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bg1"/>
                          </a:solidFill>
                          <a:effectLst/>
                          <a:latin typeface="Arial" charset="0"/>
                          <a:ea typeface="ＭＳ Ｐゴシック" pitchFamily="34" charset="-128"/>
                        </a:rPr>
                        <a:t>Sialkot</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rgbClr val="63BDE0"/>
                    </a:solidFill>
                  </a:tcPr>
                </a:tc>
                <a:tc hMerge="1">
                  <a:txBody>
                    <a:bodyPr/>
                    <a:lstStyle/>
                    <a:p>
                      <a:endParaRPr lang="en-US"/>
                    </a:p>
                  </a:txBody>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bg1"/>
                          </a:solidFill>
                          <a:effectLst/>
                          <a:latin typeface="Arial" charset="0"/>
                          <a:ea typeface="ＭＳ Ｐゴシック" pitchFamily="34" charset="-128"/>
                        </a:rPr>
                        <a:t>FACTORY CAPACITY/Supply</a:t>
                      </a:r>
                    </a:p>
                  </a:txBody>
                  <a:tcPr marT="45709" marB="45709" anchor="b"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rgbClr val="63BDE0"/>
                    </a:solidFill>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2400" b="1" i="0" u="none" strike="noStrike" cap="none" normalizeH="0" baseline="0" dirty="0">
                          <a:ln>
                            <a:noFill/>
                          </a:ln>
                          <a:solidFill>
                            <a:srgbClr val="FFC000"/>
                          </a:solidFill>
                          <a:effectLst/>
                          <a:latin typeface="Arial" charset="0"/>
                          <a:ea typeface="ＭＳ Ｐゴシック" pitchFamily="34" charset="-128"/>
                        </a:rPr>
                        <a:t>Penalty</a:t>
                      </a:r>
                    </a:p>
                  </a:txBody>
                  <a:tcPr marT="45709" marB="45709" anchor="b"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rgbClr val="63BDE0"/>
                    </a:solidFill>
                  </a:tcPr>
                </a:tc>
                <a:extLst>
                  <a:ext uri="{0D108BD9-81ED-4DB2-BD59-A6C34878D82A}">
                    <a16:rowId xmlns:a16="http://schemas.microsoft.com/office/drawing/2014/main" xmlns="" val="10000"/>
                  </a:ext>
                </a:extLst>
              </a:tr>
              <a:tr h="312663">
                <a:tc rowSpan="2">
                  <a:txBody>
                    <a:bodyPr/>
                    <a:lstStyle/>
                    <a:p>
                      <a:pPr marL="0" marR="0" lvl="0" indent="0" algn="l"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bg1"/>
                          </a:solidFill>
                          <a:effectLst/>
                          <a:latin typeface="Arial" charset="0"/>
                          <a:ea typeface="ＭＳ Ｐゴシック" pitchFamily="34" charset="-128"/>
                        </a:rPr>
                        <a:t> </a:t>
                      </a:r>
                      <a:br>
                        <a:rPr kumimoji="0" lang="en-US" sz="1400" b="1" i="0" u="none" strike="noStrike" cap="none" normalizeH="0" baseline="0" dirty="0">
                          <a:ln>
                            <a:noFill/>
                          </a:ln>
                          <a:solidFill>
                            <a:schemeClr val="bg1"/>
                          </a:solidFill>
                          <a:effectLst/>
                          <a:latin typeface="Arial" charset="0"/>
                          <a:ea typeface="ＭＳ Ｐゴシック" pitchFamily="34" charset="-128"/>
                        </a:rPr>
                      </a:br>
                      <a:r>
                        <a:rPr kumimoji="0" lang="en-US" sz="1400" b="1" i="0" u="none" strike="noStrike" cap="none" normalizeH="0" baseline="0" dirty="0">
                          <a:ln>
                            <a:noFill/>
                          </a:ln>
                          <a:solidFill>
                            <a:schemeClr val="bg1"/>
                          </a:solidFill>
                          <a:effectLst/>
                          <a:latin typeface="Arial" charset="0"/>
                          <a:ea typeface="ＭＳ Ｐゴシック" pitchFamily="34" charset="-128"/>
                        </a:rPr>
                        <a:t>Karachi</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rgbClr val="63BDE0"/>
                    </a:solidFill>
                  </a:tcPr>
                </a:tc>
                <a:tc rowSpan="2">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tx1"/>
                          </a:solidFill>
                          <a:effectLst>
                            <a:outerShdw blurRad="38100" dist="38100" dir="2700000" algn="tl">
                              <a:srgbClr val="C0C0C0"/>
                            </a:outerShdw>
                          </a:effectLst>
                          <a:latin typeface="Arial" charset="0"/>
                          <a:ea typeface="ＭＳ Ｐゴシック" pitchFamily="34" charset="-128"/>
                        </a:rPr>
                        <a:t>13</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endParaRPr kumimoji="0" lang="en-US" sz="1400" b="1" i="0" u="none" strike="noStrike" cap="none" normalizeH="0" baseline="0" dirty="0">
                        <a:ln>
                          <a:noFill/>
                        </a:ln>
                        <a:solidFill>
                          <a:schemeClr val="tx1"/>
                        </a:solidFill>
                        <a:effectLst/>
                        <a:latin typeface="Arial" charset="0"/>
                        <a:ea typeface="ＭＳ Ｐゴシック" pitchFamily="34" charset="-128"/>
                      </a:endParaRP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rgbClr val="FF0000"/>
                          </a:solidFill>
                          <a:effectLst/>
                          <a:latin typeface="Arial" charset="0"/>
                          <a:ea typeface="ＭＳ Ｐゴシック" pitchFamily="34" charset="-128"/>
                        </a:rPr>
                        <a:t>11</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endParaRPr kumimoji="0" lang="en-US" sz="1400" b="1" i="0" u="none" strike="noStrike" cap="none" normalizeH="0" baseline="0" dirty="0">
                        <a:ln>
                          <a:noFill/>
                        </a:ln>
                        <a:solidFill>
                          <a:schemeClr val="tx1"/>
                        </a:solidFill>
                        <a:effectLst/>
                        <a:latin typeface="Arial" charset="0"/>
                        <a:ea typeface="ＭＳ Ｐゴシック" pitchFamily="34" charset="-128"/>
                      </a:endParaRP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3200" b="1" i="0" u="none" strike="noStrike" cap="none" normalizeH="0" baseline="0" dirty="0">
                          <a:ln>
                            <a:noFill/>
                          </a:ln>
                          <a:solidFill>
                            <a:srgbClr val="92D050"/>
                          </a:solidFill>
                          <a:effectLst/>
                          <a:latin typeface="Arial" charset="0"/>
                          <a:ea typeface="ＭＳ Ｐゴシック" pitchFamily="34" charset="-128"/>
                        </a:rPr>
                        <a:t>2</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tx1"/>
                          </a:solidFill>
                          <a:effectLst/>
                          <a:latin typeface="Arial" charset="0"/>
                          <a:ea typeface="ＭＳ Ｐゴシック" pitchFamily="34" charset="-128"/>
                        </a:rPr>
                        <a:t>(2)</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1"/>
                  </a:ext>
                </a:extLst>
              </a:tr>
              <a:tr h="312663">
                <a:tc vMerge="1">
                  <a:txBody>
                    <a:bodyPr/>
                    <a:lstStyle/>
                    <a:p>
                      <a:endParaRPr lang="en-US"/>
                    </a:p>
                  </a:txBody>
                  <a:tcPr/>
                </a:tc>
                <a:tc vMerge="1">
                  <a:txBody>
                    <a:bodyPr/>
                    <a:lstStyle/>
                    <a:p>
                      <a:endParaRPr lang="en-US"/>
                    </a:p>
                  </a:txBody>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endParaRPr kumimoji="0" lang="en-US" sz="1400" b="1" i="0" u="none" strike="noStrike" cap="none" normalizeH="0" baseline="0" dirty="0">
                        <a:ln>
                          <a:noFill/>
                        </a:ln>
                        <a:solidFill>
                          <a:schemeClr val="tx1"/>
                        </a:solidFill>
                        <a:effectLst/>
                        <a:latin typeface="Arial" charset="0"/>
                        <a:ea typeface="ＭＳ Ｐゴシック" pitchFamily="34" charset="-128"/>
                      </a:endParaRPr>
                    </a:p>
                  </a:txBody>
                  <a:tcPr marT="45709" marB="45709" anchor="ctr" horzOverflow="overflow">
                    <a:lnL>
                      <a:noFill/>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vMerge="1">
                  <a:txBody>
                    <a:bodyPr/>
                    <a:lstStyle/>
                    <a:p>
                      <a:endParaRPr lang="en-US"/>
                    </a:p>
                  </a:txBody>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endParaRPr kumimoji="0" lang="en-US" sz="1400" b="1" i="0" u="none" strike="noStrike" cap="none" normalizeH="0" baseline="0" dirty="0">
                        <a:ln>
                          <a:noFill/>
                        </a:ln>
                        <a:solidFill>
                          <a:schemeClr val="tx1"/>
                        </a:solidFill>
                        <a:effectLst/>
                        <a:latin typeface="Arial" charset="0"/>
                        <a:ea typeface="ＭＳ Ｐゴシック" pitchFamily="34" charset="-128"/>
                      </a:endParaRPr>
                    </a:p>
                  </a:txBody>
                  <a:tcPr marT="45709" marB="45709" anchor="ctr" horzOverflow="overflow">
                    <a:lnL>
                      <a:noFill/>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xmlns="" val="10002"/>
                  </a:ext>
                </a:extLst>
              </a:tr>
              <a:tr h="312663">
                <a:tc rowSpan="2">
                  <a:txBody>
                    <a:bodyPr/>
                    <a:lstStyle/>
                    <a:p>
                      <a:pPr marL="0" marR="0" lvl="0" indent="0" algn="l"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bg1"/>
                          </a:solidFill>
                          <a:effectLst/>
                          <a:latin typeface="Arial" charset="0"/>
                          <a:ea typeface="ＭＳ Ｐゴシック" pitchFamily="34" charset="-128"/>
                        </a:rPr>
                        <a:t>Lahore</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rgbClr val="63BDE0"/>
                    </a:solidFill>
                  </a:tcPr>
                </a:tc>
                <a:tc rowSpan="2">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tx1"/>
                          </a:solidFill>
                          <a:effectLst/>
                          <a:latin typeface="Arial" charset="0"/>
                          <a:ea typeface="ＭＳ Ｐゴシック" pitchFamily="34" charset="-128"/>
                        </a:rPr>
                        <a:t>18</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endParaRPr kumimoji="0" lang="en-US" sz="1400" b="1" i="0" u="none" strike="noStrike" cap="none" normalizeH="0" baseline="0" dirty="0">
                        <a:ln>
                          <a:noFill/>
                        </a:ln>
                        <a:solidFill>
                          <a:schemeClr val="tx1"/>
                        </a:solidFill>
                        <a:effectLst/>
                        <a:latin typeface="Arial" charset="0"/>
                        <a:ea typeface="ＭＳ Ｐゴシック" pitchFamily="34" charset="-128"/>
                      </a:endParaRP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tx1"/>
                          </a:solidFill>
                          <a:effectLst/>
                          <a:latin typeface="Arial" charset="0"/>
                          <a:ea typeface="ＭＳ Ｐゴシック" pitchFamily="34" charset="-128"/>
                        </a:rPr>
                        <a:t>18</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endParaRPr kumimoji="0" lang="en-US" sz="1400" b="1" i="0" u="none" strike="noStrike" cap="none" normalizeH="0" baseline="0" dirty="0">
                        <a:ln>
                          <a:noFill/>
                        </a:ln>
                        <a:solidFill>
                          <a:schemeClr val="tx1"/>
                        </a:solidFill>
                        <a:effectLst/>
                        <a:latin typeface="Arial" charset="0"/>
                        <a:ea typeface="ＭＳ Ｐゴシック" pitchFamily="34" charset="-128"/>
                      </a:endParaRP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tx1"/>
                          </a:solidFill>
                          <a:effectLst/>
                          <a:latin typeface="Arial" charset="0"/>
                          <a:ea typeface="ＭＳ Ｐゴシック" pitchFamily="34" charset="-128"/>
                        </a:rPr>
                        <a:t>2</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tx1"/>
                          </a:solidFill>
                          <a:effectLst/>
                          <a:latin typeface="Arial" charset="0"/>
                          <a:ea typeface="ＭＳ Ｐゴシック" pitchFamily="34" charset="-128"/>
                        </a:rPr>
                        <a:t>(0)</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5"/>
                  </a:ext>
                </a:extLst>
              </a:tr>
              <a:tr h="312663">
                <a:tc vMerge="1">
                  <a:txBody>
                    <a:bodyPr/>
                    <a:lstStyle/>
                    <a:p>
                      <a:endParaRPr lang="en-US"/>
                    </a:p>
                  </a:txBody>
                  <a:tcPr/>
                </a:tc>
                <a:tc vMerge="1">
                  <a:txBody>
                    <a:bodyPr/>
                    <a:lstStyle/>
                    <a:p>
                      <a:endParaRPr lang="en-US"/>
                    </a:p>
                  </a:txBody>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endParaRPr kumimoji="0" lang="en-US" sz="1400" b="1" i="0" u="none" strike="noStrike" cap="none" normalizeH="0" baseline="0" dirty="0">
                        <a:ln>
                          <a:noFill/>
                        </a:ln>
                        <a:solidFill>
                          <a:schemeClr val="tx1"/>
                        </a:solidFill>
                        <a:effectLst/>
                        <a:latin typeface="Arial" charset="0"/>
                        <a:ea typeface="ＭＳ Ｐゴシック" pitchFamily="34" charset="-128"/>
                      </a:endParaRPr>
                    </a:p>
                  </a:txBody>
                  <a:tcPr marT="45709" marB="45709" anchor="ctr" horzOverflow="overflow">
                    <a:lnL>
                      <a:noFill/>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vMerge="1">
                  <a:txBody>
                    <a:bodyPr/>
                    <a:lstStyle/>
                    <a:p>
                      <a:endParaRPr lang="en-US"/>
                    </a:p>
                  </a:txBody>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endParaRPr kumimoji="0" lang="en-US" sz="1400" b="1" i="0" u="none" strike="noStrike" cap="none" normalizeH="0" baseline="0" dirty="0">
                        <a:ln>
                          <a:noFill/>
                        </a:ln>
                        <a:solidFill>
                          <a:schemeClr val="tx1"/>
                        </a:solidFill>
                        <a:effectLst/>
                        <a:latin typeface="Arial" charset="0"/>
                        <a:ea typeface="ＭＳ Ｐゴシック" pitchFamily="34" charset="-128"/>
                      </a:endParaRPr>
                    </a:p>
                  </a:txBody>
                  <a:tcPr marT="45709" marB="45709" anchor="ctr" horzOverflow="overflow">
                    <a:lnL>
                      <a:noFill/>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xmlns="" val="10006"/>
                  </a:ext>
                </a:extLst>
              </a:tr>
              <a:tr h="625324">
                <a:tc>
                  <a:txBody>
                    <a:bodyPr/>
                    <a:lstStyle/>
                    <a:p>
                      <a:pPr marL="0" marR="0" lvl="0" indent="0" algn="l"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bg1"/>
                          </a:solidFill>
                          <a:effectLst/>
                          <a:latin typeface="Arial" charset="0"/>
                          <a:ea typeface="ＭＳ Ｐゴシック" pitchFamily="34" charset="-128"/>
                        </a:rPr>
                        <a:t>Requirement/</a:t>
                      </a:r>
                    </a:p>
                    <a:p>
                      <a:pPr marL="0" marR="0" lvl="0" indent="0" algn="l"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bg1"/>
                          </a:solidFill>
                          <a:effectLst/>
                          <a:latin typeface="Arial" charset="0"/>
                          <a:ea typeface="ＭＳ Ｐゴシック" pitchFamily="34" charset="-128"/>
                        </a:rPr>
                        <a:t>Demand</a:t>
                      </a:r>
                    </a:p>
                    <a:p>
                      <a:pPr marL="0" marR="0" lvl="0" indent="0" algn="l"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endParaRPr kumimoji="0" lang="en-US" sz="1400" b="1" i="0" u="none" strike="noStrike" cap="none" normalizeH="0" baseline="0" dirty="0">
                        <a:ln>
                          <a:noFill/>
                        </a:ln>
                        <a:solidFill>
                          <a:schemeClr val="bg1"/>
                        </a:solidFill>
                        <a:effectLst/>
                        <a:latin typeface="Arial" charset="0"/>
                        <a:ea typeface="ＭＳ Ｐゴシック" pitchFamily="34" charset="-128"/>
                      </a:endParaRP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rgbClr val="63BDE0"/>
                    </a:solidFill>
                  </a:tcPr>
                </a:tc>
                <a:tc gridSpan="2">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tx1"/>
                          </a:solidFill>
                          <a:effectLst/>
                          <a:latin typeface="Arial" charset="0"/>
                          <a:ea typeface="ＭＳ Ｐゴシック" pitchFamily="34" charset="-128"/>
                        </a:rPr>
                        <a:t>1</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tc gridSpan="2">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rgbClr val="92D050"/>
                          </a:solidFill>
                          <a:effectLst/>
                          <a:latin typeface="Arial" charset="0"/>
                          <a:ea typeface="ＭＳ Ｐゴシック" pitchFamily="34" charset="-128"/>
                        </a:rPr>
                        <a:t>3</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endParaRPr kumimoji="0" lang="en-US" sz="1400" b="1" i="0" u="none" strike="noStrike" cap="none" normalizeH="0" baseline="0" dirty="0">
                        <a:ln>
                          <a:noFill/>
                        </a:ln>
                        <a:solidFill>
                          <a:schemeClr val="tx1"/>
                        </a:solidFill>
                        <a:effectLst/>
                        <a:latin typeface="Arial" charset="0"/>
                        <a:ea typeface="ＭＳ Ｐゴシック" pitchFamily="34" charset="-128"/>
                      </a:endParaRP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endParaRPr kumimoji="0" lang="en-US" sz="1400" b="1" i="0" u="none" strike="noStrike" cap="none" normalizeH="0" baseline="0" dirty="0">
                        <a:ln>
                          <a:noFill/>
                        </a:ln>
                        <a:solidFill>
                          <a:schemeClr val="tx1"/>
                        </a:solidFill>
                        <a:effectLst/>
                        <a:latin typeface="Arial" charset="0"/>
                        <a:ea typeface="ＭＳ Ｐゴシック" pitchFamily="34" charset="-128"/>
                      </a:endParaRP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7"/>
                  </a:ext>
                </a:extLst>
              </a:tr>
              <a:tr h="625324">
                <a:tc>
                  <a:txBody>
                    <a:bodyPr/>
                    <a:lstStyle/>
                    <a:p>
                      <a:pPr marL="0" marR="0" lvl="0" indent="0" algn="l"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2400" b="1" i="0" u="none" strike="noStrike" cap="none" normalizeH="0" baseline="0" dirty="0">
                          <a:ln>
                            <a:noFill/>
                          </a:ln>
                          <a:solidFill>
                            <a:srgbClr val="FFC000"/>
                          </a:solidFill>
                          <a:effectLst/>
                          <a:latin typeface="Arial" charset="0"/>
                          <a:ea typeface="ＭＳ Ｐゴシック" pitchFamily="34" charset="-128"/>
                        </a:rPr>
                        <a:t>Penalty</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rgbClr val="63BDE0"/>
                    </a:solidFill>
                  </a:tcPr>
                </a:tc>
                <a:tc gridSpan="2">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tx1"/>
                          </a:solidFill>
                          <a:effectLst/>
                          <a:latin typeface="Arial" charset="0"/>
                          <a:ea typeface="ＭＳ Ｐゴシック" pitchFamily="34" charset="-128"/>
                        </a:rPr>
                        <a:t>(5)</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tc gridSpan="2">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rgbClr val="FF0000"/>
                          </a:solidFill>
                          <a:effectLst/>
                          <a:latin typeface="Arial" charset="0"/>
                          <a:ea typeface="ＭＳ Ｐゴシック" pitchFamily="34" charset="-128"/>
                        </a:rPr>
                        <a:t>(7)</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endParaRPr kumimoji="0" lang="en-US" sz="1400" b="1" i="0" u="none" strike="noStrike" cap="none" normalizeH="0" baseline="0" dirty="0">
                        <a:ln>
                          <a:noFill/>
                        </a:ln>
                        <a:solidFill>
                          <a:schemeClr val="tx1"/>
                        </a:solidFill>
                        <a:effectLst/>
                        <a:latin typeface="Arial" charset="0"/>
                        <a:ea typeface="ＭＳ Ｐゴシック" pitchFamily="34" charset="-128"/>
                      </a:endParaRP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endParaRPr kumimoji="0" lang="en-US" sz="1400" b="1" i="0" u="none" strike="noStrike" cap="none" normalizeH="0" baseline="0" dirty="0">
                        <a:ln>
                          <a:noFill/>
                        </a:ln>
                        <a:solidFill>
                          <a:schemeClr val="tx1"/>
                        </a:solidFill>
                        <a:effectLst/>
                        <a:latin typeface="Arial" charset="0"/>
                        <a:ea typeface="ＭＳ Ｐゴシック" pitchFamily="34" charset="-128"/>
                      </a:endParaRP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240329034"/>
                  </a:ext>
                </a:extLst>
              </a:tr>
            </a:tbl>
          </a:graphicData>
        </a:graphic>
      </p:graphicFrame>
    </p:spTree>
    <p:extLst>
      <p:ext uri="{BB962C8B-B14F-4D97-AF65-F5344CB8AC3E}">
        <p14:creationId xmlns:p14="http://schemas.microsoft.com/office/powerpoint/2010/main" val="35727060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6" fill="hold" nodeType="afterEffect">
                                  <p:stCondLst>
                                    <p:cond delay="1000"/>
                                  </p:stCondLst>
                                  <p:childTnLst>
                                    <p:set>
                                      <p:cBhvr>
                                        <p:cTn id="6" dur="1" fill="hold">
                                          <p:stCondLst>
                                            <p:cond delay="0"/>
                                          </p:stCondLst>
                                        </p:cTn>
                                        <p:tgtEl>
                                          <p:spTgt spid="5"/>
                                        </p:tgtEl>
                                        <p:attrNameLst>
                                          <p:attrName>style.visibility</p:attrName>
                                        </p:attrNameLst>
                                      </p:cBhvr>
                                      <p:to>
                                        <p:strVal val="visible"/>
                                      </p:to>
                                    </p:set>
                                    <p:animEffect transition="in" filter="strips(downRight)">
                                      <p:cBhvr>
                                        <p:cTn id="7"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solidFill>
                  <a:srgbClr val="C00000"/>
                </a:solidFill>
                <a:latin typeface="Arial" panose="020B0604020202020204" pitchFamily="34" charset="0"/>
                <a:cs typeface="Arial" panose="020B0604020202020204" pitchFamily="34" charset="0"/>
              </a:rPr>
              <a:t>Vogel’s approximation</a:t>
            </a:r>
          </a:p>
        </p:txBody>
      </p:sp>
      <p:sp>
        <p:nvSpPr>
          <p:cNvPr id="6" name="Content Placeholder 5">
            <a:extLst>
              <a:ext uri="{FF2B5EF4-FFF2-40B4-BE49-F238E27FC236}">
                <a16:creationId xmlns:a16="http://schemas.microsoft.com/office/drawing/2014/main" xmlns="" id="{12C3F38F-06D5-4ADF-BB89-374D8DB47BD2}"/>
              </a:ext>
            </a:extLst>
          </p:cNvPr>
          <p:cNvSpPr>
            <a:spLocks noGrp="1"/>
          </p:cNvSpPr>
          <p:nvPr>
            <p:ph idx="1"/>
          </p:nvPr>
        </p:nvSpPr>
        <p:spPr>
          <a:xfrm>
            <a:off x="856060" y="2249486"/>
            <a:ext cx="7429499" cy="4608513"/>
          </a:xfrm>
        </p:spPr>
        <p:txBody>
          <a:bodyPr>
            <a:normAutofit/>
          </a:bodyPr>
          <a:lstStyle/>
          <a:p>
            <a:pPr marL="0" indent="0">
              <a:buNone/>
            </a:pPr>
            <a:endParaRPr lang="en-US" dirty="0">
              <a:latin typeface="Arial" panose="020B0604020202020204" pitchFamily="34" charset="0"/>
              <a:cs typeface="Arial" panose="020B0604020202020204" pitchFamily="34" charset="0"/>
            </a:endParaRPr>
          </a:p>
          <a:p>
            <a:pPr marL="0" indent="0">
              <a:buNone/>
            </a:pPr>
            <a:endParaRPr lang="en-US" dirty="0">
              <a:latin typeface="Arial" panose="020B0604020202020204" pitchFamily="34" charset="0"/>
              <a:cs typeface="Arial" panose="020B0604020202020204" pitchFamily="34" charset="0"/>
            </a:endParaRPr>
          </a:p>
          <a:p>
            <a:pPr marL="0" indent="0">
              <a:buNone/>
            </a:pPr>
            <a:endParaRPr lang="en-US" dirty="0">
              <a:latin typeface="Arial" panose="020B0604020202020204" pitchFamily="34" charset="0"/>
              <a:cs typeface="Arial" panose="020B0604020202020204" pitchFamily="34" charset="0"/>
            </a:endParaRPr>
          </a:p>
        </p:txBody>
      </p:sp>
      <p:graphicFrame>
        <p:nvGraphicFramePr>
          <p:cNvPr id="5" name="Group 123">
            <a:extLst>
              <a:ext uri="{FF2B5EF4-FFF2-40B4-BE49-F238E27FC236}">
                <a16:creationId xmlns:a16="http://schemas.microsoft.com/office/drawing/2014/main" xmlns="" id="{A5DA3B2A-2E25-4DFF-9E0E-EBF2CA28C54C}"/>
              </a:ext>
            </a:extLst>
          </p:cNvPr>
          <p:cNvGraphicFramePr>
            <a:graphicFrameLocks noGrp="1"/>
          </p:cNvGraphicFramePr>
          <p:nvPr>
            <p:extLst>
              <p:ext uri="{D42A27DB-BD31-4B8C-83A1-F6EECF244321}">
                <p14:modId xmlns:p14="http://schemas.microsoft.com/office/powerpoint/2010/main" val="3612899950"/>
              </p:ext>
            </p:extLst>
          </p:nvPr>
        </p:nvGraphicFramePr>
        <p:xfrm>
          <a:off x="856060" y="2249486"/>
          <a:ext cx="6628678" cy="3296300"/>
        </p:xfrm>
        <a:graphic>
          <a:graphicData uri="http://schemas.openxmlformats.org/drawingml/2006/table">
            <a:tbl>
              <a:tblPr/>
              <a:tblGrid>
                <a:gridCol w="1660749">
                  <a:extLst>
                    <a:ext uri="{9D8B030D-6E8A-4147-A177-3AD203B41FA5}">
                      <a16:colId xmlns:a16="http://schemas.microsoft.com/office/drawing/2014/main" xmlns="" val="20000"/>
                    </a:ext>
                  </a:extLst>
                </a:gridCol>
                <a:gridCol w="975020">
                  <a:extLst>
                    <a:ext uri="{9D8B030D-6E8A-4147-A177-3AD203B41FA5}">
                      <a16:colId xmlns:a16="http://schemas.microsoft.com/office/drawing/2014/main" xmlns="" val="20001"/>
                    </a:ext>
                  </a:extLst>
                </a:gridCol>
                <a:gridCol w="364291">
                  <a:extLst>
                    <a:ext uri="{9D8B030D-6E8A-4147-A177-3AD203B41FA5}">
                      <a16:colId xmlns:a16="http://schemas.microsoft.com/office/drawing/2014/main" xmlns="" val="20002"/>
                    </a:ext>
                  </a:extLst>
                </a:gridCol>
                <a:gridCol w="546440">
                  <a:extLst>
                    <a:ext uri="{9D8B030D-6E8A-4147-A177-3AD203B41FA5}">
                      <a16:colId xmlns:a16="http://schemas.microsoft.com/office/drawing/2014/main" xmlns="" val="20003"/>
                    </a:ext>
                  </a:extLst>
                </a:gridCol>
                <a:gridCol w="342863">
                  <a:extLst>
                    <a:ext uri="{9D8B030D-6E8A-4147-A177-3AD203B41FA5}">
                      <a16:colId xmlns:a16="http://schemas.microsoft.com/office/drawing/2014/main" xmlns="" val="20004"/>
                    </a:ext>
                  </a:extLst>
                </a:gridCol>
                <a:gridCol w="1049390">
                  <a:extLst>
                    <a:ext uri="{9D8B030D-6E8A-4147-A177-3AD203B41FA5}">
                      <a16:colId xmlns:a16="http://schemas.microsoft.com/office/drawing/2014/main" xmlns="" val="20007"/>
                    </a:ext>
                  </a:extLst>
                </a:gridCol>
                <a:gridCol w="1689925">
                  <a:extLst>
                    <a:ext uri="{9D8B030D-6E8A-4147-A177-3AD203B41FA5}">
                      <a16:colId xmlns:a16="http://schemas.microsoft.com/office/drawing/2014/main" xmlns="" val="323396379"/>
                    </a:ext>
                  </a:extLst>
                </a:gridCol>
              </a:tblGrid>
              <a:tr h="555364">
                <a:tc>
                  <a:txBody>
                    <a:bodyPr/>
                    <a:lstStyle/>
                    <a:p>
                      <a:pPr marL="0" marR="0" lvl="0" indent="0" algn="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bg1"/>
                          </a:solidFill>
                          <a:effectLst/>
                          <a:latin typeface="Arial" charset="0"/>
                          <a:ea typeface="ＭＳ Ｐゴシック" pitchFamily="34" charset="-128"/>
                        </a:rPr>
                        <a:t>TO</a:t>
                      </a:r>
                    </a:p>
                    <a:p>
                      <a:pPr marL="0" marR="0" lvl="0" indent="0" algn="l"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bg1"/>
                          </a:solidFill>
                          <a:effectLst/>
                          <a:latin typeface="Arial" charset="0"/>
                          <a:ea typeface="ＭＳ Ｐゴシック" pitchFamily="34" charset="-128"/>
                        </a:rPr>
                        <a:t>FROM</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9050" cap="flat" cmpd="sng" algn="ctr">
                      <a:solidFill>
                        <a:schemeClr val="tx1"/>
                      </a:solidFill>
                      <a:prstDash val="solid"/>
                      <a:round/>
                      <a:headEnd type="none" w="med" len="med"/>
                      <a:tailEnd type="none" w="med" len="med"/>
                    </a:lnTlToBr>
                    <a:lnBlToTr>
                      <a:noFill/>
                    </a:lnBlToTr>
                    <a:solidFill>
                      <a:srgbClr val="63BDE0"/>
                    </a:solidFill>
                  </a:tcPr>
                </a:tc>
                <a:tc gridSpan="2">
                  <a:txBody>
                    <a:bodyPr/>
                    <a:lstStyle/>
                    <a:p>
                      <a:pPr marL="0" marR="0" lvl="0" indent="0" algn="l"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bg1"/>
                          </a:solidFill>
                          <a:effectLst/>
                          <a:latin typeface="Arial" charset="0"/>
                          <a:ea typeface="ＭＳ Ｐゴシック" pitchFamily="34" charset="-128"/>
                        </a:rPr>
                        <a:t>Peshawar </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rgbClr val="63BDE0"/>
                    </a:solidFill>
                  </a:tcPr>
                </a:tc>
                <a:tc hMerge="1">
                  <a:txBody>
                    <a:bodyPr/>
                    <a:lstStyle/>
                    <a:p>
                      <a:endParaRPr lang="en-US"/>
                    </a:p>
                  </a:txBody>
                  <a:tcPr/>
                </a:tc>
                <a:tc gridSpan="2">
                  <a:txBody>
                    <a:bodyPr/>
                    <a:lstStyle/>
                    <a:p>
                      <a:pPr marL="0" marR="0" lvl="0" indent="0" algn="l"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bg1"/>
                          </a:solidFill>
                          <a:effectLst/>
                          <a:latin typeface="Arial" charset="0"/>
                          <a:ea typeface="ＭＳ Ｐゴシック" pitchFamily="34" charset="-128"/>
                        </a:rPr>
                        <a:t>Sialkot</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rgbClr val="63BDE0"/>
                    </a:solidFill>
                  </a:tcPr>
                </a:tc>
                <a:tc hMerge="1">
                  <a:txBody>
                    <a:bodyPr/>
                    <a:lstStyle/>
                    <a:p>
                      <a:endParaRPr lang="en-US"/>
                    </a:p>
                  </a:txBody>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bg1"/>
                          </a:solidFill>
                          <a:effectLst/>
                          <a:latin typeface="Arial" charset="0"/>
                          <a:ea typeface="ＭＳ Ｐゴシック" pitchFamily="34" charset="-128"/>
                        </a:rPr>
                        <a:t>FACTORY CAPACITY/Supply</a:t>
                      </a:r>
                    </a:p>
                  </a:txBody>
                  <a:tcPr marT="45709" marB="45709" anchor="b"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rgbClr val="63BDE0"/>
                    </a:solidFill>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bg1"/>
                          </a:solidFill>
                          <a:effectLst/>
                          <a:latin typeface="Arial" charset="0"/>
                          <a:ea typeface="ＭＳ Ｐゴシック" pitchFamily="34" charset="-128"/>
                        </a:rPr>
                        <a:t>Penalty</a:t>
                      </a:r>
                    </a:p>
                  </a:txBody>
                  <a:tcPr marT="45709" marB="45709" anchor="b"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rgbClr val="63BDE0"/>
                    </a:solidFill>
                  </a:tcPr>
                </a:tc>
                <a:extLst>
                  <a:ext uri="{0D108BD9-81ED-4DB2-BD59-A6C34878D82A}">
                    <a16:rowId xmlns:a16="http://schemas.microsoft.com/office/drawing/2014/main" xmlns="" val="10000"/>
                  </a:ext>
                </a:extLst>
              </a:tr>
              <a:tr h="312663">
                <a:tc rowSpan="2">
                  <a:txBody>
                    <a:bodyPr/>
                    <a:lstStyle/>
                    <a:p>
                      <a:pPr marL="0" marR="0" lvl="0" indent="0" algn="l"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bg1"/>
                          </a:solidFill>
                          <a:effectLst/>
                          <a:latin typeface="Arial" charset="0"/>
                          <a:ea typeface="ＭＳ Ｐゴシック" pitchFamily="34" charset="-128"/>
                        </a:rPr>
                        <a:t> </a:t>
                      </a:r>
                      <a:br>
                        <a:rPr kumimoji="0" lang="en-US" sz="1400" b="1" i="0" u="none" strike="noStrike" cap="none" normalizeH="0" baseline="0" dirty="0">
                          <a:ln>
                            <a:noFill/>
                          </a:ln>
                          <a:solidFill>
                            <a:schemeClr val="bg1"/>
                          </a:solidFill>
                          <a:effectLst/>
                          <a:latin typeface="Arial" charset="0"/>
                          <a:ea typeface="ＭＳ Ｐゴシック" pitchFamily="34" charset="-128"/>
                        </a:rPr>
                      </a:br>
                      <a:r>
                        <a:rPr kumimoji="0" lang="en-US" sz="1400" b="1" i="0" u="none" strike="noStrike" cap="none" normalizeH="0" baseline="0" dirty="0">
                          <a:ln>
                            <a:noFill/>
                          </a:ln>
                          <a:solidFill>
                            <a:schemeClr val="bg1"/>
                          </a:solidFill>
                          <a:effectLst/>
                          <a:latin typeface="Arial" charset="0"/>
                          <a:ea typeface="ＭＳ Ｐゴシック" pitchFamily="34" charset="-128"/>
                        </a:rPr>
                        <a:t>Karachi</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rgbClr val="63BDE0"/>
                    </a:solidFill>
                  </a:tcPr>
                </a:tc>
                <a:tc rowSpan="2">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tx1"/>
                          </a:solidFill>
                          <a:effectLst>
                            <a:outerShdw blurRad="38100" dist="38100" dir="2700000" algn="tl">
                              <a:srgbClr val="C0C0C0"/>
                            </a:outerShdw>
                          </a:effectLst>
                          <a:latin typeface="Arial" charset="0"/>
                          <a:ea typeface="ＭＳ Ｐゴシック" pitchFamily="34" charset="-128"/>
                        </a:rPr>
                        <a:t>13</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endParaRPr kumimoji="0" lang="en-US" sz="1400" b="1" i="0" u="none" strike="noStrike" cap="none" normalizeH="0" baseline="0" dirty="0">
                        <a:ln>
                          <a:noFill/>
                        </a:ln>
                        <a:solidFill>
                          <a:schemeClr val="tx1"/>
                        </a:solidFill>
                        <a:effectLst/>
                        <a:latin typeface="Arial" charset="0"/>
                        <a:ea typeface="ＭＳ Ｐゴシック" pitchFamily="34" charset="-128"/>
                      </a:endParaRP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tx1"/>
                          </a:solidFill>
                          <a:effectLst/>
                          <a:latin typeface="Arial" charset="0"/>
                          <a:ea typeface="ＭＳ Ｐゴシック" pitchFamily="34" charset="-128"/>
                        </a:rPr>
                        <a:t>11</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tx1"/>
                          </a:solidFill>
                          <a:effectLst/>
                          <a:latin typeface="Arial" charset="0"/>
                          <a:ea typeface="ＭＳ Ｐゴシック" pitchFamily="34" charset="-128"/>
                        </a:rPr>
                        <a:t>2</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tx1"/>
                          </a:solidFill>
                          <a:effectLst/>
                          <a:latin typeface="Arial" charset="0"/>
                          <a:ea typeface="ＭＳ Ｐゴシック" pitchFamily="34" charset="-128"/>
                        </a:rPr>
                        <a:t>2-2=0</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tx1"/>
                          </a:solidFill>
                          <a:effectLst/>
                          <a:latin typeface="Arial" charset="0"/>
                          <a:ea typeface="ＭＳ Ｐゴシック" pitchFamily="34" charset="-128"/>
                        </a:rPr>
                        <a:t>(2)</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1"/>
                  </a:ext>
                </a:extLst>
              </a:tr>
              <a:tr h="312663">
                <a:tc vMerge="1">
                  <a:txBody>
                    <a:bodyPr/>
                    <a:lstStyle/>
                    <a:p>
                      <a:endParaRPr lang="en-US"/>
                    </a:p>
                  </a:txBody>
                  <a:tcPr/>
                </a:tc>
                <a:tc vMerge="1">
                  <a:txBody>
                    <a:bodyPr/>
                    <a:lstStyle/>
                    <a:p>
                      <a:endParaRPr lang="en-US"/>
                    </a:p>
                  </a:txBody>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endParaRPr kumimoji="0" lang="en-US" sz="1400" b="1" i="0" u="none" strike="noStrike" cap="none" normalizeH="0" baseline="0" dirty="0">
                        <a:ln>
                          <a:noFill/>
                        </a:ln>
                        <a:solidFill>
                          <a:schemeClr val="tx1"/>
                        </a:solidFill>
                        <a:effectLst/>
                        <a:latin typeface="Arial" charset="0"/>
                        <a:ea typeface="ＭＳ Ｐゴシック" pitchFamily="34" charset="-128"/>
                      </a:endParaRPr>
                    </a:p>
                  </a:txBody>
                  <a:tcPr marT="45709" marB="45709" anchor="ctr" horzOverflow="overflow">
                    <a:lnL>
                      <a:noFill/>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vMerge="1">
                  <a:txBody>
                    <a:bodyPr/>
                    <a:lstStyle/>
                    <a:p>
                      <a:endParaRPr lang="en-US"/>
                    </a:p>
                  </a:txBody>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endParaRPr kumimoji="0" lang="en-US" sz="1400" b="1" i="0" u="none" strike="noStrike" cap="none" normalizeH="0" baseline="0" dirty="0">
                        <a:ln>
                          <a:noFill/>
                        </a:ln>
                        <a:solidFill>
                          <a:schemeClr val="tx1"/>
                        </a:solidFill>
                        <a:effectLst/>
                        <a:latin typeface="Arial" charset="0"/>
                        <a:ea typeface="ＭＳ Ｐゴシック" pitchFamily="34" charset="-128"/>
                      </a:endParaRPr>
                    </a:p>
                  </a:txBody>
                  <a:tcPr marT="45709" marB="45709" anchor="ctr" horzOverflow="overflow">
                    <a:lnL>
                      <a:noFill/>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xmlns="" val="10002"/>
                  </a:ext>
                </a:extLst>
              </a:tr>
              <a:tr h="312663">
                <a:tc rowSpan="2">
                  <a:txBody>
                    <a:bodyPr/>
                    <a:lstStyle/>
                    <a:p>
                      <a:pPr marL="0" marR="0" lvl="0" indent="0" algn="l"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bg1"/>
                          </a:solidFill>
                          <a:effectLst/>
                          <a:latin typeface="Arial" charset="0"/>
                          <a:ea typeface="ＭＳ Ｐゴシック" pitchFamily="34" charset="-128"/>
                        </a:rPr>
                        <a:t>Lahore</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rgbClr val="63BDE0"/>
                    </a:solidFill>
                  </a:tcPr>
                </a:tc>
                <a:tc rowSpan="2">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tx1"/>
                          </a:solidFill>
                          <a:effectLst/>
                          <a:latin typeface="Arial" charset="0"/>
                          <a:ea typeface="ＭＳ Ｐゴシック" pitchFamily="34" charset="-128"/>
                        </a:rPr>
                        <a:t>18</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endParaRPr kumimoji="0" lang="en-US" sz="1400" b="1" i="0" u="none" strike="noStrike" cap="none" normalizeH="0" baseline="0" dirty="0">
                        <a:ln>
                          <a:noFill/>
                        </a:ln>
                        <a:solidFill>
                          <a:schemeClr val="tx1"/>
                        </a:solidFill>
                        <a:effectLst/>
                        <a:latin typeface="Arial" charset="0"/>
                        <a:ea typeface="ＭＳ Ｐゴシック" pitchFamily="34" charset="-128"/>
                      </a:endParaRP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tx1"/>
                          </a:solidFill>
                          <a:effectLst/>
                          <a:latin typeface="Arial" charset="0"/>
                          <a:ea typeface="ＭＳ Ｐゴシック" pitchFamily="34" charset="-128"/>
                        </a:rPr>
                        <a:t>18</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endParaRPr kumimoji="0" lang="en-US" sz="1400" b="1" i="0" u="none" strike="noStrike" cap="none" normalizeH="0" baseline="0" dirty="0">
                        <a:ln>
                          <a:noFill/>
                        </a:ln>
                        <a:solidFill>
                          <a:schemeClr val="tx1"/>
                        </a:solidFill>
                        <a:effectLst/>
                        <a:latin typeface="Arial" charset="0"/>
                        <a:ea typeface="ＭＳ Ｐゴシック" pitchFamily="34" charset="-128"/>
                      </a:endParaRP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tx1"/>
                          </a:solidFill>
                          <a:effectLst/>
                          <a:latin typeface="Arial" charset="0"/>
                          <a:ea typeface="ＭＳ Ｐゴシック" pitchFamily="34" charset="-128"/>
                        </a:rPr>
                        <a:t>2</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tx1"/>
                          </a:solidFill>
                          <a:effectLst/>
                          <a:latin typeface="Arial" charset="0"/>
                          <a:ea typeface="ＭＳ Ｐゴシック" pitchFamily="34" charset="-128"/>
                        </a:rPr>
                        <a:t>(0)</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5"/>
                  </a:ext>
                </a:extLst>
              </a:tr>
              <a:tr h="312663">
                <a:tc vMerge="1">
                  <a:txBody>
                    <a:bodyPr/>
                    <a:lstStyle/>
                    <a:p>
                      <a:endParaRPr lang="en-US"/>
                    </a:p>
                  </a:txBody>
                  <a:tcPr/>
                </a:tc>
                <a:tc vMerge="1">
                  <a:txBody>
                    <a:bodyPr/>
                    <a:lstStyle/>
                    <a:p>
                      <a:endParaRPr lang="en-US"/>
                    </a:p>
                  </a:txBody>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endParaRPr kumimoji="0" lang="en-US" sz="1400" b="1" i="0" u="none" strike="noStrike" cap="none" normalizeH="0" baseline="0" dirty="0">
                        <a:ln>
                          <a:noFill/>
                        </a:ln>
                        <a:solidFill>
                          <a:schemeClr val="tx1"/>
                        </a:solidFill>
                        <a:effectLst/>
                        <a:latin typeface="Arial" charset="0"/>
                        <a:ea typeface="ＭＳ Ｐゴシック" pitchFamily="34" charset="-128"/>
                      </a:endParaRPr>
                    </a:p>
                  </a:txBody>
                  <a:tcPr marT="45709" marB="45709" anchor="ctr" horzOverflow="overflow">
                    <a:lnL>
                      <a:noFill/>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vMerge="1">
                  <a:txBody>
                    <a:bodyPr/>
                    <a:lstStyle/>
                    <a:p>
                      <a:endParaRPr lang="en-US"/>
                    </a:p>
                  </a:txBody>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endParaRPr kumimoji="0" lang="en-US" sz="1400" b="1" i="0" u="none" strike="noStrike" cap="none" normalizeH="0" baseline="0" dirty="0">
                        <a:ln>
                          <a:noFill/>
                        </a:ln>
                        <a:solidFill>
                          <a:schemeClr val="tx1"/>
                        </a:solidFill>
                        <a:effectLst/>
                        <a:latin typeface="Arial" charset="0"/>
                        <a:ea typeface="ＭＳ Ｐゴシック" pitchFamily="34" charset="-128"/>
                      </a:endParaRPr>
                    </a:p>
                  </a:txBody>
                  <a:tcPr marT="45709" marB="45709" anchor="ctr" horzOverflow="overflow">
                    <a:lnL>
                      <a:noFill/>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xmlns="" val="10006"/>
                  </a:ext>
                </a:extLst>
              </a:tr>
              <a:tr h="625324">
                <a:tc>
                  <a:txBody>
                    <a:bodyPr/>
                    <a:lstStyle/>
                    <a:p>
                      <a:pPr marL="0" marR="0" lvl="0" indent="0" algn="l"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bg1"/>
                          </a:solidFill>
                          <a:effectLst/>
                          <a:latin typeface="Arial" charset="0"/>
                          <a:ea typeface="ＭＳ Ｐゴシック" pitchFamily="34" charset="-128"/>
                        </a:rPr>
                        <a:t>Requirement/</a:t>
                      </a:r>
                    </a:p>
                    <a:p>
                      <a:pPr marL="0" marR="0" lvl="0" indent="0" algn="l"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bg1"/>
                          </a:solidFill>
                          <a:effectLst/>
                          <a:latin typeface="Arial" charset="0"/>
                          <a:ea typeface="ＭＳ Ｐゴシック" pitchFamily="34" charset="-128"/>
                        </a:rPr>
                        <a:t>Demand</a:t>
                      </a:r>
                    </a:p>
                    <a:p>
                      <a:pPr marL="0" marR="0" lvl="0" indent="0" algn="l"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endParaRPr kumimoji="0" lang="en-US" sz="1400" b="1" i="0" u="none" strike="noStrike" cap="none" normalizeH="0" baseline="0" dirty="0">
                        <a:ln>
                          <a:noFill/>
                        </a:ln>
                        <a:solidFill>
                          <a:schemeClr val="bg1"/>
                        </a:solidFill>
                        <a:effectLst/>
                        <a:latin typeface="Arial" charset="0"/>
                        <a:ea typeface="ＭＳ Ｐゴシック" pitchFamily="34" charset="-128"/>
                      </a:endParaRP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rgbClr val="63BDE0"/>
                    </a:solidFill>
                  </a:tcPr>
                </a:tc>
                <a:tc gridSpan="2">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tx1"/>
                          </a:solidFill>
                          <a:effectLst/>
                          <a:latin typeface="Arial" charset="0"/>
                          <a:ea typeface="ＭＳ Ｐゴシック" pitchFamily="34" charset="-128"/>
                        </a:rPr>
                        <a:t>1</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tc gridSpan="2">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tx1"/>
                          </a:solidFill>
                          <a:effectLst/>
                          <a:latin typeface="Arial" charset="0"/>
                          <a:ea typeface="ＭＳ Ｐゴシック" pitchFamily="34" charset="-128"/>
                        </a:rPr>
                        <a:t>3-2=1</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endParaRPr kumimoji="0" lang="en-US" sz="1400" b="1" i="0" u="none" strike="noStrike" cap="none" normalizeH="0" baseline="0" dirty="0">
                        <a:ln>
                          <a:noFill/>
                        </a:ln>
                        <a:solidFill>
                          <a:schemeClr val="tx1"/>
                        </a:solidFill>
                        <a:effectLst/>
                        <a:latin typeface="Arial" charset="0"/>
                        <a:ea typeface="ＭＳ Ｐゴシック" pitchFamily="34" charset="-128"/>
                      </a:endParaRP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endParaRPr kumimoji="0" lang="en-US" sz="1400" b="1" i="0" u="none" strike="noStrike" cap="none" normalizeH="0" baseline="0" dirty="0">
                        <a:ln>
                          <a:noFill/>
                        </a:ln>
                        <a:solidFill>
                          <a:schemeClr val="tx1"/>
                        </a:solidFill>
                        <a:effectLst/>
                        <a:latin typeface="Arial" charset="0"/>
                        <a:ea typeface="ＭＳ Ｐゴシック" pitchFamily="34" charset="-128"/>
                      </a:endParaRP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7"/>
                  </a:ext>
                </a:extLst>
              </a:tr>
              <a:tr h="625324">
                <a:tc>
                  <a:txBody>
                    <a:bodyPr/>
                    <a:lstStyle/>
                    <a:p>
                      <a:pPr marL="0" marR="0" lvl="0" indent="0" algn="l"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bg1"/>
                          </a:solidFill>
                          <a:effectLst/>
                          <a:latin typeface="Arial" charset="0"/>
                          <a:ea typeface="ＭＳ Ｐゴシック" pitchFamily="34" charset="-128"/>
                        </a:rPr>
                        <a:t>Penalty</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rgbClr val="63BDE0"/>
                    </a:solidFill>
                  </a:tcPr>
                </a:tc>
                <a:tc gridSpan="2">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tx1"/>
                          </a:solidFill>
                          <a:effectLst/>
                          <a:latin typeface="Arial" charset="0"/>
                          <a:ea typeface="ＭＳ Ｐゴシック" pitchFamily="34" charset="-128"/>
                        </a:rPr>
                        <a:t>(5)</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tc gridSpan="2">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rgbClr val="FF0000"/>
                          </a:solidFill>
                          <a:effectLst/>
                          <a:latin typeface="Arial" charset="0"/>
                          <a:ea typeface="ＭＳ Ｐゴシック" pitchFamily="34" charset="-128"/>
                        </a:rPr>
                        <a:t>(7)</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endParaRPr kumimoji="0" lang="en-US" sz="1400" b="1" i="0" u="none" strike="noStrike" cap="none" normalizeH="0" baseline="0" dirty="0">
                        <a:ln>
                          <a:noFill/>
                        </a:ln>
                        <a:solidFill>
                          <a:schemeClr val="tx1"/>
                        </a:solidFill>
                        <a:effectLst/>
                        <a:latin typeface="Arial" charset="0"/>
                        <a:ea typeface="ＭＳ Ｐゴシック" pitchFamily="34" charset="-128"/>
                      </a:endParaRP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endParaRPr kumimoji="0" lang="en-US" sz="1400" b="1" i="0" u="none" strike="noStrike" cap="none" normalizeH="0" baseline="0" dirty="0">
                        <a:ln>
                          <a:noFill/>
                        </a:ln>
                        <a:solidFill>
                          <a:schemeClr val="tx1"/>
                        </a:solidFill>
                        <a:effectLst/>
                        <a:latin typeface="Arial" charset="0"/>
                        <a:ea typeface="ＭＳ Ｐゴシック" pitchFamily="34" charset="-128"/>
                      </a:endParaRP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240329034"/>
                  </a:ext>
                </a:extLst>
              </a:tr>
            </a:tbl>
          </a:graphicData>
        </a:graphic>
      </p:graphicFrame>
    </p:spTree>
    <p:extLst>
      <p:ext uri="{BB962C8B-B14F-4D97-AF65-F5344CB8AC3E}">
        <p14:creationId xmlns:p14="http://schemas.microsoft.com/office/powerpoint/2010/main" val="4609421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6" fill="hold" nodeType="afterEffect">
                                  <p:stCondLst>
                                    <p:cond delay="1000"/>
                                  </p:stCondLst>
                                  <p:childTnLst>
                                    <p:set>
                                      <p:cBhvr>
                                        <p:cTn id="6" dur="1" fill="hold">
                                          <p:stCondLst>
                                            <p:cond delay="0"/>
                                          </p:stCondLst>
                                        </p:cTn>
                                        <p:tgtEl>
                                          <p:spTgt spid="5"/>
                                        </p:tgtEl>
                                        <p:attrNameLst>
                                          <p:attrName>style.visibility</p:attrName>
                                        </p:attrNameLst>
                                      </p:cBhvr>
                                      <p:to>
                                        <p:strVal val="visible"/>
                                      </p:to>
                                    </p:set>
                                    <p:animEffect transition="in" filter="strips(downRight)">
                                      <p:cBhvr>
                                        <p:cTn id="7"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solidFill>
                  <a:srgbClr val="C00000"/>
                </a:solidFill>
                <a:latin typeface="Arial" panose="020B0604020202020204" pitchFamily="34" charset="0"/>
                <a:cs typeface="Arial" panose="020B0604020202020204" pitchFamily="34" charset="0"/>
              </a:rPr>
              <a:t>Vogel’s approximation</a:t>
            </a:r>
          </a:p>
        </p:txBody>
      </p:sp>
      <p:sp>
        <p:nvSpPr>
          <p:cNvPr id="6" name="Content Placeholder 5">
            <a:extLst>
              <a:ext uri="{FF2B5EF4-FFF2-40B4-BE49-F238E27FC236}">
                <a16:creationId xmlns:a16="http://schemas.microsoft.com/office/drawing/2014/main" xmlns="" id="{12C3F38F-06D5-4ADF-BB89-374D8DB47BD2}"/>
              </a:ext>
            </a:extLst>
          </p:cNvPr>
          <p:cNvSpPr>
            <a:spLocks noGrp="1"/>
          </p:cNvSpPr>
          <p:nvPr>
            <p:ph idx="1"/>
          </p:nvPr>
        </p:nvSpPr>
        <p:spPr>
          <a:xfrm>
            <a:off x="856060" y="2249486"/>
            <a:ext cx="7429499" cy="4608513"/>
          </a:xfrm>
        </p:spPr>
        <p:txBody>
          <a:bodyPr>
            <a:normAutofit/>
          </a:bodyPr>
          <a:lstStyle/>
          <a:p>
            <a:pPr marL="0" indent="0">
              <a:buNone/>
            </a:pPr>
            <a:endParaRPr lang="en-US" dirty="0">
              <a:latin typeface="Arial" panose="020B0604020202020204" pitchFamily="34" charset="0"/>
              <a:cs typeface="Arial" panose="020B0604020202020204" pitchFamily="34" charset="0"/>
            </a:endParaRPr>
          </a:p>
          <a:p>
            <a:pPr marL="0" indent="0">
              <a:buNone/>
            </a:pPr>
            <a:endParaRPr lang="en-US" dirty="0">
              <a:latin typeface="Arial" panose="020B0604020202020204" pitchFamily="34" charset="0"/>
              <a:cs typeface="Arial" panose="020B0604020202020204" pitchFamily="34" charset="0"/>
            </a:endParaRPr>
          </a:p>
          <a:p>
            <a:pPr marL="0" indent="0">
              <a:buNone/>
            </a:pPr>
            <a:endParaRPr lang="en-US" dirty="0">
              <a:latin typeface="Arial" panose="020B0604020202020204" pitchFamily="34" charset="0"/>
              <a:cs typeface="Arial" panose="020B0604020202020204" pitchFamily="34" charset="0"/>
            </a:endParaRPr>
          </a:p>
        </p:txBody>
      </p:sp>
      <p:graphicFrame>
        <p:nvGraphicFramePr>
          <p:cNvPr id="5" name="Group 123">
            <a:extLst>
              <a:ext uri="{FF2B5EF4-FFF2-40B4-BE49-F238E27FC236}">
                <a16:creationId xmlns:a16="http://schemas.microsoft.com/office/drawing/2014/main" xmlns="" id="{A5DA3B2A-2E25-4DFF-9E0E-EBF2CA28C54C}"/>
              </a:ext>
            </a:extLst>
          </p:cNvPr>
          <p:cNvGraphicFramePr>
            <a:graphicFrameLocks noGrp="1"/>
          </p:cNvGraphicFramePr>
          <p:nvPr>
            <p:extLst>
              <p:ext uri="{D42A27DB-BD31-4B8C-83A1-F6EECF244321}">
                <p14:modId xmlns:p14="http://schemas.microsoft.com/office/powerpoint/2010/main" val="1682077126"/>
              </p:ext>
            </p:extLst>
          </p:nvPr>
        </p:nvGraphicFramePr>
        <p:xfrm>
          <a:off x="856060" y="2249486"/>
          <a:ext cx="4938753" cy="2045650"/>
        </p:xfrm>
        <a:graphic>
          <a:graphicData uri="http://schemas.openxmlformats.org/drawingml/2006/table">
            <a:tbl>
              <a:tblPr/>
              <a:tblGrid>
                <a:gridCol w="1660749">
                  <a:extLst>
                    <a:ext uri="{9D8B030D-6E8A-4147-A177-3AD203B41FA5}">
                      <a16:colId xmlns:a16="http://schemas.microsoft.com/office/drawing/2014/main" xmlns="" val="20000"/>
                    </a:ext>
                  </a:extLst>
                </a:gridCol>
                <a:gridCol w="975020">
                  <a:extLst>
                    <a:ext uri="{9D8B030D-6E8A-4147-A177-3AD203B41FA5}">
                      <a16:colId xmlns:a16="http://schemas.microsoft.com/office/drawing/2014/main" xmlns="" val="20001"/>
                    </a:ext>
                  </a:extLst>
                </a:gridCol>
                <a:gridCol w="364291">
                  <a:extLst>
                    <a:ext uri="{9D8B030D-6E8A-4147-A177-3AD203B41FA5}">
                      <a16:colId xmlns:a16="http://schemas.microsoft.com/office/drawing/2014/main" xmlns="" val="20002"/>
                    </a:ext>
                  </a:extLst>
                </a:gridCol>
                <a:gridCol w="546440">
                  <a:extLst>
                    <a:ext uri="{9D8B030D-6E8A-4147-A177-3AD203B41FA5}">
                      <a16:colId xmlns:a16="http://schemas.microsoft.com/office/drawing/2014/main" xmlns="" val="20003"/>
                    </a:ext>
                  </a:extLst>
                </a:gridCol>
                <a:gridCol w="342863">
                  <a:extLst>
                    <a:ext uri="{9D8B030D-6E8A-4147-A177-3AD203B41FA5}">
                      <a16:colId xmlns:a16="http://schemas.microsoft.com/office/drawing/2014/main" xmlns="" val="20004"/>
                    </a:ext>
                  </a:extLst>
                </a:gridCol>
                <a:gridCol w="1049390">
                  <a:extLst>
                    <a:ext uri="{9D8B030D-6E8A-4147-A177-3AD203B41FA5}">
                      <a16:colId xmlns:a16="http://schemas.microsoft.com/office/drawing/2014/main" xmlns="" val="20007"/>
                    </a:ext>
                  </a:extLst>
                </a:gridCol>
              </a:tblGrid>
              <a:tr h="555364">
                <a:tc>
                  <a:txBody>
                    <a:bodyPr/>
                    <a:lstStyle/>
                    <a:p>
                      <a:pPr marL="0" marR="0" lvl="0" indent="0" algn="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bg1"/>
                          </a:solidFill>
                          <a:effectLst/>
                          <a:latin typeface="Arial" charset="0"/>
                          <a:ea typeface="ＭＳ Ｐゴシック" pitchFamily="34" charset="-128"/>
                        </a:rPr>
                        <a:t>TO</a:t>
                      </a:r>
                    </a:p>
                    <a:p>
                      <a:pPr marL="0" marR="0" lvl="0" indent="0" algn="l"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bg1"/>
                          </a:solidFill>
                          <a:effectLst/>
                          <a:latin typeface="Arial" charset="0"/>
                          <a:ea typeface="ＭＳ Ｐゴシック" pitchFamily="34" charset="-128"/>
                        </a:rPr>
                        <a:t>FROM</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9050" cap="flat" cmpd="sng" algn="ctr">
                      <a:solidFill>
                        <a:schemeClr val="tx1"/>
                      </a:solidFill>
                      <a:prstDash val="solid"/>
                      <a:round/>
                      <a:headEnd type="none" w="med" len="med"/>
                      <a:tailEnd type="none" w="med" len="med"/>
                    </a:lnTlToBr>
                    <a:lnBlToTr>
                      <a:noFill/>
                    </a:lnBlToTr>
                    <a:solidFill>
                      <a:srgbClr val="63BDE0"/>
                    </a:solidFill>
                  </a:tcPr>
                </a:tc>
                <a:tc gridSpan="2">
                  <a:txBody>
                    <a:bodyPr/>
                    <a:lstStyle/>
                    <a:p>
                      <a:pPr marL="0" marR="0" lvl="0" indent="0" algn="l"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bg1"/>
                          </a:solidFill>
                          <a:effectLst/>
                          <a:latin typeface="Arial" charset="0"/>
                          <a:ea typeface="ＭＳ Ｐゴシック" pitchFamily="34" charset="-128"/>
                        </a:rPr>
                        <a:t>Peshawar </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rgbClr val="63BDE0"/>
                    </a:solidFill>
                  </a:tcPr>
                </a:tc>
                <a:tc hMerge="1">
                  <a:txBody>
                    <a:bodyPr/>
                    <a:lstStyle/>
                    <a:p>
                      <a:endParaRPr lang="en-US"/>
                    </a:p>
                  </a:txBody>
                  <a:tcPr/>
                </a:tc>
                <a:tc gridSpan="2">
                  <a:txBody>
                    <a:bodyPr/>
                    <a:lstStyle/>
                    <a:p>
                      <a:pPr marL="0" marR="0" lvl="0" indent="0" algn="l"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bg1"/>
                          </a:solidFill>
                          <a:effectLst/>
                          <a:latin typeface="Arial" charset="0"/>
                          <a:ea typeface="ＭＳ Ｐゴシック" pitchFamily="34" charset="-128"/>
                        </a:rPr>
                        <a:t>Sialkot</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rgbClr val="63BDE0"/>
                    </a:solidFill>
                  </a:tcPr>
                </a:tc>
                <a:tc hMerge="1">
                  <a:txBody>
                    <a:bodyPr/>
                    <a:lstStyle/>
                    <a:p>
                      <a:endParaRPr lang="en-US"/>
                    </a:p>
                  </a:txBody>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bg1"/>
                          </a:solidFill>
                          <a:effectLst/>
                          <a:latin typeface="Arial" charset="0"/>
                          <a:ea typeface="ＭＳ Ｐゴシック" pitchFamily="34" charset="-128"/>
                        </a:rPr>
                        <a:t>FACTORY CAPACITY/Supply</a:t>
                      </a:r>
                    </a:p>
                  </a:txBody>
                  <a:tcPr marT="45709" marB="45709" anchor="b"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rgbClr val="63BDE0"/>
                    </a:solidFill>
                  </a:tcPr>
                </a:tc>
                <a:extLst>
                  <a:ext uri="{0D108BD9-81ED-4DB2-BD59-A6C34878D82A}">
                    <a16:rowId xmlns:a16="http://schemas.microsoft.com/office/drawing/2014/main" xmlns="" val="10000"/>
                  </a:ext>
                </a:extLst>
              </a:tr>
              <a:tr h="312663">
                <a:tc rowSpan="2">
                  <a:txBody>
                    <a:bodyPr/>
                    <a:lstStyle/>
                    <a:p>
                      <a:pPr marL="0" marR="0" lvl="0" indent="0" algn="l"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bg1"/>
                          </a:solidFill>
                          <a:effectLst/>
                          <a:latin typeface="Arial" charset="0"/>
                          <a:ea typeface="ＭＳ Ｐゴシック" pitchFamily="34" charset="-128"/>
                        </a:rPr>
                        <a:t>Lahore</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rgbClr val="63BDE0"/>
                    </a:solidFill>
                  </a:tcPr>
                </a:tc>
                <a:tc rowSpan="2">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tx1"/>
                          </a:solidFill>
                          <a:effectLst/>
                          <a:latin typeface="Arial" charset="0"/>
                          <a:ea typeface="ＭＳ Ｐゴシック" pitchFamily="34" charset="-128"/>
                        </a:rPr>
                        <a:t>18</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rgbClr val="FFFF00"/>
                          </a:solidFill>
                          <a:effectLst/>
                          <a:latin typeface="Arial" charset="0"/>
                          <a:ea typeface="ＭＳ Ｐゴシック" pitchFamily="34" charset="-128"/>
                        </a:rPr>
                        <a:t>1</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tx1"/>
                          </a:solidFill>
                          <a:effectLst/>
                          <a:latin typeface="Arial" charset="0"/>
                          <a:ea typeface="ＭＳ Ｐゴシック" pitchFamily="34" charset="-128"/>
                        </a:rPr>
                        <a:t>18</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endParaRPr kumimoji="0" lang="en-US" sz="1400" b="1" i="0" u="none" strike="noStrike" cap="none" normalizeH="0" baseline="0" dirty="0">
                        <a:ln>
                          <a:noFill/>
                        </a:ln>
                        <a:solidFill>
                          <a:schemeClr val="tx1"/>
                        </a:solidFill>
                        <a:effectLst/>
                        <a:latin typeface="Arial" charset="0"/>
                        <a:ea typeface="ＭＳ Ｐゴシック" pitchFamily="34" charset="-128"/>
                      </a:endParaRP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tx1"/>
                          </a:solidFill>
                          <a:effectLst/>
                          <a:latin typeface="Arial" charset="0"/>
                          <a:ea typeface="ＭＳ Ｐゴシック" pitchFamily="34" charset="-128"/>
                        </a:rPr>
                        <a:t>2</a:t>
                      </a:r>
                      <a:r>
                        <a:rPr kumimoji="0" lang="en-US" sz="1400" b="1" i="0" u="none" strike="noStrike" cap="none" normalizeH="0" baseline="0" dirty="0">
                          <a:ln>
                            <a:noFill/>
                          </a:ln>
                          <a:solidFill>
                            <a:srgbClr val="FFFF00"/>
                          </a:solidFill>
                          <a:effectLst/>
                          <a:latin typeface="Arial" charset="0"/>
                          <a:ea typeface="ＭＳ Ｐゴシック" pitchFamily="34" charset="-128"/>
                        </a:rPr>
                        <a:t>-1=1</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5"/>
                  </a:ext>
                </a:extLst>
              </a:tr>
              <a:tr h="312663">
                <a:tc vMerge="1">
                  <a:txBody>
                    <a:bodyPr/>
                    <a:lstStyle/>
                    <a:p>
                      <a:endParaRPr lang="en-US"/>
                    </a:p>
                  </a:txBody>
                  <a:tcPr/>
                </a:tc>
                <a:tc vMerge="1">
                  <a:txBody>
                    <a:bodyPr/>
                    <a:lstStyle/>
                    <a:p>
                      <a:endParaRPr lang="en-US"/>
                    </a:p>
                  </a:txBody>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endParaRPr kumimoji="0" lang="en-US" sz="1400" b="1" i="0" u="none" strike="noStrike" cap="none" normalizeH="0" baseline="0" dirty="0">
                        <a:ln>
                          <a:noFill/>
                        </a:ln>
                        <a:solidFill>
                          <a:schemeClr val="tx1"/>
                        </a:solidFill>
                        <a:effectLst/>
                        <a:latin typeface="Arial" charset="0"/>
                        <a:ea typeface="ＭＳ Ｐゴシック" pitchFamily="34" charset="-128"/>
                      </a:endParaRPr>
                    </a:p>
                  </a:txBody>
                  <a:tcPr marT="45709" marB="45709" anchor="ctr" horzOverflow="overflow">
                    <a:lnL>
                      <a:noFill/>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vMerge="1">
                  <a:txBody>
                    <a:bodyPr/>
                    <a:lstStyle/>
                    <a:p>
                      <a:endParaRPr lang="en-US"/>
                    </a:p>
                  </a:txBody>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endParaRPr kumimoji="0" lang="en-US" sz="1400" b="1" i="0" u="none" strike="noStrike" cap="none" normalizeH="0" baseline="0" dirty="0">
                        <a:ln>
                          <a:noFill/>
                        </a:ln>
                        <a:solidFill>
                          <a:schemeClr val="tx1"/>
                        </a:solidFill>
                        <a:effectLst/>
                        <a:latin typeface="Arial" charset="0"/>
                        <a:ea typeface="ＭＳ Ｐゴシック" pitchFamily="34" charset="-128"/>
                      </a:endParaRPr>
                    </a:p>
                  </a:txBody>
                  <a:tcPr marT="45709" marB="45709" anchor="ctr" horzOverflow="overflow">
                    <a:lnL>
                      <a:noFill/>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vMerge="1">
                  <a:txBody>
                    <a:bodyPr/>
                    <a:lstStyle/>
                    <a:p>
                      <a:endParaRPr lang="en-US"/>
                    </a:p>
                  </a:txBody>
                  <a:tcPr/>
                </a:tc>
                <a:extLst>
                  <a:ext uri="{0D108BD9-81ED-4DB2-BD59-A6C34878D82A}">
                    <a16:rowId xmlns:a16="http://schemas.microsoft.com/office/drawing/2014/main" xmlns="" val="10006"/>
                  </a:ext>
                </a:extLst>
              </a:tr>
              <a:tr h="625324">
                <a:tc>
                  <a:txBody>
                    <a:bodyPr/>
                    <a:lstStyle/>
                    <a:p>
                      <a:pPr marL="0" marR="0" lvl="0" indent="0" algn="l"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bg1"/>
                          </a:solidFill>
                          <a:effectLst/>
                          <a:latin typeface="Arial" charset="0"/>
                          <a:ea typeface="ＭＳ Ｐゴシック" pitchFamily="34" charset="-128"/>
                        </a:rPr>
                        <a:t>Requirement/</a:t>
                      </a:r>
                    </a:p>
                    <a:p>
                      <a:pPr marL="0" marR="0" lvl="0" indent="0" algn="l"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bg1"/>
                          </a:solidFill>
                          <a:effectLst/>
                          <a:latin typeface="Arial" charset="0"/>
                          <a:ea typeface="ＭＳ Ｐゴシック" pitchFamily="34" charset="-128"/>
                        </a:rPr>
                        <a:t>Demand</a:t>
                      </a:r>
                    </a:p>
                    <a:p>
                      <a:pPr marL="0" marR="0" lvl="0" indent="0" algn="l"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endParaRPr kumimoji="0" lang="en-US" sz="1400" b="1" i="0" u="none" strike="noStrike" cap="none" normalizeH="0" baseline="0" dirty="0">
                        <a:ln>
                          <a:noFill/>
                        </a:ln>
                        <a:solidFill>
                          <a:schemeClr val="bg1"/>
                        </a:solidFill>
                        <a:effectLst/>
                        <a:latin typeface="Arial" charset="0"/>
                        <a:ea typeface="ＭＳ Ｐゴシック" pitchFamily="34" charset="-128"/>
                      </a:endParaRP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rgbClr val="63BDE0"/>
                    </a:solidFill>
                  </a:tcPr>
                </a:tc>
                <a:tc gridSpan="2">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tx1"/>
                          </a:solidFill>
                          <a:effectLst/>
                          <a:latin typeface="Arial" charset="0"/>
                          <a:ea typeface="ＭＳ Ｐゴシック" pitchFamily="34" charset="-128"/>
                        </a:rPr>
                        <a:t>1</a:t>
                      </a:r>
                      <a:r>
                        <a:rPr kumimoji="0" lang="en-US" sz="1400" b="1" i="0" u="none" strike="noStrike" cap="none" normalizeH="0" baseline="0" dirty="0">
                          <a:ln>
                            <a:noFill/>
                          </a:ln>
                          <a:solidFill>
                            <a:srgbClr val="FFFF00"/>
                          </a:solidFill>
                          <a:effectLst/>
                          <a:latin typeface="Arial" charset="0"/>
                          <a:ea typeface="ＭＳ Ｐゴシック" pitchFamily="34" charset="-128"/>
                        </a:rPr>
                        <a:t>-1=0</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tc gridSpan="2">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tx1"/>
                          </a:solidFill>
                          <a:effectLst/>
                          <a:latin typeface="Arial" charset="0"/>
                          <a:ea typeface="ＭＳ Ｐゴシック" pitchFamily="34" charset="-128"/>
                        </a:rPr>
                        <a:t>1</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endParaRPr kumimoji="0" lang="en-US" sz="1400" b="1" i="0" u="none" strike="noStrike" cap="none" normalizeH="0" baseline="0" dirty="0">
                        <a:ln>
                          <a:noFill/>
                        </a:ln>
                        <a:solidFill>
                          <a:schemeClr val="tx1"/>
                        </a:solidFill>
                        <a:effectLst/>
                        <a:latin typeface="Arial" charset="0"/>
                        <a:ea typeface="ＭＳ Ｐゴシック" pitchFamily="34" charset="-128"/>
                      </a:endParaRP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7"/>
                  </a:ext>
                </a:extLst>
              </a:tr>
            </a:tbl>
          </a:graphicData>
        </a:graphic>
      </p:graphicFrame>
    </p:spTree>
    <p:extLst>
      <p:ext uri="{BB962C8B-B14F-4D97-AF65-F5344CB8AC3E}">
        <p14:creationId xmlns:p14="http://schemas.microsoft.com/office/powerpoint/2010/main" val="21207432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6" fill="hold" nodeType="afterEffect">
                                  <p:stCondLst>
                                    <p:cond delay="1000"/>
                                  </p:stCondLst>
                                  <p:childTnLst>
                                    <p:set>
                                      <p:cBhvr>
                                        <p:cTn id="6" dur="1" fill="hold">
                                          <p:stCondLst>
                                            <p:cond delay="0"/>
                                          </p:stCondLst>
                                        </p:cTn>
                                        <p:tgtEl>
                                          <p:spTgt spid="5"/>
                                        </p:tgtEl>
                                        <p:attrNameLst>
                                          <p:attrName>style.visibility</p:attrName>
                                        </p:attrNameLst>
                                      </p:cBhvr>
                                      <p:to>
                                        <p:strVal val="visible"/>
                                      </p:to>
                                    </p:set>
                                    <p:animEffect transition="in" filter="strips(downRight)">
                                      <p:cBhvr>
                                        <p:cTn id="7"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solidFill>
                  <a:srgbClr val="C00000"/>
                </a:solidFill>
                <a:latin typeface="Arial" panose="020B0604020202020204" pitchFamily="34" charset="0"/>
                <a:cs typeface="Arial" panose="020B0604020202020204" pitchFamily="34" charset="0"/>
              </a:rPr>
              <a:t>Vogel’s approximation</a:t>
            </a:r>
          </a:p>
        </p:txBody>
      </p:sp>
      <p:sp>
        <p:nvSpPr>
          <p:cNvPr id="6" name="Content Placeholder 5">
            <a:extLst>
              <a:ext uri="{FF2B5EF4-FFF2-40B4-BE49-F238E27FC236}">
                <a16:creationId xmlns:a16="http://schemas.microsoft.com/office/drawing/2014/main" xmlns="" id="{12C3F38F-06D5-4ADF-BB89-374D8DB47BD2}"/>
              </a:ext>
            </a:extLst>
          </p:cNvPr>
          <p:cNvSpPr>
            <a:spLocks noGrp="1"/>
          </p:cNvSpPr>
          <p:nvPr>
            <p:ph idx="1"/>
          </p:nvPr>
        </p:nvSpPr>
        <p:spPr>
          <a:xfrm>
            <a:off x="856060" y="2249486"/>
            <a:ext cx="7429499" cy="4608513"/>
          </a:xfrm>
        </p:spPr>
        <p:txBody>
          <a:bodyPr>
            <a:normAutofit/>
          </a:bodyPr>
          <a:lstStyle/>
          <a:p>
            <a:pPr marL="0" indent="0">
              <a:buNone/>
            </a:pPr>
            <a:endParaRPr lang="en-US" dirty="0">
              <a:latin typeface="Arial" panose="020B0604020202020204" pitchFamily="34" charset="0"/>
              <a:cs typeface="Arial" panose="020B0604020202020204" pitchFamily="34" charset="0"/>
            </a:endParaRPr>
          </a:p>
          <a:p>
            <a:pPr marL="0" indent="0">
              <a:buNone/>
            </a:pPr>
            <a:endParaRPr lang="en-US" dirty="0">
              <a:latin typeface="Arial" panose="020B0604020202020204" pitchFamily="34" charset="0"/>
              <a:cs typeface="Arial" panose="020B0604020202020204" pitchFamily="34" charset="0"/>
            </a:endParaRPr>
          </a:p>
          <a:p>
            <a:pPr marL="0" indent="0">
              <a:buNone/>
            </a:pPr>
            <a:endParaRPr lang="en-US" dirty="0">
              <a:latin typeface="Arial" panose="020B0604020202020204" pitchFamily="34" charset="0"/>
              <a:cs typeface="Arial" panose="020B0604020202020204" pitchFamily="34" charset="0"/>
            </a:endParaRPr>
          </a:p>
        </p:txBody>
      </p:sp>
      <p:graphicFrame>
        <p:nvGraphicFramePr>
          <p:cNvPr id="5" name="Group 123">
            <a:extLst>
              <a:ext uri="{FF2B5EF4-FFF2-40B4-BE49-F238E27FC236}">
                <a16:creationId xmlns:a16="http://schemas.microsoft.com/office/drawing/2014/main" xmlns="" id="{A5DA3B2A-2E25-4DFF-9E0E-EBF2CA28C54C}"/>
              </a:ext>
            </a:extLst>
          </p:cNvPr>
          <p:cNvGraphicFramePr>
            <a:graphicFrameLocks noGrp="1"/>
          </p:cNvGraphicFramePr>
          <p:nvPr>
            <p:extLst>
              <p:ext uri="{D42A27DB-BD31-4B8C-83A1-F6EECF244321}">
                <p14:modId xmlns:p14="http://schemas.microsoft.com/office/powerpoint/2010/main" val="3296086261"/>
              </p:ext>
            </p:extLst>
          </p:nvPr>
        </p:nvGraphicFramePr>
        <p:xfrm>
          <a:off x="856060" y="2249486"/>
          <a:ext cx="3599442" cy="2045650"/>
        </p:xfrm>
        <a:graphic>
          <a:graphicData uri="http://schemas.openxmlformats.org/drawingml/2006/table">
            <a:tbl>
              <a:tblPr/>
              <a:tblGrid>
                <a:gridCol w="1660749">
                  <a:extLst>
                    <a:ext uri="{9D8B030D-6E8A-4147-A177-3AD203B41FA5}">
                      <a16:colId xmlns:a16="http://schemas.microsoft.com/office/drawing/2014/main" xmlns="" val="20000"/>
                    </a:ext>
                  </a:extLst>
                </a:gridCol>
                <a:gridCol w="546440">
                  <a:extLst>
                    <a:ext uri="{9D8B030D-6E8A-4147-A177-3AD203B41FA5}">
                      <a16:colId xmlns:a16="http://schemas.microsoft.com/office/drawing/2014/main" xmlns="" val="20003"/>
                    </a:ext>
                  </a:extLst>
                </a:gridCol>
                <a:gridCol w="342863">
                  <a:extLst>
                    <a:ext uri="{9D8B030D-6E8A-4147-A177-3AD203B41FA5}">
                      <a16:colId xmlns:a16="http://schemas.microsoft.com/office/drawing/2014/main" xmlns="" val="20004"/>
                    </a:ext>
                  </a:extLst>
                </a:gridCol>
                <a:gridCol w="1049390">
                  <a:extLst>
                    <a:ext uri="{9D8B030D-6E8A-4147-A177-3AD203B41FA5}">
                      <a16:colId xmlns:a16="http://schemas.microsoft.com/office/drawing/2014/main" xmlns="" val="20007"/>
                    </a:ext>
                  </a:extLst>
                </a:gridCol>
              </a:tblGrid>
              <a:tr h="555364">
                <a:tc>
                  <a:txBody>
                    <a:bodyPr/>
                    <a:lstStyle/>
                    <a:p>
                      <a:pPr marL="0" marR="0" lvl="0" indent="0" algn="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bg1"/>
                          </a:solidFill>
                          <a:effectLst/>
                          <a:latin typeface="Arial" charset="0"/>
                          <a:ea typeface="ＭＳ Ｐゴシック" pitchFamily="34" charset="-128"/>
                        </a:rPr>
                        <a:t>TO</a:t>
                      </a:r>
                    </a:p>
                    <a:p>
                      <a:pPr marL="0" marR="0" lvl="0" indent="0" algn="l"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bg1"/>
                          </a:solidFill>
                          <a:effectLst/>
                          <a:latin typeface="Arial" charset="0"/>
                          <a:ea typeface="ＭＳ Ｐゴシック" pitchFamily="34" charset="-128"/>
                        </a:rPr>
                        <a:t>FROM</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9050" cap="flat" cmpd="sng" algn="ctr">
                      <a:solidFill>
                        <a:schemeClr val="tx1"/>
                      </a:solidFill>
                      <a:prstDash val="solid"/>
                      <a:round/>
                      <a:headEnd type="none" w="med" len="med"/>
                      <a:tailEnd type="none" w="med" len="med"/>
                    </a:lnTlToBr>
                    <a:lnBlToTr>
                      <a:noFill/>
                    </a:lnBlToTr>
                    <a:solidFill>
                      <a:srgbClr val="63BDE0"/>
                    </a:solidFill>
                  </a:tcPr>
                </a:tc>
                <a:tc gridSpan="2">
                  <a:txBody>
                    <a:bodyPr/>
                    <a:lstStyle/>
                    <a:p>
                      <a:pPr marL="0" marR="0" lvl="0" indent="0" algn="l"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bg1"/>
                          </a:solidFill>
                          <a:effectLst/>
                          <a:latin typeface="Arial" charset="0"/>
                          <a:ea typeface="ＭＳ Ｐゴシック" pitchFamily="34" charset="-128"/>
                        </a:rPr>
                        <a:t>Sialkot</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rgbClr val="63BDE0"/>
                    </a:solidFill>
                  </a:tcPr>
                </a:tc>
                <a:tc hMerge="1">
                  <a:txBody>
                    <a:bodyPr/>
                    <a:lstStyle/>
                    <a:p>
                      <a:endParaRPr lang="en-US"/>
                    </a:p>
                  </a:txBody>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bg1"/>
                          </a:solidFill>
                          <a:effectLst/>
                          <a:latin typeface="Arial" charset="0"/>
                          <a:ea typeface="ＭＳ Ｐゴシック" pitchFamily="34" charset="-128"/>
                        </a:rPr>
                        <a:t>FACTORY CAPACITY/Supply</a:t>
                      </a:r>
                    </a:p>
                  </a:txBody>
                  <a:tcPr marT="45709" marB="45709" anchor="b"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rgbClr val="63BDE0"/>
                    </a:solidFill>
                  </a:tcPr>
                </a:tc>
                <a:extLst>
                  <a:ext uri="{0D108BD9-81ED-4DB2-BD59-A6C34878D82A}">
                    <a16:rowId xmlns:a16="http://schemas.microsoft.com/office/drawing/2014/main" xmlns="" val="10000"/>
                  </a:ext>
                </a:extLst>
              </a:tr>
              <a:tr h="312663">
                <a:tc rowSpan="2">
                  <a:txBody>
                    <a:bodyPr/>
                    <a:lstStyle/>
                    <a:p>
                      <a:pPr marL="0" marR="0" lvl="0" indent="0" algn="l"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bg1"/>
                          </a:solidFill>
                          <a:effectLst/>
                          <a:latin typeface="Arial" charset="0"/>
                          <a:ea typeface="ＭＳ Ｐゴシック" pitchFamily="34" charset="-128"/>
                        </a:rPr>
                        <a:t>Lahore</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rgbClr val="63BDE0"/>
                    </a:solidFill>
                  </a:tcPr>
                </a:tc>
                <a:tc rowSpan="2">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tx1"/>
                          </a:solidFill>
                          <a:effectLst/>
                          <a:latin typeface="Arial" charset="0"/>
                          <a:ea typeface="ＭＳ Ｐゴシック" pitchFamily="34" charset="-128"/>
                        </a:rPr>
                        <a:t>18</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tx1"/>
                          </a:solidFill>
                          <a:effectLst/>
                          <a:latin typeface="Arial" charset="0"/>
                          <a:ea typeface="ＭＳ Ｐゴシック" pitchFamily="34" charset="-128"/>
                        </a:rPr>
                        <a:t>1</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tx1"/>
                          </a:solidFill>
                          <a:effectLst/>
                          <a:latin typeface="Arial" charset="0"/>
                          <a:ea typeface="ＭＳ Ｐゴシック" pitchFamily="34" charset="-128"/>
                        </a:rPr>
                        <a:t>1-1=0</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5"/>
                  </a:ext>
                </a:extLst>
              </a:tr>
              <a:tr h="312663">
                <a:tc vMerge="1">
                  <a:txBody>
                    <a:bodyPr/>
                    <a:lstStyle/>
                    <a:p>
                      <a:endParaRPr lang="en-US"/>
                    </a:p>
                  </a:txBody>
                  <a:tcPr/>
                </a:tc>
                <a:tc vMerge="1">
                  <a:txBody>
                    <a:bodyPr/>
                    <a:lstStyle/>
                    <a:p>
                      <a:endParaRPr lang="en-US"/>
                    </a:p>
                  </a:txBody>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endParaRPr kumimoji="0" lang="en-US" sz="1400" b="1" i="0" u="none" strike="noStrike" cap="none" normalizeH="0" baseline="0" dirty="0">
                        <a:ln>
                          <a:noFill/>
                        </a:ln>
                        <a:solidFill>
                          <a:schemeClr val="tx1"/>
                        </a:solidFill>
                        <a:effectLst/>
                        <a:latin typeface="Arial" charset="0"/>
                        <a:ea typeface="ＭＳ Ｐゴシック" pitchFamily="34" charset="-128"/>
                      </a:endParaRPr>
                    </a:p>
                  </a:txBody>
                  <a:tcPr marT="45709" marB="45709" anchor="ctr" horzOverflow="overflow">
                    <a:lnL>
                      <a:noFill/>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vMerge="1">
                  <a:txBody>
                    <a:bodyPr/>
                    <a:lstStyle/>
                    <a:p>
                      <a:endParaRPr lang="en-US"/>
                    </a:p>
                  </a:txBody>
                  <a:tcPr/>
                </a:tc>
                <a:extLst>
                  <a:ext uri="{0D108BD9-81ED-4DB2-BD59-A6C34878D82A}">
                    <a16:rowId xmlns:a16="http://schemas.microsoft.com/office/drawing/2014/main" xmlns="" val="10006"/>
                  </a:ext>
                </a:extLst>
              </a:tr>
              <a:tr h="625324">
                <a:tc>
                  <a:txBody>
                    <a:bodyPr/>
                    <a:lstStyle/>
                    <a:p>
                      <a:pPr marL="0" marR="0" lvl="0" indent="0" algn="l"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bg1"/>
                          </a:solidFill>
                          <a:effectLst/>
                          <a:latin typeface="Arial" charset="0"/>
                          <a:ea typeface="ＭＳ Ｐゴシック" pitchFamily="34" charset="-128"/>
                        </a:rPr>
                        <a:t>Requirement/</a:t>
                      </a:r>
                    </a:p>
                    <a:p>
                      <a:pPr marL="0" marR="0" lvl="0" indent="0" algn="l"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bg1"/>
                          </a:solidFill>
                          <a:effectLst/>
                          <a:latin typeface="Arial" charset="0"/>
                          <a:ea typeface="ＭＳ Ｐゴシック" pitchFamily="34" charset="-128"/>
                        </a:rPr>
                        <a:t>Demand</a:t>
                      </a:r>
                    </a:p>
                    <a:p>
                      <a:pPr marL="0" marR="0" lvl="0" indent="0" algn="l"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endParaRPr kumimoji="0" lang="en-US" sz="1400" b="1" i="0" u="none" strike="noStrike" cap="none" normalizeH="0" baseline="0" dirty="0">
                        <a:ln>
                          <a:noFill/>
                        </a:ln>
                        <a:solidFill>
                          <a:schemeClr val="bg1"/>
                        </a:solidFill>
                        <a:effectLst/>
                        <a:latin typeface="Arial" charset="0"/>
                        <a:ea typeface="ＭＳ Ｐゴシック" pitchFamily="34" charset="-128"/>
                      </a:endParaRP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rgbClr val="63BDE0"/>
                    </a:solidFill>
                  </a:tcPr>
                </a:tc>
                <a:tc gridSpan="2">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tx1"/>
                          </a:solidFill>
                          <a:effectLst/>
                          <a:latin typeface="Arial" charset="0"/>
                          <a:ea typeface="ＭＳ Ｐゴシック" pitchFamily="34" charset="-128"/>
                        </a:rPr>
                        <a:t>1-1=0</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endParaRPr kumimoji="0" lang="en-US" sz="1400" b="1" i="0" u="none" strike="noStrike" cap="none" normalizeH="0" baseline="0" dirty="0">
                        <a:ln>
                          <a:noFill/>
                        </a:ln>
                        <a:solidFill>
                          <a:schemeClr val="tx1"/>
                        </a:solidFill>
                        <a:effectLst/>
                        <a:latin typeface="Arial" charset="0"/>
                        <a:ea typeface="ＭＳ Ｐゴシック" pitchFamily="34" charset="-128"/>
                      </a:endParaRP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7"/>
                  </a:ext>
                </a:extLst>
              </a:tr>
            </a:tbl>
          </a:graphicData>
        </a:graphic>
      </p:graphicFrame>
    </p:spTree>
    <p:extLst>
      <p:ext uri="{BB962C8B-B14F-4D97-AF65-F5344CB8AC3E}">
        <p14:creationId xmlns:p14="http://schemas.microsoft.com/office/powerpoint/2010/main" val="8844436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6" fill="hold" nodeType="afterEffect">
                                  <p:stCondLst>
                                    <p:cond delay="1000"/>
                                  </p:stCondLst>
                                  <p:childTnLst>
                                    <p:set>
                                      <p:cBhvr>
                                        <p:cTn id="6" dur="1" fill="hold">
                                          <p:stCondLst>
                                            <p:cond delay="0"/>
                                          </p:stCondLst>
                                        </p:cTn>
                                        <p:tgtEl>
                                          <p:spTgt spid="5"/>
                                        </p:tgtEl>
                                        <p:attrNameLst>
                                          <p:attrName>style.visibility</p:attrName>
                                        </p:attrNameLst>
                                      </p:cBhvr>
                                      <p:to>
                                        <p:strVal val="visible"/>
                                      </p:to>
                                    </p:set>
                                    <p:animEffect transition="in" filter="strips(downRight)">
                                      <p:cBhvr>
                                        <p:cTn id="7"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solidFill>
                  <a:srgbClr val="C00000"/>
                </a:solidFill>
                <a:latin typeface="Arial" panose="020B0604020202020204" pitchFamily="34" charset="0"/>
                <a:cs typeface="Arial" panose="020B0604020202020204" pitchFamily="34" charset="0"/>
              </a:rPr>
              <a:t>Vogel’s approximation</a:t>
            </a:r>
          </a:p>
        </p:txBody>
      </p:sp>
      <p:sp>
        <p:nvSpPr>
          <p:cNvPr id="6" name="Content Placeholder 5">
            <a:extLst>
              <a:ext uri="{FF2B5EF4-FFF2-40B4-BE49-F238E27FC236}">
                <a16:creationId xmlns:a16="http://schemas.microsoft.com/office/drawing/2014/main" xmlns="" id="{12C3F38F-06D5-4ADF-BB89-374D8DB47BD2}"/>
              </a:ext>
            </a:extLst>
          </p:cNvPr>
          <p:cNvSpPr>
            <a:spLocks noGrp="1"/>
          </p:cNvSpPr>
          <p:nvPr>
            <p:ph idx="1"/>
          </p:nvPr>
        </p:nvSpPr>
        <p:spPr>
          <a:xfrm>
            <a:off x="856060" y="2249486"/>
            <a:ext cx="7429499" cy="4608513"/>
          </a:xfrm>
        </p:spPr>
        <p:txBody>
          <a:bodyPr>
            <a:normAutofit/>
          </a:bodyPr>
          <a:lstStyle/>
          <a:p>
            <a:pPr marL="0" indent="0">
              <a:buNone/>
            </a:pPr>
            <a:endParaRPr lang="en-US" dirty="0">
              <a:latin typeface="Arial" panose="020B0604020202020204" pitchFamily="34" charset="0"/>
              <a:cs typeface="Arial" panose="020B0604020202020204" pitchFamily="34" charset="0"/>
            </a:endParaRPr>
          </a:p>
          <a:p>
            <a:pPr marL="0" indent="0">
              <a:buNone/>
            </a:pPr>
            <a:endParaRPr lang="en-US" dirty="0">
              <a:latin typeface="Arial" panose="020B0604020202020204" pitchFamily="34" charset="0"/>
              <a:cs typeface="Arial" panose="020B0604020202020204" pitchFamily="34" charset="0"/>
            </a:endParaRPr>
          </a:p>
          <a:p>
            <a:pPr marL="0" indent="0">
              <a:buNone/>
            </a:pPr>
            <a:endParaRPr lang="en-US" dirty="0">
              <a:latin typeface="Arial" panose="020B0604020202020204" pitchFamily="34" charset="0"/>
              <a:cs typeface="Arial" panose="020B0604020202020204" pitchFamily="34" charset="0"/>
            </a:endParaRPr>
          </a:p>
        </p:txBody>
      </p:sp>
      <p:graphicFrame>
        <p:nvGraphicFramePr>
          <p:cNvPr id="5" name="Group 123">
            <a:extLst>
              <a:ext uri="{FF2B5EF4-FFF2-40B4-BE49-F238E27FC236}">
                <a16:creationId xmlns:a16="http://schemas.microsoft.com/office/drawing/2014/main" xmlns="" id="{A5DA3B2A-2E25-4DFF-9E0E-EBF2CA28C54C}"/>
              </a:ext>
            </a:extLst>
          </p:cNvPr>
          <p:cNvGraphicFramePr>
            <a:graphicFrameLocks noGrp="1"/>
          </p:cNvGraphicFramePr>
          <p:nvPr>
            <p:extLst>
              <p:ext uri="{D42A27DB-BD31-4B8C-83A1-F6EECF244321}">
                <p14:modId xmlns:p14="http://schemas.microsoft.com/office/powerpoint/2010/main" val="1186988555"/>
              </p:ext>
            </p:extLst>
          </p:nvPr>
        </p:nvGraphicFramePr>
        <p:xfrm>
          <a:off x="856060" y="2249486"/>
          <a:ext cx="6163297" cy="2670976"/>
        </p:xfrm>
        <a:graphic>
          <a:graphicData uri="http://schemas.openxmlformats.org/drawingml/2006/table">
            <a:tbl>
              <a:tblPr/>
              <a:tblGrid>
                <a:gridCol w="1737009">
                  <a:extLst>
                    <a:ext uri="{9D8B030D-6E8A-4147-A177-3AD203B41FA5}">
                      <a16:colId xmlns:a16="http://schemas.microsoft.com/office/drawing/2014/main" xmlns="" val="20000"/>
                    </a:ext>
                  </a:extLst>
                </a:gridCol>
                <a:gridCol w="1019792">
                  <a:extLst>
                    <a:ext uri="{9D8B030D-6E8A-4147-A177-3AD203B41FA5}">
                      <a16:colId xmlns:a16="http://schemas.microsoft.com/office/drawing/2014/main" xmlns="" val="20001"/>
                    </a:ext>
                  </a:extLst>
                </a:gridCol>
                <a:gridCol w="381020">
                  <a:extLst>
                    <a:ext uri="{9D8B030D-6E8A-4147-A177-3AD203B41FA5}">
                      <a16:colId xmlns:a16="http://schemas.microsoft.com/office/drawing/2014/main" xmlns="" val="20002"/>
                    </a:ext>
                  </a:extLst>
                </a:gridCol>
                <a:gridCol w="571532">
                  <a:extLst>
                    <a:ext uri="{9D8B030D-6E8A-4147-A177-3AD203B41FA5}">
                      <a16:colId xmlns:a16="http://schemas.microsoft.com/office/drawing/2014/main" xmlns="" val="20003"/>
                    </a:ext>
                  </a:extLst>
                </a:gridCol>
                <a:gridCol w="372347">
                  <a:extLst>
                    <a:ext uri="{9D8B030D-6E8A-4147-A177-3AD203B41FA5}">
                      <a16:colId xmlns:a16="http://schemas.microsoft.com/office/drawing/2014/main" xmlns="" val="20004"/>
                    </a:ext>
                  </a:extLst>
                </a:gridCol>
                <a:gridCol w="415204">
                  <a:extLst>
                    <a:ext uri="{9D8B030D-6E8A-4147-A177-3AD203B41FA5}">
                      <a16:colId xmlns:a16="http://schemas.microsoft.com/office/drawing/2014/main" xmlns="" val="20005"/>
                    </a:ext>
                  </a:extLst>
                </a:gridCol>
                <a:gridCol w="500915">
                  <a:extLst>
                    <a:ext uri="{9D8B030D-6E8A-4147-A177-3AD203B41FA5}">
                      <a16:colId xmlns:a16="http://schemas.microsoft.com/office/drawing/2014/main" xmlns="" val="20006"/>
                    </a:ext>
                  </a:extLst>
                </a:gridCol>
                <a:gridCol w="1165478">
                  <a:extLst>
                    <a:ext uri="{9D8B030D-6E8A-4147-A177-3AD203B41FA5}">
                      <a16:colId xmlns:a16="http://schemas.microsoft.com/office/drawing/2014/main" xmlns="" val="20007"/>
                    </a:ext>
                  </a:extLst>
                </a:gridCol>
              </a:tblGrid>
              <a:tr h="555364">
                <a:tc>
                  <a:txBody>
                    <a:bodyPr/>
                    <a:lstStyle/>
                    <a:p>
                      <a:pPr marL="0" marR="0" lvl="0" indent="0" algn="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bg1"/>
                          </a:solidFill>
                          <a:effectLst/>
                          <a:latin typeface="Arial" charset="0"/>
                          <a:ea typeface="ＭＳ Ｐゴシック" pitchFamily="34" charset="-128"/>
                        </a:rPr>
                        <a:t>TO</a:t>
                      </a:r>
                    </a:p>
                    <a:p>
                      <a:pPr marL="0" marR="0" lvl="0" indent="0" algn="l"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bg1"/>
                          </a:solidFill>
                          <a:effectLst/>
                          <a:latin typeface="Arial" charset="0"/>
                          <a:ea typeface="ＭＳ Ｐゴシック" pitchFamily="34" charset="-128"/>
                        </a:rPr>
                        <a:t>FROM</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9050" cap="flat" cmpd="sng" algn="ctr">
                      <a:solidFill>
                        <a:schemeClr val="tx1"/>
                      </a:solidFill>
                      <a:prstDash val="solid"/>
                      <a:round/>
                      <a:headEnd type="none" w="med" len="med"/>
                      <a:tailEnd type="none" w="med" len="med"/>
                    </a:lnTlToBr>
                    <a:lnBlToTr>
                      <a:noFill/>
                    </a:lnBlToTr>
                    <a:solidFill>
                      <a:srgbClr val="63BDE0"/>
                    </a:solidFill>
                  </a:tcPr>
                </a:tc>
                <a:tc gridSpan="2">
                  <a:txBody>
                    <a:bodyPr/>
                    <a:lstStyle/>
                    <a:p>
                      <a:pPr marL="0" marR="0" lvl="0" indent="0" algn="l"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bg1"/>
                          </a:solidFill>
                          <a:effectLst/>
                          <a:latin typeface="Arial" charset="0"/>
                          <a:ea typeface="ＭＳ Ｐゴシック" pitchFamily="34" charset="-128"/>
                        </a:rPr>
                        <a:t>Peshawar </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rgbClr val="63BDE0"/>
                    </a:solidFill>
                  </a:tcPr>
                </a:tc>
                <a:tc hMerge="1">
                  <a:txBody>
                    <a:bodyPr/>
                    <a:lstStyle/>
                    <a:p>
                      <a:endParaRPr lang="en-US"/>
                    </a:p>
                  </a:txBody>
                  <a:tcPr/>
                </a:tc>
                <a:tc gridSpan="2">
                  <a:txBody>
                    <a:bodyPr/>
                    <a:lstStyle/>
                    <a:p>
                      <a:pPr marL="0" marR="0" lvl="0" indent="0" algn="l"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bg1"/>
                          </a:solidFill>
                          <a:effectLst/>
                          <a:latin typeface="Arial" charset="0"/>
                          <a:ea typeface="ＭＳ Ｐゴシック" pitchFamily="34" charset="-128"/>
                        </a:rPr>
                        <a:t>Sialkot</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rgbClr val="63BDE0"/>
                    </a:solidFill>
                  </a:tcPr>
                </a:tc>
                <a:tc hMerge="1">
                  <a:txBody>
                    <a:bodyPr/>
                    <a:lstStyle/>
                    <a:p>
                      <a:endParaRPr lang="en-US"/>
                    </a:p>
                  </a:txBody>
                  <a:tcPr/>
                </a:tc>
                <a:tc gridSpan="2">
                  <a:txBody>
                    <a:bodyPr/>
                    <a:lstStyle/>
                    <a:p>
                      <a:pPr marL="0" marR="0" lvl="0" indent="0" algn="l"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bg1"/>
                          </a:solidFill>
                          <a:effectLst/>
                          <a:latin typeface="Arial" charset="0"/>
                          <a:ea typeface="ＭＳ Ｐゴシック" pitchFamily="34" charset="-128"/>
                        </a:rPr>
                        <a:t> Multan</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rgbClr val="63BDE0"/>
                    </a:solidFill>
                  </a:tcPr>
                </a:tc>
                <a:tc hMerge="1">
                  <a:txBody>
                    <a:bodyPr/>
                    <a:lstStyle/>
                    <a:p>
                      <a:endParaRPr lang="en-US"/>
                    </a:p>
                  </a:txBody>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bg1"/>
                          </a:solidFill>
                          <a:effectLst/>
                          <a:latin typeface="Arial" charset="0"/>
                          <a:ea typeface="ＭＳ Ｐゴシック" pitchFamily="34" charset="-128"/>
                        </a:rPr>
                        <a:t>FACTORY CAPACITY/Supply</a:t>
                      </a:r>
                    </a:p>
                  </a:txBody>
                  <a:tcPr marT="45709" marB="45709" anchor="b"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rgbClr val="63BDE0"/>
                    </a:solidFill>
                  </a:tcPr>
                </a:tc>
                <a:extLst>
                  <a:ext uri="{0D108BD9-81ED-4DB2-BD59-A6C34878D82A}">
                    <a16:rowId xmlns:a16="http://schemas.microsoft.com/office/drawing/2014/main" xmlns="" val="10000"/>
                  </a:ext>
                </a:extLst>
              </a:tr>
              <a:tr h="312663">
                <a:tc rowSpan="2">
                  <a:txBody>
                    <a:bodyPr/>
                    <a:lstStyle/>
                    <a:p>
                      <a:pPr marL="0" marR="0" lvl="0" indent="0" algn="l"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bg1"/>
                          </a:solidFill>
                          <a:effectLst/>
                          <a:latin typeface="Arial" charset="0"/>
                          <a:ea typeface="ＭＳ Ｐゴシック" pitchFamily="34" charset="-128"/>
                        </a:rPr>
                        <a:t> </a:t>
                      </a:r>
                      <a:br>
                        <a:rPr kumimoji="0" lang="en-US" sz="1400" b="1" i="0" u="none" strike="noStrike" cap="none" normalizeH="0" baseline="0" dirty="0">
                          <a:ln>
                            <a:noFill/>
                          </a:ln>
                          <a:solidFill>
                            <a:schemeClr val="bg1"/>
                          </a:solidFill>
                          <a:effectLst/>
                          <a:latin typeface="Arial" charset="0"/>
                          <a:ea typeface="ＭＳ Ｐゴシック" pitchFamily="34" charset="-128"/>
                        </a:rPr>
                      </a:br>
                      <a:r>
                        <a:rPr kumimoji="0" lang="en-US" sz="1400" b="1" i="0" u="none" strike="noStrike" cap="none" normalizeH="0" baseline="0" dirty="0">
                          <a:ln>
                            <a:noFill/>
                          </a:ln>
                          <a:solidFill>
                            <a:schemeClr val="bg1"/>
                          </a:solidFill>
                          <a:effectLst/>
                          <a:latin typeface="Arial" charset="0"/>
                          <a:ea typeface="ＭＳ Ｐゴシック" pitchFamily="34" charset="-128"/>
                        </a:rPr>
                        <a:t>Karachi</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rgbClr val="63BDE0"/>
                    </a:solidFill>
                  </a:tcPr>
                </a:tc>
                <a:tc rowSpan="2">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tx1"/>
                          </a:solidFill>
                          <a:effectLst>
                            <a:outerShdw blurRad="38100" dist="38100" dir="2700000" algn="tl">
                              <a:srgbClr val="C0C0C0"/>
                            </a:outerShdw>
                          </a:effectLst>
                          <a:latin typeface="Arial" charset="0"/>
                          <a:ea typeface="ＭＳ Ｐゴシック" pitchFamily="34" charset="-128"/>
                        </a:rPr>
                        <a:t>13</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endParaRPr kumimoji="0" lang="en-US" sz="1400" b="1" i="0" u="none" strike="noStrike" cap="none" normalizeH="0" baseline="0" dirty="0">
                        <a:ln>
                          <a:noFill/>
                        </a:ln>
                        <a:solidFill>
                          <a:schemeClr val="tx1"/>
                        </a:solidFill>
                        <a:effectLst/>
                        <a:latin typeface="Arial" charset="0"/>
                        <a:ea typeface="ＭＳ Ｐゴシック" pitchFamily="34" charset="-128"/>
                      </a:endParaRP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accent2">
                              <a:lumMod val="75000"/>
                            </a:schemeClr>
                          </a:solidFill>
                          <a:effectLst/>
                          <a:latin typeface="Arial" charset="0"/>
                          <a:ea typeface="ＭＳ Ｐゴシック" pitchFamily="34" charset="-128"/>
                        </a:rPr>
                        <a:t>11</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tx1"/>
                          </a:solidFill>
                          <a:effectLst/>
                          <a:latin typeface="Arial" charset="0"/>
                          <a:ea typeface="ＭＳ Ｐゴシック" pitchFamily="34" charset="-128"/>
                        </a:rPr>
                        <a:t>2</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tx1"/>
                          </a:solidFill>
                          <a:effectLst/>
                          <a:latin typeface="Arial" charset="0"/>
                          <a:ea typeface="ＭＳ Ｐゴシック" pitchFamily="34" charset="-128"/>
                        </a:rPr>
                        <a:t>40</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endParaRPr kumimoji="0" lang="en-US" sz="1400" b="1" i="0" u="none" strike="noStrike" cap="none" normalizeH="0" baseline="0" dirty="0">
                        <a:ln>
                          <a:noFill/>
                        </a:ln>
                        <a:solidFill>
                          <a:schemeClr val="tx1"/>
                        </a:solidFill>
                        <a:effectLst/>
                        <a:latin typeface="Arial" charset="0"/>
                        <a:ea typeface="ＭＳ Ｐゴシック" pitchFamily="34" charset="-128"/>
                      </a:endParaRP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tx1"/>
                          </a:solidFill>
                          <a:effectLst/>
                          <a:latin typeface="Arial" charset="0"/>
                          <a:ea typeface="ＭＳ Ｐゴシック" pitchFamily="34" charset="-128"/>
                        </a:rPr>
                        <a:t>2</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1"/>
                  </a:ext>
                </a:extLst>
              </a:tr>
              <a:tr h="312663">
                <a:tc vMerge="1">
                  <a:txBody>
                    <a:bodyPr/>
                    <a:lstStyle/>
                    <a:p>
                      <a:endParaRPr lang="en-US"/>
                    </a:p>
                  </a:txBody>
                  <a:tcPr/>
                </a:tc>
                <a:tc vMerge="1">
                  <a:txBody>
                    <a:bodyPr/>
                    <a:lstStyle/>
                    <a:p>
                      <a:endParaRPr lang="en-US"/>
                    </a:p>
                  </a:txBody>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endParaRPr kumimoji="0" lang="en-US" sz="1400" b="1" i="0" u="none" strike="noStrike" cap="none" normalizeH="0" baseline="0" dirty="0">
                        <a:ln>
                          <a:noFill/>
                        </a:ln>
                        <a:solidFill>
                          <a:schemeClr val="tx1"/>
                        </a:solidFill>
                        <a:effectLst/>
                        <a:latin typeface="Arial" charset="0"/>
                        <a:ea typeface="ＭＳ Ｐゴシック" pitchFamily="34" charset="-128"/>
                      </a:endParaRPr>
                    </a:p>
                  </a:txBody>
                  <a:tcPr marT="45709" marB="45709" anchor="ctr" horzOverflow="overflow">
                    <a:lnL>
                      <a:noFill/>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vMerge="1">
                  <a:txBody>
                    <a:bodyPr/>
                    <a:lstStyle/>
                    <a:p>
                      <a:endParaRPr lang="en-US"/>
                    </a:p>
                  </a:txBody>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endParaRPr kumimoji="0" lang="en-US" sz="1400" b="1" i="0" u="none" strike="noStrike" cap="none" normalizeH="0" baseline="0" dirty="0">
                        <a:ln>
                          <a:noFill/>
                        </a:ln>
                        <a:solidFill>
                          <a:schemeClr val="tx1"/>
                        </a:solidFill>
                        <a:effectLst/>
                        <a:latin typeface="Arial" charset="0"/>
                        <a:ea typeface="ＭＳ Ｐゴシック" pitchFamily="34" charset="-128"/>
                      </a:endParaRPr>
                    </a:p>
                  </a:txBody>
                  <a:tcPr marT="45709" marB="45709" anchor="ctr" horzOverflow="overflow">
                    <a:lnL>
                      <a:noFill/>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vMerge="1">
                  <a:txBody>
                    <a:bodyPr/>
                    <a:lstStyle/>
                    <a:p>
                      <a:endParaRPr lang="en-US"/>
                    </a:p>
                  </a:txBody>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endParaRPr kumimoji="0" lang="en-US" sz="1400" b="1" i="0" u="none" strike="noStrike" cap="none" normalizeH="0" baseline="0" dirty="0">
                        <a:ln>
                          <a:noFill/>
                        </a:ln>
                        <a:solidFill>
                          <a:schemeClr val="tx1"/>
                        </a:solidFill>
                        <a:effectLst/>
                        <a:latin typeface="Arial" charset="0"/>
                        <a:ea typeface="ＭＳ Ｐゴシック" pitchFamily="34" charset="-128"/>
                      </a:endParaRPr>
                    </a:p>
                  </a:txBody>
                  <a:tcPr marT="45709" marB="45709" anchor="ctr" horzOverflow="overflow">
                    <a:lnL>
                      <a:noFill/>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vMerge="1">
                  <a:txBody>
                    <a:bodyPr/>
                    <a:lstStyle/>
                    <a:p>
                      <a:endParaRPr lang="en-US"/>
                    </a:p>
                  </a:txBody>
                  <a:tcPr/>
                </a:tc>
                <a:extLst>
                  <a:ext uri="{0D108BD9-81ED-4DB2-BD59-A6C34878D82A}">
                    <a16:rowId xmlns:a16="http://schemas.microsoft.com/office/drawing/2014/main" xmlns="" val="10002"/>
                  </a:ext>
                </a:extLst>
              </a:tr>
              <a:tr h="312663">
                <a:tc rowSpan="2">
                  <a:txBody>
                    <a:bodyPr/>
                    <a:lstStyle/>
                    <a:p>
                      <a:pPr marL="0" marR="0" lvl="0" indent="0" algn="l"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bg1"/>
                          </a:solidFill>
                          <a:effectLst/>
                          <a:latin typeface="Arial" charset="0"/>
                          <a:ea typeface="ＭＳ Ｐゴシック" pitchFamily="34" charset="-128"/>
                        </a:rPr>
                        <a:t>Lahore</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rgbClr val="63BDE0"/>
                    </a:solidFill>
                  </a:tcPr>
                </a:tc>
                <a:tc rowSpan="2">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accent2">
                              <a:lumMod val="75000"/>
                            </a:schemeClr>
                          </a:solidFill>
                          <a:effectLst/>
                          <a:latin typeface="Arial" charset="0"/>
                          <a:ea typeface="ＭＳ Ｐゴシック" pitchFamily="34" charset="-128"/>
                        </a:rPr>
                        <a:t>18</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tx1"/>
                          </a:solidFill>
                          <a:effectLst/>
                          <a:latin typeface="Arial" charset="0"/>
                          <a:ea typeface="ＭＳ Ｐゴシック" pitchFamily="34" charset="-128"/>
                        </a:rPr>
                        <a:t>1</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accent2">
                              <a:lumMod val="75000"/>
                            </a:schemeClr>
                          </a:solidFill>
                          <a:effectLst/>
                          <a:latin typeface="Arial" charset="0"/>
                          <a:ea typeface="ＭＳ Ｐゴシック" pitchFamily="34" charset="-128"/>
                        </a:rPr>
                        <a:t>18</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tx1"/>
                          </a:solidFill>
                          <a:effectLst/>
                          <a:latin typeface="Arial" charset="0"/>
                          <a:ea typeface="ＭＳ Ｐゴシック" pitchFamily="34" charset="-128"/>
                        </a:rPr>
                        <a:t>1</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accent2">
                              <a:lumMod val="75000"/>
                            </a:schemeClr>
                          </a:solidFill>
                          <a:effectLst/>
                          <a:latin typeface="Arial" charset="0"/>
                          <a:ea typeface="ＭＳ Ｐゴシック" pitchFamily="34" charset="-128"/>
                        </a:rPr>
                        <a:t>12</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tx1"/>
                          </a:solidFill>
                          <a:effectLst/>
                          <a:latin typeface="Arial" charset="0"/>
                          <a:ea typeface="ＭＳ Ｐゴシック" pitchFamily="34" charset="-128"/>
                        </a:rPr>
                        <a:t>5</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tx1"/>
                          </a:solidFill>
                          <a:effectLst/>
                          <a:latin typeface="Arial" charset="0"/>
                          <a:ea typeface="ＭＳ Ｐゴシック" pitchFamily="34" charset="-128"/>
                        </a:rPr>
                        <a:t>7</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5"/>
                  </a:ext>
                </a:extLst>
              </a:tr>
              <a:tr h="312663">
                <a:tc vMerge="1">
                  <a:txBody>
                    <a:bodyPr/>
                    <a:lstStyle/>
                    <a:p>
                      <a:endParaRPr lang="en-US"/>
                    </a:p>
                  </a:txBody>
                  <a:tcPr/>
                </a:tc>
                <a:tc vMerge="1">
                  <a:txBody>
                    <a:bodyPr/>
                    <a:lstStyle/>
                    <a:p>
                      <a:endParaRPr lang="en-US"/>
                    </a:p>
                  </a:txBody>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endParaRPr kumimoji="0" lang="en-US" sz="1400" b="1" i="0" u="none" strike="noStrike" cap="none" normalizeH="0" baseline="0" dirty="0">
                        <a:ln>
                          <a:noFill/>
                        </a:ln>
                        <a:solidFill>
                          <a:schemeClr val="tx1"/>
                        </a:solidFill>
                        <a:effectLst/>
                        <a:latin typeface="Arial" charset="0"/>
                        <a:ea typeface="ＭＳ Ｐゴシック" pitchFamily="34" charset="-128"/>
                      </a:endParaRPr>
                    </a:p>
                  </a:txBody>
                  <a:tcPr marT="45709" marB="45709" anchor="ctr" horzOverflow="overflow">
                    <a:lnL>
                      <a:noFill/>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vMerge="1">
                  <a:txBody>
                    <a:bodyPr/>
                    <a:lstStyle/>
                    <a:p>
                      <a:endParaRPr lang="en-US"/>
                    </a:p>
                  </a:txBody>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endParaRPr kumimoji="0" lang="en-US" sz="1400" b="1" i="0" u="none" strike="noStrike" cap="none" normalizeH="0" baseline="0" dirty="0">
                        <a:ln>
                          <a:noFill/>
                        </a:ln>
                        <a:solidFill>
                          <a:schemeClr val="tx1"/>
                        </a:solidFill>
                        <a:effectLst/>
                        <a:latin typeface="Arial" charset="0"/>
                        <a:ea typeface="ＭＳ Ｐゴシック" pitchFamily="34" charset="-128"/>
                      </a:endParaRPr>
                    </a:p>
                  </a:txBody>
                  <a:tcPr marT="45709" marB="45709" anchor="ctr" horzOverflow="overflow">
                    <a:lnL>
                      <a:noFill/>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vMerge="1">
                  <a:txBody>
                    <a:bodyPr/>
                    <a:lstStyle/>
                    <a:p>
                      <a:endParaRPr lang="en-US"/>
                    </a:p>
                  </a:txBody>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endParaRPr kumimoji="0" lang="en-US" sz="1400" b="1" i="0" u="none" strike="noStrike" cap="none" normalizeH="0" baseline="0" dirty="0">
                        <a:ln>
                          <a:noFill/>
                        </a:ln>
                        <a:solidFill>
                          <a:schemeClr val="tx1"/>
                        </a:solidFill>
                        <a:effectLst/>
                        <a:latin typeface="Arial" charset="0"/>
                        <a:ea typeface="ＭＳ Ｐゴシック" pitchFamily="34" charset="-128"/>
                      </a:endParaRPr>
                    </a:p>
                  </a:txBody>
                  <a:tcPr marT="45709" marB="45709" anchor="ctr" horzOverflow="overflow">
                    <a:lnL>
                      <a:noFill/>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vMerge="1">
                  <a:txBody>
                    <a:bodyPr/>
                    <a:lstStyle/>
                    <a:p>
                      <a:endParaRPr lang="en-US"/>
                    </a:p>
                  </a:txBody>
                  <a:tcPr/>
                </a:tc>
                <a:extLst>
                  <a:ext uri="{0D108BD9-81ED-4DB2-BD59-A6C34878D82A}">
                    <a16:rowId xmlns:a16="http://schemas.microsoft.com/office/drawing/2014/main" xmlns="" val="10006"/>
                  </a:ext>
                </a:extLst>
              </a:tr>
              <a:tr h="625324">
                <a:tc>
                  <a:txBody>
                    <a:bodyPr/>
                    <a:lstStyle/>
                    <a:p>
                      <a:pPr marL="0" marR="0" lvl="0" indent="0" algn="l"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bg1"/>
                          </a:solidFill>
                          <a:effectLst/>
                          <a:latin typeface="Arial" charset="0"/>
                          <a:ea typeface="ＭＳ Ｐゴシック" pitchFamily="34" charset="-128"/>
                        </a:rPr>
                        <a:t>Requirement/</a:t>
                      </a:r>
                    </a:p>
                    <a:p>
                      <a:pPr marL="0" marR="0" lvl="0" indent="0" algn="l"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bg1"/>
                          </a:solidFill>
                          <a:effectLst/>
                          <a:latin typeface="Arial" charset="0"/>
                          <a:ea typeface="ＭＳ Ｐゴシック" pitchFamily="34" charset="-128"/>
                        </a:rPr>
                        <a:t>Demand</a:t>
                      </a:r>
                    </a:p>
                    <a:p>
                      <a:pPr marL="0" marR="0" lvl="0" indent="0" algn="l"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endParaRPr kumimoji="0" lang="en-US" sz="1400" b="1" i="0" u="none" strike="noStrike" cap="none" normalizeH="0" baseline="0" dirty="0">
                        <a:ln>
                          <a:noFill/>
                        </a:ln>
                        <a:solidFill>
                          <a:schemeClr val="bg1"/>
                        </a:solidFill>
                        <a:effectLst/>
                        <a:latin typeface="Arial" charset="0"/>
                        <a:ea typeface="ＭＳ Ｐゴシック" pitchFamily="34" charset="-128"/>
                      </a:endParaRP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rgbClr val="63BDE0"/>
                    </a:solidFill>
                  </a:tcPr>
                </a:tc>
                <a:tc gridSpan="2">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tx1"/>
                          </a:solidFill>
                          <a:effectLst/>
                          <a:latin typeface="Arial" charset="0"/>
                          <a:ea typeface="ＭＳ Ｐゴシック" pitchFamily="34" charset="-128"/>
                        </a:rPr>
                        <a:t>1</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tc gridSpan="2">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tx1"/>
                          </a:solidFill>
                          <a:effectLst/>
                          <a:latin typeface="Arial" charset="0"/>
                          <a:ea typeface="ＭＳ Ｐゴシック" pitchFamily="34" charset="-128"/>
                        </a:rPr>
                        <a:t>3</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tc gridSpan="2">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tx1"/>
                          </a:solidFill>
                          <a:effectLst/>
                          <a:latin typeface="Arial" charset="0"/>
                          <a:ea typeface="ＭＳ Ｐゴシック" pitchFamily="34" charset="-128"/>
                        </a:rPr>
                        <a:t>5</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endParaRPr kumimoji="0" lang="en-US" sz="1400" b="1" i="0" u="none" strike="noStrike" cap="none" normalizeH="0" baseline="0" dirty="0">
                        <a:ln>
                          <a:noFill/>
                        </a:ln>
                        <a:solidFill>
                          <a:schemeClr val="tx1"/>
                        </a:solidFill>
                        <a:effectLst/>
                        <a:latin typeface="Arial" charset="0"/>
                        <a:ea typeface="ＭＳ Ｐゴシック" pitchFamily="34" charset="-128"/>
                      </a:endParaRP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7"/>
                  </a:ext>
                </a:extLst>
              </a:tr>
            </a:tbl>
          </a:graphicData>
        </a:graphic>
      </p:graphicFrame>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xmlns="" id="{2E1F48E8-79E6-4AA1-B5A8-8C4D71E0C041}"/>
                  </a:ext>
                </a:extLst>
              </p:cNvPr>
              <p:cNvSpPr txBox="1"/>
              <p:nvPr/>
            </p:nvSpPr>
            <p:spPr>
              <a:xfrm>
                <a:off x="1097280" y="5333032"/>
                <a:ext cx="5837239" cy="1477328"/>
              </a:xfrm>
              <a:prstGeom prst="rect">
                <a:avLst/>
              </a:prstGeom>
              <a:noFill/>
            </p:spPr>
            <p:txBody>
              <a:bodyPr wrap="none" lIns="0" tIns="0" rIns="0" bIns="0" rtlCol="0">
                <a:spAutoFit/>
              </a:bodyPr>
              <a:lstStyle/>
              <a:p>
                <a14:m>
                  <m:oMath xmlns:m="http://schemas.openxmlformats.org/officeDocument/2006/math">
                    <m:r>
                      <m:rPr>
                        <m:sty m:val="p"/>
                      </m:rPr>
                      <a:rPr lang="en-US" sz="2400" b="0" i="0" smtClean="0">
                        <a:latin typeface="Cambria Math" panose="02040503050406030204" pitchFamily="18" charset="0"/>
                      </a:rPr>
                      <m:t>Total</m:t>
                    </m:r>
                    <m:r>
                      <a:rPr lang="en-US" sz="2400" b="0" i="0" smtClean="0">
                        <a:latin typeface="Cambria Math" panose="02040503050406030204" pitchFamily="18" charset="0"/>
                      </a:rPr>
                      <m:t> </m:t>
                    </m:r>
                    <m:r>
                      <m:rPr>
                        <m:sty m:val="p"/>
                      </m:rPr>
                      <a:rPr lang="en-US" sz="2400" b="0" i="0" smtClean="0">
                        <a:latin typeface="Cambria Math" panose="02040503050406030204" pitchFamily="18" charset="0"/>
                      </a:rPr>
                      <m:t>Cost</m:t>
                    </m:r>
                    <m:r>
                      <a:rPr lang="en-US" sz="2400" b="1" i="0" smtClean="0">
                        <a:latin typeface="Cambria Math" panose="02040503050406030204" pitchFamily="18" charset="0"/>
                      </a:rPr>
                      <m:t>=</m:t>
                    </m:r>
                  </m:oMath>
                </a14:m>
                <a:r>
                  <a:rPr lang="en-US" sz="2400" dirty="0"/>
                  <a:t>11</a:t>
                </a:r>
                <a14:m>
                  <m:oMath xmlns:m="http://schemas.openxmlformats.org/officeDocument/2006/math">
                    <m:r>
                      <a:rPr lang="en-US" sz="2400" i="1" dirty="0">
                        <a:latin typeface="Cambria Math" panose="02040503050406030204" pitchFamily="18" charset="0"/>
                        <a:ea typeface="Cambria Math" panose="02040503050406030204" pitchFamily="18" charset="0"/>
                      </a:rPr>
                      <m:t>×</m:t>
                    </m:r>
                  </m:oMath>
                </a14:m>
                <a:r>
                  <a:rPr lang="en-US" sz="2400" dirty="0"/>
                  <a:t>2+18</a:t>
                </a:r>
                <a14:m>
                  <m:oMath xmlns:m="http://schemas.openxmlformats.org/officeDocument/2006/math">
                    <m:r>
                      <a:rPr lang="en-US" sz="2400" i="1" dirty="0" smtClean="0">
                        <a:latin typeface="Cambria Math" panose="02040503050406030204" pitchFamily="18" charset="0"/>
                        <a:ea typeface="Cambria Math" panose="02040503050406030204" pitchFamily="18" charset="0"/>
                      </a:rPr>
                      <m:t>×</m:t>
                    </m:r>
                    <m:r>
                      <a:rPr lang="en-US" sz="2400" b="0" i="1" dirty="0" smtClean="0">
                        <a:latin typeface="Cambria Math" panose="02040503050406030204" pitchFamily="18" charset="0"/>
                        <a:ea typeface="Cambria Math" panose="02040503050406030204" pitchFamily="18" charset="0"/>
                      </a:rPr>
                      <m:t>1+18</m:t>
                    </m:r>
                    <m:r>
                      <a:rPr lang="en-US" sz="2400" i="1" dirty="0">
                        <a:latin typeface="Cambria Math" panose="02040503050406030204" pitchFamily="18" charset="0"/>
                        <a:ea typeface="Cambria Math" panose="02040503050406030204" pitchFamily="18" charset="0"/>
                      </a:rPr>
                      <m:t>×</m:t>
                    </m:r>
                    <m:r>
                      <a:rPr lang="en-US" sz="2400" b="0" i="1" dirty="0" smtClean="0">
                        <a:latin typeface="Cambria Math" panose="02040503050406030204" pitchFamily="18" charset="0"/>
                        <a:ea typeface="Cambria Math" panose="02040503050406030204" pitchFamily="18" charset="0"/>
                      </a:rPr>
                      <m:t>1+12</m:t>
                    </m:r>
                    <m:r>
                      <a:rPr lang="en-US" sz="2400" i="1" dirty="0">
                        <a:latin typeface="Cambria Math" panose="02040503050406030204" pitchFamily="18" charset="0"/>
                        <a:ea typeface="Cambria Math" panose="02040503050406030204" pitchFamily="18" charset="0"/>
                      </a:rPr>
                      <m:t>×</m:t>
                    </m:r>
                    <m:r>
                      <a:rPr lang="en-US" sz="2400" b="0" i="1" dirty="0" smtClean="0">
                        <a:latin typeface="Cambria Math" panose="02040503050406030204" pitchFamily="18" charset="0"/>
                        <a:ea typeface="Cambria Math" panose="02040503050406030204" pitchFamily="18" charset="0"/>
                      </a:rPr>
                      <m:t>5</m:t>
                    </m:r>
                  </m:oMath>
                </a14:m>
                <a:endParaRPr lang="en-US" sz="2400" b="0" dirty="0">
                  <a:ea typeface="Cambria Math" panose="02040503050406030204" pitchFamily="18" charset="0"/>
                </a:endParaRPr>
              </a:p>
              <a:p>
                <a:r>
                  <a:rPr lang="en-US" sz="2400" dirty="0"/>
                  <a:t>                 =22+18+18+60</a:t>
                </a:r>
              </a:p>
              <a:p>
                <a:r>
                  <a:rPr lang="en-US" sz="2400" dirty="0"/>
                  <a:t>                 =</a:t>
                </a:r>
                <a:r>
                  <a:rPr lang="en-US" sz="2400" dirty="0" smtClean="0"/>
                  <a:t>118</a:t>
                </a:r>
              </a:p>
              <a:p>
                <a:endParaRPr lang="en-US" sz="2400" dirty="0"/>
              </a:p>
            </p:txBody>
          </p:sp>
        </mc:Choice>
        <mc:Fallback xmlns="">
          <p:sp>
            <p:nvSpPr>
              <p:cNvPr id="7" name="TextBox 6">
                <a:extLst>
                  <a:ext uri="{FF2B5EF4-FFF2-40B4-BE49-F238E27FC236}">
                    <a16:creationId xmlns:a16="http://schemas.microsoft.com/office/drawing/2014/main" xmlns="" xmlns:a14="http://schemas.microsoft.com/office/drawing/2010/main" id="{2E1F48E8-79E6-4AA1-B5A8-8C4D71E0C041}"/>
                  </a:ext>
                </a:extLst>
              </p:cNvPr>
              <p:cNvSpPr txBox="1">
                <a:spLocks noRot="1" noChangeAspect="1" noMove="1" noResize="1" noEditPoints="1" noAdjustHandles="1" noChangeArrowheads="1" noChangeShapeType="1" noTextEdit="1"/>
              </p:cNvSpPr>
              <p:nvPr/>
            </p:nvSpPr>
            <p:spPr>
              <a:xfrm>
                <a:off x="1097280" y="5333032"/>
                <a:ext cx="5837239" cy="1477328"/>
              </a:xfrm>
              <a:prstGeom prst="rect">
                <a:avLst/>
              </a:prstGeom>
              <a:blipFill rotWithShape="1">
                <a:blip r:embed="rId2"/>
                <a:stretch>
                  <a:fillRect l="-3132" t="-6612" r="-3758" b="-11570"/>
                </a:stretch>
              </a:blipFill>
            </p:spPr>
            <p:txBody>
              <a:bodyPr/>
              <a:lstStyle/>
              <a:p>
                <a:r>
                  <a:rPr lang="en-GB">
                    <a:noFill/>
                  </a:rPr>
                  <a:t> </a:t>
                </a:r>
              </a:p>
            </p:txBody>
          </p:sp>
        </mc:Fallback>
      </mc:AlternateContent>
    </p:spTree>
    <p:extLst>
      <p:ext uri="{BB962C8B-B14F-4D97-AF65-F5344CB8AC3E}">
        <p14:creationId xmlns:p14="http://schemas.microsoft.com/office/powerpoint/2010/main" val="24967553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6" fill="hold" nodeType="afterEffect">
                                  <p:stCondLst>
                                    <p:cond delay="1000"/>
                                  </p:stCondLst>
                                  <p:childTnLst>
                                    <p:set>
                                      <p:cBhvr>
                                        <p:cTn id="6" dur="1" fill="hold">
                                          <p:stCondLst>
                                            <p:cond delay="0"/>
                                          </p:stCondLst>
                                        </p:cTn>
                                        <p:tgtEl>
                                          <p:spTgt spid="5"/>
                                        </p:tgtEl>
                                        <p:attrNameLst>
                                          <p:attrName>style.visibility</p:attrName>
                                        </p:attrNameLst>
                                      </p:cBhvr>
                                      <p:to>
                                        <p:strVal val="visible"/>
                                      </p:to>
                                    </p:set>
                                    <p:animEffect transition="in" filter="strips(downRight)">
                                      <p:cBhvr>
                                        <p:cTn id="7"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solidFill>
                  <a:srgbClr val="C00000"/>
                </a:solidFill>
                <a:latin typeface="Arial" panose="020B0604020202020204" pitchFamily="34" charset="0"/>
                <a:cs typeface="Arial" panose="020B0604020202020204" pitchFamily="34" charset="0"/>
              </a:rPr>
              <a:t>Task</a:t>
            </a:r>
          </a:p>
        </p:txBody>
      </p:sp>
      <p:sp>
        <p:nvSpPr>
          <p:cNvPr id="6" name="Content Placeholder 5">
            <a:extLst>
              <a:ext uri="{FF2B5EF4-FFF2-40B4-BE49-F238E27FC236}">
                <a16:creationId xmlns:a16="http://schemas.microsoft.com/office/drawing/2014/main" xmlns="" id="{12C3F38F-06D5-4ADF-BB89-374D8DB47BD2}"/>
              </a:ext>
            </a:extLst>
          </p:cNvPr>
          <p:cNvSpPr>
            <a:spLocks noGrp="1"/>
          </p:cNvSpPr>
          <p:nvPr>
            <p:ph idx="1"/>
          </p:nvPr>
        </p:nvSpPr>
        <p:spPr>
          <a:xfrm>
            <a:off x="856060" y="2249486"/>
            <a:ext cx="7429499" cy="4608513"/>
          </a:xfrm>
        </p:spPr>
        <p:txBody>
          <a:bodyPr>
            <a:normAutofit/>
          </a:bodyPr>
          <a:lstStyle/>
          <a:p>
            <a:pPr marL="0" indent="0" algn="just">
              <a:buNone/>
            </a:pPr>
            <a:r>
              <a:rPr lang="en-US" dirty="0">
                <a:effectLst/>
                <a:latin typeface="Arial" panose="020B0604020202020204" pitchFamily="34" charset="0"/>
                <a:cs typeface="Arial" panose="020B0604020202020204" pitchFamily="34" charset="0"/>
              </a:rPr>
              <a:t>Given table indicates the cost of the products from the factory 1, 2 and 3 to different whole sales market.</a:t>
            </a:r>
          </a:p>
          <a:p>
            <a:pPr marL="0" indent="0" algn="just">
              <a:buNone/>
            </a:pPr>
            <a:r>
              <a:rPr lang="en-US" dirty="0">
                <a:effectLst/>
                <a:latin typeface="Arial" panose="020B0604020202020204" pitchFamily="34" charset="0"/>
                <a:cs typeface="Arial" panose="020B0604020202020204" pitchFamily="34" charset="0"/>
              </a:rPr>
              <a:t>Use the following methods to find out the total cost. </a:t>
            </a:r>
          </a:p>
          <a:p>
            <a:pPr marL="0" indent="0" algn="just">
              <a:buNone/>
            </a:pPr>
            <a:r>
              <a:rPr lang="en-US" dirty="0">
                <a:effectLst/>
                <a:latin typeface="Arial" panose="020B0604020202020204" pitchFamily="34" charset="0"/>
                <a:cs typeface="Arial" panose="020B0604020202020204" pitchFamily="34" charset="0"/>
              </a:rPr>
              <a:t> (</a:t>
            </a:r>
            <a:r>
              <a:rPr lang="en-US" dirty="0" err="1">
                <a:effectLst/>
                <a:latin typeface="Arial" panose="020B0604020202020204" pitchFamily="34" charset="0"/>
                <a:cs typeface="Arial" panose="020B0604020202020204" pitchFamily="34" charset="0"/>
              </a:rPr>
              <a:t>i</a:t>
            </a:r>
            <a:r>
              <a:rPr lang="en-US" dirty="0">
                <a:effectLst/>
                <a:latin typeface="Arial" panose="020B0604020202020204" pitchFamily="34" charset="0"/>
                <a:cs typeface="Arial" panose="020B0604020202020204" pitchFamily="34" charset="0"/>
              </a:rPr>
              <a:t>). North West Cost Method.</a:t>
            </a:r>
          </a:p>
          <a:p>
            <a:pPr marL="0" indent="0" algn="just">
              <a:buNone/>
            </a:pPr>
            <a:r>
              <a:rPr lang="en-US" dirty="0">
                <a:effectLst/>
                <a:latin typeface="Arial" panose="020B0604020202020204" pitchFamily="34" charset="0"/>
                <a:cs typeface="Arial" panose="020B0604020202020204" pitchFamily="34" charset="0"/>
              </a:rPr>
              <a:t> (ii). Least Cost Method.</a:t>
            </a:r>
          </a:p>
          <a:p>
            <a:pPr marL="0" indent="0" algn="just">
              <a:buNone/>
            </a:pPr>
            <a:r>
              <a:rPr lang="en-US" dirty="0">
                <a:effectLst/>
                <a:latin typeface="Arial" panose="020B0604020202020204" pitchFamily="34" charset="0"/>
                <a:cs typeface="Arial" panose="020B0604020202020204" pitchFamily="34" charset="0"/>
              </a:rPr>
              <a:t> (iii). Vogel’s Approximation.</a:t>
            </a:r>
          </a:p>
          <a:p>
            <a:pPr marL="0" indent="0">
              <a:buNone/>
            </a:pPr>
            <a:endParaRPr lang="en-US" dirty="0">
              <a:latin typeface="Arial" panose="020B0604020202020204" pitchFamily="34" charset="0"/>
              <a:cs typeface="Arial" panose="020B0604020202020204" pitchFamily="34" charset="0"/>
            </a:endParaRPr>
          </a:p>
          <a:p>
            <a:pPr marL="0" indent="0">
              <a:buNone/>
            </a:pPr>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30518863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solidFill>
                  <a:srgbClr val="C00000"/>
                </a:solidFill>
                <a:latin typeface="Arial" panose="020B0604020202020204" pitchFamily="34" charset="0"/>
                <a:cs typeface="Arial" panose="020B0604020202020204" pitchFamily="34" charset="0"/>
              </a:rPr>
              <a:t>task</a:t>
            </a:r>
          </a:p>
        </p:txBody>
      </p:sp>
      <p:sp>
        <p:nvSpPr>
          <p:cNvPr id="6" name="Content Placeholder 5">
            <a:extLst>
              <a:ext uri="{FF2B5EF4-FFF2-40B4-BE49-F238E27FC236}">
                <a16:creationId xmlns:a16="http://schemas.microsoft.com/office/drawing/2014/main" xmlns="" id="{12C3F38F-06D5-4ADF-BB89-374D8DB47BD2}"/>
              </a:ext>
            </a:extLst>
          </p:cNvPr>
          <p:cNvSpPr>
            <a:spLocks noGrp="1"/>
          </p:cNvSpPr>
          <p:nvPr>
            <p:ph idx="1"/>
          </p:nvPr>
        </p:nvSpPr>
        <p:spPr>
          <a:xfrm>
            <a:off x="856060" y="2249486"/>
            <a:ext cx="7429499" cy="4608513"/>
          </a:xfrm>
        </p:spPr>
        <p:txBody>
          <a:bodyPr>
            <a:normAutofit/>
          </a:bodyPr>
          <a:lstStyle/>
          <a:p>
            <a:pPr marL="0" indent="0">
              <a:buNone/>
            </a:pPr>
            <a:endParaRPr lang="en-US" dirty="0">
              <a:latin typeface="Arial" panose="020B0604020202020204" pitchFamily="34" charset="0"/>
              <a:cs typeface="Arial" panose="020B0604020202020204" pitchFamily="34" charset="0"/>
            </a:endParaRPr>
          </a:p>
          <a:p>
            <a:pPr marL="0" indent="0">
              <a:buNone/>
            </a:pPr>
            <a:endParaRPr lang="en-US" dirty="0">
              <a:latin typeface="Arial" panose="020B0604020202020204" pitchFamily="34" charset="0"/>
              <a:cs typeface="Arial" panose="020B0604020202020204" pitchFamily="34" charset="0"/>
            </a:endParaRPr>
          </a:p>
          <a:p>
            <a:pPr marL="0" indent="0">
              <a:buNone/>
            </a:pPr>
            <a:endParaRPr lang="en-US" dirty="0">
              <a:latin typeface="Arial" panose="020B0604020202020204" pitchFamily="34" charset="0"/>
              <a:cs typeface="Arial" panose="020B0604020202020204" pitchFamily="34" charset="0"/>
            </a:endParaRPr>
          </a:p>
        </p:txBody>
      </p:sp>
      <p:graphicFrame>
        <p:nvGraphicFramePr>
          <p:cNvPr id="5" name="Group 123">
            <a:extLst>
              <a:ext uri="{FF2B5EF4-FFF2-40B4-BE49-F238E27FC236}">
                <a16:creationId xmlns:a16="http://schemas.microsoft.com/office/drawing/2014/main" xmlns="" id="{A5DA3B2A-2E25-4DFF-9E0E-EBF2CA28C54C}"/>
              </a:ext>
            </a:extLst>
          </p:cNvPr>
          <p:cNvGraphicFramePr>
            <a:graphicFrameLocks noGrp="1"/>
          </p:cNvGraphicFramePr>
          <p:nvPr>
            <p:extLst>
              <p:ext uri="{D42A27DB-BD31-4B8C-83A1-F6EECF244321}">
                <p14:modId xmlns:p14="http://schemas.microsoft.com/office/powerpoint/2010/main" val="2251083721"/>
              </p:ext>
            </p:extLst>
          </p:nvPr>
        </p:nvGraphicFramePr>
        <p:xfrm>
          <a:off x="856060" y="2249486"/>
          <a:ext cx="7753368" cy="3488830"/>
        </p:xfrm>
        <a:graphic>
          <a:graphicData uri="http://schemas.openxmlformats.org/drawingml/2006/table">
            <a:tbl>
              <a:tblPr/>
              <a:tblGrid>
                <a:gridCol w="2133765">
                  <a:extLst>
                    <a:ext uri="{9D8B030D-6E8A-4147-A177-3AD203B41FA5}">
                      <a16:colId xmlns:a16="http://schemas.microsoft.com/office/drawing/2014/main" xmlns="" val="20000"/>
                    </a:ext>
                  </a:extLst>
                </a:gridCol>
                <a:gridCol w="1005400">
                  <a:extLst>
                    <a:ext uri="{9D8B030D-6E8A-4147-A177-3AD203B41FA5}">
                      <a16:colId xmlns:a16="http://schemas.microsoft.com/office/drawing/2014/main" xmlns="" val="20007"/>
                    </a:ext>
                  </a:extLst>
                </a:gridCol>
                <a:gridCol w="956603">
                  <a:extLst>
                    <a:ext uri="{9D8B030D-6E8A-4147-A177-3AD203B41FA5}">
                      <a16:colId xmlns:a16="http://schemas.microsoft.com/office/drawing/2014/main" xmlns="" val="3871707854"/>
                    </a:ext>
                  </a:extLst>
                </a:gridCol>
                <a:gridCol w="928467">
                  <a:extLst>
                    <a:ext uri="{9D8B030D-6E8A-4147-A177-3AD203B41FA5}">
                      <a16:colId xmlns:a16="http://schemas.microsoft.com/office/drawing/2014/main" xmlns="" val="1953511460"/>
                    </a:ext>
                  </a:extLst>
                </a:gridCol>
                <a:gridCol w="1012874">
                  <a:extLst>
                    <a:ext uri="{9D8B030D-6E8A-4147-A177-3AD203B41FA5}">
                      <a16:colId xmlns:a16="http://schemas.microsoft.com/office/drawing/2014/main" xmlns="" val="4145127347"/>
                    </a:ext>
                  </a:extLst>
                </a:gridCol>
                <a:gridCol w="1716259">
                  <a:extLst>
                    <a:ext uri="{9D8B030D-6E8A-4147-A177-3AD203B41FA5}">
                      <a16:colId xmlns:a16="http://schemas.microsoft.com/office/drawing/2014/main" xmlns="" val="3160592211"/>
                    </a:ext>
                  </a:extLst>
                </a:gridCol>
              </a:tblGrid>
              <a:tr h="555364">
                <a:tc>
                  <a:txBody>
                    <a:bodyPr/>
                    <a:lstStyle/>
                    <a:p>
                      <a:pPr marL="0" marR="0" lvl="0" indent="0" algn="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bg1"/>
                          </a:solidFill>
                          <a:effectLst/>
                          <a:latin typeface="Arial" charset="0"/>
                          <a:ea typeface="ＭＳ Ｐゴシック" pitchFamily="34" charset="-128"/>
                        </a:rPr>
                        <a:t>TO</a:t>
                      </a:r>
                    </a:p>
                    <a:p>
                      <a:pPr marL="0" marR="0" lvl="0" indent="0" algn="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bg1"/>
                          </a:solidFill>
                          <a:effectLst/>
                          <a:latin typeface="Arial" charset="0"/>
                          <a:ea typeface="ＭＳ Ｐゴシック" pitchFamily="34" charset="-128"/>
                        </a:rPr>
                        <a:t>Whole Sale</a:t>
                      </a:r>
                    </a:p>
                    <a:p>
                      <a:pPr marL="0" marR="0" lvl="0" indent="0" algn="l"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bg1"/>
                          </a:solidFill>
                          <a:effectLst/>
                          <a:latin typeface="Arial" charset="0"/>
                          <a:ea typeface="ＭＳ Ｐゴシック" pitchFamily="34" charset="-128"/>
                        </a:rPr>
                        <a:t>FROM</a:t>
                      </a:r>
                    </a:p>
                    <a:p>
                      <a:pPr marL="0" marR="0" lvl="0" indent="0" algn="l"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bg1"/>
                          </a:solidFill>
                          <a:effectLst/>
                          <a:latin typeface="Arial" charset="0"/>
                          <a:ea typeface="ＭＳ Ｐゴシック" pitchFamily="34" charset="-128"/>
                        </a:rPr>
                        <a:t>Factory</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9050" cap="flat" cmpd="sng" algn="ctr">
                      <a:solidFill>
                        <a:schemeClr val="tx1"/>
                      </a:solidFill>
                      <a:prstDash val="solid"/>
                      <a:round/>
                      <a:headEnd type="none" w="med" len="med"/>
                      <a:tailEnd type="none" w="med" len="med"/>
                    </a:lnTlToBr>
                    <a:lnBlToTr>
                      <a:noFill/>
                    </a:lnBlToTr>
                    <a:solidFill>
                      <a:srgbClr val="63BDE0"/>
                    </a:solidFill>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bg1"/>
                          </a:solidFill>
                          <a:effectLst/>
                          <a:latin typeface="Arial" charset="0"/>
                          <a:ea typeface="ＭＳ Ｐゴシック" pitchFamily="34" charset="-128"/>
                        </a:rPr>
                        <a:t>W1</a:t>
                      </a:r>
                    </a:p>
                  </a:txBody>
                  <a:tcPr marT="45709" marB="45709" anchor="b"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rgbClr val="63BDE0"/>
                    </a:solidFill>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bg1"/>
                          </a:solidFill>
                          <a:effectLst/>
                          <a:latin typeface="Arial" charset="0"/>
                          <a:ea typeface="ＭＳ Ｐゴシック" pitchFamily="34" charset="-128"/>
                        </a:rPr>
                        <a:t>W2</a:t>
                      </a:r>
                    </a:p>
                  </a:txBody>
                  <a:tcPr marT="45709" marB="45709" anchor="b"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rgbClr val="63BDE0"/>
                    </a:solidFill>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bg1"/>
                          </a:solidFill>
                          <a:effectLst/>
                          <a:latin typeface="Arial" charset="0"/>
                          <a:ea typeface="ＭＳ Ｐゴシック" pitchFamily="34" charset="-128"/>
                        </a:rPr>
                        <a:t>W3</a:t>
                      </a:r>
                    </a:p>
                  </a:txBody>
                  <a:tcPr marT="45709" marB="45709" anchor="b"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rgbClr val="63BDE0"/>
                    </a:solidFill>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bg1"/>
                          </a:solidFill>
                          <a:effectLst/>
                          <a:latin typeface="Arial" charset="0"/>
                          <a:ea typeface="ＭＳ Ｐゴシック" pitchFamily="34" charset="-128"/>
                        </a:rPr>
                        <a:t>W4</a:t>
                      </a:r>
                    </a:p>
                  </a:txBody>
                  <a:tcPr marT="45709" marB="45709" anchor="b"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rgbClr val="63BDE0"/>
                    </a:solidFill>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bg1"/>
                          </a:solidFill>
                          <a:effectLst/>
                          <a:latin typeface="Arial" charset="0"/>
                          <a:ea typeface="ＭＳ Ｐゴシック" pitchFamily="34" charset="-128"/>
                        </a:rPr>
                        <a:t>Capacity</a:t>
                      </a:r>
                    </a:p>
                  </a:txBody>
                  <a:tcPr marT="45709" marB="45709" anchor="b"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rgbClr val="63BDE0"/>
                    </a:solidFill>
                  </a:tcPr>
                </a:tc>
                <a:extLst>
                  <a:ext uri="{0D108BD9-81ED-4DB2-BD59-A6C34878D82A}">
                    <a16:rowId xmlns:a16="http://schemas.microsoft.com/office/drawing/2014/main" xmlns="" val="10000"/>
                  </a:ext>
                </a:extLst>
              </a:tr>
              <a:tr h="625326">
                <a:tc>
                  <a:txBody>
                    <a:bodyPr/>
                    <a:lstStyle/>
                    <a:p>
                      <a:pPr marL="0" marR="0" lvl="0" indent="0" algn="l"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bg1"/>
                          </a:solidFill>
                          <a:effectLst/>
                          <a:latin typeface="Arial" charset="0"/>
                          <a:ea typeface="ＭＳ Ｐゴシック" pitchFamily="34" charset="-128"/>
                        </a:rPr>
                        <a:t> F1</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rgbClr val="63BDE0"/>
                    </a:solidFill>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tx1"/>
                          </a:solidFill>
                          <a:effectLst/>
                          <a:latin typeface="Arial" charset="0"/>
                          <a:ea typeface="ＭＳ Ｐゴシック" pitchFamily="34" charset="-128"/>
                        </a:rPr>
                        <a:t>19</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tx1"/>
                          </a:solidFill>
                          <a:effectLst/>
                          <a:latin typeface="Arial" charset="0"/>
                          <a:ea typeface="ＭＳ Ｐゴシック" pitchFamily="34" charset="-128"/>
                        </a:rPr>
                        <a:t>30</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tx1"/>
                          </a:solidFill>
                          <a:effectLst/>
                          <a:latin typeface="Arial" charset="0"/>
                          <a:ea typeface="ＭＳ Ｐゴシック" pitchFamily="34" charset="-128"/>
                        </a:rPr>
                        <a:t>50</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tx1"/>
                          </a:solidFill>
                          <a:effectLst/>
                          <a:latin typeface="Arial" charset="0"/>
                          <a:ea typeface="ＭＳ Ｐゴシック" pitchFamily="34" charset="-128"/>
                        </a:rPr>
                        <a:t>10</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tx1"/>
                          </a:solidFill>
                          <a:effectLst/>
                          <a:latin typeface="Arial" charset="0"/>
                          <a:ea typeface="ＭＳ Ｐゴシック" pitchFamily="34" charset="-128"/>
                        </a:rPr>
                        <a:t>7</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1"/>
                  </a:ext>
                </a:extLst>
              </a:tr>
              <a:tr h="625326">
                <a:tc>
                  <a:txBody>
                    <a:bodyPr/>
                    <a:lstStyle/>
                    <a:p>
                      <a:pPr marL="0" marR="0" lvl="0" indent="0" algn="l"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bg1"/>
                          </a:solidFill>
                          <a:effectLst/>
                          <a:latin typeface="Arial" charset="0"/>
                          <a:ea typeface="ＭＳ Ｐゴシック" pitchFamily="34" charset="-128"/>
                        </a:rPr>
                        <a:t>F2</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rgbClr val="63BDE0"/>
                    </a:solidFill>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tx1"/>
                          </a:solidFill>
                          <a:effectLst/>
                          <a:latin typeface="Arial" charset="0"/>
                          <a:ea typeface="ＭＳ Ｐゴシック" pitchFamily="34" charset="-128"/>
                        </a:rPr>
                        <a:t>70</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tx1"/>
                          </a:solidFill>
                          <a:effectLst/>
                          <a:latin typeface="Arial" charset="0"/>
                          <a:ea typeface="ＭＳ Ｐゴシック" pitchFamily="34" charset="-128"/>
                        </a:rPr>
                        <a:t>30</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tx1"/>
                          </a:solidFill>
                          <a:effectLst/>
                          <a:latin typeface="Arial" charset="0"/>
                          <a:ea typeface="ＭＳ Ｐゴシック" pitchFamily="34" charset="-128"/>
                        </a:rPr>
                        <a:t>40</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tx1"/>
                          </a:solidFill>
                          <a:effectLst/>
                          <a:latin typeface="Arial" charset="0"/>
                          <a:ea typeface="ＭＳ Ｐゴシック" pitchFamily="34" charset="-128"/>
                        </a:rPr>
                        <a:t>60</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tx1"/>
                          </a:solidFill>
                          <a:effectLst/>
                          <a:latin typeface="Arial" charset="0"/>
                          <a:ea typeface="ＭＳ Ｐゴシック" pitchFamily="34" charset="-128"/>
                        </a:rPr>
                        <a:t>9</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5"/>
                  </a:ext>
                </a:extLst>
              </a:tr>
              <a:tr h="625324">
                <a:tc>
                  <a:txBody>
                    <a:bodyPr/>
                    <a:lstStyle/>
                    <a:p>
                      <a:pPr marL="0" marR="0" lvl="0" indent="0" algn="l"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bg1"/>
                          </a:solidFill>
                          <a:effectLst/>
                          <a:latin typeface="Arial" charset="0"/>
                          <a:ea typeface="ＭＳ Ｐゴシック" pitchFamily="34" charset="-128"/>
                        </a:rPr>
                        <a:t>F3</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rgbClr val="63BDE0"/>
                    </a:solidFill>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tx1"/>
                          </a:solidFill>
                          <a:effectLst/>
                          <a:latin typeface="Arial" charset="0"/>
                          <a:ea typeface="ＭＳ Ｐゴシック" pitchFamily="34" charset="-128"/>
                        </a:rPr>
                        <a:t>40</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tx1"/>
                          </a:solidFill>
                          <a:effectLst/>
                          <a:latin typeface="Arial" charset="0"/>
                          <a:ea typeface="ＭＳ Ｐゴシック" pitchFamily="34" charset="-128"/>
                        </a:rPr>
                        <a:t>8</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tx1"/>
                          </a:solidFill>
                          <a:effectLst/>
                          <a:latin typeface="Arial" charset="0"/>
                          <a:ea typeface="ＭＳ Ｐゴシック" pitchFamily="34" charset="-128"/>
                        </a:rPr>
                        <a:t>70</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tx1"/>
                          </a:solidFill>
                          <a:effectLst/>
                          <a:latin typeface="Arial" charset="0"/>
                          <a:ea typeface="ＭＳ Ｐゴシック" pitchFamily="34" charset="-128"/>
                        </a:rPr>
                        <a:t>20</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tx1"/>
                          </a:solidFill>
                          <a:effectLst/>
                          <a:latin typeface="Arial" charset="0"/>
                          <a:ea typeface="ＭＳ Ｐゴシック" pitchFamily="34" charset="-128"/>
                        </a:rPr>
                        <a:t>18</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7"/>
                  </a:ext>
                </a:extLst>
              </a:tr>
              <a:tr h="625324">
                <a:tc>
                  <a:txBody>
                    <a:bodyPr/>
                    <a:lstStyle/>
                    <a:p>
                      <a:pPr marL="0" marR="0" lvl="0" indent="0" algn="l"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bg1"/>
                          </a:solidFill>
                          <a:effectLst/>
                          <a:latin typeface="Arial" charset="0"/>
                          <a:ea typeface="ＭＳ Ｐゴシック" pitchFamily="34" charset="-128"/>
                        </a:rPr>
                        <a:t>Requirement</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rgbClr val="63BDE0"/>
                    </a:solidFill>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tx1"/>
                          </a:solidFill>
                          <a:effectLst/>
                          <a:latin typeface="Arial" charset="0"/>
                          <a:ea typeface="ＭＳ Ｐゴシック" pitchFamily="34" charset="-128"/>
                        </a:rPr>
                        <a:t>5</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tx1"/>
                          </a:solidFill>
                          <a:effectLst/>
                          <a:latin typeface="Arial" charset="0"/>
                          <a:ea typeface="ＭＳ Ｐゴシック" pitchFamily="34" charset="-128"/>
                        </a:rPr>
                        <a:t>8</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tx1"/>
                          </a:solidFill>
                          <a:effectLst/>
                          <a:latin typeface="Arial" charset="0"/>
                          <a:ea typeface="ＭＳ Ｐゴシック" pitchFamily="34" charset="-128"/>
                        </a:rPr>
                        <a:t>7</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tx1"/>
                          </a:solidFill>
                          <a:effectLst/>
                          <a:latin typeface="Arial" charset="0"/>
                          <a:ea typeface="ＭＳ Ｐゴシック" pitchFamily="34" charset="-128"/>
                        </a:rPr>
                        <a:t>14</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400" b="1" i="0" u="none" strike="noStrike" cap="none" normalizeH="0" baseline="0" dirty="0">
                          <a:ln>
                            <a:noFill/>
                          </a:ln>
                          <a:solidFill>
                            <a:schemeClr val="tx1"/>
                          </a:solidFill>
                          <a:effectLst/>
                          <a:latin typeface="Arial" charset="0"/>
                          <a:ea typeface="ＭＳ Ｐゴシック" pitchFamily="34" charset="-128"/>
                        </a:rPr>
                        <a:t>34</a:t>
                      </a:r>
                    </a:p>
                  </a:txBody>
                  <a:tcPr marT="45709" marB="45709"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3101081073"/>
                  </a:ext>
                </a:extLst>
              </a:tr>
            </a:tbl>
          </a:graphicData>
        </a:graphic>
      </p:graphicFrame>
    </p:spTree>
    <p:extLst>
      <p:ext uri="{BB962C8B-B14F-4D97-AF65-F5344CB8AC3E}">
        <p14:creationId xmlns:p14="http://schemas.microsoft.com/office/powerpoint/2010/main" val="25486890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6" fill="hold" nodeType="afterEffect">
                                  <p:stCondLst>
                                    <p:cond delay="1000"/>
                                  </p:stCondLst>
                                  <p:childTnLst>
                                    <p:set>
                                      <p:cBhvr>
                                        <p:cTn id="6" dur="1" fill="hold">
                                          <p:stCondLst>
                                            <p:cond delay="0"/>
                                          </p:stCondLst>
                                        </p:cTn>
                                        <p:tgtEl>
                                          <p:spTgt spid="5"/>
                                        </p:tgtEl>
                                        <p:attrNameLst>
                                          <p:attrName>style.visibility</p:attrName>
                                        </p:attrNameLst>
                                      </p:cBhvr>
                                      <p:to>
                                        <p:strVal val="visible"/>
                                      </p:to>
                                    </p:set>
                                    <p:animEffect transition="in" filter="strips(downRight)">
                                      <p:cBhvr>
                                        <p:cTn id="7"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solidFill>
                  <a:srgbClr val="C00000"/>
                </a:solidFill>
                <a:latin typeface="Arial" panose="020B0604020202020204" pitchFamily="34" charset="0"/>
                <a:cs typeface="Arial" panose="020B0604020202020204" pitchFamily="34" charset="0"/>
              </a:rPr>
              <a:t>Task</a:t>
            </a:r>
          </a:p>
        </p:txBody>
      </p:sp>
      <p:sp>
        <p:nvSpPr>
          <p:cNvPr id="6" name="Content Placeholder 5">
            <a:extLst>
              <a:ext uri="{FF2B5EF4-FFF2-40B4-BE49-F238E27FC236}">
                <a16:creationId xmlns:a16="http://schemas.microsoft.com/office/drawing/2014/main" xmlns="" id="{12C3F38F-06D5-4ADF-BB89-374D8DB47BD2}"/>
              </a:ext>
            </a:extLst>
          </p:cNvPr>
          <p:cNvSpPr>
            <a:spLocks noGrp="1"/>
          </p:cNvSpPr>
          <p:nvPr>
            <p:ph idx="1"/>
          </p:nvPr>
        </p:nvSpPr>
        <p:spPr>
          <a:xfrm>
            <a:off x="856060" y="2249486"/>
            <a:ext cx="7429499" cy="4608513"/>
          </a:xfrm>
        </p:spPr>
        <p:txBody>
          <a:bodyPr>
            <a:normAutofit/>
          </a:bodyPr>
          <a:lstStyle/>
          <a:p>
            <a:pPr marL="0" indent="0" algn="just">
              <a:buNone/>
            </a:pPr>
            <a:r>
              <a:rPr lang="en-US" dirty="0">
                <a:effectLst/>
                <a:latin typeface="Arial" panose="020B0604020202020204" pitchFamily="34" charset="0"/>
                <a:cs typeface="Arial" panose="020B0604020202020204" pitchFamily="34" charset="0"/>
              </a:rPr>
              <a:t> (</a:t>
            </a:r>
            <a:r>
              <a:rPr lang="en-US" dirty="0" err="1">
                <a:effectLst/>
                <a:latin typeface="Arial" panose="020B0604020202020204" pitchFamily="34" charset="0"/>
                <a:cs typeface="Arial" panose="020B0604020202020204" pitchFamily="34" charset="0"/>
              </a:rPr>
              <a:t>i</a:t>
            </a:r>
            <a:r>
              <a:rPr lang="en-US" dirty="0">
                <a:effectLst/>
                <a:latin typeface="Arial" panose="020B0604020202020204" pitchFamily="34" charset="0"/>
                <a:cs typeface="Arial" panose="020B0604020202020204" pitchFamily="34" charset="0"/>
              </a:rPr>
              <a:t>). Total cost of North West Cost Method=1015</a:t>
            </a:r>
          </a:p>
          <a:p>
            <a:pPr marL="0" indent="0" algn="just">
              <a:buNone/>
            </a:pPr>
            <a:r>
              <a:rPr lang="en-US" dirty="0">
                <a:effectLst/>
                <a:latin typeface="Arial" panose="020B0604020202020204" pitchFamily="34" charset="0"/>
                <a:cs typeface="Arial" panose="020B0604020202020204" pitchFamily="34" charset="0"/>
              </a:rPr>
              <a:t> (ii). Total cost of Least Cost Method=814</a:t>
            </a:r>
          </a:p>
          <a:p>
            <a:pPr marL="0" indent="0" algn="just">
              <a:buNone/>
            </a:pPr>
            <a:r>
              <a:rPr lang="en-US" dirty="0">
                <a:effectLst/>
                <a:latin typeface="Arial" panose="020B0604020202020204" pitchFamily="34" charset="0"/>
                <a:cs typeface="Arial" panose="020B0604020202020204" pitchFamily="34" charset="0"/>
              </a:rPr>
              <a:t> (iii). Total cost of Vogel’s Approximation=779</a:t>
            </a:r>
          </a:p>
          <a:p>
            <a:pPr marL="0" indent="0">
              <a:buNone/>
            </a:pPr>
            <a:endParaRPr lang="en-US" dirty="0">
              <a:latin typeface="Arial" panose="020B0604020202020204" pitchFamily="34" charset="0"/>
              <a:cs typeface="Arial" panose="020B0604020202020204" pitchFamily="34" charset="0"/>
            </a:endParaRPr>
          </a:p>
          <a:p>
            <a:pPr marL="0" indent="0">
              <a:buNone/>
            </a:pPr>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87822364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solidFill>
                  <a:srgbClr val="C00000"/>
                </a:solidFill>
                <a:latin typeface="Arial" panose="020B0604020202020204" pitchFamily="34" charset="0"/>
                <a:cs typeface="Arial" panose="020B0604020202020204" pitchFamily="34" charset="0"/>
              </a:rPr>
              <a:t>Task</a:t>
            </a:r>
          </a:p>
        </p:txBody>
      </p:sp>
      <p:sp>
        <p:nvSpPr>
          <p:cNvPr id="6" name="Content Placeholder 5">
            <a:extLst>
              <a:ext uri="{FF2B5EF4-FFF2-40B4-BE49-F238E27FC236}">
                <a16:creationId xmlns:a16="http://schemas.microsoft.com/office/drawing/2014/main" xmlns="" id="{12C3F38F-06D5-4ADF-BB89-374D8DB47BD2}"/>
              </a:ext>
            </a:extLst>
          </p:cNvPr>
          <p:cNvSpPr>
            <a:spLocks noGrp="1"/>
          </p:cNvSpPr>
          <p:nvPr>
            <p:ph idx="1"/>
          </p:nvPr>
        </p:nvSpPr>
        <p:spPr>
          <a:xfrm>
            <a:off x="856060" y="2249486"/>
            <a:ext cx="7429499" cy="4608513"/>
          </a:xfrm>
        </p:spPr>
        <p:txBody>
          <a:bodyPr>
            <a:normAutofit/>
          </a:bodyPr>
          <a:lstStyle/>
          <a:p>
            <a:pPr marL="0" indent="0" algn="just">
              <a:buNone/>
            </a:pPr>
            <a:r>
              <a:rPr lang="en-US" dirty="0">
                <a:effectLst/>
                <a:latin typeface="Arial" panose="020B0604020202020204" pitchFamily="34" charset="0"/>
                <a:cs typeface="Arial" panose="020B0604020202020204" pitchFamily="34" charset="0"/>
              </a:rPr>
              <a:t>Consider the word problem for two factories with weekly production of 40 and 20 gadgets. These gadgets must be shipped to three warehouses that have a demand of 25, 10, and 25 units. The cost to ship between each location is known (see the grid below). Now the question is how much the minimal cost of factory is, in doing all this procedure. Apply the above three methods to find the cost.</a:t>
            </a:r>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39534047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73990" y="1478522"/>
            <a:ext cx="7429499" cy="3541714"/>
          </a:xfrm>
        </p:spPr>
        <p:txBody>
          <a:bodyPr/>
          <a:lstStyle/>
          <a:p>
            <a:pPr marL="0" indent="0">
              <a:buNone/>
            </a:pPr>
            <a:r>
              <a:rPr lang="en-GB" b="1" dirty="0">
                <a:solidFill>
                  <a:srgbClr val="C00000"/>
                </a:solidFill>
              </a:rPr>
              <a:t>Remark: </a:t>
            </a:r>
            <a:r>
              <a:rPr lang="en-GB" dirty="0"/>
              <a:t>Total transportation cost found by VAM is lower than the costs of transportation </a:t>
            </a:r>
            <a:r>
              <a:rPr lang="en-GB" dirty="0" smtClean="0"/>
              <a:t>determined by </a:t>
            </a:r>
            <a:r>
              <a:rPr lang="en-GB" dirty="0"/>
              <a:t>the NWCR and LCM methods. Therefore, it is of advantage to use this method in order to </a:t>
            </a:r>
            <a:r>
              <a:rPr lang="en-GB" dirty="0" smtClean="0"/>
              <a:t>reduce computational </a:t>
            </a:r>
            <a:r>
              <a:rPr lang="en-GB" dirty="0"/>
              <a:t>time required to obtain optimum solution.</a:t>
            </a:r>
          </a:p>
        </p:txBody>
      </p:sp>
    </p:spTree>
    <p:extLst>
      <p:ext uri="{BB962C8B-B14F-4D97-AF65-F5344CB8AC3E}">
        <p14:creationId xmlns:p14="http://schemas.microsoft.com/office/powerpoint/2010/main" val="47324570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solidFill>
                  <a:srgbClr val="C00000"/>
                </a:solidFill>
                <a:latin typeface="Arial" panose="020B0604020202020204" pitchFamily="34" charset="0"/>
                <a:cs typeface="Arial" panose="020B0604020202020204" pitchFamily="34" charset="0"/>
              </a:rPr>
              <a:t>Task</a:t>
            </a:r>
          </a:p>
        </p:txBody>
      </p:sp>
      <p:pic>
        <p:nvPicPr>
          <p:cNvPr id="3" name="Content Placeholder 2">
            <a:extLst>
              <a:ext uri="{FF2B5EF4-FFF2-40B4-BE49-F238E27FC236}">
                <a16:creationId xmlns:a16="http://schemas.microsoft.com/office/drawing/2014/main" xmlns="" id="{CD968A68-55A2-4945-9769-7D302CCA62BB}"/>
              </a:ext>
            </a:extLst>
          </p:cNvPr>
          <p:cNvPicPr>
            <a:picLocks noGrp="1" noChangeAspect="1"/>
          </p:cNvPicPr>
          <p:nvPr>
            <p:ph idx="1"/>
          </p:nvPr>
        </p:nvPicPr>
        <p:blipFill>
          <a:blip r:embed="rId2"/>
          <a:stretch>
            <a:fillRect/>
          </a:stretch>
        </p:blipFill>
        <p:spPr>
          <a:xfrm>
            <a:off x="856060" y="1819409"/>
            <a:ext cx="7429499" cy="3554449"/>
          </a:xfrm>
          <a:prstGeom prst="rect">
            <a:avLst/>
          </a:prstGeom>
        </p:spPr>
      </p:pic>
    </p:spTree>
    <p:extLst>
      <p:ext uri="{BB962C8B-B14F-4D97-AF65-F5344CB8AC3E}">
        <p14:creationId xmlns:p14="http://schemas.microsoft.com/office/powerpoint/2010/main" val="130578441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923365" y="358588"/>
            <a:ext cx="6696634" cy="6373906"/>
          </a:xfrm>
        </p:spPr>
      </p:pic>
    </p:spTree>
    <p:extLst>
      <p:ext uri="{BB962C8B-B14F-4D97-AF65-F5344CB8AC3E}">
        <p14:creationId xmlns:p14="http://schemas.microsoft.com/office/powerpoint/2010/main" val="419861335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57250" y="2689715"/>
            <a:ext cx="7429499" cy="1478570"/>
          </a:xfrm>
        </p:spPr>
        <p:txBody>
          <a:bodyPr>
            <a:normAutofit fontScale="90000"/>
          </a:bodyPr>
          <a:lstStyle/>
          <a:p>
            <a:pPr lvl="0" algn="ctr">
              <a:lnSpc>
                <a:spcPct val="100000"/>
              </a:lnSpc>
              <a:spcBef>
                <a:spcPts val="0"/>
              </a:spcBef>
            </a:pPr>
            <a:r>
              <a:rPr lang="en-GB" sz="5400" b="1" cap="none" dirty="0">
                <a:solidFill>
                  <a:prstClr val="black"/>
                </a:solidFill>
                <a:latin typeface="Arial" panose="020B0604020202020204" pitchFamily="34" charset="0"/>
                <a:ea typeface="+mn-ea"/>
                <a:cs typeface="Arial" panose="020B0604020202020204" pitchFamily="34" charset="0"/>
              </a:rPr>
              <a:t>Thank you!</a:t>
            </a:r>
            <a:r>
              <a:rPr lang="en-GB" sz="4800" b="1" cap="none" dirty="0">
                <a:solidFill>
                  <a:prstClr val="black"/>
                </a:solidFill>
                <a:latin typeface="Arial" panose="020B0604020202020204" pitchFamily="34" charset="0"/>
                <a:ea typeface="+mn-ea"/>
                <a:cs typeface="Arial" panose="020B0604020202020204" pitchFamily="34" charset="0"/>
              </a:rPr>
              <a:t/>
            </a:r>
            <a:br>
              <a:rPr lang="en-GB" sz="4800" b="1" cap="none" dirty="0">
                <a:solidFill>
                  <a:prstClr val="black"/>
                </a:solidFill>
                <a:latin typeface="Arial" panose="020B0604020202020204" pitchFamily="34" charset="0"/>
                <a:ea typeface="+mn-ea"/>
                <a:cs typeface="Arial" panose="020B0604020202020204" pitchFamily="34" charset="0"/>
              </a:rPr>
            </a:br>
            <a:endParaRPr lang="en-US" sz="4000" dirty="0">
              <a:solidFill>
                <a:srgbClr val="C0000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61073757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_rels/theme2.xml.rels><?xml version="1.0" encoding="UTF-8" standalone="yes"?>
<Relationships xmlns="http://schemas.openxmlformats.org/package/2006/relationships"><Relationship Id="rId1" Type="http://schemas.openxmlformats.org/officeDocument/2006/relationships/image" Target="../media/image2.jpeg"/></Relationships>
</file>

<file path=ppt/theme/theme1.xml><?xml version="1.0" encoding="utf-8"?>
<a:theme xmlns:a="http://schemas.openxmlformats.org/drawingml/2006/main" name="Clarity">
  <a:themeElements>
    <a:clrScheme name="Angles">
      <a:dk1>
        <a:srgbClr val="000000"/>
      </a:dk1>
      <a:lt1>
        <a:srgbClr val="FFFFFF"/>
      </a:lt1>
      <a:dk2>
        <a:srgbClr val="434342"/>
      </a:dk2>
      <a:lt2>
        <a:srgbClr val="CDD7D9"/>
      </a:lt2>
      <a:accent1>
        <a:srgbClr val="797B7E"/>
      </a:accent1>
      <a:accent2>
        <a:srgbClr val="F96A1B"/>
      </a:accent2>
      <a:accent3>
        <a:srgbClr val="08A1D9"/>
      </a:accent3>
      <a:accent4>
        <a:srgbClr val="7C984A"/>
      </a:accent4>
      <a:accent5>
        <a:srgbClr val="C2AD8D"/>
      </a:accent5>
      <a:accent6>
        <a:srgbClr val="506E94"/>
      </a:accent6>
      <a:hlink>
        <a:srgbClr val="5F5F5F"/>
      </a:hlink>
      <a:folHlink>
        <a:srgbClr val="969696"/>
      </a:folHlink>
    </a:clrScheme>
    <a:fontScheme name="Office Classic 2">
      <a:majorFont>
        <a:latin typeface="Arial"/>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larity">
      <a:fillStyleLst>
        <a:solidFill>
          <a:schemeClr val="phClr"/>
        </a:solidFill>
        <a:gradFill rotWithShape="1">
          <a:gsLst>
            <a:gs pos="0">
              <a:schemeClr val="phClr">
                <a:tint val="50000"/>
                <a:shade val="86000"/>
                <a:satMod val="140000"/>
              </a:schemeClr>
            </a:gs>
            <a:gs pos="45000">
              <a:schemeClr val="phClr">
                <a:tint val="48000"/>
                <a:satMod val="150000"/>
              </a:schemeClr>
            </a:gs>
            <a:gs pos="100000">
              <a:schemeClr val="phClr">
                <a:tint val="28000"/>
                <a:satMod val="160000"/>
              </a:schemeClr>
            </a:gs>
          </a:gsLst>
          <a:path path="circle">
            <a:fillToRect l="100000" t="100000" r="100000" b="100000"/>
          </a:path>
        </a:gradFill>
        <a:gradFill rotWithShape="1">
          <a:gsLst>
            <a:gs pos="0">
              <a:schemeClr val="phClr">
                <a:shade val="70000"/>
                <a:satMod val="150000"/>
              </a:schemeClr>
            </a:gs>
            <a:gs pos="34000">
              <a:schemeClr val="phClr">
                <a:shade val="70000"/>
                <a:satMod val="140000"/>
              </a:schemeClr>
            </a:gs>
            <a:gs pos="70000">
              <a:schemeClr val="phClr">
                <a:tint val="100000"/>
                <a:shade val="90000"/>
                <a:satMod val="140000"/>
              </a:schemeClr>
            </a:gs>
            <a:gs pos="100000">
              <a:schemeClr val="phClr">
                <a:tint val="100000"/>
                <a:shade val="100000"/>
                <a:satMod val="100000"/>
              </a:schemeClr>
            </a:gs>
          </a:gsLst>
          <a:path path="circle">
            <a:fillToRect l="100000" t="100000" r="100000" b="100000"/>
          </a:path>
        </a:gradFill>
      </a:fillStyleLst>
      <a:lnStyleLst>
        <a:ln w="9525" cap="flat" cmpd="sng" algn="ctr">
          <a:solidFill>
            <a:schemeClr val="phClr"/>
          </a:solidFill>
          <a:prstDash val="solid"/>
        </a:ln>
        <a:ln w="26425" cap="flat" cmpd="sng" algn="ctr">
          <a:solidFill>
            <a:schemeClr val="phClr"/>
          </a:solidFill>
          <a:prstDash val="solid"/>
        </a:ln>
        <a:ln w="4445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hemeClr val="phClr">
                <a:shade val="30000"/>
                <a:satMod val="130000"/>
              </a:schemeClr>
            </a:contourClr>
          </a:sp3d>
        </a:effectStyle>
      </a:effectStyleLst>
      <a:bgFillStyleLst>
        <a:solidFill>
          <a:schemeClr val="phClr"/>
        </a:solidFill>
        <a:gradFill rotWithShape="1">
          <a:gsLst>
            <a:gs pos="0">
              <a:schemeClr val="phClr">
                <a:tint val="85000"/>
                <a:satMod val="180000"/>
              </a:schemeClr>
            </a:gs>
            <a:gs pos="40000">
              <a:schemeClr val="phClr">
                <a:tint val="95000"/>
                <a:shade val="85000"/>
                <a:satMod val="150000"/>
              </a:schemeClr>
            </a:gs>
            <a:gs pos="100000">
              <a:schemeClr val="phClr">
                <a:shade val="45000"/>
                <a:satMod val="200000"/>
              </a:schemeClr>
            </a:gs>
          </a:gsLst>
          <a:lin ang="5400000" scaled="0"/>
        </a:gradFill>
        <a:blipFill rotWithShape="1">
          <a:blip xmlns:r="http://schemas.openxmlformats.org/officeDocument/2006/relationships" r:embed="rId1">
            <a:duotone>
              <a:schemeClr val="phClr">
                <a:shade val="55000"/>
              </a:schemeClr>
              <a:schemeClr val="phClr">
                <a:tint val="97000"/>
                <a:satMod val="95000"/>
              </a:schemeClr>
            </a:duotone>
          </a:blip>
          <a:tile tx="0" ty="0" sx="70000" sy="70000" flip="none" algn="tl"/>
        </a:blipFill>
      </a:bgFillStyleLst>
    </a:fmtScheme>
  </a:themeElements>
  <a:objectDefaults/>
  <a:extraClrSchemeLst/>
</a:theme>
</file>

<file path=ppt/theme/theme2.xml><?xml version="1.0" encoding="utf-8"?>
<a:theme xmlns:a="http://schemas.openxmlformats.org/drawingml/2006/main" name="Circuit">
  <a:themeElements>
    <a:clrScheme name="Red">
      <a:dk1>
        <a:sysClr val="windowText" lastClr="000000"/>
      </a:dk1>
      <a:lt1>
        <a:sysClr val="window" lastClr="FFFFFF"/>
      </a:lt1>
      <a:dk2>
        <a:srgbClr val="323232"/>
      </a:dk2>
      <a:lt2>
        <a:srgbClr val="E5C243"/>
      </a:lt2>
      <a:accent1>
        <a:srgbClr val="A5300F"/>
      </a:accent1>
      <a:accent2>
        <a:srgbClr val="D55816"/>
      </a:accent2>
      <a:accent3>
        <a:srgbClr val="E19825"/>
      </a:accent3>
      <a:accent4>
        <a:srgbClr val="B19C7D"/>
      </a:accent4>
      <a:accent5>
        <a:srgbClr val="7F5F52"/>
      </a:accent5>
      <a:accent6>
        <a:srgbClr val="B27D49"/>
      </a:accent6>
      <a:hlink>
        <a:srgbClr val="6B9F25"/>
      </a:hlink>
      <a:folHlink>
        <a:srgbClr val="B26B02"/>
      </a:folHlink>
    </a:clrScheme>
    <a:fontScheme name="Circuit">
      <a:majorFont>
        <a:latin typeface="Tw Cen M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40000"/>
              </a:schemeClr>
            </a:gs>
            <a:gs pos="100000">
              <a:schemeClr val="phClr">
                <a:shade val="92000"/>
                <a:hueMod val="104000"/>
                <a:satMod val="140000"/>
                <a:lumMod val="48000"/>
              </a:schemeClr>
            </a:gs>
          </a:gsLst>
          <a:lin ang="5040000" scaled="0"/>
        </a:gradFill>
        <a:blipFill>
          <a:blip xmlns:r="http://schemas.openxmlformats.org/officeDocument/2006/relationships" r:embed="rId1">
            <a:duotone>
              <a:schemeClr val="phClr">
                <a:shade val="48000"/>
                <a:hueMod val="106000"/>
                <a:satMod val="140000"/>
                <a:lumMod val="42000"/>
              </a:schemeClr>
              <a:schemeClr val="phClr">
                <a:tint val="98000"/>
                <a:hueMod val="92000"/>
                <a:satMod val="220000"/>
                <a:lumMod val="90000"/>
              </a:schemeClr>
            </a:duotone>
          </a:blip>
          <a:stretch/>
        </a:blipFill>
      </a:bgFillStyleLst>
    </a:fmtScheme>
  </a:themeElements>
  <a:objectDefaults/>
  <a:extraClrSchemeLst/>
  <a:extLst>
    <a:ext uri="{05A4C25C-085E-4340-85A3-A5531E510DB2}">
      <thm15:themeFamily xmlns:thm15="http://schemas.microsoft.com/office/thememl/2012/main" xmlns="" name="Circuit" id="{0AC2F7E7-15F5-431C-B2A2-456FE929F56C}" vid="{142578CA-DEC9-49C3-80AF-C113973CC9A9}"/>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3777</TotalTime>
  <Words>2072</Words>
  <Application>Microsoft Office PowerPoint</Application>
  <PresentationFormat>On-screen Show (4:3)</PresentationFormat>
  <Paragraphs>770</Paragraphs>
  <Slides>52</Slides>
  <Notes>0</Notes>
  <HiddenSlides>0</HiddenSlides>
  <MMClips>0</MMClips>
  <ScaleCrop>false</ScaleCrop>
  <HeadingPairs>
    <vt:vector size="4" baseType="variant">
      <vt:variant>
        <vt:lpstr>Theme</vt:lpstr>
      </vt:variant>
      <vt:variant>
        <vt:i4>2</vt:i4>
      </vt:variant>
      <vt:variant>
        <vt:lpstr>Slide Titles</vt:lpstr>
      </vt:variant>
      <vt:variant>
        <vt:i4>52</vt:i4>
      </vt:variant>
    </vt:vector>
  </HeadingPairs>
  <TitlesOfParts>
    <vt:vector size="54" baseType="lpstr">
      <vt:lpstr>Clarity</vt:lpstr>
      <vt:lpstr>Circuit</vt:lpstr>
      <vt:lpstr>PowerPoint Presentation</vt:lpstr>
      <vt:lpstr>Transportation model</vt:lpstr>
      <vt:lpstr>PowerPoint Presentation</vt:lpstr>
      <vt:lpstr>Obtain an initial basic feasible solution</vt:lpstr>
      <vt:lpstr>North west cost method (Procedure)</vt:lpstr>
      <vt:lpstr>North west cost method (Procedure)</vt:lpstr>
      <vt:lpstr>PowerPoint Presentation</vt:lpstr>
      <vt:lpstr>North west cost method (NWCM)</vt:lpstr>
      <vt:lpstr>Initial basic feasible solution</vt:lpstr>
      <vt:lpstr>North west cost method</vt:lpstr>
      <vt:lpstr>North west cost method</vt:lpstr>
      <vt:lpstr>North west cost method</vt:lpstr>
      <vt:lpstr>North west cost method</vt:lpstr>
      <vt:lpstr>North west cost method</vt:lpstr>
      <vt:lpstr>North west cost method</vt:lpstr>
      <vt:lpstr>North west cost method</vt:lpstr>
      <vt:lpstr>North west cost method</vt:lpstr>
      <vt:lpstr>PowerPoint Presentation</vt:lpstr>
      <vt:lpstr>Least cost method (procedure)</vt:lpstr>
      <vt:lpstr>Least Cost Method</vt:lpstr>
      <vt:lpstr>Initial basic feasible solution</vt:lpstr>
      <vt:lpstr>Least Cost Method</vt:lpstr>
      <vt:lpstr>Least Cost Method</vt:lpstr>
      <vt:lpstr>Least Cost Method</vt:lpstr>
      <vt:lpstr>Least Cost Method</vt:lpstr>
      <vt:lpstr>Least Cost Method</vt:lpstr>
      <vt:lpstr>Least Cost Method</vt:lpstr>
      <vt:lpstr>Least Cost Method</vt:lpstr>
      <vt:lpstr>Least Cost Method</vt:lpstr>
      <vt:lpstr>Least Cost Method</vt:lpstr>
      <vt:lpstr>Least Cost Method</vt:lpstr>
      <vt:lpstr>Vogel’s Approximation (procedure)</vt:lpstr>
      <vt:lpstr>Vogel’s Approximation (procedure)</vt:lpstr>
      <vt:lpstr>Vogel’s approximation</vt:lpstr>
      <vt:lpstr>Initial basic feasible solution</vt:lpstr>
      <vt:lpstr>Vogel’s approximation</vt:lpstr>
      <vt:lpstr>Vogel’s approximation</vt:lpstr>
      <vt:lpstr>Vogel’s approximation</vt:lpstr>
      <vt:lpstr>Vogel’s approximation</vt:lpstr>
      <vt:lpstr>Vogel’s approximation</vt:lpstr>
      <vt:lpstr>Vogel’s approximation</vt:lpstr>
      <vt:lpstr>Vogel’s approximation</vt:lpstr>
      <vt:lpstr>Vogel’s approximation</vt:lpstr>
      <vt:lpstr>Vogel’s approximation</vt:lpstr>
      <vt:lpstr>Task</vt:lpstr>
      <vt:lpstr>task</vt:lpstr>
      <vt:lpstr>Task</vt:lpstr>
      <vt:lpstr>Task</vt:lpstr>
      <vt:lpstr>PowerPoint Presentation</vt:lpstr>
      <vt:lpstr>Task</vt:lpstr>
      <vt:lpstr>PowerPoint Presentation</vt:lpstr>
      <vt:lpstr>Thank you! </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Dr Bakhtawar</dc:creator>
  <cp:lastModifiedBy>4G Traders</cp:lastModifiedBy>
  <cp:revision>349</cp:revision>
  <dcterms:created xsi:type="dcterms:W3CDTF">2022-09-10T13:48:09Z</dcterms:created>
  <dcterms:modified xsi:type="dcterms:W3CDTF">2025-03-25T03:50:34Z</dcterms:modified>
</cp:coreProperties>
</file>