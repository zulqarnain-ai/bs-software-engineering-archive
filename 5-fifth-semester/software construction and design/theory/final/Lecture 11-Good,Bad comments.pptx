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78" r:id="rId3"/>
    <p:sldId id="257" r:id="rId4"/>
    <p:sldId id="258" r:id="rId5"/>
    <p:sldId id="280" r:id="rId6"/>
    <p:sldId id="259" r:id="rId7"/>
    <p:sldId id="260" r:id="rId8"/>
    <p:sldId id="261" r:id="rId9"/>
    <p:sldId id="262" r:id="rId10"/>
    <p:sldId id="274" r:id="rId11"/>
    <p:sldId id="275" r:id="rId12"/>
    <p:sldId id="264" r:id="rId13"/>
    <p:sldId id="281" r:id="rId14"/>
    <p:sldId id="282" r:id="rId15"/>
    <p:sldId id="265" r:id="rId16"/>
    <p:sldId id="266" r:id="rId17"/>
    <p:sldId id="267" r:id="rId18"/>
    <p:sldId id="268" r:id="rId19"/>
    <p:sldId id="269" r:id="rId20"/>
    <p:sldId id="270" r:id="rId21"/>
    <p:sldId id="283" r:id="rId22"/>
    <p:sldId id="277"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4472" autoAdjust="0"/>
  </p:normalViewPr>
  <p:slideViewPr>
    <p:cSldViewPr snapToGrid="0">
      <p:cViewPr varScale="1">
        <p:scale>
          <a:sx n="42" d="100"/>
          <a:sy n="42" d="100"/>
        </p:scale>
        <p:origin x="158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4FC330-94A6-4ECD-9D18-12A8C29CFE1E}" type="datetimeFigureOut">
              <a:rPr lang="en-PK" smtClean="0"/>
              <a:t>12/29/2024</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7AEC3F-2DBE-46A6-9DA4-1608BA572CCD}" type="slidenum">
              <a:rPr lang="en-PK" smtClean="0"/>
              <a:t>‹#›</a:t>
            </a:fld>
            <a:endParaRPr lang="en-PK"/>
          </a:p>
        </p:txBody>
      </p:sp>
    </p:spTree>
    <p:extLst>
      <p:ext uri="{BB962C8B-B14F-4D97-AF65-F5344CB8AC3E}">
        <p14:creationId xmlns:p14="http://schemas.microsoft.com/office/powerpoint/2010/main" val="1778635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b="0" i="0" dirty="0">
                <a:solidFill>
                  <a:srgbClr val="0D0D0D"/>
                </a:solidFill>
                <a:effectLst/>
                <a:latin typeface="Söhne"/>
              </a:rPr>
              <a:t>This statement highlights the potential harm caused by outdated or inaccurate comments within a codebase. When a comment contains incorrect information or reflects an outdated understanding of the code's functionality, it can mislead developers who rely on it to understand how the code works</a:t>
            </a:r>
            <a:endParaRPr lang="en-PK" dirty="0"/>
          </a:p>
        </p:txBody>
      </p:sp>
      <p:sp>
        <p:nvSpPr>
          <p:cNvPr id="4" name="Slide Number Placeholder 3"/>
          <p:cNvSpPr>
            <a:spLocks noGrp="1"/>
          </p:cNvSpPr>
          <p:nvPr>
            <p:ph type="sldNum" sz="quarter" idx="5"/>
          </p:nvPr>
        </p:nvSpPr>
        <p:spPr/>
        <p:txBody>
          <a:bodyPr/>
          <a:lstStyle/>
          <a:p>
            <a:fld id="{F57AEC3F-2DBE-46A6-9DA4-1608BA572CCD}" type="slidenum">
              <a:rPr lang="en-PK" smtClean="0"/>
              <a:t>3</a:t>
            </a:fld>
            <a:endParaRPr lang="en-PK"/>
          </a:p>
        </p:txBody>
      </p:sp>
    </p:spTree>
    <p:extLst>
      <p:ext uri="{BB962C8B-B14F-4D97-AF65-F5344CB8AC3E}">
        <p14:creationId xmlns:p14="http://schemas.microsoft.com/office/powerpoint/2010/main" val="3194099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Good Comments</a:t>
            </a:r>
          </a:p>
          <a:p>
            <a:pPr>
              <a:buFont typeface="+mj-lt"/>
              <a:buAutoNum type="arabicPeriod"/>
            </a:pPr>
            <a:r>
              <a:rPr lang="en-US" b="1" dirty="0"/>
              <a:t>Legal Comments</a:t>
            </a:r>
            <a:endParaRPr lang="en-US" dirty="0"/>
          </a:p>
          <a:p>
            <a:pPr marL="742950" lvl="1" indent="-285750">
              <a:buFont typeface="+mj-lt"/>
              <a:buAutoNum type="arabicPeriod"/>
            </a:pPr>
            <a:r>
              <a:rPr lang="en-US" dirty="0"/>
              <a:t>Necessary for legal or corporate reasons, such as copyright and confidentiality disclaimers.</a:t>
            </a:r>
          </a:p>
          <a:p>
            <a:pPr>
              <a:buFont typeface="+mj-lt"/>
              <a:buAutoNum type="arabicPeriod"/>
            </a:pPr>
            <a:r>
              <a:rPr lang="en-US" b="1" dirty="0"/>
              <a:t>Informative Comments</a:t>
            </a:r>
            <a:endParaRPr lang="en-US" dirty="0"/>
          </a:p>
          <a:p>
            <a:pPr marL="742950" lvl="1" indent="-285750">
              <a:buFont typeface="+mj-lt"/>
              <a:buAutoNum type="arabicPeriod"/>
            </a:pPr>
            <a:r>
              <a:rPr lang="en-US" dirty="0"/>
              <a:t>Explain important details not obvious from the code, such as the purpose of methods or constants.</a:t>
            </a:r>
          </a:p>
          <a:p>
            <a:pPr marL="742950" lvl="1" indent="-285750">
              <a:buFont typeface="+mj-lt"/>
              <a:buAutoNum type="arabicPeriod"/>
            </a:pPr>
            <a:r>
              <a:rPr lang="en-US" dirty="0"/>
              <a:t>Examples:</a:t>
            </a:r>
          </a:p>
          <a:p>
            <a:pPr marL="1143000" lvl="2" indent="-228600">
              <a:buFont typeface="+mj-lt"/>
              <a:buAutoNum type="arabicPeriod"/>
            </a:pPr>
            <a:r>
              <a:rPr lang="en-US" dirty="0"/>
              <a:t>Explaining conversion factors.</a:t>
            </a:r>
          </a:p>
          <a:p>
            <a:pPr marL="1143000" lvl="2" indent="-228600">
              <a:buFont typeface="+mj-lt"/>
              <a:buAutoNum type="arabicPeriod"/>
            </a:pPr>
            <a:r>
              <a:rPr lang="en-US" dirty="0"/>
              <a:t>Indicating expected ranges for variables.</a:t>
            </a:r>
          </a:p>
          <a:p>
            <a:pPr>
              <a:buFont typeface="+mj-lt"/>
              <a:buAutoNum type="arabicPeriod"/>
            </a:pPr>
            <a:r>
              <a:rPr lang="en-US" b="1" dirty="0"/>
              <a:t>Clarification Comments</a:t>
            </a:r>
            <a:endParaRPr lang="en-US" dirty="0"/>
          </a:p>
          <a:p>
            <a:pPr marL="742950" lvl="1" indent="-285750">
              <a:buFont typeface="+mj-lt"/>
              <a:buAutoNum type="arabicPeriod"/>
            </a:pPr>
            <a:r>
              <a:rPr lang="en-US" dirty="0"/>
              <a:t>Provide context for ambiguous units or data types, e.g., specifying units like meters or seconds.</a:t>
            </a:r>
          </a:p>
          <a:p>
            <a:pPr>
              <a:buFont typeface="+mj-lt"/>
              <a:buAutoNum type="arabicPeriod"/>
            </a:pPr>
            <a:r>
              <a:rPr lang="en-US" b="1" dirty="0"/>
              <a:t>Warnings</a:t>
            </a:r>
            <a:endParaRPr lang="en-US" dirty="0"/>
          </a:p>
          <a:p>
            <a:pPr marL="742950" lvl="1" indent="-285750">
              <a:buFont typeface="+mj-lt"/>
              <a:buAutoNum type="arabicPeriod"/>
            </a:pPr>
            <a:r>
              <a:rPr lang="en-US" dirty="0"/>
              <a:t>Highlight potential risks or consequences, such as performance issues in certain scenarios.</a:t>
            </a:r>
          </a:p>
          <a:p>
            <a:pPr>
              <a:buFont typeface="+mj-lt"/>
              <a:buAutoNum type="arabicPeriod"/>
            </a:pPr>
            <a:r>
              <a:rPr lang="en-US" b="1" dirty="0"/>
              <a:t>To-Do Comments</a:t>
            </a:r>
            <a:endParaRPr lang="en-US" dirty="0"/>
          </a:p>
          <a:p>
            <a:pPr marL="742950" lvl="1" indent="-285750">
              <a:buFont typeface="+mj-lt"/>
              <a:buAutoNum type="arabicPeriod"/>
            </a:pPr>
            <a:r>
              <a:rPr lang="en-US" dirty="0"/>
              <a:t>Indicate unfinished tasks or planned enhancements in the code, e.g., using //TODO.</a:t>
            </a:r>
          </a:p>
          <a:p>
            <a:pPr>
              <a:buFont typeface="+mj-lt"/>
              <a:buAutoNum type="arabicPeriod"/>
            </a:pPr>
            <a:r>
              <a:rPr lang="en-US" b="1" dirty="0"/>
              <a:t>Amplification</a:t>
            </a:r>
            <a:endParaRPr lang="en-US" dirty="0"/>
          </a:p>
          <a:p>
            <a:pPr marL="742950" lvl="1" indent="-285750">
              <a:buFont typeface="+mj-lt"/>
              <a:buAutoNum type="arabicPeriod"/>
            </a:pPr>
            <a:r>
              <a:rPr lang="en-US" dirty="0"/>
              <a:t>Emphasize the importance of seemingly minor details, such as explaining why a particular operation is critical.</a:t>
            </a:r>
          </a:p>
          <a:p>
            <a:endParaRPr lang="en-US" dirty="0"/>
          </a:p>
        </p:txBody>
      </p:sp>
      <p:sp>
        <p:nvSpPr>
          <p:cNvPr id="4" name="Slide Number Placeholder 3"/>
          <p:cNvSpPr>
            <a:spLocks noGrp="1"/>
          </p:cNvSpPr>
          <p:nvPr>
            <p:ph type="sldNum" sz="quarter" idx="5"/>
          </p:nvPr>
        </p:nvSpPr>
        <p:spPr/>
        <p:txBody>
          <a:bodyPr/>
          <a:lstStyle/>
          <a:p>
            <a:fld id="{F57AEC3F-2DBE-46A6-9DA4-1608BA572CCD}" type="slidenum">
              <a:rPr lang="en-PK" smtClean="0"/>
              <a:t>8</a:t>
            </a:fld>
            <a:endParaRPr lang="en-PK"/>
          </a:p>
        </p:txBody>
      </p:sp>
    </p:spTree>
    <p:extLst>
      <p:ext uri="{BB962C8B-B14F-4D97-AF65-F5344CB8AC3E}">
        <p14:creationId xmlns:p14="http://schemas.microsoft.com/office/powerpoint/2010/main" val="1884704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7AEC3F-2DBE-46A6-9DA4-1608BA572CCD}" type="slidenum">
              <a:rPr lang="en-PK" smtClean="0"/>
              <a:t>10</a:t>
            </a:fld>
            <a:endParaRPr lang="en-PK"/>
          </a:p>
        </p:txBody>
      </p:sp>
    </p:spTree>
    <p:extLst>
      <p:ext uri="{BB962C8B-B14F-4D97-AF65-F5344CB8AC3E}">
        <p14:creationId xmlns:p14="http://schemas.microsoft.com/office/powerpoint/2010/main" val="3348732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Good Comments</a:t>
            </a:r>
          </a:p>
          <a:p>
            <a:pPr>
              <a:buFont typeface="+mj-lt"/>
              <a:buAutoNum type="arabicPeriod"/>
            </a:pPr>
            <a:r>
              <a:rPr lang="en-US" b="1" dirty="0"/>
              <a:t>Legal Comments</a:t>
            </a:r>
            <a:endParaRPr lang="en-US" dirty="0"/>
          </a:p>
          <a:p>
            <a:pPr marL="742950" lvl="1" indent="-285750">
              <a:buFont typeface="+mj-lt"/>
              <a:buAutoNum type="arabicPeriod"/>
            </a:pPr>
            <a:r>
              <a:rPr lang="en-US" dirty="0"/>
              <a:t>Necessary for legal or corporate reasons, such as copyright and confidentiality disclaimers.</a:t>
            </a:r>
          </a:p>
          <a:p>
            <a:pPr>
              <a:buFont typeface="+mj-lt"/>
              <a:buAutoNum type="arabicPeriod"/>
            </a:pPr>
            <a:r>
              <a:rPr lang="en-US" b="1" dirty="0"/>
              <a:t>Informative Comments</a:t>
            </a:r>
            <a:endParaRPr lang="en-US" dirty="0"/>
          </a:p>
          <a:p>
            <a:pPr marL="742950" lvl="1" indent="-285750">
              <a:buFont typeface="+mj-lt"/>
              <a:buAutoNum type="arabicPeriod"/>
            </a:pPr>
            <a:r>
              <a:rPr lang="en-US" dirty="0"/>
              <a:t>Explain important details not obvious from the code, such as the purpose of methods or constants.</a:t>
            </a:r>
          </a:p>
          <a:p>
            <a:pPr marL="742950" lvl="1" indent="-285750">
              <a:buFont typeface="+mj-lt"/>
              <a:buAutoNum type="arabicPeriod"/>
            </a:pPr>
            <a:r>
              <a:rPr lang="en-US" dirty="0"/>
              <a:t>Examples:</a:t>
            </a:r>
          </a:p>
          <a:p>
            <a:pPr marL="1143000" lvl="2" indent="-228600">
              <a:buFont typeface="+mj-lt"/>
              <a:buAutoNum type="arabicPeriod"/>
            </a:pPr>
            <a:r>
              <a:rPr lang="en-US" dirty="0"/>
              <a:t>Explaining conversion factors.</a:t>
            </a:r>
          </a:p>
          <a:p>
            <a:pPr marL="1143000" lvl="2" indent="-228600">
              <a:buFont typeface="+mj-lt"/>
              <a:buAutoNum type="arabicPeriod"/>
            </a:pPr>
            <a:r>
              <a:rPr lang="en-US" dirty="0"/>
              <a:t>Indicating expected ranges for variables.</a:t>
            </a:r>
          </a:p>
          <a:p>
            <a:pPr>
              <a:buFont typeface="+mj-lt"/>
              <a:buAutoNum type="arabicPeriod"/>
            </a:pPr>
            <a:r>
              <a:rPr lang="en-US" b="1" dirty="0"/>
              <a:t>Clarification Comments</a:t>
            </a:r>
            <a:endParaRPr lang="en-US" dirty="0"/>
          </a:p>
          <a:p>
            <a:pPr marL="742950" lvl="1" indent="-285750">
              <a:buFont typeface="+mj-lt"/>
              <a:buAutoNum type="arabicPeriod"/>
            </a:pPr>
            <a:r>
              <a:rPr lang="en-US" dirty="0"/>
              <a:t>Provide context for ambiguous units or data types, e.g., specifying units like meters or seconds.</a:t>
            </a:r>
          </a:p>
          <a:p>
            <a:pPr>
              <a:buFont typeface="+mj-lt"/>
              <a:buAutoNum type="arabicPeriod"/>
            </a:pPr>
            <a:r>
              <a:rPr lang="en-US" b="1" dirty="0"/>
              <a:t>Warnings</a:t>
            </a:r>
            <a:endParaRPr lang="en-US" dirty="0"/>
          </a:p>
          <a:p>
            <a:pPr marL="742950" lvl="1" indent="-285750">
              <a:buFont typeface="+mj-lt"/>
              <a:buAutoNum type="arabicPeriod"/>
            </a:pPr>
            <a:r>
              <a:rPr lang="en-US" dirty="0"/>
              <a:t>Highlight potential risks or consequences, such as performance issues in certain scenarios.</a:t>
            </a:r>
          </a:p>
          <a:p>
            <a:pPr>
              <a:buFont typeface="+mj-lt"/>
              <a:buAutoNum type="arabicPeriod"/>
            </a:pPr>
            <a:r>
              <a:rPr lang="en-US" b="1" dirty="0"/>
              <a:t>To-Do Comments</a:t>
            </a:r>
            <a:endParaRPr lang="en-US" dirty="0"/>
          </a:p>
          <a:p>
            <a:pPr marL="742950" lvl="1" indent="-285750">
              <a:buFont typeface="+mj-lt"/>
              <a:buAutoNum type="arabicPeriod"/>
            </a:pPr>
            <a:r>
              <a:rPr lang="en-US" dirty="0"/>
              <a:t>Indicate unfinished tasks or planned enhancements in the code, e.g., using //TODO.</a:t>
            </a:r>
          </a:p>
          <a:p>
            <a:pPr>
              <a:buFont typeface="+mj-lt"/>
              <a:buAutoNum type="arabicPeriod"/>
            </a:pPr>
            <a:r>
              <a:rPr lang="en-US" b="1" dirty="0"/>
              <a:t>Amplification</a:t>
            </a:r>
            <a:endParaRPr lang="en-US" dirty="0"/>
          </a:p>
          <a:p>
            <a:pPr marL="742950" lvl="1" indent="-285750">
              <a:buFont typeface="+mj-lt"/>
              <a:buAutoNum type="arabicPeriod"/>
            </a:pPr>
            <a:r>
              <a:rPr lang="en-US" dirty="0"/>
              <a:t>Emphasize the importance of seemingly minor details, such as explaining why a particular operation is critical.</a:t>
            </a:r>
          </a:p>
          <a:p>
            <a:endParaRPr lang="en-US" dirty="0"/>
          </a:p>
        </p:txBody>
      </p:sp>
      <p:sp>
        <p:nvSpPr>
          <p:cNvPr id="4" name="Slide Number Placeholder 3"/>
          <p:cNvSpPr>
            <a:spLocks noGrp="1"/>
          </p:cNvSpPr>
          <p:nvPr>
            <p:ph type="sldNum" sz="quarter" idx="5"/>
          </p:nvPr>
        </p:nvSpPr>
        <p:spPr/>
        <p:txBody>
          <a:bodyPr/>
          <a:lstStyle/>
          <a:p>
            <a:fld id="{F57AEC3F-2DBE-46A6-9DA4-1608BA572CCD}" type="slidenum">
              <a:rPr lang="en-PK" smtClean="0"/>
              <a:t>11</a:t>
            </a:fld>
            <a:endParaRPr lang="en-PK"/>
          </a:p>
        </p:txBody>
      </p:sp>
    </p:spTree>
    <p:extLst>
      <p:ext uri="{BB962C8B-B14F-4D97-AF65-F5344CB8AC3E}">
        <p14:creationId xmlns:p14="http://schemas.microsoft.com/office/powerpoint/2010/main" val="399561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Good Comments</a:t>
            </a:r>
          </a:p>
          <a:p>
            <a:pPr>
              <a:buFont typeface="+mj-lt"/>
              <a:buAutoNum type="arabicPeriod"/>
            </a:pPr>
            <a:r>
              <a:rPr lang="en-US" b="1" dirty="0"/>
              <a:t>Legal Comments</a:t>
            </a:r>
            <a:endParaRPr lang="en-US" dirty="0"/>
          </a:p>
          <a:p>
            <a:pPr marL="742950" lvl="1" indent="-285750">
              <a:buFont typeface="+mj-lt"/>
              <a:buAutoNum type="arabicPeriod"/>
            </a:pPr>
            <a:r>
              <a:rPr lang="en-US" dirty="0"/>
              <a:t>Necessary for legal or corporate reasons, such as copyright and confidentiality disclaimers.</a:t>
            </a:r>
          </a:p>
          <a:p>
            <a:pPr>
              <a:buFont typeface="+mj-lt"/>
              <a:buAutoNum type="arabicPeriod"/>
            </a:pPr>
            <a:r>
              <a:rPr lang="en-US" b="1" dirty="0"/>
              <a:t>Informative Comments</a:t>
            </a:r>
            <a:endParaRPr lang="en-US" dirty="0"/>
          </a:p>
          <a:p>
            <a:pPr marL="742950" lvl="1" indent="-285750">
              <a:buFont typeface="+mj-lt"/>
              <a:buAutoNum type="arabicPeriod"/>
            </a:pPr>
            <a:r>
              <a:rPr lang="en-US" dirty="0"/>
              <a:t>Explain important details not obvious from the code, such as the purpose of methods or constants.</a:t>
            </a:r>
          </a:p>
          <a:p>
            <a:pPr marL="742950" lvl="1" indent="-285750">
              <a:buFont typeface="+mj-lt"/>
              <a:buAutoNum type="arabicPeriod"/>
            </a:pPr>
            <a:r>
              <a:rPr lang="en-US" dirty="0"/>
              <a:t>Examples:</a:t>
            </a:r>
          </a:p>
          <a:p>
            <a:pPr marL="1143000" lvl="2" indent="-228600">
              <a:buFont typeface="+mj-lt"/>
              <a:buAutoNum type="arabicPeriod"/>
            </a:pPr>
            <a:r>
              <a:rPr lang="en-US" dirty="0"/>
              <a:t>Explaining conversion factors.</a:t>
            </a:r>
          </a:p>
          <a:p>
            <a:pPr marL="1143000" lvl="2" indent="-228600">
              <a:buFont typeface="+mj-lt"/>
              <a:buAutoNum type="arabicPeriod"/>
            </a:pPr>
            <a:r>
              <a:rPr lang="en-US" dirty="0"/>
              <a:t>Indicating expected ranges for variables.</a:t>
            </a:r>
          </a:p>
          <a:p>
            <a:pPr>
              <a:buFont typeface="+mj-lt"/>
              <a:buAutoNum type="arabicPeriod"/>
            </a:pPr>
            <a:r>
              <a:rPr lang="en-US" b="1" dirty="0"/>
              <a:t>Clarification Comments</a:t>
            </a:r>
            <a:endParaRPr lang="en-US" dirty="0"/>
          </a:p>
          <a:p>
            <a:pPr marL="742950" lvl="1" indent="-285750">
              <a:buFont typeface="+mj-lt"/>
              <a:buAutoNum type="arabicPeriod"/>
            </a:pPr>
            <a:r>
              <a:rPr lang="en-US" dirty="0"/>
              <a:t>Provide context for ambiguous units or data types, e.g., specifying units like meters or seconds.</a:t>
            </a:r>
          </a:p>
          <a:p>
            <a:pPr>
              <a:buFont typeface="+mj-lt"/>
              <a:buAutoNum type="arabicPeriod"/>
            </a:pPr>
            <a:r>
              <a:rPr lang="en-US" b="1" dirty="0"/>
              <a:t>Warnings</a:t>
            </a:r>
            <a:endParaRPr lang="en-US" dirty="0"/>
          </a:p>
          <a:p>
            <a:pPr marL="742950" lvl="1" indent="-285750">
              <a:buFont typeface="+mj-lt"/>
              <a:buAutoNum type="arabicPeriod"/>
            </a:pPr>
            <a:r>
              <a:rPr lang="en-US" dirty="0"/>
              <a:t>Highlight potential risks or consequences, such as performance issues in certain scenarios.</a:t>
            </a:r>
          </a:p>
          <a:p>
            <a:pPr>
              <a:buFont typeface="+mj-lt"/>
              <a:buAutoNum type="arabicPeriod"/>
            </a:pPr>
            <a:r>
              <a:rPr lang="en-US" b="1" dirty="0"/>
              <a:t>To-Do Comments</a:t>
            </a:r>
            <a:endParaRPr lang="en-US" dirty="0"/>
          </a:p>
          <a:p>
            <a:pPr marL="742950" lvl="1" indent="-285750">
              <a:buFont typeface="+mj-lt"/>
              <a:buAutoNum type="arabicPeriod"/>
            </a:pPr>
            <a:r>
              <a:rPr lang="en-US" dirty="0"/>
              <a:t>Indicate unfinished tasks or planned enhancements in the code, e.g., using //TODO.</a:t>
            </a:r>
          </a:p>
          <a:p>
            <a:pPr>
              <a:buFont typeface="+mj-lt"/>
              <a:buAutoNum type="arabicPeriod"/>
            </a:pPr>
            <a:r>
              <a:rPr lang="en-US" b="1" dirty="0"/>
              <a:t>Amplification</a:t>
            </a:r>
            <a:endParaRPr lang="en-US" dirty="0"/>
          </a:p>
          <a:p>
            <a:pPr marL="742950" lvl="1" indent="-285750">
              <a:buFont typeface="+mj-lt"/>
              <a:buAutoNum type="arabicPeriod"/>
            </a:pPr>
            <a:r>
              <a:rPr lang="en-US" dirty="0"/>
              <a:t>Emphasize the importance of seemingly minor details, such as explaining why a particular operation is critical.</a:t>
            </a:r>
          </a:p>
          <a:p>
            <a:endParaRPr lang="en-US" dirty="0"/>
          </a:p>
        </p:txBody>
      </p:sp>
      <p:sp>
        <p:nvSpPr>
          <p:cNvPr id="4" name="Slide Number Placeholder 3"/>
          <p:cNvSpPr>
            <a:spLocks noGrp="1"/>
          </p:cNvSpPr>
          <p:nvPr>
            <p:ph type="sldNum" sz="quarter" idx="5"/>
          </p:nvPr>
        </p:nvSpPr>
        <p:spPr/>
        <p:txBody>
          <a:bodyPr/>
          <a:lstStyle/>
          <a:p>
            <a:fld id="{F57AEC3F-2DBE-46A6-9DA4-1608BA572CCD}" type="slidenum">
              <a:rPr lang="en-PK" smtClean="0"/>
              <a:t>12</a:t>
            </a:fld>
            <a:endParaRPr lang="en-PK"/>
          </a:p>
        </p:txBody>
      </p:sp>
    </p:spTree>
    <p:extLst>
      <p:ext uri="{BB962C8B-B14F-4D97-AF65-F5344CB8AC3E}">
        <p14:creationId xmlns:p14="http://schemas.microsoft.com/office/powerpoint/2010/main" val="237080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latin typeface="Söhne"/>
              </a:rPr>
              <a:t>The comment preceding the method serves as a warning to other programmers. It indicates that running this method might consume a significant amount of time due to its potentially resource-intensive operations</a:t>
            </a:r>
            <a:endParaRPr lang="en-PK" dirty="0"/>
          </a:p>
        </p:txBody>
      </p:sp>
      <p:sp>
        <p:nvSpPr>
          <p:cNvPr id="4" name="Slide Number Placeholder 3"/>
          <p:cNvSpPr>
            <a:spLocks noGrp="1"/>
          </p:cNvSpPr>
          <p:nvPr>
            <p:ph type="sldNum" sz="quarter" idx="5"/>
          </p:nvPr>
        </p:nvSpPr>
        <p:spPr/>
        <p:txBody>
          <a:bodyPr/>
          <a:lstStyle/>
          <a:p>
            <a:fld id="{F57AEC3F-2DBE-46A6-9DA4-1608BA572CCD}" type="slidenum">
              <a:rPr lang="en-PK" smtClean="0"/>
              <a:t>15</a:t>
            </a:fld>
            <a:endParaRPr lang="en-PK"/>
          </a:p>
        </p:txBody>
      </p:sp>
    </p:spTree>
    <p:extLst>
      <p:ext uri="{BB962C8B-B14F-4D97-AF65-F5344CB8AC3E}">
        <p14:creationId xmlns:p14="http://schemas.microsoft.com/office/powerpoint/2010/main" val="368729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0" i="0" dirty="0">
                <a:solidFill>
                  <a:srgbClr val="0D0D0D"/>
                </a:solidFill>
                <a:effectLst/>
                <a:latin typeface="Söhne"/>
              </a:rPr>
              <a:t>Lack of Specificity: The comment is quite vague and doesn't clearly explain what "all defaults" refer to. It leaves room for interpretation and may not adequately convey the precise actions taken when no properties file is found.</a:t>
            </a:r>
          </a:p>
          <a:p>
            <a:pPr algn="l">
              <a:buFont typeface="+mj-lt"/>
              <a:buAutoNum type="arabicPeriod"/>
            </a:pPr>
            <a:r>
              <a:rPr lang="en-US" b="0" i="0" dirty="0">
                <a:solidFill>
                  <a:srgbClr val="0D0D0D"/>
                </a:solidFill>
                <a:effectLst/>
                <a:latin typeface="Söhne"/>
              </a:rPr>
              <a:t>Assumption of Understanding: The comment assumes that the reader understands what "all defaults" means in this context. However, without further explanation or context, it may not be immediately clear to all developers what defaults are being referred to and how they are loaded.</a:t>
            </a:r>
          </a:p>
          <a:p>
            <a:pPr algn="l">
              <a:buFont typeface="+mj-lt"/>
              <a:buAutoNum type="arabicPeriod"/>
            </a:pPr>
            <a:r>
              <a:rPr lang="en-US" b="0" i="0" dirty="0">
                <a:solidFill>
                  <a:srgbClr val="0D0D0D"/>
                </a:solidFill>
                <a:effectLst/>
                <a:latin typeface="Söhne"/>
              </a:rPr>
              <a:t>Incomplete Explanation: The comment doesn't provide information on how the default properties are determined or where they are sourced from. Without this information, developers may have difficulty understanding the logic behind the fallback behavior.</a:t>
            </a:r>
          </a:p>
          <a:p>
            <a:endParaRPr lang="en-PK" dirty="0"/>
          </a:p>
        </p:txBody>
      </p:sp>
      <p:sp>
        <p:nvSpPr>
          <p:cNvPr id="4" name="Slide Number Placeholder 3"/>
          <p:cNvSpPr>
            <a:spLocks noGrp="1"/>
          </p:cNvSpPr>
          <p:nvPr>
            <p:ph type="sldNum" sz="quarter" idx="5"/>
          </p:nvPr>
        </p:nvSpPr>
        <p:spPr/>
        <p:txBody>
          <a:bodyPr/>
          <a:lstStyle/>
          <a:p>
            <a:fld id="{F57AEC3F-2DBE-46A6-9DA4-1608BA572CCD}" type="slidenum">
              <a:rPr lang="en-PK" smtClean="0"/>
              <a:t>19</a:t>
            </a:fld>
            <a:endParaRPr lang="en-PK"/>
          </a:p>
        </p:txBody>
      </p:sp>
    </p:spTree>
    <p:extLst>
      <p:ext uri="{BB962C8B-B14F-4D97-AF65-F5344CB8AC3E}">
        <p14:creationId xmlns:p14="http://schemas.microsoft.com/office/powerpoint/2010/main" val="6678766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F595D924-2CAC-4EAE-8082-7D6AB8343EAA}" type="datetimeFigureOut">
              <a:rPr lang="en-US" smtClean="0"/>
              <a:t>12/29/2024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2EC0B66F-1F98-4F3E-B5DE-3D924A27F080}" type="slidenum">
              <a:rPr lang="en-US" smtClean="0"/>
              <a:t>‹#›</a:t>
            </a:fld>
            <a:endParaRPr lang="en-US"/>
          </a:p>
        </p:txBody>
      </p:sp>
    </p:spTree>
    <p:extLst>
      <p:ext uri="{BB962C8B-B14F-4D97-AF65-F5344CB8AC3E}">
        <p14:creationId xmlns:p14="http://schemas.microsoft.com/office/powerpoint/2010/main" val="2893742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95D924-2CAC-4EAE-8082-7D6AB8343EAA}" type="datetimeFigureOut">
              <a:rPr lang="en-US" smtClean="0"/>
              <a:t>12/29/2024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C0B66F-1F98-4F3E-B5DE-3D924A27F080}" type="slidenum">
              <a:rPr lang="en-US" smtClean="0"/>
              <a:t>‹#›</a:t>
            </a:fld>
            <a:endParaRPr lang="en-US"/>
          </a:p>
        </p:txBody>
      </p:sp>
    </p:spTree>
    <p:extLst>
      <p:ext uri="{BB962C8B-B14F-4D97-AF65-F5344CB8AC3E}">
        <p14:creationId xmlns:p14="http://schemas.microsoft.com/office/powerpoint/2010/main" val="1335209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95D924-2CAC-4EAE-8082-7D6AB8343EAA}" type="datetimeFigureOut">
              <a:rPr lang="en-US" smtClean="0"/>
              <a:t>12/29/2024</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EC0B66F-1F98-4F3E-B5DE-3D924A27F080}" type="slidenum">
              <a:rPr lang="en-US" smtClean="0"/>
              <a:t>‹#›</a:t>
            </a:fld>
            <a:endParaRPr lang="en-US"/>
          </a:p>
        </p:txBody>
      </p:sp>
    </p:spTree>
    <p:extLst>
      <p:ext uri="{BB962C8B-B14F-4D97-AF65-F5344CB8AC3E}">
        <p14:creationId xmlns:p14="http://schemas.microsoft.com/office/powerpoint/2010/main" val="3198321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95D924-2CAC-4EAE-8082-7D6AB8343EAA}" type="datetimeFigureOut">
              <a:rPr lang="en-US" smtClean="0"/>
              <a:t>12/29/2024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C0B66F-1F98-4F3E-B5DE-3D924A27F080}" type="slidenum">
              <a:rPr lang="en-US" smtClean="0"/>
              <a:t>‹#›</a:t>
            </a:fld>
            <a:endParaRPr lang="en-US"/>
          </a:p>
        </p:txBody>
      </p:sp>
    </p:spTree>
    <p:extLst>
      <p:ext uri="{BB962C8B-B14F-4D97-AF65-F5344CB8AC3E}">
        <p14:creationId xmlns:p14="http://schemas.microsoft.com/office/powerpoint/2010/main" val="2939112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95D924-2CAC-4EAE-8082-7D6AB8343EAA}" type="datetimeFigureOut">
              <a:rPr lang="en-US" smtClean="0"/>
              <a:t>12/29/2024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C0B66F-1F98-4F3E-B5DE-3D924A27F080}" type="slidenum">
              <a:rPr lang="en-US" smtClean="0"/>
              <a:t>‹#›</a:t>
            </a:fld>
            <a:endParaRPr lang="en-US"/>
          </a:p>
        </p:txBody>
      </p:sp>
    </p:spTree>
    <p:extLst>
      <p:ext uri="{BB962C8B-B14F-4D97-AF65-F5344CB8AC3E}">
        <p14:creationId xmlns:p14="http://schemas.microsoft.com/office/powerpoint/2010/main" val="1578384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95D924-2CAC-4EAE-8082-7D6AB8343EAA}" type="datetimeFigureOut">
              <a:rPr lang="en-US" smtClean="0"/>
              <a:t>12/29/2024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C0B66F-1F98-4F3E-B5DE-3D924A27F080}" type="slidenum">
              <a:rPr lang="en-US" smtClean="0"/>
              <a:t>‹#›</a:t>
            </a:fld>
            <a:endParaRPr lang="en-US"/>
          </a:p>
        </p:txBody>
      </p:sp>
    </p:spTree>
    <p:extLst>
      <p:ext uri="{BB962C8B-B14F-4D97-AF65-F5344CB8AC3E}">
        <p14:creationId xmlns:p14="http://schemas.microsoft.com/office/powerpoint/2010/main" val="1535245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95D924-2CAC-4EAE-8082-7D6AB8343EAA}" type="datetimeFigureOut">
              <a:rPr lang="en-US" smtClean="0"/>
              <a:t>12/29/2024</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2EC0B66F-1F98-4F3E-B5DE-3D924A27F080}" type="slidenum">
              <a:rPr lang="en-US" smtClean="0"/>
              <a:t>‹#›</a:t>
            </a:fld>
            <a:endParaRPr lang="en-US"/>
          </a:p>
        </p:txBody>
      </p:sp>
    </p:spTree>
    <p:extLst>
      <p:ext uri="{BB962C8B-B14F-4D97-AF65-F5344CB8AC3E}">
        <p14:creationId xmlns:p14="http://schemas.microsoft.com/office/powerpoint/2010/main" val="2062212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95D924-2CAC-4EAE-8082-7D6AB8343EAA}" type="datetimeFigureOut">
              <a:rPr lang="en-US" smtClean="0"/>
              <a:t>12/29/2024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EC0B66F-1F98-4F3E-B5DE-3D924A27F080}" type="slidenum">
              <a:rPr lang="en-US" smtClean="0"/>
              <a:t>‹#›</a:t>
            </a:fld>
            <a:endParaRPr lang="en-US"/>
          </a:p>
        </p:txBody>
      </p:sp>
    </p:spTree>
    <p:extLst>
      <p:ext uri="{BB962C8B-B14F-4D97-AF65-F5344CB8AC3E}">
        <p14:creationId xmlns:p14="http://schemas.microsoft.com/office/powerpoint/2010/main" val="2621465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95D924-2CAC-4EAE-8082-7D6AB8343EAA}" type="datetimeFigureOut">
              <a:rPr lang="en-US" smtClean="0"/>
              <a:t>12/29/2024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EC0B66F-1F98-4F3E-B5DE-3D924A27F080}" type="slidenum">
              <a:rPr lang="en-US" smtClean="0"/>
              <a:t>‹#›</a:t>
            </a:fld>
            <a:endParaRPr lang="en-US"/>
          </a:p>
        </p:txBody>
      </p:sp>
    </p:spTree>
    <p:extLst>
      <p:ext uri="{BB962C8B-B14F-4D97-AF65-F5344CB8AC3E}">
        <p14:creationId xmlns:p14="http://schemas.microsoft.com/office/powerpoint/2010/main" val="914498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95D924-2CAC-4EAE-8082-7D6AB8343EAA}" type="datetimeFigureOut">
              <a:rPr lang="en-US" smtClean="0"/>
              <a:t>12/29/2024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EC0B66F-1F98-4F3E-B5DE-3D924A27F080}" type="slidenum">
              <a:rPr lang="en-US" smtClean="0"/>
              <a:t>‹#›</a:t>
            </a:fld>
            <a:endParaRPr lang="en-US"/>
          </a:p>
        </p:txBody>
      </p:sp>
    </p:spTree>
    <p:extLst>
      <p:ext uri="{BB962C8B-B14F-4D97-AF65-F5344CB8AC3E}">
        <p14:creationId xmlns:p14="http://schemas.microsoft.com/office/powerpoint/2010/main" val="3124584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595D924-2CAC-4EAE-8082-7D6AB8343EAA}" type="datetimeFigureOut">
              <a:rPr lang="en-US" smtClean="0"/>
              <a:t>12/29/2024</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EC0B66F-1F98-4F3E-B5DE-3D924A27F080}" type="slidenum">
              <a:rPr lang="en-US" smtClean="0"/>
              <a:t>‹#›</a:t>
            </a:fld>
            <a:endParaRPr lang="en-US"/>
          </a:p>
        </p:txBody>
      </p:sp>
    </p:spTree>
    <p:extLst>
      <p:ext uri="{BB962C8B-B14F-4D97-AF65-F5344CB8AC3E}">
        <p14:creationId xmlns:p14="http://schemas.microsoft.com/office/powerpoint/2010/main" val="4285362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595D924-2CAC-4EAE-8082-7D6AB8343EAA}" type="datetimeFigureOut">
              <a:rPr lang="en-US" smtClean="0"/>
              <a:t>12/29/2024</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EC0B66F-1F98-4F3E-B5DE-3D924A27F080}" type="slidenum">
              <a:rPr lang="en-US" smtClean="0"/>
              <a:t>‹#›</a:t>
            </a:fld>
            <a:endParaRPr lang="en-US"/>
          </a:p>
        </p:txBody>
      </p:sp>
    </p:spTree>
    <p:extLst>
      <p:ext uri="{BB962C8B-B14F-4D97-AF65-F5344CB8AC3E}">
        <p14:creationId xmlns:p14="http://schemas.microsoft.com/office/powerpoint/2010/main" val="27811012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95D924-2CAC-4EAE-8082-7D6AB8343EAA}" type="datetimeFigureOut">
              <a:rPr lang="en-US" smtClean="0"/>
              <a:t>12/29/2024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EC0B66F-1F98-4F3E-B5DE-3D924A27F080}" type="slidenum">
              <a:rPr lang="en-US" smtClean="0"/>
              <a:t>‹#›</a:t>
            </a:fld>
            <a:endParaRPr lang="en-US"/>
          </a:p>
        </p:txBody>
      </p:sp>
    </p:spTree>
    <p:extLst>
      <p:ext uri="{BB962C8B-B14F-4D97-AF65-F5344CB8AC3E}">
        <p14:creationId xmlns:p14="http://schemas.microsoft.com/office/powerpoint/2010/main" val="23621965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595D924-2CAC-4EAE-8082-7D6AB8343EAA}" type="datetimeFigureOut">
              <a:rPr lang="en-US" smtClean="0"/>
              <a:t>12/29/2024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C0B66F-1F98-4F3E-B5DE-3D924A27F080}" type="slidenum">
              <a:rPr lang="en-US" smtClean="0"/>
              <a:t>‹#›</a:t>
            </a:fld>
            <a:endParaRPr lang="en-US"/>
          </a:p>
        </p:txBody>
      </p:sp>
    </p:spTree>
    <p:extLst>
      <p:ext uri="{BB962C8B-B14F-4D97-AF65-F5344CB8AC3E}">
        <p14:creationId xmlns:p14="http://schemas.microsoft.com/office/powerpoint/2010/main" val="27575448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595D924-2CAC-4EAE-8082-7D6AB8343EAA}" type="datetimeFigureOut">
              <a:rPr lang="en-US" smtClean="0"/>
              <a:t>12/29/2024</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2EC0B66F-1F98-4F3E-B5DE-3D924A27F080}" type="slidenum">
              <a:rPr lang="en-US" smtClean="0"/>
              <a:t>‹#›</a:t>
            </a:fld>
            <a:endParaRPr lang="en-US"/>
          </a:p>
        </p:txBody>
      </p:sp>
    </p:spTree>
    <p:extLst>
      <p:ext uri="{BB962C8B-B14F-4D97-AF65-F5344CB8AC3E}">
        <p14:creationId xmlns:p14="http://schemas.microsoft.com/office/powerpoint/2010/main" val="3396755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F595D924-2CAC-4EAE-8082-7D6AB8343EAA}" type="datetimeFigureOut">
              <a:rPr lang="en-US" smtClean="0"/>
              <a:t>12/29/2024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C0B66F-1F98-4F3E-B5DE-3D924A27F080}" type="slidenum">
              <a:rPr lang="en-US" smtClean="0"/>
              <a:t>‹#›</a:t>
            </a:fld>
            <a:endParaRPr lang="en-US"/>
          </a:p>
        </p:txBody>
      </p:sp>
    </p:spTree>
    <p:extLst>
      <p:ext uri="{BB962C8B-B14F-4D97-AF65-F5344CB8AC3E}">
        <p14:creationId xmlns:p14="http://schemas.microsoft.com/office/powerpoint/2010/main" val="20677958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F595D924-2CAC-4EAE-8082-7D6AB8343EAA}" type="datetimeFigureOut">
              <a:rPr lang="en-US" smtClean="0"/>
              <a:t>12/29/2024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EC0B66F-1F98-4F3E-B5DE-3D924A27F080}" type="slidenum">
              <a:rPr lang="en-US" smtClean="0"/>
              <a:t>‹#›</a:t>
            </a:fld>
            <a:endParaRPr lang="en-US"/>
          </a:p>
        </p:txBody>
      </p:sp>
    </p:spTree>
    <p:extLst>
      <p:ext uri="{BB962C8B-B14F-4D97-AF65-F5344CB8AC3E}">
        <p14:creationId xmlns:p14="http://schemas.microsoft.com/office/powerpoint/2010/main" val="3202403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F595D924-2CAC-4EAE-8082-7D6AB8343EAA}" type="datetimeFigureOut">
              <a:rPr lang="en-US" smtClean="0"/>
              <a:t>12/29/2024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2EC0B66F-1F98-4F3E-B5DE-3D924A27F080}" type="slidenum">
              <a:rPr lang="en-US" smtClean="0"/>
              <a:t>‹#›</a:t>
            </a:fld>
            <a:endParaRPr lang="en-US"/>
          </a:p>
        </p:txBody>
      </p:sp>
    </p:spTree>
    <p:extLst>
      <p:ext uri="{BB962C8B-B14F-4D97-AF65-F5344CB8AC3E}">
        <p14:creationId xmlns:p14="http://schemas.microsoft.com/office/powerpoint/2010/main" val="28301452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Comments</a:t>
            </a:r>
          </a:p>
        </p:txBody>
      </p:sp>
      <p:sp>
        <p:nvSpPr>
          <p:cNvPr id="3" name="Subtitle 2"/>
          <p:cNvSpPr>
            <a:spLocks noGrp="1"/>
          </p:cNvSpPr>
          <p:nvPr>
            <p:ph type="subTitle" idx="1"/>
          </p:nvPr>
        </p:nvSpPr>
        <p:spPr/>
        <p:txBody>
          <a:bodyPr/>
          <a:lstStyle/>
          <a:p>
            <a:r>
              <a:rPr lang="en-US"/>
              <a:t>Clean CODE-CHAPTER 4</a:t>
            </a:r>
          </a:p>
        </p:txBody>
      </p:sp>
    </p:spTree>
    <p:extLst>
      <p:ext uri="{BB962C8B-B14F-4D97-AF65-F5344CB8AC3E}">
        <p14:creationId xmlns:p14="http://schemas.microsoft.com/office/powerpoint/2010/main" val="1636080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02014-76B8-4070-AB8A-499AAAEB040C}"/>
              </a:ext>
            </a:extLst>
          </p:cNvPr>
          <p:cNvSpPr>
            <a:spLocks noGrp="1"/>
          </p:cNvSpPr>
          <p:nvPr>
            <p:ph type="title"/>
          </p:nvPr>
        </p:nvSpPr>
        <p:spPr/>
        <p:txBody>
          <a:bodyPr/>
          <a:lstStyle/>
          <a:p>
            <a:r>
              <a:rPr lang="en-US" dirty="0"/>
              <a:t>Comment</a:t>
            </a:r>
            <a:endParaRPr lang="en-PK" dirty="0"/>
          </a:p>
        </p:txBody>
      </p:sp>
      <p:sp>
        <p:nvSpPr>
          <p:cNvPr id="3" name="Content Placeholder 2">
            <a:extLst>
              <a:ext uri="{FF2B5EF4-FFF2-40B4-BE49-F238E27FC236}">
                <a16:creationId xmlns:a16="http://schemas.microsoft.com/office/drawing/2014/main" id="{B2469EB9-498D-4DD9-B623-A2C670139B88}"/>
              </a:ext>
            </a:extLst>
          </p:cNvPr>
          <p:cNvSpPr>
            <a:spLocks noGrp="1"/>
          </p:cNvSpPr>
          <p:nvPr>
            <p:ph idx="1"/>
          </p:nvPr>
        </p:nvSpPr>
        <p:spPr/>
        <p:txBody>
          <a:bodyPr/>
          <a:lstStyle/>
          <a:p>
            <a:pPr marL="0" indent="0">
              <a:buNone/>
            </a:pPr>
            <a:r>
              <a:rPr lang="en-US" sz="2800" dirty="0">
                <a:latin typeface="Times New Roman" panose="02020603050405020304" pitchFamily="18" charset="0"/>
                <a:ea typeface="+mn-lt"/>
                <a:cs typeface="Times New Roman" panose="02020603050405020304" pitchFamily="18" charset="0"/>
              </a:rPr>
              <a:t>Everything the Compiler Needs to Know is in the Code!"</a:t>
            </a:r>
          </a:p>
          <a:p>
            <a:pPr marL="0" indent="0">
              <a:buNone/>
            </a:pPr>
            <a:r>
              <a:rPr lang="en-US" sz="2800" dirty="0">
                <a:latin typeface="Times New Roman" panose="02020603050405020304" pitchFamily="18" charset="0"/>
                <a:ea typeface="+mn-lt"/>
                <a:cs typeface="Times New Roman" panose="02020603050405020304" pitchFamily="18" charset="0"/>
              </a:rPr>
              <a:t>Effective comments do not repeat the code they explain the code at higher level</a:t>
            </a:r>
            <a:r>
              <a:rPr lang="en-US" sz="1800" dirty="0">
                <a:ea typeface="+mn-lt"/>
                <a:cs typeface="+mn-lt"/>
              </a:rPr>
              <a:t>.</a:t>
            </a:r>
          </a:p>
          <a:p>
            <a:endParaRPr lang="en-PK" dirty="0"/>
          </a:p>
        </p:txBody>
      </p:sp>
    </p:spTree>
    <p:extLst>
      <p:ext uri="{BB962C8B-B14F-4D97-AF65-F5344CB8AC3E}">
        <p14:creationId xmlns:p14="http://schemas.microsoft.com/office/powerpoint/2010/main" val="1305893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Comments</a:t>
            </a:r>
          </a:p>
        </p:txBody>
      </p:sp>
      <p:sp>
        <p:nvSpPr>
          <p:cNvPr id="3" name="Content Placeholder 2"/>
          <p:cNvSpPr>
            <a:spLocks noGrp="1"/>
          </p:cNvSpPr>
          <p:nvPr>
            <p:ph idx="1"/>
          </p:nvPr>
        </p:nvSpPr>
        <p:spPr/>
        <p:txBody>
          <a:bodyPr/>
          <a:lstStyle/>
          <a:p>
            <a:r>
              <a:rPr lang="en-US" sz="2000" dirty="0"/>
              <a:t>Nothing can be quite so helpful as a well-placed comment. Nothing can clutter up a module more than frivolous dogmatic comments. Nothing can be quite so damaging as an old comment that propagates lies and misinformation.</a:t>
            </a:r>
          </a:p>
          <a:p>
            <a:endParaRPr lang="en-US" dirty="0"/>
          </a:p>
        </p:txBody>
      </p:sp>
    </p:spTree>
    <p:extLst>
      <p:ext uri="{BB962C8B-B14F-4D97-AF65-F5344CB8AC3E}">
        <p14:creationId xmlns:p14="http://schemas.microsoft.com/office/powerpoint/2010/main" val="1802980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Comments Do Not Make Up for Bad Code</a:t>
            </a:r>
            <a:br>
              <a:rPr lang="en-US" b="1" dirty="0"/>
            </a:br>
            <a:endParaRPr lang="en-US" dirty="0"/>
          </a:p>
        </p:txBody>
      </p:sp>
      <p:sp>
        <p:nvSpPr>
          <p:cNvPr id="3" name="Content Placeholder 2"/>
          <p:cNvSpPr>
            <a:spLocks noGrp="1"/>
          </p:cNvSpPr>
          <p:nvPr>
            <p:ph idx="1"/>
          </p:nvPr>
        </p:nvSpPr>
        <p:spPr/>
        <p:txBody>
          <a:bodyPr/>
          <a:lstStyle/>
          <a:p>
            <a:pPr marL="0" indent="0">
              <a:buNone/>
            </a:pPr>
            <a:r>
              <a:rPr lang="en-US" sz="2000" dirty="0"/>
              <a:t>Clear and expressive code with few comments is far superior to cluttered and complex code with lots of comments. Rather than spend your time writing the comments that explain the mess you’ve made, spend it cleaning that mess.</a:t>
            </a:r>
          </a:p>
          <a:p>
            <a:endParaRPr lang="en-US" dirty="0"/>
          </a:p>
        </p:txBody>
      </p:sp>
    </p:spTree>
    <p:extLst>
      <p:ext uri="{BB962C8B-B14F-4D97-AF65-F5344CB8AC3E}">
        <p14:creationId xmlns:p14="http://schemas.microsoft.com/office/powerpoint/2010/main" val="1665105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6466D-20F5-429C-98FD-DF593731D4C1}"/>
              </a:ext>
            </a:extLst>
          </p:cNvPr>
          <p:cNvSpPr>
            <a:spLocks noGrp="1"/>
          </p:cNvSpPr>
          <p:nvPr>
            <p:ph type="title"/>
          </p:nvPr>
        </p:nvSpPr>
        <p:spPr/>
        <p:txBody>
          <a:bodyPr/>
          <a:lstStyle/>
          <a:p>
            <a:r>
              <a:rPr lang="en-US" dirty="0"/>
              <a:t>Comments focus on Why rather than How?</a:t>
            </a:r>
            <a:endParaRPr lang="en-PK" dirty="0"/>
          </a:p>
        </p:txBody>
      </p:sp>
      <p:sp>
        <p:nvSpPr>
          <p:cNvPr id="3" name="Content Placeholder 2">
            <a:extLst>
              <a:ext uri="{FF2B5EF4-FFF2-40B4-BE49-F238E27FC236}">
                <a16:creationId xmlns:a16="http://schemas.microsoft.com/office/drawing/2014/main" id="{A1B3A7E6-8199-4E14-9ACF-EE738CDBE297}"/>
              </a:ext>
            </a:extLst>
          </p:cNvPr>
          <p:cNvSpPr>
            <a:spLocks noGrp="1"/>
          </p:cNvSpPr>
          <p:nvPr>
            <p:ph idx="1"/>
          </p:nvPr>
        </p:nvSpPr>
        <p:spPr/>
        <p:txBody>
          <a:bodyPr/>
          <a:lstStyle/>
          <a:p>
            <a:endParaRPr lang="en-PK" dirty="0"/>
          </a:p>
        </p:txBody>
      </p:sp>
      <p:pic>
        <p:nvPicPr>
          <p:cNvPr id="4" name="Picture 4">
            <a:extLst>
              <a:ext uri="{FF2B5EF4-FFF2-40B4-BE49-F238E27FC236}">
                <a16:creationId xmlns:a16="http://schemas.microsoft.com/office/drawing/2014/main" id="{25630C12-8091-45F5-BABD-11DEEC3A6CB1}"/>
              </a:ext>
            </a:extLst>
          </p:cNvPr>
          <p:cNvPicPr>
            <a:picLocks noChangeAspect="1"/>
          </p:cNvPicPr>
          <p:nvPr/>
        </p:nvPicPr>
        <p:blipFill>
          <a:blip r:embed="rId2"/>
          <a:stretch>
            <a:fillRect/>
          </a:stretch>
        </p:blipFill>
        <p:spPr>
          <a:xfrm>
            <a:off x="1349470" y="2569460"/>
            <a:ext cx="8367414" cy="1500927"/>
          </a:xfrm>
          <a:prstGeom prst="rect">
            <a:avLst/>
          </a:prstGeom>
        </p:spPr>
      </p:pic>
      <p:pic>
        <p:nvPicPr>
          <p:cNvPr id="5" name="Picture 5">
            <a:extLst>
              <a:ext uri="{FF2B5EF4-FFF2-40B4-BE49-F238E27FC236}">
                <a16:creationId xmlns:a16="http://schemas.microsoft.com/office/drawing/2014/main" id="{38521215-2321-4E7C-905B-195A98977FC7}"/>
              </a:ext>
            </a:extLst>
          </p:cNvPr>
          <p:cNvPicPr>
            <a:picLocks noChangeAspect="1"/>
          </p:cNvPicPr>
          <p:nvPr/>
        </p:nvPicPr>
        <p:blipFill>
          <a:blip r:embed="rId3"/>
          <a:stretch>
            <a:fillRect/>
          </a:stretch>
        </p:blipFill>
        <p:spPr>
          <a:xfrm>
            <a:off x="1348950" y="4529034"/>
            <a:ext cx="8378836" cy="1355298"/>
          </a:xfrm>
          <a:prstGeom prst="rect">
            <a:avLst/>
          </a:prstGeom>
        </p:spPr>
      </p:pic>
    </p:spTree>
    <p:extLst>
      <p:ext uri="{BB962C8B-B14F-4D97-AF65-F5344CB8AC3E}">
        <p14:creationId xmlns:p14="http://schemas.microsoft.com/office/powerpoint/2010/main" val="1447783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Comments Do Not Make Up for Bad Code</a:t>
            </a:r>
            <a:br>
              <a:rPr lang="en-US" b="1" dirty="0"/>
            </a:br>
            <a:endParaRPr lang="en-US" dirty="0"/>
          </a:p>
        </p:txBody>
      </p:sp>
      <p:pic>
        <p:nvPicPr>
          <p:cNvPr id="5" name="Content Placeholder 4"/>
          <p:cNvPicPr>
            <a:picLocks noGrp="1" noChangeAspect="1"/>
          </p:cNvPicPr>
          <p:nvPr>
            <p:ph idx="1"/>
          </p:nvPr>
        </p:nvPicPr>
        <p:blipFill>
          <a:blip r:embed="rId2"/>
          <a:stretch>
            <a:fillRect/>
          </a:stretch>
        </p:blipFill>
        <p:spPr>
          <a:xfrm>
            <a:off x="1662111" y="2505869"/>
            <a:ext cx="7846031" cy="2737644"/>
          </a:xfrm>
          <a:prstGeom prst="rect">
            <a:avLst/>
          </a:prstGeom>
        </p:spPr>
      </p:pic>
    </p:spTree>
    <p:extLst>
      <p:ext uri="{BB962C8B-B14F-4D97-AF65-F5344CB8AC3E}">
        <p14:creationId xmlns:p14="http://schemas.microsoft.com/office/powerpoint/2010/main" val="3124517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Good Comments</a:t>
            </a:r>
            <a:br>
              <a:rPr lang="en-US" b="1" dirty="0"/>
            </a:br>
            <a:endParaRPr lang="en-US" dirty="0"/>
          </a:p>
        </p:txBody>
      </p:sp>
      <p:sp>
        <p:nvSpPr>
          <p:cNvPr id="3" name="Content Placeholder 2"/>
          <p:cNvSpPr>
            <a:spLocks noGrp="1"/>
          </p:cNvSpPr>
          <p:nvPr>
            <p:ph idx="1"/>
          </p:nvPr>
        </p:nvSpPr>
        <p:spPr/>
        <p:txBody>
          <a:bodyPr>
            <a:normAutofit/>
          </a:bodyPr>
          <a:lstStyle/>
          <a:p>
            <a:pPr marL="0" indent="0">
              <a:buNone/>
            </a:pPr>
            <a:r>
              <a:rPr lang="en-US" sz="2400" dirty="0"/>
              <a:t>Some comments are necessary or beneficial. However the only truly good comment is the comment you found a way not to write.</a:t>
            </a:r>
          </a:p>
        </p:txBody>
      </p:sp>
    </p:spTree>
    <p:extLst>
      <p:ext uri="{BB962C8B-B14F-4D97-AF65-F5344CB8AC3E}">
        <p14:creationId xmlns:p14="http://schemas.microsoft.com/office/powerpoint/2010/main" val="4269250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Legal Comments</a:t>
            </a:r>
            <a:br>
              <a:rPr lang="en-US" b="1" dirty="0"/>
            </a:br>
            <a:endParaRPr lang="en-US" dirty="0"/>
          </a:p>
        </p:txBody>
      </p:sp>
      <p:sp>
        <p:nvSpPr>
          <p:cNvPr id="3" name="Content Placeholder 2"/>
          <p:cNvSpPr>
            <a:spLocks noGrp="1"/>
          </p:cNvSpPr>
          <p:nvPr>
            <p:ph idx="1"/>
          </p:nvPr>
        </p:nvSpPr>
        <p:spPr/>
        <p:txBody>
          <a:bodyPr>
            <a:normAutofit fontScale="92500"/>
          </a:bodyPr>
          <a:lstStyle/>
          <a:p>
            <a:pPr marL="0" indent="0">
              <a:buNone/>
            </a:pPr>
            <a:r>
              <a:rPr lang="en-US" sz="2400" dirty="0"/>
              <a:t>Sometimes our corporate coding standards force us to write certain comments for legal reasons. For example, copyright and authorship statements are necessary and reasonable things to put into a comment at the start of each source file.</a:t>
            </a:r>
          </a:p>
          <a:p>
            <a:pPr marL="0" indent="0">
              <a:buNone/>
            </a:pPr>
            <a:r>
              <a:rPr lang="en-US" sz="2400" b="0" i="0" dirty="0">
                <a:solidFill>
                  <a:srgbClr val="FF0000"/>
                </a:solidFill>
                <a:effectLst/>
                <a:latin typeface="Söhne Mono"/>
              </a:rPr>
              <a:t>/* * Copyright (c) [year] [company name]. All rights reserved. * This software is the confidential and proprietary information * of [company name] ("Confidential Information"). * You shall not disclose such Confidential Information and * shall use it only in accordance with the terms of the * license agreement you entered into with [company name]. */</a:t>
            </a:r>
            <a:endParaRPr lang="en-US" sz="2400" dirty="0">
              <a:solidFill>
                <a:srgbClr val="FF0000"/>
              </a:solidFill>
            </a:endParaRPr>
          </a:p>
          <a:p>
            <a:endParaRPr lang="en-US" dirty="0"/>
          </a:p>
        </p:txBody>
      </p:sp>
    </p:spTree>
    <p:extLst>
      <p:ext uri="{BB962C8B-B14F-4D97-AF65-F5344CB8AC3E}">
        <p14:creationId xmlns:p14="http://schemas.microsoft.com/office/powerpoint/2010/main" val="2434094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Informative Comments</a:t>
            </a:r>
          </a:p>
        </p:txBody>
      </p:sp>
      <p:sp>
        <p:nvSpPr>
          <p:cNvPr id="3" name="Content Placeholder 2"/>
          <p:cNvSpPr>
            <a:spLocks noGrp="1"/>
          </p:cNvSpPr>
          <p:nvPr>
            <p:ph idx="1"/>
          </p:nvPr>
        </p:nvSpPr>
        <p:spPr/>
        <p:txBody>
          <a:bodyPr/>
          <a:lstStyle/>
          <a:p>
            <a:pPr marL="0" indent="0">
              <a:buNone/>
            </a:pPr>
            <a:r>
              <a:rPr lang="en-US" sz="2400" dirty="0"/>
              <a:t>It is sometimes useful to provide basic information with a comment. For example, consider this comment that explains the return value of an abstract method:</a:t>
            </a:r>
          </a:p>
          <a:p>
            <a:pPr marL="457200" lvl="1" indent="0" algn="ctr">
              <a:buNone/>
            </a:pPr>
            <a:r>
              <a:rPr lang="en-US" sz="2400" b="1" dirty="0"/>
              <a:t>// Returns an instance of the Responder being tested.</a:t>
            </a:r>
          </a:p>
          <a:p>
            <a:pPr marL="457200" lvl="1" indent="0" algn="ctr">
              <a:buNone/>
            </a:pPr>
            <a:r>
              <a:rPr lang="en-US" sz="2400" b="1" dirty="0"/>
              <a:t>protected abstract Responder </a:t>
            </a:r>
            <a:r>
              <a:rPr lang="en-US" sz="2400" b="1" dirty="0" err="1"/>
              <a:t>responderInstance</a:t>
            </a:r>
            <a:r>
              <a:rPr lang="en-US" sz="2400" b="1" dirty="0"/>
              <a:t>();</a:t>
            </a:r>
          </a:p>
          <a:p>
            <a:pPr marL="457200" lvl="1" indent="0" algn="ctr">
              <a:buNone/>
            </a:pPr>
            <a:endParaRPr lang="en-US" b="1" dirty="0"/>
          </a:p>
        </p:txBody>
      </p:sp>
    </p:spTree>
    <p:extLst>
      <p:ext uri="{BB962C8B-B14F-4D97-AF65-F5344CB8AC3E}">
        <p14:creationId xmlns:p14="http://schemas.microsoft.com/office/powerpoint/2010/main" val="199227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02294-144F-4809-8277-2A38B827DC02}"/>
              </a:ext>
            </a:extLst>
          </p:cNvPr>
          <p:cNvSpPr>
            <a:spLocks noGrp="1"/>
          </p:cNvSpPr>
          <p:nvPr>
            <p:ph type="title"/>
          </p:nvPr>
        </p:nvSpPr>
        <p:spPr/>
        <p:txBody>
          <a:bodyPr/>
          <a:lstStyle/>
          <a:p>
            <a:r>
              <a:rPr lang="en-US" dirty="0"/>
              <a:t>Informative Comments</a:t>
            </a:r>
            <a:endParaRPr lang="en-PK" dirty="0"/>
          </a:p>
        </p:txBody>
      </p:sp>
      <p:pic>
        <p:nvPicPr>
          <p:cNvPr id="5" name="Content Placeholder 4">
            <a:extLst>
              <a:ext uri="{FF2B5EF4-FFF2-40B4-BE49-F238E27FC236}">
                <a16:creationId xmlns:a16="http://schemas.microsoft.com/office/drawing/2014/main" id="{77A51A5B-5791-4DAB-A957-C8F05AA4B105}"/>
              </a:ext>
            </a:extLst>
          </p:cNvPr>
          <p:cNvPicPr>
            <a:picLocks noGrp="1" noChangeAspect="1"/>
          </p:cNvPicPr>
          <p:nvPr>
            <p:ph idx="1"/>
          </p:nvPr>
        </p:nvPicPr>
        <p:blipFill>
          <a:blip r:embed="rId3"/>
          <a:stretch>
            <a:fillRect/>
          </a:stretch>
        </p:blipFill>
        <p:spPr>
          <a:xfrm>
            <a:off x="2205831" y="3068637"/>
            <a:ext cx="6724650" cy="2486025"/>
          </a:xfrm>
        </p:spPr>
      </p:pic>
    </p:spTree>
    <p:extLst>
      <p:ext uri="{BB962C8B-B14F-4D97-AF65-F5344CB8AC3E}">
        <p14:creationId xmlns:p14="http://schemas.microsoft.com/office/powerpoint/2010/main" val="342213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C7A10-616F-46E0-8FF4-AF52A1FBBAB4}"/>
              </a:ext>
            </a:extLst>
          </p:cNvPr>
          <p:cNvSpPr>
            <a:spLocks noGrp="1"/>
          </p:cNvSpPr>
          <p:nvPr>
            <p:ph type="title"/>
          </p:nvPr>
        </p:nvSpPr>
        <p:spPr/>
        <p:txBody>
          <a:bodyPr/>
          <a:lstStyle/>
          <a:p>
            <a:r>
              <a:rPr lang="en-US" dirty="0"/>
              <a:t>Informative Comments</a:t>
            </a:r>
            <a:endParaRPr lang="en-PK" dirty="0"/>
          </a:p>
        </p:txBody>
      </p:sp>
      <p:pic>
        <p:nvPicPr>
          <p:cNvPr id="5" name="Content Placeholder 4">
            <a:extLst>
              <a:ext uri="{FF2B5EF4-FFF2-40B4-BE49-F238E27FC236}">
                <a16:creationId xmlns:a16="http://schemas.microsoft.com/office/drawing/2014/main" id="{9B2623B2-1E97-42CC-8542-D026A7999E84}"/>
              </a:ext>
            </a:extLst>
          </p:cNvPr>
          <p:cNvPicPr>
            <a:picLocks noGrp="1" noChangeAspect="1"/>
          </p:cNvPicPr>
          <p:nvPr>
            <p:ph idx="1"/>
          </p:nvPr>
        </p:nvPicPr>
        <p:blipFill>
          <a:blip r:embed="rId3"/>
          <a:stretch>
            <a:fillRect/>
          </a:stretch>
        </p:blipFill>
        <p:spPr>
          <a:xfrm>
            <a:off x="3196842" y="2603500"/>
            <a:ext cx="4742628" cy="3416300"/>
          </a:xfrm>
        </p:spPr>
      </p:pic>
    </p:spTree>
    <p:extLst>
      <p:ext uri="{BB962C8B-B14F-4D97-AF65-F5344CB8AC3E}">
        <p14:creationId xmlns:p14="http://schemas.microsoft.com/office/powerpoint/2010/main" val="3383066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Clarification –Comments the unit of Numeric data</a:t>
            </a:r>
          </a:p>
        </p:txBody>
      </p:sp>
      <p:sp>
        <p:nvSpPr>
          <p:cNvPr id="3" name="Content Placeholder 2"/>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Numeric data can be in:</a:t>
            </a:r>
          </a:p>
          <a:p>
            <a:pPr>
              <a:buClr>
                <a:srgbClr val="1287C3"/>
              </a:buClr>
            </a:pPr>
            <a:r>
              <a:rPr lang="en-US" sz="2000" dirty="0">
                <a:latin typeface="Times New Roman" panose="02020603050405020304" pitchFamily="18" charset="0"/>
                <a:cs typeface="Times New Roman" panose="02020603050405020304" pitchFamily="18" charset="0"/>
              </a:rPr>
              <a:t>Inches, feet, meters, kilometer(length)  </a:t>
            </a:r>
          </a:p>
          <a:p>
            <a:pPr>
              <a:buClr>
                <a:srgbClr val="1287C3"/>
              </a:buClr>
            </a:pPr>
            <a:r>
              <a:rPr lang="en-US" sz="2000" dirty="0">
                <a:latin typeface="Times New Roman" panose="02020603050405020304" pitchFamily="18" charset="0"/>
                <a:cs typeface="Times New Roman" panose="02020603050405020304" pitchFamily="18" charset="0"/>
              </a:rPr>
              <a:t>Seconds, milliseconds(time)</a:t>
            </a:r>
          </a:p>
          <a:p>
            <a:pPr>
              <a:buClr>
                <a:srgbClr val="1287C3"/>
              </a:buClr>
            </a:pPr>
            <a:r>
              <a:rPr lang="en-US" sz="2000" dirty="0">
                <a:latin typeface="Times New Roman" panose="02020603050405020304" pitchFamily="18" charset="0"/>
                <a:cs typeface="Times New Roman" panose="02020603050405020304" pitchFamily="18" charset="0"/>
              </a:rPr>
              <a:t>Radians, degree</a:t>
            </a:r>
          </a:p>
          <a:p>
            <a:pPr marL="0" indent="0">
              <a:buClr>
                <a:srgbClr val="1287C3"/>
              </a:buClr>
              <a:buNone/>
            </a:pPr>
            <a:r>
              <a:rPr lang="en-US" sz="2000" dirty="0">
                <a:latin typeface="Times New Roman" panose="02020603050405020304" pitchFamily="18" charset="0"/>
                <a:cs typeface="Times New Roman" panose="02020603050405020304" pitchFamily="18" charset="0"/>
              </a:rPr>
              <a:t>These units are not obvious for new programmers also not when the program has been modified.</a:t>
            </a:r>
          </a:p>
          <a:p>
            <a:pPr marL="0" indent="0">
              <a:buClr>
                <a:srgbClr val="1287C3"/>
              </a:buClr>
              <a:buNone/>
            </a:pPr>
            <a:r>
              <a:rPr lang="en-US" sz="2000" b="0" i="0" dirty="0">
                <a:solidFill>
                  <a:srgbClr val="FF0000"/>
                </a:solidFill>
                <a:effectLst/>
                <a:latin typeface="Söhne Mono"/>
              </a:rPr>
              <a:t>// Conversion factor from Celsius to Fahrenheit </a:t>
            </a:r>
          </a:p>
          <a:p>
            <a:pPr marL="0" indent="0">
              <a:buClr>
                <a:srgbClr val="1287C3"/>
              </a:buClr>
              <a:buNone/>
            </a:pPr>
            <a:r>
              <a:rPr lang="en-US" sz="2000" b="0" i="0" dirty="0">
                <a:solidFill>
                  <a:srgbClr val="FF0000"/>
                </a:solidFill>
                <a:effectLst/>
                <a:latin typeface="Söhne Mono"/>
              </a:rPr>
              <a:t>private static final double CELSIUS_TO_FAHRENHEIT = 9.0 / 5.0;</a:t>
            </a:r>
            <a:endParaRPr lang="en-US" sz="20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000" dirty="0"/>
          </a:p>
        </p:txBody>
      </p:sp>
    </p:spTree>
    <p:extLst>
      <p:ext uri="{BB962C8B-B14F-4D97-AF65-F5344CB8AC3E}">
        <p14:creationId xmlns:p14="http://schemas.microsoft.com/office/powerpoint/2010/main" val="1241649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3DDF7-BA3F-4A4C-BE51-2660949AE365}"/>
              </a:ext>
            </a:extLst>
          </p:cNvPr>
          <p:cNvSpPr>
            <a:spLocks noGrp="1"/>
          </p:cNvSpPr>
          <p:nvPr>
            <p:ph type="title"/>
          </p:nvPr>
        </p:nvSpPr>
        <p:spPr/>
        <p:txBody>
          <a:bodyPr/>
          <a:lstStyle/>
          <a:p>
            <a:r>
              <a:rPr lang="en-US" b="1" dirty="0">
                <a:ea typeface="+mj-lt"/>
                <a:cs typeface="+mj-lt"/>
              </a:rPr>
              <a:t>Comment the range of allowable numeric values</a:t>
            </a:r>
            <a:endParaRPr lang="en-PK" dirty="0"/>
          </a:p>
        </p:txBody>
      </p:sp>
      <p:sp>
        <p:nvSpPr>
          <p:cNvPr id="3" name="Content Placeholder 2">
            <a:extLst>
              <a:ext uri="{FF2B5EF4-FFF2-40B4-BE49-F238E27FC236}">
                <a16:creationId xmlns:a16="http://schemas.microsoft.com/office/drawing/2014/main" id="{75BC2611-DC23-42A3-9690-332794B3657B}"/>
              </a:ext>
            </a:extLst>
          </p:cNvPr>
          <p:cNvSpPr>
            <a:spLocks noGrp="1"/>
          </p:cNvSpPr>
          <p:nvPr>
            <p:ph idx="1"/>
          </p:nvPr>
        </p:nvSpPr>
        <p:spPr/>
        <p:txBody>
          <a:bodyPr/>
          <a:lstStyle/>
          <a:p>
            <a:pPr marL="0" indent="0">
              <a:buNone/>
            </a:pPr>
            <a:r>
              <a:rPr lang="en-US" dirty="0">
                <a:ea typeface="+mn-lt"/>
                <a:cs typeface="+mn-lt"/>
              </a:rPr>
              <a:t>If a variable has an expected range of values, document the expected range.</a:t>
            </a:r>
          </a:p>
          <a:p>
            <a:pPr>
              <a:buClr>
                <a:srgbClr val="1287C3"/>
              </a:buClr>
            </a:pPr>
            <a:r>
              <a:rPr lang="en-US" dirty="0">
                <a:ea typeface="+mn-lt"/>
                <a:cs typeface="+mn-lt"/>
              </a:rPr>
              <a:t>If your language doesn’t support that capability (and most languages don’t), use a comment to document the expected range of values.</a:t>
            </a:r>
          </a:p>
          <a:p>
            <a:pPr>
              <a:buClr>
                <a:srgbClr val="1287C3"/>
              </a:buClr>
            </a:pPr>
            <a:r>
              <a:rPr lang="en-US" b="1" dirty="0">
                <a:ea typeface="+mn-lt"/>
                <a:cs typeface="+mn-lt"/>
              </a:rPr>
              <a:t>For example</a:t>
            </a:r>
            <a:r>
              <a:rPr lang="en-US" dirty="0">
                <a:ea typeface="+mn-lt"/>
                <a:cs typeface="+mn-lt"/>
              </a:rPr>
              <a:t>, if a variable represents an amount of money in dollars, indicate that you expect it to be between $1 and $100. If a variable indicates a voltage, indicate that it should be between 105v and 125v.</a:t>
            </a:r>
            <a:endParaRPr lang="en-US" dirty="0"/>
          </a:p>
          <a:p>
            <a:r>
              <a:rPr lang="en-US" b="0" i="0" dirty="0">
                <a:solidFill>
                  <a:srgbClr val="FF0000"/>
                </a:solidFill>
                <a:effectLst/>
                <a:latin typeface="Söhne Mono"/>
              </a:rPr>
              <a:t>// Amount of money in dollars (Expected range: $1 to $100) </a:t>
            </a:r>
          </a:p>
          <a:p>
            <a:r>
              <a:rPr lang="en-US" b="0" i="0" dirty="0">
                <a:solidFill>
                  <a:srgbClr val="FF0000"/>
                </a:solidFill>
                <a:effectLst/>
                <a:latin typeface="Söhne Mono"/>
              </a:rPr>
              <a:t>private double </a:t>
            </a:r>
            <a:r>
              <a:rPr lang="en-US" b="0" i="0" dirty="0" err="1">
                <a:solidFill>
                  <a:srgbClr val="FF0000"/>
                </a:solidFill>
                <a:effectLst/>
                <a:latin typeface="Söhne Mono"/>
              </a:rPr>
              <a:t>moneyInDollars</a:t>
            </a:r>
            <a:r>
              <a:rPr lang="en-US" b="0" i="0" dirty="0">
                <a:solidFill>
                  <a:srgbClr val="FF0000"/>
                </a:solidFill>
                <a:effectLst/>
                <a:latin typeface="Söhne Mono"/>
              </a:rPr>
              <a:t>;</a:t>
            </a:r>
            <a:endParaRPr lang="en-PK" dirty="0">
              <a:solidFill>
                <a:srgbClr val="FF0000"/>
              </a:solidFill>
            </a:endParaRPr>
          </a:p>
        </p:txBody>
      </p:sp>
    </p:spTree>
    <p:extLst>
      <p:ext uri="{BB962C8B-B14F-4D97-AF65-F5344CB8AC3E}">
        <p14:creationId xmlns:p14="http://schemas.microsoft.com/office/powerpoint/2010/main" val="3839622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B7109-3329-43B4-AE6E-F5FF7D950AC1}"/>
              </a:ext>
            </a:extLst>
          </p:cNvPr>
          <p:cNvSpPr>
            <a:spLocks noGrp="1"/>
          </p:cNvSpPr>
          <p:nvPr>
            <p:ph type="title"/>
          </p:nvPr>
        </p:nvSpPr>
        <p:spPr/>
        <p:txBody>
          <a:bodyPr/>
          <a:lstStyle/>
          <a:p>
            <a:r>
              <a:rPr lang="en-US" b="1" dirty="0">
                <a:ea typeface="+mj-lt"/>
                <a:cs typeface="+mj-lt"/>
              </a:rPr>
              <a:t>Comment limitations on input data</a:t>
            </a:r>
            <a:endParaRPr lang="en-PK" dirty="0"/>
          </a:p>
        </p:txBody>
      </p:sp>
      <p:sp>
        <p:nvSpPr>
          <p:cNvPr id="3" name="Content Placeholder 2">
            <a:extLst>
              <a:ext uri="{FF2B5EF4-FFF2-40B4-BE49-F238E27FC236}">
                <a16:creationId xmlns:a16="http://schemas.microsoft.com/office/drawing/2014/main" id="{5326C9F7-522C-4578-9AF2-CA1BD094D87F}"/>
              </a:ext>
            </a:extLst>
          </p:cNvPr>
          <p:cNvSpPr>
            <a:spLocks noGrp="1"/>
          </p:cNvSpPr>
          <p:nvPr>
            <p:ph idx="1"/>
          </p:nvPr>
        </p:nvSpPr>
        <p:spPr/>
        <p:txBody>
          <a:bodyPr/>
          <a:lstStyle/>
          <a:p>
            <a:r>
              <a:rPr lang="en-US" dirty="0">
                <a:ea typeface="+mn-lt"/>
                <a:cs typeface="+mn-lt"/>
              </a:rPr>
              <a:t>Make sure that expected and unexpected values are documented.</a:t>
            </a:r>
            <a:endParaRPr lang="en-US" dirty="0"/>
          </a:p>
          <a:p>
            <a:pPr>
              <a:buClr>
                <a:srgbClr val="1287C3"/>
              </a:buClr>
            </a:pPr>
            <a:r>
              <a:rPr lang="en-US" dirty="0">
                <a:ea typeface="+mn-lt"/>
                <a:cs typeface="+mn-lt"/>
              </a:rPr>
              <a:t> Comments are one way of documenting that a routine is never supposed to receive certain data.</a:t>
            </a:r>
            <a:endParaRPr lang="en-US" dirty="0"/>
          </a:p>
          <a:p>
            <a:pPr marL="0" indent="0">
              <a:buNone/>
            </a:pPr>
            <a:r>
              <a:rPr lang="en-US" b="0" i="0" dirty="0">
                <a:solidFill>
                  <a:srgbClr val="FF0000"/>
                </a:solidFill>
                <a:effectLst/>
                <a:latin typeface="Söhne Mono"/>
              </a:rPr>
              <a:t>// Note: This value should always be positive and less than or equal to 100.</a:t>
            </a:r>
          </a:p>
          <a:p>
            <a:pPr marL="0" indent="0">
              <a:buNone/>
            </a:pPr>
            <a:r>
              <a:rPr lang="en-US" b="0" i="0" dirty="0">
                <a:solidFill>
                  <a:srgbClr val="FF0000"/>
                </a:solidFill>
                <a:effectLst/>
                <a:latin typeface="Söhne Mono"/>
              </a:rPr>
              <a:t> // Values outside this range may lead to unexpected behavior. </a:t>
            </a:r>
          </a:p>
          <a:p>
            <a:pPr marL="0" indent="0">
              <a:buNone/>
            </a:pPr>
            <a:r>
              <a:rPr lang="en-US" b="0" i="0" dirty="0">
                <a:solidFill>
                  <a:srgbClr val="FF0000"/>
                </a:solidFill>
                <a:effectLst/>
                <a:latin typeface="Söhne Mono"/>
              </a:rPr>
              <a:t>private int </a:t>
            </a:r>
            <a:r>
              <a:rPr lang="en-US" b="0" i="0" dirty="0" err="1">
                <a:solidFill>
                  <a:srgbClr val="FF0000"/>
                </a:solidFill>
                <a:effectLst/>
                <a:latin typeface="Söhne Mono"/>
              </a:rPr>
              <a:t>batchSize</a:t>
            </a:r>
            <a:r>
              <a:rPr lang="en-US" b="0" i="0" dirty="0">
                <a:solidFill>
                  <a:srgbClr val="FF0000"/>
                </a:solidFill>
                <a:effectLst/>
                <a:latin typeface="Söhne Mono"/>
              </a:rPr>
              <a:t>;</a:t>
            </a:r>
            <a:endParaRPr lang="en-PK" dirty="0">
              <a:solidFill>
                <a:srgbClr val="FF0000"/>
              </a:solidFill>
            </a:endParaRPr>
          </a:p>
        </p:txBody>
      </p:sp>
    </p:spTree>
    <p:extLst>
      <p:ext uri="{BB962C8B-B14F-4D97-AF65-F5344CB8AC3E}">
        <p14:creationId xmlns:p14="http://schemas.microsoft.com/office/powerpoint/2010/main" val="3080007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Warning</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Sometimes it is useful to warn other programmers about certain consequences.</a:t>
            </a:r>
          </a:p>
          <a:p>
            <a:pPr marL="0" indent="0">
              <a:buNone/>
            </a:pPr>
            <a:r>
              <a:rPr lang="en-US" dirty="0"/>
              <a:t>// Don't run unless you</a:t>
            </a:r>
          </a:p>
          <a:p>
            <a:pPr marL="0" indent="0">
              <a:buNone/>
            </a:pPr>
            <a:r>
              <a:rPr lang="en-US" dirty="0"/>
              <a:t>// have some time to kill.</a:t>
            </a:r>
          </a:p>
          <a:p>
            <a:pPr marL="0" indent="0">
              <a:buNone/>
            </a:pPr>
            <a:r>
              <a:rPr lang="en-US" dirty="0"/>
              <a:t>public void _</a:t>
            </a:r>
            <a:r>
              <a:rPr lang="en-US" dirty="0" err="1"/>
              <a:t>testWithReallyBigFile</a:t>
            </a:r>
            <a:r>
              <a:rPr lang="en-US" dirty="0"/>
              <a:t>() {</a:t>
            </a:r>
          </a:p>
          <a:p>
            <a:pPr marL="0" indent="0">
              <a:buNone/>
            </a:pPr>
            <a:r>
              <a:rPr lang="en-US" dirty="0"/>
              <a:t>  </a:t>
            </a:r>
            <a:r>
              <a:rPr lang="en-US" dirty="0" err="1"/>
              <a:t>writeLinesToFile</a:t>
            </a:r>
            <a:r>
              <a:rPr lang="en-US" dirty="0"/>
              <a:t>(10000000);</a:t>
            </a:r>
          </a:p>
          <a:p>
            <a:pPr marL="0" indent="0">
              <a:buNone/>
            </a:pPr>
            <a:r>
              <a:rPr lang="en-US" dirty="0"/>
              <a:t>  </a:t>
            </a:r>
            <a:r>
              <a:rPr lang="en-US" dirty="0" err="1"/>
              <a:t>response.setBody</a:t>
            </a:r>
            <a:r>
              <a:rPr lang="en-US" dirty="0"/>
              <a:t>(</a:t>
            </a:r>
            <a:r>
              <a:rPr lang="en-US" dirty="0" err="1"/>
              <a:t>testFile</a:t>
            </a:r>
            <a:r>
              <a:rPr lang="en-US" dirty="0"/>
              <a:t>);</a:t>
            </a:r>
          </a:p>
          <a:p>
            <a:pPr marL="0" indent="0">
              <a:buNone/>
            </a:pPr>
            <a:r>
              <a:rPr lang="en-US" dirty="0"/>
              <a:t>  </a:t>
            </a:r>
            <a:r>
              <a:rPr lang="en-US" dirty="0" err="1"/>
              <a:t>response.readyToSend</a:t>
            </a:r>
            <a:r>
              <a:rPr lang="en-US" dirty="0"/>
              <a:t>(this);</a:t>
            </a:r>
          </a:p>
          <a:p>
            <a:pPr marL="0" indent="0">
              <a:buNone/>
            </a:pPr>
            <a:r>
              <a:rPr lang="en-US" dirty="0"/>
              <a:t>  String </a:t>
            </a:r>
            <a:r>
              <a:rPr lang="en-US" dirty="0" err="1"/>
              <a:t>responseString</a:t>
            </a:r>
            <a:r>
              <a:rPr lang="en-US" dirty="0"/>
              <a:t> = </a:t>
            </a:r>
            <a:r>
              <a:rPr lang="en-US" dirty="0" err="1"/>
              <a:t>output.toString</a:t>
            </a:r>
            <a:r>
              <a:rPr lang="en-US" dirty="0"/>
              <a:t>();</a:t>
            </a:r>
          </a:p>
          <a:p>
            <a:pPr marL="0" indent="0">
              <a:buNone/>
            </a:pPr>
            <a:r>
              <a:rPr lang="en-US" dirty="0"/>
              <a:t>  </a:t>
            </a:r>
            <a:r>
              <a:rPr lang="en-US" dirty="0" err="1"/>
              <a:t>assertSubString</a:t>
            </a:r>
            <a:r>
              <a:rPr lang="en-US" dirty="0"/>
              <a:t>("Content-Length: 1000000000", </a:t>
            </a:r>
            <a:r>
              <a:rPr lang="en-US" dirty="0" err="1"/>
              <a:t>responseString</a:t>
            </a:r>
            <a:r>
              <a:rPr lang="en-US" dirty="0"/>
              <a:t>);</a:t>
            </a:r>
          </a:p>
          <a:p>
            <a:pPr marL="0" indent="0">
              <a:buNone/>
            </a:pPr>
            <a:r>
              <a:rPr lang="en-US" dirty="0"/>
              <a:t>  </a:t>
            </a:r>
            <a:r>
              <a:rPr lang="en-US" dirty="0" err="1"/>
              <a:t>assertTrue</a:t>
            </a:r>
            <a:r>
              <a:rPr lang="en-US" dirty="0"/>
              <a:t>(</a:t>
            </a:r>
            <a:r>
              <a:rPr lang="en-US" dirty="0" err="1"/>
              <a:t>bytesSent</a:t>
            </a:r>
            <a:r>
              <a:rPr lang="en-US" dirty="0"/>
              <a:t> &gt; 1000000000);</a:t>
            </a:r>
          </a:p>
          <a:p>
            <a:pPr marL="0" indent="0">
              <a:buNone/>
            </a:pPr>
            <a:r>
              <a:rPr lang="en-US" dirty="0"/>
              <a:t>}</a:t>
            </a:r>
          </a:p>
        </p:txBody>
      </p:sp>
    </p:spTree>
    <p:extLst>
      <p:ext uri="{BB962C8B-B14F-4D97-AF65-F5344CB8AC3E}">
        <p14:creationId xmlns:p14="http://schemas.microsoft.com/office/powerpoint/2010/main" val="1803757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ToDO</a:t>
            </a:r>
            <a:r>
              <a:rPr lang="en-US" dirty="0"/>
              <a:t> Comments</a:t>
            </a:r>
          </a:p>
        </p:txBody>
      </p:sp>
      <p:sp>
        <p:nvSpPr>
          <p:cNvPr id="3" name="Content Placeholder 2"/>
          <p:cNvSpPr>
            <a:spLocks noGrp="1"/>
          </p:cNvSpPr>
          <p:nvPr>
            <p:ph idx="1"/>
          </p:nvPr>
        </p:nvSpPr>
        <p:spPr/>
        <p:txBody>
          <a:bodyPr/>
          <a:lstStyle/>
          <a:p>
            <a:pPr marL="0" indent="0">
              <a:buNone/>
            </a:pPr>
            <a:r>
              <a:rPr lang="en-US" sz="2000" dirty="0"/>
              <a:t>It is sometimes reasonable to leave “To do” notes in the form of //TODO comments. In the following case, the TODO comment explains why the function has a degenerate implementation and what that function's future should be.</a:t>
            </a:r>
          </a:p>
          <a:p>
            <a:pPr marL="0" indent="0">
              <a:buNone/>
            </a:pPr>
            <a:endParaRPr lang="en-US" dirty="0"/>
          </a:p>
        </p:txBody>
      </p:sp>
      <p:pic>
        <p:nvPicPr>
          <p:cNvPr id="7" name="Picture 6">
            <a:extLst>
              <a:ext uri="{FF2B5EF4-FFF2-40B4-BE49-F238E27FC236}">
                <a16:creationId xmlns:a16="http://schemas.microsoft.com/office/drawing/2014/main" id="{E9753D82-D576-4634-9C53-1F15306D289D}"/>
              </a:ext>
            </a:extLst>
          </p:cNvPr>
          <p:cNvPicPr>
            <a:picLocks noChangeAspect="1"/>
          </p:cNvPicPr>
          <p:nvPr/>
        </p:nvPicPr>
        <p:blipFill>
          <a:blip r:embed="rId2"/>
          <a:stretch>
            <a:fillRect/>
          </a:stretch>
        </p:blipFill>
        <p:spPr>
          <a:xfrm>
            <a:off x="1800172" y="3832865"/>
            <a:ext cx="7682876" cy="1827339"/>
          </a:xfrm>
          <a:prstGeom prst="rect">
            <a:avLst/>
          </a:prstGeom>
        </p:spPr>
      </p:pic>
    </p:spTree>
    <p:extLst>
      <p:ext uri="{BB962C8B-B14F-4D97-AF65-F5344CB8AC3E}">
        <p14:creationId xmlns:p14="http://schemas.microsoft.com/office/powerpoint/2010/main" val="2803125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Amplification</a:t>
            </a:r>
            <a:br>
              <a:rPr lang="en-US" b="1" dirty="0"/>
            </a:br>
            <a:endParaRPr lang="en-US" dirty="0"/>
          </a:p>
        </p:txBody>
      </p:sp>
      <p:sp>
        <p:nvSpPr>
          <p:cNvPr id="3" name="Content Placeholder 2"/>
          <p:cNvSpPr>
            <a:spLocks noGrp="1"/>
          </p:cNvSpPr>
          <p:nvPr>
            <p:ph idx="1"/>
          </p:nvPr>
        </p:nvSpPr>
        <p:spPr/>
        <p:txBody>
          <a:bodyPr/>
          <a:lstStyle/>
          <a:p>
            <a:pPr marL="0" indent="0">
              <a:buNone/>
            </a:pPr>
            <a:r>
              <a:rPr lang="en-US" dirty="0"/>
              <a:t>A comment may be used to amplify the importance of something that may otherwise seem inconsequential.</a:t>
            </a:r>
          </a:p>
          <a:p>
            <a:pPr marL="0" indent="0">
              <a:buNone/>
            </a:pPr>
            <a:r>
              <a:rPr lang="en-US" dirty="0"/>
              <a:t>String </a:t>
            </a:r>
            <a:r>
              <a:rPr lang="en-US" dirty="0" err="1"/>
              <a:t>listItemContent</a:t>
            </a:r>
            <a:r>
              <a:rPr lang="en-US" dirty="0"/>
              <a:t> = </a:t>
            </a:r>
            <a:r>
              <a:rPr lang="en-US" dirty="0" err="1"/>
              <a:t>match.group</a:t>
            </a:r>
            <a:r>
              <a:rPr lang="en-US" dirty="0"/>
              <a:t>(3).trim();</a:t>
            </a:r>
          </a:p>
          <a:p>
            <a:pPr marL="0" indent="0">
              <a:buNone/>
            </a:pPr>
            <a:r>
              <a:rPr lang="en-US" dirty="0"/>
              <a:t>// the trim is real important. It removes the starting</a:t>
            </a:r>
          </a:p>
          <a:p>
            <a:pPr marL="0" indent="0">
              <a:buNone/>
            </a:pPr>
            <a:r>
              <a:rPr lang="en-US" dirty="0"/>
              <a:t>// spaces that could cause the item to be recognized</a:t>
            </a:r>
          </a:p>
          <a:p>
            <a:pPr marL="0" indent="0">
              <a:buNone/>
            </a:pPr>
            <a:r>
              <a:rPr lang="en-US" dirty="0"/>
              <a:t>// as another list.</a:t>
            </a:r>
          </a:p>
          <a:p>
            <a:pPr marL="0" indent="0">
              <a:buNone/>
            </a:pPr>
            <a:r>
              <a:rPr lang="en-US" dirty="0"/>
              <a:t>new </a:t>
            </a:r>
            <a:r>
              <a:rPr lang="en-US" dirty="0" err="1"/>
              <a:t>ListItemWidget</a:t>
            </a:r>
            <a:r>
              <a:rPr lang="en-US" dirty="0"/>
              <a:t>(this, </a:t>
            </a:r>
            <a:r>
              <a:rPr lang="en-US" dirty="0" err="1"/>
              <a:t>listItemContent</a:t>
            </a:r>
            <a:r>
              <a:rPr lang="en-US" dirty="0"/>
              <a:t>, </a:t>
            </a:r>
            <a:r>
              <a:rPr lang="en-US" dirty="0" err="1"/>
              <a:t>this.level</a:t>
            </a:r>
            <a:r>
              <a:rPr lang="en-US" dirty="0"/>
              <a:t> + 1);</a:t>
            </a:r>
          </a:p>
          <a:p>
            <a:pPr marL="0" indent="0">
              <a:buNone/>
            </a:pPr>
            <a:r>
              <a:rPr lang="en-US" dirty="0"/>
              <a:t>return </a:t>
            </a:r>
            <a:r>
              <a:rPr lang="en-US" dirty="0" err="1"/>
              <a:t>buildList</a:t>
            </a:r>
            <a:r>
              <a:rPr lang="en-US" dirty="0"/>
              <a:t>(</a:t>
            </a:r>
            <a:r>
              <a:rPr lang="en-US" dirty="0" err="1"/>
              <a:t>text.substring</a:t>
            </a:r>
            <a:r>
              <a:rPr lang="en-US" dirty="0"/>
              <a:t>(</a:t>
            </a:r>
            <a:r>
              <a:rPr lang="en-US" dirty="0" err="1"/>
              <a:t>match.end</a:t>
            </a:r>
            <a:r>
              <a:rPr lang="en-US" dirty="0"/>
              <a:t>()));</a:t>
            </a:r>
          </a:p>
        </p:txBody>
      </p:sp>
    </p:spTree>
    <p:extLst>
      <p:ext uri="{BB962C8B-B14F-4D97-AF65-F5344CB8AC3E}">
        <p14:creationId xmlns:p14="http://schemas.microsoft.com/office/powerpoint/2010/main" val="1490525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Comments</a:t>
            </a:r>
          </a:p>
        </p:txBody>
      </p:sp>
      <p:sp>
        <p:nvSpPr>
          <p:cNvPr id="3" name="Content Placeholder 2"/>
          <p:cNvSpPr>
            <a:spLocks noGrp="1"/>
          </p:cNvSpPr>
          <p:nvPr>
            <p:ph idx="1"/>
          </p:nvPr>
        </p:nvSpPr>
        <p:spPr/>
        <p:txBody>
          <a:bodyPr/>
          <a:lstStyle/>
          <a:p>
            <a:r>
              <a:rPr lang="en-US" dirty="0"/>
              <a:t>Most comments fall into this category. Usually they are crutches or excuses for poor code or justifications for insufficient decisions, amounting to little more than the programmer talking to himself.</a:t>
            </a:r>
          </a:p>
        </p:txBody>
      </p:sp>
    </p:spTree>
    <p:extLst>
      <p:ext uri="{BB962C8B-B14F-4D97-AF65-F5344CB8AC3E}">
        <p14:creationId xmlns:p14="http://schemas.microsoft.com/office/powerpoint/2010/main" val="23304457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Mumbling</a:t>
            </a:r>
            <a:br>
              <a:rPr lang="en-US" b="1" dirty="0"/>
            </a:br>
            <a:endParaRPr lang="en-US" dirty="0"/>
          </a:p>
        </p:txBody>
      </p:sp>
      <p:sp>
        <p:nvSpPr>
          <p:cNvPr id="3" name="Content Placeholder 2"/>
          <p:cNvSpPr>
            <a:spLocks noGrp="1"/>
          </p:cNvSpPr>
          <p:nvPr>
            <p:ph idx="1"/>
          </p:nvPr>
        </p:nvSpPr>
        <p:spPr>
          <a:xfrm>
            <a:off x="642546" y="2165278"/>
            <a:ext cx="11193283" cy="2527443"/>
          </a:xfrm>
        </p:spPr>
        <p:txBody>
          <a:bodyPr>
            <a:noAutofit/>
          </a:bodyPr>
          <a:lstStyle/>
          <a:p>
            <a:pPr marL="0" indent="0">
              <a:buNone/>
            </a:pPr>
            <a:r>
              <a:rPr lang="en-US" sz="1600" dirty="0">
                <a:latin typeface="Times New Roman" panose="02020603050405020304" pitchFamily="18" charset="0"/>
                <a:cs typeface="Times New Roman" panose="02020603050405020304" pitchFamily="18" charset="0"/>
              </a:rPr>
              <a:t>Plopping in a comment just because you feel you should or because the process requires it, is a hack. If you decide to write a comment, then spend the time necessary to make sure it is the best comment you can write. </a:t>
            </a:r>
            <a:r>
              <a:rPr lang="en-US" sz="1600" b="0" i="0" dirty="0">
                <a:solidFill>
                  <a:srgbClr val="0D0D0D"/>
                </a:solidFill>
                <a:effectLst/>
                <a:latin typeface="Söhne"/>
              </a:rPr>
              <a:t>"Plopping a comment" typically refers to the act of adding a comment to code without much consideration or thoughtfulness. It implies that the comment is inserted hastily or without providing meaningful context or value to the </a:t>
            </a:r>
            <a:r>
              <a:rPr lang="en-US" sz="1600" b="0" i="0" dirty="0" err="1">
                <a:solidFill>
                  <a:srgbClr val="0D0D0D"/>
                </a:solidFill>
                <a:effectLst/>
                <a:latin typeface="Söhne"/>
              </a:rPr>
              <a:t>code.</a:t>
            </a:r>
            <a:r>
              <a:rPr lang="en-US" sz="1600" dirty="0" err="1">
                <a:latin typeface="Times New Roman" panose="02020603050405020304" pitchFamily="18" charset="0"/>
                <a:cs typeface="Times New Roman" panose="02020603050405020304" pitchFamily="18" charset="0"/>
              </a:rPr>
              <a:t>Example</a:t>
            </a:r>
            <a:r>
              <a:rPr lang="en-US" sz="1600" dirty="0">
                <a:latin typeface="Times New Roman" panose="02020603050405020304" pitchFamily="18" charset="0"/>
                <a:cs typeface="Times New Roman" panose="02020603050405020304" pitchFamily="18" charset="0"/>
              </a:rPr>
              <a:t>:</a:t>
            </a:r>
          </a:p>
          <a:p>
            <a:pPr marL="0" indent="0">
              <a:buNone/>
            </a:pPr>
            <a:r>
              <a:rPr lang="en-US" sz="1600" dirty="0">
                <a:solidFill>
                  <a:srgbClr val="FF0000"/>
                </a:solidFill>
                <a:latin typeface="Times New Roman" panose="02020603050405020304" pitchFamily="18" charset="0"/>
                <a:cs typeface="Times New Roman" panose="02020603050405020304" pitchFamily="18" charset="0"/>
              </a:rPr>
              <a:t>public void </a:t>
            </a:r>
            <a:r>
              <a:rPr lang="en-US" sz="1600" dirty="0" err="1">
                <a:solidFill>
                  <a:srgbClr val="FF0000"/>
                </a:solidFill>
                <a:latin typeface="Times New Roman" panose="02020603050405020304" pitchFamily="18" charset="0"/>
                <a:cs typeface="Times New Roman" panose="02020603050405020304" pitchFamily="18" charset="0"/>
              </a:rPr>
              <a:t>loadProperties</a:t>
            </a:r>
            <a:r>
              <a:rPr lang="en-US" sz="1600" dirty="0">
                <a:solidFill>
                  <a:srgbClr val="FF0000"/>
                </a:solidFill>
                <a:latin typeface="Times New Roman" panose="02020603050405020304" pitchFamily="18" charset="0"/>
                <a:cs typeface="Times New Roman" panose="02020603050405020304" pitchFamily="18" charset="0"/>
              </a:rPr>
              <a:t>() {</a:t>
            </a:r>
          </a:p>
          <a:p>
            <a:pPr marL="0" indent="0">
              <a:buNone/>
            </a:pPr>
            <a:endParaRPr lang="en-US" sz="1600" dirty="0">
              <a:solidFill>
                <a:srgbClr val="FF0000"/>
              </a:solidFill>
              <a:latin typeface="Times New Roman" panose="02020603050405020304" pitchFamily="18" charset="0"/>
              <a:cs typeface="Times New Roman" panose="02020603050405020304" pitchFamily="18" charset="0"/>
            </a:endParaRPr>
          </a:p>
          <a:p>
            <a:pPr marL="0" indent="0">
              <a:buNone/>
            </a:pPr>
            <a:r>
              <a:rPr lang="en-US" sz="1600" dirty="0">
                <a:solidFill>
                  <a:srgbClr val="FF0000"/>
                </a:solidFill>
                <a:latin typeface="Times New Roman" panose="02020603050405020304" pitchFamily="18" charset="0"/>
                <a:cs typeface="Times New Roman" panose="02020603050405020304" pitchFamily="18" charset="0"/>
              </a:rPr>
              <a:t>  try {</a:t>
            </a:r>
          </a:p>
          <a:p>
            <a:pPr marL="0" indent="0">
              <a:buNone/>
            </a:pPr>
            <a:r>
              <a:rPr lang="en-US" sz="1600" dirty="0">
                <a:solidFill>
                  <a:srgbClr val="FF0000"/>
                </a:solidFill>
                <a:latin typeface="Times New Roman" panose="02020603050405020304" pitchFamily="18" charset="0"/>
                <a:cs typeface="Times New Roman" panose="02020603050405020304" pitchFamily="18" charset="0"/>
              </a:rPr>
              <a:t>    String </a:t>
            </a:r>
            <a:r>
              <a:rPr lang="en-US" sz="1600" dirty="0" err="1">
                <a:solidFill>
                  <a:srgbClr val="FF0000"/>
                </a:solidFill>
                <a:latin typeface="Times New Roman" panose="02020603050405020304" pitchFamily="18" charset="0"/>
                <a:cs typeface="Times New Roman" panose="02020603050405020304" pitchFamily="18" charset="0"/>
              </a:rPr>
              <a:t>propertiesPath</a:t>
            </a:r>
            <a:r>
              <a:rPr lang="en-US" sz="1600" dirty="0">
                <a:solidFill>
                  <a:srgbClr val="FF0000"/>
                </a:solidFill>
                <a:latin typeface="Times New Roman" panose="02020603050405020304" pitchFamily="18" charset="0"/>
                <a:cs typeface="Times New Roman" panose="02020603050405020304" pitchFamily="18" charset="0"/>
              </a:rPr>
              <a:t> = </a:t>
            </a:r>
            <a:r>
              <a:rPr lang="en-US" sz="1600" dirty="0" err="1">
                <a:solidFill>
                  <a:srgbClr val="FF0000"/>
                </a:solidFill>
                <a:latin typeface="Times New Roman" panose="02020603050405020304" pitchFamily="18" charset="0"/>
                <a:cs typeface="Times New Roman" panose="02020603050405020304" pitchFamily="18" charset="0"/>
              </a:rPr>
              <a:t>propertiesLocation</a:t>
            </a:r>
            <a:r>
              <a:rPr lang="en-US" sz="1600" dirty="0">
                <a:solidFill>
                  <a:srgbClr val="FF0000"/>
                </a:solidFill>
                <a:latin typeface="Times New Roman" panose="02020603050405020304" pitchFamily="18" charset="0"/>
                <a:cs typeface="Times New Roman" panose="02020603050405020304" pitchFamily="18" charset="0"/>
              </a:rPr>
              <a:t> + "/" + PROPERTIES_FILE;</a:t>
            </a:r>
          </a:p>
          <a:p>
            <a:pPr marL="0" indent="0">
              <a:buNone/>
            </a:pPr>
            <a:r>
              <a:rPr lang="en-US" sz="1600" dirty="0">
                <a:solidFill>
                  <a:srgbClr val="FF0000"/>
                </a:solidFill>
                <a:latin typeface="Times New Roman" panose="02020603050405020304" pitchFamily="18" charset="0"/>
                <a:cs typeface="Times New Roman" panose="02020603050405020304" pitchFamily="18" charset="0"/>
              </a:rPr>
              <a:t>    </a:t>
            </a:r>
            <a:r>
              <a:rPr lang="en-US" sz="1600" dirty="0" err="1">
                <a:solidFill>
                  <a:srgbClr val="FF0000"/>
                </a:solidFill>
                <a:latin typeface="Times New Roman" panose="02020603050405020304" pitchFamily="18" charset="0"/>
                <a:cs typeface="Times New Roman" panose="02020603050405020304" pitchFamily="18" charset="0"/>
              </a:rPr>
              <a:t>FileInputStream</a:t>
            </a:r>
            <a:r>
              <a:rPr lang="en-US" sz="1600" dirty="0">
                <a:solidFill>
                  <a:srgbClr val="FF0000"/>
                </a:solidFill>
                <a:latin typeface="Times New Roman" panose="02020603050405020304" pitchFamily="18" charset="0"/>
                <a:cs typeface="Times New Roman" panose="02020603050405020304" pitchFamily="18" charset="0"/>
              </a:rPr>
              <a:t> </a:t>
            </a:r>
            <a:r>
              <a:rPr lang="en-US" sz="1600" dirty="0" err="1">
                <a:solidFill>
                  <a:srgbClr val="FF0000"/>
                </a:solidFill>
                <a:latin typeface="Times New Roman" panose="02020603050405020304" pitchFamily="18" charset="0"/>
                <a:cs typeface="Times New Roman" panose="02020603050405020304" pitchFamily="18" charset="0"/>
              </a:rPr>
              <a:t>propertiesStream</a:t>
            </a:r>
            <a:r>
              <a:rPr lang="en-US" sz="1600" dirty="0">
                <a:solidFill>
                  <a:srgbClr val="FF0000"/>
                </a:solidFill>
                <a:latin typeface="Times New Roman" panose="02020603050405020304" pitchFamily="18" charset="0"/>
                <a:cs typeface="Times New Roman" panose="02020603050405020304" pitchFamily="18" charset="0"/>
              </a:rPr>
              <a:t> = new </a:t>
            </a:r>
            <a:r>
              <a:rPr lang="en-US" sz="1600" dirty="0" err="1">
                <a:solidFill>
                  <a:srgbClr val="FF0000"/>
                </a:solidFill>
                <a:latin typeface="Times New Roman" panose="02020603050405020304" pitchFamily="18" charset="0"/>
                <a:cs typeface="Times New Roman" panose="02020603050405020304" pitchFamily="18" charset="0"/>
              </a:rPr>
              <a:t>FileInputStream</a:t>
            </a:r>
            <a:r>
              <a:rPr lang="en-US" sz="1600" dirty="0">
                <a:solidFill>
                  <a:srgbClr val="FF0000"/>
                </a:solidFill>
                <a:latin typeface="Times New Roman" panose="02020603050405020304" pitchFamily="18" charset="0"/>
                <a:cs typeface="Times New Roman" panose="02020603050405020304" pitchFamily="18" charset="0"/>
              </a:rPr>
              <a:t>(</a:t>
            </a:r>
            <a:r>
              <a:rPr lang="en-US" sz="1600" dirty="0" err="1">
                <a:solidFill>
                  <a:srgbClr val="FF0000"/>
                </a:solidFill>
                <a:latin typeface="Times New Roman" panose="02020603050405020304" pitchFamily="18" charset="0"/>
                <a:cs typeface="Times New Roman" panose="02020603050405020304" pitchFamily="18" charset="0"/>
              </a:rPr>
              <a:t>propertiesPath</a:t>
            </a:r>
            <a:r>
              <a:rPr lang="en-US" sz="1600" dirty="0">
                <a:solidFill>
                  <a:srgbClr val="FF0000"/>
                </a:solidFill>
                <a:latin typeface="Times New Roman" panose="02020603050405020304" pitchFamily="18" charset="0"/>
                <a:cs typeface="Times New Roman" panose="02020603050405020304" pitchFamily="18" charset="0"/>
              </a:rPr>
              <a:t>);</a:t>
            </a:r>
          </a:p>
          <a:p>
            <a:pPr marL="0" indent="0">
              <a:buNone/>
            </a:pPr>
            <a:r>
              <a:rPr lang="en-US" sz="1600" dirty="0">
                <a:solidFill>
                  <a:srgbClr val="FF0000"/>
                </a:solidFill>
                <a:latin typeface="Times New Roman" panose="02020603050405020304" pitchFamily="18" charset="0"/>
                <a:cs typeface="Times New Roman" panose="02020603050405020304" pitchFamily="18" charset="0"/>
              </a:rPr>
              <a:t>    </a:t>
            </a:r>
            <a:r>
              <a:rPr lang="en-US" sz="1600" dirty="0" err="1">
                <a:solidFill>
                  <a:srgbClr val="FF0000"/>
                </a:solidFill>
                <a:latin typeface="Times New Roman" panose="02020603050405020304" pitchFamily="18" charset="0"/>
                <a:cs typeface="Times New Roman" panose="02020603050405020304" pitchFamily="18" charset="0"/>
              </a:rPr>
              <a:t>loadedProperties.load</a:t>
            </a:r>
            <a:r>
              <a:rPr lang="en-US" sz="1600" dirty="0">
                <a:solidFill>
                  <a:srgbClr val="FF0000"/>
                </a:solidFill>
                <a:latin typeface="Times New Roman" panose="02020603050405020304" pitchFamily="18" charset="0"/>
                <a:cs typeface="Times New Roman" panose="02020603050405020304" pitchFamily="18" charset="0"/>
              </a:rPr>
              <a:t>(</a:t>
            </a:r>
            <a:r>
              <a:rPr lang="en-US" sz="1600" dirty="0" err="1">
                <a:solidFill>
                  <a:srgbClr val="FF0000"/>
                </a:solidFill>
                <a:latin typeface="Times New Roman" panose="02020603050405020304" pitchFamily="18" charset="0"/>
                <a:cs typeface="Times New Roman" panose="02020603050405020304" pitchFamily="18" charset="0"/>
              </a:rPr>
              <a:t>propertiesStream</a:t>
            </a:r>
            <a:r>
              <a:rPr lang="en-US" sz="1600" dirty="0">
                <a:solidFill>
                  <a:srgbClr val="FF0000"/>
                </a:solidFill>
                <a:latin typeface="Times New Roman" panose="02020603050405020304" pitchFamily="18" charset="0"/>
                <a:cs typeface="Times New Roman" panose="02020603050405020304" pitchFamily="18" charset="0"/>
              </a:rPr>
              <a:t>);</a:t>
            </a:r>
          </a:p>
          <a:p>
            <a:pPr marL="0" indent="0">
              <a:buNone/>
            </a:pPr>
            <a:r>
              <a:rPr lang="en-US" sz="1600" dirty="0">
                <a:solidFill>
                  <a:srgbClr val="FF0000"/>
                </a:solidFill>
                <a:latin typeface="Times New Roman" panose="02020603050405020304" pitchFamily="18" charset="0"/>
                <a:cs typeface="Times New Roman" panose="02020603050405020304" pitchFamily="18" charset="0"/>
              </a:rPr>
              <a:t>  }</a:t>
            </a:r>
          </a:p>
          <a:p>
            <a:pPr marL="0" indent="0">
              <a:buNone/>
            </a:pPr>
            <a:r>
              <a:rPr lang="en-US" sz="1600" dirty="0">
                <a:solidFill>
                  <a:srgbClr val="FF0000"/>
                </a:solidFill>
                <a:latin typeface="Times New Roman" panose="02020603050405020304" pitchFamily="18" charset="0"/>
                <a:cs typeface="Times New Roman" panose="02020603050405020304" pitchFamily="18" charset="0"/>
              </a:rPr>
              <a:t>  catch(</a:t>
            </a:r>
            <a:r>
              <a:rPr lang="en-US" sz="1600" dirty="0" err="1">
                <a:solidFill>
                  <a:srgbClr val="FF0000"/>
                </a:solidFill>
                <a:latin typeface="Times New Roman" panose="02020603050405020304" pitchFamily="18" charset="0"/>
                <a:cs typeface="Times New Roman" panose="02020603050405020304" pitchFamily="18" charset="0"/>
              </a:rPr>
              <a:t>IOException</a:t>
            </a:r>
            <a:r>
              <a:rPr lang="en-US" sz="1600" dirty="0">
                <a:solidFill>
                  <a:srgbClr val="FF0000"/>
                </a:solidFill>
                <a:latin typeface="Times New Roman" panose="02020603050405020304" pitchFamily="18" charset="0"/>
                <a:cs typeface="Times New Roman" panose="02020603050405020304" pitchFamily="18" charset="0"/>
              </a:rPr>
              <a:t> e) {</a:t>
            </a:r>
          </a:p>
          <a:p>
            <a:pPr marL="0" indent="0">
              <a:buNone/>
            </a:pPr>
            <a:r>
              <a:rPr lang="en-US" sz="1600" dirty="0">
                <a:solidFill>
                  <a:srgbClr val="FF0000"/>
                </a:solidFill>
                <a:latin typeface="Times New Roman" panose="02020603050405020304" pitchFamily="18" charset="0"/>
                <a:cs typeface="Times New Roman" panose="02020603050405020304" pitchFamily="18" charset="0"/>
              </a:rPr>
              <a:t>    // No properties files means all defaults are loaded</a:t>
            </a:r>
          </a:p>
          <a:p>
            <a:pPr marL="0" indent="0">
              <a:buNone/>
            </a:pPr>
            <a:r>
              <a:rPr lang="en-US" sz="1600" dirty="0">
                <a:solidFill>
                  <a:srgbClr val="FF0000"/>
                </a:solidFill>
                <a:latin typeface="Times New Roman" panose="02020603050405020304" pitchFamily="18" charset="0"/>
                <a:cs typeface="Times New Roman" panose="02020603050405020304" pitchFamily="18" charset="0"/>
              </a:rPr>
              <a:t>  }</a:t>
            </a:r>
          </a:p>
          <a:p>
            <a:pPr marL="0" indent="0">
              <a:buNone/>
            </a:pPr>
            <a:r>
              <a:rPr lang="en-US" sz="16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015726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Redundant Comments</a:t>
            </a:r>
          </a:p>
        </p:txBody>
      </p:sp>
      <p:sp>
        <p:nvSpPr>
          <p:cNvPr id="3" name="Content Placeholder 2"/>
          <p:cNvSpPr>
            <a:spLocks noGrp="1"/>
          </p:cNvSpPr>
          <p:nvPr>
            <p:ph idx="1"/>
          </p:nvPr>
        </p:nvSpPr>
        <p:spPr/>
        <p:txBody>
          <a:bodyPr/>
          <a:lstStyle/>
          <a:p>
            <a:pPr marL="0" indent="0">
              <a:buNone/>
            </a:pPr>
            <a:r>
              <a:rPr lang="en-US" dirty="0"/>
              <a:t>What purpose does this comment serve? It’s certainly not more informative than the code. It does not justify the code, or provide intent or rationale. It is not easier to read than the code. Indeed, it is less precise than the code and entices the reader to accept that lack of precision in lieu of true understanding.</a:t>
            </a:r>
          </a:p>
          <a:p>
            <a:pPr marL="0" indent="0">
              <a:buNone/>
            </a:pPr>
            <a:r>
              <a:rPr lang="en-US" dirty="0">
                <a:solidFill>
                  <a:srgbClr val="FF0000"/>
                </a:solidFill>
              </a:rPr>
              <a:t>int x = 5; // Assigning 5 to variable x</a:t>
            </a:r>
          </a:p>
          <a:p>
            <a:pPr marL="0" indent="0">
              <a:buNone/>
            </a:pPr>
            <a:endParaRPr lang="en-US" dirty="0"/>
          </a:p>
        </p:txBody>
      </p:sp>
    </p:spTree>
    <p:extLst>
      <p:ext uri="{BB962C8B-B14F-4D97-AF65-F5344CB8AC3E}">
        <p14:creationId xmlns:p14="http://schemas.microsoft.com/office/powerpoint/2010/main" val="1539850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061C6-C0EF-4685-AF13-58448854D30C}"/>
              </a:ext>
            </a:extLst>
          </p:cNvPr>
          <p:cNvSpPr>
            <a:spLocks noGrp="1"/>
          </p:cNvSpPr>
          <p:nvPr>
            <p:ph type="title"/>
          </p:nvPr>
        </p:nvSpPr>
        <p:spPr/>
        <p:txBody>
          <a:bodyPr/>
          <a:lstStyle/>
          <a:p>
            <a:r>
              <a:rPr lang="en-US" dirty="0"/>
              <a:t>Redundant Comment</a:t>
            </a:r>
            <a:endParaRPr lang="en-PK" dirty="0"/>
          </a:p>
        </p:txBody>
      </p:sp>
      <p:sp>
        <p:nvSpPr>
          <p:cNvPr id="3" name="Content Placeholder 2">
            <a:extLst>
              <a:ext uri="{FF2B5EF4-FFF2-40B4-BE49-F238E27FC236}">
                <a16:creationId xmlns:a16="http://schemas.microsoft.com/office/drawing/2014/main" id="{57655E1B-838F-48B5-9E25-ABD20E0CE886}"/>
              </a:ext>
            </a:extLst>
          </p:cNvPr>
          <p:cNvSpPr>
            <a:spLocks noGrp="1"/>
          </p:cNvSpPr>
          <p:nvPr>
            <p:ph idx="1"/>
          </p:nvPr>
        </p:nvSpPr>
        <p:spPr/>
        <p:txBody>
          <a:bodyPr/>
          <a:lstStyle/>
          <a:p>
            <a:pPr marL="0" indent="0">
              <a:buNone/>
            </a:pPr>
            <a:r>
              <a:rPr lang="en-US" b="0" i="0" dirty="0">
                <a:solidFill>
                  <a:srgbClr val="FF0000"/>
                </a:solidFill>
                <a:effectLst/>
                <a:latin typeface="Söhne Mono"/>
              </a:rPr>
              <a:t>// Loop through the array</a:t>
            </a:r>
          </a:p>
          <a:p>
            <a:pPr marL="0" indent="0">
              <a:buNone/>
            </a:pPr>
            <a:r>
              <a:rPr lang="en-US" b="0" i="0" dirty="0">
                <a:solidFill>
                  <a:srgbClr val="FF0000"/>
                </a:solidFill>
                <a:effectLst/>
                <a:latin typeface="Söhne Mono"/>
              </a:rPr>
              <a:t> for (int </a:t>
            </a:r>
            <a:r>
              <a:rPr lang="en-US" b="0" i="0" dirty="0" err="1">
                <a:solidFill>
                  <a:srgbClr val="FF0000"/>
                </a:solidFill>
                <a:effectLst/>
                <a:latin typeface="Söhne Mono"/>
              </a:rPr>
              <a:t>i</a:t>
            </a:r>
            <a:r>
              <a:rPr lang="en-US" b="0" i="0" dirty="0">
                <a:solidFill>
                  <a:srgbClr val="FF0000"/>
                </a:solidFill>
                <a:effectLst/>
                <a:latin typeface="Söhne Mono"/>
              </a:rPr>
              <a:t> = 0; </a:t>
            </a:r>
            <a:r>
              <a:rPr lang="en-US" b="0" i="0" dirty="0" err="1">
                <a:solidFill>
                  <a:srgbClr val="FF0000"/>
                </a:solidFill>
                <a:effectLst/>
                <a:latin typeface="Söhne Mono"/>
              </a:rPr>
              <a:t>i</a:t>
            </a:r>
            <a:r>
              <a:rPr lang="en-US" b="0" i="0" dirty="0">
                <a:solidFill>
                  <a:srgbClr val="FF0000"/>
                </a:solidFill>
                <a:effectLst/>
                <a:latin typeface="Söhne Mono"/>
              </a:rPr>
              <a:t> &lt; </a:t>
            </a:r>
            <a:r>
              <a:rPr lang="en-US" b="0" i="0" dirty="0" err="1">
                <a:solidFill>
                  <a:srgbClr val="FF0000"/>
                </a:solidFill>
                <a:effectLst/>
                <a:latin typeface="Söhne Mono"/>
              </a:rPr>
              <a:t>array.length</a:t>
            </a:r>
            <a:r>
              <a:rPr lang="en-US" b="0" i="0" dirty="0">
                <a:solidFill>
                  <a:srgbClr val="FF0000"/>
                </a:solidFill>
                <a:effectLst/>
                <a:latin typeface="Söhne Mono"/>
              </a:rPr>
              <a:t>; </a:t>
            </a:r>
            <a:r>
              <a:rPr lang="en-US" b="0" i="0" dirty="0" err="1">
                <a:solidFill>
                  <a:srgbClr val="FF0000"/>
                </a:solidFill>
                <a:effectLst/>
                <a:latin typeface="Söhne Mono"/>
              </a:rPr>
              <a:t>i</a:t>
            </a:r>
            <a:r>
              <a:rPr lang="en-US" b="0" i="0" dirty="0">
                <a:solidFill>
                  <a:srgbClr val="FF0000"/>
                </a:solidFill>
                <a:effectLst/>
                <a:latin typeface="Söhne Mono"/>
              </a:rPr>
              <a:t>++) {</a:t>
            </a:r>
          </a:p>
          <a:p>
            <a:pPr marL="0" indent="0">
              <a:buNone/>
            </a:pPr>
            <a:r>
              <a:rPr lang="en-US" b="0" i="0" dirty="0">
                <a:solidFill>
                  <a:srgbClr val="FF0000"/>
                </a:solidFill>
                <a:effectLst/>
                <a:latin typeface="Söhne Mono"/>
              </a:rPr>
              <a:t> // Get the current element</a:t>
            </a:r>
          </a:p>
          <a:p>
            <a:pPr marL="0" indent="0">
              <a:buNone/>
            </a:pPr>
            <a:r>
              <a:rPr lang="en-US" b="0" i="0" dirty="0">
                <a:solidFill>
                  <a:srgbClr val="FF0000"/>
                </a:solidFill>
                <a:effectLst/>
                <a:latin typeface="Söhne Mono"/>
              </a:rPr>
              <a:t> int </a:t>
            </a:r>
            <a:r>
              <a:rPr lang="en-US" b="0" i="0" dirty="0" err="1">
                <a:solidFill>
                  <a:srgbClr val="FF0000"/>
                </a:solidFill>
                <a:effectLst/>
                <a:latin typeface="Söhne Mono"/>
              </a:rPr>
              <a:t>currentElement</a:t>
            </a:r>
            <a:r>
              <a:rPr lang="en-US" b="0" i="0" dirty="0">
                <a:solidFill>
                  <a:srgbClr val="FF0000"/>
                </a:solidFill>
                <a:effectLst/>
                <a:latin typeface="Söhne Mono"/>
              </a:rPr>
              <a:t> = array[</a:t>
            </a:r>
            <a:r>
              <a:rPr lang="en-US" b="0" i="0" dirty="0" err="1">
                <a:solidFill>
                  <a:srgbClr val="FF0000"/>
                </a:solidFill>
                <a:effectLst/>
                <a:latin typeface="Söhne Mono"/>
              </a:rPr>
              <a:t>i</a:t>
            </a:r>
            <a:r>
              <a:rPr lang="en-US" b="0" i="0" dirty="0">
                <a:solidFill>
                  <a:srgbClr val="FF0000"/>
                </a:solidFill>
                <a:effectLst/>
                <a:latin typeface="Söhne Mono"/>
              </a:rPr>
              <a:t>]; </a:t>
            </a:r>
          </a:p>
          <a:p>
            <a:pPr marL="0" indent="0">
              <a:buNone/>
            </a:pPr>
            <a:r>
              <a:rPr lang="en-US" b="0" i="0" dirty="0">
                <a:solidFill>
                  <a:srgbClr val="FF0000"/>
                </a:solidFill>
                <a:effectLst/>
                <a:latin typeface="Söhne Mono"/>
              </a:rPr>
              <a:t>// Process the current element </a:t>
            </a:r>
          </a:p>
          <a:p>
            <a:pPr marL="0" indent="0">
              <a:buNone/>
            </a:pPr>
            <a:r>
              <a:rPr lang="en-US" b="0" i="0" dirty="0" err="1">
                <a:solidFill>
                  <a:srgbClr val="FF0000"/>
                </a:solidFill>
                <a:effectLst/>
                <a:latin typeface="Söhne Mono"/>
              </a:rPr>
              <a:t>processElement</a:t>
            </a:r>
            <a:r>
              <a:rPr lang="en-US" b="0" i="0" dirty="0">
                <a:solidFill>
                  <a:srgbClr val="FF0000"/>
                </a:solidFill>
                <a:effectLst/>
                <a:latin typeface="Söhne Mono"/>
              </a:rPr>
              <a:t>(</a:t>
            </a:r>
            <a:r>
              <a:rPr lang="en-US" b="0" i="0" dirty="0" err="1">
                <a:solidFill>
                  <a:srgbClr val="FF0000"/>
                </a:solidFill>
                <a:effectLst/>
                <a:latin typeface="Söhne Mono"/>
              </a:rPr>
              <a:t>currentElement</a:t>
            </a:r>
            <a:r>
              <a:rPr lang="en-US" b="0" i="0" dirty="0">
                <a:solidFill>
                  <a:srgbClr val="FF0000"/>
                </a:solidFill>
                <a:effectLst/>
                <a:latin typeface="Söhne Mono"/>
              </a:rPr>
              <a:t>); }</a:t>
            </a:r>
            <a:endParaRPr lang="en-US" dirty="0">
              <a:solidFill>
                <a:srgbClr val="FF0000"/>
              </a:solidFill>
            </a:endParaRPr>
          </a:p>
          <a:p>
            <a:endParaRPr lang="en-PK" dirty="0"/>
          </a:p>
        </p:txBody>
      </p:sp>
    </p:spTree>
    <p:extLst>
      <p:ext uri="{BB962C8B-B14F-4D97-AF65-F5344CB8AC3E}">
        <p14:creationId xmlns:p14="http://schemas.microsoft.com/office/powerpoint/2010/main" val="2649676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56FA7-8142-478B-9B22-957B0FB08023}"/>
              </a:ext>
            </a:extLst>
          </p:cNvPr>
          <p:cNvSpPr>
            <a:spLocks noGrp="1"/>
          </p:cNvSpPr>
          <p:nvPr>
            <p:ph type="title"/>
          </p:nvPr>
        </p:nvSpPr>
        <p:spPr/>
        <p:txBody>
          <a:bodyPr/>
          <a:lstStyle/>
          <a:p>
            <a:r>
              <a:rPr lang="en-US" dirty="0"/>
              <a:t>Ugly Code</a:t>
            </a:r>
            <a:endParaRPr lang="en-PK" dirty="0"/>
          </a:p>
        </p:txBody>
      </p:sp>
      <p:sp>
        <p:nvSpPr>
          <p:cNvPr id="3" name="Content Placeholder 2">
            <a:extLst>
              <a:ext uri="{FF2B5EF4-FFF2-40B4-BE49-F238E27FC236}">
                <a16:creationId xmlns:a16="http://schemas.microsoft.com/office/drawing/2014/main" id="{E92AD2C6-5542-45CE-A28C-FB857E06C273}"/>
              </a:ext>
            </a:extLst>
          </p:cNvPr>
          <p:cNvSpPr>
            <a:spLocks noGrp="1"/>
          </p:cNvSpPr>
          <p:nvPr>
            <p:ph idx="1"/>
          </p:nvPr>
        </p:nvSpPr>
        <p:spPr/>
        <p:txBody>
          <a:bodyPr>
            <a:normAutofit/>
          </a:bodyPr>
          <a:lstStyle/>
          <a:p>
            <a:pPr algn="l"/>
            <a:r>
              <a:rPr lang="en-US" i="0" dirty="0">
                <a:solidFill>
                  <a:srgbClr val="333333"/>
                </a:solidFill>
                <a:effectLst/>
                <a:latin typeface="Open Sans" panose="020B0604020202020204" pitchFamily="34" charset="0"/>
              </a:rPr>
              <a:t>Often comments are used in locations where code is ugly and they are used to ‘fix’ the code. Don’t try to make a code more beautiful by adding comments. When you have an ugly code you should refactor it and write it in a way that expresses what you are doing there.</a:t>
            </a:r>
          </a:p>
          <a:p>
            <a:pPr algn="l"/>
            <a:r>
              <a:rPr lang="en-US" i="0" dirty="0">
                <a:solidFill>
                  <a:srgbClr val="333333"/>
                </a:solidFill>
                <a:effectLst/>
                <a:latin typeface="Open Sans" panose="020B0604020202020204" pitchFamily="34" charset="0"/>
              </a:rPr>
              <a:t>When you have a code that cannot be understood, then comments are not the solution. Try to rewrite the code or rename fields and other elements in a way that the reader will understand the action that you are doing there.</a:t>
            </a:r>
          </a:p>
          <a:p>
            <a:pPr algn="l"/>
            <a:r>
              <a:rPr lang="en-US" i="0" dirty="0">
                <a:solidFill>
                  <a:srgbClr val="333333"/>
                </a:solidFill>
                <a:effectLst/>
                <a:latin typeface="Open Sans" panose="020B0604020202020204" pitchFamily="34" charset="0"/>
              </a:rPr>
              <a:t>In many cases, you can extract a method with a mindful name. The reader will understand very easily what is happening there based on the methods and fields name.</a:t>
            </a:r>
          </a:p>
          <a:p>
            <a:endParaRPr lang="en-PK" dirty="0"/>
          </a:p>
        </p:txBody>
      </p:sp>
    </p:spTree>
    <p:extLst>
      <p:ext uri="{BB962C8B-B14F-4D97-AF65-F5344CB8AC3E}">
        <p14:creationId xmlns:p14="http://schemas.microsoft.com/office/powerpoint/2010/main" val="8393071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C2AB0-13ED-46A7-B28D-24A255C94210}"/>
              </a:ext>
            </a:extLst>
          </p:cNvPr>
          <p:cNvSpPr>
            <a:spLocks noGrp="1"/>
          </p:cNvSpPr>
          <p:nvPr>
            <p:ph type="title"/>
          </p:nvPr>
        </p:nvSpPr>
        <p:spPr/>
        <p:txBody>
          <a:bodyPr/>
          <a:lstStyle/>
          <a:p>
            <a:r>
              <a:rPr lang="en-US" dirty="0"/>
              <a:t>Comment Issues in Code</a:t>
            </a:r>
            <a:endParaRPr lang="en-PK" dirty="0"/>
          </a:p>
        </p:txBody>
      </p:sp>
      <p:pic>
        <p:nvPicPr>
          <p:cNvPr id="4" name="Picture 4" descr="Text&#10;&#10;Description automatically generated">
            <a:extLst>
              <a:ext uri="{FF2B5EF4-FFF2-40B4-BE49-F238E27FC236}">
                <a16:creationId xmlns:a16="http://schemas.microsoft.com/office/drawing/2014/main" id="{B29452DE-6FAC-4E67-BE3B-D09FA6385C42}"/>
              </a:ext>
            </a:extLst>
          </p:cNvPr>
          <p:cNvPicPr>
            <a:picLocks noGrp="1" noChangeAspect="1"/>
          </p:cNvPicPr>
          <p:nvPr>
            <p:ph idx="1"/>
          </p:nvPr>
        </p:nvPicPr>
        <p:blipFill>
          <a:blip r:embed="rId2"/>
          <a:stretch>
            <a:fillRect/>
          </a:stretch>
        </p:blipFill>
        <p:spPr>
          <a:xfrm>
            <a:off x="2414427" y="2499563"/>
            <a:ext cx="7818633" cy="3264239"/>
          </a:xfrm>
          <a:prstGeom prst="rect">
            <a:avLst/>
          </a:prstGeom>
        </p:spPr>
      </p:pic>
    </p:spTree>
    <p:extLst>
      <p:ext uri="{BB962C8B-B14F-4D97-AF65-F5344CB8AC3E}">
        <p14:creationId xmlns:p14="http://schemas.microsoft.com/office/powerpoint/2010/main" val="35408151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203</TotalTime>
  <Words>1816</Words>
  <Application>Microsoft Office PowerPoint</Application>
  <PresentationFormat>Widescreen</PresentationFormat>
  <Paragraphs>154</Paragraphs>
  <Slides>23</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Calibri</vt:lpstr>
      <vt:lpstr>Century Gothic</vt:lpstr>
      <vt:lpstr>Open Sans</vt:lpstr>
      <vt:lpstr>Söhne</vt:lpstr>
      <vt:lpstr>Söhne Mono</vt:lpstr>
      <vt:lpstr>Times New Roman</vt:lpstr>
      <vt:lpstr>Wingdings 3</vt:lpstr>
      <vt:lpstr>Ion Boardroom</vt:lpstr>
      <vt:lpstr>Comments</vt:lpstr>
      <vt:lpstr>Comment</vt:lpstr>
      <vt:lpstr>Comments</vt:lpstr>
      <vt:lpstr>Comments Do Not Make Up for Bad Code </vt:lpstr>
      <vt:lpstr>Comments focus on Why rather than How?</vt:lpstr>
      <vt:lpstr>Comments Do Not Make Up for Bad Code </vt:lpstr>
      <vt:lpstr>Good Comments </vt:lpstr>
      <vt:lpstr>Legal Comments </vt:lpstr>
      <vt:lpstr>Informative Comments</vt:lpstr>
      <vt:lpstr>Informative Comments</vt:lpstr>
      <vt:lpstr>Informative Comments</vt:lpstr>
      <vt:lpstr>Clarification –Comments the unit of Numeric data</vt:lpstr>
      <vt:lpstr>Comment the range of allowable numeric values</vt:lpstr>
      <vt:lpstr>Comment limitations on input data</vt:lpstr>
      <vt:lpstr>Warning</vt:lpstr>
      <vt:lpstr>ToDO Comments</vt:lpstr>
      <vt:lpstr>Amplification </vt:lpstr>
      <vt:lpstr>Bad Comments</vt:lpstr>
      <vt:lpstr>Mumbling </vt:lpstr>
      <vt:lpstr>Redundant Comments</vt:lpstr>
      <vt:lpstr>Redundant Comment</vt:lpstr>
      <vt:lpstr>Ugly Code</vt:lpstr>
      <vt:lpstr>Comment Issues in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Comments</dc:title>
  <dc:creator>MY PC</dc:creator>
  <cp:lastModifiedBy>zulqarnain hassan</cp:lastModifiedBy>
  <cp:revision>15</cp:revision>
  <dcterms:created xsi:type="dcterms:W3CDTF">2022-10-17T07:40:37Z</dcterms:created>
  <dcterms:modified xsi:type="dcterms:W3CDTF">2024-12-28T19:27:26Z</dcterms:modified>
</cp:coreProperties>
</file>