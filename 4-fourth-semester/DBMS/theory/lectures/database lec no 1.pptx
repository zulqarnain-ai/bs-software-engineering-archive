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691" autoAdjust="0"/>
  </p:normalViewPr>
  <p:slideViewPr>
    <p:cSldViewPr snapToGrid="0" snapToObjects="1">
      <p:cViewPr varScale="1">
        <p:scale>
          <a:sx n="44" d="100"/>
          <a:sy n="44" d="100"/>
        </p:scale>
        <p:origin x="192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F0CBA-4C31-401C-97DB-193F7100E185}" type="datetimeFigureOut">
              <a:rPr lang="en-AU" smtClean="0"/>
              <a:t>24/02/2024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B43C6F-0476-4359-9117-F8B67037CF0D}" type="slidenum">
              <a:rPr lang="en-AU" smtClean="0"/>
              <a:t>‹#›</a:t>
            </a:fld>
            <a:endParaRPr lang="en-AU"/>
          </a:p>
        </p:txBody>
      </p:sp>
    </p:spTree>
    <p:extLst>
      <p:ext uri="{BB962C8B-B14F-4D97-AF65-F5344CB8AC3E}">
        <p14:creationId xmlns:p14="http://schemas.microsoft.com/office/powerpoint/2010/main" val="4292045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Databases are organized collections of data, typically structured to facilitate efficient storage, retrieval, and manipulation of information. They are fundamental in various applications across different industries. Here are some real-life examples of databases:</a:t>
            </a:r>
          </a:p>
          <a:p>
            <a:r>
              <a:rPr lang="en-US" sz="1200" b="1" i="0" kern="1200" dirty="0" smtClean="0">
                <a:solidFill>
                  <a:schemeClr val="tx1"/>
                </a:solidFill>
                <a:effectLst/>
                <a:latin typeface="+mn-lt"/>
                <a:ea typeface="+mn-ea"/>
                <a:cs typeface="+mn-cs"/>
              </a:rPr>
              <a:t>Customer Relationship Management (CRM) Database</a:t>
            </a:r>
            <a:r>
              <a:rPr lang="en-US" sz="1200" b="0" i="0" kern="1200" dirty="0" smtClean="0">
                <a:solidFill>
                  <a:schemeClr val="tx1"/>
                </a:solidFill>
                <a:effectLst/>
                <a:latin typeface="+mn-lt"/>
                <a:ea typeface="+mn-ea"/>
                <a:cs typeface="+mn-cs"/>
              </a:rPr>
              <a:t>: CRM databases store information about customers, including contact details, purchase history, preferences, and interactions. Companies use CRM databases to manage relationships with customers and improve marketing, sales, and support efforts. Salesforce and </a:t>
            </a:r>
            <a:r>
              <a:rPr lang="en-US" sz="1200" b="0" i="0" kern="1200" dirty="0" err="1" smtClean="0">
                <a:solidFill>
                  <a:schemeClr val="tx1"/>
                </a:solidFill>
                <a:effectLst/>
                <a:latin typeface="+mn-lt"/>
                <a:ea typeface="+mn-ea"/>
                <a:cs typeface="+mn-cs"/>
              </a:rPr>
              <a:t>HubSpot</a:t>
            </a:r>
            <a:r>
              <a:rPr lang="en-US" sz="1200" b="0" i="0" kern="1200" dirty="0" smtClean="0">
                <a:solidFill>
                  <a:schemeClr val="tx1"/>
                </a:solidFill>
                <a:effectLst/>
                <a:latin typeface="+mn-lt"/>
                <a:ea typeface="+mn-ea"/>
                <a:cs typeface="+mn-cs"/>
              </a:rPr>
              <a:t> are examples of CRM systems that use databases to organize customer data.</a:t>
            </a:r>
          </a:p>
          <a:p>
            <a:r>
              <a:rPr lang="en-US" sz="1200" b="1" i="0" kern="1200" dirty="0" smtClean="0">
                <a:solidFill>
                  <a:schemeClr val="tx1"/>
                </a:solidFill>
                <a:effectLst/>
                <a:latin typeface="+mn-lt"/>
                <a:ea typeface="+mn-ea"/>
                <a:cs typeface="+mn-cs"/>
              </a:rPr>
              <a:t>Human Resources Management System (HRMS) Database</a:t>
            </a:r>
            <a:r>
              <a:rPr lang="en-US" sz="1200" b="0" i="0" kern="1200" dirty="0" smtClean="0">
                <a:solidFill>
                  <a:schemeClr val="tx1"/>
                </a:solidFill>
                <a:effectLst/>
                <a:latin typeface="+mn-lt"/>
                <a:ea typeface="+mn-ea"/>
                <a:cs typeface="+mn-cs"/>
              </a:rPr>
              <a:t>: HRMS databases store employee information such as personal details, job history, performance evaluations, and payroll data. These databases help organizations manage human resources efficiently. Workday and ADP Workforce Now are examples of HRMS systems that utilize databases to store employee information.</a:t>
            </a:r>
          </a:p>
          <a:p>
            <a:r>
              <a:rPr lang="en-US" sz="1200" b="1" i="0" kern="1200" dirty="0" smtClean="0">
                <a:solidFill>
                  <a:schemeClr val="tx1"/>
                </a:solidFill>
                <a:effectLst/>
                <a:latin typeface="+mn-lt"/>
                <a:ea typeface="+mn-ea"/>
                <a:cs typeface="+mn-cs"/>
              </a:rPr>
              <a:t>E-commerce Database</a:t>
            </a:r>
            <a:r>
              <a:rPr lang="en-US" sz="1200" b="0" i="0" kern="1200" dirty="0" smtClean="0">
                <a:solidFill>
                  <a:schemeClr val="tx1"/>
                </a:solidFill>
                <a:effectLst/>
                <a:latin typeface="+mn-lt"/>
                <a:ea typeface="+mn-ea"/>
                <a:cs typeface="+mn-cs"/>
              </a:rPr>
              <a:t>: E-commerce platforms use databases to store product catalogs, customer orders, payment information, and shipping details. Amazon and Shopify are examples of e-commerce platforms that rely on databases to manage their vast inventory and process transactions.</a:t>
            </a:r>
          </a:p>
          <a:p>
            <a:r>
              <a:rPr lang="en-US" sz="1200" b="1" i="0" kern="1200" dirty="0" smtClean="0">
                <a:solidFill>
                  <a:schemeClr val="tx1"/>
                </a:solidFill>
                <a:effectLst/>
                <a:latin typeface="+mn-lt"/>
                <a:ea typeface="+mn-ea"/>
                <a:cs typeface="+mn-cs"/>
              </a:rPr>
              <a:t>Inventory Management Database</a:t>
            </a:r>
            <a:r>
              <a:rPr lang="en-US" sz="1200" b="0" i="0" kern="1200" dirty="0" smtClean="0">
                <a:solidFill>
                  <a:schemeClr val="tx1"/>
                </a:solidFill>
                <a:effectLst/>
                <a:latin typeface="+mn-lt"/>
                <a:ea typeface="+mn-ea"/>
                <a:cs typeface="+mn-cs"/>
              </a:rPr>
              <a:t>: Inventory management databases track the movement of goods in and out of warehouses or stores. They store information about stock levels, product locations, suppliers, and purchase orders. Retailers, manufacturers, and logistics companies use inventory management databases to optimize inventory levels and streamline operations.</a:t>
            </a:r>
          </a:p>
          <a:p>
            <a:r>
              <a:rPr lang="en-US" sz="1200" b="1" i="0" kern="1200" dirty="0" smtClean="0">
                <a:solidFill>
                  <a:schemeClr val="tx1"/>
                </a:solidFill>
                <a:effectLst/>
                <a:latin typeface="+mn-lt"/>
                <a:ea typeface="+mn-ea"/>
                <a:cs typeface="+mn-cs"/>
              </a:rPr>
              <a:t>Banking System Database</a:t>
            </a:r>
            <a:r>
              <a:rPr lang="en-US" sz="1200" b="0" i="0" kern="1200" dirty="0" smtClean="0">
                <a:solidFill>
                  <a:schemeClr val="tx1"/>
                </a:solidFill>
                <a:effectLst/>
                <a:latin typeface="+mn-lt"/>
                <a:ea typeface="+mn-ea"/>
                <a:cs typeface="+mn-cs"/>
              </a:rPr>
              <a:t>: Banking systems use databases to store customer accounts, transactions, loan details, and financial records. These databases ensure secure and reliable management of banking operations, including online banking, ATM transactions, and loan processing. Core banking systems like FISERV and FIS Global rely on databases to handle financial transactions.</a:t>
            </a:r>
          </a:p>
          <a:p>
            <a:r>
              <a:rPr lang="en-US" sz="1200" b="1" i="0" kern="1200" dirty="0" smtClean="0">
                <a:solidFill>
                  <a:schemeClr val="tx1"/>
                </a:solidFill>
                <a:effectLst/>
                <a:latin typeface="+mn-lt"/>
                <a:ea typeface="+mn-ea"/>
                <a:cs typeface="+mn-cs"/>
              </a:rPr>
              <a:t>Social Media Database</a:t>
            </a:r>
            <a:r>
              <a:rPr lang="en-US" sz="1200" b="0" i="0" kern="1200" dirty="0" smtClean="0">
                <a:solidFill>
                  <a:schemeClr val="tx1"/>
                </a:solidFill>
                <a:effectLst/>
                <a:latin typeface="+mn-lt"/>
                <a:ea typeface="+mn-ea"/>
                <a:cs typeface="+mn-cs"/>
              </a:rPr>
              <a:t>: Social media platforms store vast amounts of user-generated content, including posts, comments, likes, and connections between users. These databases enable social media companies to deliver personalized content, facilitate interactions between users, and analyze user behavior for targeted advertising. Facebook and Twitter are examples of social media platforms powered by databases.</a:t>
            </a:r>
          </a:p>
          <a:p>
            <a:r>
              <a:rPr lang="en-US" sz="1200" b="1" i="0" kern="1200" dirty="0" smtClean="0">
                <a:solidFill>
                  <a:schemeClr val="tx1"/>
                </a:solidFill>
                <a:effectLst/>
                <a:latin typeface="+mn-lt"/>
                <a:ea typeface="+mn-ea"/>
                <a:cs typeface="+mn-cs"/>
              </a:rPr>
              <a:t>Healthcare Information System Database</a:t>
            </a:r>
            <a:r>
              <a:rPr lang="en-US" sz="1200" b="0" i="0" kern="1200" dirty="0" smtClean="0">
                <a:solidFill>
                  <a:schemeClr val="tx1"/>
                </a:solidFill>
                <a:effectLst/>
                <a:latin typeface="+mn-lt"/>
                <a:ea typeface="+mn-ea"/>
                <a:cs typeface="+mn-cs"/>
              </a:rPr>
              <a:t>: Healthcare databases store patient records, medical histories, test results, prescriptions, and billing information. Electronic Health Record (EHR) systems use databases to centralize patient data, streamline clinical workflows, and improve patient care coordination. Epic Systems and Cerner Corporation provide EHR solutions that rely on databases to manage healthcare information.</a:t>
            </a:r>
          </a:p>
          <a:p>
            <a:endParaRPr lang="en-US" sz="1200" b="0" i="0" kern="1200" dirty="0" smtClean="0">
              <a:solidFill>
                <a:schemeClr val="tx1"/>
              </a:solidFill>
              <a:effectLst/>
              <a:latin typeface="+mn-lt"/>
              <a:ea typeface="+mn-ea"/>
              <a:cs typeface="+mn-cs"/>
            </a:endParaRPr>
          </a:p>
          <a:p>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2</a:t>
            </a:fld>
            <a:endParaRPr lang="en-AU"/>
          </a:p>
        </p:txBody>
      </p:sp>
    </p:spTree>
    <p:extLst>
      <p:ext uri="{BB962C8B-B14F-4D97-AF65-F5344CB8AC3E}">
        <p14:creationId xmlns:p14="http://schemas.microsoft.com/office/powerpoint/2010/main" val="741843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purpose of a database is to efficiently store and manage large amounts of data, making it easy to access and manipulate information as needed. Let's explore this with a simple example:</a:t>
            </a:r>
          </a:p>
          <a:p>
            <a:r>
              <a:rPr lang="en-US" sz="1200" b="0" i="0" kern="1200" dirty="0" smtClean="0">
                <a:solidFill>
                  <a:schemeClr val="tx1"/>
                </a:solidFill>
                <a:effectLst/>
                <a:latin typeface="+mn-lt"/>
                <a:ea typeface="+mn-ea"/>
                <a:cs typeface="+mn-cs"/>
              </a:rPr>
              <a:t>Imagine you have a collection of recipe cards. Each card contains a recipe, including ingredients and instructions. Without a database, you might store these cards in a box, making it challenging to find specific recipes or update them easily.</a:t>
            </a:r>
          </a:p>
          <a:p>
            <a:r>
              <a:rPr lang="en-US" sz="1200" b="0" i="0" kern="1200" dirty="0" smtClean="0">
                <a:solidFill>
                  <a:schemeClr val="tx1"/>
                </a:solidFill>
                <a:effectLst/>
                <a:latin typeface="+mn-lt"/>
                <a:ea typeface="+mn-ea"/>
                <a:cs typeface="+mn-cs"/>
              </a:rPr>
              <a:t>Now, consider using a recipe database. In this database:</a:t>
            </a:r>
          </a:p>
          <a:p>
            <a:r>
              <a:rPr lang="en-US" sz="1200" b="1" i="0" kern="1200" dirty="0" smtClean="0">
                <a:solidFill>
                  <a:schemeClr val="tx1"/>
                </a:solidFill>
                <a:effectLst/>
                <a:latin typeface="+mn-lt"/>
                <a:ea typeface="+mn-ea"/>
                <a:cs typeface="+mn-cs"/>
              </a:rPr>
              <a:t>Organization</a:t>
            </a:r>
            <a:r>
              <a:rPr lang="en-US" sz="1200" b="0" i="0" kern="1200" dirty="0" smtClean="0">
                <a:solidFill>
                  <a:schemeClr val="tx1"/>
                </a:solidFill>
                <a:effectLst/>
                <a:latin typeface="+mn-lt"/>
                <a:ea typeface="+mn-ea"/>
                <a:cs typeface="+mn-cs"/>
              </a:rPr>
              <a:t>: Each recipe is a record in the database. You can categorize recipes by type (e.g., appetizers, main courses, desserts) and assign tags (e.g., vegetarian, gluten-free) for easy sorting and filtering.</a:t>
            </a:r>
          </a:p>
          <a:p>
            <a:r>
              <a:rPr lang="en-US" sz="1200" b="1" i="0" kern="1200" dirty="0" smtClean="0">
                <a:solidFill>
                  <a:schemeClr val="tx1"/>
                </a:solidFill>
                <a:effectLst/>
                <a:latin typeface="+mn-lt"/>
                <a:ea typeface="+mn-ea"/>
                <a:cs typeface="+mn-cs"/>
              </a:rPr>
              <a:t>Storage</a:t>
            </a:r>
            <a:r>
              <a:rPr lang="en-US" sz="1200" b="0" i="0" kern="1200" dirty="0" smtClean="0">
                <a:solidFill>
                  <a:schemeClr val="tx1"/>
                </a:solidFill>
                <a:effectLst/>
                <a:latin typeface="+mn-lt"/>
                <a:ea typeface="+mn-ea"/>
                <a:cs typeface="+mn-cs"/>
              </a:rPr>
              <a:t>: Instead of physical cards, the recipes are stored digitally in the database. This saves physical space and allows for easy access from anywhere with an internet connection.</a:t>
            </a:r>
          </a:p>
          <a:p>
            <a:r>
              <a:rPr lang="en-US" sz="1200" b="1" i="0" kern="1200" dirty="0" smtClean="0">
                <a:solidFill>
                  <a:schemeClr val="tx1"/>
                </a:solidFill>
                <a:effectLst/>
                <a:latin typeface="+mn-lt"/>
                <a:ea typeface="+mn-ea"/>
                <a:cs typeface="+mn-cs"/>
              </a:rPr>
              <a:t>Retrieval</a:t>
            </a:r>
            <a:r>
              <a:rPr lang="en-US" sz="1200" b="0" i="0" kern="1200" dirty="0" smtClean="0">
                <a:solidFill>
                  <a:schemeClr val="tx1"/>
                </a:solidFill>
                <a:effectLst/>
                <a:latin typeface="+mn-lt"/>
                <a:ea typeface="+mn-ea"/>
                <a:cs typeface="+mn-cs"/>
              </a:rPr>
              <a:t>: When you want to find a recipe, you can simply search the database by keywords, ingredients, or categories. The database quickly retrieves the relevant recipes, making it much faster than manually searching through a box of cards.</a:t>
            </a:r>
          </a:p>
          <a:p>
            <a:r>
              <a:rPr lang="en-US" sz="1200" b="1" i="0" kern="1200" dirty="0" smtClean="0">
                <a:solidFill>
                  <a:schemeClr val="tx1"/>
                </a:solidFill>
                <a:effectLst/>
                <a:latin typeface="+mn-lt"/>
                <a:ea typeface="+mn-ea"/>
                <a:cs typeface="+mn-cs"/>
              </a:rPr>
              <a:t>Updates</a:t>
            </a:r>
            <a:r>
              <a:rPr lang="en-US" sz="1200" b="0" i="0" kern="1200" dirty="0" smtClean="0">
                <a:solidFill>
                  <a:schemeClr val="tx1"/>
                </a:solidFill>
                <a:effectLst/>
                <a:latin typeface="+mn-lt"/>
                <a:ea typeface="+mn-ea"/>
                <a:cs typeface="+mn-cs"/>
              </a:rPr>
              <a:t>: If you want to modify a recipe or add a new one, you can easily do so in the database. Changes are instantly reflected, ensuring that your recipe collection stays up-to-date.</a:t>
            </a:r>
          </a:p>
          <a:p>
            <a:r>
              <a:rPr lang="en-US" sz="1200" b="1" i="0" kern="1200" dirty="0" smtClean="0">
                <a:solidFill>
                  <a:schemeClr val="tx1"/>
                </a:solidFill>
                <a:effectLst/>
                <a:latin typeface="+mn-lt"/>
                <a:ea typeface="+mn-ea"/>
                <a:cs typeface="+mn-cs"/>
              </a:rPr>
              <a:t>Sharing</a:t>
            </a:r>
            <a:r>
              <a:rPr lang="en-US" sz="1200" b="0" i="0" kern="1200" dirty="0" smtClean="0">
                <a:solidFill>
                  <a:schemeClr val="tx1"/>
                </a:solidFill>
                <a:effectLst/>
                <a:latin typeface="+mn-lt"/>
                <a:ea typeface="+mn-ea"/>
                <a:cs typeface="+mn-cs"/>
              </a:rPr>
              <a:t>: You can share your recipe database with friends or family members, allowing them to access and contribute to the collection. This collaborative aspect enhances the usefulness of the database.</a:t>
            </a:r>
          </a:p>
          <a:p>
            <a:r>
              <a:rPr lang="en-US" sz="1200" b="0" i="0" kern="1200" dirty="0" smtClean="0">
                <a:solidFill>
                  <a:schemeClr val="tx1"/>
                </a:solidFill>
                <a:effectLst/>
                <a:latin typeface="+mn-lt"/>
                <a:ea typeface="+mn-ea"/>
                <a:cs typeface="+mn-cs"/>
              </a:rPr>
              <a:t>In this example, the purpose of the database is to provide a centralized and organized way to store, retrieve, and manage recipe information. It simplifies tasks such as finding recipes, making updates, and sharing content, ultimately enhancing the overall cooking experience.</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3</a:t>
            </a:fld>
            <a:endParaRPr lang="en-AU"/>
          </a:p>
        </p:txBody>
      </p:sp>
    </p:spTree>
    <p:extLst>
      <p:ext uri="{BB962C8B-B14F-4D97-AF65-F5344CB8AC3E}">
        <p14:creationId xmlns:p14="http://schemas.microsoft.com/office/powerpoint/2010/main" val="2783147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Operational Database</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Purpose</a:t>
            </a:r>
            <a:r>
              <a:rPr lang="en-US" sz="1200" b="0" i="0" kern="1200" dirty="0" smtClean="0">
                <a:solidFill>
                  <a:schemeClr val="tx1"/>
                </a:solidFill>
                <a:effectLst/>
                <a:latin typeface="+mn-lt"/>
                <a:ea typeface="+mn-ea"/>
                <a:cs typeface="+mn-cs"/>
              </a:rPr>
              <a:t>: Operational databases are designed for day-to-day transactional activities within an organization. They support the ongoing operations of an organization by efficiently managing and processing high volumes of transactional data in real-time.</a:t>
            </a:r>
          </a:p>
          <a:p>
            <a:r>
              <a:rPr lang="en-US" sz="1200" b="1" i="0" kern="1200" dirty="0" smtClean="0">
                <a:solidFill>
                  <a:schemeClr val="tx1"/>
                </a:solidFill>
                <a:effectLst/>
                <a:latin typeface="+mn-lt"/>
                <a:ea typeface="+mn-ea"/>
                <a:cs typeface="+mn-cs"/>
              </a:rPr>
              <a:t>Characteristics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Fast and efficient data retrieval and modification.</a:t>
            </a:r>
          </a:p>
          <a:p>
            <a:pPr lvl="1"/>
            <a:r>
              <a:rPr lang="en-US" sz="1200" b="0" i="0" kern="1200" dirty="0" smtClean="0">
                <a:solidFill>
                  <a:schemeClr val="tx1"/>
                </a:solidFill>
                <a:effectLst/>
                <a:latin typeface="+mn-lt"/>
                <a:ea typeface="+mn-ea"/>
                <a:cs typeface="+mn-cs"/>
              </a:rPr>
              <a:t>Optimized for frequent read and write operations.</a:t>
            </a:r>
          </a:p>
          <a:p>
            <a:pPr lvl="1"/>
            <a:r>
              <a:rPr lang="en-US" sz="1200" b="0" i="0" kern="1200" dirty="0" smtClean="0">
                <a:solidFill>
                  <a:schemeClr val="tx1"/>
                </a:solidFill>
                <a:effectLst/>
                <a:latin typeface="+mn-lt"/>
                <a:ea typeface="+mn-ea"/>
                <a:cs typeface="+mn-cs"/>
              </a:rPr>
              <a:t>Typically normalized to minimize redundancy and ensure data integrity.</a:t>
            </a:r>
          </a:p>
          <a:p>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A banking system's transactional database. Every time a customer makes a deposit, withdrawal, or transfer, the transaction is recorded in the operational database. The database ensures that the balance is updated accurately and in real-time, enabling customers to access their funds immediately.</a:t>
            </a:r>
          </a:p>
          <a:p>
            <a:r>
              <a:rPr lang="en-US" sz="1200" b="1" i="0" kern="1200" dirty="0" smtClean="0">
                <a:solidFill>
                  <a:schemeClr val="tx1"/>
                </a:solidFill>
                <a:effectLst/>
                <a:latin typeface="+mn-lt"/>
                <a:ea typeface="+mn-ea"/>
                <a:cs typeface="+mn-cs"/>
              </a:rPr>
              <a:t>Analytical Database</a:t>
            </a:r>
            <a:r>
              <a:rPr lang="en-US" sz="1200" b="0" i="0" kern="1200" dirty="0" smtClean="0">
                <a:solidFill>
                  <a:schemeClr val="tx1"/>
                </a:solidFill>
                <a:effectLst/>
                <a:latin typeface="+mn-lt"/>
                <a:ea typeface="+mn-ea"/>
                <a:cs typeface="+mn-cs"/>
              </a:rPr>
              <a:t>:</a:t>
            </a:r>
          </a:p>
          <a:p>
            <a:pPr lvl="1"/>
            <a:r>
              <a:rPr lang="en-US" sz="1200" b="1" i="0" kern="1200" dirty="0" smtClean="0">
                <a:solidFill>
                  <a:schemeClr val="tx1"/>
                </a:solidFill>
                <a:effectLst/>
                <a:latin typeface="+mn-lt"/>
                <a:ea typeface="+mn-ea"/>
                <a:cs typeface="+mn-cs"/>
              </a:rPr>
              <a:t>Purpose</a:t>
            </a:r>
            <a:r>
              <a:rPr lang="en-US" sz="1200" b="0" i="0" kern="1200" dirty="0" smtClean="0">
                <a:solidFill>
                  <a:schemeClr val="tx1"/>
                </a:solidFill>
                <a:effectLst/>
                <a:latin typeface="+mn-lt"/>
                <a:ea typeface="+mn-ea"/>
                <a:cs typeface="+mn-cs"/>
              </a:rPr>
              <a:t>: Analytical databases are optimized for complex queries and data analysis tasks. They are used to analyze historical data, identify trends, and gain insights into business performance.</a:t>
            </a:r>
          </a:p>
          <a:p>
            <a:pPr lvl="1"/>
            <a:r>
              <a:rPr lang="en-US" sz="1200" b="1" i="0" kern="1200" dirty="0" smtClean="0">
                <a:solidFill>
                  <a:schemeClr val="tx1"/>
                </a:solidFill>
                <a:effectLst/>
                <a:latin typeface="+mn-lt"/>
                <a:ea typeface="+mn-ea"/>
                <a:cs typeface="+mn-cs"/>
              </a:rPr>
              <a:t>Characteristics</a:t>
            </a:r>
            <a:r>
              <a:rPr lang="en-US" sz="1200" b="0" i="0" kern="1200" dirty="0" smtClean="0">
                <a:solidFill>
                  <a:schemeClr val="tx1"/>
                </a:solidFill>
                <a:effectLst/>
                <a:latin typeface="+mn-lt"/>
                <a:ea typeface="+mn-ea"/>
                <a:cs typeface="+mn-cs"/>
              </a:rPr>
              <a:t>:</a:t>
            </a:r>
          </a:p>
          <a:p>
            <a:pPr lvl="2"/>
            <a:r>
              <a:rPr lang="en-US" sz="1200" b="0" i="0" kern="1200" dirty="0" smtClean="0">
                <a:solidFill>
                  <a:schemeClr val="tx1"/>
                </a:solidFill>
                <a:effectLst/>
                <a:latin typeface="+mn-lt"/>
                <a:ea typeface="+mn-ea"/>
                <a:cs typeface="+mn-cs"/>
              </a:rPr>
              <a:t>Optimized for read-heavy workloads involving complex queries and aggregations.</a:t>
            </a:r>
          </a:p>
          <a:p>
            <a:pPr lvl="2"/>
            <a:r>
              <a:rPr lang="en-US" sz="1200" b="0" i="0" kern="1200" dirty="0" smtClean="0">
                <a:solidFill>
                  <a:schemeClr val="tx1"/>
                </a:solidFill>
                <a:effectLst/>
                <a:latin typeface="+mn-lt"/>
                <a:ea typeface="+mn-ea"/>
                <a:cs typeface="+mn-cs"/>
              </a:rPr>
              <a:t>Often </a:t>
            </a:r>
            <a:r>
              <a:rPr lang="en-US" sz="1200" b="0" i="0" kern="1200" dirty="0" err="1" smtClean="0">
                <a:solidFill>
                  <a:schemeClr val="tx1"/>
                </a:solidFill>
                <a:effectLst/>
                <a:latin typeface="+mn-lt"/>
                <a:ea typeface="+mn-ea"/>
                <a:cs typeface="+mn-cs"/>
              </a:rPr>
              <a:t>denormalized</a:t>
            </a:r>
            <a:r>
              <a:rPr lang="en-US" sz="1200" b="0" i="0" kern="1200" dirty="0" smtClean="0">
                <a:solidFill>
                  <a:schemeClr val="tx1"/>
                </a:solidFill>
                <a:effectLst/>
                <a:latin typeface="+mn-lt"/>
                <a:ea typeface="+mn-ea"/>
                <a:cs typeface="+mn-cs"/>
              </a:rPr>
              <a:t> or structured in a star or snowflake schema to support efficient analysis.</a:t>
            </a:r>
          </a:p>
          <a:p>
            <a:pPr lvl="2"/>
            <a:r>
              <a:rPr lang="en-US" sz="1200" b="0" i="0" kern="1200" dirty="0" smtClean="0">
                <a:solidFill>
                  <a:schemeClr val="tx1"/>
                </a:solidFill>
                <a:effectLst/>
                <a:latin typeface="+mn-lt"/>
                <a:ea typeface="+mn-ea"/>
                <a:cs typeface="+mn-cs"/>
              </a:rPr>
              <a:t>Support for data warehousing and business intelligence tools.</a:t>
            </a:r>
          </a:p>
          <a:p>
            <a:pPr lvl="1"/>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A retail company's data warehouse. The analytical database aggregates data from various operational sources, such as sales transactions, inventory levels, and customer interactions. Analysts can then query this database to generate reports on sales trends, identify popular products, and optimize inventory management strategies.</a:t>
            </a:r>
          </a:p>
          <a:p>
            <a:r>
              <a:rPr lang="en-US" sz="1200" b="0" i="0" kern="1200" dirty="0" smtClean="0">
                <a:solidFill>
                  <a:schemeClr val="tx1"/>
                </a:solidFill>
                <a:effectLst/>
                <a:latin typeface="+mn-lt"/>
                <a:ea typeface="+mn-ea"/>
                <a:cs typeface="+mn-cs"/>
              </a:rPr>
              <a:t>In summary, operational databases are geared towards supporting day-to-day transactional activities, ensuring fast and reliable data processing. On the other hand, analytical databases are designed to facilitate in-depth analysis and decision-making by providing a centralized repository of historical data and robust querying capabilities. Both types of databases play crucial roles in managing and leveraging data effectively within organizations.</a:t>
            </a:r>
          </a:p>
          <a:p>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5</a:t>
            </a:fld>
            <a:endParaRPr lang="en-AU"/>
          </a:p>
        </p:txBody>
      </p:sp>
    </p:spTree>
    <p:extLst>
      <p:ext uri="{BB962C8B-B14F-4D97-AF65-F5344CB8AC3E}">
        <p14:creationId xmlns:p14="http://schemas.microsoft.com/office/powerpoint/2010/main" val="3970420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hierarchical data model is a way of organizing data in a tree-like structure, where each record has a single parent record and zero or more child records. In this model, data is organized in a top-down or inverted tree structure, with parent-child relationships defining the organization of the data.</a:t>
            </a:r>
          </a:p>
          <a:p>
            <a:r>
              <a:rPr lang="en-US" sz="1200" b="0" i="0" kern="1200" dirty="0" smtClean="0">
                <a:solidFill>
                  <a:schemeClr val="tx1"/>
                </a:solidFill>
                <a:effectLst/>
                <a:latin typeface="+mn-lt"/>
                <a:ea typeface="+mn-ea"/>
                <a:cs typeface="+mn-cs"/>
              </a:rPr>
              <a:t>Here's a simple explanation with an easy example:</a:t>
            </a:r>
          </a:p>
          <a:p>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Consider a company's organizational chart. In this hierarchical data model:</a:t>
            </a:r>
          </a:p>
          <a:p>
            <a:r>
              <a:rPr lang="en-US" sz="1200" b="1" i="0" kern="1200" dirty="0" smtClean="0">
                <a:solidFill>
                  <a:schemeClr val="tx1"/>
                </a:solidFill>
                <a:effectLst/>
                <a:latin typeface="+mn-lt"/>
                <a:ea typeface="+mn-ea"/>
                <a:cs typeface="+mn-cs"/>
              </a:rPr>
              <a:t>Root</a:t>
            </a:r>
            <a:r>
              <a:rPr lang="en-US" sz="1200" b="0" i="0" kern="1200" dirty="0" smtClean="0">
                <a:solidFill>
                  <a:schemeClr val="tx1"/>
                </a:solidFill>
                <a:effectLst/>
                <a:latin typeface="+mn-lt"/>
                <a:ea typeface="+mn-ea"/>
                <a:cs typeface="+mn-cs"/>
              </a:rPr>
              <a:t>: The CEO of the company serves as the root of the hierarchy.</a:t>
            </a:r>
          </a:p>
          <a:p>
            <a:r>
              <a:rPr lang="en-US" sz="1200" b="1" i="0" kern="1200" dirty="0" smtClean="0">
                <a:solidFill>
                  <a:schemeClr val="tx1"/>
                </a:solidFill>
                <a:effectLst/>
                <a:latin typeface="+mn-lt"/>
                <a:ea typeface="+mn-ea"/>
                <a:cs typeface="+mn-cs"/>
              </a:rPr>
              <a:t>Parent-Child Relationships</a:t>
            </a:r>
            <a:r>
              <a:rPr lang="en-US" sz="1200" b="0" i="0" kern="1200" dirty="0" smtClean="0">
                <a:solidFill>
                  <a:schemeClr val="tx1"/>
                </a:solidFill>
                <a:effectLst/>
                <a:latin typeface="+mn-lt"/>
                <a:ea typeface="+mn-ea"/>
                <a:cs typeface="+mn-cs"/>
              </a:rPr>
              <a:t>: Each employee (except the CEO) reports to another employee, creating a parent-child relationship. For example, department managers are parents to their respective teams, and each team member is a child of their manager.</a:t>
            </a:r>
          </a:p>
          <a:p>
            <a:r>
              <a:rPr lang="en-US" sz="1200" b="1" i="0" kern="1200" dirty="0" smtClean="0">
                <a:solidFill>
                  <a:schemeClr val="tx1"/>
                </a:solidFill>
                <a:effectLst/>
                <a:latin typeface="+mn-lt"/>
                <a:ea typeface="+mn-ea"/>
                <a:cs typeface="+mn-cs"/>
              </a:rPr>
              <a:t>Tree Structure</a:t>
            </a:r>
            <a:r>
              <a:rPr lang="en-US" sz="1200" b="0" i="0" kern="1200" dirty="0" smtClean="0">
                <a:solidFill>
                  <a:schemeClr val="tx1"/>
                </a:solidFill>
                <a:effectLst/>
                <a:latin typeface="+mn-lt"/>
                <a:ea typeface="+mn-ea"/>
                <a:cs typeface="+mn-cs"/>
              </a:rPr>
              <a:t>: The organizational chart forms a tree structure, where the CEO is at the top (root), followed by layers of management, departments, teams, and individual employees.</a:t>
            </a:r>
          </a:p>
          <a:p>
            <a:r>
              <a:rPr lang="en-US" sz="1200" b="1" i="0" kern="1200" dirty="0" smtClean="0">
                <a:solidFill>
                  <a:schemeClr val="tx1"/>
                </a:solidFill>
                <a:effectLst/>
                <a:latin typeface="+mn-lt"/>
                <a:ea typeface="+mn-ea"/>
                <a:cs typeface="+mn-cs"/>
              </a:rPr>
              <a:t>Hierarchical Data Model Characteristics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One-to-Many Relationships</a:t>
            </a:r>
            <a:r>
              <a:rPr lang="en-US" sz="1200" b="0" i="0" kern="1200" dirty="0" smtClean="0">
                <a:solidFill>
                  <a:schemeClr val="tx1"/>
                </a:solidFill>
                <a:effectLst/>
                <a:latin typeface="+mn-lt"/>
                <a:ea typeface="+mn-ea"/>
                <a:cs typeface="+mn-cs"/>
              </a:rPr>
              <a:t>: Each parent record can have multiple child records, but each child record can have only one parent.</a:t>
            </a:r>
          </a:p>
          <a:p>
            <a:r>
              <a:rPr lang="en-US" sz="1200" b="1" i="0" kern="1200" dirty="0" smtClean="0">
                <a:solidFill>
                  <a:schemeClr val="tx1"/>
                </a:solidFill>
                <a:effectLst/>
                <a:latin typeface="+mn-lt"/>
                <a:ea typeface="+mn-ea"/>
                <a:cs typeface="+mn-cs"/>
              </a:rPr>
              <a:t>Top-Down Structure</a:t>
            </a:r>
            <a:r>
              <a:rPr lang="en-US" sz="1200" b="0" i="0" kern="1200" dirty="0" smtClean="0">
                <a:solidFill>
                  <a:schemeClr val="tx1"/>
                </a:solidFill>
                <a:effectLst/>
                <a:latin typeface="+mn-lt"/>
                <a:ea typeface="+mn-ea"/>
                <a:cs typeface="+mn-cs"/>
              </a:rPr>
              <a:t>: Data is organized in a top-down fashion, with a single root at the top and branches extending downward.</a:t>
            </a:r>
          </a:p>
          <a:p>
            <a:r>
              <a:rPr lang="en-US" sz="1200" b="1" i="0" kern="1200" dirty="0" smtClean="0">
                <a:solidFill>
                  <a:schemeClr val="tx1"/>
                </a:solidFill>
                <a:effectLst/>
                <a:latin typeface="+mn-lt"/>
                <a:ea typeface="+mn-ea"/>
                <a:cs typeface="+mn-cs"/>
              </a:rPr>
              <a:t>Fast Access</a:t>
            </a:r>
            <a:r>
              <a:rPr lang="en-US" sz="1200" b="0" i="0" kern="1200" dirty="0" smtClean="0">
                <a:solidFill>
                  <a:schemeClr val="tx1"/>
                </a:solidFill>
                <a:effectLst/>
                <a:latin typeface="+mn-lt"/>
                <a:ea typeface="+mn-ea"/>
                <a:cs typeface="+mn-cs"/>
              </a:rPr>
              <a:t>: Retrieving data is efficient when navigating down the hierarchy, starting from the root and traversing through parent-child relationships.</a:t>
            </a:r>
          </a:p>
          <a:p>
            <a:r>
              <a:rPr lang="en-US" sz="1200" b="1" i="0" kern="1200" dirty="0" smtClean="0">
                <a:solidFill>
                  <a:schemeClr val="tx1"/>
                </a:solidFill>
                <a:effectLst/>
                <a:latin typeface="+mn-lt"/>
                <a:ea typeface="+mn-ea"/>
                <a:cs typeface="+mn-cs"/>
              </a:rPr>
              <a:t>Limited Flexibility</a:t>
            </a:r>
            <a:r>
              <a:rPr lang="en-US" sz="1200" b="0" i="0" kern="1200" dirty="0" smtClean="0">
                <a:solidFill>
                  <a:schemeClr val="tx1"/>
                </a:solidFill>
                <a:effectLst/>
                <a:latin typeface="+mn-lt"/>
                <a:ea typeface="+mn-ea"/>
                <a:cs typeface="+mn-cs"/>
              </a:rPr>
              <a:t>: The hierarchical model is rigid and less flexible compared to other data models like the relational model.</a:t>
            </a:r>
          </a:p>
          <a:p>
            <a:r>
              <a:rPr lang="en-US" sz="1200" b="1" i="0" kern="1200" dirty="0" smtClean="0">
                <a:solidFill>
                  <a:schemeClr val="tx1"/>
                </a:solidFill>
                <a:effectLst/>
                <a:latin typeface="+mn-lt"/>
                <a:ea typeface="+mn-ea"/>
                <a:cs typeface="+mn-cs"/>
              </a:rPr>
              <a:t>Advantages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Simple and intuitive structure, especially for representing parent-child relationships.</a:t>
            </a:r>
          </a:p>
          <a:p>
            <a:r>
              <a:rPr lang="en-US" sz="1200" b="0" i="0" kern="1200" dirty="0" smtClean="0">
                <a:solidFill>
                  <a:schemeClr val="tx1"/>
                </a:solidFill>
                <a:effectLst/>
                <a:latin typeface="+mn-lt"/>
                <a:ea typeface="+mn-ea"/>
                <a:cs typeface="+mn-cs"/>
              </a:rPr>
              <a:t>Efficient for representing data with a clear, predefined hierarchy.</a:t>
            </a:r>
          </a:p>
          <a:p>
            <a:r>
              <a:rPr lang="en-US" sz="1200" b="1" i="0" kern="1200" dirty="0" smtClean="0">
                <a:solidFill>
                  <a:schemeClr val="tx1"/>
                </a:solidFill>
                <a:effectLst/>
                <a:latin typeface="+mn-lt"/>
                <a:ea typeface="+mn-ea"/>
                <a:cs typeface="+mn-cs"/>
              </a:rPr>
              <a:t>Disadvantages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Lack of flexibility, making it challenging to represent data with complex relationships.</a:t>
            </a:r>
          </a:p>
          <a:p>
            <a:r>
              <a:rPr lang="en-US" sz="1200" b="0" i="0" kern="1200" dirty="0" smtClean="0">
                <a:solidFill>
                  <a:schemeClr val="tx1"/>
                </a:solidFill>
                <a:effectLst/>
                <a:latin typeface="+mn-lt"/>
                <a:ea typeface="+mn-ea"/>
                <a:cs typeface="+mn-cs"/>
              </a:rPr>
              <a:t>Difficulty in handling many-to-many relationships, as they are not naturally supported in the hierarchical model.</a:t>
            </a:r>
          </a:p>
          <a:p>
            <a:r>
              <a:rPr lang="en-US" sz="1200" b="0" i="0" kern="1200" dirty="0" smtClean="0">
                <a:solidFill>
                  <a:schemeClr val="tx1"/>
                </a:solidFill>
                <a:effectLst/>
                <a:latin typeface="+mn-lt"/>
                <a:ea typeface="+mn-ea"/>
                <a:cs typeface="+mn-cs"/>
              </a:rPr>
              <a:t>In summary, a hierarchical data model organizes data in a tree-like structure with parent-child relationships, where each record has a single parent and zero or more children. It's commonly used for representing hierarchical data such as organizational structures, file systems, and XML documents.</a:t>
            </a:r>
          </a:p>
          <a:p>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7</a:t>
            </a:fld>
            <a:endParaRPr lang="en-AU"/>
          </a:p>
        </p:txBody>
      </p:sp>
    </p:spTree>
    <p:extLst>
      <p:ext uri="{BB962C8B-B14F-4D97-AF65-F5344CB8AC3E}">
        <p14:creationId xmlns:p14="http://schemas.microsoft.com/office/powerpoint/2010/main" val="102929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network database model is a way of organizing data in a network-like structure, where each record can have multiple parent and child records, creating a more flexible relationship structure compared to the hierarchical model. In this model, records are linked together through sets of pointers, forming a network of interconnected nodes.</a:t>
            </a:r>
          </a:p>
          <a:p>
            <a:r>
              <a:rPr lang="en-US" sz="1200" b="0" i="0" kern="1200" dirty="0" smtClean="0">
                <a:solidFill>
                  <a:schemeClr val="tx1"/>
                </a:solidFill>
                <a:effectLst/>
                <a:latin typeface="+mn-lt"/>
                <a:ea typeface="+mn-ea"/>
                <a:cs typeface="+mn-cs"/>
              </a:rPr>
              <a:t>Let's explain the network database model with an easy daily life example:</a:t>
            </a:r>
          </a:p>
          <a:p>
            <a:r>
              <a:rPr lang="en-US" sz="1200" b="1" i="0" kern="1200" dirty="0" smtClean="0">
                <a:solidFill>
                  <a:schemeClr val="tx1"/>
                </a:solidFill>
                <a:effectLst/>
                <a:latin typeface="+mn-lt"/>
                <a:ea typeface="+mn-ea"/>
                <a:cs typeface="+mn-cs"/>
              </a:rPr>
              <a:t>Example: Social Media Connections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Imagine you're using a social media platform where users can connect with each other. In this network database model:</a:t>
            </a:r>
          </a:p>
          <a:p>
            <a:r>
              <a:rPr lang="en-US" sz="1200" b="1" i="0" kern="1200" dirty="0" smtClean="0">
                <a:solidFill>
                  <a:schemeClr val="tx1"/>
                </a:solidFill>
                <a:effectLst/>
                <a:latin typeface="+mn-lt"/>
                <a:ea typeface="+mn-ea"/>
                <a:cs typeface="+mn-cs"/>
              </a:rPr>
              <a:t>Users as Nodes</a:t>
            </a:r>
            <a:r>
              <a:rPr lang="en-US" sz="1200" b="0" i="0" kern="1200" dirty="0" smtClean="0">
                <a:solidFill>
                  <a:schemeClr val="tx1"/>
                </a:solidFill>
                <a:effectLst/>
                <a:latin typeface="+mn-lt"/>
                <a:ea typeface="+mn-ea"/>
                <a:cs typeface="+mn-cs"/>
              </a:rPr>
              <a:t>: Each user profile represents a node in the network.</a:t>
            </a:r>
          </a:p>
          <a:p>
            <a:r>
              <a:rPr lang="en-US" sz="1200" b="1" i="0" kern="1200" dirty="0" smtClean="0">
                <a:solidFill>
                  <a:schemeClr val="tx1"/>
                </a:solidFill>
                <a:effectLst/>
                <a:latin typeface="+mn-lt"/>
                <a:ea typeface="+mn-ea"/>
                <a:cs typeface="+mn-cs"/>
              </a:rPr>
              <a:t>Connections as Relationships</a:t>
            </a:r>
            <a:r>
              <a:rPr lang="en-US" sz="1200" b="0" i="0" kern="1200" dirty="0" smtClean="0">
                <a:solidFill>
                  <a:schemeClr val="tx1"/>
                </a:solidFill>
                <a:effectLst/>
                <a:latin typeface="+mn-lt"/>
                <a:ea typeface="+mn-ea"/>
                <a:cs typeface="+mn-cs"/>
              </a:rPr>
              <a:t>: Friend connections between users create relationships in the network.</a:t>
            </a:r>
          </a:p>
          <a:p>
            <a:r>
              <a:rPr lang="en-US" sz="1200" b="1" i="0" kern="1200" dirty="0" smtClean="0">
                <a:solidFill>
                  <a:schemeClr val="tx1"/>
                </a:solidFill>
                <a:effectLst/>
                <a:latin typeface="+mn-lt"/>
                <a:ea typeface="+mn-ea"/>
                <a:cs typeface="+mn-cs"/>
              </a:rPr>
              <a:t>Multiple Connections</a:t>
            </a:r>
            <a:r>
              <a:rPr lang="en-US" sz="1200" b="0" i="0" kern="1200" dirty="0" smtClean="0">
                <a:solidFill>
                  <a:schemeClr val="tx1"/>
                </a:solidFill>
                <a:effectLst/>
                <a:latin typeface="+mn-lt"/>
                <a:ea typeface="+mn-ea"/>
                <a:cs typeface="+mn-cs"/>
              </a:rPr>
              <a:t>: Unlike hierarchical models where each record has one parent, users in the network model can have multiple connections (friends), and they can also be connected to by multiple users.</a:t>
            </a:r>
          </a:p>
          <a:p>
            <a:r>
              <a:rPr lang="en-US" sz="1200" b="1" i="0" kern="1200" dirty="0" smtClean="0">
                <a:solidFill>
                  <a:schemeClr val="tx1"/>
                </a:solidFill>
                <a:effectLst/>
                <a:latin typeface="+mn-lt"/>
                <a:ea typeface="+mn-ea"/>
                <a:cs typeface="+mn-cs"/>
              </a:rPr>
              <a:t>Bidirectional Relationships</a:t>
            </a:r>
            <a:r>
              <a:rPr lang="en-US" sz="1200" b="0" i="0" kern="1200" dirty="0" smtClean="0">
                <a:solidFill>
                  <a:schemeClr val="tx1"/>
                </a:solidFill>
                <a:effectLst/>
                <a:latin typeface="+mn-lt"/>
                <a:ea typeface="+mn-ea"/>
                <a:cs typeface="+mn-cs"/>
              </a:rPr>
              <a:t>: Relationships can be bidirectional. If User A is friends with User B, User B is also friends with User A.</a:t>
            </a:r>
          </a:p>
          <a:p>
            <a:r>
              <a:rPr lang="en-US" sz="1200" b="1" i="0" kern="1200" dirty="0" smtClean="0">
                <a:solidFill>
                  <a:schemeClr val="tx1"/>
                </a:solidFill>
                <a:effectLst/>
                <a:latin typeface="+mn-lt"/>
                <a:ea typeface="+mn-ea"/>
                <a:cs typeface="+mn-cs"/>
              </a:rPr>
              <a:t>Flexible Structure</a:t>
            </a:r>
            <a:r>
              <a:rPr lang="en-US" sz="1200" b="0" i="0" kern="1200" dirty="0" smtClean="0">
                <a:solidFill>
                  <a:schemeClr val="tx1"/>
                </a:solidFill>
                <a:effectLst/>
                <a:latin typeface="+mn-lt"/>
                <a:ea typeface="+mn-ea"/>
                <a:cs typeface="+mn-cs"/>
              </a:rPr>
              <a:t>: The network model allows for a more flexible structure compared to the hierarchical model, as users can have multiple connections without a strict hierarchy.</a:t>
            </a:r>
          </a:p>
          <a:p>
            <a:r>
              <a:rPr lang="en-US" sz="1200" b="1" i="0" kern="1200" dirty="0" smtClean="0">
                <a:solidFill>
                  <a:schemeClr val="tx1"/>
                </a:solidFill>
                <a:effectLst/>
                <a:latin typeface="+mn-lt"/>
                <a:ea typeface="+mn-ea"/>
                <a:cs typeface="+mn-cs"/>
              </a:rPr>
              <a:t>Network Database Model Characteristics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Many-to-Many Relationships</a:t>
            </a:r>
            <a:r>
              <a:rPr lang="en-US" sz="1200" b="0" i="0" kern="1200" dirty="0" smtClean="0">
                <a:solidFill>
                  <a:schemeClr val="tx1"/>
                </a:solidFill>
                <a:effectLst/>
                <a:latin typeface="+mn-lt"/>
                <a:ea typeface="+mn-ea"/>
                <a:cs typeface="+mn-cs"/>
              </a:rPr>
              <a:t>: Records can have multiple parent and child records, enabling many-to-many relationships.</a:t>
            </a:r>
          </a:p>
          <a:p>
            <a:r>
              <a:rPr lang="en-US" sz="1200" b="1" i="0" kern="1200" dirty="0" smtClean="0">
                <a:solidFill>
                  <a:schemeClr val="tx1"/>
                </a:solidFill>
                <a:effectLst/>
                <a:latin typeface="+mn-lt"/>
                <a:ea typeface="+mn-ea"/>
                <a:cs typeface="+mn-cs"/>
              </a:rPr>
              <a:t>Pointers and Links</a:t>
            </a:r>
            <a:r>
              <a:rPr lang="en-US" sz="1200" b="0" i="0" kern="1200" dirty="0" smtClean="0">
                <a:solidFill>
                  <a:schemeClr val="tx1"/>
                </a:solidFill>
                <a:effectLst/>
                <a:latin typeface="+mn-lt"/>
                <a:ea typeface="+mn-ea"/>
                <a:cs typeface="+mn-cs"/>
              </a:rPr>
              <a:t>: Records are linked through pointers or links, allowing for navigation between related records.</a:t>
            </a:r>
          </a:p>
          <a:p>
            <a:r>
              <a:rPr lang="en-US" sz="1200" b="1" i="0" kern="1200" dirty="0" smtClean="0">
                <a:solidFill>
                  <a:schemeClr val="tx1"/>
                </a:solidFill>
                <a:effectLst/>
                <a:latin typeface="+mn-lt"/>
                <a:ea typeface="+mn-ea"/>
                <a:cs typeface="+mn-cs"/>
              </a:rPr>
              <a:t>Complex Queries</a:t>
            </a:r>
            <a:r>
              <a:rPr lang="en-US" sz="1200" b="0" i="0" kern="1200" dirty="0" smtClean="0">
                <a:solidFill>
                  <a:schemeClr val="tx1"/>
                </a:solidFill>
                <a:effectLst/>
                <a:latin typeface="+mn-lt"/>
                <a:ea typeface="+mn-ea"/>
                <a:cs typeface="+mn-cs"/>
              </a:rPr>
              <a:t>: While more flexible, complex queries may be required to navigate through the network structure compared to simpler hierarchical structures.</a:t>
            </a:r>
          </a:p>
          <a:p>
            <a:r>
              <a:rPr lang="en-US" sz="1200" b="1" i="0" kern="1200" dirty="0" smtClean="0">
                <a:solidFill>
                  <a:schemeClr val="tx1"/>
                </a:solidFill>
                <a:effectLst/>
                <a:latin typeface="+mn-lt"/>
                <a:ea typeface="+mn-ea"/>
                <a:cs typeface="+mn-cs"/>
              </a:rPr>
              <a:t>Efficiency in Retrieval</a:t>
            </a:r>
            <a:r>
              <a:rPr lang="en-US" sz="1200" b="0" i="0" kern="1200" dirty="0" smtClean="0">
                <a:solidFill>
                  <a:schemeClr val="tx1"/>
                </a:solidFill>
                <a:effectLst/>
                <a:latin typeface="+mn-lt"/>
                <a:ea typeface="+mn-ea"/>
                <a:cs typeface="+mn-cs"/>
              </a:rPr>
              <a:t>: Retrieving related data can be efficient, as records are connected directly through pointers.</a:t>
            </a:r>
          </a:p>
          <a:p>
            <a:r>
              <a:rPr lang="en-US" sz="1200" b="1" i="0" kern="1200" dirty="0" smtClean="0">
                <a:solidFill>
                  <a:schemeClr val="tx1"/>
                </a:solidFill>
                <a:effectLst/>
                <a:latin typeface="+mn-lt"/>
                <a:ea typeface="+mn-ea"/>
                <a:cs typeface="+mn-cs"/>
              </a:rPr>
              <a:t>Advantages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Flexible structure allows for complex relationships and many-to-many connections.</a:t>
            </a:r>
          </a:p>
          <a:p>
            <a:r>
              <a:rPr lang="en-US" sz="1200" b="0" i="0" kern="1200" dirty="0" smtClean="0">
                <a:solidFill>
                  <a:schemeClr val="tx1"/>
                </a:solidFill>
                <a:effectLst/>
                <a:latin typeface="+mn-lt"/>
                <a:ea typeface="+mn-ea"/>
                <a:cs typeface="+mn-cs"/>
              </a:rPr>
              <a:t>Efficient for representing interconnected data, such as social networks or complex organizational structures.</a:t>
            </a:r>
          </a:p>
          <a:p>
            <a:r>
              <a:rPr lang="en-US" sz="1200" b="1" i="0" kern="1200" dirty="0" smtClean="0">
                <a:solidFill>
                  <a:schemeClr val="tx1"/>
                </a:solidFill>
                <a:effectLst/>
                <a:latin typeface="+mn-lt"/>
                <a:ea typeface="+mn-ea"/>
                <a:cs typeface="+mn-cs"/>
              </a:rPr>
              <a:t>Disadvantages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Complexity in managing and querying the data due to the interconnected nature of records.</a:t>
            </a:r>
          </a:p>
          <a:p>
            <a:r>
              <a:rPr lang="en-US" sz="1200" b="0" i="0" kern="1200" dirty="0" smtClean="0">
                <a:solidFill>
                  <a:schemeClr val="tx1"/>
                </a:solidFill>
                <a:effectLst/>
                <a:latin typeface="+mn-lt"/>
                <a:ea typeface="+mn-ea"/>
                <a:cs typeface="+mn-cs"/>
              </a:rPr>
              <a:t>Can be challenging to maintain and update, especially as the network grows larger.</a:t>
            </a:r>
          </a:p>
          <a:p>
            <a:r>
              <a:rPr lang="en-US" sz="1200" b="0" i="0" kern="1200" dirty="0" smtClean="0">
                <a:solidFill>
                  <a:schemeClr val="tx1"/>
                </a:solidFill>
                <a:effectLst/>
                <a:latin typeface="+mn-lt"/>
                <a:ea typeface="+mn-ea"/>
                <a:cs typeface="+mn-cs"/>
              </a:rPr>
              <a:t>In summary, the network database model organizes data in a network-like structure, where records are interconnected through relationships, enabling more flexible and complex data representations. Daily life examples, such as social media connections, illustrate how this model can be applied to represent relationships in a networked environment.</a:t>
            </a:r>
          </a:p>
          <a:p>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8</a:t>
            </a:fld>
            <a:endParaRPr lang="en-AU"/>
          </a:p>
        </p:txBody>
      </p:sp>
    </p:spTree>
    <p:extLst>
      <p:ext uri="{BB962C8B-B14F-4D97-AF65-F5344CB8AC3E}">
        <p14:creationId xmlns:p14="http://schemas.microsoft.com/office/powerpoint/2010/main" val="1106624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Relational Database Model:</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relational database model organizes data into tables made up of rows and columns. Each table represents a specific type of data, and the relationships between tables are defined by common attributes or keys.</a:t>
            </a:r>
          </a:p>
          <a:p>
            <a:r>
              <a:rPr lang="en-US" sz="1200" b="1" i="0" kern="1200" dirty="0" smtClean="0">
                <a:solidFill>
                  <a:schemeClr val="tx1"/>
                </a:solidFill>
                <a:effectLst/>
                <a:latin typeface="+mn-lt"/>
                <a:ea typeface="+mn-ea"/>
                <a:cs typeface="+mn-cs"/>
              </a:rPr>
              <a:t>Example: Library System</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Imagine you're building a library system to manage books, authors, and borrowers. Here's how the relational database model works in this context:</a:t>
            </a:r>
          </a:p>
          <a:p>
            <a:r>
              <a:rPr lang="en-US" sz="1200" b="1" i="0" kern="1200" dirty="0" smtClean="0">
                <a:solidFill>
                  <a:schemeClr val="tx1"/>
                </a:solidFill>
                <a:effectLst/>
                <a:latin typeface="+mn-lt"/>
                <a:ea typeface="+mn-ea"/>
                <a:cs typeface="+mn-cs"/>
              </a:rPr>
              <a:t>Tables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You'll have separate tables for each type of data: books, authors, and borrowers.</a:t>
            </a:r>
          </a:p>
          <a:p>
            <a:pPr lvl="1"/>
            <a:r>
              <a:rPr lang="en-US" sz="1200" b="0" i="0" kern="1200" dirty="0" smtClean="0">
                <a:solidFill>
                  <a:schemeClr val="tx1"/>
                </a:solidFill>
                <a:effectLst/>
                <a:latin typeface="+mn-lt"/>
                <a:ea typeface="+mn-ea"/>
                <a:cs typeface="+mn-cs"/>
              </a:rPr>
              <a:t>Each table has rows (records) representing individual items and columns representing attributes (e.g., book title, author name, borrower ID).</a:t>
            </a:r>
          </a:p>
          <a:p>
            <a:r>
              <a:rPr lang="en-US" sz="1200" b="1" i="0" kern="1200" dirty="0" smtClean="0">
                <a:solidFill>
                  <a:schemeClr val="tx1"/>
                </a:solidFill>
                <a:effectLst/>
                <a:latin typeface="+mn-lt"/>
                <a:ea typeface="+mn-ea"/>
                <a:cs typeface="+mn-cs"/>
              </a:rPr>
              <a:t>Relationships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The tables are connected through relationships based on shared attributes. For example:</a:t>
            </a:r>
          </a:p>
          <a:p>
            <a:pPr lvl="2"/>
            <a:r>
              <a:rPr lang="en-US" sz="1200" b="0" i="0" kern="1200" dirty="0" smtClean="0">
                <a:solidFill>
                  <a:schemeClr val="tx1"/>
                </a:solidFill>
                <a:effectLst/>
                <a:latin typeface="+mn-lt"/>
                <a:ea typeface="+mn-ea"/>
                <a:cs typeface="+mn-cs"/>
              </a:rPr>
              <a:t>The "Books" table might have an "</a:t>
            </a:r>
            <a:r>
              <a:rPr lang="en-US" sz="1200" b="0" i="0" kern="1200" dirty="0" err="1" smtClean="0">
                <a:solidFill>
                  <a:schemeClr val="tx1"/>
                </a:solidFill>
                <a:effectLst/>
                <a:latin typeface="+mn-lt"/>
                <a:ea typeface="+mn-ea"/>
                <a:cs typeface="+mn-cs"/>
              </a:rPr>
              <a:t>AuthorID</a:t>
            </a:r>
            <a:r>
              <a:rPr lang="en-US" sz="1200" b="0" i="0" kern="1200" dirty="0" smtClean="0">
                <a:solidFill>
                  <a:schemeClr val="tx1"/>
                </a:solidFill>
                <a:effectLst/>
                <a:latin typeface="+mn-lt"/>
                <a:ea typeface="+mn-ea"/>
                <a:cs typeface="+mn-cs"/>
              </a:rPr>
              <a:t>" column that links to the "Authors" table's "</a:t>
            </a:r>
            <a:r>
              <a:rPr lang="en-US" sz="1200" b="0" i="0" kern="1200" dirty="0" err="1" smtClean="0">
                <a:solidFill>
                  <a:schemeClr val="tx1"/>
                </a:solidFill>
                <a:effectLst/>
                <a:latin typeface="+mn-lt"/>
                <a:ea typeface="+mn-ea"/>
                <a:cs typeface="+mn-cs"/>
              </a:rPr>
              <a:t>AuthorID</a:t>
            </a:r>
            <a:r>
              <a:rPr lang="en-US" sz="1200" b="0" i="0" kern="1200" dirty="0" smtClean="0">
                <a:solidFill>
                  <a:schemeClr val="tx1"/>
                </a:solidFill>
                <a:effectLst/>
                <a:latin typeface="+mn-lt"/>
                <a:ea typeface="+mn-ea"/>
                <a:cs typeface="+mn-cs"/>
              </a:rPr>
              <a:t>" column, establishing a relationship between books and authors.</a:t>
            </a:r>
          </a:p>
          <a:p>
            <a:pPr lvl="2"/>
            <a:r>
              <a:rPr lang="en-US" sz="1200" b="0" i="0" kern="1200" dirty="0" smtClean="0">
                <a:solidFill>
                  <a:schemeClr val="tx1"/>
                </a:solidFill>
                <a:effectLst/>
                <a:latin typeface="+mn-lt"/>
                <a:ea typeface="+mn-ea"/>
                <a:cs typeface="+mn-cs"/>
              </a:rPr>
              <a:t>The "Books" table could also have a "</a:t>
            </a:r>
            <a:r>
              <a:rPr lang="en-US" sz="1200" b="0" i="0" kern="1200" dirty="0" err="1" smtClean="0">
                <a:solidFill>
                  <a:schemeClr val="tx1"/>
                </a:solidFill>
                <a:effectLst/>
                <a:latin typeface="+mn-lt"/>
                <a:ea typeface="+mn-ea"/>
                <a:cs typeface="+mn-cs"/>
              </a:rPr>
              <a:t>BorrowerID</a:t>
            </a:r>
            <a:r>
              <a:rPr lang="en-US" sz="1200" b="0" i="0" kern="1200" dirty="0" smtClean="0">
                <a:solidFill>
                  <a:schemeClr val="tx1"/>
                </a:solidFill>
                <a:effectLst/>
                <a:latin typeface="+mn-lt"/>
                <a:ea typeface="+mn-ea"/>
                <a:cs typeface="+mn-cs"/>
              </a:rPr>
              <a:t>" column linking to the "Borrowers" table, indicating which borrower has checked out a particular book.</a:t>
            </a:r>
          </a:p>
          <a:p>
            <a:r>
              <a:rPr lang="en-US" sz="1200" b="1" i="0" kern="1200" dirty="0" smtClean="0">
                <a:solidFill>
                  <a:schemeClr val="tx1"/>
                </a:solidFill>
                <a:effectLst/>
                <a:latin typeface="+mn-lt"/>
                <a:ea typeface="+mn-ea"/>
                <a:cs typeface="+mn-cs"/>
              </a:rPr>
              <a:t>Data Integrity</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Relational databases enforce data integrity through constraints like primary keys, which uniquely identify each record in a table, and foreign keys, which establish relationships between tables.</a:t>
            </a:r>
          </a:p>
          <a:p>
            <a:pPr lvl="1"/>
            <a:r>
              <a:rPr lang="en-US" sz="1200" b="0" i="0" kern="1200" dirty="0" smtClean="0">
                <a:solidFill>
                  <a:schemeClr val="tx1"/>
                </a:solidFill>
                <a:effectLst/>
                <a:latin typeface="+mn-lt"/>
                <a:ea typeface="+mn-ea"/>
                <a:cs typeface="+mn-cs"/>
              </a:rPr>
              <a:t>In our library example, each book might have a unique ISBN (International Standard Book Number) serving as the primary key, ensuring that each book is uniquely identified.</a:t>
            </a:r>
          </a:p>
          <a:p>
            <a:r>
              <a:rPr lang="en-US" sz="1200" b="1" i="0" kern="1200" dirty="0" smtClean="0">
                <a:solidFill>
                  <a:schemeClr val="tx1"/>
                </a:solidFill>
                <a:effectLst/>
                <a:latin typeface="+mn-lt"/>
                <a:ea typeface="+mn-ea"/>
                <a:cs typeface="+mn-cs"/>
              </a:rPr>
              <a:t>Querying Data</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You can retrieve and manipulate data using structured query language (SQL).</a:t>
            </a:r>
          </a:p>
          <a:p>
            <a:pPr lvl="1"/>
            <a:r>
              <a:rPr lang="en-US" sz="1200" b="0" i="0" kern="1200" dirty="0" smtClean="0">
                <a:solidFill>
                  <a:schemeClr val="tx1"/>
                </a:solidFill>
                <a:effectLst/>
                <a:latin typeface="+mn-lt"/>
                <a:ea typeface="+mn-ea"/>
                <a:cs typeface="+mn-cs"/>
              </a:rPr>
              <a:t>For instance, you could write a query to find all books by a particular author or to list all books checked out by a specific borrower.</a:t>
            </a:r>
          </a:p>
          <a:p>
            <a:r>
              <a:rPr lang="en-US" sz="1200" b="1" i="0" kern="1200" dirty="0" smtClean="0">
                <a:solidFill>
                  <a:schemeClr val="tx1"/>
                </a:solidFill>
                <a:effectLst/>
                <a:latin typeface="+mn-lt"/>
                <a:ea typeface="+mn-ea"/>
                <a:cs typeface="+mn-cs"/>
              </a:rPr>
              <a:t>Advantages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Structured Data</a:t>
            </a:r>
            <a:r>
              <a:rPr lang="en-US" sz="1200" b="0" i="0" kern="1200" dirty="0" smtClean="0">
                <a:solidFill>
                  <a:schemeClr val="tx1"/>
                </a:solidFill>
                <a:effectLst/>
                <a:latin typeface="+mn-lt"/>
                <a:ea typeface="+mn-ea"/>
                <a:cs typeface="+mn-cs"/>
              </a:rPr>
              <a:t>: Information is organized into well-defined tables, making it easy to understand and manage.</a:t>
            </a:r>
          </a:p>
          <a:p>
            <a:r>
              <a:rPr lang="en-US" sz="1200" b="1" i="0" kern="1200" dirty="0" smtClean="0">
                <a:solidFill>
                  <a:schemeClr val="tx1"/>
                </a:solidFill>
                <a:effectLst/>
                <a:latin typeface="+mn-lt"/>
                <a:ea typeface="+mn-ea"/>
                <a:cs typeface="+mn-cs"/>
              </a:rPr>
              <a:t>Flexible Queries</a:t>
            </a:r>
            <a:r>
              <a:rPr lang="en-US" sz="1200" b="0" i="0" kern="1200" dirty="0" smtClean="0">
                <a:solidFill>
                  <a:schemeClr val="tx1"/>
                </a:solidFill>
                <a:effectLst/>
                <a:latin typeface="+mn-lt"/>
                <a:ea typeface="+mn-ea"/>
                <a:cs typeface="+mn-cs"/>
              </a:rPr>
              <a:t>: SQL allows you to retrieve and manipulate data in various ways, providing flexibility in data analysis.</a:t>
            </a:r>
          </a:p>
          <a:p>
            <a:r>
              <a:rPr lang="en-US" sz="1200" b="1" i="0" kern="1200" dirty="0" smtClean="0">
                <a:solidFill>
                  <a:schemeClr val="tx1"/>
                </a:solidFill>
                <a:effectLst/>
                <a:latin typeface="+mn-lt"/>
                <a:ea typeface="+mn-ea"/>
                <a:cs typeface="+mn-cs"/>
              </a:rPr>
              <a:t>Data Integrity</a:t>
            </a:r>
            <a:r>
              <a:rPr lang="en-US" sz="1200" b="0" i="0" kern="1200" dirty="0" smtClean="0">
                <a:solidFill>
                  <a:schemeClr val="tx1"/>
                </a:solidFill>
                <a:effectLst/>
                <a:latin typeface="+mn-lt"/>
                <a:ea typeface="+mn-ea"/>
                <a:cs typeface="+mn-cs"/>
              </a:rPr>
              <a:t>: Constraints ensure that data remains consistent and accurate.</a:t>
            </a:r>
          </a:p>
          <a:p>
            <a:r>
              <a:rPr lang="en-US" sz="1200" b="1" i="0" kern="1200" dirty="0" smtClean="0">
                <a:solidFill>
                  <a:schemeClr val="tx1"/>
                </a:solidFill>
                <a:effectLst/>
                <a:latin typeface="+mn-lt"/>
                <a:ea typeface="+mn-ea"/>
                <a:cs typeface="+mn-cs"/>
              </a:rPr>
              <a:t>Disadvantages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Complexity</a:t>
            </a:r>
            <a:r>
              <a:rPr lang="en-US" sz="1200" b="0" i="0" kern="1200" dirty="0" smtClean="0">
                <a:solidFill>
                  <a:schemeClr val="tx1"/>
                </a:solidFill>
                <a:effectLst/>
                <a:latin typeface="+mn-lt"/>
                <a:ea typeface="+mn-ea"/>
                <a:cs typeface="+mn-cs"/>
              </a:rPr>
              <a:t>: Understanding and designing relational databases can be complex, especially for beginners.</a:t>
            </a:r>
          </a:p>
          <a:p>
            <a:r>
              <a:rPr lang="en-US" sz="1200" b="1" i="0" kern="1200" dirty="0" smtClean="0">
                <a:solidFill>
                  <a:schemeClr val="tx1"/>
                </a:solidFill>
                <a:effectLst/>
                <a:latin typeface="+mn-lt"/>
                <a:ea typeface="+mn-ea"/>
                <a:cs typeface="+mn-cs"/>
              </a:rPr>
              <a:t>Performance</a:t>
            </a:r>
            <a:r>
              <a:rPr lang="en-US" sz="1200" b="0" i="0" kern="1200" dirty="0" smtClean="0">
                <a:solidFill>
                  <a:schemeClr val="tx1"/>
                </a:solidFill>
                <a:effectLst/>
                <a:latin typeface="+mn-lt"/>
                <a:ea typeface="+mn-ea"/>
                <a:cs typeface="+mn-cs"/>
              </a:rPr>
              <a:t>: Poorly optimized queries or large datasets can impact performance.</a:t>
            </a:r>
          </a:p>
          <a:p>
            <a:r>
              <a:rPr lang="en-US" sz="1200" b="0" i="0" kern="1200" dirty="0" smtClean="0">
                <a:solidFill>
                  <a:schemeClr val="tx1"/>
                </a:solidFill>
                <a:effectLst/>
                <a:latin typeface="+mn-lt"/>
                <a:ea typeface="+mn-ea"/>
                <a:cs typeface="+mn-cs"/>
              </a:rPr>
              <a:t>In summary, the relational database model organizes data into tables with defined relationships, enabling efficient storage, retrieval, and manipulation of information. The library system example demonstrates how this model can be applied to manage different types of data and their relationships effectively.</a:t>
            </a:r>
          </a:p>
          <a:p>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9</a:t>
            </a:fld>
            <a:endParaRPr lang="en-AU"/>
          </a:p>
        </p:txBody>
      </p:sp>
    </p:spTree>
    <p:extLst>
      <p:ext uri="{BB962C8B-B14F-4D97-AF65-F5344CB8AC3E}">
        <p14:creationId xmlns:p14="http://schemas.microsoft.com/office/powerpoint/2010/main" val="2689842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Entity-Relationship (ER) model is a way of representing real-world scenarios in a visual and structured format. It helps to design databases by identifying the entities (things of interest) and their relationships. Let's break it down with a simple example:</a:t>
            </a:r>
          </a:p>
          <a:p>
            <a:r>
              <a:rPr lang="en-US" sz="1200" b="1" i="0" kern="1200" dirty="0" smtClean="0">
                <a:solidFill>
                  <a:schemeClr val="tx1"/>
                </a:solidFill>
                <a:effectLst/>
                <a:latin typeface="+mn-lt"/>
                <a:ea typeface="+mn-ea"/>
                <a:cs typeface="+mn-cs"/>
              </a:rPr>
              <a:t>Entity-Relationship Model Explained with a Library Example: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Imagine you're designing a database for a library. Here's how the ER model works in this context:</a:t>
            </a:r>
          </a:p>
          <a:p>
            <a:r>
              <a:rPr lang="en-US" sz="1200" b="1" i="0" kern="1200" dirty="0" smtClean="0">
                <a:solidFill>
                  <a:schemeClr val="tx1"/>
                </a:solidFill>
                <a:effectLst/>
                <a:latin typeface="+mn-lt"/>
                <a:ea typeface="+mn-ea"/>
                <a:cs typeface="+mn-cs"/>
              </a:rPr>
              <a:t>Entities</a:t>
            </a:r>
            <a:r>
              <a:rPr lang="en-US" sz="1200" b="0" i="0" kern="1200" dirty="0" smtClean="0">
                <a:solidFill>
                  <a:schemeClr val="tx1"/>
                </a:solidFill>
                <a:effectLst/>
                <a:latin typeface="+mn-lt"/>
                <a:ea typeface="+mn-ea"/>
                <a:cs typeface="+mn-cs"/>
              </a:rPr>
              <a:t>:</a:t>
            </a:r>
          </a:p>
          <a:p>
            <a:pPr lvl="1"/>
            <a:r>
              <a:rPr lang="en-US" sz="1200" b="1" i="0" kern="1200" dirty="0" smtClean="0">
                <a:solidFill>
                  <a:schemeClr val="tx1"/>
                </a:solidFill>
                <a:effectLst/>
                <a:latin typeface="+mn-lt"/>
                <a:ea typeface="+mn-ea"/>
                <a:cs typeface="+mn-cs"/>
              </a:rPr>
              <a:t>Book</a:t>
            </a:r>
            <a:r>
              <a:rPr lang="en-US" sz="1200" b="0" i="0" kern="1200" dirty="0" smtClean="0">
                <a:solidFill>
                  <a:schemeClr val="tx1"/>
                </a:solidFill>
                <a:effectLst/>
                <a:latin typeface="+mn-lt"/>
                <a:ea typeface="+mn-ea"/>
                <a:cs typeface="+mn-cs"/>
              </a:rPr>
              <a:t>: An entity representing the books in the library. It might have attributes like Title, ISBN, and Publication Year.</a:t>
            </a:r>
          </a:p>
          <a:p>
            <a:pPr lvl="1"/>
            <a:r>
              <a:rPr lang="en-US" sz="1200" b="1" i="0" kern="1200" dirty="0" smtClean="0">
                <a:solidFill>
                  <a:schemeClr val="tx1"/>
                </a:solidFill>
                <a:effectLst/>
                <a:latin typeface="+mn-lt"/>
                <a:ea typeface="+mn-ea"/>
                <a:cs typeface="+mn-cs"/>
              </a:rPr>
              <a:t>Author</a:t>
            </a:r>
            <a:r>
              <a:rPr lang="en-US" sz="1200" b="0" i="0" kern="1200" dirty="0" smtClean="0">
                <a:solidFill>
                  <a:schemeClr val="tx1"/>
                </a:solidFill>
                <a:effectLst/>
                <a:latin typeface="+mn-lt"/>
                <a:ea typeface="+mn-ea"/>
                <a:cs typeface="+mn-cs"/>
              </a:rPr>
              <a:t>: An entity representing authors. It might have attributes like Name, Birthdate, and Nationality.</a:t>
            </a:r>
          </a:p>
          <a:p>
            <a:pPr lvl="1"/>
            <a:r>
              <a:rPr lang="en-US" sz="1200" b="1" i="0" kern="1200" dirty="0" smtClean="0">
                <a:solidFill>
                  <a:schemeClr val="tx1"/>
                </a:solidFill>
                <a:effectLst/>
                <a:latin typeface="+mn-lt"/>
                <a:ea typeface="+mn-ea"/>
                <a:cs typeface="+mn-cs"/>
              </a:rPr>
              <a:t>Borrower</a:t>
            </a:r>
            <a:r>
              <a:rPr lang="en-US" sz="1200" b="0" i="0" kern="1200" dirty="0" smtClean="0">
                <a:solidFill>
                  <a:schemeClr val="tx1"/>
                </a:solidFill>
                <a:effectLst/>
                <a:latin typeface="+mn-lt"/>
                <a:ea typeface="+mn-ea"/>
                <a:cs typeface="+mn-cs"/>
              </a:rPr>
              <a:t>: An entity representing the people borrowing books from the library. It might have attributes like Name, Address, and Member ID.</a:t>
            </a:r>
          </a:p>
          <a:p>
            <a:r>
              <a:rPr lang="en-US" sz="1200" b="1" i="0" kern="1200" dirty="0" smtClean="0">
                <a:solidFill>
                  <a:schemeClr val="tx1"/>
                </a:solidFill>
                <a:effectLst/>
                <a:latin typeface="+mn-lt"/>
                <a:ea typeface="+mn-ea"/>
                <a:cs typeface="+mn-cs"/>
              </a:rPr>
              <a:t>Relationships</a:t>
            </a:r>
            <a:r>
              <a:rPr lang="en-US" sz="1200" b="0" i="0" kern="1200" dirty="0" smtClean="0">
                <a:solidFill>
                  <a:schemeClr val="tx1"/>
                </a:solidFill>
                <a:effectLst/>
                <a:latin typeface="+mn-lt"/>
                <a:ea typeface="+mn-ea"/>
                <a:cs typeface="+mn-cs"/>
              </a:rPr>
              <a:t>:</a:t>
            </a:r>
          </a:p>
          <a:p>
            <a:pPr lvl="1"/>
            <a:r>
              <a:rPr lang="en-US" sz="1200" b="1" i="0" kern="1200" dirty="0" smtClean="0">
                <a:solidFill>
                  <a:schemeClr val="tx1"/>
                </a:solidFill>
                <a:effectLst/>
                <a:latin typeface="+mn-lt"/>
                <a:ea typeface="+mn-ea"/>
                <a:cs typeface="+mn-cs"/>
              </a:rPr>
              <a:t>Book-Author Relationship</a:t>
            </a:r>
            <a:r>
              <a:rPr lang="en-US" sz="1200" b="0" i="0" kern="1200" dirty="0" smtClean="0">
                <a:solidFill>
                  <a:schemeClr val="tx1"/>
                </a:solidFill>
                <a:effectLst/>
                <a:latin typeface="+mn-lt"/>
                <a:ea typeface="+mn-ea"/>
                <a:cs typeface="+mn-cs"/>
              </a:rPr>
              <a:t>: There is a relationship between books and authors because each book is typically written by one or more authors. This is a one-to-many relationship (one book can have multiple authors, but each author can write multiple books).</a:t>
            </a:r>
          </a:p>
          <a:p>
            <a:pPr lvl="1"/>
            <a:r>
              <a:rPr lang="en-US" sz="1200" b="1" i="0" kern="1200" dirty="0" smtClean="0">
                <a:solidFill>
                  <a:schemeClr val="tx1"/>
                </a:solidFill>
                <a:effectLst/>
                <a:latin typeface="+mn-lt"/>
                <a:ea typeface="+mn-ea"/>
                <a:cs typeface="+mn-cs"/>
              </a:rPr>
              <a:t>Book-Borrower Relationship</a:t>
            </a:r>
            <a:r>
              <a:rPr lang="en-US" sz="1200" b="0" i="0" kern="1200" dirty="0" smtClean="0">
                <a:solidFill>
                  <a:schemeClr val="tx1"/>
                </a:solidFill>
                <a:effectLst/>
                <a:latin typeface="+mn-lt"/>
                <a:ea typeface="+mn-ea"/>
                <a:cs typeface="+mn-cs"/>
              </a:rPr>
              <a:t>: There is a relationship between books and borrowers because books are borrowed by library members. This is also a one-to-many relationship (one book can be borrowed by multiple borrowers, but each borrower can borrow multiple books).</a:t>
            </a:r>
          </a:p>
          <a:p>
            <a:r>
              <a:rPr lang="en-US" sz="1200" b="1" i="0" kern="1200" dirty="0" smtClean="0">
                <a:solidFill>
                  <a:schemeClr val="tx1"/>
                </a:solidFill>
                <a:effectLst/>
                <a:latin typeface="+mn-lt"/>
                <a:ea typeface="+mn-ea"/>
                <a:cs typeface="+mn-cs"/>
              </a:rPr>
              <a:t>Attributes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Attributes describe the properties or characteristics of each entity. For example, the Book entity might have attributes like Title, ISBN, and Publication Year.</a:t>
            </a:r>
          </a:p>
          <a:p>
            <a:r>
              <a:rPr lang="en-US" sz="1200" b="1" i="0" kern="1200" dirty="0" smtClean="0">
                <a:solidFill>
                  <a:schemeClr val="tx1"/>
                </a:solidFill>
                <a:effectLst/>
                <a:latin typeface="+mn-lt"/>
                <a:ea typeface="+mn-ea"/>
                <a:cs typeface="+mn-cs"/>
              </a:rPr>
              <a:t>ER Diagram</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An ER diagram visually represents the entities, their attributes, and the relationships between them. It uses symbols like rectangles for entities, diamonds for relationships, and lines to connect them.</a:t>
            </a:r>
          </a:p>
          <a:p>
            <a:r>
              <a:rPr lang="en-US" sz="1200" b="0" i="0" kern="1200" dirty="0" smtClean="0">
                <a:solidFill>
                  <a:schemeClr val="tx1"/>
                </a:solidFill>
                <a:effectLst/>
                <a:latin typeface="+mn-lt"/>
                <a:ea typeface="+mn-ea"/>
                <a:cs typeface="+mn-cs"/>
              </a:rPr>
              <a:t>A dimensional model is a way of organizing data in a database that's specifically optimized for data analysis and reporting. It's designed to make it easy for users to query and analyze data, particularly for business intelligence (BI) purposes. Let's break it down in simple terms with an easy example:</a:t>
            </a:r>
          </a:p>
          <a:p>
            <a:r>
              <a:rPr lang="en-US" sz="1200" b="1" i="0" kern="1200" dirty="0" smtClean="0">
                <a:solidFill>
                  <a:schemeClr val="tx1"/>
                </a:solidFill>
                <a:effectLst/>
                <a:latin typeface="+mn-lt"/>
                <a:ea typeface="+mn-ea"/>
                <a:cs typeface="+mn-cs"/>
              </a:rPr>
              <a:t>Dimensional Model Explained with a Sales Data Example: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Imagine you're managing sales data for a retail store. Here's how the dimensional model works in this context:</a:t>
            </a:r>
          </a:p>
          <a:p>
            <a:r>
              <a:rPr lang="en-US" sz="1200" b="1" i="0" kern="1200" dirty="0" smtClean="0">
                <a:solidFill>
                  <a:schemeClr val="tx1"/>
                </a:solidFill>
                <a:effectLst/>
                <a:latin typeface="+mn-lt"/>
                <a:ea typeface="+mn-ea"/>
                <a:cs typeface="+mn-cs"/>
              </a:rPr>
              <a:t>Fact Table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Think of the fact table as the centerpiece of your dimensional model. It contains quantitative data or "facts" about your business transactions or events.</a:t>
            </a:r>
          </a:p>
          <a:p>
            <a:pPr lvl="1"/>
            <a:r>
              <a:rPr lang="en-US" sz="1200" b="0" i="0" kern="1200" dirty="0" smtClean="0">
                <a:solidFill>
                  <a:schemeClr val="tx1"/>
                </a:solidFill>
                <a:effectLst/>
                <a:latin typeface="+mn-lt"/>
                <a:ea typeface="+mn-ea"/>
                <a:cs typeface="+mn-cs"/>
              </a:rPr>
              <a:t>In our sales example, the fact table might include data such as sales amount, quantity sold, and discounts applied.</a:t>
            </a:r>
          </a:p>
          <a:p>
            <a:r>
              <a:rPr lang="en-US" sz="1200" b="1" i="0" kern="1200" dirty="0" smtClean="0">
                <a:solidFill>
                  <a:schemeClr val="tx1"/>
                </a:solidFill>
                <a:effectLst/>
                <a:latin typeface="+mn-lt"/>
                <a:ea typeface="+mn-ea"/>
                <a:cs typeface="+mn-cs"/>
              </a:rPr>
              <a:t>Dimension Tables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Dimension tables provide context to the data in the fact table. They contain descriptive attributes that help categorize and provide context to the facts.</a:t>
            </a:r>
          </a:p>
          <a:p>
            <a:pPr lvl="1"/>
            <a:r>
              <a:rPr lang="en-US" sz="1200" b="0" i="0" kern="1200" dirty="0" smtClean="0">
                <a:solidFill>
                  <a:schemeClr val="tx1"/>
                </a:solidFill>
                <a:effectLst/>
                <a:latin typeface="+mn-lt"/>
                <a:ea typeface="+mn-ea"/>
                <a:cs typeface="+mn-cs"/>
              </a:rPr>
              <a:t>For our sales example, dimension tables might include:</a:t>
            </a:r>
          </a:p>
          <a:p>
            <a:pPr lvl="2"/>
            <a:r>
              <a:rPr lang="en-US" sz="1200" b="1" i="0" kern="1200" dirty="0" smtClean="0">
                <a:solidFill>
                  <a:schemeClr val="tx1"/>
                </a:solidFill>
                <a:effectLst/>
                <a:latin typeface="+mn-lt"/>
                <a:ea typeface="+mn-ea"/>
                <a:cs typeface="+mn-cs"/>
              </a:rPr>
              <a:t>Product Dimension</a:t>
            </a:r>
            <a:r>
              <a:rPr lang="en-US" sz="1200" b="0" i="0" kern="1200" dirty="0" smtClean="0">
                <a:solidFill>
                  <a:schemeClr val="tx1"/>
                </a:solidFill>
                <a:effectLst/>
                <a:latin typeface="+mn-lt"/>
                <a:ea typeface="+mn-ea"/>
                <a:cs typeface="+mn-cs"/>
              </a:rPr>
              <a:t>: Contains attributes like product name, category, and brand.</a:t>
            </a:r>
          </a:p>
          <a:p>
            <a:pPr lvl="2"/>
            <a:r>
              <a:rPr lang="en-US" sz="1200" b="1" i="0" kern="1200" dirty="0" smtClean="0">
                <a:solidFill>
                  <a:schemeClr val="tx1"/>
                </a:solidFill>
                <a:effectLst/>
                <a:latin typeface="+mn-lt"/>
                <a:ea typeface="+mn-ea"/>
                <a:cs typeface="+mn-cs"/>
              </a:rPr>
              <a:t>Time Dimension</a:t>
            </a:r>
            <a:r>
              <a:rPr lang="en-US" sz="1200" b="0" i="0" kern="1200" dirty="0" smtClean="0">
                <a:solidFill>
                  <a:schemeClr val="tx1"/>
                </a:solidFill>
                <a:effectLst/>
                <a:latin typeface="+mn-lt"/>
                <a:ea typeface="+mn-ea"/>
                <a:cs typeface="+mn-cs"/>
              </a:rPr>
              <a:t>: Contains attributes like date, month, quarter, and year.</a:t>
            </a:r>
          </a:p>
          <a:p>
            <a:pPr lvl="2"/>
            <a:r>
              <a:rPr lang="en-US" sz="1200" b="1" i="0" kern="1200" dirty="0" smtClean="0">
                <a:solidFill>
                  <a:schemeClr val="tx1"/>
                </a:solidFill>
                <a:effectLst/>
                <a:latin typeface="+mn-lt"/>
                <a:ea typeface="+mn-ea"/>
                <a:cs typeface="+mn-cs"/>
              </a:rPr>
              <a:t>Store Dimension</a:t>
            </a:r>
            <a:r>
              <a:rPr lang="en-US" sz="1200" b="0" i="0" kern="1200" dirty="0" smtClean="0">
                <a:solidFill>
                  <a:schemeClr val="tx1"/>
                </a:solidFill>
                <a:effectLst/>
                <a:latin typeface="+mn-lt"/>
                <a:ea typeface="+mn-ea"/>
                <a:cs typeface="+mn-cs"/>
              </a:rPr>
              <a:t>: Contains attributes like store name, location, and manager.</a:t>
            </a:r>
          </a:p>
          <a:p>
            <a:pPr lvl="2"/>
            <a:r>
              <a:rPr lang="en-US" sz="1200" b="1" i="0" kern="1200" dirty="0" smtClean="0">
                <a:solidFill>
                  <a:schemeClr val="tx1"/>
                </a:solidFill>
                <a:effectLst/>
                <a:latin typeface="+mn-lt"/>
                <a:ea typeface="+mn-ea"/>
                <a:cs typeface="+mn-cs"/>
              </a:rPr>
              <a:t>Customer Dimension</a:t>
            </a:r>
            <a:r>
              <a:rPr lang="en-US" sz="1200" b="0" i="0" kern="1200" dirty="0" smtClean="0">
                <a:solidFill>
                  <a:schemeClr val="tx1"/>
                </a:solidFill>
                <a:effectLst/>
                <a:latin typeface="+mn-lt"/>
                <a:ea typeface="+mn-ea"/>
                <a:cs typeface="+mn-cs"/>
              </a:rPr>
              <a:t>: Contains attributes like customer name, age, and location.</a:t>
            </a:r>
          </a:p>
          <a:p>
            <a:r>
              <a:rPr lang="en-US" sz="1200" b="1" i="0" kern="1200" dirty="0" smtClean="0">
                <a:solidFill>
                  <a:schemeClr val="tx1"/>
                </a:solidFill>
                <a:effectLst/>
                <a:latin typeface="+mn-lt"/>
                <a:ea typeface="+mn-ea"/>
                <a:cs typeface="+mn-cs"/>
              </a:rPr>
              <a:t>Relationships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Dimension tables are related to the fact table through keys. For example:</a:t>
            </a:r>
          </a:p>
          <a:p>
            <a:pPr lvl="2"/>
            <a:r>
              <a:rPr lang="en-US" sz="1200" b="0" i="0" kern="1200" dirty="0" smtClean="0">
                <a:solidFill>
                  <a:schemeClr val="tx1"/>
                </a:solidFill>
                <a:effectLst/>
                <a:latin typeface="+mn-lt"/>
                <a:ea typeface="+mn-ea"/>
                <a:cs typeface="+mn-cs"/>
              </a:rPr>
              <a:t>Each row in the fact table might have foreign keys linking to specific rows in the dimension tables.</a:t>
            </a:r>
          </a:p>
          <a:p>
            <a:pPr lvl="2"/>
            <a:r>
              <a:rPr lang="en-US" sz="1200" b="0" i="0" kern="1200" dirty="0" smtClean="0">
                <a:solidFill>
                  <a:schemeClr val="tx1"/>
                </a:solidFill>
                <a:effectLst/>
                <a:latin typeface="+mn-lt"/>
                <a:ea typeface="+mn-ea"/>
                <a:cs typeface="+mn-cs"/>
              </a:rPr>
              <a:t>These keys establish relationships between the fact table (containing sales data) and the dimension tables (providing context).</a:t>
            </a:r>
          </a:p>
          <a:p>
            <a:r>
              <a:rPr lang="en-US" sz="1200" b="1" i="0" kern="1200" dirty="0" smtClean="0">
                <a:solidFill>
                  <a:schemeClr val="tx1"/>
                </a:solidFill>
                <a:effectLst/>
                <a:latin typeface="+mn-lt"/>
                <a:ea typeface="+mn-ea"/>
                <a:cs typeface="+mn-cs"/>
              </a:rPr>
              <a:t>Object-Oriented Database Model Explained with a Zoo Example: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Imagine you're designing a database for a zoo. Here's how the object-oriented database model works in this context:</a:t>
            </a:r>
          </a:p>
          <a:p>
            <a:r>
              <a:rPr lang="en-US" sz="1200" b="1" i="0" kern="1200" dirty="0" smtClean="0">
                <a:solidFill>
                  <a:schemeClr val="tx1"/>
                </a:solidFill>
                <a:effectLst/>
                <a:latin typeface="+mn-lt"/>
                <a:ea typeface="+mn-ea"/>
                <a:cs typeface="+mn-cs"/>
              </a:rPr>
              <a:t>Objects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In the object-oriented database model, data is represented as objects. Each object encapsulates both data (attributes) and behavior (methods).</a:t>
            </a:r>
          </a:p>
          <a:p>
            <a:pPr lvl="1"/>
            <a:r>
              <a:rPr lang="en-US" sz="1200" b="0" i="0" kern="1200" dirty="0" smtClean="0">
                <a:solidFill>
                  <a:schemeClr val="tx1"/>
                </a:solidFill>
                <a:effectLst/>
                <a:latin typeface="+mn-lt"/>
                <a:ea typeface="+mn-ea"/>
                <a:cs typeface="+mn-cs"/>
              </a:rPr>
              <a:t>For our zoo example, you might have objects representing animals, enclosures, and zookeepers.</a:t>
            </a:r>
          </a:p>
          <a:p>
            <a:r>
              <a:rPr lang="en-US" sz="1200" b="1" i="0" kern="1200" dirty="0" smtClean="0">
                <a:solidFill>
                  <a:schemeClr val="tx1"/>
                </a:solidFill>
                <a:effectLst/>
                <a:latin typeface="+mn-lt"/>
                <a:ea typeface="+mn-ea"/>
                <a:cs typeface="+mn-cs"/>
              </a:rPr>
              <a:t>Classes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Classes define the structure and behavior of objects. They serve as blueprints for creating objects.</a:t>
            </a:r>
          </a:p>
          <a:p>
            <a:pPr lvl="1"/>
            <a:r>
              <a:rPr lang="en-US" sz="1200" b="0" i="0" kern="1200" dirty="0" smtClean="0">
                <a:solidFill>
                  <a:schemeClr val="tx1"/>
                </a:solidFill>
                <a:effectLst/>
                <a:latin typeface="+mn-lt"/>
                <a:ea typeface="+mn-ea"/>
                <a:cs typeface="+mn-cs"/>
              </a:rPr>
              <a:t>In our zoo example, you might have classes like Animal, Enclosure, and Zookeeper, each with its own attributes and methods.</a:t>
            </a:r>
          </a:p>
          <a:p>
            <a:pPr lvl="1"/>
            <a:r>
              <a:rPr lang="en-US" sz="1200" b="0" i="0" kern="1200" dirty="0" smtClean="0">
                <a:solidFill>
                  <a:schemeClr val="tx1"/>
                </a:solidFill>
                <a:effectLst/>
                <a:latin typeface="+mn-lt"/>
                <a:ea typeface="+mn-ea"/>
                <a:cs typeface="+mn-cs"/>
              </a:rPr>
              <a:t>For example, the Animal class might have attributes like species, age, and gender, along with methods like feed() and </a:t>
            </a:r>
            <a:r>
              <a:rPr lang="en-US" sz="1200" b="0" i="0" kern="1200" dirty="0" err="1" smtClean="0">
                <a:solidFill>
                  <a:schemeClr val="tx1"/>
                </a:solidFill>
                <a:effectLst/>
                <a:latin typeface="+mn-lt"/>
                <a:ea typeface="+mn-ea"/>
                <a:cs typeface="+mn-cs"/>
              </a:rPr>
              <a:t>makeSound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Inheritance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Inheritance allows classes to inherit attributes and methods from other classes. It promotes code reuse and supports hierarchical relationships.</a:t>
            </a:r>
          </a:p>
          <a:p>
            <a:pPr lvl="1"/>
            <a:r>
              <a:rPr lang="en-US" sz="1200" b="0" i="0" kern="1200" dirty="0" smtClean="0">
                <a:solidFill>
                  <a:schemeClr val="tx1"/>
                </a:solidFill>
                <a:effectLst/>
                <a:latin typeface="+mn-lt"/>
                <a:ea typeface="+mn-ea"/>
                <a:cs typeface="+mn-cs"/>
              </a:rPr>
              <a:t>In our zoo example, you might have a subclass of Animal called Mammal, which inherits attributes and methods from the Animal class but adds specific characteristics of mammals.</a:t>
            </a:r>
          </a:p>
          <a:p>
            <a:r>
              <a:rPr lang="en-US" sz="1200" b="1" i="0" kern="1200" dirty="0" smtClean="0">
                <a:solidFill>
                  <a:schemeClr val="tx1"/>
                </a:solidFill>
                <a:effectLst/>
                <a:latin typeface="+mn-lt"/>
                <a:ea typeface="+mn-ea"/>
                <a:cs typeface="+mn-cs"/>
              </a:rPr>
              <a:t>Relationships</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Objects in an object-oriented database can have relationships with other objects, just like in OOP.</a:t>
            </a:r>
          </a:p>
          <a:p>
            <a:pPr lvl="1"/>
            <a:r>
              <a:rPr lang="en-US" sz="1200" b="0" i="0" kern="1200" dirty="0" smtClean="0">
                <a:solidFill>
                  <a:schemeClr val="tx1"/>
                </a:solidFill>
                <a:effectLst/>
                <a:latin typeface="+mn-lt"/>
                <a:ea typeface="+mn-ea"/>
                <a:cs typeface="+mn-cs"/>
              </a:rPr>
              <a:t>For our zoo example, you might have relationships like:</a:t>
            </a:r>
          </a:p>
          <a:p>
            <a:pPr lvl="2"/>
            <a:r>
              <a:rPr lang="en-US" sz="1200" b="0" i="0" kern="1200" dirty="0" smtClean="0">
                <a:solidFill>
                  <a:schemeClr val="tx1"/>
                </a:solidFill>
                <a:effectLst/>
                <a:latin typeface="+mn-lt"/>
                <a:ea typeface="+mn-ea"/>
                <a:cs typeface="+mn-cs"/>
              </a:rPr>
              <a:t>An animal object may be contained within an enclosure object.</a:t>
            </a:r>
          </a:p>
          <a:p>
            <a:pPr lvl="2"/>
            <a:r>
              <a:rPr lang="en-US" sz="1200" b="0" i="0" kern="1200" dirty="0" smtClean="0">
                <a:solidFill>
                  <a:schemeClr val="tx1"/>
                </a:solidFill>
                <a:effectLst/>
                <a:latin typeface="+mn-lt"/>
                <a:ea typeface="+mn-ea"/>
                <a:cs typeface="+mn-cs"/>
              </a:rPr>
              <a:t>A zookeeper object may have a caretaker relationship with multiple animal objects.</a:t>
            </a:r>
          </a:p>
          <a:p>
            <a:r>
              <a:rPr lang="en-US" sz="1200" b="1" i="0" kern="1200" dirty="0" smtClean="0">
                <a:solidFill>
                  <a:schemeClr val="tx1"/>
                </a:solidFill>
                <a:effectLst/>
                <a:latin typeface="+mn-lt"/>
                <a:ea typeface="+mn-ea"/>
                <a:cs typeface="+mn-cs"/>
              </a:rPr>
              <a:t>Advantages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Modeling Flexibility</a:t>
            </a:r>
            <a:r>
              <a:rPr lang="en-US" sz="1200" b="0" i="0" kern="1200" dirty="0" smtClean="0">
                <a:solidFill>
                  <a:schemeClr val="tx1"/>
                </a:solidFill>
                <a:effectLst/>
                <a:latin typeface="+mn-lt"/>
                <a:ea typeface="+mn-ea"/>
                <a:cs typeface="+mn-cs"/>
              </a:rPr>
              <a:t>: The object-oriented model closely mirrors real-world entities and relationships, making it intuitive to work with.</a:t>
            </a:r>
          </a:p>
          <a:p>
            <a:r>
              <a:rPr lang="en-US" sz="1200" b="1" i="0" kern="1200" dirty="0" smtClean="0">
                <a:solidFill>
                  <a:schemeClr val="tx1"/>
                </a:solidFill>
                <a:effectLst/>
                <a:latin typeface="+mn-lt"/>
                <a:ea typeface="+mn-ea"/>
                <a:cs typeface="+mn-cs"/>
              </a:rPr>
              <a:t>Code Reusability</a:t>
            </a:r>
            <a:r>
              <a:rPr lang="en-US" sz="1200" b="0" i="0" kern="1200" dirty="0" smtClean="0">
                <a:solidFill>
                  <a:schemeClr val="tx1"/>
                </a:solidFill>
                <a:effectLst/>
                <a:latin typeface="+mn-lt"/>
                <a:ea typeface="+mn-ea"/>
                <a:cs typeface="+mn-cs"/>
              </a:rPr>
              <a:t>: Inheritance and encapsulation promote code reuse and maintainability.</a:t>
            </a:r>
          </a:p>
          <a:p>
            <a:r>
              <a:rPr lang="en-US" sz="1200" b="1" i="0" kern="1200" dirty="0" smtClean="0">
                <a:solidFill>
                  <a:schemeClr val="tx1"/>
                </a:solidFill>
                <a:effectLst/>
                <a:latin typeface="+mn-lt"/>
                <a:ea typeface="+mn-ea"/>
                <a:cs typeface="+mn-cs"/>
              </a:rPr>
              <a:t>Complex Relationships</a:t>
            </a:r>
            <a:r>
              <a:rPr lang="en-US" sz="1200" b="0" i="0" kern="1200" dirty="0" smtClean="0">
                <a:solidFill>
                  <a:schemeClr val="tx1"/>
                </a:solidFill>
                <a:effectLst/>
                <a:latin typeface="+mn-lt"/>
                <a:ea typeface="+mn-ea"/>
                <a:cs typeface="+mn-cs"/>
              </a:rPr>
              <a:t>: Supports complex relationships between objects, facilitating more sophisticated data modeling.</a:t>
            </a:r>
          </a:p>
          <a:p>
            <a:r>
              <a:rPr lang="en-US" sz="1200" b="1" i="0" kern="1200" dirty="0" smtClean="0">
                <a:solidFill>
                  <a:schemeClr val="tx1"/>
                </a:solidFill>
                <a:effectLst/>
                <a:latin typeface="+mn-lt"/>
                <a:ea typeface="+mn-ea"/>
                <a:cs typeface="+mn-cs"/>
              </a:rPr>
              <a:t>Disadvantages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Complexity</a:t>
            </a:r>
            <a:r>
              <a:rPr lang="en-US" sz="1200" b="0" i="0" kern="1200" dirty="0" smtClean="0">
                <a:solidFill>
                  <a:schemeClr val="tx1"/>
                </a:solidFill>
                <a:effectLst/>
                <a:latin typeface="+mn-lt"/>
                <a:ea typeface="+mn-ea"/>
                <a:cs typeface="+mn-cs"/>
              </a:rPr>
              <a:t>: Implementing and managing an object-oriented database can be more complex than other models, especially for large-scale applications.</a:t>
            </a:r>
          </a:p>
          <a:p>
            <a:r>
              <a:rPr lang="en-US" sz="1200" b="1" i="0" kern="1200" dirty="0" smtClean="0">
                <a:solidFill>
                  <a:schemeClr val="tx1"/>
                </a:solidFill>
                <a:effectLst/>
                <a:latin typeface="+mn-lt"/>
                <a:ea typeface="+mn-ea"/>
                <a:cs typeface="+mn-cs"/>
              </a:rPr>
              <a:t>Performance</a:t>
            </a:r>
            <a:r>
              <a:rPr lang="en-US" sz="1200" b="0" i="0" kern="1200" dirty="0" smtClean="0">
                <a:solidFill>
                  <a:schemeClr val="tx1"/>
                </a:solidFill>
                <a:effectLst/>
                <a:latin typeface="+mn-lt"/>
                <a:ea typeface="+mn-ea"/>
                <a:cs typeface="+mn-cs"/>
              </a:rPr>
              <a:t>: Object-oriented databases may not always offer optimal performance for certain types of queries and operations.</a:t>
            </a:r>
          </a:p>
          <a:p>
            <a:r>
              <a:rPr lang="en-US" sz="1200" b="0" i="0" kern="1200" dirty="0" smtClean="0">
                <a:solidFill>
                  <a:schemeClr val="tx1"/>
                </a:solidFill>
                <a:effectLst/>
                <a:latin typeface="+mn-lt"/>
                <a:ea typeface="+mn-ea"/>
                <a:cs typeface="+mn-cs"/>
              </a:rPr>
              <a:t>In summary, the object-oriented database model represents data as objects with attributes and methods, providing a flexible and intuitive way to organize and manage complex data structures. In our zoo example, it helps to model animals, enclosures, and zookeepers as objects with relationships and behaviors, facilitating efficient management of zoo operations.</a:t>
            </a:r>
          </a:p>
          <a:p>
            <a:pPr lvl="1"/>
            <a:endParaRPr lang="en-US" sz="1200" b="0" i="0" kern="1200" dirty="0" smtClean="0">
              <a:solidFill>
                <a:schemeClr val="tx1"/>
              </a:solidFill>
              <a:effectLst/>
              <a:latin typeface="+mn-lt"/>
              <a:ea typeface="+mn-ea"/>
              <a:cs typeface="+mn-cs"/>
            </a:endParaRPr>
          </a:p>
          <a:p>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10</a:t>
            </a:fld>
            <a:endParaRPr lang="en-AU"/>
          </a:p>
        </p:txBody>
      </p:sp>
    </p:spTree>
    <p:extLst>
      <p:ext uri="{BB962C8B-B14F-4D97-AF65-F5344CB8AC3E}">
        <p14:creationId xmlns:p14="http://schemas.microsoft.com/office/powerpoint/2010/main" val="1645459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one-to-one relationship in a database refers to a relationship between two tables where each record in one table corresponds to exactly one record in the other table, and vice versa. This type of relationship is less common compared to one-to-many or many-to-many relationships but is still used in certain scenarios. Here's a real-life example to illustrate a one-to-one relationship:</a:t>
            </a:r>
          </a:p>
          <a:p>
            <a:r>
              <a:rPr lang="en-US" sz="1200" b="1" i="0" kern="1200" dirty="0" smtClean="0">
                <a:solidFill>
                  <a:schemeClr val="tx1"/>
                </a:solidFill>
                <a:effectLst/>
                <a:latin typeface="+mn-lt"/>
                <a:ea typeface="+mn-ea"/>
                <a:cs typeface="+mn-cs"/>
              </a:rPr>
              <a:t>Real-Life Example: Employee and Employee Details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Consider a scenario where you have two tables in a database: "Employee" and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Each employee has a unique identifier (</a:t>
            </a:r>
            <a:r>
              <a:rPr lang="en-US" sz="1200" b="0" i="0" kern="1200" dirty="0" err="1" smtClean="0">
                <a:solidFill>
                  <a:schemeClr val="tx1"/>
                </a:solidFill>
                <a:effectLst/>
                <a:latin typeface="+mn-lt"/>
                <a:ea typeface="+mn-ea"/>
                <a:cs typeface="+mn-cs"/>
              </a:rPr>
              <a:t>EmployeeID</a:t>
            </a:r>
            <a:r>
              <a:rPr lang="en-US" sz="1200" b="0" i="0" kern="1200" dirty="0" smtClean="0">
                <a:solidFill>
                  <a:schemeClr val="tx1"/>
                </a:solidFill>
                <a:effectLst/>
                <a:latin typeface="+mn-lt"/>
                <a:ea typeface="+mn-ea"/>
                <a:cs typeface="+mn-cs"/>
              </a:rPr>
              <a:t>), and you want to store additional details about each employee in a separate table.</a:t>
            </a:r>
          </a:p>
          <a:p>
            <a:r>
              <a:rPr lang="en-US" sz="1200" b="1" i="0" kern="1200" dirty="0" smtClean="0">
                <a:solidFill>
                  <a:schemeClr val="tx1"/>
                </a:solidFill>
                <a:effectLst/>
                <a:latin typeface="+mn-lt"/>
                <a:ea typeface="+mn-ea"/>
                <a:cs typeface="+mn-cs"/>
              </a:rPr>
              <a:t>Employee Table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This table contains basic information about each employee, such as their name, department, and job title.</a:t>
            </a:r>
          </a:p>
          <a:p>
            <a:pPr lvl="1"/>
            <a:r>
              <a:rPr lang="en-US" sz="1200" b="0" i="0" kern="1200" dirty="0" smtClean="0">
                <a:solidFill>
                  <a:schemeClr val="tx1"/>
                </a:solidFill>
                <a:effectLst/>
                <a:latin typeface="+mn-lt"/>
                <a:ea typeface="+mn-ea"/>
                <a:cs typeface="+mn-cs"/>
              </a:rPr>
              <a:t>Example columns: </a:t>
            </a:r>
            <a:r>
              <a:rPr lang="en-US" sz="1200" b="0" i="0" kern="1200" dirty="0" err="1" smtClean="0">
                <a:solidFill>
                  <a:schemeClr val="tx1"/>
                </a:solidFill>
                <a:effectLst/>
                <a:latin typeface="+mn-lt"/>
                <a:ea typeface="+mn-ea"/>
                <a:cs typeface="+mn-cs"/>
              </a:rPr>
              <a:t>EmployeeID</a:t>
            </a:r>
            <a:r>
              <a:rPr lang="en-US" sz="1200" b="0" i="0" kern="1200" dirty="0" smtClean="0">
                <a:solidFill>
                  <a:schemeClr val="tx1"/>
                </a:solidFill>
                <a:effectLst/>
                <a:latin typeface="+mn-lt"/>
                <a:ea typeface="+mn-ea"/>
                <a:cs typeface="+mn-cs"/>
              </a:rPr>
              <a:t> (Primary Key), </a:t>
            </a:r>
            <a:r>
              <a:rPr lang="en-US" sz="1200" b="0" i="0" kern="1200" dirty="0" err="1" smtClean="0">
                <a:solidFill>
                  <a:schemeClr val="tx1"/>
                </a:solidFill>
                <a:effectLst/>
                <a:latin typeface="+mn-lt"/>
                <a:ea typeface="+mn-ea"/>
                <a:cs typeface="+mn-cs"/>
              </a:rPr>
              <a:t>FirstName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LastName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DepartmentID</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JobTitle</a:t>
            </a:r>
            <a:r>
              <a:rPr lang="en-US" sz="1200" b="0" i="0" kern="1200" dirty="0" smtClean="0">
                <a:solidFill>
                  <a:schemeClr val="tx1"/>
                </a:solidFill>
                <a:effectLst/>
                <a:latin typeface="+mn-lt"/>
                <a:ea typeface="+mn-ea"/>
                <a:cs typeface="+mn-cs"/>
              </a:rPr>
              <a:t>.</a:t>
            </a:r>
          </a:p>
          <a:p>
            <a:r>
              <a:rPr lang="en-US" sz="1200" b="1" i="0" kern="1200" dirty="0" err="1" smtClean="0">
                <a:solidFill>
                  <a:schemeClr val="tx1"/>
                </a:solidFill>
                <a:effectLst/>
                <a:latin typeface="+mn-lt"/>
                <a:ea typeface="+mn-ea"/>
                <a:cs typeface="+mn-cs"/>
              </a:rPr>
              <a:t>EmployeeDetails</a:t>
            </a:r>
            <a:r>
              <a:rPr lang="en-US" sz="1200" b="1" i="0" kern="1200" dirty="0" smtClean="0">
                <a:solidFill>
                  <a:schemeClr val="tx1"/>
                </a:solidFill>
                <a:effectLst/>
                <a:latin typeface="+mn-lt"/>
                <a:ea typeface="+mn-ea"/>
                <a:cs typeface="+mn-cs"/>
              </a:rPr>
              <a:t> Table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This table stores additional details about each employee, such as their contact information, date of birth, and address.</a:t>
            </a:r>
          </a:p>
          <a:p>
            <a:pPr lvl="1"/>
            <a:r>
              <a:rPr lang="en-US" sz="1200" b="0" i="0" kern="1200" dirty="0" smtClean="0">
                <a:solidFill>
                  <a:schemeClr val="tx1"/>
                </a:solidFill>
                <a:effectLst/>
                <a:latin typeface="+mn-lt"/>
                <a:ea typeface="+mn-ea"/>
                <a:cs typeface="+mn-cs"/>
              </a:rPr>
              <a:t>Example columns: </a:t>
            </a:r>
            <a:r>
              <a:rPr lang="en-US" sz="1200" b="0" i="0" kern="1200" dirty="0" err="1" smtClean="0">
                <a:solidFill>
                  <a:schemeClr val="tx1"/>
                </a:solidFill>
                <a:effectLst/>
                <a:latin typeface="+mn-lt"/>
                <a:ea typeface="+mn-ea"/>
                <a:cs typeface="+mn-cs"/>
              </a:rPr>
              <a:t>EmployeeID</a:t>
            </a:r>
            <a:r>
              <a:rPr lang="en-US" sz="1200" b="0" i="0" kern="1200" dirty="0" smtClean="0">
                <a:solidFill>
                  <a:schemeClr val="tx1"/>
                </a:solidFill>
                <a:effectLst/>
                <a:latin typeface="+mn-lt"/>
                <a:ea typeface="+mn-ea"/>
                <a:cs typeface="+mn-cs"/>
              </a:rPr>
              <a:t> (Foreign Key), </a:t>
            </a:r>
            <a:r>
              <a:rPr lang="en-US" sz="1200" b="0" i="0" kern="1200" dirty="0" err="1" smtClean="0">
                <a:solidFill>
                  <a:schemeClr val="tx1"/>
                </a:solidFill>
                <a:effectLst/>
                <a:latin typeface="+mn-lt"/>
                <a:ea typeface="+mn-ea"/>
                <a:cs typeface="+mn-cs"/>
              </a:rPr>
              <a:t>DateOfBirth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ContactNumber</a:t>
            </a:r>
            <a:r>
              <a:rPr lang="en-US" sz="1200" b="0" i="0" kern="1200" dirty="0" smtClean="0">
                <a:solidFill>
                  <a:schemeClr val="tx1"/>
                </a:solidFill>
                <a:effectLst/>
                <a:latin typeface="+mn-lt"/>
                <a:ea typeface="+mn-ea"/>
                <a:cs typeface="+mn-cs"/>
              </a:rPr>
              <a:t>, Address.</a:t>
            </a:r>
          </a:p>
          <a:p>
            <a:r>
              <a:rPr lang="en-US" sz="1200" b="0" i="0" kern="1200" dirty="0" smtClean="0">
                <a:solidFill>
                  <a:schemeClr val="tx1"/>
                </a:solidFill>
                <a:effectLst/>
                <a:latin typeface="+mn-lt"/>
                <a:ea typeface="+mn-ea"/>
                <a:cs typeface="+mn-cs"/>
              </a:rPr>
              <a:t>In this example, each record in the "Employee" table corresponds to exactly one record in the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table, and vice versa. Each employee has a unique </a:t>
            </a:r>
            <a:r>
              <a:rPr lang="en-US" sz="1200" b="0" i="0" kern="1200" dirty="0" err="1" smtClean="0">
                <a:solidFill>
                  <a:schemeClr val="tx1"/>
                </a:solidFill>
                <a:effectLst/>
                <a:latin typeface="+mn-lt"/>
                <a:ea typeface="+mn-ea"/>
                <a:cs typeface="+mn-cs"/>
              </a:rPr>
              <a:t>EmployeeID</a:t>
            </a:r>
            <a:r>
              <a:rPr lang="en-US" sz="1200" b="0" i="0" kern="1200" dirty="0" smtClean="0">
                <a:solidFill>
                  <a:schemeClr val="tx1"/>
                </a:solidFill>
                <a:effectLst/>
                <a:latin typeface="+mn-lt"/>
                <a:ea typeface="+mn-ea"/>
                <a:cs typeface="+mn-cs"/>
              </a:rPr>
              <a:t>, which serves as the primary key in the "Employee" table and the foreign key in the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table.</a:t>
            </a:r>
          </a:p>
          <a:p>
            <a:r>
              <a:rPr lang="en-US" sz="1200" b="1" i="0" kern="1200" dirty="0" smtClean="0">
                <a:solidFill>
                  <a:schemeClr val="tx1"/>
                </a:solidFill>
                <a:effectLst/>
                <a:latin typeface="+mn-lt"/>
                <a:ea typeface="+mn-ea"/>
                <a:cs typeface="+mn-cs"/>
              </a:rPr>
              <a:t>Explanation</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Each employee has a single set of additional details stored in the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table. For example, John Smith's contact information, date of birth, and address are all stored in one record in the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table, linked to his </a:t>
            </a:r>
            <a:r>
              <a:rPr lang="en-US" sz="1200" b="0" i="0" kern="1200" dirty="0" err="1" smtClean="0">
                <a:solidFill>
                  <a:schemeClr val="tx1"/>
                </a:solidFill>
                <a:effectLst/>
                <a:latin typeface="+mn-lt"/>
                <a:ea typeface="+mn-ea"/>
                <a:cs typeface="+mn-cs"/>
              </a:rPr>
              <a:t>EmployeeID</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Similarly, each record in the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table corresponds to exactly one employee in the "Employee" table. The </a:t>
            </a:r>
            <a:r>
              <a:rPr lang="en-US" sz="1200" b="0" i="0" kern="1200" dirty="0" err="1" smtClean="0">
                <a:solidFill>
                  <a:schemeClr val="tx1"/>
                </a:solidFill>
                <a:effectLst/>
                <a:latin typeface="+mn-lt"/>
                <a:ea typeface="+mn-ea"/>
                <a:cs typeface="+mn-cs"/>
              </a:rPr>
              <a:t>EmployeeID</a:t>
            </a:r>
            <a:r>
              <a:rPr lang="en-US" sz="1200" b="0" i="0" kern="1200" dirty="0" smtClean="0">
                <a:solidFill>
                  <a:schemeClr val="tx1"/>
                </a:solidFill>
                <a:effectLst/>
                <a:latin typeface="+mn-lt"/>
                <a:ea typeface="+mn-ea"/>
                <a:cs typeface="+mn-cs"/>
              </a:rPr>
              <a:t> foreign key in the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table ensures that each set of additional details is linked to a specific employee.</a:t>
            </a:r>
          </a:p>
          <a:p>
            <a:r>
              <a:rPr lang="en-US" sz="1200" b="1" i="0" kern="1200" dirty="0" smtClean="0">
                <a:solidFill>
                  <a:schemeClr val="tx1"/>
                </a:solidFill>
                <a:effectLst/>
                <a:latin typeface="+mn-lt"/>
                <a:ea typeface="+mn-ea"/>
                <a:cs typeface="+mn-cs"/>
              </a:rPr>
              <a:t>Benefits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Normalization</a:t>
            </a:r>
            <a:r>
              <a:rPr lang="en-US" sz="1200" b="0" i="0" kern="1200" dirty="0" smtClean="0">
                <a:solidFill>
                  <a:schemeClr val="tx1"/>
                </a:solidFill>
                <a:effectLst/>
                <a:latin typeface="+mn-lt"/>
                <a:ea typeface="+mn-ea"/>
                <a:cs typeface="+mn-cs"/>
              </a:rPr>
              <a:t>: Storing additional details in a separate table helps maintain data integrity and reduces redundancy.</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It allows you to add or modify additional details for each employee without affecting the structure of the "Employee" table.</a:t>
            </a:r>
          </a:p>
          <a:p>
            <a:r>
              <a:rPr lang="en-US" sz="1200" b="0" i="0" kern="1200" dirty="0" smtClean="0">
                <a:solidFill>
                  <a:schemeClr val="tx1"/>
                </a:solidFill>
                <a:effectLst/>
                <a:latin typeface="+mn-lt"/>
                <a:ea typeface="+mn-ea"/>
                <a:cs typeface="+mn-cs"/>
              </a:rPr>
              <a:t>Overall, the one-to-one relationship between the "Employee" and "</a:t>
            </a:r>
            <a:r>
              <a:rPr lang="en-US" sz="1200" b="0" i="0" kern="1200" dirty="0" err="1" smtClean="0">
                <a:solidFill>
                  <a:schemeClr val="tx1"/>
                </a:solidFill>
                <a:effectLst/>
                <a:latin typeface="+mn-lt"/>
                <a:ea typeface="+mn-ea"/>
                <a:cs typeface="+mn-cs"/>
              </a:rPr>
              <a:t>EmployeeDetails</a:t>
            </a:r>
            <a:r>
              <a:rPr lang="en-US" sz="1200" b="0" i="0" kern="1200" dirty="0" smtClean="0">
                <a:solidFill>
                  <a:schemeClr val="tx1"/>
                </a:solidFill>
                <a:effectLst/>
                <a:latin typeface="+mn-lt"/>
                <a:ea typeface="+mn-ea"/>
                <a:cs typeface="+mn-cs"/>
              </a:rPr>
              <a:t>" tables allows for efficient organization and management of employee data, ensuring that each employee's basic information and additional details are appropriately linked in the database.</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26</a:t>
            </a:fld>
            <a:endParaRPr lang="en-AU"/>
          </a:p>
        </p:txBody>
      </p:sp>
    </p:spTree>
    <p:extLst>
      <p:ext uri="{BB962C8B-B14F-4D97-AF65-F5344CB8AC3E}">
        <p14:creationId xmlns:p14="http://schemas.microsoft.com/office/powerpoint/2010/main" val="3646374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one-to-many relationship in a database refers to a relationship between two tables where one record in the first table can be associated with one or more records in the second table, but each record in the second table is associated with only one record in the first table. This type of relationship is quite common in database design. Let's illustrate it with a straightforward real-life example:</a:t>
            </a:r>
          </a:p>
          <a:p>
            <a:r>
              <a:rPr lang="en-US" sz="1200" b="1" i="0" kern="1200" dirty="0" smtClean="0">
                <a:solidFill>
                  <a:schemeClr val="tx1"/>
                </a:solidFill>
                <a:effectLst/>
                <a:latin typeface="+mn-lt"/>
                <a:ea typeface="+mn-ea"/>
                <a:cs typeface="+mn-cs"/>
              </a:rPr>
              <a:t>Real-Life Example: Parent and Children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Consider a scenario where you have two tables in a database: "Parent" and "Children." Each parent can have multiple children, but each child belongs to only one parent.</a:t>
            </a:r>
          </a:p>
          <a:p>
            <a:r>
              <a:rPr lang="en-US" sz="1200" b="1" i="0" kern="1200" dirty="0" smtClean="0">
                <a:solidFill>
                  <a:schemeClr val="tx1"/>
                </a:solidFill>
                <a:effectLst/>
                <a:latin typeface="+mn-lt"/>
                <a:ea typeface="+mn-ea"/>
                <a:cs typeface="+mn-cs"/>
              </a:rPr>
              <a:t>Parent Table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This table contains information about parents, such as their names and contact details.</a:t>
            </a:r>
          </a:p>
          <a:p>
            <a:pPr lvl="1"/>
            <a:r>
              <a:rPr lang="en-US" sz="1200" b="0" i="0" kern="1200" dirty="0" smtClean="0">
                <a:solidFill>
                  <a:schemeClr val="tx1"/>
                </a:solidFill>
                <a:effectLst/>
                <a:latin typeface="+mn-lt"/>
                <a:ea typeface="+mn-ea"/>
                <a:cs typeface="+mn-cs"/>
              </a:rPr>
              <a:t>Example columns: </a:t>
            </a:r>
            <a:r>
              <a:rPr lang="en-US" sz="1200" b="0" i="0" kern="1200" dirty="0" err="1" smtClean="0">
                <a:solidFill>
                  <a:schemeClr val="tx1"/>
                </a:solidFill>
                <a:effectLst/>
                <a:latin typeface="+mn-lt"/>
                <a:ea typeface="+mn-ea"/>
                <a:cs typeface="+mn-cs"/>
              </a:rPr>
              <a:t>ParentID</a:t>
            </a:r>
            <a:r>
              <a:rPr lang="en-US" sz="1200" b="0" i="0" kern="1200" dirty="0" smtClean="0">
                <a:solidFill>
                  <a:schemeClr val="tx1"/>
                </a:solidFill>
                <a:effectLst/>
                <a:latin typeface="+mn-lt"/>
                <a:ea typeface="+mn-ea"/>
                <a:cs typeface="+mn-cs"/>
              </a:rPr>
              <a:t> (Primary Key), </a:t>
            </a:r>
            <a:r>
              <a:rPr lang="en-US" sz="1200" b="0" i="0" kern="1200" dirty="0" err="1" smtClean="0">
                <a:solidFill>
                  <a:schemeClr val="tx1"/>
                </a:solidFill>
                <a:effectLst/>
                <a:latin typeface="+mn-lt"/>
                <a:ea typeface="+mn-ea"/>
                <a:cs typeface="+mn-cs"/>
              </a:rPr>
              <a:t>FirstName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LastName</a:t>
            </a:r>
            <a:r>
              <a:rPr lang="en-US" sz="1200" b="0" i="0" kern="1200" dirty="0" smtClean="0">
                <a:solidFill>
                  <a:schemeClr val="tx1"/>
                </a:solidFill>
                <a:effectLst/>
                <a:latin typeface="+mn-lt"/>
                <a:ea typeface="+mn-ea"/>
                <a:cs typeface="+mn-cs"/>
              </a:rPr>
              <a:t>, Email.</a:t>
            </a:r>
          </a:p>
          <a:p>
            <a:r>
              <a:rPr lang="en-US" sz="1200" b="1" i="0" kern="1200" dirty="0" smtClean="0">
                <a:solidFill>
                  <a:schemeClr val="tx1"/>
                </a:solidFill>
                <a:effectLst/>
                <a:latin typeface="+mn-lt"/>
                <a:ea typeface="+mn-ea"/>
                <a:cs typeface="+mn-cs"/>
              </a:rPr>
              <a:t>Children Table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This table stores information about children, including their names, dates of birth, and parent associations.</a:t>
            </a:r>
          </a:p>
          <a:p>
            <a:pPr lvl="1"/>
            <a:r>
              <a:rPr lang="en-US" sz="1200" b="0" i="0" kern="1200" dirty="0" smtClean="0">
                <a:solidFill>
                  <a:schemeClr val="tx1"/>
                </a:solidFill>
                <a:effectLst/>
                <a:latin typeface="+mn-lt"/>
                <a:ea typeface="+mn-ea"/>
                <a:cs typeface="+mn-cs"/>
              </a:rPr>
              <a:t>Example columns: </a:t>
            </a:r>
            <a:r>
              <a:rPr lang="en-US" sz="1200" b="0" i="0" kern="1200" dirty="0" err="1" smtClean="0">
                <a:solidFill>
                  <a:schemeClr val="tx1"/>
                </a:solidFill>
                <a:effectLst/>
                <a:latin typeface="+mn-lt"/>
                <a:ea typeface="+mn-ea"/>
                <a:cs typeface="+mn-cs"/>
              </a:rPr>
              <a:t>ChildID</a:t>
            </a:r>
            <a:r>
              <a:rPr lang="en-US" sz="1200" b="0" i="0" kern="1200" dirty="0" smtClean="0">
                <a:solidFill>
                  <a:schemeClr val="tx1"/>
                </a:solidFill>
                <a:effectLst/>
                <a:latin typeface="+mn-lt"/>
                <a:ea typeface="+mn-ea"/>
                <a:cs typeface="+mn-cs"/>
              </a:rPr>
              <a:t> (Primary Key), </a:t>
            </a:r>
            <a:r>
              <a:rPr lang="en-US" sz="1200" b="0" i="0" kern="1200" dirty="0" err="1" smtClean="0">
                <a:solidFill>
                  <a:schemeClr val="tx1"/>
                </a:solidFill>
                <a:effectLst/>
                <a:latin typeface="+mn-lt"/>
                <a:ea typeface="+mn-ea"/>
                <a:cs typeface="+mn-cs"/>
              </a:rPr>
              <a:t>FirstName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LastName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DateOfBirth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ParentID</a:t>
            </a:r>
            <a:r>
              <a:rPr lang="en-US" sz="1200" b="0" i="0" kern="1200" dirty="0" smtClean="0">
                <a:solidFill>
                  <a:schemeClr val="tx1"/>
                </a:solidFill>
                <a:effectLst/>
                <a:latin typeface="+mn-lt"/>
                <a:ea typeface="+mn-ea"/>
                <a:cs typeface="+mn-cs"/>
              </a:rPr>
              <a:t> (Foreign Key).</a:t>
            </a:r>
          </a:p>
          <a:p>
            <a:r>
              <a:rPr lang="en-US" sz="1200" b="0" i="0" kern="1200" dirty="0" smtClean="0">
                <a:solidFill>
                  <a:schemeClr val="tx1"/>
                </a:solidFill>
                <a:effectLst/>
                <a:latin typeface="+mn-lt"/>
                <a:ea typeface="+mn-ea"/>
                <a:cs typeface="+mn-cs"/>
              </a:rPr>
              <a:t>In this example:</a:t>
            </a:r>
          </a:p>
          <a:p>
            <a:r>
              <a:rPr lang="en-US" sz="1200" b="0" i="0" kern="1200" dirty="0" smtClean="0">
                <a:solidFill>
                  <a:schemeClr val="tx1"/>
                </a:solidFill>
                <a:effectLst/>
                <a:latin typeface="+mn-lt"/>
                <a:ea typeface="+mn-ea"/>
                <a:cs typeface="+mn-cs"/>
              </a:rPr>
              <a:t>Each record in the "Parent" table represents a unique parent, identified by the </a:t>
            </a:r>
            <a:r>
              <a:rPr lang="en-US" sz="1200" b="0" i="0" kern="1200" dirty="0" err="1" smtClean="0">
                <a:solidFill>
                  <a:schemeClr val="tx1"/>
                </a:solidFill>
                <a:effectLst/>
                <a:latin typeface="+mn-lt"/>
                <a:ea typeface="+mn-ea"/>
                <a:cs typeface="+mn-cs"/>
              </a:rPr>
              <a:t>ParentID</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Each record in the "Children" table represents a unique child, identified by the </a:t>
            </a:r>
            <a:r>
              <a:rPr lang="en-US" sz="1200" b="0" i="0" kern="1200" dirty="0" err="1" smtClean="0">
                <a:solidFill>
                  <a:schemeClr val="tx1"/>
                </a:solidFill>
                <a:effectLst/>
                <a:latin typeface="+mn-lt"/>
                <a:ea typeface="+mn-ea"/>
                <a:cs typeface="+mn-cs"/>
              </a:rPr>
              <a:t>ChildID</a:t>
            </a:r>
            <a:r>
              <a:rPr lang="en-US" sz="1200" b="0" i="0" kern="1200" dirty="0" smtClean="0">
                <a:solidFill>
                  <a:schemeClr val="tx1"/>
                </a:solidFill>
                <a:effectLst/>
                <a:latin typeface="+mn-lt"/>
                <a:ea typeface="+mn-ea"/>
                <a:cs typeface="+mn-cs"/>
              </a:rPr>
              <a:t>. The </a:t>
            </a:r>
            <a:r>
              <a:rPr lang="en-US" sz="1200" b="0" i="0" kern="1200" dirty="0" err="1" smtClean="0">
                <a:solidFill>
                  <a:schemeClr val="tx1"/>
                </a:solidFill>
                <a:effectLst/>
                <a:latin typeface="+mn-lt"/>
                <a:ea typeface="+mn-ea"/>
                <a:cs typeface="+mn-cs"/>
              </a:rPr>
              <a:t>ParentID</a:t>
            </a:r>
            <a:r>
              <a:rPr lang="en-US" sz="1200" b="0" i="0" kern="1200" dirty="0" smtClean="0">
                <a:solidFill>
                  <a:schemeClr val="tx1"/>
                </a:solidFill>
                <a:effectLst/>
                <a:latin typeface="+mn-lt"/>
                <a:ea typeface="+mn-ea"/>
                <a:cs typeface="+mn-cs"/>
              </a:rPr>
              <a:t> column in the "Children" table establishes the one-to-many relationship.</a:t>
            </a:r>
          </a:p>
          <a:p>
            <a:r>
              <a:rPr lang="en-US" sz="1200" b="0" i="0" kern="1200" dirty="0" smtClean="0">
                <a:solidFill>
                  <a:schemeClr val="tx1"/>
                </a:solidFill>
                <a:effectLst/>
                <a:latin typeface="+mn-lt"/>
                <a:ea typeface="+mn-ea"/>
                <a:cs typeface="+mn-cs"/>
              </a:rPr>
              <a:t>Multiple children records in the "Children" table can have the same </a:t>
            </a:r>
            <a:r>
              <a:rPr lang="en-US" sz="1200" b="0" i="0" kern="1200" dirty="0" err="1" smtClean="0">
                <a:solidFill>
                  <a:schemeClr val="tx1"/>
                </a:solidFill>
                <a:effectLst/>
                <a:latin typeface="+mn-lt"/>
                <a:ea typeface="+mn-ea"/>
                <a:cs typeface="+mn-cs"/>
              </a:rPr>
              <a:t>ParentID</a:t>
            </a:r>
            <a:r>
              <a:rPr lang="en-US" sz="1200" b="0" i="0" kern="1200" dirty="0" smtClean="0">
                <a:solidFill>
                  <a:schemeClr val="tx1"/>
                </a:solidFill>
                <a:effectLst/>
                <a:latin typeface="+mn-lt"/>
                <a:ea typeface="+mn-ea"/>
                <a:cs typeface="+mn-cs"/>
              </a:rPr>
              <a:t>, indicating that they belong to the same parent.</a:t>
            </a:r>
          </a:p>
          <a:p>
            <a:r>
              <a:rPr lang="en-US" sz="1200" b="1" i="0" kern="1200" dirty="0" smtClean="0">
                <a:solidFill>
                  <a:schemeClr val="tx1"/>
                </a:solidFill>
                <a:effectLst/>
                <a:latin typeface="+mn-lt"/>
                <a:ea typeface="+mn-ea"/>
                <a:cs typeface="+mn-cs"/>
              </a:rPr>
              <a:t>Explanation</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For instance, if John and Mary are parents, they will each have a record in the "Parent" table with unique </a:t>
            </a:r>
            <a:r>
              <a:rPr lang="en-US" sz="1200" b="0" i="0" kern="1200" dirty="0" err="1" smtClean="0">
                <a:solidFill>
                  <a:schemeClr val="tx1"/>
                </a:solidFill>
                <a:effectLst/>
                <a:latin typeface="+mn-lt"/>
                <a:ea typeface="+mn-ea"/>
                <a:cs typeface="+mn-cs"/>
              </a:rPr>
              <a:t>ParentIDs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Their children, such as Sarah, Michael, and Emily, will each have records in the "Children" table. Each child record will include the corresponding </a:t>
            </a:r>
            <a:r>
              <a:rPr lang="en-US" sz="1200" b="0" i="0" kern="1200" dirty="0" err="1" smtClean="0">
                <a:solidFill>
                  <a:schemeClr val="tx1"/>
                </a:solidFill>
                <a:effectLst/>
                <a:latin typeface="+mn-lt"/>
                <a:ea typeface="+mn-ea"/>
                <a:cs typeface="+mn-cs"/>
              </a:rPr>
              <a:t>ParentID</a:t>
            </a:r>
            <a:r>
              <a:rPr lang="en-US" sz="1200" b="0" i="0" kern="1200" dirty="0" smtClean="0">
                <a:solidFill>
                  <a:schemeClr val="tx1"/>
                </a:solidFill>
                <a:effectLst/>
                <a:latin typeface="+mn-lt"/>
                <a:ea typeface="+mn-ea"/>
                <a:cs typeface="+mn-cs"/>
              </a:rPr>
              <a:t> to indicate who their parent is.</a:t>
            </a:r>
          </a:p>
          <a:p>
            <a:r>
              <a:rPr lang="en-US" sz="1200" b="0" i="0" kern="1200" dirty="0" smtClean="0">
                <a:solidFill>
                  <a:schemeClr val="tx1"/>
                </a:solidFill>
                <a:effectLst/>
                <a:latin typeface="+mn-lt"/>
                <a:ea typeface="+mn-ea"/>
                <a:cs typeface="+mn-cs"/>
              </a:rPr>
              <a:t>Since John and Mary can have multiple children, the same </a:t>
            </a:r>
            <a:r>
              <a:rPr lang="en-US" sz="1200" b="0" i="0" kern="1200" dirty="0" err="1" smtClean="0">
                <a:solidFill>
                  <a:schemeClr val="tx1"/>
                </a:solidFill>
                <a:effectLst/>
                <a:latin typeface="+mn-lt"/>
                <a:ea typeface="+mn-ea"/>
                <a:cs typeface="+mn-cs"/>
              </a:rPr>
              <a:t>ParentID</a:t>
            </a:r>
            <a:r>
              <a:rPr lang="en-US" sz="1200" b="0" i="0" kern="1200" dirty="0" smtClean="0">
                <a:solidFill>
                  <a:schemeClr val="tx1"/>
                </a:solidFill>
                <a:effectLst/>
                <a:latin typeface="+mn-lt"/>
                <a:ea typeface="+mn-ea"/>
                <a:cs typeface="+mn-cs"/>
              </a:rPr>
              <a:t> will appear in multiple rows in the "Children" table.</a:t>
            </a:r>
          </a:p>
          <a:p>
            <a:r>
              <a:rPr lang="en-US" sz="1200" b="1" i="0" kern="1200" dirty="0" smtClean="0">
                <a:solidFill>
                  <a:schemeClr val="tx1"/>
                </a:solidFill>
                <a:effectLst/>
                <a:latin typeface="+mn-lt"/>
                <a:ea typeface="+mn-ea"/>
                <a:cs typeface="+mn-cs"/>
              </a:rPr>
              <a:t>Benefits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Data Organization</a:t>
            </a:r>
            <a:r>
              <a:rPr lang="en-US" sz="1200" b="0" i="0" kern="1200" dirty="0" smtClean="0">
                <a:solidFill>
                  <a:schemeClr val="tx1"/>
                </a:solidFill>
                <a:effectLst/>
                <a:latin typeface="+mn-lt"/>
                <a:ea typeface="+mn-ea"/>
                <a:cs typeface="+mn-cs"/>
              </a:rPr>
              <a:t>: The one-to-many relationship allows you to efficiently organize and manage data about parents and their children in separate tables.</a:t>
            </a:r>
          </a:p>
          <a:p>
            <a:r>
              <a:rPr lang="en-US" sz="1200" b="1" i="0" kern="1200" dirty="0" smtClean="0">
                <a:solidFill>
                  <a:schemeClr val="tx1"/>
                </a:solidFill>
                <a:effectLst/>
                <a:latin typeface="+mn-lt"/>
                <a:ea typeface="+mn-ea"/>
                <a:cs typeface="+mn-cs"/>
              </a:rPr>
              <a:t>Data Integrity</a:t>
            </a:r>
            <a:r>
              <a:rPr lang="en-US" sz="1200" b="0" i="0" kern="1200" dirty="0" smtClean="0">
                <a:solidFill>
                  <a:schemeClr val="tx1"/>
                </a:solidFill>
                <a:effectLst/>
                <a:latin typeface="+mn-lt"/>
                <a:ea typeface="+mn-ea"/>
                <a:cs typeface="+mn-cs"/>
              </a:rPr>
              <a:t>: By linking child records to parent records through foreign keys, you can maintain data integrity and ensure accurate relationships between parents and children.</a:t>
            </a:r>
          </a:p>
          <a:p>
            <a:r>
              <a:rPr lang="en-US" sz="1200" b="0" i="0" kern="1200" dirty="0" smtClean="0">
                <a:solidFill>
                  <a:schemeClr val="tx1"/>
                </a:solidFill>
                <a:effectLst/>
                <a:latin typeface="+mn-lt"/>
                <a:ea typeface="+mn-ea"/>
                <a:cs typeface="+mn-cs"/>
              </a:rPr>
              <a:t>Overall, the one-to-many relationship between the "Parent" and "Children" tables provides a structured approach to representing parent-child relationships in the database, reflecting the real-world scenario where one parent can have multiple children.</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27</a:t>
            </a:fld>
            <a:endParaRPr lang="en-AU"/>
          </a:p>
        </p:txBody>
      </p:sp>
    </p:spTree>
    <p:extLst>
      <p:ext uri="{BB962C8B-B14F-4D97-AF65-F5344CB8AC3E}">
        <p14:creationId xmlns:p14="http://schemas.microsoft.com/office/powerpoint/2010/main" val="3458206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many-to-many relationship in a database occurs when multiple records in one table are associated with multiple records in another table. This type of relationship is quite common in real-world scenarios. Let's illustrate it with a simple example:</a:t>
            </a:r>
          </a:p>
          <a:p>
            <a:r>
              <a:rPr lang="en-US" sz="1200" b="1" i="0" kern="1200" dirty="0" smtClean="0">
                <a:solidFill>
                  <a:schemeClr val="tx1"/>
                </a:solidFill>
                <a:effectLst/>
                <a:latin typeface="+mn-lt"/>
                <a:ea typeface="+mn-ea"/>
                <a:cs typeface="+mn-cs"/>
              </a:rPr>
              <a:t>Real-Life Example: Students and Courses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Consider a scenario where you have two tables in a database: "Students" and "Courses." Each student can enroll in multiple courses, and each course can have multiple students.</a:t>
            </a:r>
          </a:p>
          <a:p>
            <a:r>
              <a:rPr lang="en-US" sz="1200" b="1" i="0" kern="1200" dirty="0" smtClean="0">
                <a:solidFill>
                  <a:schemeClr val="tx1"/>
                </a:solidFill>
                <a:effectLst/>
                <a:latin typeface="+mn-lt"/>
                <a:ea typeface="+mn-ea"/>
                <a:cs typeface="+mn-cs"/>
              </a:rPr>
              <a:t>Students Table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This table contains information about students, such as their names and student IDs.</a:t>
            </a:r>
          </a:p>
          <a:p>
            <a:pPr lvl="1"/>
            <a:r>
              <a:rPr lang="en-US" sz="1200" b="0" i="0" kern="1200" dirty="0" smtClean="0">
                <a:solidFill>
                  <a:schemeClr val="tx1"/>
                </a:solidFill>
                <a:effectLst/>
                <a:latin typeface="+mn-lt"/>
                <a:ea typeface="+mn-ea"/>
                <a:cs typeface="+mn-cs"/>
              </a:rPr>
              <a:t>Example columns: </a:t>
            </a:r>
            <a:r>
              <a:rPr lang="en-US" sz="1200" b="0" i="0" kern="1200" dirty="0" err="1" smtClean="0">
                <a:solidFill>
                  <a:schemeClr val="tx1"/>
                </a:solidFill>
                <a:effectLst/>
                <a:latin typeface="+mn-lt"/>
                <a:ea typeface="+mn-ea"/>
                <a:cs typeface="+mn-cs"/>
              </a:rPr>
              <a:t>StudentID</a:t>
            </a:r>
            <a:r>
              <a:rPr lang="en-US" sz="1200" b="0" i="0" kern="1200" dirty="0" smtClean="0">
                <a:solidFill>
                  <a:schemeClr val="tx1"/>
                </a:solidFill>
                <a:effectLst/>
                <a:latin typeface="+mn-lt"/>
                <a:ea typeface="+mn-ea"/>
                <a:cs typeface="+mn-cs"/>
              </a:rPr>
              <a:t> (Primary Key), </a:t>
            </a:r>
            <a:r>
              <a:rPr lang="en-US" sz="1200" b="0" i="0" kern="1200" dirty="0" err="1" smtClean="0">
                <a:solidFill>
                  <a:schemeClr val="tx1"/>
                </a:solidFill>
                <a:effectLst/>
                <a:latin typeface="+mn-lt"/>
                <a:ea typeface="+mn-ea"/>
                <a:cs typeface="+mn-cs"/>
              </a:rPr>
              <a:t>FirstName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LastName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GradeLevel</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Courses Table</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This table stores information about courses offered, such as course names and descriptions.</a:t>
            </a:r>
          </a:p>
          <a:p>
            <a:pPr lvl="1"/>
            <a:r>
              <a:rPr lang="en-US" sz="1200" b="0" i="0" kern="1200" dirty="0" smtClean="0">
                <a:solidFill>
                  <a:schemeClr val="tx1"/>
                </a:solidFill>
                <a:effectLst/>
                <a:latin typeface="+mn-lt"/>
                <a:ea typeface="+mn-ea"/>
                <a:cs typeface="+mn-cs"/>
              </a:rPr>
              <a:t>Example columns: </a:t>
            </a:r>
            <a:r>
              <a:rPr lang="en-US" sz="1200" b="0" i="0" kern="1200" dirty="0" err="1" smtClean="0">
                <a:solidFill>
                  <a:schemeClr val="tx1"/>
                </a:solidFill>
                <a:effectLst/>
                <a:latin typeface="+mn-lt"/>
                <a:ea typeface="+mn-ea"/>
                <a:cs typeface="+mn-cs"/>
              </a:rPr>
              <a:t>CourseID</a:t>
            </a:r>
            <a:r>
              <a:rPr lang="en-US" sz="1200" b="0" i="0" kern="1200" dirty="0" smtClean="0">
                <a:solidFill>
                  <a:schemeClr val="tx1"/>
                </a:solidFill>
                <a:effectLst/>
                <a:latin typeface="+mn-lt"/>
                <a:ea typeface="+mn-ea"/>
                <a:cs typeface="+mn-cs"/>
              </a:rPr>
              <a:t> (Primary Key), </a:t>
            </a:r>
            <a:r>
              <a:rPr lang="en-US" sz="1200" b="0" i="0" kern="1200" dirty="0" err="1" smtClean="0">
                <a:solidFill>
                  <a:schemeClr val="tx1"/>
                </a:solidFill>
                <a:effectLst/>
                <a:latin typeface="+mn-lt"/>
                <a:ea typeface="+mn-ea"/>
                <a:cs typeface="+mn-cs"/>
              </a:rPr>
              <a:t>CourseName</a:t>
            </a:r>
            <a:r>
              <a:rPr lang="en-US" sz="1200" b="0" i="0" kern="1200" dirty="0" smtClean="0">
                <a:solidFill>
                  <a:schemeClr val="tx1"/>
                </a:solidFill>
                <a:effectLst/>
                <a:latin typeface="+mn-lt"/>
                <a:ea typeface="+mn-ea"/>
                <a:cs typeface="+mn-cs"/>
              </a:rPr>
              <a:t>, Instructor, Schedule.</a:t>
            </a:r>
          </a:p>
          <a:p>
            <a:r>
              <a:rPr lang="en-US" sz="1200" b="1" i="0" kern="1200" dirty="0" smtClean="0">
                <a:solidFill>
                  <a:schemeClr val="tx1"/>
                </a:solidFill>
                <a:effectLst/>
                <a:latin typeface="+mn-lt"/>
                <a:ea typeface="+mn-ea"/>
                <a:cs typeface="+mn-cs"/>
              </a:rPr>
              <a:t>Enrollment Table</a:t>
            </a:r>
            <a:r>
              <a:rPr lang="en-US" sz="1200" b="0" i="0" kern="1200" dirty="0" smtClean="0">
                <a:solidFill>
                  <a:schemeClr val="tx1"/>
                </a:solidFill>
                <a:effectLst/>
                <a:latin typeface="+mn-lt"/>
                <a:ea typeface="+mn-ea"/>
                <a:cs typeface="+mn-cs"/>
              </a:rPr>
              <a:t> (Join Table):</a:t>
            </a:r>
          </a:p>
          <a:p>
            <a:pPr lvl="1"/>
            <a:r>
              <a:rPr lang="en-US" sz="1200" b="0" i="0" kern="1200" dirty="0" smtClean="0">
                <a:solidFill>
                  <a:schemeClr val="tx1"/>
                </a:solidFill>
                <a:effectLst/>
                <a:latin typeface="+mn-lt"/>
                <a:ea typeface="+mn-ea"/>
                <a:cs typeface="+mn-cs"/>
              </a:rPr>
              <a:t>This table serves as a bridge between the "Students" and "Courses" tables to represent the many-to-many relationship.</a:t>
            </a:r>
          </a:p>
          <a:p>
            <a:pPr lvl="1"/>
            <a:r>
              <a:rPr lang="en-US" sz="1200" b="0" i="0" kern="1200" dirty="0" smtClean="0">
                <a:solidFill>
                  <a:schemeClr val="tx1"/>
                </a:solidFill>
                <a:effectLst/>
                <a:latin typeface="+mn-lt"/>
                <a:ea typeface="+mn-ea"/>
                <a:cs typeface="+mn-cs"/>
              </a:rPr>
              <a:t>It typically contains foreign keys referencing the primary keys of both the "Students" and "Courses" tables.</a:t>
            </a:r>
          </a:p>
          <a:p>
            <a:pPr lvl="1"/>
            <a:r>
              <a:rPr lang="en-US" sz="1200" b="0" i="0" kern="1200" dirty="0" smtClean="0">
                <a:solidFill>
                  <a:schemeClr val="tx1"/>
                </a:solidFill>
                <a:effectLst/>
                <a:latin typeface="+mn-lt"/>
                <a:ea typeface="+mn-ea"/>
                <a:cs typeface="+mn-cs"/>
              </a:rPr>
              <a:t>Example columns: </a:t>
            </a:r>
            <a:r>
              <a:rPr lang="en-US" sz="1200" b="0" i="0" kern="1200" dirty="0" err="1" smtClean="0">
                <a:solidFill>
                  <a:schemeClr val="tx1"/>
                </a:solidFill>
                <a:effectLst/>
                <a:latin typeface="+mn-lt"/>
                <a:ea typeface="+mn-ea"/>
                <a:cs typeface="+mn-cs"/>
              </a:rPr>
              <a:t>StudentID</a:t>
            </a:r>
            <a:r>
              <a:rPr lang="en-US" sz="1200" b="0" i="0" kern="1200" dirty="0" smtClean="0">
                <a:solidFill>
                  <a:schemeClr val="tx1"/>
                </a:solidFill>
                <a:effectLst/>
                <a:latin typeface="+mn-lt"/>
                <a:ea typeface="+mn-ea"/>
                <a:cs typeface="+mn-cs"/>
              </a:rPr>
              <a:t> (Foreign Key), </a:t>
            </a:r>
            <a:r>
              <a:rPr lang="en-US" sz="1200" b="0" i="0" kern="1200" dirty="0" err="1" smtClean="0">
                <a:solidFill>
                  <a:schemeClr val="tx1"/>
                </a:solidFill>
                <a:effectLst/>
                <a:latin typeface="+mn-lt"/>
                <a:ea typeface="+mn-ea"/>
                <a:cs typeface="+mn-cs"/>
              </a:rPr>
              <a:t>CourseID</a:t>
            </a:r>
            <a:r>
              <a:rPr lang="en-US" sz="1200" b="0" i="0" kern="1200" dirty="0" smtClean="0">
                <a:solidFill>
                  <a:schemeClr val="tx1"/>
                </a:solidFill>
                <a:effectLst/>
                <a:latin typeface="+mn-lt"/>
                <a:ea typeface="+mn-ea"/>
                <a:cs typeface="+mn-cs"/>
              </a:rPr>
              <a:t> (Foreign Key).</a:t>
            </a:r>
          </a:p>
          <a:p>
            <a:r>
              <a:rPr lang="en-US" sz="1200" b="1" i="0" kern="1200" dirty="0" smtClean="0">
                <a:solidFill>
                  <a:schemeClr val="tx1"/>
                </a:solidFill>
                <a:effectLst/>
                <a:latin typeface="+mn-lt"/>
                <a:ea typeface="+mn-ea"/>
                <a:cs typeface="+mn-cs"/>
              </a:rPr>
              <a:t>Explanation</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Each record in the "Students" table represents a unique student, identified by the </a:t>
            </a:r>
            <a:r>
              <a:rPr lang="en-US" sz="1200" b="0" i="0" kern="1200" dirty="0" err="1" smtClean="0">
                <a:solidFill>
                  <a:schemeClr val="tx1"/>
                </a:solidFill>
                <a:effectLst/>
                <a:latin typeface="+mn-lt"/>
                <a:ea typeface="+mn-ea"/>
                <a:cs typeface="+mn-cs"/>
              </a:rPr>
              <a:t>StudentID</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Similarly, each record in the "Courses" table represents a unique course, identified by the </a:t>
            </a:r>
            <a:r>
              <a:rPr lang="en-US" sz="1200" b="0" i="0" kern="1200" dirty="0" err="1" smtClean="0">
                <a:solidFill>
                  <a:schemeClr val="tx1"/>
                </a:solidFill>
                <a:effectLst/>
                <a:latin typeface="+mn-lt"/>
                <a:ea typeface="+mn-ea"/>
                <a:cs typeface="+mn-cs"/>
              </a:rPr>
              <a:t>CourseID</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The many-to-many relationship is represented by the "Enrollment" table, which contains pairs of </a:t>
            </a:r>
            <a:r>
              <a:rPr lang="en-US" sz="1200" b="0" i="0" kern="1200" dirty="0" err="1" smtClean="0">
                <a:solidFill>
                  <a:schemeClr val="tx1"/>
                </a:solidFill>
                <a:effectLst/>
                <a:latin typeface="+mn-lt"/>
                <a:ea typeface="+mn-ea"/>
                <a:cs typeface="+mn-cs"/>
              </a:rPr>
              <a:t>StudentID</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CourseID</a:t>
            </a:r>
            <a:r>
              <a:rPr lang="en-US" sz="1200" b="0" i="0" kern="1200" dirty="0" smtClean="0">
                <a:solidFill>
                  <a:schemeClr val="tx1"/>
                </a:solidFill>
                <a:effectLst/>
                <a:latin typeface="+mn-lt"/>
                <a:ea typeface="+mn-ea"/>
                <a:cs typeface="+mn-cs"/>
              </a:rPr>
              <a:t> values.</a:t>
            </a:r>
          </a:p>
          <a:p>
            <a:r>
              <a:rPr lang="en-US" sz="1200" b="0" i="0" kern="1200" dirty="0" smtClean="0">
                <a:solidFill>
                  <a:schemeClr val="tx1"/>
                </a:solidFill>
                <a:effectLst/>
                <a:latin typeface="+mn-lt"/>
                <a:ea typeface="+mn-ea"/>
                <a:cs typeface="+mn-cs"/>
              </a:rPr>
              <a:t>For instance, if John and Sarah are students and they both enroll in a Math course, there will be a record in the "Enrollment" table with John's </a:t>
            </a:r>
            <a:r>
              <a:rPr lang="en-US" sz="1200" b="0" i="0" kern="1200" dirty="0" err="1" smtClean="0">
                <a:solidFill>
                  <a:schemeClr val="tx1"/>
                </a:solidFill>
                <a:effectLst/>
                <a:latin typeface="+mn-lt"/>
                <a:ea typeface="+mn-ea"/>
                <a:cs typeface="+mn-cs"/>
              </a:rPr>
              <a:t>StudentID</a:t>
            </a:r>
            <a:r>
              <a:rPr lang="en-US" sz="1200" b="0" i="0" kern="1200" dirty="0" smtClean="0">
                <a:solidFill>
                  <a:schemeClr val="tx1"/>
                </a:solidFill>
                <a:effectLst/>
                <a:latin typeface="+mn-lt"/>
                <a:ea typeface="+mn-ea"/>
                <a:cs typeface="+mn-cs"/>
              </a:rPr>
              <a:t> and the Math course's </a:t>
            </a:r>
            <a:r>
              <a:rPr lang="en-US" sz="1200" b="0" i="0" kern="1200" dirty="0" err="1" smtClean="0">
                <a:solidFill>
                  <a:schemeClr val="tx1"/>
                </a:solidFill>
                <a:effectLst/>
                <a:latin typeface="+mn-lt"/>
                <a:ea typeface="+mn-ea"/>
                <a:cs typeface="+mn-cs"/>
              </a:rPr>
              <a:t>CourseID</a:t>
            </a:r>
            <a:r>
              <a:rPr lang="en-US" sz="1200" b="0" i="0" kern="1200" dirty="0" smtClean="0">
                <a:solidFill>
                  <a:schemeClr val="tx1"/>
                </a:solidFill>
                <a:effectLst/>
                <a:latin typeface="+mn-lt"/>
                <a:ea typeface="+mn-ea"/>
                <a:cs typeface="+mn-cs"/>
              </a:rPr>
              <a:t>, as well as another record with Sarah's </a:t>
            </a:r>
            <a:r>
              <a:rPr lang="en-US" sz="1200" b="0" i="0" kern="1200" dirty="0" err="1" smtClean="0">
                <a:solidFill>
                  <a:schemeClr val="tx1"/>
                </a:solidFill>
                <a:effectLst/>
                <a:latin typeface="+mn-lt"/>
                <a:ea typeface="+mn-ea"/>
                <a:cs typeface="+mn-cs"/>
              </a:rPr>
              <a:t>StudentID</a:t>
            </a:r>
            <a:r>
              <a:rPr lang="en-US" sz="1200" b="0" i="0" kern="1200" dirty="0" smtClean="0">
                <a:solidFill>
                  <a:schemeClr val="tx1"/>
                </a:solidFill>
                <a:effectLst/>
                <a:latin typeface="+mn-lt"/>
                <a:ea typeface="+mn-ea"/>
                <a:cs typeface="+mn-cs"/>
              </a:rPr>
              <a:t> and the same Math course's </a:t>
            </a:r>
            <a:r>
              <a:rPr lang="en-US" sz="1200" b="0" i="0" kern="1200" dirty="0" err="1" smtClean="0">
                <a:solidFill>
                  <a:schemeClr val="tx1"/>
                </a:solidFill>
                <a:effectLst/>
                <a:latin typeface="+mn-lt"/>
                <a:ea typeface="+mn-ea"/>
                <a:cs typeface="+mn-cs"/>
              </a:rPr>
              <a:t>CourseID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Benefits</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Allows for flexible associations between students and courses, accommodating scenarios where multiple students can enroll in multiple courses.</a:t>
            </a:r>
          </a:p>
          <a:p>
            <a:r>
              <a:rPr lang="en-US" sz="1200" b="1" i="0" kern="1200" dirty="0" smtClean="0">
                <a:solidFill>
                  <a:schemeClr val="tx1"/>
                </a:solidFill>
                <a:effectLst/>
                <a:latin typeface="+mn-lt"/>
                <a:ea typeface="+mn-ea"/>
                <a:cs typeface="+mn-cs"/>
              </a:rPr>
              <a:t>Data Integrity</a:t>
            </a:r>
            <a:r>
              <a:rPr lang="en-US" sz="1200" b="0" i="0" kern="1200" dirty="0" smtClean="0">
                <a:solidFill>
                  <a:schemeClr val="tx1"/>
                </a:solidFill>
                <a:effectLst/>
                <a:latin typeface="+mn-lt"/>
                <a:ea typeface="+mn-ea"/>
                <a:cs typeface="+mn-cs"/>
              </a:rPr>
              <a:t>: Maintains data integrity by separating the many-to-many relationship into a separate join table.</a:t>
            </a:r>
          </a:p>
          <a:p>
            <a:r>
              <a:rPr lang="en-US" sz="1200" b="1" i="0" kern="1200" dirty="0" smtClean="0">
                <a:solidFill>
                  <a:schemeClr val="tx1"/>
                </a:solidFill>
                <a:effectLst/>
                <a:latin typeface="+mn-lt"/>
                <a:ea typeface="+mn-ea"/>
                <a:cs typeface="+mn-cs"/>
              </a:rPr>
              <a:t>Real-Life Analogy</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Think of it like a library system where multiple students can borrow multiple books, and each book can be borrowed by multiple students. The "Students" table represents the students, the "Courses" table represents the books, and the "Enrollment" table represents the borrowing transactions, linking students to the courses they've enrolled in.</a:t>
            </a:r>
          </a:p>
          <a:p>
            <a:r>
              <a:rPr lang="en-US" sz="1200" b="0" i="0" kern="1200" dirty="0" smtClean="0">
                <a:solidFill>
                  <a:schemeClr val="tx1"/>
                </a:solidFill>
                <a:effectLst/>
                <a:latin typeface="+mn-lt"/>
                <a:ea typeface="+mn-ea"/>
                <a:cs typeface="+mn-cs"/>
              </a:rPr>
              <a:t>Overall, the many-to-many relationship between the "Students" and "Courses" tables, represented through the "Enrollment" table, allows for efficient management of student-course associations in the database, reflecting the real-world scenario where multiple students can enroll in multiple courses.</a:t>
            </a:r>
          </a:p>
          <a:p>
            <a:endParaRPr lang="en-AU" dirty="0"/>
          </a:p>
        </p:txBody>
      </p:sp>
      <p:sp>
        <p:nvSpPr>
          <p:cNvPr id="4" name="Slide Number Placeholder 3"/>
          <p:cNvSpPr>
            <a:spLocks noGrp="1"/>
          </p:cNvSpPr>
          <p:nvPr>
            <p:ph type="sldNum" sz="quarter" idx="10"/>
          </p:nvPr>
        </p:nvSpPr>
        <p:spPr/>
        <p:txBody>
          <a:bodyPr/>
          <a:lstStyle/>
          <a:p>
            <a:fld id="{F4B43C6F-0476-4359-9117-F8B67037CF0D}" type="slidenum">
              <a:rPr lang="en-AU" smtClean="0"/>
              <a:t>28</a:t>
            </a:fld>
            <a:endParaRPr lang="en-AU"/>
          </a:p>
        </p:txBody>
      </p:sp>
    </p:spTree>
    <p:extLst>
      <p:ext uri="{BB962C8B-B14F-4D97-AF65-F5344CB8AC3E}">
        <p14:creationId xmlns:p14="http://schemas.microsoft.com/office/powerpoint/2010/main" val="93927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2/24/2024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2/24/2024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1-introduction-to-databases-1-638.jpg"/>
          <p:cNvPicPr>
            <a:picLocks noChangeAspect="1"/>
          </p:cNvPicPr>
          <p:nvPr/>
        </p:nvPicPr>
        <p:blipFill>
          <a:blip r:embed="rId2"/>
          <a:stretch>
            <a:fillRect/>
          </a:stretch>
        </p:blipFill>
        <p:spPr>
          <a:xfrm>
            <a:off x="0" y="4571"/>
            <a:ext cx="9144000" cy="6858000"/>
          </a:xfrm>
          <a:prstGeom prst="rect">
            <a:avLst/>
          </a:prstGeom>
        </p:spPr>
      </p:pic>
      <p:sp>
        <p:nvSpPr>
          <p:cNvPr id="3" name="Rectangle 2"/>
          <p:cNvSpPr/>
          <p:nvPr/>
        </p:nvSpPr>
        <p:spPr>
          <a:xfrm>
            <a:off x="3302000" y="4277360"/>
            <a:ext cx="2540000" cy="9347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mtClean="0"/>
              <a:t>Lecture no 1</a:t>
            </a:r>
          </a:p>
          <a:p>
            <a:pPr algn="ctr"/>
            <a:r>
              <a:rPr lang="en-US" dirty="0" smtClean="0"/>
              <a:t>20-feb-2024</a:t>
            </a:r>
          </a:p>
          <a:p>
            <a:pPr algn="ctr"/>
            <a:r>
              <a:rPr lang="en-US" dirty="0" smtClean="0"/>
              <a:t>Ayesha jarral</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introduction-to-databases-2-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introduction-to-databases-3-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introduction-to-databases-4-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introduction-to-databases-5-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introduction-to-databases-6-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introduction-to-databases-7-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introduction-to-databases-8-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introduction-to-databases-9-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introduction-to-databases-10-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introduction-to-databases-11-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introduction-to-databases-12-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introduction-to-databases-13-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introduction-to-databases-14-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introduction-to-databases-15-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introduction-to-databases-16-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introduction-to-databases-17-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introduction-to-databases-18-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introduction-to-databases-19-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introduction-to-databases-20-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introduction-to-databases-21-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introduction-to-databases-22-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3-introduction-to-databases-23-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4-introduction-to-databases-24-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5-introduction-to-databases-25-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6-introduction-to-databases-26-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7-introduction-to-databases-27-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8-introduction-to-databases-28-638.jpg"/>
          <p:cNvPicPr>
            <a:picLocks noChangeAspect="1"/>
          </p:cNvPicPr>
          <p:nvPr/>
        </p:nvPicPr>
        <p:blipFill>
          <a:blip r:embed="rId3"/>
          <a:stretch>
            <a:fillRect/>
          </a:stretch>
        </p:blipFill>
        <p:spPr>
          <a:xfrm>
            <a:off x="0" y="4571"/>
            <a:ext cx="9144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9-introduction-to-databases-29-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0-introduction-to-databases-30-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1-introduction-to-databases-31-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2-introduction-to-databases-32-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3-introduction-to-databases-33-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4660</Words>
  <Application>Microsoft Office PowerPoint</Application>
  <PresentationFormat>On-screen Show (4:3)</PresentationFormat>
  <Paragraphs>230</Paragraphs>
  <Slides>33</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ayesha jarral</dc:creator>
  <cp:keywords/>
  <dc:description>generated using python-pptx</dc:description>
  <cp:lastModifiedBy>ayesha jarral</cp:lastModifiedBy>
  <cp:revision>13</cp:revision>
  <dcterms:created xsi:type="dcterms:W3CDTF">2013-01-27T09:14:16Z</dcterms:created>
  <dcterms:modified xsi:type="dcterms:W3CDTF">2024-02-24T14:15:52Z</dcterms:modified>
  <cp:category/>
</cp:coreProperties>
</file>