
<file path=[Content_Types].xml><?xml version="1.0" encoding="utf-8"?>
<Types xmlns="http://schemas.openxmlformats.org/package/2006/content-types">
  <Default Extension="gif" ContentType="image/gif"/>
  <Default Extension="jpe"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256" r:id="rId5"/>
    <p:sldId id="276" r:id="rId6"/>
    <p:sldId id="289" r:id="rId7"/>
    <p:sldId id="290" r:id="rId8"/>
    <p:sldId id="291" r:id="rId9"/>
    <p:sldId id="260" r:id="rId10"/>
    <p:sldId id="259" r:id="rId11"/>
    <p:sldId id="292" r:id="rId12"/>
    <p:sldId id="294" r:id="rId13"/>
    <p:sldId id="293" r:id="rId14"/>
    <p:sldId id="261" r:id="rId15"/>
    <p:sldId id="268" r:id="rId16"/>
    <p:sldId id="269" r:id="rId17"/>
    <p:sldId id="258" r:id="rId18"/>
    <p:sldId id="279" r:id="rId19"/>
    <p:sldId id="280" r:id="rId20"/>
    <p:sldId id="281" r:id="rId21"/>
    <p:sldId id="282" r:id="rId22"/>
    <p:sldId id="278" r:id="rId23"/>
    <p:sldId id="283" r:id="rId24"/>
    <p:sldId id="287" r:id="rId2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644" y="56"/>
      </p:cViewPr>
      <p:guideLst>
        <p:guide pos="3839"/>
        <p:guide orient="horz" pos="2160"/>
      </p:guideLst>
    </p:cSldViewPr>
  </p:slideViewPr>
  <p:notesTextViewPr>
    <p:cViewPr>
      <p:scale>
        <a:sx n="1" d="1"/>
        <a:sy n="1" d="1"/>
      </p:scale>
      <p:origin x="0" y="0"/>
    </p:cViewPr>
  </p:notesTextViewPr>
  <p:notesViewPr>
    <p:cSldViewPr>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482589-CB2F-4003-801D-095B67490E73}" type="datetimeFigureOut">
              <a:rPr lang="en-US"/>
              <a:t>5/23/2023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4A4844B-5D5D-4D8E-9E71-6B297DF4019B}" type="slidenum">
              <a:rPr/>
              <a:t>‹#›</a:t>
            </a:fld>
            <a:endParaRPr/>
          </a:p>
        </p:txBody>
      </p:sp>
    </p:spTree>
    <p:extLst>
      <p:ext uri="{BB962C8B-B14F-4D97-AF65-F5344CB8AC3E}">
        <p14:creationId xmlns:p14="http://schemas.microsoft.com/office/powerpoint/2010/main" val="38589861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7D4DBF-746C-4C25-853D-8A1CBE8404F4}" type="datetimeFigureOut">
              <a:rPr lang="en-US"/>
              <a:t>5/23/2023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E0FDE7-FE71-46E3-9512-437B13AD5F46}" type="slidenum">
              <a:rPr/>
              <a:t>‹#›</a:t>
            </a:fld>
            <a:endParaRPr/>
          </a:p>
        </p:txBody>
      </p:sp>
    </p:spTree>
    <p:extLst>
      <p:ext uri="{BB962C8B-B14F-4D97-AF65-F5344CB8AC3E}">
        <p14:creationId xmlns:p14="http://schemas.microsoft.com/office/powerpoint/2010/main" val="3566979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74812" y="1524000"/>
            <a:ext cx="8839201" cy="3200400"/>
          </a:xfrm>
        </p:spPr>
        <p:txBody>
          <a:bodyPr>
            <a:no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74813" y="4876800"/>
            <a:ext cx="7162799" cy="990600"/>
          </a:xfrm>
        </p:spPr>
        <p:txBody>
          <a:bodyPr lIns="91440">
            <a:normAutofit/>
          </a:bodyPr>
          <a:lstStyle>
            <a:lvl1pPr marL="0" indent="0" algn="l">
              <a:spcBef>
                <a:spcPts val="0"/>
              </a:spcBef>
              <a:buNone/>
              <a:defRPr sz="2000" cap="all" spc="250" baseline="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988707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4" name="Date Placeholder 3"/>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6" name="Slide Number Placeholder 5"/>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44008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3813" y="3429000"/>
            <a:ext cx="9601201" cy="2286000"/>
          </a:xfrm>
        </p:spPr>
        <p:txBody>
          <a:bodyPr anchor="b">
            <a:normAutofit/>
          </a:bodyPr>
          <a:lstStyle>
            <a:lvl1pPr algn="l">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293813" y="685800"/>
            <a:ext cx="7543800" cy="1066800"/>
          </a:xfrm>
        </p:spPr>
        <p:txBody>
          <a:bodyPr lIns="91440" anchor="t"/>
          <a:lstStyle>
            <a:lvl1pPr marL="0" indent="0">
              <a:spcBef>
                <a:spcPts val="0"/>
              </a:spcBef>
              <a:buNone/>
              <a:defRPr sz="2000" cap="all" spc="250" baseline="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4" name="Date Placeholder 3"/>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6" name="Slide Number Placeholder 5"/>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335788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93813" y="1828800"/>
            <a:ext cx="4648199"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2" y="1828801"/>
            <a:ext cx="4648202"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5" name="Date Placeholder 4"/>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7" name="Slide Number Placeholder 6"/>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141387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93813" y="1676400"/>
            <a:ext cx="4646376"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3813" y="2438400"/>
            <a:ext cx="4648199" cy="3733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6812" y="1676400"/>
            <a:ext cx="4648201"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6812" y="2438400"/>
            <a:ext cx="4648201" cy="3733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lvl1pPr>
              <a:defRPr sz="1100"/>
            </a:lvl1pPr>
          </a:lstStyle>
          <a:p>
            <a:endParaRPr lang="en-US"/>
          </a:p>
        </p:txBody>
      </p:sp>
      <p:sp>
        <p:nvSpPr>
          <p:cNvPr id="7" name="Date Placeholder 6"/>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9" name="Slide Number Placeholder 8"/>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319569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lvl1pPr>
              <a:defRPr sz="1100"/>
            </a:lvl1pPr>
          </a:lstStyle>
          <a:p>
            <a:endParaRPr lang="en-US"/>
          </a:p>
        </p:txBody>
      </p:sp>
      <p:sp>
        <p:nvSpPr>
          <p:cNvPr id="3" name="Date Placeholder 2"/>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5" name="Slide Number Placeholder 4"/>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1021311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sz="1100"/>
            </a:lvl1pPr>
          </a:lstStyle>
          <a:p>
            <a:endParaRPr lang="en-US"/>
          </a:p>
        </p:txBody>
      </p:sp>
      <p:sp>
        <p:nvSpPr>
          <p:cNvPr id="2" name="Date Placeholder 1"/>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4" name="Slide Number Placeholder 3"/>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2536631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p:cNvSpPr/>
          <p:nvPr/>
        </p:nvSpPr>
        <p:spPr>
          <a:xfrm>
            <a:off x="608012" y="0"/>
            <a:ext cx="4883563"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Rectangle 10"/>
          <p:cNvSpPr/>
          <p:nvPr/>
        </p:nvSpPr>
        <p:spPr>
          <a:xfrm>
            <a:off x="699452" y="0"/>
            <a:ext cx="4700684" cy="6858000"/>
          </a:xfrm>
          <a:prstGeom prst="rect">
            <a:avLst/>
          </a:prstGeom>
          <a:solidFill>
            <a:schemeClr val="accent2">
              <a:lumMod val="7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1293813" y="685800"/>
            <a:ext cx="3581400" cy="3886200"/>
          </a:xfrm>
        </p:spPr>
        <p:txBody>
          <a:bodyPr anchor="b">
            <a:noAutofit/>
          </a:bodyPr>
          <a:lstStyle>
            <a:lvl1pPr algn="l">
              <a:defRPr sz="4000" b="0"/>
            </a:lvl1pPr>
          </a:lstStyle>
          <a:p>
            <a:r>
              <a:rPr lang="en-US"/>
              <a:t>Click to edit Master title style</a:t>
            </a:r>
            <a:endParaRPr dirty="0"/>
          </a:p>
        </p:txBody>
      </p:sp>
      <p:sp>
        <p:nvSpPr>
          <p:cNvPr id="4" name="Text Placeholder 3"/>
          <p:cNvSpPr>
            <a:spLocks noGrp="1"/>
          </p:cNvSpPr>
          <p:nvPr>
            <p:ph type="body" sz="half" idx="2"/>
          </p:nvPr>
        </p:nvSpPr>
        <p:spPr>
          <a:xfrm>
            <a:off x="1293813" y="4724400"/>
            <a:ext cx="3581400" cy="1401764"/>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6094413" y="685800"/>
            <a:ext cx="548497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5" name="Date Placeholder 4"/>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7" name="Slide Number Placeholder 6"/>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121957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2" name="Rectangle 11"/>
          <p:cNvSpPr/>
          <p:nvPr/>
        </p:nvSpPr>
        <p:spPr>
          <a:xfrm>
            <a:off x="608012" y="0"/>
            <a:ext cx="4883563"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3" name="Rectangle 12"/>
          <p:cNvSpPr/>
          <p:nvPr/>
        </p:nvSpPr>
        <p:spPr>
          <a:xfrm>
            <a:off x="699452" y="0"/>
            <a:ext cx="4700684" cy="6858000"/>
          </a:xfrm>
          <a:prstGeom prst="rect">
            <a:avLst/>
          </a:prstGeom>
          <a:solidFill>
            <a:schemeClr val="accent2">
              <a:lumMod val="7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1293813" y="685800"/>
            <a:ext cx="3581400" cy="3886200"/>
          </a:xfrm>
        </p:spPr>
        <p:txBody>
          <a:bodyPr anchor="b">
            <a:noAutofit/>
          </a:bodyPr>
          <a:lstStyle>
            <a:lvl1pPr algn="l">
              <a:defRPr sz="4000" b="0"/>
            </a:lvl1pPr>
          </a:lstStyle>
          <a:p>
            <a:r>
              <a:rPr lang="en-US"/>
              <a:t>Click to edit Master title style</a:t>
            </a:r>
            <a:endParaRPr/>
          </a:p>
        </p:txBody>
      </p:sp>
      <p:sp>
        <p:nvSpPr>
          <p:cNvPr id="4" name="Text Placeholder 3"/>
          <p:cNvSpPr>
            <a:spLocks noGrp="1"/>
          </p:cNvSpPr>
          <p:nvPr>
            <p:ph type="body" sz="half" idx="2"/>
          </p:nvPr>
        </p:nvSpPr>
        <p:spPr>
          <a:xfrm>
            <a:off x="1293813" y="4724400"/>
            <a:ext cx="3581400" cy="1401764"/>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10;"/>
          <p:cNvSpPr>
            <a:spLocks noGrp="1"/>
          </p:cNvSpPr>
          <p:nvPr>
            <p:ph type="pic" idx="1"/>
          </p:nvPr>
        </p:nvSpPr>
        <p:spPr>
          <a:xfrm>
            <a:off x="6094413" y="685800"/>
            <a:ext cx="5486400" cy="5486400"/>
          </a:xfrm>
          <a:solidFill>
            <a:schemeClr val="tx2">
              <a:lumMod val="10000"/>
            </a:schemeClr>
          </a:solidFill>
          <a:ln w="50800">
            <a:solidFill>
              <a:schemeClr val="tx1"/>
            </a:solidFill>
            <a:miter lim="800000"/>
          </a:ln>
          <a:effectLst>
            <a:outerShdw blurRad="190500" algn="ctr" rotWithShape="0">
              <a:prstClr val="black">
                <a:alpha val="50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5" name="Date Placeholder 4"/>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7" name="Slide Number Placeholder 6"/>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397193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lternate Picture with Caption">
    <p:spTree>
      <p:nvGrpSpPr>
        <p:cNvPr id="1" name=""/>
        <p:cNvGrpSpPr/>
        <p:nvPr/>
      </p:nvGrpSpPr>
      <p:grpSpPr>
        <a:xfrm>
          <a:off x="0" y="0"/>
          <a:ext cx="0" cy="0"/>
          <a:chOff x="0" y="0"/>
          <a:chExt cx="0" cy="0"/>
        </a:xfrm>
      </p:grpSpPr>
      <p:sp>
        <p:nvSpPr>
          <p:cNvPr id="10" name="Rectangle 9"/>
          <p:cNvSpPr/>
          <p:nvPr/>
        </p:nvSpPr>
        <p:spPr>
          <a:xfrm>
            <a:off x="5393372" y="0"/>
            <a:ext cx="67954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Rectangle 10"/>
          <p:cNvSpPr/>
          <p:nvPr/>
        </p:nvSpPr>
        <p:spPr>
          <a:xfrm>
            <a:off x="5484812" y="0"/>
            <a:ext cx="6704012" cy="6858000"/>
          </a:xfrm>
          <a:prstGeom prst="rect">
            <a:avLst/>
          </a:prstGeom>
          <a:solidFill>
            <a:schemeClr val="accent2">
              <a:lumMod val="7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08013" y="685800"/>
            <a:ext cx="4267200" cy="3886200"/>
          </a:xfrm>
        </p:spPr>
        <p:txBody>
          <a:bodyPr anchor="b">
            <a:noAutofit/>
          </a:bodyPr>
          <a:lstStyle>
            <a:lvl1pPr algn="l">
              <a:defRPr sz="4000" b="0"/>
            </a:lvl1pPr>
          </a:lstStyle>
          <a:p>
            <a:r>
              <a:rPr lang="en-US"/>
              <a:t>Click to edit Master title style</a:t>
            </a:r>
            <a:endParaRPr/>
          </a:p>
        </p:txBody>
      </p:sp>
      <p:sp>
        <p:nvSpPr>
          <p:cNvPr id="4" name="Text Placeholder 3"/>
          <p:cNvSpPr>
            <a:spLocks noGrp="1"/>
          </p:cNvSpPr>
          <p:nvPr>
            <p:ph type="body" sz="half" idx="2"/>
          </p:nvPr>
        </p:nvSpPr>
        <p:spPr>
          <a:xfrm>
            <a:off x="608013" y="4724400"/>
            <a:ext cx="4267200" cy="1447800"/>
          </a:xfrm>
        </p:spPr>
        <p:txBody>
          <a:bodyPr>
            <a:normAutofit/>
          </a:bodyPr>
          <a:lstStyle>
            <a:lvl1pPr marL="0" indent="0">
              <a:spcBef>
                <a:spcPts val="12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10;"/>
          <p:cNvSpPr>
            <a:spLocks noGrp="1"/>
          </p:cNvSpPr>
          <p:nvPr>
            <p:ph type="pic" idx="1"/>
          </p:nvPr>
        </p:nvSpPr>
        <p:spPr>
          <a:xfrm>
            <a:off x="6094413" y="685800"/>
            <a:ext cx="5486400" cy="5486400"/>
          </a:xfrm>
          <a:solidFill>
            <a:schemeClr val="tx2">
              <a:lumMod val="10000"/>
            </a:schemeClr>
          </a:solidFill>
          <a:ln w="50800">
            <a:solidFill>
              <a:schemeClr val="tx1"/>
            </a:solidFill>
            <a:miter lim="800000"/>
          </a:ln>
          <a:effectLst>
            <a:outerShdw blurRad="190500" algn="ctr" rotWithShape="0">
              <a:prstClr val="black">
                <a:alpha val="50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5" name="Date Placeholder 4"/>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7" name="Slide Number Placeholder 6"/>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213953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4" name="Date Placeholder 3"/>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6" name="Slide Number Placeholder 5"/>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214899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75812" y="685801"/>
            <a:ext cx="1219201"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93813" y="685800"/>
            <a:ext cx="8153399" cy="5486400"/>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4" name="Date Placeholder 3"/>
          <p:cNvSpPr>
            <a:spLocks noGrp="1"/>
          </p:cNvSpPr>
          <p:nvPr>
            <p:ph type="dt" sz="half" idx="10"/>
          </p:nvPr>
        </p:nvSpPr>
        <p:spPr/>
        <p:txBody>
          <a:bodyPr/>
          <a:lstStyle>
            <a:lvl1pPr>
              <a:defRPr sz="1100"/>
            </a:lvl1pPr>
          </a:lstStyle>
          <a:p>
            <a:fld id="{881DC1F7-A9E9-4D8B-8C97-C74523B2CF2A}" type="datetimeFigureOut">
              <a:rPr lang="en-US" smtClean="0"/>
              <a:pPr/>
              <a:t>5/23/2023</a:t>
            </a:fld>
            <a:endParaRPr lang="en-US"/>
          </a:p>
        </p:txBody>
      </p:sp>
      <p:sp>
        <p:nvSpPr>
          <p:cNvPr id="6" name="Slide Number Placeholder 5"/>
          <p:cNvSpPr>
            <a:spLocks noGrp="1"/>
          </p:cNvSpPr>
          <p:nvPr>
            <p:ph type="sldNum" sz="quarter" idx="12"/>
          </p:nvPr>
        </p:nvSpPr>
        <p:spPr/>
        <p:txBody>
          <a:bodyPr/>
          <a:lstStyle>
            <a:lvl1pPr>
              <a:defRPr sz="1100"/>
            </a:lvl1pPr>
          </a:lstStyle>
          <a:p>
            <a:fld id="{299542E4-2CCF-42F6-9D92-ED568035133D}" type="slidenum">
              <a:rPr lang="en-US" smtClean="0"/>
              <a:pPr/>
              <a:t>‹#›</a:t>
            </a:fld>
            <a:endParaRPr lang="en-US"/>
          </a:p>
        </p:txBody>
      </p:sp>
    </p:spTree>
    <p:extLst>
      <p:ext uri="{BB962C8B-B14F-4D97-AF65-F5344CB8AC3E}">
        <p14:creationId xmlns:p14="http://schemas.microsoft.com/office/powerpoint/2010/main" val="3127202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93812" y="381000"/>
            <a:ext cx="96012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93814" y="1828800"/>
            <a:ext cx="96012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293813" y="6400801"/>
            <a:ext cx="6324599" cy="276226"/>
          </a:xfrm>
          <a:prstGeom prst="rect">
            <a:avLst/>
          </a:prstGeom>
        </p:spPr>
        <p:txBody>
          <a:bodyPr vert="horz" lIns="91440" tIns="45720" rIns="91440" bIns="45720" rtlCol="0" anchor="ctr"/>
          <a:lstStyle>
            <a:lvl1pPr algn="l">
              <a:defRPr sz="1000" cap="all" baseline="0">
                <a:solidFill>
                  <a:schemeClr val="tx1">
                    <a:tint val="75000"/>
                  </a:schemeClr>
                </a:solidFill>
              </a:defRPr>
            </a:lvl1pPr>
          </a:lstStyle>
          <a:p>
            <a:endParaRPr/>
          </a:p>
        </p:txBody>
      </p:sp>
      <p:sp>
        <p:nvSpPr>
          <p:cNvPr id="4" name="Date Placeholder 3"/>
          <p:cNvSpPr>
            <a:spLocks noGrp="1"/>
          </p:cNvSpPr>
          <p:nvPr>
            <p:ph type="dt" sz="half" idx="2"/>
          </p:nvPr>
        </p:nvSpPr>
        <p:spPr>
          <a:xfrm>
            <a:off x="7999412" y="6400801"/>
            <a:ext cx="1320059"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881DC1F7-A9E9-4D8B-8C97-C74523B2CF2A}" type="datetimeFigureOut">
              <a:rPr lang="en-US"/>
              <a:pPr/>
              <a:t>5/23/2023</a:t>
            </a:fld>
            <a:endParaRPr/>
          </a:p>
        </p:txBody>
      </p:sp>
      <p:sp>
        <p:nvSpPr>
          <p:cNvPr id="6" name="Slide Number Placeholder 5"/>
          <p:cNvSpPr>
            <a:spLocks noGrp="1"/>
          </p:cNvSpPr>
          <p:nvPr>
            <p:ph type="sldNum" sz="quarter" idx="4"/>
          </p:nvPr>
        </p:nvSpPr>
        <p:spPr>
          <a:xfrm>
            <a:off x="9675812" y="6400801"/>
            <a:ext cx="1219202"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299542E4-2CCF-42F6-9D92-ED568035133D}" type="slidenum">
              <a:rPr/>
              <a:pPr/>
              <a:t>‹#›</a:t>
            </a:fld>
            <a:endParaRPr/>
          </a:p>
        </p:txBody>
      </p:sp>
    </p:spTree>
    <p:extLst>
      <p:ext uri="{BB962C8B-B14F-4D97-AF65-F5344CB8AC3E}">
        <p14:creationId xmlns:p14="http://schemas.microsoft.com/office/powerpoint/2010/main" val="4108209902"/>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2"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600"/>
        </a:spcBef>
        <a:buFont typeface="Arial" pitchFamily="34" charset="0"/>
        <a:buChar char="•"/>
        <a:defRPr sz="2400" kern="1200">
          <a:solidFill>
            <a:schemeClr val="tx1"/>
          </a:solidFill>
          <a:latin typeface="+mn-lt"/>
          <a:ea typeface="+mn-ea"/>
          <a:cs typeface="+mn-cs"/>
        </a:defRPr>
      </a:lvl1pPr>
      <a:lvl2pPr marL="594360" indent="-228600" algn="l" defTabSz="914400" rtl="0" eaLnBrk="1" latinLnBrk="0" hangingPunct="1">
        <a:lnSpc>
          <a:spcPct val="90000"/>
        </a:lnSpc>
        <a:spcBef>
          <a:spcPts val="800"/>
        </a:spcBef>
        <a:buFont typeface="Century" pitchFamily="18" charset="0"/>
        <a:buChar char="–"/>
        <a:defRPr sz="2000" kern="1200">
          <a:solidFill>
            <a:schemeClr val="tx1"/>
          </a:solidFill>
          <a:latin typeface="+mn-lt"/>
          <a:ea typeface="+mn-ea"/>
          <a:cs typeface="+mn-cs"/>
        </a:defRPr>
      </a:lvl2pPr>
      <a:lvl3pPr marL="960120" indent="-2286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1325880" indent="-228600" algn="l" defTabSz="914400" rtl="0" eaLnBrk="1" latinLnBrk="0" hangingPunct="1">
        <a:lnSpc>
          <a:spcPct val="90000"/>
        </a:lnSpc>
        <a:spcBef>
          <a:spcPts val="600"/>
        </a:spcBef>
        <a:buFont typeface="Arial" pitchFamily="34" charset="0"/>
        <a:buChar char="–"/>
        <a:defRPr sz="1600" kern="1200">
          <a:solidFill>
            <a:schemeClr val="tx1"/>
          </a:solidFill>
          <a:latin typeface="+mn-lt"/>
          <a:ea typeface="+mn-ea"/>
          <a:cs typeface="+mn-cs"/>
        </a:defRPr>
      </a:lvl4pPr>
      <a:lvl5pPr marL="1691640" indent="-228600" algn="l" defTabSz="914400" rtl="0" eaLnBrk="1" latinLnBrk="0" hangingPunct="1">
        <a:lnSpc>
          <a:spcPct val="90000"/>
        </a:lnSpc>
        <a:spcBef>
          <a:spcPts val="600"/>
        </a:spcBef>
        <a:buFont typeface="Arial" pitchFamily="34" charset="0"/>
        <a:buChar char="•"/>
        <a:defRPr sz="1600" kern="1200">
          <a:solidFill>
            <a:schemeClr val="tx1"/>
          </a:solidFill>
          <a:latin typeface="+mn-lt"/>
          <a:ea typeface="+mn-ea"/>
          <a:cs typeface="+mn-cs"/>
        </a:defRPr>
      </a:lvl5pPr>
      <a:lvl6pPr marL="2057400" indent="-228600" algn="l" defTabSz="914400" rtl="0" eaLnBrk="1" latinLnBrk="0" hangingPunct="1">
        <a:spcBef>
          <a:spcPts val="600"/>
        </a:spcBef>
        <a:buFont typeface="Arial" pitchFamily="34" charset="0"/>
        <a:buChar char="–"/>
        <a:defRPr sz="1600" kern="1200">
          <a:solidFill>
            <a:schemeClr val="tx1"/>
          </a:solidFill>
          <a:latin typeface="+mn-lt"/>
          <a:ea typeface="+mn-ea"/>
          <a:cs typeface="+mn-cs"/>
        </a:defRPr>
      </a:lvl6pPr>
      <a:lvl7pPr marL="2423160" indent="-228600" algn="l" defTabSz="914400" rtl="0" eaLnBrk="1" latinLnBrk="0" hangingPunct="1">
        <a:spcBef>
          <a:spcPts val="600"/>
        </a:spcBef>
        <a:buFont typeface="Arial" pitchFamily="34" charset="0"/>
        <a:buChar char="•"/>
        <a:defRPr sz="1600" kern="1200">
          <a:solidFill>
            <a:schemeClr val="tx1"/>
          </a:solidFill>
          <a:latin typeface="+mn-lt"/>
          <a:ea typeface="+mn-ea"/>
          <a:cs typeface="+mn-cs"/>
        </a:defRPr>
      </a:lvl7pPr>
      <a:lvl8pPr marL="2788920" indent="-228600" algn="l" defTabSz="914400" rtl="0" eaLnBrk="1" latinLnBrk="0" hangingPunct="1">
        <a:spcBef>
          <a:spcPts val="600"/>
        </a:spcBef>
        <a:buFont typeface="Arial" pitchFamily="34" charset="0"/>
        <a:buChar char="–"/>
        <a:defRPr sz="1600" kern="1200">
          <a:solidFill>
            <a:schemeClr val="tx1"/>
          </a:solidFill>
          <a:latin typeface="+mn-lt"/>
          <a:ea typeface="+mn-ea"/>
          <a:cs typeface="+mn-cs"/>
        </a:defRPr>
      </a:lvl8pPr>
      <a:lvl9pPr marL="3154680" indent="-228600" algn="l" defTabSz="914400" rtl="0" eaLnBrk="1" latinLnBrk="0" hangingPunct="1">
        <a:spcBef>
          <a:spcPts val="600"/>
        </a:spcBef>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Sigmund Freud </a:t>
            </a:r>
          </a:p>
        </p:txBody>
      </p:sp>
      <p:sp>
        <p:nvSpPr>
          <p:cNvPr id="3" name="Subtitle 2"/>
          <p:cNvSpPr>
            <a:spLocks noGrp="1"/>
          </p:cNvSpPr>
          <p:nvPr>
            <p:ph type="subTitle" idx="1"/>
          </p:nvPr>
        </p:nvSpPr>
        <p:spPr/>
        <p:txBody>
          <a:bodyPr>
            <a:normAutofit/>
          </a:bodyPr>
          <a:lstStyle/>
          <a:p>
            <a:r>
              <a:rPr lang="en-US" dirty="0">
                <a:solidFill>
                  <a:srgbClr val="96B86B"/>
                </a:solidFill>
              </a:rPr>
              <a:t>Subtitle</a:t>
            </a:r>
          </a:p>
        </p:txBody>
      </p:sp>
    </p:spTree>
    <p:extLst>
      <p:ext uri="{BB962C8B-B14F-4D97-AF65-F5344CB8AC3E}">
        <p14:creationId xmlns:p14="http://schemas.microsoft.com/office/powerpoint/2010/main" val="360082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115" y="319303"/>
            <a:ext cx="9903418" cy="1128497"/>
          </a:xfrm>
        </p:spPr>
        <p:txBody>
          <a:bodyPr>
            <a:normAutofit/>
          </a:bodyPr>
          <a:lstStyle/>
          <a:p>
            <a:pPr algn="ctr"/>
            <a:r>
              <a:rPr lang="en-US" sz="4399" b="1" dirty="0"/>
              <a:t>Level of consciousness/mind</a:t>
            </a:r>
          </a:p>
        </p:txBody>
      </p:sp>
      <p:sp>
        <p:nvSpPr>
          <p:cNvPr id="3" name="Content Placeholder 2"/>
          <p:cNvSpPr>
            <a:spLocks noGrp="1"/>
          </p:cNvSpPr>
          <p:nvPr>
            <p:ph idx="1"/>
          </p:nvPr>
        </p:nvSpPr>
        <p:spPr>
          <a:xfrm>
            <a:off x="1141116" y="2223806"/>
            <a:ext cx="5476901" cy="3674074"/>
          </a:xfrm>
        </p:spPr>
        <p:txBody>
          <a:bodyPr>
            <a:normAutofit/>
          </a:bodyPr>
          <a:lstStyle/>
          <a:p>
            <a:pPr>
              <a:lnSpc>
                <a:spcPct val="200000"/>
              </a:lnSpc>
            </a:pPr>
            <a:r>
              <a:rPr lang="en-US" sz="3599" dirty="0"/>
              <a:t>Unconsciousness</a:t>
            </a:r>
          </a:p>
          <a:p>
            <a:pPr>
              <a:lnSpc>
                <a:spcPct val="200000"/>
              </a:lnSpc>
            </a:pPr>
            <a:r>
              <a:rPr lang="en-US" sz="3599" dirty="0"/>
              <a:t>Preconsciousness</a:t>
            </a:r>
          </a:p>
          <a:p>
            <a:pPr>
              <a:lnSpc>
                <a:spcPct val="200000"/>
              </a:lnSpc>
            </a:pPr>
            <a:r>
              <a:rPr lang="en-US" sz="3599" dirty="0"/>
              <a:t>Consciousness</a:t>
            </a:r>
          </a:p>
        </p:txBody>
      </p:sp>
      <p:pic>
        <p:nvPicPr>
          <p:cNvPr id="4" name="Picture 3"/>
          <p:cNvPicPr>
            <a:picLocks noChangeAspect="1"/>
          </p:cNvPicPr>
          <p:nvPr/>
        </p:nvPicPr>
        <p:blipFill>
          <a:blip r:embed="rId2"/>
          <a:stretch>
            <a:fillRect/>
          </a:stretch>
        </p:blipFill>
        <p:spPr>
          <a:xfrm>
            <a:off x="7389812" y="1905000"/>
            <a:ext cx="4229889" cy="4473687"/>
          </a:xfrm>
          <a:prstGeom prst="rect">
            <a:avLst/>
          </a:prstGeom>
        </p:spPr>
      </p:pic>
    </p:spTree>
    <p:extLst>
      <p:ext uri="{BB962C8B-B14F-4D97-AF65-F5344CB8AC3E}">
        <p14:creationId xmlns:p14="http://schemas.microsoft.com/office/powerpoint/2010/main" val="23268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4672-A240-47DE-AA39-03BA4AD960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93775C-ECFD-4051-A866-85EB0481FB6C}"/>
              </a:ext>
            </a:extLst>
          </p:cNvPr>
          <p:cNvSpPr>
            <a:spLocks noGrp="1"/>
          </p:cNvSpPr>
          <p:nvPr>
            <p:ph idx="1"/>
          </p:nvPr>
        </p:nvSpPr>
        <p:spPr/>
        <p:txBody>
          <a:bodyPr/>
          <a:lstStyle/>
          <a:p>
            <a:endParaRPr lang="en-US"/>
          </a:p>
        </p:txBody>
      </p:sp>
      <p:pic>
        <p:nvPicPr>
          <p:cNvPr id="4" name="Content Placeholder 3">
            <a:extLst>
              <a:ext uri="{FF2B5EF4-FFF2-40B4-BE49-F238E27FC236}">
                <a16:creationId xmlns:a16="http://schemas.microsoft.com/office/drawing/2014/main" id="{7D465073-B5A9-4806-97BA-CD0AD17509C5}"/>
              </a:ext>
            </a:extLst>
          </p:cNvPr>
          <p:cNvPicPr>
            <a:picLocks noGrp="1" noChangeAspect="1" noChangeArrowheads="1"/>
          </p:cNvPicPr>
          <p:nvPr/>
        </p:nvPicPr>
        <p:blipFill rotWithShape="1">
          <a:blip r:embed="rId2">
            <a:extLst>
              <a:ext uri="{28A0092B-C50C-407E-A947-70E740481C1C}">
                <a14:useLocalDpi xmlns:a14="http://schemas.microsoft.com/office/drawing/2010/main" val="0"/>
              </a:ext>
            </a:extLst>
          </a:blip>
          <a:srcRect t="3233" r="4622" b="10623"/>
          <a:stretch/>
        </p:blipFill>
        <p:spPr>
          <a:xfrm>
            <a:off x="2679699" y="1600200"/>
            <a:ext cx="6829425" cy="4400550"/>
          </a:xfrm>
          <a:prstGeom prst="rect">
            <a:avLst/>
          </a:prstGeom>
        </p:spPr>
      </p:pic>
    </p:spTree>
    <p:extLst>
      <p:ext uri="{BB962C8B-B14F-4D97-AF65-F5344CB8AC3E}">
        <p14:creationId xmlns:p14="http://schemas.microsoft.com/office/powerpoint/2010/main" val="102727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Levels of Mind</a:t>
            </a:r>
            <a:br>
              <a:rPr lang="en-GB" dirty="0"/>
            </a:br>
            <a:endParaRPr lang="en-GB" dirty="0"/>
          </a:p>
        </p:txBody>
      </p:sp>
      <p:sp>
        <p:nvSpPr>
          <p:cNvPr id="3" name="Content Placeholder 2"/>
          <p:cNvSpPr>
            <a:spLocks noGrp="1"/>
          </p:cNvSpPr>
          <p:nvPr>
            <p:ph idx="1"/>
          </p:nvPr>
        </p:nvSpPr>
        <p:spPr/>
        <p:txBody>
          <a:bodyPr>
            <a:normAutofit lnSpcReduction="10000"/>
          </a:bodyPr>
          <a:lstStyle/>
          <a:p>
            <a:pPr marL="514196" indent="-514196" algn="just">
              <a:buClr>
                <a:schemeClr val="tx1"/>
              </a:buClr>
              <a:buAutoNum type="arabicPeriod"/>
            </a:pPr>
            <a:r>
              <a:rPr lang="en-US" sz="2799" b="1" dirty="0"/>
              <a:t>Consciousness:</a:t>
            </a:r>
            <a:r>
              <a:rPr lang="en-US" sz="2799" dirty="0"/>
              <a:t> It contains all of the current thoughts, feelings, and wishes of which we are aware at any given moment. It includes what you are thinking about right now.</a:t>
            </a:r>
          </a:p>
          <a:p>
            <a:pPr marL="514350" indent="-514350" algn="just">
              <a:buFont typeface="+mj-lt"/>
              <a:buAutoNum type="arabicPeriod"/>
            </a:pPr>
            <a:endParaRPr lang="en-GB" sz="2799" dirty="0"/>
          </a:p>
          <a:p>
            <a:pPr marL="514350" indent="-514350" algn="just">
              <a:buClr>
                <a:schemeClr val="tx1"/>
              </a:buClr>
              <a:buFont typeface="+mj-lt"/>
              <a:buAutoNum type="arabicPeriod"/>
            </a:pPr>
            <a:r>
              <a:rPr lang="en-US" sz="2799" b="1" dirty="0">
                <a:solidFill>
                  <a:srgbClr val="FFC000"/>
                </a:solidFill>
              </a:rPr>
              <a:t> </a:t>
            </a:r>
            <a:r>
              <a:rPr lang="en-US" sz="2799" b="1" dirty="0"/>
              <a:t>Sub-consciousness:</a:t>
            </a:r>
            <a:r>
              <a:rPr lang="en-US" sz="2799" dirty="0"/>
              <a:t> It is the storage point for any recent memories needed for quick recall, such as what your telephone number is or the name of a person you just met. It also holds current information that you use every day, such as your current recurring thoughts, behavior patterns, habits, and feelings.</a:t>
            </a:r>
            <a:endParaRPr lang="en-GB" sz="2799" dirty="0"/>
          </a:p>
          <a:p>
            <a:pPr marL="0" indent="0">
              <a:buNone/>
            </a:pPr>
            <a:endParaRPr lang="en-GB" sz="2799" dirty="0"/>
          </a:p>
        </p:txBody>
      </p:sp>
    </p:spTree>
    <p:extLst>
      <p:ext uri="{BB962C8B-B14F-4D97-AF65-F5344CB8AC3E}">
        <p14:creationId xmlns:p14="http://schemas.microsoft.com/office/powerpoint/2010/main" val="203808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Levels of Mind</a:t>
            </a:r>
            <a:br>
              <a:rPr lang="en-GB" dirty="0"/>
            </a:br>
            <a:endParaRPr lang="en-GB" dirty="0"/>
          </a:p>
        </p:txBody>
      </p:sp>
      <p:sp>
        <p:nvSpPr>
          <p:cNvPr id="3" name="Content Placeholder 2"/>
          <p:cNvSpPr>
            <a:spLocks noGrp="1"/>
          </p:cNvSpPr>
          <p:nvPr>
            <p:ph idx="1"/>
          </p:nvPr>
        </p:nvSpPr>
        <p:spPr/>
        <p:txBody>
          <a:bodyPr>
            <a:normAutofit/>
          </a:bodyPr>
          <a:lstStyle/>
          <a:p>
            <a:pPr marL="0" indent="0" algn="just">
              <a:lnSpc>
                <a:spcPct val="150000"/>
              </a:lnSpc>
              <a:buNone/>
            </a:pPr>
            <a:r>
              <a:rPr lang="en-US" sz="2399" b="1" dirty="0"/>
              <a:t>3. Unconsciousness:</a:t>
            </a:r>
            <a:r>
              <a:rPr lang="en-US" sz="2399" dirty="0"/>
              <a:t> </a:t>
            </a:r>
          </a:p>
          <a:p>
            <a:pPr marL="0" indent="0" algn="just">
              <a:lnSpc>
                <a:spcPct val="150000"/>
              </a:lnSpc>
              <a:buNone/>
            </a:pPr>
            <a:r>
              <a:rPr lang="en-US" sz="2399" dirty="0"/>
              <a:t>The unconscious mind is where all of our painful memories, desires, wishes and past experiences reside. These are those memories that have been repressed through trauma and those that have simply been consciously forgotten and no longer important to us (automatic thoughts). It’s from these memories and experiences that our beliefs, habits, and behaviors are formed.</a:t>
            </a:r>
            <a:endParaRPr lang="en-GB" sz="2399" dirty="0"/>
          </a:p>
          <a:p>
            <a:pPr marL="0" indent="0">
              <a:buNone/>
            </a:pPr>
            <a:endParaRPr lang="en-GB" dirty="0"/>
          </a:p>
        </p:txBody>
      </p:sp>
    </p:spTree>
    <p:extLst>
      <p:ext uri="{BB962C8B-B14F-4D97-AF65-F5344CB8AC3E}">
        <p14:creationId xmlns:p14="http://schemas.microsoft.com/office/powerpoint/2010/main" val="3078341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3" y="304800"/>
            <a:ext cx="11504612" cy="990600"/>
          </a:xfrm>
        </p:spPr>
        <p:txBody>
          <a:bodyPr>
            <a:normAutofit/>
          </a:bodyPr>
          <a:lstStyle/>
          <a:p>
            <a:pPr algn="ctr"/>
            <a:r>
              <a:rPr lang="en-US" sz="3999" b="1" dirty="0"/>
              <a:t>Personality structure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812" y="2176090"/>
            <a:ext cx="5850535" cy="3138464"/>
          </a:xfrm>
          <a:prstGeom prst="rect">
            <a:avLst/>
          </a:prstGeom>
          <a:ln>
            <a:noFill/>
          </a:ln>
          <a:effectLst>
            <a:softEdge rad="112500"/>
          </a:effectLst>
        </p:spPr>
      </p:pic>
    </p:spTree>
    <p:extLst>
      <p:ext uri="{BB962C8B-B14F-4D97-AF65-F5344CB8AC3E}">
        <p14:creationId xmlns:p14="http://schemas.microsoft.com/office/powerpoint/2010/main" val="1902094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981" y="228600"/>
            <a:ext cx="10512862" cy="1014983"/>
          </a:xfrm>
        </p:spPr>
        <p:txBody>
          <a:bodyPr>
            <a:normAutofit fontScale="90000"/>
          </a:bodyPr>
          <a:lstStyle/>
          <a:p>
            <a:r>
              <a:rPr lang="en-US" b="1" dirty="0"/>
              <a:t>Structure of Personality</a:t>
            </a:r>
            <a:br>
              <a:rPr lang="en-GB" dirty="0"/>
            </a:br>
            <a:endParaRPr lang="en-GB" dirty="0"/>
          </a:p>
        </p:txBody>
      </p:sp>
      <p:sp>
        <p:nvSpPr>
          <p:cNvPr id="3" name="Content Placeholder 2"/>
          <p:cNvSpPr>
            <a:spLocks noGrp="1"/>
          </p:cNvSpPr>
          <p:nvPr>
            <p:ph idx="1"/>
          </p:nvPr>
        </p:nvSpPr>
        <p:spPr>
          <a:xfrm>
            <a:off x="837981" y="1357852"/>
            <a:ext cx="10512862" cy="5156444"/>
          </a:xfrm>
        </p:spPr>
        <p:txBody>
          <a:bodyPr/>
          <a:lstStyle/>
          <a:p>
            <a:pPr marL="0" indent="0">
              <a:buNone/>
            </a:pPr>
            <a:r>
              <a:rPr lang="en-US" sz="2799" b="1" dirty="0"/>
              <a:t>1. ID</a:t>
            </a:r>
            <a:endParaRPr lang="en-GB" sz="2799" dirty="0"/>
          </a:p>
          <a:p>
            <a:pPr lvl="0">
              <a:buFont typeface="Wingdings" panose="05000000000000000000" pitchFamily="2" charset="2"/>
              <a:buChar char="Ø"/>
            </a:pPr>
            <a:r>
              <a:rPr lang="en-US" sz="2399" dirty="0"/>
              <a:t>Based on </a:t>
            </a:r>
            <a:r>
              <a:rPr lang="en-US" sz="2399" b="1" i="1" dirty="0"/>
              <a:t>Pleasure principle </a:t>
            </a:r>
            <a:endParaRPr lang="en-GB" sz="2399" b="1" i="1" dirty="0"/>
          </a:p>
          <a:p>
            <a:pPr lvl="0">
              <a:buFont typeface="Wingdings" panose="05000000000000000000" pitchFamily="2" charset="2"/>
              <a:buChar char="Ø"/>
            </a:pPr>
            <a:r>
              <a:rPr lang="en-US" sz="2399" dirty="0"/>
              <a:t>Newborn child is all id </a:t>
            </a:r>
            <a:endParaRPr lang="en-GB" sz="2399" dirty="0"/>
          </a:p>
          <a:p>
            <a:pPr lvl="0">
              <a:buFont typeface="Wingdings" panose="05000000000000000000" pitchFamily="2" charset="2"/>
              <a:buChar char="Ø"/>
            </a:pPr>
            <a:r>
              <a:rPr lang="en-US" sz="2399" dirty="0"/>
              <a:t>Not in touch with the external world</a:t>
            </a:r>
            <a:endParaRPr lang="en-GB" sz="2399" dirty="0"/>
          </a:p>
          <a:p>
            <a:pPr lvl="0">
              <a:buFont typeface="Wingdings" panose="05000000000000000000" pitchFamily="2" charset="2"/>
              <a:buChar char="Ø"/>
            </a:pPr>
            <a:r>
              <a:rPr lang="en-US" sz="2399" dirty="0"/>
              <a:t>Not affected by reality, logic or the everyday world, as it operates within the unconscious part of the mind.</a:t>
            </a:r>
            <a:endParaRPr lang="en-GB" sz="2399" dirty="0"/>
          </a:p>
          <a:p>
            <a:pPr lvl="0">
              <a:buFont typeface="Wingdings" panose="05000000000000000000" pitchFamily="2" charset="2"/>
              <a:buChar char="Ø"/>
            </a:pPr>
            <a:r>
              <a:rPr lang="en-US" sz="2399" dirty="0"/>
              <a:t>Id is illogical, demanding, and blind.</a:t>
            </a:r>
            <a:endParaRPr lang="en-GB" sz="2399" dirty="0"/>
          </a:p>
          <a:p>
            <a:pPr lvl="0">
              <a:buFont typeface="Wingdings" panose="05000000000000000000" pitchFamily="2" charset="2"/>
              <a:buChar char="Ø"/>
            </a:pPr>
            <a:r>
              <a:rPr lang="en-US" sz="2399" dirty="0"/>
              <a:t>Id is the unconscious part of the mind; that act instantaneously without giving much thought to what is right and what is wrong.</a:t>
            </a:r>
            <a:endParaRPr lang="en-GB" sz="2399" dirty="0"/>
          </a:p>
          <a:p>
            <a:endParaRPr lang="en-GB" dirty="0"/>
          </a:p>
        </p:txBody>
      </p:sp>
    </p:spTree>
    <p:extLst>
      <p:ext uri="{BB962C8B-B14F-4D97-AF65-F5344CB8AC3E}">
        <p14:creationId xmlns:p14="http://schemas.microsoft.com/office/powerpoint/2010/main" val="2455295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of Personality</a:t>
            </a:r>
            <a:br>
              <a:rPr lang="en-GB" dirty="0"/>
            </a:br>
            <a:endParaRPr lang="en-GB" dirty="0"/>
          </a:p>
        </p:txBody>
      </p:sp>
      <p:sp>
        <p:nvSpPr>
          <p:cNvPr id="3" name="Content Placeholder 2"/>
          <p:cNvSpPr>
            <a:spLocks noGrp="1"/>
          </p:cNvSpPr>
          <p:nvPr>
            <p:ph idx="1"/>
          </p:nvPr>
        </p:nvSpPr>
        <p:spPr>
          <a:xfrm>
            <a:off x="837981" y="1357852"/>
            <a:ext cx="10512862" cy="4818395"/>
          </a:xfrm>
        </p:spPr>
        <p:txBody>
          <a:bodyPr>
            <a:normAutofit fontScale="92500" lnSpcReduction="20000"/>
          </a:bodyPr>
          <a:lstStyle/>
          <a:p>
            <a:pPr marL="0" indent="0">
              <a:buNone/>
            </a:pPr>
            <a:r>
              <a:rPr lang="en-US" sz="2399" b="1" dirty="0"/>
              <a:t>2. Ego</a:t>
            </a:r>
            <a:endParaRPr lang="en-GB" sz="2399" dirty="0"/>
          </a:p>
          <a:p>
            <a:pPr lvl="0">
              <a:buFont typeface="Wingdings" panose="05000000000000000000" pitchFamily="2" charset="2"/>
              <a:buChar char="Ø"/>
            </a:pPr>
            <a:r>
              <a:rPr lang="en-US" sz="2399" dirty="0"/>
              <a:t>Based on reality principle </a:t>
            </a:r>
            <a:endParaRPr lang="en-GB" sz="2399" dirty="0"/>
          </a:p>
          <a:p>
            <a:pPr lvl="0">
              <a:buFont typeface="Wingdings" panose="05000000000000000000" pitchFamily="2" charset="2"/>
              <a:buChar char="Ø"/>
            </a:pPr>
            <a:r>
              <a:rPr lang="en-US" sz="2399" dirty="0"/>
              <a:t>Develops in infancy</a:t>
            </a:r>
            <a:endParaRPr lang="en-GB" sz="2399" dirty="0"/>
          </a:p>
          <a:p>
            <a:pPr lvl="0">
              <a:buFont typeface="Wingdings" panose="05000000000000000000" pitchFamily="2" charset="2"/>
              <a:buChar char="Ø"/>
            </a:pPr>
            <a:r>
              <a:rPr lang="en-US" sz="2399" dirty="0"/>
              <a:t>Mediate between the unrealistic id and the external real world.</a:t>
            </a:r>
            <a:endParaRPr lang="en-GB" sz="2399" dirty="0"/>
          </a:p>
          <a:p>
            <a:pPr lvl="0">
              <a:buFont typeface="Wingdings" panose="05000000000000000000" pitchFamily="2" charset="2"/>
              <a:buChar char="Ø"/>
            </a:pPr>
            <a:r>
              <a:rPr lang="en-US" sz="2399" dirty="0"/>
              <a:t>Decision making component of personality.</a:t>
            </a:r>
            <a:endParaRPr lang="en-GB" sz="2399" dirty="0"/>
          </a:p>
          <a:p>
            <a:pPr lvl="0">
              <a:buFont typeface="Wingdings" panose="05000000000000000000" pitchFamily="2" charset="2"/>
              <a:buChar char="Ø"/>
            </a:pPr>
            <a:r>
              <a:rPr lang="en-US" sz="2399" dirty="0"/>
              <a:t>Ego has no concept of right or wrong</a:t>
            </a:r>
            <a:endParaRPr lang="en-GB" sz="2399" dirty="0"/>
          </a:p>
          <a:p>
            <a:pPr lvl="0">
              <a:buFont typeface="Wingdings" panose="05000000000000000000" pitchFamily="2" charset="2"/>
              <a:buChar char="Ø"/>
            </a:pPr>
            <a:r>
              <a:rPr lang="en-US" sz="2399" dirty="0"/>
              <a:t>It achieves its end of satisfying without causing harm to itself or to the id.</a:t>
            </a:r>
            <a:endParaRPr lang="en-GB" sz="2399" dirty="0"/>
          </a:p>
          <a:p>
            <a:pPr lvl="0">
              <a:buFont typeface="Wingdings" panose="05000000000000000000" pitchFamily="2" charset="2"/>
              <a:buChar char="Ø"/>
            </a:pPr>
            <a:r>
              <a:rPr lang="en-US" sz="2399" dirty="0"/>
              <a:t>Ego is the logical and the conscious part of the mind </a:t>
            </a:r>
            <a:endParaRPr lang="en-GB" sz="2399" dirty="0"/>
          </a:p>
          <a:p>
            <a:pPr lvl="0">
              <a:buFont typeface="Wingdings" panose="05000000000000000000" pitchFamily="2" charset="2"/>
              <a:buChar char="Ø"/>
            </a:pPr>
            <a:r>
              <a:rPr lang="en-US" sz="2399" dirty="0"/>
              <a:t>It balances the demands of Id and super-ego in the context of real life situations.</a:t>
            </a:r>
            <a:endParaRPr lang="en-GB" sz="2399" dirty="0"/>
          </a:p>
          <a:p>
            <a:pPr lvl="0">
              <a:buFont typeface="Wingdings" panose="05000000000000000000" pitchFamily="2" charset="2"/>
              <a:buChar char="Ø"/>
            </a:pPr>
            <a:r>
              <a:rPr lang="en-US" sz="2399" dirty="0"/>
              <a:t>Ego is conscious and hence keep a check on Id through a proper reasoning of an external environment.</a:t>
            </a:r>
            <a:endParaRPr lang="en-GB" sz="2399" dirty="0"/>
          </a:p>
          <a:p>
            <a:endParaRPr lang="en-GB" dirty="0"/>
          </a:p>
        </p:txBody>
      </p:sp>
    </p:spTree>
    <p:extLst>
      <p:ext uri="{BB962C8B-B14F-4D97-AF65-F5344CB8AC3E}">
        <p14:creationId xmlns:p14="http://schemas.microsoft.com/office/powerpoint/2010/main" val="368259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F173B-E9AB-4E4B-830A-AA21BA31984A}"/>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9D0946E-BA44-4548-A509-0DF1D568C5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6863" y="1828800"/>
            <a:ext cx="6515100" cy="4343400"/>
          </a:xfrm>
          <a:prstGeom prst="rect">
            <a:avLst/>
          </a:prstGeom>
          <a:ln>
            <a:noFill/>
          </a:ln>
          <a:effectLst>
            <a:softEdge rad="112500"/>
          </a:effectLst>
        </p:spPr>
      </p:pic>
    </p:spTree>
    <p:extLst>
      <p:ext uri="{BB962C8B-B14F-4D97-AF65-F5344CB8AC3E}">
        <p14:creationId xmlns:p14="http://schemas.microsoft.com/office/powerpoint/2010/main" val="549307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of Personality</a:t>
            </a:r>
            <a:br>
              <a:rPr lang="en-GB" dirty="0"/>
            </a:br>
            <a:endParaRPr lang="en-GB" dirty="0"/>
          </a:p>
        </p:txBody>
      </p:sp>
      <p:sp>
        <p:nvSpPr>
          <p:cNvPr id="3" name="Content Placeholder 2"/>
          <p:cNvSpPr>
            <a:spLocks noGrp="1"/>
          </p:cNvSpPr>
          <p:nvPr>
            <p:ph idx="1"/>
          </p:nvPr>
        </p:nvSpPr>
        <p:spPr>
          <a:xfrm>
            <a:off x="837981" y="1472123"/>
            <a:ext cx="10512862" cy="4704125"/>
          </a:xfrm>
        </p:spPr>
        <p:txBody>
          <a:bodyPr>
            <a:normAutofit/>
          </a:bodyPr>
          <a:lstStyle/>
          <a:p>
            <a:pPr marL="0" indent="0">
              <a:buNone/>
            </a:pPr>
            <a:r>
              <a:rPr lang="en-US" sz="2399" b="1" dirty="0"/>
              <a:t>3. Superego</a:t>
            </a:r>
            <a:endParaRPr lang="en-GB" sz="2399" dirty="0"/>
          </a:p>
          <a:p>
            <a:pPr lvl="0">
              <a:buFont typeface="Wingdings" panose="05000000000000000000" pitchFamily="2" charset="2"/>
              <a:buChar char="Ø"/>
            </a:pPr>
            <a:r>
              <a:rPr lang="en-US" sz="2399" dirty="0"/>
              <a:t>Based on morality principle</a:t>
            </a:r>
            <a:endParaRPr lang="en-GB" sz="2399" dirty="0"/>
          </a:p>
          <a:p>
            <a:pPr lvl="0">
              <a:buFont typeface="Wingdings" panose="05000000000000000000" pitchFamily="2" charset="2"/>
              <a:buChar char="Ø"/>
            </a:pPr>
            <a:r>
              <a:rPr lang="en-US" sz="2399" dirty="0"/>
              <a:t>Develops around the age of 3 – 5</a:t>
            </a:r>
            <a:endParaRPr lang="en-GB" sz="2399" dirty="0"/>
          </a:p>
          <a:p>
            <a:pPr lvl="0">
              <a:buFont typeface="Wingdings" panose="05000000000000000000" pitchFamily="2" charset="2"/>
              <a:buChar char="Ø"/>
            </a:pPr>
            <a:r>
              <a:rPr lang="en-US" sz="2399" dirty="0"/>
              <a:t>The Super-Ego is related to the social or the moral values that an individual inculcates as he matures. </a:t>
            </a:r>
            <a:endParaRPr lang="en-GB" sz="2399" dirty="0"/>
          </a:p>
          <a:p>
            <a:pPr lvl="0">
              <a:buFont typeface="Wingdings" panose="05000000000000000000" pitchFamily="2" charset="2"/>
              <a:buChar char="Ø"/>
            </a:pPr>
            <a:r>
              <a:rPr lang="en-US" sz="2399" dirty="0"/>
              <a:t>It acts as an ethical constraint on behavior and helps an individual to develop his conscience.</a:t>
            </a:r>
            <a:endParaRPr lang="en-GB" sz="2399" dirty="0"/>
          </a:p>
          <a:p>
            <a:pPr lvl="0">
              <a:buFont typeface="Wingdings" panose="05000000000000000000" pitchFamily="2" charset="2"/>
              <a:buChar char="Ø"/>
            </a:pPr>
            <a:r>
              <a:rPr lang="en-US" sz="2399" dirty="0"/>
              <a:t>As the individual grows in the society, he learns the cultural values and the norms of the society which help him to differentiate between right and wrong.</a:t>
            </a:r>
            <a:endParaRPr lang="en-GB" sz="2399" dirty="0"/>
          </a:p>
          <a:p>
            <a:pPr>
              <a:buFont typeface="Wingdings" panose="05000000000000000000" pitchFamily="2" charset="2"/>
              <a:buChar char="Ø"/>
            </a:pPr>
            <a:endParaRPr lang="en-GB" sz="2399" dirty="0"/>
          </a:p>
        </p:txBody>
      </p:sp>
    </p:spTree>
    <p:extLst>
      <p:ext uri="{BB962C8B-B14F-4D97-AF65-F5344CB8AC3E}">
        <p14:creationId xmlns:p14="http://schemas.microsoft.com/office/powerpoint/2010/main" val="530740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211" y="966557"/>
            <a:ext cx="4832821" cy="3650743"/>
          </a:xfrm>
        </p:spPr>
        <p:txBody>
          <a:bodyPr>
            <a:normAutofit/>
          </a:bodyPr>
          <a:lstStyle/>
          <a:p>
            <a:pPr lvl="1">
              <a:buFont typeface="Wingdings" panose="05000000000000000000" pitchFamily="2" charset="2"/>
              <a:buChar char="Ø"/>
            </a:pPr>
            <a:r>
              <a:rPr lang="en-US" sz="2799" dirty="0"/>
              <a:t>holds all of our internalized moral standards and ideals </a:t>
            </a:r>
          </a:p>
          <a:p>
            <a:pPr lvl="1">
              <a:buFont typeface="Wingdings" panose="05000000000000000000" pitchFamily="2" charset="2"/>
              <a:buChar char="Ø"/>
            </a:pPr>
            <a:r>
              <a:rPr lang="en-US" sz="2799" dirty="0"/>
              <a:t>our sense of right and wrong.</a:t>
            </a:r>
          </a:p>
          <a:p>
            <a:pPr lvl="1">
              <a:buFont typeface="Wingdings" panose="05000000000000000000" pitchFamily="2" charset="2"/>
              <a:buChar char="Ø"/>
            </a:pPr>
            <a:r>
              <a:rPr lang="en-US" sz="2799" dirty="0"/>
              <a:t>provides guidelines for making judgments.</a:t>
            </a:r>
          </a:p>
          <a:p>
            <a:pPr lvl="1"/>
            <a:endParaRPr lang="en-US" sz="2799"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9612" y="1143000"/>
            <a:ext cx="5987579" cy="3474300"/>
          </a:xfrm>
          <a:prstGeom prst="rect">
            <a:avLst/>
          </a:prstGeom>
          <a:ln>
            <a:noFill/>
          </a:ln>
          <a:effectLst>
            <a:softEdge rad="112500"/>
          </a:effectLst>
        </p:spPr>
      </p:pic>
    </p:spTree>
    <p:extLst>
      <p:ext uri="{BB962C8B-B14F-4D97-AF65-F5344CB8AC3E}">
        <p14:creationId xmlns:p14="http://schemas.microsoft.com/office/powerpoint/2010/main" val="4281971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4400" b="1" dirty="0"/>
          </a:p>
        </p:txBody>
      </p:sp>
      <p:sp>
        <p:nvSpPr>
          <p:cNvPr id="3" name="Content Placeholder 2"/>
          <p:cNvSpPr>
            <a:spLocks noGrp="1"/>
          </p:cNvSpPr>
          <p:nvPr>
            <p:ph idx="1"/>
          </p:nvPr>
        </p:nvSpPr>
        <p:spPr/>
        <p:txBody>
          <a:bodyPr>
            <a:noAutofit/>
          </a:bodyPr>
          <a:lstStyle/>
          <a:p>
            <a:r>
              <a:rPr lang="en-US" sz="4000" b="1" dirty="0"/>
              <a:t>ID: </a:t>
            </a:r>
            <a:r>
              <a:rPr lang="en-US" sz="4000" dirty="0"/>
              <a:t>Operates on pleasure principle.</a:t>
            </a:r>
          </a:p>
          <a:p>
            <a:r>
              <a:rPr lang="en-US" sz="4000" b="1" dirty="0"/>
              <a:t>EGO: </a:t>
            </a:r>
            <a:r>
              <a:rPr lang="en-US" sz="4000" dirty="0"/>
              <a:t>Responsible for dealing with the reality.</a:t>
            </a:r>
          </a:p>
          <a:p>
            <a:r>
              <a:rPr lang="en-US" sz="4000" b="1" dirty="0"/>
              <a:t>SUPER EGO: </a:t>
            </a:r>
            <a:r>
              <a:rPr lang="en-US" sz="4000" dirty="0"/>
              <a:t>Holds all the internalized moral standards and ideals.</a:t>
            </a:r>
          </a:p>
        </p:txBody>
      </p:sp>
    </p:spTree>
    <p:extLst>
      <p:ext uri="{BB962C8B-B14F-4D97-AF65-F5344CB8AC3E}">
        <p14:creationId xmlns:p14="http://schemas.microsoft.com/office/powerpoint/2010/main" val="378957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Example</a:t>
            </a:r>
          </a:p>
        </p:txBody>
      </p:sp>
      <p:sp>
        <p:nvSpPr>
          <p:cNvPr id="3" name="Content Placeholder 2"/>
          <p:cNvSpPr>
            <a:spLocks noGrp="1"/>
          </p:cNvSpPr>
          <p:nvPr>
            <p:ph idx="1"/>
          </p:nvPr>
        </p:nvSpPr>
        <p:spPr/>
        <p:txBody>
          <a:bodyPr>
            <a:normAutofit/>
          </a:bodyPr>
          <a:lstStyle/>
          <a:p>
            <a:r>
              <a:rPr lang="en-US" sz="4000" dirty="0"/>
              <a:t>Smoking</a:t>
            </a:r>
          </a:p>
          <a:p>
            <a:r>
              <a:rPr lang="en-US" sz="4000" b="1" dirty="0"/>
              <a:t>ID: </a:t>
            </a:r>
            <a:r>
              <a:rPr lang="en-US" sz="4000" dirty="0"/>
              <a:t>The desire to smoke.</a:t>
            </a:r>
          </a:p>
          <a:p>
            <a:r>
              <a:rPr lang="en-US" sz="4000" b="1" dirty="0"/>
              <a:t>EGO: </a:t>
            </a:r>
            <a:r>
              <a:rPr lang="en-US" sz="4000" dirty="0"/>
              <a:t>The fear of harm it could cause.</a:t>
            </a:r>
          </a:p>
          <a:p>
            <a:r>
              <a:rPr lang="en-US" sz="4000" b="1" dirty="0"/>
              <a:t>SUPER EGO: </a:t>
            </a:r>
            <a:r>
              <a:rPr lang="en-US" sz="4000" dirty="0"/>
              <a:t>Guilt for going against your moral values.</a:t>
            </a:r>
          </a:p>
          <a:p>
            <a:endParaRPr lang="en-US" sz="3200" dirty="0"/>
          </a:p>
        </p:txBody>
      </p:sp>
    </p:spTree>
    <p:extLst>
      <p:ext uri="{BB962C8B-B14F-4D97-AF65-F5344CB8AC3E}">
        <p14:creationId xmlns:p14="http://schemas.microsoft.com/office/powerpoint/2010/main" val="1071789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TYPES OF DEFENSE MECHANISMS</a:t>
            </a:r>
          </a:p>
        </p:txBody>
      </p:sp>
      <p:sp>
        <p:nvSpPr>
          <p:cNvPr id="3" name="Content Placeholder 2"/>
          <p:cNvSpPr>
            <a:spLocks noGrp="1"/>
          </p:cNvSpPr>
          <p:nvPr>
            <p:ph idx="1"/>
          </p:nvPr>
        </p:nvSpPr>
        <p:spPr>
          <a:xfrm>
            <a:off x="1141412" y="1676400"/>
            <a:ext cx="9067800" cy="5334000"/>
          </a:xfrm>
        </p:spPr>
        <p:txBody>
          <a:bodyPr>
            <a:normAutofit lnSpcReduction="10000"/>
          </a:bodyPr>
          <a:lstStyle/>
          <a:p>
            <a:pPr marL="514350" indent="-514350">
              <a:buFont typeface="+mj-lt"/>
              <a:buAutoNum type="arabicPeriod"/>
            </a:pPr>
            <a:r>
              <a:rPr lang="en-US" sz="4400" b="1" dirty="0"/>
              <a:t>Repression</a:t>
            </a:r>
          </a:p>
          <a:p>
            <a:pPr marL="514350" indent="-514350">
              <a:buFont typeface="+mj-lt"/>
              <a:buAutoNum type="arabicPeriod"/>
            </a:pPr>
            <a:r>
              <a:rPr lang="en-US" sz="4400" b="1" dirty="0"/>
              <a:t>Projection</a:t>
            </a:r>
          </a:p>
          <a:p>
            <a:pPr marL="514350" indent="-514350">
              <a:buFont typeface="+mj-lt"/>
              <a:buAutoNum type="arabicPeriod"/>
            </a:pPr>
            <a:r>
              <a:rPr lang="en-US" sz="4400" b="1" dirty="0"/>
              <a:t>Displacement</a:t>
            </a:r>
          </a:p>
          <a:p>
            <a:pPr marL="514350" indent="-514350">
              <a:buFont typeface="+mj-lt"/>
              <a:buAutoNum type="arabicPeriod"/>
            </a:pPr>
            <a:r>
              <a:rPr lang="en-US" sz="4400" b="1" dirty="0"/>
              <a:t>Sublimation</a:t>
            </a:r>
          </a:p>
          <a:p>
            <a:pPr marL="514350" indent="-514350">
              <a:buFont typeface="+mj-lt"/>
              <a:buAutoNum type="arabicPeriod"/>
            </a:pPr>
            <a:r>
              <a:rPr lang="en-US" sz="4400" b="1" dirty="0"/>
              <a:t>Denial</a:t>
            </a:r>
          </a:p>
          <a:p>
            <a:pPr marL="514350" indent="-514350">
              <a:buFont typeface="+mj-lt"/>
              <a:buAutoNum type="arabicPeriod"/>
            </a:pPr>
            <a:r>
              <a:rPr lang="en-US" sz="4400" b="1" dirty="0"/>
              <a:t>Regression</a:t>
            </a:r>
          </a:p>
          <a:p>
            <a:pPr marL="514350" indent="-514350">
              <a:buFont typeface="+mj-lt"/>
              <a:buAutoNum type="arabicPeriod"/>
            </a:pPr>
            <a:r>
              <a:rPr lang="en-US" sz="4400" b="1" dirty="0"/>
              <a:t>Undoing</a:t>
            </a:r>
          </a:p>
          <a:p>
            <a:pPr marL="514350" indent="-514350">
              <a:buFont typeface="+mj-lt"/>
              <a:buAutoNum type="arabicPeriod"/>
            </a:pPr>
            <a:endParaRPr lang="en-US" sz="4000" b="1" dirty="0"/>
          </a:p>
        </p:txBody>
      </p:sp>
    </p:spTree>
    <p:extLst>
      <p:ext uri="{BB962C8B-B14F-4D97-AF65-F5344CB8AC3E}">
        <p14:creationId xmlns:p14="http://schemas.microsoft.com/office/powerpoint/2010/main" val="453779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2212" y="356586"/>
            <a:ext cx="5540036" cy="1191827"/>
          </a:xfrm>
        </p:spPr>
        <p:txBody>
          <a:bodyPr>
            <a:normAutofit/>
          </a:bodyPr>
          <a:lstStyle/>
          <a:p>
            <a:pPr marL="742950" indent="-742950">
              <a:buFont typeface="+mj-lt"/>
              <a:buAutoNum type="arabicPeriod"/>
            </a:pPr>
            <a:r>
              <a:rPr lang="en-US" sz="4400" b="1" dirty="0"/>
              <a:t>Repression</a:t>
            </a:r>
            <a:br>
              <a:rPr lang="en-US" dirty="0"/>
            </a:br>
            <a:endParaRPr lang="en-US" dirty="0"/>
          </a:p>
        </p:txBody>
      </p:sp>
      <p:sp>
        <p:nvSpPr>
          <p:cNvPr id="3" name="Content Placeholder 2"/>
          <p:cNvSpPr>
            <a:spLocks noGrp="1"/>
          </p:cNvSpPr>
          <p:nvPr>
            <p:ph idx="1"/>
          </p:nvPr>
        </p:nvSpPr>
        <p:spPr>
          <a:xfrm>
            <a:off x="531812" y="1548412"/>
            <a:ext cx="10058400" cy="5080988"/>
          </a:xfrm>
        </p:spPr>
        <p:txBody>
          <a:bodyPr>
            <a:noAutofit/>
          </a:bodyPr>
          <a:lstStyle/>
          <a:p>
            <a:endParaRPr lang="en-US" dirty="0"/>
          </a:p>
          <a:p>
            <a:pPr>
              <a:buFont typeface="Wingdings" panose="05000000000000000000" pitchFamily="2" charset="2"/>
              <a:buChar char="Ø"/>
            </a:pPr>
            <a:r>
              <a:rPr lang="en-US" dirty="0"/>
              <a:t>Most important defense mechanism.</a:t>
            </a:r>
          </a:p>
          <a:p>
            <a:pPr>
              <a:buFont typeface="Wingdings" panose="05000000000000000000" pitchFamily="2" charset="2"/>
              <a:buChar char="Ø"/>
            </a:pPr>
            <a:r>
              <a:rPr lang="en-US" dirty="0"/>
              <a:t>It banishes painful memories or thoughts from consciousness to minimize anxiety.</a:t>
            </a:r>
          </a:p>
          <a:p>
            <a:pPr>
              <a:buFont typeface="Wingdings" panose="05000000000000000000" pitchFamily="2" charset="2"/>
              <a:buChar char="Ø"/>
            </a:pPr>
            <a:r>
              <a:rPr lang="en-US" b="1" dirty="0"/>
              <a:t>Putting things into darkness.</a:t>
            </a:r>
            <a:r>
              <a:rPr lang="en-US" dirty="0"/>
              <a:t> </a:t>
            </a:r>
          </a:p>
          <a:p>
            <a:pPr>
              <a:buFont typeface="Wingdings" panose="05000000000000000000" pitchFamily="2" charset="2"/>
              <a:buChar char="Ø"/>
            </a:pPr>
            <a:r>
              <a:rPr lang="en-US" dirty="0"/>
              <a:t>Repression is an unconscious mechanism employed by the ego to keep disturbing or threatening thoughts from becoming conscious.  Thoughts that are often repressed are those that would result in feelings of guilt from the superego. </a:t>
            </a:r>
          </a:p>
          <a:p>
            <a:pPr>
              <a:buFont typeface="Wingdings" panose="05000000000000000000" pitchFamily="2" charset="2"/>
              <a:buChar char="Ø"/>
            </a:pPr>
            <a:r>
              <a:rPr lang="en-US" b="1" dirty="0"/>
              <a:t>Example:</a:t>
            </a:r>
            <a:endParaRPr lang="en-US" dirty="0"/>
          </a:p>
          <a:p>
            <a:endParaRPr lang="en-US" dirty="0"/>
          </a:p>
        </p:txBody>
      </p:sp>
      <p:pic>
        <p:nvPicPr>
          <p:cNvPr id="2050" name="Picture 2" descr="Image result for repression defense mechanism"/>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t="26149" b="9759"/>
          <a:stretch/>
        </p:blipFill>
        <p:spPr bwMode="auto">
          <a:xfrm>
            <a:off x="1751012" y="228600"/>
            <a:ext cx="1752600" cy="14478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26" name="Picture 2" descr="Image result for defense mechanisms 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075612" y="228600"/>
            <a:ext cx="2286000" cy="12763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001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2. Projection</a:t>
            </a:r>
          </a:p>
        </p:txBody>
      </p:sp>
      <p:sp>
        <p:nvSpPr>
          <p:cNvPr id="3" name="Content Placeholder 2"/>
          <p:cNvSpPr>
            <a:spLocks noGrp="1"/>
          </p:cNvSpPr>
          <p:nvPr>
            <p:ph idx="1"/>
          </p:nvPr>
        </p:nvSpPr>
        <p:spPr>
          <a:xfrm>
            <a:off x="1979612" y="1600201"/>
            <a:ext cx="8229600" cy="4373563"/>
          </a:xfrm>
        </p:spPr>
        <p:txBody>
          <a:bodyPr/>
          <a:lstStyle/>
          <a:p>
            <a:r>
              <a:rPr lang="en-US" dirty="0"/>
              <a:t>Involves individuals attributing their own unacceptable thoughts, feelings and motives to another person. </a:t>
            </a:r>
          </a:p>
          <a:p>
            <a:r>
              <a:rPr lang="en-US" b="1" dirty="0"/>
              <a:t>Or seeing your own faults in others.</a:t>
            </a:r>
          </a:p>
          <a:p>
            <a:r>
              <a:rPr lang="en-US" b="1" dirty="0"/>
              <a:t>Example</a:t>
            </a:r>
            <a:r>
              <a:rPr lang="en-US" dirty="0"/>
              <a:t>: You might hate someone, but your superego tells you that such hatred is unacceptable.  So you 'solve' this problem by believing that they hate you.</a:t>
            </a:r>
          </a:p>
          <a:p>
            <a:endParaRPr lang="en-US" dirty="0"/>
          </a:p>
        </p:txBody>
      </p:sp>
      <p:pic>
        <p:nvPicPr>
          <p:cNvPr id="5122" name="Picture 2" descr="Image result for projection defense mechanis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1812" y="4724400"/>
            <a:ext cx="3626893" cy="203465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23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3412" y="609601"/>
            <a:ext cx="8260672" cy="1039427"/>
          </a:xfrm>
        </p:spPr>
        <p:txBody>
          <a:bodyPr>
            <a:normAutofit fontScale="90000"/>
          </a:bodyPr>
          <a:lstStyle/>
          <a:p>
            <a:r>
              <a:rPr lang="en-US" sz="4400" b="1" dirty="0"/>
              <a:t>3. Displacement</a:t>
            </a:r>
            <a:br>
              <a:rPr lang="en-US" dirty="0"/>
            </a:br>
            <a:endParaRPr lang="en-US" dirty="0"/>
          </a:p>
        </p:txBody>
      </p:sp>
      <p:sp>
        <p:nvSpPr>
          <p:cNvPr id="3" name="Content Placeholder 2"/>
          <p:cNvSpPr>
            <a:spLocks noGrp="1"/>
          </p:cNvSpPr>
          <p:nvPr>
            <p:ph idx="1"/>
          </p:nvPr>
        </p:nvSpPr>
        <p:spPr>
          <a:xfrm>
            <a:off x="1903412" y="1600201"/>
            <a:ext cx="8229600" cy="4373563"/>
          </a:xfrm>
        </p:spPr>
        <p:txBody>
          <a:bodyPr/>
          <a:lstStyle/>
          <a:p>
            <a:r>
              <a:rPr lang="en-US" dirty="0"/>
              <a:t>It is the redirection of an impulse onto a powerless substitute target.</a:t>
            </a:r>
          </a:p>
          <a:p>
            <a:r>
              <a:rPr lang="en-US" b="1" dirty="0"/>
              <a:t>To take anger out on somebody else.</a:t>
            </a:r>
          </a:p>
          <a:p>
            <a:r>
              <a:rPr lang="en-US" b="1" dirty="0"/>
              <a:t>Example: </a:t>
            </a:r>
            <a:r>
              <a:rPr lang="en-US" dirty="0"/>
              <a:t>Someone who is frustrated by his or her superiors (boss) may go home and kick the dog, or beat up a family member.</a:t>
            </a:r>
          </a:p>
        </p:txBody>
      </p:sp>
      <p:pic>
        <p:nvPicPr>
          <p:cNvPr id="1026"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r="4851"/>
          <a:stretch/>
        </p:blipFill>
        <p:spPr bwMode="auto">
          <a:xfrm>
            <a:off x="3884612" y="4191000"/>
            <a:ext cx="4267200" cy="251857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313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9612" y="609601"/>
            <a:ext cx="8260672" cy="1039427"/>
          </a:xfrm>
        </p:spPr>
        <p:txBody>
          <a:bodyPr>
            <a:normAutofit fontScale="90000"/>
          </a:bodyPr>
          <a:lstStyle/>
          <a:p>
            <a:r>
              <a:rPr lang="en-US" sz="4400" b="1" dirty="0"/>
              <a:t>4. Sublimation</a:t>
            </a:r>
            <a:br>
              <a:rPr lang="en-US" dirty="0"/>
            </a:br>
            <a:endParaRPr lang="en-US" dirty="0"/>
          </a:p>
        </p:txBody>
      </p:sp>
      <p:sp>
        <p:nvSpPr>
          <p:cNvPr id="3" name="Content Placeholder 2"/>
          <p:cNvSpPr>
            <a:spLocks noGrp="1"/>
          </p:cNvSpPr>
          <p:nvPr>
            <p:ph idx="1"/>
          </p:nvPr>
        </p:nvSpPr>
        <p:spPr>
          <a:xfrm>
            <a:off x="1827212" y="1601483"/>
            <a:ext cx="8229600" cy="4373563"/>
          </a:xfrm>
        </p:spPr>
        <p:txBody>
          <a:bodyPr>
            <a:normAutofit/>
          </a:bodyPr>
          <a:lstStyle/>
          <a:p>
            <a:r>
              <a:rPr lang="en-US" dirty="0"/>
              <a:t>This is similar to displacement.</a:t>
            </a:r>
          </a:p>
          <a:p>
            <a:r>
              <a:rPr lang="en-US" dirty="0"/>
              <a:t>Takes place when we manage to displace our emotions into a constructive rather than destructive activity. </a:t>
            </a:r>
          </a:p>
          <a:p>
            <a:r>
              <a:rPr lang="en-US" b="1" dirty="0"/>
              <a:t>Diverts negativity into acceptance. </a:t>
            </a:r>
          </a:p>
          <a:p>
            <a:r>
              <a:rPr lang="en-US" b="1" dirty="0"/>
              <a:t>Examples</a:t>
            </a:r>
            <a:r>
              <a:rPr lang="en-US" dirty="0"/>
              <a:t>: Many great artists and musicians have had unhappy lives and have used the medium of art of music to express themselves.  </a:t>
            </a:r>
          </a:p>
          <a:p>
            <a:r>
              <a:rPr lang="en-US" dirty="0"/>
              <a:t>Sport is another example of putting our emotions (e.g. aggression) into something constructive.</a:t>
            </a:r>
          </a:p>
        </p:txBody>
      </p:sp>
      <p:pic>
        <p:nvPicPr>
          <p:cNvPr id="4098" name="Picture 2" descr="Image result for sublimation defense mechanism"/>
          <p:cNvPicPr>
            <a:picLocks noChangeAspect="1" noChangeArrowheads="1"/>
          </p:cNvPicPr>
          <p:nvPr/>
        </p:nvPicPr>
        <p:blipFill rotWithShape="1">
          <a:blip r:embed="rId2">
            <a:extLst>
              <a:ext uri="{28A0092B-C50C-407E-A947-70E740481C1C}">
                <a14:useLocalDpi xmlns:a14="http://schemas.microsoft.com/office/drawing/2010/main" val="0"/>
              </a:ext>
            </a:extLst>
          </a:blip>
          <a:srcRect l="7548" t="36040" r="55530" b="13575"/>
          <a:stretch/>
        </p:blipFill>
        <p:spPr bwMode="auto">
          <a:xfrm>
            <a:off x="4494212" y="5536105"/>
            <a:ext cx="2819400" cy="131393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92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812" y="685801"/>
            <a:ext cx="8260672" cy="1039427"/>
          </a:xfrm>
        </p:spPr>
        <p:txBody>
          <a:bodyPr>
            <a:normAutofit fontScale="90000"/>
          </a:bodyPr>
          <a:lstStyle/>
          <a:p>
            <a:r>
              <a:rPr lang="en-US" sz="4400" b="1" dirty="0"/>
              <a:t>5. Denial</a:t>
            </a:r>
            <a:br>
              <a:rPr lang="en-US" dirty="0"/>
            </a:br>
            <a:endParaRPr lang="en-US" dirty="0"/>
          </a:p>
        </p:txBody>
      </p:sp>
      <p:sp>
        <p:nvSpPr>
          <p:cNvPr id="3" name="Content Placeholder 2"/>
          <p:cNvSpPr>
            <a:spLocks noGrp="1"/>
          </p:cNvSpPr>
          <p:nvPr>
            <p:ph idx="1"/>
          </p:nvPr>
        </p:nvSpPr>
        <p:spPr>
          <a:xfrm>
            <a:off x="2055812" y="1600201"/>
            <a:ext cx="8229600" cy="4373563"/>
          </a:xfrm>
        </p:spPr>
        <p:txBody>
          <a:bodyPr>
            <a:normAutofit fontScale="92500" lnSpcReduction="20000"/>
          </a:bodyPr>
          <a:lstStyle/>
          <a:p>
            <a:r>
              <a:rPr lang="en-US" dirty="0"/>
              <a:t>It involves blocking external events from awareness. </a:t>
            </a:r>
          </a:p>
          <a:p>
            <a:r>
              <a:rPr lang="en-US" dirty="0"/>
              <a:t> If some situation is just too much to handle, the person just refuses to experience it. </a:t>
            </a:r>
          </a:p>
          <a:p>
            <a:r>
              <a:rPr lang="en-US" dirty="0"/>
              <a:t>As you might imagine, this is a primitive and dangerous defense - no one disregards reality and gets away with it for long. It can operate by itself or, more commonly, in combination with other, more subtle mechanisms that support it.</a:t>
            </a:r>
          </a:p>
          <a:p>
            <a:r>
              <a:rPr lang="en-US" b="1" dirty="0"/>
              <a:t>Refusing to face negative behavior.</a:t>
            </a:r>
          </a:p>
          <a:p>
            <a:r>
              <a:rPr lang="en-US" b="1" dirty="0"/>
              <a:t>Examples</a:t>
            </a:r>
            <a:r>
              <a:rPr lang="en-US" dirty="0"/>
              <a:t>: Smokers may refuse to admit to themselves that smoking is bad for their health.</a:t>
            </a:r>
          </a:p>
          <a:p>
            <a:r>
              <a:rPr lang="en-US" dirty="0"/>
              <a:t>Or girls might refuse to admit that they wear too much makeup.</a:t>
            </a:r>
          </a:p>
        </p:txBody>
      </p:sp>
      <p:pic>
        <p:nvPicPr>
          <p:cNvPr id="3074" name="Picture 2" descr="Image result for repression defense mechanis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3933" y="5562600"/>
            <a:ext cx="2422479" cy="11319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076" name="Picture 4" descr="Relat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361" t="32432" r="50234" b="11615"/>
          <a:stretch/>
        </p:blipFill>
        <p:spPr bwMode="auto">
          <a:xfrm>
            <a:off x="7526292" y="304801"/>
            <a:ext cx="1616121" cy="129656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mage result for defense mechanism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213" y="2552934"/>
            <a:ext cx="1600200" cy="1296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868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3412" y="609601"/>
            <a:ext cx="8260672" cy="1039427"/>
          </a:xfrm>
        </p:spPr>
        <p:txBody>
          <a:bodyPr>
            <a:normAutofit fontScale="90000"/>
          </a:bodyPr>
          <a:lstStyle/>
          <a:p>
            <a:r>
              <a:rPr lang="en-US" sz="4400" b="1" dirty="0"/>
              <a:t>6. Regression</a:t>
            </a:r>
            <a:br>
              <a:rPr lang="en-US" dirty="0"/>
            </a:br>
            <a:endParaRPr lang="en-US" dirty="0"/>
          </a:p>
        </p:txBody>
      </p:sp>
      <p:sp>
        <p:nvSpPr>
          <p:cNvPr id="3" name="Content Placeholder 2"/>
          <p:cNvSpPr>
            <a:spLocks noGrp="1"/>
          </p:cNvSpPr>
          <p:nvPr>
            <p:ph idx="1"/>
          </p:nvPr>
        </p:nvSpPr>
        <p:spPr/>
        <p:txBody>
          <a:bodyPr>
            <a:normAutofit/>
          </a:bodyPr>
          <a:lstStyle/>
          <a:p>
            <a:r>
              <a:rPr lang="en-US" sz="2800" dirty="0"/>
              <a:t>It involves returning to a behavior pattern or a characteristic of an earlier stage of development. </a:t>
            </a:r>
            <a:r>
              <a:rPr lang="en-US" sz="2800" b="1" dirty="0"/>
              <a:t>Acting much younger to feel better.</a:t>
            </a:r>
          </a:p>
          <a:p>
            <a:r>
              <a:rPr lang="en-US" sz="2800" b="1" dirty="0"/>
              <a:t>Example</a:t>
            </a:r>
            <a:r>
              <a:rPr lang="en-US" sz="2800" dirty="0"/>
              <a:t>: Teenagers may giggle uncontrollably when introduced into a social situation involving the </a:t>
            </a:r>
            <a:r>
              <a:rPr lang="en-US" sz="2800"/>
              <a:t>opposite gender.</a:t>
            </a:r>
            <a:endParaRPr lang="en-US" sz="2800" dirty="0"/>
          </a:p>
        </p:txBody>
      </p:sp>
      <p:pic>
        <p:nvPicPr>
          <p:cNvPr id="4" name="Picture 4"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12006" t="31294" r="58865" b="8611"/>
          <a:stretch/>
        </p:blipFill>
        <p:spPr bwMode="auto">
          <a:xfrm>
            <a:off x="5180012" y="4953000"/>
            <a:ext cx="1905000" cy="1752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422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7212" y="609601"/>
            <a:ext cx="8260672" cy="1039427"/>
          </a:xfrm>
        </p:spPr>
        <p:txBody>
          <a:bodyPr>
            <a:normAutofit fontScale="90000"/>
          </a:bodyPr>
          <a:lstStyle/>
          <a:p>
            <a:r>
              <a:rPr lang="en-US" sz="4400" b="1" dirty="0"/>
              <a:t>7. Undoing</a:t>
            </a:r>
            <a:br>
              <a:rPr lang="en-US" dirty="0"/>
            </a:br>
            <a:endParaRPr lang="en-US" b="1" dirty="0"/>
          </a:p>
        </p:txBody>
      </p:sp>
      <p:sp>
        <p:nvSpPr>
          <p:cNvPr id="3" name="Content Placeholder 2"/>
          <p:cNvSpPr>
            <a:spLocks noGrp="1"/>
          </p:cNvSpPr>
          <p:nvPr>
            <p:ph idx="1"/>
          </p:nvPr>
        </p:nvSpPr>
        <p:spPr/>
        <p:txBody>
          <a:bodyPr>
            <a:normAutofit/>
          </a:bodyPr>
          <a:lstStyle/>
          <a:p>
            <a:pPr fontAlgn="base"/>
            <a:r>
              <a:rPr lang="en-US" sz="3200" dirty="0"/>
              <a:t>Undoing is the attempt to take back an unconscious behavior or thought that is unacceptable or hurtful. </a:t>
            </a:r>
          </a:p>
          <a:p>
            <a:pPr fontAlgn="base"/>
            <a:r>
              <a:rPr lang="en-US" sz="3200" b="1" dirty="0"/>
              <a:t>For instance</a:t>
            </a:r>
            <a:r>
              <a:rPr lang="en-US" sz="3200" dirty="0"/>
              <a:t>, after realizing you just insulted your significant other unintentionally, you might spend then next hour praising their beauty, charm and intellect - (“undoing”)of the previous action.</a:t>
            </a:r>
          </a:p>
          <a:p>
            <a:endParaRPr lang="en-US" dirty="0"/>
          </a:p>
        </p:txBody>
      </p:sp>
    </p:spTree>
    <p:extLst>
      <p:ext uri="{BB962C8B-B14F-4D97-AF65-F5344CB8AC3E}">
        <p14:creationId xmlns:p14="http://schemas.microsoft.com/office/powerpoint/2010/main" val="1108322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odgrain 16x9">
  <a:themeElements>
    <a:clrScheme name="Woodgrain_16x9">
      <a:dk1>
        <a:sysClr val="windowText" lastClr="000000"/>
      </a:dk1>
      <a:lt1>
        <a:sysClr val="window" lastClr="FFFFFF"/>
      </a:lt1>
      <a:dk2>
        <a:srgbClr val="90B365"/>
      </a:dk2>
      <a:lt2>
        <a:srgbClr val="EEECE1"/>
      </a:lt2>
      <a:accent1>
        <a:srgbClr val="4283D2"/>
      </a:accent1>
      <a:accent2>
        <a:srgbClr val="6E9D35"/>
      </a:accent2>
      <a:accent3>
        <a:srgbClr val="DE6742"/>
      </a:accent3>
      <a:accent4>
        <a:srgbClr val="8F73DF"/>
      </a:accent4>
      <a:accent5>
        <a:srgbClr val="CB991B"/>
      </a:accent5>
      <a:accent6>
        <a:srgbClr val="7F7F7F"/>
      </a:accent6>
      <a:hlink>
        <a:srgbClr val="90B365"/>
      </a:hlink>
      <a:folHlink>
        <a:srgbClr val="7F7F7F"/>
      </a:folHlink>
    </a:clrScheme>
    <a:fontScheme name="Century">
      <a:majorFont>
        <a:latin typeface="Century"/>
        <a:ea typeface=""/>
        <a:cs typeface=""/>
      </a:majorFont>
      <a:minorFont>
        <a:latin typeface="Century"/>
        <a:ea typeface=""/>
        <a:cs typeface=""/>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01115" id="{6D802E96-7B24-457C-A326-69AF839D4486}" vid="{C3FFE3C6-9A62-4BEA-9FE0-A8BC12B9BCCA}"/>
    </a:ext>
  </a:extLst>
</a:theme>
</file>

<file path=ppt/theme/theme2.xml><?xml version="1.0" encoding="utf-8"?>
<a:theme xmlns:a="http://schemas.openxmlformats.org/drawingml/2006/main" name="Office Theme">
  <a:themeElements>
    <a:clrScheme name="Woodgrain_16x9">
      <a:dk1>
        <a:sysClr val="windowText" lastClr="000000"/>
      </a:dk1>
      <a:lt1>
        <a:sysClr val="window" lastClr="FFFFFF"/>
      </a:lt1>
      <a:dk2>
        <a:srgbClr val="90B365"/>
      </a:dk2>
      <a:lt2>
        <a:srgbClr val="EEECE1"/>
      </a:lt2>
      <a:accent1>
        <a:srgbClr val="4283D2"/>
      </a:accent1>
      <a:accent2>
        <a:srgbClr val="6E9D35"/>
      </a:accent2>
      <a:accent3>
        <a:srgbClr val="DE6742"/>
      </a:accent3>
      <a:accent4>
        <a:srgbClr val="8F73DF"/>
      </a:accent4>
      <a:accent5>
        <a:srgbClr val="CB991B"/>
      </a:accent5>
      <a:accent6>
        <a:srgbClr val="7F7F7F"/>
      </a:accent6>
      <a:hlink>
        <a:srgbClr val="90B365"/>
      </a:hlink>
      <a:folHlink>
        <a:srgbClr val="7F7F7F"/>
      </a:folHlink>
    </a:clrScheme>
    <a:fontScheme name="Century">
      <a:majorFont>
        <a:latin typeface="Century"/>
        <a:ea typeface=""/>
        <a:cs typeface=""/>
      </a:majorFont>
      <a:minorFont>
        <a:latin typeface="Century"/>
        <a:ea typeface=""/>
        <a:cs typeface=""/>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Woodgrain_16x9">
      <a:dk1>
        <a:sysClr val="windowText" lastClr="000000"/>
      </a:dk1>
      <a:lt1>
        <a:sysClr val="window" lastClr="FFFFFF"/>
      </a:lt1>
      <a:dk2>
        <a:srgbClr val="90B365"/>
      </a:dk2>
      <a:lt2>
        <a:srgbClr val="EEECE1"/>
      </a:lt2>
      <a:accent1>
        <a:srgbClr val="4283D2"/>
      </a:accent1>
      <a:accent2>
        <a:srgbClr val="6E9D35"/>
      </a:accent2>
      <a:accent3>
        <a:srgbClr val="DE6742"/>
      </a:accent3>
      <a:accent4>
        <a:srgbClr val="8F73DF"/>
      </a:accent4>
      <a:accent5>
        <a:srgbClr val="CB991B"/>
      </a:accent5>
      <a:accent6>
        <a:srgbClr val="7F7F7F"/>
      </a:accent6>
      <a:hlink>
        <a:srgbClr val="90B365"/>
      </a:hlink>
      <a:folHlink>
        <a:srgbClr val="7F7F7F"/>
      </a:folHlink>
    </a:clrScheme>
    <a:fontScheme name="Century">
      <a:majorFont>
        <a:latin typeface="Century"/>
        <a:ea typeface=""/>
        <a:cs typeface=""/>
      </a:majorFont>
      <a:minorFont>
        <a:latin typeface="Century"/>
        <a:ea typeface=""/>
        <a:cs typeface=""/>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false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1360511</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2011-12-12T13:37:00+00:00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2035-01-01T08:00:00+00:00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TP102801114</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706531</LocLastLocAttemptVersionLookup>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REDMOND\v-soujap</DisplayName>
        <AccountId>1954</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14</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C335E791-7449-4708-8DE9-182EC4D8A134}">
  <ds:schemaRefs>
    <ds:schemaRef ds:uri="4873beb7-5857-4685-be1f-d57550cc96cc"/>
    <ds:schemaRef ds:uri="http://purl.org/dc/elements/1.1/"/>
    <ds:schemaRef ds:uri="http://schemas.microsoft.com/office/2006/metadata/properties"/>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6EB9514F-6A45-47F4-BC6D-A865E29717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20563B-C646-42AF-9D0D-76DF086793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Woodgrain nature presentation (widescreen)</Template>
  <TotalTime>16</TotalTime>
  <Words>1003</Words>
  <Application>Microsoft Office PowerPoint</Application>
  <PresentationFormat>Custom</PresentationFormat>
  <Paragraphs>93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Century</vt:lpstr>
      <vt:lpstr>Wingdings</vt:lpstr>
      <vt:lpstr>Woodgrain 16x9</vt:lpstr>
      <vt:lpstr>Sigmund Freud </vt:lpstr>
      <vt:lpstr>Level of consciousness/mind</vt:lpstr>
      <vt:lpstr>PowerPoint Presentation</vt:lpstr>
      <vt:lpstr>Levels of Mind </vt:lpstr>
      <vt:lpstr>Levels of Mind </vt:lpstr>
      <vt:lpstr>Personality structure</vt:lpstr>
      <vt:lpstr>Structure of Personality </vt:lpstr>
      <vt:lpstr>Structure of Personality </vt:lpstr>
      <vt:lpstr>PowerPoint Presentation</vt:lpstr>
      <vt:lpstr>Structure of Personality </vt:lpstr>
      <vt:lpstr>PowerPoint Presentation</vt:lpstr>
      <vt:lpstr>PowerPoint Presentation</vt:lpstr>
      <vt:lpstr>Example</vt:lpstr>
      <vt:lpstr>TYPES OF DEFENSE MECHANISMS</vt:lpstr>
      <vt:lpstr>Repression </vt:lpstr>
      <vt:lpstr>2. Projection</vt:lpstr>
      <vt:lpstr>3. Displacement </vt:lpstr>
      <vt:lpstr>4. Sublimation </vt:lpstr>
      <vt:lpstr>5. Denial </vt:lpstr>
      <vt:lpstr>6. Regression </vt:lpstr>
      <vt:lpstr>7. Undoing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Sigmund Freud </dc:title>
  <dc:creator>DELL</dc:creator>
  <cp:lastModifiedBy>DELL</cp:lastModifiedBy>
  <cp:revision>1</cp:revision>
  <dcterms:created xsi:type="dcterms:W3CDTF">2023-05-23T05:38:31Z</dcterms:created>
  <dcterms:modified xsi:type="dcterms:W3CDTF">2023-05-23T05:54:40Z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