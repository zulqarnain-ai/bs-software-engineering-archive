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307" r:id="rId2"/>
    <p:sldId id="308" r:id="rId3"/>
    <p:sldId id="309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244940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2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517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77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63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0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90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2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89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7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443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50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15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866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4029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55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42000"/>
            <a:lum/>
          </a:blip>
          <a:srcRect/>
          <a:stretch>
            <a:fillRect l="-9000" t="47000" r="-10000" b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297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F07987-2AF6-FEA6-03A3-D7E3176FC0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Express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36F1E4E-34CA-0CD8-1D99-917F4D117F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3 Express.js features you need to know | by Louis | JavaScript in Plain  English">
            <a:extLst>
              <a:ext uri="{FF2B5EF4-FFF2-40B4-BE49-F238E27FC236}">
                <a16:creationId xmlns:a16="http://schemas.microsoft.com/office/drawing/2014/main" id="{CD933E64-5220-F558-E861-7707C72FC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894" y="4307890"/>
            <a:ext cx="4572000" cy="200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654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92C7D7-7BE3-8B47-171B-FCF85005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68B139-51B3-7CBA-34D3-391035FC2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2" y="1912398"/>
            <a:ext cx="7704667" cy="333281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Express.js is a </a:t>
            </a:r>
            <a:r>
              <a:rPr lang="en-US" b="1" dirty="0"/>
              <a:t>lightweight web application framework</a:t>
            </a:r>
            <a:r>
              <a:rPr lang="en-US" dirty="0"/>
              <a:t> for Node.js</a:t>
            </a:r>
          </a:p>
          <a:p>
            <a:r>
              <a:rPr lang="en-US" dirty="0"/>
              <a:t>It helps in building </a:t>
            </a:r>
            <a:r>
              <a:rPr lang="en-US" b="1" dirty="0"/>
              <a:t>web servers and RESTful APIs</a:t>
            </a:r>
            <a:r>
              <a:rPr lang="en-US" dirty="0"/>
              <a:t> easily</a:t>
            </a:r>
          </a:p>
          <a:p>
            <a:r>
              <a:rPr lang="en-US" dirty="0"/>
              <a:t>Built on top of Node.js HTTP module</a:t>
            </a:r>
          </a:p>
          <a:p>
            <a:r>
              <a:rPr lang="en-US" dirty="0"/>
              <a:t>Commonly used for backend development</a:t>
            </a:r>
          </a:p>
          <a:p>
            <a:r>
              <a:rPr lang="en-US" dirty="0"/>
              <a:t>✅ Used for:</a:t>
            </a:r>
          </a:p>
          <a:p>
            <a:r>
              <a:rPr lang="en-US" dirty="0"/>
              <a:t>APIs</a:t>
            </a:r>
          </a:p>
          <a:p>
            <a:r>
              <a:rPr lang="en-US" dirty="0"/>
              <a:t>Server-side web apps</a:t>
            </a:r>
          </a:p>
          <a:p>
            <a:r>
              <a:rPr lang="en-US" dirty="0"/>
              <a:t>Backend for React / Angular / Vue apps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765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B59CC-EF2C-E909-6A0B-0C416CB4B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History of Express.js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CE222-112C-0BA1-6149-C1555A583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234" y="1762592"/>
            <a:ext cx="7704667" cy="376819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Created in </a:t>
            </a:r>
            <a:r>
              <a:rPr lang="en-US" b="1" dirty="0"/>
              <a:t>2010</a:t>
            </a:r>
            <a:endParaRPr lang="en-US" dirty="0"/>
          </a:p>
          <a:p>
            <a:r>
              <a:rPr lang="en-US" dirty="0"/>
              <a:t>Developed by </a:t>
            </a:r>
            <a:r>
              <a:rPr lang="en-US" b="1" dirty="0"/>
              <a:t>TJ </a:t>
            </a:r>
            <a:r>
              <a:rPr lang="en-US" b="1" dirty="0" err="1"/>
              <a:t>Holowaychuk</a:t>
            </a:r>
            <a:endParaRPr lang="en-US" dirty="0"/>
          </a:p>
          <a:p>
            <a:r>
              <a:rPr lang="en-US" dirty="0"/>
              <a:t>Originally inspired by </a:t>
            </a:r>
            <a:r>
              <a:rPr lang="en-US" b="1" dirty="0"/>
              <a:t>Sinatra</a:t>
            </a:r>
            <a:r>
              <a:rPr lang="en-US" dirty="0"/>
              <a:t> framework</a:t>
            </a:r>
          </a:p>
          <a:p>
            <a:r>
              <a:rPr lang="en-US" dirty="0"/>
              <a:t>Later became part of Node.js ecosystem</a:t>
            </a:r>
          </a:p>
          <a:p>
            <a:r>
              <a:rPr lang="en-US" dirty="0"/>
              <a:t>Currently maintained by </a:t>
            </a:r>
            <a:r>
              <a:rPr lang="en-US" b="1" dirty="0" err="1"/>
              <a:t>OpenJS</a:t>
            </a:r>
            <a:r>
              <a:rPr lang="en-US" b="1" dirty="0"/>
              <a:t> Foundation</a:t>
            </a:r>
            <a:endParaRPr lang="en-US" dirty="0"/>
          </a:p>
          <a:p>
            <a:r>
              <a:rPr lang="en-US" dirty="0"/>
              <a:t>📌 Reason for popularity:</a:t>
            </a:r>
          </a:p>
          <a:p>
            <a:r>
              <a:rPr lang="en-US" dirty="0"/>
              <a:t>Simple syntax</a:t>
            </a:r>
          </a:p>
          <a:p>
            <a:r>
              <a:rPr lang="en-US" dirty="0"/>
              <a:t>Fast performance</a:t>
            </a:r>
          </a:p>
          <a:p>
            <a:r>
              <a:rPr lang="en-US" dirty="0"/>
              <a:t>Minimal configuration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439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F200D-F6E3-7673-392E-78E58A34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Express.js?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4E7C4-F8C1-DC1B-A5E0-513135FC9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063319"/>
            <a:ext cx="7704667" cy="3332816"/>
          </a:xfrm>
        </p:spPr>
        <p:txBody>
          <a:bodyPr/>
          <a:lstStyle/>
          <a:p>
            <a:r>
              <a:rPr lang="en-US" dirty="0"/>
              <a:t>Reduces complexity of Node.js server code</a:t>
            </a:r>
          </a:p>
          <a:p>
            <a:r>
              <a:rPr lang="en-US" dirty="0"/>
              <a:t>Makes routing easy</a:t>
            </a:r>
          </a:p>
          <a:p>
            <a:r>
              <a:rPr lang="en-US" dirty="0"/>
              <a:t>Handles requests &amp; responses efficiently</a:t>
            </a:r>
          </a:p>
          <a:p>
            <a:r>
              <a:rPr lang="en-US" dirty="0"/>
              <a:t>Perfect for </a:t>
            </a:r>
            <a:r>
              <a:rPr lang="en-US" b="1" dirty="0"/>
              <a:t>REST API development</a:t>
            </a:r>
            <a:endParaRPr lang="en-US" dirty="0"/>
          </a:p>
          <a:p>
            <a:r>
              <a:rPr lang="en-US" dirty="0"/>
              <a:t>Works smoothly with databases like MongoDB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07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5DF66-B7D4-246A-A4C1-7BB1E222D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Express.js 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89440-A7D7-CD2A-EDB5-0C0B73098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2" y="1939031"/>
            <a:ext cx="7704667" cy="333281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Client sends HTTP request (browser / Postman / React)</a:t>
            </a:r>
          </a:p>
          <a:p>
            <a:r>
              <a:rPr lang="en-US" dirty="0"/>
              <a:t>Express app receives the request</a:t>
            </a:r>
          </a:p>
          <a:p>
            <a:r>
              <a:rPr lang="en-US" dirty="0"/>
              <a:t>Middleware processes request (optional)</a:t>
            </a:r>
          </a:p>
          <a:p>
            <a:r>
              <a:rPr lang="en-US" dirty="0"/>
              <a:t>Route handler matches request URL</a:t>
            </a:r>
          </a:p>
          <a:p>
            <a:r>
              <a:rPr lang="en-US" dirty="0"/>
              <a:t>Server sends response to client</a:t>
            </a:r>
          </a:p>
          <a:p>
            <a:r>
              <a:rPr lang="en-US" dirty="0"/>
              <a:t>📌 Flow:</a:t>
            </a:r>
          </a:p>
          <a:p>
            <a:r>
              <a:rPr lang="en-US" dirty="0"/>
              <a:t>Client → Middleware → Route → Response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539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A40B-6EF7-08F4-5B8A-1EBB76B21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Express.js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F833C-6663-4CBC-01A3-AA80A153A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762592"/>
            <a:ext cx="7704667" cy="333281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Prerequisites:</a:t>
            </a:r>
          </a:p>
          <a:p>
            <a:r>
              <a:rPr lang="en-US" dirty="0"/>
              <a:t>Node.js installed</a:t>
            </a:r>
          </a:p>
          <a:p>
            <a:r>
              <a:rPr lang="en-US" dirty="0"/>
              <a:t>VS Code or Visual Studio Code</a:t>
            </a:r>
          </a:p>
          <a:p>
            <a:r>
              <a:rPr lang="en-US" b="1" dirty="0"/>
              <a:t>Steps:</a:t>
            </a:r>
          </a:p>
          <a:p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myapp</a:t>
            </a:r>
            <a:endParaRPr lang="en-US" dirty="0"/>
          </a:p>
          <a:p>
            <a:r>
              <a:rPr lang="en-US" dirty="0"/>
              <a:t>cd </a:t>
            </a:r>
            <a:r>
              <a:rPr lang="en-US" dirty="0" err="1"/>
              <a:t>myapp</a:t>
            </a:r>
            <a:endParaRPr lang="en-US" dirty="0"/>
          </a:p>
          <a:p>
            <a:r>
              <a:rPr lang="en-US" dirty="0" err="1"/>
              <a:t>npm</a:t>
            </a:r>
            <a:r>
              <a:rPr lang="en-US" dirty="0"/>
              <a:t> </a:t>
            </a:r>
            <a:r>
              <a:rPr lang="en-US" dirty="0" err="1"/>
              <a:t>init</a:t>
            </a:r>
            <a:r>
              <a:rPr lang="en-US" dirty="0"/>
              <a:t> -y</a:t>
            </a:r>
          </a:p>
          <a:p>
            <a:r>
              <a:rPr lang="en-US" dirty="0" err="1"/>
              <a:t>npm</a:t>
            </a:r>
            <a:r>
              <a:rPr lang="en-US" dirty="0"/>
              <a:t> install express</a:t>
            </a:r>
          </a:p>
          <a:p>
            <a:r>
              <a:rPr lang="en-US" dirty="0"/>
              <a:t>✅ This installs Express locally inside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006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EAA41-8F2E-2D2F-FD61-48014403B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Setting Up Express.js in VS 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979EA-880C-A441-39E5-3DD0B7527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2" y="2107706"/>
            <a:ext cx="7704667" cy="333281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Open VS Code</a:t>
            </a:r>
          </a:p>
          <a:p>
            <a:r>
              <a:rPr lang="en-US" dirty="0"/>
              <a:t>Open project folder</a:t>
            </a:r>
          </a:p>
          <a:p>
            <a:r>
              <a:rPr lang="en-US" dirty="0"/>
              <a:t>Create index.js or app.js</a:t>
            </a:r>
          </a:p>
          <a:p>
            <a:r>
              <a:rPr lang="en-US" dirty="0"/>
              <a:t>Import Express</a:t>
            </a:r>
          </a:p>
          <a:p>
            <a:r>
              <a:rPr lang="en-US" dirty="0"/>
              <a:t>Start server using node app.js</a:t>
            </a:r>
          </a:p>
          <a:p>
            <a:r>
              <a:rPr lang="en-US" dirty="0"/>
              <a:t>📌 Recommended tool:</a:t>
            </a:r>
          </a:p>
          <a:p>
            <a:r>
              <a:rPr lang="en-US" dirty="0"/>
              <a:t>VS Code Terminal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496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3187E-1B3F-62BC-72CA-2D804D63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Express.js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C049A-BA72-64CF-AA71-EB47A0351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983419"/>
            <a:ext cx="7704667" cy="38403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const express = require('</a:t>
            </a:r>
            <a:r>
              <a:rPr lang="en-US" dirty="0" err="1"/>
              <a:t>express'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const app = express();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app.get</a:t>
            </a:r>
            <a:r>
              <a:rPr lang="en-US" dirty="0"/>
              <a:t>('/', (req, res) =&gt;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res.send</a:t>
            </a:r>
            <a:r>
              <a:rPr lang="en-US" dirty="0"/>
              <a:t>('Hello Express');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r>
              <a:rPr lang="en-US" dirty="0" err="1"/>
              <a:t>app.listen</a:t>
            </a:r>
            <a:r>
              <a:rPr lang="en-US" dirty="0"/>
              <a:t>(3000, () =&gt; {</a:t>
            </a:r>
          </a:p>
          <a:p>
            <a:pPr marL="0" indent="0">
              <a:buNone/>
            </a:pPr>
            <a:r>
              <a:rPr lang="en-US" dirty="0"/>
              <a:t>  console.log('Server running on port 3000');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098523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8A5DC-087F-8485-957C-58143C59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Basic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46EE8-0071-0E2D-BB2A-249DE1206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666" y="1841377"/>
            <a:ext cx="7704667" cy="3332816"/>
          </a:xfrm>
        </p:spPr>
        <p:txBody>
          <a:bodyPr/>
          <a:lstStyle/>
          <a:p>
            <a:r>
              <a:rPr lang="en-US" dirty="0"/>
              <a:t>require('</a:t>
            </a:r>
            <a:r>
              <a:rPr lang="en-US" dirty="0" err="1"/>
              <a:t>express'</a:t>
            </a:r>
            <a:r>
              <a:rPr lang="en-US" dirty="0"/>
              <a:t>) → imports Express</a:t>
            </a:r>
          </a:p>
          <a:p>
            <a:r>
              <a:rPr lang="en-US" dirty="0"/>
              <a:t>app → main Express application object</a:t>
            </a:r>
          </a:p>
          <a:p>
            <a:r>
              <a:rPr lang="en-US" dirty="0" err="1"/>
              <a:t>app.get</a:t>
            </a:r>
            <a:r>
              <a:rPr lang="en-US" dirty="0"/>
              <a:t>() → handles GET request</a:t>
            </a:r>
          </a:p>
          <a:p>
            <a:r>
              <a:rPr lang="en-US" dirty="0"/>
              <a:t>req → request object</a:t>
            </a:r>
          </a:p>
          <a:p>
            <a:r>
              <a:rPr lang="en-US" dirty="0"/>
              <a:t>res → response object</a:t>
            </a:r>
          </a:p>
          <a:p>
            <a:r>
              <a:rPr lang="en-US" dirty="0" err="1"/>
              <a:t>app.listen</a:t>
            </a:r>
            <a:r>
              <a:rPr lang="en-US" dirty="0"/>
              <a:t>() → starts server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49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E6C99-A200-86ED-E5B5-E4EA878B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&amp; Using Express Functionality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108016B-0C68-3151-9E16-AFEA30F2E9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9287163"/>
              </p:ext>
            </p:extLst>
          </p:nvPr>
        </p:nvGraphicFramePr>
        <p:xfrm>
          <a:off x="982133" y="2605107"/>
          <a:ext cx="7704136" cy="365760"/>
        </p:xfrm>
        <a:graphic>
          <a:graphicData uri="http://schemas.openxmlformats.org/drawingml/2006/table">
            <a:tbl>
              <a:tblPr/>
              <a:tblGrid>
                <a:gridCol w="3852068">
                  <a:extLst>
                    <a:ext uri="{9D8B030D-6E8A-4147-A177-3AD203B41FA5}">
                      <a16:colId xmlns:a16="http://schemas.microsoft.com/office/drawing/2014/main" val="382724299"/>
                    </a:ext>
                  </a:extLst>
                </a:gridCol>
                <a:gridCol w="3852068">
                  <a:extLst>
                    <a:ext uri="{9D8B030D-6E8A-4147-A177-3AD203B41FA5}">
                      <a16:colId xmlns:a16="http://schemas.microsoft.com/office/drawing/2014/main" val="331092624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33765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5399D3-38E7-074A-0DD3-F8A25602F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193024"/>
              </p:ext>
            </p:extLst>
          </p:nvPr>
        </p:nvGraphicFramePr>
        <p:xfrm>
          <a:off x="1000948" y="3106509"/>
          <a:ext cx="7704136" cy="365760"/>
        </p:xfrm>
        <a:graphic>
          <a:graphicData uri="http://schemas.openxmlformats.org/drawingml/2006/table">
            <a:tbl>
              <a:tblPr/>
              <a:tblGrid>
                <a:gridCol w="3852068">
                  <a:extLst>
                    <a:ext uri="{9D8B030D-6E8A-4147-A177-3AD203B41FA5}">
                      <a16:colId xmlns:a16="http://schemas.microsoft.com/office/drawing/2014/main" val="2647870815"/>
                    </a:ext>
                  </a:extLst>
                </a:gridCol>
                <a:gridCol w="3852068">
                  <a:extLst>
                    <a:ext uri="{9D8B030D-6E8A-4147-A177-3AD203B41FA5}">
                      <a16:colId xmlns:a16="http://schemas.microsoft.com/office/drawing/2014/main" val="6668359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Create 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ourier New" panose="02070309020205020404" pitchFamily="49" charset="0"/>
                        </a:rPr>
                        <a:t>express()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15484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98AAE41-55E7-C0B5-E9CA-34321FFE9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896700"/>
              </p:ext>
            </p:extLst>
          </p:nvPr>
        </p:nvGraphicFramePr>
        <p:xfrm>
          <a:off x="1000948" y="3453059"/>
          <a:ext cx="7704136" cy="365760"/>
        </p:xfrm>
        <a:graphic>
          <a:graphicData uri="http://schemas.openxmlformats.org/drawingml/2006/table">
            <a:tbl>
              <a:tblPr/>
              <a:tblGrid>
                <a:gridCol w="3852068">
                  <a:extLst>
                    <a:ext uri="{9D8B030D-6E8A-4147-A177-3AD203B41FA5}">
                      <a16:colId xmlns:a16="http://schemas.microsoft.com/office/drawing/2014/main" val="3052223382"/>
                    </a:ext>
                  </a:extLst>
                </a:gridCol>
                <a:gridCol w="3852068">
                  <a:extLst>
                    <a:ext uri="{9D8B030D-6E8A-4147-A177-3AD203B41FA5}">
                      <a16:colId xmlns:a16="http://schemas.microsoft.com/office/drawing/2014/main" val="299996379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Routing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app.get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app.post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()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69896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5C5DAC7-FD81-D575-2AA7-5E230525D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283417"/>
              </p:ext>
            </p:extLst>
          </p:nvPr>
        </p:nvGraphicFramePr>
        <p:xfrm>
          <a:off x="1000948" y="3807980"/>
          <a:ext cx="7704136" cy="365760"/>
        </p:xfrm>
        <a:graphic>
          <a:graphicData uri="http://schemas.openxmlformats.org/drawingml/2006/table">
            <a:tbl>
              <a:tblPr/>
              <a:tblGrid>
                <a:gridCol w="3852068">
                  <a:extLst>
                    <a:ext uri="{9D8B030D-6E8A-4147-A177-3AD203B41FA5}">
                      <a16:colId xmlns:a16="http://schemas.microsoft.com/office/drawing/2014/main" val="1066735490"/>
                    </a:ext>
                  </a:extLst>
                </a:gridCol>
                <a:gridCol w="3852068">
                  <a:extLst>
                    <a:ext uri="{9D8B030D-6E8A-4147-A177-3AD203B41FA5}">
                      <a16:colId xmlns:a16="http://schemas.microsoft.com/office/drawing/2014/main" val="246013536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Middleware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app.use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()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70556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DFD0F25-6E6B-87A1-8A1F-FB514BD32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102429"/>
              </p:ext>
            </p:extLst>
          </p:nvPr>
        </p:nvGraphicFramePr>
        <p:xfrm>
          <a:off x="1000948" y="4278403"/>
          <a:ext cx="7704136" cy="365760"/>
        </p:xfrm>
        <a:graphic>
          <a:graphicData uri="http://schemas.openxmlformats.org/drawingml/2006/table">
            <a:tbl>
              <a:tblPr/>
              <a:tblGrid>
                <a:gridCol w="3852068">
                  <a:extLst>
                    <a:ext uri="{9D8B030D-6E8A-4147-A177-3AD203B41FA5}">
                      <a16:colId xmlns:a16="http://schemas.microsoft.com/office/drawing/2014/main" val="1469761775"/>
                    </a:ext>
                  </a:extLst>
                </a:gridCol>
                <a:gridCol w="3852068">
                  <a:extLst>
                    <a:ext uri="{9D8B030D-6E8A-4147-A177-3AD203B41FA5}">
                      <a16:colId xmlns:a16="http://schemas.microsoft.com/office/drawing/2014/main" val="17809406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JSON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express.json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()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45073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7C24BF6-E61D-76D3-1D33-AC2BBE04C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063821"/>
              </p:ext>
            </p:extLst>
          </p:nvPr>
        </p:nvGraphicFramePr>
        <p:xfrm>
          <a:off x="982664" y="4748827"/>
          <a:ext cx="7704136" cy="365760"/>
        </p:xfrm>
        <a:graphic>
          <a:graphicData uri="http://schemas.openxmlformats.org/drawingml/2006/table">
            <a:tbl>
              <a:tblPr/>
              <a:tblGrid>
                <a:gridCol w="3852068">
                  <a:extLst>
                    <a:ext uri="{9D8B030D-6E8A-4147-A177-3AD203B41FA5}">
                      <a16:colId xmlns:a16="http://schemas.microsoft.com/office/drawing/2014/main" val="2091705958"/>
                    </a:ext>
                  </a:extLst>
                </a:gridCol>
                <a:gridCol w="3852068">
                  <a:extLst>
                    <a:ext uri="{9D8B030D-6E8A-4147-A177-3AD203B41FA5}">
                      <a16:colId xmlns:a16="http://schemas.microsoft.com/office/drawing/2014/main" val="240888473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Static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express.static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()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999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78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8DEEB-DEEA-5D38-42C1-6325F86E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Express is Minimalist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84B31-E974-6491-2FA6-90B0DD05B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036685"/>
            <a:ext cx="7704667" cy="3332816"/>
          </a:xfrm>
        </p:spPr>
        <p:txBody>
          <a:bodyPr>
            <a:normAutofit/>
          </a:bodyPr>
          <a:lstStyle/>
          <a:p>
            <a:r>
              <a:rPr lang="en-US" dirty="0"/>
              <a:t>Does not force structure</a:t>
            </a:r>
          </a:p>
          <a:p>
            <a:r>
              <a:rPr lang="en-US" dirty="0"/>
              <a:t>No built-in ORM</a:t>
            </a:r>
          </a:p>
          <a:p>
            <a:r>
              <a:rPr lang="en-US" dirty="0"/>
              <a:t>No fixed folder pattern</a:t>
            </a:r>
          </a:p>
          <a:p>
            <a:r>
              <a:rPr lang="en-US" dirty="0"/>
              <a:t>Developer chooses tools</a:t>
            </a:r>
          </a:p>
          <a:p>
            <a:r>
              <a:rPr lang="en-US" dirty="0"/>
              <a:t>📌 You only add what you need</a:t>
            </a:r>
            <a:br>
              <a:rPr lang="en-US" dirty="0"/>
            </a:br>
            <a:r>
              <a:rPr lang="en-US" dirty="0"/>
              <a:t>✅ Lightweight and fast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254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C3E38-745D-1148-7A5C-CAADB204A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 is Unopinionated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129374-E575-8AF2-55A0-E66B4C154B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132" y="1997841"/>
            <a:ext cx="402225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strict rules 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Folder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Templates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Freedom to choose: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 / MySQL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MVC / custom structure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Any frontend framework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869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5C990-0763-1DE1-2C83-4865E1475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 vs Django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92879D-D76D-38BB-6D46-C540067C40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4362276"/>
              </p:ext>
            </p:extLst>
          </p:nvPr>
        </p:nvGraphicFramePr>
        <p:xfrm>
          <a:off x="982662" y="2705212"/>
          <a:ext cx="7704138" cy="1615440"/>
        </p:xfrm>
        <a:graphic>
          <a:graphicData uri="http://schemas.openxmlformats.org/drawingml/2006/table">
            <a:tbl>
              <a:tblPr/>
              <a:tblGrid>
                <a:gridCol w="2568046">
                  <a:extLst>
                    <a:ext uri="{9D8B030D-6E8A-4147-A177-3AD203B41FA5}">
                      <a16:colId xmlns:a16="http://schemas.microsoft.com/office/drawing/2014/main" val="1346523615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588292185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397930172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Express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Django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76995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JavaScript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9414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Flexible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Strict MVC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4126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Learning curve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Easy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83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7973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19735-059F-0E01-3454-A6C0FCECD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Integrating Express with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67731-FA6C-267C-3A05-3B0BDCD88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10" y="1762592"/>
            <a:ext cx="7704667" cy="3332816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app.get</a:t>
            </a:r>
            <a:r>
              <a:rPr lang="en-US" dirty="0"/>
              <a:t>('/home', (req, res) =&gt;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res.sendFile</a:t>
            </a:r>
            <a:r>
              <a:rPr lang="en-US" dirty="0"/>
              <a:t>(__</a:t>
            </a:r>
            <a:r>
              <a:rPr lang="en-US" dirty="0" err="1"/>
              <a:t>dirname</a:t>
            </a:r>
            <a:r>
              <a:rPr lang="en-US" dirty="0"/>
              <a:t> + '/home.html');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112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B30E3-337C-C074-0653-ED9D71A45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Routing in Express?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2D67B-D456-BB0C-53D5-B032DD856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926454"/>
            <a:ext cx="7704667" cy="40733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Routing decides:</a:t>
            </a:r>
          </a:p>
          <a:p>
            <a:r>
              <a:rPr lang="en-US" dirty="0"/>
              <a:t>Which URL</a:t>
            </a:r>
          </a:p>
          <a:p>
            <a:r>
              <a:rPr lang="en-US" dirty="0"/>
              <a:t>Which HTTP method</a:t>
            </a:r>
          </a:p>
          <a:p>
            <a:r>
              <a:rPr lang="en-US" dirty="0"/>
              <a:t>Which response to send</a:t>
            </a:r>
          </a:p>
          <a:p>
            <a:r>
              <a:rPr lang="en-US" dirty="0"/>
              <a:t>Example:</a:t>
            </a:r>
          </a:p>
          <a:p>
            <a:pPr marL="914400" lvl="2" indent="0">
              <a:buNone/>
            </a:pPr>
            <a:r>
              <a:rPr lang="en-US" sz="2600" dirty="0" err="1"/>
              <a:t>app.get</a:t>
            </a:r>
            <a:r>
              <a:rPr lang="en-US" sz="2600" dirty="0"/>
              <a:t>('/about', (req, res) =&gt; {</a:t>
            </a:r>
          </a:p>
          <a:p>
            <a:pPr marL="914400" lvl="2" indent="0">
              <a:buNone/>
            </a:pPr>
            <a:r>
              <a:rPr lang="en-US" sz="2600" dirty="0"/>
              <a:t>  </a:t>
            </a:r>
            <a:r>
              <a:rPr lang="en-US" sz="2600" dirty="0" err="1"/>
              <a:t>res.send</a:t>
            </a:r>
            <a:r>
              <a:rPr lang="en-US" sz="2600" dirty="0"/>
              <a:t>('About Page');</a:t>
            </a:r>
          </a:p>
          <a:p>
            <a:pPr marL="914400" lvl="2" indent="0">
              <a:buNone/>
            </a:pPr>
            <a:r>
              <a:rPr lang="en-US" sz="2600" dirty="0"/>
              <a:t>});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143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85F2E-07AA-7B86-4F9C-E647D4F04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Routes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77D90-6D44-79AC-1E07-029F7AA57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GET – fetch data</a:t>
            </a:r>
          </a:p>
          <a:p>
            <a:r>
              <a:rPr lang="en-US" dirty="0"/>
              <a:t>POST – send data</a:t>
            </a:r>
          </a:p>
          <a:p>
            <a:r>
              <a:rPr lang="en-US" dirty="0"/>
              <a:t>PUT – update data</a:t>
            </a:r>
          </a:p>
          <a:p>
            <a:r>
              <a:rPr lang="en-US" dirty="0"/>
              <a:t>DELETE – remove data</a:t>
            </a:r>
          </a:p>
          <a:p>
            <a:r>
              <a:rPr lang="en-US" dirty="0"/>
              <a:t>Example:</a:t>
            </a:r>
          </a:p>
          <a:p>
            <a:r>
              <a:rPr lang="en-US" dirty="0" err="1"/>
              <a:t>app.post</a:t>
            </a:r>
            <a:r>
              <a:rPr lang="en-US" dirty="0"/>
              <a:t>('/login', handler)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599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FE42-491E-DBCD-3787-815738A4E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Modular Routing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A6E12-E2EE-4644-5DB7-3621CB8F3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4176" y="1762592"/>
            <a:ext cx="7704667" cy="33328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const router = </a:t>
            </a:r>
            <a:r>
              <a:rPr lang="en-US" dirty="0" err="1"/>
              <a:t>express.Router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router.get</a:t>
            </a:r>
            <a:r>
              <a:rPr lang="en-US" dirty="0"/>
              <a:t>('/users', (req, res) =&gt;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res.send</a:t>
            </a:r>
            <a:r>
              <a:rPr lang="en-US" dirty="0"/>
              <a:t>('User List');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module.exports</a:t>
            </a:r>
            <a:r>
              <a:rPr lang="en-US" dirty="0"/>
              <a:t> = router;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413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CC9EB-FE37-4482-58DD-9B4EAA60F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Middleware in Express?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C0C5A-D510-7005-6FE4-C87EBF729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2" y="1859131"/>
            <a:ext cx="7704667" cy="354736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Middleware = function that runs </a:t>
            </a:r>
            <a:r>
              <a:rPr lang="en-US" b="1" dirty="0"/>
              <a:t>between request and response</a:t>
            </a:r>
            <a:endParaRPr lang="en-US" dirty="0"/>
          </a:p>
          <a:p>
            <a:r>
              <a:rPr lang="en-US" dirty="0"/>
              <a:t>Uses:</a:t>
            </a:r>
          </a:p>
          <a:p>
            <a:r>
              <a:rPr lang="en-US" dirty="0"/>
              <a:t>Authentication</a:t>
            </a:r>
          </a:p>
          <a:p>
            <a:r>
              <a:rPr lang="en-US" dirty="0"/>
              <a:t>Logging</a:t>
            </a:r>
          </a:p>
          <a:p>
            <a:r>
              <a:rPr lang="en-US" dirty="0"/>
              <a:t>Validation</a:t>
            </a:r>
          </a:p>
          <a:p>
            <a:r>
              <a:rPr lang="en-US" dirty="0"/>
              <a:t>Error handling</a:t>
            </a:r>
          </a:p>
          <a:p>
            <a:r>
              <a:rPr lang="en-US" dirty="0"/>
              <a:t>📌 Runs before route handler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924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E0268-6673-969B-1DAD-D772FE522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65067"/>
          </a:xfrm>
        </p:spPr>
        <p:txBody>
          <a:bodyPr/>
          <a:lstStyle/>
          <a:p>
            <a:r>
              <a:rPr lang="en-US" b="1" dirty="0"/>
              <a:t>Middleware Syntax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F7037-4B18-3F60-B572-61770E87B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722268"/>
            <a:ext cx="7704667" cy="4277548"/>
          </a:xfrm>
        </p:spPr>
        <p:txBody>
          <a:bodyPr/>
          <a:lstStyle/>
          <a:p>
            <a:pPr marL="457200" lvl="1" indent="0">
              <a:buNone/>
            </a:pPr>
            <a:r>
              <a:rPr lang="en-US" sz="2800" dirty="0" err="1"/>
              <a:t>app.use</a:t>
            </a:r>
            <a:r>
              <a:rPr lang="en-US" sz="2800" dirty="0"/>
              <a:t>((req, res, next) =&gt; {</a:t>
            </a:r>
          </a:p>
          <a:p>
            <a:pPr marL="457200" lvl="1" indent="0">
              <a:buNone/>
            </a:pPr>
            <a:r>
              <a:rPr lang="en-US" sz="2800" dirty="0"/>
              <a:t>  console.log('Middleware executed');</a:t>
            </a:r>
          </a:p>
          <a:p>
            <a:pPr marL="457200" lvl="1" indent="0">
              <a:buNone/>
            </a:pPr>
            <a:r>
              <a:rPr lang="en-US" sz="2800" dirty="0"/>
              <a:t>  next();</a:t>
            </a:r>
          </a:p>
          <a:p>
            <a:pPr marL="457200" lvl="1" indent="0">
              <a:buNone/>
            </a:pPr>
            <a:r>
              <a:rPr lang="en-US" sz="2800" dirty="0"/>
              <a:t>});</a:t>
            </a:r>
          </a:p>
          <a:p>
            <a:r>
              <a:rPr lang="en-US" dirty="0"/>
              <a:t>✅ next() moves request forward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474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8ABE-E18F-8419-329B-6CF5C7A6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Built-in Middleware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89E27-E609-435A-48DF-6382A2D6D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express.json</a:t>
            </a:r>
            <a:r>
              <a:rPr lang="en-US" dirty="0"/>
              <a:t>() → read JSON body</a:t>
            </a:r>
          </a:p>
          <a:p>
            <a:r>
              <a:rPr lang="en-US" dirty="0" err="1"/>
              <a:t>express.urlencoded</a:t>
            </a:r>
            <a:r>
              <a:rPr lang="en-US" dirty="0"/>
              <a:t>() → read form data</a:t>
            </a:r>
          </a:p>
          <a:p>
            <a:r>
              <a:rPr lang="en-US" dirty="0" err="1"/>
              <a:t>express.static</a:t>
            </a:r>
            <a:r>
              <a:rPr lang="en-US" dirty="0"/>
              <a:t>() → serve static files</a:t>
            </a:r>
          </a:p>
          <a:p>
            <a:r>
              <a:rPr lang="en-US" dirty="0" err="1"/>
              <a:t>app.use</a:t>
            </a:r>
            <a:r>
              <a:rPr lang="en-US" dirty="0"/>
              <a:t>(</a:t>
            </a:r>
            <a:r>
              <a:rPr lang="en-US" dirty="0" err="1"/>
              <a:t>express.json</a:t>
            </a:r>
            <a:r>
              <a:rPr lang="en-US" dirty="0"/>
              <a:t>());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180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2591F-70FE-8706-6132-BEB3266D6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Custom Middleware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7A58E-7321-806C-5370-D4D541B0E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420" y="2045563"/>
            <a:ext cx="7704667" cy="33328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function logger(req, res, next) {</a:t>
            </a:r>
          </a:p>
          <a:p>
            <a:pPr marL="0" indent="0">
              <a:buNone/>
            </a:pPr>
            <a:r>
              <a:rPr lang="en-US" dirty="0"/>
              <a:t>  console.log(</a:t>
            </a:r>
            <a:r>
              <a:rPr lang="en-US" dirty="0" err="1"/>
              <a:t>req.method</a:t>
            </a:r>
            <a:r>
              <a:rPr lang="en-US" dirty="0"/>
              <a:t>, req.url);</a:t>
            </a:r>
          </a:p>
          <a:p>
            <a:pPr marL="0" indent="0">
              <a:buNone/>
            </a:pPr>
            <a:r>
              <a:rPr lang="en-US" dirty="0"/>
              <a:t>  next();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app.use</a:t>
            </a:r>
            <a:r>
              <a:rPr lang="en-US" dirty="0"/>
              <a:t>(logger);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389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76A5E-ED64-744D-8843-610802B40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Middleware Makes Express Better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0435F-2952-DBA2-BD0F-9535A5331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072196"/>
            <a:ext cx="7704667" cy="3332816"/>
          </a:xfrm>
        </p:spPr>
        <p:txBody>
          <a:bodyPr/>
          <a:lstStyle/>
          <a:p>
            <a:r>
              <a:rPr lang="en-US" dirty="0"/>
              <a:t>Reusable logic</a:t>
            </a:r>
          </a:p>
          <a:p>
            <a:r>
              <a:rPr lang="en-US" dirty="0"/>
              <a:t>Cleaner routes</a:t>
            </a:r>
          </a:p>
          <a:p>
            <a:r>
              <a:rPr lang="en-US" dirty="0"/>
              <a:t>Better security</a:t>
            </a:r>
          </a:p>
          <a:p>
            <a:r>
              <a:rPr lang="en-US" dirty="0"/>
              <a:t>Better performance handling</a:t>
            </a:r>
          </a:p>
          <a:p>
            <a:r>
              <a:rPr lang="en-US" dirty="0"/>
              <a:t>✅ Middleware = Power of Express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5745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90137-12ED-948E-D769-466187EC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Express.js with Frontend Frameworks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E1383-E300-B4E7-BCC2-3491C4A69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 is commonly used as:</a:t>
            </a:r>
          </a:p>
          <a:p>
            <a:r>
              <a:rPr lang="en-US" dirty="0"/>
              <a:t>Backend API for React</a:t>
            </a:r>
          </a:p>
          <a:p>
            <a:r>
              <a:rPr lang="en-US" dirty="0"/>
              <a:t>Backend for Angular / Vue</a:t>
            </a:r>
          </a:p>
          <a:p>
            <a:r>
              <a:rPr lang="en-US" dirty="0"/>
              <a:t>Architecture:</a:t>
            </a:r>
          </a:p>
          <a:p>
            <a:r>
              <a:rPr lang="en-US" dirty="0"/>
              <a:t>React → Express API → Database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772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CAB90-4FDA-1BDE-BD8F-A5F919397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&amp; Why to Use Express.js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E1BD9-00E5-9DC8-D1F6-705BE2CC5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032" y="2134340"/>
            <a:ext cx="7704667" cy="333281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✅ Use Express when:</a:t>
            </a:r>
          </a:p>
          <a:p>
            <a:r>
              <a:rPr lang="en-US" dirty="0"/>
              <a:t>Building REST APIs</a:t>
            </a:r>
          </a:p>
          <a:p>
            <a:r>
              <a:rPr lang="en-US" dirty="0"/>
              <a:t>Working with React</a:t>
            </a:r>
          </a:p>
          <a:p>
            <a:r>
              <a:rPr lang="en-US" dirty="0"/>
              <a:t>Developing microservices</a:t>
            </a:r>
          </a:p>
          <a:p>
            <a:r>
              <a:rPr lang="en-US" dirty="0"/>
              <a:t>Need fast, flexible backend</a:t>
            </a:r>
          </a:p>
          <a:p>
            <a:r>
              <a:rPr lang="en-US" dirty="0"/>
              <a:t>❌ Avoid when:</a:t>
            </a:r>
          </a:p>
          <a:p>
            <a:r>
              <a:rPr lang="en-US" dirty="0"/>
              <a:t>Need heavy built-in 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8070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196</TotalTime>
  <Words>810</Words>
  <Application>Microsoft Office PowerPoint</Application>
  <PresentationFormat>On-screen Show (4:3)</PresentationFormat>
  <Paragraphs>183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Corbel</vt:lpstr>
      <vt:lpstr>Courier New</vt:lpstr>
      <vt:lpstr>Parallax</vt:lpstr>
      <vt:lpstr>Introduction to Express</vt:lpstr>
      <vt:lpstr>INTRODUCTION</vt:lpstr>
      <vt:lpstr>History of Express.js</vt:lpstr>
      <vt:lpstr>Why Express.js?</vt:lpstr>
      <vt:lpstr>How Express.js Works</vt:lpstr>
      <vt:lpstr>Installing Express.js</vt:lpstr>
      <vt:lpstr>Setting Up Express.js in VS Code</vt:lpstr>
      <vt:lpstr>Basic Express.js Application</vt:lpstr>
      <vt:lpstr>Understanding Basic Code</vt:lpstr>
      <vt:lpstr>Importing &amp; Using Express Functionality</vt:lpstr>
      <vt:lpstr>Why Express is Minimalist</vt:lpstr>
      <vt:lpstr>Express is Unopinionated</vt:lpstr>
      <vt:lpstr>Express vs Django</vt:lpstr>
      <vt:lpstr>Integrating Express with HTML</vt:lpstr>
      <vt:lpstr>What is Routing in Express?</vt:lpstr>
      <vt:lpstr>Types of Routes</vt:lpstr>
      <vt:lpstr>Modular Routing</vt:lpstr>
      <vt:lpstr>What is Middleware in Express?</vt:lpstr>
      <vt:lpstr>Middleware Syntax</vt:lpstr>
      <vt:lpstr>Built-in Middleware Examples</vt:lpstr>
      <vt:lpstr>Custom Middleware Example</vt:lpstr>
      <vt:lpstr>Why Middleware Makes Express Better</vt:lpstr>
      <vt:lpstr>Express.js with Frontend Frameworks </vt:lpstr>
      <vt:lpstr>When &amp; Why to Use Express.js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 n</cp:lastModifiedBy>
  <cp:revision>5</cp:revision>
  <dcterms:created xsi:type="dcterms:W3CDTF">2013-01-27T09:14:16Z</dcterms:created>
  <dcterms:modified xsi:type="dcterms:W3CDTF">2025-12-02T10:36:17Z</dcterms:modified>
  <cp:category/>
</cp:coreProperties>
</file>