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951" r:id="rId3"/>
    <p:sldId id="953" r:id="rId4"/>
    <p:sldId id="954" r:id="rId5"/>
    <p:sldId id="956" r:id="rId6"/>
    <p:sldId id="889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5AE95-ABBF-4BD3-89FC-D0B169115093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58AE5-B2E3-4636-83DF-A55FE7D740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45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8" name="Rectangle 2">
            <a:extLst>
              <a:ext uri="{FF2B5EF4-FFF2-40B4-BE49-F238E27FC236}">
                <a16:creationId xmlns:a16="http://schemas.microsoft.com/office/drawing/2014/main" id="{7511A713-BC07-4D9F-87A6-51C043371F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00050" y="696913"/>
            <a:ext cx="6184900" cy="3479800"/>
          </a:xfrm>
        </p:spPr>
      </p:sp>
      <p:sp>
        <p:nvSpPr>
          <p:cNvPr id="1509379" name="Rectangle 3">
            <a:extLst>
              <a:ext uri="{FF2B5EF4-FFF2-40B4-BE49-F238E27FC236}">
                <a16:creationId xmlns:a16="http://schemas.microsoft.com/office/drawing/2014/main" id="{1B8E28C8-58A2-430B-BD54-A1C61B9EA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426" name="Rectangle 2">
            <a:extLst>
              <a:ext uri="{FF2B5EF4-FFF2-40B4-BE49-F238E27FC236}">
                <a16:creationId xmlns:a16="http://schemas.microsoft.com/office/drawing/2014/main" id="{C5751DF3-9948-480C-BE52-5BE66CF228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1427" name="Rectangle 3">
            <a:extLst>
              <a:ext uri="{FF2B5EF4-FFF2-40B4-BE49-F238E27FC236}">
                <a16:creationId xmlns:a16="http://schemas.microsoft.com/office/drawing/2014/main" id="{AA15372A-9D9A-438B-87AF-BBE91EC83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22" name="Rectangle 2">
            <a:extLst>
              <a:ext uri="{FF2B5EF4-FFF2-40B4-BE49-F238E27FC236}">
                <a16:creationId xmlns:a16="http://schemas.microsoft.com/office/drawing/2014/main" id="{A34E166D-36DD-4307-B7D1-44A87D8357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5523" name="Rectangle 3">
            <a:extLst>
              <a:ext uri="{FF2B5EF4-FFF2-40B4-BE49-F238E27FC236}">
                <a16:creationId xmlns:a16="http://schemas.microsoft.com/office/drawing/2014/main" id="{6528F982-2B20-482E-98E9-DD81C01B1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570" name="Rectangle 2">
            <a:extLst>
              <a:ext uri="{FF2B5EF4-FFF2-40B4-BE49-F238E27FC236}">
                <a16:creationId xmlns:a16="http://schemas.microsoft.com/office/drawing/2014/main" id="{72F0D5FA-0185-46DC-B67C-97C1C5E500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7571" name="Rectangle 3">
            <a:extLst>
              <a:ext uri="{FF2B5EF4-FFF2-40B4-BE49-F238E27FC236}">
                <a16:creationId xmlns:a16="http://schemas.microsoft.com/office/drawing/2014/main" id="{0E771DA4-EF7C-4035-8978-FB74C153A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8" name="Rectangle 2">
            <a:extLst>
              <a:ext uri="{FF2B5EF4-FFF2-40B4-BE49-F238E27FC236}">
                <a16:creationId xmlns:a16="http://schemas.microsoft.com/office/drawing/2014/main" id="{FB20077C-C59E-4032-94E3-F81E72038ECA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419100" y="596900"/>
            <a:ext cx="6162675" cy="3467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419" name="Rectangle 3">
            <a:extLst>
              <a:ext uri="{FF2B5EF4-FFF2-40B4-BE49-F238E27FC236}">
                <a16:creationId xmlns:a16="http://schemas.microsoft.com/office/drawing/2014/main" id="{3EF5D42F-0F48-4601-B2D3-521EA326E8D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525463" y="4408488"/>
            <a:ext cx="6019800" cy="41767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949" tIns="46474" rIns="92949" bIns="46474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08F2-D58C-48A0-81B5-294FDF7D8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87F6D-2D44-42C6-9855-F4AB45677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DE4BF-8CEE-4A31-86FE-A11CF51B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E4C7D-2314-4100-827A-43CEDB56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B6EB-6F32-4532-B6A9-87398B74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94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BA83-27CE-408B-9192-46401A11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E81C-AC16-4C48-97BD-DC824F7AF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4EB5-1A46-47C5-878F-986BDBE2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8EFA-71D8-4C9F-B211-7BDE52B6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453A2-A9C7-4056-BEDC-636E2950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48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550-A812-4135-9ED9-3BA75378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F5597-4A4A-4D6F-B87B-011F442D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715F-34C9-484A-8AFA-2925A1A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2049-DF00-465A-8690-D669A04A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C571C-5952-4EB2-90A3-A9966EFD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13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FCB7-3E37-4D46-AB78-EF61446E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3273-325A-4659-832A-E8E7AA152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01DCF-86D0-4EB2-A9FE-74F6B4C23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74EA-1A1D-4759-8D76-B65CF7EEB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CBD03-96AB-4B23-BB5D-B35E4394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F5AFE-45D5-43E4-9E38-9107E920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1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FC94-2EAC-4512-96C3-8985BE935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020AA-5FA9-44A0-9524-2D0F87A9D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8EF1B-8E20-486C-956D-0048C5EEB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6DC76-AA2C-43A0-9479-2D87747D3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7FCF8-785D-4F5F-BBF2-03F7554EB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6488E-09E6-4DD8-9D37-F0C8E1A3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1E205-8AAA-4B45-AF73-97562A4D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5AEF5-C3C4-46A8-AC33-B49C35F5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7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400D-C211-425B-ABFD-B932D673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6712E-42D4-4AED-92F0-282580CE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1627A-BDA2-4E28-A42D-6E5618DC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6B69C-9D72-484B-B338-ACDE527E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85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474DC-48E4-4835-8475-7111AB68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CDF8C-333D-4B23-B4F9-595ACA08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C881E-BF03-4C69-A217-9A8B77E6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70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6249-B6CC-48D3-8377-4CFC53E1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17B4-4F18-4AC4-951E-34FB6D529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2DAF7-6582-4EAE-87B2-3462F2565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A6B65-1A28-440A-9F6F-7B4F53DC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D676D-9DDA-4A73-9EFB-4F7867F8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399A3-A2E8-4BEB-96CD-41F81CBB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92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66BB-32ED-49BC-836B-1A56DD5A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FBDBE-F290-43C8-A2FD-C8FECDEF0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2F5BF-AAA6-49AB-B693-4978F6B5F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04922-E72D-472B-8262-E234277B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F4F35-BE41-48FE-A4C7-93A9AA62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7226A-8CD6-41EC-B460-53D3332A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47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EC0A-7EC5-4CAA-850D-8854E2F6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C886C-43D4-4AF3-AF7A-47B461B32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91AA4-D9CD-4707-B520-D6D937AE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2B730-A99E-4B11-A407-E26249884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8B543-CE59-433E-9CDB-A9972F4D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0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A3D4B-9E42-4BBF-B145-E16C765DA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28C97-8B5C-43F3-8DBC-CCB52EDB5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FB875-07D8-4AF3-9BDF-E2B3581C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80A2C-9AFC-454D-AF7B-3C5D218A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B4FA7-AD02-4DDF-A7C7-6EEAFFB5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81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231E4-66FB-42A4-9691-01FB24C0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ED53D-8035-4909-B906-2EE6E4D0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6B4AE-328E-4FF6-883F-FD8E5B044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5BD9B-DBD3-45C6-883A-DFC0AC1CC021}" type="datetimeFigureOut">
              <a:rPr lang="en-GB" smtClean="0"/>
              <a:t>05/06/2020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40612-208C-44FF-9831-2BAA946ED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0EABC-198D-4793-A64E-538FE6FA7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8BCEF-C3AB-426A-9C09-F3525063E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38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C5E5-F478-4453-BD26-3B3647B3FE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POINTERS IN C++</a:t>
            </a:r>
          </a:p>
        </p:txBody>
      </p:sp>
    </p:spTree>
    <p:extLst>
      <p:ext uri="{BB962C8B-B14F-4D97-AF65-F5344CB8AC3E}">
        <p14:creationId xmlns:p14="http://schemas.microsoft.com/office/powerpoint/2010/main" val="288185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354" name="Rectangle 2">
            <a:extLst>
              <a:ext uri="{FF2B5EF4-FFF2-40B4-BE49-F238E27FC236}">
                <a16:creationId xmlns:a16="http://schemas.microsoft.com/office/drawing/2014/main" id="{EFA689A7-FA73-4114-8CFB-F0EBB4E71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458200" cy="914400"/>
          </a:xfrm>
        </p:spPr>
        <p:txBody>
          <a:bodyPr/>
          <a:lstStyle/>
          <a:p>
            <a:pPr algn="l"/>
            <a:r>
              <a:rPr lang="en-US" altLang="en-US" sz="3200" b="1"/>
              <a:t>Pointer Variable Declarations and Initialization</a:t>
            </a:r>
          </a:p>
        </p:txBody>
      </p:sp>
      <p:sp>
        <p:nvSpPr>
          <p:cNvPr id="1508355" name="Rectangle 3">
            <a:extLst>
              <a:ext uri="{FF2B5EF4-FFF2-40B4-BE49-F238E27FC236}">
                <a16:creationId xmlns:a16="http://schemas.microsoft.com/office/drawing/2014/main" id="{6124A9E4-8CF7-4E59-9CC9-B0A60C1A36A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333500" y="1354723"/>
            <a:ext cx="8458200" cy="3276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Why we need Pointers: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Pointes enable programs to create dynamic memory, which can grow at runtime using.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The main difference between normal variables and pointers is that, </a:t>
            </a:r>
            <a:r>
              <a:rPr lang="en-US" altLang="en-US" sz="20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variables contain a value</a:t>
            </a:r>
            <a:r>
              <a:rPr lang="en-US" altLang="en-US" sz="2000" dirty="0">
                <a:latin typeface="Trebuchet MS" panose="020B0603020202020204" pitchFamily="34" charset="0"/>
              </a:rPr>
              <a:t>, while </a:t>
            </a:r>
            <a:r>
              <a:rPr lang="en-US" altLang="en-US" sz="20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pointers contain a memory address</a:t>
            </a:r>
            <a:r>
              <a:rPr lang="en-US" altLang="en-US" sz="2000" dirty="0"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Memory address:</a:t>
            </a:r>
            <a:r>
              <a:rPr lang="en-US" altLang="en-US" sz="2400" dirty="0">
                <a:latin typeface="Trebuchet MS" panose="020B0603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We know each memory address contain some value.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Thus if pointers contain memory addresses, we can get its value (indirectly).</a:t>
            </a:r>
          </a:p>
        </p:txBody>
      </p:sp>
      <p:grpSp>
        <p:nvGrpSpPr>
          <p:cNvPr id="1508356" name="Group 4">
            <a:extLst>
              <a:ext uri="{FF2B5EF4-FFF2-40B4-BE49-F238E27FC236}">
                <a16:creationId xmlns:a16="http://schemas.microsoft.com/office/drawing/2014/main" id="{C34549E6-7110-46AB-A27E-C11C4706AF0C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648200"/>
            <a:ext cx="6858000" cy="2164839"/>
            <a:chOff x="768" y="2256"/>
            <a:chExt cx="4320" cy="1625"/>
          </a:xfrm>
        </p:grpSpPr>
        <p:sp>
          <p:nvSpPr>
            <p:cNvPr id="1508357" name="Text Box 5">
              <a:extLst>
                <a:ext uri="{FF2B5EF4-FFF2-40B4-BE49-F238E27FC236}">
                  <a16:creationId xmlns:a16="http://schemas.microsoft.com/office/drawing/2014/main" id="{B850D467-50C9-4161-A5E9-6C7D47DDB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56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latin typeface="Tahoma" panose="020B060403050404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508358" name="Rectangle 6">
              <a:extLst>
                <a:ext uri="{FF2B5EF4-FFF2-40B4-BE49-F238E27FC236}">
                  <a16:creationId xmlns:a16="http://schemas.microsoft.com/office/drawing/2014/main" id="{08F28A4A-DBF0-45E9-9223-90595DE7A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59" name="Rectangle 7">
              <a:extLst>
                <a:ext uri="{FF2B5EF4-FFF2-40B4-BE49-F238E27FC236}">
                  <a16:creationId xmlns:a16="http://schemas.microsoft.com/office/drawing/2014/main" id="{10AA555B-EC1C-4F54-9438-7C2FC6A31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508360" name="Rectangle 8">
              <a:extLst>
                <a:ext uri="{FF2B5EF4-FFF2-40B4-BE49-F238E27FC236}">
                  <a16:creationId xmlns:a16="http://schemas.microsoft.com/office/drawing/2014/main" id="{4174EE0B-99C4-460D-AD49-CACF15C72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1" name="Rectangle 9">
              <a:extLst>
                <a:ext uri="{FF2B5EF4-FFF2-40B4-BE49-F238E27FC236}">
                  <a16:creationId xmlns:a16="http://schemas.microsoft.com/office/drawing/2014/main" id="{CAD4A792-498D-413D-9F23-2684F68D0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2" name="Rectangle 10">
              <a:extLst>
                <a:ext uri="{FF2B5EF4-FFF2-40B4-BE49-F238E27FC236}">
                  <a16:creationId xmlns:a16="http://schemas.microsoft.com/office/drawing/2014/main" id="{83A82373-916B-4F6E-B739-F843BF2DA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3" name="Rectangle 11">
              <a:extLst>
                <a:ext uri="{FF2B5EF4-FFF2-40B4-BE49-F238E27FC236}">
                  <a16:creationId xmlns:a16="http://schemas.microsoft.com/office/drawing/2014/main" id="{412BFEE6-D8F5-4DC1-8F8D-204FFCC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4" name="Rectangle 12">
              <a:extLst>
                <a:ext uri="{FF2B5EF4-FFF2-40B4-BE49-F238E27FC236}">
                  <a16:creationId xmlns:a16="http://schemas.microsoft.com/office/drawing/2014/main" id="{6C0DE752-919C-4389-8269-46BE38C43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5" name="Text Box 13">
              <a:extLst>
                <a:ext uri="{FF2B5EF4-FFF2-40B4-BE49-F238E27FC236}">
                  <a16:creationId xmlns:a16="http://schemas.microsoft.com/office/drawing/2014/main" id="{63705809-A959-4BBD-BA39-CF4151712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508366" name="Text Box 14">
              <a:extLst>
                <a:ext uri="{FF2B5EF4-FFF2-40B4-BE49-F238E27FC236}">
                  <a16:creationId xmlns:a16="http://schemas.microsoft.com/office/drawing/2014/main" id="{7441618A-BD86-4DD8-929B-AA8736633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08367" name="Rectangle 15">
              <a:extLst>
                <a:ext uri="{FF2B5EF4-FFF2-40B4-BE49-F238E27FC236}">
                  <a16:creationId xmlns:a16="http://schemas.microsoft.com/office/drawing/2014/main" id="{9EE243D9-0F6B-44F2-A980-11E952C07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8" name="Rectangle 16">
              <a:extLst>
                <a:ext uri="{FF2B5EF4-FFF2-40B4-BE49-F238E27FC236}">
                  <a16:creationId xmlns:a16="http://schemas.microsoft.com/office/drawing/2014/main" id="{23ED7016-2E3B-4D46-9B2B-A13A3C62B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9" name="Rectangle 17">
              <a:extLst>
                <a:ext uri="{FF2B5EF4-FFF2-40B4-BE49-F238E27FC236}">
                  <a16:creationId xmlns:a16="http://schemas.microsoft.com/office/drawing/2014/main" id="{39E7B040-9B69-45D6-B2B0-4944D265F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0" name="Rectangle 18">
              <a:extLst>
                <a:ext uri="{FF2B5EF4-FFF2-40B4-BE49-F238E27FC236}">
                  <a16:creationId xmlns:a16="http://schemas.microsoft.com/office/drawing/2014/main" id="{469F9977-9179-41FF-89FB-80C6AFDEC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1" name="Rectangle 19">
              <a:extLst>
                <a:ext uri="{FF2B5EF4-FFF2-40B4-BE49-F238E27FC236}">
                  <a16:creationId xmlns:a16="http://schemas.microsoft.com/office/drawing/2014/main" id="{BC1EB437-5563-4508-8571-7CF589AA0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2" name="Text Box 20">
              <a:extLst>
                <a:ext uri="{FF2B5EF4-FFF2-40B4-BE49-F238E27FC236}">
                  <a16:creationId xmlns:a16="http://schemas.microsoft.com/office/drawing/2014/main" id="{4CCA0676-3D9C-4C1A-85CA-77EC2581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73" name="Text Box 21">
              <a:extLst>
                <a:ext uri="{FF2B5EF4-FFF2-40B4-BE49-F238E27FC236}">
                  <a16:creationId xmlns:a16="http://schemas.microsoft.com/office/drawing/2014/main" id="{A9CEE5F1-C1E1-4B62-80F7-27AB2ACD1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74" name="Text Box 22">
              <a:extLst>
                <a:ext uri="{FF2B5EF4-FFF2-40B4-BE49-F238E27FC236}">
                  <a16:creationId xmlns:a16="http://schemas.microsoft.com/office/drawing/2014/main" id="{3E471346-3ABD-40FD-BD31-C7C4A076A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173</a:t>
              </a:r>
            </a:p>
          </p:txBody>
        </p:sp>
        <p:sp>
          <p:nvSpPr>
            <p:cNvPr id="1508375" name="Text Box 23">
              <a:extLst>
                <a:ext uri="{FF2B5EF4-FFF2-40B4-BE49-F238E27FC236}">
                  <a16:creationId xmlns:a16="http://schemas.microsoft.com/office/drawing/2014/main" id="{E017F8F3-AC26-4F91-8B7F-C377125D5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172</a:t>
              </a:r>
            </a:p>
          </p:txBody>
        </p:sp>
        <p:sp>
          <p:nvSpPr>
            <p:cNvPr id="1508376" name="Text Box 24">
              <a:extLst>
                <a:ext uri="{FF2B5EF4-FFF2-40B4-BE49-F238E27FC236}">
                  <a16:creationId xmlns:a16="http://schemas.microsoft.com/office/drawing/2014/main" id="{03C33D06-7BC7-4252-B28A-3088B1BFE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174</a:t>
              </a:r>
            </a:p>
          </p:txBody>
        </p:sp>
        <p:sp>
          <p:nvSpPr>
            <p:cNvPr id="1508377" name="Text Box 25">
              <a:extLst>
                <a:ext uri="{FF2B5EF4-FFF2-40B4-BE49-F238E27FC236}">
                  <a16:creationId xmlns:a16="http://schemas.microsoft.com/office/drawing/2014/main" id="{5E43F192-0239-4823-9101-4321B9DFA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175</a:t>
              </a:r>
            </a:p>
          </p:txBody>
        </p:sp>
        <p:sp>
          <p:nvSpPr>
            <p:cNvPr id="1508378" name="Text Box 26">
              <a:extLst>
                <a:ext uri="{FF2B5EF4-FFF2-40B4-BE49-F238E27FC236}">
                  <a16:creationId xmlns:a16="http://schemas.microsoft.com/office/drawing/2014/main" id="{486E01F8-9BE6-4E30-AA87-70EF3EE54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176</a:t>
              </a:r>
            </a:p>
          </p:txBody>
        </p:sp>
        <p:sp>
          <p:nvSpPr>
            <p:cNvPr id="1508379" name="Text Box 27">
              <a:extLst>
                <a:ext uri="{FF2B5EF4-FFF2-40B4-BE49-F238E27FC236}">
                  <a16:creationId xmlns:a16="http://schemas.microsoft.com/office/drawing/2014/main" id="{39622506-382D-4CF7-A782-3F99FBC2E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177</a:t>
              </a:r>
            </a:p>
          </p:txBody>
        </p:sp>
        <p:sp>
          <p:nvSpPr>
            <p:cNvPr id="1508380" name="Text Box 28">
              <a:extLst>
                <a:ext uri="{FF2B5EF4-FFF2-40B4-BE49-F238E27FC236}">
                  <a16:creationId xmlns:a16="http://schemas.microsoft.com/office/drawing/2014/main" id="{E967306B-BF87-4090-A708-EDB2106D6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178</a:t>
              </a:r>
            </a:p>
          </p:txBody>
        </p:sp>
        <p:sp>
          <p:nvSpPr>
            <p:cNvPr id="1508381" name="Text Box 29">
              <a:extLst>
                <a:ext uri="{FF2B5EF4-FFF2-40B4-BE49-F238E27FC236}">
                  <a16:creationId xmlns:a16="http://schemas.microsoft.com/office/drawing/2014/main" id="{F454E9A7-F2FB-4703-AF0B-A74BB65B7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179</a:t>
              </a:r>
            </a:p>
          </p:txBody>
        </p:sp>
        <p:sp>
          <p:nvSpPr>
            <p:cNvPr id="1508382" name="Text Box 30">
              <a:extLst>
                <a:ext uri="{FF2B5EF4-FFF2-40B4-BE49-F238E27FC236}">
                  <a16:creationId xmlns:a16="http://schemas.microsoft.com/office/drawing/2014/main" id="{ADCEE819-85C7-4C54-A6C9-46DFA84BE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180</a:t>
              </a:r>
            </a:p>
          </p:txBody>
        </p:sp>
        <p:sp>
          <p:nvSpPr>
            <p:cNvPr id="1508383" name="Text Box 31">
              <a:extLst>
                <a:ext uri="{FF2B5EF4-FFF2-40B4-BE49-F238E27FC236}">
                  <a16:creationId xmlns:a16="http://schemas.microsoft.com/office/drawing/2014/main" id="{0D64610A-62E3-47E9-85D4-7A58F7F0D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508384" name="Rectangle 32">
              <a:extLst>
                <a:ext uri="{FF2B5EF4-FFF2-40B4-BE49-F238E27FC236}">
                  <a16:creationId xmlns:a16="http://schemas.microsoft.com/office/drawing/2014/main" id="{2A853EE5-DDAE-490A-BDF0-8F8401A32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5" name="Rectangle 33">
              <a:extLst>
                <a:ext uri="{FF2B5EF4-FFF2-40B4-BE49-F238E27FC236}">
                  <a16:creationId xmlns:a16="http://schemas.microsoft.com/office/drawing/2014/main" id="{04226888-9127-4AB5-A316-F9DADD314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174</a:t>
              </a:r>
            </a:p>
          </p:txBody>
        </p:sp>
        <p:sp>
          <p:nvSpPr>
            <p:cNvPr id="1508386" name="Rectangle 34">
              <a:extLst>
                <a:ext uri="{FF2B5EF4-FFF2-40B4-BE49-F238E27FC236}">
                  <a16:creationId xmlns:a16="http://schemas.microsoft.com/office/drawing/2014/main" id="{9A43359B-7E65-4E1F-A17C-BF75AC449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7" name="Rectangle 35">
              <a:extLst>
                <a:ext uri="{FF2B5EF4-FFF2-40B4-BE49-F238E27FC236}">
                  <a16:creationId xmlns:a16="http://schemas.microsoft.com/office/drawing/2014/main" id="{158C4C70-74DA-48E8-9245-E9671E8D7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8" name="Rectangle 36">
              <a:extLst>
                <a:ext uri="{FF2B5EF4-FFF2-40B4-BE49-F238E27FC236}">
                  <a16:creationId xmlns:a16="http://schemas.microsoft.com/office/drawing/2014/main" id="{BA039A79-701B-4668-8000-4AE9EF2D6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9" name="Rectangle 37">
              <a:extLst>
                <a:ext uri="{FF2B5EF4-FFF2-40B4-BE49-F238E27FC236}">
                  <a16:creationId xmlns:a16="http://schemas.microsoft.com/office/drawing/2014/main" id="{01F431FB-067C-4035-8AE9-DBC6A683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0" name="Rectangle 38">
              <a:extLst>
                <a:ext uri="{FF2B5EF4-FFF2-40B4-BE49-F238E27FC236}">
                  <a16:creationId xmlns:a16="http://schemas.microsoft.com/office/drawing/2014/main" id="{CCF94056-9122-4366-9E1D-A26B8DC63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1" name="Text Box 39">
              <a:extLst>
                <a:ext uri="{FF2B5EF4-FFF2-40B4-BE49-F238E27FC236}">
                  <a16:creationId xmlns:a16="http://schemas.microsoft.com/office/drawing/2014/main" id="{32FB92A6-359D-4EF7-A2D8-2B0E1F019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508392" name="Text Box 40">
              <a:extLst>
                <a:ext uri="{FF2B5EF4-FFF2-40B4-BE49-F238E27FC236}">
                  <a16:creationId xmlns:a16="http://schemas.microsoft.com/office/drawing/2014/main" id="{F33BECD9-FDB4-4104-ADE1-BA61E62BF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08393" name="Rectangle 41">
              <a:extLst>
                <a:ext uri="{FF2B5EF4-FFF2-40B4-BE49-F238E27FC236}">
                  <a16:creationId xmlns:a16="http://schemas.microsoft.com/office/drawing/2014/main" id="{CC8BDD87-FDFA-43B0-A683-3212D9789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4" name="Rectangle 42">
              <a:extLst>
                <a:ext uri="{FF2B5EF4-FFF2-40B4-BE49-F238E27FC236}">
                  <a16:creationId xmlns:a16="http://schemas.microsoft.com/office/drawing/2014/main" id="{B2405B1B-C1E3-4D32-9910-D7707BC6C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5" name="Rectangle 43">
              <a:extLst>
                <a:ext uri="{FF2B5EF4-FFF2-40B4-BE49-F238E27FC236}">
                  <a16:creationId xmlns:a16="http://schemas.microsoft.com/office/drawing/2014/main" id="{46EE38E9-CBA8-49AC-B7FE-C95AA1F0B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6" name="Rectangle 44">
              <a:extLst>
                <a:ext uri="{FF2B5EF4-FFF2-40B4-BE49-F238E27FC236}">
                  <a16:creationId xmlns:a16="http://schemas.microsoft.com/office/drawing/2014/main" id="{A41B74E6-B9C8-4337-9FB9-407D0D9A2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7" name="Rectangle 45">
              <a:extLst>
                <a:ext uri="{FF2B5EF4-FFF2-40B4-BE49-F238E27FC236}">
                  <a16:creationId xmlns:a16="http://schemas.microsoft.com/office/drawing/2014/main" id="{9BA10EFF-872E-4686-A3CA-2F508647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8" name="Text Box 46">
              <a:extLst>
                <a:ext uri="{FF2B5EF4-FFF2-40B4-BE49-F238E27FC236}">
                  <a16:creationId xmlns:a16="http://schemas.microsoft.com/office/drawing/2014/main" id="{74A5F2A8-C153-4449-8488-3CD089D02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99" name="Text Box 47">
              <a:extLst>
                <a:ext uri="{FF2B5EF4-FFF2-40B4-BE49-F238E27FC236}">
                  <a16:creationId xmlns:a16="http://schemas.microsoft.com/office/drawing/2014/main" id="{F7328E24-6F4E-4579-8260-4BB7BA3AC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400" name="Text Box 48">
              <a:extLst>
                <a:ext uri="{FF2B5EF4-FFF2-40B4-BE49-F238E27FC236}">
                  <a16:creationId xmlns:a16="http://schemas.microsoft.com/office/drawing/2014/main" id="{B6C0375A-39B8-4CB1-8505-2F3C168E4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168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latin typeface="Tahoma" panose="020B060403050404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508401" name="Text Box 49">
              <a:extLst>
                <a:ext uri="{FF2B5EF4-FFF2-40B4-BE49-F238E27FC236}">
                  <a16:creationId xmlns:a16="http://schemas.microsoft.com/office/drawing/2014/main" id="{669E3B48-8A05-4DE5-B5A3-673C0E7B2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833</a:t>
              </a:r>
            </a:p>
          </p:txBody>
        </p:sp>
        <p:sp>
          <p:nvSpPr>
            <p:cNvPr id="1508402" name="Text Box 50">
              <a:extLst>
                <a:ext uri="{FF2B5EF4-FFF2-40B4-BE49-F238E27FC236}">
                  <a16:creationId xmlns:a16="http://schemas.microsoft.com/office/drawing/2014/main" id="{4D09F0B7-AA84-486E-8834-FCFA5C65E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832</a:t>
              </a:r>
            </a:p>
          </p:txBody>
        </p:sp>
        <p:sp>
          <p:nvSpPr>
            <p:cNvPr id="1508403" name="Text Box 51">
              <a:extLst>
                <a:ext uri="{FF2B5EF4-FFF2-40B4-BE49-F238E27FC236}">
                  <a16:creationId xmlns:a16="http://schemas.microsoft.com/office/drawing/2014/main" id="{6AE3DE1D-142C-492E-B457-61DF067D1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834</a:t>
              </a:r>
            </a:p>
          </p:txBody>
        </p:sp>
        <p:sp>
          <p:nvSpPr>
            <p:cNvPr id="1508404" name="Text Box 52">
              <a:extLst>
                <a:ext uri="{FF2B5EF4-FFF2-40B4-BE49-F238E27FC236}">
                  <a16:creationId xmlns:a16="http://schemas.microsoft.com/office/drawing/2014/main" id="{1E2594EB-DC7A-453A-8092-25557DEA8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835</a:t>
              </a:r>
            </a:p>
          </p:txBody>
        </p:sp>
        <p:sp>
          <p:nvSpPr>
            <p:cNvPr id="1508405" name="Text Box 53">
              <a:extLst>
                <a:ext uri="{FF2B5EF4-FFF2-40B4-BE49-F238E27FC236}">
                  <a16:creationId xmlns:a16="http://schemas.microsoft.com/office/drawing/2014/main" id="{300125DC-D2A0-4038-9792-E86FEAD6E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836</a:t>
              </a:r>
            </a:p>
          </p:txBody>
        </p:sp>
        <p:sp>
          <p:nvSpPr>
            <p:cNvPr id="1508406" name="Text Box 54">
              <a:extLst>
                <a:ext uri="{FF2B5EF4-FFF2-40B4-BE49-F238E27FC236}">
                  <a16:creationId xmlns:a16="http://schemas.microsoft.com/office/drawing/2014/main" id="{68FFB1E8-7AA3-4998-A3F6-467B4BEE4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837</a:t>
              </a:r>
            </a:p>
          </p:txBody>
        </p:sp>
        <p:sp>
          <p:nvSpPr>
            <p:cNvPr id="1508407" name="Text Box 55">
              <a:extLst>
                <a:ext uri="{FF2B5EF4-FFF2-40B4-BE49-F238E27FC236}">
                  <a16:creationId xmlns:a16="http://schemas.microsoft.com/office/drawing/2014/main" id="{3C797B89-780E-4AB9-A0D3-3E2C78451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838</a:t>
              </a:r>
            </a:p>
          </p:txBody>
        </p:sp>
        <p:sp>
          <p:nvSpPr>
            <p:cNvPr id="1508408" name="Text Box 56">
              <a:extLst>
                <a:ext uri="{FF2B5EF4-FFF2-40B4-BE49-F238E27FC236}">
                  <a16:creationId xmlns:a16="http://schemas.microsoft.com/office/drawing/2014/main" id="{AB090230-4DB2-4998-A893-07736AB6C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839</a:t>
              </a:r>
            </a:p>
          </p:txBody>
        </p:sp>
        <p:sp>
          <p:nvSpPr>
            <p:cNvPr id="1508409" name="Text Box 57">
              <a:extLst>
                <a:ext uri="{FF2B5EF4-FFF2-40B4-BE49-F238E27FC236}">
                  <a16:creationId xmlns:a16="http://schemas.microsoft.com/office/drawing/2014/main" id="{04E5A740-164C-4BA6-A5FB-0C14C8C0A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840</a:t>
              </a:r>
            </a:p>
          </p:txBody>
        </p:sp>
        <p:sp>
          <p:nvSpPr>
            <p:cNvPr id="1508410" name="Text Box 58">
              <a:extLst>
                <a:ext uri="{FF2B5EF4-FFF2-40B4-BE49-F238E27FC236}">
                  <a16:creationId xmlns:a16="http://schemas.microsoft.com/office/drawing/2014/main" id="{D353FB13-D290-4821-8D02-542E152BD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841</a:t>
              </a:r>
            </a:p>
          </p:txBody>
        </p:sp>
        <p:sp>
          <p:nvSpPr>
            <p:cNvPr id="1508411" name="Line 59">
              <a:extLst>
                <a:ext uri="{FF2B5EF4-FFF2-40B4-BE49-F238E27FC236}">
                  <a16:creationId xmlns:a16="http://schemas.microsoft.com/office/drawing/2014/main" id="{DC5E6E00-45B9-4F5A-899E-0239616CB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4" y="2736"/>
              <a:ext cx="76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08412" name="Line 60">
            <a:extLst>
              <a:ext uri="{FF2B5EF4-FFF2-40B4-BE49-F238E27FC236}">
                <a16:creationId xmlns:a16="http://schemas.microsoft.com/office/drawing/2014/main" id="{56E93C1F-BCFB-41E9-9C17-F0C4C8D0ED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4876800"/>
            <a:ext cx="2133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3" name="Text Box 61">
            <a:extLst>
              <a:ext uri="{FF2B5EF4-FFF2-40B4-BE49-F238E27FC236}">
                <a16:creationId xmlns:a16="http://schemas.microsoft.com/office/drawing/2014/main" id="{886A23B5-1108-40C0-86D0-388105E9E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1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C is a variable</a:t>
            </a:r>
          </a:p>
        </p:txBody>
      </p:sp>
      <p:sp>
        <p:nvSpPr>
          <p:cNvPr id="1508414" name="Line 62">
            <a:extLst>
              <a:ext uri="{FF2B5EF4-FFF2-40B4-BE49-F238E27FC236}">
                <a16:creationId xmlns:a16="http://schemas.microsoft.com/office/drawing/2014/main" id="{6CE2B015-3097-49B9-8161-8E8843FE6F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6019800"/>
            <a:ext cx="2895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5" name="Text Box 63">
            <a:extLst>
              <a:ext uri="{FF2B5EF4-FFF2-40B4-BE49-F238E27FC236}">
                <a16:creationId xmlns:a16="http://schemas.microsoft.com/office/drawing/2014/main" id="{D26B138A-6E73-43AE-A7FC-082AFABB0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11028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P is a Pointer ?</a:t>
            </a:r>
          </a:p>
        </p:txBody>
      </p:sp>
      <p:sp>
        <p:nvSpPr>
          <p:cNvPr id="1508416" name="Line 64">
            <a:extLst>
              <a:ext uri="{FF2B5EF4-FFF2-40B4-BE49-F238E27FC236}">
                <a16:creationId xmlns:a16="http://schemas.microsoft.com/office/drawing/2014/main" id="{B4526BA0-F290-4B92-9C5D-4A84A375D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5334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7" name="Line 65">
            <a:extLst>
              <a:ext uri="{FF2B5EF4-FFF2-40B4-BE49-F238E27FC236}">
                <a16:creationId xmlns:a16="http://schemas.microsoft.com/office/drawing/2014/main" id="{4AEC6111-E915-4596-9965-ADE9947B7A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56388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8" name="Text Box 66">
            <a:extLst>
              <a:ext uri="{FF2B5EF4-FFF2-40B4-BE49-F238E27FC236}">
                <a16:creationId xmlns:a16="http://schemas.microsoft.com/office/drawing/2014/main" id="{98414C96-304A-4DE7-8536-31992A51D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410201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402" name="Rectangle 2">
            <a:extLst>
              <a:ext uri="{FF2B5EF4-FFF2-40B4-BE49-F238E27FC236}">
                <a16:creationId xmlns:a16="http://schemas.microsoft.com/office/drawing/2014/main" id="{3269C1EE-F6D4-484C-9525-A6740D43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Pointers</a:t>
            </a:r>
          </a:p>
        </p:txBody>
      </p:sp>
      <p:sp>
        <p:nvSpPr>
          <p:cNvPr id="1510403" name="Rectangle 3">
            <a:extLst>
              <a:ext uri="{FF2B5EF4-FFF2-40B4-BE49-F238E27FC236}">
                <a16:creationId xmlns:a16="http://schemas.microsoft.com/office/drawing/2014/main" id="{006D0271-0D99-4CB7-9CF3-37D72564B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600200"/>
            <a:ext cx="8229600" cy="48006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A </a:t>
            </a:r>
            <a:r>
              <a:rPr lang="en-US" altLang="en-US" sz="24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pointer variable</a:t>
            </a:r>
            <a:r>
              <a:rPr lang="en-US" altLang="en-US" sz="2400"/>
              <a:t> must be declared before it can be used.</a:t>
            </a:r>
          </a:p>
          <a:p>
            <a:pPr>
              <a:lnSpc>
                <a:spcPct val="90000"/>
              </a:lnSpc>
            </a:pPr>
            <a:endParaRPr lang="en-US" altLang="en-US" sz="24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Trebuchet MS" panose="020B0603020202020204" pitchFamily="34" charset="0"/>
              </a:rPr>
              <a:t>Examples of pointer declarations:</a:t>
            </a:r>
          </a:p>
          <a:p>
            <a:pPr>
              <a:lnSpc>
                <a:spcPct val="90000"/>
              </a:lnSpc>
            </a:pPr>
            <a:endParaRPr lang="en-US" altLang="en-US" sz="8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rebuchet MS" panose="020B0603020202020204" pitchFamily="34" charset="0"/>
              </a:rPr>
              <a:t>		int</a:t>
            </a:r>
            <a:r>
              <a:rPr lang="en-US" altLang="en-US" sz="2400" b="1">
                <a:latin typeface="Trebuchet MS" panose="020B0603020202020204" pitchFamily="34" charset="0"/>
              </a:rPr>
              <a:t>  *a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rebuchet MS" panose="020B0603020202020204" pitchFamily="34" charset="0"/>
              </a:rPr>
              <a:t>		</a:t>
            </a:r>
            <a:r>
              <a:rPr lang="en-US" altLang="en-US" sz="2400">
                <a:latin typeface="Trebuchet MS" panose="020B0603020202020204" pitchFamily="34" charset="0"/>
              </a:rPr>
              <a:t>float</a:t>
            </a:r>
            <a:r>
              <a:rPr lang="en-US" altLang="en-US" sz="2400" b="1">
                <a:latin typeface="Trebuchet MS" panose="020B0603020202020204" pitchFamily="34" charset="0"/>
              </a:rPr>
              <a:t> *b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rebuchet MS" panose="020B0603020202020204" pitchFamily="34" charset="0"/>
              </a:rPr>
              <a:t>		</a:t>
            </a:r>
            <a:r>
              <a:rPr lang="en-US" altLang="en-US" sz="2400">
                <a:latin typeface="Trebuchet MS" panose="020B0603020202020204" pitchFamily="34" charset="0"/>
              </a:rPr>
              <a:t>char</a:t>
            </a:r>
            <a:r>
              <a:rPr lang="en-US" altLang="en-US" sz="2400" b="1">
                <a:latin typeface="Trebuchet MS" panose="020B0603020202020204" pitchFamily="34" charset="0"/>
              </a:rPr>
              <a:t> *c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en-US" altLang="en-US" sz="800" b="1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Trebuchet MS" panose="020B0603020202020204" pitchFamily="34" charset="0"/>
              </a:rPr>
              <a:t>The </a:t>
            </a:r>
            <a:r>
              <a:rPr lang="en-US" altLang="en-US" sz="24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asterisk</a:t>
            </a:r>
            <a:r>
              <a:rPr lang="en-US" altLang="en-US" sz="2400">
                <a:latin typeface="Trebuchet MS" panose="020B0603020202020204" pitchFamily="34" charset="0"/>
              </a:rPr>
              <a:t>, when used as above in the declaration, tells the compiler that the variable is to be a pointer, and the type of data </a:t>
            </a:r>
            <a:r>
              <a:rPr lang="en-US" altLang="en-US" sz="24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(the value that we get indirectly)</a:t>
            </a:r>
            <a:r>
              <a:rPr lang="en-US" altLang="en-US" sz="2400">
                <a:latin typeface="Trebuchet MS" panose="020B0603020202020204" pitchFamily="34" charset="0"/>
              </a:rPr>
              <a:t> that the pointer points 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>
            <a:extLst>
              <a:ext uri="{FF2B5EF4-FFF2-40B4-BE49-F238E27FC236}">
                <a16:creationId xmlns:a16="http://schemas.microsoft.com/office/drawing/2014/main" id="{ECEF2A1E-70DE-4877-BAF1-808352803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Referencing</a:t>
            </a:r>
          </a:p>
        </p:txBody>
      </p:sp>
      <p:sp>
        <p:nvSpPr>
          <p:cNvPr id="1514499" name="Rectangle 3">
            <a:extLst>
              <a:ext uri="{FF2B5EF4-FFF2-40B4-BE49-F238E27FC236}">
                <a16:creationId xmlns:a16="http://schemas.microsoft.com/office/drawing/2014/main" id="{CB9A990E-C374-4D5B-97CA-4D6EF2EE181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981200" y="1371601"/>
            <a:ext cx="8229600" cy="4906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47675" indent="-447675">
              <a:buNone/>
            </a:pPr>
            <a:r>
              <a:rPr lang="en-US" altLang="en-US" sz="2400" b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 marL="447675" indent="-447675">
              <a:buNone/>
            </a:pPr>
            <a:r>
              <a:rPr lang="en-US" altLang="en-US" sz="2400" b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*P;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/* Declare P as a pointer to int */</a:t>
            </a:r>
          </a:p>
          <a:p>
            <a:pPr marL="447675" indent="-447675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 = 7;</a:t>
            </a:r>
          </a:p>
          <a:p>
            <a:pPr marL="447675" indent="-447675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P = &amp;C;</a:t>
            </a:r>
          </a:p>
        </p:txBody>
      </p:sp>
      <p:sp>
        <p:nvSpPr>
          <p:cNvPr id="1514500" name="Text Box 4">
            <a:extLst>
              <a:ext uri="{FF2B5EF4-FFF2-40B4-BE49-F238E27FC236}">
                <a16:creationId xmlns:a16="http://schemas.microsoft.com/office/drawing/2014/main" id="{A7F0ACEF-0EAC-4323-A6B5-3AA710D4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413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14501" name="Rectangle 5">
            <a:extLst>
              <a:ext uri="{FF2B5EF4-FFF2-40B4-BE49-F238E27FC236}">
                <a16:creationId xmlns:a16="http://schemas.microsoft.com/office/drawing/2014/main" id="{3B047328-D2EE-4AF0-AF85-8CD1D1C15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2" name="Rectangle 6">
            <a:extLst>
              <a:ext uri="{FF2B5EF4-FFF2-40B4-BE49-F238E27FC236}">
                <a16:creationId xmlns:a16="http://schemas.microsoft.com/office/drawing/2014/main" id="{0B5D5A4B-4D96-4E36-8F31-0F7F3B73C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514503" name="Rectangle 7">
            <a:extLst>
              <a:ext uri="{FF2B5EF4-FFF2-40B4-BE49-F238E27FC236}">
                <a16:creationId xmlns:a16="http://schemas.microsoft.com/office/drawing/2014/main" id="{25AA7777-4A96-4F76-82CE-748568C5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4" name="Rectangle 8">
            <a:extLst>
              <a:ext uri="{FF2B5EF4-FFF2-40B4-BE49-F238E27FC236}">
                <a16:creationId xmlns:a16="http://schemas.microsoft.com/office/drawing/2014/main" id="{48F0410F-4A01-483F-9C6B-A61650E7E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5" name="Rectangle 9">
            <a:extLst>
              <a:ext uri="{FF2B5EF4-FFF2-40B4-BE49-F238E27FC236}">
                <a16:creationId xmlns:a16="http://schemas.microsoft.com/office/drawing/2014/main" id="{317CE997-8CC5-47E3-BDA6-0F0F0D83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6" name="Rectangle 10">
            <a:extLst>
              <a:ext uri="{FF2B5EF4-FFF2-40B4-BE49-F238E27FC236}">
                <a16:creationId xmlns:a16="http://schemas.microsoft.com/office/drawing/2014/main" id="{9872B427-4216-47DD-8A37-56C41B0F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7" name="Rectangle 11">
            <a:extLst>
              <a:ext uri="{FF2B5EF4-FFF2-40B4-BE49-F238E27FC236}">
                <a16:creationId xmlns:a16="http://schemas.microsoft.com/office/drawing/2014/main" id="{F65BAB14-1CFC-463F-AB9A-5A7707517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8" name="Text Box 12">
            <a:extLst>
              <a:ext uri="{FF2B5EF4-FFF2-40B4-BE49-F238E27FC236}">
                <a16:creationId xmlns:a16="http://schemas.microsoft.com/office/drawing/2014/main" id="{B3A5353A-EA02-47A1-8A55-8E1611AAA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14509" name="Text Box 13">
            <a:extLst>
              <a:ext uri="{FF2B5EF4-FFF2-40B4-BE49-F238E27FC236}">
                <a16:creationId xmlns:a16="http://schemas.microsoft.com/office/drawing/2014/main" id="{E28E70DD-6180-4D2C-9C78-5CAE6B636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14510" name="Rectangle 14">
            <a:extLst>
              <a:ext uri="{FF2B5EF4-FFF2-40B4-BE49-F238E27FC236}">
                <a16:creationId xmlns:a16="http://schemas.microsoft.com/office/drawing/2014/main" id="{6692D5BD-F8C8-41AA-B7DB-7A0165D7D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1" name="Rectangle 15">
            <a:extLst>
              <a:ext uri="{FF2B5EF4-FFF2-40B4-BE49-F238E27FC236}">
                <a16:creationId xmlns:a16="http://schemas.microsoft.com/office/drawing/2014/main" id="{DB3B481D-1973-4F5E-A984-1F394F6B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2" name="Rectangle 16">
            <a:extLst>
              <a:ext uri="{FF2B5EF4-FFF2-40B4-BE49-F238E27FC236}">
                <a16:creationId xmlns:a16="http://schemas.microsoft.com/office/drawing/2014/main" id="{BF82A56B-D2AE-4F53-B9F8-B21F6B8A1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3" name="Rectangle 17">
            <a:extLst>
              <a:ext uri="{FF2B5EF4-FFF2-40B4-BE49-F238E27FC236}">
                <a16:creationId xmlns:a16="http://schemas.microsoft.com/office/drawing/2014/main" id="{16D3B4F5-806F-4231-A524-25DB0BD2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4" name="Rectangle 18">
            <a:extLst>
              <a:ext uri="{FF2B5EF4-FFF2-40B4-BE49-F238E27FC236}">
                <a16:creationId xmlns:a16="http://schemas.microsoft.com/office/drawing/2014/main" id="{98650E17-1C3C-4B69-A92B-E4257F32E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5" name="Text Box 19">
            <a:extLst>
              <a:ext uri="{FF2B5EF4-FFF2-40B4-BE49-F238E27FC236}">
                <a16:creationId xmlns:a16="http://schemas.microsoft.com/office/drawing/2014/main" id="{06F6B4D9-8494-4F0D-B787-68A5F8D8F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16" name="Text Box 20">
            <a:extLst>
              <a:ext uri="{FF2B5EF4-FFF2-40B4-BE49-F238E27FC236}">
                <a16:creationId xmlns:a16="http://schemas.microsoft.com/office/drawing/2014/main" id="{C687669D-DD89-42AA-BD24-DF71D2527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17" name="Text Box 21">
            <a:extLst>
              <a:ext uri="{FF2B5EF4-FFF2-40B4-BE49-F238E27FC236}">
                <a16:creationId xmlns:a16="http://schemas.microsoft.com/office/drawing/2014/main" id="{43CA9906-A54E-4183-A204-8E7A74988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173</a:t>
            </a:r>
          </a:p>
        </p:txBody>
      </p:sp>
      <p:sp>
        <p:nvSpPr>
          <p:cNvPr id="1514518" name="Text Box 22">
            <a:extLst>
              <a:ext uri="{FF2B5EF4-FFF2-40B4-BE49-F238E27FC236}">
                <a16:creationId xmlns:a16="http://schemas.microsoft.com/office/drawing/2014/main" id="{F7A8AD81-D9B2-43FF-B555-CC8FEEDD6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172</a:t>
            </a:r>
          </a:p>
        </p:txBody>
      </p:sp>
      <p:sp>
        <p:nvSpPr>
          <p:cNvPr id="1514519" name="Text Box 23">
            <a:extLst>
              <a:ext uri="{FF2B5EF4-FFF2-40B4-BE49-F238E27FC236}">
                <a16:creationId xmlns:a16="http://schemas.microsoft.com/office/drawing/2014/main" id="{BE5E553C-FE61-417B-82A9-E402F0DFA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174</a:t>
            </a:r>
          </a:p>
        </p:txBody>
      </p:sp>
      <p:sp>
        <p:nvSpPr>
          <p:cNvPr id="1514520" name="Text Box 24">
            <a:extLst>
              <a:ext uri="{FF2B5EF4-FFF2-40B4-BE49-F238E27FC236}">
                <a16:creationId xmlns:a16="http://schemas.microsoft.com/office/drawing/2014/main" id="{4D3290EE-58A8-4C35-908C-431803BE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175</a:t>
            </a:r>
          </a:p>
        </p:txBody>
      </p:sp>
      <p:sp>
        <p:nvSpPr>
          <p:cNvPr id="1514521" name="Text Box 25">
            <a:extLst>
              <a:ext uri="{FF2B5EF4-FFF2-40B4-BE49-F238E27FC236}">
                <a16:creationId xmlns:a16="http://schemas.microsoft.com/office/drawing/2014/main" id="{570B1485-1EA2-4A4C-88EE-08055C6B9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176</a:t>
            </a:r>
          </a:p>
        </p:txBody>
      </p:sp>
      <p:sp>
        <p:nvSpPr>
          <p:cNvPr id="1514522" name="Text Box 26">
            <a:extLst>
              <a:ext uri="{FF2B5EF4-FFF2-40B4-BE49-F238E27FC236}">
                <a16:creationId xmlns:a16="http://schemas.microsoft.com/office/drawing/2014/main" id="{E197EEB1-FC1D-41C2-A8F5-A09435E96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177</a:t>
            </a:r>
          </a:p>
        </p:txBody>
      </p:sp>
      <p:sp>
        <p:nvSpPr>
          <p:cNvPr id="1514523" name="Text Box 27">
            <a:extLst>
              <a:ext uri="{FF2B5EF4-FFF2-40B4-BE49-F238E27FC236}">
                <a16:creationId xmlns:a16="http://schemas.microsoft.com/office/drawing/2014/main" id="{F3B870D1-35DF-4092-ABDB-10F987DD4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178</a:t>
            </a:r>
          </a:p>
        </p:txBody>
      </p:sp>
      <p:sp>
        <p:nvSpPr>
          <p:cNvPr id="1514524" name="Text Box 28">
            <a:extLst>
              <a:ext uri="{FF2B5EF4-FFF2-40B4-BE49-F238E27FC236}">
                <a16:creationId xmlns:a16="http://schemas.microsoft.com/office/drawing/2014/main" id="{21D10E0A-CB65-4F8C-B0D0-0E01CBAFD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514525" name="Text Box 29">
            <a:extLst>
              <a:ext uri="{FF2B5EF4-FFF2-40B4-BE49-F238E27FC236}">
                <a16:creationId xmlns:a16="http://schemas.microsoft.com/office/drawing/2014/main" id="{873D1DEC-5E4B-4CD8-A873-16BC1B6BB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514526" name="Text Box 30">
            <a:extLst>
              <a:ext uri="{FF2B5EF4-FFF2-40B4-BE49-F238E27FC236}">
                <a16:creationId xmlns:a16="http://schemas.microsoft.com/office/drawing/2014/main" id="{42E7C1C1-8133-44FE-BB31-CD2246E47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181</a:t>
            </a:r>
          </a:p>
        </p:txBody>
      </p:sp>
      <p:sp>
        <p:nvSpPr>
          <p:cNvPr id="1514527" name="Rectangle 31">
            <a:extLst>
              <a:ext uri="{FF2B5EF4-FFF2-40B4-BE49-F238E27FC236}">
                <a16:creationId xmlns:a16="http://schemas.microsoft.com/office/drawing/2014/main" id="{08E7BF96-D155-44EA-B59B-0670728EC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28" name="Rectangle 32">
            <a:extLst>
              <a:ext uri="{FF2B5EF4-FFF2-40B4-BE49-F238E27FC236}">
                <a16:creationId xmlns:a16="http://schemas.microsoft.com/office/drawing/2014/main" id="{B5FB851A-9DB8-47BF-8216-16936BE4D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174</a:t>
            </a:r>
          </a:p>
        </p:txBody>
      </p:sp>
      <p:sp>
        <p:nvSpPr>
          <p:cNvPr id="1514529" name="Rectangle 33">
            <a:extLst>
              <a:ext uri="{FF2B5EF4-FFF2-40B4-BE49-F238E27FC236}">
                <a16:creationId xmlns:a16="http://schemas.microsoft.com/office/drawing/2014/main" id="{A4D3F387-8FD2-4D30-92FA-278CC57D8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0" name="Rectangle 34">
            <a:extLst>
              <a:ext uri="{FF2B5EF4-FFF2-40B4-BE49-F238E27FC236}">
                <a16:creationId xmlns:a16="http://schemas.microsoft.com/office/drawing/2014/main" id="{13B1E700-1C87-4189-AFD3-E0426603D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1" name="Rectangle 35">
            <a:extLst>
              <a:ext uri="{FF2B5EF4-FFF2-40B4-BE49-F238E27FC236}">
                <a16:creationId xmlns:a16="http://schemas.microsoft.com/office/drawing/2014/main" id="{95BC4F2B-5A24-4A23-BDB1-ED40CE307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2" name="Rectangle 36">
            <a:extLst>
              <a:ext uri="{FF2B5EF4-FFF2-40B4-BE49-F238E27FC236}">
                <a16:creationId xmlns:a16="http://schemas.microsoft.com/office/drawing/2014/main" id="{146B1F91-85CB-49D9-982C-0F7273DAA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3" name="Rectangle 37">
            <a:extLst>
              <a:ext uri="{FF2B5EF4-FFF2-40B4-BE49-F238E27FC236}">
                <a16:creationId xmlns:a16="http://schemas.microsoft.com/office/drawing/2014/main" id="{14F2AC3D-D9C7-407C-9FC4-D36C000F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4" name="Text Box 38">
            <a:extLst>
              <a:ext uri="{FF2B5EF4-FFF2-40B4-BE49-F238E27FC236}">
                <a16:creationId xmlns:a16="http://schemas.microsoft.com/office/drawing/2014/main" id="{8FD19021-4D20-44DF-AB7F-30937BF5B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14535" name="Text Box 39">
            <a:extLst>
              <a:ext uri="{FF2B5EF4-FFF2-40B4-BE49-F238E27FC236}">
                <a16:creationId xmlns:a16="http://schemas.microsoft.com/office/drawing/2014/main" id="{697B6B34-8C3E-4686-BC61-49E35AE94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14536" name="Rectangle 40">
            <a:extLst>
              <a:ext uri="{FF2B5EF4-FFF2-40B4-BE49-F238E27FC236}">
                <a16:creationId xmlns:a16="http://schemas.microsoft.com/office/drawing/2014/main" id="{1AD5A0A2-B613-4F57-BDE5-BB28F76A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7" name="Rectangle 41">
            <a:extLst>
              <a:ext uri="{FF2B5EF4-FFF2-40B4-BE49-F238E27FC236}">
                <a16:creationId xmlns:a16="http://schemas.microsoft.com/office/drawing/2014/main" id="{B278F483-DCC7-4B3E-B04A-E3C74394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8" name="Rectangle 42">
            <a:extLst>
              <a:ext uri="{FF2B5EF4-FFF2-40B4-BE49-F238E27FC236}">
                <a16:creationId xmlns:a16="http://schemas.microsoft.com/office/drawing/2014/main" id="{86B78E2E-ED37-4AC7-B260-DB9CBFC7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9" name="Rectangle 43">
            <a:extLst>
              <a:ext uri="{FF2B5EF4-FFF2-40B4-BE49-F238E27FC236}">
                <a16:creationId xmlns:a16="http://schemas.microsoft.com/office/drawing/2014/main" id="{48838E95-832F-486D-926D-85AFA9522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40" name="Rectangle 44">
            <a:extLst>
              <a:ext uri="{FF2B5EF4-FFF2-40B4-BE49-F238E27FC236}">
                <a16:creationId xmlns:a16="http://schemas.microsoft.com/office/drawing/2014/main" id="{2A8BCF46-4A66-4C57-99AE-83742FD24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41" name="Text Box 45">
            <a:extLst>
              <a:ext uri="{FF2B5EF4-FFF2-40B4-BE49-F238E27FC236}">
                <a16:creationId xmlns:a16="http://schemas.microsoft.com/office/drawing/2014/main" id="{113640E1-6F77-4118-9CAD-41BE47538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42" name="Text Box 46">
            <a:extLst>
              <a:ext uri="{FF2B5EF4-FFF2-40B4-BE49-F238E27FC236}">
                <a16:creationId xmlns:a16="http://schemas.microsoft.com/office/drawing/2014/main" id="{EE7930CA-223A-4577-B0B8-614E75C98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43" name="Text Box 47">
            <a:extLst>
              <a:ext uri="{FF2B5EF4-FFF2-40B4-BE49-F238E27FC236}">
                <a16:creationId xmlns:a16="http://schemas.microsoft.com/office/drawing/2014/main" id="{66610A20-0627-496E-ADB2-33A853412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60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514544" name="Text Box 48">
            <a:extLst>
              <a:ext uri="{FF2B5EF4-FFF2-40B4-BE49-F238E27FC236}">
                <a16:creationId xmlns:a16="http://schemas.microsoft.com/office/drawing/2014/main" id="{51B7F77B-DEBD-4CD6-AE2C-E9EDF6431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833</a:t>
            </a:r>
          </a:p>
        </p:txBody>
      </p:sp>
      <p:sp>
        <p:nvSpPr>
          <p:cNvPr id="1514545" name="Text Box 49">
            <a:extLst>
              <a:ext uri="{FF2B5EF4-FFF2-40B4-BE49-F238E27FC236}">
                <a16:creationId xmlns:a16="http://schemas.microsoft.com/office/drawing/2014/main" id="{E554C6CE-7EBF-481D-85FE-60A34335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832</a:t>
            </a:r>
          </a:p>
        </p:txBody>
      </p:sp>
      <p:sp>
        <p:nvSpPr>
          <p:cNvPr id="1514546" name="Text Box 50">
            <a:extLst>
              <a:ext uri="{FF2B5EF4-FFF2-40B4-BE49-F238E27FC236}">
                <a16:creationId xmlns:a16="http://schemas.microsoft.com/office/drawing/2014/main" id="{7A4280CF-211F-4763-8221-97753CBF1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834</a:t>
            </a:r>
          </a:p>
        </p:txBody>
      </p:sp>
      <p:sp>
        <p:nvSpPr>
          <p:cNvPr id="1514547" name="Text Box 51">
            <a:extLst>
              <a:ext uri="{FF2B5EF4-FFF2-40B4-BE49-F238E27FC236}">
                <a16:creationId xmlns:a16="http://schemas.microsoft.com/office/drawing/2014/main" id="{88424C8C-1D27-4B76-8BFA-14BC0933F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835</a:t>
            </a:r>
          </a:p>
        </p:txBody>
      </p:sp>
      <p:sp>
        <p:nvSpPr>
          <p:cNvPr id="1514548" name="Text Box 52">
            <a:extLst>
              <a:ext uri="{FF2B5EF4-FFF2-40B4-BE49-F238E27FC236}">
                <a16:creationId xmlns:a16="http://schemas.microsoft.com/office/drawing/2014/main" id="{0C03AF85-54A6-492A-B8EA-B2153CE16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836</a:t>
            </a:r>
          </a:p>
        </p:txBody>
      </p:sp>
      <p:sp>
        <p:nvSpPr>
          <p:cNvPr id="1514549" name="Text Box 53">
            <a:extLst>
              <a:ext uri="{FF2B5EF4-FFF2-40B4-BE49-F238E27FC236}">
                <a16:creationId xmlns:a16="http://schemas.microsoft.com/office/drawing/2014/main" id="{487AE6A9-7C04-403C-8234-09F3C6597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837</a:t>
            </a:r>
          </a:p>
        </p:txBody>
      </p:sp>
      <p:sp>
        <p:nvSpPr>
          <p:cNvPr id="1514550" name="Text Box 54">
            <a:extLst>
              <a:ext uri="{FF2B5EF4-FFF2-40B4-BE49-F238E27FC236}">
                <a16:creationId xmlns:a16="http://schemas.microsoft.com/office/drawing/2014/main" id="{A11AE969-BE2E-4AFC-9A92-BDAF6AAAD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838</a:t>
            </a:r>
          </a:p>
        </p:txBody>
      </p:sp>
      <p:sp>
        <p:nvSpPr>
          <p:cNvPr id="1514551" name="Text Box 55">
            <a:extLst>
              <a:ext uri="{FF2B5EF4-FFF2-40B4-BE49-F238E27FC236}">
                <a16:creationId xmlns:a16="http://schemas.microsoft.com/office/drawing/2014/main" id="{639FBBED-F41E-435D-886A-C573AC3A8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839</a:t>
            </a:r>
          </a:p>
        </p:txBody>
      </p:sp>
      <p:sp>
        <p:nvSpPr>
          <p:cNvPr id="1514552" name="Text Box 56">
            <a:extLst>
              <a:ext uri="{FF2B5EF4-FFF2-40B4-BE49-F238E27FC236}">
                <a16:creationId xmlns:a16="http://schemas.microsoft.com/office/drawing/2014/main" id="{D25F9193-F108-47B7-9A48-2E04280AF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840</a:t>
            </a:r>
          </a:p>
        </p:txBody>
      </p:sp>
      <p:sp>
        <p:nvSpPr>
          <p:cNvPr id="1514553" name="Text Box 57">
            <a:extLst>
              <a:ext uri="{FF2B5EF4-FFF2-40B4-BE49-F238E27FC236}">
                <a16:creationId xmlns:a16="http://schemas.microsoft.com/office/drawing/2014/main" id="{40D4C2DA-8058-450D-9BCE-6EEB415CD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841</a:t>
            </a:r>
          </a:p>
        </p:txBody>
      </p:sp>
      <p:sp>
        <p:nvSpPr>
          <p:cNvPr id="1514554" name="Line 58">
            <a:extLst>
              <a:ext uri="{FF2B5EF4-FFF2-40B4-BE49-F238E27FC236}">
                <a16:creationId xmlns:a16="http://schemas.microsoft.com/office/drawing/2014/main" id="{51595F52-5984-480E-A200-3F59C02EDB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4175125"/>
            <a:ext cx="1219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1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514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51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1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4500" grpId="0"/>
      <p:bldP spid="15145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546" name="Rectangle 2">
            <a:extLst>
              <a:ext uri="{FF2B5EF4-FFF2-40B4-BE49-F238E27FC236}">
                <a16:creationId xmlns:a16="http://schemas.microsoft.com/office/drawing/2014/main" id="{C4F1CC5A-1EB8-4C40-AC76-DD73C2E48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Dereferencing</a:t>
            </a:r>
          </a:p>
        </p:txBody>
      </p:sp>
      <p:sp>
        <p:nvSpPr>
          <p:cNvPr id="1516547" name="Rectangle 3">
            <a:extLst>
              <a:ext uri="{FF2B5EF4-FFF2-40B4-BE49-F238E27FC236}">
                <a16:creationId xmlns:a16="http://schemas.microsoft.com/office/drawing/2014/main" id="{666348BD-BB34-48C7-870F-92BFADA62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371601"/>
            <a:ext cx="8229600" cy="4754563"/>
          </a:xfrm>
          <a:solidFill>
            <a:srgbClr val="FFFFFF"/>
          </a:solidFill>
          <a:ln>
            <a:solidFill>
              <a:schemeClr val="tx2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>
                <a:latin typeface="Trebuchet MS" panose="020B0603020202020204" pitchFamily="34" charset="0"/>
              </a:rPr>
              <a:t>The unary operator  </a:t>
            </a: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*</a:t>
            </a:r>
            <a:r>
              <a:rPr lang="en-US" altLang="en-US">
                <a:latin typeface="Trebuchet MS" panose="020B0603020202020204" pitchFamily="34" charset="0"/>
              </a:rPr>
              <a:t>  is the dereferencing operator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Applied on pointers</a:t>
            </a:r>
          </a:p>
          <a:p>
            <a:r>
              <a:rPr lang="en-US" altLang="en-US">
                <a:latin typeface="Trebuchet MS" panose="020B0603020202020204" pitchFamily="34" charset="0"/>
              </a:rPr>
              <a:t>Access the </a:t>
            </a:r>
            <a:r>
              <a:rPr lang="en-US" altLang="en-US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value of object</a:t>
            </a:r>
            <a:r>
              <a:rPr lang="en-US" altLang="en-US">
                <a:latin typeface="Trebuchet MS" panose="020B0603020202020204" pitchFamily="34" charset="0"/>
              </a:rPr>
              <a:t> the pointer points to</a:t>
            </a:r>
          </a:p>
          <a:p>
            <a:r>
              <a:rPr lang="en-US" altLang="en-US">
                <a:latin typeface="Trebuchet MS" panose="020B0603020202020204" pitchFamily="34" charset="0"/>
              </a:rPr>
              <a:t>The statement</a:t>
            </a:r>
          </a:p>
          <a:p>
            <a:pPr>
              <a:buFontTx/>
              <a:buNone/>
            </a:pPr>
            <a:r>
              <a:rPr lang="en-US" altLang="en-US">
                <a:latin typeface="Trebuchet MS" panose="020B0603020202020204" pitchFamily="34" charset="0"/>
              </a:rPr>
              <a:t>                    </a:t>
            </a:r>
            <a:r>
              <a:rPr lang="en-US" altLang="en-US" b="1">
                <a:latin typeface="Trebuchet MS" panose="020B0603020202020204" pitchFamily="34" charset="0"/>
              </a:rPr>
              <a:t>*P = 5;</a:t>
            </a:r>
          </a:p>
          <a:p>
            <a:pPr>
              <a:buFontTx/>
              <a:buNone/>
            </a:pPr>
            <a:r>
              <a:rPr lang="en-US" altLang="en-US">
                <a:latin typeface="Trebuchet MS" panose="020B0603020202020204" pitchFamily="34" charset="0"/>
              </a:rPr>
              <a:t>   puts in </a:t>
            </a:r>
            <a:r>
              <a:rPr lang="en-US" altLang="en-US" b="1">
                <a:latin typeface="Trebuchet MS" panose="020B0603020202020204" pitchFamily="34" charset="0"/>
              </a:rPr>
              <a:t>C</a:t>
            </a:r>
            <a:r>
              <a:rPr lang="en-US" altLang="en-US">
                <a:latin typeface="Trebuchet MS" panose="020B0603020202020204" pitchFamily="34" charset="0"/>
              </a:rPr>
              <a:t> (the variable pointed by </a:t>
            </a:r>
            <a:r>
              <a:rPr lang="en-US" altLang="en-US" b="1">
                <a:latin typeface="Trebuchet MS" panose="020B0603020202020204" pitchFamily="34" charset="0"/>
              </a:rPr>
              <a:t>P</a:t>
            </a:r>
            <a:r>
              <a:rPr lang="en-US" altLang="en-US">
                <a:latin typeface="Trebuchet MS" panose="020B0603020202020204" pitchFamily="34" charset="0"/>
              </a:rPr>
              <a:t>) the value 5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E69940B7-F2EF-41DD-987A-BC41AFCC1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81001"/>
            <a:ext cx="7010400" cy="474663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/>
              <a:t>Pointers &amp; Allocation </a:t>
            </a:r>
          </a:p>
        </p:txBody>
      </p:sp>
      <p:sp>
        <p:nvSpPr>
          <p:cNvPr id="1339395" name="Rectangle 3">
            <a:extLst>
              <a:ext uri="{FF2B5EF4-FFF2-40B4-BE49-F238E27FC236}">
                <a16:creationId xmlns:a16="http://schemas.microsoft.com/office/drawing/2014/main" id="{E61A32F3-AA82-48DE-9921-F2A839B8128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828800" y="1143000"/>
            <a:ext cx="8534400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Pointing to something that already exists: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	int *ptr, var1, var2;	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 var1 = 5;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	ptr  = &amp;var1;			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 var2 = *ptr;</a:t>
            </a:r>
          </a:p>
          <a:p>
            <a:r>
              <a:rPr lang="en-US" altLang="en-US" b="1">
                <a:solidFill>
                  <a:srgbClr val="3333CC"/>
                </a:solidFill>
                <a:latin typeface="Courier New" panose="02070309020205020404" pitchFamily="49" charset="0"/>
              </a:rPr>
              <a:t>var1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3333CC"/>
                </a:solidFill>
                <a:latin typeface="Courier New" panose="02070309020205020404" pitchFamily="49" charset="0"/>
              </a:rPr>
              <a:t>var2</a:t>
            </a:r>
            <a:r>
              <a:rPr lang="en-US" altLang="en-US" b="1">
                <a:solidFill>
                  <a:srgbClr val="3333CC"/>
                </a:solidFill>
              </a:rPr>
              <a:t> </a:t>
            </a:r>
            <a:r>
              <a:rPr lang="en-US" altLang="en-US"/>
              <a:t>have room implicitly allocated for them.</a:t>
            </a:r>
            <a:endParaRPr lang="en-US" altLang="en-US">
              <a:latin typeface="Courier New" panose="02070309020205020404" pitchFamily="49" charset="0"/>
            </a:endParaRPr>
          </a:p>
        </p:txBody>
      </p:sp>
      <p:grpSp>
        <p:nvGrpSpPr>
          <p:cNvPr id="1339396" name="Group 4">
            <a:extLst>
              <a:ext uri="{FF2B5EF4-FFF2-40B4-BE49-F238E27FC236}">
                <a16:creationId xmlns:a16="http://schemas.microsoft.com/office/drawing/2014/main" id="{5CF664EE-A7F4-4340-BADD-C75A5DA24C3F}"/>
              </a:ext>
            </a:extLst>
          </p:cNvPr>
          <p:cNvGrpSpPr>
            <a:grpSpLocks/>
          </p:cNvGrpSpPr>
          <p:nvPr/>
        </p:nvGrpSpPr>
        <p:grpSpPr bwMode="auto">
          <a:xfrm>
            <a:off x="2316164" y="5653088"/>
            <a:ext cx="1874837" cy="747712"/>
            <a:chOff x="-173" y="1632"/>
            <a:chExt cx="1181" cy="471"/>
          </a:xfrm>
        </p:grpSpPr>
        <p:sp>
          <p:nvSpPr>
            <p:cNvPr id="1339397" name="Rectangle 5">
              <a:extLst>
                <a:ext uri="{FF2B5EF4-FFF2-40B4-BE49-F238E27FC236}">
                  <a16:creationId xmlns:a16="http://schemas.microsoft.com/office/drawing/2014/main" id="{5ED50DAF-BCF1-4A3E-855E-E26B96B45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2"/>
              <a:ext cx="624" cy="4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9398" name="Text Box 6">
              <a:extLst>
                <a:ext uri="{FF2B5EF4-FFF2-40B4-BE49-F238E27FC236}">
                  <a16:creationId xmlns:a16="http://schemas.microsoft.com/office/drawing/2014/main" id="{3B7FB0A7-17A0-4EB6-8216-3A07374AE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73" y="1776"/>
              <a:ext cx="5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800" b="1">
                  <a:latin typeface="Courier New" panose="02070309020205020404" pitchFamily="49" charset="0"/>
                </a:rPr>
                <a:t>ptr</a:t>
              </a:r>
              <a:endParaRPr lang="en-US" altLang="en-US" sz="2000">
                <a:solidFill>
                  <a:schemeClr val="accent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339399" name="Text Box 7">
              <a:extLst>
                <a:ext uri="{FF2B5EF4-FFF2-40B4-BE49-F238E27FC236}">
                  <a16:creationId xmlns:a16="http://schemas.microsoft.com/office/drawing/2014/main" id="{9058422D-E897-40F3-9E65-EB43ACE4F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1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chemeClr val="accent1"/>
                </a:solidFill>
                <a:latin typeface="Helvetica" panose="020B0604020202020204" pitchFamily="34" charset="0"/>
              </a:endParaRPr>
            </a:p>
          </p:txBody>
        </p:sp>
      </p:grpSp>
      <p:sp>
        <p:nvSpPr>
          <p:cNvPr id="1339400" name="Rectangle 8">
            <a:extLst>
              <a:ext uri="{FF2B5EF4-FFF2-40B4-BE49-F238E27FC236}">
                <a16:creationId xmlns:a16="http://schemas.microsoft.com/office/drawing/2014/main" id="{BD1B1B70-EC3E-4EEC-9599-D27D57AF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653088"/>
            <a:ext cx="990600" cy="685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9401" name="Text Box 9">
            <a:extLst>
              <a:ext uri="{FF2B5EF4-FFF2-40B4-BE49-F238E27FC236}">
                <a16:creationId xmlns:a16="http://schemas.microsoft.com/office/drawing/2014/main" id="{993CA004-29B8-4303-B3DF-55C716ED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5881688"/>
            <a:ext cx="103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800" b="1">
                <a:latin typeface="Courier New" panose="02070309020205020404" pitchFamily="49" charset="0"/>
              </a:rPr>
              <a:t>var1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2" name="Text Box 10">
            <a:extLst>
              <a:ext uri="{FF2B5EF4-FFF2-40B4-BE49-F238E27FC236}">
                <a16:creationId xmlns:a16="http://schemas.microsoft.com/office/drawing/2014/main" id="{387369EE-15DC-48F5-B78D-B6CAB0B52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1" y="5729288"/>
            <a:ext cx="39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3" name="Rectangle 11">
            <a:extLst>
              <a:ext uri="{FF2B5EF4-FFF2-40B4-BE49-F238E27FC236}">
                <a16:creationId xmlns:a16="http://schemas.microsoft.com/office/drawing/2014/main" id="{C054A97F-4571-44B2-8E7D-07F1A298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653088"/>
            <a:ext cx="990600" cy="685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9404" name="Text Box 12">
            <a:extLst>
              <a:ext uri="{FF2B5EF4-FFF2-40B4-BE49-F238E27FC236}">
                <a16:creationId xmlns:a16="http://schemas.microsoft.com/office/drawing/2014/main" id="{C838F208-051D-4338-BF79-0EBC40EC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5881688"/>
            <a:ext cx="103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800" b="1">
                <a:latin typeface="Courier New" panose="02070309020205020404" pitchFamily="49" charset="0"/>
              </a:rPr>
              <a:t>var2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5" name="Text Box 13">
            <a:extLst>
              <a:ext uri="{FF2B5EF4-FFF2-40B4-BE49-F238E27FC236}">
                <a16:creationId xmlns:a16="http://schemas.microsoft.com/office/drawing/2014/main" id="{6A6F73D4-146D-46FE-BD4A-2F9534AB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729288"/>
            <a:ext cx="39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6" name="Rectangle 14">
            <a:extLst>
              <a:ext uri="{FF2B5EF4-FFF2-40B4-BE49-F238E27FC236}">
                <a16:creationId xmlns:a16="http://schemas.microsoft.com/office/drawing/2014/main" id="{D07BDE3E-A813-4A24-9542-2DB3E9A71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1" y="5729289"/>
            <a:ext cx="4286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39407" name="Rectangle 15">
            <a:extLst>
              <a:ext uri="{FF2B5EF4-FFF2-40B4-BE49-F238E27FC236}">
                <a16:creationId xmlns:a16="http://schemas.microsoft.com/office/drawing/2014/main" id="{4A7DCC86-6E87-4F56-A895-D1AD4F0A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976" y="5729289"/>
            <a:ext cx="4286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39408" name="Rectangle 16">
            <a:extLst>
              <a:ext uri="{FF2B5EF4-FFF2-40B4-BE49-F238E27FC236}">
                <a16:creationId xmlns:a16="http://schemas.microsoft.com/office/drawing/2014/main" id="{CF1AD2B5-E4C1-4B87-A293-7002D3A04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5743576"/>
            <a:ext cx="396875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</a:p>
        </p:txBody>
      </p:sp>
      <p:grpSp>
        <p:nvGrpSpPr>
          <p:cNvPr id="1339409" name="Group 17">
            <a:extLst>
              <a:ext uri="{FF2B5EF4-FFF2-40B4-BE49-F238E27FC236}">
                <a16:creationId xmlns:a16="http://schemas.microsoft.com/office/drawing/2014/main" id="{B698C91B-72D6-4038-8A8C-AA924B330C3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576888"/>
            <a:ext cx="2057400" cy="685800"/>
            <a:chOff x="1248" y="3072"/>
            <a:chExt cx="1296" cy="432"/>
          </a:xfrm>
        </p:grpSpPr>
        <p:sp>
          <p:nvSpPr>
            <p:cNvPr id="1339410" name="Rectangle 18">
              <a:extLst>
                <a:ext uri="{FF2B5EF4-FFF2-40B4-BE49-F238E27FC236}">
                  <a16:creationId xmlns:a16="http://schemas.microsoft.com/office/drawing/2014/main" id="{369D3EB7-B73C-4C3C-A2C0-D7F11E532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77"/>
              <a:ext cx="250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800" b="1">
                  <a:latin typeface="Courier New" panose="02070309020205020404" pitchFamily="49" charset="0"/>
                </a:rPr>
                <a:t> </a:t>
              </a:r>
            </a:p>
          </p:txBody>
        </p:sp>
        <p:sp>
          <p:nvSpPr>
            <p:cNvPr id="1339411" name="Freeform 19">
              <a:extLst>
                <a:ext uri="{FF2B5EF4-FFF2-40B4-BE49-F238E27FC236}">
                  <a16:creationId xmlns:a16="http://schemas.microsoft.com/office/drawing/2014/main" id="{5AD9D529-2750-43D3-9136-DA0BDE5E6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072"/>
              <a:ext cx="1152" cy="288"/>
            </a:xfrm>
            <a:custGeom>
              <a:avLst/>
              <a:gdLst>
                <a:gd name="T0" fmla="*/ 0 w 720"/>
                <a:gd name="T1" fmla="*/ 344 h 392"/>
                <a:gd name="T2" fmla="*/ 384 w 720"/>
                <a:gd name="T3" fmla="*/ 8 h 392"/>
                <a:gd name="T4" fmla="*/ 720 w 720"/>
                <a:gd name="T5" fmla="*/ 39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392">
                  <a:moveTo>
                    <a:pt x="0" y="344"/>
                  </a:moveTo>
                  <a:cubicBezTo>
                    <a:pt x="132" y="172"/>
                    <a:pt x="264" y="0"/>
                    <a:pt x="384" y="8"/>
                  </a:cubicBezTo>
                  <a:cubicBezTo>
                    <a:pt x="504" y="16"/>
                    <a:pt x="612" y="204"/>
                    <a:pt x="720" y="392"/>
                  </a:cubicBezTo>
                </a:path>
              </a:pathLst>
            </a:custGeom>
            <a:noFill/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06" grpId="0" animBg="1" autoUpdateAnimBg="0"/>
      <p:bldP spid="133940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CB6634-CEEE-4A4D-9826-87E1F27A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52" y="1333851"/>
            <a:ext cx="12003048" cy="37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5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BE84-E4EA-4AF3-8B0D-BB1D3D9D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Ampersand (&amp;) and Asterisk (*) Sign</a:t>
            </a:r>
            <a:br>
              <a:rPr lang="en-GB" dirty="0"/>
            </a:br>
            <a:r>
              <a:rPr lang="en-GB" dirty="0"/>
              <a:t>	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9E14AF-88DF-4B53-B1E9-A03C742CB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9191"/>
            <a:ext cx="12071915" cy="34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2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265</Words>
  <Application>Microsoft Office PowerPoint</Application>
  <PresentationFormat>Widescreen</PresentationFormat>
  <Paragraphs>115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Helvetica</vt:lpstr>
      <vt:lpstr>Lucida Console</vt:lpstr>
      <vt:lpstr>Tahoma</vt:lpstr>
      <vt:lpstr>Trebuchet MS</vt:lpstr>
      <vt:lpstr>Office Theme</vt:lpstr>
      <vt:lpstr>POINTERS IN C++</vt:lpstr>
      <vt:lpstr>Pointer Variable Declarations and Initialization</vt:lpstr>
      <vt:lpstr>Pointers</vt:lpstr>
      <vt:lpstr>Referencing</vt:lpstr>
      <vt:lpstr>Dereferencing</vt:lpstr>
      <vt:lpstr>Pointers &amp; Allocation </vt:lpstr>
      <vt:lpstr>PowerPoint Presentation</vt:lpstr>
      <vt:lpstr>The Ampersand (&amp;) and Asterisk (*) Sign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Aqib Adeel</dc:creator>
  <cp:lastModifiedBy>Aqib Adeel</cp:lastModifiedBy>
  <cp:revision>6</cp:revision>
  <dcterms:created xsi:type="dcterms:W3CDTF">2020-06-05T01:29:00Z</dcterms:created>
  <dcterms:modified xsi:type="dcterms:W3CDTF">2020-06-05T01:49:33Z</dcterms:modified>
</cp:coreProperties>
</file>