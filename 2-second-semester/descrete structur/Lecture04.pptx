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8" r:id="rId3"/>
    <p:sldId id="279" r:id="rId4"/>
    <p:sldId id="280" r:id="rId5"/>
    <p:sldId id="281" r:id="rId6"/>
    <p:sldId id="257" r:id="rId7"/>
    <p:sldId id="258" r:id="rId8"/>
    <p:sldId id="259" r:id="rId9"/>
    <p:sldId id="265" r:id="rId10"/>
    <p:sldId id="282" r:id="rId11"/>
    <p:sldId id="260" r:id="rId12"/>
    <p:sldId id="261" r:id="rId13"/>
    <p:sldId id="262" r:id="rId14"/>
    <p:sldId id="264" r:id="rId15"/>
    <p:sldId id="270" r:id="rId16"/>
    <p:sldId id="272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9970" autoAdjust="0"/>
  </p:normalViewPr>
  <p:slideViewPr>
    <p:cSldViewPr>
      <p:cViewPr varScale="1">
        <p:scale>
          <a:sx n="92" d="100"/>
          <a:sy n="92" d="100"/>
        </p:scale>
        <p:origin x="22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76255-D9FB-4AE3-B318-117FAD9E3F72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0DEAC-D728-4295-B144-C0738FFE31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7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 if p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 whenever</a:t>
            </a:r>
            <a:r>
              <a:rPr lang="en-US" sz="1200" baseline="0" dirty="0"/>
              <a:t> p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2060"/>
                </a:solidFill>
              </a:rPr>
              <a:t>p implies</a:t>
            </a:r>
            <a:r>
              <a:rPr lang="en-US" sz="1200" b="1" baseline="0" dirty="0">
                <a:solidFill>
                  <a:srgbClr val="002060"/>
                </a:solidFill>
              </a:rPr>
              <a:t> q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2060"/>
                </a:solidFill>
              </a:rPr>
              <a:t>a necessary condition for p is q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2060"/>
                </a:solidFill>
              </a:rPr>
              <a:t>p is sufficient</a:t>
            </a:r>
            <a:r>
              <a:rPr lang="en-US" sz="1200" b="1" baseline="0" dirty="0">
                <a:solidFill>
                  <a:srgbClr val="002060"/>
                </a:solidFill>
              </a:rPr>
              <a:t> for q</a:t>
            </a:r>
            <a:endParaRPr lang="en-US" sz="1200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0DEAC-D728-4295-B144-C0738FFE314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∀x[P(x)</a:t>
            </a:r>
            <a:r>
              <a:rPr lang="en-US" dirty="0">
                <a:sym typeface="Wingdings" pitchFamily="2" charset="2"/>
              </a:rPr>
              <a:t>S(x)]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~∃x[Q(x)</a:t>
            </a:r>
            <a:r>
              <a:rPr lang="en-US" dirty="0">
                <a:sym typeface="Wingdings" pitchFamily="2" charset="2"/>
              </a:rPr>
              <a:t>/\R(x)]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∀x[~R(x)</a:t>
            </a:r>
            <a:r>
              <a:rPr lang="en-US" dirty="0">
                <a:sym typeface="Wingdings" pitchFamily="2" charset="2"/>
              </a:rPr>
              <a:t>~S(x)]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∀x[P(x)</a:t>
            </a:r>
            <a:r>
              <a:rPr lang="en-US" dirty="0">
                <a:sym typeface="Wingdings" pitchFamily="2" charset="2"/>
              </a:rPr>
              <a:t>~Q(x)]</a:t>
            </a:r>
            <a:endParaRPr lang="en-US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  <a:p>
            <a:pPr marL="228600" indent="-228600"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0DEAC-D728-4295-B144-C0738FFE314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84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</a:rPr>
              <a:t>( q /\ r ) ---&gt; 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0DEAC-D728-4295-B144-C0738FFE314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1200" dirty="0"/>
              <a:t> </a:t>
            </a:r>
            <a:r>
              <a:rPr kumimoji="0" lang="en-US" sz="12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→</a:t>
            </a:r>
            <a:r>
              <a:rPr lang="en-US" sz="1200" dirty="0"/>
              <a:t> </a:t>
            </a:r>
            <a:r>
              <a:rPr kumimoji="0" lang="en-US" sz="12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q ≡¬</a:t>
            </a:r>
            <a:r>
              <a:rPr lang="en-US" sz="1200" dirty="0"/>
              <a:t> </a:t>
            </a:r>
            <a:r>
              <a:rPr kumimoji="0" lang="en-US" sz="12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 ∨ 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0DEAC-D728-4295-B144-C0738FFE314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7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∀</a:t>
            </a:r>
            <a:r>
              <a:rPr lang="en-US" dirty="0" err="1"/>
              <a:t>xF</a:t>
            </a:r>
            <a:r>
              <a:rPr lang="en-US" dirty="0"/>
              <a:t>(x)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∀x[F(x) → S(x)]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∀x[(THERE EXISTF(x) ∧ S(x) → ¬T(x)] ⇔ ¬∃x[F(x) ∧ S(x) ∧ T(x)]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SLY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0DEAC-D728-4295-B144-C0738FFE314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0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9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4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2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1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0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1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5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7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4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4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5A285-5F1A-4784-AC78-63EF4BA756E9}" type="datetimeFigureOut">
              <a:rPr lang="en-US" smtClean="0"/>
              <a:pPr/>
              <a:t>9/28/22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160EF-D806-4D0B-9E2D-09A6FFEA26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8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2.lv.psu.edu/ojj/courses/discrete-math/topics/01logic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79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18984"/>
            <a:ext cx="7772400" cy="1470025"/>
          </a:xfrm>
        </p:spPr>
        <p:txBody>
          <a:bodyPr/>
          <a:lstStyle/>
          <a:p>
            <a:r>
              <a:rPr lang="en-US" dirty="0"/>
              <a:t>Discrete Mathematics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98108"/>
            <a:ext cx="6400800" cy="1752600"/>
          </a:xfrm>
        </p:spPr>
        <p:txBody>
          <a:bodyPr/>
          <a:lstStyle/>
          <a:p>
            <a:r>
              <a:rPr lang="en-US" dirty="0"/>
              <a:t>ANAM ASHRAF</a:t>
            </a:r>
          </a:p>
        </p:txBody>
      </p:sp>
    </p:spTree>
    <p:extLst>
      <p:ext uri="{BB962C8B-B14F-4D97-AF65-F5344CB8AC3E}">
        <p14:creationId xmlns:p14="http://schemas.microsoft.com/office/powerpoint/2010/main" val="3677539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Write each of the following statements in the form </a:t>
            </a:r>
            <a:r>
              <a:rPr lang="en-US" sz="3600" b="1" dirty="0">
                <a:solidFill>
                  <a:srgbClr val="FF0000"/>
                </a:solidFill>
              </a:rPr>
              <a:t>"if </a:t>
            </a:r>
            <a:r>
              <a:rPr lang="en-US" sz="3600" b="1" i="1" dirty="0">
                <a:solidFill>
                  <a:srgbClr val="FF0000"/>
                </a:solidFill>
              </a:rPr>
              <a:t>p</a:t>
            </a:r>
            <a:r>
              <a:rPr lang="en-US" sz="3600" b="1" dirty="0">
                <a:solidFill>
                  <a:srgbClr val="FF0000"/>
                </a:solidFill>
              </a:rPr>
              <a:t>, then </a:t>
            </a:r>
            <a:r>
              <a:rPr lang="en-US" sz="3600" b="1" i="1" dirty="0">
                <a:solidFill>
                  <a:srgbClr val="FF0000"/>
                </a:solidFill>
              </a:rPr>
              <a:t>q</a:t>
            </a:r>
            <a:r>
              <a:rPr lang="en-US" sz="3600" b="1" dirty="0">
                <a:solidFill>
                  <a:srgbClr val="FF0000"/>
                </a:solidFill>
              </a:rPr>
              <a:t>" </a:t>
            </a:r>
            <a:r>
              <a:rPr lang="en-US" sz="3600" dirty="0"/>
              <a:t>in English.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(Hint: Refer to the list of common ways to express implications listed in this section.)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newspaper will not come if there is an inch of snow on the street.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It snows whenever the wind blows from the northeast.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That prices go up implies that supply will be plentiful.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It is necessary to read the textbook to understand the materials of this course.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For a number to be divisible by 3, it is sufficient that it is the sum of three consecutive integers.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Your guarantee is good only if you bought your TV less than 90 days ago.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97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If there is an inch of snow on the street, the newspaper will not come.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If the wind blows from the northeast, then it snows.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If prices go up, then supply will be plentiful.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If you are going to understand the materials of this course</a:t>
            </a:r>
            <a:r>
              <a:rPr lang="en-US"/>
              <a:t>, THEN you </a:t>
            </a:r>
            <a:r>
              <a:rPr lang="en-US" dirty="0"/>
              <a:t>must read the textbook.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If a number is the sum of three consecutive integers, then it is divisible by 3.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If you guarantee is good, then you must have bought your TV less than 90 days ago.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2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Write each of the following propositions in the form </a:t>
            </a:r>
            <a:r>
              <a:rPr lang="en-US" sz="3600" b="1" dirty="0">
                <a:solidFill>
                  <a:srgbClr val="FF0000"/>
                </a:solidFill>
              </a:rPr>
              <a:t>"</a:t>
            </a:r>
            <a:r>
              <a:rPr lang="en-US" sz="3600" b="1" i="1" dirty="0">
                <a:solidFill>
                  <a:srgbClr val="FF0000"/>
                </a:solidFill>
              </a:rPr>
              <a:t>p</a:t>
            </a:r>
            <a:r>
              <a:rPr lang="en-US" sz="3600" b="1" dirty="0">
                <a:solidFill>
                  <a:srgbClr val="FF0000"/>
                </a:solidFill>
              </a:rPr>
              <a:t> if and only if </a:t>
            </a:r>
            <a:r>
              <a:rPr lang="en-US" sz="3600" b="1" i="1" dirty="0">
                <a:solidFill>
                  <a:srgbClr val="FF0000"/>
                </a:solidFill>
              </a:rPr>
              <a:t>q</a:t>
            </a:r>
            <a:r>
              <a:rPr lang="en-US" sz="3600" b="1" dirty="0">
                <a:solidFill>
                  <a:srgbClr val="FF0000"/>
                </a:solidFill>
              </a:rPr>
              <a:t>" </a:t>
            </a:r>
            <a:r>
              <a:rPr lang="en-US" sz="3600" dirty="0"/>
              <a:t>in English.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If it is hot outside </a:t>
            </a:r>
            <a:r>
              <a:rPr lang="en-US" dirty="0">
                <a:solidFill>
                  <a:srgbClr val="E739B5"/>
                </a:solidFill>
              </a:rPr>
              <a:t>you drink a lot of water</a:t>
            </a:r>
            <a:r>
              <a:rPr lang="en-US" dirty="0">
                <a:solidFill>
                  <a:srgbClr val="92D050"/>
                </a:solidFill>
              </a:rPr>
              <a:t>, </a:t>
            </a:r>
            <a:r>
              <a:rPr lang="en-US" dirty="0"/>
              <a:t>and if you drink a lot of water </a:t>
            </a:r>
            <a:r>
              <a:rPr lang="en-US" dirty="0">
                <a:solidFill>
                  <a:srgbClr val="92D050"/>
                </a:solidFill>
              </a:rPr>
              <a:t>it is hot outside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For </a:t>
            </a:r>
            <a:r>
              <a:rPr lang="en-US" dirty="0">
                <a:solidFill>
                  <a:srgbClr val="E739B5"/>
                </a:solidFill>
              </a:rPr>
              <a:t>a program to be readable </a:t>
            </a:r>
            <a:r>
              <a:rPr lang="en-US" dirty="0"/>
              <a:t>it is necessary and sufficient that </a:t>
            </a:r>
            <a:r>
              <a:rPr lang="en-US" dirty="0">
                <a:solidFill>
                  <a:srgbClr val="92D050"/>
                </a:solidFill>
              </a:rPr>
              <a:t>it is well structured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 </a:t>
            </a:r>
            <a:r>
              <a:rPr lang="en-US" dirty="0">
                <a:solidFill>
                  <a:srgbClr val="E739B5"/>
                </a:solidFill>
              </a:rPr>
              <a:t>like fruits</a:t>
            </a:r>
            <a:r>
              <a:rPr lang="en-US" dirty="0"/>
              <a:t> only if </a:t>
            </a:r>
            <a:r>
              <a:rPr lang="en-US" dirty="0">
                <a:solidFill>
                  <a:srgbClr val="92D050"/>
                </a:solidFill>
              </a:rPr>
              <a:t>they are fresh,</a:t>
            </a:r>
            <a:r>
              <a:rPr lang="en-US" dirty="0"/>
              <a:t> and fruits are fresh only if I like them.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solidFill>
                  <a:srgbClr val="92D050"/>
                </a:solidFill>
              </a:rPr>
              <a:t>you eat too much sweets </a:t>
            </a:r>
            <a:r>
              <a:rPr lang="en-US" dirty="0">
                <a:solidFill>
                  <a:srgbClr val="E739B5"/>
                </a:solidFill>
              </a:rPr>
              <a:t>your teeth will decay</a:t>
            </a:r>
            <a:r>
              <a:rPr lang="en-US" dirty="0"/>
              <a:t>, and conversely.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E739B5"/>
                </a:solidFill>
              </a:rPr>
              <a:t>store is closed </a:t>
            </a:r>
            <a:r>
              <a:rPr lang="en-US" dirty="0"/>
              <a:t>on exactly </a:t>
            </a:r>
            <a:r>
              <a:rPr lang="en-US" dirty="0">
                <a:solidFill>
                  <a:srgbClr val="92D050"/>
                </a:solidFill>
              </a:rPr>
              <a:t>those days when I want to shop there.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85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You drink a lot of water if and only if it is hot outside.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A program is readable if and only if it is well structured.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I like fruits if and only if they are fresh.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Your teeth will decay if and only if you eat too much sweets.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The store is closed if and only if it is the day when I want to shop there.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7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8153400" cy="5927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973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dirty="0"/>
              <a:t>Prove </a:t>
            </a:r>
            <a:r>
              <a:rPr lang="en-US" dirty="0">
                <a:latin typeface="MathJax_Main"/>
              </a:rPr>
              <a:t>¬ </a:t>
            </a:r>
            <a:r>
              <a:rPr lang="en-US" dirty="0"/>
              <a:t>(p ∨</a:t>
            </a:r>
            <a:r>
              <a:rPr lang="en-US" dirty="0">
                <a:latin typeface="MathJax_Main"/>
              </a:rPr>
              <a:t>¬</a:t>
            </a:r>
            <a:r>
              <a:rPr lang="en-US" dirty="0"/>
              <a:t>q) ∨ (</a:t>
            </a:r>
            <a:r>
              <a:rPr lang="en-US" dirty="0">
                <a:latin typeface="MathJax_Main"/>
              </a:rPr>
              <a:t>¬</a:t>
            </a:r>
            <a:r>
              <a:rPr lang="en-US" dirty="0"/>
              <a:t>p ^ </a:t>
            </a:r>
            <a:r>
              <a:rPr lang="en-US" dirty="0">
                <a:latin typeface="MathJax_Main"/>
              </a:rPr>
              <a:t>¬</a:t>
            </a:r>
            <a:r>
              <a:rPr lang="en-US" dirty="0"/>
              <a:t> q) ≡ </a:t>
            </a:r>
            <a:r>
              <a:rPr lang="en-US" dirty="0">
                <a:latin typeface="MathJax_Main"/>
              </a:rPr>
              <a:t>¬</a:t>
            </a:r>
            <a:r>
              <a:rPr lang="en-US" dirty="0"/>
              <a:t>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01078"/>
              </p:ext>
            </p:extLst>
          </p:nvPr>
        </p:nvGraphicFramePr>
        <p:xfrm>
          <a:off x="457200" y="2057400"/>
          <a:ext cx="8229600" cy="861028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5141">
                <a:tc>
                  <a:txBody>
                    <a:bodyPr/>
                    <a:lstStyle/>
                    <a:p>
                      <a:pPr algn="ctr" fontAlgn="t"/>
                      <a:br>
                        <a:rPr lang="en-US" dirty="0">
                          <a:solidFill>
                            <a:srgbClr val="6A737C"/>
                          </a:solidFill>
                          <a:effectLst/>
                        </a:rPr>
                      </a:br>
                      <a:endParaRPr lang="en-US" dirty="0">
                        <a:effectLst/>
                      </a:endParaRPr>
                    </a:p>
                  </a:txBody>
                  <a:tcPr marR="1428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¬(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∨¬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)∨(¬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∧¬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)</a:t>
                      </a:r>
                    </a:p>
                    <a:p>
                      <a:pPr fontAlgn="t"/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≡(¬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∧¬¬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)∨(¬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∧¬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) </a:t>
                      </a:r>
                      <a:r>
                        <a:rPr lang="en-US" sz="3200" b="0" i="0" u="none" strike="noStrike" dirty="0" err="1">
                          <a:effectLst/>
                          <a:latin typeface="MathJax_Main"/>
                        </a:rPr>
                        <a:t>D'MorganDouble</a:t>
                      </a:r>
                      <a:endParaRPr lang="en-US" sz="2000" b="0" i="0" u="none" strike="noStrike" dirty="0">
                        <a:effectLst/>
                        <a:latin typeface="MathJax_Main"/>
                      </a:endParaRPr>
                    </a:p>
                    <a:p>
                      <a:pPr fontAlgn="t"/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≡(¬</a:t>
                      </a:r>
                      <a:r>
                        <a:rPr lang="en-US" sz="3200" b="0" i="0" u="none" strike="noStrike" dirty="0" err="1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 err="1">
                          <a:effectLst/>
                          <a:latin typeface="MathJax_Main"/>
                        </a:rPr>
                        <a:t>∧</a:t>
                      </a:r>
                      <a:r>
                        <a:rPr lang="en-US" sz="3200" b="0" i="0" u="none" strike="noStrike" dirty="0" err="1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)∨(¬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∧¬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)     Negation</a:t>
                      </a:r>
                    </a:p>
                    <a:p>
                      <a:pPr fontAlgn="t"/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≡¬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∧(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∨¬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q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)              Distribution</a:t>
                      </a:r>
                    </a:p>
                    <a:p>
                      <a:pPr fontAlgn="t"/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≡¬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∧⊤                      Conjunctive</a:t>
                      </a:r>
                    </a:p>
                    <a:p>
                      <a:pPr fontAlgn="t"/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≡¬</a:t>
                      </a:r>
                      <a:r>
                        <a:rPr lang="en-US" sz="3200" b="0" i="0" u="none" strike="noStrike" dirty="0">
                          <a:effectLst/>
                          <a:latin typeface="MathJax_Math-italic"/>
                        </a:rPr>
                        <a:t>p</a:t>
                      </a:r>
                      <a:r>
                        <a:rPr lang="en-US" sz="3200" b="0" i="0" u="none" strike="noStrike" baseline="0" dirty="0">
                          <a:effectLst/>
                          <a:latin typeface="MathJax_Math-italic"/>
                        </a:rPr>
                        <a:t>                           </a:t>
                      </a:r>
                      <a:r>
                        <a:rPr lang="en-US" sz="3200" b="0" i="0" u="none" strike="noStrike" dirty="0">
                          <a:effectLst/>
                          <a:latin typeface="MathJax_Main"/>
                        </a:rPr>
                        <a:t>Identity</a:t>
                      </a:r>
                      <a:endParaRPr lang="en-US" sz="320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141">
                <a:tc>
                  <a:txBody>
                    <a:bodyPr/>
                    <a:lstStyle/>
                    <a:p>
                      <a:pPr algn="ctr" fontAlgn="t"/>
                      <a:endParaRPr lang="en-US" dirty="0">
                        <a:effectLst/>
                      </a:endParaRPr>
                    </a:p>
                  </a:txBody>
                  <a:tcPr marR="1428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320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5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 ∨ (q ∧ r) ≡ (p ∨ q) ∧ (p ∨ r)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90750"/>
            <a:ext cx="8382000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573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Quantifiers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75456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Consider these statements, of which are the first three are premises and the fourth is a valid conclusion: </a:t>
            </a:r>
          </a:p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Q) Express the statements in the argument using quantifiers and these propositional functions.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dirty="0"/>
              <a:t>All humming birds are richly colored. 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dirty="0"/>
              <a:t>No large birds live on honey. 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dirty="0"/>
              <a:t>All Birds that do not live on honey are dull in color. 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dirty="0"/>
              <a:t>Hummingbirds are small.</a:t>
            </a:r>
          </a:p>
        </p:txBody>
      </p:sp>
    </p:spTree>
    <p:extLst>
      <p:ext uri="{BB962C8B-B14F-4D97-AF65-F5344CB8AC3E}">
        <p14:creationId xmlns:p14="http://schemas.microsoft.com/office/powerpoint/2010/main" val="6426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Let P(x), Q(x), R(x), and S(x) be the statements </a:t>
            </a:r>
          </a:p>
          <a:p>
            <a:pPr algn="just"/>
            <a:r>
              <a:rPr lang="en-US" dirty="0"/>
              <a:t>P(x)=“x is a hummingbird”, </a:t>
            </a:r>
          </a:p>
          <a:p>
            <a:pPr algn="just"/>
            <a:r>
              <a:rPr lang="en-US" dirty="0"/>
              <a:t>Q(x)=“x is large”, </a:t>
            </a:r>
          </a:p>
          <a:p>
            <a:pPr algn="just"/>
            <a:r>
              <a:rPr lang="en-US" dirty="0"/>
              <a:t>R(x)=“x lives on honey”</a:t>
            </a:r>
          </a:p>
          <a:p>
            <a:pPr algn="just"/>
            <a:r>
              <a:rPr lang="en-US" dirty="0"/>
              <a:t>S(x)=“x is richly colored”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37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008595"/>
              </p:ext>
            </p:extLst>
          </p:nvPr>
        </p:nvGraphicFramePr>
        <p:xfrm>
          <a:off x="533400" y="609600"/>
          <a:ext cx="8077200" cy="1676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400"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  <a:t>p:</a:t>
                      </a:r>
                      <a:b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</a:br>
                      <a: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  <a:t>q:</a:t>
                      </a:r>
                      <a:b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</a:br>
                      <a: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  <a:t>r: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  <a:t>Hank is a willful red brown </a:t>
                      </a:r>
                      <a:b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</a:br>
                      <a: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  <a:t>It is never too cold nor too hot in Ireland. </a:t>
                      </a:r>
                      <a:b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</a:br>
                      <a:r>
                        <a:rPr lang="en-US" sz="2800" dirty="0">
                          <a:solidFill>
                            <a:srgbClr val="7030A0"/>
                          </a:solidFill>
                          <a:effectLst/>
                        </a:rPr>
                        <a:t>It snows in the Philippines.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84022"/>
              </p:ext>
            </p:extLst>
          </p:nvPr>
        </p:nvGraphicFramePr>
        <p:xfrm>
          <a:off x="533400" y="2362200"/>
          <a:ext cx="8305800" cy="386494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403"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effectLst/>
                        </a:rPr>
                        <a:t>¬ p: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Hank is not a willful red brown dachshund.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03"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effectLst/>
                        </a:rPr>
                        <a:t>¬ r: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It never snows in the Philippines.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F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587"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effectLst/>
                        </a:rPr>
                        <a:t>p /\ q: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Hank is a willful red brown dachshund and it is never too cold nor too hot in Ireland.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995"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effectLst/>
                        </a:rPr>
                        <a:t>q /\ r: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It is never too cold nor too hot in Ireland and it snows in the Philippines.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995"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effectLst/>
                        </a:rPr>
                        <a:t>p \/ q: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Hank is a willful red brown dachshund or it is never too cold nor too hot in Ireland.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995"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effectLst/>
                        </a:rPr>
                        <a:t>p \/ ¬ r: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Hank is a willful red brown dachshund or it never snows in the Philippines.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T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2146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557682"/>
              </p:ext>
            </p:extLst>
          </p:nvPr>
        </p:nvGraphicFramePr>
        <p:xfrm>
          <a:off x="304800" y="457200"/>
          <a:ext cx="8534400" cy="7086599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402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1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407"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effectLst/>
                        </a:rPr>
                        <a:t>p: </a:t>
                      </a:r>
                      <a:endParaRPr lang="en-US" sz="20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This class is Discrete Mathematics.</a:t>
                      </a:r>
                      <a:endParaRPr lang="en-US" sz="200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407"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effectLst/>
                        </a:rPr>
                        <a:t>q: </a:t>
                      </a:r>
                      <a:endParaRPr lang="en-US" sz="200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It is the fall semester.</a:t>
                      </a:r>
                      <a:endParaRPr lang="en-US" sz="20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602"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effectLst/>
                        </a:rPr>
                        <a:t>r: </a:t>
                      </a:r>
                      <a:endParaRPr lang="en-US" sz="200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Today is Thursday.</a:t>
                      </a:r>
                      <a:endParaRPr lang="en-US" sz="20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87"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effectLst/>
                        </a:rPr>
                        <a:t>p ® q: </a:t>
                      </a:r>
                      <a:endParaRPr lang="en-US" sz="2800" b="1"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If this class is Discrete Mathematics, then it is the fall semester.</a:t>
                      </a: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9768"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effectLst/>
                        </a:rPr>
                        <a:t>¬ q ® ( r /\ p ):</a:t>
                      </a:r>
                      <a:endParaRPr lang="en-US" sz="2800" b="1"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If it is not the fall semester, then today is Thursday and this class is Discrete Mathematics.</a:t>
                      </a: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3060">
                <a:tc>
                  <a:txBody>
                    <a:bodyPr/>
                    <a:lstStyle/>
                    <a:p>
                      <a:pPr algn="r"/>
                      <a:r>
                        <a:rPr lang="en-US" sz="2800">
                          <a:effectLst/>
                        </a:rPr>
                        <a:t>¬ p ® ( q \/ r ):</a:t>
                      </a:r>
                      <a:endParaRPr lang="en-US" sz="2800" b="1"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If it is not the case that this class is Discrete </a:t>
                      </a:r>
                      <a:r>
                        <a:rPr lang="en-US" sz="2400" dirty="0" err="1">
                          <a:effectLst/>
                        </a:rPr>
                        <a:t>Mathematics,then</a:t>
                      </a:r>
                      <a:r>
                        <a:rPr lang="en-US" sz="2400" dirty="0">
                          <a:effectLst/>
                        </a:rPr>
                        <a:t> it is the fall semester or today is Thursday.</a:t>
                      </a: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9768">
                <a:tc>
                  <a:txBody>
                    <a:bodyPr/>
                    <a:lstStyle/>
                    <a:p>
                      <a:pPr algn="r"/>
                      <a:endParaRPr lang="en-US" sz="2800" b="1" dirty="0"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 dirty="0">
                        <a:effectLst/>
                      </a:endParaRPr>
                    </a:p>
                  </a:txBody>
                  <a:tcPr marL="25245" marR="25245" marT="25245" marB="2524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68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Translating English Sentences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055231"/>
              </p:ext>
            </p:extLst>
          </p:nvPr>
        </p:nvGraphicFramePr>
        <p:xfrm>
          <a:off x="599372" y="1676400"/>
          <a:ext cx="7945255" cy="475371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1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88">
                <a:tc gridSpan="3"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How can this English sentence be translated into a logical expression?</a:t>
                      </a:r>
                      <a:endParaRPr lang="en-US" sz="24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43452" marR="43452" marT="43452" marB="4345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976">
                <a:tc gridSpan="2"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Statement:</a:t>
                      </a:r>
                      <a:endParaRPr lang="en-US" sz="2400" b="1" dirty="0">
                        <a:effectLst/>
                      </a:endParaRPr>
                    </a:p>
                  </a:txBody>
                  <a:tcPr marL="43452" marR="43452" marT="43452" marB="4345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You can access the Discrete Math course notes on </a:t>
                      </a:r>
                      <a:r>
                        <a:rPr lang="en-US" sz="2400" dirty="0" err="1">
                          <a:effectLst/>
                        </a:rPr>
                        <a:t>Dropbox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if the professor has posted the notes on </a:t>
                      </a:r>
                      <a:r>
                        <a:rPr lang="en-US" sz="24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Dropbox</a:t>
                      </a:r>
                      <a: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2400" dirty="0">
                          <a:effectLst/>
                        </a:rPr>
                        <a:t>and </a:t>
                      </a:r>
                      <a: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if you are registered in the course.</a:t>
                      </a:r>
                    </a:p>
                  </a:txBody>
                  <a:tcPr marL="43452" marR="43452" marT="43452" marB="434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06">
                <a:tc rowSpan="3">
                  <a:txBody>
                    <a:bodyPr/>
                    <a:lstStyle/>
                    <a:p>
                      <a:pPr algn="just"/>
                      <a:endParaRPr lang="en-US" sz="2400" dirty="0">
                        <a:effectLst/>
                      </a:endParaRPr>
                    </a:p>
                  </a:txBody>
                  <a:tcPr marL="43452" marR="43452" marT="43452" marB="4345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>
                          <a:effectLst/>
                        </a:rPr>
                        <a:t>p:</a:t>
                      </a:r>
                    </a:p>
                  </a:txBody>
                  <a:tcPr marL="43452" marR="43452" marT="43452" marB="4345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You can access the Discrete Math course notes on </a:t>
                      </a:r>
                      <a:r>
                        <a:rPr lang="en-US" sz="2400" dirty="0" err="1">
                          <a:effectLst/>
                        </a:rPr>
                        <a:t>Dropbox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</a:p>
                  </a:txBody>
                  <a:tcPr marL="43452" marR="43452" marT="43452" marB="434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7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>
                          <a:effectLst/>
                        </a:rPr>
                        <a:t>q:</a:t>
                      </a:r>
                    </a:p>
                  </a:txBody>
                  <a:tcPr marL="43452" marR="43452" marT="43452" marB="4345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The professor has posted the Discrete Math course notes on </a:t>
                      </a:r>
                      <a:r>
                        <a:rPr lang="en-US" sz="2400" dirty="0" err="1">
                          <a:effectLst/>
                        </a:rPr>
                        <a:t>Dropbox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</a:p>
                  </a:txBody>
                  <a:tcPr marL="43452" marR="43452" marT="43452" marB="434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>
                          <a:effectLst/>
                        </a:rPr>
                        <a:t>r:</a:t>
                      </a:r>
                    </a:p>
                  </a:txBody>
                  <a:tcPr marL="43452" marR="43452" marT="43452" marB="4345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You are registered in the Discrete Math course.</a:t>
                      </a:r>
                    </a:p>
                  </a:txBody>
                  <a:tcPr marL="43452" marR="43452" marT="43452" marB="434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88">
                <a:tc gridSpan="2"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effectLst/>
                        </a:rPr>
                        <a:t>Proposition</a:t>
                      </a:r>
                    </a:p>
                  </a:txBody>
                  <a:tcPr marL="43452" marR="43452" marT="43452" marB="4345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2400" dirty="0">
                        <a:effectLst/>
                      </a:endParaRPr>
                    </a:p>
                  </a:txBody>
                  <a:tcPr marL="43452" marR="43452" marT="43452" marB="4345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6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687696"/>
              </p:ext>
            </p:extLst>
          </p:nvPr>
        </p:nvGraphicFramePr>
        <p:xfrm>
          <a:off x="228599" y="380999"/>
          <a:ext cx="8686799" cy="5784839"/>
        </p:xfrm>
        <a:graphic>
          <a:graphicData uri="http://schemas.openxmlformats.org/drawingml/2006/table">
            <a:tbl>
              <a:tblPr/>
              <a:tblGrid>
                <a:gridCol w="2286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1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752">
                <a:tc gridSpan="4"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Show that </a:t>
                      </a:r>
                      <a:r>
                        <a:rPr lang="en-US" sz="1800" b="1" dirty="0">
                          <a:effectLst/>
                        </a:rPr>
                        <a:t>( p /\ q ) </a:t>
                      </a:r>
                      <a:r>
                        <a:rPr lang="en-US" sz="1800" b="1" dirty="0">
                          <a:effectLst/>
                          <a:latin typeface="symbol"/>
                        </a:rPr>
                        <a:t>®</a:t>
                      </a:r>
                      <a:r>
                        <a:rPr lang="en-US" sz="1800" b="1" dirty="0">
                          <a:effectLst/>
                        </a:rPr>
                        <a:t> ( p \/ q )</a:t>
                      </a:r>
                      <a:r>
                        <a:rPr lang="en-US" sz="1800" dirty="0">
                          <a:effectLst/>
                        </a:rPr>
                        <a:t> is a tautology by developing a series of logical equivalences instead of using a truth table.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64">
                <a:tc rowSpan="7"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rgbClr val="00B050"/>
                          </a:solidFill>
                          <a:effectLst/>
                        </a:rPr>
                        <a:t>( p /\ q )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>
                          <a:effectLst/>
                          <a:latin typeface="symbol"/>
                        </a:rPr>
                        <a:t>®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( p \/ q )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ymbol"/>
                        </a:rPr>
                        <a:t>º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¬ </a:t>
                      </a:r>
                      <a:r>
                        <a:rPr lang="en-US" sz="2400" b="1" dirty="0">
                          <a:solidFill>
                            <a:srgbClr val="00B050"/>
                          </a:solidFill>
                          <a:effectLst/>
                        </a:rPr>
                        <a:t>( p /\ q ) </a:t>
                      </a:r>
                      <a:r>
                        <a:rPr lang="en-US" sz="2400" b="1" dirty="0">
                          <a:effectLst/>
                        </a:rPr>
                        <a:t>\/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</a:rPr>
                        <a:t>( p \/ q )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by the </a:t>
                      </a:r>
                      <a:r>
                        <a:rPr lang="en-US" sz="1600">
                          <a:effectLst/>
                          <a:hlinkClick r:id="rId4"/>
                        </a:rPr>
                        <a:t>LECS #1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symbol"/>
                        </a:rPr>
                        <a:t>º</a:t>
                      </a:r>
                      <a:endParaRPr lang="en-US" sz="1600" dirty="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( ¬ p \/ ¬ q ) \/ ( p \/ q )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by the </a:t>
                      </a:r>
                      <a:r>
                        <a:rPr lang="en-US" sz="1600">
                          <a:effectLst/>
                          <a:hlinkClick r:id="rId4"/>
                        </a:rPr>
                        <a:t>first DeMorgan's Law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ymbol"/>
                        </a:rPr>
                        <a:t>º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¬ p \/ ¬ q \/ p \/ q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3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ymbol"/>
                        </a:rPr>
                        <a:t>º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¬ p \/ p \/ ¬ q \/ q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by the </a:t>
                      </a:r>
                      <a:r>
                        <a:rPr lang="en-US" sz="1600">
                          <a:effectLst/>
                          <a:hlinkClick r:id="rId4"/>
                        </a:rPr>
                        <a:t>Commutative Law for Disjunction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9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ymbol"/>
                        </a:rPr>
                        <a:t>º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( ¬ p \/ p ) \/ ( ¬ q \/ q )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by the </a:t>
                      </a:r>
                      <a:r>
                        <a:rPr lang="en-US" sz="1600">
                          <a:effectLst/>
                          <a:hlinkClick r:id="rId4"/>
                        </a:rPr>
                        <a:t>Associative Law for Disjunction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9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ymbol"/>
                        </a:rPr>
                        <a:t>º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T \/ T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by the </a:t>
                      </a:r>
                      <a:r>
                        <a:rPr lang="en-US" sz="1600">
                          <a:effectLst/>
                          <a:hlinkClick r:id="rId4"/>
                        </a:rPr>
                        <a:t>Negation Law for Disjunction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9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ymbol"/>
                        </a:rPr>
                        <a:t>º</a:t>
                      </a:r>
                      <a:endParaRPr lang="en-US" sz="160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T</a:t>
                      </a: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by the </a:t>
                      </a:r>
                      <a:r>
                        <a:rPr lang="en-US" sz="1600" dirty="0">
                          <a:effectLst/>
                          <a:hlinkClick r:id="rId4"/>
                        </a:rPr>
                        <a:t>Domination Law for Disjunction</a:t>
                      </a:r>
                      <a:endParaRPr lang="en-US" sz="1600" dirty="0">
                        <a:effectLst/>
                      </a:endParaRPr>
                    </a:p>
                  </a:txBody>
                  <a:tcPr marL="80821" marR="80821" marT="40410" marB="4041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68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 P(x, y, z) denote that x + y = z and U be the integers for all three variables. </a:t>
            </a:r>
          </a:p>
          <a:p>
            <a:pPr lvl="1"/>
            <a:r>
              <a:rPr lang="en-US" sz="2200" dirty="0"/>
              <a:t>P(−4, 6, 2) is true. </a:t>
            </a:r>
          </a:p>
          <a:p>
            <a:pPr lvl="1"/>
            <a:r>
              <a:rPr lang="en-US" sz="2200" dirty="0"/>
              <a:t>P(5, 2, 10) is false.</a:t>
            </a:r>
          </a:p>
          <a:p>
            <a:pPr lvl="1"/>
            <a:r>
              <a:rPr lang="en-US" sz="2200" dirty="0"/>
              <a:t>P(5, x, 7) is not a proposition. </a:t>
            </a:r>
          </a:p>
          <a:p>
            <a:r>
              <a:rPr lang="en-US" dirty="0"/>
              <a:t>Let Q(x, y, z) denote that x − y = z and U be the integers. </a:t>
            </a:r>
          </a:p>
          <a:p>
            <a:pPr lvl="1"/>
            <a:r>
              <a:rPr lang="en-US" sz="2600" dirty="0"/>
              <a:t>P(1, 2, 3) ∧ Q(5, 4, 1) is false. </a:t>
            </a:r>
          </a:p>
          <a:p>
            <a:pPr lvl="1"/>
            <a:r>
              <a:rPr lang="en-US" sz="2600" dirty="0"/>
              <a:t>P(1, 2, 4) → Q(5, 4, 0) is true. </a:t>
            </a:r>
          </a:p>
          <a:p>
            <a:pPr lvl="1"/>
            <a:r>
              <a:rPr lang="en-US" sz="2600" dirty="0"/>
              <a:t>P(1, 2, 3) → Q(5, 4, 0) </a:t>
            </a:r>
            <a:r>
              <a:rPr lang="en-US" sz="2600"/>
              <a:t>is true. </a:t>
            </a:r>
            <a:endParaRPr lang="en-US" sz="2600" dirty="0"/>
          </a:p>
          <a:p>
            <a:pPr lvl="1"/>
            <a:r>
              <a:rPr lang="en-US" sz="2600" dirty="0"/>
              <a:t>P(1, 2, 4) → Q(x, 4, 0) is not a proposition.</a:t>
            </a:r>
          </a:p>
        </p:txBody>
      </p:sp>
    </p:spTree>
    <p:extLst>
      <p:ext uri="{BB962C8B-B14F-4D97-AF65-F5344CB8AC3E}">
        <p14:creationId xmlns:p14="http://schemas.microsoft.com/office/powerpoint/2010/main" val="123916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dirty="0"/>
              <a:t>Assume </a:t>
            </a:r>
          </a:p>
          <a:p>
            <a:r>
              <a:rPr lang="en-US" dirty="0"/>
              <a:t>F(x): x is a fox. </a:t>
            </a:r>
          </a:p>
          <a:p>
            <a:r>
              <a:rPr lang="en-US" dirty="0"/>
              <a:t>S(x): x is sly. </a:t>
            </a:r>
          </a:p>
          <a:p>
            <a:r>
              <a:rPr lang="en-US" dirty="0"/>
              <a:t>T(x): x is trustworthy. </a:t>
            </a:r>
          </a:p>
          <a:p>
            <a:pPr marL="0" indent="0">
              <a:buNone/>
            </a:pPr>
            <a:r>
              <a:rPr lang="en-US" dirty="0"/>
              <a:t> and the universe of discourse for all three functions is the set of all animals.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Everything is a fox: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All foxes are sly: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any fox is sly, then it is not trustworthy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047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2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4906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How to translate the following sentences </a:t>
            </a:r>
          </a:p>
          <a:p>
            <a:pPr marL="914400" lvl="1" indent="-514350" algn="just">
              <a:buAutoNum type="arabicPeriod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“All lions are fierce.”</a:t>
            </a:r>
          </a:p>
          <a:p>
            <a:pPr marL="914400" lvl="1" indent="-514350" algn="just">
              <a:buAutoNum type="arabicPeriod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“Some lion does not drink coffee.” </a:t>
            </a:r>
          </a:p>
          <a:p>
            <a:pPr marL="914400" lvl="1" indent="-514350" algn="just">
              <a:buAutoNum type="arabicPeriod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“Some fierce creatures do not drink coffee.” into logical expressions, </a:t>
            </a:r>
          </a:p>
          <a:p>
            <a:pPr marL="0" indent="0" algn="just">
              <a:buNone/>
            </a:pPr>
            <a:r>
              <a:rPr lang="en-US" dirty="0"/>
              <a:t>if P(x ) := “x is a lion”, </a:t>
            </a:r>
          </a:p>
          <a:p>
            <a:pPr marL="0" indent="0" algn="just">
              <a:buNone/>
            </a:pPr>
            <a:r>
              <a:rPr lang="en-US" dirty="0"/>
              <a:t>Q(x) := “x is fierce”, </a:t>
            </a:r>
          </a:p>
          <a:p>
            <a:pPr marL="0" indent="0" algn="just">
              <a:buNone/>
            </a:pPr>
            <a:r>
              <a:rPr lang="en-US" dirty="0"/>
              <a:t>R(x) := “x drinks coffee”, and the domain of x consists of all creatures? </a:t>
            </a:r>
          </a:p>
        </p:txBody>
      </p:sp>
    </p:spTree>
    <p:extLst>
      <p:ext uri="{BB962C8B-B14F-4D97-AF65-F5344CB8AC3E}">
        <p14:creationId xmlns:p14="http://schemas.microsoft.com/office/powerpoint/2010/main" val="307120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1629</Words>
  <Application>Microsoft Macintosh PowerPoint</Application>
  <PresentationFormat>On-screen Show (4:3)</PresentationFormat>
  <Paragraphs>166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MathJax_Main</vt:lpstr>
      <vt:lpstr>MathJax_Math-italic</vt:lpstr>
      <vt:lpstr>symbol</vt:lpstr>
      <vt:lpstr>Wingdings</vt:lpstr>
      <vt:lpstr>Office Theme</vt:lpstr>
      <vt:lpstr>Discrete Mathematics Examples</vt:lpstr>
      <vt:lpstr>Write each of the following statements in the form "if p, then q" in English.</vt:lpstr>
      <vt:lpstr>Answers</vt:lpstr>
      <vt:lpstr>Write each of the following propositions in the form "p if and only if q" in English. </vt:lpstr>
      <vt:lpstr>Answer</vt:lpstr>
      <vt:lpstr>PowerPoint Presentation</vt:lpstr>
      <vt:lpstr>Prove ¬ (p ∨¬q) ∨ (¬p ^ ¬ q) ≡ ¬p </vt:lpstr>
      <vt:lpstr>Truth table </vt:lpstr>
      <vt:lpstr>Quantifiers</vt:lpstr>
      <vt:lpstr>PowerPoint Presentation</vt:lpstr>
      <vt:lpstr>`</vt:lpstr>
      <vt:lpstr>PowerPoint Presentation</vt:lpstr>
      <vt:lpstr>Translating English Sentences</vt:lpstr>
      <vt:lpstr>PowerPoint Presentation</vt:lpstr>
      <vt:lpstr>Propositional Functions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Microsoft Office User</cp:lastModifiedBy>
  <cp:revision>183</cp:revision>
  <dcterms:created xsi:type="dcterms:W3CDTF">2016-09-28T07:29:06Z</dcterms:created>
  <dcterms:modified xsi:type="dcterms:W3CDTF">2022-09-28T13:14:25Z</dcterms:modified>
</cp:coreProperties>
</file>