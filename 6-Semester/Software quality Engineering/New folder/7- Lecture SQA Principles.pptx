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84" r:id="rId1"/>
  </p:sldMasterIdLst>
  <p:notesMasterIdLst>
    <p:notesMasterId r:id="rId9"/>
  </p:notesMasterIdLst>
  <p:sldIdLst>
    <p:sldId id="256" r:id="rId2"/>
    <p:sldId id="572" r:id="rId3"/>
    <p:sldId id="553" r:id="rId4"/>
    <p:sldId id="596" r:id="rId5"/>
    <p:sldId id="597" r:id="rId6"/>
    <p:sldId id="600" r:id="rId7"/>
    <p:sldId id="5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d1z19HzM2AbtQDZHfJV5+Q==" hashData="n7QJnALgOU5BQ0kLPR1HB3h+AGf6yYn7kBZVaYFKcAVjBrJ4Xmx81G6VHXY0ExynQijzQxDWLrYbjgZ1Cgkok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3A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2B730-4417-4EBB-B6C8-2758BE8E7A04}" type="datetimeFigureOut">
              <a:rPr lang="en-MY" smtClean="0"/>
              <a:t>3/3/2024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D0047-0853-40AC-BBE1-64A727EA0B2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49921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A568D-E5C5-0666-1F58-A65FCA674E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BAE6ED0B-7FEB-8BAD-8467-0542FC21D49A}"/>
              </a:ext>
            </a:extLst>
          </p:cNvPr>
          <p:cNvSpPr txBox="1">
            <a:spLocks/>
          </p:cNvSpPr>
          <p:nvPr userDrawn="1"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106264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03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9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2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9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8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5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852FED-FA06-4F57-8763-BD1A2B1B2486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FA438A-AB78-4EF3-B6EE-777F1ED87BB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AA90BC-BC99-A1B8-7268-E407A508DE12}"/>
              </a:ext>
            </a:extLst>
          </p:cNvPr>
          <p:cNvSpPr txBox="1"/>
          <p:nvPr userDrawn="1"/>
        </p:nvSpPr>
        <p:spPr>
          <a:xfrm>
            <a:off x="3127652" y="647212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</p:spTree>
    <p:extLst>
      <p:ext uri="{BB962C8B-B14F-4D97-AF65-F5344CB8AC3E}">
        <p14:creationId xmlns:p14="http://schemas.microsoft.com/office/powerpoint/2010/main" val="215032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744975"/>
            <a:ext cx="9820929" cy="1228299"/>
          </a:xfrm>
        </p:spPr>
        <p:txBody>
          <a:bodyPr>
            <a:normAutofit/>
          </a:bodyPr>
          <a:lstStyle/>
          <a:p>
            <a:r>
              <a:rPr lang="en-US" sz="4800" b="1" dirty="0"/>
              <a:t>Software Quality Engineering –SEQE-345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5121163"/>
            <a:ext cx="10058400" cy="1143000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Dr. </a:t>
            </a:r>
            <a:r>
              <a:rPr lang="en-US" i="1" dirty="0" err="1">
                <a:solidFill>
                  <a:schemeClr val="tx1"/>
                </a:solidFill>
              </a:rPr>
              <a:t>Sumaira</a:t>
            </a:r>
            <a:r>
              <a:rPr lang="en-US" i="1">
                <a:solidFill>
                  <a:schemeClr val="tx1"/>
                </a:solidFill>
              </a:rPr>
              <a:t> nazir </a:t>
            </a:r>
            <a:endParaRPr lang="en-US" i="1" dirty="0">
              <a:solidFill>
                <a:schemeClr val="tx1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ASSISTANT PROFESSOR</a:t>
            </a:r>
          </a:p>
          <a:p>
            <a:r>
              <a:rPr lang="en-US" i="1" dirty="0">
                <a:solidFill>
                  <a:schemeClr val="tx1"/>
                </a:solidFill>
              </a:rPr>
              <a:t>Department of software engineering , </a:t>
            </a:r>
            <a:r>
              <a:rPr lang="en-US" i="1" dirty="0" err="1">
                <a:solidFill>
                  <a:schemeClr val="tx1"/>
                </a:solidFill>
              </a:rPr>
              <a:t>FEc</a:t>
            </a:r>
            <a:r>
              <a:rPr lang="en-US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310359" y="6485939"/>
            <a:ext cx="7632242" cy="493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National University Of Modern Languages H-9 Islamabad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36961" y="3071584"/>
            <a:ext cx="9820929" cy="1898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2B3DE18-1F96-23C7-6689-AC05DCC5E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014" y="214932"/>
            <a:ext cx="1436695" cy="1412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746E82-EEE7-8FCB-7A4C-BBF4011FDF0D}"/>
              </a:ext>
            </a:extLst>
          </p:cNvPr>
          <p:cNvSpPr/>
          <p:nvPr/>
        </p:nvSpPr>
        <p:spPr>
          <a:xfrm>
            <a:off x="1236961" y="3429000"/>
            <a:ext cx="9820929" cy="780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4800" b="1" dirty="0">
                <a:solidFill>
                  <a:schemeClr val="tx1"/>
                </a:solidFill>
              </a:rPr>
              <a:t>Principles of SQA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AF501AC-BBE2-6E8B-A18E-9D6E8C061B82}"/>
              </a:ext>
            </a:extLst>
          </p:cNvPr>
          <p:cNvSpPr/>
          <p:nvPr/>
        </p:nvSpPr>
        <p:spPr>
          <a:xfrm rot="10800000">
            <a:off x="10568049" y="3152564"/>
            <a:ext cx="457734" cy="373592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864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2D31F57-B79A-4CBC-93F5-D27CF2B1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90" y="1167689"/>
            <a:ext cx="7499350" cy="1143000"/>
          </a:xfrm>
        </p:spPr>
        <p:txBody>
          <a:bodyPr>
            <a:normAutofit fontScale="90000"/>
          </a:bodyPr>
          <a:lstStyle/>
          <a:p>
            <a:r>
              <a:rPr lang="en-MY" sz="4400" dirty="0"/>
              <a:t>Agenda</a:t>
            </a:r>
            <a:br>
              <a:rPr lang="en-MY" sz="4400" dirty="0"/>
            </a:br>
            <a:endParaRPr lang="en-US" altLang="en-US" dirty="0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2D089A3-4C00-4180-9B5A-1CC0B4E8D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054" y="2182834"/>
            <a:ext cx="10286910" cy="350747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" panose="02020603060405020304" pitchFamily="18" charset="0"/>
              </a:rPr>
              <a:t>Principles of SQA </a:t>
            </a:r>
          </a:p>
        </p:txBody>
      </p:sp>
    </p:spTree>
    <p:extLst>
      <p:ext uri="{BB962C8B-B14F-4D97-AF65-F5344CB8AC3E}">
        <p14:creationId xmlns:p14="http://schemas.microsoft.com/office/powerpoint/2010/main" val="342232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2D31F57-B79A-4CBC-93F5-D27CF2B1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dirty="0"/>
              <a:t>Principles of SQA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2D089A3-4C00-4180-9B5A-1CC0B4E8D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US"/>
              <a:t>Customer focus.</a:t>
            </a:r>
          </a:p>
          <a:p>
            <a:r>
              <a:rPr lang="en-US"/>
              <a:t> Leadership. </a:t>
            </a:r>
          </a:p>
          <a:p>
            <a:r>
              <a:rPr lang="en-US"/>
              <a:t>Involvement of people-employees. </a:t>
            </a:r>
          </a:p>
          <a:p>
            <a:r>
              <a:rPr lang="en-US"/>
              <a:t>Process approach. </a:t>
            </a:r>
          </a:p>
          <a:p>
            <a:r>
              <a:rPr lang="en-US"/>
              <a:t>System approach to management. </a:t>
            </a:r>
          </a:p>
          <a:p>
            <a:r>
              <a:rPr lang="en-US"/>
              <a:t>Continual improvement. </a:t>
            </a:r>
          </a:p>
          <a:p>
            <a:r>
              <a:rPr lang="en-US"/>
              <a:t>Mutually beneficial supplier relationships. </a:t>
            </a:r>
            <a:endParaRPr lang="en-US" altLang="en-US" i="1"/>
          </a:p>
        </p:txBody>
      </p:sp>
      <p:pic>
        <p:nvPicPr>
          <p:cNvPr id="6151" name="Graphic 6150" descr="Business Growth">
            <a:extLst>
              <a:ext uri="{FF2B5EF4-FFF2-40B4-BE49-F238E27FC236}">
                <a16:creationId xmlns:a16="http://schemas.microsoft.com/office/drawing/2014/main" id="{E5CB7E82-0307-4C4E-8564-3E6DF5190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92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6148" descr="Colourful carved figures of humans">
            <a:extLst>
              <a:ext uri="{FF2B5EF4-FFF2-40B4-BE49-F238E27FC236}">
                <a16:creationId xmlns:a16="http://schemas.microsoft.com/office/drawing/2014/main" id="{2F03476F-1BE9-3C07-3AE8-381BB37BB6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2105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6162" name="Straight Connector 6161">
            <a:extLst>
              <a:ext uri="{FF2B5EF4-FFF2-40B4-BE49-F238E27FC236}">
                <a16:creationId xmlns:a16="http://schemas.microsoft.com/office/drawing/2014/main" id="{E9F7CBA9-9D9B-479F-AAB5-BF785971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6" name="Title 1">
            <a:extLst>
              <a:ext uri="{FF2B5EF4-FFF2-40B4-BE49-F238E27FC236}">
                <a16:creationId xmlns:a16="http://schemas.microsoft.com/office/drawing/2014/main" id="{E2D31F57-B79A-4CBC-93F5-D27CF2B1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altLang="en-US" dirty="0"/>
              <a:t>Principles of SQA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2D089A3-4C00-4180-9B5A-1CC0B4E8D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algn="just"/>
            <a:r>
              <a:rPr lang="en-US" sz="2800"/>
              <a:t>Customer focus.</a:t>
            </a:r>
          </a:p>
          <a:p>
            <a:pPr lvl="1" algn="just"/>
            <a:r>
              <a:rPr lang="en-US" sz="2800"/>
              <a:t>Organizations depend on their customers</a:t>
            </a:r>
          </a:p>
          <a:p>
            <a:pPr lvl="1" algn="just"/>
            <a:r>
              <a:rPr lang="en-US" sz="2800"/>
              <a:t>Understand current and future customer needs</a:t>
            </a:r>
          </a:p>
          <a:p>
            <a:pPr algn="just"/>
            <a:r>
              <a:rPr lang="en-US" sz="2800"/>
              <a:t> Leadership. </a:t>
            </a:r>
          </a:p>
          <a:p>
            <a:pPr lvl="1" algn="just"/>
            <a:r>
              <a:rPr lang="en-US" sz="2800"/>
              <a:t>Leader establish the organization’s vision. </a:t>
            </a:r>
          </a:p>
          <a:p>
            <a:pPr lvl="1" algn="just"/>
            <a:r>
              <a:rPr lang="en-US" sz="2800"/>
              <a:t>They should create and maintain an internal environment in which people can become fully involved in achieving the organization’s objectives via the designated route.</a:t>
            </a:r>
          </a:p>
          <a:p>
            <a:pPr lvl="1" algn="just"/>
            <a:endParaRPr lang="en-US" sz="2800"/>
          </a:p>
        </p:txBody>
      </p:sp>
      <p:sp>
        <p:nvSpPr>
          <p:cNvPr id="6164" name="Rectangle 6163">
            <a:extLst>
              <a:ext uri="{FF2B5EF4-FFF2-40B4-BE49-F238E27FC236}">
                <a16:creationId xmlns:a16="http://schemas.microsoft.com/office/drawing/2014/main" id="{154480E5-678B-478F-9170-46502C5F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6166" name="Rectangle 6165">
            <a:extLst>
              <a:ext uri="{FF2B5EF4-FFF2-40B4-BE49-F238E27FC236}">
                <a16:creationId xmlns:a16="http://schemas.microsoft.com/office/drawing/2014/main" id="{B598D875-841B-47A7-B4C8-237DBCE2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120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2D31F57-B79A-4CBC-93F5-D27CF2B1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Principles of SQA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2D089A3-4C00-4180-9B5A-1CC0B4E8D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916832"/>
            <a:ext cx="10198249" cy="480060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Involvement of people-employees. </a:t>
            </a:r>
          </a:p>
          <a:p>
            <a:pPr lvl="1" algn="just"/>
            <a:r>
              <a:rPr lang="en-US" sz="3200" dirty="0"/>
              <a:t> People are the essence of an organization; their full involvement, at all levels of the organization, enables their abilities to be applied for the organization’s benefit.</a:t>
            </a:r>
          </a:p>
          <a:p>
            <a:pPr algn="just"/>
            <a:r>
              <a:rPr lang="en-US" sz="3200" dirty="0"/>
              <a:t>Process approach. </a:t>
            </a:r>
          </a:p>
          <a:p>
            <a:pPr lvl="1" algn="just"/>
            <a:r>
              <a:rPr lang="en-US" sz="3200" dirty="0"/>
              <a:t>A desired result is achieved more efficiently when activities and resources are managed as a process.</a:t>
            </a:r>
          </a:p>
        </p:txBody>
      </p:sp>
    </p:spTree>
    <p:extLst>
      <p:ext uri="{BB962C8B-B14F-4D97-AF65-F5344CB8AC3E}">
        <p14:creationId xmlns:p14="http://schemas.microsoft.com/office/powerpoint/2010/main" val="428284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2D31F57-B79A-4CBC-93F5-D27CF2B1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Principles of SQA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2D089A3-4C00-4180-9B5A-1CC0B4E8D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916832"/>
            <a:ext cx="10198249" cy="4800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System approach to management. </a:t>
            </a:r>
          </a:p>
          <a:p>
            <a:pPr lvl="1" algn="just"/>
            <a:r>
              <a:rPr lang="en-US" sz="3600" dirty="0"/>
              <a:t>Identifying, understanding and managing processes, if viewed as a system, contributes to the organization’s effectiveness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290594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2D31F57-B79A-4CBC-93F5-D27CF2B1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Principles of SQA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82D089A3-4C00-4180-9B5A-1CC0B4E8D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988" y="2057400"/>
            <a:ext cx="10187491" cy="4800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Continual improvement. </a:t>
            </a:r>
          </a:p>
          <a:p>
            <a:pPr lvl="1" algn="just"/>
            <a:r>
              <a:rPr lang="en-US" sz="3600" dirty="0"/>
              <a:t>Ongoing improvement of overall performance should be high on the organization’s agenda.</a:t>
            </a:r>
          </a:p>
          <a:p>
            <a:pPr algn="just"/>
            <a:r>
              <a:rPr lang="en-US" sz="3600" dirty="0"/>
              <a:t>Mutually beneficial supplier relationships. </a:t>
            </a:r>
          </a:p>
          <a:p>
            <a:pPr lvl="1" algn="just"/>
            <a:r>
              <a:rPr lang="en-US" sz="3600" dirty="0"/>
              <a:t>An organization and its suppliers are interdependent; a mutually supportive relationship enhances the ability of both to create added value.</a:t>
            </a:r>
            <a:endParaRPr lang="en-US" alt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42168201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</TotalTime>
  <Words>244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Times</vt:lpstr>
      <vt:lpstr>Retrospect</vt:lpstr>
      <vt:lpstr>Software Quality Engineering –SEQE-345</vt:lpstr>
      <vt:lpstr>Agenda </vt:lpstr>
      <vt:lpstr>Principles of SQA</vt:lpstr>
      <vt:lpstr>Principles of SQA</vt:lpstr>
      <vt:lpstr>Principles of SQA</vt:lpstr>
      <vt:lpstr>Principles of SQA</vt:lpstr>
      <vt:lpstr>Principles of SQA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&amp; Staff Exit Policy</dc:title>
  <dc:creator>Microsoft account</dc:creator>
  <cp:lastModifiedBy>Nargis Fatima</cp:lastModifiedBy>
  <cp:revision>70</cp:revision>
  <dcterms:created xsi:type="dcterms:W3CDTF">2023-06-17T14:04:48Z</dcterms:created>
  <dcterms:modified xsi:type="dcterms:W3CDTF">2024-03-03T14:12:23Z</dcterms:modified>
</cp:coreProperties>
</file>