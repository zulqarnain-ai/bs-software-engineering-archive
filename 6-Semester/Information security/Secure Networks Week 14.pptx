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0"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4" r:id="rId39"/>
    <p:sldId id="295" r:id="rId40"/>
    <p:sldId id="296" r:id="rId41"/>
    <p:sldId id="297" r:id="rId42"/>
    <p:sldId id="298" r:id="rId43"/>
    <p:sldId id="29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519" autoAdjust="0"/>
  </p:normalViewPr>
  <p:slideViewPr>
    <p:cSldViewPr snapToGrid="0">
      <p:cViewPr varScale="1">
        <p:scale>
          <a:sx n="59" d="100"/>
          <a:sy n="59" d="100"/>
        </p:scale>
        <p:origin x="158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4879B1-CA1D-4B3C-8367-173399787405}" type="datetimeFigureOut">
              <a:rPr lang="en-US" smtClean="0"/>
              <a:t>11/8/2023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EF1055-33D1-4C42-83C4-12E0B18D9D25}" type="slidenum">
              <a:rPr lang="en-US" smtClean="0"/>
              <a:t>‹#›</a:t>
            </a:fld>
            <a:endParaRPr lang="en-US"/>
          </a:p>
        </p:txBody>
      </p:sp>
    </p:spTree>
    <p:extLst>
      <p:ext uri="{BB962C8B-B14F-4D97-AF65-F5344CB8AC3E}">
        <p14:creationId xmlns:p14="http://schemas.microsoft.com/office/powerpoint/2010/main" val="3036435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1. </a:t>
            </a:r>
            <a:r>
              <a:rPr lang="en-US" sz="1200" b="0" i="0" u="none" strike="noStrike" kern="1200" baseline="0" dirty="0">
                <a:solidFill>
                  <a:schemeClr val="tx1"/>
                </a:solidFill>
                <a:latin typeface="+mn-lt"/>
                <a:ea typeface="+mn-ea"/>
                <a:cs typeface="+mn-cs"/>
              </a:rPr>
              <a:t>Inbound mail from an external source is allowed (port 25 is for SMTP incoming).</a:t>
            </a:r>
          </a:p>
          <a:p>
            <a:r>
              <a:rPr lang="en-US" sz="1200" b="1" i="0" u="none" strike="noStrike" kern="1200" baseline="0" dirty="0">
                <a:solidFill>
                  <a:schemeClr val="tx1"/>
                </a:solidFill>
                <a:latin typeface="+mn-lt"/>
                <a:ea typeface="+mn-ea"/>
                <a:cs typeface="+mn-cs"/>
              </a:rPr>
              <a:t>2. </a:t>
            </a:r>
            <a:r>
              <a:rPr lang="en-US" sz="1200" b="0" i="0" u="none" strike="noStrike" kern="1200" baseline="0" dirty="0">
                <a:solidFill>
                  <a:schemeClr val="tx1"/>
                </a:solidFill>
                <a:latin typeface="+mn-lt"/>
                <a:ea typeface="+mn-ea"/>
                <a:cs typeface="+mn-cs"/>
              </a:rPr>
              <a:t>This rule is intended to allow a response to an inbound SMTP connection.</a:t>
            </a:r>
          </a:p>
          <a:p>
            <a:r>
              <a:rPr lang="en-US" sz="1200" b="1" i="0" u="none" strike="noStrike" kern="1200" baseline="0" dirty="0">
                <a:solidFill>
                  <a:schemeClr val="tx1"/>
                </a:solidFill>
                <a:latin typeface="+mn-lt"/>
                <a:ea typeface="+mn-ea"/>
                <a:cs typeface="+mn-cs"/>
              </a:rPr>
              <a:t>3. </a:t>
            </a:r>
            <a:r>
              <a:rPr lang="en-US" sz="1200" b="0" i="0" u="none" strike="noStrike" kern="1200" baseline="0" dirty="0">
                <a:solidFill>
                  <a:schemeClr val="tx1"/>
                </a:solidFill>
                <a:latin typeface="+mn-lt"/>
                <a:ea typeface="+mn-ea"/>
                <a:cs typeface="+mn-cs"/>
              </a:rPr>
              <a:t>Outbound mail to an external source is allowed</a:t>
            </a:r>
          </a:p>
          <a:p>
            <a:r>
              <a:rPr lang="en-US" sz="1200" b="1" i="0" u="none" strike="noStrike" kern="1200" baseline="0" dirty="0">
                <a:solidFill>
                  <a:schemeClr val="tx1"/>
                </a:solidFill>
                <a:latin typeface="+mn-lt"/>
                <a:ea typeface="+mn-ea"/>
                <a:cs typeface="+mn-cs"/>
              </a:rPr>
              <a:t>4. </a:t>
            </a:r>
            <a:r>
              <a:rPr lang="en-US" sz="1200" b="0" i="0" u="none" strike="noStrike" kern="1200" baseline="0" dirty="0">
                <a:solidFill>
                  <a:schemeClr val="tx1"/>
                </a:solidFill>
                <a:latin typeface="+mn-lt"/>
                <a:ea typeface="+mn-ea"/>
                <a:cs typeface="+mn-cs"/>
              </a:rPr>
              <a:t>This rule is intended to allow a response to an inbound SMTP connection.</a:t>
            </a:r>
          </a:p>
          <a:p>
            <a:r>
              <a:rPr lang="en-US" sz="1200" b="1" i="0" u="none" strike="noStrike" kern="1200" baseline="0" dirty="0">
                <a:solidFill>
                  <a:schemeClr val="tx1"/>
                </a:solidFill>
                <a:latin typeface="+mn-lt"/>
                <a:ea typeface="+mn-ea"/>
                <a:cs typeface="+mn-cs"/>
              </a:rPr>
              <a:t>5. </a:t>
            </a:r>
            <a:r>
              <a:rPr lang="en-US" sz="1200" b="0" i="0" u="none" strike="noStrike" kern="1200" baseline="0" dirty="0">
                <a:solidFill>
                  <a:schemeClr val="tx1"/>
                </a:solidFill>
                <a:latin typeface="+mn-lt"/>
                <a:ea typeface="+mn-ea"/>
                <a:cs typeface="+mn-cs"/>
              </a:rPr>
              <a:t>This is an explicit statement of the default policy. All rule sets include this rule</a:t>
            </a:r>
          </a:p>
          <a:p>
            <a:r>
              <a:rPr lang="en-US" sz="1200" b="0" i="0" u="none" strike="noStrike" kern="1200" baseline="0" dirty="0">
                <a:solidFill>
                  <a:schemeClr val="tx1"/>
                </a:solidFill>
                <a:latin typeface="+mn-lt"/>
                <a:ea typeface="+mn-ea"/>
                <a:cs typeface="+mn-cs"/>
              </a:rPr>
              <a:t>implicitly as the last rule.</a:t>
            </a:r>
            <a:endParaRPr lang="en-US" dirty="0"/>
          </a:p>
        </p:txBody>
      </p:sp>
      <p:sp>
        <p:nvSpPr>
          <p:cNvPr id="4" name="Slide Number Placeholder 3"/>
          <p:cNvSpPr>
            <a:spLocks noGrp="1"/>
          </p:cNvSpPr>
          <p:nvPr>
            <p:ph type="sldNum" sz="quarter" idx="10"/>
          </p:nvPr>
        </p:nvSpPr>
        <p:spPr/>
        <p:txBody>
          <a:bodyPr/>
          <a:lstStyle/>
          <a:p>
            <a:fld id="{65EF1055-33D1-4C42-83C4-12E0B18D9D25}" type="slidenum">
              <a:rPr lang="en-US" smtClean="0"/>
              <a:t>13</a:t>
            </a:fld>
            <a:endParaRPr lang="en-US"/>
          </a:p>
        </p:txBody>
      </p:sp>
    </p:spTree>
    <p:extLst>
      <p:ext uri="{BB962C8B-B14F-4D97-AF65-F5344CB8AC3E}">
        <p14:creationId xmlns:p14="http://schemas.microsoft.com/office/powerpoint/2010/main" val="870553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1. </a:t>
            </a:r>
            <a:r>
              <a:rPr lang="en-US" sz="1200" b="0" i="0" u="none" strike="noStrike" kern="1200" baseline="0" dirty="0">
                <a:solidFill>
                  <a:schemeClr val="tx1"/>
                </a:solidFill>
                <a:latin typeface="+mn-lt"/>
                <a:ea typeface="+mn-ea"/>
                <a:cs typeface="+mn-cs"/>
              </a:rPr>
              <a:t>Inbound mail from an external source is allowed (port 25 is for SMTP incoming).</a:t>
            </a:r>
          </a:p>
          <a:p>
            <a:r>
              <a:rPr lang="en-US" sz="1200" b="1" i="0" u="none" strike="noStrike" kern="1200" baseline="0" dirty="0">
                <a:solidFill>
                  <a:schemeClr val="tx1"/>
                </a:solidFill>
                <a:latin typeface="+mn-lt"/>
                <a:ea typeface="+mn-ea"/>
                <a:cs typeface="+mn-cs"/>
              </a:rPr>
              <a:t>2. </a:t>
            </a:r>
            <a:r>
              <a:rPr lang="en-US" sz="1200" b="0" i="0" u="none" strike="noStrike" kern="1200" baseline="0" dirty="0">
                <a:solidFill>
                  <a:schemeClr val="tx1"/>
                </a:solidFill>
                <a:latin typeface="+mn-lt"/>
                <a:ea typeface="+mn-ea"/>
                <a:cs typeface="+mn-cs"/>
              </a:rPr>
              <a:t>This rule is intended to allow a response to an inbound SMTP connection.</a:t>
            </a:r>
          </a:p>
          <a:p>
            <a:r>
              <a:rPr lang="en-US" sz="1200" b="1" i="0" u="none" strike="noStrike" kern="1200" baseline="0" dirty="0">
                <a:solidFill>
                  <a:schemeClr val="tx1"/>
                </a:solidFill>
                <a:latin typeface="+mn-lt"/>
                <a:ea typeface="+mn-ea"/>
                <a:cs typeface="+mn-cs"/>
              </a:rPr>
              <a:t>3. </a:t>
            </a:r>
            <a:r>
              <a:rPr lang="en-US" sz="1200" b="0" i="0" u="none" strike="noStrike" kern="1200" baseline="0" dirty="0">
                <a:solidFill>
                  <a:schemeClr val="tx1"/>
                </a:solidFill>
                <a:latin typeface="+mn-lt"/>
                <a:ea typeface="+mn-ea"/>
                <a:cs typeface="+mn-cs"/>
              </a:rPr>
              <a:t>Outbound mail to an external source is allowed</a:t>
            </a:r>
          </a:p>
          <a:p>
            <a:r>
              <a:rPr lang="en-US" sz="1200" b="1" i="0" u="none" strike="noStrike" kern="1200" baseline="0" dirty="0">
                <a:solidFill>
                  <a:schemeClr val="tx1"/>
                </a:solidFill>
                <a:latin typeface="+mn-lt"/>
                <a:ea typeface="+mn-ea"/>
                <a:cs typeface="+mn-cs"/>
              </a:rPr>
              <a:t>4. </a:t>
            </a:r>
            <a:r>
              <a:rPr lang="en-US" sz="1200" b="0" i="0" u="none" strike="noStrike" kern="1200" baseline="0" dirty="0">
                <a:solidFill>
                  <a:schemeClr val="tx1"/>
                </a:solidFill>
                <a:latin typeface="+mn-lt"/>
                <a:ea typeface="+mn-ea"/>
                <a:cs typeface="+mn-cs"/>
              </a:rPr>
              <a:t>This rule is intended to allow a response to an inbound SMTP connection.</a:t>
            </a:r>
          </a:p>
          <a:p>
            <a:r>
              <a:rPr lang="en-US" sz="1200" b="1" i="0" u="none" strike="noStrike" kern="1200" baseline="0" dirty="0">
                <a:solidFill>
                  <a:schemeClr val="tx1"/>
                </a:solidFill>
                <a:latin typeface="+mn-lt"/>
                <a:ea typeface="+mn-ea"/>
                <a:cs typeface="+mn-cs"/>
              </a:rPr>
              <a:t>5. </a:t>
            </a:r>
            <a:r>
              <a:rPr lang="en-US" sz="1200" b="0" i="0" u="none" strike="noStrike" kern="1200" baseline="0" dirty="0">
                <a:solidFill>
                  <a:schemeClr val="tx1"/>
                </a:solidFill>
                <a:latin typeface="+mn-lt"/>
                <a:ea typeface="+mn-ea"/>
                <a:cs typeface="+mn-cs"/>
              </a:rPr>
              <a:t>This is an explicit statement of the default policy. All rule sets include this rule</a:t>
            </a:r>
          </a:p>
          <a:p>
            <a:r>
              <a:rPr lang="en-US" sz="1200" b="0" i="0" u="none" strike="noStrike" kern="1200" baseline="0">
                <a:solidFill>
                  <a:schemeClr val="tx1"/>
                </a:solidFill>
                <a:latin typeface="+mn-lt"/>
                <a:ea typeface="+mn-ea"/>
                <a:cs typeface="+mn-cs"/>
              </a:rPr>
              <a:t>implicitly as the last rule.</a:t>
            </a:r>
            <a:endParaRPr lang="en-US"/>
          </a:p>
        </p:txBody>
      </p:sp>
      <p:sp>
        <p:nvSpPr>
          <p:cNvPr id="4" name="Slide Number Placeholder 3"/>
          <p:cNvSpPr>
            <a:spLocks noGrp="1"/>
          </p:cNvSpPr>
          <p:nvPr>
            <p:ph type="sldNum" sz="quarter" idx="10"/>
          </p:nvPr>
        </p:nvSpPr>
        <p:spPr/>
        <p:txBody>
          <a:bodyPr/>
          <a:lstStyle/>
          <a:p>
            <a:fld id="{65EF1055-33D1-4C42-83C4-12E0B18D9D25}" type="slidenum">
              <a:rPr lang="en-US" smtClean="0"/>
              <a:t>14</a:t>
            </a:fld>
            <a:endParaRPr lang="en-US"/>
          </a:p>
        </p:txBody>
      </p:sp>
    </p:spTree>
    <p:extLst>
      <p:ext uri="{BB962C8B-B14F-4D97-AF65-F5344CB8AC3E}">
        <p14:creationId xmlns:p14="http://schemas.microsoft.com/office/powerpoint/2010/main" val="2881042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1. </a:t>
            </a:r>
            <a:r>
              <a:rPr lang="en-US" sz="1200" b="0" i="0" u="none" strike="noStrike" kern="1200" baseline="0" dirty="0">
                <a:solidFill>
                  <a:schemeClr val="tx1"/>
                </a:solidFill>
                <a:latin typeface="+mn-lt"/>
                <a:ea typeface="+mn-ea"/>
                <a:cs typeface="+mn-cs"/>
              </a:rPr>
              <a:t>Inbound mail from an external source is allowed (port 25 is for SMTP incoming).</a:t>
            </a:r>
          </a:p>
          <a:p>
            <a:r>
              <a:rPr lang="en-US" sz="1200" b="1" i="0" u="none" strike="noStrike" kern="1200" baseline="0" dirty="0">
                <a:solidFill>
                  <a:schemeClr val="tx1"/>
                </a:solidFill>
                <a:latin typeface="+mn-lt"/>
                <a:ea typeface="+mn-ea"/>
                <a:cs typeface="+mn-cs"/>
              </a:rPr>
              <a:t>2. </a:t>
            </a:r>
            <a:r>
              <a:rPr lang="en-US" sz="1200" b="0" i="0" u="none" strike="noStrike" kern="1200" baseline="0" dirty="0">
                <a:solidFill>
                  <a:schemeClr val="tx1"/>
                </a:solidFill>
                <a:latin typeface="+mn-lt"/>
                <a:ea typeface="+mn-ea"/>
                <a:cs typeface="+mn-cs"/>
              </a:rPr>
              <a:t>This rule is intended to allow a response to an inbound SMTP connection.</a:t>
            </a:r>
          </a:p>
          <a:p>
            <a:r>
              <a:rPr lang="en-US" sz="1200" b="1" i="0" u="none" strike="noStrike" kern="1200" baseline="0" dirty="0">
                <a:solidFill>
                  <a:schemeClr val="tx1"/>
                </a:solidFill>
                <a:latin typeface="+mn-lt"/>
                <a:ea typeface="+mn-ea"/>
                <a:cs typeface="+mn-cs"/>
              </a:rPr>
              <a:t>3. </a:t>
            </a:r>
            <a:r>
              <a:rPr lang="en-US" sz="1200" b="0" i="0" u="none" strike="noStrike" kern="1200" baseline="0" dirty="0">
                <a:solidFill>
                  <a:schemeClr val="tx1"/>
                </a:solidFill>
                <a:latin typeface="+mn-lt"/>
                <a:ea typeface="+mn-ea"/>
                <a:cs typeface="+mn-cs"/>
              </a:rPr>
              <a:t>Outbound mail to an external source is allowed</a:t>
            </a:r>
          </a:p>
          <a:p>
            <a:r>
              <a:rPr lang="en-US" sz="1200" b="1" i="0" u="none" strike="noStrike" kern="1200" baseline="0" dirty="0">
                <a:solidFill>
                  <a:schemeClr val="tx1"/>
                </a:solidFill>
                <a:latin typeface="+mn-lt"/>
                <a:ea typeface="+mn-ea"/>
                <a:cs typeface="+mn-cs"/>
              </a:rPr>
              <a:t>4. </a:t>
            </a:r>
            <a:r>
              <a:rPr lang="en-US" sz="1200" b="0" i="0" u="none" strike="noStrike" kern="1200" baseline="0" dirty="0">
                <a:solidFill>
                  <a:schemeClr val="tx1"/>
                </a:solidFill>
                <a:latin typeface="+mn-lt"/>
                <a:ea typeface="+mn-ea"/>
                <a:cs typeface="+mn-cs"/>
              </a:rPr>
              <a:t>This rule is intended to allow a response to an inbound SMTP connection.</a:t>
            </a:r>
          </a:p>
          <a:p>
            <a:r>
              <a:rPr lang="en-US" sz="1200" b="1" i="0" u="none" strike="noStrike" kern="1200" baseline="0" dirty="0">
                <a:solidFill>
                  <a:schemeClr val="tx1"/>
                </a:solidFill>
                <a:latin typeface="+mn-lt"/>
                <a:ea typeface="+mn-ea"/>
                <a:cs typeface="+mn-cs"/>
              </a:rPr>
              <a:t>5. </a:t>
            </a:r>
            <a:r>
              <a:rPr lang="en-US" sz="1200" b="0" i="0" u="none" strike="noStrike" kern="1200" baseline="0" dirty="0">
                <a:solidFill>
                  <a:schemeClr val="tx1"/>
                </a:solidFill>
                <a:latin typeface="+mn-lt"/>
                <a:ea typeface="+mn-ea"/>
                <a:cs typeface="+mn-cs"/>
              </a:rPr>
              <a:t>This is an explicit statement of the default policy. All rule sets include this rule</a:t>
            </a:r>
          </a:p>
          <a:p>
            <a:r>
              <a:rPr lang="en-US" sz="1200" b="0" i="0" u="none" strike="noStrike" kern="1200" baseline="0">
                <a:solidFill>
                  <a:schemeClr val="tx1"/>
                </a:solidFill>
                <a:latin typeface="+mn-lt"/>
                <a:ea typeface="+mn-ea"/>
                <a:cs typeface="+mn-cs"/>
              </a:rPr>
              <a:t>implicitly as the last rule.</a:t>
            </a:r>
            <a:endParaRPr lang="en-US"/>
          </a:p>
        </p:txBody>
      </p:sp>
      <p:sp>
        <p:nvSpPr>
          <p:cNvPr id="4" name="Slide Number Placeholder 3"/>
          <p:cNvSpPr>
            <a:spLocks noGrp="1"/>
          </p:cNvSpPr>
          <p:nvPr>
            <p:ph type="sldNum" sz="quarter" idx="10"/>
          </p:nvPr>
        </p:nvSpPr>
        <p:spPr/>
        <p:txBody>
          <a:bodyPr/>
          <a:lstStyle/>
          <a:p>
            <a:fld id="{65EF1055-33D1-4C42-83C4-12E0B18D9D25}" type="slidenum">
              <a:rPr lang="en-US" smtClean="0"/>
              <a:t>15</a:t>
            </a:fld>
            <a:endParaRPr lang="en-US"/>
          </a:p>
        </p:txBody>
      </p:sp>
    </p:spTree>
    <p:extLst>
      <p:ext uri="{BB962C8B-B14F-4D97-AF65-F5344CB8AC3E}">
        <p14:creationId xmlns:p14="http://schemas.microsoft.com/office/powerpoint/2010/main" val="1923651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1. </a:t>
            </a:r>
            <a:r>
              <a:rPr lang="en-US" sz="1200" b="0" i="0" u="none" strike="noStrike" kern="1200" baseline="0" dirty="0">
                <a:solidFill>
                  <a:schemeClr val="tx1"/>
                </a:solidFill>
                <a:latin typeface="+mn-lt"/>
                <a:ea typeface="+mn-ea"/>
                <a:cs typeface="+mn-cs"/>
              </a:rPr>
              <a:t>Inbound mail from an external source is allowed (port 25 is for SMTP incoming).</a:t>
            </a:r>
          </a:p>
          <a:p>
            <a:r>
              <a:rPr lang="en-US" sz="1200" b="1" i="0" u="none" strike="noStrike" kern="1200" baseline="0" dirty="0">
                <a:solidFill>
                  <a:schemeClr val="tx1"/>
                </a:solidFill>
                <a:latin typeface="+mn-lt"/>
                <a:ea typeface="+mn-ea"/>
                <a:cs typeface="+mn-cs"/>
              </a:rPr>
              <a:t>2. </a:t>
            </a:r>
            <a:r>
              <a:rPr lang="en-US" sz="1200" b="0" i="0" u="none" strike="noStrike" kern="1200" baseline="0" dirty="0">
                <a:solidFill>
                  <a:schemeClr val="tx1"/>
                </a:solidFill>
                <a:latin typeface="+mn-lt"/>
                <a:ea typeface="+mn-ea"/>
                <a:cs typeface="+mn-cs"/>
              </a:rPr>
              <a:t>This rule is intended to allow a response to an inbound SMTP connection.</a:t>
            </a:r>
          </a:p>
          <a:p>
            <a:r>
              <a:rPr lang="en-US" sz="1200" b="1" i="0" u="none" strike="noStrike" kern="1200" baseline="0" dirty="0">
                <a:solidFill>
                  <a:schemeClr val="tx1"/>
                </a:solidFill>
                <a:latin typeface="+mn-lt"/>
                <a:ea typeface="+mn-ea"/>
                <a:cs typeface="+mn-cs"/>
              </a:rPr>
              <a:t>3. </a:t>
            </a:r>
            <a:r>
              <a:rPr lang="en-US" sz="1200" b="0" i="0" u="none" strike="noStrike" kern="1200" baseline="0" dirty="0">
                <a:solidFill>
                  <a:schemeClr val="tx1"/>
                </a:solidFill>
                <a:latin typeface="+mn-lt"/>
                <a:ea typeface="+mn-ea"/>
                <a:cs typeface="+mn-cs"/>
              </a:rPr>
              <a:t>Outbound mail to an external source is allowed</a:t>
            </a:r>
          </a:p>
          <a:p>
            <a:r>
              <a:rPr lang="en-US" sz="1200" b="1" i="0" u="none" strike="noStrike" kern="1200" baseline="0" dirty="0">
                <a:solidFill>
                  <a:schemeClr val="tx1"/>
                </a:solidFill>
                <a:latin typeface="+mn-lt"/>
                <a:ea typeface="+mn-ea"/>
                <a:cs typeface="+mn-cs"/>
              </a:rPr>
              <a:t>4. </a:t>
            </a:r>
            <a:r>
              <a:rPr lang="en-US" sz="1200" b="0" i="0" u="none" strike="noStrike" kern="1200" baseline="0" dirty="0">
                <a:solidFill>
                  <a:schemeClr val="tx1"/>
                </a:solidFill>
                <a:latin typeface="+mn-lt"/>
                <a:ea typeface="+mn-ea"/>
                <a:cs typeface="+mn-cs"/>
              </a:rPr>
              <a:t>This rule is intended to allow a response to an inbound SMTP connection.</a:t>
            </a:r>
          </a:p>
          <a:p>
            <a:r>
              <a:rPr lang="en-US" sz="1200" b="1" i="0" u="none" strike="noStrike" kern="1200" baseline="0" dirty="0">
                <a:solidFill>
                  <a:schemeClr val="tx1"/>
                </a:solidFill>
                <a:latin typeface="+mn-lt"/>
                <a:ea typeface="+mn-ea"/>
                <a:cs typeface="+mn-cs"/>
              </a:rPr>
              <a:t>5. </a:t>
            </a:r>
            <a:r>
              <a:rPr lang="en-US" sz="1200" b="0" i="0" u="none" strike="noStrike" kern="1200" baseline="0" dirty="0">
                <a:solidFill>
                  <a:schemeClr val="tx1"/>
                </a:solidFill>
                <a:latin typeface="+mn-lt"/>
                <a:ea typeface="+mn-ea"/>
                <a:cs typeface="+mn-cs"/>
              </a:rPr>
              <a:t>This is an explicit statement of the default policy. All rule sets include this rule</a:t>
            </a:r>
          </a:p>
          <a:p>
            <a:r>
              <a:rPr lang="en-US" sz="1200" b="0" i="0" u="none" strike="noStrike" kern="1200" baseline="0" dirty="0">
                <a:solidFill>
                  <a:schemeClr val="tx1"/>
                </a:solidFill>
                <a:latin typeface="+mn-lt"/>
                <a:ea typeface="+mn-ea"/>
                <a:cs typeface="+mn-cs"/>
              </a:rPr>
              <a:t>implicitly as the last rule.</a:t>
            </a:r>
            <a:endParaRPr lang="en-US" dirty="0"/>
          </a:p>
        </p:txBody>
      </p:sp>
      <p:sp>
        <p:nvSpPr>
          <p:cNvPr id="4" name="Slide Number Placeholder 3"/>
          <p:cNvSpPr>
            <a:spLocks noGrp="1"/>
          </p:cNvSpPr>
          <p:nvPr>
            <p:ph type="sldNum" sz="quarter" idx="10"/>
          </p:nvPr>
        </p:nvSpPr>
        <p:spPr/>
        <p:txBody>
          <a:bodyPr/>
          <a:lstStyle/>
          <a:p>
            <a:fld id="{65EF1055-33D1-4C42-83C4-12E0B18D9D25}" type="slidenum">
              <a:rPr lang="en-US" smtClean="0"/>
              <a:t>16</a:t>
            </a:fld>
            <a:endParaRPr lang="en-US"/>
          </a:p>
        </p:txBody>
      </p:sp>
    </p:spTree>
    <p:extLst>
      <p:ext uri="{BB962C8B-B14F-4D97-AF65-F5344CB8AC3E}">
        <p14:creationId xmlns:p14="http://schemas.microsoft.com/office/powerpoint/2010/main" val="2480936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5EF1055-33D1-4C42-83C4-12E0B18D9D25}" type="slidenum">
              <a:rPr lang="en-US" smtClean="0"/>
              <a:t>42</a:t>
            </a:fld>
            <a:endParaRPr lang="en-US"/>
          </a:p>
        </p:txBody>
      </p:sp>
    </p:spTree>
    <p:extLst>
      <p:ext uri="{BB962C8B-B14F-4D97-AF65-F5344CB8AC3E}">
        <p14:creationId xmlns:p14="http://schemas.microsoft.com/office/powerpoint/2010/main" val="3923497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E36C9D4-E6D6-492C-A653-18533BAB1AF7}" type="datetimeFigureOut">
              <a:rPr lang="en-US" smtClean="0"/>
              <a:t>11/8/2023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809874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36C9D4-E6D6-492C-A653-18533BAB1AF7}"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1913949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36C9D4-E6D6-492C-A653-18533BAB1AF7}"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1585696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36C9D4-E6D6-492C-A653-18533BAB1AF7}" type="datetimeFigureOut">
              <a:rPr lang="en-US" smtClean="0"/>
              <a:t>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2613547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36C9D4-E6D6-492C-A653-18533BAB1AF7}" type="datetimeFigureOut">
              <a:rPr lang="en-US" smtClean="0"/>
              <a:t>11/8/2023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2154413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36C9D4-E6D6-492C-A653-18533BAB1AF7}" type="datetimeFigureOut">
              <a:rPr lang="en-US" smtClean="0"/>
              <a:t>11/8/2023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4001403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36C9D4-E6D6-492C-A653-18533BAB1AF7}" type="datetimeFigureOut">
              <a:rPr lang="en-US" smtClean="0"/>
              <a:t>11/8/2023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419561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36C9D4-E6D6-492C-A653-18533BAB1AF7}" type="datetimeFigureOut">
              <a:rPr lang="en-US" smtClean="0"/>
              <a:t>11/8/2023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1162157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36C9D4-E6D6-492C-A653-18533BAB1AF7}" type="datetimeFigureOut">
              <a:rPr lang="en-US" smtClean="0"/>
              <a:t>11/8/2023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1249462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36C9D4-E6D6-492C-A653-18533BAB1AF7}" type="datetimeFigureOut">
              <a:rPr lang="en-US" smtClean="0"/>
              <a:t>11/8/2023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3823137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36C9D4-E6D6-492C-A653-18533BAB1AF7}"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2304293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36C9D4-E6D6-492C-A653-18533BAB1AF7}"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1378434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36C9D4-E6D6-492C-A653-18533BAB1AF7}"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1960632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36C9D4-E6D6-492C-A653-18533BAB1AF7}" type="datetimeFigureOut">
              <a:rPr lang="en-US" smtClean="0"/>
              <a:t>11/8/2023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2042285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36C9D4-E6D6-492C-A653-18533BAB1AF7}" type="datetimeFigureOut">
              <a:rPr lang="en-US" smtClean="0"/>
              <a:t>11/8/2023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4238121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E36C9D4-E6D6-492C-A653-18533BAB1AF7}"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32030073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E36C9D4-E6D6-492C-A653-18533BAB1AF7}" type="datetimeFigureOut">
              <a:rPr lang="en-US" smtClean="0"/>
              <a:t>11/8/2023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A5E831D-D232-41DC-8D0F-EE19E44AF531}" type="slidenum">
              <a:rPr lang="en-US" smtClean="0"/>
              <a:t>‹#›</a:t>
            </a:fld>
            <a:endParaRPr lang="en-US"/>
          </a:p>
        </p:txBody>
      </p:sp>
    </p:spTree>
    <p:extLst>
      <p:ext uri="{BB962C8B-B14F-4D97-AF65-F5344CB8AC3E}">
        <p14:creationId xmlns:p14="http://schemas.microsoft.com/office/powerpoint/2010/main" val="1242308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E36C9D4-E6D6-492C-A653-18533BAB1AF7}" type="datetimeFigureOut">
              <a:rPr lang="en-US" smtClean="0"/>
              <a:t>11/8/2023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A5E831D-D232-41DC-8D0F-EE19E44AF531}" type="slidenum">
              <a:rPr lang="en-US" smtClean="0"/>
              <a:t>‹#›</a:t>
            </a:fld>
            <a:endParaRPr lang="en-US"/>
          </a:p>
        </p:txBody>
      </p:sp>
    </p:spTree>
    <p:extLst>
      <p:ext uri="{BB962C8B-B14F-4D97-AF65-F5344CB8AC3E}">
        <p14:creationId xmlns:p14="http://schemas.microsoft.com/office/powerpoint/2010/main" val="23015148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Secure Networks </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784858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Firewalls</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023614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Evolution of Information Systems </a:t>
            </a:r>
          </a:p>
        </p:txBody>
      </p:sp>
      <p:sp>
        <p:nvSpPr>
          <p:cNvPr id="5" name="Content Placeholder 4"/>
          <p:cNvSpPr>
            <a:spLocks noGrp="1"/>
          </p:cNvSpPr>
          <p:nvPr>
            <p:ph idx="1"/>
          </p:nvPr>
        </p:nvSpPr>
        <p:spPr/>
        <p:txBody>
          <a:bodyPr>
            <a:normAutofit/>
          </a:bodyPr>
          <a:lstStyle/>
          <a:p>
            <a:pPr algn="just"/>
            <a:r>
              <a:rPr lang="en-US" dirty="0"/>
              <a:t>Centralized data processing system, with a central mainframe supporting a number of directly connected terminals.</a:t>
            </a:r>
          </a:p>
          <a:p>
            <a:pPr algn="just"/>
            <a:r>
              <a:rPr lang="en-US" dirty="0"/>
              <a:t>Local area networks (LANs) interconnecting PCs and terminals to each other and the mainframe.</a:t>
            </a:r>
          </a:p>
          <a:p>
            <a:pPr algn="just"/>
            <a:r>
              <a:rPr lang="en-US" dirty="0"/>
              <a:t>Premises network, consisting of a number of LANs, interconnecting PCs, servers, and perhaps a mainframe or two.</a:t>
            </a:r>
          </a:p>
          <a:p>
            <a:pPr algn="just"/>
            <a:r>
              <a:rPr lang="en-US" dirty="0"/>
              <a:t>Enterprise-wide network, consisting of multiple, geographically distributed premises networks interconnected by a private wide area network (WAN).</a:t>
            </a:r>
          </a:p>
          <a:p>
            <a:pPr algn="just"/>
            <a:r>
              <a:rPr lang="en-US" dirty="0"/>
              <a:t>Internet connectivity, in which the various premises networks all hook into the Internet and may or may not also be connected by a private WAN.</a:t>
            </a:r>
          </a:p>
        </p:txBody>
      </p:sp>
    </p:spTree>
    <p:extLst>
      <p:ext uri="{BB962C8B-B14F-4D97-AF65-F5344CB8AC3E}">
        <p14:creationId xmlns:p14="http://schemas.microsoft.com/office/powerpoint/2010/main" val="3397554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need of firewall </a:t>
            </a:r>
          </a:p>
        </p:txBody>
      </p:sp>
      <p:sp>
        <p:nvSpPr>
          <p:cNvPr id="3" name="Content Placeholder 2"/>
          <p:cNvSpPr>
            <a:spLocks noGrp="1"/>
          </p:cNvSpPr>
          <p:nvPr>
            <p:ph idx="1"/>
          </p:nvPr>
        </p:nvSpPr>
        <p:spPr>
          <a:xfrm>
            <a:off x="1154954" y="2603500"/>
            <a:ext cx="8825659" cy="3783652"/>
          </a:xfrm>
        </p:spPr>
        <p:txBody>
          <a:bodyPr>
            <a:normAutofit/>
          </a:bodyPr>
          <a:lstStyle/>
          <a:p>
            <a:pPr algn="just"/>
            <a:r>
              <a:rPr lang="en-US" dirty="0"/>
              <a:t>Internet access provides benefits to the organization, it enables the outside world to reach and interact with local network assets</a:t>
            </a:r>
          </a:p>
          <a:p>
            <a:pPr lvl="1" algn="just"/>
            <a:r>
              <a:rPr lang="en-US" dirty="0"/>
              <a:t>a threat to the organization</a:t>
            </a:r>
          </a:p>
          <a:p>
            <a:pPr algn="just"/>
            <a:r>
              <a:rPr lang="en-US" dirty="0"/>
              <a:t>it is possible to equip each workstation and server on the premises network with strong security features</a:t>
            </a:r>
          </a:p>
          <a:p>
            <a:pPr lvl="1" algn="just"/>
            <a:r>
              <a:rPr lang="en-US" dirty="0"/>
              <a:t>Not sufficient and Not cost effective</a:t>
            </a:r>
          </a:p>
          <a:p>
            <a:pPr algn="just"/>
            <a:r>
              <a:rPr lang="en-US" dirty="0"/>
              <a:t>When a security flaw is discovered, each potentially affected system must be upgraded to fix that flaw.</a:t>
            </a:r>
          </a:p>
          <a:p>
            <a:pPr lvl="1" algn="just"/>
            <a:r>
              <a:rPr lang="en-US" dirty="0"/>
              <a:t>scalable configuration management</a:t>
            </a:r>
          </a:p>
          <a:p>
            <a:pPr algn="just"/>
            <a:r>
              <a:rPr lang="en-US" dirty="0"/>
              <a:t>A widely accepted alternative or at least complement to host-based security services is the firewall </a:t>
            </a:r>
          </a:p>
        </p:txBody>
      </p:sp>
    </p:spTree>
    <p:extLst>
      <p:ext uri="{BB962C8B-B14F-4D97-AF65-F5344CB8AC3E}">
        <p14:creationId xmlns:p14="http://schemas.microsoft.com/office/powerpoint/2010/main" val="2740380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Firewall Characteristics and Access Policy</a:t>
            </a:r>
          </a:p>
        </p:txBody>
      </p:sp>
      <p:sp>
        <p:nvSpPr>
          <p:cNvPr id="3" name="Content Placeholder 2"/>
          <p:cNvSpPr>
            <a:spLocks noGrp="1"/>
          </p:cNvSpPr>
          <p:nvPr>
            <p:ph idx="1"/>
          </p:nvPr>
        </p:nvSpPr>
        <p:spPr/>
        <p:txBody>
          <a:bodyPr>
            <a:normAutofit/>
          </a:bodyPr>
          <a:lstStyle/>
          <a:p>
            <a:pPr algn="just"/>
            <a:r>
              <a:rPr lang="en-US" dirty="0"/>
              <a:t>All traffic from inside to outside, and vice versa, must pass through the firewall. This is achieved by physically blocking all access to the local network except via the firewall.</a:t>
            </a:r>
          </a:p>
          <a:p>
            <a:pPr algn="just"/>
            <a:r>
              <a:rPr lang="en-US" dirty="0"/>
              <a:t>Only authorized traffic, as defined by the local security policy, will be allowed to pass. Various types of firewalls are used, which implement various types of security policies.</a:t>
            </a:r>
          </a:p>
          <a:p>
            <a:pPr algn="just"/>
            <a:r>
              <a:rPr lang="en-US" dirty="0"/>
              <a:t>The firewall itself is immune to penetration. This implies the use of a hardened system with a secured operating system. Trusted computer systems are suitable for hosting a firewall and often required in government applications.</a:t>
            </a:r>
          </a:p>
        </p:txBody>
      </p:sp>
    </p:spTree>
    <p:extLst>
      <p:ext uri="{BB962C8B-B14F-4D97-AF65-F5344CB8AC3E}">
        <p14:creationId xmlns:p14="http://schemas.microsoft.com/office/powerpoint/2010/main" val="3992973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use to filter traffic </a:t>
            </a:r>
          </a:p>
        </p:txBody>
      </p:sp>
      <p:sp>
        <p:nvSpPr>
          <p:cNvPr id="3" name="Content Placeholder 2"/>
          <p:cNvSpPr>
            <a:spLocks noGrp="1"/>
          </p:cNvSpPr>
          <p:nvPr>
            <p:ph idx="1"/>
          </p:nvPr>
        </p:nvSpPr>
        <p:spPr>
          <a:xfrm>
            <a:off x="1154954" y="2603499"/>
            <a:ext cx="8825659" cy="3742709"/>
          </a:xfrm>
        </p:spPr>
        <p:txBody>
          <a:bodyPr>
            <a:normAutofit fontScale="92500" lnSpcReduction="10000"/>
          </a:bodyPr>
          <a:lstStyle/>
          <a:p>
            <a:pPr algn="just"/>
            <a:r>
              <a:rPr lang="en-US" b="1" dirty="0"/>
              <a:t>IP Address and Protocol Values: </a:t>
            </a:r>
            <a:r>
              <a:rPr lang="en-US" dirty="0"/>
              <a:t>Controls access based on the source or destination addresses and port numbers, direction of flow being inbound or outbound, and other network and transport layer characteristics.</a:t>
            </a:r>
          </a:p>
          <a:p>
            <a:pPr algn="just"/>
            <a:r>
              <a:rPr lang="en-US" b="1" dirty="0"/>
              <a:t>Application Protocol: </a:t>
            </a:r>
            <a:r>
              <a:rPr lang="en-US" dirty="0"/>
              <a:t>Controls access on the basis of authorized application protocol data. This type of filtering is used by an application-level gateway that relays and monitors the exchange of information for specific application protocols</a:t>
            </a:r>
          </a:p>
          <a:p>
            <a:pPr algn="just"/>
            <a:r>
              <a:rPr lang="en-US" b="1" dirty="0"/>
              <a:t>User Identity: </a:t>
            </a:r>
            <a:r>
              <a:rPr lang="en-US" dirty="0"/>
              <a:t>Controls access based on the users identity, typically for inside users who identify themselves using some form of secure authentication technology, such as </a:t>
            </a:r>
            <a:r>
              <a:rPr lang="en-US" dirty="0" err="1"/>
              <a:t>IPSec</a:t>
            </a:r>
            <a:endParaRPr lang="en-US" dirty="0"/>
          </a:p>
          <a:p>
            <a:pPr algn="just"/>
            <a:r>
              <a:rPr lang="en-US" b="1" dirty="0"/>
              <a:t>Network Activity: </a:t>
            </a:r>
            <a:r>
              <a:rPr lang="en-US" dirty="0"/>
              <a:t>Controls access based on considerations such as the time or request, e.g., only in business hours; rate of requests, e.g., to detect scanning attempts; or other activity patterns.</a:t>
            </a:r>
          </a:p>
        </p:txBody>
      </p:sp>
    </p:spTree>
    <p:extLst>
      <p:ext uri="{BB962C8B-B14F-4D97-AF65-F5344CB8AC3E}">
        <p14:creationId xmlns:p14="http://schemas.microsoft.com/office/powerpoint/2010/main" val="614029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Firewall Capabilities </a:t>
            </a:r>
          </a:p>
        </p:txBody>
      </p:sp>
      <p:sp>
        <p:nvSpPr>
          <p:cNvPr id="3" name="Content Placeholder 2"/>
          <p:cNvSpPr>
            <a:spLocks noGrp="1"/>
          </p:cNvSpPr>
          <p:nvPr>
            <p:ph idx="1"/>
          </p:nvPr>
        </p:nvSpPr>
        <p:spPr/>
        <p:txBody>
          <a:bodyPr/>
          <a:lstStyle/>
          <a:p>
            <a:pPr algn="just"/>
            <a:r>
              <a:rPr lang="en-US" dirty="0"/>
              <a:t>A firewall defines a single choke point that attempts to keep unauthorized users out of the protected network, prohibit potentially vulnerable services from entering or leaving the network, and provide protection from various kinds of IP spoofing and routing attacks</a:t>
            </a:r>
          </a:p>
          <a:p>
            <a:r>
              <a:rPr lang="en-US" dirty="0"/>
              <a:t>A firewall provides a location for monitoring security-related events. Audits and alarms can be implemented on the firewall system.</a:t>
            </a:r>
          </a:p>
          <a:p>
            <a:r>
              <a:rPr lang="en-US" dirty="0"/>
              <a:t>A firewall is a convenient platform for several Internet functions that are not security related i.e. NAT, audit logs </a:t>
            </a:r>
          </a:p>
          <a:p>
            <a:r>
              <a:rPr lang="en-US" dirty="0"/>
              <a:t>A firewall can serve as the platform for </a:t>
            </a:r>
            <a:r>
              <a:rPr lang="en-US" dirty="0" err="1"/>
              <a:t>IPSec</a:t>
            </a:r>
            <a:r>
              <a:rPr lang="en-US" dirty="0"/>
              <a:t>. </a:t>
            </a:r>
          </a:p>
        </p:txBody>
      </p:sp>
    </p:spTree>
    <p:extLst>
      <p:ext uri="{BB962C8B-B14F-4D97-AF65-F5344CB8AC3E}">
        <p14:creationId xmlns:p14="http://schemas.microsoft.com/office/powerpoint/2010/main" val="2541545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Firewall Limitations </a:t>
            </a:r>
          </a:p>
        </p:txBody>
      </p:sp>
      <p:sp>
        <p:nvSpPr>
          <p:cNvPr id="3" name="Content Placeholder 2"/>
          <p:cNvSpPr>
            <a:spLocks noGrp="1"/>
          </p:cNvSpPr>
          <p:nvPr>
            <p:ph idx="1"/>
          </p:nvPr>
        </p:nvSpPr>
        <p:spPr/>
        <p:txBody>
          <a:bodyPr/>
          <a:lstStyle/>
          <a:p>
            <a:pPr algn="just"/>
            <a:r>
              <a:rPr lang="en-US" dirty="0"/>
              <a:t>The firewall cannot protect against attacks that bypass the firewall.</a:t>
            </a:r>
          </a:p>
          <a:p>
            <a:pPr algn="just"/>
            <a:r>
              <a:rPr lang="en-US" dirty="0"/>
              <a:t>The firewall may not protect fully against internal threats</a:t>
            </a:r>
          </a:p>
          <a:p>
            <a:pPr algn="just"/>
            <a:r>
              <a:rPr lang="en-US" dirty="0"/>
              <a:t>An improperly secured wireless LAN may be accessed from outside the organization</a:t>
            </a:r>
          </a:p>
          <a:p>
            <a:pPr algn="just"/>
            <a:r>
              <a:rPr lang="en-US" dirty="0"/>
              <a:t>A laptop, PDA, or portable storage device may be used and infected outside the corporate network and then attached and used internally.</a:t>
            </a:r>
          </a:p>
        </p:txBody>
      </p:sp>
    </p:spTree>
    <p:extLst>
      <p:ext uri="{BB962C8B-B14F-4D97-AF65-F5344CB8AC3E}">
        <p14:creationId xmlns:p14="http://schemas.microsoft.com/office/powerpoint/2010/main" val="3685915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Firewalls </a:t>
            </a:r>
          </a:p>
        </p:txBody>
      </p:sp>
      <p:pic>
        <p:nvPicPr>
          <p:cNvPr id="4" name="Content Placeholder 3"/>
          <p:cNvPicPr>
            <a:picLocks noGrp="1" noChangeAspect="1"/>
          </p:cNvPicPr>
          <p:nvPr>
            <p:ph idx="1"/>
          </p:nvPr>
        </p:nvPicPr>
        <p:blipFill>
          <a:blip r:embed="rId2"/>
          <a:stretch>
            <a:fillRect/>
          </a:stretch>
        </p:blipFill>
        <p:spPr>
          <a:xfrm>
            <a:off x="841492" y="2746920"/>
            <a:ext cx="9388336" cy="3162561"/>
          </a:xfrm>
          <a:prstGeom prst="rect">
            <a:avLst/>
          </a:prstGeom>
        </p:spPr>
      </p:pic>
    </p:spTree>
    <p:extLst>
      <p:ext uri="{BB962C8B-B14F-4D97-AF65-F5344CB8AC3E}">
        <p14:creationId xmlns:p14="http://schemas.microsoft.com/office/powerpoint/2010/main" val="1820016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Firewalls </a:t>
            </a:r>
          </a:p>
        </p:txBody>
      </p:sp>
      <p:pic>
        <p:nvPicPr>
          <p:cNvPr id="4" name="Content Placeholder 3"/>
          <p:cNvPicPr>
            <a:picLocks noGrp="1" noChangeAspect="1"/>
          </p:cNvPicPr>
          <p:nvPr>
            <p:ph idx="1"/>
          </p:nvPr>
        </p:nvPicPr>
        <p:blipFill>
          <a:blip r:embed="rId2"/>
          <a:stretch>
            <a:fillRect/>
          </a:stretch>
        </p:blipFill>
        <p:spPr>
          <a:xfrm>
            <a:off x="1154954" y="2347415"/>
            <a:ext cx="9913380" cy="4203510"/>
          </a:xfrm>
          <a:prstGeom prst="rect">
            <a:avLst/>
          </a:prstGeom>
        </p:spPr>
      </p:pic>
    </p:spTree>
    <p:extLst>
      <p:ext uri="{BB962C8B-B14F-4D97-AF65-F5344CB8AC3E}">
        <p14:creationId xmlns:p14="http://schemas.microsoft.com/office/powerpoint/2010/main" val="2653460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Packet Filtering Firewall </a:t>
            </a:r>
          </a:p>
        </p:txBody>
      </p:sp>
      <p:sp>
        <p:nvSpPr>
          <p:cNvPr id="3" name="Content Placeholder 2"/>
          <p:cNvSpPr>
            <a:spLocks noGrp="1"/>
          </p:cNvSpPr>
          <p:nvPr>
            <p:ph idx="1"/>
          </p:nvPr>
        </p:nvSpPr>
        <p:spPr/>
        <p:txBody>
          <a:bodyPr>
            <a:normAutofit fontScale="85000" lnSpcReduction="20000"/>
          </a:bodyPr>
          <a:lstStyle/>
          <a:p>
            <a:r>
              <a:rPr lang="en-US" dirty="0"/>
              <a:t>A </a:t>
            </a:r>
            <a:r>
              <a:rPr lang="en-US" b="1" dirty="0"/>
              <a:t>packet filtering firewall </a:t>
            </a:r>
            <a:r>
              <a:rPr lang="en-US" dirty="0"/>
              <a:t>applies a set of rules to each incoming and outgoing IP packet and then forwards or discards the packet</a:t>
            </a:r>
          </a:p>
          <a:p>
            <a:r>
              <a:rPr lang="en-US" dirty="0"/>
              <a:t>The firewall is typically configured to filter packets going in both directions</a:t>
            </a:r>
          </a:p>
          <a:p>
            <a:r>
              <a:rPr lang="en-US" dirty="0"/>
              <a:t>Filtering rules are based on information contained in a network packet:</a:t>
            </a:r>
          </a:p>
          <a:p>
            <a:pPr lvl="1"/>
            <a:r>
              <a:rPr lang="en-US" b="1" dirty="0"/>
              <a:t>Source IP address: </a:t>
            </a:r>
            <a:r>
              <a:rPr lang="en-US" dirty="0"/>
              <a:t>The IP address of the system that originated the IP packet (e.g., 192.178.1.1).</a:t>
            </a:r>
          </a:p>
          <a:p>
            <a:pPr lvl="1"/>
            <a:r>
              <a:rPr lang="en-US" b="1" dirty="0"/>
              <a:t>Destination IP address: </a:t>
            </a:r>
            <a:r>
              <a:rPr lang="en-US" dirty="0"/>
              <a:t>The IP address of the system the IP packet is trying to reach (e.g., 192.168.1.2).</a:t>
            </a:r>
          </a:p>
          <a:p>
            <a:pPr lvl="1"/>
            <a:r>
              <a:rPr lang="en-US" b="1" dirty="0"/>
              <a:t>Source and destination transport-level address: </a:t>
            </a:r>
            <a:r>
              <a:rPr lang="en-US" dirty="0"/>
              <a:t>The transport-level (e.g., TCP or UDP) port number, which defines applications such as SNMP or TELNET.</a:t>
            </a:r>
          </a:p>
          <a:p>
            <a:pPr lvl="1"/>
            <a:r>
              <a:rPr lang="en-US" b="1" dirty="0"/>
              <a:t>IP protocol field: </a:t>
            </a:r>
            <a:r>
              <a:rPr lang="en-US" dirty="0"/>
              <a:t>Defines the transport protocol.</a:t>
            </a:r>
          </a:p>
          <a:p>
            <a:pPr lvl="1"/>
            <a:r>
              <a:rPr lang="en-US" b="1" dirty="0"/>
              <a:t>Interface: </a:t>
            </a:r>
            <a:r>
              <a:rPr lang="en-US" dirty="0"/>
              <a:t>For a firewall with three or more ports, which interface of the firewall the packet came from or which interface of the firewall the packet is destined for.</a:t>
            </a:r>
          </a:p>
          <a:p>
            <a:pPr lvl="1"/>
            <a:endParaRPr lang="en-US" dirty="0"/>
          </a:p>
        </p:txBody>
      </p:sp>
    </p:spTree>
    <p:extLst>
      <p:ext uri="{BB962C8B-B14F-4D97-AF65-F5344CB8AC3E}">
        <p14:creationId xmlns:p14="http://schemas.microsoft.com/office/powerpoint/2010/main" val="3517744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Packet Filtering Firewall </a:t>
            </a:r>
          </a:p>
        </p:txBody>
      </p:sp>
      <p:sp>
        <p:nvSpPr>
          <p:cNvPr id="3" name="Content Placeholder 2"/>
          <p:cNvSpPr>
            <a:spLocks noGrp="1"/>
          </p:cNvSpPr>
          <p:nvPr>
            <p:ph idx="1"/>
          </p:nvPr>
        </p:nvSpPr>
        <p:spPr/>
        <p:txBody>
          <a:bodyPr/>
          <a:lstStyle/>
          <a:p>
            <a:pPr algn="just"/>
            <a:r>
              <a:rPr lang="en-US" dirty="0"/>
              <a:t>The packet filter is typically set up as a list of rules based on matches to fields in the IP or TCP header. </a:t>
            </a:r>
          </a:p>
          <a:p>
            <a:pPr algn="just"/>
            <a:r>
              <a:rPr lang="en-US" dirty="0"/>
              <a:t>If there is a match to one of the rules, that rule is invoked to determine whether to forward or discard the packet. </a:t>
            </a:r>
          </a:p>
          <a:p>
            <a:r>
              <a:rPr lang="en-US" dirty="0"/>
              <a:t>If there is no match to any rule, then a default action is taken Two default policies are possible:</a:t>
            </a:r>
          </a:p>
          <a:p>
            <a:pPr lvl="1"/>
            <a:r>
              <a:rPr lang="en-US" b="1" dirty="0"/>
              <a:t>Default </a:t>
            </a:r>
            <a:r>
              <a:rPr lang="en-US" dirty="0"/>
              <a:t>= </a:t>
            </a:r>
            <a:r>
              <a:rPr lang="en-US" b="1" dirty="0"/>
              <a:t>discard: </a:t>
            </a:r>
            <a:r>
              <a:rPr lang="en-US" dirty="0"/>
              <a:t>That which is not expressly permitted is prohibited.</a:t>
            </a:r>
          </a:p>
          <a:p>
            <a:pPr lvl="1"/>
            <a:r>
              <a:rPr lang="en-US" b="1" dirty="0"/>
              <a:t>Default </a:t>
            </a:r>
            <a:r>
              <a:rPr lang="en-US" dirty="0"/>
              <a:t>= </a:t>
            </a:r>
            <a:r>
              <a:rPr lang="en-US" b="1" dirty="0"/>
              <a:t>forward: </a:t>
            </a:r>
            <a:r>
              <a:rPr lang="en-US" dirty="0"/>
              <a:t>That which is not expressly prohibited is permitted</a:t>
            </a:r>
          </a:p>
        </p:txBody>
      </p:sp>
    </p:spTree>
    <p:extLst>
      <p:ext uri="{BB962C8B-B14F-4D97-AF65-F5344CB8AC3E}">
        <p14:creationId xmlns:p14="http://schemas.microsoft.com/office/powerpoint/2010/main" val="3980596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Packet Filter Firewall Rules </a:t>
            </a:r>
          </a:p>
        </p:txBody>
      </p:sp>
      <p:pic>
        <p:nvPicPr>
          <p:cNvPr id="4" name="Content Placeholder 3"/>
          <p:cNvPicPr>
            <a:picLocks noGrp="1" noChangeAspect="1"/>
          </p:cNvPicPr>
          <p:nvPr>
            <p:ph idx="1"/>
          </p:nvPr>
        </p:nvPicPr>
        <p:blipFill>
          <a:blip r:embed="rId3"/>
          <a:stretch>
            <a:fillRect/>
          </a:stretch>
        </p:blipFill>
        <p:spPr>
          <a:xfrm>
            <a:off x="1331916" y="2634020"/>
            <a:ext cx="8859419" cy="2257448"/>
          </a:xfrm>
          <a:prstGeom prst="rect">
            <a:avLst/>
          </a:prstGeom>
        </p:spPr>
      </p:pic>
    </p:spTree>
    <p:extLst>
      <p:ext uri="{BB962C8B-B14F-4D97-AF65-F5344CB8AC3E}">
        <p14:creationId xmlns:p14="http://schemas.microsoft.com/office/powerpoint/2010/main" val="2412556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Packet Filter Firewall Rules </a:t>
            </a:r>
          </a:p>
        </p:txBody>
      </p:sp>
      <p:pic>
        <p:nvPicPr>
          <p:cNvPr id="4" name="Content Placeholder 3"/>
          <p:cNvPicPr>
            <a:picLocks noGrp="1" noChangeAspect="1"/>
          </p:cNvPicPr>
          <p:nvPr>
            <p:ph idx="1"/>
          </p:nvPr>
        </p:nvPicPr>
        <p:blipFill>
          <a:blip r:embed="rId3"/>
          <a:stretch>
            <a:fillRect/>
          </a:stretch>
        </p:blipFill>
        <p:spPr>
          <a:xfrm>
            <a:off x="1331916" y="2634020"/>
            <a:ext cx="8859419" cy="2257448"/>
          </a:xfrm>
          <a:prstGeom prst="rect">
            <a:avLst/>
          </a:prstGeom>
        </p:spPr>
      </p:pic>
      <p:sp>
        <p:nvSpPr>
          <p:cNvPr id="3" name="TextBox 2"/>
          <p:cNvSpPr txBox="1"/>
          <p:nvPr/>
        </p:nvSpPr>
        <p:spPr>
          <a:xfrm>
            <a:off x="2060812" y="5404513"/>
            <a:ext cx="1584088" cy="369332"/>
          </a:xfrm>
          <a:prstGeom prst="rect">
            <a:avLst/>
          </a:prstGeom>
          <a:noFill/>
        </p:spPr>
        <p:txBody>
          <a:bodyPr wrap="none" rtlCol="0">
            <a:spAutoFit/>
          </a:bodyPr>
          <a:lstStyle/>
          <a:p>
            <a:r>
              <a:rPr lang="en-US" dirty="0"/>
              <a:t>Problem ???</a:t>
            </a:r>
          </a:p>
        </p:txBody>
      </p:sp>
    </p:spTree>
    <p:extLst>
      <p:ext uri="{BB962C8B-B14F-4D97-AF65-F5344CB8AC3E}">
        <p14:creationId xmlns:p14="http://schemas.microsoft.com/office/powerpoint/2010/main" val="2182841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Packet Filter Firewall Rules </a:t>
            </a:r>
          </a:p>
        </p:txBody>
      </p:sp>
      <p:pic>
        <p:nvPicPr>
          <p:cNvPr id="4" name="Content Placeholder 3"/>
          <p:cNvPicPr>
            <a:picLocks noGrp="1" noChangeAspect="1"/>
          </p:cNvPicPr>
          <p:nvPr>
            <p:ph idx="1"/>
          </p:nvPr>
        </p:nvPicPr>
        <p:blipFill>
          <a:blip r:embed="rId3"/>
          <a:stretch>
            <a:fillRect/>
          </a:stretch>
        </p:blipFill>
        <p:spPr>
          <a:xfrm>
            <a:off x="1331916" y="2634020"/>
            <a:ext cx="8859419" cy="2257448"/>
          </a:xfrm>
          <a:prstGeom prst="rect">
            <a:avLst/>
          </a:prstGeom>
        </p:spPr>
      </p:pic>
      <p:sp>
        <p:nvSpPr>
          <p:cNvPr id="3" name="TextBox 2"/>
          <p:cNvSpPr txBox="1"/>
          <p:nvPr/>
        </p:nvSpPr>
        <p:spPr>
          <a:xfrm>
            <a:off x="1154954" y="4995081"/>
            <a:ext cx="9711313" cy="1200329"/>
          </a:xfrm>
          <a:prstGeom prst="rect">
            <a:avLst/>
          </a:prstGeom>
          <a:noFill/>
        </p:spPr>
        <p:txBody>
          <a:bodyPr wrap="none" rtlCol="0">
            <a:spAutoFit/>
          </a:bodyPr>
          <a:lstStyle/>
          <a:p>
            <a:r>
              <a:rPr lang="en-US" dirty="0"/>
              <a:t>Problem = Rule 4 allows external traffic</a:t>
            </a:r>
          </a:p>
          <a:p>
            <a:r>
              <a:rPr lang="en-US" dirty="0"/>
              <a:t>to any destination port above 1023. As an example of an exploit of this rule, an</a:t>
            </a:r>
          </a:p>
          <a:p>
            <a:r>
              <a:rPr lang="en-US" dirty="0"/>
              <a:t>external attacker can open a connection from the attacker’s port 5150 to an internal</a:t>
            </a:r>
          </a:p>
          <a:p>
            <a:r>
              <a:rPr lang="fr-FR" dirty="0"/>
              <a:t>Web proxy server on port 8080</a:t>
            </a:r>
            <a:endParaRPr lang="en-US" dirty="0"/>
          </a:p>
        </p:txBody>
      </p:sp>
    </p:spTree>
    <p:extLst>
      <p:ext uri="{BB962C8B-B14F-4D97-AF65-F5344CB8AC3E}">
        <p14:creationId xmlns:p14="http://schemas.microsoft.com/office/powerpoint/2010/main" val="1082409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Packet Filter Firewall Rules </a:t>
            </a:r>
          </a:p>
        </p:txBody>
      </p:sp>
      <p:pic>
        <p:nvPicPr>
          <p:cNvPr id="4" name="Content Placeholder 3"/>
          <p:cNvPicPr>
            <a:picLocks noGrp="1" noChangeAspect="1"/>
          </p:cNvPicPr>
          <p:nvPr>
            <p:ph idx="1"/>
          </p:nvPr>
        </p:nvPicPr>
        <p:blipFill>
          <a:blip r:embed="rId3"/>
          <a:stretch>
            <a:fillRect/>
          </a:stretch>
        </p:blipFill>
        <p:spPr>
          <a:xfrm>
            <a:off x="1331916" y="2634020"/>
            <a:ext cx="8859419" cy="2257448"/>
          </a:xfrm>
          <a:prstGeom prst="rect">
            <a:avLst/>
          </a:prstGeom>
        </p:spPr>
      </p:pic>
      <p:sp>
        <p:nvSpPr>
          <p:cNvPr id="3" name="TextBox 2"/>
          <p:cNvSpPr txBox="1"/>
          <p:nvPr/>
        </p:nvSpPr>
        <p:spPr>
          <a:xfrm>
            <a:off x="1154954" y="5172501"/>
            <a:ext cx="1119217" cy="369332"/>
          </a:xfrm>
          <a:prstGeom prst="rect">
            <a:avLst/>
          </a:prstGeom>
          <a:noFill/>
        </p:spPr>
        <p:txBody>
          <a:bodyPr wrap="none" rtlCol="0">
            <a:spAutoFit/>
          </a:bodyPr>
          <a:lstStyle/>
          <a:p>
            <a:r>
              <a:rPr lang="en-US" dirty="0"/>
              <a:t>Solution:</a:t>
            </a:r>
          </a:p>
        </p:txBody>
      </p:sp>
      <p:pic>
        <p:nvPicPr>
          <p:cNvPr id="5" name="Picture 4"/>
          <p:cNvPicPr>
            <a:picLocks noChangeAspect="1"/>
          </p:cNvPicPr>
          <p:nvPr/>
        </p:nvPicPr>
        <p:blipFill>
          <a:blip r:embed="rId4"/>
          <a:stretch>
            <a:fillRect/>
          </a:stretch>
        </p:blipFill>
        <p:spPr>
          <a:xfrm>
            <a:off x="1154953" y="5541833"/>
            <a:ext cx="9036381" cy="771525"/>
          </a:xfrm>
          <a:prstGeom prst="rect">
            <a:avLst/>
          </a:prstGeom>
        </p:spPr>
      </p:pic>
    </p:spTree>
    <p:extLst>
      <p:ext uri="{BB962C8B-B14F-4D97-AF65-F5344CB8AC3E}">
        <p14:creationId xmlns:p14="http://schemas.microsoft.com/office/powerpoint/2010/main" val="24288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Weakness of Packet Filtering Firewall </a:t>
            </a:r>
          </a:p>
        </p:txBody>
      </p:sp>
      <p:sp>
        <p:nvSpPr>
          <p:cNvPr id="3" name="Content Placeholder 2"/>
          <p:cNvSpPr>
            <a:spLocks noGrp="1"/>
          </p:cNvSpPr>
          <p:nvPr>
            <p:ph idx="1"/>
          </p:nvPr>
        </p:nvSpPr>
        <p:spPr>
          <a:xfrm>
            <a:off x="1154954" y="2603500"/>
            <a:ext cx="8825659" cy="3920130"/>
          </a:xfrm>
        </p:spPr>
        <p:txBody>
          <a:bodyPr>
            <a:normAutofit/>
          </a:bodyPr>
          <a:lstStyle/>
          <a:p>
            <a:pPr algn="just"/>
            <a:r>
              <a:rPr lang="en-US" dirty="0"/>
              <a:t>Because packet filter firewalls do not examine upper-layer data, they cannot prevent attacks that employ application-specific vulnerabilities or functions</a:t>
            </a:r>
          </a:p>
          <a:p>
            <a:pPr algn="just"/>
            <a:r>
              <a:rPr lang="en-US" dirty="0"/>
              <a:t>Because of the limited information available to the firewall, the logging functionality present in packet filter firewalls is limited</a:t>
            </a:r>
          </a:p>
          <a:p>
            <a:pPr algn="just"/>
            <a:r>
              <a:rPr lang="en-US" dirty="0"/>
              <a:t>Most packet filter firewalls do not support advanced user authentication schemes.</a:t>
            </a:r>
          </a:p>
          <a:p>
            <a:pPr algn="just"/>
            <a:r>
              <a:rPr lang="en-US" dirty="0"/>
              <a:t>Packet filter firewalls are generally vulnerable to attacks and exploits that take advantage of problems within the TCP/IP specification and protocol stack</a:t>
            </a:r>
          </a:p>
          <a:p>
            <a:pPr algn="just"/>
            <a:r>
              <a:rPr lang="en-US" dirty="0"/>
              <a:t>Packet filter firewalls are susceptible to security breaches caused by improper configurations.</a:t>
            </a:r>
          </a:p>
        </p:txBody>
      </p:sp>
    </p:spTree>
    <p:extLst>
      <p:ext uri="{BB962C8B-B14F-4D97-AF65-F5344CB8AC3E}">
        <p14:creationId xmlns:p14="http://schemas.microsoft.com/office/powerpoint/2010/main" val="1350677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Attacks on Packet Filtering Firewall </a:t>
            </a:r>
          </a:p>
        </p:txBody>
      </p:sp>
      <p:sp>
        <p:nvSpPr>
          <p:cNvPr id="3" name="Content Placeholder 2"/>
          <p:cNvSpPr>
            <a:spLocks noGrp="1"/>
          </p:cNvSpPr>
          <p:nvPr>
            <p:ph idx="1"/>
          </p:nvPr>
        </p:nvSpPr>
        <p:spPr/>
        <p:txBody>
          <a:bodyPr>
            <a:normAutofit fontScale="92500" lnSpcReduction="10000"/>
          </a:bodyPr>
          <a:lstStyle/>
          <a:p>
            <a:pPr algn="just"/>
            <a:r>
              <a:rPr lang="en-US" b="1" dirty="0"/>
              <a:t>IP address spoofing: </a:t>
            </a:r>
            <a:r>
              <a:rPr lang="en-US" dirty="0"/>
              <a:t>The intruder transmits packets from the outside with a source IP address field containing an address of an internal host. The attacker hopes that the use of a spoofed address will allow penetration of systems that employ simple source address security, in which packets from specific trusted internal hosts are accepted.</a:t>
            </a:r>
          </a:p>
          <a:p>
            <a:pPr algn="just"/>
            <a:r>
              <a:rPr lang="en-US" b="1" dirty="0"/>
              <a:t>Source routing attacks: </a:t>
            </a:r>
            <a:r>
              <a:rPr lang="en-US" dirty="0"/>
              <a:t>The source station specifies the route that a packet should take as it crosses the Internet, in the hopes that this will bypass security measures that do not analyze the source routing information</a:t>
            </a:r>
          </a:p>
          <a:p>
            <a:pPr algn="just"/>
            <a:r>
              <a:rPr lang="en-US" b="1" dirty="0"/>
              <a:t>Tiny fragment attacks: </a:t>
            </a:r>
            <a:r>
              <a:rPr lang="en-US" dirty="0"/>
              <a:t>The intruder uses the IP fragmentation option to create extremely small fragments and force the TCP header information into a separate packet fragment. This attack is designed to circumvent filtering rules that depend on TCP header information. Typically, a packet filter will make a filtering decision on the first fragment of a packet</a:t>
            </a:r>
          </a:p>
        </p:txBody>
      </p:sp>
    </p:spTree>
    <p:extLst>
      <p:ext uri="{BB962C8B-B14F-4D97-AF65-F5344CB8AC3E}">
        <p14:creationId xmlns:p14="http://schemas.microsoft.com/office/powerpoint/2010/main" val="707654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Countermeasures </a:t>
            </a:r>
          </a:p>
        </p:txBody>
      </p:sp>
      <p:sp>
        <p:nvSpPr>
          <p:cNvPr id="3" name="Content Placeholder 2"/>
          <p:cNvSpPr>
            <a:spLocks noGrp="1"/>
          </p:cNvSpPr>
          <p:nvPr>
            <p:ph idx="1"/>
          </p:nvPr>
        </p:nvSpPr>
        <p:spPr/>
        <p:txBody>
          <a:bodyPr>
            <a:normAutofit/>
          </a:bodyPr>
          <a:lstStyle/>
          <a:p>
            <a:pPr algn="just"/>
            <a:r>
              <a:rPr lang="en-US" b="1" dirty="0"/>
              <a:t>IP address spoofing:</a:t>
            </a:r>
            <a:r>
              <a:rPr lang="en-US" dirty="0"/>
              <a:t> The countermeasure is to discard packets with an inside source address if the packet arrives on an external interface. In fact, this countermeasure is often implemented at the router external to the firewall.</a:t>
            </a:r>
          </a:p>
          <a:p>
            <a:r>
              <a:rPr lang="en-US" b="1" dirty="0"/>
              <a:t>Source routing attacks: </a:t>
            </a:r>
            <a:r>
              <a:rPr lang="en-US" dirty="0"/>
              <a:t>A countermeasure is to discard all packets that use this option.</a:t>
            </a:r>
          </a:p>
          <a:p>
            <a:r>
              <a:rPr lang="en-US" b="1" dirty="0"/>
              <a:t>Tiny fragment attacks: </a:t>
            </a:r>
            <a:r>
              <a:rPr lang="en-US" dirty="0"/>
              <a:t>attack can be defeated by enforcing a rule that the first fragment of a packet must contain a predefined minimum amount of the transport header. If the first fragment is rejected, the filter can remember the packet and discard all subsequent fragments.</a:t>
            </a:r>
          </a:p>
        </p:txBody>
      </p:sp>
    </p:spTree>
    <p:extLst>
      <p:ext uri="{BB962C8B-B14F-4D97-AF65-F5344CB8AC3E}">
        <p14:creationId xmlns:p14="http://schemas.microsoft.com/office/powerpoint/2010/main" val="2081553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Stateful packet Inspection</a:t>
            </a:r>
          </a:p>
        </p:txBody>
      </p:sp>
      <p:sp>
        <p:nvSpPr>
          <p:cNvPr id="3" name="Content Placeholder 2"/>
          <p:cNvSpPr>
            <a:spLocks noGrp="1"/>
          </p:cNvSpPr>
          <p:nvPr>
            <p:ph idx="1"/>
          </p:nvPr>
        </p:nvSpPr>
        <p:spPr/>
        <p:txBody>
          <a:bodyPr>
            <a:normAutofit fontScale="92500" lnSpcReduction="10000"/>
          </a:bodyPr>
          <a:lstStyle/>
          <a:p>
            <a:pPr algn="just"/>
            <a:r>
              <a:rPr lang="en-US" dirty="0"/>
              <a:t>A traditional packet filter makes filtering decisions on an individual packet basis and does not take into consideration any higher-layer context.</a:t>
            </a:r>
          </a:p>
          <a:p>
            <a:pPr algn="just"/>
            <a:r>
              <a:rPr lang="en-US" dirty="0"/>
              <a:t>A </a:t>
            </a:r>
            <a:r>
              <a:rPr lang="en-US" b="1" dirty="0"/>
              <a:t>Stateful packet inspection firewall </a:t>
            </a:r>
            <a:r>
              <a:rPr lang="en-US" dirty="0"/>
              <a:t>tightens up the rules for TCP traffic by creating a directory of outbound TCP connections.</a:t>
            </a:r>
          </a:p>
          <a:p>
            <a:pPr algn="just"/>
            <a:r>
              <a:rPr lang="en-US" dirty="0"/>
              <a:t>The packet filter will now allow incoming traffic to high-numbered ports only for those packets that fit the profile of one of the entries in this directory.</a:t>
            </a:r>
          </a:p>
          <a:p>
            <a:pPr algn="just"/>
            <a:r>
              <a:rPr lang="en-US" dirty="0"/>
              <a:t>A Stateful packet inspection firewall reviews the same packet information as a packet filtering firewall, but also records information about TCP connections</a:t>
            </a:r>
          </a:p>
          <a:p>
            <a:pPr algn="just"/>
            <a:r>
              <a:rPr lang="en-US" dirty="0"/>
              <a:t>Some </a:t>
            </a:r>
            <a:r>
              <a:rPr lang="en-US" dirty="0" err="1"/>
              <a:t>stateful</a:t>
            </a:r>
            <a:r>
              <a:rPr lang="en-US" dirty="0"/>
              <a:t> firewalls also keep track of TCP sequence numbers to prevent attacks that depend on the sequence number, such as session hijacking. Some even inspect limited amounts of application data</a:t>
            </a:r>
          </a:p>
        </p:txBody>
      </p:sp>
    </p:spTree>
    <p:extLst>
      <p:ext uri="{BB962C8B-B14F-4D97-AF65-F5344CB8AC3E}">
        <p14:creationId xmlns:p14="http://schemas.microsoft.com/office/powerpoint/2010/main" val="879480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Table</a:t>
            </a:r>
          </a:p>
        </p:txBody>
      </p:sp>
      <p:pic>
        <p:nvPicPr>
          <p:cNvPr id="4" name="Content Placeholder 3"/>
          <p:cNvPicPr>
            <a:picLocks noGrp="1" noChangeAspect="1"/>
          </p:cNvPicPr>
          <p:nvPr>
            <p:ph idx="1"/>
          </p:nvPr>
        </p:nvPicPr>
        <p:blipFill>
          <a:blip r:embed="rId2"/>
          <a:stretch>
            <a:fillRect/>
          </a:stretch>
        </p:blipFill>
        <p:spPr>
          <a:xfrm>
            <a:off x="1840777" y="2528451"/>
            <a:ext cx="7389765" cy="3168731"/>
          </a:xfrm>
          <a:prstGeom prst="rect">
            <a:avLst/>
          </a:prstGeom>
        </p:spPr>
      </p:pic>
    </p:spTree>
    <p:extLst>
      <p:ext uri="{BB962C8B-B14F-4D97-AF65-F5344CB8AC3E}">
        <p14:creationId xmlns:p14="http://schemas.microsoft.com/office/powerpoint/2010/main" val="725951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states </a:t>
            </a:r>
          </a:p>
        </p:txBody>
      </p:sp>
      <p:pic>
        <p:nvPicPr>
          <p:cNvPr id="5" name="Content Placeholder 4"/>
          <p:cNvPicPr>
            <a:picLocks noGrp="1" noChangeAspect="1"/>
          </p:cNvPicPr>
          <p:nvPr>
            <p:ph idx="1"/>
          </p:nvPr>
        </p:nvPicPr>
        <p:blipFill>
          <a:blip r:embed="rId2"/>
          <a:stretch>
            <a:fillRect/>
          </a:stretch>
        </p:blipFill>
        <p:spPr>
          <a:xfrm>
            <a:off x="816958" y="2397836"/>
            <a:ext cx="4532964" cy="3757304"/>
          </a:xfrm>
          <a:prstGeom prst="rect">
            <a:avLst/>
          </a:prstGeom>
        </p:spPr>
      </p:pic>
      <p:pic>
        <p:nvPicPr>
          <p:cNvPr id="6" name="Picture 5"/>
          <p:cNvPicPr>
            <a:picLocks noChangeAspect="1"/>
          </p:cNvPicPr>
          <p:nvPr/>
        </p:nvPicPr>
        <p:blipFill>
          <a:blip r:embed="rId3"/>
          <a:stretch>
            <a:fillRect/>
          </a:stretch>
        </p:blipFill>
        <p:spPr>
          <a:xfrm>
            <a:off x="5535659" y="2397836"/>
            <a:ext cx="4380707" cy="3757304"/>
          </a:xfrm>
          <a:prstGeom prst="rect">
            <a:avLst/>
          </a:prstGeom>
        </p:spPr>
      </p:pic>
    </p:spTree>
    <p:extLst>
      <p:ext uri="{BB962C8B-B14F-4D97-AF65-F5344CB8AC3E}">
        <p14:creationId xmlns:p14="http://schemas.microsoft.com/office/powerpoint/2010/main" val="1520910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Application-Level Gateway</a:t>
            </a:r>
          </a:p>
        </p:txBody>
      </p:sp>
      <p:sp>
        <p:nvSpPr>
          <p:cNvPr id="3" name="Content Placeholder 2"/>
          <p:cNvSpPr>
            <a:spLocks noGrp="1"/>
          </p:cNvSpPr>
          <p:nvPr>
            <p:ph idx="1"/>
          </p:nvPr>
        </p:nvSpPr>
        <p:spPr>
          <a:xfrm>
            <a:off x="1154954" y="2603500"/>
            <a:ext cx="8825659" cy="4152142"/>
          </a:xfrm>
        </p:spPr>
        <p:txBody>
          <a:bodyPr>
            <a:normAutofit fontScale="92500" lnSpcReduction="10000"/>
          </a:bodyPr>
          <a:lstStyle/>
          <a:p>
            <a:pPr algn="just"/>
            <a:r>
              <a:rPr lang="en-US" dirty="0"/>
              <a:t>An </a:t>
            </a:r>
            <a:r>
              <a:rPr lang="en-US" b="1" dirty="0"/>
              <a:t>application-level gateway</a:t>
            </a:r>
            <a:r>
              <a:rPr lang="en-US" dirty="0"/>
              <a:t>, also called an application proxy, acts as a relay of application-level traffic </a:t>
            </a:r>
          </a:p>
          <a:p>
            <a:pPr algn="just"/>
            <a:r>
              <a:rPr lang="en-US" dirty="0"/>
              <a:t>The user contacts the gateway using a TCP/ IP application, such as Telnet or FTP, and the gateway asks the user for the name of the remote host to be accessed. </a:t>
            </a:r>
          </a:p>
          <a:p>
            <a:pPr algn="just"/>
            <a:r>
              <a:rPr lang="en-US" dirty="0"/>
              <a:t>When the user responds and provides a valid user ID and authentication information, the gateway contacts the application on the remote host and relays TCP segments containing the application data between the two endpoints</a:t>
            </a:r>
          </a:p>
          <a:p>
            <a:pPr algn="just"/>
            <a:r>
              <a:rPr lang="en-US" dirty="0"/>
              <a:t>If the gateway does not implement the proxy code for a specific application, the service is not supported and cannot be forwarded across the firewall.</a:t>
            </a:r>
          </a:p>
          <a:p>
            <a:pPr algn="just"/>
            <a:r>
              <a:rPr lang="en-US" dirty="0"/>
              <a:t>Further, the gateway can be configured to support only specific features of an application that the network administrator considers acceptable while denying all other features.</a:t>
            </a:r>
          </a:p>
        </p:txBody>
      </p:sp>
    </p:spTree>
    <p:extLst>
      <p:ext uri="{BB962C8B-B14F-4D97-AF65-F5344CB8AC3E}">
        <p14:creationId xmlns:p14="http://schemas.microsoft.com/office/powerpoint/2010/main" val="1397843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Application-level Gateway</a:t>
            </a:r>
          </a:p>
        </p:txBody>
      </p:sp>
      <p:sp>
        <p:nvSpPr>
          <p:cNvPr id="3" name="Content Placeholder 2"/>
          <p:cNvSpPr>
            <a:spLocks noGrp="1"/>
          </p:cNvSpPr>
          <p:nvPr>
            <p:ph idx="1"/>
          </p:nvPr>
        </p:nvSpPr>
        <p:spPr/>
        <p:txBody>
          <a:bodyPr>
            <a:normAutofit/>
          </a:bodyPr>
          <a:lstStyle/>
          <a:p>
            <a:pPr algn="just"/>
            <a:r>
              <a:rPr lang="en-US" dirty="0"/>
              <a:t>Application-level gateways tend to be more secure than packet filters. </a:t>
            </a:r>
          </a:p>
          <a:p>
            <a:pPr algn="just"/>
            <a:r>
              <a:rPr lang="en-US" dirty="0"/>
              <a:t>Rather than trying to deal with the numerous possible combinations that are to be allowed and forbidden at the TCP and IP level, the application-level gateway need only scrutinize a few allowable applications. </a:t>
            </a:r>
          </a:p>
          <a:p>
            <a:pPr algn="just"/>
            <a:r>
              <a:rPr lang="en-US" dirty="0"/>
              <a:t>In addition, it is easy to log and audit all incoming traffic at the application level.</a:t>
            </a:r>
          </a:p>
          <a:p>
            <a:pPr algn="just"/>
            <a:r>
              <a:rPr lang="en-US" dirty="0"/>
              <a:t>A prime disadvantage of this type of gateway is the additional processing overhead on each connection. In effect, there are two spliced connections between the end users, with the gateway at the splice point, and the gateway must examine and forward all traffic in both directions.</a:t>
            </a:r>
          </a:p>
        </p:txBody>
      </p:sp>
    </p:spTree>
    <p:extLst>
      <p:ext uri="{BB962C8B-B14F-4D97-AF65-F5344CB8AC3E}">
        <p14:creationId xmlns:p14="http://schemas.microsoft.com/office/powerpoint/2010/main" val="1689017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Circuit-level Gateway</a:t>
            </a:r>
          </a:p>
        </p:txBody>
      </p:sp>
      <p:sp>
        <p:nvSpPr>
          <p:cNvPr id="3" name="Content Placeholder 2"/>
          <p:cNvSpPr>
            <a:spLocks noGrp="1"/>
          </p:cNvSpPr>
          <p:nvPr>
            <p:ph idx="1"/>
          </p:nvPr>
        </p:nvSpPr>
        <p:spPr/>
        <p:txBody>
          <a:bodyPr>
            <a:normAutofit lnSpcReduction="10000"/>
          </a:bodyPr>
          <a:lstStyle/>
          <a:p>
            <a:pPr algn="just"/>
            <a:r>
              <a:rPr lang="en-US" dirty="0"/>
              <a:t>This can be a stand-alone system or it can be a specialized function performed by an application-level gateway for certain applications. </a:t>
            </a:r>
          </a:p>
          <a:p>
            <a:pPr algn="just"/>
            <a:r>
              <a:rPr lang="en-US" dirty="0"/>
              <a:t>As with an application gateway, a circuit-level gateway does not permit an end-to-end TCP connection; rather, the gateway sets up two TCP connections, one between itself and a TCP user on an inner host and one between itself and a TCP user on an outside host. </a:t>
            </a:r>
          </a:p>
          <a:p>
            <a:pPr algn="just"/>
            <a:r>
              <a:rPr lang="en-US" dirty="0"/>
              <a:t>Once the two connections are established, the gateway typically relays TCP segments from one connection to the other without examining the contents. </a:t>
            </a:r>
          </a:p>
          <a:p>
            <a:pPr algn="just"/>
            <a:r>
              <a:rPr lang="en-US" dirty="0"/>
              <a:t>The security function consists of determining which connections will be allowed.</a:t>
            </a:r>
          </a:p>
        </p:txBody>
      </p:sp>
    </p:spTree>
    <p:extLst>
      <p:ext uri="{BB962C8B-B14F-4D97-AF65-F5344CB8AC3E}">
        <p14:creationId xmlns:p14="http://schemas.microsoft.com/office/powerpoint/2010/main" val="1650479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Firewall BASING </a:t>
            </a:r>
          </a:p>
        </p:txBody>
      </p:sp>
      <p:sp>
        <p:nvSpPr>
          <p:cNvPr id="4" name="Text Placeholder 3"/>
          <p:cNvSpPr>
            <a:spLocks noGrp="1"/>
          </p:cNvSpPr>
          <p:nvPr>
            <p:ph type="body" idx="1"/>
          </p:nvPr>
        </p:nvSpPr>
        <p:spPr/>
        <p:txBody>
          <a:bodyPr/>
          <a:lstStyle/>
          <a:p>
            <a:endParaRPr lang="en-US"/>
          </a:p>
        </p:txBody>
      </p:sp>
    </p:spTree>
    <p:extLst>
      <p:ext uri="{BB962C8B-B14F-4D97-AF65-F5344CB8AC3E}">
        <p14:creationId xmlns:p14="http://schemas.microsoft.com/office/powerpoint/2010/main" val="3764979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Bastion Host</a:t>
            </a:r>
          </a:p>
        </p:txBody>
      </p:sp>
      <p:sp>
        <p:nvSpPr>
          <p:cNvPr id="5" name="Content Placeholder 4"/>
          <p:cNvSpPr>
            <a:spLocks noGrp="1"/>
          </p:cNvSpPr>
          <p:nvPr>
            <p:ph idx="1"/>
          </p:nvPr>
        </p:nvSpPr>
        <p:spPr/>
        <p:txBody>
          <a:bodyPr>
            <a:normAutofit lnSpcReduction="10000"/>
          </a:bodyPr>
          <a:lstStyle/>
          <a:p>
            <a:pPr algn="just"/>
            <a:r>
              <a:rPr lang="en-US" dirty="0"/>
              <a:t>A bastion host is a system identified by the firewall administrator as a critical strong point in the network’s security.</a:t>
            </a:r>
          </a:p>
          <a:p>
            <a:pPr algn="just"/>
            <a:r>
              <a:rPr lang="en-US" dirty="0"/>
              <a:t>Typically, the bastion host serves as a platform for an application-level or circuit-level gateway</a:t>
            </a:r>
          </a:p>
          <a:p>
            <a:pPr algn="just"/>
            <a:r>
              <a:rPr lang="en-US" dirty="0"/>
              <a:t>Important Characteristics </a:t>
            </a:r>
          </a:p>
          <a:p>
            <a:pPr lvl="1"/>
            <a:r>
              <a:rPr lang="en-US" dirty="0"/>
              <a:t>The bastion host hardware platform executes a secure version of its operating system, making it a hardened system.</a:t>
            </a:r>
          </a:p>
          <a:p>
            <a:pPr lvl="1"/>
            <a:r>
              <a:rPr lang="en-US" dirty="0"/>
              <a:t>Only the services that the network administrator considers essential are	installed on the bastion host.</a:t>
            </a:r>
          </a:p>
          <a:p>
            <a:pPr lvl="1"/>
            <a:r>
              <a:rPr lang="en-US" dirty="0"/>
              <a:t>The bastion host may require additional authentication before a user is allowed access to the proxy service</a:t>
            </a:r>
          </a:p>
        </p:txBody>
      </p:sp>
    </p:spTree>
    <p:extLst>
      <p:ext uri="{BB962C8B-B14F-4D97-AF65-F5344CB8AC3E}">
        <p14:creationId xmlns:p14="http://schemas.microsoft.com/office/powerpoint/2010/main" val="4190531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Host based Firewall </a:t>
            </a:r>
          </a:p>
        </p:txBody>
      </p:sp>
      <p:sp>
        <p:nvSpPr>
          <p:cNvPr id="3" name="Content Placeholder 2"/>
          <p:cNvSpPr>
            <a:spLocks noGrp="1"/>
          </p:cNvSpPr>
          <p:nvPr>
            <p:ph idx="1"/>
          </p:nvPr>
        </p:nvSpPr>
        <p:spPr/>
        <p:txBody>
          <a:bodyPr>
            <a:normAutofit/>
          </a:bodyPr>
          <a:lstStyle/>
          <a:p>
            <a:pPr algn="just"/>
            <a:r>
              <a:rPr lang="en-US" dirty="0"/>
              <a:t>A host-based firewall is a software module used to secure an individual host. </a:t>
            </a:r>
          </a:p>
          <a:p>
            <a:pPr algn="just"/>
            <a:r>
              <a:rPr lang="en-US" dirty="0"/>
              <a:t>Such modules are available in many operating systems or can be provided as an add-on package.</a:t>
            </a:r>
          </a:p>
          <a:p>
            <a:pPr algn="just"/>
            <a:r>
              <a:rPr lang="en-US" dirty="0"/>
              <a:t>Advantages </a:t>
            </a:r>
          </a:p>
          <a:p>
            <a:pPr lvl="1" algn="just"/>
            <a:r>
              <a:rPr lang="en-US" dirty="0"/>
              <a:t>Filtering rules can be tailored to the host environment.</a:t>
            </a:r>
          </a:p>
          <a:p>
            <a:pPr lvl="1" algn="just"/>
            <a:r>
              <a:rPr lang="en-US" dirty="0"/>
              <a:t>Protection is provided independent of topology.</a:t>
            </a:r>
          </a:p>
          <a:p>
            <a:pPr lvl="1"/>
            <a:r>
              <a:rPr lang="en-US" dirty="0"/>
              <a:t>Used in conjunction with stand-alone firewalls, the host-based firewall provides an additional layer of protection</a:t>
            </a:r>
          </a:p>
        </p:txBody>
      </p:sp>
    </p:spTree>
    <p:extLst>
      <p:ext uri="{BB962C8B-B14F-4D97-AF65-F5344CB8AC3E}">
        <p14:creationId xmlns:p14="http://schemas.microsoft.com/office/powerpoint/2010/main" val="1903025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 Firewall</a:t>
            </a:r>
          </a:p>
        </p:txBody>
      </p:sp>
      <p:sp>
        <p:nvSpPr>
          <p:cNvPr id="3" name="Content Placeholder 2"/>
          <p:cNvSpPr>
            <a:spLocks noGrp="1"/>
          </p:cNvSpPr>
          <p:nvPr>
            <p:ph idx="1"/>
          </p:nvPr>
        </p:nvSpPr>
        <p:spPr>
          <a:xfrm>
            <a:off x="1154954" y="2603499"/>
            <a:ext cx="8825659" cy="3865539"/>
          </a:xfrm>
        </p:spPr>
        <p:txBody>
          <a:bodyPr>
            <a:normAutofit fontScale="85000" lnSpcReduction="10000"/>
          </a:bodyPr>
          <a:lstStyle/>
          <a:p>
            <a:pPr algn="just"/>
            <a:r>
              <a:rPr lang="en-US" dirty="0"/>
              <a:t>A personal firewall controls the traffic between a personal computer or workstation on one side and the Internet or enterprise network on the other side. </a:t>
            </a:r>
          </a:p>
          <a:p>
            <a:pPr algn="just"/>
            <a:r>
              <a:rPr lang="en-US" dirty="0"/>
              <a:t>Personal firewall functionality can be used in the home environment and on corporate intranets.</a:t>
            </a:r>
          </a:p>
          <a:p>
            <a:pPr algn="just"/>
            <a:r>
              <a:rPr lang="en-US" dirty="0"/>
              <a:t>Typically, the personal firewall is a software module on the personal computer.</a:t>
            </a:r>
          </a:p>
          <a:p>
            <a:pPr algn="just"/>
            <a:r>
              <a:rPr lang="en-US" dirty="0"/>
              <a:t>In a home environment with multiple computers connected to the Internet, firewall functionality can also be housed in a router that connects all of the home computers to a DSL, cable modem, or other Internet interface.</a:t>
            </a:r>
          </a:p>
          <a:p>
            <a:pPr algn="just"/>
            <a:r>
              <a:rPr lang="en-US" dirty="0"/>
              <a:t>Personal firewalls are typically much less complex than either server-based firewalls or stand-alone firewalls. </a:t>
            </a:r>
          </a:p>
          <a:p>
            <a:pPr algn="just"/>
            <a:r>
              <a:rPr lang="en-US" dirty="0"/>
              <a:t>The primary role of the personal firewall is to deny unauthorized remote access to the computer. </a:t>
            </a:r>
          </a:p>
          <a:p>
            <a:pPr algn="just"/>
            <a:r>
              <a:rPr lang="en-US" dirty="0"/>
              <a:t>The firewall can also monitor outgoing activity in an attempt to detect and block worms and other malware</a:t>
            </a:r>
          </a:p>
        </p:txBody>
      </p:sp>
    </p:spTree>
    <p:extLst>
      <p:ext uri="{BB962C8B-B14F-4D97-AF65-F5344CB8AC3E}">
        <p14:creationId xmlns:p14="http://schemas.microsoft.com/office/powerpoint/2010/main" val="1074979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Firewall Location and Configurations</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110024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DMZ Networks</a:t>
            </a:r>
          </a:p>
        </p:txBody>
      </p:sp>
      <p:pic>
        <p:nvPicPr>
          <p:cNvPr id="6" name="Content Placeholder 5"/>
          <p:cNvPicPr>
            <a:picLocks noGrp="1" noChangeAspect="1"/>
          </p:cNvPicPr>
          <p:nvPr>
            <p:ph idx="1"/>
          </p:nvPr>
        </p:nvPicPr>
        <p:blipFill>
          <a:blip r:embed="rId2"/>
          <a:stretch>
            <a:fillRect/>
          </a:stretch>
        </p:blipFill>
        <p:spPr>
          <a:xfrm>
            <a:off x="4550124" y="0"/>
            <a:ext cx="7641876" cy="6858000"/>
          </a:xfrm>
          <a:prstGeom prst="rect">
            <a:avLst/>
          </a:prstGeom>
        </p:spPr>
      </p:pic>
      <p:sp>
        <p:nvSpPr>
          <p:cNvPr id="3" name="TextBox 2">
            <a:extLst>
              <a:ext uri="{FF2B5EF4-FFF2-40B4-BE49-F238E27FC236}">
                <a16:creationId xmlns:a16="http://schemas.microsoft.com/office/drawing/2014/main" id="{AC87BCBB-8EF4-7C9F-CEE5-1DF931604117}"/>
              </a:ext>
            </a:extLst>
          </p:cNvPr>
          <p:cNvSpPr txBox="1"/>
          <p:nvPr/>
        </p:nvSpPr>
        <p:spPr>
          <a:xfrm>
            <a:off x="514874" y="2499601"/>
            <a:ext cx="3510642" cy="3539430"/>
          </a:xfrm>
          <a:prstGeom prst="rect">
            <a:avLst/>
          </a:prstGeom>
          <a:noFill/>
        </p:spPr>
        <p:txBody>
          <a:bodyPr wrap="square">
            <a:spAutoFit/>
          </a:bodyPr>
          <a:lstStyle/>
          <a:p>
            <a:pPr algn="just"/>
            <a:r>
              <a:rPr lang="en-GB" sz="2800" b="0" i="0" dirty="0">
                <a:solidFill>
                  <a:srgbClr val="202124"/>
                </a:solidFill>
                <a:effectLst/>
                <a:latin typeface="Google Sans"/>
              </a:rPr>
              <a:t>A DMZ or demilitarized zone is </a:t>
            </a:r>
            <a:r>
              <a:rPr lang="en-GB" sz="2800" b="0" i="0" dirty="0">
                <a:solidFill>
                  <a:srgbClr val="040C28"/>
                </a:solidFill>
                <a:effectLst/>
                <a:latin typeface="Google Sans"/>
              </a:rPr>
              <a:t>a perimeter network that protects and adds an extra layer of security to an organization's internal local-area network from untrusted traffic</a:t>
            </a:r>
            <a:r>
              <a:rPr lang="en-GB" sz="2800" b="0" i="0" dirty="0">
                <a:solidFill>
                  <a:srgbClr val="202124"/>
                </a:solidFill>
                <a:effectLst/>
                <a:latin typeface="Google Sans"/>
              </a:rPr>
              <a:t>.</a:t>
            </a:r>
            <a:endParaRPr lang="en-GB" sz="2800" dirty="0"/>
          </a:p>
        </p:txBody>
      </p:sp>
    </p:spTree>
    <p:extLst>
      <p:ext uri="{BB962C8B-B14F-4D97-AF65-F5344CB8AC3E}">
        <p14:creationId xmlns:p14="http://schemas.microsoft.com/office/powerpoint/2010/main" val="1173865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Firewalls </a:t>
            </a:r>
          </a:p>
        </p:txBody>
      </p:sp>
      <p:pic>
        <p:nvPicPr>
          <p:cNvPr id="4" name="Content Placeholder 3"/>
          <p:cNvPicPr>
            <a:picLocks noGrp="1" noChangeAspect="1"/>
          </p:cNvPicPr>
          <p:nvPr>
            <p:ph idx="1"/>
          </p:nvPr>
        </p:nvPicPr>
        <p:blipFill>
          <a:blip r:embed="rId2"/>
          <a:stretch>
            <a:fillRect/>
          </a:stretch>
        </p:blipFill>
        <p:spPr>
          <a:xfrm>
            <a:off x="5535660" y="0"/>
            <a:ext cx="6656340" cy="6858000"/>
          </a:xfrm>
          <a:prstGeom prst="rect">
            <a:avLst/>
          </a:prstGeom>
        </p:spPr>
      </p:pic>
    </p:spTree>
    <p:extLst>
      <p:ext uri="{BB962C8B-B14F-4D97-AF65-F5344CB8AC3E}">
        <p14:creationId xmlns:p14="http://schemas.microsoft.com/office/powerpoint/2010/main" val="35395075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Private Network</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2292824"/>
            <a:ext cx="12192000" cy="4565176"/>
          </a:xfrm>
          <a:prstGeom prst="rect">
            <a:avLst/>
          </a:prstGeom>
        </p:spPr>
      </p:pic>
    </p:spTree>
    <p:extLst>
      <p:ext uri="{BB962C8B-B14F-4D97-AF65-F5344CB8AC3E}">
        <p14:creationId xmlns:p14="http://schemas.microsoft.com/office/powerpoint/2010/main" val="1629318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Intrusion Prevention System </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8717385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Introduction</a:t>
            </a:r>
          </a:p>
        </p:txBody>
      </p:sp>
      <p:sp>
        <p:nvSpPr>
          <p:cNvPr id="5" name="Content Placeholder 4"/>
          <p:cNvSpPr>
            <a:spLocks noGrp="1"/>
          </p:cNvSpPr>
          <p:nvPr>
            <p:ph idx="1"/>
          </p:nvPr>
        </p:nvSpPr>
        <p:spPr>
          <a:xfrm>
            <a:off x="1154954" y="2603500"/>
            <a:ext cx="8825659" cy="3128560"/>
          </a:xfrm>
        </p:spPr>
        <p:txBody>
          <a:bodyPr>
            <a:normAutofit/>
          </a:bodyPr>
          <a:lstStyle/>
          <a:p>
            <a:pPr algn="just"/>
            <a:r>
              <a:rPr lang="en-US" dirty="0"/>
              <a:t>A relatively recent addition to the terminology of security products is the intrusion prevention system (IPS). There are two complementary ways of looking at an IPS:</a:t>
            </a:r>
          </a:p>
          <a:p>
            <a:pPr lvl="1" algn="just"/>
            <a:r>
              <a:rPr lang="en-US" dirty="0"/>
              <a:t>An IPS is an inline network-based IDS (NIDS) that has the capability to block traffic by discarding packets as well as simply detecting suspicious traffic. Alternatively, the IPS can monitor ports on a switch that receives all traffic and then send the appropriate commands to a router or firewall to block traffic. For host-based systems, an IPS is a host-based IDS that can discard incoming traffic.</a:t>
            </a:r>
          </a:p>
          <a:p>
            <a:pPr lvl="1" algn="just"/>
            <a:r>
              <a:rPr lang="en-US" dirty="0"/>
              <a:t>An IPS is a functional addition to a firewall that adds IDS types of algorithms to the repertoire of the firewall.</a:t>
            </a:r>
          </a:p>
        </p:txBody>
      </p:sp>
    </p:spTree>
    <p:extLst>
      <p:ext uri="{BB962C8B-B14F-4D97-AF65-F5344CB8AC3E}">
        <p14:creationId xmlns:p14="http://schemas.microsoft.com/office/powerpoint/2010/main" val="4972211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Host based IPS </a:t>
            </a:r>
          </a:p>
        </p:txBody>
      </p:sp>
      <p:sp>
        <p:nvSpPr>
          <p:cNvPr id="3" name="Content Placeholder 2"/>
          <p:cNvSpPr>
            <a:spLocks noGrp="1"/>
          </p:cNvSpPr>
          <p:nvPr>
            <p:ph idx="1"/>
          </p:nvPr>
        </p:nvSpPr>
        <p:spPr/>
        <p:txBody>
          <a:bodyPr>
            <a:normAutofit fontScale="92500" lnSpcReduction="10000"/>
          </a:bodyPr>
          <a:lstStyle/>
          <a:p>
            <a:r>
              <a:rPr lang="en-US" dirty="0"/>
              <a:t>A host-based IPS (HIPS) makes use of both signature and anomaly detection techniques to identify attacks.</a:t>
            </a:r>
          </a:p>
          <a:p>
            <a:r>
              <a:rPr lang="en-US" dirty="0"/>
              <a:t>Examples of the types of malicious behavior addressed by a HIPS</a:t>
            </a:r>
          </a:p>
          <a:p>
            <a:pPr lvl="1"/>
            <a:r>
              <a:rPr lang="en-US" b="1" dirty="0"/>
              <a:t>Modification of system resources</a:t>
            </a:r>
          </a:p>
          <a:p>
            <a:pPr lvl="1"/>
            <a:r>
              <a:rPr lang="en-US" b="1" dirty="0"/>
              <a:t>Privilege-escalation exploits</a:t>
            </a:r>
          </a:p>
          <a:p>
            <a:pPr lvl="1"/>
            <a:r>
              <a:rPr lang="en-US" b="1" dirty="0"/>
              <a:t>Buffer-overflow exploits</a:t>
            </a:r>
            <a:endParaRPr lang="en-US" dirty="0"/>
          </a:p>
          <a:p>
            <a:pPr lvl="1"/>
            <a:r>
              <a:rPr lang="en-US" b="1" dirty="0"/>
              <a:t>Access to e-mail contact list</a:t>
            </a:r>
          </a:p>
          <a:p>
            <a:pPr lvl="1"/>
            <a:r>
              <a:rPr lang="en-US" b="1" dirty="0"/>
              <a:t>Directory traversal</a:t>
            </a:r>
          </a:p>
          <a:p>
            <a:r>
              <a:rPr lang="en-US" dirty="0"/>
              <a:t>Filtration is based </a:t>
            </a:r>
            <a:r>
              <a:rPr lang="en-US"/>
              <a:t>on </a:t>
            </a:r>
          </a:p>
          <a:p>
            <a:pPr lvl="1"/>
            <a:r>
              <a:rPr lang="en-US"/>
              <a:t>System </a:t>
            </a:r>
            <a:r>
              <a:rPr lang="en-US" dirty="0"/>
              <a:t>calls, File access, I/O operations </a:t>
            </a:r>
            <a:r>
              <a:rPr lang="en-US"/>
              <a:t>and Registry </a:t>
            </a:r>
            <a:r>
              <a:rPr lang="en-US" dirty="0"/>
              <a:t>Settings </a:t>
            </a:r>
          </a:p>
        </p:txBody>
      </p:sp>
    </p:spTree>
    <p:extLst>
      <p:ext uri="{BB962C8B-B14F-4D97-AF65-F5344CB8AC3E}">
        <p14:creationId xmlns:p14="http://schemas.microsoft.com/office/powerpoint/2010/main" val="364074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based IPS </a:t>
            </a:r>
          </a:p>
        </p:txBody>
      </p:sp>
      <p:sp>
        <p:nvSpPr>
          <p:cNvPr id="3" name="Content Placeholder 2"/>
          <p:cNvSpPr>
            <a:spLocks noGrp="1"/>
          </p:cNvSpPr>
          <p:nvPr>
            <p:ph idx="1"/>
          </p:nvPr>
        </p:nvSpPr>
        <p:spPr/>
        <p:txBody>
          <a:bodyPr>
            <a:normAutofit/>
          </a:bodyPr>
          <a:lstStyle/>
          <a:p>
            <a:r>
              <a:rPr lang="en-US" dirty="0"/>
              <a:t>A network-based IPS (NIPS) is in essence an inline NIDS with the authority to discard packets and tear down TCP connections.</a:t>
            </a:r>
          </a:p>
          <a:p>
            <a:pPr algn="just"/>
            <a:r>
              <a:rPr lang="en-US" dirty="0"/>
              <a:t>In terms of the general methods used by a NIPS device to identify malicious packets, the following are typical:</a:t>
            </a:r>
          </a:p>
          <a:p>
            <a:pPr lvl="1"/>
            <a:r>
              <a:rPr lang="en-US" b="1" dirty="0"/>
              <a:t>Pattern matching</a:t>
            </a:r>
          </a:p>
          <a:p>
            <a:pPr lvl="1"/>
            <a:r>
              <a:rPr lang="en-US" b="1" dirty="0"/>
              <a:t>Stateful matching</a:t>
            </a:r>
          </a:p>
          <a:p>
            <a:pPr lvl="1"/>
            <a:r>
              <a:rPr lang="en-US" b="1" dirty="0"/>
              <a:t>Protocol anomaly</a:t>
            </a:r>
          </a:p>
          <a:p>
            <a:pPr lvl="1"/>
            <a:r>
              <a:rPr lang="en-US" b="1" dirty="0"/>
              <a:t>Traffic anomaly</a:t>
            </a:r>
          </a:p>
          <a:p>
            <a:pPr lvl="1"/>
            <a:r>
              <a:rPr lang="en-US" b="1" dirty="0"/>
              <a:t>Statistical anomaly</a:t>
            </a:r>
            <a:endParaRPr lang="en-US" dirty="0"/>
          </a:p>
        </p:txBody>
      </p:sp>
    </p:spTree>
    <p:extLst>
      <p:ext uri="{BB962C8B-B14F-4D97-AF65-F5344CB8AC3E}">
        <p14:creationId xmlns:p14="http://schemas.microsoft.com/office/powerpoint/2010/main" val="17799759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X.509 Certificates</a:t>
            </a:r>
          </a:p>
        </p:txBody>
      </p:sp>
      <p:sp>
        <p:nvSpPr>
          <p:cNvPr id="3" name="Content Placeholder 2"/>
          <p:cNvSpPr>
            <a:spLocks noGrp="1"/>
          </p:cNvSpPr>
          <p:nvPr>
            <p:ph idx="1"/>
          </p:nvPr>
        </p:nvSpPr>
        <p:spPr/>
        <p:txBody>
          <a:bodyPr>
            <a:normAutofit fontScale="92500" lnSpcReduction="10000"/>
          </a:bodyPr>
          <a:lstStyle/>
          <a:p>
            <a:pPr algn="just"/>
            <a:r>
              <a:rPr lang="en-US" dirty="0"/>
              <a:t>ITU-T recommendation X.509 is part of the X.500 series of recommendations that define a directory service.</a:t>
            </a:r>
          </a:p>
          <a:p>
            <a:pPr algn="just"/>
            <a:r>
              <a:rPr lang="en-US" dirty="0"/>
              <a:t>X.509 defines a framework for the provision of authentication services by the X.500 directory to its users.</a:t>
            </a:r>
          </a:p>
          <a:p>
            <a:pPr algn="just"/>
            <a:r>
              <a:rPr lang="en-US" dirty="0"/>
              <a:t>The directory may serve as a repository of public-key certificates</a:t>
            </a:r>
          </a:p>
          <a:p>
            <a:pPr algn="just"/>
            <a:r>
              <a:rPr lang="en-US" dirty="0"/>
              <a:t>Each certificate contains the public key of a user and is signed with the private key of a trusted certification authority</a:t>
            </a:r>
          </a:p>
          <a:p>
            <a:pPr algn="just"/>
            <a:r>
              <a:rPr lang="en-US" dirty="0"/>
              <a:t>X.509 is based on the use of public-key cryptography and digital signatures. The standard does not dictate the use of a specific algorithm but recommends RSA.  The digital signature scheme is assumed to require the use of a hash function</a:t>
            </a:r>
          </a:p>
        </p:txBody>
      </p:sp>
    </p:spTree>
    <p:extLst>
      <p:ext uri="{BB962C8B-B14F-4D97-AF65-F5344CB8AC3E}">
        <p14:creationId xmlns:p14="http://schemas.microsoft.com/office/powerpoint/2010/main" val="1799007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Certificate Use </a:t>
            </a:r>
          </a:p>
        </p:txBody>
      </p:sp>
      <p:pic>
        <p:nvPicPr>
          <p:cNvPr id="6" name="Content Placeholder 5"/>
          <p:cNvPicPr>
            <a:picLocks noGrp="1" noChangeAspect="1"/>
          </p:cNvPicPr>
          <p:nvPr>
            <p:ph idx="1"/>
          </p:nvPr>
        </p:nvPicPr>
        <p:blipFill>
          <a:blip r:embed="rId2"/>
          <a:stretch>
            <a:fillRect/>
          </a:stretch>
        </p:blipFill>
        <p:spPr>
          <a:xfrm>
            <a:off x="1154954" y="2328084"/>
            <a:ext cx="9476652" cy="4063753"/>
          </a:xfrm>
          <a:prstGeom prst="rect">
            <a:avLst/>
          </a:prstGeom>
        </p:spPr>
      </p:pic>
    </p:spTree>
    <p:extLst>
      <p:ext uri="{BB962C8B-B14F-4D97-AF65-F5344CB8AC3E}">
        <p14:creationId xmlns:p14="http://schemas.microsoft.com/office/powerpoint/2010/main" val="2526053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X.509 </a:t>
            </a:r>
          </a:p>
        </p:txBody>
      </p:sp>
      <p:pic>
        <p:nvPicPr>
          <p:cNvPr id="6" name="Content Placeholder 5"/>
          <p:cNvPicPr>
            <a:picLocks noGrp="1" noChangeAspect="1"/>
          </p:cNvPicPr>
          <p:nvPr>
            <p:ph idx="1"/>
          </p:nvPr>
        </p:nvPicPr>
        <p:blipFill>
          <a:blip r:embed="rId2"/>
          <a:stretch>
            <a:fillRect/>
          </a:stretch>
        </p:blipFill>
        <p:spPr>
          <a:xfrm>
            <a:off x="2811440" y="0"/>
            <a:ext cx="7541100" cy="6858000"/>
          </a:xfrm>
          <a:prstGeom prst="rect">
            <a:avLst/>
          </a:prstGeom>
        </p:spPr>
      </p:pic>
    </p:spTree>
    <p:extLst>
      <p:ext uri="{BB962C8B-B14F-4D97-AF65-F5344CB8AC3E}">
        <p14:creationId xmlns:p14="http://schemas.microsoft.com/office/powerpoint/2010/main" val="2292850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E5E772-49F1-9AB4-9488-BBEFECD8A7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5525" y="310822"/>
            <a:ext cx="4835434" cy="6547178"/>
          </a:xfrm>
          <a:prstGeom prst="rect">
            <a:avLst/>
          </a:prstGeom>
        </p:spPr>
      </p:pic>
    </p:spTree>
    <p:extLst>
      <p:ext uri="{BB962C8B-B14F-4D97-AF65-F5344CB8AC3E}">
        <p14:creationId xmlns:p14="http://schemas.microsoft.com/office/powerpoint/2010/main" val="2289009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DAAF93-9268-6CE5-C898-C9749C6462BD}"/>
              </a:ext>
            </a:extLst>
          </p:cNvPr>
          <p:cNvSpPr txBox="1"/>
          <p:nvPr/>
        </p:nvSpPr>
        <p:spPr>
          <a:xfrm>
            <a:off x="669472" y="638293"/>
            <a:ext cx="9323614" cy="5632311"/>
          </a:xfrm>
          <a:prstGeom prst="rect">
            <a:avLst/>
          </a:prstGeom>
          <a:noFill/>
        </p:spPr>
        <p:txBody>
          <a:bodyPr wrap="square">
            <a:spAutoFit/>
          </a:bodyPr>
          <a:lstStyle/>
          <a:p>
            <a:r>
              <a:rPr lang="en-GB" sz="1800" b="0" i="0" u="none" strike="noStrike" baseline="0" dirty="0">
                <a:latin typeface="Times New Roman" panose="02020603050405020304" pitchFamily="18" charset="0"/>
                <a:cs typeface="Times New Roman" panose="02020603050405020304" pitchFamily="18" charset="0"/>
              </a:rPr>
              <a:t>Whose certificate is this?</a:t>
            </a:r>
          </a:p>
          <a:p>
            <a:pPr algn="l"/>
            <a:r>
              <a:rPr lang="en-GB" sz="1800" b="0" i="0" u="none" strike="noStrike" baseline="0" dirty="0">
                <a:latin typeface="Times New Roman" panose="02020603050405020304" pitchFamily="18" charset="0"/>
                <a:cs typeface="Times New Roman" panose="02020603050405020304" pitchFamily="18" charset="0"/>
              </a:rPr>
              <a:t>Answer. The user DEF</a:t>
            </a:r>
          </a:p>
          <a:p>
            <a:pPr algn="l"/>
            <a:r>
              <a:rPr lang="en-GB" sz="1800" b="0" i="0" u="none" strike="noStrike" baseline="0" dirty="0">
                <a:latin typeface="Times New Roman" panose="02020603050405020304" pitchFamily="18" charset="0"/>
                <a:cs typeface="Times New Roman" panose="02020603050405020304" pitchFamily="18" charset="0"/>
              </a:rPr>
              <a:t>(b) Whose RSA key is included in the certificate? </a:t>
            </a:r>
          </a:p>
          <a:p>
            <a:pPr algn="l"/>
            <a:r>
              <a:rPr lang="en-GB" sz="1800" b="0" i="0" u="none" strike="noStrike" baseline="0" dirty="0">
                <a:latin typeface="Times New Roman" panose="02020603050405020304" pitchFamily="18" charset="0"/>
                <a:cs typeface="Times New Roman" panose="02020603050405020304" pitchFamily="18" charset="0"/>
              </a:rPr>
              <a:t>Answer. The user DEF</a:t>
            </a:r>
          </a:p>
          <a:p>
            <a:pPr algn="l"/>
            <a:r>
              <a:rPr lang="en-GB" sz="1800" b="0" i="0" u="none" strike="noStrike" baseline="0" dirty="0">
                <a:latin typeface="Times New Roman" panose="02020603050405020304" pitchFamily="18" charset="0"/>
                <a:cs typeface="Times New Roman" panose="02020603050405020304" pitchFamily="18" charset="0"/>
              </a:rPr>
              <a:t>(c) What are the last two hexadecimal digits of e in the users RSA key? </a:t>
            </a:r>
          </a:p>
          <a:p>
            <a:pPr algn="l"/>
            <a:r>
              <a:rPr lang="en-GB" sz="1800" b="0" i="0" u="none" strike="noStrike" baseline="0" dirty="0">
                <a:latin typeface="Times New Roman" panose="02020603050405020304" pitchFamily="18" charset="0"/>
                <a:cs typeface="Times New Roman" panose="02020603050405020304" pitchFamily="18" charset="0"/>
              </a:rPr>
              <a:t>Answer. The exponent, e, is 65537 in decimal, or 10001 in hex. The answer is 01.</a:t>
            </a:r>
          </a:p>
          <a:p>
            <a:pPr algn="l"/>
            <a:r>
              <a:rPr lang="en-GB" sz="1800" b="0" i="0" u="none" strike="noStrike" baseline="0" dirty="0">
                <a:latin typeface="Times New Roman" panose="02020603050405020304" pitchFamily="18" charset="0"/>
                <a:cs typeface="Times New Roman" panose="02020603050405020304" pitchFamily="18" charset="0"/>
              </a:rPr>
              <a:t>(d) What are the last two hexadecimal digits of n in the users RSA key? </a:t>
            </a:r>
          </a:p>
          <a:p>
            <a:pPr algn="l"/>
            <a:r>
              <a:rPr lang="en-GB" sz="1800" b="0" i="0" u="none" strike="noStrike" baseline="0" dirty="0">
                <a:latin typeface="Times New Roman" panose="02020603050405020304" pitchFamily="18" charset="0"/>
                <a:cs typeface="Times New Roman" panose="02020603050405020304" pitchFamily="18" charset="0"/>
              </a:rPr>
              <a:t>Answer. The modulus, n, is given in hex and ends with e1.</a:t>
            </a:r>
          </a:p>
          <a:p>
            <a:pPr algn="l"/>
            <a:endParaRPr lang="en-GB" sz="1800" b="0" i="0" u="none" strike="noStrike" baseline="0" dirty="0">
              <a:latin typeface="Times New Roman" panose="02020603050405020304" pitchFamily="18" charset="0"/>
              <a:cs typeface="Times New Roman" panose="02020603050405020304" pitchFamily="18" charset="0"/>
            </a:endParaRPr>
          </a:p>
          <a:p>
            <a:pPr algn="l"/>
            <a:r>
              <a:rPr lang="en-GB" sz="1800" b="0" i="0" u="none" strike="noStrike" baseline="0" dirty="0">
                <a:latin typeface="Times New Roman" panose="02020603050405020304" pitchFamily="18" charset="0"/>
                <a:cs typeface="Times New Roman" panose="02020603050405020304" pitchFamily="18" charset="0"/>
              </a:rPr>
              <a:t>In general, an X.509 certificate for user A can be expressed as:</a:t>
            </a:r>
          </a:p>
          <a:p>
            <a:pPr algn="ctr"/>
            <a:r>
              <a:rPr lang="en-GB" sz="1800" b="0" i="0" u="none" strike="noStrike" baseline="0" dirty="0">
                <a:latin typeface="Times New Roman" panose="02020603050405020304" pitchFamily="18" charset="0"/>
                <a:cs typeface="Times New Roman" panose="02020603050405020304" pitchFamily="18" charset="0"/>
              </a:rPr>
              <a:t>CA = Data</a:t>
            </a:r>
            <a:r>
              <a:rPr lang="en-GB" dirty="0">
                <a:latin typeface="Times New Roman" panose="02020603050405020304" pitchFamily="18" charset="0"/>
                <a:cs typeface="Times New Roman" panose="02020603050405020304" pitchFamily="18" charset="0"/>
              </a:rPr>
              <a:t>||</a:t>
            </a:r>
            <a:r>
              <a:rPr lang="en-GB" sz="1800" b="0" i="0" u="none" strike="noStrike" baseline="0" dirty="0">
                <a:latin typeface="Times New Roman" panose="02020603050405020304" pitchFamily="18" charset="0"/>
                <a:cs typeface="Times New Roman" panose="02020603050405020304" pitchFamily="18" charset="0"/>
              </a:rPr>
              <a:t>S</a:t>
            </a:r>
          </a:p>
          <a:p>
            <a:pPr algn="l"/>
            <a:r>
              <a:rPr lang="en-GB" sz="1800" b="0" i="0" u="none" strike="noStrike" baseline="0" dirty="0">
                <a:latin typeface="Times New Roman" panose="02020603050405020304" pitchFamily="18" charset="0"/>
                <a:cs typeface="Times New Roman" panose="02020603050405020304" pitchFamily="18" charset="0"/>
              </a:rPr>
              <a:t>where Data is the concatenation of the elds: Version, </a:t>
            </a:r>
            <a:r>
              <a:rPr lang="en-GB" sz="1800" b="0" i="0" u="none" strike="noStrike" baseline="0" dirty="0" err="1">
                <a:latin typeface="Times New Roman" panose="02020603050405020304" pitchFamily="18" charset="0"/>
                <a:cs typeface="Times New Roman" panose="02020603050405020304" pitchFamily="18" charset="0"/>
              </a:rPr>
              <a:t>SerialNumber</a:t>
            </a:r>
            <a:r>
              <a:rPr lang="en-GB" sz="1800" b="0" i="0" u="none" strike="noStrike" baseline="0" dirty="0">
                <a:latin typeface="Times New Roman" panose="02020603050405020304" pitchFamily="18" charset="0"/>
                <a:cs typeface="Times New Roman" panose="02020603050405020304" pitchFamily="18" charset="0"/>
              </a:rPr>
              <a:t>, </a:t>
            </a:r>
            <a:r>
              <a:rPr lang="en-GB" sz="1800" b="0" i="0" u="none" strike="noStrike" baseline="0" dirty="0" err="1">
                <a:latin typeface="Times New Roman" panose="02020603050405020304" pitchFamily="18" charset="0"/>
                <a:cs typeface="Times New Roman" panose="02020603050405020304" pitchFamily="18" charset="0"/>
              </a:rPr>
              <a:t>SignatureAlgorithm</a:t>
            </a:r>
            <a:r>
              <a:rPr lang="en-GB" sz="1800" b="0" i="0" u="none" strike="noStrike" baseline="0" dirty="0">
                <a:latin typeface="Times New Roman" panose="02020603050405020304" pitchFamily="18" charset="0"/>
                <a:cs typeface="Times New Roman" panose="02020603050405020304" pitchFamily="18" charset="0"/>
              </a:rPr>
              <a:t>, Issuer, Validity, Subject, </a:t>
            </a:r>
            <a:r>
              <a:rPr lang="en-GB" sz="1800" b="0" i="0" u="none" strike="noStrike" baseline="0" dirty="0" err="1">
                <a:latin typeface="Times New Roman" panose="02020603050405020304" pitchFamily="18" charset="0"/>
                <a:cs typeface="Times New Roman" panose="02020603050405020304" pitchFamily="18" charset="0"/>
              </a:rPr>
              <a:t>SubjectPublicKeyInfo</a:t>
            </a:r>
            <a:r>
              <a:rPr lang="en-GB" sz="1800" b="0" i="0" u="none" strike="noStrike" baseline="0" dirty="0">
                <a:latin typeface="Times New Roman" panose="02020603050405020304" pitchFamily="18" charset="0"/>
                <a:cs typeface="Times New Roman" panose="02020603050405020304" pitchFamily="18" charset="0"/>
              </a:rPr>
              <a:t> and X509v3extensions.</a:t>
            </a:r>
          </a:p>
          <a:p>
            <a:pPr algn="l"/>
            <a:endParaRPr lang="en-GB" sz="1800" b="0" i="0" u="none" strike="noStrike" baseline="0" dirty="0">
              <a:latin typeface="Times New Roman" panose="02020603050405020304" pitchFamily="18" charset="0"/>
              <a:cs typeface="Times New Roman" panose="02020603050405020304" pitchFamily="18" charset="0"/>
            </a:endParaRPr>
          </a:p>
          <a:p>
            <a:pPr algn="l"/>
            <a:r>
              <a:rPr lang="en-GB" sz="1800" b="0" i="0" u="none" strike="noStrike" baseline="0" dirty="0">
                <a:latin typeface="Times New Roman" panose="02020603050405020304" pitchFamily="18" charset="0"/>
                <a:cs typeface="Times New Roman" panose="02020603050405020304" pitchFamily="18" charset="0"/>
              </a:rPr>
              <a:t>(e) Write an equation for how S is calculated in the certificate in Listing 1? You must</a:t>
            </a:r>
          </a:p>
          <a:p>
            <a:pPr algn="l"/>
            <a:r>
              <a:rPr lang="en-GB" sz="1800" b="0" i="0" u="none" strike="noStrike" baseline="0" dirty="0">
                <a:latin typeface="Times New Roman" panose="02020603050405020304" pitchFamily="18" charset="0"/>
                <a:cs typeface="Times New Roman" panose="02020603050405020304" pitchFamily="18" charset="0"/>
              </a:rPr>
              <a:t>use the names of algorithms used in the above certificate (i.e. you cannot use E()),</a:t>
            </a:r>
          </a:p>
          <a:p>
            <a:pPr algn="l"/>
            <a:r>
              <a:rPr lang="en-GB" sz="1800" b="0" i="0" u="none" strike="noStrike" baseline="0" dirty="0">
                <a:latin typeface="Times New Roman" panose="02020603050405020304" pitchFamily="18" charset="0"/>
                <a:cs typeface="Times New Roman" panose="02020603050405020304" pitchFamily="18" charset="0"/>
              </a:rPr>
              <a:t>as well as clearly identify which user each key belongs to. You may use the variable</a:t>
            </a:r>
          </a:p>
          <a:p>
            <a:pPr algn="l"/>
            <a:r>
              <a:rPr lang="en-GB" sz="1800" b="0" i="0" u="none" strike="noStrike" baseline="0" dirty="0">
                <a:latin typeface="Times New Roman" panose="02020603050405020304" pitchFamily="18" charset="0"/>
                <a:cs typeface="Times New Roman" panose="02020603050405020304" pitchFamily="18" charset="0"/>
              </a:rPr>
              <a:t>Data in your equation to represent the concatenation of various elds.</a:t>
            </a:r>
          </a:p>
          <a:p>
            <a:pPr algn="l"/>
            <a:r>
              <a:rPr lang="en-GB" sz="1800" b="0" i="0" u="none" strike="noStrike" baseline="0" dirty="0">
                <a:latin typeface="Times New Roman" panose="02020603050405020304" pitchFamily="18" charset="0"/>
                <a:cs typeface="Times New Roman" panose="02020603050405020304" pitchFamily="18" charset="0"/>
              </a:rPr>
              <a:t>Answer.</a:t>
            </a:r>
          </a:p>
          <a:p>
            <a:pPr algn="l"/>
            <a:endParaRPr lang="en-GB"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58A9BFF-3758-5C02-01E2-02988CE696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1263" y="5626756"/>
            <a:ext cx="3862493" cy="956924"/>
          </a:xfrm>
          <a:prstGeom prst="rect">
            <a:avLst/>
          </a:prstGeom>
        </p:spPr>
      </p:pic>
    </p:spTree>
    <p:extLst>
      <p:ext uri="{BB962C8B-B14F-4D97-AF65-F5344CB8AC3E}">
        <p14:creationId xmlns:p14="http://schemas.microsoft.com/office/powerpoint/2010/main" val="19287097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a:t>
            </a:r>
          </a:p>
        </p:txBody>
      </p:sp>
      <p:sp>
        <p:nvSpPr>
          <p:cNvPr id="3" name="Content Placeholder 2"/>
          <p:cNvSpPr>
            <a:spLocks noGrp="1"/>
          </p:cNvSpPr>
          <p:nvPr>
            <p:ph idx="1"/>
          </p:nvPr>
        </p:nvSpPr>
        <p:spPr/>
        <p:txBody>
          <a:bodyPr/>
          <a:lstStyle/>
          <a:p>
            <a:r>
              <a:rPr lang="en-US" dirty="0"/>
              <a:t>Computer Security Principles and Practice, 2</a:t>
            </a:r>
            <a:r>
              <a:rPr lang="en-US" baseline="30000" dirty="0"/>
              <a:t>nd</a:t>
            </a:r>
            <a:r>
              <a:rPr lang="en-US" dirty="0"/>
              <a:t> Edition. </a:t>
            </a:r>
          </a:p>
        </p:txBody>
      </p:sp>
    </p:spTree>
    <p:extLst>
      <p:ext uri="{BB962C8B-B14F-4D97-AF65-F5344CB8AC3E}">
        <p14:creationId xmlns:p14="http://schemas.microsoft.com/office/powerpoint/2010/main" val="21271752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1804</TotalTime>
  <Words>3115</Words>
  <Application>Microsoft Office PowerPoint</Application>
  <PresentationFormat>Widescreen</PresentationFormat>
  <Paragraphs>208</Paragraphs>
  <Slides>43</Slides>
  <Notes>5</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Google Sans</vt:lpstr>
      <vt:lpstr>Arial</vt:lpstr>
      <vt:lpstr>Calibri</vt:lpstr>
      <vt:lpstr>Century Gothic</vt:lpstr>
      <vt:lpstr>Times New Roman</vt:lpstr>
      <vt:lpstr>Wingdings 3</vt:lpstr>
      <vt:lpstr>Ion Boardroom</vt:lpstr>
      <vt:lpstr>Secure Networks </vt:lpstr>
      <vt:lpstr>Firewalls</vt:lpstr>
      <vt:lpstr>Evolution of Information Systems </vt:lpstr>
      <vt:lpstr>The need of firewall </vt:lpstr>
      <vt:lpstr>Firewall Characteristics and Access Policy</vt:lpstr>
      <vt:lpstr>Characteristics use to filter traffic </vt:lpstr>
      <vt:lpstr>Firewall Capabilities </vt:lpstr>
      <vt:lpstr>Firewall Limitations </vt:lpstr>
      <vt:lpstr>Types of Firewalls </vt:lpstr>
      <vt:lpstr>Types of Firewalls </vt:lpstr>
      <vt:lpstr>Packet Filtering Firewall </vt:lpstr>
      <vt:lpstr>Packet Filtering Firewall </vt:lpstr>
      <vt:lpstr>Packet Filter Firewall Rules </vt:lpstr>
      <vt:lpstr>Packet Filter Firewall Rules </vt:lpstr>
      <vt:lpstr>Packet Filter Firewall Rules </vt:lpstr>
      <vt:lpstr>Packet Filter Firewall Rules </vt:lpstr>
      <vt:lpstr>Weakness of Packet Filtering Firewall </vt:lpstr>
      <vt:lpstr>Attacks on Packet Filtering Firewall </vt:lpstr>
      <vt:lpstr>Countermeasures </vt:lpstr>
      <vt:lpstr>Stateful packet Inspection</vt:lpstr>
      <vt:lpstr>State Table</vt:lpstr>
      <vt:lpstr>TCP states </vt:lpstr>
      <vt:lpstr>Application-Level Gateway</vt:lpstr>
      <vt:lpstr>Application-level Gateway</vt:lpstr>
      <vt:lpstr>Circuit-level Gateway</vt:lpstr>
      <vt:lpstr>Firewall BASING </vt:lpstr>
      <vt:lpstr>Bastion Host</vt:lpstr>
      <vt:lpstr>Host based Firewall </vt:lpstr>
      <vt:lpstr>Personal Firewall</vt:lpstr>
      <vt:lpstr>Firewall Location and Configurations</vt:lpstr>
      <vt:lpstr>DMZ Networks</vt:lpstr>
      <vt:lpstr>Distributed Firewalls </vt:lpstr>
      <vt:lpstr>Virtual Private Network</vt:lpstr>
      <vt:lpstr>Intrusion Prevention System </vt:lpstr>
      <vt:lpstr>Introduction</vt:lpstr>
      <vt:lpstr>Host based IPS </vt:lpstr>
      <vt:lpstr>Network based IPS </vt:lpstr>
      <vt:lpstr>X.509 Certificates</vt:lpstr>
      <vt:lpstr>Public Key Certificate Use </vt:lpstr>
      <vt:lpstr>X.509 </vt:lpstr>
      <vt:lpstr>PowerPoint Presentation</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Networks </dc:title>
  <dc:creator>Abdullah</dc:creator>
  <cp:lastModifiedBy>Sara Qaisar</cp:lastModifiedBy>
  <cp:revision>29</cp:revision>
  <dcterms:created xsi:type="dcterms:W3CDTF">2022-11-22T05:13:49Z</dcterms:created>
  <dcterms:modified xsi:type="dcterms:W3CDTF">2023-11-08T16:00:01Z</dcterms:modified>
</cp:coreProperties>
</file>