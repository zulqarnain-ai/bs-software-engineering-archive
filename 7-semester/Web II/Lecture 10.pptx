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9" r:id="rId1"/>
  </p:sldMasterIdLst>
  <p:sldIdLst>
    <p:sldId id="256" r:id="rId2"/>
    <p:sldId id="257" r:id="rId3"/>
    <p:sldId id="258" r:id="rId4"/>
    <p:sldId id="259" r:id="rId5"/>
    <p:sldId id="260" r:id="rId6"/>
    <p:sldId id="284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85" r:id="rId19"/>
    <p:sldId id="272" r:id="rId20"/>
    <p:sldId id="273" r:id="rId21"/>
    <p:sldId id="274" r:id="rId22"/>
    <p:sldId id="275" r:id="rId23"/>
    <p:sldId id="286" r:id="rId24"/>
    <p:sldId id="277" r:id="rId25"/>
    <p:sldId id="278" r:id="rId26"/>
    <p:sldId id="279" r:id="rId27"/>
    <p:sldId id="280" r:id="rId28"/>
    <p:sldId id="281" r:id="rId29"/>
    <p:sldId id="282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102240" y="2386744"/>
            <a:ext cx="693952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5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1396" y="4352544"/>
            <a:ext cx="5101209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19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7044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5156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106424" y="2386744"/>
            <a:ext cx="6940296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5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1396" y="4352465"/>
            <a:ext cx="5101209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1900">
                <a:solidFill>
                  <a:schemeClr val="tx1"/>
                </a:solidFill>
              </a:defRPr>
            </a:lvl1pPr>
            <a:lvl2pPr marL="45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4070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2239" y="2638044"/>
            <a:ext cx="3288023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3737" y="2638044"/>
            <a:ext cx="3290516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717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2239" y="2313434"/>
            <a:ext cx="3288024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2239" y="3143250"/>
            <a:ext cx="3288024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737" y="3143250"/>
            <a:ext cx="3290516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753737" y="2313434"/>
            <a:ext cx="3290516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4478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4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600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40703" y="2243829"/>
            <a:ext cx="3290594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1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2060" y="804672"/>
            <a:ext cx="361188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2965" y="3549918"/>
            <a:ext cx="284607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640703" y="6236208"/>
            <a:ext cx="3806398" cy="320040"/>
          </a:xfrm>
        </p:spPr>
        <p:txBody>
          <a:bodyPr>
            <a:normAutofit/>
          </a:bodyPr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9532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" y="0"/>
            <a:ext cx="4571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40080" y="2243828"/>
            <a:ext cx="3291840" cy="1143000"/>
          </a:xfrm>
          <a:solidFill>
            <a:srgbClr val="FFFFFF"/>
          </a:solidFill>
          <a:ln>
            <a:solidFill>
              <a:srgbClr val="262626"/>
            </a:solidFill>
          </a:ln>
        </p:spPr>
        <p:txBody>
          <a:bodyPr anchor="ctr" anchorCtr="1">
            <a:noAutofit/>
          </a:bodyPr>
          <a:lstStyle>
            <a:lvl1pPr>
              <a:defRPr sz="21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72000" y="-42172"/>
            <a:ext cx="4576573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2965" y="3549919"/>
            <a:ext cx="284607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40080" y="6236208"/>
            <a:ext cx="3803904" cy="320040"/>
          </a:xfrm>
        </p:spPr>
        <p:txBody>
          <a:bodyPr>
            <a:normAutofit/>
          </a:bodyPr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514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800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9834" y="937260"/>
            <a:ext cx="1053966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06046" y="937260"/>
            <a:ext cx="4716174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825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606045" y="964692"/>
            <a:ext cx="5937755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6045" y="2638045"/>
            <a:ext cx="5937755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78943" y="6238816"/>
            <a:ext cx="2065310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02239" y="6236208"/>
            <a:ext cx="4556664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4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853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6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44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28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 to Node.js &amp; React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 Modern Web</a:t>
            </a:r>
            <a:r>
              <a:rPr lang="en-US" dirty="0"/>
              <a:t> way of</a:t>
            </a:r>
            <a:r>
              <a:rPr dirty="0"/>
              <a:t> Development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Node.js?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JavaScript runtime </a:t>
            </a:r>
            <a:r>
              <a:rPr lang="en-US" dirty="0"/>
              <a:t>Built on </a:t>
            </a:r>
            <a:r>
              <a:rPr lang="en-US" b="1" dirty="0"/>
              <a:t>Chrome’s V8 JavaScript engine</a:t>
            </a:r>
            <a:endParaRPr dirty="0"/>
          </a:p>
          <a:p>
            <a:r>
              <a:rPr dirty="0"/>
              <a:t>- Runs JavaScript outside the browser</a:t>
            </a:r>
          </a:p>
          <a:p>
            <a:r>
              <a:rPr dirty="0"/>
              <a:t>- Used for backend development</a:t>
            </a:r>
          </a:p>
          <a:p>
            <a:r>
              <a:rPr dirty="0"/>
              <a:t>- Enables full-stack JavaScript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Node.js Exists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JavaScript originally only ran in browsers</a:t>
            </a:r>
          </a:p>
          <a:p>
            <a:r>
              <a:rPr dirty="0"/>
              <a:t>- Needed a fast backend engine</a:t>
            </a:r>
          </a:p>
          <a:p>
            <a:r>
              <a:rPr dirty="0"/>
              <a:t>- Supports event‑driven, non‑blocking architecture</a:t>
            </a:r>
            <a:endParaRPr lang="en-US" dirty="0"/>
          </a:p>
          <a:p>
            <a:r>
              <a:rPr lang="en-US" dirty="0"/>
              <a:t>Node introduced a way to write </a:t>
            </a:r>
            <a:r>
              <a:rPr lang="en-US" b="1" dirty="0"/>
              <a:t>full-stack JS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Node.js Alternatives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- Python (Django/Flask)</a:t>
            </a:r>
          </a:p>
          <a:p>
            <a:r>
              <a:rPr dirty="0"/>
              <a:t>- PHP (Laravel)</a:t>
            </a:r>
          </a:p>
          <a:p>
            <a:r>
              <a:rPr dirty="0"/>
              <a:t>- Java (Spring Boot)</a:t>
            </a:r>
          </a:p>
          <a:p>
            <a:r>
              <a:rPr dirty="0"/>
              <a:t>- Ruby (Rails)</a:t>
            </a:r>
          </a:p>
          <a:p>
            <a:r>
              <a:rPr dirty="0"/>
              <a:t>Node is ideal for </a:t>
            </a:r>
            <a:endParaRPr lang="en-US" dirty="0"/>
          </a:p>
          <a:p>
            <a:pPr lvl="1"/>
            <a:r>
              <a:rPr dirty="0"/>
              <a:t>scalable </a:t>
            </a:r>
            <a:endParaRPr lang="en-US" dirty="0"/>
          </a:p>
          <a:p>
            <a:pPr lvl="1"/>
            <a:r>
              <a:rPr dirty="0"/>
              <a:t>real‑time apps</a:t>
            </a:r>
            <a:endParaRPr lang="en-US" dirty="0"/>
          </a:p>
          <a:p>
            <a:pPr lvl="1"/>
            <a:r>
              <a:rPr lang="en-US" dirty="0"/>
              <a:t>High concurrency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3122" y="370332"/>
            <a:ext cx="5937755" cy="1188720"/>
          </a:xfrm>
        </p:spPr>
        <p:txBody>
          <a:bodyPr/>
          <a:lstStyle/>
          <a:p>
            <a:r>
              <a:t>Why &amp; When to Use Node.js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F2131EB-FE60-81E4-DAB7-BD2A7421748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1" y="1974246"/>
            <a:ext cx="8229600" cy="46782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Single programming language across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frontend + backend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Extremely fast due to V8 engine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Great ecosystem: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NPM = largest package registry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Perfect for: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apps (chats, notifications)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Streaming apps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API services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Microservices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BEDB6-D835-69FF-CE64-3573EB302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When Should We Use Node.js?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0575C3-C337-23A3-AD6D-C75D39F54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Use Node.js when you need:</a:t>
            </a:r>
          </a:p>
          <a:p>
            <a:r>
              <a:rPr lang="en-US" dirty="0"/>
              <a:t>Non-blocking, event-driven architecture</a:t>
            </a:r>
          </a:p>
          <a:p>
            <a:r>
              <a:rPr lang="en-US" dirty="0"/>
              <a:t>High traffic handling</a:t>
            </a:r>
          </a:p>
          <a:p>
            <a:r>
              <a:rPr lang="en-US" dirty="0"/>
              <a:t>Rapid development</a:t>
            </a:r>
          </a:p>
          <a:p>
            <a:r>
              <a:rPr lang="en-US" dirty="0"/>
              <a:t>Full-stack JS workflow</a:t>
            </a:r>
          </a:p>
          <a:p>
            <a:r>
              <a:rPr lang="en-US" dirty="0"/>
              <a:t>Real-time communication</a:t>
            </a:r>
          </a:p>
          <a:p>
            <a:r>
              <a:rPr lang="en-US" b="1" dirty="0"/>
              <a:t>Avoid Node.js when you need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CPU-intensive operations</a:t>
            </a:r>
          </a:p>
          <a:p>
            <a:pPr lvl="1"/>
            <a:r>
              <a:rPr lang="en-US" dirty="0"/>
              <a:t>Complex multi-threading calculations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311046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Node.js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Event-driven</a:t>
            </a:r>
          </a:p>
          <a:p>
            <a:r>
              <a:t>Non-blocking I/O</a:t>
            </a:r>
          </a:p>
          <a:p>
            <a:r>
              <a:t>Single-threaded</a:t>
            </a:r>
          </a:p>
          <a:p>
            <a:r>
              <a:t>Highly scalable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Installing Node.js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Download from nodejs.org</a:t>
            </a:r>
          </a:p>
          <a:p>
            <a:r>
              <a:t>Verify using node -v and npm -v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First Node Script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file app.js</a:t>
            </a:r>
          </a:p>
          <a:p>
            <a:r>
              <a:rPr lang="en-US" dirty="0"/>
              <a:t>console.log("Hello from Node.js");</a:t>
            </a:r>
          </a:p>
          <a:p>
            <a:r>
              <a:rPr lang="en-US" dirty="0"/>
              <a:t>Run:</a:t>
            </a:r>
          </a:p>
          <a:p>
            <a:r>
              <a:rPr lang="en-US" dirty="0"/>
              <a:t>node app.js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Basic Node Server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const http = require("http");</a:t>
            </a:r>
          </a:p>
          <a:p>
            <a:r>
              <a:rPr lang="en-US" dirty="0"/>
              <a:t>const server = </a:t>
            </a:r>
            <a:r>
              <a:rPr lang="en-US" dirty="0" err="1"/>
              <a:t>http.createServer</a:t>
            </a:r>
            <a:r>
              <a:rPr lang="en-US" dirty="0"/>
              <a:t>((req, res) =&gt; {</a:t>
            </a:r>
          </a:p>
          <a:p>
            <a:r>
              <a:rPr lang="en-US" dirty="0"/>
              <a:t>  </a:t>
            </a:r>
            <a:r>
              <a:rPr lang="en-US" dirty="0" err="1"/>
              <a:t>res.end</a:t>
            </a:r>
            <a:r>
              <a:rPr lang="en-US" dirty="0"/>
              <a:t>("Server running...");</a:t>
            </a:r>
          </a:p>
          <a:p>
            <a:r>
              <a:rPr lang="en-US" dirty="0"/>
              <a:t>});</a:t>
            </a:r>
          </a:p>
          <a:p>
            <a:r>
              <a:rPr lang="en-US" dirty="0" err="1"/>
              <a:t>server.listen</a:t>
            </a:r>
            <a:r>
              <a:rPr lang="en-US" dirty="0"/>
              <a:t>(3000);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Express.js?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Simplifies routing</a:t>
            </a:r>
          </a:p>
          <a:p>
            <a:r>
              <a:t>Handles middleware</a:t>
            </a:r>
          </a:p>
          <a:p>
            <a:r>
              <a:t>Perfect for REST APIs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Express API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app.get('/users', (req,res)=&gt;res.json([]));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Node.js with Database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Supports MongoDB, MySQL, PostgreSQL etc.</a:t>
            </a:r>
            <a:endParaRPr lang="en-US" dirty="0"/>
          </a:p>
          <a:p>
            <a:endParaRPr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10F24FD-BC17-DBC5-71BD-C654B6F819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6265" y="2372790"/>
            <a:ext cx="6063175" cy="1292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 dirty="0"/>
              <a:t>Libraries: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my</a:t>
            </a:r>
            <a:r>
              <a:rPr lang="en-US" altLang="en-US" dirty="0" err="1">
                <a:latin typeface="Arial" panose="020B0604020202020204" pitchFamily="34" charset="0"/>
              </a:rPr>
              <a:t>mongoose</a:t>
            </a:r>
            <a:r>
              <a:rPr lang="en-US" altLang="en-US" dirty="0">
                <a:latin typeface="Arial" panose="020B0604020202020204" pitchFamily="34" charset="0"/>
              </a:rPr>
              <a:t> (MongoDB)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sql2 (MySQL)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sequelize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ORM)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MongoDB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const mongoose = require("mongoose");</a:t>
            </a:r>
          </a:p>
          <a:p>
            <a:endParaRPr lang="en-US" dirty="0"/>
          </a:p>
          <a:p>
            <a:r>
              <a:rPr lang="en-US" dirty="0" err="1"/>
              <a:t>mongoose.connect</a:t>
            </a:r>
            <a:r>
              <a:rPr lang="en-US" dirty="0"/>
              <a:t>("</a:t>
            </a:r>
            <a:r>
              <a:rPr lang="en-US" dirty="0" err="1"/>
              <a:t>mongodb</a:t>
            </a:r>
            <a:r>
              <a:rPr lang="en-US" dirty="0"/>
              <a:t>://localhost/</a:t>
            </a:r>
            <a:r>
              <a:rPr lang="en-US" dirty="0" err="1"/>
              <a:t>mydb</a:t>
            </a:r>
            <a:r>
              <a:rPr lang="en-US" dirty="0"/>
              <a:t>")</a:t>
            </a:r>
          </a:p>
          <a:p>
            <a:r>
              <a:rPr lang="en-US" dirty="0"/>
              <a:t>  .then(() =&gt; console.log("DB connected"))</a:t>
            </a:r>
          </a:p>
          <a:p>
            <a:r>
              <a:rPr lang="en-US" dirty="0"/>
              <a:t>  .catch(err =&gt; console.log(err));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Node API Workflow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8E6C743-C34E-D390-A335-B917F07CE2E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88720" y="1713712"/>
            <a:ext cx="5883342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Client hits API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Express receives request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Controller processes logic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DB query executes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Response returned to frontend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Real-Time Apps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Sockets,</a:t>
            </a:r>
            <a:endParaRPr lang="en-US" dirty="0"/>
          </a:p>
          <a:p>
            <a:r>
              <a:rPr dirty="0"/>
              <a:t>chat apps</a:t>
            </a:r>
            <a:endParaRPr lang="en-US" dirty="0"/>
          </a:p>
          <a:p>
            <a:r>
              <a:rPr lang="en-US" dirty="0"/>
              <a:t>D</a:t>
            </a:r>
            <a:r>
              <a:rPr dirty="0"/>
              <a:t>ashboards</a:t>
            </a:r>
            <a:endParaRPr lang="en-US" dirty="0"/>
          </a:p>
          <a:p>
            <a:r>
              <a:rPr lang="en-US" dirty="0"/>
              <a:t>Notification systems</a:t>
            </a: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React Testing – Why?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E8EB654-D257-8073-D9EA-1F1DCEFFD78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2955240"/>
            <a:ext cx="8282011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Validating React components behave as expected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Ensures reliability and maintainability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Helps avoid regressions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Supports Test-Driven Development (TDD)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EE840-1B6E-9F72-C0E1-97FD86ACD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Why Testing React Apps Matters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044313-D400-987D-5A93-D8CAB30372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Detect bugs early</a:t>
            </a:r>
          </a:p>
          <a:p>
            <a:r>
              <a:rPr lang="en-US" dirty="0"/>
              <a:t>Prevent breaking changes</a:t>
            </a:r>
          </a:p>
          <a:p>
            <a:r>
              <a:rPr lang="en-US" dirty="0"/>
              <a:t>Ensures UI behaves correctly</a:t>
            </a:r>
          </a:p>
          <a:p>
            <a:r>
              <a:rPr lang="en-US" dirty="0"/>
              <a:t>Improves developer confidence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00469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React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Unit</a:t>
            </a:r>
          </a:p>
          <a:p>
            <a:r>
              <a:t>Component</a:t>
            </a:r>
          </a:p>
          <a:p>
            <a:r>
              <a:t>Integration</a:t>
            </a:r>
          </a:p>
          <a:p>
            <a:r>
              <a:t>End-to-End (E2E)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Popular Testing Tools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4765CA9-DE65-EC97-FFC9-9BFCFAD48A7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2739797"/>
            <a:ext cx="8096062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Jest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JavaScript testing framework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React Testing Library (RTL)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tests UI behavior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Enzyme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(older, less used now)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Cypress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E2E browser testing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Playwright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modern E2E testing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Jest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Jest Basics</a:t>
            </a:r>
          </a:p>
          <a:p>
            <a:r>
              <a:rPr lang="en-US" dirty="0"/>
              <a:t>Built-in test runner</a:t>
            </a:r>
          </a:p>
          <a:p>
            <a:r>
              <a:rPr lang="en-US" dirty="0"/>
              <a:t>Snapshot testing</a:t>
            </a:r>
          </a:p>
          <a:p>
            <a:r>
              <a:rPr lang="en-US" dirty="0"/>
              <a:t>Mocking functions</a:t>
            </a:r>
          </a:p>
          <a:p>
            <a:r>
              <a:rPr lang="en-US" dirty="0"/>
              <a:t>Fast performance</a:t>
            </a:r>
          </a:p>
          <a:p>
            <a:r>
              <a:rPr lang="en-US" dirty="0"/>
              <a:t>Example test:</a:t>
            </a:r>
          </a:p>
          <a:p>
            <a:r>
              <a:rPr lang="en-US" dirty="0"/>
              <a:t>test("adds numbers", () =&gt; {</a:t>
            </a:r>
          </a:p>
          <a:p>
            <a:r>
              <a:rPr lang="en-US" dirty="0"/>
              <a:t>  expect(2 + 2).</a:t>
            </a:r>
            <a:r>
              <a:rPr lang="en-US" dirty="0" err="1"/>
              <a:t>toBe</a:t>
            </a:r>
            <a:r>
              <a:rPr lang="en-US" dirty="0"/>
              <a:t>(4);</a:t>
            </a:r>
          </a:p>
          <a:p>
            <a:r>
              <a:rPr lang="en-US" dirty="0"/>
              <a:t>});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React Testing Library (RTL)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B17235B-BDF1-B3FD-6DFF-7BFE1ED9ADF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2339687"/>
            <a:ext cx="7063729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Tests UI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like a real user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Focuses 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Buttons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Text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Form inputs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Avoids testing implementation details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D7915-C3E4-50A1-6601-F5A2BDFBA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Common Testing Approaches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176CF9-F795-462D-7F6D-FE7006B577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Render and check element</a:t>
            </a:r>
          </a:p>
          <a:p>
            <a:r>
              <a:rPr lang="en-US" dirty="0"/>
              <a:t>Simulate clicks</a:t>
            </a:r>
          </a:p>
          <a:p>
            <a:r>
              <a:rPr lang="en-US" dirty="0"/>
              <a:t>Mock API calls</a:t>
            </a:r>
          </a:p>
          <a:p>
            <a:r>
              <a:rPr lang="en-US" dirty="0"/>
              <a:t>Form validation tests</a:t>
            </a:r>
          </a:p>
          <a:p>
            <a:r>
              <a:rPr lang="en-US" dirty="0"/>
              <a:t>Snapshot tests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20800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User Events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click,</a:t>
            </a:r>
            <a:endParaRPr lang="en-US" dirty="0"/>
          </a:p>
          <a:p>
            <a:r>
              <a:rPr lang="en-US" dirty="0"/>
              <a:t>T</a:t>
            </a:r>
            <a:r>
              <a:rPr dirty="0"/>
              <a:t>ype</a:t>
            </a:r>
            <a:endParaRPr lang="en-US" dirty="0"/>
          </a:p>
          <a:p>
            <a:r>
              <a:rPr dirty="0"/>
              <a:t>change events</a:t>
            </a:r>
            <a:endParaRPr lang="en-US" dirty="0"/>
          </a:p>
          <a:p>
            <a:r>
              <a:rPr lang="en-US" dirty="0"/>
              <a:t>submitting forms</a:t>
            </a:r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Mocking APIs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Mock fetch/</a:t>
            </a:r>
            <a:r>
              <a:rPr dirty="0" err="1"/>
              <a:t>axios</a:t>
            </a:r>
            <a:r>
              <a:rPr dirty="0"/>
              <a:t> in unit tests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global.fetch</a:t>
            </a:r>
            <a:r>
              <a:rPr lang="en-US" dirty="0"/>
              <a:t> = </a:t>
            </a:r>
            <a:r>
              <a:rPr lang="en-US" dirty="0" err="1"/>
              <a:t>jest.fn</a:t>
            </a:r>
            <a:r>
              <a:rPr lang="en-US" dirty="0"/>
              <a:t>(() =&gt;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Promise.resolve</a:t>
            </a:r>
            <a:r>
              <a:rPr lang="en-US" dirty="0"/>
              <a:t>({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json</a:t>
            </a:r>
            <a:r>
              <a:rPr lang="en-US" dirty="0"/>
              <a:t>: () =&gt; </a:t>
            </a:r>
            <a:r>
              <a:rPr lang="en-US" dirty="0" err="1"/>
              <a:t>Promise.resolve</a:t>
            </a:r>
            <a:r>
              <a:rPr lang="en-US" dirty="0"/>
              <a:t>({ name: "John" })</a:t>
            </a:r>
          </a:p>
          <a:p>
            <a:pPr marL="0" indent="0">
              <a:buNone/>
            </a:pPr>
            <a:r>
              <a:rPr lang="en-US" dirty="0"/>
              <a:t>  })</a:t>
            </a:r>
          </a:p>
          <a:p>
            <a:pPr marL="0" indent="0">
              <a:buNone/>
            </a:pPr>
            <a:r>
              <a:rPr lang="en-US" dirty="0"/>
              <a:t>);</a:t>
            </a:r>
            <a:endParaRPr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Integration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Multiple components working together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End-to-End Testing (Cypress / Playwright)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/>
              <a:t>Full browser automation with Cypress/Playwright</a:t>
            </a:r>
            <a:endParaRPr lang="en-US" dirty="0"/>
          </a:p>
          <a:p>
            <a:r>
              <a:rPr lang="en-US" dirty="0"/>
              <a:t>Tests full user flow:</a:t>
            </a:r>
          </a:p>
          <a:p>
            <a:r>
              <a:rPr lang="en-US" dirty="0"/>
              <a:t>Load page</a:t>
            </a:r>
          </a:p>
          <a:p>
            <a:r>
              <a:rPr lang="en-US" dirty="0"/>
              <a:t>Type in form</a:t>
            </a:r>
          </a:p>
          <a:p>
            <a:r>
              <a:rPr lang="en-US" dirty="0"/>
              <a:t>Click submit</a:t>
            </a:r>
          </a:p>
          <a:p>
            <a:r>
              <a:rPr lang="en-US" dirty="0"/>
              <a:t>Validate response</a:t>
            </a:r>
          </a:p>
          <a:p>
            <a:r>
              <a:rPr lang="en-US" dirty="0"/>
              <a:t>Used for:</a:t>
            </a:r>
          </a:p>
          <a:p>
            <a:r>
              <a:rPr lang="en-US" dirty="0"/>
              <a:t>Login flows</a:t>
            </a:r>
          </a:p>
          <a:p>
            <a:r>
              <a:rPr lang="en-US" dirty="0"/>
              <a:t>Checkout processes</a:t>
            </a:r>
          </a:p>
          <a:p>
            <a:r>
              <a:rPr lang="en-US" dirty="0"/>
              <a:t>Dashboard workflows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to Test in React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Rendering</a:t>
            </a:r>
          </a:p>
          <a:p>
            <a:r>
              <a:t>Props</a:t>
            </a:r>
          </a:p>
          <a:p>
            <a:r>
              <a:t>State changes</a:t>
            </a:r>
          </a:p>
          <a:p>
            <a:r>
              <a:t>Events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 behavior, not implementation details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47</TotalTime>
  <Words>706</Words>
  <Application>Microsoft Office PowerPoint</Application>
  <PresentationFormat>On-screen Show (4:3)</PresentationFormat>
  <Paragraphs>164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Gill Sans MT</vt:lpstr>
      <vt:lpstr>Parcel</vt:lpstr>
      <vt:lpstr>Intro to Node.js &amp; React Testing</vt:lpstr>
      <vt:lpstr>What is Node.js?</vt:lpstr>
      <vt:lpstr>Why Node.js Exists</vt:lpstr>
      <vt:lpstr>Node.js Alternatives</vt:lpstr>
      <vt:lpstr>Why &amp; When to Use Node.js</vt:lpstr>
      <vt:lpstr>When Should We Use Node.js?</vt:lpstr>
      <vt:lpstr>Node.js Architecture</vt:lpstr>
      <vt:lpstr>Installing Node.js</vt:lpstr>
      <vt:lpstr>First Node Script</vt:lpstr>
      <vt:lpstr>Basic Node Server</vt:lpstr>
      <vt:lpstr>Why Express.js?</vt:lpstr>
      <vt:lpstr>Express API Example</vt:lpstr>
      <vt:lpstr>Node.js with Database</vt:lpstr>
      <vt:lpstr>MongoDB Example</vt:lpstr>
      <vt:lpstr>Node API Workflow</vt:lpstr>
      <vt:lpstr>Real-Time Apps</vt:lpstr>
      <vt:lpstr>React Testing – Why?</vt:lpstr>
      <vt:lpstr>Why Testing React Apps Matters</vt:lpstr>
      <vt:lpstr>Types of React Tests</vt:lpstr>
      <vt:lpstr>Popular Testing Tools</vt:lpstr>
      <vt:lpstr>Jest Example</vt:lpstr>
      <vt:lpstr>React Testing Library (RTL)</vt:lpstr>
      <vt:lpstr>Common Testing Approaches</vt:lpstr>
      <vt:lpstr>Testing User Events</vt:lpstr>
      <vt:lpstr>Mocking APIs</vt:lpstr>
      <vt:lpstr>Integration Testing</vt:lpstr>
      <vt:lpstr>End-to-End Testing (Cypress / Playwright)</vt:lpstr>
      <vt:lpstr>What to Test in React</vt:lpstr>
      <vt:lpstr>Best Practices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 n</cp:lastModifiedBy>
  <cp:revision>2</cp:revision>
  <dcterms:created xsi:type="dcterms:W3CDTF">2013-01-27T09:14:16Z</dcterms:created>
  <dcterms:modified xsi:type="dcterms:W3CDTF">2025-12-09T08:00:48Z</dcterms:modified>
  <cp:category/>
</cp:coreProperties>
</file>