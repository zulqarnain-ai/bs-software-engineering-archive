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notesMasterIdLst>
    <p:notesMasterId r:id="rId39"/>
  </p:notesMasterIdLst>
  <p:handoutMasterIdLst>
    <p:handoutMasterId r:id="rId40"/>
  </p:handoutMasterIdLst>
  <p:sldIdLst>
    <p:sldId id="477" r:id="rId2"/>
    <p:sldId id="478" r:id="rId3"/>
    <p:sldId id="376" r:id="rId4"/>
    <p:sldId id="379" r:id="rId5"/>
    <p:sldId id="479" r:id="rId6"/>
    <p:sldId id="363" r:id="rId7"/>
    <p:sldId id="494" r:id="rId8"/>
    <p:sldId id="364" r:id="rId9"/>
    <p:sldId id="495" r:id="rId10"/>
    <p:sldId id="365" r:id="rId11"/>
    <p:sldId id="480" r:id="rId12"/>
    <p:sldId id="366" r:id="rId13"/>
    <p:sldId id="368" r:id="rId14"/>
    <p:sldId id="369" r:id="rId15"/>
    <p:sldId id="370" r:id="rId16"/>
    <p:sldId id="371" r:id="rId17"/>
    <p:sldId id="380" r:id="rId18"/>
    <p:sldId id="439" r:id="rId19"/>
    <p:sldId id="373" r:id="rId20"/>
    <p:sldId id="484" r:id="rId21"/>
    <p:sldId id="367" r:id="rId22"/>
    <p:sldId id="505" r:id="rId23"/>
    <p:sldId id="496" r:id="rId24"/>
    <p:sldId id="506" r:id="rId25"/>
    <p:sldId id="499" r:id="rId26"/>
    <p:sldId id="501" r:id="rId27"/>
    <p:sldId id="502" r:id="rId28"/>
    <p:sldId id="503" r:id="rId29"/>
    <p:sldId id="504" r:id="rId30"/>
    <p:sldId id="508" r:id="rId31"/>
    <p:sldId id="509" r:id="rId32"/>
    <p:sldId id="510" r:id="rId33"/>
    <p:sldId id="511" r:id="rId34"/>
    <p:sldId id="512" r:id="rId35"/>
    <p:sldId id="516" r:id="rId36"/>
    <p:sldId id="518" r:id="rId37"/>
    <p:sldId id="519" r:id="rId38"/>
  </p:sldIdLst>
  <p:sldSz cx="9144000" cy="6858000" type="screen4x3"/>
  <p:notesSz cx="6669088" cy="9926638"/>
  <p:embeddedFontLst>
    <p:embeddedFont>
      <p:font typeface="Calibri" panose="020F0502020204030204" pitchFamily="34" charset="0"/>
      <p:regular r:id="rId41"/>
      <p:bold r:id="rId42"/>
      <p:italic r:id="rId43"/>
      <p:boldItalic r:id="rId44"/>
    </p:embeddedFont>
    <p:embeddedFont>
      <p:font typeface="Cambria Math" panose="02040503050406030204" pitchFamily="18" charset="0"/>
      <p:regular r:id="rId45"/>
    </p:embeddedFont>
    <p:embeddedFont>
      <p:font typeface="Cordia New" panose="020B0304020202020204" pitchFamily="34" charset="-34"/>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66" autoAdjust="0"/>
    <p:restoredTop sz="92967" autoAdjust="0"/>
  </p:normalViewPr>
  <p:slideViewPr>
    <p:cSldViewPr>
      <p:cViewPr varScale="1">
        <p:scale>
          <a:sx n="70" d="100"/>
          <a:sy n="70" d="100"/>
        </p:scale>
        <p:origin x="1464" y="192"/>
      </p:cViewPr>
      <p:guideLst>
        <p:guide orient="horz" pos="2160"/>
        <p:guide pos="2880"/>
      </p:guideLst>
    </p:cSldViewPr>
  </p:slideViewPr>
  <p:notesTextViewPr>
    <p:cViewPr>
      <p:scale>
        <a:sx n="100" d="100"/>
        <a:sy n="100" d="100"/>
      </p:scale>
      <p:origin x="0" y="0"/>
    </p:cViewPr>
  </p:notesTextViewPr>
  <p:sorterViewPr>
    <p:cViewPr>
      <p:scale>
        <a:sx n="90" d="100"/>
        <a:sy n="90" d="100"/>
      </p:scale>
      <p:origin x="0" y="-5070"/>
    </p:cViewPr>
  </p:sorterViewPr>
  <p:notesViewPr>
    <p:cSldViewPr>
      <p:cViewPr varScale="1">
        <p:scale>
          <a:sx n="60" d="100"/>
          <a:sy n="60" d="100"/>
        </p:scale>
        <p:origin x="-2166" y="-72"/>
      </p:cViewPr>
      <p:guideLst>
        <p:guide orient="horz" pos="3126"/>
        <p:guide pos="21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r>
              <a:rPr lang="en-US"/>
              <a:t>4. Proofs</a:t>
            </a:r>
          </a:p>
        </p:txBody>
      </p:sp>
      <p:sp>
        <p:nvSpPr>
          <p:cNvPr id="5" name="Slide Number Placeholder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E3901582-F5A8-41ED-8946-57B4D8BFA973}" type="slidenum">
              <a:rPr lang="en-US" smtClean="0"/>
              <a:pPr/>
              <a:t>‹#›</a:t>
            </a:fld>
            <a:endParaRPr lang="en-US"/>
          </a:p>
        </p:txBody>
      </p:sp>
    </p:spTree>
    <p:extLst>
      <p:ext uri="{BB962C8B-B14F-4D97-AF65-F5344CB8AC3E}">
        <p14:creationId xmlns:p14="http://schemas.microsoft.com/office/powerpoint/2010/main" val="957129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B8F51A1F-924C-4BCD-AE4C-3A5DD90B2C9D}" type="datetimeFigureOut">
              <a:rPr lang="en-US" smtClean="0"/>
              <a:pPr/>
              <a:t>10/13/22</a:t>
            </a:fld>
            <a:endParaRPr lang="en-US"/>
          </a:p>
        </p:txBody>
      </p:sp>
      <p:sp>
        <p:nvSpPr>
          <p:cNvPr id="4" name="Slide Image Placeholder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6909" y="4715153"/>
            <a:ext cx="5335270" cy="44669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F0612B00-BF9F-4C8A-8D33-EED5BFD17111}" type="slidenum">
              <a:rPr lang="en-US" smtClean="0"/>
              <a:pPr/>
              <a:t>‹#›</a:t>
            </a:fld>
            <a:endParaRPr lang="en-US"/>
          </a:p>
        </p:txBody>
      </p:sp>
    </p:spTree>
    <p:extLst>
      <p:ext uri="{BB962C8B-B14F-4D97-AF65-F5344CB8AC3E}">
        <p14:creationId xmlns:p14="http://schemas.microsoft.com/office/powerpoint/2010/main" val="2330419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cs typeface="Cordia New" pitchFamily="34" charset="-34"/>
            </a:endParaRPr>
          </a:p>
        </p:txBody>
      </p:sp>
    </p:spTree>
    <p:extLst>
      <p:ext uri="{BB962C8B-B14F-4D97-AF65-F5344CB8AC3E}">
        <p14:creationId xmlns:p14="http://schemas.microsoft.com/office/powerpoint/2010/main" val="4070826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 -&gt; q: "If it is raining, then there are clouds in the sky."</a:t>
            </a:r>
            <a:br>
              <a:rPr lang="en-US" dirty="0"/>
            </a:br>
            <a:r>
              <a:rPr lang="en-US" sz="1200" b="0" i="0" kern="1200" dirty="0">
                <a:solidFill>
                  <a:schemeClr val="tx1"/>
                </a:solidFill>
                <a:effectLst/>
                <a:latin typeface="+mn-lt"/>
                <a:ea typeface="+mn-ea"/>
                <a:cs typeface="+mn-cs"/>
              </a:rPr>
              <a:t>p: "It is raining."</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q: "There are clouds in the sky.“</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 -&gt; C: If Yankees win today's game, they will be champions.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 Yankees win today's game.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 Yankees are champions.</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W -&gt; B: If the weather is good, we can go to the beach.</a:t>
            </a:r>
            <a:br>
              <a:rPr lang="en-US" dirty="0"/>
            </a:br>
            <a:r>
              <a:rPr lang="en-US" sz="1200" b="0" i="0" kern="1200" dirty="0">
                <a:solidFill>
                  <a:schemeClr val="tx1"/>
                </a:solidFill>
                <a:effectLst/>
                <a:latin typeface="+mn-lt"/>
                <a:ea typeface="+mn-ea"/>
                <a:cs typeface="+mn-cs"/>
              </a:rPr>
              <a:t>W: The weather is good.</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B: We can go to the beach.</a:t>
            </a:r>
            <a:endParaRPr lang="en-US" dirty="0"/>
          </a:p>
        </p:txBody>
      </p:sp>
      <p:sp>
        <p:nvSpPr>
          <p:cNvPr id="4" name="Slide Number Placeholder 3"/>
          <p:cNvSpPr>
            <a:spLocks noGrp="1"/>
          </p:cNvSpPr>
          <p:nvPr>
            <p:ph type="sldNum" sz="quarter" idx="10"/>
          </p:nvPr>
        </p:nvSpPr>
        <p:spPr/>
        <p:txBody>
          <a:bodyPr/>
          <a:lstStyle/>
          <a:p>
            <a:fld id="{F0612B00-BF9F-4C8A-8D33-EED5BFD17111}" type="slidenum">
              <a:rPr lang="en-US" smtClean="0"/>
              <a:pPr/>
              <a:t>6</a:t>
            </a:fld>
            <a:endParaRPr lang="en-US"/>
          </a:p>
        </p:txBody>
      </p:sp>
    </p:spTree>
    <p:extLst>
      <p:ext uri="{BB962C8B-B14F-4D97-AF65-F5344CB8AC3E}">
        <p14:creationId xmlns:p14="http://schemas.microsoft.com/office/powerpoint/2010/main" val="110217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known as </a:t>
            </a:r>
            <a:r>
              <a:rPr lang="en-US" dirty="0" err="1"/>
              <a:t>hypotheical</a:t>
            </a:r>
            <a:r>
              <a:rPr lang="en-US" baseline="0" dirty="0"/>
              <a:t> </a:t>
            </a:r>
            <a:r>
              <a:rPr lang="en-US" baseline="0" dirty="0" err="1"/>
              <a:t>sylogism</a:t>
            </a:r>
            <a:r>
              <a:rPr lang="en-US" baseline="0"/>
              <a:t> </a:t>
            </a:r>
            <a:endParaRPr lang="en-US"/>
          </a:p>
        </p:txBody>
      </p:sp>
      <p:sp>
        <p:nvSpPr>
          <p:cNvPr id="4" name="Slide Number Placeholder 3"/>
          <p:cNvSpPr>
            <a:spLocks noGrp="1"/>
          </p:cNvSpPr>
          <p:nvPr>
            <p:ph type="sldNum" sz="quarter" idx="10"/>
          </p:nvPr>
        </p:nvSpPr>
        <p:spPr/>
        <p:txBody>
          <a:bodyPr/>
          <a:lstStyle/>
          <a:p>
            <a:fld id="{F0612B00-BF9F-4C8A-8D33-EED5BFD17111}" type="slidenum">
              <a:rPr lang="en-US" smtClean="0"/>
              <a:pPr/>
              <a:t>10</a:t>
            </a:fld>
            <a:endParaRPr lang="en-US"/>
          </a:p>
        </p:txBody>
      </p:sp>
    </p:spTree>
    <p:extLst>
      <p:ext uri="{BB962C8B-B14F-4D97-AF65-F5344CB8AC3E}">
        <p14:creationId xmlns:p14="http://schemas.microsoft.com/office/powerpoint/2010/main" val="2146645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Note that a truth table would have 32 rows since we have 5 propositional variables.</a:t>
            </a:r>
          </a:p>
        </p:txBody>
      </p:sp>
      <p:sp>
        <p:nvSpPr>
          <p:cNvPr id="4" name="Slide Number Placeholder 3"/>
          <p:cNvSpPr>
            <a:spLocks noGrp="1"/>
          </p:cNvSpPr>
          <p:nvPr>
            <p:ph type="sldNum" sz="quarter" idx="10"/>
          </p:nvPr>
        </p:nvSpPr>
        <p:spPr/>
        <p:txBody>
          <a:bodyPr/>
          <a:lstStyle/>
          <a:p>
            <a:fld id="{F0612B00-BF9F-4C8A-8D33-EED5BFD17111}" type="slidenum">
              <a:rPr lang="en-US" smtClean="0"/>
              <a:pPr/>
              <a:t>21</a:t>
            </a:fld>
            <a:endParaRPr lang="en-US"/>
          </a:p>
        </p:txBody>
      </p:sp>
    </p:spTree>
    <p:extLst>
      <p:ext uri="{BB962C8B-B14F-4D97-AF65-F5344CB8AC3E}">
        <p14:creationId xmlns:p14="http://schemas.microsoft.com/office/powerpoint/2010/main" val="845443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0612B00-BF9F-4C8A-8D33-EED5BFD17111}" type="slidenum">
              <a:rPr lang="en-US" smtClean="0"/>
              <a:pPr/>
              <a:t>24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F0612B00-BF9F-4C8A-8D33-EED5BFD17111}" type="slidenum">
              <a:rPr lang="en-US" smtClean="0"/>
              <a:pPr/>
              <a:t>25</a:t>
            </a:fld>
            <a:endParaRPr lang="en-US"/>
          </a:p>
        </p:txBody>
      </p:sp>
    </p:spTree>
    <p:extLst>
      <p:ext uri="{BB962C8B-B14F-4D97-AF65-F5344CB8AC3E}">
        <p14:creationId xmlns:p14="http://schemas.microsoft.com/office/powerpoint/2010/main" val="1190037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C9EA8B-2BBB-4F3F-9267-6E93CB704758}" type="datetime1">
              <a:rPr lang="en-US" smtClean="0"/>
              <a:pPr/>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08B44-18D3-4C3C-8B9A-AB2EA3CAB131}" type="datetime1">
              <a:rPr lang="en-US" smtClean="0"/>
              <a:pPr/>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5FCA8F-786D-479D-9E6A-878043FADCD3}" type="datetime1">
              <a:rPr lang="en-US" smtClean="0"/>
              <a:pPr/>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820C50-5599-4A41-81DB-C826A8D7DBC9}" type="datetime1">
              <a:rPr lang="en-US" smtClean="0"/>
              <a:pPr/>
              <a:t>10/13/22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945D5E-63AA-4598-8BC0-ADD71D7BAAA8}" type="datetime1">
              <a:rPr lang="en-US" smtClean="0"/>
              <a:pPr/>
              <a:t>10/13/22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A217EF-0505-4C33-BB20-8A8DF2039023}"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DCC78EA-CB52-42F5-A211-D28ECC2623D1}" type="datetime1">
              <a:rPr lang="en-US" smtClean="0"/>
              <a:pPr/>
              <a:t>10/13/22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D7271A-F158-4A98-8704-4A7D05E21B22}" type="datetime1">
              <a:rPr lang="en-US" smtClean="0"/>
              <a:pPr/>
              <a:t>10/13/22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81441F-ED94-466F-9D8C-A52BD582ABE4}" type="datetime1">
              <a:rPr lang="en-US" smtClean="0"/>
              <a:pPr/>
              <a:t>10/13/22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7D6D1-3CD1-4A11-B487-B1028F9CC13A}" type="datetime1">
              <a:rPr lang="en-US" smtClean="0"/>
              <a:pPr/>
              <a:t>10/13/22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003977-2CD7-4481-B58B-F5B0A273983B}" type="datetime1">
              <a:rPr lang="en-US" smtClean="0"/>
              <a:pPr/>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05349C-F738-42FD-9308-8B7187459455}" type="datetime1">
              <a:rPr lang="en-US" smtClean="0"/>
              <a:pPr/>
              <a:t>10/13/22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24D9D06C-BA36-4EB0-A6C7-AF8BF79793C1}" type="datetime1">
              <a:rPr lang="en-US" smtClean="0"/>
              <a:pPr/>
              <a:t>10/13/22</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9CA217EF-0505-4C33-BB20-8A8DF203902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9.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7.gif"/><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7.gif"/></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gif"/></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57200" y="404664"/>
            <a:ext cx="8229600" cy="1143000"/>
          </a:xfrm>
        </p:spPr>
        <p:txBody>
          <a:bodyPr/>
          <a:lstStyle/>
          <a:p>
            <a:r>
              <a:rPr lang="en-US" sz="3600" dirty="0">
                <a:effectLst/>
              </a:rPr>
              <a:t>Discrete </a:t>
            </a:r>
            <a:r>
              <a:rPr lang="en-US" sz="3600" dirty="0"/>
              <a:t>Structures</a:t>
            </a:r>
            <a:endParaRPr lang="th-TH" dirty="0">
              <a:effectLst/>
            </a:endParaRPr>
          </a:p>
        </p:txBody>
      </p:sp>
      <p:sp>
        <p:nvSpPr>
          <p:cNvPr id="2051" name="Rectangle 3"/>
          <p:cNvSpPr>
            <a:spLocks noGrp="1" noChangeArrowheads="1"/>
          </p:cNvSpPr>
          <p:nvPr>
            <p:ph idx="1"/>
          </p:nvPr>
        </p:nvSpPr>
        <p:spPr>
          <a:xfrm>
            <a:off x="457200" y="4038600"/>
            <a:ext cx="8229600" cy="1981200"/>
          </a:xfrm>
        </p:spPr>
        <p:txBody>
          <a:bodyPr>
            <a:normAutofit/>
          </a:bodyPr>
          <a:lstStyle/>
          <a:p>
            <a:pPr>
              <a:buFont typeface="Arial" charset="0"/>
              <a:buChar char="•"/>
            </a:pPr>
            <a:r>
              <a:rPr lang="th-TH" sz="2800" dirty="0">
                <a:effectLst/>
              </a:rPr>
              <a:t>Objective</a:t>
            </a:r>
            <a:r>
              <a:rPr lang="en-GB" sz="2800" dirty="0">
                <a:effectLst/>
              </a:rPr>
              <a:t>s</a:t>
            </a:r>
            <a:endParaRPr lang="th-TH" sz="2800" dirty="0">
              <a:effectLst/>
            </a:endParaRPr>
          </a:p>
          <a:p>
            <a:pPr lvl="1"/>
            <a:r>
              <a:rPr lang="th-TH" sz="2400" dirty="0">
                <a:effectLst/>
              </a:rPr>
              <a:t>to introduce </a:t>
            </a:r>
            <a:r>
              <a:rPr lang="en-US" sz="2400" dirty="0">
                <a:effectLst/>
              </a:rPr>
              <a:t>proofs</a:t>
            </a:r>
            <a:r>
              <a:rPr lang="en-US" sz="2400" dirty="0"/>
              <a:t>: assumptions, </a:t>
            </a:r>
            <a:r>
              <a:rPr lang="en-US" sz="2400" dirty="0">
                <a:effectLst/>
              </a:rPr>
              <a:t>conclusions, rules of inference</a:t>
            </a:r>
            <a:r>
              <a:rPr lang="en-US" sz="2400" dirty="0"/>
              <a:t>; different ways of proving if-then statements</a:t>
            </a:r>
            <a:endParaRPr lang="th-TH" sz="2400" dirty="0">
              <a:effectLst/>
            </a:endParaRPr>
          </a:p>
        </p:txBody>
      </p:sp>
      <p:sp>
        <p:nvSpPr>
          <p:cNvPr id="2" name="Slide Number Placeholder 1"/>
          <p:cNvSpPr>
            <a:spLocks noGrp="1"/>
          </p:cNvSpPr>
          <p:nvPr>
            <p:ph type="sldNum" sz="quarter" idx="12"/>
          </p:nvPr>
        </p:nvSpPr>
        <p:spPr/>
        <p:txBody>
          <a:bodyPr/>
          <a:lstStyle/>
          <a:p>
            <a:fld id="{9CA217EF-0505-4C33-BB20-8A8DF2039023}" type="slidenum">
              <a:rPr lang="en-US" smtClean="0"/>
              <a:pPr/>
              <a:t>1</a:t>
            </a:fld>
            <a:endParaRPr lang="en-US"/>
          </a:p>
        </p:txBody>
      </p:sp>
      <p:sp>
        <p:nvSpPr>
          <p:cNvPr id="2053" name="Rectangle 6"/>
          <p:cNvSpPr>
            <a:spLocks noChangeArrowheads="1"/>
          </p:cNvSpPr>
          <p:nvPr/>
        </p:nvSpPr>
        <p:spPr bwMode="auto">
          <a:xfrm>
            <a:off x="2546350" y="2609850"/>
            <a:ext cx="3919538" cy="643766"/>
          </a:xfrm>
          <a:prstGeom prst="rect">
            <a:avLst/>
          </a:prstGeom>
          <a:ln>
            <a:headEnd/>
            <a:tailEnd/>
          </a:ln>
          <a:extLst/>
        </p:spPr>
        <p:style>
          <a:lnRef idx="1">
            <a:schemeClr val="accent1"/>
          </a:lnRef>
          <a:fillRef idx="2">
            <a:schemeClr val="accent1"/>
          </a:fillRef>
          <a:effectRef idx="1">
            <a:schemeClr val="accent1"/>
          </a:effectRef>
          <a:fontRef idx="minor">
            <a:schemeClr val="dk1"/>
          </a:fontRef>
        </p:style>
        <p:txBody>
          <a:bodyPr lIns="90488" tIns="44450" rIns="90488" bIns="44450">
            <a:spAutoFit/>
          </a:bodyPr>
          <a:lstStyle/>
          <a:p>
            <a:pPr algn="ctr"/>
            <a:r>
              <a:rPr lang="en-US" sz="3600" dirty="0"/>
              <a:t>5. Proofs</a:t>
            </a:r>
            <a:endParaRPr lang="th-TH" sz="3600" dirty="0"/>
          </a:p>
        </p:txBody>
      </p:sp>
    </p:spTree>
    <p:extLst>
      <p:ext uri="{BB962C8B-B14F-4D97-AF65-F5344CB8AC3E}">
        <p14:creationId xmlns:p14="http://schemas.microsoft.com/office/powerpoint/2010/main" val="322223524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th-TH">
                <a:effectLst/>
              </a:rPr>
              <a:t>Overview</a:t>
            </a:r>
          </a:p>
        </p:txBody>
      </p:sp>
      <p:sp>
        <p:nvSpPr>
          <p:cNvPr id="3075" name="Rectangle 3"/>
          <p:cNvSpPr>
            <a:spLocks noGrp="1" noChangeArrowheads="1"/>
          </p:cNvSpPr>
          <p:nvPr>
            <p:ph sz="half" idx="1"/>
          </p:nvPr>
        </p:nvSpPr>
        <p:spPr>
          <a:xfrm>
            <a:off x="457200" y="1905000"/>
            <a:ext cx="6172200" cy="4434840"/>
          </a:xfrm>
        </p:spPr>
        <p:txBody>
          <a:bodyPr>
            <a:normAutofit/>
          </a:bodyPr>
          <a:lstStyle/>
          <a:p>
            <a:r>
              <a:rPr lang="en-US" sz="3200" dirty="0">
                <a:effectLst/>
              </a:rPr>
              <a:t>1. What is a Proof?</a:t>
            </a:r>
            <a:endParaRPr lang="en-US" sz="3200" dirty="0"/>
          </a:p>
          <a:p>
            <a:r>
              <a:rPr lang="en-US" sz="3200" dirty="0"/>
              <a:t>2. Rules of Inference</a:t>
            </a:r>
          </a:p>
          <a:p>
            <a:r>
              <a:rPr lang="en-US" sz="3200" dirty="0"/>
              <a:t>3. Using Rules to Build a Proof</a:t>
            </a:r>
          </a:p>
          <a:p>
            <a:r>
              <a:rPr lang="en-US" sz="3200" dirty="0"/>
              <a:t>4. More Inference Rules</a:t>
            </a:r>
          </a:p>
          <a:p>
            <a:r>
              <a:rPr lang="en-US" sz="3200" dirty="0"/>
              <a:t>5. Examples</a:t>
            </a:r>
          </a:p>
        </p:txBody>
      </p:sp>
      <p:sp>
        <p:nvSpPr>
          <p:cNvPr id="2" name="Slide Number Placeholder 1"/>
          <p:cNvSpPr>
            <a:spLocks noGrp="1"/>
          </p:cNvSpPr>
          <p:nvPr>
            <p:ph type="sldNum" sz="quarter" idx="12"/>
          </p:nvPr>
        </p:nvSpPr>
        <p:spPr/>
        <p:txBody>
          <a:bodyPr/>
          <a:lstStyle/>
          <a:p>
            <a:fld id="{9CA217EF-0505-4C33-BB20-8A8DF2039023}" type="slidenum">
              <a:rPr lang="en-US" smtClean="0"/>
              <a:pPr/>
              <a:t>2</a:t>
            </a:fld>
            <a:endParaRPr lang="en-US"/>
          </a:p>
        </p:txBody>
      </p:sp>
    </p:spTree>
    <p:extLst>
      <p:ext uri="{BB962C8B-B14F-4D97-AF65-F5344CB8AC3E}">
        <p14:creationId xmlns:p14="http://schemas.microsoft.com/office/powerpoint/2010/main" val="22220196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1. What is a Proof?</a:t>
            </a:r>
            <a:endParaRPr lang="en-US" dirty="0"/>
          </a:p>
        </p:txBody>
      </p:sp>
      <p:sp>
        <p:nvSpPr>
          <p:cNvPr id="3" name="Content Placeholder 2"/>
          <p:cNvSpPr>
            <a:spLocks noGrp="1"/>
          </p:cNvSpPr>
          <p:nvPr>
            <p:ph idx="1"/>
          </p:nvPr>
        </p:nvSpPr>
        <p:spPr>
          <a:xfrm>
            <a:off x="457200" y="1600200"/>
            <a:ext cx="8305800" cy="3657600"/>
          </a:xfrm>
        </p:spPr>
        <p:txBody>
          <a:bodyPr>
            <a:noAutofit/>
          </a:bodyPr>
          <a:lstStyle/>
          <a:p>
            <a:r>
              <a:rPr lang="en-US" sz="2800" dirty="0"/>
              <a:t>Two assumptions /premises / statements:</a:t>
            </a:r>
          </a:p>
          <a:p>
            <a:pPr lvl="1"/>
            <a:r>
              <a:rPr lang="en-US" sz="2400" dirty="0"/>
              <a:t>“</a:t>
            </a:r>
            <a:r>
              <a:rPr lang="en-US" sz="2400" b="1" dirty="0"/>
              <a:t>All</a:t>
            </a:r>
            <a:r>
              <a:rPr lang="en-US" sz="2400" dirty="0"/>
              <a:t> men are mortal.”</a:t>
            </a:r>
          </a:p>
          <a:p>
            <a:pPr marL="393192" lvl="1" indent="0">
              <a:buNone/>
            </a:pPr>
            <a:r>
              <a:rPr lang="en-US" sz="2400" dirty="0"/>
              <a:t>and</a:t>
            </a:r>
          </a:p>
          <a:p>
            <a:pPr lvl="1"/>
            <a:r>
              <a:rPr lang="en-US" sz="2400" dirty="0"/>
              <a:t>“Socrates is a man.”</a:t>
            </a:r>
          </a:p>
          <a:p>
            <a:pPr lvl="1"/>
            <a:endParaRPr lang="en-US" sz="2400" dirty="0"/>
          </a:p>
          <a:p>
            <a:r>
              <a:rPr lang="en-US" sz="2800" dirty="0"/>
              <a:t>Prove the conclusion: </a:t>
            </a:r>
          </a:p>
          <a:p>
            <a:pPr lvl="1"/>
            <a:r>
              <a:rPr lang="en-US" sz="2400" dirty="0"/>
              <a:t>“Socrates is mortal.”</a:t>
            </a:r>
          </a:p>
        </p:txBody>
      </p:sp>
      <p:sp>
        <p:nvSpPr>
          <p:cNvPr id="4" name="Slide Number Placeholder 3"/>
          <p:cNvSpPr>
            <a:spLocks noGrp="1"/>
          </p:cNvSpPr>
          <p:nvPr>
            <p:ph type="sldNum" sz="quarter" idx="12"/>
          </p:nvPr>
        </p:nvSpPr>
        <p:spPr/>
        <p:txBody>
          <a:bodyPr/>
          <a:lstStyle/>
          <a:p>
            <a:fld id="{9CA217EF-0505-4C33-BB20-8A8DF2039023}" type="slidenum">
              <a:rPr lang="en-US" smtClean="0"/>
              <a:pPr/>
              <a:t>3</a:t>
            </a:fld>
            <a:endParaRPr lang="en-US"/>
          </a:p>
        </p:txBody>
      </p:sp>
      <p:sp>
        <p:nvSpPr>
          <p:cNvPr id="6" name="Freeform 5"/>
          <p:cNvSpPr/>
          <p:nvPr/>
        </p:nvSpPr>
        <p:spPr>
          <a:xfrm>
            <a:off x="3927231" y="3048000"/>
            <a:ext cx="1031631" cy="1480066"/>
          </a:xfrm>
          <a:custGeom>
            <a:avLst/>
            <a:gdLst>
              <a:gd name="connsiteX0" fmla="*/ 504092 w 1031631"/>
              <a:gd name="connsiteY0" fmla="*/ 0 h 1629508"/>
              <a:gd name="connsiteX1" fmla="*/ 1031631 w 1031631"/>
              <a:gd name="connsiteY1" fmla="*/ 703385 h 1629508"/>
              <a:gd name="connsiteX2" fmla="*/ 504092 w 1031631"/>
              <a:gd name="connsiteY2" fmla="*/ 1418493 h 1629508"/>
              <a:gd name="connsiteX3" fmla="*/ 0 w 1031631"/>
              <a:gd name="connsiteY3" fmla="*/ 1629508 h 1629508"/>
            </a:gdLst>
            <a:ahLst/>
            <a:cxnLst>
              <a:cxn ang="0">
                <a:pos x="connsiteX0" y="connsiteY0"/>
              </a:cxn>
              <a:cxn ang="0">
                <a:pos x="connsiteX1" y="connsiteY1"/>
              </a:cxn>
              <a:cxn ang="0">
                <a:pos x="connsiteX2" y="connsiteY2"/>
              </a:cxn>
              <a:cxn ang="0">
                <a:pos x="connsiteX3" y="connsiteY3"/>
              </a:cxn>
            </a:cxnLst>
            <a:rect l="l" t="t" r="r" b="b"/>
            <a:pathLst>
              <a:path w="1031631" h="1629508">
                <a:moveTo>
                  <a:pt x="504092" y="0"/>
                </a:moveTo>
                <a:cubicBezTo>
                  <a:pt x="767861" y="233485"/>
                  <a:pt x="1031631" y="466970"/>
                  <a:pt x="1031631" y="703385"/>
                </a:cubicBezTo>
                <a:cubicBezTo>
                  <a:pt x="1031631" y="939800"/>
                  <a:pt x="676031" y="1264139"/>
                  <a:pt x="504092" y="1418493"/>
                </a:cubicBezTo>
                <a:cubicBezTo>
                  <a:pt x="332153" y="1572847"/>
                  <a:pt x="166076" y="1601177"/>
                  <a:pt x="0" y="1629508"/>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ight Brace 6"/>
          <p:cNvSpPr/>
          <p:nvPr/>
        </p:nvSpPr>
        <p:spPr>
          <a:xfrm>
            <a:off x="4089400" y="2514600"/>
            <a:ext cx="330200" cy="990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2235013" y="5474732"/>
            <a:ext cx="1861407" cy="461665"/>
          </a:xfrm>
          <a:prstGeom prst="rect">
            <a:avLst/>
          </a:prstGeom>
          <a:noFill/>
        </p:spPr>
        <p:txBody>
          <a:bodyPr wrap="none" rtlCol="0">
            <a:spAutoFit/>
          </a:bodyPr>
          <a:lstStyle/>
          <a:p>
            <a:r>
              <a:rPr lang="en-US" sz="2400"/>
              <a:t>assumptions</a:t>
            </a:r>
          </a:p>
        </p:txBody>
      </p:sp>
      <p:sp>
        <p:nvSpPr>
          <p:cNvPr id="9" name="TextBox 8"/>
          <p:cNvSpPr txBox="1"/>
          <p:nvPr/>
        </p:nvSpPr>
        <p:spPr>
          <a:xfrm>
            <a:off x="5211589" y="5486400"/>
            <a:ext cx="1629357" cy="461665"/>
          </a:xfrm>
          <a:prstGeom prst="rect">
            <a:avLst/>
          </a:prstGeom>
          <a:noFill/>
        </p:spPr>
        <p:txBody>
          <a:bodyPr wrap="none" rtlCol="0">
            <a:spAutoFit/>
          </a:bodyPr>
          <a:lstStyle/>
          <a:p>
            <a:r>
              <a:rPr lang="en-US" sz="2400"/>
              <a:t>conclusion</a:t>
            </a:r>
          </a:p>
        </p:txBody>
      </p:sp>
      <p:cxnSp>
        <p:nvCxnSpPr>
          <p:cNvPr id="11" name="Straight Arrow Connector 10"/>
          <p:cNvCxnSpPr>
            <a:stCxn id="8" idx="3"/>
            <a:endCxn id="9" idx="1"/>
          </p:cNvCxnSpPr>
          <p:nvPr/>
        </p:nvCxnSpPr>
        <p:spPr>
          <a:xfrm>
            <a:off x="4096420" y="5705565"/>
            <a:ext cx="1115169" cy="116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359477" y="5257800"/>
            <a:ext cx="898323" cy="461665"/>
          </a:xfrm>
          <a:prstGeom prst="rect">
            <a:avLst/>
          </a:prstGeom>
          <a:noFill/>
        </p:spPr>
        <p:txBody>
          <a:bodyPr wrap="none" rtlCol="0">
            <a:spAutoFit/>
          </a:bodyPr>
          <a:lstStyle/>
          <a:p>
            <a:r>
              <a:rPr lang="en-US" sz="2400"/>
              <a:t>proof</a:t>
            </a:r>
          </a:p>
        </p:txBody>
      </p:sp>
      <p:sp>
        <p:nvSpPr>
          <p:cNvPr id="10" name="TextBox 9"/>
          <p:cNvSpPr txBox="1"/>
          <p:nvPr/>
        </p:nvSpPr>
        <p:spPr>
          <a:xfrm>
            <a:off x="5029200" y="3276600"/>
            <a:ext cx="3405099" cy="1015663"/>
          </a:xfrm>
          <a:prstGeom prst="rect">
            <a:avLst/>
          </a:prstGeom>
          <a:noFill/>
        </p:spPr>
        <p:txBody>
          <a:bodyPr wrap="none" rtlCol="0">
            <a:spAutoFit/>
          </a:bodyPr>
          <a:lstStyle/>
          <a:p>
            <a:r>
              <a:rPr lang="en-US" sz="2000" dirty="0">
                <a:solidFill>
                  <a:srgbClr val="FF0000"/>
                </a:solidFill>
              </a:rPr>
              <a:t>the steps in going from</a:t>
            </a:r>
          </a:p>
          <a:p>
            <a:r>
              <a:rPr lang="en-US" sz="2000" dirty="0">
                <a:solidFill>
                  <a:srgbClr val="FF0000"/>
                </a:solidFill>
              </a:rPr>
              <a:t>assumptions to a conclusion</a:t>
            </a:r>
          </a:p>
          <a:p>
            <a:r>
              <a:rPr lang="en-US" sz="2000" dirty="0">
                <a:solidFill>
                  <a:srgbClr val="FF0000"/>
                </a:solidFill>
              </a:rPr>
              <a:t>is called a </a:t>
            </a:r>
            <a:r>
              <a:rPr lang="en-US" sz="2000" b="1" dirty="0">
                <a:solidFill>
                  <a:srgbClr val="FF0000"/>
                </a:solidFill>
              </a:rPr>
              <a:t>proof</a:t>
            </a:r>
            <a:endParaRPr lang="th-TH" sz="2000" b="1"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 Logic</a:t>
            </a:r>
            <a:endParaRPr lang="en-US" dirty="0"/>
          </a:p>
        </p:txBody>
      </p:sp>
      <p:sp>
        <p:nvSpPr>
          <p:cNvPr id="14" name="Content Placeholder 2"/>
          <p:cNvSpPr>
            <a:spLocks noGrp="1"/>
          </p:cNvSpPr>
          <p:nvPr>
            <p:ph idx="1"/>
          </p:nvPr>
        </p:nvSpPr>
        <p:spPr>
          <a:xfrm>
            <a:off x="457200" y="5029200"/>
            <a:ext cx="8229600" cy="1447800"/>
          </a:xfrm>
        </p:spPr>
        <p:txBody>
          <a:bodyPr>
            <a:normAutofit/>
          </a:bodyPr>
          <a:lstStyle/>
          <a:p>
            <a:r>
              <a:rPr lang="en-US" sz="2800" i="1" dirty="0">
                <a:solidFill>
                  <a:srgbClr val="FF0000"/>
                </a:solidFill>
              </a:rPr>
              <a:t>Rules of inference</a:t>
            </a:r>
            <a:r>
              <a:rPr lang="en-US" sz="2800" i="1" dirty="0"/>
              <a:t> </a:t>
            </a:r>
            <a:r>
              <a:rPr lang="en-US" sz="2800" dirty="0"/>
              <a:t>are used to create a proof</a:t>
            </a:r>
          </a:p>
          <a:p>
            <a:pPr lvl="1"/>
            <a:r>
              <a:rPr lang="en-US" sz="2400" dirty="0"/>
              <a:t>most rules work with both </a:t>
            </a:r>
            <a:r>
              <a:rPr lang="en-US" sz="2400" dirty="0">
                <a:solidFill>
                  <a:srgbClr val="FF0000"/>
                </a:solidFill>
              </a:rPr>
              <a:t>propositional and predicate logic </a:t>
            </a:r>
            <a:endParaRPr lang="en-US" sz="2400" i="1" dirty="0">
              <a:solidFill>
                <a:srgbClr val="FF0000"/>
              </a:solidFill>
            </a:endParaRPr>
          </a:p>
          <a:p>
            <a:pPr marL="514350" indent="-514350"/>
            <a:endParaRPr lang="en-US" sz="2800" dirty="0"/>
          </a:p>
        </p:txBody>
      </p:sp>
      <p:sp>
        <p:nvSpPr>
          <p:cNvPr id="11" name="Slide Number Placeholder 10"/>
          <p:cNvSpPr>
            <a:spLocks noGrp="1"/>
          </p:cNvSpPr>
          <p:nvPr>
            <p:ph type="sldNum" sz="quarter" idx="12"/>
          </p:nvPr>
        </p:nvSpPr>
        <p:spPr/>
        <p:txBody>
          <a:bodyPr/>
          <a:lstStyle/>
          <a:p>
            <a:fld id="{9CA217EF-0505-4C33-BB20-8A8DF2039023}" type="slidenum">
              <a:rPr lang="en-US" smtClean="0"/>
              <a:pPr/>
              <a:t>4</a:t>
            </a:fld>
            <a:endParaRPr lang="en-US"/>
          </a:p>
        </p:txBody>
      </p:sp>
      <p:pic>
        <p:nvPicPr>
          <p:cNvPr id="8" name="Picture 7" descr="addin_tmp.png"/>
          <p:cNvPicPr>
            <a:picLocks noChangeAspect="1"/>
          </p:cNvPicPr>
          <p:nvPr>
            <p:custDataLst>
              <p:tags r:id="rId1"/>
            </p:custDataLst>
          </p:nvPr>
        </p:nvPicPr>
        <p:blipFill>
          <a:blip r:embed="rId5" cstate="print"/>
          <a:stretch>
            <a:fillRect/>
          </a:stretch>
        </p:blipFill>
        <p:spPr>
          <a:xfrm>
            <a:off x="2514600" y="2133600"/>
            <a:ext cx="3653644" cy="319575"/>
          </a:xfrm>
          <a:prstGeom prst="rect">
            <a:avLst/>
          </a:prstGeom>
        </p:spPr>
      </p:pic>
      <p:pic>
        <p:nvPicPr>
          <p:cNvPr id="13" name="Picture 12" descr="addin_tmp.png"/>
          <p:cNvPicPr>
            <a:picLocks noChangeAspect="1"/>
          </p:cNvPicPr>
          <p:nvPr>
            <p:custDataLst>
              <p:tags r:id="rId2"/>
            </p:custDataLst>
          </p:nvPr>
        </p:nvPicPr>
        <p:blipFill>
          <a:blip r:embed="rId6" cstate="print"/>
          <a:stretch>
            <a:fillRect/>
          </a:stretch>
        </p:blipFill>
        <p:spPr>
          <a:xfrm>
            <a:off x="2819401" y="2743200"/>
            <a:ext cx="2136856" cy="319575"/>
          </a:xfrm>
          <a:prstGeom prst="rect">
            <a:avLst/>
          </a:prstGeom>
        </p:spPr>
      </p:pic>
      <p:pic>
        <p:nvPicPr>
          <p:cNvPr id="12" name="Picture 11" descr="addin_tmp.png"/>
          <p:cNvPicPr>
            <a:picLocks noChangeAspect="1"/>
          </p:cNvPicPr>
          <p:nvPr>
            <p:custDataLst>
              <p:tags r:id="rId3"/>
            </p:custDataLst>
          </p:nvPr>
        </p:nvPicPr>
        <p:blipFill>
          <a:blip r:embed="rId7" cstate="print"/>
          <a:stretch>
            <a:fillRect/>
          </a:stretch>
        </p:blipFill>
        <p:spPr>
          <a:xfrm>
            <a:off x="2362201" y="3581400"/>
            <a:ext cx="3124199" cy="319575"/>
          </a:xfrm>
          <a:prstGeom prst="rect">
            <a:avLst/>
          </a:prstGeom>
        </p:spPr>
      </p:pic>
      <p:cxnSp>
        <p:nvCxnSpPr>
          <p:cNvPr id="9" name="Straight Connector 8"/>
          <p:cNvCxnSpPr/>
          <p:nvPr/>
        </p:nvCxnSpPr>
        <p:spPr>
          <a:xfrm>
            <a:off x="2057400" y="3276600"/>
            <a:ext cx="4572000"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6978073" y="2108721"/>
            <a:ext cx="1861407" cy="461665"/>
          </a:xfrm>
          <a:prstGeom prst="rect">
            <a:avLst/>
          </a:prstGeom>
          <a:noFill/>
        </p:spPr>
        <p:txBody>
          <a:bodyPr wrap="none" rtlCol="0">
            <a:spAutoFit/>
          </a:bodyPr>
          <a:lstStyle/>
          <a:p>
            <a:r>
              <a:rPr lang="en-US" sz="2400"/>
              <a:t>assumptions</a:t>
            </a:r>
          </a:p>
        </p:txBody>
      </p:sp>
      <p:sp>
        <p:nvSpPr>
          <p:cNvPr id="16" name="TextBox 15"/>
          <p:cNvSpPr txBox="1"/>
          <p:nvPr/>
        </p:nvSpPr>
        <p:spPr>
          <a:xfrm>
            <a:off x="7094098" y="3584507"/>
            <a:ext cx="1629357" cy="461665"/>
          </a:xfrm>
          <a:prstGeom prst="rect">
            <a:avLst/>
          </a:prstGeom>
          <a:noFill/>
        </p:spPr>
        <p:txBody>
          <a:bodyPr wrap="none" rtlCol="0">
            <a:spAutoFit/>
          </a:bodyPr>
          <a:lstStyle/>
          <a:p>
            <a:r>
              <a:rPr lang="en-US" sz="2400"/>
              <a:t>conclusion</a:t>
            </a:r>
          </a:p>
        </p:txBody>
      </p:sp>
      <p:cxnSp>
        <p:nvCxnSpPr>
          <p:cNvPr id="17" name="Straight Arrow Connector 16"/>
          <p:cNvCxnSpPr>
            <a:stCxn id="15" idx="2"/>
            <a:endCxn id="16" idx="0"/>
          </p:cNvCxnSpPr>
          <p:nvPr/>
        </p:nvCxnSpPr>
        <p:spPr>
          <a:xfrm>
            <a:off x="7908777" y="2570386"/>
            <a:ext cx="0" cy="10141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48527" y="3233355"/>
            <a:ext cx="1156342" cy="1015663"/>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000"/>
              <a:t>how do</a:t>
            </a:r>
          </a:p>
          <a:p>
            <a:r>
              <a:rPr lang="en-US" sz="2000"/>
              <a:t>we prove</a:t>
            </a:r>
          </a:p>
          <a:p>
            <a:r>
              <a:rPr lang="en-US" sz="2000"/>
              <a:t>this?</a:t>
            </a:r>
          </a:p>
        </p:txBody>
      </p:sp>
      <p:sp>
        <p:nvSpPr>
          <p:cNvPr id="19" name="TextBox 18"/>
          <p:cNvSpPr txBox="1"/>
          <p:nvPr/>
        </p:nvSpPr>
        <p:spPr>
          <a:xfrm>
            <a:off x="5715000" y="1340482"/>
            <a:ext cx="1577227" cy="400110"/>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sz="2000"/>
              <a:t>Pred. Sec 4.1</a:t>
            </a:r>
          </a:p>
        </p:txBody>
      </p:sp>
      <p:cxnSp>
        <p:nvCxnSpPr>
          <p:cNvPr id="5" name="Straight Arrow Connector 4"/>
          <p:cNvCxnSpPr>
            <a:stCxn id="19" idx="2"/>
          </p:cNvCxnSpPr>
          <p:nvPr/>
        </p:nvCxnSpPr>
        <p:spPr>
          <a:xfrm flipH="1">
            <a:off x="5715000" y="1740592"/>
            <a:ext cx="788614" cy="240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18" idx="3"/>
          </p:cNvCxnSpPr>
          <p:nvPr/>
        </p:nvCxnSpPr>
        <p:spPr>
          <a:xfrm>
            <a:off x="1704869" y="3741187"/>
            <a:ext cx="4287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Rules of Inference</a:t>
            </a:r>
          </a:p>
        </p:txBody>
      </p:sp>
      <p:sp>
        <p:nvSpPr>
          <p:cNvPr id="3" name="Content Placeholder 2"/>
          <p:cNvSpPr>
            <a:spLocks noGrp="1"/>
          </p:cNvSpPr>
          <p:nvPr>
            <p:ph idx="1"/>
          </p:nvPr>
        </p:nvSpPr>
        <p:spPr/>
        <p:txBody>
          <a:bodyPr>
            <a:normAutofit/>
          </a:bodyPr>
          <a:lstStyle/>
          <a:p>
            <a:r>
              <a:rPr lang="en-US" dirty="0"/>
              <a:t>For proofs using propositional logic:</a:t>
            </a:r>
          </a:p>
          <a:p>
            <a:pPr marL="850392" lvl="1" indent="-457200">
              <a:buFont typeface="+mj-lt"/>
              <a:buAutoNum type="arabicPeriod"/>
            </a:pPr>
            <a:r>
              <a:rPr lang="en-US" dirty="0"/>
              <a:t>Modus Ponens</a:t>
            </a:r>
          </a:p>
          <a:p>
            <a:pPr marL="850392" lvl="1" indent="-457200">
              <a:buFont typeface="+mj-lt"/>
              <a:buAutoNum type="arabicPeriod"/>
            </a:pPr>
            <a:r>
              <a:rPr lang="en-US" dirty="0">
                <a:solidFill>
                  <a:srgbClr val="FF0000"/>
                </a:solidFill>
              </a:rPr>
              <a:t>Modus </a:t>
            </a:r>
            <a:r>
              <a:rPr lang="en-US" dirty="0" err="1">
                <a:solidFill>
                  <a:srgbClr val="FF0000"/>
                </a:solidFill>
              </a:rPr>
              <a:t>Tollens</a:t>
            </a:r>
            <a:endParaRPr lang="en-US" dirty="0">
              <a:solidFill>
                <a:srgbClr val="FF0000"/>
              </a:solidFill>
            </a:endParaRPr>
          </a:p>
          <a:p>
            <a:pPr marL="850392" lvl="1" indent="-457200">
              <a:buFont typeface="+mj-lt"/>
              <a:buAutoNum type="arabicPeriod"/>
            </a:pPr>
            <a:r>
              <a:rPr lang="en-US" dirty="0">
                <a:solidFill>
                  <a:srgbClr val="FF0000"/>
                </a:solidFill>
              </a:rPr>
              <a:t>Hypothetical Syllogism</a:t>
            </a:r>
          </a:p>
          <a:p>
            <a:pPr marL="850392" lvl="1" indent="-457200">
              <a:buFont typeface="+mj-lt"/>
              <a:buAutoNum type="arabicPeriod"/>
            </a:pPr>
            <a:r>
              <a:rPr lang="en-US" dirty="0">
                <a:solidFill>
                  <a:srgbClr val="FF0000"/>
                </a:solidFill>
              </a:rPr>
              <a:t>Disjunctive Syllogism</a:t>
            </a:r>
          </a:p>
          <a:p>
            <a:pPr marL="850392" lvl="1" indent="-457200">
              <a:buFont typeface="+mj-lt"/>
              <a:buAutoNum type="arabicPeriod"/>
            </a:pPr>
            <a:r>
              <a:rPr lang="en-US" dirty="0">
                <a:solidFill>
                  <a:srgbClr val="FF0000"/>
                </a:solidFill>
              </a:rPr>
              <a:t>Addition</a:t>
            </a:r>
          </a:p>
          <a:p>
            <a:pPr marL="850392" lvl="1" indent="-457200">
              <a:buFont typeface="+mj-lt"/>
              <a:buAutoNum type="arabicPeriod"/>
            </a:pPr>
            <a:r>
              <a:rPr lang="en-US" dirty="0"/>
              <a:t>Simplification</a:t>
            </a:r>
          </a:p>
          <a:p>
            <a:pPr marL="850392" lvl="1" indent="-457200">
              <a:buFont typeface="+mj-lt"/>
              <a:buAutoNum type="arabicPeriod"/>
            </a:pPr>
            <a:r>
              <a:rPr lang="en-US" dirty="0"/>
              <a:t>Conjunction</a:t>
            </a:r>
          </a:p>
          <a:p>
            <a:pPr marL="850392" lvl="1" indent="-457200">
              <a:buFont typeface="+mj-lt"/>
              <a:buAutoNum type="arabicPeriod"/>
            </a:pPr>
            <a:r>
              <a:rPr lang="en-US" dirty="0"/>
              <a:t>Resolution</a:t>
            </a:r>
          </a:p>
        </p:txBody>
      </p:sp>
      <p:sp>
        <p:nvSpPr>
          <p:cNvPr id="4" name="Slide Number Placeholder 3"/>
          <p:cNvSpPr>
            <a:spLocks noGrp="1"/>
          </p:cNvSpPr>
          <p:nvPr>
            <p:ph type="sldNum" sz="quarter" idx="12"/>
          </p:nvPr>
        </p:nvSpPr>
        <p:spPr/>
        <p:txBody>
          <a:bodyPr/>
          <a:lstStyle/>
          <a:p>
            <a:fld id="{9CA217EF-0505-4C33-BB20-8A8DF2039023}" type="slidenum">
              <a:rPr lang="en-US" smtClean="0"/>
              <a:pPr/>
              <a:t>5</a:t>
            </a:fld>
            <a:endParaRPr lang="en-US"/>
          </a:p>
        </p:txBody>
      </p:sp>
      <p:sp>
        <p:nvSpPr>
          <p:cNvPr id="5" name="Right Brace 4"/>
          <p:cNvSpPr/>
          <p:nvPr/>
        </p:nvSpPr>
        <p:spPr>
          <a:xfrm>
            <a:off x="4419600" y="2514600"/>
            <a:ext cx="381000" cy="1219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4876800" y="2895600"/>
            <a:ext cx="1929503" cy="646331"/>
          </a:xfrm>
          <a:prstGeom prst="rect">
            <a:avLst/>
          </a:prstGeom>
          <a:noFill/>
        </p:spPr>
        <p:txBody>
          <a:bodyPr wrap="none" rtlCol="0">
            <a:spAutoFit/>
          </a:bodyPr>
          <a:lstStyle/>
          <a:p>
            <a:r>
              <a:rPr lang="en-US"/>
              <a:t>rules involving </a:t>
            </a:r>
            <a:r>
              <a:rPr lang="en-US">
                <a:sym typeface="Symbol"/>
              </a:rPr>
              <a:t></a:t>
            </a:r>
          </a:p>
          <a:p>
            <a:r>
              <a:rPr lang="en-US">
                <a:sym typeface="Symbol"/>
              </a:rPr>
              <a:t>(used a lot)</a:t>
            </a:r>
            <a:endParaRPr lang="en-US"/>
          </a:p>
        </p:txBody>
      </p:sp>
      <p:sp>
        <p:nvSpPr>
          <p:cNvPr id="7" name="TextBox 6"/>
          <p:cNvSpPr txBox="1"/>
          <p:nvPr/>
        </p:nvSpPr>
        <p:spPr>
          <a:xfrm>
            <a:off x="4320166" y="5257800"/>
            <a:ext cx="2080634" cy="923330"/>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used in the Prolog</a:t>
            </a:r>
          </a:p>
          <a:p>
            <a:r>
              <a:rPr lang="en-US"/>
              <a:t>logic programming</a:t>
            </a:r>
          </a:p>
          <a:p>
            <a:r>
              <a:rPr lang="en-US"/>
              <a:t>language</a:t>
            </a:r>
          </a:p>
        </p:txBody>
      </p:sp>
      <p:cxnSp>
        <p:nvCxnSpPr>
          <p:cNvPr id="9" name="Straight Arrow Connector 8"/>
          <p:cNvCxnSpPr>
            <a:stCxn id="7" idx="1"/>
          </p:cNvCxnSpPr>
          <p:nvPr/>
        </p:nvCxnSpPr>
        <p:spPr>
          <a:xfrm flipH="1">
            <a:off x="2971800" y="5719465"/>
            <a:ext cx="134836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3976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2.1.  Modus </a:t>
            </a:r>
            <a:r>
              <a:rPr lang="en-US" dirty="0"/>
              <a:t>Ponens</a:t>
            </a:r>
          </a:p>
        </p:txBody>
      </p:sp>
      <p:sp>
        <p:nvSpPr>
          <p:cNvPr id="3" name="Content Placeholder 2"/>
          <p:cNvSpPr>
            <a:spLocks noGrp="1"/>
          </p:cNvSpPr>
          <p:nvPr>
            <p:ph idx="1"/>
          </p:nvPr>
        </p:nvSpPr>
        <p:spPr/>
        <p:txBody>
          <a:bodyPr/>
          <a:lstStyle/>
          <a:p>
            <a:pPr>
              <a:buNone/>
            </a:pPr>
            <a:endParaRPr lang="en-US" dirty="0"/>
          </a:p>
          <a:p>
            <a:pPr>
              <a:buNone/>
            </a:pPr>
            <a:r>
              <a:rPr lang="en-US" dirty="0"/>
              <a:t>                        </a:t>
            </a:r>
          </a:p>
        </p:txBody>
      </p:sp>
      <p:sp>
        <p:nvSpPr>
          <p:cNvPr id="9" name="Slide Number Placeholder 8"/>
          <p:cNvSpPr>
            <a:spLocks noGrp="1"/>
          </p:cNvSpPr>
          <p:nvPr>
            <p:ph type="sldNum" sz="quarter" idx="12"/>
          </p:nvPr>
        </p:nvSpPr>
        <p:spPr/>
        <p:txBody>
          <a:bodyPr/>
          <a:lstStyle/>
          <a:p>
            <a:fld id="{9CA217EF-0505-4C33-BB20-8A8DF2039023}" type="slidenum">
              <a:rPr lang="en-US" smtClean="0"/>
              <a:pPr/>
              <a:t>6</a:t>
            </a:fld>
            <a:endParaRPr lang="en-US"/>
          </a:p>
        </p:txBody>
      </p:sp>
      <p:pic>
        <p:nvPicPr>
          <p:cNvPr id="17" name="Picture 16" descr="addin_tmp.png"/>
          <p:cNvPicPr>
            <a:picLocks noChangeAspect="1"/>
          </p:cNvPicPr>
          <p:nvPr>
            <p:custDataLst>
              <p:tags r:id="rId1"/>
            </p:custDataLst>
          </p:nvPr>
        </p:nvPicPr>
        <p:blipFill>
          <a:blip r:embed="rId4" cstate="print"/>
          <a:stretch>
            <a:fillRect/>
          </a:stretch>
        </p:blipFill>
        <p:spPr>
          <a:xfrm>
            <a:off x="2997517" y="2057400"/>
            <a:ext cx="1345883" cy="1194435"/>
          </a:xfrm>
          <a:prstGeom prst="rect">
            <a:avLst/>
          </a:prstGeom>
          <a:ln w="38100">
            <a:solidFill>
              <a:srgbClr val="FF0000"/>
            </a:solidFill>
          </a:ln>
        </p:spPr>
      </p:pic>
      <p:sp>
        <p:nvSpPr>
          <p:cNvPr id="7" name="TextBox 6"/>
          <p:cNvSpPr txBox="1"/>
          <p:nvPr/>
        </p:nvSpPr>
        <p:spPr>
          <a:xfrm>
            <a:off x="990600" y="3505200"/>
            <a:ext cx="7086600" cy="2862322"/>
          </a:xfrm>
          <a:prstGeom prst="rect">
            <a:avLst/>
          </a:prstGeom>
          <a:noFill/>
        </p:spPr>
        <p:txBody>
          <a:bodyPr wrap="square" rtlCol="0">
            <a:spAutoFit/>
          </a:bodyPr>
          <a:lstStyle/>
          <a:p>
            <a:r>
              <a:rPr lang="en-US" sz="2000" b="1" dirty="0"/>
              <a:t>Example</a:t>
            </a:r>
          </a:p>
          <a:p>
            <a:r>
              <a:rPr lang="en-US" sz="2000" dirty="0"/>
              <a:t>Let </a:t>
            </a:r>
            <a:r>
              <a:rPr lang="en-US" sz="2000" i="1" dirty="0"/>
              <a:t>p</a:t>
            </a:r>
            <a:r>
              <a:rPr lang="en-US" sz="2000" dirty="0"/>
              <a:t> be “It is snowing.”</a:t>
            </a:r>
          </a:p>
          <a:p>
            <a:r>
              <a:rPr lang="en-US" sz="2000" dirty="0"/>
              <a:t>Let </a:t>
            </a:r>
            <a:r>
              <a:rPr lang="en-US" sz="2000" i="1" dirty="0"/>
              <a:t>q</a:t>
            </a:r>
            <a:r>
              <a:rPr lang="en-US" sz="2000" dirty="0"/>
              <a:t> be “I study discrete math.”</a:t>
            </a:r>
          </a:p>
          <a:p>
            <a:endParaRPr lang="en-US" sz="2000" dirty="0"/>
          </a:p>
          <a:p>
            <a:r>
              <a:rPr lang="en-US" sz="2000" dirty="0"/>
              <a:t>p </a:t>
            </a:r>
            <a:r>
              <a:rPr lang="en-US" sz="2000" dirty="0">
                <a:sym typeface="Symbol"/>
              </a:rPr>
              <a:t> q: 	</a:t>
            </a:r>
            <a:r>
              <a:rPr lang="en-US" sz="2000" dirty="0"/>
              <a:t>“</a:t>
            </a:r>
            <a:r>
              <a:rPr lang="en-US" sz="2000" b="1" dirty="0"/>
              <a:t>If</a:t>
            </a:r>
            <a:r>
              <a:rPr lang="en-US" sz="2000" dirty="0"/>
              <a:t> it is snowing,  </a:t>
            </a:r>
            <a:r>
              <a:rPr lang="en-US" sz="2000" b="1" dirty="0"/>
              <a:t>then</a:t>
            </a:r>
            <a:r>
              <a:rPr lang="en-US" sz="2000" dirty="0"/>
              <a:t> I study discrete math.”</a:t>
            </a:r>
          </a:p>
          <a:p>
            <a:r>
              <a:rPr lang="en-US" sz="2000" dirty="0"/>
              <a:t>p: 	“It is snowing.”</a:t>
            </a:r>
          </a:p>
          <a:p>
            <a:endParaRPr lang="en-US" sz="2000" dirty="0"/>
          </a:p>
          <a:p>
            <a:r>
              <a:rPr lang="en-US" sz="2000" dirty="0"/>
              <a:t>q: 	“I study discrete math.”</a:t>
            </a:r>
          </a:p>
          <a:p>
            <a:endParaRPr lang="en-US" sz="2000" dirty="0"/>
          </a:p>
        </p:txBody>
      </p:sp>
      <p:sp>
        <p:nvSpPr>
          <p:cNvPr id="11" name="TextBox 10"/>
          <p:cNvSpPr txBox="1"/>
          <p:nvPr/>
        </p:nvSpPr>
        <p:spPr>
          <a:xfrm>
            <a:off x="1528776" y="2286000"/>
            <a:ext cx="1443024" cy="369332"/>
          </a:xfrm>
          <a:prstGeom prst="rect">
            <a:avLst/>
          </a:prstGeom>
          <a:noFill/>
        </p:spPr>
        <p:txBody>
          <a:bodyPr wrap="none" rtlCol="0">
            <a:spAutoFit/>
          </a:bodyPr>
          <a:lstStyle/>
          <a:p>
            <a:r>
              <a:rPr lang="en-US"/>
              <a:t>assumptions</a:t>
            </a:r>
          </a:p>
        </p:txBody>
      </p:sp>
      <p:sp>
        <p:nvSpPr>
          <p:cNvPr id="12" name="TextBox 11"/>
          <p:cNvSpPr txBox="1"/>
          <p:nvPr/>
        </p:nvSpPr>
        <p:spPr>
          <a:xfrm>
            <a:off x="1676400" y="2907268"/>
            <a:ext cx="1265411" cy="369332"/>
          </a:xfrm>
          <a:prstGeom prst="rect">
            <a:avLst/>
          </a:prstGeom>
          <a:noFill/>
        </p:spPr>
        <p:txBody>
          <a:bodyPr wrap="none" rtlCol="0">
            <a:spAutoFit/>
          </a:bodyPr>
          <a:lstStyle/>
          <a:p>
            <a:r>
              <a:rPr lang="en-US"/>
              <a:t>conclusion</a:t>
            </a:r>
          </a:p>
        </p:txBody>
      </p:sp>
      <p:cxnSp>
        <p:nvCxnSpPr>
          <p:cNvPr id="13" name="Straight Connector 12"/>
          <p:cNvCxnSpPr/>
          <p:nvPr/>
        </p:nvCxnSpPr>
        <p:spPr>
          <a:xfrm>
            <a:off x="838200" y="5562600"/>
            <a:ext cx="19812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Modus ponens</a:t>
            </a:r>
          </a:p>
        </p:txBody>
      </p:sp>
      <p:sp>
        <p:nvSpPr>
          <p:cNvPr id="4" name="Slide Number Placeholder 3"/>
          <p:cNvSpPr>
            <a:spLocks noGrp="1"/>
          </p:cNvSpPr>
          <p:nvPr>
            <p:ph type="sldNum" sz="quarter" idx="12"/>
          </p:nvPr>
        </p:nvSpPr>
        <p:spPr/>
        <p:txBody>
          <a:bodyPr/>
          <a:lstStyle/>
          <a:p>
            <a:fld id="{9CA217EF-0505-4C33-BB20-8A8DF2039023}" type="slidenum">
              <a:rPr lang="en-US" smtClean="0"/>
              <a:pPr/>
              <a:t>7</a:t>
            </a:fld>
            <a:endParaRPr lang="en-US"/>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62000" y="2057400"/>
            <a:ext cx="73914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ddin_tmp.png"/>
          <p:cNvPicPr>
            <a:picLocks noChangeAspect="1"/>
          </p:cNvPicPr>
          <p:nvPr>
            <p:custDataLst>
              <p:tags r:id="rId1"/>
            </p:custDataLst>
          </p:nvPr>
        </p:nvPicPr>
        <p:blipFill>
          <a:blip r:embed="rId4" cstate="print"/>
          <a:stretch>
            <a:fillRect/>
          </a:stretch>
        </p:blipFill>
        <p:spPr>
          <a:xfrm>
            <a:off x="4345898" y="609600"/>
            <a:ext cx="1345883" cy="1194435"/>
          </a:xfrm>
          <a:prstGeom prst="rect">
            <a:avLst/>
          </a:prstGeom>
          <a:ln w="38100">
            <a:solidFill>
              <a:srgbClr val="FF0000"/>
            </a:solidFill>
          </a:ln>
        </p:spPr>
      </p:pic>
    </p:spTree>
    <p:extLst>
      <p:ext uri="{BB962C8B-B14F-4D97-AF65-F5344CB8AC3E}">
        <p14:creationId xmlns:p14="http://schemas.microsoft.com/office/powerpoint/2010/main" val="1970243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2.2.  Modus </a:t>
            </a:r>
            <a:r>
              <a:rPr lang="en-US" dirty="0" err="1"/>
              <a:t>Tollens</a:t>
            </a:r>
            <a:endParaRPr lang="en-US" dirty="0"/>
          </a:p>
        </p:txBody>
      </p:sp>
      <p:sp>
        <p:nvSpPr>
          <p:cNvPr id="3" name="Content Placeholder 2"/>
          <p:cNvSpPr>
            <a:spLocks noGrp="1"/>
          </p:cNvSpPr>
          <p:nvPr>
            <p:ph idx="1"/>
          </p:nvPr>
        </p:nvSpPr>
        <p:spPr>
          <a:xfrm>
            <a:off x="533400" y="1935480"/>
            <a:ext cx="8229600" cy="4389120"/>
          </a:xfrm>
        </p:spPr>
        <p:txBody>
          <a:bodyPr/>
          <a:lstStyle/>
          <a:p>
            <a:pPr>
              <a:buNone/>
            </a:pPr>
            <a:endParaRPr lang="en-US" dirty="0"/>
          </a:p>
          <a:p>
            <a:pPr>
              <a:buNone/>
            </a:pPr>
            <a:r>
              <a:rPr lang="en-US" dirty="0"/>
              <a:t>                        </a:t>
            </a:r>
          </a:p>
        </p:txBody>
      </p:sp>
      <p:sp>
        <p:nvSpPr>
          <p:cNvPr id="8" name="Slide Number Placeholder 7"/>
          <p:cNvSpPr>
            <a:spLocks noGrp="1"/>
          </p:cNvSpPr>
          <p:nvPr>
            <p:ph type="sldNum" sz="quarter" idx="12"/>
          </p:nvPr>
        </p:nvSpPr>
        <p:spPr/>
        <p:txBody>
          <a:bodyPr/>
          <a:lstStyle/>
          <a:p>
            <a:fld id="{9CA217EF-0505-4C33-BB20-8A8DF2039023}" type="slidenum">
              <a:rPr lang="en-US" smtClean="0"/>
              <a:pPr/>
              <a:t>8</a:t>
            </a:fld>
            <a:endParaRPr lang="en-US"/>
          </a:p>
        </p:txBody>
      </p:sp>
      <p:pic>
        <p:nvPicPr>
          <p:cNvPr id="9" name="Picture 8" descr="addin_tmp.png"/>
          <p:cNvPicPr>
            <a:picLocks noChangeAspect="1"/>
          </p:cNvPicPr>
          <p:nvPr>
            <p:custDataLst>
              <p:tags r:id="rId1"/>
            </p:custDataLst>
          </p:nvPr>
        </p:nvPicPr>
        <p:blipFill>
          <a:blip r:embed="rId3" cstate="print"/>
          <a:stretch>
            <a:fillRect/>
          </a:stretch>
        </p:blipFill>
        <p:spPr>
          <a:xfrm>
            <a:off x="3302317" y="2209800"/>
            <a:ext cx="1345883" cy="1194435"/>
          </a:xfrm>
          <a:prstGeom prst="rect">
            <a:avLst/>
          </a:prstGeom>
          <a:ln w="38100">
            <a:solidFill>
              <a:srgbClr val="FF0000"/>
            </a:solidFill>
          </a:ln>
        </p:spPr>
      </p:pic>
      <p:sp>
        <p:nvSpPr>
          <p:cNvPr id="7" name="TextBox 6"/>
          <p:cNvSpPr txBox="1"/>
          <p:nvPr/>
        </p:nvSpPr>
        <p:spPr>
          <a:xfrm>
            <a:off x="1143000" y="3733800"/>
            <a:ext cx="7467600" cy="2862322"/>
          </a:xfrm>
          <a:prstGeom prst="rect">
            <a:avLst/>
          </a:prstGeom>
          <a:noFill/>
        </p:spPr>
        <p:txBody>
          <a:bodyPr wrap="square" rtlCol="0">
            <a:spAutoFit/>
          </a:bodyPr>
          <a:lstStyle/>
          <a:p>
            <a:r>
              <a:rPr lang="en-US" sz="2000" b="1"/>
              <a:t>Example</a:t>
            </a:r>
            <a:endParaRPr lang="en-US" sz="2000" dirty="0"/>
          </a:p>
          <a:p>
            <a:r>
              <a:rPr lang="en-US" sz="2000" dirty="0"/>
              <a:t>Let </a:t>
            </a:r>
            <a:r>
              <a:rPr lang="en-US" sz="2000" i="1" dirty="0"/>
              <a:t>p</a:t>
            </a:r>
            <a:r>
              <a:rPr lang="en-US" sz="2000" dirty="0"/>
              <a:t> be “it is snowing.”</a:t>
            </a:r>
          </a:p>
          <a:p>
            <a:r>
              <a:rPr lang="en-US" sz="2000" dirty="0"/>
              <a:t>Let </a:t>
            </a:r>
            <a:r>
              <a:rPr lang="en-US" sz="2000" i="1" dirty="0"/>
              <a:t>q</a:t>
            </a:r>
            <a:r>
              <a:rPr lang="en-US" sz="2000" dirty="0"/>
              <a:t> be “</a:t>
            </a:r>
            <a:r>
              <a:rPr lang="en-US" sz="2000"/>
              <a:t>I study </a:t>
            </a:r>
            <a:r>
              <a:rPr lang="en-US" sz="2000" dirty="0"/>
              <a:t>discrete math.”</a:t>
            </a:r>
          </a:p>
          <a:p>
            <a:endParaRPr lang="en-US" sz="2000" dirty="0"/>
          </a:p>
          <a:p>
            <a:r>
              <a:rPr lang="en-US" sz="2000"/>
              <a:t>p </a:t>
            </a:r>
            <a:r>
              <a:rPr lang="en-US" sz="2000">
                <a:sym typeface="Symbol"/>
              </a:rPr>
              <a:t> q: 	</a:t>
            </a:r>
            <a:r>
              <a:rPr lang="en-US" sz="2000"/>
              <a:t>“</a:t>
            </a:r>
            <a:r>
              <a:rPr lang="en-US" sz="2000" b="1" dirty="0"/>
              <a:t>If</a:t>
            </a:r>
            <a:r>
              <a:rPr lang="en-US" sz="2000" dirty="0"/>
              <a:t> it is snowing,  </a:t>
            </a:r>
            <a:r>
              <a:rPr lang="en-US" sz="2000" b="1" dirty="0"/>
              <a:t>then</a:t>
            </a:r>
            <a:r>
              <a:rPr lang="en-US" sz="2000" dirty="0"/>
              <a:t> </a:t>
            </a:r>
            <a:r>
              <a:rPr lang="en-US" sz="2000"/>
              <a:t>I study </a:t>
            </a:r>
            <a:r>
              <a:rPr lang="en-US" sz="2000" dirty="0"/>
              <a:t>discrete math.”</a:t>
            </a:r>
          </a:p>
          <a:p>
            <a:r>
              <a:rPr lang="en-US" sz="2000">
                <a:sym typeface="Symbol"/>
              </a:rPr>
              <a:t>q:	</a:t>
            </a:r>
            <a:r>
              <a:rPr lang="en-US" sz="2000"/>
              <a:t>“I do </a:t>
            </a:r>
            <a:r>
              <a:rPr lang="en-US" sz="2000" b="1"/>
              <a:t>not</a:t>
            </a:r>
            <a:r>
              <a:rPr lang="en-US" sz="2000"/>
              <a:t> </a:t>
            </a:r>
            <a:r>
              <a:rPr lang="en-US" sz="2000" dirty="0"/>
              <a:t>study discrete math.”</a:t>
            </a:r>
          </a:p>
          <a:p>
            <a:endParaRPr lang="en-US" sz="2000" dirty="0"/>
          </a:p>
          <a:p>
            <a:r>
              <a:rPr lang="en-US" sz="2000">
                <a:sym typeface="Symbol"/>
              </a:rPr>
              <a:t>p:	</a:t>
            </a:r>
            <a:r>
              <a:rPr lang="en-US" sz="2000"/>
              <a:t>“It </a:t>
            </a:r>
            <a:r>
              <a:rPr lang="en-US" sz="2000" dirty="0"/>
              <a:t>is </a:t>
            </a:r>
            <a:r>
              <a:rPr lang="en-US" sz="2000" b="1" dirty="0"/>
              <a:t>not</a:t>
            </a:r>
            <a:r>
              <a:rPr lang="en-US" sz="2000" dirty="0"/>
              <a:t> snowing.”</a:t>
            </a:r>
          </a:p>
          <a:p>
            <a:endParaRPr lang="en-US" sz="2000" dirty="0"/>
          </a:p>
        </p:txBody>
      </p:sp>
      <p:cxnSp>
        <p:nvCxnSpPr>
          <p:cNvPr id="12" name="Straight Connector 11"/>
          <p:cNvCxnSpPr/>
          <p:nvPr/>
        </p:nvCxnSpPr>
        <p:spPr>
          <a:xfrm>
            <a:off x="990600" y="5791200"/>
            <a:ext cx="19812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Modus </a:t>
            </a:r>
            <a:r>
              <a:rPr lang="en-US" dirty="0" err="1"/>
              <a:t>tollens</a:t>
            </a:r>
            <a:r>
              <a:rPr lang="en-US" dirty="0"/>
              <a:t> </a:t>
            </a:r>
          </a:p>
        </p:txBody>
      </p:sp>
      <p:sp>
        <p:nvSpPr>
          <p:cNvPr id="4" name="Slide Number Placeholder 3"/>
          <p:cNvSpPr>
            <a:spLocks noGrp="1"/>
          </p:cNvSpPr>
          <p:nvPr>
            <p:ph type="sldNum" sz="quarter" idx="12"/>
          </p:nvPr>
        </p:nvSpPr>
        <p:spPr/>
        <p:txBody>
          <a:bodyPr/>
          <a:lstStyle/>
          <a:p>
            <a:fld id="{9CA217EF-0505-4C33-BB20-8A8DF2039023}" type="slidenum">
              <a:rPr lang="en-US" smtClean="0"/>
              <a:pPr/>
              <a:t>9</a:t>
            </a:fld>
            <a:endParaRPr lang="en-US"/>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5799" y="2304738"/>
            <a:ext cx="3904009" cy="354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ddin_tmp.png"/>
          <p:cNvPicPr>
            <a:picLocks noChangeAspect="1"/>
          </p:cNvPicPr>
          <p:nvPr>
            <p:custDataLst>
              <p:tags r:id="rId1"/>
            </p:custDataLst>
          </p:nvPr>
        </p:nvPicPr>
        <p:blipFill>
          <a:blip r:embed="rId4" cstate="print"/>
          <a:stretch>
            <a:fillRect/>
          </a:stretch>
        </p:blipFill>
        <p:spPr>
          <a:xfrm>
            <a:off x="3975258" y="685800"/>
            <a:ext cx="1345883" cy="1194435"/>
          </a:xfrm>
          <a:prstGeom prst="rect">
            <a:avLst/>
          </a:prstGeom>
          <a:ln w="38100">
            <a:solidFill>
              <a:srgbClr val="FF0000"/>
            </a:solidFill>
          </a:ln>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2286000"/>
            <a:ext cx="3431086" cy="356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3846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2.3. Hypothetical syllogism’ </a:t>
            </a:r>
          </a:p>
        </p:txBody>
      </p:sp>
      <p:sp>
        <p:nvSpPr>
          <p:cNvPr id="3" name="Content Placeholder 2"/>
          <p:cNvSpPr>
            <a:spLocks noGrp="1"/>
          </p:cNvSpPr>
          <p:nvPr>
            <p:ph idx="1"/>
          </p:nvPr>
        </p:nvSpPr>
        <p:spPr/>
        <p:txBody>
          <a:bodyPr/>
          <a:lstStyle/>
          <a:p>
            <a:pPr>
              <a:buNone/>
            </a:pPr>
            <a:endParaRPr lang="en-US" dirty="0"/>
          </a:p>
          <a:p>
            <a:pPr>
              <a:buNone/>
            </a:pPr>
            <a:r>
              <a:rPr lang="en-US" dirty="0"/>
              <a:t>                        </a:t>
            </a:r>
          </a:p>
        </p:txBody>
      </p:sp>
      <p:sp>
        <p:nvSpPr>
          <p:cNvPr id="7" name="Slide Number Placeholder 6"/>
          <p:cNvSpPr>
            <a:spLocks noGrp="1"/>
          </p:cNvSpPr>
          <p:nvPr>
            <p:ph type="sldNum" sz="quarter" idx="12"/>
          </p:nvPr>
        </p:nvSpPr>
        <p:spPr/>
        <p:txBody>
          <a:bodyPr/>
          <a:lstStyle/>
          <a:p>
            <a:fld id="{9CA217EF-0505-4C33-BB20-8A8DF2039023}" type="slidenum">
              <a:rPr lang="en-US" smtClean="0"/>
              <a:pPr/>
              <a:t>10</a:t>
            </a:fld>
            <a:endParaRPr lang="en-US"/>
          </a:p>
        </p:txBody>
      </p:sp>
      <p:pic>
        <p:nvPicPr>
          <p:cNvPr id="6" name="Picture 5" descr="addin_tmp.png"/>
          <p:cNvPicPr>
            <a:picLocks noChangeAspect="1"/>
          </p:cNvPicPr>
          <p:nvPr>
            <p:custDataLst>
              <p:tags r:id="rId1"/>
            </p:custDataLst>
          </p:nvPr>
        </p:nvPicPr>
        <p:blipFill>
          <a:blip r:embed="rId4" cstate="print"/>
          <a:stretch>
            <a:fillRect/>
          </a:stretch>
        </p:blipFill>
        <p:spPr>
          <a:xfrm>
            <a:off x="2945130" y="2286000"/>
            <a:ext cx="1703070" cy="1194435"/>
          </a:xfrm>
          <a:prstGeom prst="rect">
            <a:avLst/>
          </a:prstGeom>
          <a:ln w="38100">
            <a:solidFill>
              <a:srgbClr val="FF0000"/>
            </a:solidFill>
          </a:ln>
        </p:spPr>
      </p:pic>
      <p:sp>
        <p:nvSpPr>
          <p:cNvPr id="9" name="TextBox 8"/>
          <p:cNvSpPr txBox="1"/>
          <p:nvPr/>
        </p:nvSpPr>
        <p:spPr>
          <a:xfrm>
            <a:off x="762000" y="3733800"/>
            <a:ext cx="7543800" cy="2862322"/>
          </a:xfrm>
          <a:prstGeom prst="rect">
            <a:avLst/>
          </a:prstGeom>
          <a:noFill/>
        </p:spPr>
        <p:txBody>
          <a:bodyPr wrap="square" rtlCol="0">
            <a:spAutoFit/>
          </a:bodyPr>
          <a:lstStyle/>
          <a:p>
            <a:r>
              <a:rPr lang="en-US" sz="2000" b="1" dirty="0"/>
              <a:t>Example</a:t>
            </a:r>
            <a:endParaRPr lang="en-US" sz="2000" dirty="0"/>
          </a:p>
          <a:p>
            <a:r>
              <a:rPr lang="en-US" sz="2000" dirty="0"/>
              <a:t>Let </a:t>
            </a:r>
            <a:r>
              <a:rPr lang="en-US" sz="2000" i="1" dirty="0"/>
              <a:t>p</a:t>
            </a:r>
            <a:r>
              <a:rPr lang="en-US" sz="2000" dirty="0"/>
              <a:t> be “it snows.”</a:t>
            </a:r>
          </a:p>
          <a:p>
            <a:r>
              <a:rPr lang="en-US" sz="2000" dirty="0"/>
              <a:t>Let </a:t>
            </a:r>
            <a:r>
              <a:rPr lang="en-US" sz="2000" i="1" dirty="0"/>
              <a:t>q</a:t>
            </a:r>
            <a:r>
              <a:rPr lang="en-US" sz="2000" dirty="0"/>
              <a:t> be “I study discrete math.”</a:t>
            </a:r>
          </a:p>
          <a:p>
            <a:r>
              <a:rPr lang="en-US" sz="2000" dirty="0"/>
              <a:t>Let </a:t>
            </a:r>
            <a:r>
              <a:rPr lang="en-US" sz="2000" i="1" dirty="0"/>
              <a:t>r </a:t>
            </a:r>
            <a:r>
              <a:rPr lang="en-US" sz="2000" dirty="0"/>
              <a:t>be “I will get an A.”</a:t>
            </a:r>
          </a:p>
          <a:p>
            <a:endParaRPr lang="en-US" sz="2000" dirty="0"/>
          </a:p>
          <a:p>
            <a:r>
              <a:rPr lang="en-US" sz="2000" dirty="0"/>
              <a:t>p </a:t>
            </a:r>
            <a:r>
              <a:rPr lang="en-US" sz="2000" dirty="0">
                <a:sym typeface="Symbol"/>
              </a:rPr>
              <a:t> q:	</a:t>
            </a:r>
            <a:r>
              <a:rPr lang="en-US" sz="2000" dirty="0"/>
              <a:t>“</a:t>
            </a:r>
            <a:r>
              <a:rPr lang="en-US" sz="2000" b="1" dirty="0"/>
              <a:t>If</a:t>
            </a:r>
            <a:r>
              <a:rPr lang="en-US" sz="2000" dirty="0"/>
              <a:t> it snows,  </a:t>
            </a:r>
            <a:r>
              <a:rPr lang="en-US" sz="2000" b="1" dirty="0"/>
              <a:t>then</a:t>
            </a:r>
            <a:r>
              <a:rPr lang="en-US" sz="2000" dirty="0"/>
              <a:t> I study discrete math.”</a:t>
            </a:r>
          </a:p>
          <a:p>
            <a:r>
              <a:rPr lang="en-US" sz="2000" dirty="0"/>
              <a:t>q </a:t>
            </a:r>
            <a:r>
              <a:rPr lang="en-US" sz="2000" dirty="0">
                <a:sym typeface="Symbol"/>
              </a:rPr>
              <a:t> r:	</a:t>
            </a:r>
            <a:r>
              <a:rPr lang="en-US" sz="2000" dirty="0"/>
              <a:t>“</a:t>
            </a:r>
            <a:r>
              <a:rPr lang="en-US" sz="2000" b="1" dirty="0"/>
              <a:t>If</a:t>
            </a:r>
            <a:r>
              <a:rPr lang="en-US" sz="2000" dirty="0"/>
              <a:t> I study discrete math, </a:t>
            </a:r>
            <a:r>
              <a:rPr lang="en-US" sz="2000" b="1" dirty="0"/>
              <a:t>then</a:t>
            </a:r>
            <a:r>
              <a:rPr lang="en-US" sz="2000" dirty="0"/>
              <a:t> I will get an A.”</a:t>
            </a:r>
          </a:p>
          <a:p>
            <a:endParaRPr lang="en-US" sz="2000" dirty="0"/>
          </a:p>
          <a:p>
            <a:r>
              <a:rPr lang="en-US" sz="2000" dirty="0"/>
              <a:t>p </a:t>
            </a:r>
            <a:r>
              <a:rPr lang="en-US" sz="2000" dirty="0">
                <a:sym typeface="Symbol"/>
              </a:rPr>
              <a:t> r:	</a:t>
            </a:r>
            <a:r>
              <a:rPr lang="en-US" sz="2000" dirty="0"/>
              <a:t>“</a:t>
            </a:r>
            <a:r>
              <a:rPr lang="en-US" sz="2000" b="1" dirty="0"/>
              <a:t>If</a:t>
            </a:r>
            <a:r>
              <a:rPr lang="en-US" sz="2000" dirty="0"/>
              <a:t> it snows, </a:t>
            </a:r>
            <a:r>
              <a:rPr lang="en-US" sz="2000" b="1" dirty="0"/>
              <a:t>then</a:t>
            </a:r>
            <a:r>
              <a:rPr lang="en-US" sz="2000" dirty="0"/>
              <a:t> I will get an A.”</a:t>
            </a:r>
          </a:p>
        </p:txBody>
      </p:sp>
      <p:sp>
        <p:nvSpPr>
          <p:cNvPr id="4" name="TextBox 3"/>
          <p:cNvSpPr txBox="1"/>
          <p:nvPr/>
        </p:nvSpPr>
        <p:spPr>
          <a:xfrm>
            <a:off x="6096000" y="2971800"/>
            <a:ext cx="356188" cy="461665"/>
          </a:xfrm>
          <a:prstGeom prst="rect">
            <a:avLst/>
          </a:prstGeom>
          <a:noFill/>
        </p:spPr>
        <p:txBody>
          <a:bodyPr wrap="none" rtlCol="0">
            <a:spAutoFit/>
          </a:bodyPr>
          <a:lstStyle/>
          <a:p>
            <a:r>
              <a:rPr lang="en-US" sz="2400"/>
              <a:t>p</a:t>
            </a:r>
          </a:p>
        </p:txBody>
      </p:sp>
      <p:sp>
        <p:nvSpPr>
          <p:cNvPr id="11" name="TextBox 10"/>
          <p:cNvSpPr txBox="1"/>
          <p:nvPr/>
        </p:nvSpPr>
        <p:spPr>
          <a:xfrm>
            <a:off x="6959012" y="2971800"/>
            <a:ext cx="356188" cy="461665"/>
          </a:xfrm>
          <a:prstGeom prst="rect">
            <a:avLst/>
          </a:prstGeom>
          <a:noFill/>
        </p:spPr>
        <p:txBody>
          <a:bodyPr wrap="none" rtlCol="0">
            <a:spAutoFit/>
          </a:bodyPr>
          <a:lstStyle/>
          <a:p>
            <a:r>
              <a:rPr lang="en-US" sz="2400"/>
              <a:t>q</a:t>
            </a:r>
          </a:p>
        </p:txBody>
      </p:sp>
      <p:sp>
        <p:nvSpPr>
          <p:cNvPr id="12" name="TextBox 11"/>
          <p:cNvSpPr txBox="1"/>
          <p:nvPr/>
        </p:nvSpPr>
        <p:spPr>
          <a:xfrm>
            <a:off x="7924800" y="2971800"/>
            <a:ext cx="303288" cy="461665"/>
          </a:xfrm>
          <a:prstGeom prst="rect">
            <a:avLst/>
          </a:prstGeom>
          <a:noFill/>
        </p:spPr>
        <p:txBody>
          <a:bodyPr wrap="none" rtlCol="0">
            <a:spAutoFit/>
          </a:bodyPr>
          <a:lstStyle/>
          <a:p>
            <a:r>
              <a:rPr lang="en-US" sz="2400"/>
              <a:t>r</a:t>
            </a:r>
          </a:p>
        </p:txBody>
      </p:sp>
      <p:sp>
        <p:nvSpPr>
          <p:cNvPr id="5" name="Freeform 4"/>
          <p:cNvSpPr/>
          <p:nvPr/>
        </p:nvSpPr>
        <p:spPr>
          <a:xfrm>
            <a:off x="6295292" y="2696173"/>
            <a:ext cx="808893" cy="398719"/>
          </a:xfrm>
          <a:custGeom>
            <a:avLst/>
            <a:gdLst>
              <a:gd name="connsiteX0" fmla="*/ 0 w 808893"/>
              <a:gd name="connsiteY0" fmla="*/ 363550 h 398719"/>
              <a:gd name="connsiteX1" fmla="*/ 339970 w 808893"/>
              <a:gd name="connsiteY1" fmla="*/ 135 h 398719"/>
              <a:gd name="connsiteX2" fmla="*/ 808893 w 808893"/>
              <a:gd name="connsiteY2" fmla="*/ 398719 h 398719"/>
            </a:gdLst>
            <a:ahLst/>
            <a:cxnLst>
              <a:cxn ang="0">
                <a:pos x="connsiteX0" y="connsiteY0"/>
              </a:cxn>
              <a:cxn ang="0">
                <a:pos x="connsiteX1" y="connsiteY1"/>
              </a:cxn>
              <a:cxn ang="0">
                <a:pos x="connsiteX2" y="connsiteY2"/>
              </a:cxn>
            </a:cxnLst>
            <a:rect l="l" t="t" r="r" b="b"/>
            <a:pathLst>
              <a:path w="808893" h="398719">
                <a:moveTo>
                  <a:pt x="0" y="363550"/>
                </a:moveTo>
                <a:cubicBezTo>
                  <a:pt x="102577" y="178911"/>
                  <a:pt x="205154" y="-5727"/>
                  <a:pt x="339970" y="135"/>
                </a:cubicBezTo>
                <a:cubicBezTo>
                  <a:pt x="474786" y="5997"/>
                  <a:pt x="641839" y="202358"/>
                  <a:pt x="808893" y="398719"/>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7239000" y="2667000"/>
            <a:ext cx="808893" cy="398719"/>
          </a:xfrm>
          <a:custGeom>
            <a:avLst/>
            <a:gdLst>
              <a:gd name="connsiteX0" fmla="*/ 0 w 808893"/>
              <a:gd name="connsiteY0" fmla="*/ 363550 h 398719"/>
              <a:gd name="connsiteX1" fmla="*/ 339970 w 808893"/>
              <a:gd name="connsiteY1" fmla="*/ 135 h 398719"/>
              <a:gd name="connsiteX2" fmla="*/ 808893 w 808893"/>
              <a:gd name="connsiteY2" fmla="*/ 398719 h 398719"/>
            </a:gdLst>
            <a:ahLst/>
            <a:cxnLst>
              <a:cxn ang="0">
                <a:pos x="connsiteX0" y="connsiteY0"/>
              </a:cxn>
              <a:cxn ang="0">
                <a:pos x="connsiteX1" y="connsiteY1"/>
              </a:cxn>
              <a:cxn ang="0">
                <a:pos x="connsiteX2" y="connsiteY2"/>
              </a:cxn>
            </a:cxnLst>
            <a:rect l="l" t="t" r="r" b="b"/>
            <a:pathLst>
              <a:path w="808893" h="398719">
                <a:moveTo>
                  <a:pt x="0" y="363550"/>
                </a:moveTo>
                <a:cubicBezTo>
                  <a:pt x="102577" y="178911"/>
                  <a:pt x="205154" y="-5727"/>
                  <a:pt x="339970" y="135"/>
                </a:cubicBezTo>
                <a:cubicBezTo>
                  <a:pt x="474786" y="5997"/>
                  <a:pt x="641839" y="202358"/>
                  <a:pt x="808893" y="398719"/>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6405576" y="2209800"/>
            <a:ext cx="1443024" cy="369332"/>
          </a:xfrm>
          <a:prstGeom prst="rect">
            <a:avLst/>
          </a:prstGeom>
          <a:noFill/>
        </p:spPr>
        <p:txBody>
          <a:bodyPr wrap="none" rtlCol="0">
            <a:spAutoFit/>
          </a:bodyPr>
          <a:lstStyle/>
          <a:p>
            <a:r>
              <a:rPr lang="en-US"/>
              <a:t>assumptions</a:t>
            </a:r>
          </a:p>
        </p:txBody>
      </p:sp>
      <p:sp>
        <p:nvSpPr>
          <p:cNvPr id="14" name="Freeform 13"/>
          <p:cNvSpPr/>
          <p:nvPr/>
        </p:nvSpPr>
        <p:spPr>
          <a:xfrm>
            <a:off x="6295292" y="3399693"/>
            <a:ext cx="1699846" cy="334108"/>
          </a:xfrm>
          <a:custGeom>
            <a:avLst/>
            <a:gdLst>
              <a:gd name="connsiteX0" fmla="*/ 0 w 1699846"/>
              <a:gd name="connsiteY0" fmla="*/ 46893 h 537833"/>
              <a:gd name="connsiteX1" fmla="*/ 621323 w 1699846"/>
              <a:gd name="connsiteY1" fmla="*/ 480646 h 537833"/>
              <a:gd name="connsiteX2" fmla="*/ 1254370 w 1699846"/>
              <a:gd name="connsiteY2" fmla="*/ 480646 h 537833"/>
              <a:gd name="connsiteX3" fmla="*/ 1699846 w 1699846"/>
              <a:gd name="connsiteY3" fmla="*/ 0 h 537833"/>
            </a:gdLst>
            <a:ahLst/>
            <a:cxnLst>
              <a:cxn ang="0">
                <a:pos x="connsiteX0" y="connsiteY0"/>
              </a:cxn>
              <a:cxn ang="0">
                <a:pos x="connsiteX1" y="connsiteY1"/>
              </a:cxn>
              <a:cxn ang="0">
                <a:pos x="connsiteX2" y="connsiteY2"/>
              </a:cxn>
              <a:cxn ang="0">
                <a:pos x="connsiteX3" y="connsiteY3"/>
              </a:cxn>
            </a:cxnLst>
            <a:rect l="l" t="t" r="r" b="b"/>
            <a:pathLst>
              <a:path w="1699846" h="537833">
                <a:moveTo>
                  <a:pt x="0" y="46893"/>
                </a:moveTo>
                <a:cubicBezTo>
                  <a:pt x="206130" y="227623"/>
                  <a:pt x="412261" y="408354"/>
                  <a:pt x="621323" y="480646"/>
                </a:cubicBezTo>
                <a:cubicBezTo>
                  <a:pt x="830385" y="552938"/>
                  <a:pt x="1074616" y="560754"/>
                  <a:pt x="1254370" y="480646"/>
                </a:cubicBezTo>
                <a:cubicBezTo>
                  <a:pt x="1434124" y="400538"/>
                  <a:pt x="1566985" y="200269"/>
                  <a:pt x="1699846" y="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6659389" y="3745468"/>
            <a:ext cx="1265411" cy="369332"/>
          </a:xfrm>
          <a:prstGeom prst="rect">
            <a:avLst/>
          </a:prstGeom>
          <a:noFill/>
        </p:spPr>
        <p:txBody>
          <a:bodyPr wrap="none" rtlCol="0">
            <a:spAutoFit/>
          </a:bodyPr>
          <a:lstStyle/>
          <a:p>
            <a:r>
              <a:rPr lang="en-US"/>
              <a:t>conclusion</a:t>
            </a:r>
          </a:p>
        </p:txBody>
      </p:sp>
      <p:cxnSp>
        <p:nvCxnSpPr>
          <p:cNvPr id="16" name="Straight Connector 15"/>
          <p:cNvCxnSpPr/>
          <p:nvPr/>
        </p:nvCxnSpPr>
        <p:spPr>
          <a:xfrm>
            <a:off x="457200" y="6096000"/>
            <a:ext cx="198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096000" y="304800"/>
            <a:ext cx="2665986"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This may be why math</a:t>
            </a:r>
          </a:p>
          <a:p>
            <a:r>
              <a:rPr lang="en-US"/>
              <a:t>people use the </a:t>
            </a:r>
            <a:r>
              <a:rPr lang="en-US">
                <a:sym typeface="Symbol"/>
              </a:rPr>
              <a:t> symbol</a:t>
            </a:r>
            <a:endParaRPr lang="th-TH"/>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A217EF-0505-4C33-BB20-8A8DF2039023}" type="slidenum">
              <a:rPr lang="en-US" smtClean="0"/>
              <a:pPr/>
              <a:t>11</a:t>
            </a:fld>
            <a:endParaRPr lang="en-US"/>
          </a:p>
        </p:txBody>
      </p:sp>
      <p:grpSp>
        <p:nvGrpSpPr>
          <p:cNvPr id="2" name="Group 1"/>
          <p:cNvGrpSpPr/>
          <p:nvPr/>
        </p:nvGrpSpPr>
        <p:grpSpPr>
          <a:xfrm>
            <a:off x="3648075" y="4610100"/>
            <a:ext cx="3133725" cy="2095500"/>
            <a:chOff x="2362200" y="4610100"/>
            <a:chExt cx="3133725" cy="2095500"/>
          </a:xfrm>
        </p:grpSpPr>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610100"/>
              <a:ext cx="313372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724400" y="4762500"/>
              <a:ext cx="330540" cy="369332"/>
            </a:xfrm>
            <a:prstGeom prst="rect">
              <a:avLst/>
            </a:prstGeom>
            <a:solidFill>
              <a:schemeClr val="bg1"/>
            </a:solidFill>
          </p:spPr>
          <p:txBody>
            <a:bodyPr wrap="none" rtlCol="0">
              <a:spAutoFit/>
            </a:bodyPr>
            <a:lstStyle/>
            <a:p>
              <a:r>
                <a:rPr lang="en-US"/>
                <a:t>R</a:t>
              </a:r>
            </a:p>
          </p:txBody>
        </p:sp>
        <p:sp>
          <p:nvSpPr>
            <p:cNvPr id="9" name="TextBox 8"/>
            <p:cNvSpPr txBox="1"/>
            <p:nvPr/>
          </p:nvSpPr>
          <p:spPr>
            <a:xfrm>
              <a:off x="3479460" y="4774168"/>
              <a:ext cx="330540" cy="369332"/>
            </a:xfrm>
            <a:prstGeom prst="rect">
              <a:avLst/>
            </a:prstGeom>
            <a:solidFill>
              <a:schemeClr val="bg1"/>
            </a:solidFill>
          </p:spPr>
          <p:txBody>
            <a:bodyPr wrap="none" rtlCol="0">
              <a:spAutoFit/>
            </a:bodyPr>
            <a:lstStyle/>
            <a:p>
              <a:r>
                <a:rPr lang="en-US"/>
                <a:t>R</a:t>
              </a:r>
            </a:p>
          </p:txBody>
        </p:sp>
      </p:grpSp>
      <p:pic>
        <p:nvPicPr>
          <p:cNvPr id="1026" name="Picture 2" descr="C:\Users\Ad\Desktop\Pictur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8325" y="838200"/>
            <a:ext cx="4867275" cy="358140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p:cNvCxnSpPr/>
          <p:nvPr/>
        </p:nvCxnSpPr>
        <p:spPr>
          <a:xfrm>
            <a:off x="990600" y="1664732"/>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16093" y="1436132"/>
            <a:ext cx="774507" cy="369332"/>
          </a:xfrm>
          <a:prstGeom prst="rect">
            <a:avLst/>
          </a:prstGeom>
          <a:noFill/>
        </p:spPr>
        <p:txBody>
          <a:bodyPr wrap="none" rtlCol="0">
            <a:spAutoFit/>
          </a:bodyPr>
          <a:lstStyle/>
          <a:p>
            <a:r>
              <a:rPr lang="en-US"/>
              <a:t>p </a:t>
            </a:r>
            <a:r>
              <a:rPr lang="en-US">
                <a:sym typeface="Symbol"/>
              </a:rPr>
              <a:t> q</a:t>
            </a:r>
            <a:endParaRPr lang="en-US"/>
          </a:p>
        </p:txBody>
      </p:sp>
      <p:sp>
        <p:nvSpPr>
          <p:cNvPr id="12" name="TextBox 11"/>
          <p:cNvSpPr txBox="1"/>
          <p:nvPr/>
        </p:nvSpPr>
        <p:spPr>
          <a:xfrm>
            <a:off x="1214424" y="1295400"/>
            <a:ext cx="325730" cy="369332"/>
          </a:xfrm>
          <a:prstGeom prst="rect">
            <a:avLst/>
          </a:prstGeom>
          <a:noFill/>
        </p:spPr>
        <p:txBody>
          <a:bodyPr wrap="none" rtlCol="0">
            <a:spAutoFit/>
          </a:bodyPr>
          <a:lstStyle/>
          <a:p>
            <a:r>
              <a:rPr lang="en-US"/>
              <a:t>T</a:t>
            </a:r>
          </a:p>
        </p:txBody>
      </p:sp>
      <p:cxnSp>
        <p:nvCxnSpPr>
          <p:cNvPr id="13" name="Straight Arrow Connector 12"/>
          <p:cNvCxnSpPr/>
          <p:nvPr/>
        </p:nvCxnSpPr>
        <p:spPr>
          <a:xfrm>
            <a:off x="926907" y="2450068"/>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52400" y="2221468"/>
            <a:ext cx="737318" cy="369332"/>
          </a:xfrm>
          <a:prstGeom prst="rect">
            <a:avLst/>
          </a:prstGeom>
          <a:noFill/>
        </p:spPr>
        <p:txBody>
          <a:bodyPr wrap="none" rtlCol="0">
            <a:spAutoFit/>
          </a:bodyPr>
          <a:lstStyle/>
          <a:p>
            <a:r>
              <a:rPr lang="en-US"/>
              <a:t>q </a:t>
            </a:r>
            <a:r>
              <a:rPr lang="en-US">
                <a:sym typeface="Symbol"/>
              </a:rPr>
              <a:t> r</a:t>
            </a:r>
            <a:endParaRPr lang="en-US"/>
          </a:p>
        </p:txBody>
      </p:sp>
      <p:sp>
        <p:nvSpPr>
          <p:cNvPr id="15" name="TextBox 14"/>
          <p:cNvSpPr txBox="1"/>
          <p:nvPr/>
        </p:nvSpPr>
        <p:spPr>
          <a:xfrm>
            <a:off x="1150731" y="2080736"/>
            <a:ext cx="325730" cy="369332"/>
          </a:xfrm>
          <a:prstGeom prst="rect">
            <a:avLst/>
          </a:prstGeom>
          <a:noFill/>
        </p:spPr>
        <p:txBody>
          <a:bodyPr wrap="none" rtlCol="0">
            <a:spAutoFit/>
          </a:bodyPr>
          <a:lstStyle/>
          <a:p>
            <a:r>
              <a:rPr lang="en-US"/>
              <a:t>T</a:t>
            </a:r>
          </a:p>
        </p:txBody>
      </p:sp>
      <p:sp>
        <p:nvSpPr>
          <p:cNvPr id="3" name="Freeform 2"/>
          <p:cNvSpPr/>
          <p:nvPr/>
        </p:nvSpPr>
        <p:spPr>
          <a:xfrm>
            <a:off x="2397245" y="4419600"/>
            <a:ext cx="1201740" cy="1129845"/>
          </a:xfrm>
          <a:custGeom>
            <a:avLst/>
            <a:gdLst>
              <a:gd name="connsiteX0" fmla="*/ 41155 w 1201740"/>
              <a:gd name="connsiteY0" fmla="*/ 0 h 1129845"/>
              <a:gd name="connsiteX1" fmla="*/ 99770 w 1201740"/>
              <a:gd name="connsiteY1" fmla="*/ 914400 h 1129845"/>
              <a:gd name="connsiteX2" fmla="*/ 908663 w 1201740"/>
              <a:gd name="connsiteY2" fmla="*/ 1101969 h 1129845"/>
              <a:gd name="connsiteX3" fmla="*/ 1201740 w 1201740"/>
              <a:gd name="connsiteY3" fmla="*/ 1125415 h 1129845"/>
            </a:gdLst>
            <a:ahLst/>
            <a:cxnLst>
              <a:cxn ang="0">
                <a:pos x="connsiteX0" y="connsiteY0"/>
              </a:cxn>
              <a:cxn ang="0">
                <a:pos x="connsiteX1" y="connsiteY1"/>
              </a:cxn>
              <a:cxn ang="0">
                <a:pos x="connsiteX2" y="connsiteY2"/>
              </a:cxn>
              <a:cxn ang="0">
                <a:pos x="connsiteX3" y="connsiteY3"/>
              </a:cxn>
            </a:cxnLst>
            <a:rect l="l" t="t" r="r" b="b"/>
            <a:pathLst>
              <a:path w="1201740" h="1129845">
                <a:moveTo>
                  <a:pt x="41155" y="0"/>
                </a:moveTo>
                <a:cubicBezTo>
                  <a:pt x="-1830" y="365369"/>
                  <a:pt x="-44815" y="730739"/>
                  <a:pt x="99770" y="914400"/>
                </a:cubicBezTo>
                <a:cubicBezTo>
                  <a:pt x="244355" y="1098061"/>
                  <a:pt x="725001" y="1066800"/>
                  <a:pt x="908663" y="1101969"/>
                </a:cubicBezTo>
                <a:cubicBezTo>
                  <a:pt x="1092325" y="1137138"/>
                  <a:pt x="1147032" y="1131276"/>
                  <a:pt x="1201740" y="1125415"/>
                </a:cubicBezTo>
              </a:path>
            </a:pathLst>
          </a:cu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1371600" y="4572000"/>
            <a:ext cx="994183" cy="923330"/>
          </a:xfrm>
          <a:prstGeom prst="rect">
            <a:avLst/>
          </a:prstGeom>
          <a:noFill/>
        </p:spPr>
        <p:txBody>
          <a:bodyPr wrap="none" rtlCol="0">
            <a:spAutoFit/>
          </a:bodyPr>
          <a:lstStyle/>
          <a:p>
            <a:r>
              <a:rPr lang="en-US"/>
              <a:t>possible</a:t>
            </a:r>
          </a:p>
          <a:p>
            <a:r>
              <a:rPr lang="en-US"/>
              <a:t>values </a:t>
            </a:r>
          </a:p>
          <a:p>
            <a:r>
              <a:rPr lang="en-US"/>
              <a:t>for p, r</a:t>
            </a:r>
          </a:p>
        </p:txBody>
      </p:sp>
      <p:cxnSp>
        <p:nvCxnSpPr>
          <p:cNvPr id="17" name="Straight Arrow Connector 16"/>
          <p:cNvCxnSpPr/>
          <p:nvPr/>
        </p:nvCxnSpPr>
        <p:spPr>
          <a:xfrm>
            <a:off x="6781800" y="5715000"/>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696200" y="5486400"/>
            <a:ext cx="737318" cy="369332"/>
          </a:xfrm>
          <a:prstGeom prst="rect">
            <a:avLst/>
          </a:prstGeom>
          <a:noFill/>
        </p:spPr>
        <p:txBody>
          <a:bodyPr wrap="none" rtlCol="0">
            <a:spAutoFit/>
          </a:bodyPr>
          <a:lstStyle/>
          <a:p>
            <a:r>
              <a:rPr lang="en-US"/>
              <a:t>p </a:t>
            </a:r>
            <a:r>
              <a:rPr lang="en-US">
                <a:sym typeface="Symbol"/>
              </a:rPr>
              <a:t> r</a:t>
            </a:r>
            <a:endParaRPr lang="en-US"/>
          </a:p>
        </p:txBody>
      </p:sp>
      <p:sp>
        <p:nvSpPr>
          <p:cNvPr id="19" name="TextBox 18"/>
          <p:cNvSpPr txBox="1"/>
          <p:nvPr/>
        </p:nvSpPr>
        <p:spPr>
          <a:xfrm>
            <a:off x="7005624" y="5345668"/>
            <a:ext cx="285656" cy="369332"/>
          </a:xfrm>
          <a:prstGeom prst="rect">
            <a:avLst/>
          </a:prstGeom>
          <a:noFill/>
        </p:spPr>
        <p:txBody>
          <a:bodyPr wrap="none" rtlCol="0">
            <a:spAutoFit/>
          </a:bodyPr>
          <a:lstStyle/>
          <a:p>
            <a:r>
              <a:rPr lang="en-US"/>
              <a:t>?</a:t>
            </a:r>
          </a:p>
        </p:txBody>
      </p:sp>
      <p:sp>
        <p:nvSpPr>
          <p:cNvPr id="8" name="TextBox 7"/>
          <p:cNvSpPr txBox="1"/>
          <p:nvPr/>
        </p:nvSpPr>
        <p:spPr>
          <a:xfrm>
            <a:off x="6934197" y="1681153"/>
            <a:ext cx="2046842" cy="1200329"/>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This shows why</a:t>
            </a:r>
            <a:br>
              <a:rPr lang="en-US"/>
            </a:br>
            <a:r>
              <a:rPr lang="en-US"/>
              <a:t>using truth tables</a:t>
            </a:r>
            <a:br>
              <a:rPr lang="en-US"/>
            </a:br>
            <a:r>
              <a:rPr lang="en-US"/>
              <a:t>for proofs does not</a:t>
            </a:r>
            <a:br>
              <a:rPr lang="en-US"/>
            </a:br>
            <a:r>
              <a:rPr lang="en-US"/>
              <a:t>scale up.</a:t>
            </a:r>
            <a:endParaRPr lang="th-TH"/>
          </a:p>
        </p:txBody>
      </p:sp>
    </p:spTree>
    <p:extLst>
      <p:ext uri="{BB962C8B-B14F-4D97-AF65-F5344CB8AC3E}">
        <p14:creationId xmlns:p14="http://schemas.microsoft.com/office/powerpoint/2010/main" val="255220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48263"/>
            <a:ext cx="8229600" cy="990600"/>
          </a:xfrm>
        </p:spPr>
        <p:txBody>
          <a:bodyPr>
            <a:normAutofit/>
          </a:bodyPr>
          <a:lstStyle/>
          <a:p>
            <a:r>
              <a:rPr lang="en-US" sz="4000" dirty="0"/>
              <a:t>2.4. Disjunctive Syllogism</a:t>
            </a:r>
          </a:p>
        </p:txBody>
      </p:sp>
      <p:sp>
        <p:nvSpPr>
          <p:cNvPr id="3" name="Content Placeholder 2"/>
          <p:cNvSpPr>
            <a:spLocks noGrp="1"/>
          </p:cNvSpPr>
          <p:nvPr>
            <p:ph idx="1"/>
          </p:nvPr>
        </p:nvSpPr>
        <p:spPr/>
        <p:txBody>
          <a:bodyPr/>
          <a:lstStyle/>
          <a:p>
            <a:pPr>
              <a:buNone/>
            </a:pPr>
            <a:endParaRPr lang="en-US" dirty="0"/>
          </a:p>
          <a:p>
            <a:pPr>
              <a:buNone/>
            </a:pPr>
            <a:r>
              <a:rPr lang="en-US" dirty="0"/>
              <a:t>                        </a:t>
            </a:r>
          </a:p>
        </p:txBody>
      </p:sp>
      <p:sp>
        <p:nvSpPr>
          <p:cNvPr id="8" name="Slide Number Placeholder 7"/>
          <p:cNvSpPr>
            <a:spLocks noGrp="1"/>
          </p:cNvSpPr>
          <p:nvPr>
            <p:ph type="sldNum" sz="quarter" idx="12"/>
          </p:nvPr>
        </p:nvSpPr>
        <p:spPr/>
        <p:txBody>
          <a:bodyPr/>
          <a:lstStyle/>
          <a:p>
            <a:fld id="{9CA217EF-0505-4C33-BB20-8A8DF2039023}" type="slidenum">
              <a:rPr lang="en-US" smtClean="0"/>
              <a:pPr/>
              <a:t>12</a:t>
            </a:fld>
            <a:endParaRPr lang="en-US"/>
          </a:p>
        </p:txBody>
      </p:sp>
      <p:pic>
        <p:nvPicPr>
          <p:cNvPr id="6" name="Picture 5" descr="addin_tmp.png"/>
          <p:cNvPicPr>
            <a:picLocks noChangeAspect="1"/>
          </p:cNvPicPr>
          <p:nvPr>
            <p:custDataLst>
              <p:tags r:id="rId1"/>
            </p:custDataLst>
          </p:nvPr>
        </p:nvPicPr>
        <p:blipFill>
          <a:blip r:embed="rId3" cstate="print"/>
          <a:stretch>
            <a:fillRect/>
          </a:stretch>
        </p:blipFill>
        <p:spPr>
          <a:xfrm>
            <a:off x="2327910" y="2209800"/>
            <a:ext cx="1177290" cy="1225868"/>
          </a:xfrm>
          <a:prstGeom prst="rect">
            <a:avLst/>
          </a:prstGeom>
          <a:ln w="38100">
            <a:solidFill>
              <a:srgbClr val="FF0000"/>
            </a:solidFill>
          </a:ln>
        </p:spPr>
      </p:pic>
      <p:sp>
        <p:nvSpPr>
          <p:cNvPr id="7" name="TextBox 6"/>
          <p:cNvSpPr txBox="1"/>
          <p:nvPr/>
        </p:nvSpPr>
        <p:spPr>
          <a:xfrm>
            <a:off x="838200" y="3843278"/>
            <a:ext cx="7848600" cy="2554545"/>
          </a:xfrm>
          <a:prstGeom prst="rect">
            <a:avLst/>
          </a:prstGeom>
          <a:noFill/>
        </p:spPr>
        <p:txBody>
          <a:bodyPr wrap="square" rtlCol="0">
            <a:spAutoFit/>
          </a:bodyPr>
          <a:lstStyle/>
          <a:p>
            <a:r>
              <a:rPr lang="en-US" sz="2000" b="1"/>
              <a:t>Example</a:t>
            </a:r>
            <a:endParaRPr lang="en-US" sz="2000" dirty="0"/>
          </a:p>
          <a:p>
            <a:r>
              <a:rPr lang="en-US" sz="2000" dirty="0"/>
              <a:t>Let </a:t>
            </a:r>
            <a:r>
              <a:rPr lang="en-US" sz="2000" i="1" dirty="0"/>
              <a:t>p</a:t>
            </a:r>
            <a:r>
              <a:rPr lang="en-US" sz="2000" dirty="0"/>
              <a:t> be “</a:t>
            </a:r>
            <a:r>
              <a:rPr lang="en-US" sz="2000"/>
              <a:t>I study </a:t>
            </a:r>
            <a:r>
              <a:rPr lang="en-US" sz="2000" dirty="0"/>
              <a:t>discrete math.”</a:t>
            </a:r>
          </a:p>
          <a:p>
            <a:r>
              <a:rPr lang="en-US" sz="2000" dirty="0"/>
              <a:t>Let </a:t>
            </a:r>
            <a:r>
              <a:rPr lang="en-US" sz="2000" i="1" dirty="0"/>
              <a:t>q</a:t>
            </a:r>
            <a:r>
              <a:rPr lang="en-US" sz="2000" dirty="0"/>
              <a:t> be “</a:t>
            </a:r>
            <a:r>
              <a:rPr lang="en-US" sz="2000"/>
              <a:t>I study </a:t>
            </a:r>
            <a:r>
              <a:rPr lang="en-US" sz="2000" dirty="0"/>
              <a:t>English literature.”</a:t>
            </a:r>
          </a:p>
          <a:p>
            <a:endParaRPr lang="en-US" sz="2000" dirty="0"/>
          </a:p>
          <a:p>
            <a:r>
              <a:rPr lang="en-US" sz="2000"/>
              <a:t>p </a:t>
            </a:r>
            <a:r>
              <a:rPr lang="en-US" sz="2000">
                <a:sym typeface="Symbol"/>
              </a:rPr>
              <a:t> q:	</a:t>
            </a:r>
            <a:r>
              <a:rPr lang="en-US" sz="2000"/>
              <a:t>“I study </a:t>
            </a:r>
            <a:r>
              <a:rPr lang="en-US" sz="2000" dirty="0"/>
              <a:t>discrete math </a:t>
            </a:r>
            <a:r>
              <a:rPr lang="en-US" sz="2000" b="1" dirty="0"/>
              <a:t>or</a:t>
            </a:r>
            <a:r>
              <a:rPr lang="en-US" sz="2000" dirty="0"/>
              <a:t> </a:t>
            </a:r>
            <a:r>
              <a:rPr lang="en-US" sz="2000"/>
              <a:t>I study </a:t>
            </a:r>
            <a:r>
              <a:rPr lang="en-US" sz="2000" dirty="0"/>
              <a:t>English literature.”</a:t>
            </a:r>
          </a:p>
          <a:p>
            <a:r>
              <a:rPr lang="en-US" sz="2000">
                <a:sym typeface="Symbol"/>
              </a:rPr>
              <a:t>p:	</a:t>
            </a:r>
            <a:r>
              <a:rPr lang="en-US" sz="2000"/>
              <a:t>“I do </a:t>
            </a:r>
            <a:r>
              <a:rPr lang="en-US" sz="2000" b="1"/>
              <a:t>not</a:t>
            </a:r>
            <a:r>
              <a:rPr lang="en-US" sz="2000"/>
              <a:t> </a:t>
            </a:r>
            <a:r>
              <a:rPr lang="en-US" sz="2000" dirty="0"/>
              <a:t>study discrete math.”</a:t>
            </a:r>
          </a:p>
          <a:p>
            <a:endParaRPr lang="en-US" sz="2000" dirty="0"/>
          </a:p>
          <a:p>
            <a:r>
              <a:rPr lang="en-US" sz="2000"/>
              <a:t>q:	“I study </a:t>
            </a:r>
            <a:r>
              <a:rPr lang="en-US" sz="2000" dirty="0"/>
              <a:t>English literature.”</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272403"/>
            <a:ext cx="3200400"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Straight Arrow Connector 9"/>
          <p:cNvCxnSpPr/>
          <p:nvPr/>
        </p:nvCxnSpPr>
        <p:spPr>
          <a:xfrm>
            <a:off x="5194107" y="902732"/>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419600" y="674132"/>
            <a:ext cx="686342" cy="369332"/>
          </a:xfrm>
          <a:prstGeom prst="rect">
            <a:avLst/>
          </a:prstGeom>
          <a:noFill/>
        </p:spPr>
        <p:txBody>
          <a:bodyPr wrap="none" rtlCol="0">
            <a:spAutoFit/>
          </a:bodyPr>
          <a:lstStyle/>
          <a:p>
            <a:r>
              <a:rPr lang="en-US"/>
              <a:t>p </a:t>
            </a:r>
            <a:r>
              <a:rPr lang="en-US">
                <a:sym typeface="Symbol"/>
              </a:rPr>
              <a:t> q</a:t>
            </a:r>
            <a:endParaRPr lang="en-US"/>
          </a:p>
        </p:txBody>
      </p:sp>
      <p:sp>
        <p:nvSpPr>
          <p:cNvPr id="12" name="TextBox 11"/>
          <p:cNvSpPr txBox="1"/>
          <p:nvPr/>
        </p:nvSpPr>
        <p:spPr>
          <a:xfrm>
            <a:off x="5417931" y="609600"/>
            <a:ext cx="325730" cy="369332"/>
          </a:xfrm>
          <a:prstGeom prst="rect">
            <a:avLst/>
          </a:prstGeom>
          <a:noFill/>
        </p:spPr>
        <p:txBody>
          <a:bodyPr wrap="none" rtlCol="0">
            <a:spAutoFit/>
          </a:bodyPr>
          <a:lstStyle/>
          <a:p>
            <a:r>
              <a:rPr lang="en-US"/>
              <a:t>T</a:t>
            </a:r>
          </a:p>
        </p:txBody>
      </p:sp>
      <p:cxnSp>
        <p:nvCxnSpPr>
          <p:cNvPr id="13" name="Straight Arrow Connector 12"/>
          <p:cNvCxnSpPr/>
          <p:nvPr/>
        </p:nvCxnSpPr>
        <p:spPr>
          <a:xfrm>
            <a:off x="5194107" y="1230868"/>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627384" y="1002268"/>
            <a:ext cx="478016" cy="369332"/>
          </a:xfrm>
          <a:prstGeom prst="rect">
            <a:avLst/>
          </a:prstGeom>
          <a:noFill/>
        </p:spPr>
        <p:txBody>
          <a:bodyPr wrap="none" rtlCol="0">
            <a:spAutoFit/>
          </a:bodyPr>
          <a:lstStyle/>
          <a:p>
            <a:r>
              <a:rPr lang="en-US">
                <a:sym typeface="Symbol"/>
              </a:rPr>
              <a:t>p</a:t>
            </a:r>
            <a:endParaRPr lang="en-US"/>
          </a:p>
        </p:txBody>
      </p:sp>
      <p:sp>
        <p:nvSpPr>
          <p:cNvPr id="15" name="TextBox 14"/>
          <p:cNvSpPr txBox="1"/>
          <p:nvPr/>
        </p:nvSpPr>
        <p:spPr>
          <a:xfrm>
            <a:off x="5417931" y="937736"/>
            <a:ext cx="325730" cy="369332"/>
          </a:xfrm>
          <a:prstGeom prst="rect">
            <a:avLst/>
          </a:prstGeom>
          <a:noFill/>
        </p:spPr>
        <p:txBody>
          <a:bodyPr wrap="none" rtlCol="0">
            <a:spAutoFit/>
          </a:bodyPr>
          <a:lstStyle/>
          <a:p>
            <a:r>
              <a:rPr lang="en-US"/>
              <a:t>T</a:t>
            </a:r>
          </a:p>
        </p:txBody>
      </p:sp>
      <p:cxnSp>
        <p:nvCxnSpPr>
          <p:cNvPr id="5" name="Straight Arrow Connector 4"/>
          <p:cNvCxnSpPr/>
          <p:nvPr/>
        </p:nvCxnSpPr>
        <p:spPr>
          <a:xfrm>
            <a:off x="7391400" y="2348853"/>
            <a:ext cx="0" cy="4738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189523" y="2807732"/>
            <a:ext cx="312906" cy="369332"/>
          </a:xfrm>
          <a:prstGeom prst="rect">
            <a:avLst/>
          </a:prstGeom>
          <a:noFill/>
        </p:spPr>
        <p:txBody>
          <a:bodyPr wrap="none" rtlCol="0">
            <a:spAutoFit/>
          </a:bodyPr>
          <a:lstStyle/>
          <a:p>
            <a:r>
              <a:rPr lang="en-US">
                <a:sym typeface="Symbol"/>
              </a:rPr>
              <a:t>q</a:t>
            </a:r>
            <a:endParaRPr lang="en-US"/>
          </a:p>
        </p:txBody>
      </p:sp>
      <p:sp>
        <p:nvSpPr>
          <p:cNvPr id="18" name="TextBox 17"/>
          <p:cNvSpPr txBox="1"/>
          <p:nvPr/>
        </p:nvSpPr>
        <p:spPr>
          <a:xfrm>
            <a:off x="7391400" y="2362200"/>
            <a:ext cx="386644" cy="369332"/>
          </a:xfrm>
          <a:prstGeom prst="rect">
            <a:avLst/>
          </a:prstGeom>
          <a:noFill/>
        </p:spPr>
        <p:txBody>
          <a:bodyPr wrap="none" rtlCol="0">
            <a:spAutoFit/>
          </a:bodyPr>
          <a:lstStyle/>
          <a:p>
            <a:r>
              <a:rPr lang="en-US"/>
              <a:t>??</a:t>
            </a:r>
          </a:p>
        </p:txBody>
      </p:sp>
      <p:cxnSp>
        <p:nvCxnSpPr>
          <p:cNvPr id="19" name="Straight Connector 18"/>
          <p:cNvCxnSpPr/>
          <p:nvPr/>
        </p:nvCxnSpPr>
        <p:spPr>
          <a:xfrm>
            <a:off x="762000" y="5867400"/>
            <a:ext cx="19812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457200" y="2514600"/>
            <a:ext cx="1399229"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the “get part</a:t>
            </a:r>
            <a:br>
              <a:rPr lang="en-US"/>
            </a:br>
            <a:r>
              <a:rPr lang="en-US"/>
              <a:t>of </a:t>
            </a:r>
            <a:r>
              <a:rPr lang="en-US">
                <a:sym typeface="Symbol"/>
              </a:rPr>
              <a:t></a:t>
            </a:r>
            <a:r>
              <a:rPr lang="en-US"/>
              <a:t>“ rule</a:t>
            </a:r>
            <a:endParaRPr lang="th-TH"/>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3657600" cy="1143000"/>
          </a:xfrm>
        </p:spPr>
        <p:txBody>
          <a:bodyPr>
            <a:normAutofit/>
          </a:bodyPr>
          <a:lstStyle/>
          <a:p>
            <a:r>
              <a:rPr lang="en-US"/>
              <a:t>2.5.  Addition</a:t>
            </a:r>
            <a:endParaRPr lang="en-US" dirty="0"/>
          </a:p>
        </p:txBody>
      </p:sp>
      <p:sp>
        <p:nvSpPr>
          <p:cNvPr id="3" name="Content Placeholder 2"/>
          <p:cNvSpPr>
            <a:spLocks noGrp="1"/>
          </p:cNvSpPr>
          <p:nvPr>
            <p:ph idx="1"/>
          </p:nvPr>
        </p:nvSpPr>
        <p:spPr/>
        <p:txBody>
          <a:bodyPr/>
          <a:lstStyle/>
          <a:p>
            <a:pPr>
              <a:buNone/>
            </a:pPr>
            <a:endParaRPr lang="en-US" dirty="0"/>
          </a:p>
          <a:p>
            <a:pPr>
              <a:buNone/>
            </a:pPr>
            <a:r>
              <a:rPr lang="en-US" dirty="0"/>
              <a:t>                        </a:t>
            </a:r>
          </a:p>
        </p:txBody>
      </p:sp>
      <p:sp>
        <p:nvSpPr>
          <p:cNvPr id="8" name="Slide Number Placeholder 7"/>
          <p:cNvSpPr>
            <a:spLocks noGrp="1"/>
          </p:cNvSpPr>
          <p:nvPr>
            <p:ph type="sldNum" sz="quarter" idx="12"/>
          </p:nvPr>
        </p:nvSpPr>
        <p:spPr/>
        <p:txBody>
          <a:bodyPr/>
          <a:lstStyle/>
          <a:p>
            <a:fld id="{9CA217EF-0505-4C33-BB20-8A8DF2039023}" type="slidenum">
              <a:rPr lang="en-US" smtClean="0"/>
              <a:pPr/>
              <a:t>13</a:t>
            </a:fld>
            <a:endParaRPr lang="en-US"/>
          </a:p>
        </p:txBody>
      </p:sp>
      <p:pic>
        <p:nvPicPr>
          <p:cNvPr id="7" name="Picture 6" descr="addin_tmp.png"/>
          <p:cNvPicPr>
            <a:picLocks noChangeAspect="1"/>
          </p:cNvPicPr>
          <p:nvPr>
            <p:custDataLst>
              <p:tags r:id="rId1"/>
            </p:custDataLst>
          </p:nvPr>
        </p:nvPicPr>
        <p:blipFill>
          <a:blip r:embed="rId3" cstate="print"/>
          <a:stretch>
            <a:fillRect/>
          </a:stretch>
        </p:blipFill>
        <p:spPr>
          <a:xfrm>
            <a:off x="2885122" y="2209800"/>
            <a:ext cx="1534478" cy="714375"/>
          </a:xfrm>
          <a:prstGeom prst="rect">
            <a:avLst/>
          </a:prstGeom>
          <a:ln w="38100">
            <a:solidFill>
              <a:srgbClr val="FF0000"/>
            </a:solidFill>
          </a:ln>
        </p:spPr>
      </p:pic>
      <p:sp>
        <p:nvSpPr>
          <p:cNvPr id="18" name="TextBox 17"/>
          <p:cNvSpPr txBox="1"/>
          <p:nvPr/>
        </p:nvSpPr>
        <p:spPr>
          <a:xfrm>
            <a:off x="609600" y="3810000"/>
            <a:ext cx="8001000" cy="2554545"/>
          </a:xfrm>
          <a:prstGeom prst="rect">
            <a:avLst/>
          </a:prstGeom>
          <a:noFill/>
        </p:spPr>
        <p:txBody>
          <a:bodyPr wrap="square" rtlCol="0">
            <a:spAutoFit/>
          </a:bodyPr>
          <a:lstStyle/>
          <a:p>
            <a:r>
              <a:rPr lang="en-US" sz="2000" b="1"/>
              <a:t>Example</a:t>
            </a:r>
            <a:endParaRPr lang="en-US" sz="2000" dirty="0"/>
          </a:p>
          <a:p>
            <a:r>
              <a:rPr lang="en-US" sz="2000" dirty="0"/>
              <a:t>Let </a:t>
            </a:r>
            <a:r>
              <a:rPr lang="en-US" sz="2000" i="1" dirty="0"/>
              <a:t>p</a:t>
            </a:r>
            <a:r>
              <a:rPr lang="en-US" sz="2000" dirty="0"/>
              <a:t> be “</a:t>
            </a:r>
            <a:r>
              <a:rPr lang="en-US" sz="2000"/>
              <a:t>I study </a:t>
            </a:r>
            <a:r>
              <a:rPr lang="en-US" sz="2000" dirty="0"/>
              <a:t>discrete math.”</a:t>
            </a:r>
          </a:p>
          <a:p>
            <a:r>
              <a:rPr lang="en-US" sz="2000" dirty="0"/>
              <a:t>Let </a:t>
            </a:r>
            <a:r>
              <a:rPr lang="en-US" sz="2000" i="1" dirty="0"/>
              <a:t>q</a:t>
            </a:r>
            <a:r>
              <a:rPr lang="en-US" sz="2000" dirty="0"/>
              <a:t> be “I </a:t>
            </a:r>
            <a:r>
              <a:rPr lang="en-US" sz="2000"/>
              <a:t>will visit the Moon.”</a:t>
            </a:r>
            <a:endParaRPr lang="en-US" sz="2000" dirty="0"/>
          </a:p>
          <a:p>
            <a:endParaRPr lang="en-US" sz="2000" dirty="0"/>
          </a:p>
          <a:p>
            <a:r>
              <a:rPr lang="en-US" sz="2000"/>
              <a:t>p:	“I study </a:t>
            </a:r>
            <a:r>
              <a:rPr lang="en-US" sz="2000" dirty="0"/>
              <a:t>discrete math.”</a:t>
            </a:r>
          </a:p>
          <a:p>
            <a:endParaRPr lang="en-US" sz="2000" dirty="0"/>
          </a:p>
          <a:p>
            <a:r>
              <a:rPr lang="en-US" sz="2000"/>
              <a:t>p </a:t>
            </a:r>
            <a:r>
              <a:rPr lang="en-US" sz="2000">
                <a:sym typeface="Symbol"/>
              </a:rPr>
              <a:t> q:	</a:t>
            </a:r>
            <a:r>
              <a:rPr lang="en-US" sz="2000"/>
              <a:t>“I study </a:t>
            </a:r>
            <a:r>
              <a:rPr lang="en-US" sz="2000" dirty="0"/>
              <a:t>discrete math </a:t>
            </a:r>
            <a:r>
              <a:rPr lang="en-US" sz="2000" b="1" dirty="0"/>
              <a:t>or</a:t>
            </a:r>
            <a:r>
              <a:rPr lang="en-US" sz="2000" dirty="0"/>
              <a:t> I will </a:t>
            </a:r>
            <a:r>
              <a:rPr lang="en-US" sz="2000"/>
              <a:t>visit the Moon.”</a:t>
            </a:r>
            <a:endParaRPr lang="en-US" sz="2000" dirty="0"/>
          </a:p>
          <a:p>
            <a:endParaRPr lang="en-US" sz="2000" dirty="0"/>
          </a:p>
        </p:txBody>
      </p:sp>
      <p:sp>
        <p:nvSpPr>
          <p:cNvPr id="11" name="TextBox 10"/>
          <p:cNvSpPr txBox="1"/>
          <p:nvPr/>
        </p:nvSpPr>
        <p:spPr>
          <a:xfrm>
            <a:off x="7086600" y="2743200"/>
            <a:ext cx="686342" cy="369332"/>
          </a:xfrm>
          <a:prstGeom prst="rect">
            <a:avLst/>
          </a:prstGeom>
          <a:noFill/>
        </p:spPr>
        <p:txBody>
          <a:bodyPr wrap="none" rtlCol="0">
            <a:spAutoFit/>
          </a:bodyPr>
          <a:lstStyle/>
          <a:p>
            <a:r>
              <a:rPr lang="en-US"/>
              <a:t>p </a:t>
            </a:r>
            <a:r>
              <a:rPr lang="en-US">
                <a:sym typeface="Symbol"/>
              </a:rPr>
              <a:t> q</a:t>
            </a:r>
            <a:endParaRPr lang="en-US"/>
          </a:p>
        </p:txBody>
      </p:sp>
      <p:sp>
        <p:nvSpPr>
          <p:cNvPr id="12" name="TextBox 11"/>
          <p:cNvSpPr txBox="1"/>
          <p:nvPr/>
        </p:nvSpPr>
        <p:spPr>
          <a:xfrm>
            <a:off x="5417931" y="609600"/>
            <a:ext cx="325730" cy="369332"/>
          </a:xfrm>
          <a:prstGeom prst="rect">
            <a:avLst/>
          </a:prstGeom>
          <a:noFill/>
        </p:spPr>
        <p:txBody>
          <a:bodyPr wrap="none" rtlCol="0">
            <a:spAutoFit/>
          </a:bodyPr>
          <a:lstStyle/>
          <a:p>
            <a:r>
              <a:rPr lang="en-US"/>
              <a:t>T</a:t>
            </a:r>
          </a:p>
        </p:txBody>
      </p:sp>
      <p:sp>
        <p:nvSpPr>
          <p:cNvPr id="14" name="TextBox 13"/>
          <p:cNvSpPr txBox="1"/>
          <p:nvPr/>
        </p:nvSpPr>
        <p:spPr>
          <a:xfrm>
            <a:off x="4881201" y="718066"/>
            <a:ext cx="312906" cy="369332"/>
          </a:xfrm>
          <a:prstGeom prst="rect">
            <a:avLst/>
          </a:prstGeom>
          <a:noFill/>
        </p:spPr>
        <p:txBody>
          <a:bodyPr wrap="none" rtlCol="0">
            <a:spAutoFit/>
          </a:bodyPr>
          <a:lstStyle/>
          <a:p>
            <a:r>
              <a:rPr lang="en-US">
                <a:sym typeface="Symbol"/>
              </a:rPr>
              <a:t>p</a:t>
            </a:r>
            <a:endParaRPr lang="en-US"/>
          </a:p>
        </p:txBody>
      </p:sp>
      <p:sp>
        <p:nvSpPr>
          <p:cNvPr id="15" name="TextBox 14"/>
          <p:cNvSpPr txBox="1"/>
          <p:nvPr/>
        </p:nvSpPr>
        <p:spPr>
          <a:xfrm>
            <a:off x="7391400" y="2362200"/>
            <a:ext cx="386644" cy="369332"/>
          </a:xfrm>
          <a:prstGeom prst="rect">
            <a:avLst/>
          </a:prstGeom>
          <a:noFill/>
        </p:spPr>
        <p:txBody>
          <a:bodyPr wrap="none" rtlCol="0">
            <a:spAutoFit/>
          </a:bodyPr>
          <a:lstStyle/>
          <a:p>
            <a:r>
              <a:rPr lang="en-US"/>
              <a:t>??</a:t>
            </a:r>
          </a:p>
        </p:txBody>
      </p:sp>
      <p:pic>
        <p:nvPicPr>
          <p:cNvPr id="1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272403"/>
            <a:ext cx="3200400"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a:off x="5194107" y="902732"/>
            <a:ext cx="838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391400" y="2348853"/>
            <a:ext cx="0" cy="4738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7200" y="5486400"/>
            <a:ext cx="198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57200" y="2157305"/>
            <a:ext cx="1127040" cy="923330"/>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the “add</a:t>
            </a:r>
            <a:br>
              <a:rPr lang="en-US"/>
            </a:br>
            <a:r>
              <a:rPr lang="en-US"/>
              <a:t>anything </a:t>
            </a:r>
            <a:br>
              <a:rPr lang="en-US"/>
            </a:br>
            <a:r>
              <a:rPr lang="en-US">
                <a:sym typeface="Symbol"/>
              </a:rPr>
              <a:t></a:t>
            </a:r>
            <a:r>
              <a:rPr lang="en-US"/>
              <a:t>“ rule</a:t>
            </a:r>
            <a:endParaRPr lang="th-TH"/>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4267200" cy="1143000"/>
          </a:xfrm>
        </p:spPr>
        <p:txBody>
          <a:bodyPr>
            <a:normAutofit/>
          </a:bodyPr>
          <a:lstStyle/>
          <a:p>
            <a:r>
              <a:rPr lang="en-US"/>
              <a:t>2.6. Simplification</a:t>
            </a:r>
            <a:endParaRPr lang="en-US" dirty="0"/>
          </a:p>
        </p:txBody>
      </p:sp>
      <p:sp>
        <p:nvSpPr>
          <p:cNvPr id="3" name="Content Placeholder 2"/>
          <p:cNvSpPr>
            <a:spLocks noGrp="1"/>
          </p:cNvSpPr>
          <p:nvPr>
            <p:ph idx="1"/>
          </p:nvPr>
        </p:nvSpPr>
        <p:spPr/>
        <p:txBody>
          <a:bodyPr/>
          <a:lstStyle/>
          <a:p>
            <a:pPr>
              <a:buNone/>
            </a:pPr>
            <a:endParaRPr lang="en-US" dirty="0"/>
          </a:p>
          <a:p>
            <a:pPr>
              <a:buNone/>
            </a:pPr>
            <a:r>
              <a:rPr lang="en-US" dirty="0"/>
              <a:t>                        </a:t>
            </a:r>
          </a:p>
        </p:txBody>
      </p:sp>
      <p:sp>
        <p:nvSpPr>
          <p:cNvPr id="7" name="Slide Number Placeholder 6"/>
          <p:cNvSpPr>
            <a:spLocks noGrp="1"/>
          </p:cNvSpPr>
          <p:nvPr>
            <p:ph type="sldNum" sz="quarter" idx="12"/>
          </p:nvPr>
        </p:nvSpPr>
        <p:spPr/>
        <p:txBody>
          <a:bodyPr/>
          <a:lstStyle/>
          <a:p>
            <a:fld id="{9CA217EF-0505-4C33-BB20-8A8DF2039023}" type="slidenum">
              <a:rPr lang="en-US" smtClean="0"/>
              <a:pPr/>
              <a:t>14</a:t>
            </a:fld>
            <a:endParaRPr lang="en-US"/>
          </a:p>
        </p:txBody>
      </p:sp>
      <p:sp>
        <p:nvSpPr>
          <p:cNvPr id="18" name="TextBox 17"/>
          <p:cNvSpPr txBox="1"/>
          <p:nvPr/>
        </p:nvSpPr>
        <p:spPr>
          <a:xfrm>
            <a:off x="685800" y="3962400"/>
            <a:ext cx="7315200" cy="2554545"/>
          </a:xfrm>
          <a:prstGeom prst="rect">
            <a:avLst/>
          </a:prstGeom>
          <a:noFill/>
        </p:spPr>
        <p:txBody>
          <a:bodyPr wrap="square" rtlCol="0">
            <a:spAutoFit/>
          </a:bodyPr>
          <a:lstStyle/>
          <a:p>
            <a:r>
              <a:rPr lang="en-US" sz="2000" b="1"/>
              <a:t>Example</a:t>
            </a:r>
            <a:endParaRPr lang="en-US" sz="2000" dirty="0"/>
          </a:p>
          <a:p>
            <a:r>
              <a:rPr lang="en-US" sz="2000" dirty="0"/>
              <a:t>Let </a:t>
            </a:r>
            <a:r>
              <a:rPr lang="en-US" sz="2000" i="1" dirty="0"/>
              <a:t>p</a:t>
            </a:r>
            <a:r>
              <a:rPr lang="en-US" sz="2000" dirty="0"/>
              <a:t> be “</a:t>
            </a:r>
            <a:r>
              <a:rPr lang="en-US" sz="2000"/>
              <a:t>I study </a:t>
            </a:r>
            <a:r>
              <a:rPr lang="en-US" sz="2000" dirty="0"/>
              <a:t>discrete math.”</a:t>
            </a:r>
          </a:p>
          <a:p>
            <a:r>
              <a:rPr lang="en-US" sz="2000" dirty="0"/>
              <a:t>Let </a:t>
            </a:r>
            <a:r>
              <a:rPr lang="en-US" sz="2000" i="1" dirty="0"/>
              <a:t>q</a:t>
            </a:r>
            <a:r>
              <a:rPr lang="en-US" sz="2000" dirty="0"/>
              <a:t> be “</a:t>
            </a:r>
            <a:r>
              <a:rPr lang="en-US" sz="2000"/>
              <a:t>I study </a:t>
            </a:r>
            <a:r>
              <a:rPr lang="en-US" sz="2000" dirty="0"/>
              <a:t>English literature.”</a:t>
            </a:r>
          </a:p>
          <a:p>
            <a:endParaRPr lang="en-US" sz="2000" dirty="0"/>
          </a:p>
          <a:p>
            <a:r>
              <a:rPr lang="en-US" sz="2000"/>
              <a:t>p </a:t>
            </a:r>
            <a:r>
              <a:rPr lang="en-US" sz="2000">
                <a:sym typeface="Symbol"/>
              </a:rPr>
              <a:t> q: 	</a:t>
            </a:r>
            <a:r>
              <a:rPr lang="en-US" sz="2000"/>
              <a:t>“I study </a:t>
            </a:r>
            <a:r>
              <a:rPr lang="en-US" sz="2000" dirty="0"/>
              <a:t>discrete math </a:t>
            </a:r>
            <a:r>
              <a:rPr lang="en-US" sz="2000" b="1" dirty="0"/>
              <a:t>and</a:t>
            </a:r>
            <a:r>
              <a:rPr lang="en-US" sz="2000" dirty="0"/>
              <a:t> English literature”</a:t>
            </a:r>
          </a:p>
          <a:p>
            <a:endParaRPr lang="en-US" sz="2000" dirty="0"/>
          </a:p>
          <a:p>
            <a:r>
              <a:rPr lang="en-US" sz="2000"/>
              <a:t>q:	“I study </a:t>
            </a:r>
            <a:r>
              <a:rPr lang="en-US" sz="2000" dirty="0"/>
              <a:t>discrete math.”</a:t>
            </a:r>
          </a:p>
          <a:p>
            <a:endParaRPr lang="en-US" sz="2000" dirty="0"/>
          </a:p>
        </p:txBody>
      </p:sp>
      <p:pic>
        <p:nvPicPr>
          <p:cNvPr id="10" name="Picture 9" descr="addin_tmp.png"/>
          <p:cNvPicPr>
            <a:picLocks noChangeAspect="1"/>
          </p:cNvPicPr>
          <p:nvPr>
            <p:custDataLst>
              <p:tags r:id="rId1"/>
            </p:custDataLst>
          </p:nvPr>
        </p:nvPicPr>
        <p:blipFill>
          <a:blip r:embed="rId4" cstate="print"/>
          <a:stretch>
            <a:fillRect/>
          </a:stretch>
        </p:blipFill>
        <p:spPr>
          <a:xfrm>
            <a:off x="1447800" y="2667000"/>
            <a:ext cx="1177290" cy="771525"/>
          </a:xfrm>
          <a:prstGeom prst="rect">
            <a:avLst/>
          </a:prstGeom>
          <a:ln w="38100">
            <a:solidFill>
              <a:srgbClr val="FF0000"/>
            </a:solidFill>
          </a:ln>
        </p:spPr>
      </p:pic>
      <p:grpSp>
        <p:nvGrpSpPr>
          <p:cNvPr id="15" name="Group 14"/>
          <p:cNvGrpSpPr/>
          <p:nvPr/>
        </p:nvGrpSpPr>
        <p:grpSpPr>
          <a:xfrm>
            <a:off x="3699510" y="2667000"/>
            <a:ext cx="1177290" cy="828020"/>
            <a:chOff x="3699510" y="2667000"/>
            <a:chExt cx="1177290" cy="828020"/>
          </a:xfrm>
        </p:grpSpPr>
        <p:pic>
          <p:nvPicPr>
            <p:cNvPr id="13" name="Picture 12" descr="addin_tmp.png"/>
            <p:cNvPicPr>
              <a:picLocks noChangeAspect="1"/>
            </p:cNvPicPr>
            <p:nvPr>
              <p:custDataLst>
                <p:tags r:id="rId2"/>
              </p:custDataLst>
            </p:nvPr>
          </p:nvPicPr>
          <p:blipFill>
            <a:blip r:embed="rId4" cstate="print"/>
            <a:stretch>
              <a:fillRect/>
            </a:stretch>
          </p:blipFill>
          <p:spPr>
            <a:xfrm>
              <a:off x="3699510" y="2667000"/>
              <a:ext cx="1177290" cy="771525"/>
            </a:xfrm>
            <a:prstGeom prst="rect">
              <a:avLst/>
            </a:prstGeom>
            <a:ln w="38100">
              <a:solidFill>
                <a:srgbClr val="FF0000"/>
              </a:solidFill>
            </a:ln>
          </p:spPr>
        </p:pic>
        <p:sp>
          <p:nvSpPr>
            <p:cNvPr id="14" name="Rectangle 13"/>
            <p:cNvSpPr/>
            <p:nvPr/>
          </p:nvSpPr>
          <p:spPr>
            <a:xfrm>
              <a:off x="4191000" y="3091934"/>
              <a:ext cx="304800" cy="3465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199782" y="2971800"/>
              <a:ext cx="372218" cy="523220"/>
            </a:xfrm>
            <a:prstGeom prst="rect">
              <a:avLst/>
            </a:prstGeom>
            <a:noFill/>
          </p:spPr>
          <p:txBody>
            <a:bodyPr wrap="none" rtlCol="0">
              <a:spAutoFit/>
            </a:bodyPr>
            <a:lstStyle/>
            <a:p>
              <a:r>
                <a:rPr lang="en-US" sz="2800" i="1"/>
                <a:t>p</a:t>
              </a:r>
            </a:p>
          </p:txBody>
        </p:sp>
      </p:grpSp>
      <p:pic>
        <p:nvPicPr>
          <p:cNvPr id="2051" name="Picture 3" descr="C:\Users\Ad\Desktop\Picture2.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304800"/>
            <a:ext cx="2371725" cy="192453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4419600" y="891064"/>
            <a:ext cx="686342" cy="369332"/>
          </a:xfrm>
          <a:prstGeom prst="rect">
            <a:avLst/>
          </a:prstGeom>
          <a:noFill/>
        </p:spPr>
        <p:txBody>
          <a:bodyPr wrap="none" rtlCol="0">
            <a:spAutoFit/>
          </a:bodyPr>
          <a:lstStyle/>
          <a:p>
            <a:r>
              <a:rPr lang="en-US"/>
              <a:t>p </a:t>
            </a:r>
            <a:r>
              <a:rPr lang="en-US">
                <a:sym typeface="Symbol"/>
              </a:rPr>
              <a:t> q</a:t>
            </a:r>
            <a:endParaRPr lang="en-US"/>
          </a:p>
        </p:txBody>
      </p:sp>
      <p:sp>
        <p:nvSpPr>
          <p:cNvPr id="20" name="TextBox 19"/>
          <p:cNvSpPr txBox="1"/>
          <p:nvPr/>
        </p:nvSpPr>
        <p:spPr>
          <a:xfrm>
            <a:off x="5257800" y="685800"/>
            <a:ext cx="325730" cy="369332"/>
          </a:xfrm>
          <a:prstGeom prst="rect">
            <a:avLst/>
          </a:prstGeom>
          <a:noFill/>
        </p:spPr>
        <p:txBody>
          <a:bodyPr wrap="none" rtlCol="0">
            <a:spAutoFit/>
          </a:bodyPr>
          <a:lstStyle/>
          <a:p>
            <a:r>
              <a:rPr lang="en-US"/>
              <a:t>T</a:t>
            </a:r>
          </a:p>
        </p:txBody>
      </p:sp>
      <p:cxnSp>
        <p:nvCxnSpPr>
          <p:cNvPr id="17" name="Straight Arrow Connector 16"/>
          <p:cNvCxnSpPr>
            <a:stCxn id="19" idx="3"/>
          </p:cNvCxnSpPr>
          <p:nvPr/>
        </p:nvCxnSpPr>
        <p:spPr>
          <a:xfrm>
            <a:off x="5105942" y="1075730"/>
            <a:ext cx="7614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8001542" y="914400"/>
            <a:ext cx="7614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229600" y="533400"/>
            <a:ext cx="285656" cy="369332"/>
          </a:xfrm>
          <a:prstGeom prst="rect">
            <a:avLst/>
          </a:prstGeom>
          <a:noFill/>
        </p:spPr>
        <p:txBody>
          <a:bodyPr wrap="none" rtlCol="0">
            <a:spAutoFit/>
          </a:bodyPr>
          <a:lstStyle/>
          <a:p>
            <a:r>
              <a:rPr lang="en-US"/>
              <a:t>?</a:t>
            </a:r>
          </a:p>
        </p:txBody>
      </p:sp>
      <p:sp>
        <p:nvSpPr>
          <p:cNvPr id="26" name="TextBox 25"/>
          <p:cNvSpPr txBox="1"/>
          <p:nvPr/>
        </p:nvSpPr>
        <p:spPr>
          <a:xfrm>
            <a:off x="8753290" y="685800"/>
            <a:ext cx="314510" cy="369332"/>
          </a:xfrm>
          <a:prstGeom prst="rect">
            <a:avLst/>
          </a:prstGeom>
          <a:noFill/>
        </p:spPr>
        <p:txBody>
          <a:bodyPr wrap="none" rtlCol="0">
            <a:spAutoFit/>
          </a:bodyPr>
          <a:lstStyle/>
          <a:p>
            <a:r>
              <a:rPr lang="en-US"/>
              <a:t>q</a:t>
            </a:r>
          </a:p>
        </p:txBody>
      </p:sp>
      <p:sp>
        <p:nvSpPr>
          <p:cNvPr id="22" name="TextBox 21"/>
          <p:cNvSpPr txBox="1"/>
          <p:nvPr/>
        </p:nvSpPr>
        <p:spPr>
          <a:xfrm>
            <a:off x="2678600" y="2145268"/>
            <a:ext cx="1131400" cy="369332"/>
          </a:xfrm>
          <a:prstGeom prst="rect">
            <a:avLst/>
          </a:prstGeom>
          <a:noFill/>
        </p:spPr>
        <p:txBody>
          <a:bodyPr wrap="none" rtlCol="0">
            <a:spAutoFit/>
          </a:bodyPr>
          <a:lstStyle/>
          <a:p>
            <a:r>
              <a:rPr lang="en-US"/>
              <a:t>Two rules</a:t>
            </a:r>
          </a:p>
        </p:txBody>
      </p:sp>
      <p:cxnSp>
        <p:nvCxnSpPr>
          <p:cNvPr id="28" name="Straight Arrow Connector 27"/>
          <p:cNvCxnSpPr/>
          <p:nvPr/>
        </p:nvCxnSpPr>
        <p:spPr>
          <a:xfrm>
            <a:off x="7924800" y="1764268"/>
            <a:ext cx="7614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8208128" y="1764268"/>
            <a:ext cx="285656" cy="369332"/>
          </a:xfrm>
          <a:prstGeom prst="rect">
            <a:avLst/>
          </a:prstGeom>
          <a:noFill/>
        </p:spPr>
        <p:txBody>
          <a:bodyPr wrap="none" rtlCol="0">
            <a:spAutoFit/>
          </a:bodyPr>
          <a:lstStyle/>
          <a:p>
            <a:r>
              <a:rPr lang="en-US"/>
              <a:t>?</a:t>
            </a:r>
          </a:p>
        </p:txBody>
      </p:sp>
      <p:sp>
        <p:nvSpPr>
          <p:cNvPr id="30" name="TextBox 29"/>
          <p:cNvSpPr txBox="1"/>
          <p:nvPr/>
        </p:nvSpPr>
        <p:spPr>
          <a:xfrm>
            <a:off x="8676548" y="1535668"/>
            <a:ext cx="314510" cy="369332"/>
          </a:xfrm>
          <a:prstGeom prst="rect">
            <a:avLst/>
          </a:prstGeom>
          <a:noFill/>
        </p:spPr>
        <p:txBody>
          <a:bodyPr wrap="none" rtlCol="0">
            <a:spAutoFit/>
          </a:bodyPr>
          <a:lstStyle/>
          <a:p>
            <a:r>
              <a:rPr lang="en-US"/>
              <a:t>p</a:t>
            </a:r>
          </a:p>
        </p:txBody>
      </p:sp>
      <p:cxnSp>
        <p:nvCxnSpPr>
          <p:cNvPr id="31" name="Straight Connector 30"/>
          <p:cNvCxnSpPr/>
          <p:nvPr/>
        </p:nvCxnSpPr>
        <p:spPr>
          <a:xfrm>
            <a:off x="457200" y="5715000"/>
            <a:ext cx="198120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172200" y="2706469"/>
            <a:ext cx="1399229"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the “get part</a:t>
            </a:r>
            <a:br>
              <a:rPr lang="en-US"/>
            </a:br>
            <a:r>
              <a:rPr lang="en-US"/>
              <a:t>of </a:t>
            </a:r>
            <a:r>
              <a:rPr lang="en-US">
                <a:sym typeface="Symbol"/>
              </a:rPr>
              <a:t></a:t>
            </a:r>
            <a:r>
              <a:rPr lang="en-US"/>
              <a:t>“ rule</a:t>
            </a:r>
            <a:endParaRPr lang="th-TH"/>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4495800" cy="1143000"/>
          </a:xfrm>
        </p:spPr>
        <p:txBody>
          <a:bodyPr>
            <a:normAutofit/>
          </a:bodyPr>
          <a:lstStyle/>
          <a:p>
            <a:r>
              <a:rPr lang="en-US"/>
              <a:t>2.7. Conjunction</a:t>
            </a:r>
            <a:endParaRPr lang="en-US" dirty="0"/>
          </a:p>
        </p:txBody>
      </p:sp>
      <p:sp>
        <p:nvSpPr>
          <p:cNvPr id="3" name="Content Placeholder 2"/>
          <p:cNvSpPr>
            <a:spLocks noGrp="1"/>
          </p:cNvSpPr>
          <p:nvPr>
            <p:ph idx="1"/>
          </p:nvPr>
        </p:nvSpPr>
        <p:spPr/>
        <p:txBody>
          <a:bodyPr/>
          <a:lstStyle/>
          <a:p>
            <a:pPr>
              <a:buNone/>
            </a:pPr>
            <a:endParaRPr lang="en-US" dirty="0"/>
          </a:p>
          <a:p>
            <a:pPr>
              <a:buNone/>
            </a:pPr>
            <a:r>
              <a:rPr lang="en-US" dirty="0"/>
              <a:t>                        </a:t>
            </a:r>
          </a:p>
        </p:txBody>
      </p:sp>
      <p:sp>
        <p:nvSpPr>
          <p:cNvPr id="8" name="Slide Number Placeholder 7"/>
          <p:cNvSpPr>
            <a:spLocks noGrp="1"/>
          </p:cNvSpPr>
          <p:nvPr>
            <p:ph type="sldNum" sz="quarter" idx="12"/>
          </p:nvPr>
        </p:nvSpPr>
        <p:spPr/>
        <p:txBody>
          <a:bodyPr/>
          <a:lstStyle/>
          <a:p>
            <a:fld id="{9CA217EF-0505-4C33-BB20-8A8DF2039023}" type="slidenum">
              <a:rPr lang="en-US" smtClean="0"/>
              <a:pPr/>
              <a:t>15</a:t>
            </a:fld>
            <a:endParaRPr lang="en-US"/>
          </a:p>
        </p:txBody>
      </p:sp>
      <p:sp>
        <p:nvSpPr>
          <p:cNvPr id="18" name="TextBox 17"/>
          <p:cNvSpPr txBox="1"/>
          <p:nvPr/>
        </p:nvSpPr>
        <p:spPr>
          <a:xfrm>
            <a:off x="571771" y="3764442"/>
            <a:ext cx="8115029" cy="2862322"/>
          </a:xfrm>
          <a:prstGeom prst="rect">
            <a:avLst/>
          </a:prstGeom>
          <a:noFill/>
        </p:spPr>
        <p:txBody>
          <a:bodyPr wrap="square" rtlCol="0">
            <a:spAutoFit/>
          </a:bodyPr>
          <a:lstStyle/>
          <a:p>
            <a:r>
              <a:rPr lang="en-US" sz="2000" b="1"/>
              <a:t>Example</a:t>
            </a:r>
            <a:endParaRPr lang="en-US" sz="2000" dirty="0"/>
          </a:p>
          <a:p>
            <a:r>
              <a:rPr lang="en-US" sz="2000" dirty="0"/>
              <a:t>Let </a:t>
            </a:r>
            <a:r>
              <a:rPr lang="en-US" sz="2000" i="1" dirty="0"/>
              <a:t>p</a:t>
            </a:r>
            <a:r>
              <a:rPr lang="en-US" sz="2000" dirty="0"/>
              <a:t> be “</a:t>
            </a:r>
            <a:r>
              <a:rPr lang="en-US" sz="2000"/>
              <a:t>I study </a:t>
            </a:r>
            <a:r>
              <a:rPr lang="en-US" sz="2000" dirty="0"/>
              <a:t>discrete math.”</a:t>
            </a:r>
          </a:p>
          <a:p>
            <a:r>
              <a:rPr lang="en-US" sz="2000" dirty="0"/>
              <a:t>Let </a:t>
            </a:r>
            <a:r>
              <a:rPr lang="en-US" sz="2000" i="1" dirty="0"/>
              <a:t>q</a:t>
            </a:r>
            <a:r>
              <a:rPr lang="en-US" sz="2000" dirty="0"/>
              <a:t> be “</a:t>
            </a:r>
            <a:r>
              <a:rPr lang="en-US" sz="2000"/>
              <a:t>I study </a:t>
            </a:r>
            <a:r>
              <a:rPr lang="en-US" sz="2000" dirty="0"/>
              <a:t>English literature.”</a:t>
            </a:r>
          </a:p>
          <a:p>
            <a:endParaRPr lang="en-US" sz="2000" dirty="0"/>
          </a:p>
          <a:p>
            <a:endParaRPr lang="en-US" sz="2000" dirty="0"/>
          </a:p>
          <a:p>
            <a:r>
              <a:rPr lang="en-US" sz="2000"/>
              <a:t>p:	“I study </a:t>
            </a:r>
            <a:r>
              <a:rPr lang="en-US" sz="2000" dirty="0"/>
              <a:t>discrete math.”</a:t>
            </a:r>
          </a:p>
          <a:p>
            <a:r>
              <a:rPr lang="en-US" sz="2000"/>
              <a:t>q:	“I study  </a:t>
            </a:r>
            <a:r>
              <a:rPr lang="en-US" sz="2000" dirty="0"/>
              <a:t>English literature.”</a:t>
            </a:r>
          </a:p>
          <a:p>
            <a:endParaRPr lang="en-US" sz="2000" dirty="0"/>
          </a:p>
          <a:p>
            <a:r>
              <a:rPr lang="en-US" sz="2000"/>
              <a:t>p </a:t>
            </a:r>
            <a:r>
              <a:rPr lang="en-US" sz="2000">
                <a:sym typeface="Symbol"/>
              </a:rPr>
              <a:t> q:	</a:t>
            </a:r>
            <a:r>
              <a:rPr lang="en-US" sz="2000"/>
              <a:t>“I study </a:t>
            </a:r>
            <a:r>
              <a:rPr lang="en-US" sz="2000" dirty="0"/>
              <a:t>discrete math </a:t>
            </a:r>
            <a:r>
              <a:rPr lang="en-US" sz="2000" b="1" dirty="0"/>
              <a:t>and</a:t>
            </a:r>
            <a:r>
              <a:rPr lang="en-US" sz="2000" dirty="0"/>
              <a:t> </a:t>
            </a:r>
            <a:r>
              <a:rPr lang="en-US" sz="2000"/>
              <a:t>I study </a:t>
            </a:r>
            <a:r>
              <a:rPr lang="en-US" sz="2000" dirty="0"/>
              <a:t>English literature.”</a:t>
            </a:r>
          </a:p>
        </p:txBody>
      </p:sp>
      <p:pic>
        <p:nvPicPr>
          <p:cNvPr id="7" name="Picture 6" descr="addin_tmp.png"/>
          <p:cNvPicPr>
            <a:picLocks noChangeAspect="1"/>
          </p:cNvPicPr>
          <p:nvPr>
            <p:custDataLst>
              <p:tags r:id="rId1"/>
            </p:custDataLst>
          </p:nvPr>
        </p:nvPicPr>
        <p:blipFill>
          <a:blip r:embed="rId3" cstate="print"/>
          <a:stretch>
            <a:fillRect/>
          </a:stretch>
        </p:blipFill>
        <p:spPr>
          <a:xfrm>
            <a:off x="1371600" y="2133600"/>
            <a:ext cx="1534478" cy="1168718"/>
          </a:xfrm>
          <a:prstGeom prst="rect">
            <a:avLst/>
          </a:prstGeom>
          <a:ln w="38100">
            <a:solidFill>
              <a:srgbClr val="FF0000"/>
            </a:solidFill>
          </a:ln>
        </p:spPr>
      </p:pic>
      <p:pic>
        <p:nvPicPr>
          <p:cNvPr id="10" name="Picture 3" descr="C:\Users\Ad\Desktop\Picture2.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304800"/>
            <a:ext cx="2371725" cy="192453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8381458" y="1154668"/>
            <a:ext cx="686342" cy="369332"/>
          </a:xfrm>
          <a:prstGeom prst="rect">
            <a:avLst/>
          </a:prstGeom>
          <a:noFill/>
        </p:spPr>
        <p:txBody>
          <a:bodyPr wrap="none" rtlCol="0">
            <a:spAutoFit/>
          </a:bodyPr>
          <a:lstStyle/>
          <a:p>
            <a:r>
              <a:rPr lang="en-US"/>
              <a:t>p </a:t>
            </a:r>
            <a:r>
              <a:rPr lang="en-US">
                <a:sym typeface="Symbol"/>
              </a:rPr>
              <a:t> q</a:t>
            </a:r>
            <a:endParaRPr lang="en-US"/>
          </a:p>
        </p:txBody>
      </p:sp>
      <p:sp>
        <p:nvSpPr>
          <p:cNvPr id="12" name="TextBox 11"/>
          <p:cNvSpPr txBox="1"/>
          <p:nvPr/>
        </p:nvSpPr>
        <p:spPr>
          <a:xfrm>
            <a:off x="4953000" y="457200"/>
            <a:ext cx="325730" cy="369332"/>
          </a:xfrm>
          <a:prstGeom prst="rect">
            <a:avLst/>
          </a:prstGeom>
          <a:noFill/>
        </p:spPr>
        <p:txBody>
          <a:bodyPr wrap="none" rtlCol="0">
            <a:spAutoFit/>
          </a:bodyPr>
          <a:lstStyle/>
          <a:p>
            <a:r>
              <a:rPr lang="en-US"/>
              <a:t>T</a:t>
            </a:r>
          </a:p>
        </p:txBody>
      </p:sp>
      <p:cxnSp>
        <p:nvCxnSpPr>
          <p:cNvPr id="13" name="Straight Arrow Connector 12"/>
          <p:cNvCxnSpPr/>
          <p:nvPr/>
        </p:nvCxnSpPr>
        <p:spPr>
          <a:xfrm>
            <a:off x="4808017" y="822960"/>
            <a:ext cx="7614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620000" y="1339334"/>
            <a:ext cx="7614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903328" y="1034534"/>
            <a:ext cx="285656" cy="369332"/>
          </a:xfrm>
          <a:prstGeom prst="rect">
            <a:avLst/>
          </a:prstGeom>
          <a:noFill/>
        </p:spPr>
        <p:txBody>
          <a:bodyPr wrap="none" rtlCol="0">
            <a:spAutoFit/>
          </a:bodyPr>
          <a:lstStyle/>
          <a:p>
            <a:r>
              <a:rPr lang="en-US"/>
              <a:t>?</a:t>
            </a:r>
          </a:p>
        </p:txBody>
      </p:sp>
      <p:sp>
        <p:nvSpPr>
          <p:cNvPr id="16" name="TextBox 15"/>
          <p:cNvSpPr txBox="1"/>
          <p:nvPr/>
        </p:nvSpPr>
        <p:spPr>
          <a:xfrm>
            <a:off x="4495800" y="621268"/>
            <a:ext cx="314510" cy="369332"/>
          </a:xfrm>
          <a:prstGeom prst="rect">
            <a:avLst/>
          </a:prstGeom>
          <a:noFill/>
        </p:spPr>
        <p:txBody>
          <a:bodyPr wrap="none" rtlCol="0">
            <a:spAutoFit/>
          </a:bodyPr>
          <a:lstStyle/>
          <a:p>
            <a:r>
              <a:rPr lang="en-US"/>
              <a:t>p</a:t>
            </a:r>
          </a:p>
        </p:txBody>
      </p:sp>
      <p:sp>
        <p:nvSpPr>
          <p:cNvPr id="17" name="TextBox 16"/>
          <p:cNvSpPr txBox="1"/>
          <p:nvPr/>
        </p:nvSpPr>
        <p:spPr>
          <a:xfrm>
            <a:off x="4946125" y="914400"/>
            <a:ext cx="325730" cy="369332"/>
          </a:xfrm>
          <a:prstGeom prst="rect">
            <a:avLst/>
          </a:prstGeom>
          <a:noFill/>
        </p:spPr>
        <p:txBody>
          <a:bodyPr wrap="none" rtlCol="0">
            <a:spAutoFit/>
          </a:bodyPr>
          <a:lstStyle/>
          <a:p>
            <a:r>
              <a:rPr lang="en-US"/>
              <a:t>T</a:t>
            </a:r>
          </a:p>
        </p:txBody>
      </p:sp>
      <p:cxnSp>
        <p:nvCxnSpPr>
          <p:cNvPr id="19" name="Straight Arrow Connector 18"/>
          <p:cNvCxnSpPr/>
          <p:nvPr/>
        </p:nvCxnSpPr>
        <p:spPr>
          <a:xfrm>
            <a:off x="4801142" y="1280160"/>
            <a:ext cx="7614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488925" y="1078468"/>
            <a:ext cx="314510" cy="369332"/>
          </a:xfrm>
          <a:prstGeom prst="rect">
            <a:avLst/>
          </a:prstGeom>
          <a:noFill/>
        </p:spPr>
        <p:txBody>
          <a:bodyPr wrap="none" rtlCol="0">
            <a:spAutoFit/>
          </a:bodyPr>
          <a:lstStyle/>
          <a:p>
            <a:r>
              <a:rPr lang="en-US"/>
              <a:t>q</a:t>
            </a:r>
          </a:p>
        </p:txBody>
      </p:sp>
      <p:cxnSp>
        <p:nvCxnSpPr>
          <p:cNvPr id="5" name="Straight Connector 4"/>
          <p:cNvCxnSpPr/>
          <p:nvPr/>
        </p:nvCxnSpPr>
        <p:spPr>
          <a:xfrm>
            <a:off x="457200" y="6129278"/>
            <a:ext cx="19812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800600" y="2717959"/>
            <a:ext cx="1973745" cy="923330"/>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the “combine two </a:t>
            </a:r>
          </a:p>
          <a:p>
            <a:r>
              <a:rPr lang="en-US"/>
              <a:t>statements with</a:t>
            </a:r>
            <a:br>
              <a:rPr lang="en-US"/>
            </a:br>
            <a:r>
              <a:rPr lang="en-US"/>
              <a:t> </a:t>
            </a:r>
            <a:r>
              <a:rPr lang="en-US">
                <a:sym typeface="Symbol"/>
              </a:rPr>
              <a:t></a:t>
            </a:r>
            <a:r>
              <a:rPr lang="en-US"/>
              <a:t>“ rule  -- useful</a:t>
            </a:r>
            <a:endParaRPr lang="th-TH"/>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13843"/>
          </a:xfrm>
        </p:spPr>
        <p:txBody>
          <a:bodyPr>
            <a:normAutofit/>
          </a:bodyPr>
          <a:lstStyle/>
          <a:p>
            <a:r>
              <a:rPr lang="en-US"/>
              <a:t>2.8. Resolution</a:t>
            </a:r>
            <a:endParaRPr lang="en-US" dirty="0"/>
          </a:p>
        </p:txBody>
      </p:sp>
      <p:sp>
        <p:nvSpPr>
          <p:cNvPr id="3" name="Content Placeholder 2"/>
          <p:cNvSpPr>
            <a:spLocks noGrp="1"/>
          </p:cNvSpPr>
          <p:nvPr>
            <p:ph idx="1"/>
          </p:nvPr>
        </p:nvSpPr>
        <p:spPr/>
        <p:txBody>
          <a:bodyPr/>
          <a:lstStyle/>
          <a:p>
            <a:pPr>
              <a:buNone/>
            </a:pPr>
            <a:endParaRPr lang="en-US" dirty="0"/>
          </a:p>
          <a:p>
            <a:pPr>
              <a:buNone/>
            </a:pPr>
            <a:r>
              <a:rPr lang="en-US" dirty="0"/>
              <a:t>                        </a:t>
            </a:r>
          </a:p>
        </p:txBody>
      </p:sp>
      <p:sp>
        <p:nvSpPr>
          <p:cNvPr id="8" name="Slide Number Placeholder 7"/>
          <p:cNvSpPr>
            <a:spLocks noGrp="1"/>
          </p:cNvSpPr>
          <p:nvPr>
            <p:ph type="sldNum" sz="quarter" idx="12"/>
          </p:nvPr>
        </p:nvSpPr>
        <p:spPr/>
        <p:txBody>
          <a:bodyPr/>
          <a:lstStyle/>
          <a:p>
            <a:fld id="{9CA217EF-0505-4C33-BB20-8A8DF2039023}" type="slidenum">
              <a:rPr lang="en-US" smtClean="0"/>
              <a:pPr/>
              <a:t>16</a:t>
            </a:fld>
            <a:endParaRPr lang="en-US"/>
          </a:p>
        </p:txBody>
      </p:sp>
      <p:sp>
        <p:nvSpPr>
          <p:cNvPr id="18" name="TextBox 17"/>
          <p:cNvSpPr txBox="1"/>
          <p:nvPr/>
        </p:nvSpPr>
        <p:spPr>
          <a:xfrm>
            <a:off x="762000" y="3657600"/>
            <a:ext cx="7696200" cy="2585323"/>
          </a:xfrm>
          <a:prstGeom prst="rect">
            <a:avLst/>
          </a:prstGeom>
          <a:noFill/>
        </p:spPr>
        <p:txBody>
          <a:bodyPr wrap="square" rtlCol="0">
            <a:spAutoFit/>
          </a:bodyPr>
          <a:lstStyle/>
          <a:p>
            <a:r>
              <a:rPr lang="en-US" b="1"/>
              <a:t>Example</a:t>
            </a:r>
            <a:endParaRPr lang="en-US" dirty="0"/>
          </a:p>
          <a:p>
            <a:r>
              <a:rPr lang="en-US" dirty="0"/>
              <a:t>Let </a:t>
            </a:r>
            <a:r>
              <a:rPr lang="en-US" i="1" dirty="0"/>
              <a:t>p</a:t>
            </a:r>
            <a:r>
              <a:rPr lang="en-US" dirty="0"/>
              <a:t> be “</a:t>
            </a:r>
            <a:r>
              <a:rPr lang="en-US"/>
              <a:t>I study </a:t>
            </a:r>
            <a:r>
              <a:rPr lang="en-US" dirty="0"/>
              <a:t>discrete math.”</a:t>
            </a:r>
          </a:p>
          <a:p>
            <a:r>
              <a:rPr lang="en-US" dirty="0"/>
              <a:t>Let </a:t>
            </a:r>
            <a:r>
              <a:rPr lang="en-US" i="1" dirty="0"/>
              <a:t>r</a:t>
            </a:r>
            <a:r>
              <a:rPr lang="en-US" dirty="0"/>
              <a:t> be “</a:t>
            </a:r>
            <a:r>
              <a:rPr lang="en-US"/>
              <a:t>I study English.”</a:t>
            </a:r>
            <a:endParaRPr lang="en-US" dirty="0"/>
          </a:p>
          <a:p>
            <a:r>
              <a:rPr lang="en-US" dirty="0"/>
              <a:t>Let q be “</a:t>
            </a:r>
            <a:r>
              <a:rPr lang="en-US"/>
              <a:t>I study </a:t>
            </a:r>
            <a:r>
              <a:rPr lang="en-US" dirty="0"/>
              <a:t>databases.”</a:t>
            </a:r>
          </a:p>
          <a:p>
            <a:endParaRPr lang="en-US" dirty="0"/>
          </a:p>
          <a:p>
            <a:r>
              <a:rPr lang="en-US">
                <a:sym typeface="Symbol"/>
              </a:rPr>
              <a:t>p  r:	</a:t>
            </a:r>
            <a:r>
              <a:rPr lang="en-US"/>
              <a:t>“I do </a:t>
            </a:r>
            <a:r>
              <a:rPr lang="en-US" b="1"/>
              <a:t>not</a:t>
            </a:r>
            <a:r>
              <a:rPr lang="en-US"/>
              <a:t> </a:t>
            </a:r>
            <a:r>
              <a:rPr lang="en-US" dirty="0"/>
              <a:t>study discrete math </a:t>
            </a:r>
            <a:r>
              <a:rPr lang="en-US" b="1" dirty="0"/>
              <a:t>or</a:t>
            </a:r>
            <a:r>
              <a:rPr lang="en-US" dirty="0"/>
              <a:t> </a:t>
            </a:r>
            <a:r>
              <a:rPr lang="en-US"/>
              <a:t>I study English.”</a:t>
            </a:r>
            <a:endParaRPr lang="en-US" dirty="0"/>
          </a:p>
          <a:p>
            <a:r>
              <a:rPr lang="en-US"/>
              <a:t>p </a:t>
            </a:r>
            <a:r>
              <a:rPr lang="en-US">
                <a:sym typeface="Symbol"/>
              </a:rPr>
              <a:t> q:	</a:t>
            </a:r>
            <a:r>
              <a:rPr lang="en-US"/>
              <a:t>“I study discrete </a:t>
            </a:r>
            <a:r>
              <a:rPr lang="en-US" dirty="0"/>
              <a:t>math </a:t>
            </a:r>
            <a:r>
              <a:rPr lang="en-US" b="1" dirty="0"/>
              <a:t>or</a:t>
            </a:r>
            <a:r>
              <a:rPr lang="en-US" dirty="0"/>
              <a:t> </a:t>
            </a:r>
            <a:r>
              <a:rPr lang="en-US"/>
              <a:t>I study </a:t>
            </a:r>
            <a:r>
              <a:rPr lang="en-US" dirty="0"/>
              <a:t>databases.”</a:t>
            </a:r>
          </a:p>
          <a:p>
            <a:endParaRPr lang="en-US" dirty="0"/>
          </a:p>
          <a:p>
            <a:r>
              <a:rPr lang="en-US"/>
              <a:t>q </a:t>
            </a:r>
            <a:r>
              <a:rPr lang="en-US">
                <a:sym typeface="Symbol"/>
              </a:rPr>
              <a:t> r:	</a:t>
            </a:r>
            <a:r>
              <a:rPr lang="en-US"/>
              <a:t>“I study </a:t>
            </a:r>
            <a:r>
              <a:rPr lang="en-US" dirty="0"/>
              <a:t>databases </a:t>
            </a:r>
            <a:r>
              <a:rPr lang="en-US" b="1" dirty="0"/>
              <a:t>or</a:t>
            </a:r>
            <a:r>
              <a:rPr lang="en-US" dirty="0"/>
              <a:t> </a:t>
            </a:r>
            <a:r>
              <a:rPr lang="en-US"/>
              <a:t>I study English.”</a:t>
            </a: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990600" y="2209800"/>
            <a:ext cx="1525905" cy="1225868"/>
          </a:xfrm>
          <a:prstGeom prst="rect">
            <a:avLst/>
          </a:prstGeom>
          <a:ln w="38100">
            <a:solidFill>
              <a:srgbClr val="FF0000"/>
            </a:solidFill>
          </a:ln>
        </p:spPr>
      </p:pic>
      <p:sp>
        <p:nvSpPr>
          <p:cNvPr id="5" name="TextBox 4"/>
          <p:cNvSpPr txBox="1"/>
          <p:nvPr/>
        </p:nvSpPr>
        <p:spPr>
          <a:xfrm>
            <a:off x="4866099" y="1828800"/>
            <a:ext cx="1382301" cy="369332"/>
          </a:xfrm>
          <a:prstGeom prst="rect">
            <a:avLst/>
          </a:prstGeom>
          <a:noFill/>
        </p:spPr>
        <p:txBody>
          <a:bodyPr wrap="none" rtlCol="0">
            <a:spAutoFit/>
          </a:bodyPr>
          <a:lstStyle/>
          <a:p>
            <a:r>
              <a:rPr lang="en-US"/>
              <a:t>Graphically:</a:t>
            </a:r>
          </a:p>
        </p:txBody>
      </p:sp>
      <p:sp>
        <p:nvSpPr>
          <p:cNvPr id="6" name="TextBox 5"/>
          <p:cNvSpPr txBox="1"/>
          <p:nvPr/>
        </p:nvSpPr>
        <p:spPr>
          <a:xfrm>
            <a:off x="5841589" y="2250886"/>
            <a:ext cx="813621"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sym typeface="Symbol"/>
              </a:rPr>
              <a:t>p  r</a:t>
            </a:r>
            <a:endParaRPr lang="en-US"/>
          </a:p>
        </p:txBody>
      </p:sp>
      <p:sp>
        <p:nvSpPr>
          <p:cNvPr id="9" name="TextBox 8"/>
          <p:cNvSpPr txBox="1"/>
          <p:nvPr/>
        </p:nvSpPr>
        <p:spPr>
          <a:xfrm>
            <a:off x="7086600" y="2250941"/>
            <a:ext cx="686342"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p </a:t>
            </a:r>
            <a:r>
              <a:rPr lang="en-US">
                <a:sym typeface="Symbol"/>
              </a:rPr>
              <a:t> q</a:t>
            </a:r>
            <a:endParaRPr lang="en-US"/>
          </a:p>
        </p:txBody>
      </p:sp>
      <p:sp>
        <p:nvSpPr>
          <p:cNvPr id="12" name="TextBox 11"/>
          <p:cNvSpPr txBox="1"/>
          <p:nvPr/>
        </p:nvSpPr>
        <p:spPr>
          <a:xfrm>
            <a:off x="6553200" y="3078114"/>
            <a:ext cx="649152"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q </a:t>
            </a:r>
            <a:r>
              <a:rPr lang="en-US">
                <a:sym typeface="Symbol"/>
              </a:rPr>
              <a:t> r</a:t>
            </a:r>
            <a:endParaRPr lang="en-US"/>
          </a:p>
        </p:txBody>
      </p:sp>
      <p:cxnSp>
        <p:nvCxnSpPr>
          <p:cNvPr id="14" name="Elbow Connector 13"/>
          <p:cNvCxnSpPr>
            <a:stCxn id="6" idx="2"/>
            <a:endCxn id="12" idx="0"/>
          </p:cNvCxnSpPr>
          <p:nvPr/>
        </p:nvCxnSpPr>
        <p:spPr>
          <a:xfrm rot="16200000" flipH="1">
            <a:off x="6334140" y="2534478"/>
            <a:ext cx="457896" cy="629376"/>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9" idx="2"/>
            <a:endCxn id="12" idx="0"/>
          </p:cNvCxnSpPr>
          <p:nvPr/>
        </p:nvCxnSpPr>
        <p:spPr>
          <a:xfrm rot="5400000">
            <a:off x="6924854" y="2573196"/>
            <a:ext cx="457841" cy="551995"/>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6096000" y="2321307"/>
            <a:ext cx="152400" cy="2286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7162800" y="2286000"/>
            <a:ext cx="152400" cy="2286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96112"/>
          </a:xfrm>
        </p:spPr>
        <p:txBody>
          <a:bodyPr>
            <a:normAutofit/>
          </a:bodyPr>
          <a:lstStyle/>
          <a:p>
            <a:r>
              <a:rPr lang="en-US"/>
              <a:t>3. Using Rules to Build a Proof</a:t>
            </a:r>
            <a:endParaRPr lang="en-US" dirty="0"/>
          </a:p>
        </p:txBody>
      </p:sp>
      <p:sp>
        <p:nvSpPr>
          <p:cNvPr id="3" name="Content Placeholder 2"/>
          <p:cNvSpPr>
            <a:spLocks noGrp="1"/>
          </p:cNvSpPr>
          <p:nvPr>
            <p:ph idx="1"/>
          </p:nvPr>
        </p:nvSpPr>
        <p:spPr>
          <a:xfrm>
            <a:off x="457200" y="1905000"/>
            <a:ext cx="8229600" cy="4191000"/>
          </a:xfrm>
        </p:spPr>
        <p:txBody>
          <a:bodyPr>
            <a:normAutofit fontScale="92500" lnSpcReduction="10000"/>
          </a:bodyPr>
          <a:lstStyle/>
          <a:p>
            <a:r>
              <a:rPr lang="en-US"/>
              <a:t>Each statement (line) is either an assumption or a new statement made by using a rule </a:t>
            </a:r>
            <a:r>
              <a:rPr lang="en-US" dirty="0"/>
              <a:t>of inference</a:t>
            </a:r>
            <a:r>
              <a:rPr lang="en-US"/>
              <a:t>. </a:t>
            </a:r>
          </a:p>
          <a:p>
            <a:endParaRPr lang="en-US"/>
          </a:p>
          <a:p>
            <a:pPr>
              <a:buNone/>
            </a:pPr>
            <a:r>
              <a:rPr lang="en-US"/>
              <a:t>              </a:t>
            </a:r>
            <a:r>
              <a:rPr lang="en-US" dirty="0"/>
              <a:t>	         S</a:t>
            </a:r>
            <a:r>
              <a:rPr lang="en-US" sz="2400" baseline="-25000" dirty="0">
                <a:latin typeface="Cambria Math" pitchFamily="18" charset="0"/>
                <a:ea typeface="Cambria Math" pitchFamily="18" charset="0"/>
              </a:rPr>
              <a:t>1</a:t>
            </a:r>
          </a:p>
          <a:p>
            <a:pPr>
              <a:buNone/>
            </a:pPr>
            <a:r>
              <a:rPr lang="en-US" sz="2400" dirty="0"/>
              <a:t>			</a:t>
            </a:r>
            <a:r>
              <a:rPr lang="en-US" dirty="0"/>
              <a:t>         S</a:t>
            </a:r>
            <a:r>
              <a:rPr lang="en-US" sz="2400" baseline="-25000" dirty="0">
                <a:latin typeface="Cambria Math" pitchFamily="18" charset="0"/>
                <a:ea typeface="Cambria Math" pitchFamily="18" charset="0"/>
              </a:rPr>
              <a:t>2</a:t>
            </a:r>
          </a:p>
          <a:p>
            <a:pPr>
              <a:buNone/>
            </a:pPr>
            <a:r>
              <a:rPr lang="en-US" sz="2400"/>
              <a:t>                                     .</a:t>
            </a:r>
            <a:endParaRPr lang="en-US" sz="2400" dirty="0"/>
          </a:p>
          <a:p>
            <a:pPr>
              <a:buNone/>
            </a:pPr>
            <a:r>
              <a:rPr lang="en-US" sz="2400"/>
              <a:t>                                     .</a:t>
            </a:r>
            <a:endParaRPr lang="en-US" sz="2400" dirty="0"/>
          </a:p>
          <a:p>
            <a:pPr>
              <a:buNone/>
            </a:pPr>
            <a:r>
              <a:rPr lang="en-US" sz="2400"/>
              <a:t>                                     .</a:t>
            </a:r>
            <a:endParaRPr lang="en-US" sz="2400" dirty="0"/>
          </a:p>
          <a:p>
            <a:pPr>
              <a:buNone/>
            </a:pPr>
            <a:r>
              <a:rPr lang="en-US" dirty="0"/>
              <a:t>                                  </a:t>
            </a:r>
            <a:r>
              <a:rPr lang="en-US" dirty="0" err="1"/>
              <a:t>S</a:t>
            </a:r>
            <a:r>
              <a:rPr lang="en-US" sz="2800" i="1" baseline="-25000" dirty="0" err="1"/>
              <a:t>n</a:t>
            </a:r>
            <a:endParaRPr lang="en-US" sz="2800" i="1" baseline="-25000" dirty="0"/>
          </a:p>
          <a:p>
            <a:pPr>
              <a:buNone/>
            </a:pPr>
            <a:endParaRPr lang="en-US" sz="2800" dirty="0"/>
          </a:p>
          <a:p>
            <a:pPr>
              <a:buNone/>
            </a:pPr>
            <a:r>
              <a:rPr lang="en-US" sz="2800" dirty="0"/>
              <a:t>                               </a:t>
            </a:r>
            <a:r>
              <a:rPr lang="en-US" sz="2800"/>
              <a:t>C</a:t>
            </a:r>
            <a:r>
              <a:rPr lang="en-US" sz="2400"/>
              <a:t> </a:t>
            </a:r>
            <a:endParaRPr lang="en-US" sz="2400" dirty="0"/>
          </a:p>
        </p:txBody>
      </p:sp>
      <p:sp>
        <p:nvSpPr>
          <p:cNvPr id="6" name="Slide Number Placeholder 5"/>
          <p:cNvSpPr>
            <a:spLocks noGrp="1"/>
          </p:cNvSpPr>
          <p:nvPr>
            <p:ph type="sldNum" sz="quarter" idx="12"/>
          </p:nvPr>
        </p:nvSpPr>
        <p:spPr/>
        <p:txBody>
          <a:bodyPr/>
          <a:lstStyle/>
          <a:p>
            <a:fld id="{9CA217EF-0505-4C33-BB20-8A8DF2039023}" type="slidenum">
              <a:rPr lang="en-US" smtClean="0"/>
              <a:pPr/>
              <a:t>17</a:t>
            </a:fld>
            <a:endParaRPr lang="en-US"/>
          </a:p>
        </p:txBody>
      </p:sp>
      <p:cxnSp>
        <p:nvCxnSpPr>
          <p:cNvPr id="10" name="Straight Connector 9"/>
          <p:cNvCxnSpPr/>
          <p:nvPr/>
        </p:nvCxnSpPr>
        <p:spPr>
          <a:xfrm>
            <a:off x="2590800" y="5181600"/>
            <a:ext cx="1447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572000" y="2743200"/>
            <a:ext cx="0" cy="2286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648200" y="3258234"/>
            <a:ext cx="1741631" cy="646331"/>
          </a:xfrm>
          <a:prstGeom prst="rect">
            <a:avLst/>
          </a:prstGeom>
          <a:noFill/>
        </p:spPr>
        <p:txBody>
          <a:bodyPr wrap="none" rtlCol="0">
            <a:spAutoFit/>
          </a:bodyPr>
          <a:lstStyle/>
          <a:p>
            <a:r>
              <a:rPr lang="en-US"/>
              <a:t>assumptions or</a:t>
            </a:r>
          </a:p>
          <a:p>
            <a:r>
              <a:rPr lang="en-US"/>
              <a:t>new statements</a:t>
            </a:r>
          </a:p>
        </p:txBody>
      </p:sp>
      <p:sp>
        <p:nvSpPr>
          <p:cNvPr id="9" name="TextBox 8"/>
          <p:cNvSpPr txBox="1"/>
          <p:nvPr/>
        </p:nvSpPr>
        <p:spPr>
          <a:xfrm>
            <a:off x="1981200" y="3669268"/>
            <a:ext cx="561372"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and</a:t>
            </a:r>
          </a:p>
        </p:txBody>
      </p:sp>
      <p:sp>
        <p:nvSpPr>
          <p:cNvPr id="11" name="TextBox 10"/>
          <p:cNvSpPr txBox="1"/>
          <p:nvPr/>
        </p:nvSpPr>
        <p:spPr>
          <a:xfrm>
            <a:off x="4583723" y="5345668"/>
            <a:ext cx="1265411" cy="369332"/>
          </a:xfrm>
          <a:prstGeom prst="rect">
            <a:avLst/>
          </a:prstGeom>
          <a:noFill/>
        </p:spPr>
        <p:txBody>
          <a:bodyPr wrap="none" rtlCol="0">
            <a:spAutoFit/>
          </a:bodyPr>
          <a:lstStyle/>
          <a:p>
            <a:r>
              <a:rPr lang="en-US"/>
              <a:t>conclusion</a:t>
            </a:r>
          </a:p>
        </p:txBody>
      </p:sp>
      <p:sp>
        <p:nvSpPr>
          <p:cNvPr id="12" name="TextBox 11"/>
          <p:cNvSpPr txBox="1"/>
          <p:nvPr/>
        </p:nvSpPr>
        <p:spPr>
          <a:xfrm>
            <a:off x="5715000" y="4311134"/>
            <a:ext cx="1747273" cy="923330"/>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t>this sequence </a:t>
            </a:r>
            <a:br>
              <a:rPr lang="en-US"/>
            </a:br>
            <a:r>
              <a:rPr lang="en-US"/>
              <a:t>of statements is</a:t>
            </a:r>
          </a:p>
          <a:p>
            <a:r>
              <a:rPr lang="en-US"/>
              <a:t>the proof</a:t>
            </a:r>
          </a:p>
        </p:txBody>
      </p:sp>
      <p:cxnSp>
        <p:nvCxnSpPr>
          <p:cNvPr id="14" name="Straight Connector 13"/>
          <p:cNvCxnSpPr/>
          <p:nvPr/>
        </p:nvCxnSpPr>
        <p:spPr>
          <a:xfrm>
            <a:off x="4648200" y="4495800"/>
            <a:ext cx="1066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1</a:t>
            </a:r>
            <a:endParaRPr lang="en-US" dirty="0"/>
          </a:p>
        </p:txBody>
      </p:sp>
      <p:sp>
        <p:nvSpPr>
          <p:cNvPr id="8" name="Slide Number Placeholder 7"/>
          <p:cNvSpPr>
            <a:spLocks noGrp="1"/>
          </p:cNvSpPr>
          <p:nvPr>
            <p:ph type="sldNum" sz="quarter" idx="12"/>
          </p:nvPr>
        </p:nvSpPr>
        <p:spPr/>
        <p:txBody>
          <a:bodyPr/>
          <a:lstStyle/>
          <a:p>
            <a:fld id="{9CA217EF-0505-4C33-BB20-8A8DF2039023}" type="slidenum">
              <a:rPr lang="en-US" smtClean="0"/>
              <a:pPr/>
              <a:t>18</a:t>
            </a:fld>
            <a:endParaRPr lang="en-US"/>
          </a:p>
        </p:txBody>
      </p:sp>
      <p:pic>
        <p:nvPicPr>
          <p:cNvPr id="7" name="Picture 6" descr="addin_tmp.png"/>
          <p:cNvPicPr>
            <a:picLocks noChangeAspect="1"/>
          </p:cNvPicPr>
          <p:nvPr>
            <p:custDataLst>
              <p:tags r:id="rId1"/>
            </p:custDataLst>
          </p:nvPr>
        </p:nvPicPr>
        <p:blipFill>
          <a:blip r:embed="rId4" cstate="print"/>
          <a:stretch>
            <a:fillRect/>
          </a:stretch>
        </p:blipFill>
        <p:spPr>
          <a:xfrm>
            <a:off x="457200" y="3962400"/>
            <a:ext cx="8126730" cy="2185988"/>
          </a:xfrm>
          <a:prstGeom prst="rect">
            <a:avLst/>
          </a:prstGeom>
        </p:spPr>
      </p:pic>
      <p:sp>
        <p:nvSpPr>
          <p:cNvPr id="4" name="Rectangle 3"/>
          <p:cNvSpPr/>
          <p:nvPr/>
        </p:nvSpPr>
        <p:spPr>
          <a:xfrm>
            <a:off x="457200" y="2168604"/>
            <a:ext cx="6553200" cy="1107996"/>
          </a:xfrm>
          <a:prstGeom prst="rect">
            <a:avLst/>
          </a:prstGeom>
        </p:spPr>
        <p:txBody>
          <a:bodyPr wrap="square">
            <a:spAutoFit/>
          </a:bodyPr>
          <a:lstStyle/>
          <a:p>
            <a:r>
              <a:rPr lang="en-US" sz="2400"/>
              <a:t>Assumption: </a:t>
            </a:r>
            <a:endParaRPr lang="en-US" dirty="0"/>
          </a:p>
          <a:p>
            <a:endParaRPr lang="en-US" dirty="0"/>
          </a:p>
          <a:p>
            <a:pPr>
              <a:buNone/>
            </a:pPr>
            <a:r>
              <a:rPr lang="en-US" dirty="0"/>
              <a:t> </a:t>
            </a:r>
            <a:r>
              <a:rPr lang="en-US" sz="2400" dirty="0"/>
              <a:t>Show that </a:t>
            </a:r>
            <a:r>
              <a:rPr lang="en-US" sz="2400" i="1" dirty="0"/>
              <a:t>q</a:t>
            </a:r>
            <a:r>
              <a:rPr lang="en-US" sz="2400" dirty="0"/>
              <a:t> is a conclusion.</a:t>
            </a:r>
          </a:p>
        </p:txBody>
      </p:sp>
      <p:pic>
        <p:nvPicPr>
          <p:cNvPr id="5" name="Picture 4" descr="addin_tmp.png"/>
          <p:cNvPicPr>
            <a:picLocks noChangeAspect="1"/>
          </p:cNvPicPr>
          <p:nvPr>
            <p:custDataLst>
              <p:tags r:id="rId2"/>
            </p:custDataLst>
          </p:nvPr>
        </p:nvPicPr>
        <p:blipFill>
          <a:blip r:embed="rId5" cstate="print"/>
          <a:stretch>
            <a:fillRect/>
          </a:stretch>
        </p:blipFill>
        <p:spPr>
          <a:xfrm>
            <a:off x="2819400" y="2244804"/>
            <a:ext cx="1848803" cy="382905"/>
          </a:xfrm>
          <a:prstGeom prst="rect">
            <a:avLst/>
          </a:prstGeom>
        </p:spPr>
      </p:pic>
      <p:sp>
        <p:nvSpPr>
          <p:cNvPr id="3" name="Rectangle 2"/>
          <p:cNvSpPr/>
          <p:nvPr/>
        </p:nvSpPr>
        <p:spPr>
          <a:xfrm>
            <a:off x="3124200" y="4800600"/>
            <a:ext cx="2209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63671" y="4775611"/>
            <a:ext cx="2370329" cy="523220"/>
          </a:xfrm>
          <a:prstGeom prst="rect">
            <a:avLst/>
          </a:prstGeom>
          <a:noFill/>
        </p:spPr>
        <p:txBody>
          <a:bodyPr wrap="none" rtlCol="0">
            <a:spAutoFit/>
          </a:bodyPr>
          <a:lstStyle/>
          <a:p>
            <a:r>
              <a:rPr lang="en-US" sz="2800" dirty="0"/>
              <a:t>Simplification</a:t>
            </a:r>
          </a:p>
        </p:txBody>
      </p:sp>
      <p:sp>
        <p:nvSpPr>
          <p:cNvPr id="15" name="TextBox 14"/>
          <p:cNvSpPr txBox="1"/>
          <p:nvPr/>
        </p:nvSpPr>
        <p:spPr>
          <a:xfrm>
            <a:off x="2998839" y="5190237"/>
            <a:ext cx="2370329" cy="523220"/>
          </a:xfrm>
          <a:prstGeom prst="rect">
            <a:avLst/>
          </a:prstGeom>
          <a:noFill/>
        </p:spPr>
        <p:txBody>
          <a:bodyPr wrap="none" rtlCol="0">
            <a:spAutoFit/>
          </a:bodyPr>
          <a:lstStyle/>
          <a:p>
            <a:r>
              <a:rPr lang="en-US" sz="2800" dirty="0"/>
              <a:t>Simplification</a:t>
            </a:r>
          </a:p>
        </p:txBody>
      </p:sp>
      <p:sp>
        <p:nvSpPr>
          <p:cNvPr id="10" name="Rounded Rectangle 9"/>
          <p:cNvSpPr/>
          <p:nvPr/>
        </p:nvSpPr>
        <p:spPr>
          <a:xfrm>
            <a:off x="762000" y="4419600"/>
            <a:ext cx="2201671" cy="381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Rounded Rectangle 10"/>
          <p:cNvSpPr/>
          <p:nvPr/>
        </p:nvSpPr>
        <p:spPr>
          <a:xfrm>
            <a:off x="762001" y="5791200"/>
            <a:ext cx="762000" cy="381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Freeform 5"/>
          <p:cNvSpPr/>
          <p:nvPr/>
        </p:nvSpPr>
        <p:spPr>
          <a:xfrm>
            <a:off x="119120" y="4558748"/>
            <a:ext cx="278445" cy="1391478"/>
          </a:xfrm>
          <a:custGeom>
            <a:avLst/>
            <a:gdLst>
              <a:gd name="connsiteX0" fmla="*/ 278445 w 278445"/>
              <a:gd name="connsiteY0" fmla="*/ 0 h 1391478"/>
              <a:gd name="connsiteX1" fmla="*/ 66410 w 278445"/>
              <a:gd name="connsiteY1" fmla="*/ 318052 h 1391478"/>
              <a:gd name="connsiteX2" fmla="*/ 150 w 278445"/>
              <a:gd name="connsiteY2" fmla="*/ 848139 h 1391478"/>
              <a:gd name="connsiteX3" fmla="*/ 79663 w 278445"/>
              <a:gd name="connsiteY3" fmla="*/ 1285461 h 1391478"/>
              <a:gd name="connsiteX4" fmla="*/ 251941 w 278445"/>
              <a:gd name="connsiteY4" fmla="*/ 1391478 h 1391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445" h="1391478">
                <a:moveTo>
                  <a:pt x="278445" y="0"/>
                </a:moveTo>
                <a:cubicBezTo>
                  <a:pt x="195618" y="88348"/>
                  <a:pt x="112792" y="176696"/>
                  <a:pt x="66410" y="318052"/>
                </a:cubicBezTo>
                <a:cubicBezTo>
                  <a:pt x="20028" y="459408"/>
                  <a:pt x="-2059" y="686904"/>
                  <a:pt x="150" y="848139"/>
                </a:cubicBezTo>
                <a:cubicBezTo>
                  <a:pt x="2359" y="1009374"/>
                  <a:pt x="37698" y="1194905"/>
                  <a:pt x="79663" y="1285461"/>
                </a:cubicBezTo>
                <a:cubicBezTo>
                  <a:pt x="121628" y="1376017"/>
                  <a:pt x="186784" y="1383747"/>
                  <a:pt x="251941" y="1391478"/>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dirty="0"/>
              <a:t>Example </a:t>
            </a:r>
          </a:p>
        </p:txBody>
      </p:sp>
      <p:sp>
        <p:nvSpPr>
          <p:cNvPr id="3" name="Content Placeholder 2"/>
          <p:cNvSpPr>
            <a:spLocks noGrp="1"/>
          </p:cNvSpPr>
          <p:nvPr>
            <p:ph idx="1"/>
          </p:nvPr>
        </p:nvSpPr>
        <p:spPr>
          <a:xfrm>
            <a:off x="457200" y="1931621"/>
            <a:ext cx="8382000" cy="3478579"/>
          </a:xfrm>
        </p:spPr>
        <p:txBody>
          <a:bodyPr>
            <a:normAutofit/>
          </a:bodyPr>
          <a:lstStyle/>
          <a:p>
            <a:pPr marL="0" indent="0">
              <a:buNone/>
            </a:pPr>
            <a:r>
              <a:rPr lang="en-US" sz="2000" dirty="0"/>
              <a:t>Four Assumptions:</a:t>
            </a:r>
          </a:p>
          <a:p>
            <a:pPr lvl="1">
              <a:buNone/>
            </a:pPr>
            <a:r>
              <a:rPr lang="en-US" sz="2000" dirty="0"/>
              <a:t>“It is </a:t>
            </a:r>
            <a:r>
              <a:rPr lang="en-US" sz="2000" b="1" dirty="0"/>
              <a:t>not</a:t>
            </a:r>
            <a:r>
              <a:rPr lang="en-US" sz="2000" dirty="0"/>
              <a:t> sunny </a:t>
            </a:r>
            <a:r>
              <a:rPr lang="en-US" sz="2000" b="1" dirty="0"/>
              <a:t>and</a:t>
            </a:r>
            <a:r>
              <a:rPr lang="en-US" sz="2000" dirty="0"/>
              <a:t> it is colder than yesterday.”</a:t>
            </a:r>
          </a:p>
          <a:p>
            <a:pPr lvl="1">
              <a:buNone/>
            </a:pPr>
            <a:r>
              <a:rPr lang="en-US" sz="2000" dirty="0"/>
              <a:t>“We will go swimming </a:t>
            </a:r>
            <a:r>
              <a:rPr lang="en-US" sz="2000" b="1" dirty="0"/>
              <a:t>only</a:t>
            </a:r>
            <a:r>
              <a:rPr lang="en-US" sz="2000" dirty="0"/>
              <a:t> </a:t>
            </a:r>
            <a:r>
              <a:rPr lang="en-US" sz="2000" b="1" dirty="0"/>
              <a:t>if</a:t>
            </a:r>
            <a:r>
              <a:rPr lang="en-US" sz="2000" dirty="0"/>
              <a:t> it is sunny.”</a:t>
            </a:r>
          </a:p>
          <a:p>
            <a:pPr lvl="1">
              <a:buNone/>
            </a:pPr>
            <a:r>
              <a:rPr lang="en-US" sz="2000" dirty="0"/>
              <a:t>“</a:t>
            </a:r>
            <a:r>
              <a:rPr lang="en-US" sz="2000" b="1" dirty="0"/>
              <a:t>If</a:t>
            </a:r>
            <a:r>
              <a:rPr lang="en-US" sz="2000" dirty="0"/>
              <a:t> we do </a:t>
            </a:r>
            <a:r>
              <a:rPr lang="en-US" sz="2000" b="1" dirty="0"/>
              <a:t>not</a:t>
            </a:r>
            <a:r>
              <a:rPr lang="en-US" sz="2000" dirty="0"/>
              <a:t> go swimming, </a:t>
            </a:r>
            <a:r>
              <a:rPr lang="en-US" sz="2000" b="1" dirty="0"/>
              <a:t>then</a:t>
            </a:r>
            <a:r>
              <a:rPr lang="en-US" sz="2000" dirty="0"/>
              <a:t> we will take a canoe trip.”</a:t>
            </a:r>
          </a:p>
          <a:p>
            <a:pPr lvl="1">
              <a:buNone/>
            </a:pPr>
            <a:r>
              <a:rPr lang="en-US" sz="2000" dirty="0"/>
              <a:t>“</a:t>
            </a:r>
            <a:r>
              <a:rPr lang="en-US" sz="2000" b="1" dirty="0"/>
              <a:t>If</a:t>
            </a:r>
            <a:r>
              <a:rPr lang="en-US" sz="2000" dirty="0"/>
              <a:t> we take a canoe trip, </a:t>
            </a:r>
            <a:r>
              <a:rPr lang="en-US" sz="2000" b="1" dirty="0"/>
              <a:t>then</a:t>
            </a:r>
            <a:r>
              <a:rPr lang="en-US" sz="2000" dirty="0"/>
              <a:t> we will be home by night.”</a:t>
            </a:r>
          </a:p>
          <a:p>
            <a:pPr lvl="1">
              <a:buNone/>
            </a:pPr>
            <a:endParaRPr lang="en-US" sz="2000" dirty="0"/>
          </a:p>
          <a:p>
            <a:r>
              <a:rPr lang="en-US" sz="2000" dirty="0"/>
              <a:t>Show  the conclusion:</a:t>
            </a:r>
          </a:p>
          <a:p>
            <a:pPr lvl="1">
              <a:buNone/>
            </a:pPr>
            <a:r>
              <a:rPr lang="en-US" sz="2000" dirty="0"/>
              <a:t>“We will be home by night.”</a:t>
            </a:r>
          </a:p>
        </p:txBody>
      </p:sp>
      <p:sp>
        <p:nvSpPr>
          <p:cNvPr id="7" name="Slide Number Placeholder 6"/>
          <p:cNvSpPr>
            <a:spLocks noGrp="1"/>
          </p:cNvSpPr>
          <p:nvPr>
            <p:ph type="sldNum" sz="quarter" idx="12"/>
          </p:nvPr>
        </p:nvSpPr>
        <p:spPr/>
        <p:txBody>
          <a:bodyPr/>
          <a:lstStyle/>
          <a:p>
            <a:fld id="{9CA217EF-0505-4C33-BB20-8A8DF2039023}" type="slidenum">
              <a:rPr lang="en-US" smtClean="0"/>
              <a:pPr/>
              <a:t>19</a:t>
            </a:fld>
            <a:endParaRPr lang="en-US"/>
          </a:p>
        </p:txBody>
      </p:sp>
      <p:sp>
        <p:nvSpPr>
          <p:cNvPr id="8" name="Rectangle 7"/>
          <p:cNvSpPr>
            <a:spLocks noChangeArrowheads="1"/>
          </p:cNvSpPr>
          <p:nvPr/>
        </p:nvSpPr>
        <p:spPr bwMode="auto">
          <a:xfrm>
            <a:off x="7077075" y="6403975"/>
            <a:ext cx="13811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defPPr>
              <a:defRPr lang="th-TH"/>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r>
              <a:rPr lang="th-TH" i="1">
                <a:solidFill>
                  <a:schemeClr val="tx2"/>
                </a:solidFill>
              </a:rPr>
              <a:t>continued</a:t>
            </a:r>
          </a:p>
        </p:txBody>
      </p:sp>
      <p:sp>
        <p:nvSpPr>
          <p:cNvPr id="4" name="TextBox 3"/>
          <p:cNvSpPr txBox="1"/>
          <p:nvPr/>
        </p:nvSpPr>
        <p:spPr>
          <a:xfrm>
            <a:off x="7414917" y="1966009"/>
            <a:ext cx="1019766" cy="646331"/>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a:t>a q </a:t>
            </a:r>
            <a:r>
              <a:rPr lang="en-US" b="1"/>
              <a:t>if</a:t>
            </a:r>
            <a:r>
              <a:rPr lang="en-US"/>
              <a:t> p</a:t>
            </a:r>
          </a:p>
          <a:p>
            <a:r>
              <a:rPr lang="en-US"/>
              <a:t>example</a:t>
            </a:r>
            <a:endParaRPr lang="th-TH"/>
          </a:p>
        </p:txBody>
      </p:sp>
      <p:cxnSp>
        <p:nvCxnSpPr>
          <p:cNvPr id="6" name="Straight Arrow Connector 5"/>
          <p:cNvCxnSpPr>
            <a:stCxn id="4" idx="1"/>
          </p:cNvCxnSpPr>
          <p:nvPr/>
        </p:nvCxnSpPr>
        <p:spPr>
          <a:xfrm flipH="1">
            <a:off x="4953000" y="2289175"/>
            <a:ext cx="2461917" cy="606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73480"/>
            <a:ext cx="8229600" cy="4312920"/>
          </a:xfrm>
        </p:spPr>
        <p:txBody>
          <a:bodyPr>
            <a:noAutofit/>
          </a:bodyPr>
          <a:lstStyle/>
          <a:p>
            <a:pPr marL="342900" indent="-342900">
              <a:buFont typeface="+mj-lt"/>
              <a:buAutoNum type="arabicPeriod"/>
            </a:pPr>
            <a:r>
              <a:rPr lang="en-US" b="1" dirty="0">
                <a:solidFill>
                  <a:srgbClr val="00B050"/>
                </a:solidFill>
              </a:rPr>
              <a:t>Create propositional variables:</a:t>
            </a:r>
          </a:p>
          <a:p>
            <a:pPr lvl="1">
              <a:buNone/>
            </a:pPr>
            <a:r>
              <a:rPr lang="en-US" b="1" i="1" dirty="0"/>
              <a:t>p</a:t>
            </a:r>
            <a:r>
              <a:rPr lang="en-US" dirty="0"/>
              <a:t>: “It is sunny.”         		 </a:t>
            </a:r>
            <a:r>
              <a:rPr lang="en-US" b="1" i="1" dirty="0"/>
              <a:t>r</a:t>
            </a:r>
            <a:r>
              <a:rPr lang="en-US" b="1" dirty="0"/>
              <a:t>: </a:t>
            </a:r>
            <a:r>
              <a:rPr lang="en-US" dirty="0"/>
              <a:t>“We will go swimming.”  </a:t>
            </a:r>
          </a:p>
          <a:p>
            <a:pPr lvl="1">
              <a:buNone/>
            </a:pPr>
            <a:r>
              <a:rPr lang="en-US" b="1" i="1" dirty="0"/>
              <a:t>q</a:t>
            </a:r>
            <a:r>
              <a:rPr lang="en-US" dirty="0"/>
              <a:t>: “It is colder than yesterday.  </a:t>
            </a:r>
            <a:r>
              <a:rPr lang="en-US" b="1" i="1" dirty="0"/>
              <a:t>s</a:t>
            </a:r>
            <a:r>
              <a:rPr lang="en-US" i="1" dirty="0"/>
              <a:t>: </a:t>
            </a:r>
            <a:r>
              <a:rPr lang="en-US" dirty="0"/>
              <a:t>“We will take a canoe trip.” </a:t>
            </a:r>
          </a:p>
          <a:p>
            <a:pPr lvl="1">
              <a:buNone/>
            </a:pPr>
            <a:r>
              <a:rPr lang="en-US" b="1" i="1" dirty="0"/>
              <a:t>t:  </a:t>
            </a:r>
            <a:r>
              <a:rPr lang="en-US" dirty="0"/>
              <a:t>“We will be home by night.”</a:t>
            </a:r>
          </a:p>
          <a:p>
            <a:pPr lvl="1">
              <a:buNone/>
            </a:pPr>
            <a:endParaRPr lang="en-US" sz="2400" i="1" dirty="0"/>
          </a:p>
          <a:p>
            <a:pPr marL="342900" indent="-342900">
              <a:buFont typeface="+mj-lt"/>
              <a:buAutoNum type="arabicPeriod"/>
            </a:pPr>
            <a:r>
              <a:rPr lang="en-US" dirty="0">
                <a:solidFill>
                  <a:srgbClr val="00B050"/>
                </a:solidFill>
              </a:rPr>
              <a:t>Translation problem into propositional logic:</a:t>
            </a:r>
          </a:p>
          <a:p>
            <a:pPr marL="0" indent="0">
              <a:buNone/>
            </a:pPr>
            <a:r>
              <a:rPr lang="en-US" dirty="0"/>
              <a:t>Four assumptions:</a:t>
            </a:r>
          </a:p>
          <a:p>
            <a:pPr marL="0" indent="0">
              <a:buNone/>
            </a:pPr>
            <a:r>
              <a:rPr lang="en-US" dirty="0"/>
              <a:t>	</a:t>
            </a:r>
            <a:r>
              <a:rPr lang="en-US" dirty="0">
                <a:sym typeface="Symbol"/>
              </a:rPr>
              <a:t>p  q		r  p		r  s		</a:t>
            </a:r>
            <a:r>
              <a:rPr lang="en-US" dirty="0" err="1">
                <a:sym typeface="Symbol"/>
              </a:rPr>
              <a:t>s</a:t>
            </a:r>
            <a:r>
              <a:rPr lang="en-US" dirty="0">
                <a:sym typeface="Symbol"/>
              </a:rPr>
              <a:t>  t</a:t>
            </a:r>
          </a:p>
          <a:p>
            <a:pPr marL="0" indent="0">
              <a:buNone/>
            </a:pPr>
            <a:r>
              <a:rPr lang="en-US" dirty="0">
                <a:sym typeface="Symbol"/>
              </a:rPr>
              <a:t>Conclusion:</a:t>
            </a:r>
          </a:p>
          <a:p>
            <a:pPr marL="0" indent="0">
              <a:buNone/>
            </a:pPr>
            <a:r>
              <a:rPr lang="en-US" dirty="0">
                <a:sym typeface="Symbol"/>
              </a:rPr>
              <a:t>	t</a:t>
            </a:r>
          </a:p>
          <a:p>
            <a:pPr marL="0" indent="0">
              <a:buNone/>
            </a:pPr>
            <a:endParaRPr lang="en-US" dirty="0"/>
          </a:p>
          <a:p>
            <a:endParaRPr lang="en-US" sz="3200" dirty="0"/>
          </a:p>
        </p:txBody>
      </p:sp>
      <p:sp>
        <p:nvSpPr>
          <p:cNvPr id="4" name="Slide Number Placeholder 3"/>
          <p:cNvSpPr>
            <a:spLocks noGrp="1"/>
          </p:cNvSpPr>
          <p:nvPr>
            <p:ph type="sldNum" sz="quarter" idx="12"/>
          </p:nvPr>
        </p:nvSpPr>
        <p:spPr/>
        <p:txBody>
          <a:bodyPr/>
          <a:lstStyle/>
          <a:p>
            <a:fld id="{9CA217EF-0505-4C33-BB20-8A8DF2039023}" type="slidenum">
              <a:rPr lang="en-US" smtClean="0"/>
              <a:pPr/>
              <a:t>20</a:t>
            </a:fld>
            <a:endParaRPr lang="en-US"/>
          </a:p>
        </p:txBody>
      </p:sp>
    </p:spTree>
    <p:extLst>
      <p:ext uri="{BB962C8B-B14F-4D97-AF65-F5344CB8AC3E}">
        <p14:creationId xmlns:p14="http://schemas.microsoft.com/office/powerpoint/2010/main" val="2645396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ddin_tmp.png"/>
          <p:cNvPicPr>
            <a:picLocks noChangeAspect="1"/>
          </p:cNvPicPr>
          <p:nvPr>
            <p:custDataLst>
              <p:tags r:id="rId1"/>
            </p:custDataLst>
          </p:nvPr>
        </p:nvPicPr>
        <p:blipFill>
          <a:blip r:embed="rId4" cstate="print"/>
          <a:stretch>
            <a:fillRect/>
          </a:stretch>
        </p:blipFill>
        <p:spPr>
          <a:xfrm>
            <a:off x="1447800" y="2133600"/>
            <a:ext cx="5943600" cy="3206025"/>
          </a:xfrm>
          <a:prstGeom prst="rect">
            <a:avLst/>
          </a:prstGeom>
        </p:spPr>
      </p:pic>
      <p:sp>
        <p:nvSpPr>
          <p:cNvPr id="4" name="TextBox 3"/>
          <p:cNvSpPr txBox="1"/>
          <p:nvPr/>
        </p:nvSpPr>
        <p:spPr>
          <a:xfrm>
            <a:off x="762000" y="1295400"/>
            <a:ext cx="3243965" cy="461665"/>
          </a:xfrm>
          <a:prstGeom prst="rect">
            <a:avLst/>
          </a:prstGeom>
          <a:noFill/>
          <a:ln>
            <a:solidFill>
              <a:schemeClr val="bg1"/>
            </a:solidFill>
          </a:ln>
        </p:spPr>
        <p:txBody>
          <a:bodyPr wrap="none" rtlCol="0">
            <a:spAutoFit/>
          </a:bodyPr>
          <a:lstStyle/>
          <a:p>
            <a:r>
              <a:rPr lang="en-US" sz="2400" dirty="0">
                <a:solidFill>
                  <a:schemeClr val="accent1"/>
                </a:solidFill>
              </a:rPr>
              <a:t>3.  </a:t>
            </a:r>
            <a:r>
              <a:rPr lang="en-US" sz="2400" dirty="0"/>
              <a:t>Construct </a:t>
            </a:r>
            <a:r>
              <a:rPr lang="en-US" sz="2400"/>
              <a:t>the proof </a:t>
            </a:r>
            <a:endParaRPr lang="en-US" sz="2400" dirty="0"/>
          </a:p>
        </p:txBody>
      </p:sp>
      <p:sp>
        <p:nvSpPr>
          <p:cNvPr id="5" name="Slide Number Placeholder 4"/>
          <p:cNvSpPr>
            <a:spLocks noGrp="1"/>
          </p:cNvSpPr>
          <p:nvPr>
            <p:ph type="sldNum" sz="quarter" idx="12"/>
          </p:nvPr>
        </p:nvSpPr>
        <p:spPr/>
        <p:txBody>
          <a:bodyPr/>
          <a:lstStyle/>
          <a:p>
            <a:fld id="{9CA217EF-0505-4C33-BB20-8A8DF2039023}" type="slidenum">
              <a:rPr lang="en-US" smtClean="0"/>
              <a:pPr/>
              <a:t>21</a:t>
            </a:fld>
            <a:endParaRPr lang="en-US"/>
          </a:p>
        </p:txBody>
      </p:sp>
      <p:sp>
        <p:nvSpPr>
          <p:cNvPr id="6" name="Rounded Rectangle 5"/>
          <p:cNvSpPr/>
          <p:nvPr/>
        </p:nvSpPr>
        <p:spPr>
          <a:xfrm>
            <a:off x="1752600" y="2438400"/>
            <a:ext cx="1066800" cy="381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Rounded Rectangle 7"/>
          <p:cNvSpPr/>
          <p:nvPr/>
        </p:nvSpPr>
        <p:spPr>
          <a:xfrm>
            <a:off x="1752600" y="3200400"/>
            <a:ext cx="1066800" cy="381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9" name="Rounded Rectangle 8"/>
          <p:cNvSpPr/>
          <p:nvPr/>
        </p:nvSpPr>
        <p:spPr>
          <a:xfrm>
            <a:off x="1752600" y="3886200"/>
            <a:ext cx="1066800" cy="381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0" name="Rounded Rectangle 9"/>
          <p:cNvSpPr/>
          <p:nvPr/>
        </p:nvSpPr>
        <p:spPr>
          <a:xfrm>
            <a:off x="1752600" y="4648200"/>
            <a:ext cx="1066800" cy="381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1" name="Rounded Rectangle 10"/>
          <p:cNvSpPr/>
          <p:nvPr/>
        </p:nvSpPr>
        <p:spPr>
          <a:xfrm>
            <a:off x="1752600" y="5029200"/>
            <a:ext cx="457200" cy="381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2" name="Freeform 1"/>
          <p:cNvSpPr/>
          <p:nvPr/>
        </p:nvSpPr>
        <p:spPr>
          <a:xfrm>
            <a:off x="544996" y="2623930"/>
            <a:ext cx="793474" cy="2557670"/>
          </a:xfrm>
          <a:custGeom>
            <a:avLst/>
            <a:gdLst>
              <a:gd name="connsiteX0" fmla="*/ 740465 w 793474"/>
              <a:gd name="connsiteY0" fmla="*/ 0 h 2557670"/>
              <a:gd name="connsiteX1" fmla="*/ 77856 w 793474"/>
              <a:gd name="connsiteY1" fmla="*/ 530087 h 2557670"/>
              <a:gd name="connsiteX2" fmla="*/ 38100 w 793474"/>
              <a:gd name="connsiteY2" fmla="*/ 1630018 h 2557670"/>
              <a:gd name="connsiteX3" fmla="*/ 303143 w 793474"/>
              <a:gd name="connsiteY3" fmla="*/ 2332383 h 2557670"/>
              <a:gd name="connsiteX4" fmla="*/ 793474 w 793474"/>
              <a:gd name="connsiteY4" fmla="*/ 2557670 h 2557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474" h="2557670">
                <a:moveTo>
                  <a:pt x="740465" y="0"/>
                </a:moveTo>
                <a:cubicBezTo>
                  <a:pt x="467691" y="129208"/>
                  <a:pt x="194917" y="258417"/>
                  <a:pt x="77856" y="530087"/>
                </a:cubicBezTo>
                <a:cubicBezTo>
                  <a:pt x="-39205" y="801757"/>
                  <a:pt x="552" y="1329635"/>
                  <a:pt x="38100" y="1630018"/>
                </a:cubicBezTo>
                <a:cubicBezTo>
                  <a:pt x="75648" y="1930401"/>
                  <a:pt x="177247" y="2177774"/>
                  <a:pt x="303143" y="2332383"/>
                </a:cubicBezTo>
                <a:cubicBezTo>
                  <a:pt x="429039" y="2486992"/>
                  <a:pt x="611256" y="2522331"/>
                  <a:pt x="793474" y="2557670"/>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3" name="Freeform 2"/>
          <p:cNvSpPr/>
          <p:nvPr/>
        </p:nvSpPr>
        <p:spPr>
          <a:xfrm>
            <a:off x="556591" y="3366052"/>
            <a:ext cx="768626" cy="728870"/>
          </a:xfrm>
          <a:custGeom>
            <a:avLst/>
            <a:gdLst>
              <a:gd name="connsiteX0" fmla="*/ 768626 w 768626"/>
              <a:gd name="connsiteY0" fmla="*/ 0 h 728870"/>
              <a:gd name="connsiteX1" fmla="*/ 225287 w 768626"/>
              <a:gd name="connsiteY1" fmla="*/ 318052 h 728870"/>
              <a:gd name="connsiteX2" fmla="*/ 0 w 768626"/>
              <a:gd name="connsiteY2" fmla="*/ 728870 h 728870"/>
            </a:gdLst>
            <a:ahLst/>
            <a:cxnLst>
              <a:cxn ang="0">
                <a:pos x="connsiteX0" y="connsiteY0"/>
              </a:cxn>
              <a:cxn ang="0">
                <a:pos x="connsiteX1" y="connsiteY1"/>
              </a:cxn>
              <a:cxn ang="0">
                <a:pos x="connsiteX2" y="connsiteY2"/>
              </a:cxn>
            </a:cxnLst>
            <a:rect l="l" t="t" r="r" b="b"/>
            <a:pathLst>
              <a:path w="768626" h="728870">
                <a:moveTo>
                  <a:pt x="768626" y="0"/>
                </a:moveTo>
                <a:cubicBezTo>
                  <a:pt x="561008" y="98287"/>
                  <a:pt x="353391" y="196574"/>
                  <a:pt x="225287" y="318052"/>
                </a:cubicBezTo>
                <a:cubicBezTo>
                  <a:pt x="97183" y="439530"/>
                  <a:pt x="48591" y="584200"/>
                  <a:pt x="0" y="72887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2" name="Freeform 11"/>
          <p:cNvSpPr/>
          <p:nvPr/>
        </p:nvSpPr>
        <p:spPr>
          <a:xfrm>
            <a:off x="636104" y="4068417"/>
            <a:ext cx="742122" cy="450574"/>
          </a:xfrm>
          <a:custGeom>
            <a:avLst/>
            <a:gdLst>
              <a:gd name="connsiteX0" fmla="*/ 742122 w 742122"/>
              <a:gd name="connsiteY0" fmla="*/ 0 h 450574"/>
              <a:gd name="connsiteX1" fmla="*/ 265044 w 742122"/>
              <a:gd name="connsiteY1" fmla="*/ 106018 h 450574"/>
              <a:gd name="connsiteX2" fmla="*/ 0 w 742122"/>
              <a:gd name="connsiteY2" fmla="*/ 450574 h 450574"/>
            </a:gdLst>
            <a:ahLst/>
            <a:cxnLst>
              <a:cxn ang="0">
                <a:pos x="connsiteX0" y="connsiteY0"/>
              </a:cxn>
              <a:cxn ang="0">
                <a:pos x="connsiteX1" y="connsiteY1"/>
              </a:cxn>
              <a:cxn ang="0">
                <a:pos x="connsiteX2" y="connsiteY2"/>
              </a:cxn>
            </a:cxnLst>
            <a:rect l="l" t="t" r="r" b="b"/>
            <a:pathLst>
              <a:path w="742122" h="450574">
                <a:moveTo>
                  <a:pt x="742122" y="0"/>
                </a:moveTo>
                <a:cubicBezTo>
                  <a:pt x="565426" y="15461"/>
                  <a:pt x="388731" y="30922"/>
                  <a:pt x="265044" y="106018"/>
                </a:cubicBezTo>
                <a:cubicBezTo>
                  <a:pt x="141357" y="181114"/>
                  <a:pt x="0" y="450574"/>
                  <a:pt x="0" y="45057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Freeform 12"/>
          <p:cNvSpPr/>
          <p:nvPr/>
        </p:nvSpPr>
        <p:spPr>
          <a:xfrm>
            <a:off x="938276" y="4770783"/>
            <a:ext cx="386941" cy="344556"/>
          </a:xfrm>
          <a:custGeom>
            <a:avLst/>
            <a:gdLst>
              <a:gd name="connsiteX0" fmla="*/ 386941 w 386941"/>
              <a:gd name="connsiteY0" fmla="*/ 0 h 344556"/>
              <a:gd name="connsiteX1" fmla="*/ 29133 w 386941"/>
              <a:gd name="connsiteY1" fmla="*/ 53008 h 344556"/>
              <a:gd name="connsiteX2" fmla="*/ 29133 w 386941"/>
              <a:gd name="connsiteY2" fmla="*/ 198782 h 344556"/>
              <a:gd name="connsiteX3" fmla="*/ 95394 w 386941"/>
              <a:gd name="connsiteY3" fmla="*/ 344556 h 344556"/>
            </a:gdLst>
            <a:ahLst/>
            <a:cxnLst>
              <a:cxn ang="0">
                <a:pos x="connsiteX0" y="connsiteY0"/>
              </a:cxn>
              <a:cxn ang="0">
                <a:pos x="connsiteX1" y="connsiteY1"/>
              </a:cxn>
              <a:cxn ang="0">
                <a:pos x="connsiteX2" y="connsiteY2"/>
              </a:cxn>
              <a:cxn ang="0">
                <a:pos x="connsiteX3" y="connsiteY3"/>
              </a:cxn>
            </a:cxnLst>
            <a:rect l="l" t="t" r="r" b="b"/>
            <a:pathLst>
              <a:path w="386941" h="344556">
                <a:moveTo>
                  <a:pt x="386941" y="0"/>
                </a:moveTo>
                <a:cubicBezTo>
                  <a:pt x="237854" y="9939"/>
                  <a:pt x="88768" y="19878"/>
                  <a:pt x="29133" y="53008"/>
                </a:cubicBezTo>
                <a:cubicBezTo>
                  <a:pt x="-30502" y="86138"/>
                  <a:pt x="18090" y="150191"/>
                  <a:pt x="29133" y="198782"/>
                </a:cubicBezTo>
                <a:cubicBezTo>
                  <a:pt x="40176" y="247373"/>
                  <a:pt x="67785" y="295964"/>
                  <a:pt x="95394" y="344556"/>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A217EF-0505-4C33-BB20-8A8DF2039023}" type="slidenum">
              <a:rPr lang="en-US" smtClean="0"/>
              <a:pPr/>
              <a:t>22</a:t>
            </a:fld>
            <a:endParaRPr lang="en-US"/>
          </a:p>
        </p:txBody>
      </p:sp>
      <p:sp>
        <p:nvSpPr>
          <p:cNvPr id="5" name="Content Placeholder 4"/>
          <p:cNvSpPr>
            <a:spLocks noGrp="1"/>
          </p:cNvSpPr>
          <p:nvPr>
            <p:ph idx="1"/>
          </p:nvPr>
        </p:nvSpPr>
        <p:spPr/>
        <p:txBody>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1000"/>
            <a:ext cx="84582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5029200"/>
            <a:ext cx="84582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9825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for rule of inference</a:t>
            </a:r>
          </a:p>
        </p:txBody>
      </p:sp>
      <p:sp>
        <p:nvSpPr>
          <p:cNvPr id="3" name="Content Placeholder 2"/>
          <p:cNvSpPr>
            <a:spLocks noGrp="1"/>
          </p:cNvSpPr>
          <p:nvPr>
            <p:ph idx="1"/>
          </p:nvPr>
        </p:nvSpPr>
        <p:spPr/>
        <p:txBody>
          <a:bodyPr/>
          <a:lstStyle/>
          <a:p>
            <a:r>
              <a:rPr lang="en-US" dirty="0"/>
              <a:t>Example: A Valid Argument </a:t>
            </a:r>
          </a:p>
          <a:p>
            <a:r>
              <a:rPr lang="en-US" b="1" dirty="0">
                <a:solidFill>
                  <a:srgbClr val="00B050"/>
                </a:solidFill>
              </a:rPr>
              <a:t>“You are a intelligent student.”</a:t>
            </a:r>
          </a:p>
          <a:p>
            <a:r>
              <a:rPr lang="en-US" b="1" dirty="0">
                <a:solidFill>
                  <a:srgbClr val="00B050"/>
                </a:solidFill>
              </a:rPr>
              <a:t> “If you are a intelligent student, then you can avail scholarship.” </a:t>
            </a:r>
          </a:p>
          <a:p>
            <a:r>
              <a:rPr lang="en-US" dirty="0"/>
              <a:t>Therefore, “</a:t>
            </a:r>
            <a:r>
              <a:rPr lang="en-US" dirty="0">
                <a:solidFill>
                  <a:srgbClr val="0070C0"/>
                </a:solidFill>
              </a:rPr>
              <a:t>You can avail scholarship</a:t>
            </a:r>
            <a:r>
              <a:rPr lang="en-US" dirty="0"/>
              <a:t>.”</a:t>
            </a:r>
          </a:p>
          <a:p>
            <a:endParaRPr lang="en-US" dirty="0"/>
          </a:p>
        </p:txBody>
      </p:sp>
      <p:sp>
        <p:nvSpPr>
          <p:cNvPr id="4" name="Slide Number Placeholder 3"/>
          <p:cNvSpPr>
            <a:spLocks noGrp="1"/>
          </p:cNvSpPr>
          <p:nvPr>
            <p:ph type="sldNum" sz="quarter" idx="12"/>
          </p:nvPr>
        </p:nvSpPr>
        <p:spPr/>
        <p:txBody>
          <a:bodyPr/>
          <a:lstStyle/>
          <a:p>
            <a:fld id="{9CA217EF-0505-4C33-BB20-8A8DF2039023}" type="slidenum">
              <a:rPr lang="en-US" smtClean="0"/>
              <a:pPr/>
              <a:t>23</a:t>
            </a:fld>
            <a:endParaRPr lang="en-US"/>
          </a:p>
        </p:txBody>
      </p:sp>
      <p:pic>
        <p:nvPicPr>
          <p:cNvPr id="5" name="Picture 4" descr="addin_tmp.png"/>
          <p:cNvPicPr>
            <a:picLocks noChangeAspect="1"/>
          </p:cNvPicPr>
          <p:nvPr>
            <p:custDataLst>
              <p:tags r:id="rId1"/>
            </p:custDataLst>
          </p:nvPr>
        </p:nvPicPr>
        <p:blipFill>
          <a:blip r:embed="rId3" cstate="print"/>
          <a:stretch>
            <a:fillRect/>
          </a:stretch>
        </p:blipFill>
        <p:spPr>
          <a:xfrm>
            <a:off x="3505200" y="4191000"/>
            <a:ext cx="1345883" cy="1194435"/>
          </a:xfrm>
          <a:prstGeom prst="rect">
            <a:avLst/>
          </a:prstGeom>
          <a:ln w="38100">
            <a:solidFill>
              <a:srgbClr val="FF0000"/>
            </a:solidFill>
          </a:ln>
        </p:spPr>
      </p:pic>
    </p:spTree>
    <p:extLst>
      <p:ext uri="{BB962C8B-B14F-4D97-AF65-F5344CB8AC3E}">
        <p14:creationId xmlns:p14="http://schemas.microsoft.com/office/powerpoint/2010/main" val="1117990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90600"/>
          </a:xfrm>
        </p:spPr>
        <p:txBody>
          <a:bodyPr/>
          <a:lstStyle/>
          <a:p>
            <a:r>
              <a:rPr lang="en-US" dirty="0"/>
              <a:t>Arrive the conclusion:</a:t>
            </a:r>
          </a:p>
        </p:txBody>
      </p:sp>
      <p:sp>
        <p:nvSpPr>
          <p:cNvPr id="3" name="Content Placeholder 2"/>
          <p:cNvSpPr>
            <a:spLocks noGrp="1"/>
          </p:cNvSpPr>
          <p:nvPr>
            <p:ph idx="1"/>
          </p:nvPr>
        </p:nvSpPr>
        <p:spPr>
          <a:xfrm>
            <a:off x="457200" y="990600"/>
            <a:ext cx="8229600" cy="4876800"/>
          </a:xfrm>
        </p:spPr>
        <p:txBody>
          <a:bodyPr>
            <a:noAutofit/>
          </a:bodyPr>
          <a:lstStyle/>
          <a:p>
            <a:pPr marL="457200" indent="-457200">
              <a:buFont typeface="+mj-lt"/>
              <a:buAutoNum type="arabicPeriod"/>
            </a:pPr>
            <a:r>
              <a:rPr lang="en-US" sz="2000" b="1" i="1" dirty="0">
                <a:latin typeface="Times New Roman" pitchFamily="18" charset="0"/>
                <a:cs typeface="Times New Roman" pitchFamily="18" charset="0"/>
              </a:rPr>
              <a:t>p</a:t>
            </a:r>
            <a:endParaRPr lang="en-US" sz="2000" dirty="0">
              <a:latin typeface="Times New Roman" pitchFamily="18" charset="0"/>
              <a:cs typeface="Times New Roman" pitchFamily="18" charset="0"/>
            </a:endParaRPr>
          </a:p>
          <a:p>
            <a:pPr marL="457200" indent="-457200">
              <a:buFont typeface="+mj-lt"/>
              <a:buAutoNum type="arabicPeriod"/>
            </a:pPr>
            <a:r>
              <a:rPr lang="en-US" sz="2000" b="1" i="1" dirty="0">
                <a:latin typeface="Times New Roman" pitchFamily="18" charset="0"/>
                <a:cs typeface="Times New Roman" pitchFamily="18" charset="0"/>
              </a:rPr>
              <a:t>p </a:t>
            </a:r>
            <a:r>
              <a:rPr lang="en-US" sz="2000" b="1" i="1" dirty="0">
                <a:latin typeface="Times New Roman" pitchFamily="18" charset="0"/>
                <a:cs typeface="Times New Roman" pitchFamily="18" charset="0"/>
                <a:sym typeface="Symbol"/>
              </a:rPr>
              <a:t></a:t>
            </a:r>
            <a:r>
              <a:rPr lang="en-US" sz="2000" b="1" i="1" dirty="0">
                <a:latin typeface="Times New Roman" pitchFamily="18" charset="0"/>
                <a:cs typeface="Times New Roman" pitchFamily="18" charset="0"/>
              </a:rPr>
              <a:t> q</a:t>
            </a:r>
            <a:endParaRPr lang="en-US" sz="2000" dirty="0">
              <a:latin typeface="Times New Roman" pitchFamily="18" charset="0"/>
              <a:cs typeface="Times New Roman" pitchFamily="18" charset="0"/>
            </a:endParaRPr>
          </a:p>
          <a:p>
            <a:pPr marL="457200" indent="-457200">
              <a:buFont typeface="+mj-lt"/>
              <a:buAutoNum type="arabicPeriod"/>
            </a:pPr>
            <a:r>
              <a:rPr lang="en-US" sz="2000" b="1" i="1" dirty="0">
                <a:latin typeface="Times New Roman" pitchFamily="18" charset="0"/>
                <a:cs typeface="Times New Roman" pitchFamily="18" charset="0"/>
              </a:rPr>
              <a:t>s </a:t>
            </a:r>
            <a:r>
              <a:rPr lang="en-US" sz="2000" b="1" i="1" dirty="0">
                <a:latin typeface="Times New Roman" pitchFamily="18" charset="0"/>
                <a:cs typeface="Times New Roman" pitchFamily="18" charset="0"/>
                <a:sym typeface="Symbol"/>
              </a:rPr>
              <a:t></a:t>
            </a:r>
            <a:r>
              <a:rPr lang="en-US" sz="2000" b="1" i="1" dirty="0">
                <a:latin typeface="Times New Roman" pitchFamily="18" charset="0"/>
                <a:cs typeface="Times New Roman" pitchFamily="18" charset="0"/>
              </a:rPr>
              <a:t> r</a:t>
            </a:r>
            <a:endParaRPr lang="en-US" sz="2000" dirty="0">
              <a:latin typeface="Times New Roman" pitchFamily="18" charset="0"/>
              <a:cs typeface="Times New Roman" pitchFamily="18" charset="0"/>
            </a:endParaRPr>
          </a:p>
          <a:p>
            <a:pPr marL="457200" indent="-457200">
              <a:buFont typeface="+mj-lt"/>
              <a:buAutoNum type="arabicPeriod"/>
            </a:pPr>
            <a:r>
              <a:rPr lang="en-US" sz="2000" b="1" i="1" dirty="0">
                <a:latin typeface="Times New Roman" pitchFamily="18" charset="0"/>
                <a:cs typeface="Times New Roman" pitchFamily="18" charset="0"/>
              </a:rPr>
              <a:t>r </a:t>
            </a:r>
            <a:r>
              <a:rPr lang="en-US" sz="2000" b="1" i="1" dirty="0">
                <a:latin typeface="Times New Roman" pitchFamily="18" charset="0"/>
                <a:cs typeface="Times New Roman" pitchFamily="18" charset="0"/>
                <a:sym typeface="Symbol"/>
              </a:rPr>
              <a:t></a:t>
            </a:r>
            <a:r>
              <a:rPr lang="en-US" sz="2000" b="1" i="1" dirty="0">
                <a:latin typeface="Times New Roman" pitchFamily="18" charset="0"/>
                <a:cs typeface="Times New Roman" pitchFamily="18" charset="0"/>
              </a:rPr>
              <a:t> </a:t>
            </a:r>
            <a:r>
              <a:rPr lang="en-US" sz="2000" b="1" i="1" dirty="0">
                <a:latin typeface="Times New Roman" pitchFamily="18" charset="0"/>
                <a:cs typeface="Times New Roman" pitchFamily="18" charset="0"/>
                <a:sym typeface="Symbol"/>
              </a:rPr>
              <a:t></a:t>
            </a:r>
            <a:r>
              <a:rPr lang="en-US" sz="2000" b="1" i="1" dirty="0">
                <a:latin typeface="Times New Roman" pitchFamily="18" charset="0"/>
                <a:cs typeface="Times New Roman" pitchFamily="18" charset="0"/>
              </a:rPr>
              <a:t>q</a:t>
            </a:r>
            <a:r>
              <a:rPr lang="en-US" sz="2000" b="1" i="1" dirty="0">
                <a:solidFill>
                  <a:srgbClr val="FF0000"/>
                </a:solidFill>
                <a:latin typeface="Times New Roman" pitchFamily="18" charset="0"/>
                <a:cs typeface="Times New Roman" pitchFamily="18" charset="0"/>
              </a:rPr>
              <a:t> </a:t>
            </a:r>
            <a:endParaRPr lang="en-US" sz="2000" dirty="0">
              <a:solidFill>
                <a:srgbClr val="FF0000"/>
              </a:solidFill>
              <a:latin typeface="Times New Roman" pitchFamily="18" charset="0"/>
              <a:cs typeface="Times New Roman" pitchFamily="18" charset="0"/>
            </a:endParaRPr>
          </a:p>
          <a:p>
            <a:pPr>
              <a:buNone/>
            </a:pPr>
            <a:r>
              <a:rPr lang="en-US" sz="2000" b="1" i="1" dirty="0">
                <a:solidFill>
                  <a:srgbClr val="FF0000"/>
                </a:solidFill>
                <a:latin typeface="Times New Roman" pitchFamily="18" charset="0"/>
                <a:cs typeface="Times New Roman" pitchFamily="18" charset="0"/>
              </a:rPr>
              <a:t>Arrive at the conclusion:</a:t>
            </a:r>
            <a:endParaRPr lang="en-US" sz="2000" dirty="0">
              <a:solidFill>
                <a:srgbClr val="FF0000"/>
              </a:solidFill>
              <a:latin typeface="Times New Roman" pitchFamily="18" charset="0"/>
              <a:cs typeface="Times New Roman" pitchFamily="18" charset="0"/>
            </a:endParaRPr>
          </a:p>
          <a:p>
            <a:pPr>
              <a:buNone/>
            </a:pPr>
            <a:r>
              <a:rPr lang="en-US" sz="2000" b="1" dirty="0">
                <a:solidFill>
                  <a:srgbClr val="FF0000"/>
                </a:solidFill>
                <a:latin typeface="Times New Roman" pitchFamily="18" charset="0"/>
                <a:cs typeface="Times New Roman" pitchFamily="18" charset="0"/>
              </a:rPr>
              <a:t> s </a:t>
            </a:r>
            <a:endParaRPr lang="en-US" sz="2000" dirty="0">
              <a:solidFill>
                <a:srgbClr val="FF0000"/>
              </a:solidFill>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 </a:t>
            </a:r>
            <a:r>
              <a:rPr lang="en-US" sz="2000" b="1" u="sng" dirty="0">
                <a:latin typeface="Times New Roman" pitchFamily="18" charset="0"/>
                <a:cs typeface="Times New Roman" pitchFamily="18" charset="0"/>
              </a:rPr>
              <a:t>Step</a:t>
            </a:r>
            <a:r>
              <a:rPr lang="en-US" sz="2000" b="1" dirty="0">
                <a:latin typeface="Times New Roman" pitchFamily="18" charset="0"/>
                <a:cs typeface="Times New Roman" pitchFamily="18" charset="0"/>
              </a:rPr>
              <a:t>					</a:t>
            </a:r>
            <a:r>
              <a:rPr lang="en-US" sz="2000" b="1" u="sng" dirty="0">
                <a:latin typeface="Times New Roman" pitchFamily="18" charset="0"/>
                <a:cs typeface="Times New Roman" pitchFamily="18" charset="0"/>
              </a:rPr>
              <a:t>Reason</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1) p					Premise</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2) p </a:t>
            </a:r>
            <a:r>
              <a:rPr lang="en-US" sz="2000" b="1" dirty="0">
                <a:latin typeface="Times New Roman" pitchFamily="18" charset="0"/>
                <a:cs typeface="Times New Roman" pitchFamily="18" charset="0"/>
                <a:sym typeface="Symbol"/>
              </a:rPr>
              <a:t></a:t>
            </a:r>
            <a:r>
              <a:rPr lang="en-US" sz="2000" b="1" dirty="0">
                <a:latin typeface="Times New Roman" pitchFamily="18" charset="0"/>
                <a:cs typeface="Times New Roman" pitchFamily="18" charset="0"/>
              </a:rPr>
              <a:t> q				Premise</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3) q					Modus Ponens (using 1, 2)</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4) r </a:t>
            </a:r>
            <a:r>
              <a:rPr lang="en-US" sz="2000" b="1" dirty="0">
                <a:latin typeface="Times New Roman" pitchFamily="18" charset="0"/>
                <a:cs typeface="Times New Roman" pitchFamily="18" charset="0"/>
                <a:sym typeface="Symbol"/>
              </a:rPr>
              <a:t></a:t>
            </a:r>
            <a:r>
              <a:rPr lang="en-US" sz="2000" b="1" dirty="0">
                <a:latin typeface="Times New Roman" pitchFamily="18" charset="0"/>
                <a:cs typeface="Times New Roman" pitchFamily="18" charset="0"/>
              </a:rPr>
              <a:t> </a:t>
            </a:r>
            <a:r>
              <a:rPr lang="en-US" sz="2000" b="1" dirty="0">
                <a:latin typeface="Times New Roman" pitchFamily="18" charset="0"/>
                <a:cs typeface="Times New Roman" pitchFamily="18" charset="0"/>
                <a:sym typeface="Symbol"/>
              </a:rPr>
              <a:t></a:t>
            </a:r>
            <a:r>
              <a:rPr lang="en-US" sz="2000" b="1" dirty="0">
                <a:latin typeface="Times New Roman" pitchFamily="18" charset="0"/>
                <a:cs typeface="Times New Roman" pitchFamily="18" charset="0"/>
              </a:rPr>
              <a:t>q				Premise</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5) </a:t>
            </a:r>
            <a:r>
              <a:rPr lang="en-US" sz="2000" b="1" dirty="0">
                <a:solidFill>
                  <a:srgbClr val="FF0000"/>
                </a:solidFill>
                <a:latin typeface="Times New Roman" pitchFamily="18" charset="0"/>
                <a:cs typeface="Times New Roman" pitchFamily="18" charset="0"/>
              </a:rPr>
              <a:t>q </a:t>
            </a:r>
            <a:r>
              <a:rPr lang="en-US" sz="2000" b="1" dirty="0">
                <a:solidFill>
                  <a:srgbClr val="FF0000"/>
                </a:solidFill>
                <a:latin typeface="Times New Roman" pitchFamily="18" charset="0"/>
                <a:cs typeface="Times New Roman" pitchFamily="18" charset="0"/>
                <a:sym typeface="Symbol"/>
              </a:rPr>
              <a:t></a:t>
            </a:r>
            <a:r>
              <a:rPr lang="en-US" sz="2000" b="1" dirty="0">
                <a:solidFill>
                  <a:srgbClr val="FF000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sym typeface="Symbol"/>
              </a:rPr>
              <a:t></a:t>
            </a:r>
            <a:r>
              <a:rPr lang="en-US" sz="2000" b="1" dirty="0">
                <a:solidFill>
                  <a:srgbClr val="FF0000"/>
                </a:solidFill>
                <a:latin typeface="Times New Roman" pitchFamily="18" charset="0"/>
                <a:cs typeface="Times New Roman" pitchFamily="18" charset="0"/>
              </a:rPr>
              <a:t>r</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Contrapositive</a:t>
            </a:r>
            <a:r>
              <a:rPr lang="en-US" sz="2000" b="1" dirty="0">
                <a:latin typeface="Times New Roman" pitchFamily="18" charset="0"/>
                <a:cs typeface="Times New Roman" pitchFamily="18" charset="0"/>
              </a:rPr>
              <a:t> statement of 4</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6) </a:t>
            </a:r>
            <a:r>
              <a:rPr lang="en-US" sz="2000" b="1" dirty="0">
                <a:latin typeface="Times New Roman" pitchFamily="18" charset="0"/>
                <a:cs typeface="Times New Roman" pitchFamily="18" charset="0"/>
                <a:sym typeface="Symbol"/>
              </a:rPr>
              <a:t></a:t>
            </a:r>
            <a:r>
              <a:rPr lang="en-US" sz="2000" b="1" dirty="0">
                <a:latin typeface="Times New Roman" pitchFamily="18" charset="0"/>
                <a:cs typeface="Times New Roman" pitchFamily="18" charset="0"/>
              </a:rPr>
              <a:t>r					Modus </a:t>
            </a:r>
            <a:r>
              <a:rPr lang="en-US" sz="2000" b="1" dirty="0" err="1">
                <a:latin typeface="Times New Roman" pitchFamily="18" charset="0"/>
                <a:cs typeface="Times New Roman" pitchFamily="18" charset="0"/>
              </a:rPr>
              <a:t>Ponenes</a:t>
            </a:r>
            <a:r>
              <a:rPr lang="en-US" sz="2000" b="1" dirty="0">
                <a:latin typeface="Times New Roman" pitchFamily="18" charset="0"/>
                <a:cs typeface="Times New Roman" pitchFamily="18" charset="0"/>
              </a:rPr>
              <a:t> (using 3, 5)</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7) s </a:t>
            </a:r>
            <a:r>
              <a:rPr lang="en-US" sz="2000" b="1" dirty="0">
                <a:latin typeface="Times New Roman" pitchFamily="18" charset="0"/>
                <a:cs typeface="Times New Roman" pitchFamily="18" charset="0"/>
                <a:sym typeface="Symbol"/>
              </a:rPr>
              <a:t></a:t>
            </a:r>
            <a:r>
              <a:rPr lang="en-US" sz="2000" b="1" dirty="0">
                <a:latin typeface="Times New Roman" pitchFamily="18" charset="0"/>
                <a:cs typeface="Times New Roman" pitchFamily="18" charset="0"/>
              </a:rPr>
              <a:t> r					Premise</a:t>
            </a:r>
            <a:endParaRPr lang="en-US" sz="2000"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8) s					Disjunctive Syllogism (using 6, 7)</a:t>
            </a:r>
            <a:endParaRPr lang="en-US" sz="2000" dirty="0">
              <a:latin typeface="Times New Roman" pitchFamily="18" charset="0"/>
              <a:cs typeface="Times New Roman" pitchFamily="18" charset="0"/>
            </a:endParaRPr>
          </a:p>
          <a:p>
            <a:pPr marL="228600" indent="-228600">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9CA217EF-0505-4C33-BB20-8A8DF203902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Use the rules of inference to affirm that the arguments below are valid.</a:t>
            </a:r>
          </a:p>
        </p:txBody>
      </p:sp>
      <p:sp>
        <p:nvSpPr>
          <p:cNvPr id="4" name="Slide Number Placeholder 3"/>
          <p:cNvSpPr>
            <a:spLocks noGrp="1"/>
          </p:cNvSpPr>
          <p:nvPr>
            <p:ph type="sldNum" sz="quarter" idx="12"/>
          </p:nvPr>
        </p:nvSpPr>
        <p:spPr/>
        <p:txBody>
          <a:bodyPr/>
          <a:lstStyle/>
          <a:p>
            <a:fld id="{9CA217EF-0505-4C33-BB20-8A8DF2039023}" type="slidenum">
              <a:rPr lang="en-US" smtClean="0"/>
              <a:pPr/>
              <a:t>25</a:t>
            </a:fld>
            <a:endParaRPr lang="en-US"/>
          </a:p>
        </p:txBody>
      </p:sp>
      <p:sp>
        <p:nvSpPr>
          <p:cNvPr id="6" name="Rectangle 4"/>
          <p:cNvSpPr>
            <a:spLocks noChangeArrowheads="1"/>
          </p:cNvSpPr>
          <p:nvPr/>
        </p:nvSpPr>
        <p:spPr bwMode="auto">
          <a:xfrm>
            <a:off x="0" y="0"/>
            <a:ext cx="9144000" cy="0"/>
          </a:xfrm>
          <a:prstGeom prst="rect">
            <a:avLst/>
          </a:prstGeom>
          <a:solidFill>
            <a:srgbClr val="E0EE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1" indent="-4572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1111"/>
                </a:solidFill>
                <a:effectLst/>
                <a:latin typeface="Times New Roman" pitchFamily="18" charset="0"/>
                <a:cs typeface="Times New Roman" pitchFamily="18" charset="0"/>
              </a:rPr>
              <a:t>1. (p  </a:t>
            </a:r>
            <a:r>
              <a:rPr kumimoji="0" lang="en-US" sz="400" b="0" i="0" u="none" strike="noStrike" cap="none" normalizeH="0" baseline="0">
                <a:ln>
                  <a:noFill/>
                </a:ln>
                <a:solidFill>
                  <a:srgbClr val="001111"/>
                </a:solidFill>
                <a:effectLst/>
                <a:latin typeface="Times New Roman" pitchFamily="18" charset="0"/>
                <a:cs typeface="Times New Roman" pitchFamily="18" charset="0"/>
              </a:rPr>
              <a:t>q</a:t>
            </a:r>
            <a:r>
              <a:rPr kumimoji="0" lang="en-US" sz="1800" b="0" i="0" u="none" strike="noStrike" cap="none" normalizeH="0" baseline="0">
                <a:ln>
                  <a:noFill/>
                </a:ln>
                <a:solidFill>
                  <a:srgbClr val="001111"/>
                </a:solidFill>
                <a:effectLst/>
                <a:latin typeface="Times New Roman" pitchFamily="18" charset="0"/>
                <a:cs typeface="Times New Roman" pitchFamily="18" charset="0"/>
              </a:rPr>
              <a:t>)→(r  </a:t>
            </a:r>
            <a:r>
              <a:rPr kumimoji="0" lang="en-US" sz="400" b="0" i="0" u="none" strike="noStrike" cap="none" normalizeH="0" baseline="0">
                <a:ln>
                  <a:noFill/>
                </a:ln>
                <a:solidFill>
                  <a:srgbClr val="001111"/>
                </a:solidFill>
                <a:effectLst/>
                <a:latin typeface="Times New Roman" pitchFamily="18" charset="0"/>
                <a:cs typeface="Times New Roman" pitchFamily="18" charset="0"/>
              </a:rPr>
              <a:t>~</a:t>
            </a:r>
            <a:r>
              <a:rPr kumimoji="0" lang="en-US" sz="1800" b="0" i="0" u="none" strike="noStrike" cap="none" normalizeH="0" baseline="0">
                <a:ln>
                  <a:noFill/>
                </a:ln>
                <a:solidFill>
                  <a:srgbClr val="001111"/>
                </a:solidFill>
                <a:effectLst/>
                <a:latin typeface="Times New Roman" pitchFamily="18" charset="0"/>
                <a:cs typeface="Times New Roman" pitchFamily="18" charset="0"/>
              </a:rPr>
              <a:t>s)</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1111"/>
                </a:solidFill>
                <a:effectLst/>
                <a:latin typeface="Times New Roman" pitchFamily="18" charset="0"/>
                <a:cs typeface="Times New Roman" pitchFamily="18" charset="0"/>
              </a:rPr>
              <a:t>2. ~r→s</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rgbClr val="001111"/>
                </a:solidFill>
                <a:effectLst/>
                <a:latin typeface="Times New Roman" pitchFamily="18" charset="0"/>
                <a:cs typeface="Times New Roman" pitchFamily="18" charset="0"/>
              </a:rPr>
              <a:t>3. p  </a:t>
            </a:r>
            <a:r>
              <a:rPr kumimoji="0" lang="en-US" sz="400" b="0" i="0" u="none" strike="noStrike" cap="none" normalizeH="0" baseline="0">
                <a:ln>
                  <a:noFill/>
                </a:ln>
                <a:solidFill>
                  <a:srgbClr val="001111"/>
                </a:solidFill>
                <a:effectLst/>
                <a:latin typeface="Times New Roman" pitchFamily="18" charset="0"/>
                <a:cs typeface="Times New Roman" pitchFamily="18" charset="0"/>
              </a:rPr>
              <a:t>q</a:t>
            </a:r>
            <a:endParaRPr kumimoji="0" lang="en-US" sz="1800" b="0" i="0" u="none" strike="noStrike" cap="none" normalizeH="0" baseline="0">
              <a:ln>
                <a:noFill/>
              </a:ln>
              <a:solidFill>
                <a:srgbClr val="00111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001111"/>
              </a:solidFill>
              <a:effectLst/>
              <a:latin typeface="Times New Roman" pitchFamily="18" charset="0"/>
              <a:cs typeface="Times New Roman" pitchFamily="18" charset="0"/>
            </a:endParaRPr>
          </a:p>
        </p:txBody>
      </p:sp>
      <p:pic>
        <p:nvPicPr>
          <p:cNvPr id="2053" name="Picture 5" descr="http://www.zweigmedia.com/RealWorld/logic/wedg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325" y="-549275"/>
            <a:ext cx="76200" cy="76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www.zweigmedia.com/RealWorld/logic/smash.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5225" y="-549275"/>
            <a:ext cx="76200" cy="7620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http://www.zweigmedia.com/RealWorld/logic/wedg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0"/>
            <a:ext cx="76200" cy="762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1424" y="2057400"/>
            <a:ext cx="3560939"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198953" y="4114800"/>
            <a:ext cx="5812425" cy="1569660"/>
          </a:xfrm>
          <a:prstGeom prst="rect">
            <a:avLst/>
          </a:prstGeom>
          <a:noFill/>
        </p:spPr>
        <p:txBody>
          <a:bodyPr wrap="none" rtlCol="0">
            <a:spAutoFit/>
          </a:bodyPr>
          <a:lstStyle/>
          <a:p>
            <a:r>
              <a:rPr lang="en-US" sz="2400" b="1" dirty="0"/>
              <a:t>Prove R</a:t>
            </a:r>
          </a:p>
          <a:p>
            <a:endParaRPr lang="en-US" sz="2400" b="1" dirty="0"/>
          </a:p>
          <a:p>
            <a:r>
              <a:rPr lang="en-US" sz="2400" b="1" dirty="0"/>
              <a:t>Solution :</a:t>
            </a:r>
          </a:p>
          <a:p>
            <a:r>
              <a:rPr lang="en-US" sz="2400" b="1" dirty="0"/>
              <a:t>Modus ponens, simplification, </a:t>
            </a:r>
            <a:r>
              <a:rPr lang="en-US" sz="2400" b="1" dirty="0" err="1"/>
              <a:t>Tollens</a:t>
            </a:r>
            <a:r>
              <a:rPr lang="en-US" sz="2400" b="1" dirty="0"/>
              <a:t> </a:t>
            </a:r>
          </a:p>
        </p:txBody>
      </p:sp>
    </p:spTree>
    <p:extLst>
      <p:ext uri="{BB962C8B-B14F-4D97-AF65-F5344CB8AC3E}">
        <p14:creationId xmlns:p14="http://schemas.microsoft.com/office/powerpoint/2010/main" val="3761692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For premises </a:t>
            </a:r>
          </a:p>
          <a:p>
            <a:endParaRPr lang="en-US" dirty="0"/>
          </a:p>
          <a:p>
            <a:r>
              <a:rPr lang="en-US" dirty="0"/>
              <a:t>Prove:  ~ S:</a:t>
            </a: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9CA217EF-0505-4C33-BB20-8A8DF2039023}" type="slidenum">
              <a:rPr lang="en-US" smtClean="0"/>
              <a:pPr/>
              <a:t>26</a:t>
            </a:fld>
            <a:endParaRPr 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027" y="3124200"/>
            <a:ext cx="6428573" cy="3050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524000"/>
            <a:ext cx="2162577"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478294" y="4431268"/>
            <a:ext cx="312906" cy="369332"/>
          </a:xfrm>
          <a:prstGeom prst="rect">
            <a:avLst/>
          </a:prstGeom>
          <a:noFill/>
        </p:spPr>
        <p:txBody>
          <a:bodyPr wrap="none" rtlCol="0">
            <a:spAutoFit/>
          </a:bodyPr>
          <a:lstStyle/>
          <a:p>
            <a:r>
              <a:rPr lang="en-US" dirty="0"/>
              <a:t>2</a:t>
            </a:r>
          </a:p>
        </p:txBody>
      </p:sp>
    </p:spTree>
    <p:extLst>
      <p:ext uri="{BB962C8B-B14F-4D97-AF65-F5344CB8AC3E}">
        <p14:creationId xmlns:p14="http://schemas.microsoft.com/office/powerpoint/2010/main" val="84116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For premises </a:t>
            </a:r>
          </a:p>
          <a:p>
            <a:endParaRPr lang="en-US" dirty="0"/>
          </a:p>
          <a:p>
            <a:r>
              <a:rPr lang="en-US" dirty="0"/>
              <a:t>Prove:  B</a:t>
            </a:r>
          </a:p>
          <a:p>
            <a:endParaRPr lang="en-US" dirty="0"/>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9CA217EF-0505-4C33-BB20-8A8DF2039023}" type="slidenum">
              <a:rPr lang="en-US" smtClean="0"/>
              <a:pPr/>
              <a:t>27</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259" y="1447800"/>
            <a:ext cx="1828800" cy="895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352800"/>
            <a:ext cx="7085463"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5519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p:txBody>
          <a:bodyPr/>
          <a:lstStyle/>
          <a:p>
            <a:pPr algn="just"/>
            <a:r>
              <a:rPr lang="en-US" dirty="0"/>
              <a:t>: Show that the hypotheses “If you send me an email message, then I will finish writing the program,” </a:t>
            </a:r>
          </a:p>
          <a:p>
            <a:pPr algn="just"/>
            <a:r>
              <a:rPr lang="en-US" dirty="0"/>
              <a:t>“If you do not send me an email message, then I will go to sleep early,” </a:t>
            </a:r>
          </a:p>
          <a:p>
            <a:pPr algn="just"/>
            <a:r>
              <a:rPr lang="en-US" dirty="0"/>
              <a:t>and “If I go to sleep early, then I will wake up feeling refreshed”</a:t>
            </a:r>
          </a:p>
          <a:p>
            <a:pPr algn="just"/>
            <a:endParaRPr lang="en-US" dirty="0"/>
          </a:p>
          <a:p>
            <a:pPr algn="just"/>
            <a:r>
              <a:rPr lang="en-US" dirty="0"/>
              <a:t> lead to the conclusion “If I do not finish writing the program, then I will wake up feeling refreshed.” </a:t>
            </a:r>
          </a:p>
        </p:txBody>
      </p:sp>
      <p:sp>
        <p:nvSpPr>
          <p:cNvPr id="4" name="Slide Number Placeholder 3"/>
          <p:cNvSpPr>
            <a:spLocks noGrp="1"/>
          </p:cNvSpPr>
          <p:nvPr>
            <p:ph type="sldNum" sz="quarter" idx="12"/>
          </p:nvPr>
        </p:nvSpPr>
        <p:spPr/>
        <p:txBody>
          <a:bodyPr/>
          <a:lstStyle/>
          <a:p>
            <a:fld id="{9CA217EF-0505-4C33-BB20-8A8DF2039023}" type="slidenum">
              <a:rPr lang="en-US" smtClean="0"/>
              <a:pPr/>
              <a:t>28</a:t>
            </a:fld>
            <a:endParaRPr lang="en-US"/>
          </a:p>
        </p:txBody>
      </p:sp>
    </p:spTree>
    <p:extLst>
      <p:ext uri="{BB962C8B-B14F-4D97-AF65-F5344CB8AC3E}">
        <p14:creationId xmlns:p14="http://schemas.microsoft.com/office/powerpoint/2010/main" val="4103081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3" name="Content Placeholder 2"/>
          <p:cNvSpPr>
            <a:spLocks noGrp="1"/>
          </p:cNvSpPr>
          <p:nvPr>
            <p:ph idx="1"/>
          </p:nvPr>
        </p:nvSpPr>
        <p:spPr/>
        <p:txBody>
          <a:bodyPr>
            <a:normAutofit/>
          </a:bodyPr>
          <a:lstStyle/>
          <a:p>
            <a:r>
              <a:rPr lang="en-US" sz="2000" dirty="0"/>
              <a:t>p: “You send me an email message” </a:t>
            </a:r>
          </a:p>
          <a:p>
            <a:r>
              <a:rPr lang="en-US" sz="2000" dirty="0"/>
              <a:t>q: “I will finish writing the program” </a:t>
            </a:r>
          </a:p>
          <a:p>
            <a:r>
              <a:rPr lang="en-US" sz="2000" dirty="0"/>
              <a:t>r: “I will go to sleep early” </a:t>
            </a:r>
          </a:p>
          <a:p>
            <a:r>
              <a:rPr lang="en-US" sz="2000" dirty="0"/>
              <a:t>s: “I will wake up feeling refreshed.” </a:t>
            </a:r>
          </a:p>
          <a:p>
            <a:r>
              <a:rPr lang="en-US" dirty="0">
                <a:solidFill>
                  <a:srgbClr val="FF0000"/>
                </a:solidFill>
              </a:rPr>
              <a:t>Then the hypotheses are </a:t>
            </a:r>
            <a:r>
              <a:rPr lang="en-US" dirty="0" err="1">
                <a:solidFill>
                  <a:srgbClr val="FF0000"/>
                </a:solidFill>
              </a:rPr>
              <a:t>p→q</a:t>
            </a:r>
            <a:r>
              <a:rPr lang="en-US" dirty="0">
                <a:solidFill>
                  <a:srgbClr val="FF0000"/>
                </a:solidFill>
              </a:rPr>
              <a:t>, ¬</a:t>
            </a:r>
            <a:r>
              <a:rPr lang="en-US" dirty="0" err="1">
                <a:solidFill>
                  <a:srgbClr val="FF0000"/>
                </a:solidFill>
              </a:rPr>
              <a:t>p→r</a:t>
            </a:r>
            <a:r>
              <a:rPr lang="en-US" dirty="0">
                <a:solidFill>
                  <a:srgbClr val="FF0000"/>
                </a:solidFill>
              </a:rPr>
              <a:t>, r →s and the conclusion is ¬</a:t>
            </a:r>
            <a:r>
              <a:rPr lang="en-US" dirty="0" err="1">
                <a:solidFill>
                  <a:srgbClr val="FF0000"/>
                </a:solidFill>
              </a:rPr>
              <a:t>q→s</a:t>
            </a:r>
            <a:r>
              <a:rPr lang="en-US" dirty="0">
                <a:solidFill>
                  <a:srgbClr val="FF0000"/>
                </a:solidFill>
              </a:rPr>
              <a:t>. </a:t>
            </a:r>
          </a:p>
        </p:txBody>
      </p:sp>
      <p:sp>
        <p:nvSpPr>
          <p:cNvPr id="4" name="Slide Number Placeholder 3"/>
          <p:cNvSpPr>
            <a:spLocks noGrp="1"/>
          </p:cNvSpPr>
          <p:nvPr>
            <p:ph type="sldNum" sz="quarter" idx="12"/>
          </p:nvPr>
        </p:nvSpPr>
        <p:spPr/>
        <p:txBody>
          <a:bodyPr/>
          <a:lstStyle/>
          <a:p>
            <a:fld id="{9CA217EF-0505-4C33-BB20-8A8DF2039023}" type="slidenum">
              <a:rPr lang="en-US" smtClean="0"/>
              <a:pPr/>
              <a:t>29</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907436"/>
            <a:ext cx="7785988" cy="2188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946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p:txBody>
          <a:bodyPr/>
          <a:lstStyle/>
          <a:p>
            <a:pPr lvl="0"/>
            <a:r>
              <a:rPr lang="en-US" dirty="0"/>
              <a:t>Find the argument form for the following argument and determine whether it is valid. Can we conclude that the conclusion is true if the premises are true?</a:t>
            </a:r>
          </a:p>
          <a:p>
            <a:r>
              <a:rPr lang="en-US" dirty="0">
                <a:solidFill>
                  <a:srgbClr val="FF0000"/>
                </a:solidFill>
              </a:rPr>
              <a:t>If Socrates is human, then Socrates is mortal. </a:t>
            </a:r>
          </a:p>
          <a:p>
            <a:r>
              <a:rPr lang="en-US" dirty="0">
                <a:solidFill>
                  <a:srgbClr val="FF0000"/>
                </a:solidFill>
              </a:rPr>
              <a:t>Socrates is human. </a:t>
            </a:r>
          </a:p>
          <a:p>
            <a:r>
              <a:rPr lang="en-US" dirty="0">
                <a:solidFill>
                  <a:srgbClr val="FF0000"/>
                </a:solidFill>
              </a:rPr>
              <a:t>∴ Socrates is mortal.</a:t>
            </a:r>
          </a:p>
          <a:p>
            <a:r>
              <a:rPr lang="en-US" b="1" dirty="0"/>
              <a:t>MODUS PONENS</a:t>
            </a:r>
            <a:endParaRPr lang="en-US" dirty="0"/>
          </a:p>
          <a:p>
            <a:endParaRPr lang="en-US" dirty="0"/>
          </a:p>
        </p:txBody>
      </p:sp>
      <p:sp>
        <p:nvSpPr>
          <p:cNvPr id="4" name="Slide Number Placeholder 3"/>
          <p:cNvSpPr>
            <a:spLocks noGrp="1"/>
          </p:cNvSpPr>
          <p:nvPr>
            <p:ph type="sldNum" sz="quarter" idx="12"/>
          </p:nvPr>
        </p:nvSpPr>
        <p:spPr/>
        <p:txBody>
          <a:bodyPr/>
          <a:lstStyle/>
          <a:p>
            <a:fld id="{9CA217EF-0505-4C33-BB20-8A8DF2039023}"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p:txBody>
          <a:bodyPr>
            <a:normAutofit lnSpcReduction="10000"/>
          </a:bodyPr>
          <a:lstStyle/>
          <a:p>
            <a:r>
              <a:rPr lang="en-US" dirty="0">
                <a:solidFill>
                  <a:srgbClr val="FF0000"/>
                </a:solidFill>
              </a:rPr>
              <a:t>M -&gt; C: If you get enough money, you can buy a new car.</a:t>
            </a:r>
            <a:br>
              <a:rPr lang="en-US" dirty="0">
                <a:solidFill>
                  <a:srgbClr val="FF0000"/>
                </a:solidFill>
              </a:rPr>
            </a:br>
            <a:r>
              <a:rPr lang="en-US" dirty="0">
                <a:solidFill>
                  <a:srgbClr val="FF0000"/>
                </a:solidFill>
              </a:rPr>
              <a:t>~C: You cannot buy a new car.</a:t>
            </a:r>
            <a:br>
              <a:rPr lang="en-US" dirty="0"/>
            </a:br>
            <a:r>
              <a:rPr lang="en-US" dirty="0"/>
              <a:t>----------</a:t>
            </a:r>
            <a:br>
              <a:rPr lang="en-US" dirty="0"/>
            </a:br>
            <a:r>
              <a:rPr lang="en-US" dirty="0"/>
              <a:t>~M: You didn't get enough money.</a:t>
            </a:r>
          </a:p>
          <a:p>
            <a:pPr marL="0" indent="0">
              <a:buNone/>
            </a:pPr>
            <a:endParaRPr lang="en-US" dirty="0"/>
          </a:p>
          <a:p>
            <a:r>
              <a:rPr lang="en-US" sz="3600" dirty="0">
                <a:solidFill>
                  <a:srgbClr val="FF0000"/>
                </a:solidFill>
              </a:rPr>
              <a:t>Modus </a:t>
            </a:r>
            <a:r>
              <a:rPr lang="en-US" sz="3600" dirty="0" err="1">
                <a:solidFill>
                  <a:srgbClr val="FF0000"/>
                </a:solidFill>
              </a:rPr>
              <a:t>tollens</a:t>
            </a:r>
            <a:endParaRPr lang="en-US" sz="3600" dirty="0">
              <a:solidFill>
                <a:srgbClr val="FF0000"/>
              </a:solidFill>
            </a:endParaRPr>
          </a:p>
          <a:p>
            <a:endParaRPr lang="en-US" dirty="0"/>
          </a:p>
          <a:p>
            <a:endParaRPr lang="en-US" dirty="0"/>
          </a:p>
          <a:p>
            <a:r>
              <a:rPr lang="en-US" dirty="0"/>
              <a:t>S -&gt; F: </a:t>
            </a:r>
            <a:r>
              <a:rPr lang="en-US" dirty="0">
                <a:solidFill>
                  <a:srgbClr val="FF0000"/>
                </a:solidFill>
              </a:rPr>
              <a:t>If there is smoke, there is a fire.</a:t>
            </a:r>
            <a:br>
              <a:rPr lang="en-US" dirty="0">
                <a:solidFill>
                  <a:srgbClr val="FF0000"/>
                </a:solidFill>
              </a:rPr>
            </a:br>
            <a:r>
              <a:rPr lang="en-US" dirty="0"/>
              <a:t>~F: </a:t>
            </a:r>
            <a:r>
              <a:rPr lang="en-US" dirty="0">
                <a:solidFill>
                  <a:srgbClr val="FF0000"/>
                </a:solidFill>
              </a:rPr>
              <a:t>There is no fire.</a:t>
            </a:r>
            <a:br>
              <a:rPr lang="en-US" dirty="0"/>
            </a:br>
            <a:r>
              <a:rPr lang="en-US" dirty="0"/>
              <a:t>----------</a:t>
            </a:r>
            <a:br>
              <a:rPr lang="en-US" dirty="0"/>
            </a:br>
            <a:r>
              <a:rPr lang="en-US" dirty="0"/>
              <a:t>~S: </a:t>
            </a:r>
            <a:r>
              <a:rPr lang="en-US" dirty="0">
                <a:solidFill>
                  <a:srgbClr val="FF0000"/>
                </a:solidFill>
              </a:rPr>
              <a:t>There is no smoke.</a:t>
            </a:r>
          </a:p>
        </p:txBody>
      </p:sp>
      <p:sp>
        <p:nvSpPr>
          <p:cNvPr id="4" name="Slide Number Placeholder 3"/>
          <p:cNvSpPr>
            <a:spLocks noGrp="1"/>
          </p:cNvSpPr>
          <p:nvPr>
            <p:ph type="sldNum" sz="quarter" idx="12"/>
          </p:nvPr>
        </p:nvSpPr>
        <p:spPr/>
        <p:txBody>
          <a:bodyPr/>
          <a:lstStyle/>
          <a:p>
            <a:fld id="{9CA217EF-0505-4C33-BB20-8A8DF2039023}"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p:txBody>
          <a:bodyPr/>
          <a:lstStyle/>
          <a:p>
            <a:pPr algn="just"/>
            <a:r>
              <a:rPr lang="en-US" dirty="0"/>
              <a:t>Show that the premises “Everyone in this discrete mathematics class has taken a course in computer science” and “Marla is a student in this class” imply the conclusion “Marla has taken a course in computer science.”</a:t>
            </a:r>
          </a:p>
          <a:p>
            <a:pPr algn="just"/>
            <a:r>
              <a:rPr lang="en-US" dirty="0">
                <a:solidFill>
                  <a:srgbClr val="FF0000"/>
                </a:solidFill>
              </a:rPr>
              <a:t>Let D(x) denote “x is in this discrete mathematics class,” Let C(x) denote “x has taken a course in computer science.” </a:t>
            </a:r>
          </a:p>
          <a:p>
            <a:pPr algn="just"/>
            <a:r>
              <a:rPr lang="en-US" dirty="0">
                <a:solidFill>
                  <a:srgbClr val="00B0F0"/>
                </a:solidFill>
              </a:rPr>
              <a:t>Then the premises are ∀x(D(x) → C(x)) and D(Marla).</a:t>
            </a:r>
          </a:p>
          <a:p>
            <a:pPr algn="just"/>
            <a:r>
              <a:rPr lang="en-US" dirty="0">
                <a:solidFill>
                  <a:srgbClr val="FF0000"/>
                </a:solidFill>
              </a:rPr>
              <a:t>The conclusion is C(Marla).</a:t>
            </a:r>
          </a:p>
        </p:txBody>
      </p:sp>
      <p:sp>
        <p:nvSpPr>
          <p:cNvPr id="4" name="Slide Number Placeholder 3"/>
          <p:cNvSpPr>
            <a:spLocks noGrp="1"/>
          </p:cNvSpPr>
          <p:nvPr>
            <p:ph type="sldNum" sz="quarter" idx="12"/>
          </p:nvPr>
        </p:nvSpPr>
        <p:spPr/>
        <p:txBody>
          <a:bodyPr/>
          <a:lstStyle/>
          <a:p>
            <a:fld id="{9CA217EF-0505-4C33-BB20-8A8DF2039023}"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Solution:</a:t>
            </a:r>
          </a:p>
        </p:txBody>
      </p:sp>
      <p:sp>
        <p:nvSpPr>
          <p:cNvPr id="4" name="Slide Number Placeholder 3"/>
          <p:cNvSpPr>
            <a:spLocks noGrp="1"/>
          </p:cNvSpPr>
          <p:nvPr>
            <p:ph type="sldNum" sz="quarter" idx="12"/>
          </p:nvPr>
        </p:nvSpPr>
        <p:spPr/>
        <p:txBody>
          <a:bodyPr/>
          <a:lstStyle/>
          <a:p>
            <a:fld id="{9CA217EF-0505-4C33-BB20-8A8DF2039023}" type="slidenum">
              <a:rPr lang="en-US" smtClean="0"/>
              <a:pPr/>
              <a:t>33</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81000" y="2438400"/>
            <a:ext cx="8382000" cy="25146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a:t>
            </a:r>
          </a:p>
        </p:txBody>
      </p:sp>
      <p:sp>
        <p:nvSpPr>
          <p:cNvPr id="3" name="Content Placeholder 2"/>
          <p:cNvSpPr>
            <a:spLocks noGrp="1"/>
          </p:cNvSpPr>
          <p:nvPr>
            <p:ph idx="1"/>
          </p:nvPr>
        </p:nvSpPr>
        <p:spPr/>
        <p:txBody>
          <a:bodyPr>
            <a:normAutofit/>
          </a:bodyPr>
          <a:lstStyle/>
          <a:p>
            <a:r>
              <a:rPr lang="en-US" dirty="0"/>
              <a:t>“A student in this class has not read the book,” </a:t>
            </a:r>
          </a:p>
          <a:p>
            <a:r>
              <a:rPr lang="en-US" dirty="0"/>
              <a:t>“Everyone in this class passed the </a:t>
            </a:r>
            <a:r>
              <a:rPr lang="en-US" dirty="0" err="1"/>
              <a:t>ﬁrst</a:t>
            </a:r>
            <a:r>
              <a:rPr lang="en-US" dirty="0"/>
              <a:t> exam” imply the conclusion “Someone who passed the </a:t>
            </a:r>
            <a:r>
              <a:rPr lang="en-US" dirty="0" err="1"/>
              <a:t>ﬁrst</a:t>
            </a:r>
            <a:r>
              <a:rPr lang="en-US" dirty="0"/>
              <a:t> exam has not read the book.”</a:t>
            </a:r>
          </a:p>
          <a:p>
            <a:r>
              <a:rPr lang="en-US" dirty="0"/>
              <a:t>Solution: </a:t>
            </a:r>
          </a:p>
          <a:p>
            <a:r>
              <a:rPr lang="en-US" dirty="0"/>
              <a:t>Let C(x) be “x is in this class,” </a:t>
            </a:r>
          </a:p>
          <a:p>
            <a:r>
              <a:rPr lang="en-US" dirty="0"/>
              <a:t>B(x) be “x has read the book,”</a:t>
            </a:r>
          </a:p>
          <a:p>
            <a:r>
              <a:rPr lang="en-US" dirty="0"/>
              <a:t>P(x) be “x passed the </a:t>
            </a:r>
            <a:r>
              <a:rPr lang="en-US" dirty="0" err="1"/>
              <a:t>ﬁrst</a:t>
            </a:r>
            <a:r>
              <a:rPr lang="en-US" dirty="0"/>
              <a:t> exam.”</a:t>
            </a:r>
          </a:p>
          <a:p>
            <a:r>
              <a:rPr lang="en-US" dirty="0"/>
              <a:t>The premises are ∃x(C(x) ∧¬B(x)) and ∀x(C(x) → P(x)). The conclusion is ∃x(P(x) ∧¬B(x)). </a:t>
            </a:r>
          </a:p>
          <a:p>
            <a:endParaRPr lang="en-US" dirty="0"/>
          </a:p>
        </p:txBody>
      </p:sp>
      <p:sp>
        <p:nvSpPr>
          <p:cNvPr id="4" name="Slide Number Placeholder 3"/>
          <p:cNvSpPr>
            <a:spLocks noGrp="1"/>
          </p:cNvSpPr>
          <p:nvPr>
            <p:ph type="sldNum" sz="quarter" idx="12"/>
          </p:nvPr>
        </p:nvSpPr>
        <p:spPr/>
        <p:txBody>
          <a:bodyPr/>
          <a:lstStyle/>
          <a:p>
            <a:fld id="{9CA217EF-0505-4C33-BB20-8A8DF2039023}"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What rule of inference is used in each of these arguments?</a:t>
            </a:r>
            <a:br>
              <a:rPr lang="en-US" dirty="0"/>
            </a:br>
            <a:endParaRPr lang="en-US" dirty="0"/>
          </a:p>
        </p:txBody>
      </p:sp>
      <p:sp>
        <p:nvSpPr>
          <p:cNvPr id="3" name="Content Placeholder 2"/>
          <p:cNvSpPr>
            <a:spLocks noGrp="1"/>
          </p:cNvSpPr>
          <p:nvPr>
            <p:ph idx="1"/>
          </p:nvPr>
        </p:nvSpPr>
        <p:spPr/>
        <p:txBody>
          <a:bodyPr>
            <a:normAutofit/>
          </a:bodyPr>
          <a:lstStyle/>
          <a:p>
            <a:pPr algn="just">
              <a:buNone/>
            </a:pPr>
            <a:r>
              <a:rPr lang="en-US" dirty="0"/>
              <a:t>a) Alice is a mathematics major. Therefore, Alice is either a mathematics major or a computer science major.</a:t>
            </a:r>
          </a:p>
          <a:p>
            <a:pPr algn="just">
              <a:buNone/>
            </a:pPr>
            <a:r>
              <a:rPr lang="en-US" dirty="0"/>
              <a:t>b) Jerry is a mathematics major and a computer science major. Therefore, Jerry is a mathematics major.</a:t>
            </a:r>
          </a:p>
          <a:p>
            <a:pPr algn="just">
              <a:buNone/>
            </a:pPr>
            <a:r>
              <a:rPr lang="en-US" dirty="0"/>
              <a:t>c) If it is rainy, then the pool will be closed. It is rainy. Therefore, the pool is closed.</a:t>
            </a:r>
          </a:p>
          <a:p>
            <a:pPr algn="just">
              <a:buNone/>
            </a:pPr>
            <a:r>
              <a:rPr lang="en-US" dirty="0"/>
              <a:t>d) If it snows today, the university will close. The university is not closed today. Therefore, it did not snow today.</a:t>
            </a:r>
          </a:p>
          <a:p>
            <a:pPr algn="just">
              <a:buNone/>
            </a:pPr>
            <a:r>
              <a:rPr lang="en-US" dirty="0"/>
              <a:t>e) If I go swimming, then I will stay in the sun too long. If I stay in the sun too long, then </a:t>
            </a:r>
            <a:r>
              <a:rPr lang="en-US" dirty="0" err="1"/>
              <a:t>Iwill</a:t>
            </a:r>
            <a:r>
              <a:rPr lang="en-US" dirty="0"/>
              <a:t> sunburn. Therefore, if I go swimming, then I will sunburn.</a:t>
            </a:r>
          </a:p>
        </p:txBody>
      </p:sp>
      <p:sp>
        <p:nvSpPr>
          <p:cNvPr id="4" name="Slide Number Placeholder 3"/>
          <p:cNvSpPr>
            <a:spLocks noGrp="1"/>
          </p:cNvSpPr>
          <p:nvPr>
            <p:ph type="sldNum" sz="quarter" idx="12"/>
          </p:nvPr>
        </p:nvSpPr>
        <p:spPr/>
        <p:txBody>
          <a:bodyPr/>
          <a:lstStyle/>
          <a:p>
            <a:fld id="{9CA217EF-0505-4C33-BB20-8A8DF2039023}"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buNone/>
            </a:pPr>
            <a:r>
              <a:rPr lang="en-US" dirty="0"/>
              <a:t>9. For each of these collections of premises, what relevant conclusion or conclusions can be drawn? Explain the rules of inference used to obtain each conclusion from the premises.</a:t>
            </a:r>
          </a:p>
          <a:p>
            <a:pPr algn="just">
              <a:buNone/>
            </a:pPr>
            <a:r>
              <a:rPr lang="en-US" dirty="0"/>
              <a:t>a) “If I take the day off, it either rains or snows.” “I took Tuesday off or I took Thursday off.” “It was sunny on Tuesday.” “It did not snow on Thursday.”</a:t>
            </a:r>
          </a:p>
          <a:p>
            <a:pPr algn="just">
              <a:buNone/>
            </a:pPr>
            <a:r>
              <a:rPr lang="en-US" dirty="0"/>
              <a:t>b) “If I eat spicy foods, then I have strange dreams.” “I have strange dreams if there is thunder while I sleep.” “I did not have strange dreams.”</a:t>
            </a:r>
          </a:p>
          <a:p>
            <a:pPr algn="just">
              <a:buNone/>
            </a:pPr>
            <a:r>
              <a:rPr lang="en-US" dirty="0"/>
              <a:t>c) “I am either clever or lucky.” “I am not lucky.” “If I am lucky, then I will win the lottery.”</a:t>
            </a:r>
          </a:p>
          <a:p>
            <a:pPr algn="just">
              <a:buNone/>
            </a:pPr>
            <a:r>
              <a:rPr lang="en-US" dirty="0"/>
              <a:t>d) “Every computer science major has a personal computer.” “Ralph does not have a personal computer.” “Ann has a personal computer.”</a:t>
            </a:r>
          </a:p>
          <a:p>
            <a:pPr algn="just">
              <a:buNone/>
            </a:pPr>
            <a:r>
              <a:rPr lang="en-US" dirty="0"/>
              <a:t>e) “What is good for corporations is good for the United States.” “What is good for the United States is good for you.” “What is good for corporations is for you to buy lots of stuff.”</a:t>
            </a:r>
          </a:p>
          <a:p>
            <a:pPr algn="just">
              <a:buNone/>
            </a:pPr>
            <a:r>
              <a:rPr lang="en-US" dirty="0"/>
              <a:t>f) “All rodents gnaw their food.” “Mice are rodents.” “Rabbits do not gnaw their food.” “Bats are not rodents.”</a:t>
            </a:r>
          </a:p>
        </p:txBody>
      </p:sp>
      <p:sp>
        <p:nvSpPr>
          <p:cNvPr id="4" name="Slide Number Placeholder 3"/>
          <p:cNvSpPr>
            <a:spLocks noGrp="1"/>
          </p:cNvSpPr>
          <p:nvPr>
            <p:ph type="sldNum" sz="quarter" idx="12"/>
          </p:nvPr>
        </p:nvSpPr>
        <p:spPr/>
        <p:txBody>
          <a:bodyPr/>
          <a:lstStyle/>
          <a:p>
            <a:fld id="{9CA217EF-0505-4C33-BB20-8A8DF2039023}"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lgn="just">
              <a:buNone/>
            </a:pPr>
            <a:r>
              <a:rPr lang="en-US" dirty="0"/>
              <a:t>13. For each of these arguments, explain which rules of inference are used for each step.</a:t>
            </a:r>
          </a:p>
          <a:p>
            <a:pPr marL="457200" indent="-457200" algn="just">
              <a:buAutoNum type="alphaLcParenR"/>
            </a:pPr>
            <a:r>
              <a:rPr lang="en-US" dirty="0"/>
              <a:t>“Doug, a student in this class, knows how to </a:t>
            </a:r>
            <a:r>
              <a:rPr lang="en-US" dirty="0" err="1"/>
              <a:t>writeprograms</a:t>
            </a:r>
            <a:r>
              <a:rPr lang="en-US" dirty="0"/>
              <a:t> in JAVA. </a:t>
            </a:r>
            <a:r>
              <a:rPr lang="en-US" dirty="0" err="1"/>
              <a:t>everyonewho</a:t>
            </a:r>
            <a:r>
              <a:rPr lang="en-US" dirty="0"/>
              <a:t> knows </a:t>
            </a:r>
            <a:r>
              <a:rPr lang="en-US" dirty="0" err="1"/>
              <a:t>howtowrite</a:t>
            </a:r>
            <a:r>
              <a:rPr lang="en-US" dirty="0"/>
              <a:t> programs in JAVA can get a high-paying job. Therefore, someone in this class can get a high-paying job.</a:t>
            </a:r>
          </a:p>
          <a:p>
            <a:pPr marL="0" indent="0" algn="just">
              <a:buNone/>
            </a:pPr>
            <a:endParaRPr lang="en-US" dirty="0"/>
          </a:p>
          <a:p>
            <a:pPr marL="457200" indent="-457200" algn="just">
              <a:buAutoNum type="alphaLcParenR"/>
            </a:pPr>
            <a:r>
              <a:rPr lang="en-US" dirty="0" err="1"/>
              <a:t>Bhavika</a:t>
            </a:r>
            <a:r>
              <a:rPr lang="en-US" dirty="0"/>
              <a:t> will work in an enterprise this summer. Therefore, this summer </a:t>
            </a:r>
            <a:r>
              <a:rPr lang="en-US" dirty="0" err="1"/>
              <a:t>Bhavika</a:t>
            </a:r>
            <a:r>
              <a:rPr lang="en-US" dirty="0"/>
              <a:t> will work in an enterprise or he will go to beach. ”</a:t>
            </a:r>
          </a:p>
          <a:p>
            <a:pPr algn="just">
              <a:buNone/>
            </a:pPr>
            <a:endParaRPr lang="en-US" dirty="0"/>
          </a:p>
          <a:p>
            <a:pPr algn="just">
              <a:buNone/>
            </a:pPr>
            <a:r>
              <a:rPr lang="en-US" dirty="0"/>
              <a:t>b) “Somebody in this class enjoys whale watching. Every person who enjoys whale watching cares about</a:t>
            </a:r>
          </a:p>
          <a:p>
            <a:pPr algn="just">
              <a:buNone/>
            </a:pPr>
            <a:r>
              <a:rPr lang="en-US" dirty="0"/>
              <a:t>ocean pollution. Therefore, there is a person in this class who cares about ocean pollution.”</a:t>
            </a:r>
          </a:p>
          <a:p>
            <a:pPr algn="just">
              <a:buNone/>
            </a:pPr>
            <a:r>
              <a:rPr lang="en-US" dirty="0"/>
              <a:t>c) “If I go for a balanced diet, then I will be fit. If I will be fit, then I will remain healthy. Therefore, if I go for a balanced diet, then I will remain healthy.”</a:t>
            </a:r>
          </a:p>
          <a:p>
            <a:pPr algn="just">
              <a:buNone/>
            </a:pPr>
            <a:endParaRPr lang="en-US" dirty="0"/>
          </a:p>
          <a:p>
            <a:pPr algn="just"/>
            <a:r>
              <a:rPr lang="en-US" dirty="0"/>
              <a:t>“Each of the 93 students in this class owns a personal computer. Everyone who owns a personal computer can use a word processing program. Therefore, Zeke, a student in this class, can use a word processing program.”</a:t>
            </a:r>
          </a:p>
          <a:p>
            <a:pPr marL="0" indent="0" algn="just">
              <a:buNone/>
            </a:pPr>
            <a:endParaRPr lang="en-US" dirty="0"/>
          </a:p>
          <a:p>
            <a:pPr algn="just">
              <a:buNone/>
            </a:pPr>
            <a:r>
              <a:rPr lang="en-US" dirty="0"/>
              <a:t>d) “Everyone in New Jersey lives within 50 miles of the ocean. Someone in New Jersey has never seen the ocean. Therefore, someone who lives within 50 miles</a:t>
            </a:r>
          </a:p>
          <a:p>
            <a:pPr algn="just">
              <a:buNone/>
            </a:pPr>
            <a:r>
              <a:rPr lang="en-US" dirty="0"/>
              <a:t>of the ocean has never seen the ocean.”</a:t>
            </a:r>
          </a:p>
        </p:txBody>
      </p:sp>
      <p:sp>
        <p:nvSpPr>
          <p:cNvPr id="4" name="Slide Number Placeholder 3"/>
          <p:cNvSpPr>
            <a:spLocks noGrp="1"/>
          </p:cNvSpPr>
          <p:nvPr>
            <p:ph type="sldNum" sz="quarter" idx="12"/>
          </p:nvPr>
        </p:nvSpPr>
        <p:spPr/>
        <p:txBody>
          <a:bodyPr/>
          <a:lstStyle/>
          <a:p>
            <a:fld id="{9CA217EF-0505-4C33-BB20-8A8DF2039023}" type="slidenum">
              <a:rPr lang="en-US" smtClean="0"/>
              <a:pPr/>
              <a:t>37</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orall x (Man(x) \rightarrow Mortal(x))$&#10;&#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Man(Socrates)$&#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therefore \;\;\;\; Mortal(Socrates)$&#10;&#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p \rightarrow q\\&#10;\noindent p\\ \hline&#10;&#10;\therefore  q\\&#10;\end{array}$&#10;&#10;&#10;&#10;&#10;&#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p \rightarrow q\\&#10;\noindent p\\ \hline&#10;&#10;\therefore  q\\&#10;\end{array}$&#10;&#10;&#10;&#10;&#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p \rightarrow q\\&#10;\neg q\\ \hline&#10;&#10;\therefore  \neg p\\&#10;\end{array}$&#10;&#10;&#10;&#10;&#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p \rightarrow q\\&#10;\neg q\\ \hline&#10;&#10;\therefore  \neg p\\&#10;\end{array}$&#10;&#10;&#10;&#10;&#10;&#10;\end{document}"/>
  <p:tag name="IGUANATEXSIZE" val="3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p \rightarrow q\\&#10;\noindent q \rightarrow r\\ \hline&#10;&#10;\therefore  p \rightarrow r\\&#10;\end{array}$&#10;&#10;&#10;&#10;&#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p \vee q\\&#10;\neg p\\ \hline&#10;&#10;\therefore  q\\&#10;\end{array}$&#10;&#10;&#10;&#10;&#10;&#10;\end{document}"/>
  <p:tag name="IGUANATEXSIZE" val="3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 \hline&#10;&#10;\therefore  p \vee q\\&#10;\end{array}$&#10;&#10;&#10;&#10;&#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 \wedge q \\ \hline&#10;\therefore  q\\&#10;\end{array}$&#10;&#10;&#10;&#10;&#10;&#10;\end{document}"/>
  <p:tag name="IGUANATEXSIZE" val="3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 \wedge q \\ \hline&#10;\therefore  q\\&#10;\end{array}$&#10;&#10;&#10;&#10;&#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p\\&#10;q\\ \hline&#10;\therefore p \wedge q &#10;\end{array}$&#10;&#10;&#10;&#10;&#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eg p \vee r\\&#10;p \vee q \\ \hline&#10;\therefore  q \vee r\\&#10;\end{array}$&#10;&#10;&#10;&#10;&#10;&#10;\end{document}"/>
  <p:tag name="IGUANATEXSIZE" val="3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p \wedge (p \rightarrow q)$ &amp; Premise\\&#10;2. $p$ &amp; Conjunction  using (1)\\&#10;3. $p \rightarrow q$ &amp;  Conjunction using (1)\\&#10;4. $q$ &amp; Modus Ponens using (2) and (3)\\&#10;\end{tabular}&#10;&#10;&#10;\end{document}"/>
  <p:tag name="IGUANATEXSIZE" val="30"/>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p \wedge (p \rightarrow q)$ &#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tabular}{ll}&#10;{\bf Step} &amp; {\bf Reason}\\&#10;1.  $\neg p \wedge q$ &amp; Premise\\&#10;2. $\neg p$ &amp; Simplification using (1)\\&#10;3. $r \rightarrow p$ &amp;  Premise\\&#10;4. $\neg r$ &amp; Modus tollens using (2) and (3)\\&#10;5. $\neg r \rightarrow s$ &amp; Premise\\&#10;6. $s$ &amp; Modus ponens using (4) and (5)\\&#10;7. $s \rightarrow t$ &amp; Premise\\&#10;8. $t$ &amp; Modus ponens using (6) and (7)&#10;&#10;\end{tabular}&#10;&#10;&#10;\end{document}"/>
  <p:tag name="IGUANATEXSIZE" val="30"/>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 {amssymb}&#10;\pagestyle{empty}&#10;\begin{document}&#10;$\begin{array}{l}&#10;\noindent p \rightarrow q\\&#10;\noindent p\\ \hline&#10;&#10;\therefore  q\\&#10;\end{array}$&#10;&#10;&#10;&#10;&#10;&#10;\end{document}"/>
  <p:tag name="IGUANATEXSIZE" val="3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10210</TotalTime>
  <Words>2617</Words>
  <Application>Microsoft Macintosh PowerPoint</Application>
  <PresentationFormat>On-screen Show (4:3)</PresentationFormat>
  <Paragraphs>393</Paragraphs>
  <Slides>37</Slides>
  <Notes>6</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Symbol</vt:lpstr>
      <vt:lpstr>Cordia New</vt:lpstr>
      <vt:lpstr>Times New Roman</vt:lpstr>
      <vt:lpstr>Cambria Math</vt:lpstr>
      <vt:lpstr>Calibri</vt:lpstr>
      <vt:lpstr>Arial</vt:lpstr>
      <vt:lpstr>Clarity</vt:lpstr>
      <vt:lpstr>Discrete Structures</vt:lpstr>
      <vt:lpstr>Overview</vt:lpstr>
      <vt:lpstr>1. What is a Proof?</vt:lpstr>
      <vt:lpstr>In Logic</vt:lpstr>
      <vt:lpstr>2. Rules of Inference</vt:lpstr>
      <vt:lpstr>2.1.  Modus Ponens</vt:lpstr>
      <vt:lpstr>Modus ponens</vt:lpstr>
      <vt:lpstr> 2.2.  Modus Tollens</vt:lpstr>
      <vt:lpstr>Modus tollens </vt:lpstr>
      <vt:lpstr>2.3. Hypothetical syllogism’ </vt:lpstr>
      <vt:lpstr>PowerPoint Presentation</vt:lpstr>
      <vt:lpstr>2.4. Disjunctive Syllogism</vt:lpstr>
      <vt:lpstr>2.5.  Addition</vt:lpstr>
      <vt:lpstr>2.6. Simplification</vt:lpstr>
      <vt:lpstr>2.7. Conjunction</vt:lpstr>
      <vt:lpstr>2.8. Resolution</vt:lpstr>
      <vt:lpstr>3. Using Rules to Build a Proof</vt:lpstr>
      <vt:lpstr>Example 1</vt:lpstr>
      <vt:lpstr>Example </vt:lpstr>
      <vt:lpstr>PowerPoint Presentation</vt:lpstr>
      <vt:lpstr>PowerPoint Presentation</vt:lpstr>
      <vt:lpstr>PowerPoint Presentation</vt:lpstr>
      <vt:lpstr>Example for rule of inference</vt:lpstr>
      <vt:lpstr>Arrive the conclusion:</vt:lpstr>
      <vt:lpstr>Use the rules of inference to affirm that the arguments below are valid.</vt:lpstr>
      <vt:lpstr>PowerPoint Presentation</vt:lpstr>
      <vt:lpstr>PowerPoint Presentation</vt:lpstr>
      <vt:lpstr>Example </vt:lpstr>
      <vt:lpstr>solution</vt:lpstr>
      <vt:lpstr>Example </vt:lpstr>
      <vt:lpstr>Example </vt:lpstr>
      <vt:lpstr>Example </vt:lpstr>
      <vt:lpstr>Solution:</vt:lpstr>
      <vt:lpstr>Problem </vt:lpstr>
      <vt:lpstr> What rule of inference is used in each of these arguments? </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Maths</dc:title>
  <dc:creator>Ad</dc:creator>
  <cp:lastModifiedBy>Microsoft Office User</cp:lastModifiedBy>
  <cp:revision>658</cp:revision>
  <cp:lastPrinted>2015-01-15T01:42:42Z</cp:lastPrinted>
  <dcterms:created xsi:type="dcterms:W3CDTF">2011-03-27T19:08:31Z</dcterms:created>
  <dcterms:modified xsi:type="dcterms:W3CDTF">2022-10-13T08:44:48Z</dcterms:modified>
</cp:coreProperties>
</file>