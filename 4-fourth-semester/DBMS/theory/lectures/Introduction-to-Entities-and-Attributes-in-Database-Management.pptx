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3" r:id="rId10"/>
    <p:sldId id="264" r:id="rId11"/>
    <p:sldId id="265"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303" autoAdjust="0"/>
  </p:normalViewPr>
  <p:slideViewPr>
    <p:cSldViewPr snapToGrid="0" snapToObjects="1">
      <p:cViewPr varScale="1">
        <p:scale>
          <a:sx n="49" d="100"/>
          <a:sy n="49" d="100"/>
        </p:scale>
        <p:origin x="94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26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effectLst/>
              </a:rPr>
              <a:t>Identifying Attributes:</a:t>
            </a:r>
          </a:p>
          <a:p>
            <a:r>
              <a:rPr lang="en-US" b="1" dirty="0" smtClean="0">
                <a:effectLst/>
              </a:rPr>
              <a:t>Definition:</a:t>
            </a:r>
            <a:r>
              <a:rPr lang="en-US" dirty="0" smtClean="0">
                <a:effectLst/>
              </a:rPr>
              <a:t/>
            </a:r>
            <a:br>
              <a:rPr lang="en-US" dirty="0" smtClean="0">
                <a:effectLst/>
              </a:rPr>
            </a:br>
            <a:r>
              <a:rPr lang="en-US" dirty="0" smtClean="0">
                <a:effectLst/>
              </a:rPr>
              <a:t>These are unique characteristics that distinguish one entity from another. They are like the "name tags" that make each entity distinct.</a:t>
            </a:r>
          </a:p>
          <a:p>
            <a:r>
              <a:rPr lang="en-US" b="1" dirty="0" smtClean="0">
                <a:effectLst/>
              </a:rPr>
              <a:t>Real-Life Example:</a:t>
            </a:r>
            <a:r>
              <a:rPr lang="en-US" dirty="0" smtClean="0">
                <a:effectLst/>
              </a:rPr>
              <a:t/>
            </a:r>
            <a:br>
              <a:rPr lang="en-US" dirty="0" smtClean="0">
                <a:effectLst/>
              </a:rPr>
            </a:br>
            <a:r>
              <a:rPr lang="en-US" b="1" dirty="0" smtClean="0">
                <a:effectLst/>
              </a:rPr>
              <a:t>Library Books</a:t>
            </a:r>
            <a:r>
              <a:rPr lang="en-US" dirty="0" smtClean="0">
                <a:effectLst/>
              </a:rPr>
              <a:t/>
            </a:r>
            <a:br>
              <a:rPr lang="en-US" dirty="0" smtClean="0">
                <a:effectLst/>
              </a:rPr>
            </a:br>
            <a:r>
              <a:rPr lang="en-US" dirty="0" smtClean="0">
                <a:effectLst/>
              </a:rPr>
              <a:t>Each book in a library has a unique </a:t>
            </a:r>
            <a:r>
              <a:rPr lang="en-US" b="1" dirty="0" smtClean="0">
                <a:effectLst/>
              </a:rPr>
              <a:t>ISBN (International Standard Book Number)</a:t>
            </a:r>
            <a:r>
              <a:rPr lang="en-US" dirty="0" smtClean="0">
                <a:effectLst/>
              </a:rPr>
              <a:t>. This ISBN serves as an identifying attribute that distinguishes one book from all others in the library.</a:t>
            </a:r>
          </a:p>
          <a:p>
            <a:r>
              <a:rPr lang="en-US" b="1" dirty="0" smtClean="0">
                <a:effectLst/>
              </a:rPr>
              <a:t>Descriptive Attributes:</a:t>
            </a:r>
          </a:p>
          <a:p>
            <a:r>
              <a:rPr lang="en-US" b="1" dirty="0" smtClean="0">
                <a:effectLst/>
              </a:rPr>
              <a:t>Definition:</a:t>
            </a:r>
            <a:r>
              <a:rPr lang="en-US" dirty="0" smtClean="0">
                <a:effectLst/>
              </a:rPr>
              <a:t/>
            </a:r>
            <a:br>
              <a:rPr lang="en-US" dirty="0" smtClean="0">
                <a:effectLst/>
              </a:rPr>
            </a:br>
            <a:r>
              <a:rPr lang="en-US" dirty="0" smtClean="0">
                <a:effectLst/>
              </a:rPr>
              <a:t>These provide additional details about an entity, giving us more information beyond just its unique identifier.</a:t>
            </a:r>
          </a:p>
          <a:p>
            <a:r>
              <a:rPr lang="en-US" b="1" dirty="0" smtClean="0">
                <a:effectLst/>
              </a:rPr>
              <a:t>Real-Life Example:</a:t>
            </a:r>
            <a:r>
              <a:rPr lang="en-US" dirty="0" smtClean="0">
                <a:effectLst/>
              </a:rPr>
              <a:t/>
            </a:r>
            <a:br>
              <a:rPr lang="en-US" dirty="0" smtClean="0">
                <a:effectLst/>
              </a:rPr>
            </a:br>
            <a:r>
              <a:rPr lang="en-US" b="1" dirty="0" smtClean="0">
                <a:effectLst/>
              </a:rPr>
              <a:t>Library Books</a:t>
            </a:r>
            <a:r>
              <a:rPr lang="en-US" dirty="0" smtClean="0">
                <a:effectLst/>
              </a:rPr>
              <a:t/>
            </a:r>
            <a:br>
              <a:rPr lang="en-US" dirty="0" smtClean="0">
                <a:effectLst/>
              </a:rPr>
            </a:br>
            <a:r>
              <a:rPr lang="en-US" dirty="0" smtClean="0">
                <a:effectLst/>
              </a:rPr>
              <a:t>Apart from the ISBN, a book also has a </a:t>
            </a:r>
            <a:r>
              <a:rPr lang="en-US" b="1" dirty="0" smtClean="0">
                <a:effectLst/>
              </a:rPr>
              <a:t>title</a:t>
            </a:r>
            <a:r>
              <a:rPr lang="en-US" dirty="0" smtClean="0">
                <a:effectLst/>
              </a:rPr>
              <a:t>, </a:t>
            </a:r>
            <a:r>
              <a:rPr lang="en-US" b="1" dirty="0" smtClean="0">
                <a:effectLst/>
              </a:rPr>
              <a:t>author</a:t>
            </a:r>
            <a:r>
              <a:rPr lang="en-US" dirty="0" smtClean="0">
                <a:effectLst/>
              </a:rPr>
              <a:t>, </a:t>
            </a:r>
            <a:r>
              <a:rPr lang="en-US" b="1" dirty="0" smtClean="0">
                <a:effectLst/>
              </a:rPr>
              <a:t>publication year</a:t>
            </a:r>
            <a:r>
              <a:rPr lang="en-US" dirty="0" smtClean="0">
                <a:effectLst/>
              </a:rPr>
              <a:t>, and </a:t>
            </a:r>
            <a:r>
              <a:rPr lang="en-US" b="1" dirty="0" smtClean="0">
                <a:effectLst/>
              </a:rPr>
              <a:t>genre</a:t>
            </a:r>
            <a:r>
              <a:rPr lang="en-US" dirty="0" smtClean="0">
                <a:effectLst/>
              </a:rPr>
              <a:t>. These are descriptive attributes that give us more information about the book beyond its ISBN.</a:t>
            </a:r>
          </a:p>
          <a:p>
            <a:r>
              <a:rPr lang="en-US" b="1" dirty="0" smtClean="0">
                <a:effectLst/>
              </a:rPr>
              <a:t>Derived Attributes:</a:t>
            </a:r>
          </a:p>
          <a:p>
            <a:r>
              <a:rPr lang="en-US" b="1" dirty="0" smtClean="0">
                <a:effectLst/>
              </a:rPr>
              <a:t>Definition:</a:t>
            </a:r>
            <a:r>
              <a:rPr lang="en-US" dirty="0" smtClean="0">
                <a:effectLst/>
              </a:rPr>
              <a:t/>
            </a:r>
            <a:br>
              <a:rPr lang="en-US" dirty="0" smtClean="0">
                <a:effectLst/>
              </a:rPr>
            </a:br>
            <a:r>
              <a:rPr lang="en-US" dirty="0" smtClean="0">
                <a:effectLst/>
              </a:rPr>
              <a:t>These are values that can be calculated or inferred from other attributes. They are like the "side notes" that we can figure out based on the main information we have.</a:t>
            </a:r>
          </a:p>
          <a:p>
            <a:r>
              <a:rPr lang="en-US" b="1" dirty="0" smtClean="0">
                <a:effectLst/>
              </a:rPr>
              <a:t>Real-Life Example:</a:t>
            </a:r>
            <a:r>
              <a:rPr lang="en-US" dirty="0" smtClean="0">
                <a:effectLst/>
              </a:rPr>
              <a:t/>
            </a:r>
            <a:br>
              <a:rPr lang="en-US" dirty="0" smtClean="0">
                <a:effectLst/>
              </a:rPr>
            </a:br>
            <a:r>
              <a:rPr lang="en-US" b="1" dirty="0" smtClean="0">
                <a:effectLst/>
              </a:rPr>
              <a:t>Library Members</a:t>
            </a:r>
            <a:r>
              <a:rPr lang="en-US" dirty="0" smtClean="0">
                <a:effectLst/>
              </a:rPr>
              <a:t/>
            </a:r>
            <a:br>
              <a:rPr lang="en-US" dirty="0" smtClean="0">
                <a:effectLst/>
              </a:rPr>
            </a:br>
            <a:r>
              <a:rPr lang="en-US" dirty="0" smtClean="0">
                <a:effectLst/>
              </a:rPr>
              <a:t>If you know a person's </a:t>
            </a:r>
            <a:r>
              <a:rPr lang="en-US" b="1" dirty="0" smtClean="0">
                <a:effectLst/>
              </a:rPr>
              <a:t>date of birth</a:t>
            </a:r>
            <a:r>
              <a:rPr lang="en-US" dirty="0" smtClean="0">
                <a:effectLst/>
              </a:rPr>
              <a:t>, you can calculate their </a:t>
            </a:r>
            <a:r>
              <a:rPr lang="en-US" b="1" dirty="0" smtClean="0">
                <a:effectLst/>
              </a:rPr>
              <a:t>age</a:t>
            </a:r>
            <a:r>
              <a:rPr lang="en-US" dirty="0" smtClean="0">
                <a:effectLst/>
              </a:rPr>
              <a:t>. In a library system, if you have a member's date of birth, you can derive their age from it without needing an additional "age" attribute.</a:t>
            </a:r>
          </a:p>
          <a:p>
            <a:r>
              <a:rPr lang="en-US" dirty="0" smtClean="0">
                <a:effectLst/>
              </a:rPr>
              <a:t>I hope these examples help clarify the different types of attributes in a straightforward way!</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02975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464032" y="-47922"/>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200" y="1179195"/>
            <a:ext cx="5543850" cy="2193397"/>
          </a:xfrm>
          <a:prstGeom prst="rect">
            <a:avLst/>
          </a:prstGeom>
          <a:noFill/>
          <a:ln/>
        </p:spPr>
        <p:txBody>
          <a:bodyPr wrap="square" rtlCol="0" anchor="t"/>
          <a:lstStyle/>
          <a:p>
            <a:pPr marL="0" indent="0">
              <a:lnSpc>
                <a:spcPts val="7545"/>
              </a:lnSpc>
              <a:buNone/>
            </a:pPr>
            <a:r>
              <a:rPr lang="en-US" sz="4000" b="1" kern="0" spc="-35" dirty="0">
                <a:solidFill>
                  <a:srgbClr val="000000"/>
                </a:solidFill>
                <a:latin typeface="adonis-web" pitchFamily="34" charset="0"/>
                <a:ea typeface="adonis-web" pitchFamily="34" charset="-122"/>
                <a:cs typeface="adonis-web" pitchFamily="34" charset="-120"/>
              </a:rPr>
              <a:t>Introduction to Entities and Attributes in Database Management</a:t>
            </a:r>
            <a:endParaRPr lang="en-US" sz="4000" dirty="0"/>
          </a:p>
        </p:txBody>
      </p:sp>
      <p:sp>
        <p:nvSpPr>
          <p:cNvPr id="6" name="Text 2"/>
          <p:cNvSpPr/>
          <p:nvPr/>
        </p:nvSpPr>
        <p:spPr>
          <a:xfrm>
            <a:off x="565342" y="5256490"/>
            <a:ext cx="7477601" cy="1066205"/>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Entities and their associated attributes are the fundamental building blocks of database design. Understanding these core concepts is essential for effective data management and retrieval.</a:t>
            </a:r>
            <a:endParaRPr lang="en-US" sz="1750" dirty="0"/>
          </a:p>
        </p:txBody>
      </p:sp>
      <p:sp>
        <p:nvSpPr>
          <p:cNvPr id="7" name="Shape 3"/>
          <p:cNvSpPr/>
          <p:nvPr/>
        </p:nvSpPr>
        <p:spPr>
          <a:xfrm>
            <a:off x="833199" y="6678097"/>
            <a:ext cx="355402" cy="355402"/>
          </a:xfrm>
          <a:prstGeom prst="roundRect">
            <a:avLst>
              <a:gd name="adj" fmla="val 25726039"/>
            </a:avLst>
          </a:prstGeom>
          <a:noFill/>
          <a:ln w="7620">
            <a:solidFill>
              <a:srgbClr val="FFFFFF"/>
            </a:solidFill>
            <a:prstDash val="solid"/>
          </a:ln>
        </p:spPr>
      </p:sp>
      <p:sp>
        <p:nvSpPr>
          <p:cNvPr id="9" name="Text 4"/>
          <p:cNvSpPr/>
          <p:nvPr/>
        </p:nvSpPr>
        <p:spPr>
          <a:xfrm>
            <a:off x="634126" y="7081421"/>
            <a:ext cx="1331119" cy="388858"/>
          </a:xfrm>
          <a:prstGeom prst="rect">
            <a:avLst/>
          </a:prstGeom>
          <a:noFill/>
          <a:ln/>
        </p:spPr>
        <p:txBody>
          <a:bodyPr wrap="none" rtlCol="0" anchor="t"/>
          <a:lstStyle/>
          <a:p>
            <a:pPr marL="0" indent="0" algn="l">
              <a:lnSpc>
                <a:spcPts val="3062"/>
              </a:lnSpc>
              <a:buNone/>
            </a:pPr>
            <a:r>
              <a:rPr lang="en-US" sz="2187" b="1" kern="0" spc="-35" dirty="0" smtClean="0">
                <a:solidFill>
                  <a:srgbClr val="272525"/>
                </a:solidFill>
                <a:latin typeface="Source Sans Pro" pitchFamily="34" charset="0"/>
                <a:ea typeface="Source Sans Pro" pitchFamily="34" charset="-122"/>
                <a:cs typeface="Source Sans Pro" pitchFamily="34" charset="-120"/>
              </a:rPr>
              <a:t>Ayesha </a:t>
            </a:r>
            <a:r>
              <a:rPr lang="en-US" sz="2187" b="1" kern="0" spc="-35" dirty="0" smtClean="0">
                <a:solidFill>
                  <a:srgbClr val="272525"/>
                </a:solidFill>
                <a:latin typeface="Source Sans Pro" pitchFamily="34" charset="0"/>
                <a:ea typeface="Source Sans Pro" pitchFamily="34" charset="-122"/>
                <a:cs typeface="Source Sans Pro" pitchFamily="34" charset="-120"/>
              </a:rPr>
              <a:t>jarral</a:t>
            </a:r>
            <a:endParaRPr lang="en-US" sz="2187"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6" name="Text 2"/>
          <p:cNvSpPr/>
          <p:nvPr/>
        </p:nvSpPr>
        <p:spPr>
          <a:xfrm>
            <a:off x="1399699" y="896183"/>
            <a:ext cx="8555831" cy="694373"/>
          </a:xfrm>
          <a:prstGeom prst="rect">
            <a:avLst/>
          </a:prstGeom>
          <a:noFill/>
          <a:ln/>
        </p:spPr>
        <p:txBody>
          <a:bodyPr wrap="none" rtlCol="0" anchor="t"/>
          <a:lstStyle/>
          <a:p>
            <a:pPr marL="0" indent="0">
              <a:lnSpc>
                <a:spcPts val="5468"/>
              </a:lnSpc>
              <a:buNone/>
            </a:pPr>
            <a:r>
              <a:rPr lang="en-US" sz="4374" b="1" kern="0" spc="-35" dirty="0">
                <a:solidFill>
                  <a:srgbClr val="000000"/>
                </a:solidFill>
                <a:latin typeface="adonis-web" pitchFamily="34" charset="0"/>
                <a:ea typeface="adonis-web" pitchFamily="34" charset="-122"/>
                <a:cs typeface="adonis-web" pitchFamily="34" charset="-120"/>
              </a:rPr>
              <a:t>Defining Entities: What are Entities</a:t>
            </a:r>
            <a:r>
              <a:rPr lang="en-US" sz="4374" b="1" kern="0" spc="-35" dirty="0" smtClean="0">
                <a:solidFill>
                  <a:srgbClr val="000000"/>
                </a:solidFill>
                <a:latin typeface="adonis-web" pitchFamily="34" charset="0"/>
                <a:ea typeface="adonis-web" pitchFamily="34" charset="-122"/>
                <a:cs typeface="adonis-web" pitchFamily="34" charset="-120"/>
              </a:rPr>
              <a:t>? </a:t>
            </a:r>
          </a:p>
          <a:p>
            <a:pPr marL="0" indent="0">
              <a:lnSpc>
                <a:spcPts val="5468"/>
              </a:lnSpc>
              <a:buNone/>
            </a:pPr>
            <a:r>
              <a:rPr lang="en-US" sz="4374" b="1" kern="0" spc="-35" dirty="0" smtClean="0">
                <a:solidFill>
                  <a:srgbClr val="000000"/>
                </a:solidFill>
                <a:latin typeface="adonis-web" pitchFamily="34" charset="0"/>
                <a:ea typeface="adonis-web" pitchFamily="34" charset="-122"/>
              </a:rPr>
              <a:t>Strong vs week entities </a:t>
            </a:r>
            <a:endParaRPr lang="en-US" sz="4374" dirty="0"/>
          </a:p>
        </p:txBody>
      </p:sp>
      <p:sp>
        <p:nvSpPr>
          <p:cNvPr id="7" name="Text 3"/>
          <p:cNvSpPr/>
          <p:nvPr/>
        </p:nvSpPr>
        <p:spPr>
          <a:xfrm>
            <a:off x="971551" y="2571750"/>
            <a:ext cx="6492240" cy="4937760"/>
          </a:xfrm>
          <a:prstGeom prst="rect">
            <a:avLst/>
          </a:prstGeom>
          <a:noFill/>
          <a:ln/>
        </p:spPr>
        <p:txBody>
          <a:bodyPr wrap="square" rtlCol="0" anchor="t"/>
          <a:lstStyle/>
          <a:p>
            <a:pPr marL="0" indent="0">
              <a:lnSpc>
                <a:spcPts val="2799"/>
              </a:lnSpc>
              <a:buNone/>
            </a:pPr>
            <a:endParaRPr lang="en-US" sz="1750" kern="0" spc="-35" dirty="0" smtClean="0">
              <a:latin typeface="Source Sans Pro" pitchFamily="34" charset="0"/>
              <a:ea typeface="Source Sans Pro" pitchFamily="34" charset="-122"/>
              <a:cs typeface="Source Sans Pro" pitchFamily="34" charset="-120"/>
            </a:endParaRPr>
          </a:p>
          <a:p>
            <a:pPr marL="0" indent="0">
              <a:lnSpc>
                <a:spcPts val="2799"/>
              </a:lnSpc>
              <a:buNone/>
            </a:pPr>
            <a:r>
              <a:rPr lang="en-US" sz="1750" b="1" kern="0" spc="-35" dirty="0" smtClean="0">
                <a:latin typeface="+mj-lt"/>
                <a:ea typeface="Source Sans Pro" pitchFamily="34" charset="-122"/>
                <a:cs typeface="Source Sans Pro" pitchFamily="34" charset="-120"/>
              </a:rPr>
              <a:t>Entities </a:t>
            </a:r>
            <a:r>
              <a:rPr lang="en-US" sz="1750" b="1" kern="0" spc="-35" dirty="0">
                <a:latin typeface="+mj-lt"/>
                <a:ea typeface="Source Sans Pro" pitchFamily="34" charset="-122"/>
                <a:cs typeface="Source Sans Pro" pitchFamily="34" charset="-120"/>
              </a:rPr>
              <a:t>are the fundamental building blocks of a database. They represent the key objects or concepts that an organization wants to track and manage. Entities can be physical things, such as products or customers, or abstract ideas, like orders or invoices</a:t>
            </a:r>
            <a:r>
              <a:rPr lang="en-US" sz="1750" b="1" kern="0" spc="-35" dirty="0" smtClean="0">
                <a:latin typeface="+mj-lt"/>
                <a:ea typeface="Source Sans Pro" pitchFamily="34" charset="-122"/>
                <a:cs typeface="Source Sans Pro" pitchFamily="34" charset="-120"/>
              </a:rPr>
              <a:t>.</a:t>
            </a:r>
          </a:p>
          <a:p>
            <a:r>
              <a:rPr lang="en-US" sz="1600" b="1" dirty="0"/>
              <a:t>Strong Entities:</a:t>
            </a:r>
          </a:p>
          <a:p>
            <a:r>
              <a:rPr lang="en-US" sz="1600" b="1" dirty="0"/>
              <a:t>Definition:</a:t>
            </a:r>
            <a:r>
              <a:rPr lang="en-US" sz="1600" dirty="0"/>
              <a:t/>
            </a:r>
            <a:br>
              <a:rPr lang="en-US" sz="1600" dirty="0"/>
            </a:br>
            <a:r>
              <a:rPr lang="en-US" sz="1600" dirty="0"/>
              <a:t>A strong entity is an entity that can exist independently of any other entity. It has its own unique identifier (or primary key) that distinguishes it from other entities.</a:t>
            </a:r>
          </a:p>
          <a:p>
            <a:r>
              <a:rPr lang="en-US" sz="1600" b="1" dirty="0"/>
              <a:t>Example in Real Life:</a:t>
            </a:r>
            <a:r>
              <a:rPr lang="en-US" sz="1600" dirty="0"/>
              <a:t/>
            </a:r>
            <a:br>
              <a:rPr lang="en-US" sz="1600" dirty="0"/>
            </a:br>
            <a:r>
              <a:rPr lang="en-US" sz="1600" dirty="0"/>
              <a:t>Think of a </a:t>
            </a:r>
            <a:r>
              <a:rPr lang="en-US" sz="1600" b="1" dirty="0"/>
              <a:t>Person</a:t>
            </a:r>
            <a:r>
              <a:rPr lang="en-US" sz="1600" dirty="0"/>
              <a:t> as a strong entity. A person can exist on their own and can be identified uniquely by their Social Security Number (SSN) or Passport Number.</a:t>
            </a:r>
          </a:p>
          <a:p>
            <a:pPr marL="0" indent="0">
              <a:lnSpc>
                <a:spcPts val="2799"/>
              </a:lnSpc>
              <a:buNone/>
            </a:pPr>
            <a:endParaRPr lang="en-US" sz="1750" kern="0" spc="-35" dirty="0" smtClean="0">
              <a:latin typeface="Source Sans Pro" pitchFamily="34" charset="0"/>
              <a:ea typeface="Source Sans Pro" pitchFamily="34" charset="-122"/>
              <a:cs typeface="Source Sans Pro" pitchFamily="34" charset="-120"/>
            </a:endParaRPr>
          </a:p>
          <a:p>
            <a:pPr marL="0" indent="0">
              <a:lnSpc>
                <a:spcPts val="2799"/>
              </a:lnSpc>
              <a:buNone/>
            </a:pPr>
            <a:endParaRPr lang="en-US" sz="1750" kern="0" spc="-35" dirty="0">
              <a:latin typeface="Source Sans Pro" pitchFamily="34" charset="0"/>
              <a:ea typeface="Source Sans Pro" pitchFamily="34" charset="-122"/>
            </a:endParaRPr>
          </a:p>
          <a:p>
            <a:pPr marL="0" indent="0">
              <a:lnSpc>
                <a:spcPts val="2799"/>
              </a:lnSpc>
              <a:buNone/>
            </a:pPr>
            <a:endParaRPr lang="en-US" sz="1750" dirty="0"/>
          </a:p>
        </p:txBody>
      </p:sp>
      <p:sp>
        <p:nvSpPr>
          <p:cNvPr id="9" name="Text 3"/>
          <p:cNvSpPr/>
          <p:nvPr/>
        </p:nvSpPr>
        <p:spPr>
          <a:xfrm>
            <a:off x="7015639" y="2229148"/>
            <a:ext cx="4681061" cy="5391388"/>
          </a:xfrm>
          <a:prstGeom prst="rect">
            <a:avLst/>
          </a:prstGeom>
          <a:noFill/>
          <a:ln/>
        </p:spPr>
        <p:txBody>
          <a:bodyPr wrap="square" rtlCol="0" anchor="t"/>
          <a:lstStyle/>
          <a:p>
            <a:pPr marL="0" indent="0">
              <a:lnSpc>
                <a:spcPts val="2799"/>
              </a:lnSpc>
              <a:buNone/>
            </a:pPr>
            <a:endParaRPr lang="en-US" sz="1750" kern="0" spc="-35" dirty="0" smtClean="0">
              <a:solidFill>
                <a:srgbClr val="272525"/>
              </a:solidFill>
              <a:latin typeface="Source Sans Pro" pitchFamily="34" charset="0"/>
              <a:ea typeface="Source Sans Pro" pitchFamily="34" charset="-122"/>
            </a:endParaRPr>
          </a:p>
          <a:p>
            <a:pPr marL="0" indent="0">
              <a:lnSpc>
                <a:spcPts val="2799"/>
              </a:lnSpc>
              <a:buNone/>
            </a:pPr>
            <a:endParaRPr lang="en-US" sz="1750" dirty="0"/>
          </a:p>
        </p:txBody>
      </p:sp>
      <p:sp>
        <p:nvSpPr>
          <p:cNvPr id="10" name="Text 3"/>
          <p:cNvSpPr/>
          <p:nvPr/>
        </p:nvSpPr>
        <p:spPr>
          <a:xfrm>
            <a:off x="7315200" y="2164616"/>
            <a:ext cx="4681061" cy="5391388"/>
          </a:xfrm>
          <a:prstGeom prst="rect">
            <a:avLst/>
          </a:prstGeom>
          <a:noFill/>
          <a:ln/>
        </p:spPr>
        <p:txBody>
          <a:bodyPr wrap="square" rtlCol="0" anchor="t"/>
          <a:lstStyle/>
          <a:p>
            <a:pPr marL="0" indent="0">
              <a:lnSpc>
                <a:spcPts val="2799"/>
              </a:lnSpc>
              <a:buNone/>
            </a:pPr>
            <a:endParaRPr lang="en-US" sz="1750" kern="0" spc="-35" dirty="0" smtClean="0">
              <a:solidFill>
                <a:srgbClr val="272525"/>
              </a:solidFill>
              <a:latin typeface="Source Sans Pro" pitchFamily="34" charset="0"/>
              <a:ea typeface="Source Sans Pro" pitchFamily="34" charset="-122"/>
              <a:cs typeface="Source Sans Pro" pitchFamily="34" charset="-120"/>
            </a:endParaRPr>
          </a:p>
          <a:p>
            <a:pPr marL="0" indent="0">
              <a:lnSpc>
                <a:spcPts val="2799"/>
              </a:lnSpc>
              <a:buNone/>
            </a:pPr>
            <a:endParaRPr lang="en-US" sz="1750" kern="0" spc="-35" dirty="0" smtClean="0">
              <a:solidFill>
                <a:srgbClr val="272525"/>
              </a:solidFill>
              <a:latin typeface="Source Sans Pro" pitchFamily="34" charset="0"/>
              <a:ea typeface="Source Sans Pro" pitchFamily="34" charset="-122"/>
              <a:cs typeface="Source Sans Pro" pitchFamily="34" charset="-120"/>
            </a:endParaRPr>
          </a:p>
          <a:p>
            <a:pPr marL="0" indent="0">
              <a:lnSpc>
                <a:spcPts val="2799"/>
              </a:lnSpc>
              <a:buNone/>
            </a:pPr>
            <a:endParaRPr lang="en-US" sz="1750" kern="0" spc="-35" dirty="0">
              <a:solidFill>
                <a:srgbClr val="272525"/>
              </a:solidFill>
              <a:latin typeface="Source Sans Pro" pitchFamily="34" charset="0"/>
              <a:ea typeface="Source Sans Pro" pitchFamily="34" charset="-122"/>
            </a:endParaRPr>
          </a:p>
          <a:p>
            <a:pPr marL="0" indent="0">
              <a:lnSpc>
                <a:spcPts val="2799"/>
              </a:lnSpc>
              <a:buNone/>
            </a:pPr>
            <a:endParaRPr lang="en-US" sz="1750" dirty="0"/>
          </a:p>
        </p:txBody>
      </p:sp>
      <p:sp>
        <p:nvSpPr>
          <p:cNvPr id="11" name="Rectangle 10"/>
          <p:cNvSpPr/>
          <p:nvPr/>
        </p:nvSpPr>
        <p:spPr>
          <a:xfrm>
            <a:off x="7635240" y="2229148"/>
            <a:ext cx="6844190" cy="5895948"/>
          </a:xfrm>
          <a:prstGeom prst="rect">
            <a:avLst/>
          </a:prstGeom>
        </p:spPr>
        <p:style>
          <a:lnRef idx="2">
            <a:schemeClr val="accent6"/>
          </a:lnRef>
          <a:fillRef idx="1003">
            <a:schemeClr val="lt1"/>
          </a:fillRef>
          <a:effectRef idx="0">
            <a:schemeClr val="accent6"/>
          </a:effectRef>
          <a:fontRef idx="minor">
            <a:schemeClr val="dk1"/>
          </a:fontRef>
        </p:style>
        <p:txBody>
          <a:bodyPr rtlCol="0" anchor="ctr"/>
          <a:lstStyle/>
          <a:p>
            <a:r>
              <a:rPr lang="en-US" b="1" dirty="0"/>
              <a:t>Weak Entities:</a:t>
            </a:r>
          </a:p>
          <a:p>
            <a:r>
              <a:rPr lang="en-US" b="1" dirty="0"/>
              <a:t>Definition:</a:t>
            </a:r>
          </a:p>
          <a:p>
            <a:r>
              <a:rPr lang="en-US" dirty="0"/>
              <a:t>A weak entity is an entity that cannot exist without being associated with a strong entity. It doesn't have its own unique identifier; instead, it relies on a foreign key which is linked to a strong entity.</a:t>
            </a:r>
          </a:p>
          <a:p>
            <a:endParaRPr lang="en-US" b="1" dirty="0"/>
          </a:p>
          <a:p>
            <a:r>
              <a:rPr lang="en-US" b="1" dirty="0"/>
              <a:t>Example in Real Life:</a:t>
            </a:r>
          </a:p>
          <a:p>
            <a:r>
              <a:rPr lang="en-US" dirty="0"/>
              <a:t>Consider a Bank Account as a weak entity. A bank account cannot exist without being associated with a person (a strong entity). The bank account number alone is not enough to uniquely identify an account; it needs the person's identifier (e.g., SSN) to do so.</a:t>
            </a:r>
          </a:p>
          <a:p>
            <a:endParaRPr lang="en-US" b="1" dirty="0"/>
          </a:p>
          <a:p>
            <a:r>
              <a:rPr lang="en-US" b="1" dirty="0"/>
              <a:t>Summary:</a:t>
            </a:r>
          </a:p>
          <a:p>
            <a:r>
              <a:rPr lang="en-US" dirty="0"/>
              <a:t>Strong Entity: Can exist on its own, has its own unique identifier.</a:t>
            </a:r>
          </a:p>
          <a:p>
            <a:r>
              <a:rPr lang="en-US" dirty="0"/>
              <a:t>Weak Entity: Cannot exist without being associated with a strong entity, relies on a foreign key for identification.</a:t>
            </a:r>
          </a:p>
          <a:p>
            <a:r>
              <a:rPr lang="en-US" dirty="0"/>
              <a:t>I hope this clears up the difference between strong and weak entities!</a:t>
            </a:r>
            <a:endParaRPr lang="en-AU"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14630400" cy="2777490"/>
          </a:xfrm>
          <a:prstGeom prst="rect">
            <a:avLst/>
          </a:prstGeom>
        </p:spPr>
      </p:pic>
      <p:sp>
        <p:nvSpPr>
          <p:cNvPr id="5" name="Text 1"/>
          <p:cNvSpPr/>
          <p:nvPr/>
        </p:nvSpPr>
        <p:spPr>
          <a:xfrm>
            <a:off x="2348389" y="3487460"/>
            <a:ext cx="9933503" cy="1388745"/>
          </a:xfrm>
          <a:prstGeom prst="rect">
            <a:avLst/>
          </a:prstGeom>
          <a:noFill/>
          <a:ln/>
        </p:spPr>
        <p:txBody>
          <a:bodyPr wrap="square" rtlCol="0" anchor="t"/>
          <a:lstStyle/>
          <a:p>
            <a:pPr marL="0" indent="0">
              <a:lnSpc>
                <a:spcPts val="5468"/>
              </a:lnSpc>
              <a:buNone/>
            </a:pPr>
            <a:r>
              <a:rPr lang="en-US" sz="4374" b="1" kern="0" spc="-35" dirty="0">
                <a:solidFill>
                  <a:srgbClr val="000000"/>
                </a:solidFill>
                <a:latin typeface="adonis-web" pitchFamily="34" charset="0"/>
                <a:ea typeface="adonis-web" pitchFamily="34" charset="-122"/>
                <a:cs typeface="adonis-web" pitchFamily="34" charset="-120"/>
              </a:rPr>
              <a:t>Attributes of Entities: Types and Examples</a:t>
            </a:r>
            <a:endParaRPr lang="en-US" sz="4374" dirty="0"/>
          </a:p>
        </p:txBody>
      </p:sp>
      <p:sp>
        <p:nvSpPr>
          <p:cNvPr id="6" name="Text 2"/>
          <p:cNvSpPr/>
          <p:nvPr/>
        </p:nvSpPr>
        <p:spPr>
          <a:xfrm>
            <a:off x="2703790" y="5209461"/>
            <a:ext cx="9578102"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b="1" kern="0" spc="-35" dirty="0">
                <a:solidFill>
                  <a:srgbClr val="272525"/>
                </a:solidFill>
                <a:latin typeface="Source Sans Pro" pitchFamily="34" charset="0"/>
                <a:ea typeface="Source Sans Pro" pitchFamily="34" charset="-122"/>
                <a:cs typeface="Source Sans Pro" pitchFamily="34" charset="-120"/>
              </a:rPr>
              <a:t>Identifying Attributes</a:t>
            </a:r>
            <a:r>
              <a:rPr lang="en-US" sz="1750" kern="0" spc="-35" dirty="0">
                <a:solidFill>
                  <a:srgbClr val="272525"/>
                </a:solidFill>
                <a:latin typeface="Source Sans Pro" pitchFamily="34" charset="0"/>
                <a:ea typeface="Source Sans Pro" pitchFamily="34" charset="-122"/>
                <a:cs typeface="Source Sans Pro" pitchFamily="34" charset="-120"/>
              </a:rPr>
              <a:t> - These are the unique characteristics that distinguish one entity from another, such as a </a:t>
            </a:r>
            <a:r>
              <a:rPr lang="en-US" sz="1750" u="sng" kern="0" spc="-35" dirty="0">
                <a:solidFill>
                  <a:srgbClr val="272525"/>
                </a:solidFill>
                <a:latin typeface="Source Sans Pro" pitchFamily="34" charset="0"/>
                <a:ea typeface="Source Sans Pro" pitchFamily="34" charset="-122"/>
                <a:cs typeface="Source Sans Pro" pitchFamily="34" charset="-120"/>
              </a:rPr>
              <a:t>customer ID</a:t>
            </a:r>
            <a:r>
              <a:rPr lang="en-US" sz="1750" kern="0" spc="-35" dirty="0">
                <a:solidFill>
                  <a:srgbClr val="272525"/>
                </a:solidFill>
                <a:latin typeface="Source Sans Pro" pitchFamily="34" charset="0"/>
                <a:ea typeface="Source Sans Pro" pitchFamily="34" charset="-122"/>
                <a:cs typeface="Source Sans Pro" pitchFamily="34" charset="-120"/>
              </a:rPr>
              <a:t> or a </a:t>
            </a:r>
            <a:r>
              <a:rPr lang="en-US" sz="1750" u="sng" kern="0" spc="-35" dirty="0">
                <a:solidFill>
                  <a:srgbClr val="272525"/>
                </a:solidFill>
                <a:latin typeface="Source Sans Pro" pitchFamily="34" charset="0"/>
                <a:ea typeface="Source Sans Pro" pitchFamily="34" charset="-122"/>
                <a:cs typeface="Source Sans Pro" pitchFamily="34" charset="-120"/>
              </a:rPr>
              <a:t>product SKU</a:t>
            </a:r>
            <a:r>
              <a:rPr lang="en-US" sz="1750" kern="0" spc="-35" dirty="0">
                <a:solidFill>
                  <a:srgbClr val="272525"/>
                </a:solidFill>
                <a:latin typeface="Source Sans Pro" pitchFamily="34" charset="0"/>
                <a:ea typeface="Source Sans Pro" pitchFamily="34" charset="-122"/>
                <a:cs typeface="Source Sans Pro" pitchFamily="34" charset="-120"/>
              </a:rPr>
              <a:t>.</a:t>
            </a:r>
            <a:endParaRPr lang="en-US" sz="1750" dirty="0"/>
          </a:p>
        </p:txBody>
      </p:sp>
      <p:sp>
        <p:nvSpPr>
          <p:cNvPr id="7" name="Text 3"/>
          <p:cNvSpPr/>
          <p:nvPr/>
        </p:nvSpPr>
        <p:spPr>
          <a:xfrm>
            <a:off x="2703790" y="6009084"/>
            <a:ext cx="9578102"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b="1" kern="0" spc="-35" dirty="0" smtClean="0">
                <a:solidFill>
                  <a:srgbClr val="272525"/>
                </a:solidFill>
                <a:latin typeface="Source Sans Pro" pitchFamily="34" charset="0"/>
                <a:ea typeface="Source Sans Pro" pitchFamily="34" charset="-122"/>
                <a:cs typeface="Source Sans Pro" pitchFamily="34" charset="-120"/>
              </a:rPr>
              <a:t>Descriptive Attributes</a:t>
            </a:r>
            <a:r>
              <a:rPr lang="en-US" sz="1750" kern="0" spc="-35" dirty="0" smtClean="0">
                <a:solidFill>
                  <a:srgbClr val="272525"/>
                </a:solidFill>
                <a:latin typeface="Source Sans Pro" pitchFamily="34" charset="0"/>
                <a:ea typeface="Source Sans Pro" pitchFamily="34" charset="-122"/>
                <a:cs typeface="Source Sans Pro" pitchFamily="34" charset="-120"/>
              </a:rPr>
              <a:t> - These provide additional details about an entity, such as a </a:t>
            </a:r>
            <a:r>
              <a:rPr lang="en-US" sz="1750" u="sng" kern="0" spc="-35" dirty="0" smtClean="0">
                <a:solidFill>
                  <a:srgbClr val="272525"/>
                </a:solidFill>
                <a:latin typeface="Source Sans Pro" pitchFamily="34" charset="0"/>
                <a:ea typeface="Source Sans Pro" pitchFamily="34" charset="-122"/>
                <a:cs typeface="Source Sans Pro" pitchFamily="34" charset="-120"/>
              </a:rPr>
              <a:t>customer's name</a:t>
            </a:r>
            <a:r>
              <a:rPr lang="en-US" sz="1750" kern="0" spc="-35" dirty="0" smtClean="0">
                <a:solidFill>
                  <a:srgbClr val="272525"/>
                </a:solidFill>
                <a:latin typeface="Source Sans Pro" pitchFamily="34" charset="0"/>
                <a:ea typeface="Source Sans Pro" pitchFamily="34" charset="-122"/>
                <a:cs typeface="Source Sans Pro" pitchFamily="34" charset="-120"/>
              </a:rPr>
              <a:t>, </a:t>
            </a:r>
            <a:r>
              <a:rPr lang="en-US" sz="1750" u="sng" kern="0" spc="-35" dirty="0" smtClean="0">
                <a:solidFill>
                  <a:srgbClr val="272525"/>
                </a:solidFill>
                <a:latin typeface="Source Sans Pro" pitchFamily="34" charset="0"/>
                <a:ea typeface="Source Sans Pro" pitchFamily="34" charset="-122"/>
                <a:cs typeface="Source Sans Pro" pitchFamily="34" charset="-120"/>
              </a:rPr>
              <a:t>product description</a:t>
            </a:r>
            <a:r>
              <a:rPr lang="en-US" sz="1750" kern="0" spc="-35" dirty="0" smtClean="0">
                <a:solidFill>
                  <a:srgbClr val="272525"/>
                </a:solidFill>
                <a:latin typeface="Source Sans Pro" pitchFamily="34" charset="0"/>
                <a:ea typeface="Source Sans Pro" pitchFamily="34" charset="-122"/>
                <a:cs typeface="Source Sans Pro" pitchFamily="34" charset="-120"/>
              </a:rPr>
              <a:t>, or </a:t>
            </a:r>
            <a:r>
              <a:rPr lang="en-US" sz="1750" u="sng" kern="0" spc="-35" dirty="0" smtClean="0">
                <a:solidFill>
                  <a:srgbClr val="272525"/>
                </a:solidFill>
                <a:latin typeface="Source Sans Pro" pitchFamily="34" charset="0"/>
                <a:ea typeface="Source Sans Pro" pitchFamily="34" charset="-122"/>
                <a:cs typeface="Source Sans Pro" pitchFamily="34" charset="-120"/>
              </a:rPr>
              <a:t>order date</a:t>
            </a:r>
            <a:r>
              <a:rPr lang="en-US" sz="1750" kern="0" spc="-35" dirty="0" smtClean="0">
                <a:solidFill>
                  <a:srgbClr val="272525"/>
                </a:solidFill>
                <a:latin typeface="Source Sans Pro" pitchFamily="34" charset="0"/>
                <a:ea typeface="Source Sans Pro" pitchFamily="34" charset="-122"/>
                <a:cs typeface="Source Sans Pro" pitchFamily="34" charset="-120"/>
              </a:rPr>
              <a:t>.</a:t>
            </a:r>
            <a:endParaRPr lang="en-US" sz="1750" dirty="0"/>
          </a:p>
        </p:txBody>
      </p:sp>
      <p:sp>
        <p:nvSpPr>
          <p:cNvPr id="8" name="Text 4"/>
          <p:cNvSpPr/>
          <p:nvPr/>
        </p:nvSpPr>
        <p:spPr>
          <a:xfrm>
            <a:off x="2703790" y="6808708"/>
            <a:ext cx="9578102"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b="1" kern="0" spc="-35" dirty="0">
                <a:solidFill>
                  <a:srgbClr val="272525"/>
                </a:solidFill>
                <a:latin typeface="Source Sans Pro" pitchFamily="34" charset="0"/>
                <a:ea typeface="Source Sans Pro" pitchFamily="34" charset="-122"/>
                <a:cs typeface="Source Sans Pro" pitchFamily="34" charset="-120"/>
              </a:rPr>
              <a:t>Derived Attributes</a:t>
            </a:r>
            <a:r>
              <a:rPr lang="en-US" sz="1750" kern="0" spc="-35" dirty="0">
                <a:solidFill>
                  <a:srgbClr val="272525"/>
                </a:solidFill>
                <a:latin typeface="Source Sans Pro" pitchFamily="34" charset="0"/>
                <a:ea typeface="Source Sans Pro" pitchFamily="34" charset="-122"/>
                <a:cs typeface="Source Sans Pro" pitchFamily="34" charset="-120"/>
              </a:rPr>
              <a:t> - These are values that can be calculated or inferred from other attributes, like a </a:t>
            </a:r>
            <a:r>
              <a:rPr lang="en-US" sz="1750" u="sng" kern="0" spc="-35" dirty="0">
                <a:solidFill>
                  <a:srgbClr val="272525"/>
                </a:solidFill>
                <a:latin typeface="Source Sans Pro" pitchFamily="34" charset="0"/>
                <a:ea typeface="Source Sans Pro" pitchFamily="34" charset="-122"/>
                <a:cs typeface="Source Sans Pro" pitchFamily="34" charset="-120"/>
              </a:rPr>
              <a:t>customer's age</a:t>
            </a:r>
            <a:r>
              <a:rPr lang="en-US" sz="1750" kern="0" spc="-35" dirty="0">
                <a:solidFill>
                  <a:srgbClr val="272525"/>
                </a:solidFill>
                <a:latin typeface="Source Sans Pro" pitchFamily="34" charset="0"/>
                <a:ea typeface="Source Sans Pro" pitchFamily="34" charset="-122"/>
                <a:cs typeface="Source Sans Pro" pitchFamily="34" charset="-120"/>
              </a:rPr>
              <a:t> based on their </a:t>
            </a:r>
            <a:r>
              <a:rPr lang="en-US" sz="1750" u="sng" kern="0" spc="-35" dirty="0">
                <a:solidFill>
                  <a:srgbClr val="272525"/>
                </a:solidFill>
                <a:latin typeface="Source Sans Pro" pitchFamily="34" charset="0"/>
                <a:ea typeface="Source Sans Pro" pitchFamily="34" charset="-122"/>
                <a:cs typeface="Source Sans Pro" pitchFamily="34" charset="-120"/>
              </a:rPr>
              <a:t>date of birth</a:t>
            </a:r>
            <a:r>
              <a:rPr lang="en-US" sz="1750" kern="0" spc="-35" dirty="0">
                <a:solidFill>
                  <a:srgbClr val="272525"/>
                </a:solidFill>
                <a:latin typeface="Source Sans Pro" pitchFamily="34" charset="0"/>
                <a:ea typeface="Source Sans Pro" pitchFamily="34" charset="-122"/>
                <a:cs typeface="Source Sans Pro" pitchFamily="34" charset="-120"/>
              </a:rPr>
              <a:t> or a </a:t>
            </a:r>
            <a:r>
              <a:rPr lang="en-US" sz="1750" u="sng" kern="0" spc="-35" dirty="0">
                <a:solidFill>
                  <a:srgbClr val="272525"/>
                </a:solidFill>
                <a:latin typeface="Source Sans Pro" pitchFamily="34" charset="0"/>
                <a:ea typeface="Source Sans Pro" pitchFamily="34" charset="-122"/>
                <a:cs typeface="Source Sans Pro" pitchFamily="34" charset="-120"/>
              </a:rPr>
              <a:t>product's total sales</a:t>
            </a:r>
            <a:r>
              <a:rPr lang="en-US" sz="1750" kern="0" spc="-35" dirty="0">
                <a:solidFill>
                  <a:srgbClr val="272525"/>
                </a:solidFill>
                <a:latin typeface="Source Sans Pro" pitchFamily="34" charset="0"/>
                <a:ea typeface="Source Sans Pro" pitchFamily="34" charset="-122"/>
                <a:cs typeface="Source Sans Pro" pitchFamily="34" charset="-120"/>
              </a:rPr>
              <a:t> based on </a:t>
            </a:r>
            <a:r>
              <a:rPr lang="en-US" sz="1750" u="sng" kern="0" spc="-35" dirty="0">
                <a:solidFill>
                  <a:srgbClr val="272525"/>
                </a:solidFill>
                <a:latin typeface="Source Sans Pro" pitchFamily="34" charset="0"/>
                <a:ea typeface="Source Sans Pro" pitchFamily="34" charset="-122"/>
                <a:cs typeface="Source Sans Pro" pitchFamily="34" charset="-120"/>
              </a:rPr>
              <a:t>individual order quantities</a:t>
            </a:r>
            <a:r>
              <a:rPr lang="en-US" sz="1750" kern="0" spc="-35" dirty="0">
                <a:solidFill>
                  <a:srgbClr val="272525"/>
                </a:solidFill>
                <a:latin typeface="Source Sans Pro" pitchFamily="34" charset="0"/>
                <a:ea typeface="Source Sans Pro" pitchFamily="34" charset="-122"/>
                <a:cs typeface="Source Sans Pro" pitchFamily="34" charset="-120"/>
              </a:rPr>
              <a:t>.</a:t>
            </a:r>
            <a:endParaRPr lang="en-US" sz="17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199" y="1884878"/>
            <a:ext cx="7477601" cy="1388745"/>
          </a:xfrm>
          <a:prstGeom prst="rect">
            <a:avLst/>
          </a:prstGeom>
          <a:noFill/>
          <a:ln/>
        </p:spPr>
        <p:txBody>
          <a:bodyPr wrap="square" rtlCol="0" anchor="t"/>
          <a:lstStyle/>
          <a:p>
            <a:pPr marL="0" indent="0">
              <a:lnSpc>
                <a:spcPts val="5468"/>
              </a:lnSpc>
              <a:buNone/>
            </a:pPr>
            <a:r>
              <a:rPr lang="en-US" sz="4374" b="1" kern="0" spc="-35" dirty="0">
                <a:solidFill>
                  <a:srgbClr val="000000"/>
                </a:solidFill>
                <a:latin typeface="adonis-web" pitchFamily="34" charset="0"/>
                <a:ea typeface="adonis-web" pitchFamily="34" charset="-122"/>
                <a:cs typeface="adonis-web" pitchFamily="34" charset="-120"/>
              </a:rPr>
              <a:t>Relationship between Entities and Attributes</a:t>
            </a:r>
            <a:endParaRPr lang="en-US" sz="4374" dirty="0"/>
          </a:p>
        </p:txBody>
      </p:sp>
      <p:sp>
        <p:nvSpPr>
          <p:cNvPr id="6" name="Text 2"/>
          <p:cNvSpPr/>
          <p:nvPr/>
        </p:nvSpPr>
        <p:spPr>
          <a:xfrm>
            <a:off x="833199" y="3606879"/>
            <a:ext cx="7477601" cy="1066205"/>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Entities and attributes are the fundamental building blocks of database design. Entities represent the main objects or concepts being modeled, while attributes describe the specific characteristics and properties of those entities.</a:t>
            </a:r>
            <a:endParaRPr lang="en-US" sz="1750" dirty="0"/>
          </a:p>
        </p:txBody>
      </p:sp>
      <p:sp>
        <p:nvSpPr>
          <p:cNvPr id="7" name="Text 3"/>
          <p:cNvSpPr/>
          <p:nvPr/>
        </p:nvSpPr>
        <p:spPr>
          <a:xfrm>
            <a:off x="833199" y="4922996"/>
            <a:ext cx="7477601"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The relationship between entities and attributes is crucial, as attributes provide the detailed information that defines and describes each entity. Entities cannot exist without their associated attributes, and attributes are meaningless without being tied to a specific entity.</a:t>
            </a:r>
            <a:endParaRPr lang="en-US" sz="17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0" y="0"/>
            <a:ext cx="14630400" cy="2014538"/>
          </a:xfrm>
          <a:prstGeom prst="rect">
            <a:avLst/>
          </a:prstGeom>
        </p:spPr>
      </p:pic>
      <p:sp>
        <p:nvSpPr>
          <p:cNvPr id="5" name="Text 1"/>
          <p:cNvSpPr/>
          <p:nvPr/>
        </p:nvSpPr>
        <p:spPr>
          <a:xfrm>
            <a:off x="3712726" y="2457688"/>
            <a:ext cx="7204948" cy="1007269"/>
          </a:xfrm>
          <a:prstGeom prst="rect">
            <a:avLst/>
          </a:prstGeom>
          <a:noFill/>
          <a:ln/>
        </p:spPr>
        <p:txBody>
          <a:bodyPr wrap="square" rtlCol="0" anchor="t"/>
          <a:lstStyle/>
          <a:p>
            <a:pPr marL="0" indent="0">
              <a:lnSpc>
                <a:spcPts val="3966"/>
              </a:lnSpc>
              <a:buNone/>
            </a:pPr>
            <a:r>
              <a:rPr lang="en-US" sz="3173" b="1" kern="0" spc="-25" dirty="0">
                <a:solidFill>
                  <a:srgbClr val="000000"/>
                </a:solidFill>
                <a:latin typeface="adonis-web" pitchFamily="34" charset="0"/>
                <a:ea typeface="adonis-web" pitchFamily="34" charset="-122"/>
                <a:cs typeface="adonis-web" pitchFamily="34" charset="-120"/>
              </a:rPr>
              <a:t>Cardinality and Multiplicity in Entity-Attribute Relationships</a:t>
            </a:r>
            <a:endParaRPr lang="en-US" sz="3173" dirty="0"/>
          </a:p>
        </p:txBody>
      </p:sp>
      <p:sp>
        <p:nvSpPr>
          <p:cNvPr id="6" name="Shape 2"/>
          <p:cNvSpPr/>
          <p:nvPr/>
        </p:nvSpPr>
        <p:spPr>
          <a:xfrm>
            <a:off x="7299127" y="3706654"/>
            <a:ext cx="32147" cy="4081343"/>
          </a:xfrm>
          <a:prstGeom prst="roundRect">
            <a:avLst>
              <a:gd name="adj" fmla="val 225602"/>
            </a:avLst>
          </a:prstGeom>
          <a:solidFill>
            <a:srgbClr val="D6BADD"/>
          </a:solidFill>
          <a:ln/>
        </p:spPr>
      </p:sp>
      <p:sp>
        <p:nvSpPr>
          <p:cNvPr id="7" name="Shape 3"/>
          <p:cNvSpPr/>
          <p:nvPr/>
        </p:nvSpPr>
        <p:spPr>
          <a:xfrm>
            <a:off x="6569928" y="3997643"/>
            <a:ext cx="563999" cy="32147"/>
          </a:xfrm>
          <a:prstGeom prst="roundRect">
            <a:avLst>
              <a:gd name="adj" fmla="val 225602"/>
            </a:avLst>
          </a:prstGeom>
          <a:solidFill>
            <a:srgbClr val="D6BADD"/>
          </a:solidFill>
          <a:ln/>
        </p:spPr>
      </p:sp>
      <p:sp>
        <p:nvSpPr>
          <p:cNvPr id="8" name="Shape 4"/>
          <p:cNvSpPr/>
          <p:nvPr/>
        </p:nvSpPr>
        <p:spPr>
          <a:xfrm>
            <a:off x="7133927" y="3832503"/>
            <a:ext cx="362545" cy="362545"/>
          </a:xfrm>
          <a:prstGeom prst="roundRect">
            <a:avLst>
              <a:gd name="adj" fmla="val 20004"/>
            </a:avLst>
          </a:prstGeom>
          <a:solidFill>
            <a:srgbClr val="F0D4F7"/>
          </a:solidFill>
          <a:ln w="7620">
            <a:solidFill>
              <a:srgbClr val="D6BADD"/>
            </a:solidFill>
            <a:prstDash val="solid"/>
          </a:ln>
        </p:spPr>
      </p:sp>
      <p:sp>
        <p:nvSpPr>
          <p:cNvPr id="9" name="Text 5"/>
          <p:cNvSpPr/>
          <p:nvPr/>
        </p:nvSpPr>
        <p:spPr>
          <a:xfrm>
            <a:off x="7247989" y="3862745"/>
            <a:ext cx="134303" cy="302062"/>
          </a:xfrm>
          <a:prstGeom prst="rect">
            <a:avLst/>
          </a:prstGeom>
          <a:noFill/>
          <a:ln/>
        </p:spPr>
        <p:txBody>
          <a:bodyPr wrap="none" rtlCol="0" anchor="t"/>
          <a:lstStyle/>
          <a:p>
            <a:pPr marL="0" indent="0" algn="ctr">
              <a:lnSpc>
                <a:spcPts val="2379"/>
              </a:lnSpc>
              <a:buNone/>
            </a:pPr>
            <a:r>
              <a:rPr lang="en-US" sz="1904" b="1" kern="0" spc="-25" dirty="0">
                <a:solidFill>
                  <a:srgbClr val="272525"/>
                </a:solidFill>
                <a:latin typeface="adonis-web" pitchFamily="34" charset="0"/>
                <a:ea typeface="adonis-web" pitchFamily="34" charset="-122"/>
                <a:cs typeface="adonis-web" pitchFamily="34" charset="-120"/>
              </a:rPr>
              <a:t>1</a:t>
            </a:r>
            <a:endParaRPr lang="en-US" sz="1904" dirty="0"/>
          </a:p>
        </p:txBody>
      </p:sp>
      <p:sp>
        <p:nvSpPr>
          <p:cNvPr id="10" name="Text 6"/>
          <p:cNvSpPr/>
          <p:nvPr/>
        </p:nvSpPr>
        <p:spPr>
          <a:xfrm>
            <a:off x="4414361" y="3867745"/>
            <a:ext cx="2014538" cy="251817"/>
          </a:xfrm>
          <a:prstGeom prst="rect">
            <a:avLst/>
          </a:prstGeom>
          <a:noFill/>
          <a:ln/>
        </p:spPr>
        <p:txBody>
          <a:bodyPr wrap="none" rtlCol="0" anchor="t"/>
          <a:lstStyle/>
          <a:p>
            <a:pPr marL="0" indent="0" algn="r">
              <a:lnSpc>
                <a:spcPts val="1983"/>
              </a:lnSpc>
              <a:buNone/>
            </a:pPr>
            <a:r>
              <a:rPr lang="en-US" sz="1586" b="1" kern="0" spc="-25" dirty="0">
                <a:solidFill>
                  <a:srgbClr val="272525"/>
                </a:solidFill>
                <a:latin typeface="adonis-web" pitchFamily="34" charset="0"/>
                <a:ea typeface="adonis-web" pitchFamily="34" charset="-122"/>
                <a:cs typeface="adonis-web" pitchFamily="34" charset="-120"/>
              </a:rPr>
              <a:t>Cardinality</a:t>
            </a:r>
            <a:endParaRPr lang="en-US" sz="1586" dirty="0"/>
          </a:p>
        </p:txBody>
      </p:sp>
      <p:sp>
        <p:nvSpPr>
          <p:cNvPr id="11" name="Text 7"/>
          <p:cNvSpPr/>
          <p:nvPr/>
        </p:nvSpPr>
        <p:spPr>
          <a:xfrm>
            <a:off x="3712726" y="4216241"/>
            <a:ext cx="2716173" cy="1289447"/>
          </a:xfrm>
          <a:prstGeom prst="rect">
            <a:avLst/>
          </a:prstGeom>
          <a:noFill/>
          <a:ln/>
        </p:spPr>
        <p:txBody>
          <a:bodyPr wrap="square" rtlCol="0" anchor="t"/>
          <a:lstStyle/>
          <a:p>
            <a:pPr marL="0" indent="0" algn="r">
              <a:lnSpc>
                <a:spcPts val="2030"/>
              </a:lnSpc>
              <a:buNone/>
            </a:pPr>
            <a:r>
              <a:rPr lang="en-US" sz="1269" kern="0" spc="-25" dirty="0">
                <a:solidFill>
                  <a:srgbClr val="272525"/>
                </a:solidFill>
                <a:latin typeface="Source Sans Pro" pitchFamily="34" charset="0"/>
                <a:ea typeface="Source Sans Pro" pitchFamily="34" charset="-122"/>
                <a:cs typeface="Source Sans Pro" pitchFamily="34" charset="-120"/>
              </a:rPr>
              <a:t>Cardinality defines the numerical relationship between an entity and its attributes. It specifies the minimum and maximum number of attribute instances associated with each entity instance.</a:t>
            </a:r>
            <a:endParaRPr lang="en-US" sz="1269" dirty="0"/>
          </a:p>
        </p:txBody>
      </p:sp>
      <p:sp>
        <p:nvSpPr>
          <p:cNvPr id="12" name="Shape 8"/>
          <p:cNvSpPr/>
          <p:nvPr/>
        </p:nvSpPr>
        <p:spPr>
          <a:xfrm>
            <a:off x="7496473" y="4803338"/>
            <a:ext cx="563999" cy="32147"/>
          </a:xfrm>
          <a:prstGeom prst="roundRect">
            <a:avLst>
              <a:gd name="adj" fmla="val 225602"/>
            </a:avLst>
          </a:prstGeom>
          <a:solidFill>
            <a:srgbClr val="D6BADD"/>
          </a:solidFill>
          <a:ln/>
        </p:spPr>
      </p:sp>
      <p:sp>
        <p:nvSpPr>
          <p:cNvPr id="13" name="Shape 9"/>
          <p:cNvSpPr/>
          <p:nvPr/>
        </p:nvSpPr>
        <p:spPr>
          <a:xfrm>
            <a:off x="7133927" y="4638199"/>
            <a:ext cx="362545" cy="362545"/>
          </a:xfrm>
          <a:prstGeom prst="roundRect">
            <a:avLst>
              <a:gd name="adj" fmla="val 20004"/>
            </a:avLst>
          </a:prstGeom>
          <a:solidFill>
            <a:srgbClr val="F0D4F7"/>
          </a:solidFill>
          <a:ln w="7620">
            <a:solidFill>
              <a:srgbClr val="D6BADD"/>
            </a:solidFill>
            <a:prstDash val="solid"/>
          </a:ln>
        </p:spPr>
      </p:sp>
      <p:sp>
        <p:nvSpPr>
          <p:cNvPr id="14" name="Text 10"/>
          <p:cNvSpPr/>
          <p:nvPr/>
        </p:nvSpPr>
        <p:spPr>
          <a:xfrm>
            <a:off x="7247989" y="4668441"/>
            <a:ext cx="134303" cy="302062"/>
          </a:xfrm>
          <a:prstGeom prst="rect">
            <a:avLst/>
          </a:prstGeom>
          <a:noFill/>
          <a:ln/>
        </p:spPr>
        <p:txBody>
          <a:bodyPr wrap="none" rtlCol="0" anchor="t"/>
          <a:lstStyle/>
          <a:p>
            <a:pPr marL="0" indent="0" algn="ctr">
              <a:lnSpc>
                <a:spcPts val="2379"/>
              </a:lnSpc>
              <a:buNone/>
            </a:pPr>
            <a:r>
              <a:rPr lang="en-US" sz="1904" b="1" kern="0" spc="-25" dirty="0">
                <a:solidFill>
                  <a:srgbClr val="272525"/>
                </a:solidFill>
                <a:latin typeface="adonis-web" pitchFamily="34" charset="0"/>
                <a:ea typeface="adonis-web" pitchFamily="34" charset="-122"/>
                <a:cs typeface="adonis-web" pitchFamily="34" charset="-120"/>
              </a:rPr>
              <a:t>2</a:t>
            </a:r>
            <a:endParaRPr lang="en-US" sz="1904" dirty="0"/>
          </a:p>
        </p:txBody>
      </p:sp>
      <p:sp>
        <p:nvSpPr>
          <p:cNvPr id="15" name="Text 11"/>
          <p:cNvSpPr/>
          <p:nvPr/>
        </p:nvSpPr>
        <p:spPr>
          <a:xfrm>
            <a:off x="8201501" y="4673441"/>
            <a:ext cx="2014538" cy="251817"/>
          </a:xfrm>
          <a:prstGeom prst="rect">
            <a:avLst/>
          </a:prstGeom>
          <a:noFill/>
          <a:ln/>
        </p:spPr>
        <p:txBody>
          <a:bodyPr wrap="none" rtlCol="0" anchor="t"/>
          <a:lstStyle/>
          <a:p>
            <a:pPr marL="0" indent="0" algn="l">
              <a:lnSpc>
                <a:spcPts val="1983"/>
              </a:lnSpc>
              <a:buNone/>
            </a:pPr>
            <a:r>
              <a:rPr lang="en-US" sz="1586" b="1" kern="0" spc="-25" dirty="0">
                <a:solidFill>
                  <a:srgbClr val="272525"/>
                </a:solidFill>
                <a:latin typeface="adonis-web" pitchFamily="34" charset="0"/>
                <a:ea typeface="adonis-web" pitchFamily="34" charset="-122"/>
                <a:cs typeface="adonis-web" pitchFamily="34" charset="-120"/>
              </a:rPr>
              <a:t>Multiplicity</a:t>
            </a:r>
            <a:endParaRPr lang="en-US" sz="1586" dirty="0"/>
          </a:p>
        </p:txBody>
      </p:sp>
      <p:sp>
        <p:nvSpPr>
          <p:cNvPr id="16" name="Text 12"/>
          <p:cNvSpPr/>
          <p:nvPr/>
        </p:nvSpPr>
        <p:spPr>
          <a:xfrm>
            <a:off x="8201501" y="5021937"/>
            <a:ext cx="2716173" cy="1289447"/>
          </a:xfrm>
          <a:prstGeom prst="rect">
            <a:avLst/>
          </a:prstGeom>
          <a:noFill/>
          <a:ln/>
        </p:spPr>
        <p:txBody>
          <a:bodyPr wrap="square" rtlCol="0" anchor="t"/>
          <a:lstStyle/>
          <a:p>
            <a:pPr marL="0" indent="0" algn="l">
              <a:lnSpc>
                <a:spcPts val="2030"/>
              </a:lnSpc>
              <a:buNone/>
            </a:pPr>
            <a:r>
              <a:rPr lang="en-US" sz="1269" kern="0" spc="-25" dirty="0">
                <a:solidFill>
                  <a:srgbClr val="272525"/>
                </a:solidFill>
                <a:latin typeface="Source Sans Pro" pitchFamily="34" charset="0"/>
                <a:ea typeface="Source Sans Pro" pitchFamily="34" charset="-122"/>
                <a:cs typeface="Source Sans Pro" pitchFamily="34" charset="-120"/>
              </a:rPr>
              <a:t>Multiplicity describes the possible number of relationships an entity can have with another entity. It represents the degree or strength of the relationship between entities.</a:t>
            </a:r>
            <a:endParaRPr lang="en-US" sz="1269" dirty="0"/>
          </a:p>
        </p:txBody>
      </p:sp>
      <p:sp>
        <p:nvSpPr>
          <p:cNvPr id="17" name="Shape 13"/>
          <p:cNvSpPr/>
          <p:nvPr/>
        </p:nvSpPr>
        <p:spPr>
          <a:xfrm>
            <a:off x="6569928" y="6118860"/>
            <a:ext cx="563999" cy="32147"/>
          </a:xfrm>
          <a:prstGeom prst="roundRect">
            <a:avLst>
              <a:gd name="adj" fmla="val 225602"/>
            </a:avLst>
          </a:prstGeom>
          <a:solidFill>
            <a:srgbClr val="D6BADD"/>
          </a:solidFill>
          <a:ln/>
        </p:spPr>
      </p:sp>
      <p:sp>
        <p:nvSpPr>
          <p:cNvPr id="18" name="Shape 14"/>
          <p:cNvSpPr/>
          <p:nvPr/>
        </p:nvSpPr>
        <p:spPr>
          <a:xfrm>
            <a:off x="7133927" y="5953720"/>
            <a:ext cx="362545" cy="362545"/>
          </a:xfrm>
          <a:prstGeom prst="roundRect">
            <a:avLst>
              <a:gd name="adj" fmla="val 20004"/>
            </a:avLst>
          </a:prstGeom>
          <a:solidFill>
            <a:srgbClr val="F0D4F7"/>
          </a:solidFill>
          <a:ln w="7620">
            <a:solidFill>
              <a:srgbClr val="D6BADD"/>
            </a:solidFill>
            <a:prstDash val="solid"/>
          </a:ln>
        </p:spPr>
      </p:sp>
      <p:sp>
        <p:nvSpPr>
          <p:cNvPr id="19" name="Text 15"/>
          <p:cNvSpPr/>
          <p:nvPr/>
        </p:nvSpPr>
        <p:spPr>
          <a:xfrm>
            <a:off x="7247989" y="5983962"/>
            <a:ext cx="134303" cy="302062"/>
          </a:xfrm>
          <a:prstGeom prst="rect">
            <a:avLst/>
          </a:prstGeom>
          <a:noFill/>
          <a:ln/>
        </p:spPr>
        <p:txBody>
          <a:bodyPr wrap="none" rtlCol="0" anchor="t"/>
          <a:lstStyle/>
          <a:p>
            <a:pPr marL="0" indent="0" algn="ctr">
              <a:lnSpc>
                <a:spcPts val="2379"/>
              </a:lnSpc>
              <a:buNone/>
            </a:pPr>
            <a:r>
              <a:rPr lang="en-US" sz="1904" b="1" kern="0" spc="-25" dirty="0">
                <a:solidFill>
                  <a:srgbClr val="272525"/>
                </a:solidFill>
                <a:latin typeface="adonis-web" pitchFamily="34" charset="0"/>
                <a:ea typeface="adonis-web" pitchFamily="34" charset="-122"/>
                <a:cs typeface="adonis-web" pitchFamily="34" charset="-120"/>
              </a:rPr>
              <a:t>3</a:t>
            </a:r>
            <a:endParaRPr lang="en-US" sz="1904" dirty="0"/>
          </a:p>
        </p:txBody>
      </p:sp>
      <p:sp>
        <p:nvSpPr>
          <p:cNvPr id="20" name="Text 16"/>
          <p:cNvSpPr/>
          <p:nvPr/>
        </p:nvSpPr>
        <p:spPr>
          <a:xfrm>
            <a:off x="4357926" y="5988963"/>
            <a:ext cx="2070973" cy="251817"/>
          </a:xfrm>
          <a:prstGeom prst="rect">
            <a:avLst/>
          </a:prstGeom>
          <a:noFill/>
          <a:ln/>
        </p:spPr>
        <p:txBody>
          <a:bodyPr wrap="none" rtlCol="0" anchor="t"/>
          <a:lstStyle/>
          <a:p>
            <a:pPr marL="0" indent="0" algn="r">
              <a:lnSpc>
                <a:spcPts val="1983"/>
              </a:lnSpc>
              <a:buNone/>
            </a:pPr>
            <a:r>
              <a:rPr lang="en-US" sz="1586" b="1" kern="0" spc="-25" dirty="0">
                <a:solidFill>
                  <a:srgbClr val="272525"/>
                </a:solidFill>
                <a:latin typeface="adonis-web" pitchFamily="34" charset="0"/>
                <a:ea typeface="adonis-web" pitchFamily="34" charset="-122"/>
                <a:cs typeface="adonis-web" pitchFamily="34" charset="-120"/>
              </a:rPr>
              <a:t>Relationship Constraints</a:t>
            </a:r>
            <a:endParaRPr lang="en-US" sz="1586" dirty="0"/>
          </a:p>
        </p:txBody>
      </p:sp>
      <p:sp>
        <p:nvSpPr>
          <p:cNvPr id="21" name="Text 17"/>
          <p:cNvSpPr/>
          <p:nvPr/>
        </p:nvSpPr>
        <p:spPr>
          <a:xfrm>
            <a:off x="3712726" y="6337459"/>
            <a:ext cx="2716173" cy="1289447"/>
          </a:xfrm>
          <a:prstGeom prst="rect">
            <a:avLst/>
          </a:prstGeom>
          <a:noFill/>
          <a:ln/>
        </p:spPr>
        <p:txBody>
          <a:bodyPr wrap="square" rtlCol="0" anchor="t"/>
          <a:lstStyle/>
          <a:p>
            <a:pPr marL="0" indent="0" algn="r">
              <a:lnSpc>
                <a:spcPts val="2030"/>
              </a:lnSpc>
              <a:buNone/>
            </a:pPr>
            <a:r>
              <a:rPr lang="en-US" sz="1269" kern="0" spc="-25" dirty="0">
                <a:solidFill>
                  <a:srgbClr val="272525"/>
                </a:solidFill>
                <a:latin typeface="Source Sans Pro" pitchFamily="34" charset="0"/>
                <a:ea typeface="Source Sans Pro" pitchFamily="34" charset="-122"/>
                <a:cs typeface="Source Sans Pro" pitchFamily="34" charset="-120"/>
              </a:rPr>
              <a:t>Cardinality and multiplicity constraints enforce business rules and ensure data integrity by defining the allowed relationships between entities and their attributes.</a:t>
            </a:r>
            <a:endParaRPr lang="en-US" sz="1269"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300447" y="240219"/>
            <a:ext cx="11524246" cy="1388745"/>
          </a:xfrm>
          <a:prstGeom prst="rect">
            <a:avLst/>
          </a:prstGeom>
          <a:noFill/>
          <a:ln/>
        </p:spPr>
        <p:txBody>
          <a:bodyPr wrap="square" rtlCol="0" anchor="t"/>
          <a:lstStyle/>
          <a:p>
            <a:pPr marL="0" indent="0">
              <a:lnSpc>
                <a:spcPts val="5468"/>
              </a:lnSpc>
              <a:buNone/>
            </a:pPr>
            <a:r>
              <a:rPr lang="en-US" sz="4374" b="1" kern="0" spc="-35" dirty="0">
                <a:solidFill>
                  <a:srgbClr val="000000"/>
                </a:solidFill>
                <a:latin typeface="adonis-web" pitchFamily="34" charset="0"/>
                <a:ea typeface="adonis-web" pitchFamily="34" charset="-122"/>
                <a:cs typeface="adonis-web" pitchFamily="34" charset="-120"/>
              </a:rPr>
              <a:t>Representing Entities and Attributes in Database Diagrams</a:t>
            </a:r>
            <a:endParaRPr lang="en-US" sz="4374" dirty="0"/>
          </a:p>
        </p:txBody>
      </p:sp>
      <p:sp>
        <p:nvSpPr>
          <p:cNvPr id="5" name="Text 2"/>
          <p:cNvSpPr/>
          <p:nvPr/>
        </p:nvSpPr>
        <p:spPr>
          <a:xfrm>
            <a:off x="-1" y="1981302"/>
            <a:ext cx="7942507" cy="2694284"/>
          </a:xfrm>
          <a:prstGeom prst="rect">
            <a:avLst/>
          </a:prstGeom>
          <a:noFill/>
          <a:ln/>
        </p:spPr>
        <p:txBody>
          <a:bodyPr wrap="square" rtlCol="0" anchor="t"/>
          <a:lstStyle/>
          <a:p>
            <a:pPr marL="0" indent="0" algn="just">
              <a:lnSpc>
                <a:spcPts val="2799"/>
              </a:lnSpc>
              <a:buNone/>
            </a:pPr>
            <a:r>
              <a:rPr lang="en-US" sz="2400" kern="0" spc="-35" dirty="0">
                <a:solidFill>
                  <a:srgbClr val="272525"/>
                </a:solidFill>
                <a:latin typeface="Source Sans Pro" pitchFamily="34" charset="0"/>
                <a:ea typeface="Source Sans Pro" pitchFamily="34" charset="-122"/>
                <a:cs typeface="Source Sans Pro" pitchFamily="34" charset="-120"/>
              </a:rPr>
              <a:t>Database diagrams, such as Entity-Relationship Diagrams (ERDs), provide a visual representation of the entities and their attributes in a database system. These diagrams help designers and developers understand the structure and relationships between different data elements</a:t>
            </a:r>
            <a:r>
              <a:rPr lang="en-US" sz="2400" kern="0" spc="-35" dirty="0" smtClean="0">
                <a:solidFill>
                  <a:srgbClr val="272525"/>
                </a:solidFill>
                <a:latin typeface="Source Sans Pro" pitchFamily="34" charset="0"/>
                <a:ea typeface="Source Sans Pro" pitchFamily="34" charset="-122"/>
                <a:cs typeface="Source Sans Pro" pitchFamily="34" charset="-120"/>
              </a:rPr>
              <a:t>.</a:t>
            </a:r>
          </a:p>
          <a:p>
            <a:pPr marL="0" indent="0" algn="just">
              <a:lnSpc>
                <a:spcPts val="2799"/>
              </a:lnSpc>
              <a:buNone/>
            </a:pPr>
            <a:endParaRPr lang="en-US" sz="2400" kern="0" spc="-35" dirty="0">
              <a:solidFill>
                <a:srgbClr val="272525"/>
              </a:solidFill>
              <a:latin typeface="Source Sans Pro" pitchFamily="34" charset="0"/>
              <a:ea typeface="Source Sans Pro" pitchFamily="34" charset="-122"/>
            </a:endParaRPr>
          </a:p>
          <a:p>
            <a:pPr marL="0" indent="0" algn="just">
              <a:lnSpc>
                <a:spcPts val="2799"/>
              </a:lnSpc>
              <a:buNone/>
            </a:pPr>
            <a:endParaRPr lang="en-US" sz="2400" dirty="0"/>
          </a:p>
        </p:txBody>
      </p:sp>
      <p:sp>
        <p:nvSpPr>
          <p:cNvPr id="6" name="Text 3"/>
          <p:cNvSpPr/>
          <p:nvPr/>
        </p:nvSpPr>
        <p:spPr>
          <a:xfrm>
            <a:off x="143691" y="4153989"/>
            <a:ext cx="7798815" cy="3004457"/>
          </a:xfrm>
          <a:prstGeom prst="rect">
            <a:avLst/>
          </a:prstGeom>
          <a:noFill/>
          <a:ln/>
        </p:spPr>
        <p:txBody>
          <a:bodyPr wrap="square" rtlCol="0" anchor="t"/>
          <a:lstStyle/>
          <a:p>
            <a:pPr marL="0" indent="0" algn="just">
              <a:lnSpc>
                <a:spcPts val="2799"/>
              </a:lnSpc>
              <a:buNone/>
            </a:pPr>
            <a:r>
              <a:rPr lang="en-US" sz="2400" kern="0" spc="-35" dirty="0">
                <a:solidFill>
                  <a:srgbClr val="272525"/>
                </a:solidFill>
                <a:latin typeface="Source Sans Pro" pitchFamily="34" charset="0"/>
                <a:ea typeface="Source Sans Pro" pitchFamily="34" charset="-122"/>
                <a:cs typeface="Source Sans Pro" pitchFamily="34" charset="-120"/>
              </a:rPr>
              <a:t>Entities are depicted as rectangles, and their attributes are listed inside the rectangle. Relationships between entities are shown using lines and connectors, indicating the type and cardinality of the relationship.</a:t>
            </a:r>
            <a:endParaRPr lang="en-US" sz="2400" dirty="0"/>
          </a:p>
        </p:txBody>
      </p:sp>
      <p:pic>
        <p:nvPicPr>
          <p:cNvPr id="1026" name="Picture 2" descr="https://dextutor.com/wp-content/uploads/2019/09/imag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2507" y="1628965"/>
            <a:ext cx="6271050" cy="60258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2348389" y="855940"/>
            <a:ext cx="9933503" cy="1388745"/>
          </a:xfrm>
          <a:prstGeom prst="rect">
            <a:avLst/>
          </a:prstGeom>
          <a:noFill/>
          <a:ln/>
        </p:spPr>
        <p:txBody>
          <a:bodyPr wrap="square" rtlCol="0" anchor="t"/>
          <a:lstStyle/>
          <a:p>
            <a:pPr marL="0" indent="0">
              <a:lnSpc>
                <a:spcPts val="5468"/>
              </a:lnSpc>
              <a:buNone/>
            </a:pPr>
            <a:r>
              <a:rPr lang="en-US" sz="4374" b="1" kern="0" spc="-35" dirty="0">
                <a:solidFill>
                  <a:srgbClr val="000000"/>
                </a:solidFill>
                <a:latin typeface="adonis-web" pitchFamily="34" charset="0"/>
                <a:ea typeface="adonis-web" pitchFamily="34" charset="-122"/>
                <a:cs typeface="adonis-web" pitchFamily="34" charset="-120"/>
              </a:rPr>
              <a:t>Conceptual Data Modeling: Entity-Relationship Diagrams (ERDs)</a:t>
            </a:r>
            <a:endParaRPr lang="en-US" sz="4374" dirty="0"/>
          </a:p>
        </p:txBody>
      </p:sp>
      <p:pic>
        <p:nvPicPr>
          <p:cNvPr id="5" name="Image 1" descr="preencoded.png"/>
          <p:cNvPicPr>
            <a:picLocks noChangeAspect="1"/>
          </p:cNvPicPr>
          <p:nvPr/>
        </p:nvPicPr>
        <p:blipFill>
          <a:blip r:embed="rId4"/>
          <a:stretch>
            <a:fillRect/>
          </a:stretch>
        </p:blipFill>
        <p:spPr>
          <a:xfrm>
            <a:off x="2348389" y="2689027"/>
            <a:ext cx="444341" cy="444341"/>
          </a:xfrm>
          <a:prstGeom prst="rect">
            <a:avLst/>
          </a:prstGeom>
        </p:spPr>
      </p:pic>
      <p:sp>
        <p:nvSpPr>
          <p:cNvPr id="6" name="Text 2"/>
          <p:cNvSpPr/>
          <p:nvPr/>
        </p:nvSpPr>
        <p:spPr>
          <a:xfrm>
            <a:off x="2348389" y="3355538"/>
            <a:ext cx="2233374" cy="1041559"/>
          </a:xfrm>
          <a:prstGeom prst="rect">
            <a:avLst/>
          </a:prstGeom>
          <a:noFill/>
          <a:ln/>
        </p:spPr>
        <p:txBody>
          <a:bodyPr wrap="square" rtlCol="0" anchor="t"/>
          <a:lstStyle/>
          <a:p>
            <a:pPr marL="0" indent="0" algn="l">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Entity-Relationship Modeling</a:t>
            </a:r>
            <a:endParaRPr lang="en-US" sz="2187" dirty="0"/>
          </a:p>
        </p:txBody>
      </p:sp>
      <p:sp>
        <p:nvSpPr>
          <p:cNvPr id="7" name="Text 3"/>
          <p:cNvSpPr/>
          <p:nvPr/>
        </p:nvSpPr>
        <p:spPr>
          <a:xfrm>
            <a:off x="2348389" y="4530328"/>
            <a:ext cx="2233374" cy="2843213"/>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Entity-Relationship Diagrams (ERDs) are a conceptual data modeling technique that visually represent the entities, attributes, and relationships in a database.</a:t>
            </a:r>
            <a:endParaRPr lang="en-US" sz="1750" dirty="0"/>
          </a:p>
        </p:txBody>
      </p:sp>
      <p:pic>
        <p:nvPicPr>
          <p:cNvPr id="8" name="Image 2" descr="preencoded.png"/>
          <p:cNvPicPr>
            <a:picLocks noChangeAspect="1"/>
          </p:cNvPicPr>
          <p:nvPr/>
        </p:nvPicPr>
        <p:blipFill>
          <a:blip r:embed="rId5"/>
          <a:stretch>
            <a:fillRect/>
          </a:stretch>
        </p:blipFill>
        <p:spPr>
          <a:xfrm>
            <a:off x="4915019" y="2689027"/>
            <a:ext cx="444341" cy="444341"/>
          </a:xfrm>
          <a:prstGeom prst="rect">
            <a:avLst/>
          </a:prstGeom>
        </p:spPr>
      </p:pic>
      <p:sp>
        <p:nvSpPr>
          <p:cNvPr id="9" name="Text 4"/>
          <p:cNvSpPr/>
          <p:nvPr/>
        </p:nvSpPr>
        <p:spPr>
          <a:xfrm>
            <a:off x="4915019" y="3355538"/>
            <a:ext cx="2233493" cy="347186"/>
          </a:xfrm>
          <a:prstGeom prst="rect">
            <a:avLst/>
          </a:prstGeom>
          <a:noFill/>
          <a:ln/>
        </p:spPr>
        <p:txBody>
          <a:bodyPr wrap="none" rtlCol="0" anchor="t"/>
          <a:lstStyle/>
          <a:p>
            <a:pPr marL="0" indent="0" algn="l">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Graphical Notation</a:t>
            </a:r>
            <a:endParaRPr lang="en-US" sz="2187" dirty="0"/>
          </a:p>
        </p:txBody>
      </p:sp>
      <p:sp>
        <p:nvSpPr>
          <p:cNvPr id="10" name="Text 5"/>
          <p:cNvSpPr/>
          <p:nvPr/>
        </p:nvSpPr>
        <p:spPr>
          <a:xfrm>
            <a:off x="4915019" y="3835956"/>
            <a:ext cx="2233493" cy="3831941"/>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ERDs use a standardized graphical notation to depict entities as rectangles, attributes as ovals, and relationships as diamond-shaped connectors.</a:t>
            </a:r>
            <a:endParaRPr lang="en-US" sz="1750" dirty="0"/>
          </a:p>
        </p:txBody>
      </p:sp>
      <p:pic>
        <p:nvPicPr>
          <p:cNvPr id="11" name="Image 3" descr="preencoded.png"/>
          <p:cNvPicPr>
            <a:picLocks noChangeAspect="1"/>
          </p:cNvPicPr>
          <p:nvPr/>
        </p:nvPicPr>
        <p:blipFill>
          <a:blip r:embed="rId6"/>
          <a:stretch>
            <a:fillRect/>
          </a:stretch>
        </p:blipFill>
        <p:spPr>
          <a:xfrm>
            <a:off x="7481768" y="2689027"/>
            <a:ext cx="444341" cy="444341"/>
          </a:xfrm>
          <a:prstGeom prst="rect">
            <a:avLst/>
          </a:prstGeom>
        </p:spPr>
      </p:pic>
      <p:sp>
        <p:nvSpPr>
          <p:cNvPr id="12" name="Text 6"/>
          <p:cNvSpPr/>
          <p:nvPr/>
        </p:nvSpPr>
        <p:spPr>
          <a:xfrm>
            <a:off x="7481768" y="3355538"/>
            <a:ext cx="2233374" cy="347186"/>
          </a:xfrm>
          <a:prstGeom prst="rect">
            <a:avLst/>
          </a:prstGeom>
          <a:noFill/>
          <a:ln/>
        </p:spPr>
        <p:txBody>
          <a:bodyPr wrap="none" rtlCol="0" anchor="t"/>
          <a:lstStyle/>
          <a:p>
            <a:pPr marL="0" indent="0" algn="l">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Identifying Entities</a:t>
            </a:r>
            <a:endParaRPr lang="en-US" sz="2187" dirty="0"/>
          </a:p>
        </p:txBody>
      </p:sp>
      <p:sp>
        <p:nvSpPr>
          <p:cNvPr id="13" name="Text 7"/>
          <p:cNvSpPr/>
          <p:nvPr/>
        </p:nvSpPr>
        <p:spPr>
          <a:xfrm>
            <a:off x="7481768" y="3835956"/>
            <a:ext cx="2393752" cy="3688250"/>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The process begins by identifying the key entities or "things" that the database needs to represent, such as customers, orders, or products.</a:t>
            </a:r>
            <a:endParaRPr lang="en-US" sz="1750" dirty="0"/>
          </a:p>
        </p:txBody>
      </p:sp>
      <p:pic>
        <p:nvPicPr>
          <p:cNvPr id="14" name="Image 4" descr="preencoded.png"/>
          <p:cNvPicPr>
            <a:picLocks noChangeAspect="1"/>
          </p:cNvPicPr>
          <p:nvPr/>
        </p:nvPicPr>
        <p:blipFill>
          <a:blip r:embed="rId7"/>
          <a:stretch>
            <a:fillRect/>
          </a:stretch>
        </p:blipFill>
        <p:spPr>
          <a:xfrm>
            <a:off x="10048399" y="2689027"/>
            <a:ext cx="444341" cy="444341"/>
          </a:xfrm>
          <a:prstGeom prst="rect">
            <a:avLst/>
          </a:prstGeom>
        </p:spPr>
      </p:pic>
      <p:sp>
        <p:nvSpPr>
          <p:cNvPr id="15" name="Text 8"/>
          <p:cNvSpPr/>
          <p:nvPr/>
        </p:nvSpPr>
        <p:spPr>
          <a:xfrm>
            <a:off x="10048399" y="3355538"/>
            <a:ext cx="2233493" cy="694373"/>
          </a:xfrm>
          <a:prstGeom prst="rect">
            <a:avLst/>
          </a:prstGeom>
          <a:noFill/>
          <a:ln/>
        </p:spPr>
        <p:txBody>
          <a:bodyPr wrap="square" rtlCol="0" anchor="t"/>
          <a:lstStyle/>
          <a:p>
            <a:pPr marL="0" indent="0" algn="l">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Modeling Relationships</a:t>
            </a:r>
            <a:endParaRPr lang="en-US" sz="2187" dirty="0"/>
          </a:p>
        </p:txBody>
      </p:sp>
      <p:sp>
        <p:nvSpPr>
          <p:cNvPr id="16" name="Text 9"/>
          <p:cNvSpPr/>
          <p:nvPr/>
        </p:nvSpPr>
        <p:spPr>
          <a:xfrm>
            <a:off x="10048399" y="4183142"/>
            <a:ext cx="2233493" cy="2843213"/>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Relationships between entities are then defined, including their cardinality (one-to-many, many-to-many, etc.) and the type of relationship (e.g., parent-child).</a:t>
            </a:r>
            <a:endParaRPr lang="en-US" sz="17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2539" y="39189"/>
            <a:ext cx="14630400" cy="8229600"/>
          </a:xfrm>
          <a:prstGeom prst="rect">
            <a:avLst/>
          </a:prstGeom>
        </p:spPr>
      </p:pic>
      <p:sp>
        <p:nvSpPr>
          <p:cNvPr id="4" name="Text 1"/>
          <p:cNvSpPr/>
          <p:nvPr/>
        </p:nvSpPr>
        <p:spPr>
          <a:xfrm>
            <a:off x="391887" y="240219"/>
            <a:ext cx="11432806" cy="1388745"/>
          </a:xfrm>
          <a:prstGeom prst="rect">
            <a:avLst/>
          </a:prstGeom>
          <a:noFill/>
          <a:ln/>
        </p:spPr>
        <p:txBody>
          <a:bodyPr wrap="square" rtlCol="0" anchor="t"/>
          <a:lstStyle/>
          <a:p>
            <a:pPr marL="0" indent="0">
              <a:lnSpc>
                <a:spcPts val="5468"/>
              </a:lnSpc>
              <a:buNone/>
            </a:pPr>
            <a:r>
              <a:rPr lang="en-US" sz="4374" b="1" kern="0" spc="-35" dirty="0" smtClean="0">
                <a:solidFill>
                  <a:srgbClr val="000000"/>
                </a:solidFill>
                <a:latin typeface="adonis-web" pitchFamily="34" charset="0"/>
                <a:ea typeface="adonis-web" pitchFamily="34" charset="-122"/>
              </a:rPr>
              <a:t>Types of relationships</a:t>
            </a:r>
          </a:p>
          <a:p>
            <a:pPr marL="0" indent="0">
              <a:lnSpc>
                <a:spcPts val="5468"/>
              </a:lnSpc>
              <a:buNone/>
            </a:pPr>
            <a:endParaRPr lang="en-US" sz="4374" b="1" kern="0" spc="-35" dirty="0">
              <a:solidFill>
                <a:srgbClr val="000000"/>
              </a:solidFill>
              <a:latin typeface="adonis-web" pitchFamily="34" charset="0"/>
              <a:ea typeface="adonis-web" pitchFamily="34" charset="-122"/>
            </a:endParaRPr>
          </a:p>
          <a:p>
            <a:pPr marL="0" indent="0">
              <a:lnSpc>
                <a:spcPts val="5468"/>
              </a:lnSpc>
              <a:buNone/>
            </a:pPr>
            <a:endParaRPr lang="en-US" sz="4374" dirty="0"/>
          </a:p>
        </p:txBody>
      </p:sp>
      <p:sp>
        <p:nvSpPr>
          <p:cNvPr id="5" name="Text 2"/>
          <p:cNvSpPr/>
          <p:nvPr/>
        </p:nvSpPr>
        <p:spPr>
          <a:xfrm>
            <a:off x="-1" y="1981302"/>
            <a:ext cx="7942507" cy="2694284"/>
          </a:xfrm>
          <a:prstGeom prst="rect">
            <a:avLst/>
          </a:prstGeom>
          <a:noFill/>
          <a:ln/>
        </p:spPr>
        <p:txBody>
          <a:bodyPr wrap="square" rtlCol="0" anchor="t"/>
          <a:lstStyle/>
          <a:p>
            <a:pPr marL="0" indent="0" algn="just">
              <a:lnSpc>
                <a:spcPts val="2799"/>
              </a:lnSpc>
              <a:buNone/>
            </a:pPr>
            <a:endParaRPr lang="en-US" sz="2400" kern="0" spc="-35" dirty="0">
              <a:solidFill>
                <a:srgbClr val="272525"/>
              </a:solidFill>
              <a:latin typeface="Source Sans Pro" pitchFamily="34" charset="0"/>
              <a:ea typeface="Source Sans Pro" pitchFamily="34" charset="-122"/>
            </a:endParaRPr>
          </a:p>
          <a:p>
            <a:pPr marL="0" indent="0" algn="just">
              <a:lnSpc>
                <a:spcPts val="2799"/>
              </a:lnSpc>
              <a:buNone/>
            </a:pPr>
            <a:endParaRPr lang="en-US" sz="2400" dirty="0"/>
          </a:p>
        </p:txBody>
      </p:sp>
      <p:sp>
        <p:nvSpPr>
          <p:cNvPr id="6" name="Text 3"/>
          <p:cNvSpPr/>
          <p:nvPr/>
        </p:nvSpPr>
        <p:spPr>
          <a:xfrm>
            <a:off x="143691" y="4153989"/>
            <a:ext cx="7798815" cy="3004457"/>
          </a:xfrm>
          <a:prstGeom prst="rect">
            <a:avLst/>
          </a:prstGeom>
          <a:noFill/>
          <a:ln/>
        </p:spPr>
        <p:txBody>
          <a:bodyPr wrap="square" rtlCol="0" anchor="t"/>
          <a:lstStyle/>
          <a:p>
            <a:pPr marL="0" indent="0" algn="just">
              <a:lnSpc>
                <a:spcPts val="2799"/>
              </a:lnSpc>
              <a:buNone/>
            </a:pPr>
            <a:endParaRPr lang="en-US" sz="2400" dirty="0"/>
          </a:p>
        </p:txBody>
      </p:sp>
      <p:sp>
        <p:nvSpPr>
          <p:cNvPr id="3" name="Rectangle 2"/>
          <p:cNvSpPr/>
          <p:nvPr/>
        </p:nvSpPr>
        <p:spPr>
          <a:xfrm>
            <a:off x="535577" y="1345475"/>
            <a:ext cx="5943601" cy="677962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b="1" dirty="0" smtClean="0">
                <a:solidFill>
                  <a:srgbClr val="0D0D0D"/>
                </a:solidFill>
                <a:latin typeface="Söhne"/>
              </a:rPr>
              <a:t>Types </a:t>
            </a:r>
            <a:r>
              <a:rPr lang="en-US" b="1" dirty="0">
                <a:solidFill>
                  <a:srgbClr val="0D0D0D"/>
                </a:solidFill>
                <a:latin typeface="Söhne"/>
              </a:rPr>
              <a:t>of Relationships:</a:t>
            </a:r>
          </a:p>
          <a:p>
            <a:pPr>
              <a:buFont typeface="+mj-lt"/>
              <a:buAutoNum type="arabicPeriod"/>
            </a:pPr>
            <a:r>
              <a:rPr lang="en-US" b="1" dirty="0">
                <a:solidFill>
                  <a:srgbClr val="0D0D0D"/>
                </a:solidFill>
                <a:latin typeface="Söhne"/>
              </a:rPr>
              <a:t>One-to-One (1:1</a:t>
            </a:r>
            <a:r>
              <a:rPr lang="en-US" b="1" dirty="0" smtClean="0">
                <a:solidFill>
                  <a:srgbClr val="0D0D0D"/>
                </a:solidFill>
                <a:latin typeface="Söhne"/>
              </a:rPr>
              <a:t>):</a:t>
            </a:r>
            <a:r>
              <a:rPr lang="en-US" dirty="0" smtClean="0">
                <a:solidFill>
                  <a:srgbClr val="0D0D0D"/>
                </a:solidFill>
                <a:latin typeface="Söhne"/>
              </a:rPr>
              <a:t>A </a:t>
            </a:r>
            <a:r>
              <a:rPr lang="en-US" dirty="0">
                <a:solidFill>
                  <a:srgbClr val="0D0D0D"/>
                </a:solidFill>
                <a:latin typeface="Söhne"/>
              </a:rPr>
              <a:t>single instance of an entity is related to a single instance of another entity</a:t>
            </a:r>
            <a:r>
              <a:rPr lang="en-US" dirty="0" smtClean="0">
                <a:solidFill>
                  <a:srgbClr val="0D0D0D"/>
                </a:solidFill>
                <a:latin typeface="Söhne"/>
              </a:rPr>
              <a:t>.</a:t>
            </a:r>
          </a:p>
          <a:p>
            <a:pPr>
              <a:buFont typeface="+mj-lt"/>
              <a:buAutoNum type="arabicPeriod"/>
            </a:pPr>
            <a:endParaRPr lang="en-US" dirty="0">
              <a:solidFill>
                <a:srgbClr val="0D0D0D"/>
              </a:solidFill>
              <a:latin typeface="Söhne"/>
            </a:endParaRPr>
          </a:p>
          <a:p>
            <a:r>
              <a:rPr lang="en-US" b="1" dirty="0">
                <a:solidFill>
                  <a:srgbClr val="0D0D0D"/>
                </a:solidFill>
                <a:latin typeface="Söhne"/>
              </a:rPr>
              <a:t>Real-Life Example</a:t>
            </a:r>
            <a:r>
              <a:rPr lang="en-US" b="1" dirty="0" smtClean="0">
                <a:solidFill>
                  <a:srgbClr val="0D0D0D"/>
                </a:solidFill>
                <a:latin typeface="Söhne"/>
              </a:rPr>
              <a:t>:</a:t>
            </a:r>
            <a:r>
              <a:rPr lang="en-US" dirty="0">
                <a:solidFill>
                  <a:srgbClr val="0D0D0D"/>
                </a:solidFill>
                <a:latin typeface="Söhne"/>
              </a:rPr>
              <a:t/>
            </a:r>
            <a:br>
              <a:rPr lang="en-US" dirty="0">
                <a:solidFill>
                  <a:srgbClr val="0D0D0D"/>
                </a:solidFill>
                <a:latin typeface="Söhne"/>
              </a:rPr>
            </a:br>
            <a:r>
              <a:rPr lang="en-US" b="1" dirty="0">
                <a:solidFill>
                  <a:srgbClr val="0D0D0D"/>
                </a:solidFill>
                <a:latin typeface="Söhne"/>
              </a:rPr>
              <a:t>Person and Passport</a:t>
            </a:r>
            <a:r>
              <a:rPr lang="en-US" dirty="0">
                <a:solidFill>
                  <a:srgbClr val="0D0D0D"/>
                </a:solidFill>
                <a:latin typeface="Söhne"/>
              </a:rPr>
              <a:t/>
            </a:r>
            <a:br>
              <a:rPr lang="en-US" dirty="0">
                <a:solidFill>
                  <a:srgbClr val="0D0D0D"/>
                </a:solidFill>
                <a:latin typeface="Söhne"/>
              </a:rPr>
            </a:br>
            <a:r>
              <a:rPr lang="en-US" dirty="0">
                <a:solidFill>
                  <a:srgbClr val="0D0D0D"/>
                </a:solidFill>
                <a:latin typeface="Söhne"/>
              </a:rPr>
              <a:t>One person can have only one passport, and each passport belongs to one person</a:t>
            </a:r>
            <a:r>
              <a:rPr lang="en-US" dirty="0" smtClean="0">
                <a:solidFill>
                  <a:srgbClr val="0D0D0D"/>
                </a:solidFill>
                <a:latin typeface="Söhne"/>
              </a:rPr>
              <a:t>.</a:t>
            </a:r>
          </a:p>
          <a:p>
            <a:endParaRPr lang="en-US" dirty="0">
              <a:solidFill>
                <a:srgbClr val="0D0D0D"/>
              </a:solidFill>
              <a:latin typeface="Söhne"/>
            </a:endParaRPr>
          </a:p>
          <a:p>
            <a:pPr>
              <a:buFont typeface="+mj-lt"/>
              <a:buAutoNum type="arabicPeriod" startAt="2"/>
            </a:pPr>
            <a:r>
              <a:rPr lang="en-US" b="1" dirty="0">
                <a:solidFill>
                  <a:srgbClr val="0D0D0D"/>
                </a:solidFill>
                <a:latin typeface="Söhne"/>
              </a:rPr>
              <a:t>One-to-Many (1:N</a:t>
            </a:r>
            <a:r>
              <a:rPr lang="en-US" b="1" dirty="0" smtClean="0">
                <a:solidFill>
                  <a:srgbClr val="0D0D0D"/>
                </a:solidFill>
                <a:latin typeface="Söhne"/>
              </a:rPr>
              <a:t>):</a:t>
            </a:r>
            <a:r>
              <a:rPr lang="en-US" dirty="0" smtClean="0">
                <a:solidFill>
                  <a:srgbClr val="0D0D0D"/>
                </a:solidFill>
                <a:latin typeface="Söhne"/>
              </a:rPr>
              <a:t>A </a:t>
            </a:r>
            <a:r>
              <a:rPr lang="en-US" dirty="0">
                <a:solidFill>
                  <a:srgbClr val="0D0D0D"/>
                </a:solidFill>
                <a:latin typeface="Söhne"/>
              </a:rPr>
              <a:t>single instance of an entity is related to multiple instances of another entity</a:t>
            </a:r>
            <a:r>
              <a:rPr lang="en-US" dirty="0" smtClean="0">
                <a:solidFill>
                  <a:srgbClr val="0D0D0D"/>
                </a:solidFill>
                <a:latin typeface="Söhne"/>
              </a:rPr>
              <a:t>.</a:t>
            </a:r>
          </a:p>
          <a:p>
            <a:pPr>
              <a:buFont typeface="+mj-lt"/>
              <a:buAutoNum type="arabicPeriod" startAt="2"/>
            </a:pPr>
            <a:endParaRPr lang="en-US" dirty="0">
              <a:solidFill>
                <a:srgbClr val="0D0D0D"/>
              </a:solidFill>
              <a:latin typeface="Söhne"/>
            </a:endParaRPr>
          </a:p>
          <a:p>
            <a:r>
              <a:rPr lang="en-US" b="1" dirty="0">
                <a:solidFill>
                  <a:srgbClr val="0D0D0D"/>
                </a:solidFill>
                <a:latin typeface="Söhne"/>
              </a:rPr>
              <a:t>Real-Life Example:</a:t>
            </a:r>
            <a:r>
              <a:rPr lang="en-US" dirty="0">
                <a:solidFill>
                  <a:srgbClr val="0D0D0D"/>
                </a:solidFill>
                <a:latin typeface="Söhne"/>
              </a:rPr>
              <a:t/>
            </a:r>
            <a:br>
              <a:rPr lang="en-US" dirty="0">
                <a:solidFill>
                  <a:srgbClr val="0D0D0D"/>
                </a:solidFill>
                <a:latin typeface="Söhne"/>
              </a:rPr>
            </a:br>
            <a:r>
              <a:rPr lang="en-US" b="1" dirty="0">
                <a:solidFill>
                  <a:srgbClr val="0D0D0D"/>
                </a:solidFill>
                <a:latin typeface="Söhne"/>
              </a:rPr>
              <a:t>Author and Books</a:t>
            </a:r>
            <a:r>
              <a:rPr lang="en-US" dirty="0">
                <a:solidFill>
                  <a:srgbClr val="0D0D0D"/>
                </a:solidFill>
                <a:latin typeface="Söhne"/>
              </a:rPr>
              <a:t/>
            </a:r>
            <a:br>
              <a:rPr lang="en-US" dirty="0">
                <a:solidFill>
                  <a:srgbClr val="0D0D0D"/>
                </a:solidFill>
                <a:latin typeface="Söhne"/>
              </a:rPr>
            </a:br>
            <a:r>
              <a:rPr lang="en-US" dirty="0">
                <a:solidFill>
                  <a:srgbClr val="0D0D0D"/>
                </a:solidFill>
                <a:latin typeface="Söhne"/>
              </a:rPr>
              <a:t>One author can write multiple books, but each book is written by one author.</a:t>
            </a:r>
          </a:p>
          <a:p>
            <a:pPr>
              <a:buFont typeface="+mj-lt"/>
              <a:buAutoNum type="arabicPeriod" startAt="3"/>
            </a:pPr>
            <a:r>
              <a:rPr lang="en-US" b="1" dirty="0">
                <a:solidFill>
                  <a:srgbClr val="0D0D0D"/>
                </a:solidFill>
                <a:latin typeface="Söhne"/>
              </a:rPr>
              <a:t>Many-to-Many (M:N</a:t>
            </a:r>
            <a:r>
              <a:rPr lang="en-US" b="1" dirty="0" smtClean="0">
                <a:solidFill>
                  <a:srgbClr val="0D0D0D"/>
                </a:solidFill>
                <a:latin typeface="Söhne"/>
              </a:rPr>
              <a:t>):</a:t>
            </a:r>
            <a:r>
              <a:rPr lang="en-US" dirty="0" smtClean="0">
                <a:solidFill>
                  <a:srgbClr val="0D0D0D"/>
                </a:solidFill>
                <a:latin typeface="Söhne"/>
              </a:rPr>
              <a:t>Multiple </a:t>
            </a:r>
            <a:r>
              <a:rPr lang="en-US" dirty="0">
                <a:solidFill>
                  <a:srgbClr val="0D0D0D"/>
                </a:solidFill>
                <a:latin typeface="Söhne"/>
              </a:rPr>
              <a:t>instances of an entity are related to multiple instances of another entity.</a:t>
            </a:r>
          </a:p>
          <a:p>
            <a:pPr>
              <a:lnSpc>
                <a:spcPts val="5468"/>
              </a:lnSpc>
            </a:pPr>
            <a:endParaRPr lang="en-US" sz="4374" b="1" kern="0" spc="-35" dirty="0">
              <a:solidFill>
                <a:srgbClr val="000000"/>
              </a:solidFill>
              <a:latin typeface="adonis-web" pitchFamily="34" charset="0"/>
              <a:ea typeface="adonis-web" pitchFamily="34" charset="-122"/>
            </a:endParaRPr>
          </a:p>
        </p:txBody>
      </p:sp>
      <p:sp>
        <p:nvSpPr>
          <p:cNvPr id="7" name="Rectangle 6"/>
          <p:cNvSpPr/>
          <p:nvPr/>
        </p:nvSpPr>
        <p:spPr>
          <a:xfrm>
            <a:off x="9013371" y="1058091"/>
            <a:ext cx="5342709" cy="6897189"/>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r>
              <a:rPr lang="en-US" b="1" dirty="0">
                <a:solidFill>
                  <a:srgbClr val="0D0D0D"/>
                </a:solidFill>
                <a:latin typeface="Söhne"/>
              </a:rPr>
              <a:t>Real-Life Example:</a:t>
            </a:r>
            <a:r>
              <a:rPr lang="en-US" dirty="0">
                <a:solidFill>
                  <a:srgbClr val="0D0D0D"/>
                </a:solidFill>
                <a:latin typeface="Söhne"/>
              </a:rPr>
              <a:t/>
            </a:r>
            <a:br>
              <a:rPr lang="en-US" dirty="0">
                <a:solidFill>
                  <a:srgbClr val="0D0D0D"/>
                </a:solidFill>
                <a:latin typeface="Söhne"/>
              </a:rPr>
            </a:br>
            <a:r>
              <a:rPr lang="en-US" b="1" dirty="0">
                <a:solidFill>
                  <a:srgbClr val="0D0D0D"/>
                </a:solidFill>
                <a:latin typeface="Söhne"/>
              </a:rPr>
              <a:t>Students and Courses</a:t>
            </a:r>
            <a:r>
              <a:rPr lang="en-US" dirty="0">
                <a:solidFill>
                  <a:srgbClr val="0D0D0D"/>
                </a:solidFill>
                <a:latin typeface="Söhne"/>
              </a:rPr>
              <a:t/>
            </a:r>
            <a:br>
              <a:rPr lang="en-US" dirty="0">
                <a:solidFill>
                  <a:srgbClr val="0D0D0D"/>
                </a:solidFill>
                <a:latin typeface="Söhne"/>
              </a:rPr>
            </a:br>
            <a:r>
              <a:rPr lang="en-US" dirty="0">
                <a:solidFill>
                  <a:srgbClr val="0D0D0D"/>
                </a:solidFill>
                <a:latin typeface="Söhne"/>
              </a:rPr>
              <a:t>Many students can enroll in many courses, and each course can have many students.</a:t>
            </a:r>
          </a:p>
          <a:p>
            <a:r>
              <a:rPr lang="en-US" b="1" dirty="0">
                <a:solidFill>
                  <a:srgbClr val="0D0D0D"/>
                </a:solidFill>
                <a:latin typeface="Söhne"/>
              </a:rPr>
              <a:t>Cardinality:</a:t>
            </a:r>
          </a:p>
          <a:p>
            <a:r>
              <a:rPr lang="en-US" b="1" dirty="0">
                <a:solidFill>
                  <a:srgbClr val="0D0D0D"/>
                </a:solidFill>
                <a:latin typeface="Söhne"/>
              </a:rPr>
              <a:t>Definition:</a:t>
            </a:r>
            <a:r>
              <a:rPr lang="en-US" dirty="0">
                <a:solidFill>
                  <a:srgbClr val="0D0D0D"/>
                </a:solidFill>
                <a:latin typeface="Söhne"/>
              </a:rPr>
              <a:t/>
            </a:r>
            <a:br>
              <a:rPr lang="en-US" dirty="0">
                <a:solidFill>
                  <a:srgbClr val="0D0D0D"/>
                </a:solidFill>
                <a:latin typeface="Söhne"/>
              </a:rPr>
            </a:br>
            <a:r>
              <a:rPr lang="en-US" dirty="0">
                <a:solidFill>
                  <a:srgbClr val="0D0D0D"/>
                </a:solidFill>
                <a:latin typeface="Söhne"/>
              </a:rPr>
              <a:t>Cardinality specifies the number of instances of one entity that can or must be associated with each instance of another entity.</a:t>
            </a:r>
          </a:p>
          <a:p>
            <a:r>
              <a:rPr lang="en-US" b="1" dirty="0">
                <a:solidFill>
                  <a:srgbClr val="0D0D0D"/>
                </a:solidFill>
                <a:latin typeface="Söhne"/>
              </a:rPr>
              <a:t>Real-Life Example:</a:t>
            </a:r>
            <a:r>
              <a:rPr lang="en-US" dirty="0">
                <a:solidFill>
                  <a:srgbClr val="0D0D0D"/>
                </a:solidFill>
                <a:latin typeface="Söhne"/>
              </a:rPr>
              <a:t/>
            </a:r>
            <a:br>
              <a:rPr lang="en-US" dirty="0">
                <a:solidFill>
                  <a:srgbClr val="0D0D0D"/>
                </a:solidFill>
                <a:latin typeface="Söhne"/>
              </a:rPr>
            </a:br>
            <a:r>
              <a:rPr lang="en-US" b="1" dirty="0">
                <a:solidFill>
                  <a:srgbClr val="0D0D0D"/>
                </a:solidFill>
                <a:latin typeface="Söhne"/>
              </a:rPr>
              <a:t>Library Members and Books</a:t>
            </a:r>
            <a:r>
              <a:rPr lang="en-US" dirty="0">
                <a:solidFill>
                  <a:srgbClr val="0D0D0D"/>
                </a:solidFill>
                <a:latin typeface="Söhne"/>
              </a:rPr>
              <a:t/>
            </a:r>
            <a:br>
              <a:rPr lang="en-US" dirty="0">
                <a:solidFill>
                  <a:srgbClr val="0D0D0D"/>
                </a:solidFill>
                <a:latin typeface="Söhne"/>
              </a:rPr>
            </a:br>
            <a:r>
              <a:rPr lang="en-US" dirty="0">
                <a:solidFill>
                  <a:srgbClr val="0D0D0D"/>
                </a:solidFill>
                <a:latin typeface="Söhne"/>
              </a:rPr>
              <a:t>A library member can borrow many books (1:N), but each book can be borrowed by only one member at a time.</a:t>
            </a:r>
          </a:p>
          <a:p>
            <a:r>
              <a:rPr lang="en-US" dirty="0">
                <a:solidFill>
                  <a:srgbClr val="0D0D0D"/>
                </a:solidFill>
                <a:latin typeface="Söhne"/>
              </a:rPr>
              <a:t>In summary, an ERD is a visual tool that helps us understand how different entities in a database are related to each other, and what attributes each entity has. It uses rectangles for entities, lines for relationships, and annotations to describe the type and cardinality of relationships.</a:t>
            </a:r>
            <a:endParaRPr lang="en-US" dirty="0">
              <a:solidFill>
                <a:srgbClr val="0D0D0D"/>
              </a:solidFill>
              <a:latin typeface="Söhne"/>
            </a:endParaRPr>
          </a:p>
        </p:txBody>
      </p:sp>
    </p:spTree>
    <p:extLst>
      <p:ext uri="{BB962C8B-B14F-4D97-AF65-F5344CB8AC3E}">
        <p14:creationId xmlns:p14="http://schemas.microsoft.com/office/powerpoint/2010/main" val="12244025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3063"/>
            <a:ext cx="14630400" cy="8229600"/>
          </a:xfrm>
          <a:prstGeom prst="rect">
            <a:avLst/>
          </a:prstGeom>
        </p:spPr>
      </p:pic>
      <p:sp>
        <p:nvSpPr>
          <p:cNvPr id="4" name="Text 1"/>
          <p:cNvSpPr/>
          <p:nvPr/>
        </p:nvSpPr>
        <p:spPr>
          <a:xfrm>
            <a:off x="2564011" y="584478"/>
            <a:ext cx="9502378" cy="1328261"/>
          </a:xfrm>
          <a:prstGeom prst="rect">
            <a:avLst/>
          </a:prstGeom>
          <a:noFill/>
          <a:ln/>
        </p:spPr>
        <p:txBody>
          <a:bodyPr wrap="square" rtlCol="0" anchor="t"/>
          <a:lstStyle/>
          <a:p>
            <a:pPr marL="0" indent="0">
              <a:lnSpc>
                <a:spcPts val="5230"/>
              </a:lnSpc>
              <a:buNone/>
            </a:pPr>
            <a:r>
              <a:rPr lang="en-US" sz="4184" b="1" kern="0" spc="-33" dirty="0">
                <a:solidFill>
                  <a:srgbClr val="000000"/>
                </a:solidFill>
                <a:latin typeface="adonis-web" pitchFamily="34" charset="0"/>
                <a:ea typeface="adonis-web" pitchFamily="34" charset="-122"/>
                <a:cs typeface="adonis-web" pitchFamily="34" charset="-120"/>
              </a:rPr>
              <a:t>Logical Data Modeling: Translating ERDs into Relational Schemas</a:t>
            </a:r>
            <a:endParaRPr lang="en-US" sz="4184" dirty="0"/>
          </a:p>
        </p:txBody>
      </p:sp>
      <p:sp>
        <p:nvSpPr>
          <p:cNvPr id="5" name="Text 2"/>
          <p:cNvSpPr/>
          <p:nvPr/>
        </p:nvSpPr>
        <p:spPr>
          <a:xfrm>
            <a:off x="627017" y="2337792"/>
            <a:ext cx="13036732" cy="1020128"/>
          </a:xfrm>
          <a:prstGeom prst="rect">
            <a:avLst/>
          </a:prstGeom>
          <a:noFill/>
          <a:ln/>
        </p:spPr>
        <p:txBody>
          <a:bodyPr wrap="square" rtlCol="0" anchor="t"/>
          <a:lstStyle/>
          <a:p>
            <a:pPr marL="0" indent="0">
              <a:lnSpc>
                <a:spcPts val="2678"/>
              </a:lnSpc>
              <a:buNone/>
            </a:pPr>
            <a:r>
              <a:rPr lang="en-US" b="1" kern="0" spc="-33" dirty="0">
                <a:solidFill>
                  <a:srgbClr val="272525"/>
                </a:solidFill>
                <a:latin typeface="Source Sans Pro" pitchFamily="34" charset="0"/>
                <a:ea typeface="Source Sans Pro" pitchFamily="34" charset="-122"/>
                <a:cs typeface="Source Sans Pro" pitchFamily="34" charset="-120"/>
              </a:rPr>
              <a:t>Once the conceptual data model has been established using an Entity-Relationship Diagram (ERD), the next step in database design is to translate the ERD into a logical data model, specifically a relational schema. This process involves mapping the entities, attributes, and relationships into tables and columns within a relational database.</a:t>
            </a:r>
            <a:endParaRPr lang="en-US" b="1" dirty="0"/>
          </a:p>
        </p:txBody>
      </p:sp>
      <p:sp>
        <p:nvSpPr>
          <p:cNvPr id="6" name="Shape 3"/>
          <p:cNvSpPr/>
          <p:nvPr/>
        </p:nvSpPr>
        <p:spPr>
          <a:xfrm>
            <a:off x="2564011" y="3596997"/>
            <a:ext cx="9502378" cy="3136583"/>
          </a:xfrm>
          <a:prstGeom prst="roundRect">
            <a:avLst>
              <a:gd name="adj" fmla="val 3049"/>
            </a:avLst>
          </a:prstGeom>
          <a:noFill/>
          <a:ln w="7620">
            <a:solidFill>
              <a:srgbClr val="000000">
                <a:alpha val="8000"/>
              </a:srgbClr>
            </a:solidFill>
            <a:prstDash val="solid"/>
          </a:ln>
        </p:spPr>
      </p:sp>
      <p:sp>
        <p:nvSpPr>
          <p:cNvPr id="7" name="Shape 4"/>
          <p:cNvSpPr/>
          <p:nvPr/>
        </p:nvSpPr>
        <p:spPr>
          <a:xfrm>
            <a:off x="2571631" y="3643805"/>
            <a:ext cx="9487138" cy="610314"/>
          </a:xfrm>
          <a:prstGeom prst="rect">
            <a:avLst/>
          </a:prstGeom>
          <a:solidFill>
            <a:srgbClr val="FFFFFF">
              <a:alpha val="4000"/>
            </a:srgbClr>
          </a:solidFill>
          <a:ln/>
        </p:spPr>
      </p:sp>
      <p:sp>
        <p:nvSpPr>
          <p:cNvPr id="8" name="Text 5"/>
          <p:cNvSpPr/>
          <p:nvPr/>
        </p:nvSpPr>
        <p:spPr>
          <a:xfrm>
            <a:off x="2784158" y="3739753"/>
            <a:ext cx="4314706" cy="340043"/>
          </a:xfrm>
          <a:prstGeom prst="rect">
            <a:avLst/>
          </a:prstGeom>
          <a:noFill/>
          <a:ln/>
        </p:spPr>
        <p:txBody>
          <a:bodyPr wrap="non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ERD Concept</a:t>
            </a:r>
            <a:endParaRPr lang="en-US" sz="1674" dirty="0"/>
          </a:p>
        </p:txBody>
      </p:sp>
      <p:sp>
        <p:nvSpPr>
          <p:cNvPr id="9" name="Text 6"/>
          <p:cNvSpPr/>
          <p:nvPr/>
        </p:nvSpPr>
        <p:spPr>
          <a:xfrm>
            <a:off x="7531537" y="3739753"/>
            <a:ext cx="4314706" cy="340043"/>
          </a:xfrm>
          <a:prstGeom prst="rect">
            <a:avLst/>
          </a:prstGeom>
          <a:noFill/>
          <a:ln/>
        </p:spPr>
        <p:txBody>
          <a:bodyPr wrap="non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Relational Schema Mapping</a:t>
            </a:r>
            <a:endParaRPr lang="en-US" sz="1674" dirty="0"/>
          </a:p>
        </p:txBody>
      </p:sp>
      <p:sp>
        <p:nvSpPr>
          <p:cNvPr id="10" name="Shape 7"/>
          <p:cNvSpPr/>
          <p:nvPr/>
        </p:nvSpPr>
        <p:spPr>
          <a:xfrm>
            <a:off x="2571631" y="4214932"/>
            <a:ext cx="9487138" cy="610314"/>
          </a:xfrm>
          <a:prstGeom prst="rect">
            <a:avLst/>
          </a:prstGeom>
          <a:solidFill>
            <a:srgbClr val="000000">
              <a:alpha val="4000"/>
            </a:srgbClr>
          </a:solidFill>
          <a:ln/>
        </p:spPr>
      </p:sp>
      <p:sp>
        <p:nvSpPr>
          <p:cNvPr id="11" name="Text 8"/>
          <p:cNvSpPr/>
          <p:nvPr/>
        </p:nvSpPr>
        <p:spPr>
          <a:xfrm>
            <a:off x="2784158" y="4350068"/>
            <a:ext cx="4314706" cy="340043"/>
          </a:xfrm>
          <a:prstGeom prst="rect">
            <a:avLst/>
          </a:prstGeom>
          <a:noFill/>
          <a:ln/>
        </p:spPr>
        <p:txBody>
          <a:bodyPr wrap="non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Entities</a:t>
            </a:r>
            <a:endParaRPr lang="en-US" sz="1674" dirty="0"/>
          </a:p>
        </p:txBody>
      </p:sp>
      <p:sp>
        <p:nvSpPr>
          <p:cNvPr id="12" name="Text 9"/>
          <p:cNvSpPr/>
          <p:nvPr/>
        </p:nvSpPr>
        <p:spPr>
          <a:xfrm>
            <a:off x="7531537" y="4350068"/>
            <a:ext cx="4314706" cy="340043"/>
          </a:xfrm>
          <a:prstGeom prst="rect">
            <a:avLst/>
          </a:prstGeom>
          <a:noFill/>
          <a:ln/>
        </p:spPr>
        <p:txBody>
          <a:bodyPr wrap="non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Tables, with each entity represented as a table</a:t>
            </a:r>
            <a:endParaRPr lang="en-US" sz="1674" dirty="0"/>
          </a:p>
        </p:txBody>
      </p:sp>
      <p:sp>
        <p:nvSpPr>
          <p:cNvPr id="13" name="Shape 10"/>
          <p:cNvSpPr/>
          <p:nvPr/>
        </p:nvSpPr>
        <p:spPr>
          <a:xfrm>
            <a:off x="2571631" y="4825246"/>
            <a:ext cx="9487138" cy="950357"/>
          </a:xfrm>
          <a:prstGeom prst="rect">
            <a:avLst/>
          </a:prstGeom>
          <a:solidFill>
            <a:srgbClr val="FFFFFF">
              <a:alpha val="4000"/>
            </a:srgbClr>
          </a:solidFill>
          <a:ln/>
        </p:spPr>
      </p:sp>
      <p:sp>
        <p:nvSpPr>
          <p:cNvPr id="14" name="Text 11"/>
          <p:cNvSpPr/>
          <p:nvPr/>
        </p:nvSpPr>
        <p:spPr>
          <a:xfrm>
            <a:off x="2784158" y="4960382"/>
            <a:ext cx="4314706" cy="340043"/>
          </a:xfrm>
          <a:prstGeom prst="rect">
            <a:avLst/>
          </a:prstGeom>
          <a:noFill/>
          <a:ln/>
        </p:spPr>
        <p:txBody>
          <a:bodyPr wrap="non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Attributes</a:t>
            </a:r>
            <a:endParaRPr lang="en-US" sz="1674" dirty="0"/>
          </a:p>
        </p:txBody>
      </p:sp>
      <p:sp>
        <p:nvSpPr>
          <p:cNvPr id="15" name="Text 12"/>
          <p:cNvSpPr/>
          <p:nvPr/>
        </p:nvSpPr>
        <p:spPr>
          <a:xfrm>
            <a:off x="7531537" y="4960382"/>
            <a:ext cx="4314706" cy="680085"/>
          </a:xfrm>
          <a:prstGeom prst="rect">
            <a:avLst/>
          </a:prstGeom>
          <a:noFill/>
          <a:ln/>
        </p:spPr>
        <p:txBody>
          <a:bodyPr wrap="squar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Columns within the tables, with each attribute represented as a column</a:t>
            </a:r>
            <a:endParaRPr lang="en-US" sz="1674" dirty="0"/>
          </a:p>
        </p:txBody>
      </p:sp>
      <p:sp>
        <p:nvSpPr>
          <p:cNvPr id="16" name="Shape 13"/>
          <p:cNvSpPr/>
          <p:nvPr/>
        </p:nvSpPr>
        <p:spPr>
          <a:xfrm>
            <a:off x="2571631" y="5775603"/>
            <a:ext cx="9487138" cy="950357"/>
          </a:xfrm>
          <a:prstGeom prst="rect">
            <a:avLst/>
          </a:prstGeom>
          <a:solidFill>
            <a:srgbClr val="000000">
              <a:alpha val="4000"/>
            </a:srgbClr>
          </a:solidFill>
          <a:ln/>
        </p:spPr>
      </p:sp>
      <p:sp>
        <p:nvSpPr>
          <p:cNvPr id="17" name="Text 14"/>
          <p:cNvSpPr/>
          <p:nvPr/>
        </p:nvSpPr>
        <p:spPr>
          <a:xfrm>
            <a:off x="2784158" y="5910739"/>
            <a:ext cx="4314706" cy="340043"/>
          </a:xfrm>
          <a:prstGeom prst="rect">
            <a:avLst/>
          </a:prstGeom>
          <a:noFill/>
          <a:ln/>
        </p:spPr>
        <p:txBody>
          <a:bodyPr wrap="non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Relationships</a:t>
            </a:r>
            <a:endParaRPr lang="en-US" sz="1674" dirty="0"/>
          </a:p>
        </p:txBody>
      </p:sp>
      <p:sp>
        <p:nvSpPr>
          <p:cNvPr id="18" name="Text 15"/>
          <p:cNvSpPr/>
          <p:nvPr/>
        </p:nvSpPr>
        <p:spPr>
          <a:xfrm>
            <a:off x="7531537" y="5910739"/>
            <a:ext cx="4314706" cy="680085"/>
          </a:xfrm>
          <a:prstGeom prst="rect">
            <a:avLst/>
          </a:prstGeom>
          <a:noFill/>
          <a:ln/>
        </p:spPr>
        <p:txBody>
          <a:bodyPr wrap="squar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Foreign key constraints between tables, representing the relationships</a:t>
            </a:r>
            <a:endParaRPr lang="en-US" sz="1674" dirty="0"/>
          </a:p>
        </p:txBody>
      </p:sp>
      <p:sp>
        <p:nvSpPr>
          <p:cNvPr id="19" name="Text 16"/>
          <p:cNvSpPr/>
          <p:nvPr/>
        </p:nvSpPr>
        <p:spPr>
          <a:xfrm>
            <a:off x="2564011" y="6972657"/>
            <a:ext cx="9502378" cy="680085"/>
          </a:xfrm>
          <a:prstGeom prst="rect">
            <a:avLst/>
          </a:prstGeom>
          <a:noFill/>
          <a:ln/>
        </p:spPr>
        <p:txBody>
          <a:bodyPr wrap="square" rtlCol="0" anchor="t"/>
          <a:lstStyle/>
          <a:p>
            <a:pPr marL="0" indent="0">
              <a:lnSpc>
                <a:spcPts val="2678"/>
              </a:lnSpc>
              <a:buNone/>
            </a:pPr>
            <a:r>
              <a:rPr lang="en-US" sz="1674" kern="0" spc="-33" dirty="0">
                <a:solidFill>
                  <a:srgbClr val="272525"/>
                </a:solidFill>
                <a:latin typeface="Source Sans Pro" pitchFamily="34" charset="0"/>
                <a:ea typeface="Source Sans Pro" pitchFamily="34" charset="-122"/>
                <a:cs typeface="Source Sans Pro" pitchFamily="34" charset="-120"/>
              </a:rPr>
              <a:t>The process of translating an ERD into a relational schema requires careful consideration of data types, primary and foreign keys, and normalization principles to ensure a robust and efficient database design.</a:t>
            </a:r>
            <a:endParaRPr lang="en-US" sz="1674"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2348389" y="935236"/>
            <a:ext cx="9933503" cy="1388745"/>
          </a:xfrm>
          <a:prstGeom prst="rect">
            <a:avLst/>
          </a:prstGeom>
          <a:noFill/>
          <a:ln/>
        </p:spPr>
        <p:txBody>
          <a:bodyPr wrap="square" rtlCol="0" anchor="t"/>
          <a:lstStyle/>
          <a:p>
            <a:pPr marL="0" indent="0">
              <a:lnSpc>
                <a:spcPts val="5468"/>
              </a:lnSpc>
              <a:buNone/>
            </a:pPr>
            <a:r>
              <a:rPr lang="en-US" sz="4374" b="1" kern="0" spc="-35" dirty="0">
                <a:solidFill>
                  <a:srgbClr val="000000"/>
                </a:solidFill>
                <a:latin typeface="adonis-web" pitchFamily="34" charset="0"/>
                <a:ea typeface="adonis-web" pitchFamily="34" charset="-122"/>
                <a:cs typeface="adonis-web" pitchFamily="34" charset="-120"/>
              </a:rPr>
              <a:t>Importance of Proper Entity and Attribute Design</a:t>
            </a:r>
            <a:endParaRPr lang="en-US" sz="4374" dirty="0"/>
          </a:p>
        </p:txBody>
      </p:sp>
      <p:sp>
        <p:nvSpPr>
          <p:cNvPr id="5" name="Shape 2"/>
          <p:cNvSpPr/>
          <p:nvPr/>
        </p:nvSpPr>
        <p:spPr>
          <a:xfrm>
            <a:off x="2348389" y="2941915"/>
            <a:ext cx="499943" cy="499943"/>
          </a:xfrm>
          <a:prstGeom prst="roundRect">
            <a:avLst>
              <a:gd name="adj" fmla="val 20000"/>
            </a:avLst>
          </a:prstGeom>
          <a:solidFill>
            <a:srgbClr val="F0D4F7"/>
          </a:solidFill>
          <a:ln w="7620">
            <a:solidFill>
              <a:srgbClr val="D6BADD"/>
            </a:solidFill>
            <a:prstDash val="solid"/>
          </a:ln>
        </p:spPr>
      </p:sp>
      <p:sp>
        <p:nvSpPr>
          <p:cNvPr id="6" name="Text 3"/>
          <p:cNvSpPr/>
          <p:nvPr/>
        </p:nvSpPr>
        <p:spPr>
          <a:xfrm>
            <a:off x="2505670" y="2983587"/>
            <a:ext cx="185261" cy="416481"/>
          </a:xfrm>
          <a:prstGeom prst="rect">
            <a:avLst/>
          </a:prstGeom>
          <a:noFill/>
          <a:ln/>
        </p:spPr>
        <p:txBody>
          <a:bodyPr wrap="none" rtlCol="0" anchor="t"/>
          <a:lstStyle/>
          <a:p>
            <a:pPr marL="0" indent="0" algn="ctr">
              <a:lnSpc>
                <a:spcPts val="3281"/>
              </a:lnSpc>
              <a:buNone/>
            </a:pPr>
            <a:r>
              <a:rPr lang="en-US" sz="2624" b="1" kern="0" spc="-35" dirty="0">
                <a:solidFill>
                  <a:srgbClr val="272525"/>
                </a:solidFill>
                <a:latin typeface="adonis-web" pitchFamily="34" charset="0"/>
                <a:ea typeface="adonis-web" pitchFamily="34" charset="-122"/>
                <a:cs typeface="adonis-web" pitchFamily="34" charset="-120"/>
              </a:rPr>
              <a:t>1</a:t>
            </a:r>
            <a:endParaRPr lang="en-US" sz="2624" dirty="0"/>
          </a:p>
        </p:txBody>
      </p:sp>
      <p:sp>
        <p:nvSpPr>
          <p:cNvPr id="7" name="Text 4"/>
          <p:cNvSpPr/>
          <p:nvPr/>
        </p:nvSpPr>
        <p:spPr>
          <a:xfrm>
            <a:off x="3070503" y="3018234"/>
            <a:ext cx="2777490" cy="347186"/>
          </a:xfrm>
          <a:prstGeom prst="rect">
            <a:avLst/>
          </a:prstGeom>
          <a:noFill/>
          <a:ln/>
        </p:spPr>
        <p:txBody>
          <a:bodyPr wrap="none" rtlCol="0" anchor="t"/>
          <a:lstStyle/>
          <a:p>
            <a:pPr marL="0" indent="0">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Data Integrity</a:t>
            </a:r>
            <a:endParaRPr lang="en-US" sz="2187" dirty="0"/>
          </a:p>
        </p:txBody>
      </p:sp>
      <p:sp>
        <p:nvSpPr>
          <p:cNvPr id="8" name="Text 5"/>
          <p:cNvSpPr/>
          <p:nvPr/>
        </p:nvSpPr>
        <p:spPr>
          <a:xfrm>
            <a:off x="3070503" y="3498652"/>
            <a:ext cx="4133612"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Well-designed entities and attributes ensure data integrity by establishing clear boundaries and relationships, reducing redundancy and inconsistencies in the database.</a:t>
            </a:r>
            <a:endParaRPr lang="en-US" sz="1750" dirty="0"/>
          </a:p>
        </p:txBody>
      </p:sp>
      <p:sp>
        <p:nvSpPr>
          <p:cNvPr id="9" name="Shape 6"/>
          <p:cNvSpPr/>
          <p:nvPr/>
        </p:nvSpPr>
        <p:spPr>
          <a:xfrm>
            <a:off x="7426285" y="2941915"/>
            <a:ext cx="499943" cy="499943"/>
          </a:xfrm>
          <a:prstGeom prst="roundRect">
            <a:avLst>
              <a:gd name="adj" fmla="val 20000"/>
            </a:avLst>
          </a:prstGeom>
          <a:solidFill>
            <a:srgbClr val="F0D4F7"/>
          </a:solidFill>
          <a:ln w="7620">
            <a:solidFill>
              <a:srgbClr val="D6BADD"/>
            </a:solidFill>
            <a:prstDash val="solid"/>
          </a:ln>
        </p:spPr>
      </p:sp>
      <p:sp>
        <p:nvSpPr>
          <p:cNvPr id="10" name="Text 7"/>
          <p:cNvSpPr/>
          <p:nvPr/>
        </p:nvSpPr>
        <p:spPr>
          <a:xfrm>
            <a:off x="7583567" y="2983587"/>
            <a:ext cx="185261" cy="416481"/>
          </a:xfrm>
          <a:prstGeom prst="rect">
            <a:avLst/>
          </a:prstGeom>
          <a:noFill/>
          <a:ln/>
        </p:spPr>
        <p:txBody>
          <a:bodyPr wrap="none" rtlCol="0" anchor="t"/>
          <a:lstStyle/>
          <a:p>
            <a:pPr marL="0" indent="0" algn="ctr">
              <a:lnSpc>
                <a:spcPts val="3281"/>
              </a:lnSpc>
              <a:buNone/>
            </a:pPr>
            <a:r>
              <a:rPr lang="en-US" sz="2624" b="1" kern="0" spc="-35" dirty="0">
                <a:solidFill>
                  <a:srgbClr val="272525"/>
                </a:solidFill>
                <a:latin typeface="adonis-web" pitchFamily="34" charset="0"/>
                <a:ea typeface="adonis-web" pitchFamily="34" charset="-122"/>
                <a:cs typeface="adonis-web" pitchFamily="34" charset="-120"/>
              </a:rPr>
              <a:t>2</a:t>
            </a:r>
            <a:endParaRPr lang="en-US" sz="2624" dirty="0"/>
          </a:p>
        </p:txBody>
      </p:sp>
      <p:sp>
        <p:nvSpPr>
          <p:cNvPr id="11" name="Text 8"/>
          <p:cNvSpPr/>
          <p:nvPr/>
        </p:nvSpPr>
        <p:spPr>
          <a:xfrm>
            <a:off x="8148399" y="3018234"/>
            <a:ext cx="2777490" cy="347186"/>
          </a:xfrm>
          <a:prstGeom prst="rect">
            <a:avLst/>
          </a:prstGeom>
          <a:noFill/>
          <a:ln/>
        </p:spPr>
        <p:txBody>
          <a:bodyPr wrap="none" rtlCol="0" anchor="t"/>
          <a:lstStyle/>
          <a:p>
            <a:pPr marL="0" indent="0">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Query Optimization</a:t>
            </a:r>
            <a:endParaRPr lang="en-US" sz="2187" dirty="0"/>
          </a:p>
        </p:txBody>
      </p:sp>
      <p:sp>
        <p:nvSpPr>
          <p:cNvPr id="12" name="Text 9"/>
          <p:cNvSpPr/>
          <p:nvPr/>
        </p:nvSpPr>
        <p:spPr>
          <a:xfrm>
            <a:off x="8148399" y="3498652"/>
            <a:ext cx="4133612"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Thoughtful entity and attribute modeling enables efficient database queries, improving performance and responsiveness of applications that rely on the data.</a:t>
            </a:r>
            <a:endParaRPr lang="en-US" sz="1750" dirty="0"/>
          </a:p>
        </p:txBody>
      </p:sp>
      <p:sp>
        <p:nvSpPr>
          <p:cNvPr id="13" name="Shape 10"/>
          <p:cNvSpPr/>
          <p:nvPr/>
        </p:nvSpPr>
        <p:spPr>
          <a:xfrm>
            <a:off x="2348389" y="5316022"/>
            <a:ext cx="499943" cy="499943"/>
          </a:xfrm>
          <a:prstGeom prst="roundRect">
            <a:avLst>
              <a:gd name="adj" fmla="val 20000"/>
            </a:avLst>
          </a:prstGeom>
          <a:solidFill>
            <a:srgbClr val="F0D4F7"/>
          </a:solidFill>
          <a:ln w="7620">
            <a:solidFill>
              <a:srgbClr val="D6BADD"/>
            </a:solidFill>
            <a:prstDash val="solid"/>
          </a:ln>
        </p:spPr>
      </p:sp>
      <p:sp>
        <p:nvSpPr>
          <p:cNvPr id="14" name="Text 11"/>
          <p:cNvSpPr/>
          <p:nvPr/>
        </p:nvSpPr>
        <p:spPr>
          <a:xfrm>
            <a:off x="2505670" y="5357693"/>
            <a:ext cx="185261" cy="416481"/>
          </a:xfrm>
          <a:prstGeom prst="rect">
            <a:avLst/>
          </a:prstGeom>
          <a:noFill/>
          <a:ln/>
        </p:spPr>
        <p:txBody>
          <a:bodyPr wrap="none" rtlCol="0" anchor="t"/>
          <a:lstStyle/>
          <a:p>
            <a:pPr marL="0" indent="0" algn="ctr">
              <a:lnSpc>
                <a:spcPts val="3281"/>
              </a:lnSpc>
              <a:buNone/>
            </a:pPr>
            <a:r>
              <a:rPr lang="en-US" sz="2624" b="1" kern="0" spc="-35" dirty="0">
                <a:solidFill>
                  <a:srgbClr val="272525"/>
                </a:solidFill>
                <a:latin typeface="adonis-web" pitchFamily="34" charset="0"/>
                <a:ea typeface="adonis-web" pitchFamily="34" charset="-122"/>
                <a:cs typeface="adonis-web" pitchFamily="34" charset="-120"/>
              </a:rPr>
              <a:t>3</a:t>
            </a:r>
            <a:endParaRPr lang="en-US" sz="2624" dirty="0"/>
          </a:p>
        </p:txBody>
      </p:sp>
      <p:sp>
        <p:nvSpPr>
          <p:cNvPr id="15" name="Text 12"/>
          <p:cNvSpPr/>
          <p:nvPr/>
        </p:nvSpPr>
        <p:spPr>
          <a:xfrm>
            <a:off x="3070503" y="5392341"/>
            <a:ext cx="2899053" cy="347186"/>
          </a:xfrm>
          <a:prstGeom prst="rect">
            <a:avLst/>
          </a:prstGeom>
          <a:noFill/>
          <a:ln/>
        </p:spPr>
        <p:txBody>
          <a:bodyPr wrap="none" rtlCol="0" anchor="t"/>
          <a:lstStyle/>
          <a:p>
            <a:pPr marL="0" indent="0">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Scalability and Flexibility</a:t>
            </a:r>
            <a:endParaRPr lang="en-US" sz="2187" dirty="0"/>
          </a:p>
        </p:txBody>
      </p:sp>
      <p:sp>
        <p:nvSpPr>
          <p:cNvPr id="16" name="Text 13"/>
          <p:cNvSpPr/>
          <p:nvPr/>
        </p:nvSpPr>
        <p:spPr>
          <a:xfrm>
            <a:off x="3070503" y="5872758"/>
            <a:ext cx="4133612"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A robust entity-attribute structure allows the database to scale and evolve to accommodate growing data and changing business requirements over time.</a:t>
            </a:r>
            <a:endParaRPr lang="en-US" sz="1750" dirty="0"/>
          </a:p>
        </p:txBody>
      </p:sp>
      <p:sp>
        <p:nvSpPr>
          <p:cNvPr id="17" name="Shape 14"/>
          <p:cNvSpPr/>
          <p:nvPr/>
        </p:nvSpPr>
        <p:spPr>
          <a:xfrm>
            <a:off x="7426285" y="5316022"/>
            <a:ext cx="499943" cy="499943"/>
          </a:xfrm>
          <a:prstGeom prst="roundRect">
            <a:avLst>
              <a:gd name="adj" fmla="val 20000"/>
            </a:avLst>
          </a:prstGeom>
          <a:solidFill>
            <a:srgbClr val="F0D4F7"/>
          </a:solidFill>
          <a:ln w="7620">
            <a:solidFill>
              <a:srgbClr val="D6BADD"/>
            </a:solidFill>
            <a:prstDash val="solid"/>
          </a:ln>
        </p:spPr>
      </p:sp>
      <p:sp>
        <p:nvSpPr>
          <p:cNvPr id="18" name="Text 15"/>
          <p:cNvSpPr/>
          <p:nvPr/>
        </p:nvSpPr>
        <p:spPr>
          <a:xfrm>
            <a:off x="7583567" y="5357693"/>
            <a:ext cx="185261" cy="416481"/>
          </a:xfrm>
          <a:prstGeom prst="rect">
            <a:avLst/>
          </a:prstGeom>
          <a:noFill/>
          <a:ln/>
        </p:spPr>
        <p:txBody>
          <a:bodyPr wrap="none" rtlCol="0" anchor="t"/>
          <a:lstStyle/>
          <a:p>
            <a:pPr marL="0" indent="0" algn="ctr">
              <a:lnSpc>
                <a:spcPts val="3281"/>
              </a:lnSpc>
              <a:buNone/>
            </a:pPr>
            <a:r>
              <a:rPr lang="en-US" sz="2624" b="1" kern="0" spc="-35" dirty="0">
                <a:solidFill>
                  <a:srgbClr val="272525"/>
                </a:solidFill>
                <a:latin typeface="adonis-web" pitchFamily="34" charset="0"/>
                <a:ea typeface="adonis-web" pitchFamily="34" charset="-122"/>
                <a:cs typeface="adonis-web" pitchFamily="34" charset="-120"/>
              </a:rPr>
              <a:t>4</a:t>
            </a:r>
            <a:endParaRPr lang="en-US" sz="2624" dirty="0"/>
          </a:p>
        </p:txBody>
      </p:sp>
      <p:sp>
        <p:nvSpPr>
          <p:cNvPr id="19" name="Text 16"/>
          <p:cNvSpPr/>
          <p:nvPr/>
        </p:nvSpPr>
        <p:spPr>
          <a:xfrm>
            <a:off x="8148399" y="5392341"/>
            <a:ext cx="2783205" cy="347186"/>
          </a:xfrm>
          <a:prstGeom prst="rect">
            <a:avLst/>
          </a:prstGeom>
          <a:noFill/>
          <a:ln/>
        </p:spPr>
        <p:txBody>
          <a:bodyPr wrap="none" rtlCol="0" anchor="t"/>
          <a:lstStyle/>
          <a:p>
            <a:pPr marL="0" indent="0">
              <a:lnSpc>
                <a:spcPts val="2734"/>
              </a:lnSpc>
              <a:buNone/>
            </a:pPr>
            <a:r>
              <a:rPr lang="en-US" sz="2187" b="1" kern="0" spc="-35" dirty="0">
                <a:solidFill>
                  <a:srgbClr val="272525"/>
                </a:solidFill>
                <a:latin typeface="adonis-web" pitchFamily="34" charset="0"/>
                <a:ea typeface="adonis-web" pitchFamily="34" charset="-122"/>
                <a:cs typeface="adonis-web" pitchFamily="34" charset="-120"/>
              </a:rPr>
              <a:t>Reporting and Analytics</a:t>
            </a:r>
            <a:endParaRPr lang="en-US" sz="2187" dirty="0"/>
          </a:p>
        </p:txBody>
      </p:sp>
      <p:sp>
        <p:nvSpPr>
          <p:cNvPr id="20" name="Text 17"/>
          <p:cNvSpPr/>
          <p:nvPr/>
        </p:nvSpPr>
        <p:spPr>
          <a:xfrm>
            <a:off x="8148399" y="5872758"/>
            <a:ext cx="4133612"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Proper entity and attribute design facilitates accurate and meaningful reporting, enabling better data-driven decision making for the organization.</a:t>
            </a:r>
            <a:endParaRPr lang="en-US" sz="17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199" y="1320879"/>
            <a:ext cx="7477601" cy="3832860"/>
          </a:xfrm>
          <a:prstGeom prst="rect">
            <a:avLst/>
          </a:prstGeom>
          <a:noFill/>
          <a:ln/>
        </p:spPr>
        <p:txBody>
          <a:bodyPr wrap="square" rtlCol="0" anchor="t"/>
          <a:lstStyle/>
          <a:p>
            <a:pPr marL="0" indent="0">
              <a:lnSpc>
                <a:spcPts val="7545"/>
              </a:lnSpc>
              <a:buNone/>
            </a:pPr>
            <a:r>
              <a:rPr lang="en-US" sz="6036" b="1" kern="0" spc="-35" dirty="0">
                <a:solidFill>
                  <a:srgbClr val="000000"/>
                </a:solidFill>
                <a:latin typeface="adonis-web" pitchFamily="34" charset="0"/>
                <a:ea typeface="adonis-web" pitchFamily="34" charset="-122"/>
                <a:cs typeface="adonis-web" pitchFamily="34" charset="-120"/>
              </a:rPr>
              <a:t>Conclusion: Best Practices for Entity and Attribute Management</a:t>
            </a:r>
            <a:endParaRPr lang="en-US" sz="6036" dirty="0"/>
          </a:p>
        </p:txBody>
      </p:sp>
      <p:sp>
        <p:nvSpPr>
          <p:cNvPr id="6" name="Text 2"/>
          <p:cNvSpPr/>
          <p:nvPr/>
        </p:nvSpPr>
        <p:spPr>
          <a:xfrm>
            <a:off x="833199" y="5486995"/>
            <a:ext cx="7477601"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Source Sans Pro" pitchFamily="34" charset="0"/>
                <a:ea typeface="Source Sans Pro" pitchFamily="34" charset="-122"/>
                <a:cs typeface="Source Sans Pro" pitchFamily="34" charset="-120"/>
              </a:rPr>
              <a:t>In conclusion, effective entity and attribute management is crucial for building robust and scalable database systems. By following best practices such as clearly defining entities, properly assigning attributes, and establishing strong relationships, organizations can ensure the integrity and efficiency of their data infrastructure.</a:t>
            </a:r>
            <a:endParaRPr lang="en-US" sz="175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1072</Words>
  <Application>Microsoft Office PowerPoint</Application>
  <PresentationFormat>Custom</PresentationFormat>
  <Paragraphs>116</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adonis-web</vt:lpstr>
      <vt:lpstr>Arial</vt:lpstr>
      <vt:lpstr>Calibri</vt:lpstr>
      <vt:lpstr>Calibri Light</vt:lpstr>
      <vt:lpstr>Söhne</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ayesha jarral</cp:lastModifiedBy>
  <cp:revision>7</cp:revision>
  <dcterms:created xsi:type="dcterms:W3CDTF">2024-04-16T09:07:47Z</dcterms:created>
  <dcterms:modified xsi:type="dcterms:W3CDTF">2024-04-16T09:39:59Z</dcterms:modified>
</cp:coreProperties>
</file>