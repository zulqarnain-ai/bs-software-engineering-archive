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3"/>
  </p:sldMasterIdLst>
  <p:notesMasterIdLst>
    <p:notesMasterId r:id="rId35"/>
  </p:notesMasterIdLst>
  <p:handoutMasterIdLst>
    <p:handoutMasterId r:id="rId36"/>
  </p:handoutMasterIdLst>
  <p:sldIdLst>
    <p:sldId id="257" r:id="rId4"/>
    <p:sldId id="261" r:id="rId5"/>
    <p:sldId id="578" r:id="rId6"/>
    <p:sldId id="550" r:id="rId7"/>
    <p:sldId id="582" r:id="rId8"/>
    <p:sldId id="556" r:id="rId9"/>
    <p:sldId id="557" r:id="rId10"/>
    <p:sldId id="576" r:id="rId11"/>
    <p:sldId id="577" r:id="rId12"/>
    <p:sldId id="558" r:id="rId13"/>
    <p:sldId id="553" r:id="rId14"/>
    <p:sldId id="559" r:id="rId15"/>
    <p:sldId id="554" r:id="rId16"/>
    <p:sldId id="555" r:id="rId17"/>
    <p:sldId id="560" r:id="rId18"/>
    <p:sldId id="561" r:id="rId19"/>
    <p:sldId id="566" r:id="rId20"/>
    <p:sldId id="562" r:id="rId21"/>
    <p:sldId id="567" r:id="rId22"/>
    <p:sldId id="568" r:id="rId23"/>
    <p:sldId id="563" r:id="rId24"/>
    <p:sldId id="583" r:id="rId25"/>
    <p:sldId id="570" r:id="rId26"/>
    <p:sldId id="571" r:id="rId27"/>
    <p:sldId id="572" r:id="rId28"/>
    <p:sldId id="573" r:id="rId29"/>
    <p:sldId id="574" r:id="rId30"/>
    <p:sldId id="575" r:id="rId31"/>
    <p:sldId id="579" r:id="rId32"/>
    <p:sldId id="580" r:id="rId33"/>
    <p:sldId id="581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20" autoAdjust="0"/>
    <p:restoredTop sz="94353" autoAdjust="0"/>
  </p:normalViewPr>
  <p:slideViewPr>
    <p:cSldViewPr snapToGrid="0">
      <p:cViewPr varScale="1">
        <p:scale>
          <a:sx n="82" d="100"/>
          <a:sy n="82" d="100"/>
        </p:scale>
        <p:origin x="104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2880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handoutMaster" Target="handoutMasters/handoutMaster1.xml"/><Relationship Id="rId35" Type="http://schemas.openxmlformats.org/officeDocument/2006/relationships/notesMaster" Target="notesMasters/notesMaster1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D95C29-67EF-49A4-98C1-FCB15B72695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41700E-07F4-4037-B9BA-0B1759606C56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D83B8F-3A1C-4F2C-B130-8969D6C1E4A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5C6B6B-DEB4-4104-BA10-F9FA8AE5C1B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ctrTitle"/>
          </p:nvPr>
        </p:nvSpPr>
        <p:spPr>
          <a:xfrm>
            <a:off x="0" y="2573383"/>
            <a:ext cx="12192000" cy="1711234"/>
          </a:xfrm>
          <a:solidFill>
            <a:srgbClr val="00206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b"/>
          <a:lstStyle>
            <a:lvl1pPr algn="ctr">
              <a:defRPr sz="6000" b="1"/>
            </a:lvl1pPr>
          </a:lstStyle>
          <a:p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6884126" y="4738508"/>
            <a:ext cx="5185954" cy="460510"/>
          </a:xfrm>
        </p:spPr>
        <p:txBody>
          <a:bodyPr>
            <a:normAutofit/>
          </a:bodyPr>
          <a:lstStyle>
            <a:lvl1pPr marL="0" indent="0" algn="ctr">
              <a:buNone/>
              <a:defRPr sz="2800" b="1">
                <a:solidFill>
                  <a:srgbClr val="00105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222B44E-5EBD-41DA-A4C1-0F5DD6312BF8}" type="datetime1">
              <a:rPr lang="en-US" smtClean="0"/>
            </a:fld>
            <a:endParaRPr 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EAFE983-65F8-481A-83AB-B8769D089CA8}" type="slidenum">
              <a:rPr lang="en-US" smtClean="0"/>
            </a:fld>
            <a:endParaRPr lang="en-US"/>
          </a:p>
        </p:txBody>
      </p:sp>
      <p:sp>
        <p:nvSpPr>
          <p:cNvPr id="20" name="Title 1"/>
          <p:cNvSpPr txBox="1"/>
          <p:nvPr userDrawn="1"/>
        </p:nvSpPr>
        <p:spPr>
          <a:xfrm>
            <a:off x="-13063" y="596657"/>
            <a:ext cx="4642339" cy="1245366"/>
          </a:xfrm>
          <a:prstGeom prst="rect">
            <a:avLst/>
          </a:prstGeom>
          <a:solidFill>
            <a:srgbClr val="001050"/>
          </a:solidFill>
          <a:ln>
            <a:miter lim="800000"/>
          </a:ln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 rtl="0" eaLnBrk="1" latinLnBrk="0" hangingPunct="1">
              <a:spcBef>
                <a:spcPct val="0"/>
              </a:spcBef>
              <a:buNone/>
              <a:defRPr kumimoji="0" sz="48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endParaRPr lang="en-US" sz="5400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130629" y="692331"/>
            <a:ext cx="4402183" cy="1045029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buNone/>
              <a:defRPr sz="4800" b="1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5" name="Title 1"/>
          <p:cNvSpPr txBox="1"/>
          <p:nvPr userDrawn="1"/>
        </p:nvSpPr>
        <p:spPr>
          <a:xfrm>
            <a:off x="7559042" y="605365"/>
            <a:ext cx="4642339" cy="1245366"/>
          </a:xfrm>
          <a:prstGeom prst="rect">
            <a:avLst/>
          </a:prstGeom>
          <a:solidFill>
            <a:srgbClr val="001050"/>
          </a:solidFill>
          <a:ln>
            <a:miter lim="800000"/>
          </a:ln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 rtl="0" eaLnBrk="1" latinLnBrk="0" hangingPunct="1">
              <a:spcBef>
                <a:spcPct val="0"/>
              </a:spcBef>
              <a:buNone/>
              <a:defRPr kumimoji="0" sz="48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endParaRPr lang="en-US" sz="5400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 Placeholder 18"/>
          <p:cNvSpPr>
            <a:spLocks noGrp="1"/>
          </p:cNvSpPr>
          <p:nvPr>
            <p:ph type="body" sz="quarter" idx="14"/>
          </p:nvPr>
        </p:nvSpPr>
        <p:spPr>
          <a:xfrm>
            <a:off x="7628708" y="692331"/>
            <a:ext cx="4467497" cy="1058091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2060"/>
          </a:solidFill>
        </p:spPr>
        <p:txBody>
          <a:bodyPr/>
          <a:lstStyle>
            <a:lvl1pPr>
              <a:defRPr b="1">
                <a:solidFill>
                  <a:schemeClr val="bg1">
                    <a:lumMod val="9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Wingdings" panose="05000000000000000000" pitchFamily="2" charset="2"/>
              <a:buChar char="q"/>
              <a:defRPr b="1">
                <a:solidFill>
                  <a:srgbClr val="001050"/>
                </a:solidFill>
              </a:defRPr>
            </a:lvl1pPr>
            <a:lvl2pPr>
              <a:buFont typeface="Wingdings" panose="05000000000000000000" pitchFamily="2" charset="2"/>
              <a:buChar char="§"/>
              <a:defRPr b="0"/>
            </a:lvl2pPr>
            <a:lvl3pPr>
              <a:buFont typeface="Courier New" panose="02070309020205020404" pitchFamily="49" charset="0"/>
              <a:buChar char="o"/>
              <a:defRPr b="0">
                <a:latin typeface="+mj-lt"/>
              </a:defRPr>
            </a:lvl3pPr>
            <a:lvl4pPr>
              <a:buFont typeface="Arial" panose="020B0604020202020204" pitchFamily="34" charset="0"/>
              <a:buChar char="•"/>
              <a:defRPr b="0">
                <a:latin typeface="+mj-lt"/>
              </a:defRPr>
            </a:lvl4pPr>
            <a:lvl5pPr>
              <a:buFont typeface="Arial" panose="020B0604020202020204" pitchFamily="34" charset="0"/>
              <a:buChar char="•"/>
              <a:defRPr b="0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E28BF-C07B-4C2C-B013-8895A18E1546}" type="datetime1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solidFill>
            <a:srgbClr val="002060"/>
          </a:solidFill>
        </p:spPr>
        <p:txBody>
          <a:bodyPr anchor="b"/>
          <a:lstStyle>
            <a:lvl1pPr>
              <a:defRPr sz="60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3200" b="0">
                <a:solidFill>
                  <a:srgbClr val="001050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BF1E8-1638-49D9-BB55-B420D29E736C}" type="datetime1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</a:fld>
            <a:endParaRPr lang="en-US"/>
          </a:p>
        </p:txBody>
      </p:sp>
      <p:pic>
        <p:nvPicPr>
          <p:cNvPr id="8" name="Picture 4" descr="Related image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8835" y="6311371"/>
            <a:ext cx="1502229" cy="432687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52062"/>
            <a:ext cx="10515600" cy="1325563"/>
          </a:xfrm>
          <a:solidFill>
            <a:srgbClr val="002060"/>
          </a:solidFill>
        </p:spPr>
        <p:txBody>
          <a:bodyPr>
            <a:normAutofit/>
          </a:bodyPr>
          <a:lstStyle>
            <a:lvl1pPr>
              <a:defRPr sz="4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buFont typeface="Wingdings" panose="05000000000000000000" pitchFamily="2" charset="2"/>
              <a:buChar char="q"/>
              <a:defRPr/>
            </a:lvl1pPr>
            <a:lvl2pPr>
              <a:buFont typeface="Wingdings" panose="05000000000000000000" pitchFamily="2" charset="2"/>
              <a:buChar char="§"/>
              <a:defRPr/>
            </a:lvl2pPr>
            <a:lvl3pPr>
              <a:buFont typeface="Arial" panose="020B0604020202020204" pitchFamily="34" charset="0"/>
              <a:buChar char="•"/>
              <a:defRPr>
                <a:latin typeface="+mj-lt"/>
              </a:defRPr>
            </a:lvl3pPr>
            <a:lvl4pPr>
              <a:buFont typeface="Courier New" panose="02070309020205020404" pitchFamily="49" charset="0"/>
              <a:buChar char="o"/>
              <a:defRPr>
                <a:latin typeface="+mj-lt"/>
              </a:defRPr>
            </a:lvl4pPr>
            <a:lvl5pPr>
              <a:buFont typeface="Courier New" panose="02070309020205020404" pitchFamily="49" charset="0"/>
              <a:buChar char="o"/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buFont typeface="Wingdings" panose="05000000000000000000" pitchFamily="2" charset="2"/>
              <a:buChar char="q"/>
              <a:defRPr/>
            </a:lvl1pPr>
            <a:lvl2pPr>
              <a:buFont typeface="Wingdings" panose="05000000000000000000" pitchFamily="2" charset="2"/>
              <a:buChar char="§"/>
              <a:defRPr/>
            </a:lvl2pPr>
            <a:lvl3pPr>
              <a:buFont typeface="Arial" panose="020B0604020202020204" pitchFamily="34" charset="0"/>
              <a:buChar char="•"/>
              <a:defRPr>
                <a:latin typeface="+mj-lt"/>
              </a:defRPr>
            </a:lvl3pPr>
            <a:lvl4pPr>
              <a:buFont typeface="Courier New" panose="02070309020205020404" pitchFamily="49" charset="0"/>
              <a:buChar char="o"/>
              <a:defRPr>
                <a:latin typeface="+mj-lt"/>
              </a:defRPr>
            </a:lvl4pPr>
            <a:lvl5pPr>
              <a:buFont typeface="Courier New" panose="02070309020205020404" pitchFamily="49" charset="0"/>
              <a:buChar char="o"/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237C2-AC3C-4B81-BE13-7BF481240D35}" type="datetime1">
              <a:rPr lang="en-US" smtClean="0"/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800" b="1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FE988-7892-4E4C-8C05-96280DC7C976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8198A-1086-4457-B873-7FC6ADD90441}" type="datetime1">
              <a:rPr lang="en-US" smtClean="0"/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EFA3D-5E26-474F-A478-7ACFFDF245A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2667D-AF82-4654-BA86-CD47B271254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EFA3D-5E26-474F-A478-7ACFFDF245A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2667D-AF82-4654-BA86-CD47B271254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EFA3D-5E26-474F-A478-7ACFFDF245A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2667D-AF82-4654-BA86-CD47B271254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EFA3D-5E26-474F-A478-7ACFFDF245A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2667D-AF82-4654-BA86-CD47B271254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EFA3D-5E26-474F-A478-7ACFFDF245A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2667D-AF82-4654-BA86-CD47B271254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EFA3D-5E26-474F-A478-7ACFFDF245A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2667D-AF82-4654-BA86-CD47B271254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EFA3D-5E26-474F-A478-7ACFFDF245A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2667D-AF82-4654-BA86-CD47B271254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EFA3D-5E26-474F-A478-7ACFFDF245A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2667D-AF82-4654-BA86-CD47B271254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EFA3D-5E26-474F-A478-7ACFFDF245A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2667D-AF82-4654-BA86-CD47B271254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EFA3D-5E26-474F-A478-7ACFFDF245A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2667D-AF82-4654-BA86-CD47B271254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EFA3D-5E26-474F-A478-7ACFFDF245A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2667D-AF82-4654-BA86-CD47B271254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6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E5E3E7-21C1-45B1-AC22-A5075242D3FB}" type="datetime1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AFE983-65F8-481A-83AB-B8769D089CA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q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0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8EFA3D-5E26-474F-A478-7ACFFDF245AE}" type="datetimeFigureOut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12667D-AF82-4654-BA86-CD47B271254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Relationship Id="rId1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584672"/>
            <a:ext cx="12192000" cy="1711234"/>
          </a:xfrm>
        </p:spPr>
        <p:txBody>
          <a:bodyPr/>
          <a:lstStyle/>
          <a:p>
            <a:r>
              <a:rPr lang="en-US" dirty="0"/>
              <a:t>Software Re-Engineering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Instructor: Muhammad Usman Shahid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30481" y="697368"/>
            <a:ext cx="4532812" cy="1045029"/>
          </a:xfrm>
        </p:spPr>
        <p:txBody>
          <a:bodyPr>
            <a:normAutofit/>
          </a:bodyPr>
          <a:lstStyle/>
          <a:p>
            <a:pPr algn="l">
              <a:defRPr/>
            </a:pPr>
            <a:r>
              <a:rPr lang="en-US" sz="54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Lecture No.02</a:t>
            </a:r>
            <a:endParaRPr lang="en-US" sz="5400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BSSE – 7 &amp; 8</a:t>
            </a:r>
            <a:endParaRPr lang="en-US" sz="540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E8078-E741-4192-A2B7-8484ED9E8AB7}" type="datetime1">
              <a:rPr lang="en-US" smtClean="0"/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365" y="282222"/>
            <a:ext cx="10515600" cy="945636"/>
          </a:xfrm>
        </p:spPr>
        <p:txBody>
          <a:bodyPr>
            <a:normAutofit/>
          </a:bodyPr>
          <a:lstStyle/>
          <a:p>
            <a:r>
              <a:rPr lang="en-US" sz="5400" dirty="0"/>
              <a:t>Lecture 2: Content</a:t>
            </a:r>
            <a:endParaRPr lang="en-US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2619" y="1227858"/>
            <a:ext cx="10714608" cy="4944862"/>
          </a:xfrm>
        </p:spPr>
        <p:txBody>
          <a:bodyPr>
            <a:norm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b="0" dirty="0"/>
              <a:t>Software maintenance and evolution</a:t>
            </a:r>
            <a:endParaRPr lang="en-US" b="0" dirty="0"/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US" b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9B61D-A6EC-4934-BE2B-FF9448E978C0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4014" y="2423603"/>
            <a:ext cx="10515600" cy="2281562"/>
          </a:xfrm>
        </p:spPr>
        <p:txBody>
          <a:bodyPr>
            <a:normAutofit/>
          </a:bodyPr>
          <a:lstStyle/>
          <a:p>
            <a:r>
              <a:rPr lang="en-US" sz="5400" dirty="0"/>
              <a:t>Software Maintenance</a:t>
            </a:r>
            <a:endParaRPr lang="en-US" sz="5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6B034-BFB1-45D6-8611-28CB88CAF389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705" y="136525"/>
            <a:ext cx="10515600" cy="724610"/>
          </a:xfrm>
        </p:spPr>
        <p:txBody>
          <a:bodyPr>
            <a:normAutofit/>
          </a:bodyPr>
          <a:lstStyle/>
          <a:p>
            <a:r>
              <a:rPr lang="en-US" sz="3600" dirty="0"/>
              <a:t>Software Maintenance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8575" y="958788"/>
            <a:ext cx="11105225" cy="5218175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3200" i="0" u="none" strike="noStrike" baseline="0" dirty="0"/>
              <a:t>The ISO/IEC 14764 standard defines software maintenance as </a:t>
            </a:r>
            <a:endParaRPr lang="en-US" sz="3200" i="0" u="none" strike="noStrike" baseline="0" dirty="0"/>
          </a:p>
          <a:p>
            <a:pPr marL="0" indent="0" algn="l">
              <a:buNone/>
            </a:pPr>
            <a:endParaRPr lang="en-US" sz="3200" i="0" u="none" strike="noStrike" baseline="0" dirty="0"/>
          </a:p>
          <a:p>
            <a:pPr algn="l"/>
            <a:r>
              <a:rPr lang="en-US" sz="3200" b="0" i="0" u="none" strike="noStrike" baseline="0" dirty="0"/>
              <a:t>“the set of activities required to provide </a:t>
            </a:r>
            <a:r>
              <a:rPr lang="en-US" sz="3200" b="0" i="0" u="none" strike="noStrike" baseline="0" dirty="0">
                <a:solidFill>
                  <a:srgbClr val="FF0000"/>
                </a:solidFill>
              </a:rPr>
              <a:t>cost-effective support </a:t>
            </a:r>
            <a:r>
              <a:rPr lang="en-US" sz="3200" b="0" i="0" u="none" strike="noStrike" baseline="0" dirty="0"/>
              <a:t>to a software system. Activities are performed during the pre-delivery stage as well as the post-delivery stage”</a:t>
            </a:r>
            <a:endParaRPr lang="en-US" sz="3200" b="0" i="0" u="none" strike="noStrike" baseline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4FE1D-A6CC-4CBE-B2D7-43FFC895FB69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705" y="136525"/>
            <a:ext cx="10515600" cy="724610"/>
          </a:xfrm>
        </p:spPr>
        <p:txBody>
          <a:bodyPr>
            <a:normAutofit/>
          </a:bodyPr>
          <a:lstStyle/>
          <a:p>
            <a:r>
              <a:rPr lang="en-US" sz="3600" dirty="0"/>
              <a:t>Software Maintenance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8575" y="958788"/>
            <a:ext cx="11105225" cy="5218175"/>
          </a:xfrm>
        </p:spPr>
        <p:txBody>
          <a:bodyPr>
            <a:normAutofit/>
          </a:bodyPr>
          <a:lstStyle/>
          <a:p>
            <a:r>
              <a:rPr lang="en-US" sz="3200" i="0" u="none" strike="noStrike" baseline="0" dirty="0"/>
              <a:t>Pre-delivery activities</a:t>
            </a:r>
            <a:r>
              <a:rPr lang="en-US" sz="3200" b="0" i="0" u="none" strike="noStrike" baseline="0" dirty="0"/>
              <a:t> include planning for post-delivery operations.</a:t>
            </a:r>
            <a:endParaRPr lang="en-US" sz="3200" i="0" u="none" strike="noStrike" baseline="0" dirty="0"/>
          </a:p>
          <a:p>
            <a:pPr algn="l"/>
            <a:r>
              <a:rPr lang="en-US" sz="3200" i="0" u="none" strike="noStrike" baseline="0" dirty="0"/>
              <a:t>Post-delivery activities </a:t>
            </a:r>
            <a:r>
              <a:rPr lang="en-US" sz="3200" b="0" i="0" u="none" strike="noStrike" baseline="0" dirty="0"/>
              <a:t>include </a:t>
            </a:r>
            <a:r>
              <a:rPr lang="en-US" sz="3200" b="0" i="0" u="none" strike="noStrike" baseline="0" dirty="0">
                <a:solidFill>
                  <a:srgbClr val="FF0000"/>
                </a:solidFill>
              </a:rPr>
              <a:t>changing software</a:t>
            </a:r>
            <a:r>
              <a:rPr lang="en-US" sz="3200" b="0" i="0" u="none" strike="noStrike" baseline="0" dirty="0"/>
              <a:t>, </a:t>
            </a:r>
            <a:r>
              <a:rPr lang="en-US" sz="3200" b="0" i="0" u="none" strike="noStrike" baseline="0" dirty="0">
                <a:solidFill>
                  <a:srgbClr val="FF0000"/>
                </a:solidFill>
              </a:rPr>
              <a:t>provide training</a:t>
            </a:r>
            <a:r>
              <a:rPr lang="en-US" sz="3200" b="0" i="0" u="none" strike="noStrike" baseline="0" dirty="0"/>
              <a:t>, and </a:t>
            </a:r>
            <a:r>
              <a:rPr lang="en-US" sz="3200" b="0" i="0" u="none" strike="noStrike" baseline="0" dirty="0">
                <a:solidFill>
                  <a:srgbClr val="FF0000"/>
                </a:solidFill>
              </a:rPr>
              <a:t>operating a help desk</a:t>
            </a:r>
            <a:r>
              <a:rPr lang="en-US" sz="3200" b="0" i="0" u="none" strike="noStrike" baseline="0" dirty="0"/>
              <a:t>. </a:t>
            </a:r>
            <a:endParaRPr lang="en-US" sz="3200" b="0" i="0" u="none" strike="noStrike" baseline="0" dirty="0"/>
          </a:p>
          <a:p>
            <a:pPr algn="l"/>
            <a:endParaRPr lang="en-US" sz="3200" b="0" i="0" u="none" strike="noStrike" baseline="0" dirty="0"/>
          </a:p>
          <a:p>
            <a:pPr algn="l"/>
            <a:r>
              <a:rPr lang="en-US" sz="3200" b="0" i="0" u="none" strike="noStrike" baseline="0" dirty="0"/>
              <a:t>During</a:t>
            </a:r>
            <a:r>
              <a:rPr lang="en-US" sz="3200" b="0" dirty="0"/>
              <a:t> </a:t>
            </a:r>
            <a:r>
              <a:rPr lang="en-US" sz="3200" b="0" i="0" u="none" strike="noStrike" baseline="0" dirty="0"/>
              <a:t>the development process, maintainability is specified, reviewed, and controlled. </a:t>
            </a:r>
            <a:endParaRPr lang="en-US" sz="3200" b="0" i="0" u="none" strike="noStrike" baseline="0" dirty="0"/>
          </a:p>
          <a:p>
            <a:pPr algn="l"/>
            <a:r>
              <a:rPr lang="en-US" sz="3200" b="0" i="0" u="none" strike="noStrike" baseline="0" dirty="0"/>
              <a:t>If this is done successfully, the maintainability of the software will improve during the post-delivery stage.</a:t>
            </a:r>
            <a:endParaRPr lang="en-US" sz="6600" dirty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B0781-5485-4EF8-A6E8-595A785C035E}" type="datetime1">
              <a:rPr lang="en-US" smtClean="0"/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</a:fld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2032000" y="719138"/>
          <a:ext cx="8128000" cy="541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Bitmap Image" r:id="rId1" imgW="0" imgH="0" progId="Paint.Picture">
                  <p:embed/>
                </p:oleObj>
              </mc:Choice>
              <mc:Fallback>
                <p:oleObj name="Bitmap Image" r:id="rId1" imgW="0" imgH="0" progId="Paint.Picture">
                  <p:embed/>
                  <p:pic>
                    <p:nvPicPr>
                      <p:cNvPr id="0" name="Picture 6"/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2032000" y="719138"/>
                        <a:ext cx="8128000" cy="5418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705" y="136525"/>
            <a:ext cx="10515600" cy="724610"/>
          </a:xfrm>
        </p:spPr>
        <p:txBody>
          <a:bodyPr>
            <a:normAutofit/>
          </a:bodyPr>
          <a:lstStyle/>
          <a:p>
            <a:r>
              <a:rPr lang="en-US" sz="3600" dirty="0"/>
              <a:t>Software Maintenance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8575" y="958788"/>
            <a:ext cx="11105225" cy="5218175"/>
          </a:xfrm>
        </p:spPr>
        <p:txBody>
          <a:bodyPr>
            <a:normAutofit/>
          </a:bodyPr>
          <a:lstStyle/>
          <a:p>
            <a:pPr algn="l"/>
            <a:r>
              <a:rPr lang="en-US" sz="3200" b="0" dirty="0"/>
              <a:t>Software maintenance is the </a:t>
            </a:r>
            <a:r>
              <a:rPr lang="en-US" sz="3200" b="0" i="0" u="none" strike="noStrike" baseline="0" dirty="0"/>
              <a:t>capability of the software product to be modified. </a:t>
            </a:r>
            <a:endParaRPr lang="en-US" sz="3200" b="0" i="0" u="none" strike="noStrike" baseline="0" dirty="0"/>
          </a:p>
          <a:p>
            <a:pPr algn="l"/>
            <a:r>
              <a:rPr lang="en-US" sz="3200" b="0" i="0" u="none" strike="noStrike" baseline="0" dirty="0">
                <a:solidFill>
                  <a:srgbClr val="FF0000"/>
                </a:solidFill>
              </a:rPr>
              <a:t>Modification</a:t>
            </a:r>
            <a:r>
              <a:rPr lang="en-US" sz="3200" b="0" i="0" u="none" strike="noStrike" baseline="0" dirty="0"/>
              <a:t> may include corrections, improvements or adaptation of the software to changes in environment, in requirements and functional specification”</a:t>
            </a:r>
            <a:endParaRPr lang="en-US" sz="6600" dirty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5563C-6365-4094-96DC-834D5F83A77A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705" y="136525"/>
            <a:ext cx="10515600" cy="724610"/>
          </a:xfrm>
        </p:spPr>
        <p:txBody>
          <a:bodyPr>
            <a:normAutofit/>
          </a:bodyPr>
          <a:lstStyle/>
          <a:p>
            <a:r>
              <a:rPr lang="en-US" sz="3600" dirty="0"/>
              <a:t>Software Maintenance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8575" y="958788"/>
            <a:ext cx="11105225" cy="5218175"/>
          </a:xfrm>
        </p:spPr>
        <p:txBody>
          <a:bodyPr>
            <a:normAutofit/>
          </a:bodyPr>
          <a:lstStyle/>
          <a:p>
            <a:pPr algn="l"/>
            <a:r>
              <a:rPr lang="en-US" sz="3200" b="0" i="0" u="none" strike="noStrike" baseline="0" dirty="0"/>
              <a:t>Receiving of a </a:t>
            </a:r>
            <a:r>
              <a:rPr lang="en-US" sz="3200" b="0" i="1" u="none" strike="noStrike" baseline="0" dirty="0"/>
              <a:t>change request </a:t>
            </a:r>
            <a:r>
              <a:rPr lang="en-US" sz="3200" b="0" i="0" u="none" strike="noStrike" baseline="0" dirty="0"/>
              <a:t>from a customer is a kind of event that can trigger software maintenance.</a:t>
            </a:r>
            <a:endParaRPr lang="en-US" sz="3200" b="0" i="0" u="none" strike="noStrike" baseline="0" dirty="0"/>
          </a:p>
          <a:p>
            <a:pPr algn="l"/>
            <a:r>
              <a:rPr lang="en-US" sz="3200" b="0" dirty="0"/>
              <a:t>A</a:t>
            </a:r>
            <a:r>
              <a:rPr lang="en-US" sz="3200" b="0" i="0" u="none" strike="noStrike" baseline="0" dirty="0"/>
              <a:t>n </a:t>
            </a:r>
            <a:r>
              <a:rPr lang="en-US" sz="3200" b="0" i="0" u="none" strike="noStrike" baseline="0" dirty="0">
                <a:solidFill>
                  <a:srgbClr val="FF0000"/>
                </a:solidFill>
              </a:rPr>
              <a:t>investigation</a:t>
            </a:r>
            <a:r>
              <a:rPr lang="en-US" sz="3200" b="0" i="0" u="none" strike="noStrike" baseline="0" dirty="0"/>
              <a:t> activity is the first activity in a maintenance process. </a:t>
            </a:r>
            <a:endParaRPr lang="en-US" sz="3200" b="0" i="0" u="none" strike="noStrike" baseline="0" dirty="0"/>
          </a:p>
          <a:p>
            <a:pPr algn="l"/>
            <a:r>
              <a:rPr lang="en-US" sz="3200" b="0" i="0" u="none" strike="noStrike" baseline="0" dirty="0"/>
              <a:t>In an investigation activity, a maintenance engineer evaluates the nature of the events, say, a change request (CR).</a:t>
            </a:r>
            <a:endParaRPr lang="en-US" sz="3200" b="0" i="0" u="none" strike="noStrike" baseline="0" dirty="0"/>
          </a:p>
          <a:p>
            <a:pPr algn="l"/>
            <a:r>
              <a:rPr lang="en-US" sz="3200" b="0" i="0" u="none" strike="noStrike" baseline="0" dirty="0"/>
              <a:t>Upon completion of the first activity, the organization decides whether or not to proceed with the modification activity.</a:t>
            </a:r>
            <a:endParaRPr lang="en-US" sz="6600" dirty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CE9D2-275E-41BE-B7C6-166602AEDA2B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503504" y="9280"/>
            <a:ext cx="5860510" cy="6848720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A91C4-5334-4C7D-8C44-656A663DDF1B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CC7E-B547-4B2C-8E64-AC9AA4981A1E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5087" y="0"/>
            <a:ext cx="108418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705" y="136525"/>
            <a:ext cx="10515600" cy="724610"/>
          </a:xfrm>
        </p:spPr>
        <p:txBody>
          <a:bodyPr>
            <a:normAutofit/>
          </a:bodyPr>
          <a:lstStyle/>
          <a:p>
            <a:r>
              <a:rPr lang="en-US" sz="3600" dirty="0"/>
              <a:t>Classification of Software Maintenance Activities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8575" y="958788"/>
            <a:ext cx="11105225" cy="5218175"/>
          </a:xfrm>
        </p:spPr>
        <p:txBody>
          <a:bodyPr>
            <a:normAutofit/>
          </a:bodyPr>
          <a:lstStyle/>
          <a:p>
            <a:pPr algn="l"/>
            <a:r>
              <a:rPr lang="en-US" b="0" i="0" u="none" strike="noStrike" baseline="0" dirty="0"/>
              <a:t>Intention-based classification of software maintenance activities;</a:t>
            </a:r>
            <a:endParaRPr lang="en-US" b="0" i="0" u="none" strike="noStrike" baseline="0" dirty="0"/>
          </a:p>
          <a:p>
            <a:pPr algn="l"/>
            <a:r>
              <a:rPr lang="en-US" b="0" i="0" u="none" strike="noStrike" baseline="0" dirty="0"/>
              <a:t> Activity-based classification of software maintenance activities; and</a:t>
            </a:r>
            <a:endParaRPr lang="en-US" b="0" i="0" u="none" strike="noStrike" baseline="0" dirty="0"/>
          </a:p>
          <a:p>
            <a:pPr algn="l"/>
            <a:r>
              <a:rPr lang="en-US" b="0" i="0" u="none" strike="noStrike" baseline="0" dirty="0"/>
              <a:t> Evidence-based classification of software maintenance activities.</a:t>
            </a:r>
            <a:endParaRPr lang="en-US" sz="6000" dirty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7ED01-5545-4A6C-92AA-7BD972404BB2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704" y="136525"/>
            <a:ext cx="10640627" cy="831142"/>
          </a:xfrm>
        </p:spPr>
        <p:txBody>
          <a:bodyPr>
            <a:noAutofit/>
          </a:bodyPr>
          <a:lstStyle/>
          <a:p>
            <a:r>
              <a:rPr lang="en-US" sz="2800" i="0" u="none" strike="noStrike" baseline="0" dirty="0"/>
              <a:t>Intention-based classification of software maintenance activities;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705" y="1138175"/>
            <a:ext cx="10515600" cy="5218175"/>
          </a:xfrm>
        </p:spPr>
        <p:txBody>
          <a:bodyPr>
            <a:normAutofit/>
          </a:bodyPr>
          <a:lstStyle/>
          <a:p>
            <a:pPr algn="l"/>
            <a:r>
              <a:rPr lang="en-US" b="0" i="0" u="none" strike="noStrike" baseline="0" dirty="0"/>
              <a:t>categorizes maintenance activities into four groups:</a:t>
            </a:r>
            <a:endParaRPr lang="en-US" b="0" i="0" u="none" strike="noStrike" baseline="0" dirty="0"/>
          </a:p>
          <a:p>
            <a:pPr marL="0" indent="0" algn="l">
              <a:buNone/>
            </a:pPr>
            <a:r>
              <a:rPr lang="en-US" b="0" dirty="0">
                <a:solidFill>
                  <a:schemeClr val="tx1"/>
                </a:solidFill>
              </a:rPr>
              <a:t>1) </a:t>
            </a:r>
            <a:r>
              <a:rPr lang="en-US" b="0" i="0" u="none" strike="noStrike" baseline="0" dirty="0"/>
              <a:t>corrective</a:t>
            </a:r>
            <a:endParaRPr lang="en-US" b="0" i="0" u="none" strike="noStrike" baseline="0" dirty="0"/>
          </a:p>
          <a:p>
            <a:pPr marL="0" indent="0" algn="l">
              <a:buNone/>
            </a:pPr>
            <a:r>
              <a:rPr lang="en-US" b="0" dirty="0"/>
              <a:t>2) </a:t>
            </a:r>
            <a:r>
              <a:rPr lang="en-US" b="0" i="0" u="none" strike="noStrike" baseline="0" dirty="0"/>
              <a:t>Adaptive</a:t>
            </a:r>
            <a:endParaRPr lang="en-US" b="0" dirty="0"/>
          </a:p>
          <a:p>
            <a:pPr marL="0" indent="0" algn="l">
              <a:buNone/>
            </a:pPr>
            <a:r>
              <a:rPr lang="en-US" b="0" i="0" u="none" strike="noStrike" baseline="0" dirty="0"/>
              <a:t>3) Perfective</a:t>
            </a:r>
            <a:endParaRPr lang="en-US" b="0" i="0" u="none" strike="noStrike" baseline="0" dirty="0"/>
          </a:p>
          <a:p>
            <a:pPr marL="0" indent="0" algn="l">
              <a:buNone/>
            </a:pPr>
            <a:r>
              <a:rPr lang="en-US" b="0" dirty="0"/>
              <a:t>4)</a:t>
            </a:r>
            <a:r>
              <a:rPr lang="en-US" b="0" i="0" u="none" strike="noStrike" baseline="0" dirty="0"/>
              <a:t> preventive</a:t>
            </a:r>
            <a:endParaRPr lang="en-US" sz="6000" dirty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1E4FC-8839-4368-BF37-A410D96979A6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704" y="136525"/>
            <a:ext cx="10640627" cy="831142"/>
          </a:xfrm>
        </p:spPr>
        <p:txBody>
          <a:bodyPr>
            <a:noAutofit/>
          </a:bodyPr>
          <a:lstStyle/>
          <a:p>
            <a:r>
              <a:rPr lang="en-US" sz="2800" i="0" u="none" strike="noStrike" baseline="0" dirty="0">
                <a:solidFill>
                  <a:srgbClr val="FF0000"/>
                </a:solidFill>
              </a:rPr>
              <a:t>Intention-based classification </a:t>
            </a:r>
            <a:r>
              <a:rPr lang="en-US" sz="2800" i="0" u="none" strike="noStrike" baseline="0" dirty="0"/>
              <a:t>of software maintenance activities;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705" y="1138175"/>
            <a:ext cx="10515600" cy="5218175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u="none" strike="noStrike" baseline="0" dirty="0"/>
              <a:t>Corrective maintenance</a:t>
            </a:r>
            <a:endParaRPr lang="en-US" u="none" strike="noStrike" baseline="0" dirty="0"/>
          </a:p>
          <a:p>
            <a:pPr algn="l"/>
            <a:r>
              <a:rPr lang="en-US" b="0" i="0" u="none" strike="noStrike" baseline="0" dirty="0"/>
              <a:t>to correct failures: </a:t>
            </a:r>
            <a:r>
              <a:rPr lang="en-US" b="0" i="0" u="none" strike="noStrike" baseline="0" dirty="0">
                <a:solidFill>
                  <a:srgbClr val="FF0000"/>
                </a:solidFill>
              </a:rPr>
              <a:t>1)</a:t>
            </a:r>
            <a:r>
              <a:rPr lang="en-US" b="0" i="0" u="none" strike="noStrike" baseline="0" dirty="0"/>
              <a:t> processing failures and  </a:t>
            </a:r>
            <a:r>
              <a:rPr lang="en-US" b="0" i="0" u="none" strike="noStrike" baseline="0" dirty="0">
                <a:solidFill>
                  <a:srgbClr val="FF0000"/>
                </a:solidFill>
              </a:rPr>
              <a:t>2)</a:t>
            </a:r>
            <a:r>
              <a:rPr lang="en-US" b="0" i="0" u="none" strike="noStrike" baseline="0" dirty="0"/>
              <a:t> performance failures.</a:t>
            </a:r>
            <a:endParaRPr lang="en-US" b="0" i="0" u="none" strike="noStrike" baseline="0" dirty="0"/>
          </a:p>
          <a:p>
            <a:pPr algn="l"/>
            <a:r>
              <a:rPr lang="en-US" b="0" i="0" u="none" strike="noStrike" baseline="0" dirty="0"/>
              <a:t>A program producing a wrong output is an example of </a:t>
            </a:r>
            <a:r>
              <a:rPr lang="en-US" i="0" u="none" strike="noStrike" baseline="0" dirty="0">
                <a:solidFill>
                  <a:srgbClr val="FF0000"/>
                </a:solidFill>
              </a:rPr>
              <a:t>processing failure</a:t>
            </a:r>
            <a:endParaRPr lang="en-US" i="0" u="none" strike="noStrike" baseline="0" dirty="0">
              <a:solidFill>
                <a:srgbClr val="FF0000"/>
              </a:solidFill>
            </a:endParaRPr>
          </a:p>
          <a:p>
            <a:pPr algn="l"/>
            <a:r>
              <a:rPr lang="en-US" b="0" i="0" u="none" strike="noStrike" baseline="0" dirty="0"/>
              <a:t>a program not being able to</a:t>
            </a:r>
            <a:r>
              <a:rPr lang="en-US" b="0" dirty="0"/>
              <a:t> </a:t>
            </a:r>
            <a:r>
              <a:rPr lang="en-US" b="0" i="0" u="none" strike="noStrike" baseline="0" dirty="0"/>
              <a:t>meet real-time requirements is an example of </a:t>
            </a:r>
            <a:r>
              <a:rPr lang="en-US" i="0" u="none" strike="noStrike" baseline="0" dirty="0">
                <a:solidFill>
                  <a:srgbClr val="FF0000"/>
                </a:solidFill>
              </a:rPr>
              <a:t>performance failure</a:t>
            </a:r>
            <a:r>
              <a:rPr lang="en-US" i="0" u="none" strike="noStrike" baseline="0" dirty="0"/>
              <a:t>.</a:t>
            </a:r>
            <a:endParaRPr lang="en-US" i="0" u="none" strike="noStrike" baseline="0" dirty="0"/>
          </a:p>
          <a:p>
            <a:pPr algn="l"/>
            <a:r>
              <a:rPr lang="en-US" b="0" i="0" u="none" strike="noStrike" baseline="0" dirty="0"/>
              <a:t>The process of corrective maintenance includes isolation and correction of defective elements in the software.</a:t>
            </a:r>
            <a:endParaRPr lang="en-US" sz="7200" dirty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C0C33-AC08-488E-84FB-3F46134A23B8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705" y="1138175"/>
            <a:ext cx="10515600" cy="52181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u="none" strike="noStrike" baseline="0" dirty="0"/>
              <a:t>Corrective maintenance</a:t>
            </a:r>
            <a:endParaRPr lang="en-US" b="0" dirty="0">
              <a:latin typeface="TimesLTStd-Roman"/>
            </a:endParaRPr>
          </a:p>
          <a:p>
            <a:pPr algn="l"/>
            <a:r>
              <a:rPr lang="en-US" b="0" i="0" u="none" strike="noStrike" baseline="0" dirty="0"/>
              <a:t>The software product is repaired to satisfy requirements. </a:t>
            </a:r>
            <a:endParaRPr lang="en-US" b="0" i="0" u="none" strike="noStrike" baseline="0" dirty="0"/>
          </a:p>
          <a:p>
            <a:pPr algn="l"/>
            <a:endParaRPr lang="en-US" b="0" i="0" u="none" strike="noStrike" baseline="0" dirty="0"/>
          </a:p>
          <a:p>
            <a:pPr algn="l"/>
            <a:r>
              <a:rPr lang="en-US" b="0" i="0" u="none" strike="noStrike" baseline="0" dirty="0"/>
              <a:t>Basically, corrective maintenance is a </a:t>
            </a:r>
            <a:r>
              <a:rPr lang="en-US" b="0" i="1" u="none" strike="noStrike" baseline="0" dirty="0"/>
              <a:t>reactive </a:t>
            </a:r>
            <a:r>
              <a:rPr lang="en-US" b="0" i="0" u="none" strike="noStrike" baseline="0" dirty="0"/>
              <a:t>process, which means that corrective maintenance is performed after detecting defects with the system.</a:t>
            </a:r>
            <a:endParaRPr lang="en-US" sz="6000" dirty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8A00E-04B2-4FE2-83E6-D3D1A08DDD33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38150" y="136525"/>
            <a:ext cx="10641013" cy="831850"/>
          </a:xfrm>
        </p:spPr>
        <p:txBody>
          <a:bodyPr>
            <a:noAutofit/>
          </a:bodyPr>
          <a:lstStyle/>
          <a:p>
            <a:r>
              <a:rPr lang="en-US" sz="2800" i="0" u="none" strike="noStrike" baseline="0" dirty="0"/>
              <a:t>Intention-based classification of software maintenance activities;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704" y="136525"/>
            <a:ext cx="10640627" cy="831142"/>
          </a:xfrm>
        </p:spPr>
        <p:txBody>
          <a:bodyPr>
            <a:noAutofit/>
          </a:bodyPr>
          <a:lstStyle/>
          <a:p>
            <a:r>
              <a:rPr lang="en-US" sz="2800" i="0" u="none" strike="noStrike" baseline="0" dirty="0"/>
              <a:t>Intention-based classification of software maintenance activities;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705" y="1138175"/>
            <a:ext cx="10515600" cy="5218175"/>
          </a:xfrm>
        </p:spPr>
        <p:txBody>
          <a:bodyPr>
            <a:normAutofit/>
          </a:bodyPr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u="none" strike="noStrike" baseline="0" dirty="0"/>
              <a:t>Adaptive maintenance</a:t>
            </a:r>
            <a:endParaRPr lang="en-US" u="none" strike="noStrike" baseline="0" dirty="0"/>
          </a:p>
          <a:p>
            <a:pPr algn="l"/>
            <a:r>
              <a:rPr lang="en-US" b="0" i="0" u="none" strike="noStrike" baseline="0" dirty="0"/>
              <a:t>to enable the system to adapt to changes in its data environment or processing environment</a:t>
            </a:r>
            <a:endParaRPr lang="en-US" b="0" i="0" u="none" strike="noStrike" baseline="0" dirty="0"/>
          </a:p>
          <a:p>
            <a:pPr algn="l"/>
            <a:r>
              <a:rPr lang="en-US" b="0" i="0" u="none" strike="noStrike" baseline="0" dirty="0"/>
              <a:t>This process modifies the software to properly interface with a changing or changed environment.</a:t>
            </a:r>
            <a:endParaRPr lang="en-US" b="0" i="0" u="none" strike="noStrike" baseline="0" dirty="0"/>
          </a:p>
          <a:p>
            <a:pPr algn="l"/>
            <a:r>
              <a:rPr lang="en-US" b="0" i="0" u="none" strike="noStrike" baseline="0" dirty="0"/>
              <a:t>Adaptive maintenance includes system changes, additions, deletions, modifications, and </a:t>
            </a:r>
            <a:r>
              <a:rPr lang="en-US" b="0" dirty="0"/>
              <a:t>improvements</a:t>
            </a:r>
            <a:r>
              <a:rPr lang="en-US" b="0" i="0" u="none" strike="noStrike" baseline="0" dirty="0"/>
              <a:t> to meet the evolving needs of the environment in which the system must operate.</a:t>
            </a:r>
            <a:endParaRPr lang="en-US" sz="7200" dirty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A2D50-6A8F-4CB6-A42E-3F39F4C22BC7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704" y="136525"/>
            <a:ext cx="10640627" cy="831142"/>
          </a:xfrm>
        </p:spPr>
        <p:txBody>
          <a:bodyPr>
            <a:noAutofit/>
          </a:bodyPr>
          <a:lstStyle/>
          <a:p>
            <a:r>
              <a:rPr lang="en-US" sz="2800" i="0" u="none" strike="noStrike" baseline="0" dirty="0"/>
              <a:t>Intention-based classification of software maintenance activities;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705" y="1138175"/>
            <a:ext cx="10515600" cy="5218175"/>
          </a:xfrm>
        </p:spPr>
        <p:txBody>
          <a:bodyPr>
            <a:normAutofit/>
          </a:bodyPr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u="none" strike="noStrike" baseline="0" dirty="0"/>
              <a:t>Adaptive maintenance</a:t>
            </a:r>
            <a:endParaRPr lang="en-US" u="none" strike="noStrike" baseline="0" dirty="0"/>
          </a:p>
          <a:p>
            <a:pPr algn="l"/>
            <a:r>
              <a:rPr lang="en-US" b="0" i="0" u="none" strike="noStrike" baseline="0" dirty="0"/>
              <a:t>Some generic examples are: </a:t>
            </a:r>
            <a:endParaRPr lang="en-US" b="0" i="0" u="none" strike="noStrike" baseline="0" dirty="0"/>
          </a:p>
          <a:p>
            <a:pPr marL="400050" indent="-400050" algn="l">
              <a:buAutoNum type="romanLcParenBoth"/>
            </a:pPr>
            <a:r>
              <a:rPr lang="en-US" b="0" i="0" u="none" strike="noStrike" baseline="0" dirty="0"/>
              <a:t>Changing the system to support new hardware configuration; </a:t>
            </a:r>
            <a:endParaRPr lang="en-US" b="0" i="0" u="none" strike="noStrike" baseline="0" dirty="0"/>
          </a:p>
          <a:p>
            <a:pPr marL="400050" indent="-400050" algn="l">
              <a:buAutoNum type="romanLcParenBoth"/>
            </a:pPr>
            <a:r>
              <a:rPr lang="en-US" b="0" dirty="0"/>
              <a:t>C</a:t>
            </a:r>
            <a:r>
              <a:rPr lang="en-US" b="0" i="0" u="none" strike="noStrike" baseline="0" dirty="0"/>
              <a:t>hanging the system to be compatible with other applications. </a:t>
            </a:r>
            <a:endParaRPr lang="en-US" b="0" i="0" u="none" strike="noStrike" baseline="0" dirty="0"/>
          </a:p>
          <a:p>
            <a:pPr marL="0" indent="0" algn="l">
              <a:buNone/>
            </a:pPr>
            <a:endParaRPr lang="en-US" b="0" i="0" u="none" strike="noStrike" baseline="0" dirty="0"/>
          </a:p>
          <a:p>
            <a:pPr marL="0" indent="0" algn="l">
              <a:buNone/>
            </a:pPr>
            <a:r>
              <a:rPr lang="en-US" b="0" i="0" u="none" strike="noStrike" baseline="0" dirty="0"/>
              <a:t>A more concrete example is, an application software on a smartphone can be enhanced to support </a:t>
            </a:r>
            <a:r>
              <a:rPr lang="en-US" b="0" i="0" u="none" strike="noStrike" baseline="0" dirty="0" err="1"/>
              <a:t>WiFi</a:t>
            </a:r>
            <a:r>
              <a:rPr lang="en-US" b="0" i="0" u="none" strike="noStrike" baseline="0" dirty="0"/>
              <a:t>-based communication in addition to its present 3G cellular communication.</a:t>
            </a:r>
            <a:endParaRPr lang="en-US" sz="3600" u="none" strike="noStrike" baseline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94F9D-FD9F-465C-81E9-486C11455B27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704" y="136525"/>
            <a:ext cx="10640627" cy="831142"/>
          </a:xfrm>
        </p:spPr>
        <p:txBody>
          <a:bodyPr>
            <a:noAutofit/>
          </a:bodyPr>
          <a:lstStyle/>
          <a:p>
            <a:r>
              <a:rPr lang="en-US" sz="2800" i="0" u="none" strike="noStrike" baseline="0" dirty="0"/>
              <a:t>Intention-based classification of software maintenance activities;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705" y="1138175"/>
            <a:ext cx="10515600" cy="5218175"/>
          </a:xfrm>
        </p:spPr>
        <p:txBody>
          <a:bodyPr>
            <a:normAutofit/>
          </a:bodyPr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u="none" strike="noStrike" baseline="0" dirty="0"/>
              <a:t>Perfective maintenance</a:t>
            </a:r>
            <a:endParaRPr lang="en-US" u="none" strike="noStrike" baseline="0" dirty="0"/>
          </a:p>
          <a:p>
            <a:pPr algn="l"/>
            <a:r>
              <a:rPr lang="en-US" b="0" i="0" u="none" strike="noStrike" baseline="0" dirty="0"/>
              <a:t>The purpose of perfective maintenance is to make a variety of improvements namely; user experience, processing efficiency, and maintainability.</a:t>
            </a:r>
            <a:endParaRPr lang="en-US" b="0" i="0" u="none" strike="noStrike" baseline="0" dirty="0"/>
          </a:p>
          <a:p>
            <a:pPr algn="l"/>
            <a:r>
              <a:rPr lang="en-US" b="0" i="0" u="none" strike="noStrike" baseline="0" dirty="0">
                <a:solidFill>
                  <a:srgbClr val="FF0000"/>
                </a:solidFill>
              </a:rPr>
              <a:t>For example</a:t>
            </a:r>
            <a:r>
              <a:rPr lang="en-US" b="0" i="0" u="none" strike="noStrike" baseline="0" dirty="0"/>
              <a:t>, the program outputs can be made more readable for better user experience; </a:t>
            </a:r>
            <a:endParaRPr lang="en-US" b="0" i="0" u="none" strike="noStrike" baseline="0" dirty="0"/>
          </a:p>
          <a:p>
            <a:pPr algn="l"/>
            <a:r>
              <a:rPr lang="en-US" b="0" i="0" u="none" strike="noStrike" baseline="0" dirty="0"/>
              <a:t>the program can be modified to make it faster, thereby increasing the processing efficiency; </a:t>
            </a:r>
            <a:endParaRPr lang="en-US" b="0" i="0" u="none" strike="noStrike" baseline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91444" y="6344295"/>
            <a:ext cx="2743200" cy="365125"/>
          </a:xfrm>
        </p:spPr>
        <p:txBody>
          <a:bodyPr/>
          <a:lstStyle/>
          <a:p>
            <a:fld id="{6BA6EEEC-4648-4E30-A4F6-598189AD5963}" type="datetime1">
              <a:rPr lang="en-US" smtClean="0"/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704" y="136525"/>
            <a:ext cx="10640627" cy="831142"/>
          </a:xfrm>
        </p:spPr>
        <p:txBody>
          <a:bodyPr>
            <a:noAutofit/>
          </a:bodyPr>
          <a:lstStyle/>
          <a:p>
            <a:r>
              <a:rPr lang="en-US" sz="2800" i="0" u="none" strike="noStrike" baseline="0" dirty="0"/>
              <a:t>Intention-based classification of software maintenance activities;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705" y="1138175"/>
            <a:ext cx="10515600" cy="5218175"/>
          </a:xfrm>
        </p:spPr>
        <p:txBody>
          <a:bodyPr>
            <a:normAutofit/>
          </a:bodyPr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u="none" strike="noStrike" baseline="0" dirty="0"/>
              <a:t>Perfective maintenance</a:t>
            </a:r>
            <a:endParaRPr lang="en-US" u="none" strike="noStrike" baseline="0" dirty="0"/>
          </a:p>
          <a:p>
            <a:pPr algn="l"/>
            <a:r>
              <a:rPr lang="en-US" b="0" i="0" u="none" strike="noStrike" baseline="0" dirty="0"/>
              <a:t>and the program can be restructured to improve its readability, thereby increasing its maintainability. </a:t>
            </a:r>
            <a:endParaRPr lang="en-US" b="0" i="0" u="none" strike="noStrike" baseline="0" dirty="0"/>
          </a:p>
          <a:p>
            <a:pPr algn="l"/>
            <a:r>
              <a:rPr lang="en-US" b="0" i="0" u="none" strike="noStrike" baseline="0" dirty="0"/>
              <a:t>In general, </a:t>
            </a:r>
            <a:r>
              <a:rPr lang="en-US" b="0" i="0" u="none" strike="noStrike" baseline="0" dirty="0">
                <a:solidFill>
                  <a:srgbClr val="FF0000"/>
                </a:solidFill>
              </a:rPr>
              <a:t>activities for perfective maintenance</a:t>
            </a:r>
            <a:r>
              <a:rPr lang="en-US" b="0" dirty="0">
                <a:solidFill>
                  <a:srgbClr val="FF0000"/>
                </a:solidFill>
              </a:rPr>
              <a:t> </a:t>
            </a:r>
            <a:r>
              <a:rPr lang="en-US" b="0" i="0" u="none" strike="noStrike" baseline="0" dirty="0">
                <a:solidFill>
                  <a:srgbClr val="FF0000"/>
                </a:solidFill>
              </a:rPr>
              <a:t>include </a:t>
            </a:r>
            <a:r>
              <a:rPr lang="en-US" b="0" i="0" u="none" strike="noStrike" baseline="0" dirty="0"/>
              <a:t>restructuring of the code, creating and updating documentations, and tuning the system to improve performance. </a:t>
            </a:r>
            <a:endParaRPr lang="en-US" b="0" i="0" u="none" strike="noStrike" baseline="0" dirty="0"/>
          </a:p>
          <a:p>
            <a:pPr algn="l"/>
            <a:r>
              <a:rPr lang="en-US" b="0" i="0" u="none" strike="noStrike" baseline="0" dirty="0"/>
              <a:t>It is also called “maintenance for the sake of maintenance” or “reengineering”</a:t>
            </a:r>
            <a:endParaRPr lang="en-US" sz="3200" u="none" strike="noStrike" baseline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1CC96-ED3F-45E7-82F5-BCE04DA88393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704" y="136525"/>
            <a:ext cx="10640627" cy="831142"/>
          </a:xfrm>
        </p:spPr>
        <p:txBody>
          <a:bodyPr>
            <a:noAutofit/>
          </a:bodyPr>
          <a:lstStyle/>
          <a:p>
            <a:r>
              <a:rPr lang="en-US" sz="2800" i="0" u="none" strike="noStrike" baseline="0" dirty="0"/>
              <a:t>Intention-based classification of software maintenance activities;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705" y="1138175"/>
            <a:ext cx="10515600" cy="5218175"/>
          </a:xfrm>
        </p:spPr>
        <p:txBody>
          <a:bodyPr>
            <a:normAutofit/>
          </a:bodyPr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u="none" strike="noStrike" baseline="0" dirty="0"/>
              <a:t>Preventive maintenance</a:t>
            </a:r>
            <a:endParaRPr lang="en-US" u="none" strike="noStrike" baseline="0" dirty="0"/>
          </a:p>
          <a:p>
            <a:pPr algn="l"/>
            <a:r>
              <a:rPr lang="en-US" b="0" i="0" u="none" strike="noStrike" baseline="0" dirty="0"/>
              <a:t>The purpose of preventive maintenance is to prevent problems from occurring by modifying software products. </a:t>
            </a:r>
            <a:endParaRPr lang="en-US" b="0" i="0" u="none" strike="noStrike" baseline="0" dirty="0"/>
          </a:p>
          <a:p>
            <a:pPr algn="l"/>
            <a:r>
              <a:rPr lang="en-US" b="0" i="0" u="none" strike="noStrike" baseline="0" dirty="0"/>
              <a:t>Basically, one should look ahead, </a:t>
            </a:r>
            <a:r>
              <a:rPr lang="en-US" b="0" i="0" u="none" strike="noStrike" baseline="0" dirty="0">
                <a:solidFill>
                  <a:srgbClr val="FF0000"/>
                </a:solidFill>
              </a:rPr>
              <a:t>identify future risks </a:t>
            </a:r>
            <a:r>
              <a:rPr lang="en-US" b="0" i="0" u="none" strike="noStrike" baseline="0" dirty="0"/>
              <a:t>and </a:t>
            </a:r>
            <a:r>
              <a:rPr lang="en-US" b="0" i="0" u="none" strike="noStrike" baseline="0" dirty="0">
                <a:solidFill>
                  <a:srgbClr val="FF0000"/>
                </a:solidFill>
              </a:rPr>
              <a:t>unknown problems</a:t>
            </a:r>
            <a:r>
              <a:rPr lang="en-US" b="0" i="0" u="none" strike="noStrike" baseline="0" dirty="0"/>
              <a:t>, and </a:t>
            </a:r>
            <a:r>
              <a:rPr lang="en-US" b="0" dirty="0"/>
              <a:t>take actions </a:t>
            </a:r>
            <a:r>
              <a:rPr lang="en-US" b="0" i="0" u="none" strike="noStrike" baseline="0" dirty="0"/>
              <a:t>so that those problems do not occur</a:t>
            </a:r>
            <a:endParaRPr lang="en-US" b="0" i="0" u="none" strike="noStrike" baseline="0" dirty="0"/>
          </a:p>
          <a:p>
            <a:pPr algn="l"/>
            <a:r>
              <a:rPr lang="en-US" b="0" i="0" u="none" strike="noStrike" baseline="0" dirty="0"/>
              <a:t>Preventive maintenance is very often performed on safety critical software systems</a:t>
            </a:r>
            <a:endParaRPr lang="en-US" sz="4400" u="none" strike="noStrike" baseline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40807-41B5-4C51-A1F0-B5C3EA8427FE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704" y="136525"/>
            <a:ext cx="10640627" cy="831142"/>
          </a:xfrm>
        </p:spPr>
        <p:txBody>
          <a:bodyPr>
            <a:noAutofit/>
          </a:bodyPr>
          <a:lstStyle/>
          <a:p>
            <a:r>
              <a:rPr lang="en-US" sz="2800" i="0" u="none" strike="noStrike" baseline="0" dirty="0"/>
              <a:t>Intention-based classification of software maintenance activities;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705" y="1138175"/>
            <a:ext cx="10515600" cy="5218175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u="none" strike="noStrike" baseline="0" dirty="0"/>
              <a:t>Preventive maintenance</a:t>
            </a:r>
            <a:endParaRPr lang="en-US" u="none" strike="noStrike" baseline="0" dirty="0"/>
          </a:p>
          <a:p>
            <a:pPr algn="l"/>
            <a:r>
              <a:rPr lang="en-US" b="0" i="0" u="none" strike="noStrike" baseline="0" dirty="0"/>
              <a:t>The concept of “</a:t>
            </a:r>
            <a:r>
              <a:rPr lang="en-US" b="0" i="0" u="none" strike="noStrike" baseline="0" dirty="0">
                <a:solidFill>
                  <a:srgbClr val="FF0000"/>
                </a:solidFill>
              </a:rPr>
              <a:t>software rejuvenation</a:t>
            </a:r>
            <a:r>
              <a:rPr lang="en-US" b="0" i="0" u="none" strike="noStrike" baseline="0" dirty="0"/>
              <a:t>” is a preventive maintenance measure to prevent, or at least postpone, the occurrences of failures due to continuously running the software system</a:t>
            </a:r>
            <a:endParaRPr lang="en-US" b="0" i="0" u="none" strike="noStrike" baseline="0" dirty="0"/>
          </a:p>
          <a:p>
            <a:pPr algn="l"/>
            <a:r>
              <a:rPr lang="en-US" b="0" i="1" u="none" strike="noStrike" baseline="0" dirty="0">
                <a:solidFill>
                  <a:srgbClr val="FF0000"/>
                </a:solidFill>
              </a:rPr>
              <a:t>Software rejuvenation </a:t>
            </a:r>
            <a:r>
              <a:rPr lang="en-US" b="0" i="0" u="none" strike="noStrike" baseline="0" dirty="0"/>
              <a:t>is a </a:t>
            </a:r>
            <a:r>
              <a:rPr lang="en-US" b="0" i="0" u="none" strike="noStrike" baseline="0" dirty="0">
                <a:solidFill>
                  <a:srgbClr val="FF0000"/>
                </a:solidFill>
              </a:rPr>
              <a:t>fault management technique </a:t>
            </a:r>
            <a:r>
              <a:rPr lang="en-US" b="0" i="0" u="none" strike="noStrike" baseline="0" dirty="0"/>
              <a:t>aimed at cleaning up the system’s internal state to prevent the occurrence of more severe crash in the future. </a:t>
            </a:r>
            <a:endParaRPr lang="en-US" b="0" i="0" u="none" strike="noStrike" baseline="0" dirty="0"/>
          </a:p>
          <a:p>
            <a:pPr algn="l"/>
            <a:r>
              <a:rPr lang="en-US" b="0" i="0" u="none" strike="noStrike" baseline="0" dirty="0"/>
              <a:t>It involves occasionally terminating an application or a system, cleaning its internal state, and restarting it.</a:t>
            </a:r>
            <a:endParaRPr lang="en-US" b="0" i="0" u="none" strike="noStrike" baseline="0" dirty="0"/>
          </a:p>
          <a:p>
            <a:pPr marL="0" indent="0" algn="l">
              <a:buNone/>
            </a:pPr>
            <a:endParaRPr lang="en-US" sz="3600" b="0" dirty="0"/>
          </a:p>
          <a:p>
            <a:pPr marL="0" indent="0" algn="l">
              <a:buNone/>
            </a:pPr>
            <a:r>
              <a:rPr lang="en-US" sz="2400" b="0" u="none" strike="noStrike" baseline="0" dirty="0"/>
              <a:t>* </a:t>
            </a:r>
            <a:r>
              <a:rPr lang="en-US" sz="2400" b="0" i="1" u="none" strike="noStrike" baseline="0" dirty="0"/>
              <a:t>rejuvenation: reconstruction/ renovation </a:t>
            </a:r>
            <a:endParaRPr lang="en-US" sz="2400" i="1" u="none" strike="noStrike" baseline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DB212-B3BA-4B65-8E7B-AFDE448588F0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704" y="136525"/>
            <a:ext cx="10640627" cy="831142"/>
          </a:xfrm>
        </p:spPr>
        <p:txBody>
          <a:bodyPr>
            <a:noAutofit/>
          </a:bodyPr>
          <a:lstStyle/>
          <a:p>
            <a:r>
              <a:rPr lang="en-US" sz="2800" i="0" u="none" strike="noStrike" baseline="0" dirty="0"/>
              <a:t>Intention-based classification of software maintenance activities;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705" y="1138175"/>
            <a:ext cx="10515600" cy="5218175"/>
          </a:xfrm>
        </p:spPr>
        <p:txBody>
          <a:bodyPr>
            <a:normAutofit/>
          </a:bodyPr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u="none" strike="noStrike" baseline="0" dirty="0"/>
              <a:t>Preventive maintenance</a:t>
            </a:r>
            <a:endParaRPr lang="en-US" u="none" strike="noStrike" baseline="0" dirty="0"/>
          </a:p>
          <a:p>
            <a:pPr algn="l"/>
            <a:r>
              <a:rPr lang="en-US" b="0" i="0" u="none" strike="noStrike" baseline="0" dirty="0"/>
              <a:t>In a safety critical environment, the necessity of performing preventive maintenance is evident from the example of control software for Patriot missile: </a:t>
            </a:r>
            <a:endParaRPr lang="en-US" b="0" i="0" u="none" strike="noStrike" baseline="0" dirty="0"/>
          </a:p>
          <a:p>
            <a:pPr algn="l"/>
            <a:r>
              <a:rPr lang="en-US" b="0" i="0" u="none" strike="noStrike" baseline="0" dirty="0"/>
              <a:t>“On 21 February, the office sent out a warning that ‘very long running time’ could affect the targeting accuracy. </a:t>
            </a:r>
            <a:endParaRPr lang="en-US" b="0" i="0" u="none" strike="noStrike" baseline="0" dirty="0"/>
          </a:p>
          <a:p>
            <a:pPr algn="l"/>
            <a:r>
              <a:rPr lang="en-US" b="0" i="0" u="none" strike="noStrike" baseline="0" dirty="0"/>
              <a:t>The troops were not told, how many hours ‘very long’ was or that it would help to switch the computer off and on again after 8 hours.”</a:t>
            </a:r>
            <a:endParaRPr lang="en-US" sz="3600" u="none" strike="noStrike" baseline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70AF6-76E8-40E6-B985-3982BD4BE966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704" y="136525"/>
            <a:ext cx="10640627" cy="831142"/>
          </a:xfrm>
        </p:spPr>
        <p:txBody>
          <a:bodyPr>
            <a:noAutofit/>
          </a:bodyPr>
          <a:lstStyle/>
          <a:p>
            <a:r>
              <a:rPr lang="en-US" sz="3200" i="0" u="none" strike="noStrike" baseline="0" dirty="0">
                <a:solidFill>
                  <a:srgbClr val="FF0000"/>
                </a:solidFill>
              </a:rPr>
              <a:t>Activity-Based Classification </a:t>
            </a:r>
            <a:r>
              <a:rPr lang="en-US" sz="3200" i="0" u="none" strike="noStrike" baseline="0" dirty="0"/>
              <a:t>of Software Maintenance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705" y="967667"/>
            <a:ext cx="10515600" cy="5388683"/>
          </a:xfrm>
        </p:spPr>
        <p:txBody>
          <a:bodyPr>
            <a:normAutofit/>
          </a:bodyPr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i="0" u="none" strike="noStrike" baseline="0" dirty="0"/>
              <a:t>corrections and enhancements</a:t>
            </a:r>
            <a:endParaRPr lang="en-US" i="0" u="none" strike="noStrike" baseline="0" dirty="0"/>
          </a:p>
          <a:p>
            <a:pPr algn="l"/>
            <a:r>
              <a:rPr lang="en-US" i="1" u="none" strike="noStrike" baseline="0" dirty="0"/>
              <a:t>Corrections. </a:t>
            </a:r>
            <a:r>
              <a:rPr lang="en-US" b="0" i="0" u="none" strike="noStrike" baseline="0" dirty="0"/>
              <a:t>Activities in this category are designed to </a:t>
            </a:r>
            <a:r>
              <a:rPr lang="en-US" b="0" i="0" u="none" strike="noStrike" baseline="0" dirty="0">
                <a:solidFill>
                  <a:srgbClr val="FF0000"/>
                </a:solidFill>
              </a:rPr>
              <a:t>fix defects in the system</a:t>
            </a:r>
            <a:r>
              <a:rPr lang="en-US" b="0" i="0" u="none" strike="noStrike" baseline="0" dirty="0"/>
              <a:t>, where a defect is </a:t>
            </a:r>
            <a:r>
              <a:rPr lang="en-US" b="0" dirty="0"/>
              <a:t>the</a:t>
            </a:r>
            <a:r>
              <a:rPr lang="en-US" b="0" i="0" u="none" strike="noStrike" baseline="0" dirty="0"/>
              <a:t> difference between the expected behavior and the actual behavior of the system.</a:t>
            </a:r>
            <a:endParaRPr lang="en-US" b="0" i="0" u="none" strike="noStrike" baseline="0" dirty="0"/>
          </a:p>
          <a:p>
            <a:pPr algn="l"/>
            <a:r>
              <a:rPr lang="en-US" b="0" i="0" u="none" strike="noStrike" baseline="0" dirty="0"/>
              <a:t> </a:t>
            </a:r>
            <a:r>
              <a:rPr lang="en-US" i="1" u="none" strike="noStrike" baseline="0" dirty="0"/>
              <a:t>Enhancements. </a:t>
            </a:r>
            <a:r>
              <a:rPr lang="en-US" b="0" i="0" u="none" strike="noStrike" baseline="0" dirty="0"/>
              <a:t>Activities in this category are designed to effect </a:t>
            </a:r>
            <a:r>
              <a:rPr lang="en-GB" altLang="en-US" b="0" i="0" u="none" strike="noStrike" baseline="0" dirty="0"/>
              <a:t>the </a:t>
            </a:r>
            <a:r>
              <a:rPr lang="en-US" b="0" i="0" u="none" strike="noStrike" baseline="0" dirty="0">
                <a:solidFill>
                  <a:srgbClr val="FF0000"/>
                </a:solidFill>
              </a:rPr>
              <a:t>changes to the system</a:t>
            </a:r>
            <a:r>
              <a:rPr lang="en-US" b="0" i="0" u="none" strike="noStrike" baseline="0" dirty="0"/>
              <a:t>. The changes to the system do not necessarily modify the behavior of the system. </a:t>
            </a:r>
            <a:endParaRPr lang="en-US" sz="4400" u="none" strike="noStrike" baseline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B8931-E14F-48E9-9C53-67CAF881DA3B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704" y="136525"/>
            <a:ext cx="10640627" cy="831142"/>
          </a:xfrm>
        </p:spPr>
        <p:txBody>
          <a:bodyPr>
            <a:noAutofit/>
          </a:bodyPr>
          <a:lstStyle/>
          <a:p>
            <a:r>
              <a:rPr lang="en-US" sz="3200" i="0" u="none" strike="noStrike" baseline="0" dirty="0"/>
              <a:t>Activity-Based Classification of Software Maintenance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705" y="967667"/>
            <a:ext cx="10515600" cy="5388683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i="1" u="none" strike="noStrike" baseline="0" dirty="0"/>
              <a:t>Enhancements:</a:t>
            </a:r>
            <a:endParaRPr lang="en-US" b="0" i="0" u="none" strike="noStrike" baseline="0" dirty="0"/>
          </a:p>
          <a:p>
            <a:pPr algn="l"/>
            <a:r>
              <a:rPr lang="en-US" b="0" i="0" u="none" strike="noStrike" baseline="0" dirty="0"/>
              <a:t>This category of activities is further divided into </a:t>
            </a:r>
            <a:r>
              <a:rPr lang="en-US" b="0" i="0" u="none" strike="noStrike" baseline="0" dirty="0">
                <a:solidFill>
                  <a:srgbClr val="FF0000"/>
                </a:solidFill>
              </a:rPr>
              <a:t>three subcategories </a:t>
            </a:r>
            <a:r>
              <a:rPr lang="en-US" b="0" i="0" u="none" strike="noStrike" baseline="0" dirty="0"/>
              <a:t>as follows:</a:t>
            </a:r>
            <a:endParaRPr lang="en-US" b="0" i="0" u="none" strike="noStrike" baseline="0" dirty="0"/>
          </a:p>
          <a:p>
            <a:pPr marL="514350" indent="-514350" algn="l">
              <a:buFont typeface="+mj-lt"/>
              <a:buAutoNum type="arabicPeriod"/>
            </a:pPr>
            <a:r>
              <a:rPr lang="en-US" b="1" i="0" u="none" strike="noStrike" baseline="0" dirty="0"/>
              <a:t>– </a:t>
            </a:r>
            <a:r>
              <a:rPr lang="en-US" b="0" i="0" u="none" strike="noStrike" baseline="0" dirty="0"/>
              <a:t>enhancement activities that </a:t>
            </a:r>
            <a:r>
              <a:rPr lang="en-US" b="0" i="0" u="none" strike="noStrike" baseline="0" dirty="0">
                <a:solidFill>
                  <a:srgbClr val="FF0000"/>
                </a:solidFill>
              </a:rPr>
              <a:t>modify some</a:t>
            </a:r>
            <a:r>
              <a:rPr lang="en-US" b="0" i="0" u="none" strike="noStrike" baseline="0" dirty="0"/>
              <a:t> of the </a:t>
            </a:r>
            <a:r>
              <a:rPr lang="en-US" b="0" i="0" u="none" strike="noStrike" baseline="0" dirty="0">
                <a:solidFill>
                  <a:srgbClr val="FF0000"/>
                </a:solidFill>
              </a:rPr>
              <a:t>existing requirements implemented </a:t>
            </a:r>
            <a:r>
              <a:rPr lang="en-US" b="0" i="0" u="none" strike="noStrike" baseline="0" dirty="0"/>
              <a:t>by the system;</a:t>
            </a:r>
            <a:endParaRPr lang="en-US" b="0" i="0" u="none" strike="noStrike" baseline="0" dirty="0"/>
          </a:p>
          <a:p>
            <a:pPr marL="514350" indent="-514350" algn="l">
              <a:buFont typeface="+mj-lt"/>
              <a:buAutoNum type="arabicPeriod"/>
            </a:pPr>
            <a:r>
              <a:rPr lang="en-US" b="1" i="0" u="none" strike="noStrike" baseline="0" dirty="0"/>
              <a:t>– </a:t>
            </a:r>
            <a:r>
              <a:rPr lang="en-US" b="0" i="0" u="none" strike="noStrike" baseline="0" dirty="0"/>
              <a:t>enhancement activities that </a:t>
            </a:r>
            <a:r>
              <a:rPr lang="en-US" b="0" i="0" u="none" strike="noStrike" baseline="0" dirty="0">
                <a:solidFill>
                  <a:srgbClr val="FF0000"/>
                </a:solidFill>
              </a:rPr>
              <a:t>add new system requirements</a:t>
            </a:r>
            <a:endParaRPr lang="en-US" b="0" i="0" u="none" strike="noStrike" baseline="0" dirty="0">
              <a:solidFill>
                <a:srgbClr val="FF0000"/>
              </a:solidFill>
            </a:endParaRPr>
          </a:p>
          <a:p>
            <a:pPr marL="514350" indent="-514350" algn="l">
              <a:buFont typeface="+mj-lt"/>
              <a:buAutoNum type="arabicPeriod"/>
            </a:pPr>
            <a:r>
              <a:rPr lang="en-US" b="1" i="0" u="none" strike="noStrike" baseline="0" dirty="0"/>
              <a:t>– </a:t>
            </a:r>
            <a:r>
              <a:rPr lang="en-US" b="0" i="0" u="none" strike="noStrike" baseline="0" dirty="0"/>
              <a:t>enhancement activities that </a:t>
            </a:r>
            <a:r>
              <a:rPr lang="en-US" b="0" i="0" u="none" strike="noStrike" baseline="0" dirty="0">
                <a:solidFill>
                  <a:srgbClr val="FF0000"/>
                </a:solidFill>
              </a:rPr>
              <a:t>modify the implementation </a:t>
            </a:r>
            <a:r>
              <a:rPr lang="en-US" b="0" i="0" u="none" strike="noStrike" baseline="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without changing the requirements</a:t>
            </a:r>
            <a:r>
              <a:rPr lang="en-US" b="0" i="0" u="none" strike="noStrike" baseline="0" dirty="0"/>
              <a:t> implemented by the system.</a:t>
            </a:r>
            <a:endParaRPr lang="en-US" sz="4400" u="none" strike="noStrike" baseline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7B10A-3933-4E7A-AFC1-5EFEAF28848E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4316" y="2684416"/>
            <a:ext cx="10640627" cy="1834318"/>
          </a:xfrm>
        </p:spPr>
        <p:txBody>
          <a:bodyPr>
            <a:noAutofit/>
          </a:bodyPr>
          <a:lstStyle/>
          <a:p>
            <a:r>
              <a:rPr lang="en-US" sz="6000" dirty="0"/>
              <a:t>Software Evolution</a:t>
            </a:r>
            <a:endParaRPr lang="en-US" sz="6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FB214-4954-4506-8A4A-39916BD65EEF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704" y="136525"/>
            <a:ext cx="10640627" cy="831142"/>
          </a:xfrm>
        </p:spPr>
        <p:txBody>
          <a:bodyPr>
            <a:noAutofit/>
          </a:bodyPr>
          <a:lstStyle/>
          <a:p>
            <a:r>
              <a:rPr lang="en-US" sz="4400" dirty="0"/>
              <a:t>Evolution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705" y="1138175"/>
            <a:ext cx="10515600" cy="5218175"/>
          </a:xfrm>
        </p:spPr>
        <p:txBody>
          <a:bodyPr>
            <a:normAutofit/>
          </a:bodyPr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400" b="0" dirty="0">
                <a:solidFill>
                  <a:srgbClr val="202124"/>
                </a:solidFill>
                <a:latin typeface="Arial" panose="020B0604020202020204" pitchFamily="34" charset="0"/>
              </a:rPr>
              <a:t>T</a:t>
            </a:r>
            <a:r>
              <a:rPr lang="en-US" sz="2400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o make someone or something change and develop gradually</a:t>
            </a:r>
            <a:endParaRPr lang="en-US" sz="3600" b="0" u="none" strike="noStrike" baseline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92580-32D2-473D-A684-262B3B3A50B1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704" y="136525"/>
            <a:ext cx="10640627" cy="831142"/>
          </a:xfrm>
        </p:spPr>
        <p:txBody>
          <a:bodyPr>
            <a:noAutofit/>
          </a:bodyPr>
          <a:lstStyle/>
          <a:p>
            <a:r>
              <a:rPr lang="en-US" sz="4400" dirty="0"/>
              <a:t>Software Ageing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705" y="1138175"/>
            <a:ext cx="10515600" cy="5218175"/>
          </a:xfrm>
        </p:spPr>
        <p:txBody>
          <a:bodyPr>
            <a:norm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3200" b="0" dirty="0"/>
              <a:t> Programs like people get old.</a:t>
            </a:r>
            <a:endParaRPr lang="en-US" sz="3200" b="0" dirty="0"/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3200" b="0" u="none" strike="noStrike" baseline="0" dirty="0"/>
              <a:t>W</a:t>
            </a:r>
            <a:r>
              <a:rPr lang="en-US" sz="3200" b="0" dirty="0"/>
              <a:t>e can not prevent ageing, but we can understand its </a:t>
            </a:r>
            <a:r>
              <a:rPr lang="en-US" sz="3200" b="0" dirty="0">
                <a:solidFill>
                  <a:srgbClr val="FF0000"/>
                </a:solidFill>
              </a:rPr>
              <a:t>causes</a:t>
            </a:r>
            <a:r>
              <a:rPr lang="en-US" sz="3200" b="0" dirty="0"/>
              <a:t>, take steps to limit its effects, and prepare for the day when the software is no longer practical. </a:t>
            </a:r>
            <a:endParaRPr lang="en-US" sz="3200" b="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endParaRPr lang="en-US" sz="3200" b="0" u="none" strike="noStrike" baseline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F1665-3BE5-4536-AFB7-02E19B8397BB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704" y="136525"/>
            <a:ext cx="10640627" cy="831142"/>
          </a:xfrm>
        </p:spPr>
        <p:txBody>
          <a:bodyPr>
            <a:noAutofit/>
          </a:bodyPr>
          <a:lstStyle/>
          <a:p>
            <a:r>
              <a:rPr lang="en-US" sz="4400" dirty="0"/>
              <a:t>Reasons why software ages?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705" y="1138175"/>
            <a:ext cx="10515600" cy="5218175"/>
          </a:xfrm>
        </p:spPr>
        <p:txBody>
          <a:bodyPr>
            <a:norm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3200" b="0" u="none" strike="noStrike" baseline="0" dirty="0"/>
              <a:t> Maintenance activities</a:t>
            </a:r>
            <a:endParaRPr lang="en-US" sz="3200" b="0" u="none" strike="noStrike" baseline="0" dirty="0"/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3200" b="0" dirty="0"/>
              <a:t> insufficient or inconsistent documentation</a:t>
            </a:r>
            <a:endParaRPr lang="en-US" sz="3200" b="0" dirty="0"/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3200" b="0" u="none" strike="noStrike" baseline="0" dirty="0"/>
              <a:t> deadline pressure</a:t>
            </a:r>
            <a:endParaRPr lang="en-US" sz="3200" b="0" u="none" strike="noStrike" baseline="0" dirty="0"/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3200" b="0" dirty="0"/>
              <a:t>Lack of modularity</a:t>
            </a:r>
            <a:endParaRPr lang="en-US" sz="3200" b="0" dirty="0"/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US" sz="3200" b="0" u="none" strike="noStrike" baseline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91EFA-1F42-4ACB-B3FB-7A3DA5153884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704" y="136525"/>
            <a:ext cx="10640627" cy="831142"/>
          </a:xfrm>
        </p:spPr>
        <p:txBody>
          <a:bodyPr>
            <a:noAutofit/>
          </a:bodyPr>
          <a:lstStyle/>
          <a:p>
            <a:r>
              <a:rPr lang="en-US" sz="4400" dirty="0"/>
              <a:t>Change is inevitable (unavoidable)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705" y="1138175"/>
            <a:ext cx="10515600" cy="5218175"/>
          </a:xfrm>
        </p:spPr>
        <p:txBody>
          <a:bodyPr>
            <a:norm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3200" b="0" u="none" strike="noStrike" baseline="0" dirty="0"/>
              <a:t> New requirements emerge when software is being used.</a:t>
            </a:r>
            <a:endParaRPr lang="en-US" sz="3200" b="0" u="none" strike="noStrike" baseline="0" dirty="0"/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3200" b="0" dirty="0"/>
              <a:t>Business environment change</a:t>
            </a:r>
            <a:endParaRPr lang="en-US" sz="3200" b="0" dirty="0"/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3200" b="0" u="none" strike="noStrike" baseline="0" dirty="0"/>
              <a:t>New computers and equipment are added to the system</a:t>
            </a:r>
            <a:endParaRPr lang="en-US" sz="3200" b="0" u="none" strike="noStrike" baseline="0" dirty="0"/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3200" b="0" dirty="0"/>
              <a:t>The performance or reliability of the system may have to be improved</a:t>
            </a:r>
            <a:endParaRPr lang="en-US" sz="3200" b="0" dirty="0"/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3200" b="0" u="none" strike="noStrike" baseline="0" dirty="0"/>
              <a:t>New technology (new standards, new OS, new software versions)</a:t>
            </a:r>
            <a:endParaRPr lang="en-US" sz="3200" b="0" u="none" strike="noStrike" baseline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BEA38-3003-4E7B-925E-EDC933972E32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704" y="136525"/>
            <a:ext cx="10640627" cy="831142"/>
          </a:xfrm>
        </p:spPr>
        <p:txBody>
          <a:bodyPr>
            <a:noAutofit/>
          </a:bodyPr>
          <a:lstStyle/>
          <a:p>
            <a:r>
              <a:rPr lang="en-US" sz="4400" dirty="0"/>
              <a:t>Change induces technical debt 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705" y="1138175"/>
            <a:ext cx="10515600" cy="5218175"/>
          </a:xfrm>
        </p:spPr>
        <p:txBody>
          <a:bodyPr>
            <a:norm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b="0" dirty="0"/>
              <a:t> As a change is started on a software system, often there is need to make other coordinated changes at the same time  in other parts of the software.(</a:t>
            </a:r>
            <a:r>
              <a:rPr lang="en-US" b="0" u="none" strike="noStrike" baseline="0" dirty="0"/>
              <a:t>Dependent Requirements</a:t>
            </a:r>
            <a:r>
              <a:rPr lang="en-US" b="0" dirty="0"/>
              <a:t>)</a:t>
            </a:r>
            <a:endParaRPr lang="en-US" b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0AC36-05A6-4B97-BF14-753C364C9409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704" y="136525"/>
            <a:ext cx="10640627" cy="831142"/>
          </a:xfrm>
        </p:spPr>
        <p:txBody>
          <a:bodyPr>
            <a:noAutofit/>
          </a:bodyPr>
          <a:lstStyle/>
          <a:p>
            <a:r>
              <a:rPr lang="en-US" sz="4400" dirty="0"/>
              <a:t>Change is hard to anticipate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705" y="1138175"/>
            <a:ext cx="10515600" cy="5218175"/>
          </a:xfrm>
        </p:spPr>
        <p:txBody>
          <a:bodyPr>
            <a:norm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b="0" u="none" strike="noStrike" baseline="0" dirty="0"/>
              <a:t>Many changes can not be </a:t>
            </a:r>
            <a:r>
              <a:rPr lang="en-US" b="0" dirty="0">
                <a:solidFill>
                  <a:srgbClr val="FF0000"/>
                </a:solidFill>
              </a:rPr>
              <a:t>do in advance</a:t>
            </a:r>
            <a:r>
              <a:rPr lang="en-US" b="0" u="none" strike="noStrike" baseline="0" dirty="0">
                <a:solidFill>
                  <a:srgbClr val="FF0000"/>
                </a:solidFill>
              </a:rPr>
              <a:t> </a:t>
            </a:r>
            <a:r>
              <a:rPr lang="en-US" b="0" u="none" strike="noStrike" baseline="0" dirty="0"/>
              <a:t>at design time.</a:t>
            </a:r>
            <a:endParaRPr lang="en-US" b="0" u="none" strike="noStrike" baseline="0" dirty="0"/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US" b="0" u="none" strike="noStrike" baseline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2BF47-E174-4566-814C-5C4BDD020484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704" y="136525"/>
            <a:ext cx="10640627" cy="831142"/>
          </a:xfrm>
        </p:spPr>
        <p:txBody>
          <a:bodyPr>
            <a:noAutofit/>
          </a:bodyPr>
          <a:lstStyle/>
          <a:p>
            <a:r>
              <a:rPr lang="en-US" sz="4400" dirty="0"/>
              <a:t>Maintenance Vs. Evolution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705" y="1138175"/>
            <a:ext cx="10515600" cy="5218175"/>
          </a:xfrm>
        </p:spPr>
        <p:txBody>
          <a:bodyPr>
            <a:norm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u="none" strike="noStrike" baseline="0" dirty="0"/>
              <a:t>Software maintenance </a:t>
            </a:r>
            <a:r>
              <a:rPr lang="en-US" b="0" u="none" strike="noStrike" baseline="0" dirty="0"/>
              <a:t>typically does not involve majo</a:t>
            </a:r>
            <a:r>
              <a:rPr lang="en-US" b="0" dirty="0"/>
              <a:t>r changes to the system’s architecture.</a:t>
            </a:r>
            <a:endParaRPr lang="en-US" b="0" dirty="0"/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b="0" u="none" strike="noStrike" baseline="0" dirty="0"/>
              <a:t> Changes are implemented by </a:t>
            </a:r>
            <a:r>
              <a:rPr lang="en-US" b="0" u="none" strike="noStrike" baseline="0" dirty="0">
                <a:solidFill>
                  <a:srgbClr val="FF0000"/>
                </a:solidFill>
              </a:rPr>
              <a:t>modifying existing components </a:t>
            </a:r>
            <a:r>
              <a:rPr lang="en-US" b="0" u="none" strike="noStrike" baseline="0" dirty="0"/>
              <a:t>and </a:t>
            </a:r>
            <a:r>
              <a:rPr lang="en-US" b="0" u="none" strike="noStrike" baseline="0" dirty="0">
                <a:solidFill>
                  <a:srgbClr val="FF0000"/>
                </a:solidFill>
              </a:rPr>
              <a:t>adding new components to the system</a:t>
            </a:r>
            <a:r>
              <a:rPr lang="en-US" b="0" u="none" strike="noStrike" baseline="0" dirty="0"/>
              <a:t>.</a:t>
            </a:r>
            <a:endParaRPr lang="en-US" b="0" u="none" strike="noStrike" baseline="0" dirty="0"/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b="0" dirty="0"/>
              <a:t> </a:t>
            </a:r>
            <a:r>
              <a:rPr lang="en-US" dirty="0"/>
              <a:t>Software evolution </a:t>
            </a:r>
            <a:r>
              <a:rPr lang="en-US" b="0" dirty="0"/>
              <a:t>is a broader term that encompasses both </a:t>
            </a:r>
            <a:r>
              <a:rPr lang="en-US" b="0" dirty="0">
                <a:solidFill>
                  <a:srgbClr val="FF0000"/>
                </a:solidFill>
              </a:rPr>
              <a:t>software maintenance </a:t>
            </a:r>
            <a:r>
              <a:rPr lang="en-US" b="0" dirty="0"/>
              <a:t>and </a:t>
            </a:r>
            <a:r>
              <a:rPr lang="en-US" b="0" dirty="0">
                <a:solidFill>
                  <a:srgbClr val="FF0000"/>
                </a:solidFill>
              </a:rPr>
              <a:t>bigger changes</a:t>
            </a:r>
            <a:r>
              <a:rPr lang="en-US" b="0" dirty="0"/>
              <a:t> at different phases of the software life-cycle.</a:t>
            </a:r>
            <a:endParaRPr lang="en-US" b="0" dirty="0"/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b="0" u="none" strike="noStrike" baseline="0" dirty="0"/>
              <a:t> </a:t>
            </a:r>
            <a:r>
              <a:rPr lang="en-US" b="0" dirty="0"/>
              <a:t>Evolution is basic to the nature of software development.</a:t>
            </a:r>
            <a:endParaRPr lang="en-US" b="0" u="none" strike="noStrike" baseline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26D1C-CFF8-401A-AD32-CA721F1BB216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704" y="136525"/>
            <a:ext cx="10640627" cy="831142"/>
          </a:xfrm>
        </p:spPr>
        <p:txBody>
          <a:bodyPr>
            <a:noAutofit/>
          </a:bodyPr>
          <a:lstStyle/>
          <a:p>
            <a:r>
              <a:rPr lang="en-US" sz="4400" dirty="0"/>
              <a:t>Software Evolution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705" y="1138175"/>
            <a:ext cx="10515600" cy="5218175"/>
          </a:xfrm>
        </p:spPr>
        <p:txBody>
          <a:bodyPr>
            <a:normAutofit/>
          </a:bodyPr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3200" u="none" strike="noStrike" baseline="0" dirty="0"/>
              <a:t>Evolution may arise </a:t>
            </a:r>
            <a:endParaRPr lang="en-US" sz="3200" u="none" strike="noStrike" baseline="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dirty="0"/>
              <a:t>1) D</a:t>
            </a:r>
            <a:r>
              <a:rPr lang="en-US" u="none" strike="noStrike" baseline="0" dirty="0"/>
              <a:t>uring software development</a:t>
            </a:r>
            <a:endParaRPr lang="en-US" u="none" strike="noStrike" baseline="0" dirty="0"/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b="0" dirty="0"/>
              <a:t>Where the design evolves and matures as the understanding of the problem and how to solve it, gradually increases. </a:t>
            </a:r>
            <a:endParaRPr lang="en-US" b="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dirty="0"/>
              <a:t>2) During software maintenance</a:t>
            </a:r>
            <a:endParaRPr lang="en-US" dirty="0"/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b="0" dirty="0"/>
              <a:t>After deployment, in the continuing process of adapting the system to the changing needs of its users and usage environment</a:t>
            </a:r>
            <a:endParaRPr lang="en-US" b="0" u="none" strike="noStrike" baseline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4181C-C9DA-4580-9885-1E9BA2957C8A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E983-65F8-481A-83AB-B8769D089CA8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8498</Words>
  <Application>WPS Presentation</Application>
  <PresentationFormat>Widescreen</PresentationFormat>
  <Paragraphs>313</Paragraphs>
  <Slides>31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4" baseType="lpstr">
      <vt:lpstr>Arial</vt:lpstr>
      <vt:lpstr>SimSun</vt:lpstr>
      <vt:lpstr>Wingdings</vt:lpstr>
      <vt:lpstr>Courier New</vt:lpstr>
      <vt:lpstr>Calibri</vt:lpstr>
      <vt:lpstr>Microsoft YaHei</vt:lpstr>
      <vt:lpstr>Arial Unicode MS</vt:lpstr>
      <vt:lpstr>Calibri Light</vt:lpstr>
      <vt:lpstr>TimesLTStd-Roman</vt:lpstr>
      <vt:lpstr>Segoe Print</vt:lpstr>
      <vt:lpstr>Office Theme</vt:lpstr>
      <vt:lpstr>Custom Design</vt:lpstr>
      <vt:lpstr>Paint.Picture</vt:lpstr>
      <vt:lpstr>Software Re-Engineering</vt:lpstr>
      <vt:lpstr>Lecture 2: Content</vt:lpstr>
      <vt:lpstr>Software Maintenance</vt:lpstr>
      <vt:lpstr>Software Maintenance</vt:lpstr>
      <vt:lpstr>Software Maintenance</vt:lpstr>
      <vt:lpstr>Software Maintenance</vt:lpstr>
      <vt:lpstr>Software Maintenance</vt:lpstr>
      <vt:lpstr>PowerPoint 演示文稿</vt:lpstr>
      <vt:lpstr>PowerPoint 演示文稿</vt:lpstr>
      <vt:lpstr>Classification of Software Maintenance Activities</vt:lpstr>
      <vt:lpstr>Intention-based classification of software maintenance activities;</vt:lpstr>
      <vt:lpstr>Intention-based classification of software maintenance activities;</vt:lpstr>
      <vt:lpstr>Intention-based classification of software maintenance activities;</vt:lpstr>
      <vt:lpstr>Intention-based classification of software maintenance activities;</vt:lpstr>
      <vt:lpstr>Intention-based classification of software maintenance activities;</vt:lpstr>
      <vt:lpstr>Intention-based classification of software maintenance activities;</vt:lpstr>
      <vt:lpstr>Intention-based classification of software maintenance activities;</vt:lpstr>
      <vt:lpstr>Intention-based classification of software maintenance activities;</vt:lpstr>
      <vt:lpstr>Intention-based classification of software maintenance activities;</vt:lpstr>
      <vt:lpstr>Intention-based classification of software maintenance activities;</vt:lpstr>
      <vt:lpstr>Activity-Based Classification of Software Maintenance</vt:lpstr>
      <vt:lpstr>Activity-Based Classification of Software Maintenance</vt:lpstr>
      <vt:lpstr>Software Evolution</vt:lpstr>
      <vt:lpstr>Evolution</vt:lpstr>
      <vt:lpstr>Software Ageing</vt:lpstr>
      <vt:lpstr>Reasons why software ages?</vt:lpstr>
      <vt:lpstr>Change is inevitable (unavoidable)</vt:lpstr>
      <vt:lpstr>Change induces technical debt </vt:lpstr>
      <vt:lpstr>Change is hard to anticipate</vt:lpstr>
      <vt:lpstr>Maintenance Vs. Evolution</vt:lpstr>
      <vt:lpstr>Software Evolution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Waqar ul Hassan</dc:creator>
  <cp:lastModifiedBy>Muhammad usman shahid</cp:lastModifiedBy>
  <cp:revision>403</cp:revision>
  <dcterms:created xsi:type="dcterms:W3CDTF">2020-10-13T09:21:00Z</dcterms:created>
  <dcterms:modified xsi:type="dcterms:W3CDTF">2025-09-11T09:04:46Z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D080A76E703E4AF3BD1961FDD7102849_12</vt:lpwstr>
  </property>
  <property fmtid="{D5CDD505-2E9C-101B-9397-08002B2CF9AE}" pid="3" name="KSOProductBuildVer">
    <vt:lpwstr>2057-12.2.0.22549</vt:lpwstr>
  </property>
</Properties>
</file>