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9" r:id="rId3"/>
    <p:sldId id="257" r:id="rId4"/>
    <p:sldId id="258"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E05422-43A8-9072-C38D-A48E1E245D11}" v="273" dt="2024-10-11T08:02:20.7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dirty="0"/>
              <a:t>Click to edit Master title style</a:t>
            </a:r>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5586B75A-687E-405C-8A0B-8D00578BA2C3}" type="datetimeFigureOut">
              <a:rPr lang="en-US" dirty="0"/>
              <a:pPr/>
              <a:t>10/11/2024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609926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86B75A-687E-405C-8A0B-8D00578BA2C3}" type="datetimeFigureOut">
              <a:rPr lang="en-US" dirty="0"/>
              <a:pPr/>
              <a:t>10/11/2024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46609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dirty="0"/>
              <a:t>Click to edit Master title style</a:t>
            </a:r>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10/11/2024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011384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sz="half" idx="10"/>
          </p:nvPr>
        </p:nvSpPr>
        <p:spPr/>
        <p:txBody>
          <a:bodyPr/>
          <a:lstStyle/>
          <a:p>
            <a:fld id="{5586B75A-687E-405C-8A0B-8D00578BA2C3}" type="datetimeFigureOut">
              <a:rPr lang="en-US" dirty="0"/>
              <a:pPr/>
              <a:t>10/11/2024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872619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p:cNvSpPr>
            <a:spLocks noGrp="1"/>
          </p:cNvSpPr>
          <p:nvPr>
            <p:ph type="dt" sz="half" idx="10"/>
          </p:nvPr>
        </p:nvSpPr>
        <p:spPr/>
        <p:txBody>
          <a:bodyPr/>
          <a:lstStyle/>
          <a:p>
            <a:fld id="{5586B75A-687E-405C-8A0B-8D00578BA2C3}" type="datetimeFigureOut">
              <a:rPr lang="en-US" dirty="0"/>
              <a:pPr/>
              <a:t>10/11/2024</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081051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Click to edit Master title style</a:t>
            </a:r>
          </a:p>
        </p:txBody>
      </p:sp>
      <p:sp>
        <p:nvSpPr>
          <p:cNvPr id="2" name="Date Placeholder 1"/>
          <p:cNvSpPr>
            <a:spLocks noGrp="1"/>
          </p:cNvSpPr>
          <p:nvPr>
            <p:ph type="dt" sz="half" idx="10"/>
          </p:nvPr>
        </p:nvSpPr>
        <p:spPr/>
        <p:txBody>
          <a:bodyPr/>
          <a:lstStyle/>
          <a:p>
            <a:fld id="{5586B75A-687E-405C-8A0B-8D00578BA2C3}" type="datetimeFigureOut">
              <a:rPr lang="en-US" dirty="0"/>
              <a:pPr/>
              <a:t>10/11/2024</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159999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10/11/2024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432510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dirty="0"/>
              <a:t>Click to edit Master title style</a:t>
            </a:r>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10/11/2024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338226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dirty="0"/>
              <a:t>Click to edit Master title style</a:t>
            </a:r>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10/11/2024</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071175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10/11/2024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830013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10/11/2024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276524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dirty="0"/>
              <a:t>Click to edit Master title style</a:t>
            </a:r>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10/11/2024</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40851539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justinmind.com/blog/user-persona-template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Scenarios in HCI</a:t>
            </a:r>
          </a:p>
        </p:txBody>
      </p:sp>
      <p:sp>
        <p:nvSpPr>
          <p:cNvPr id="3" name="Subtitle 2"/>
          <p:cNvSpPr>
            <a:spLocks noGrp="1"/>
          </p:cNvSpPr>
          <p:nvPr>
            <p:ph type="subTitle" idx="1"/>
          </p:nvPr>
        </p:nvSpPr>
        <p:spPr/>
        <p:txBody>
          <a:bodyPr/>
          <a:lstStyle/>
          <a:p>
            <a:r>
              <a:rPr lang="en-GB" dirty="0"/>
              <a:t>Ms. Iqra Shahzad</a:t>
            </a:r>
          </a:p>
          <a:p>
            <a:r>
              <a:rPr lang="en-GB" dirty="0"/>
              <a:t>Department of Software Engineering ,NUML Islamabad.</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A955D-21D9-F841-4C25-8A82A1FE4380}"/>
              </a:ext>
            </a:extLst>
          </p:cNvPr>
          <p:cNvSpPr>
            <a:spLocks noGrp="1"/>
          </p:cNvSpPr>
          <p:nvPr>
            <p:ph type="title"/>
          </p:nvPr>
        </p:nvSpPr>
        <p:spPr/>
        <p:txBody>
          <a:bodyPr/>
          <a:lstStyle/>
          <a:p>
            <a:r>
              <a:rPr lang="en-GB" dirty="0"/>
              <a:t>Introduction</a:t>
            </a:r>
            <a:br>
              <a:rPr lang="en-GB" dirty="0"/>
            </a:br>
            <a:endParaRPr lang="en-GB" dirty="0"/>
          </a:p>
        </p:txBody>
      </p:sp>
      <p:sp>
        <p:nvSpPr>
          <p:cNvPr id="3" name="Content Placeholder 2">
            <a:extLst>
              <a:ext uri="{FF2B5EF4-FFF2-40B4-BE49-F238E27FC236}">
                <a16:creationId xmlns:a16="http://schemas.microsoft.com/office/drawing/2014/main" id="{16C71CBB-DC38-E04E-8C65-3E553900665F}"/>
              </a:ext>
            </a:extLst>
          </p:cNvPr>
          <p:cNvSpPr>
            <a:spLocks noGrp="1"/>
          </p:cNvSpPr>
          <p:nvPr>
            <p:ph idx="1"/>
          </p:nvPr>
        </p:nvSpPr>
        <p:spPr>
          <a:xfrm>
            <a:off x="3477062" y="-1096921"/>
            <a:ext cx="7315200" cy="5120640"/>
          </a:xfrm>
        </p:spPr>
        <p:txBody>
          <a:bodyPr/>
          <a:lstStyle/>
          <a:p>
            <a:r>
              <a:rPr lang="en-GB" sz="1500" dirty="0">
                <a:ea typeface="+mn-lt"/>
                <a:cs typeface="+mn-lt"/>
              </a:rPr>
              <a:t>Scenarios are stories that describe how your user personas interact with your product or system in specific situations, such as completing a task, solving a problem, or achieving a goal.</a:t>
            </a:r>
            <a:endParaRPr lang="en-GB" dirty="0">
              <a:ea typeface="+mn-lt"/>
              <a:cs typeface="+mn-lt"/>
            </a:endParaRPr>
          </a:p>
          <a:p>
            <a:r>
              <a:rPr lang="en-GB" sz="1600" dirty="0">
                <a:solidFill>
                  <a:schemeClr val="tx1"/>
                </a:solidFill>
              </a:rPr>
              <a:t>User scenarios are detailed descriptions of a user – typically a persona – that describe  realistic situations relevant to the design of a solution. </a:t>
            </a:r>
            <a:endParaRPr lang="en-GB" sz="1500" dirty="0">
              <a:solidFill>
                <a:schemeClr val="tx1"/>
              </a:solidFill>
            </a:endParaRPr>
          </a:p>
        </p:txBody>
      </p:sp>
      <p:pic>
        <p:nvPicPr>
          <p:cNvPr id="4" name="Picture 3" descr="A diagram of a user scenario&#10;&#10;Description automatically generated">
            <a:extLst>
              <a:ext uri="{FF2B5EF4-FFF2-40B4-BE49-F238E27FC236}">
                <a16:creationId xmlns:a16="http://schemas.microsoft.com/office/drawing/2014/main" id="{7A4F416D-8E81-2C94-A31E-E2BB18148858}"/>
              </a:ext>
            </a:extLst>
          </p:cNvPr>
          <p:cNvPicPr>
            <a:picLocks noChangeAspect="1"/>
          </p:cNvPicPr>
          <p:nvPr/>
        </p:nvPicPr>
        <p:blipFill>
          <a:blip r:embed="rId2"/>
          <a:stretch>
            <a:fillRect/>
          </a:stretch>
        </p:blipFill>
        <p:spPr>
          <a:xfrm>
            <a:off x="5225583" y="2166377"/>
            <a:ext cx="5125010" cy="3713069"/>
          </a:xfrm>
          <a:prstGeom prst="rect">
            <a:avLst/>
          </a:prstGeom>
        </p:spPr>
      </p:pic>
    </p:spTree>
    <p:extLst>
      <p:ext uri="{BB962C8B-B14F-4D97-AF65-F5344CB8AC3E}">
        <p14:creationId xmlns:p14="http://schemas.microsoft.com/office/powerpoint/2010/main" val="369857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D24E3-9DA4-3C63-F79A-BB4496A5C42F}"/>
              </a:ext>
            </a:extLst>
          </p:cNvPr>
          <p:cNvSpPr>
            <a:spLocks noGrp="1"/>
          </p:cNvSpPr>
          <p:nvPr>
            <p:ph type="title"/>
          </p:nvPr>
        </p:nvSpPr>
        <p:spPr/>
        <p:txBody>
          <a:bodyPr/>
          <a:lstStyle/>
          <a:p>
            <a:r>
              <a:rPr lang="en-GB" dirty="0">
                <a:ea typeface="+mj-lt"/>
                <a:cs typeface="+mj-lt"/>
              </a:rPr>
              <a:t>DEVELOPING SCENARIOS</a:t>
            </a:r>
            <a:endParaRPr lang="en-US" dirty="0"/>
          </a:p>
        </p:txBody>
      </p:sp>
      <p:sp>
        <p:nvSpPr>
          <p:cNvPr id="3" name="Content Placeholder 2">
            <a:extLst>
              <a:ext uri="{FF2B5EF4-FFF2-40B4-BE49-F238E27FC236}">
                <a16:creationId xmlns:a16="http://schemas.microsoft.com/office/drawing/2014/main" id="{B7F40AB3-8C8A-D91F-7307-37301BEEF137}"/>
              </a:ext>
            </a:extLst>
          </p:cNvPr>
          <p:cNvSpPr>
            <a:spLocks noGrp="1"/>
          </p:cNvSpPr>
          <p:nvPr>
            <p:ph idx="1"/>
          </p:nvPr>
        </p:nvSpPr>
        <p:spPr/>
        <p:txBody>
          <a:bodyPr>
            <a:normAutofit/>
          </a:bodyPr>
          <a:lstStyle/>
          <a:p>
            <a:pPr marL="0" indent="0">
              <a:buNone/>
            </a:pPr>
            <a:endParaRPr lang="en-GB" sz="1600" dirty="0">
              <a:solidFill>
                <a:schemeClr val="tx1"/>
              </a:solidFill>
            </a:endParaRPr>
          </a:p>
          <a:p>
            <a:r>
              <a:rPr lang="en-GB" sz="1400" dirty="0">
                <a:solidFill>
                  <a:schemeClr val="tx1"/>
                </a:solidFill>
                <a:latin typeface="Corbel"/>
              </a:rPr>
              <a:t>By painting a “rich picture” of a set of events, teams can appreciate user interactions in context, helping them to understand the practical needs and behaviours of users.</a:t>
            </a:r>
          </a:p>
          <a:p>
            <a:r>
              <a:rPr lang="en-GB" sz="1500" dirty="0">
                <a:solidFill>
                  <a:schemeClr val="tx1"/>
                </a:solidFill>
                <a:ea typeface="+mn-lt"/>
                <a:cs typeface="+mn-lt"/>
              </a:rPr>
              <a:t>User personas and scenarios are powerful tools for human-computer interaction (HCI) </a:t>
            </a:r>
            <a:r>
              <a:rPr lang="en-GB" sz="1500" b="1" dirty="0">
                <a:solidFill>
                  <a:schemeClr val="tx1"/>
                </a:solidFill>
                <a:ea typeface="+mn-lt"/>
                <a:cs typeface="+mn-lt"/>
              </a:rPr>
              <a:t>design and evaluation.</a:t>
            </a:r>
            <a:r>
              <a:rPr lang="en-GB" sz="1500" dirty="0">
                <a:solidFill>
                  <a:schemeClr val="tx1"/>
                </a:solidFill>
                <a:ea typeface="+mn-lt"/>
                <a:cs typeface="+mn-lt"/>
              </a:rPr>
              <a:t> They help you understand and empathize with your target users, their goals, needs, and contexts.</a:t>
            </a:r>
            <a:endParaRPr lang="en-GB" sz="1400" dirty="0">
              <a:solidFill>
                <a:schemeClr val="tx1"/>
              </a:solidFill>
              <a:latin typeface="Corbel"/>
            </a:endParaRPr>
          </a:p>
          <a:p>
            <a:r>
              <a:rPr lang="en-GB" sz="1500" dirty="0">
                <a:solidFill>
                  <a:schemeClr val="tx1"/>
                </a:solidFill>
                <a:ea typeface="+mn-lt"/>
                <a:cs typeface="+mn-lt"/>
              </a:rPr>
              <a:t>Help you communicate and collaborate with your stakeholders, such as clients, developers, and testers, by providing a common language and reference point.</a:t>
            </a:r>
            <a:endParaRPr lang="en-GB" sz="1500" dirty="0">
              <a:solidFill>
                <a:schemeClr val="tx1"/>
              </a:solidFill>
              <a:latin typeface="Corbel"/>
            </a:endParaRPr>
          </a:p>
          <a:p>
            <a:r>
              <a:rPr lang="en-GB" sz="1500" dirty="0">
                <a:solidFill>
                  <a:schemeClr val="tx1"/>
                </a:solidFill>
                <a:ea typeface="+mn-lt"/>
                <a:cs typeface="+mn-lt"/>
              </a:rPr>
              <a:t>By using them to explain and justify design decisions and trade-offs based on the user's needs and goals, you can share and align your vision with your stakeholders, as well as provide clear specifications for developers. </a:t>
            </a:r>
            <a:endParaRPr lang="en-GB" sz="1500" dirty="0">
              <a:solidFill>
                <a:schemeClr val="tx1"/>
              </a:solidFill>
              <a:latin typeface="Corbel"/>
            </a:endParaRPr>
          </a:p>
          <a:p>
            <a:endParaRPr lang="en-GB" sz="1500" dirty="0">
              <a:solidFill>
                <a:schemeClr val="tx1"/>
              </a:solidFill>
              <a:latin typeface="Corbel"/>
            </a:endParaRPr>
          </a:p>
          <a:p>
            <a:endParaRPr lang="en-GB" sz="1400" dirty="0">
              <a:solidFill>
                <a:schemeClr val="tx1"/>
              </a:solidFill>
              <a:latin typeface="Corbel"/>
            </a:endParaRPr>
          </a:p>
        </p:txBody>
      </p:sp>
    </p:spTree>
    <p:extLst>
      <p:ext uri="{BB962C8B-B14F-4D97-AF65-F5344CB8AC3E}">
        <p14:creationId xmlns:p14="http://schemas.microsoft.com/office/powerpoint/2010/main" val="1361140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56BEE-7724-220D-3495-7AEE5F34DBAB}"/>
              </a:ext>
            </a:extLst>
          </p:cNvPr>
          <p:cNvSpPr>
            <a:spLocks noGrp="1"/>
          </p:cNvSpPr>
          <p:nvPr>
            <p:ph type="title"/>
          </p:nvPr>
        </p:nvSpPr>
        <p:spPr/>
        <p:txBody>
          <a:bodyPr/>
          <a:lstStyle/>
          <a:p>
            <a:r>
              <a:rPr lang="en-GB" dirty="0"/>
              <a:t>What does a user scenario look like?</a:t>
            </a:r>
            <a:endParaRPr lang="en-US" dirty="0"/>
          </a:p>
          <a:p>
            <a:endParaRPr lang="en-GB" dirty="0"/>
          </a:p>
        </p:txBody>
      </p:sp>
      <p:sp>
        <p:nvSpPr>
          <p:cNvPr id="3" name="Content Placeholder 2">
            <a:extLst>
              <a:ext uri="{FF2B5EF4-FFF2-40B4-BE49-F238E27FC236}">
                <a16:creationId xmlns:a16="http://schemas.microsoft.com/office/drawing/2014/main" id="{39C582FF-9365-AA58-AB29-0C1A97330EA2}"/>
              </a:ext>
            </a:extLst>
          </p:cNvPr>
          <p:cNvSpPr>
            <a:spLocks noGrp="1"/>
          </p:cNvSpPr>
          <p:nvPr>
            <p:ph idx="1"/>
          </p:nvPr>
        </p:nvSpPr>
        <p:spPr/>
        <p:txBody>
          <a:bodyPr/>
          <a:lstStyle/>
          <a:p>
            <a:endParaRPr lang="en-GB" dirty="0"/>
          </a:p>
          <a:p>
            <a:r>
              <a:rPr lang="en-GB" dirty="0"/>
              <a:t>Characteristic of user scenarios is that they give us a bit of context related to the user and how they would come to use the product. They tend to include a bit of a story that could include something like this:</a:t>
            </a:r>
          </a:p>
          <a:p>
            <a:r>
              <a:rPr lang="en-GB" dirty="0"/>
              <a:t>“Samantha is a student who has an important exam next week. She needs to find a platform that helps her manage her time between studying for the test and her other assignments for school, to reach her goal of passing all classes.”</a:t>
            </a:r>
          </a:p>
          <a:p>
            <a:r>
              <a:rPr lang="en-GB" sz="1400" b="1" u="sng" dirty="0">
                <a:solidFill>
                  <a:srgbClr val="121212"/>
                </a:solidFill>
                <a:latin typeface="Montserrat"/>
              </a:rPr>
              <a:t>A small observation:</a:t>
            </a:r>
            <a:r>
              <a:rPr lang="en-GB" sz="1400" u="sng" dirty="0">
                <a:solidFill>
                  <a:srgbClr val="121212"/>
                </a:solidFill>
                <a:latin typeface="Montserrat"/>
              </a:rPr>
              <a:t> It’s unwise to try to create user scenarios that portray all users. Instead, be specific and base yourself on one user persona per user scenario. Check out our post on </a:t>
            </a:r>
            <a:r>
              <a:rPr lang="en-GB" sz="1400" u="sng" dirty="0">
                <a:solidFill>
                  <a:srgbClr val="2B2B2B"/>
                </a:solidFill>
                <a:latin typeface="Montserrat"/>
                <a:hlinkClick r:id="rId2"/>
              </a:rPr>
              <a:t>user persona templates</a:t>
            </a:r>
            <a:r>
              <a:rPr lang="en-GB" sz="1400" u="sng" dirty="0">
                <a:solidFill>
                  <a:srgbClr val="121212"/>
                </a:solidFill>
                <a:latin typeface="Montserrat"/>
              </a:rPr>
              <a:t> for more details.</a:t>
            </a:r>
            <a:endParaRPr lang="en-GB" u="sng" dirty="0"/>
          </a:p>
        </p:txBody>
      </p:sp>
    </p:spTree>
    <p:extLst>
      <p:ext uri="{BB962C8B-B14F-4D97-AF65-F5344CB8AC3E}">
        <p14:creationId xmlns:p14="http://schemas.microsoft.com/office/powerpoint/2010/main" val="4089621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2421F-60E6-CA78-2B36-49DE4828D4A6}"/>
              </a:ext>
            </a:extLst>
          </p:cNvPr>
          <p:cNvSpPr>
            <a:spLocks noGrp="1"/>
          </p:cNvSpPr>
          <p:nvPr>
            <p:ph type="title"/>
          </p:nvPr>
        </p:nvSpPr>
        <p:spPr/>
        <p:txBody>
          <a:bodyPr/>
          <a:lstStyle/>
          <a:p>
            <a:endParaRPr lang="en-GB"/>
          </a:p>
        </p:txBody>
      </p:sp>
      <p:pic>
        <p:nvPicPr>
          <p:cNvPr id="4" name="Content Placeholder 3" descr="A cartoon of a person with a helmet and a crying baby&#10;&#10;Description automatically generated">
            <a:extLst>
              <a:ext uri="{FF2B5EF4-FFF2-40B4-BE49-F238E27FC236}">
                <a16:creationId xmlns:a16="http://schemas.microsoft.com/office/drawing/2014/main" id="{529C8622-37DD-EC0B-274E-AA34EA2809E7}"/>
              </a:ext>
            </a:extLst>
          </p:cNvPr>
          <p:cNvPicPr>
            <a:picLocks noGrp="1" noChangeAspect="1"/>
          </p:cNvPicPr>
          <p:nvPr>
            <p:ph idx="1"/>
          </p:nvPr>
        </p:nvPicPr>
        <p:blipFill>
          <a:blip r:embed="rId2"/>
          <a:stretch>
            <a:fillRect/>
          </a:stretch>
        </p:blipFill>
        <p:spPr>
          <a:xfrm>
            <a:off x="3656356" y="230393"/>
            <a:ext cx="7315200" cy="2779776"/>
          </a:xfrm>
        </p:spPr>
      </p:pic>
      <p:sp>
        <p:nvSpPr>
          <p:cNvPr id="5" name="TextBox 4">
            <a:extLst>
              <a:ext uri="{FF2B5EF4-FFF2-40B4-BE49-F238E27FC236}">
                <a16:creationId xmlns:a16="http://schemas.microsoft.com/office/drawing/2014/main" id="{7AEE3A7F-EC7F-1AA7-E205-CA48ADB76067}"/>
              </a:ext>
            </a:extLst>
          </p:cNvPr>
          <p:cNvSpPr txBox="1"/>
          <p:nvPr/>
        </p:nvSpPr>
        <p:spPr>
          <a:xfrm>
            <a:off x="5116606" y="3536576"/>
            <a:ext cx="5645523" cy="646331"/>
          </a:xfrm>
          <a:prstGeom prst="rect">
            <a:avLst/>
          </a:prstGeom>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usually textual, user scenarios paint a “rich picture” of important factors behind users’ needs and behaviors.</a:t>
            </a:r>
          </a:p>
        </p:txBody>
      </p:sp>
    </p:spTree>
    <p:extLst>
      <p:ext uri="{BB962C8B-B14F-4D97-AF65-F5344CB8AC3E}">
        <p14:creationId xmlns:p14="http://schemas.microsoft.com/office/powerpoint/2010/main" val="2007281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F389B-426A-3F70-7AF5-C3792789C5C6}"/>
              </a:ext>
            </a:extLst>
          </p:cNvPr>
          <p:cNvSpPr>
            <a:spLocks noGrp="1"/>
          </p:cNvSpPr>
          <p:nvPr>
            <p:ph type="title"/>
          </p:nvPr>
        </p:nvSpPr>
        <p:spPr/>
        <p:txBody>
          <a:bodyPr/>
          <a:lstStyle/>
          <a:p>
            <a:r>
              <a:rPr lang="en-GB" dirty="0"/>
              <a:t>Creating scenarios</a:t>
            </a:r>
          </a:p>
        </p:txBody>
      </p:sp>
      <p:sp>
        <p:nvSpPr>
          <p:cNvPr id="3" name="Content Placeholder 2">
            <a:extLst>
              <a:ext uri="{FF2B5EF4-FFF2-40B4-BE49-F238E27FC236}">
                <a16:creationId xmlns:a16="http://schemas.microsoft.com/office/drawing/2014/main" id="{CE63BD2F-EA8F-77F2-93AB-F7FD58230BDD}"/>
              </a:ext>
            </a:extLst>
          </p:cNvPr>
          <p:cNvSpPr>
            <a:spLocks noGrp="1"/>
          </p:cNvSpPr>
          <p:nvPr>
            <p:ph idx="1"/>
          </p:nvPr>
        </p:nvSpPr>
        <p:spPr/>
        <p:txBody>
          <a:bodyPr/>
          <a:lstStyle/>
          <a:p>
            <a:r>
              <a:rPr lang="en-GB" sz="1400">
                <a:solidFill>
                  <a:srgbClr val="2B2B2B"/>
                </a:solidFill>
                <a:latin typeface="Merriweather"/>
              </a:rPr>
              <a:t>Explore and explain motivations for certain user needs and behaviors.</a:t>
            </a:r>
            <a:endParaRPr lang="en-GB"/>
          </a:p>
          <a:p>
            <a:r>
              <a:rPr lang="en-GB" sz="1400">
                <a:solidFill>
                  <a:srgbClr val="2B2B2B"/>
                </a:solidFill>
                <a:latin typeface="Merriweather"/>
              </a:rPr>
              <a:t>Explicitly describe how our persona expects interactions to proceed, with expectations about the sequence of events, the formats of input and output and details of the information required to realize this scenario effectively.</a:t>
            </a:r>
            <a:endParaRPr lang="en-GB"/>
          </a:p>
          <a:p>
            <a:r>
              <a:rPr lang="en-GB" sz="1400">
                <a:solidFill>
                  <a:srgbClr val="2B2B2B"/>
                </a:solidFill>
                <a:latin typeface="Merriweather"/>
              </a:rPr>
              <a:t>Draw attention to “pain points” in an existing process or anticipated complexity in new processes.</a:t>
            </a:r>
            <a:endParaRPr lang="en-GB"/>
          </a:p>
          <a:p>
            <a:endParaRPr lang="en-GB" dirty="0"/>
          </a:p>
        </p:txBody>
      </p:sp>
    </p:spTree>
    <p:extLst>
      <p:ext uri="{BB962C8B-B14F-4D97-AF65-F5344CB8AC3E}">
        <p14:creationId xmlns:p14="http://schemas.microsoft.com/office/powerpoint/2010/main" val="2385618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FAAF4-4A80-9860-6B52-3D49116D8AC9}"/>
              </a:ext>
            </a:extLst>
          </p:cNvPr>
          <p:cNvSpPr>
            <a:spLocks noGrp="1"/>
          </p:cNvSpPr>
          <p:nvPr>
            <p:ph type="title"/>
          </p:nvPr>
        </p:nvSpPr>
        <p:spPr/>
        <p:txBody>
          <a:bodyPr/>
          <a:lstStyle/>
          <a:p>
            <a:r>
              <a:rPr lang="en-GB" dirty="0"/>
              <a:t>...</a:t>
            </a:r>
          </a:p>
        </p:txBody>
      </p:sp>
      <p:sp>
        <p:nvSpPr>
          <p:cNvPr id="3" name="Content Placeholder 2">
            <a:extLst>
              <a:ext uri="{FF2B5EF4-FFF2-40B4-BE49-F238E27FC236}">
                <a16:creationId xmlns:a16="http://schemas.microsoft.com/office/drawing/2014/main" id="{EF87CA9A-9E03-9D04-CDC7-DD6FD1962645}"/>
              </a:ext>
            </a:extLst>
          </p:cNvPr>
          <p:cNvSpPr>
            <a:spLocks noGrp="1"/>
          </p:cNvSpPr>
          <p:nvPr>
            <p:ph idx="1"/>
          </p:nvPr>
        </p:nvSpPr>
        <p:spPr/>
        <p:txBody>
          <a:bodyPr/>
          <a:lstStyle/>
          <a:p>
            <a:r>
              <a:rPr lang="en-GB" dirty="0"/>
              <a:t>Who the user is</a:t>
            </a:r>
          </a:p>
          <a:p>
            <a:r>
              <a:rPr lang="en-GB"/>
              <a:t>The situation that drives users to seek the product</a:t>
            </a:r>
          </a:p>
          <a:p>
            <a:r>
              <a:rPr lang="en-GB"/>
              <a:t>A specific task or goal the user has</a:t>
            </a:r>
          </a:p>
          <a:p>
            <a:r>
              <a:rPr lang="en-GB" dirty="0"/>
              <a:t>Information regarding user’s income and spending</a:t>
            </a:r>
          </a:p>
          <a:p>
            <a:r>
              <a:rPr lang="en-GB" dirty="0"/>
              <a:t>The path to completion of a task</a:t>
            </a:r>
          </a:p>
          <a:p>
            <a:r>
              <a:rPr lang="en-GB" dirty="0"/>
              <a:t>Points of friction or stress in daily life or in the user experience</a:t>
            </a:r>
          </a:p>
          <a:p>
            <a:endParaRPr lang="en-GB" dirty="0"/>
          </a:p>
        </p:txBody>
      </p:sp>
    </p:spTree>
    <p:extLst>
      <p:ext uri="{BB962C8B-B14F-4D97-AF65-F5344CB8AC3E}">
        <p14:creationId xmlns:p14="http://schemas.microsoft.com/office/powerpoint/2010/main" val="354528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05B3D-D041-CFC1-80E3-DA6C48A3A51C}"/>
              </a:ext>
            </a:extLst>
          </p:cNvPr>
          <p:cNvSpPr>
            <a:spLocks noGrp="1"/>
          </p:cNvSpPr>
          <p:nvPr>
            <p:ph type="title"/>
          </p:nvPr>
        </p:nvSpPr>
        <p:spPr/>
        <p:txBody>
          <a:bodyPr/>
          <a:lstStyle/>
          <a:p>
            <a:r>
              <a:rPr lang="en-GB"/>
              <a:t>User scenario examples </a:t>
            </a:r>
            <a:endParaRPr lang="en-US"/>
          </a:p>
          <a:p>
            <a:endParaRPr lang="en-GB" dirty="0"/>
          </a:p>
        </p:txBody>
      </p:sp>
      <p:sp>
        <p:nvSpPr>
          <p:cNvPr id="3" name="Content Placeholder 2">
            <a:extLst>
              <a:ext uri="{FF2B5EF4-FFF2-40B4-BE49-F238E27FC236}">
                <a16:creationId xmlns:a16="http://schemas.microsoft.com/office/drawing/2014/main" id="{1803E963-2BD1-462F-05A9-71C7CF5126CE}"/>
              </a:ext>
            </a:extLst>
          </p:cNvPr>
          <p:cNvSpPr>
            <a:spLocks noGrp="1"/>
          </p:cNvSpPr>
          <p:nvPr>
            <p:ph idx="1"/>
          </p:nvPr>
        </p:nvSpPr>
        <p:spPr/>
        <p:txBody>
          <a:bodyPr>
            <a:normAutofit fontScale="85000" lnSpcReduction="20000"/>
          </a:bodyPr>
          <a:lstStyle/>
          <a:p>
            <a:r>
              <a:rPr lang="en-GB" u="sng" dirty="0"/>
              <a:t>Supply management user scenario example</a:t>
            </a:r>
          </a:p>
          <a:p>
            <a:r>
              <a:rPr lang="en-GB" dirty="0"/>
              <a:t>This is another rather complete user scenario from our friends at IDF. It perfectly captures the real-life struggles that motivate the user to seek a solution – as well as the main benefit he would get from it.</a:t>
            </a:r>
          </a:p>
          <a:p>
            <a:r>
              <a:rPr lang="en-GB" b="1" dirty="0"/>
              <a:t>“Jeremy, 52, a senior manager for a medical supplies company, needs constantly updated information on purchasing-related issues while he travels between work and hospital sites so he can use/allocate resources optimally. He’s highly skilled, organized and diligent.</a:t>
            </a:r>
          </a:p>
          <a:p>
            <a:r>
              <a:rPr lang="en-GB" b="1" dirty="0"/>
              <a:t>However, with recent layoffs he now struggles to manage his workload and is too drained to enjoy his career. He strains to handle tasks which his former assistant previously performed, stays current with issues and investigates supply-chain problems, while he tries to find alternatives that would be more economical in the financial climate.</a:t>
            </a:r>
          </a:p>
          <a:p>
            <a:r>
              <a:rPr lang="en-GB" b="1" dirty="0"/>
              <a:t>He wants something convenient like an app to take him straight to only the most relevant updates and industry news, including current information feeds about share prices, tariffs on foreign suppliers, budget decisions in local hospitals and innovations in the medical devices he handles (mostly lung and cardiovascular products).</a:t>
            </a:r>
          </a:p>
          <a:p>
            <a:r>
              <a:rPr lang="en-GB" b="1" dirty="0"/>
              <a:t>Instead of continuing to liaise with three other managers and spending an hour generating one end-of-day report through the company intranet, he’d love to have all the information he needs securely on his smartphone and be able to easily send real-time screenshots for junior staff to action and file and corporate heads to examine and advise him about.”</a:t>
            </a:r>
          </a:p>
          <a:p>
            <a:endParaRPr lang="en-GB" dirty="0"/>
          </a:p>
        </p:txBody>
      </p:sp>
    </p:spTree>
    <p:extLst>
      <p:ext uri="{BB962C8B-B14F-4D97-AF65-F5344CB8AC3E}">
        <p14:creationId xmlns:p14="http://schemas.microsoft.com/office/powerpoint/2010/main" val="1154295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688F-16CF-4E07-DBF9-2EF944996362}"/>
              </a:ext>
            </a:extLst>
          </p:cNvPr>
          <p:cNvSpPr>
            <a:spLocks noGrp="1"/>
          </p:cNvSpPr>
          <p:nvPr>
            <p:ph type="title"/>
          </p:nvPr>
        </p:nvSpPr>
        <p:spPr/>
        <p:txBody>
          <a:bodyPr/>
          <a:lstStyle/>
          <a:p>
            <a:endParaRPr lang="en-GB"/>
          </a:p>
        </p:txBody>
      </p:sp>
      <p:pic>
        <p:nvPicPr>
          <p:cNvPr id="4" name="Content Placeholder 3" descr="A screenshot of a computer&#10;&#10;Description automatically generated">
            <a:extLst>
              <a:ext uri="{FF2B5EF4-FFF2-40B4-BE49-F238E27FC236}">
                <a16:creationId xmlns:a16="http://schemas.microsoft.com/office/drawing/2014/main" id="{E49C0D45-33EC-232F-84DC-D17F970AC72B}"/>
              </a:ext>
            </a:extLst>
          </p:cNvPr>
          <p:cNvPicPr>
            <a:picLocks noGrp="1" noChangeAspect="1"/>
          </p:cNvPicPr>
          <p:nvPr>
            <p:ph idx="1"/>
          </p:nvPr>
        </p:nvPicPr>
        <p:blipFill>
          <a:blip r:embed="rId2"/>
          <a:stretch>
            <a:fillRect/>
          </a:stretch>
        </p:blipFill>
        <p:spPr>
          <a:xfrm>
            <a:off x="4035522" y="864108"/>
            <a:ext cx="6982691" cy="5120640"/>
          </a:xfrm>
        </p:spPr>
      </p:pic>
    </p:spTree>
    <p:extLst>
      <p:ext uri="{BB962C8B-B14F-4D97-AF65-F5344CB8AC3E}">
        <p14:creationId xmlns:p14="http://schemas.microsoft.com/office/powerpoint/2010/main" val="1314620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collage of images of a person and a phone&#10;&#10;Description automatically generated">
            <a:extLst>
              <a:ext uri="{FF2B5EF4-FFF2-40B4-BE49-F238E27FC236}">
                <a16:creationId xmlns:a16="http://schemas.microsoft.com/office/drawing/2014/main" id="{B178DEA3-84CA-FCFA-5D2B-7317BFA8FA59}"/>
              </a:ext>
            </a:extLst>
          </p:cNvPr>
          <p:cNvPicPr>
            <a:picLocks noGrp="1" noChangeAspect="1"/>
          </p:cNvPicPr>
          <p:nvPr>
            <p:ph idx="1"/>
          </p:nvPr>
        </p:nvPicPr>
        <p:blipFill>
          <a:blip r:embed="rId2"/>
          <a:srcRect b="43750"/>
          <a:stretch/>
        </p:blipFill>
        <p:spPr>
          <a:xfrm>
            <a:off x="20" y="10"/>
            <a:ext cx="12191980" cy="6857990"/>
          </a:xfrm>
          <a:prstGeom prst="rect">
            <a:avLst/>
          </a:prstGeom>
        </p:spPr>
      </p:pic>
    </p:spTree>
    <p:extLst>
      <p:ext uri="{BB962C8B-B14F-4D97-AF65-F5344CB8AC3E}">
        <p14:creationId xmlns:p14="http://schemas.microsoft.com/office/powerpoint/2010/main" val="1453136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B615A-A607-FE75-2133-21AA13151C5E}"/>
              </a:ext>
            </a:extLst>
          </p:cNvPr>
          <p:cNvSpPr>
            <a:spLocks noGrp="1"/>
          </p:cNvSpPr>
          <p:nvPr>
            <p:ph type="title"/>
          </p:nvPr>
        </p:nvSpPr>
        <p:spPr/>
        <p:txBody>
          <a:bodyPr/>
          <a:lstStyle/>
          <a:p>
            <a:r>
              <a:rPr lang="en-GB"/>
              <a:t>using scenarios throughout design</a:t>
            </a:r>
            <a:endParaRPr lang="en-US"/>
          </a:p>
        </p:txBody>
      </p:sp>
      <p:sp>
        <p:nvSpPr>
          <p:cNvPr id="3" name="Content Placeholder 2">
            <a:extLst>
              <a:ext uri="{FF2B5EF4-FFF2-40B4-BE49-F238E27FC236}">
                <a16:creationId xmlns:a16="http://schemas.microsoft.com/office/drawing/2014/main" id="{FAF84B6A-7BCD-740D-B78C-202F361A45A2}"/>
              </a:ext>
            </a:extLst>
          </p:cNvPr>
          <p:cNvSpPr>
            <a:spLocks noGrp="1"/>
          </p:cNvSpPr>
          <p:nvPr>
            <p:ph idx="1"/>
          </p:nvPr>
        </p:nvSpPr>
        <p:spPr/>
        <p:txBody>
          <a:bodyPr/>
          <a:lstStyle/>
          <a:p>
            <a:r>
              <a:rPr lang="en-GB" dirty="0"/>
              <a:t>In Human-Computer Interaction (HCI) and User-</a:t>
            </a:r>
            <a:r>
              <a:rPr lang="en-GB" dirty="0" err="1"/>
              <a:t>Centered</a:t>
            </a:r>
            <a:r>
              <a:rPr lang="en-GB" dirty="0"/>
              <a:t> Design, scenarios play a critical role throughout the design process. By creating and employing scenarios, designers can better understand users' needs, contexts, and potential interactions with a system. Here's how scenarios are used across various design stages:</a:t>
            </a:r>
          </a:p>
          <a:p>
            <a:r>
              <a:rPr lang="en-GB" dirty="0"/>
              <a:t>Problem identification and user research.</a:t>
            </a:r>
          </a:p>
          <a:p>
            <a:r>
              <a:rPr lang="en-GB" dirty="0">
                <a:ea typeface="+mn-lt"/>
                <a:cs typeface="+mn-lt"/>
              </a:rPr>
              <a:t>Requirements Gathering.</a:t>
            </a:r>
            <a:endParaRPr lang="en-GB" dirty="0"/>
          </a:p>
          <a:p>
            <a:r>
              <a:rPr lang="en-GB" dirty="0">
                <a:ea typeface="+mn-lt"/>
                <a:cs typeface="+mn-lt"/>
              </a:rPr>
              <a:t>Conceptual Design and Prototyping(During the conceptual design phase, scenarios guide the </a:t>
            </a:r>
            <a:r>
              <a:rPr lang="en-GB" b="1" dirty="0">
                <a:ea typeface="+mn-lt"/>
                <a:cs typeface="+mn-lt"/>
              </a:rPr>
              <a:t>creation of wireframes, flowcharts, and prototypes</a:t>
            </a:r>
            <a:r>
              <a:rPr lang="en-GB" dirty="0">
                <a:ea typeface="+mn-lt"/>
                <a:cs typeface="+mn-lt"/>
              </a:rPr>
              <a:t> by outlining the </a:t>
            </a:r>
            <a:r>
              <a:rPr lang="en-GB" b="1" dirty="0">
                <a:ea typeface="+mn-lt"/>
                <a:cs typeface="+mn-lt"/>
              </a:rPr>
              <a:t>user journey)</a:t>
            </a:r>
            <a:endParaRPr lang="en-GB" dirty="0">
              <a:ea typeface="+mn-lt"/>
              <a:cs typeface="+mn-lt"/>
            </a:endParaRPr>
          </a:p>
          <a:p>
            <a:r>
              <a:rPr lang="en-GB" dirty="0">
                <a:ea typeface="+mn-lt"/>
                <a:cs typeface="+mn-lt"/>
              </a:rPr>
              <a:t>Interaction and Interface Design.</a:t>
            </a:r>
          </a:p>
          <a:p>
            <a:r>
              <a:rPr lang="en-GB" dirty="0">
                <a:ea typeface="+mn-lt"/>
                <a:cs typeface="+mn-lt"/>
              </a:rPr>
              <a:t>Usability Testing(Scenarios are crucial for usability testing, as they provide </a:t>
            </a:r>
            <a:r>
              <a:rPr lang="en-GB" b="1" dirty="0">
                <a:ea typeface="+mn-lt"/>
                <a:cs typeface="+mn-lt"/>
              </a:rPr>
              <a:t>test cases</a:t>
            </a:r>
            <a:r>
              <a:rPr lang="en-GB" dirty="0">
                <a:ea typeface="+mn-lt"/>
                <a:cs typeface="+mn-lt"/>
              </a:rPr>
              <a:t> based on real user stories.)</a:t>
            </a:r>
          </a:p>
          <a:p>
            <a:r>
              <a:rPr lang="en-GB" dirty="0"/>
              <a:t>Post launch evaluation.</a:t>
            </a:r>
          </a:p>
          <a:p>
            <a:endParaRPr lang="en-GB" dirty="0"/>
          </a:p>
          <a:p>
            <a:endParaRPr lang="en-GB" dirty="0"/>
          </a:p>
        </p:txBody>
      </p:sp>
    </p:spTree>
    <p:extLst>
      <p:ext uri="{BB962C8B-B14F-4D97-AF65-F5344CB8AC3E}">
        <p14:creationId xmlns:p14="http://schemas.microsoft.com/office/powerpoint/2010/main" val="2336108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7FCB9-B517-6A63-EA4E-BC57DE7902FC}"/>
              </a:ext>
            </a:extLst>
          </p:cNvPr>
          <p:cNvSpPr>
            <a:spLocks noGrp="1"/>
          </p:cNvSpPr>
          <p:nvPr>
            <p:ph type="title"/>
          </p:nvPr>
        </p:nvSpPr>
        <p:spPr/>
        <p:txBody>
          <a:bodyPr/>
          <a:lstStyle/>
          <a:p>
            <a:r>
              <a:rPr lang="en-GB" dirty="0">
                <a:ea typeface="+mj-lt"/>
                <a:cs typeface="+mj-lt"/>
              </a:rPr>
              <a:t>Scenario-based UX design</a:t>
            </a:r>
            <a:endParaRPr lang="en-US" dirty="0"/>
          </a:p>
        </p:txBody>
      </p:sp>
      <p:sp>
        <p:nvSpPr>
          <p:cNvPr id="3" name="Content Placeholder 2">
            <a:extLst>
              <a:ext uri="{FF2B5EF4-FFF2-40B4-BE49-F238E27FC236}">
                <a16:creationId xmlns:a16="http://schemas.microsoft.com/office/drawing/2014/main" id="{D5EBB743-969D-A0C5-A667-9C742F5DF616}"/>
              </a:ext>
            </a:extLst>
          </p:cNvPr>
          <p:cNvSpPr>
            <a:spLocks noGrp="1"/>
          </p:cNvSpPr>
          <p:nvPr>
            <p:ph idx="1"/>
          </p:nvPr>
        </p:nvSpPr>
        <p:spPr/>
        <p:txBody>
          <a:bodyPr>
            <a:normAutofit fontScale="92500" lnSpcReduction="10000"/>
          </a:bodyPr>
          <a:lstStyle/>
          <a:p>
            <a:r>
              <a:rPr lang="en-GB" dirty="0"/>
              <a:t>Scenario-based UX design is an approach where user stories, often written as scenarios, drive the creation of the user experience. It focuses on contextual tasks users will complete using the product, allowing designers to craft experiences that align with users’ real-world needs, </a:t>
            </a:r>
            <a:r>
              <a:rPr lang="en-GB" dirty="0" err="1"/>
              <a:t>behaviors</a:t>
            </a:r>
            <a:r>
              <a:rPr lang="en-GB" dirty="0"/>
              <a:t>, and emotions.</a:t>
            </a:r>
          </a:p>
          <a:p>
            <a:r>
              <a:rPr lang="en-GB" b="1"/>
              <a:t>Key Elements of Scenario-Based UX Design</a:t>
            </a:r>
            <a:endParaRPr lang="en-GB" b="1" dirty="0"/>
          </a:p>
          <a:p>
            <a:r>
              <a:rPr lang="en-GB" b="1" dirty="0"/>
              <a:t>Persona: </a:t>
            </a:r>
            <a:r>
              <a:rPr lang="en-GB" dirty="0"/>
              <a:t> Represents a fictional user with specific goals, </a:t>
            </a:r>
            <a:r>
              <a:rPr lang="en-GB" err="1"/>
              <a:t>behaviors</a:t>
            </a:r>
            <a:r>
              <a:rPr lang="en-GB" dirty="0"/>
              <a:t>, and needs.</a:t>
            </a:r>
          </a:p>
          <a:p>
            <a:r>
              <a:rPr lang="en-GB" b="1" dirty="0"/>
              <a:t>Scenario:</a:t>
            </a:r>
            <a:r>
              <a:rPr lang="en-GB" dirty="0"/>
              <a:t> Describes a day or moment in the life of that persona and highlights the specific tasks they aim to accomplish using the product.</a:t>
            </a:r>
          </a:p>
          <a:p>
            <a:r>
              <a:rPr lang="en-GB" b="1" dirty="0"/>
              <a:t>Task Analysis:</a:t>
            </a:r>
            <a:r>
              <a:rPr lang="en-GB" dirty="0"/>
              <a:t> Breaks down what the persona is trying to do into tasks the system should support.</a:t>
            </a:r>
          </a:p>
          <a:p>
            <a:r>
              <a:rPr lang="en-GB" b="1" dirty="0"/>
              <a:t>Context of Use</a:t>
            </a:r>
            <a:r>
              <a:rPr lang="en-GB" dirty="0"/>
              <a:t>: Considers when, where, and how the product will be used, focusing on real-world situations.</a:t>
            </a:r>
          </a:p>
          <a:p>
            <a:r>
              <a:rPr lang="en-GB" b="1" dirty="0"/>
              <a:t>User Goals:</a:t>
            </a:r>
            <a:r>
              <a:rPr lang="en-GB" dirty="0"/>
              <a:t> Outlines what the user wants to achieve and how the design will meet these objectives.</a:t>
            </a:r>
          </a:p>
          <a:p>
            <a:endParaRPr lang="en-GB" dirty="0"/>
          </a:p>
        </p:txBody>
      </p:sp>
    </p:spTree>
    <p:extLst>
      <p:ext uri="{BB962C8B-B14F-4D97-AF65-F5344CB8AC3E}">
        <p14:creationId xmlns:p14="http://schemas.microsoft.com/office/powerpoint/2010/main" val="1861065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42C54-852C-6269-575D-5CC31E4E040B}"/>
              </a:ext>
            </a:extLst>
          </p:cNvPr>
          <p:cNvSpPr>
            <a:spLocks noGrp="1"/>
          </p:cNvSpPr>
          <p:nvPr>
            <p:ph type="title"/>
          </p:nvPr>
        </p:nvSpPr>
        <p:spPr/>
        <p:txBody>
          <a:bodyPr/>
          <a:lstStyle/>
          <a:p>
            <a:r>
              <a:rPr lang="en-GB" dirty="0"/>
              <a:t>Benefits </a:t>
            </a:r>
          </a:p>
        </p:txBody>
      </p:sp>
      <p:sp>
        <p:nvSpPr>
          <p:cNvPr id="3" name="Content Placeholder 2">
            <a:extLst>
              <a:ext uri="{FF2B5EF4-FFF2-40B4-BE49-F238E27FC236}">
                <a16:creationId xmlns:a16="http://schemas.microsoft.com/office/drawing/2014/main" id="{85A8DAD3-37FF-AE20-DFF3-9894807814D7}"/>
              </a:ext>
            </a:extLst>
          </p:cNvPr>
          <p:cNvSpPr>
            <a:spLocks noGrp="1"/>
          </p:cNvSpPr>
          <p:nvPr>
            <p:ph idx="1"/>
          </p:nvPr>
        </p:nvSpPr>
        <p:spPr/>
        <p:txBody>
          <a:bodyPr/>
          <a:lstStyle/>
          <a:p>
            <a:r>
              <a:rPr lang="en-GB" dirty="0"/>
              <a:t>User-</a:t>
            </a:r>
            <a:r>
              <a:rPr lang="en-GB" dirty="0" err="1"/>
              <a:t>Centered</a:t>
            </a:r>
            <a:r>
              <a:rPr lang="en-GB" dirty="0"/>
              <a:t> Design: Scenarios ensure that the design is focused on real user needs, making the experience relevant and valuable.</a:t>
            </a:r>
          </a:p>
          <a:p>
            <a:r>
              <a:rPr lang="en-GB"/>
              <a:t>Task-Focused Solutions: By breaking down the user journey into tasks, designers can identify friction points and design specific solutions to remove them.</a:t>
            </a:r>
          </a:p>
          <a:p>
            <a:r>
              <a:rPr lang="en-GB" dirty="0"/>
              <a:t>Context Awareness: Scenarios help designers account for the different environments, devices, and emotional states users may be in when interacting with the app.</a:t>
            </a:r>
          </a:p>
          <a:p>
            <a:r>
              <a:rPr lang="en-GB" dirty="0"/>
              <a:t>Empathy: Designing based on scenarios helps create empathy for users by understanding their daily challenges, goals, and motivations.</a:t>
            </a:r>
          </a:p>
          <a:p>
            <a:r>
              <a:rPr lang="en-GB" dirty="0"/>
              <a:t>By using scenario-based UX design, the health app can become a more intuitive, personalized, and enjoyable tool for Sarah to manage her health and well-being effectively.</a:t>
            </a:r>
          </a:p>
          <a:p>
            <a:endParaRPr lang="en-GB" dirty="0"/>
          </a:p>
        </p:txBody>
      </p:sp>
    </p:spTree>
    <p:extLst>
      <p:ext uri="{BB962C8B-B14F-4D97-AF65-F5344CB8AC3E}">
        <p14:creationId xmlns:p14="http://schemas.microsoft.com/office/powerpoint/2010/main" val="2046469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D456D-EDA1-0FD1-4DE5-025C96CFDF42}"/>
              </a:ext>
            </a:extLst>
          </p:cNvPr>
          <p:cNvSpPr>
            <a:spLocks noGrp="1"/>
          </p:cNvSpPr>
          <p:nvPr>
            <p:ph type="title"/>
          </p:nvPr>
        </p:nvSpPr>
        <p:spPr/>
        <p:txBody>
          <a:bodyPr/>
          <a:lstStyle/>
          <a:p>
            <a:endParaRPr lang="en-GB"/>
          </a:p>
        </p:txBody>
      </p:sp>
      <p:pic>
        <p:nvPicPr>
          <p:cNvPr id="4" name="Content Placeholder 3" descr="A diagram of a design process&#10;&#10;Description automatically generated">
            <a:extLst>
              <a:ext uri="{FF2B5EF4-FFF2-40B4-BE49-F238E27FC236}">
                <a16:creationId xmlns:a16="http://schemas.microsoft.com/office/drawing/2014/main" id="{1241AC05-7194-8396-8838-075258D77A45}"/>
              </a:ext>
            </a:extLst>
          </p:cNvPr>
          <p:cNvPicPr>
            <a:picLocks noGrp="1" noChangeAspect="1"/>
          </p:cNvPicPr>
          <p:nvPr>
            <p:ph idx="1"/>
          </p:nvPr>
        </p:nvPicPr>
        <p:blipFill>
          <a:blip r:embed="rId2"/>
          <a:stretch>
            <a:fillRect/>
          </a:stretch>
        </p:blipFill>
        <p:spPr>
          <a:xfrm>
            <a:off x="4285542" y="864108"/>
            <a:ext cx="6482652" cy="5120640"/>
          </a:xfrm>
        </p:spPr>
      </p:pic>
    </p:spTree>
    <p:extLst>
      <p:ext uri="{BB962C8B-B14F-4D97-AF65-F5344CB8AC3E}">
        <p14:creationId xmlns:p14="http://schemas.microsoft.com/office/powerpoint/2010/main" val="3016482715"/>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Frame</vt:lpstr>
      <vt:lpstr>Scenarios in HCI</vt:lpstr>
      <vt:lpstr>Introduction </vt:lpstr>
      <vt:lpstr>DEVELOPING SCENARIOS</vt:lpstr>
      <vt:lpstr>What does a user scenario look like? </vt:lpstr>
      <vt:lpstr>PowerPoint Presentation</vt:lpstr>
      <vt:lpstr>Creating scenarios</vt:lpstr>
      <vt:lpstr>...</vt:lpstr>
      <vt:lpstr>User scenario examples  </vt:lpstr>
      <vt:lpstr>PowerPoint Presentation</vt:lpstr>
      <vt:lpstr>PowerPoint Presentation</vt:lpstr>
      <vt:lpstr>using scenarios throughout design</vt:lpstr>
      <vt:lpstr>Scenario-based UX design</vt:lpstr>
      <vt:lpstr>Benefits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124</cp:revision>
  <dcterms:created xsi:type="dcterms:W3CDTF">2024-10-11T05:38:01Z</dcterms:created>
  <dcterms:modified xsi:type="dcterms:W3CDTF">2024-10-11T08:02:36Z</dcterms:modified>
</cp:coreProperties>
</file>