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4" r:id="rId3"/>
    <p:sldId id="276" r:id="rId4"/>
    <p:sldId id="277" r:id="rId5"/>
    <p:sldId id="278" r:id="rId6"/>
    <p:sldId id="285" r:id="rId7"/>
    <p:sldId id="286" r:id="rId8"/>
    <p:sldId id="287" r:id="rId9"/>
    <p:sldId id="288" r:id="rId10"/>
    <p:sldId id="283" r:id="rId11"/>
    <p:sldId id="289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58" r:id="rId21"/>
    <p:sldId id="299" r:id="rId22"/>
    <p:sldId id="264" r:id="rId23"/>
    <p:sldId id="265" r:id="rId24"/>
    <p:sldId id="267" r:id="rId25"/>
    <p:sldId id="268" r:id="rId26"/>
    <p:sldId id="269" r:id="rId27"/>
    <p:sldId id="270" r:id="rId28"/>
    <p:sldId id="271" r:id="rId29"/>
    <p:sldId id="272" r:id="rId30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48119"/>
            <a:ext cx="837454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11699" y="1152475"/>
            <a:ext cx="4000500" cy="341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32399" y="1152475"/>
            <a:ext cx="4000500" cy="341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66244" y="1919178"/>
            <a:ext cx="5011511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179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433755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0" y="992699"/>
            <a:ext cx="4114800" cy="197490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lang="en-US" sz="3200" b="1" spc="-100" dirty="0"/>
              <a:t/>
            </a:r>
            <a:br>
              <a:rPr lang="en-US" sz="3200" b="1" spc="-100" dirty="0"/>
            </a:br>
            <a:r>
              <a:rPr sz="3200" b="1" spc="-100" dirty="0" smtClean="0">
                <a:latin typeface="Tahoma"/>
                <a:cs typeface="Tahoma"/>
              </a:rPr>
              <a:t>  </a:t>
            </a:r>
            <a:r>
              <a:rPr sz="3200" b="1" spc="-125" dirty="0" smtClean="0">
                <a:latin typeface="Tahoma"/>
                <a:cs typeface="Tahoma"/>
              </a:rPr>
              <a:t>We</a:t>
            </a:r>
            <a:r>
              <a:rPr sz="3200" b="1" spc="-95" dirty="0" smtClean="0">
                <a:latin typeface="Tahoma"/>
                <a:cs typeface="Tahoma"/>
              </a:rPr>
              <a:t>b</a:t>
            </a:r>
            <a:r>
              <a:rPr lang="en-US" sz="3200" b="1" spc="-95" dirty="0" smtClean="0">
                <a:latin typeface="Tahoma"/>
                <a:cs typeface="Tahoma"/>
              </a:rPr>
              <a:t> engineering</a:t>
            </a:r>
            <a:br>
              <a:rPr lang="en-US" sz="3200" b="1" spc="-95" dirty="0" smtClean="0">
                <a:latin typeface="Tahoma"/>
                <a:cs typeface="Tahoma"/>
              </a:rPr>
            </a:br>
            <a:r>
              <a:rPr lang="en-US" sz="3200" b="1" spc="-95" dirty="0"/>
              <a:t> </a:t>
            </a:r>
            <a:r>
              <a:rPr lang="en-US" sz="3200" b="1" spc="-95" dirty="0" smtClean="0"/>
              <a:t> </a:t>
            </a:r>
            <a:br>
              <a:rPr lang="en-US" sz="3200" b="1" spc="-95" dirty="0" smtClean="0"/>
            </a:br>
            <a:r>
              <a:rPr lang="en-US" sz="3200" b="1" spc="-95" dirty="0"/>
              <a:t>	</a:t>
            </a:r>
            <a:r>
              <a:rPr lang="en-US" sz="3200" b="1" spc="-95" dirty="0" smtClean="0"/>
              <a:t>Lecture 01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433755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0" y="992699"/>
            <a:ext cx="4114800" cy="1710725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4750" dirty="0" smtClean="0">
              <a:latin typeface="Times New Roman"/>
              <a:cs typeface="Times New Roman"/>
            </a:endParaRPr>
          </a:p>
          <a:p>
            <a:pPr marL="193675" marR="185420" indent="2540" algn="just">
              <a:lnSpc>
                <a:spcPts val="3829"/>
              </a:lnSpc>
            </a:pPr>
            <a:r>
              <a:rPr sz="3200" b="1" spc="-190" dirty="0" smtClean="0">
                <a:latin typeface="Tahoma"/>
                <a:cs typeface="Tahoma"/>
              </a:rPr>
              <a:t>Introduction</a:t>
            </a:r>
            <a:r>
              <a:rPr lang="en-US" sz="3200" b="1" spc="-320" dirty="0" smtClean="0"/>
              <a:t> </a:t>
            </a:r>
            <a:r>
              <a:rPr lang="en-US" sz="3200" b="1" spc="-100" dirty="0"/>
              <a:t/>
            </a:r>
            <a:br>
              <a:rPr lang="en-US" sz="3200" b="1" spc="-100" dirty="0"/>
            </a:br>
            <a:r>
              <a:rPr sz="3200" b="1" spc="-100" dirty="0" smtClean="0">
                <a:latin typeface="Tahoma"/>
                <a:cs typeface="Tahoma"/>
              </a:rPr>
              <a:t>  </a:t>
            </a:r>
            <a:endParaRPr sz="32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62218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244" y="1919178"/>
            <a:ext cx="5011511" cy="1477328"/>
          </a:xfrm>
        </p:spPr>
        <p:txBody>
          <a:bodyPr/>
          <a:lstStyle/>
          <a:p>
            <a:r>
              <a:rPr lang="en-US" b="1" dirty="0"/>
              <a:t>Web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725" y="819150"/>
            <a:ext cx="8374549" cy="2215991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 Web engineering is the study of the process, used to create high quality Web-based applications.  </a:t>
            </a:r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Web </a:t>
            </a:r>
            <a:r>
              <a:rPr lang="en-US" dirty="0"/>
              <a:t>engineering draws heavily on the principles and management activities found in software engineering processes. 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 smtClean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Web </a:t>
            </a:r>
            <a:r>
              <a:rPr lang="en-US" dirty="0"/>
              <a:t>engineering extends Software Engineering to Web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2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Web engineering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725" y="1176350"/>
            <a:ext cx="8374549" cy="1661993"/>
          </a:xfrm>
        </p:spPr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eb </a:t>
            </a:r>
            <a:r>
              <a:rPr lang="en-US" dirty="0"/>
              <a:t>engineering is defined  as</a:t>
            </a:r>
          </a:p>
          <a:p>
            <a:pPr marL="800100" lvl="2" indent="0" algn="just">
              <a:buNone/>
            </a:pPr>
            <a:endParaRPr lang="en-US" dirty="0"/>
          </a:p>
          <a:p>
            <a:pPr marL="800100" lvl="2" indent="0" algn="just">
              <a:buNone/>
            </a:pPr>
            <a:r>
              <a:rPr lang="en-US" dirty="0" smtClean="0"/>
              <a:t>“The </a:t>
            </a:r>
            <a:r>
              <a:rPr lang="en-US" dirty="0"/>
              <a:t>application of systematic and quantifiable approaches to cost-effective analysis, design, implementation, testing, operation, and maintenance of high-quality web applications”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98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8761DF-B648-4E73-A4F0-BA1B9FCE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738664"/>
          </a:xfrm>
        </p:spPr>
        <p:txBody>
          <a:bodyPr/>
          <a:lstStyle/>
          <a:p>
            <a:r>
              <a:rPr lang="en-GB" dirty="0"/>
              <a:t>Why web engineering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170B6B82-F74B-43AA-8D25-E6AFE38DE9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36" y="1143000"/>
            <a:ext cx="8401929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77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5751"/>
            <a:ext cx="7162800" cy="492443"/>
          </a:xfrm>
        </p:spPr>
        <p:txBody>
          <a:bodyPr/>
          <a:lstStyle/>
          <a:p>
            <a:r>
              <a:rPr lang="en-US" sz="3200" b="1" dirty="0" smtClean="0">
                <a:solidFill>
                  <a:schemeClr val="tx1"/>
                </a:solidFill>
                <a:latin typeface="+mj-lt"/>
              </a:rPr>
              <a:t>Evolution of world wide web</a:t>
            </a:r>
            <a:endParaRPr lang="en-US" sz="3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971550"/>
            <a:ext cx="8374549" cy="1384995"/>
          </a:xfrm>
        </p:spPr>
        <p:txBody>
          <a:bodyPr/>
          <a:lstStyle/>
          <a:p>
            <a:r>
              <a:rPr lang="en-US" dirty="0"/>
              <a:t>Globally, billions of people rely on the World Wide Web as their major medium for online communication and information exchange. Since its </a:t>
            </a:r>
            <a:r>
              <a:rPr lang="en-US" dirty="0" smtClean="0"/>
              <a:t>beginning</a:t>
            </a:r>
          </a:p>
          <a:p>
            <a:endParaRPr lang="en-US" dirty="0"/>
          </a:p>
          <a:p>
            <a:r>
              <a:rPr lang="en-US" dirty="0" smtClean="0"/>
              <a:t>World </a:t>
            </a:r>
            <a:r>
              <a:rPr lang="en-US" dirty="0"/>
              <a:t>Wide Web has seen significant development from </a:t>
            </a:r>
            <a:r>
              <a:rPr lang="en-US" b="1" dirty="0"/>
              <a:t>Web 1.0</a:t>
            </a:r>
            <a:r>
              <a:rPr lang="en-US" dirty="0"/>
              <a:t> to </a:t>
            </a:r>
            <a:r>
              <a:rPr lang="en-US" b="1" dirty="0"/>
              <a:t>Web 2.0</a:t>
            </a:r>
            <a:r>
              <a:rPr lang="en-US" dirty="0"/>
              <a:t>, leading to </a:t>
            </a:r>
            <a:r>
              <a:rPr lang="en-US" b="1" dirty="0"/>
              <a:t>Web 3.0</a:t>
            </a:r>
            <a:r>
              <a:rPr lang="en-US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9"/>
          <a:stretch/>
        </p:blipFill>
        <p:spPr bwMode="auto">
          <a:xfrm>
            <a:off x="381000" y="2343150"/>
            <a:ext cx="8153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8851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5751"/>
            <a:ext cx="7162800" cy="492443"/>
          </a:xfrm>
        </p:spPr>
        <p:txBody>
          <a:bodyPr/>
          <a:lstStyle/>
          <a:p>
            <a:r>
              <a:rPr lang="en-US" sz="3200" b="1" dirty="0" smtClean="0">
                <a:solidFill>
                  <a:schemeClr val="tx1"/>
                </a:solidFill>
                <a:latin typeface="+mj-lt"/>
              </a:rPr>
              <a:t>Web 1.0</a:t>
            </a:r>
            <a:endParaRPr lang="en-US" sz="3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971550"/>
            <a:ext cx="3501475" cy="2769989"/>
          </a:xfrm>
        </p:spPr>
        <p:txBody>
          <a:bodyPr/>
          <a:lstStyle/>
          <a:p>
            <a:pPr marL="285750" indent="-285750" algn="just">
              <a:buFont typeface="Wingdings" pitchFamily="2" charset="2"/>
              <a:buChar char="§"/>
            </a:pPr>
            <a:r>
              <a:rPr lang="en-US" dirty="0"/>
              <a:t>it was created to facilitate easier information discovery. </a:t>
            </a:r>
            <a:endParaRPr lang="en-US" dirty="0" smtClean="0"/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version of the web is commonly referred to as “the read-only Web” since it does not have the requisite forms, images, controls, and interaction seen on the modern Internet.    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38150"/>
            <a:ext cx="4724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58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5751"/>
            <a:ext cx="7162800" cy="492443"/>
          </a:xfrm>
        </p:spPr>
        <p:txBody>
          <a:bodyPr/>
          <a:lstStyle/>
          <a:p>
            <a:r>
              <a:rPr lang="en-US" sz="3200" b="1" dirty="0" smtClean="0">
                <a:solidFill>
                  <a:schemeClr val="tx1"/>
                </a:solidFill>
                <a:latin typeface="+mj-lt"/>
              </a:rPr>
              <a:t>Web 2.0</a:t>
            </a:r>
            <a:endParaRPr lang="en-US" sz="3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971550"/>
            <a:ext cx="3653875" cy="3323987"/>
          </a:xfrm>
        </p:spPr>
        <p:txBody>
          <a:bodyPr/>
          <a:lstStyle/>
          <a:p>
            <a:pPr marL="285750" indent="-285750" algn="just">
              <a:buFont typeface="Wingdings" pitchFamily="2" charset="2"/>
              <a:buChar char="§"/>
            </a:pPr>
            <a:r>
              <a:rPr lang="en-US" dirty="0" smtClean="0"/>
              <a:t>In Web </a:t>
            </a:r>
            <a:r>
              <a:rPr lang="en-US" dirty="0"/>
              <a:t>2.0 is a lot of people doing a lot of material for a lot of </a:t>
            </a:r>
            <a:r>
              <a:rPr lang="en-US" dirty="0" smtClean="0"/>
              <a:t>people</a:t>
            </a:r>
            <a:r>
              <a:rPr lang="en-US" dirty="0"/>
              <a:t> </a:t>
            </a:r>
            <a:r>
              <a:rPr lang="en-US" dirty="0" smtClean="0"/>
              <a:t>in comparison with Web 1.0 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 smtClean="0"/>
              <a:t>Web </a:t>
            </a:r>
            <a:r>
              <a:rPr lang="en-US" dirty="0"/>
              <a:t>2.0 encouraged user </a:t>
            </a:r>
            <a:r>
              <a:rPr lang="en-US" dirty="0" smtClean="0"/>
              <a:t>interaction 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 smtClean="0"/>
              <a:t>The </a:t>
            </a:r>
            <a:r>
              <a:rPr lang="en-US" dirty="0"/>
              <a:t>version of Web 2.0 is an improved and expanded version of the World Wide Web that makes use of modern browser features like JavaScript frameworks.    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742950"/>
            <a:ext cx="462915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806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5751"/>
            <a:ext cx="7162800" cy="304799"/>
          </a:xfrm>
        </p:spPr>
        <p:txBody>
          <a:bodyPr/>
          <a:lstStyle/>
          <a:p>
            <a:r>
              <a:rPr lang="en-US" sz="3200" b="1" dirty="0" smtClean="0">
                <a:solidFill>
                  <a:schemeClr val="tx1"/>
                </a:solidFill>
                <a:latin typeface="+mj-lt"/>
              </a:rPr>
              <a:t>Web 3.0</a:t>
            </a:r>
            <a:endParaRPr lang="en-US" sz="3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819150"/>
            <a:ext cx="3806275" cy="3600986"/>
          </a:xfrm>
        </p:spPr>
        <p:txBody>
          <a:bodyPr/>
          <a:lstStyle/>
          <a:p>
            <a:pPr marL="285750" indent="-285750" algn="just">
              <a:buFont typeface="Wingdings" pitchFamily="2" charset="2"/>
              <a:buChar char="§"/>
            </a:pPr>
            <a:r>
              <a:rPr lang="en-US" dirty="0"/>
              <a:t>Web 3.0 (also known as Web 3) is based on the principles of decentralization, openness, and improved user usefulness. </a:t>
            </a:r>
            <a:endParaRPr lang="en-US" dirty="0" smtClean="0"/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 smtClean="0"/>
              <a:t>Web </a:t>
            </a:r>
            <a:r>
              <a:rPr lang="en-US" dirty="0"/>
              <a:t>3.0 is the “read, write, execute Web,” whereas Web 1.0 is the “read-only Web” and Web 2.0 is the “participative social Web   </a:t>
            </a:r>
            <a:endParaRPr lang="en-US" dirty="0" smtClean="0"/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/>
              <a:t> Web 3.0 as the Semantic Web and envisioned an intelligent, autonomous, and open Internet that employed AI and </a:t>
            </a:r>
            <a:r>
              <a:rPr lang="en-US" dirty="0" smtClean="0"/>
              <a:t>ML.</a:t>
            </a:r>
            <a:r>
              <a:rPr lang="en-US" dirty="0"/>
              <a:t>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895350"/>
            <a:ext cx="4643438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7321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t="12296" b="10666"/>
          <a:stretch/>
        </p:blipFill>
        <p:spPr bwMode="auto">
          <a:xfrm>
            <a:off x="152400" y="209550"/>
            <a:ext cx="883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532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244" y="1919178"/>
            <a:ext cx="5011511" cy="1477328"/>
          </a:xfrm>
        </p:spPr>
        <p:txBody>
          <a:bodyPr/>
          <a:lstStyle/>
          <a:p>
            <a:r>
              <a:rPr lang="en-US" dirty="0"/>
              <a:t>Web applications (Web Apps)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800" dirty="0"/>
              <a:t>A web application is a software system based  on technologies and standards of World wide web consortium(W3C) that provides web specific resources such as content and services through a user interface, the web browser.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2000" y="285751"/>
            <a:ext cx="7162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r>
              <a:rPr lang="en-US" sz="3200" b="1" dirty="0" smtClean="0">
                <a:solidFill>
                  <a:schemeClr val="tx1"/>
                </a:solidFill>
                <a:latin typeface="+mj-lt"/>
              </a:rPr>
              <a:t>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25707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World wide consortium(W3C)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085850"/>
            <a:ext cx="80772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533400" y="285750"/>
            <a:ext cx="609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World wide consortium(W3C)</a:t>
            </a:r>
            <a:br>
              <a:rPr lang="en-US" sz="2400" b="1" dirty="0" smtClean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34132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79822"/>
          </a:xfrm>
        </p:spPr>
        <p:txBody>
          <a:bodyPr>
            <a:normAutofit fontScale="90000"/>
          </a:bodyPr>
          <a:lstStyle/>
          <a:p>
            <a:r>
              <a:rPr lang="en-US" dirty="0"/>
              <a:t>W3C long  term benefits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9" y="819150"/>
            <a:ext cx="8560479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533400" y="285750"/>
            <a:ext cx="609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World wide consortium(W3C)</a:t>
            </a:r>
            <a:br>
              <a:rPr lang="en-US" sz="2400" b="1" dirty="0" smtClean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6224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0050"/>
            <a:ext cx="830580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45054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85750"/>
            <a:ext cx="891540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07527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1450"/>
            <a:ext cx="8763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8809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1450"/>
            <a:ext cx="86868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 b="17647"/>
          <a:stretch>
            <a:fillRect/>
          </a:stretch>
        </p:blipFill>
        <p:spPr bwMode="auto">
          <a:xfrm>
            <a:off x="0" y="3028950"/>
            <a:ext cx="89154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590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0"/>
            <a:ext cx="8686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61382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14300"/>
            <a:ext cx="85344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17463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5391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45" dirty="0">
                <a:solidFill>
                  <a:srgbClr val="F45E61"/>
                </a:solidFill>
                <a:latin typeface="Times New Roman"/>
                <a:cs typeface="Times New Roman"/>
              </a:rPr>
              <a:t>What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75" dirty="0">
                <a:solidFill>
                  <a:srgbClr val="F45E61"/>
                </a:solidFill>
                <a:latin typeface="Times New Roman"/>
                <a:cs typeface="Times New Roman"/>
              </a:rPr>
              <a:t>is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35" dirty="0">
                <a:solidFill>
                  <a:srgbClr val="F45E61"/>
                </a:solidFill>
                <a:latin typeface="Times New Roman"/>
                <a:cs typeface="Times New Roman"/>
              </a:rPr>
              <a:t>the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80" dirty="0">
                <a:solidFill>
                  <a:srgbClr val="F45E61"/>
                </a:solidFill>
                <a:latin typeface="Times New Roman"/>
                <a:cs typeface="Times New Roman"/>
              </a:rPr>
              <a:t>World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85" dirty="0">
                <a:solidFill>
                  <a:srgbClr val="F45E61"/>
                </a:solidFill>
                <a:latin typeface="Times New Roman"/>
                <a:cs typeface="Times New Roman"/>
              </a:rPr>
              <a:t>Wide</a:t>
            </a:r>
            <a:r>
              <a:rPr sz="3200" b="1" spc="-6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60" dirty="0">
                <a:solidFill>
                  <a:srgbClr val="F45E61"/>
                </a:solidFill>
                <a:latin typeface="Times New Roman"/>
                <a:cs typeface="Times New Roman"/>
              </a:rPr>
              <a:t>Web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625" y="1152475"/>
            <a:ext cx="6100748" cy="36604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page request on web browser and web server  </a:t>
            </a:r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28700"/>
            <a:ext cx="83058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9585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563" y="448119"/>
            <a:ext cx="21729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45" dirty="0">
                <a:solidFill>
                  <a:srgbClr val="F45E61"/>
                </a:solidFill>
                <a:latin typeface="Times New Roman"/>
                <a:cs typeface="Times New Roman"/>
              </a:rPr>
              <a:t>Client-Side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56546" y="448119"/>
            <a:ext cx="22675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50" dirty="0">
                <a:solidFill>
                  <a:srgbClr val="F45E61"/>
                </a:solidFill>
                <a:latin typeface="Times New Roman"/>
                <a:cs typeface="Times New Roman"/>
              </a:rPr>
              <a:t>Server-Side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699" y="1152475"/>
            <a:ext cx="4000500" cy="3416935"/>
          </a:xfrm>
          <a:prstGeom prst="rect">
            <a:avLst/>
          </a:prstGeom>
          <a:ln w="9524">
            <a:solidFill>
              <a:srgbClr val="666666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85725" marR="219075">
              <a:lnSpc>
                <a:spcPct val="115700"/>
              </a:lnSpc>
              <a:spcBef>
                <a:spcPts val="55"/>
              </a:spcBef>
            </a:pPr>
            <a:r>
              <a:rPr sz="2700" spc="25" dirty="0">
                <a:solidFill>
                  <a:srgbClr val="53555C"/>
                </a:solidFill>
                <a:latin typeface="Tahoma"/>
                <a:cs typeface="Tahoma"/>
              </a:rPr>
              <a:t>Stuff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15" dirty="0">
                <a:solidFill>
                  <a:srgbClr val="53555C"/>
                </a:solidFill>
                <a:latin typeface="Tahoma"/>
                <a:cs typeface="Tahoma"/>
              </a:rPr>
              <a:t>happening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15" dirty="0">
                <a:solidFill>
                  <a:srgbClr val="53555C"/>
                </a:solidFill>
                <a:latin typeface="Tahoma"/>
                <a:cs typeface="Tahoma"/>
              </a:rPr>
              <a:t>on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40" dirty="0">
                <a:solidFill>
                  <a:srgbClr val="53555C"/>
                </a:solidFill>
                <a:latin typeface="Tahoma"/>
                <a:cs typeface="Tahoma"/>
              </a:rPr>
              <a:t>your  </a:t>
            </a:r>
            <a:r>
              <a:rPr sz="2700" spc="25" dirty="0">
                <a:solidFill>
                  <a:srgbClr val="53555C"/>
                </a:solidFill>
                <a:latin typeface="Tahoma"/>
                <a:cs typeface="Tahoma"/>
              </a:rPr>
              <a:t>computer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20" dirty="0">
                <a:solidFill>
                  <a:srgbClr val="53555C"/>
                </a:solidFill>
                <a:latin typeface="Tahoma"/>
                <a:cs typeface="Tahoma"/>
              </a:rPr>
              <a:t>independently  </a:t>
            </a:r>
            <a:r>
              <a:rPr sz="2700" spc="40" dirty="0">
                <a:solidFill>
                  <a:srgbClr val="53555C"/>
                </a:solidFill>
                <a:latin typeface="Tahoma"/>
                <a:cs typeface="Tahoma"/>
              </a:rPr>
              <a:t>of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30" dirty="0">
                <a:solidFill>
                  <a:srgbClr val="53555C"/>
                </a:solidFill>
                <a:latin typeface="Tahoma"/>
                <a:cs typeface="Tahoma"/>
              </a:rPr>
              <a:t>the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35" dirty="0">
                <a:solidFill>
                  <a:srgbClr val="53555C"/>
                </a:solidFill>
                <a:latin typeface="Tahoma"/>
                <a:cs typeface="Tahoma"/>
              </a:rPr>
              <a:t>server</a:t>
            </a:r>
            <a:endParaRPr sz="2700">
              <a:latin typeface="Tahoma"/>
              <a:cs typeface="Tahoma"/>
            </a:endParaRPr>
          </a:p>
          <a:p>
            <a:pPr marL="85725" marR="572135">
              <a:lnSpc>
                <a:spcPts val="5330"/>
              </a:lnSpc>
              <a:spcBef>
                <a:spcPts val="525"/>
              </a:spcBef>
            </a:pPr>
            <a:r>
              <a:rPr sz="2700" spc="45" dirty="0">
                <a:solidFill>
                  <a:srgbClr val="53555C"/>
                </a:solidFill>
                <a:latin typeface="Tahoma"/>
                <a:cs typeface="Tahoma"/>
              </a:rPr>
              <a:t>Browser,HTML,CSS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50" dirty="0">
                <a:solidFill>
                  <a:srgbClr val="53555C"/>
                </a:solidFill>
                <a:latin typeface="Tahoma"/>
                <a:cs typeface="Tahoma"/>
              </a:rPr>
              <a:t>....  </a:t>
            </a:r>
            <a:r>
              <a:rPr sz="2700" spc="70" dirty="0">
                <a:solidFill>
                  <a:srgbClr val="53555C"/>
                </a:solidFill>
                <a:latin typeface="Tahoma"/>
                <a:cs typeface="Tahoma"/>
              </a:rPr>
              <a:t>Also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20" dirty="0">
                <a:solidFill>
                  <a:srgbClr val="53555C"/>
                </a:solidFill>
                <a:latin typeface="Tahoma"/>
                <a:cs typeface="Tahoma"/>
              </a:rPr>
              <a:t>called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25" dirty="0">
                <a:solidFill>
                  <a:srgbClr val="53555C"/>
                </a:solidFill>
                <a:latin typeface="Tahoma"/>
                <a:cs typeface="Tahoma"/>
              </a:rPr>
              <a:t>front-end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2399" y="1152475"/>
            <a:ext cx="4000500" cy="3416935"/>
          </a:xfrm>
          <a:prstGeom prst="rect">
            <a:avLst/>
          </a:prstGeom>
          <a:ln w="9524">
            <a:solidFill>
              <a:srgbClr val="666666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85725" marR="416559">
              <a:lnSpc>
                <a:spcPct val="115700"/>
              </a:lnSpc>
              <a:spcBef>
                <a:spcPts val="55"/>
              </a:spcBef>
            </a:pPr>
            <a:r>
              <a:rPr sz="2700" spc="10" dirty="0">
                <a:solidFill>
                  <a:srgbClr val="53555C"/>
                </a:solidFill>
                <a:latin typeface="Tahoma"/>
                <a:cs typeface="Tahoma"/>
              </a:rPr>
              <a:t>Requests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10" dirty="0">
                <a:solidFill>
                  <a:srgbClr val="53555C"/>
                </a:solidFill>
                <a:latin typeface="Tahoma"/>
                <a:cs typeface="Tahoma"/>
              </a:rPr>
              <a:t>being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40" dirty="0">
                <a:solidFill>
                  <a:srgbClr val="53555C"/>
                </a:solidFill>
                <a:latin typeface="Tahoma"/>
                <a:cs typeface="Tahoma"/>
              </a:rPr>
              <a:t>fulfilled  </a:t>
            </a:r>
            <a:r>
              <a:rPr sz="2700" spc="25" dirty="0">
                <a:solidFill>
                  <a:srgbClr val="53555C"/>
                </a:solidFill>
                <a:latin typeface="Tahoma"/>
                <a:cs typeface="Tahoma"/>
              </a:rPr>
              <a:t>by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50" dirty="0">
                <a:solidFill>
                  <a:srgbClr val="53555C"/>
                </a:solidFill>
                <a:latin typeface="Tahoma"/>
                <a:cs typeface="Tahoma"/>
              </a:rPr>
              <a:t>a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35" dirty="0">
                <a:solidFill>
                  <a:srgbClr val="53555C"/>
                </a:solidFill>
                <a:latin typeface="Tahoma"/>
                <a:cs typeface="Tahoma"/>
              </a:rPr>
              <a:t>server</a:t>
            </a:r>
            <a:endParaRPr sz="2700">
              <a:latin typeface="Tahoma"/>
              <a:cs typeface="Tahoma"/>
            </a:endParaRPr>
          </a:p>
          <a:p>
            <a:pPr marL="85725">
              <a:lnSpc>
                <a:spcPct val="100000"/>
              </a:lnSpc>
              <a:spcBef>
                <a:spcPts val="2085"/>
              </a:spcBef>
            </a:pPr>
            <a:r>
              <a:rPr sz="2700" spc="55" dirty="0">
                <a:solidFill>
                  <a:srgbClr val="53555C"/>
                </a:solidFill>
                <a:latin typeface="Tahoma"/>
                <a:cs typeface="Tahoma"/>
              </a:rPr>
              <a:t>DNS,API,CMS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45" dirty="0">
                <a:solidFill>
                  <a:srgbClr val="53555C"/>
                </a:solidFill>
                <a:latin typeface="Tahoma"/>
                <a:cs typeface="Tahoma"/>
              </a:rPr>
              <a:t>...</a:t>
            </a:r>
            <a:endParaRPr sz="2700">
              <a:latin typeface="Tahoma"/>
              <a:cs typeface="Tahoma"/>
            </a:endParaRPr>
          </a:p>
          <a:p>
            <a:pPr marL="85725">
              <a:lnSpc>
                <a:spcPct val="100000"/>
              </a:lnSpc>
              <a:spcBef>
                <a:spcPts val="2085"/>
              </a:spcBef>
            </a:pPr>
            <a:r>
              <a:rPr sz="2700" spc="70" dirty="0">
                <a:solidFill>
                  <a:srgbClr val="53555C"/>
                </a:solidFill>
                <a:latin typeface="Tahoma"/>
                <a:cs typeface="Tahoma"/>
              </a:rPr>
              <a:t>Also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20" dirty="0">
                <a:solidFill>
                  <a:srgbClr val="53555C"/>
                </a:solidFill>
                <a:latin typeface="Tahoma"/>
                <a:cs typeface="Tahoma"/>
              </a:rPr>
              <a:t>called</a:t>
            </a:r>
            <a:r>
              <a:rPr sz="2700" spc="-32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back-end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7706" y="1919178"/>
            <a:ext cx="6209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Client-Side</a:t>
            </a:r>
            <a:r>
              <a:rPr spc="-575" dirty="0"/>
              <a:t> </a:t>
            </a:r>
            <a:r>
              <a:rPr spc="15" dirty="0"/>
              <a:t>Technology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7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0" dirty="0">
                <a:solidFill>
                  <a:srgbClr val="F45E61"/>
                </a:solidFill>
                <a:latin typeface="Times New Roman"/>
                <a:cs typeface="Times New Roman"/>
              </a:rPr>
              <a:t>HTML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43265" cy="148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(HyperText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Markup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Language)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special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type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computer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language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markup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language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designed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structure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(also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documents)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portable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manner.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HTML5,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latest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version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HTML.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075" y="3241776"/>
            <a:ext cx="7662485" cy="13771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5419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14" dirty="0">
                <a:solidFill>
                  <a:srgbClr val="F45E61"/>
                </a:solidFill>
                <a:latin typeface="Times New Roman"/>
                <a:cs typeface="Times New Roman"/>
              </a:rPr>
              <a:t>Cascading</a:t>
            </a:r>
            <a:r>
              <a:rPr sz="3200" b="1" spc="-75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00" dirty="0">
                <a:solidFill>
                  <a:srgbClr val="F45E61"/>
                </a:solidFill>
                <a:latin typeface="Times New Roman"/>
                <a:cs typeface="Times New Roman"/>
              </a:rPr>
              <a:t>Style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155" dirty="0">
                <a:solidFill>
                  <a:srgbClr val="F45E61"/>
                </a:solidFill>
                <a:latin typeface="Times New Roman"/>
                <a:cs typeface="Times New Roman"/>
              </a:rPr>
              <a:t>Sheets</a:t>
            </a:r>
            <a:r>
              <a:rPr sz="3200" b="1" spc="-70" dirty="0">
                <a:solidFill>
                  <a:srgbClr val="F45E61"/>
                </a:solidFill>
                <a:latin typeface="Times New Roman"/>
                <a:cs typeface="Times New Roman"/>
              </a:rPr>
              <a:t> </a:t>
            </a:r>
            <a:r>
              <a:rPr sz="3200" b="1" spc="5" dirty="0">
                <a:solidFill>
                  <a:srgbClr val="F45E61"/>
                </a:solidFill>
                <a:latin typeface="Times New Roman"/>
                <a:cs typeface="Times New Roman"/>
              </a:rPr>
              <a:t>(CSS)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64500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2165">
              <a:lnSpc>
                <a:spcPct val="114599"/>
              </a:lnSpc>
              <a:spcBef>
                <a:spcPts val="100"/>
              </a:spcBef>
            </a:pP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Although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HTML5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provides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capabilities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controlling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document’s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presentation,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it’s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better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mix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presentation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content.</a:t>
            </a:r>
            <a:endParaRPr sz="1800">
              <a:latin typeface="Tahoma"/>
              <a:cs typeface="Tahoma"/>
            </a:endParaRPr>
          </a:p>
          <a:p>
            <a:pPr marL="12700" marR="262255">
              <a:lnSpc>
                <a:spcPct val="114599"/>
              </a:lnSpc>
              <a:spcBef>
                <a:spcPts val="1575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Cascading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Sheets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5E686C"/>
                </a:solidFill>
                <a:latin typeface="Tahoma"/>
                <a:cs typeface="Tahoma"/>
              </a:rPr>
              <a:t>(CSS)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presentation,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styling,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(e.g.,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fonts,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spacing,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sizes,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colors,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positioning).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0"/>
              </a:spcBef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was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designed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portable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independently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their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structure.</a:t>
            </a:r>
            <a:r>
              <a:rPr sz="1800" spc="1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60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separating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styling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content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structure,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easily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look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feel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pages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entire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website,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portion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website,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simply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swapping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out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one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sheet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another.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CSS3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current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version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under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development.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89483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50" dirty="0">
                <a:solidFill>
                  <a:srgbClr val="F45E61"/>
                </a:solidFill>
                <a:latin typeface="Times New Roman"/>
                <a:cs typeface="Times New Roman"/>
              </a:rPr>
              <a:t>Javascript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400">
              <a:lnSpc>
                <a:spcPct val="114599"/>
              </a:lnSpc>
              <a:spcBef>
                <a:spcPts val="100"/>
              </a:spcBef>
            </a:pPr>
            <a:r>
              <a:rPr spc="15" dirty="0"/>
              <a:t>JavaScript</a:t>
            </a:r>
            <a:r>
              <a:rPr spc="-215" dirty="0"/>
              <a:t> </a:t>
            </a:r>
            <a:r>
              <a:rPr dirty="0"/>
              <a:t>helps</a:t>
            </a:r>
            <a:r>
              <a:rPr spc="-215" dirty="0"/>
              <a:t> </a:t>
            </a:r>
            <a:r>
              <a:rPr spc="15" dirty="0"/>
              <a:t>you</a:t>
            </a:r>
            <a:r>
              <a:rPr spc="-215" dirty="0"/>
              <a:t> </a:t>
            </a:r>
            <a:r>
              <a:rPr spc="20" dirty="0"/>
              <a:t>build</a:t>
            </a:r>
            <a:r>
              <a:rPr spc="-215" dirty="0"/>
              <a:t> </a:t>
            </a:r>
            <a:r>
              <a:rPr dirty="0"/>
              <a:t>dynamic</a:t>
            </a:r>
            <a:r>
              <a:rPr spc="-215" dirty="0"/>
              <a:t> </a:t>
            </a:r>
            <a:r>
              <a:rPr spc="15" dirty="0"/>
              <a:t>web</a:t>
            </a:r>
            <a:r>
              <a:rPr spc="-215" dirty="0"/>
              <a:t> </a:t>
            </a:r>
            <a:r>
              <a:rPr spc="-30" dirty="0"/>
              <a:t>pages</a:t>
            </a:r>
            <a:r>
              <a:rPr spc="-215" dirty="0"/>
              <a:t> </a:t>
            </a:r>
            <a:r>
              <a:rPr spc="-100" dirty="0"/>
              <a:t>(i.e.,</a:t>
            </a:r>
            <a:r>
              <a:rPr spc="-215" dirty="0"/>
              <a:t> </a:t>
            </a:r>
            <a:r>
              <a:rPr spc="-30" dirty="0"/>
              <a:t>pages</a:t>
            </a:r>
            <a:r>
              <a:rPr spc="-215" dirty="0"/>
              <a:t> </a:t>
            </a:r>
            <a:r>
              <a:rPr spc="25" dirty="0"/>
              <a:t>that</a:t>
            </a:r>
            <a:r>
              <a:rPr spc="-215" dirty="0"/>
              <a:t> </a:t>
            </a:r>
            <a:r>
              <a:rPr spc="-10" dirty="0"/>
              <a:t>can</a:t>
            </a:r>
            <a:r>
              <a:rPr spc="-215" dirty="0"/>
              <a:t> </a:t>
            </a:r>
            <a:r>
              <a:rPr dirty="0"/>
              <a:t>be</a:t>
            </a:r>
            <a:r>
              <a:rPr spc="-215" dirty="0"/>
              <a:t> </a:t>
            </a:r>
            <a:r>
              <a:rPr spc="15" dirty="0"/>
              <a:t>modified</a:t>
            </a:r>
            <a:r>
              <a:rPr spc="-215" dirty="0"/>
              <a:t> </a:t>
            </a:r>
            <a:r>
              <a:rPr spc="-20" dirty="0"/>
              <a:t>“on </a:t>
            </a:r>
            <a:r>
              <a:rPr spc="-545" dirty="0"/>
              <a:t> </a:t>
            </a:r>
            <a:r>
              <a:rPr spc="20" dirty="0"/>
              <a:t>the</a:t>
            </a:r>
            <a:r>
              <a:rPr spc="-220" dirty="0"/>
              <a:t> </a:t>
            </a:r>
            <a:r>
              <a:rPr spc="10" dirty="0"/>
              <a:t>fly”</a:t>
            </a:r>
            <a:r>
              <a:rPr spc="-220" dirty="0"/>
              <a:t> </a:t>
            </a:r>
            <a:r>
              <a:rPr spc="20" dirty="0"/>
              <a:t>in</a:t>
            </a:r>
            <a:r>
              <a:rPr spc="-220" dirty="0"/>
              <a:t> </a:t>
            </a:r>
            <a:r>
              <a:rPr spc="5" dirty="0"/>
              <a:t>response</a:t>
            </a:r>
            <a:r>
              <a:rPr spc="-220" dirty="0"/>
              <a:t> </a:t>
            </a:r>
            <a:r>
              <a:rPr spc="45" dirty="0"/>
              <a:t>to</a:t>
            </a:r>
            <a:r>
              <a:rPr spc="-220" dirty="0"/>
              <a:t> </a:t>
            </a:r>
            <a:r>
              <a:rPr spc="-15" dirty="0"/>
              <a:t>events,</a:t>
            </a:r>
            <a:r>
              <a:rPr spc="-220" dirty="0"/>
              <a:t> </a:t>
            </a:r>
            <a:r>
              <a:rPr spc="-5" dirty="0"/>
              <a:t>such</a:t>
            </a:r>
            <a:r>
              <a:rPr spc="-220" dirty="0"/>
              <a:t> </a:t>
            </a:r>
            <a:r>
              <a:rPr spc="-30" dirty="0"/>
              <a:t>as</a:t>
            </a:r>
            <a:r>
              <a:rPr spc="-220" dirty="0"/>
              <a:t> </a:t>
            </a:r>
            <a:r>
              <a:rPr spc="10" dirty="0"/>
              <a:t>user</a:t>
            </a:r>
            <a:r>
              <a:rPr spc="-220" dirty="0"/>
              <a:t> </a:t>
            </a:r>
            <a:r>
              <a:rPr spc="-10" dirty="0"/>
              <a:t>input,</a:t>
            </a:r>
            <a:r>
              <a:rPr spc="-220" dirty="0"/>
              <a:t> </a:t>
            </a:r>
            <a:r>
              <a:rPr spc="20" dirty="0"/>
              <a:t>time</a:t>
            </a:r>
            <a:r>
              <a:rPr spc="-220" dirty="0"/>
              <a:t> </a:t>
            </a:r>
            <a:r>
              <a:rPr spc="-20" dirty="0"/>
              <a:t>changes</a:t>
            </a:r>
            <a:r>
              <a:rPr spc="-220" dirty="0"/>
              <a:t> </a:t>
            </a:r>
            <a:r>
              <a:rPr spc="-10" dirty="0"/>
              <a:t>and</a:t>
            </a:r>
            <a:r>
              <a:rPr spc="-220" dirty="0"/>
              <a:t> </a:t>
            </a:r>
            <a:r>
              <a:rPr spc="-20" dirty="0"/>
              <a:t>more)</a:t>
            </a:r>
            <a:r>
              <a:rPr spc="-220" dirty="0"/>
              <a:t> </a:t>
            </a:r>
            <a:r>
              <a:rPr spc="-10" dirty="0"/>
              <a:t>and  </a:t>
            </a:r>
            <a:r>
              <a:rPr spc="15" dirty="0"/>
              <a:t>computer</a:t>
            </a:r>
            <a:r>
              <a:rPr spc="-225" dirty="0"/>
              <a:t> </a:t>
            </a:r>
            <a:r>
              <a:rPr spc="-5" dirty="0"/>
              <a:t>applications.</a:t>
            </a: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pc="15" dirty="0"/>
              <a:t>JavaScript</a:t>
            </a:r>
            <a:r>
              <a:rPr spc="-215" dirty="0"/>
              <a:t> </a:t>
            </a:r>
            <a:r>
              <a:rPr spc="10" dirty="0"/>
              <a:t>is</a:t>
            </a:r>
            <a:r>
              <a:rPr spc="-215" dirty="0"/>
              <a:t> </a:t>
            </a:r>
            <a:r>
              <a:rPr spc="-35" dirty="0"/>
              <a:t>a</a:t>
            </a:r>
            <a:r>
              <a:rPr spc="-215" dirty="0"/>
              <a:t> </a:t>
            </a:r>
            <a:r>
              <a:rPr spc="20" dirty="0"/>
              <a:t>portable</a:t>
            </a:r>
            <a:r>
              <a:rPr spc="-215" dirty="0"/>
              <a:t> </a:t>
            </a:r>
            <a:r>
              <a:rPr spc="15" dirty="0"/>
              <a:t>scripting</a:t>
            </a:r>
            <a:r>
              <a:rPr spc="-215" dirty="0"/>
              <a:t> </a:t>
            </a:r>
            <a:r>
              <a:rPr spc="-40" dirty="0"/>
              <a:t>language.</a:t>
            </a:r>
            <a:r>
              <a:rPr spc="-215" dirty="0"/>
              <a:t> </a:t>
            </a:r>
            <a:r>
              <a:rPr spc="15" dirty="0"/>
              <a:t>Programs</a:t>
            </a:r>
            <a:r>
              <a:rPr spc="-215" dirty="0"/>
              <a:t> </a:t>
            </a:r>
            <a:r>
              <a:rPr spc="40" dirty="0"/>
              <a:t>written</a:t>
            </a:r>
            <a:r>
              <a:rPr spc="-215" dirty="0"/>
              <a:t> </a:t>
            </a:r>
            <a:r>
              <a:rPr spc="20" dirty="0"/>
              <a:t>in</a:t>
            </a:r>
            <a:r>
              <a:rPr spc="-215" dirty="0"/>
              <a:t> </a:t>
            </a:r>
            <a:r>
              <a:rPr spc="15" dirty="0"/>
              <a:t>JavaScript</a:t>
            </a:r>
            <a:r>
              <a:rPr spc="-215" dirty="0"/>
              <a:t> </a:t>
            </a:r>
            <a:r>
              <a:rPr spc="-10" dirty="0"/>
              <a:t>can</a:t>
            </a:r>
            <a:r>
              <a:rPr spc="-215" dirty="0"/>
              <a:t> </a:t>
            </a:r>
            <a:r>
              <a:rPr spc="20" dirty="0"/>
              <a:t>run</a:t>
            </a:r>
            <a:r>
              <a:rPr spc="-215" dirty="0"/>
              <a:t> </a:t>
            </a:r>
            <a:r>
              <a:rPr spc="20" dirty="0"/>
              <a:t>in </a:t>
            </a:r>
            <a:r>
              <a:rPr spc="-545" dirty="0"/>
              <a:t> </a:t>
            </a:r>
            <a:r>
              <a:rPr spc="15" dirty="0"/>
              <a:t>web</a:t>
            </a:r>
            <a:r>
              <a:rPr spc="-220" dirty="0"/>
              <a:t> </a:t>
            </a:r>
            <a:r>
              <a:rPr spc="20" dirty="0"/>
              <a:t>browsers</a:t>
            </a:r>
            <a:r>
              <a:rPr spc="-220" dirty="0"/>
              <a:t> </a:t>
            </a:r>
            <a:r>
              <a:rPr spc="5" dirty="0"/>
              <a:t>across</a:t>
            </a:r>
            <a:r>
              <a:rPr spc="-220" dirty="0"/>
              <a:t> </a:t>
            </a:r>
            <a:r>
              <a:rPr spc="-35" dirty="0"/>
              <a:t>a</a:t>
            </a:r>
            <a:r>
              <a:rPr spc="-220" dirty="0"/>
              <a:t> </a:t>
            </a:r>
            <a:r>
              <a:rPr spc="20" dirty="0"/>
              <a:t>wide</a:t>
            </a:r>
            <a:r>
              <a:rPr spc="-220" dirty="0"/>
              <a:t> </a:t>
            </a:r>
            <a:r>
              <a:rPr spc="-10" dirty="0"/>
              <a:t>range</a:t>
            </a:r>
            <a:r>
              <a:rPr spc="-220" dirty="0"/>
              <a:t> </a:t>
            </a:r>
            <a:r>
              <a:rPr spc="25" dirty="0"/>
              <a:t>of</a:t>
            </a:r>
            <a:r>
              <a:rPr spc="-220" dirty="0"/>
              <a:t> </a:t>
            </a:r>
            <a:r>
              <a:rPr spc="-15" dirty="0"/>
              <a:t>devices.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725" y="1919178"/>
            <a:ext cx="63588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Server-Side</a:t>
            </a:r>
            <a:r>
              <a:rPr spc="-575" dirty="0"/>
              <a:t> </a:t>
            </a:r>
            <a:r>
              <a:rPr spc="15" dirty="0"/>
              <a:t>Technology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8718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85" dirty="0">
                <a:solidFill>
                  <a:srgbClr val="F45E61"/>
                </a:solidFill>
                <a:latin typeface="Times New Roman"/>
                <a:cs typeface="Times New Roman"/>
              </a:rPr>
              <a:t>PHP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73745" cy="2271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server-side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scripting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language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specifically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designed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applications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spc="14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requested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document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includes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preprocessed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interpret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code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insert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its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output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into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document.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browser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never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sees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embedded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aware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requested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document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originally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included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such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code.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provides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support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many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database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management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systems.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4636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85" dirty="0">
                <a:solidFill>
                  <a:srgbClr val="F45E61"/>
                </a:solidFill>
                <a:latin typeface="Times New Roman"/>
                <a:cs typeface="Times New Roman"/>
              </a:rPr>
              <a:t>MYSQL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989570" cy="2271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MYSQL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open-source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relational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database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management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system</a:t>
            </a:r>
            <a:endParaRPr sz="1800">
              <a:latin typeface="Tahoma"/>
              <a:cs typeface="Tahoma"/>
            </a:endParaRPr>
          </a:p>
          <a:p>
            <a:pPr marL="12700" marR="346075">
              <a:lnSpc>
                <a:spcPct val="114599"/>
              </a:lnSpc>
              <a:spcBef>
                <a:spcPts val="1575"/>
              </a:spcBef>
            </a:pP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Relational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database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management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systems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are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primarily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store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organized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into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one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more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tables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(or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"relations")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columns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rows,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unique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key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identifying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row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MYSQL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uses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SQL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(Structured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Query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Language)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querying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maintaining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database.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750</Words>
  <Application>Microsoft Office PowerPoint</Application>
  <PresentationFormat>On-screen Show (16:9)</PresentationFormat>
  <Paragraphs>68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   Web engineering     Lecture 01</vt:lpstr>
      <vt:lpstr> Introduction    </vt:lpstr>
      <vt:lpstr>Web engineering</vt:lpstr>
      <vt:lpstr>Web engineering</vt:lpstr>
      <vt:lpstr>Why web engineering </vt:lpstr>
      <vt:lpstr>Evolution of world wide web</vt:lpstr>
      <vt:lpstr>Web 1.0</vt:lpstr>
      <vt:lpstr>Web 2.0</vt:lpstr>
      <vt:lpstr>Web 3.0</vt:lpstr>
      <vt:lpstr>PowerPoint Presentation</vt:lpstr>
      <vt:lpstr>Web applications (Web Apps)</vt:lpstr>
      <vt:lpstr>World wide consortium(W3C) </vt:lpstr>
      <vt:lpstr>W3C long  term benefits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World Wide Web</vt:lpstr>
      <vt:lpstr>Web page request on web browser and web server  </vt:lpstr>
      <vt:lpstr>Client-Side</vt:lpstr>
      <vt:lpstr>Client-Side Technology</vt:lpstr>
      <vt:lpstr>HTML</vt:lpstr>
      <vt:lpstr>Cascading Style Sheets (CSS)</vt:lpstr>
      <vt:lpstr>Javascript</vt:lpstr>
      <vt:lpstr>Server-Side Technology</vt:lpstr>
      <vt:lpstr>PHP</vt:lpstr>
      <vt:lpstr>MYSQL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Web engineering</dc:title>
  <dc:creator>Saadia Sh</dc:creator>
  <cp:lastModifiedBy>Sadi Shabbit</cp:lastModifiedBy>
  <cp:revision>9</cp:revision>
  <dcterms:created xsi:type="dcterms:W3CDTF">2024-02-10T10:14:16Z</dcterms:created>
  <dcterms:modified xsi:type="dcterms:W3CDTF">2024-09-17T18:43:43Z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