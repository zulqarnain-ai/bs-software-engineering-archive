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259" r:id="rId3"/>
    <p:sldId id="260" r:id="rId4"/>
    <p:sldId id="261" r:id="rId5"/>
    <p:sldId id="263" r:id="rId6"/>
    <p:sldId id="265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80" r:id="rId16"/>
    <p:sldId id="277" r:id="rId17"/>
    <p:sldId id="279" r:id="rId18"/>
    <p:sldId id="282" r:id="rId19"/>
    <p:sldId id="262" r:id="rId20"/>
    <p:sldId id="266" r:id="rId21"/>
    <p:sldId id="267" r:id="rId22"/>
    <p:sldId id="268" r:id="rId23"/>
    <p:sldId id="269" r:id="rId24"/>
    <p:sldId id="28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CA08D-05EE-4B32-B5AC-2B12B7F8F24C}" type="datetimeFigureOut">
              <a:rPr lang="en-US" smtClean="0"/>
              <a:t>2/20/2024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7DD28-5022-4CEB-9F0C-84D6CE3CA1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87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555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59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8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502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19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45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08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76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563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05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07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10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6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27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78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262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7DD28-5022-4CEB-9F0C-84D6CE3CA1A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80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73EC7-6A4E-46FA-B986-FAE131F2744C}" type="datetime1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85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A674-4B7C-42EB-AD6B-C654F879C338}" type="datetime1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5CED-EB39-4B51-91B3-A1B8900A2F1B}" type="datetime1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47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F5AF-749F-442D-B6FF-88757A24EBE8}" type="datetime1">
              <a:rPr lang="en-US" smtClean="0"/>
              <a:t>2/20/2024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52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A466F-6942-4CC7-ABCB-9677CA2C43C2}" type="datetime1">
              <a:rPr lang="en-US" smtClean="0"/>
              <a:t>2/20/2024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898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3DDB7-5966-4BAC-88CD-30A703140E9B}" type="datetime1">
              <a:rPr lang="en-US" smtClean="0"/>
              <a:t>2/20/2024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98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1B0CC-7A13-4924-8DF4-4CED2B9D6ED9}" type="datetime1">
              <a:rPr lang="en-US" smtClean="0"/>
              <a:t>2/20/2024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4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6881-DDE0-4F4A-9D02-251264B14C64}" type="datetime1">
              <a:rPr lang="en-US" smtClean="0"/>
              <a:t>2/20/2024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274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DF6D19A-414C-43C5-B75A-85EAF1873566}" type="datetime1">
              <a:rPr lang="en-US" smtClean="0"/>
              <a:t>2/20/2024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1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BC50-8852-4EC3-8FE4-EB2E2F38B720}" type="datetime1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8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A7EF-DCA2-4731-A29E-C19B9396DDCF}" type="datetime1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12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8A92934-DBFB-4D05-91C1-5B6DA94D1278}" type="datetime1">
              <a:rPr lang="en-US" smtClean="0"/>
              <a:t>2/20/2024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52F7C27-5A00-40E7-B405-23691DEF5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0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ahsanarif.se42@gmai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AND ARCHITECTURE</a:t>
            </a:r>
            <a:endParaRPr lang="en-US" sz="31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99" y="410671"/>
            <a:ext cx="923330" cy="923330"/>
          </a:xfrm>
          <a:prstGeom prst="ellipse">
            <a:avLst/>
          </a:prstGeom>
          <a:ln w="28575" cap="rnd">
            <a:solidFill>
              <a:schemeClr val="bg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Rectangle 4"/>
          <p:cNvSpPr/>
          <p:nvPr/>
        </p:nvSpPr>
        <p:spPr>
          <a:xfrm>
            <a:off x="1197729" y="349116"/>
            <a:ext cx="10626409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MODERN LANGUAGES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Engineering and Computing 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Software Engineering</a:t>
            </a:r>
            <a:endParaRPr lang="en-US" sz="2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763262"/>
              </p:ext>
            </p:extLst>
          </p:nvPr>
        </p:nvGraphicFramePr>
        <p:xfrm>
          <a:off x="1600198" y="4205496"/>
          <a:ext cx="8991601" cy="1697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1">
                  <a:extLst>
                    <a:ext uri="{9D8B030D-6E8A-4147-A177-3AD203B41FA5}">
                      <a16:colId xmlns:a16="http://schemas.microsoft.com/office/drawing/2014/main" val="3084840113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307421204"/>
                    </a:ext>
                  </a:extLst>
                </a:gridCol>
              </a:tblGrid>
              <a:tr h="396471"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Instructor:</a:t>
                      </a:r>
                    </a:p>
                  </a:txBody>
                  <a:tcPr marL="91450" marR="91450" marT="45747" marB="45747"/>
                </a:tc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Mr. Ahsan Arif </a:t>
                      </a:r>
                    </a:p>
                  </a:txBody>
                  <a:tcPr marL="91450" marR="91450" marT="45747" marB="45747"/>
                </a:tc>
                <a:extLst>
                  <a:ext uri="{0D108BD9-81ED-4DB2-BD59-A6C34878D82A}">
                    <a16:rowId xmlns:a16="http://schemas.microsoft.com/office/drawing/2014/main" val="2559868446"/>
                  </a:ext>
                </a:extLst>
              </a:tr>
              <a:tr h="1240241">
                <a:tc>
                  <a:txBody>
                    <a:bodyPr/>
                    <a:lstStyle/>
                    <a:p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7" marB="45747"/>
                </a:tc>
                <a:tc>
                  <a:txBody>
                    <a:bodyPr/>
                    <a:lstStyle/>
                    <a:p>
                      <a:pPr marL="0" marR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Lecturer</a:t>
                      </a:r>
                      <a:endParaRPr lang="en-US" sz="2400" dirty="0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 eaLnBrk="1" fontAlgn="auto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en-US" sz="2000" kern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 of Software Engineering,</a:t>
                      </a:r>
                      <a:r>
                        <a:rPr lang="en-US" sz="2000" kern="0" baseline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kern="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NUML Islamabad</a:t>
                      </a:r>
                    </a:p>
                  </a:txBody>
                  <a:tcPr marL="91450" marR="91450" marT="45747" marB="45747"/>
                </a:tc>
                <a:extLst>
                  <a:ext uri="{0D108BD9-81ED-4DB2-BD59-A6C34878D82A}">
                    <a16:rowId xmlns:a16="http://schemas.microsoft.com/office/drawing/2014/main" val="116006078"/>
                  </a:ext>
                </a:extLst>
              </a:tr>
            </a:tbl>
          </a:graphicData>
        </a:graphic>
      </p:graphicFrame>
      <p:sp>
        <p:nvSpPr>
          <p:cNvPr id="1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</p:spPr>
        <p:txBody>
          <a:bodyPr/>
          <a:lstStyle/>
          <a:p>
            <a:r>
              <a:rPr lang="en-US" sz="1800" b="1" spc="-5" dirty="0">
                <a:solidFill>
                  <a:srgbClr val="002060"/>
                </a:solidFill>
                <a:latin typeface="Times New Roman"/>
                <a:cs typeface="Times New Roman"/>
              </a:rPr>
              <a:t>Date:</a:t>
            </a:r>
            <a:r>
              <a:rPr lang="en-US" sz="1800" b="1" spc="-1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5" dirty="0">
                <a:solidFill>
                  <a:srgbClr val="002060"/>
                </a:solidFill>
                <a:latin typeface="Times New Roman"/>
                <a:cs typeface="Times New Roman"/>
              </a:rPr>
              <a:t>February</a:t>
            </a:r>
            <a:r>
              <a:rPr lang="en-US" sz="1800" b="1" spc="-4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Times New Roman"/>
                <a:cs typeface="Times New Roman"/>
              </a:rPr>
              <a:t>21,</a:t>
            </a:r>
            <a:r>
              <a:rPr lang="en-US" sz="1800" b="1" spc="-20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smtClean="0">
                <a:solidFill>
                  <a:srgbClr val="002060"/>
                </a:solidFill>
                <a:latin typeface="Times New Roman"/>
                <a:cs typeface="Times New Roman"/>
              </a:rPr>
              <a:t>2024</a:t>
            </a:r>
            <a:endParaRPr lang="en-US" sz="1800" dirty="0">
              <a:solidFill>
                <a:srgbClr val="00206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967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131" y="2643818"/>
            <a:ext cx="10909738" cy="31019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start a new project?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Diagram </a:t>
            </a:r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15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start a new project?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7704082" y="1203954"/>
            <a:ext cx="4487917" cy="5655633"/>
            <a:chOff x="7704082" y="1203954"/>
            <a:chExt cx="4487917" cy="565563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04083" y="1203954"/>
              <a:ext cx="3941378" cy="2919539"/>
            </a:xfrm>
            <a:prstGeom prst="rect">
              <a:avLst/>
            </a:prstGeom>
          </p:spPr>
        </p:pic>
        <p:sp>
          <p:nvSpPr>
            <p:cNvPr id="6" name="Content Placeholder 2"/>
            <p:cNvSpPr txBox="1">
              <a:spLocks/>
            </p:cNvSpPr>
            <p:nvPr/>
          </p:nvSpPr>
          <p:spPr>
            <a:xfrm>
              <a:off x="7704082" y="4123493"/>
              <a:ext cx="4487917" cy="2736094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8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31286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4313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5735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82775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Aft>
                  <a:spcPts val="600"/>
                </a:spcAft>
                <a:buNone/>
              </a:pPr>
              <a:r>
                <a:rPr lang="en-US" sz="3200" b="1" dirty="0" smtClean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 New Project</a:t>
              </a:r>
            </a:p>
            <a:p>
              <a:pPr marL="0" indent="0">
                <a:buNone/>
              </a:pPr>
              <a:r>
                <a:rPr lang="en-US" sz="3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Where to Start?</a:t>
              </a:r>
              <a:endPara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733" y="5489111"/>
            <a:ext cx="998533" cy="109456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5723" y="1124609"/>
            <a:ext cx="696835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that you are working as a software engineer in the IT Company. Your company has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done contract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organization to develop software for them. </a:t>
            </a:r>
          </a:p>
          <a:p>
            <a:pPr algn="just"/>
            <a:endParaRPr lang="en-US" sz="2000" dirty="0" smtClean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you start the project as a software engineer? </a:t>
            </a:r>
            <a:endParaRPr 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Sure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you are not going to start from coding</a:t>
            </a:r>
            <a:r>
              <a:rPr lang="en-US" sz="20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algn="just"/>
            <a:r>
              <a:rPr lang="en-US" sz="20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software engineer, you will follow the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Development Life Cycle</a:t>
            </a:r>
            <a:r>
              <a:rPr lang="en-US" sz="2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0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all, we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the requirements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system to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the </a:t>
            </a:r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project. </a:t>
            </a:r>
            <a:r>
              <a:rPr lang="en-US" sz="20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step is to gather the requirement. </a:t>
            </a:r>
            <a:r>
              <a:rPr lang="en-US" sz="20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phase of software development, you have to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the best software development methodology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that you can work 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 and smoothly. </a:t>
            </a:r>
            <a:r>
              <a:rPr lang="en-US" sz="20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development methodology will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 you to execute, track the project and reduce the risk of project failure.</a:t>
            </a:r>
          </a:p>
        </p:txBody>
      </p:sp>
    </p:spTree>
    <p:extLst>
      <p:ext uri="{BB962C8B-B14F-4D97-AF65-F5344CB8AC3E}">
        <p14:creationId xmlns:p14="http://schemas.microsoft.com/office/powerpoint/2010/main" val="390547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93682" y="524054"/>
            <a:ext cx="1006524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algn="just"/>
            <a:endParaRPr lang="en-US" sz="2200" b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move for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system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start the </a:t>
            </a:r>
            <a:r>
              <a:rPr lang="en-US" sz="2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coding.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students misunderstood regarding designing word. Designing in software engineering is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talking about making wireframe or prototype 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designing</a:t>
            </a:r>
          </a:p>
          <a:p>
            <a:pPr marL="800100" lvl="1" indent="-342900" algn="just">
              <a:buFont typeface="Courier New" panose="02070309020205020404" pitchFamily="49" charset="0"/>
              <a:buChar char="o"/>
            </a:pP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interface design and color </a:t>
            </a:r>
            <a:r>
              <a:rPr lang="en-US" sz="2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</a:p>
          <a:p>
            <a:pPr lvl="1" algn="just"/>
            <a:endParaRPr lang="en-US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means:</a:t>
            </a:r>
          </a:p>
          <a:p>
            <a:pPr lvl="1" algn="just"/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isualizing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internal system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eriving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200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Traced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customer’s requirements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terative </a:t>
            </a:r>
            <a:r>
              <a:rPr lang="en-US" sz="2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which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are translated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a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Blueprint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software to be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</a:t>
            </a:r>
            <a:endParaRPr lang="en-US" sz="2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23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78676" y="0"/>
            <a:ext cx="11813627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start the design with a </a:t>
            </a:r>
            <a:r>
              <a:rPr lang="en-US" sz="3200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level of </a:t>
            </a:r>
            <a:r>
              <a:rPr lang="en-US" sz="3200" b="1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 </a:t>
            </a:r>
          </a:p>
          <a:p>
            <a:pPr algn="ctr"/>
            <a:endParaRPr lang="en-US" sz="3200" b="1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200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</a:t>
            </a:r>
            <a:r>
              <a:rPr lang="en-US" sz="32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view, we start designing from </a:t>
            </a:r>
            <a:r>
              <a:rPr lang="en-US" sz="3200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</a:t>
            </a:r>
            <a:r>
              <a:rPr lang="en-US" sz="3200" b="1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737" y="1679742"/>
            <a:ext cx="5591504" cy="472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98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5613" y="1718907"/>
            <a:ext cx="11009069" cy="3578306"/>
          </a:xfrm>
          <a:prstGeom prst="rect">
            <a:avLst/>
          </a:prstGeom>
          <a:solidFill>
            <a:srgbClr val="002060"/>
          </a:solidFill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we have learn how to start drawing Use Case Diagrams and how to verify it…</a:t>
            </a:r>
            <a:endParaRPr lang="en-US" sz="9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46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3585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Use Case is 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a set of interactions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  <a:p>
            <a:pPr algn="just">
              <a:spcAft>
                <a:spcPts val="600"/>
              </a:spcAft>
            </a:pPr>
            <a:endParaRPr lang="en-US" sz="24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Use Case Diagram:</a:t>
            </a:r>
          </a:p>
          <a:p>
            <a:pPr marL="800100" lvl="1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Actor </a:t>
            </a:r>
          </a:p>
          <a:p>
            <a:pPr marL="800100" lvl="1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  <a:p>
            <a:pPr marL="800100" lvl="1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Boundary</a:t>
            </a:r>
          </a:p>
          <a:p>
            <a:pPr marL="800100" lvl="1" indent="-34290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87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4078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Actor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actor is someone or something that 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 interact with the system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 development.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 represented by with a </a:t>
            </a:r>
            <a:r>
              <a:rPr 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Stick Figure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actor may be:</a:t>
            </a:r>
          </a:p>
          <a:p>
            <a:pPr marL="800100" lvl="1" indent="-342900" algn="just">
              <a:spcAft>
                <a:spcPts val="600"/>
              </a:spcAft>
              <a:buFont typeface="Times New Roman" panose="02020603050405020304" pitchFamily="18" charset="0"/>
              <a:buChar char="‒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</a:p>
          <a:p>
            <a:pPr marL="800100" lvl="1" indent="-342900" algn="just">
              <a:spcAft>
                <a:spcPts val="600"/>
              </a:spcAft>
              <a:buFont typeface="Times New Roman" panose="02020603050405020304" pitchFamily="18" charset="0"/>
              <a:buChar char="‒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hardware and devices </a:t>
            </a:r>
          </a:p>
          <a:p>
            <a:pPr marL="800100" lvl="1" indent="-342900" algn="just">
              <a:spcAft>
                <a:spcPts val="600"/>
              </a:spcAft>
              <a:buFont typeface="Times New Roman" panose="02020603050405020304" pitchFamily="18" charset="0"/>
              <a:buChar char="‒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System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821" y="2532501"/>
            <a:ext cx="1356221" cy="251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27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 is a pattern of behavior, the system exhibits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use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ases are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of actions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the user takes on a system to get particular target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is dialogue between an actor and the system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Oval Shape</a:t>
            </a:r>
          </a:p>
          <a:p>
            <a:pPr algn="just">
              <a:spcAft>
                <a:spcPts val="600"/>
              </a:spcAft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4924094" y="4428335"/>
            <a:ext cx="2532996" cy="1110617"/>
          </a:xfrm>
          <a:prstGeom prst="ellipse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32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6159058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Boundary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shown as a rectangle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what is external versus internal,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what the 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 of the system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external environment is represented only by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actors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409792" y="1289254"/>
            <a:ext cx="4235669" cy="4769859"/>
            <a:chOff x="4072757" y="1822752"/>
            <a:chExt cx="4235669" cy="4769859"/>
          </a:xfrm>
        </p:grpSpPr>
        <p:sp>
          <p:nvSpPr>
            <p:cNvPr id="7" name="Rectangle 6"/>
            <p:cNvSpPr/>
            <p:nvPr/>
          </p:nvSpPr>
          <p:spPr>
            <a:xfrm>
              <a:off x="4072757" y="1822752"/>
              <a:ext cx="4235669" cy="476985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03072" y="1846477"/>
              <a:ext cx="2575034" cy="38943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 Case Modeling Tool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54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11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</a:t>
            </a: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is an association between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 are several Use Case relationships: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373245"/>
              </p:ext>
            </p:extLst>
          </p:nvPr>
        </p:nvGraphicFramePr>
        <p:xfrm>
          <a:off x="1240221" y="2716631"/>
          <a:ext cx="1040524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05240">
                  <a:extLst>
                    <a:ext uri="{9D8B030D-6E8A-4147-A177-3AD203B41FA5}">
                      <a16:colId xmlns:a16="http://schemas.microsoft.com/office/drawing/2014/main" val="1349912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Times New Roman" panose="02020603050405020304" pitchFamily="18" charset="0"/>
                        <a:buChar char="‒"/>
                      </a:pPr>
                      <a:r>
                        <a:rPr lang="en-US" sz="24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Association </a:t>
                      </a:r>
                      <a:endParaRPr lang="en-US" sz="24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06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Times New Roman" panose="02020603050405020304" pitchFamily="18" charset="0"/>
                        <a:buChar char="‒"/>
                      </a:pPr>
                      <a:r>
                        <a:rPr lang="en-US" sz="24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Generalization </a:t>
                      </a:r>
                      <a:endParaRPr lang="en-US" sz="24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84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Times New Roman" panose="02020603050405020304" pitchFamily="18" charset="0"/>
                        <a:buChar char="‒"/>
                      </a:pPr>
                      <a:r>
                        <a:rPr lang="en-US" sz="24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 </a:t>
                      </a:r>
                      <a:endParaRPr lang="en-US" sz="2400" b="1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5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Times New Roman" panose="02020603050405020304" pitchFamily="18" charset="0"/>
                        <a:buChar char="‒"/>
                        <a:tabLst/>
                        <a:defRPr/>
                      </a:pPr>
                      <a:r>
                        <a:rPr lang="en-US" sz="2400" b="1" dirty="0" smtClean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Extend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872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21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12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–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  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association is the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path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between and an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 and the use case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it participates in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shown as a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line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have an arrow,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is normally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from left to right</a:t>
            </a:r>
          </a:p>
        </p:txBody>
      </p:sp>
      <p:sp>
        <p:nvSpPr>
          <p:cNvPr id="7" name="AutoShape 6" descr="use case diagram relationships for actor and use c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96" y="3477033"/>
            <a:ext cx="5943600" cy="267652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67144" y="3891966"/>
            <a:ext cx="477831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4042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actor must be associated with at least one use case</a:t>
            </a:r>
            <a:r>
              <a:rPr lang="en-US" dirty="0" smtClean="0">
                <a:solidFill>
                  <a:srgbClr val="4042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4042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solidFill>
                  <a:srgbClr val="4042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 can be associated with multiple use cases. </a:t>
            </a:r>
            <a:endParaRPr lang="en-US" dirty="0" smtClean="0">
              <a:solidFill>
                <a:srgbClr val="40424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dirty="0" smtClean="0">
                <a:solidFill>
                  <a:srgbClr val="4042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dirty="0">
                <a:solidFill>
                  <a:srgbClr val="4042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actors can be associated with a single use </a:t>
            </a:r>
            <a:r>
              <a:rPr lang="en-US" dirty="0" smtClean="0">
                <a:solidFill>
                  <a:srgbClr val="40424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case.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478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13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–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 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is a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a general use case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specific use case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inherits and extends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to it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shown as a 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solid </a:t>
            </a:r>
            <a:r>
              <a:rPr lang="en-US" sz="24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with a closed arrow point </a:t>
            </a:r>
          </a:p>
        </p:txBody>
      </p:sp>
      <p:sp>
        <p:nvSpPr>
          <p:cNvPr id="7" name="AutoShape 6" descr="use case diagram relationships for actor and use c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202" name="Picture 10" descr="enter image description he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938" y="3146191"/>
            <a:ext cx="6125308" cy="341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21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14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7" name="AutoShape 6" descr="use case diagram relationships for actor and use c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35723" y="1124609"/>
            <a:ext cx="10909738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–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 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additional behavior into a base use case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“Include relationship” is shown by the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dotted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arrow and arrow must point to the included use case from the base use case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 keyword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&lt;&lt;include&gt;&gt;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Include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show that the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 of the included use case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part of the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 (base) use case. </a:t>
            </a:r>
            <a:endParaRPr lang="en-US" sz="2200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reason for this is to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reuse common actions across multiple use cases.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some situations, this is done to simplify complex behaviors. Few things to consider when using the &lt;&lt;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relationship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257300" lvl="2" indent="-342900">
              <a:buFont typeface="Times New Roman" panose="02020603050405020304" pitchFamily="18" charset="0"/>
              <a:buChar char="‒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use case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incomplete without the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included use </a:t>
            </a:r>
            <a:r>
              <a:rPr lang="en-US" sz="2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en-US" sz="2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Times New Roman" panose="02020603050405020304" pitchFamily="18" charset="0"/>
              <a:buChar char="‒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included use case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mandatory and not </a:t>
            </a:r>
            <a:r>
              <a:rPr lang="en-US" sz="22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endParaRPr lang="en-US" sz="2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3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15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7" name="AutoShape 6" descr="use case diagram relationships for actor and use c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35723" y="1124609"/>
            <a:ext cx="109097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–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 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849" y="1772884"/>
            <a:ext cx="8497486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2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16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5247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–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implies it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use case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adds more functionality to the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200" b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shown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dotted </a:t>
            </a:r>
            <a:r>
              <a:rPr lang="en-US" sz="2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with </a:t>
            </a:r>
            <a:r>
              <a:rPr lang="en-US" sz="22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arrow point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labeled </a:t>
            </a:r>
            <a:r>
              <a:rPr lang="en-US" sz="2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&lt;&lt;extend&gt;&gt;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are a few things to consider when using the &lt;&lt;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extending use case is dependent on the extended (base) use case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the below diagram the “Calculate Bonus” use case doesn’t make much sense without the “Deposit Funds” use case.</a:t>
            </a:r>
          </a:p>
          <a:p>
            <a:pPr marL="742950" lvl="1" indent="-285750" algn="just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extending use case is usually optional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can be triggered conditionally. In the diagram, you can see that the extending use case is triggered only for deposits over 10,000 or when the age is over 55.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extended (base) use case must be meaningful on its own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means it should be independent and must not rely on the behavior of the extending use case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200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6" descr="use case diagram relationships for actor and use c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01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17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– </a:t>
            </a:r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6" descr="use case diagram relationships for actor and use cas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213" y="2032035"/>
            <a:ext cx="9235709" cy="3981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6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191631"/>
              </p:ext>
            </p:extLst>
          </p:nvPr>
        </p:nvGraphicFramePr>
        <p:xfrm>
          <a:off x="318975" y="230569"/>
          <a:ext cx="11685182" cy="637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77378">
                  <a:extLst>
                    <a:ext uri="{9D8B030D-6E8A-4147-A177-3AD203B41FA5}">
                      <a16:colId xmlns:a16="http://schemas.microsoft.com/office/drawing/2014/main" val="1423764617"/>
                    </a:ext>
                  </a:extLst>
                </a:gridCol>
                <a:gridCol w="1307804">
                  <a:extLst>
                    <a:ext uri="{9D8B030D-6E8A-4147-A177-3AD203B41FA5}">
                      <a16:colId xmlns:a16="http://schemas.microsoft.com/office/drawing/2014/main" val="1324268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if there are any non-functional requirement use cases.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03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all the use case name properly whether it’s a active verb and a noun phrase or not.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480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the use cases are in logical order or not.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64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if there is any overlap and can be fix by reposition the use cases or actor. 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16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use case diagram contain at least one include relationship or not.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223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there is line between the actors and the Included Use Case.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460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include relationship arrow pointed to Included Use Case or not and is arrow label with include or not.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567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use case diagram contain at least one extend relationship or not.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401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there is line between the actors and the Extended Use Case.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8993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include relationship arrow pointed to Base Use Case or not and is arrow label with extend or not. 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875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the use case diagram contains any generalization or not.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691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the arrow is solid line with an arrow pointing towards parent’s actors or not.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44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sure to represent all actors with a human stick image and contains more than one actors. </a:t>
                      </a:r>
                      <a:endParaRPr lang="en-US" dirty="0" smtClean="0">
                        <a:solidFill>
                          <a:srgbClr val="13131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655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sure there is only one rectangle box representing as a system where all the use cases are included inside the box and actors are outside of the box. </a:t>
                      </a:r>
                      <a:endParaRPr kumimoji="0" lang="en-US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31313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1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you have written the system name inside the box at top or not. 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879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7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19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 – </a:t>
            </a:r>
            <a:r>
              <a:rPr lang="en-US" sz="36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Checklist </a:t>
            </a:r>
            <a:endParaRPr lang="en-US" sz="3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use case diagram, only mention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system. Functional Requirements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200" dirty="0" smtClean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800"/>
              </a:spcAft>
            </a:pPr>
            <a:endParaRPr lang="en-US" sz="2200" dirty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if there are any </a:t>
            </a:r>
            <a:r>
              <a:rPr lang="en-US" sz="2400" b="1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 </a:t>
            </a:r>
            <a:r>
              <a:rPr lang="en-US" sz="2400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use cases or not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177160" y="2195768"/>
            <a:ext cx="9911250" cy="1387366"/>
            <a:chOff x="1177160" y="2195768"/>
            <a:chExt cx="9911250" cy="1387366"/>
          </a:xfrm>
        </p:grpSpPr>
        <p:sp>
          <p:nvSpPr>
            <p:cNvPr id="7" name="Oval 6"/>
            <p:cNvSpPr/>
            <p:nvPr/>
          </p:nvSpPr>
          <p:spPr>
            <a:xfrm>
              <a:off x="1177160" y="2195769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heck Balance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4722565" y="2195769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</a:t>
              </a: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Fund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8267970" y="2195768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Make payment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177160" y="4906186"/>
            <a:ext cx="9581762" cy="95858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 of execution, memory consumption, user friendliness, etc.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6" t="22767" r="53983" b="16639"/>
          <a:stretch/>
        </p:blipFill>
        <p:spPr>
          <a:xfrm>
            <a:off x="8876518" y="4392095"/>
            <a:ext cx="2065284" cy="198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9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20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– </a:t>
            </a: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Checklist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 is denoted by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oval shape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234967" y="1993946"/>
            <a:ext cx="9911250" cy="1387366"/>
            <a:chOff x="1177160" y="2195768"/>
            <a:chExt cx="9911250" cy="1387366"/>
          </a:xfrm>
        </p:grpSpPr>
        <p:sp>
          <p:nvSpPr>
            <p:cNvPr id="17" name="Oval 16"/>
            <p:cNvSpPr/>
            <p:nvPr/>
          </p:nvSpPr>
          <p:spPr>
            <a:xfrm>
              <a:off x="1177160" y="2195769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heck Balance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4722565" y="2195769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</a:t>
              </a: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8267970" y="2195768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Make payment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558928" y="3881645"/>
            <a:ext cx="5263328" cy="1965392"/>
            <a:chOff x="3695425" y="3851523"/>
            <a:chExt cx="5263328" cy="1965392"/>
          </a:xfrm>
        </p:grpSpPr>
        <p:grpSp>
          <p:nvGrpSpPr>
            <p:cNvPr id="10" name="Group 9"/>
            <p:cNvGrpSpPr/>
            <p:nvPr/>
          </p:nvGrpSpPr>
          <p:grpSpPr>
            <a:xfrm>
              <a:off x="3695425" y="3851523"/>
              <a:ext cx="5263328" cy="1908456"/>
              <a:chOff x="4055405" y="3703007"/>
              <a:chExt cx="5263328" cy="1908456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4055405" y="3773767"/>
                <a:ext cx="1741047" cy="953947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6758422" y="3703007"/>
                <a:ext cx="2560311" cy="1095469"/>
              </a:xfrm>
              <a:prstGeom prst="ellipse">
                <a:avLst/>
              </a:prstGeom>
              <a:gradFill flip="none" rotWithShape="1">
                <a:gsLst>
                  <a:gs pos="0">
                    <a:srgbClr val="00B050">
                      <a:tint val="66000"/>
                      <a:satMod val="160000"/>
                    </a:srgbClr>
                  </a:gs>
                  <a:gs pos="50000">
                    <a:srgbClr val="00B050">
                      <a:tint val="44500"/>
                      <a:satMod val="160000"/>
                    </a:srgbClr>
                  </a:gs>
                  <a:gs pos="100000">
                    <a:srgbClr val="00B050">
                      <a:tint val="23500"/>
                      <a:satMod val="16000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0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heck Balance</a:t>
                </a:r>
                <a:endParaRPr 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Picture 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196" t="22767" r="53897" b="16639"/>
              <a:stretch/>
            </p:blipFill>
            <p:spPr>
              <a:xfrm>
                <a:off x="4465394" y="4727713"/>
                <a:ext cx="921071" cy="883750"/>
              </a:xfrm>
              <a:prstGeom prst="rect">
                <a:avLst/>
              </a:prstGeom>
            </p:spPr>
          </p:pic>
        </p:grpSp>
        <p:sp>
          <p:nvSpPr>
            <p:cNvPr id="21" name="Rectangle 20"/>
            <p:cNvSpPr/>
            <p:nvPr/>
          </p:nvSpPr>
          <p:spPr>
            <a:xfrm>
              <a:off x="4105414" y="4214590"/>
              <a:ext cx="165301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Check Balance</a:t>
              </a:r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63" t="22767" r="6129" b="16639"/>
            <a:stretch/>
          </p:blipFill>
          <p:spPr>
            <a:xfrm>
              <a:off x="7107070" y="4930347"/>
              <a:ext cx="1143053" cy="8865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505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21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– </a:t>
            </a: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Checklist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 is denoted by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oval shape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234967" y="1857313"/>
            <a:ext cx="9911250" cy="1387366"/>
            <a:chOff x="1177160" y="2195768"/>
            <a:chExt cx="9911250" cy="1387366"/>
          </a:xfrm>
        </p:grpSpPr>
        <p:sp>
          <p:nvSpPr>
            <p:cNvPr id="17" name="Oval 16"/>
            <p:cNvSpPr/>
            <p:nvPr/>
          </p:nvSpPr>
          <p:spPr>
            <a:xfrm>
              <a:off x="1177160" y="2195769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heck Balance</a:t>
              </a:r>
              <a:endPara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4722565" y="2195769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</a:t>
              </a:r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8267970" y="2195768"/>
              <a:ext cx="2820440" cy="1387365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Make payment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7600812" y="3892810"/>
            <a:ext cx="40446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verb </a:t>
            </a:r>
            <a:endParaRPr lang="en-US" sz="3200" b="1" dirty="0" smtClean="0">
              <a:solidFill>
                <a:srgbClr val="13131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algn="ctr"/>
            <a:r>
              <a:rPr lang="en-US" sz="3200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noun </a:t>
            </a:r>
            <a:r>
              <a:rPr lang="en-US" sz="3200" b="1" dirty="0" smtClean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phrase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08363"/>
              </p:ext>
            </p:extLst>
          </p:nvPr>
        </p:nvGraphicFramePr>
        <p:xfrm>
          <a:off x="1266496" y="3397480"/>
          <a:ext cx="6334316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32234">
                  <a:extLst>
                    <a:ext uri="{9D8B030D-6E8A-4147-A177-3AD203B41FA5}">
                      <a16:colId xmlns:a16="http://schemas.microsoft.com/office/drawing/2014/main" val="1455625310"/>
                    </a:ext>
                  </a:extLst>
                </a:gridCol>
                <a:gridCol w="3302082">
                  <a:extLst>
                    <a:ext uri="{9D8B030D-6E8A-4147-A177-3AD203B41FA5}">
                      <a16:colId xmlns:a16="http://schemas.microsoft.com/office/drawing/2014/main" val="1502722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ACTOR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950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13131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Balance</a:t>
                      </a:r>
                      <a:endParaRPr lang="en-US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User, Staff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975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13131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Fund</a:t>
                      </a:r>
                      <a:endParaRPr lang="en-US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31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13131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 Payment</a:t>
                      </a:r>
                      <a:endParaRPr lang="en-US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271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13131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Error Message</a:t>
                      </a:r>
                      <a:endParaRPr lang="en-US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80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200" b="1" dirty="0" smtClean="0">
                          <a:solidFill>
                            <a:srgbClr val="13131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Verify Log In Details</a:t>
                      </a:r>
                      <a:endParaRPr lang="en-US" sz="2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54062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234967" y="6123883"/>
            <a:ext cx="93909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all the </a:t>
            </a:r>
            <a:r>
              <a:rPr lang="en-US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name properly </a:t>
            </a:r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it’s a </a:t>
            </a:r>
            <a:r>
              <a:rPr lang="en-US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verb </a:t>
            </a:r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b="1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noun phrase </a:t>
            </a:r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not.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lang="en-US" dirty="0">
                <a:solidFill>
                  <a:srgbClr val="13131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sure the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use cases are meaningful. </a:t>
            </a:r>
          </a:p>
        </p:txBody>
      </p:sp>
    </p:spTree>
    <p:extLst>
      <p:ext uri="{BB962C8B-B14F-4D97-AF65-F5344CB8AC3E}">
        <p14:creationId xmlns:p14="http://schemas.microsoft.com/office/powerpoint/2010/main" val="97615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22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– </a:t>
            </a: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Checklist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Use Cases should be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072757" y="1822752"/>
            <a:ext cx="4235669" cy="4769859"/>
            <a:chOff x="4072757" y="1822752"/>
            <a:chExt cx="4235669" cy="4769859"/>
          </a:xfrm>
        </p:grpSpPr>
        <p:sp>
          <p:nvSpPr>
            <p:cNvPr id="2" name="Rectangle 1"/>
            <p:cNvSpPr/>
            <p:nvPr/>
          </p:nvSpPr>
          <p:spPr>
            <a:xfrm>
              <a:off x="4072757" y="1822752"/>
              <a:ext cx="4235669" cy="4769859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4508934" y="2323333"/>
              <a:ext cx="1545021" cy="7943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Login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418079" y="3204319"/>
              <a:ext cx="1545021" cy="7943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Register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5418080" y="4457972"/>
              <a:ext cx="1545021" cy="7943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Book Service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508934" y="5546038"/>
              <a:ext cx="1545021" cy="79432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Make Payment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903072" y="1846477"/>
              <a:ext cx="2575034" cy="38943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Name</a:t>
              </a:r>
              <a:endParaRPr 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546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23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35723" y="426137"/>
            <a:ext cx="10909738" cy="69847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 – </a:t>
            </a:r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Checklist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35723" y="1242848"/>
            <a:ext cx="109097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Put the Use Cases in a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order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4493692" y="1242848"/>
            <a:ext cx="7120771" cy="4769859"/>
            <a:chOff x="1187655" y="1822752"/>
            <a:chExt cx="7120771" cy="4769859"/>
          </a:xfrm>
        </p:grpSpPr>
        <p:grpSp>
          <p:nvGrpSpPr>
            <p:cNvPr id="19" name="Group 18"/>
            <p:cNvGrpSpPr/>
            <p:nvPr/>
          </p:nvGrpSpPr>
          <p:grpSpPr>
            <a:xfrm>
              <a:off x="4072757" y="1822752"/>
              <a:ext cx="4235669" cy="4769859"/>
              <a:chOff x="4072757" y="1822752"/>
              <a:chExt cx="4235669" cy="4769859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4072757" y="1822752"/>
                <a:ext cx="4235669" cy="4769859"/>
                <a:chOff x="4072757" y="1822752"/>
                <a:chExt cx="4235669" cy="4769859"/>
              </a:xfrm>
            </p:grpSpPr>
            <p:sp>
              <p:nvSpPr>
                <p:cNvPr id="2" name="Rectangle 1"/>
                <p:cNvSpPr/>
                <p:nvPr/>
              </p:nvSpPr>
              <p:spPr>
                <a:xfrm>
                  <a:off x="4072757" y="1822752"/>
                  <a:ext cx="4235669" cy="4769859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Oval 5"/>
                <p:cNvSpPr/>
                <p:nvPr/>
              </p:nvSpPr>
              <p:spPr>
                <a:xfrm>
                  <a:off x="4332882" y="2467697"/>
                  <a:ext cx="1545021" cy="794324"/>
                </a:xfrm>
                <a:prstGeom prst="ellips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Login</a:t>
                  </a:r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Oval 13"/>
                <p:cNvSpPr/>
                <p:nvPr/>
              </p:nvSpPr>
              <p:spPr>
                <a:xfrm>
                  <a:off x="5281444" y="3493810"/>
                  <a:ext cx="2196662" cy="794324"/>
                </a:xfrm>
                <a:prstGeom prst="ellips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Book Service</a:t>
                  </a:r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5105393" y="4751713"/>
                  <a:ext cx="2548763" cy="794324"/>
                </a:xfrm>
                <a:prstGeom prst="ellips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smtClean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Make Payment</a:t>
                  </a:r>
                  <a:endPara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9" name="Rectangle 8"/>
              <p:cNvSpPr/>
              <p:nvPr/>
            </p:nvSpPr>
            <p:spPr>
              <a:xfrm>
                <a:off x="4903072" y="1846477"/>
                <a:ext cx="2575034" cy="38943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System Name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187655" y="2932112"/>
              <a:ext cx="1429407" cy="2551138"/>
              <a:chOff x="1534509" y="3173850"/>
              <a:chExt cx="1429407" cy="2551138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/>
              <a:srcRect l="12407" t="8018" r="14029"/>
              <a:stretch/>
            </p:blipFill>
            <p:spPr>
              <a:xfrm>
                <a:off x="1534509" y="3173850"/>
                <a:ext cx="1429407" cy="2067662"/>
              </a:xfrm>
              <a:prstGeom prst="rect">
                <a:avLst/>
              </a:prstGeom>
            </p:spPr>
          </p:pic>
          <p:sp>
            <p:nvSpPr>
              <p:cNvPr id="16" name="Rectangle 15"/>
              <p:cNvSpPr/>
              <p:nvPr/>
            </p:nvSpPr>
            <p:spPr>
              <a:xfrm>
                <a:off x="1534509" y="5241512"/>
                <a:ext cx="1429407" cy="4834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Customer</a:t>
                </a:r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1" name="Straight Connector 20"/>
            <p:cNvCxnSpPr>
              <a:stCxn id="12" idx="3"/>
              <a:endCxn id="6" idx="2"/>
            </p:cNvCxnSpPr>
            <p:nvPr/>
          </p:nvCxnSpPr>
          <p:spPr>
            <a:xfrm flipV="1">
              <a:off x="2617062" y="2864859"/>
              <a:ext cx="1715820" cy="11010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2" idx="3"/>
              <a:endCxn id="14" idx="2"/>
            </p:cNvCxnSpPr>
            <p:nvPr/>
          </p:nvCxnSpPr>
          <p:spPr>
            <a:xfrm flipV="1">
              <a:off x="2617062" y="3890972"/>
              <a:ext cx="2664382" cy="7497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2" idx="3"/>
              <a:endCxn id="15" idx="2"/>
            </p:cNvCxnSpPr>
            <p:nvPr/>
          </p:nvCxnSpPr>
          <p:spPr>
            <a:xfrm>
              <a:off x="2617062" y="3965943"/>
              <a:ext cx="2488331" cy="1182932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Rectangle 28"/>
          <p:cNvSpPr/>
          <p:nvPr/>
        </p:nvSpPr>
        <p:spPr>
          <a:xfrm>
            <a:off x="189186" y="5602802"/>
            <a:ext cx="7073462" cy="1155889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>
              <a:spcAft>
                <a:spcPts val="600"/>
              </a:spcAft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Practice Logical Order</a:t>
            </a:r>
          </a:p>
          <a:p>
            <a:pPr algn="ctr">
              <a:spcAft>
                <a:spcPts val="600"/>
              </a:spcAft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POSSIBLE…</a:t>
            </a:r>
          </a:p>
          <a:p>
            <a:pPr algn="ctr">
              <a:spcAft>
                <a:spcPts val="600"/>
              </a:spcAft>
            </a:pP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the flow of a system</a:t>
            </a:r>
          </a:p>
        </p:txBody>
      </p:sp>
    </p:spTree>
    <p:extLst>
      <p:ext uri="{BB962C8B-B14F-4D97-AF65-F5344CB8AC3E}">
        <p14:creationId xmlns:p14="http://schemas.microsoft.com/office/powerpoint/2010/main" val="188278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F7C27-5A00-40E7-B405-23691DEF5BBA}" type="slidenum">
              <a:rPr lang="en-US" smtClean="0"/>
              <a:t>24</a:t>
            </a:fld>
            <a:endParaRPr lang="en-US"/>
          </a:p>
        </p:txBody>
      </p:sp>
      <p:sp>
        <p:nvSpPr>
          <p:cNvPr id="4" name="object 6"/>
          <p:cNvSpPr txBox="1">
            <a:spLocks/>
          </p:cNvSpPr>
          <p:nvPr/>
        </p:nvSpPr>
        <p:spPr>
          <a:xfrm>
            <a:off x="0" y="2491563"/>
            <a:ext cx="12192000" cy="842963"/>
          </a:xfrm>
          <a:prstGeom prst="rect">
            <a:avLst/>
          </a:prstGeom>
        </p:spPr>
        <p:txBody>
          <a:bodyPr tIns="12065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5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You...</a:t>
            </a:r>
            <a:endParaRPr lang="en-US" altLang="en-US" sz="5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89400" y="5293995"/>
            <a:ext cx="4013200" cy="9239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Ahsan Arif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 (Dept. of Software Engineering)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ahsanarif.se42@gmail.com</a:t>
            </a:r>
            <a:r>
              <a:rPr lang="en-US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7328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673</TotalTime>
  <Words>1472</Words>
  <Application>Microsoft Office PowerPoint</Application>
  <PresentationFormat>Widescreen</PresentationFormat>
  <Paragraphs>222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Courier New</vt:lpstr>
      <vt:lpstr>Gill Sans MT</vt:lpstr>
      <vt:lpstr>Times New Roman</vt:lpstr>
      <vt:lpstr>Wingdings</vt:lpstr>
      <vt:lpstr>Parcel</vt:lpstr>
      <vt:lpstr>LAB 2 SOFTWARE DESIGN AND ARCHITECTURE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2: Use Case Diagram </dc:title>
  <dc:creator>HP</dc:creator>
  <cp:lastModifiedBy>HP</cp:lastModifiedBy>
  <cp:revision>168</cp:revision>
  <dcterms:created xsi:type="dcterms:W3CDTF">2024-02-20T05:16:53Z</dcterms:created>
  <dcterms:modified xsi:type="dcterms:W3CDTF">2024-02-20T17:24:15Z</dcterms:modified>
</cp:coreProperties>
</file>