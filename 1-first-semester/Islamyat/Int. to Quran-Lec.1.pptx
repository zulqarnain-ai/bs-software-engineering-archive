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handoutMasterIdLst>
    <p:handoutMasterId r:id="rId33"/>
  </p:handoutMasterIdLst>
  <p:sldIdLst>
    <p:sldId id="596" r:id="rId2"/>
    <p:sldId id="598" r:id="rId3"/>
    <p:sldId id="599" r:id="rId4"/>
    <p:sldId id="1029" r:id="rId5"/>
    <p:sldId id="1036" r:id="rId6"/>
    <p:sldId id="990" r:id="rId7"/>
    <p:sldId id="1037" r:id="rId8"/>
    <p:sldId id="1031" r:id="rId9"/>
    <p:sldId id="991" r:id="rId10"/>
    <p:sldId id="993" r:id="rId11"/>
    <p:sldId id="995" r:id="rId12"/>
    <p:sldId id="1048" r:id="rId13"/>
    <p:sldId id="1038" r:id="rId14"/>
    <p:sldId id="1026" r:id="rId15"/>
    <p:sldId id="1032" r:id="rId16"/>
    <p:sldId id="1033" r:id="rId17"/>
    <p:sldId id="1034" r:id="rId18"/>
    <p:sldId id="1017" r:id="rId19"/>
    <p:sldId id="1035" r:id="rId20"/>
    <p:sldId id="923" r:id="rId21"/>
    <p:sldId id="946" r:id="rId22"/>
    <p:sldId id="1039" r:id="rId23"/>
    <p:sldId id="1040" r:id="rId24"/>
    <p:sldId id="1042" r:id="rId25"/>
    <p:sldId id="1043" r:id="rId26"/>
    <p:sldId id="1044" r:id="rId27"/>
    <p:sldId id="1045" r:id="rId28"/>
    <p:sldId id="1046" r:id="rId29"/>
    <p:sldId id="1047" r:id="rId30"/>
    <p:sldId id="1021"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60"/>
  </p:normalViewPr>
  <p:slideViewPr>
    <p:cSldViewPr>
      <p:cViewPr varScale="1">
        <p:scale>
          <a:sx n="68" d="100"/>
          <a:sy n="68" d="100"/>
        </p:scale>
        <p:origin x="-1392"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4B27E3-A6BF-4330-81F4-BF0980F8EACE}" type="datetimeFigureOut">
              <a:rPr lang="en-US" smtClean="0"/>
              <a:pPr/>
              <a:t>2/8/2017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CCC4BB-BBA4-48A4-8619-0B1476C44720}"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E3C16C-0D9B-4F0A-8C90-890036E72960}" type="datetimeFigureOut">
              <a:rPr lang="en-US" smtClean="0"/>
              <a:pPr/>
              <a:t>2/8/2017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FE9046A-939F-4F33-B20F-BCC3EACAE3C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55FD2D-B472-40E6-A2D8-F7497D17A484}" type="slidenum">
              <a:rPr lang="ar-SA"/>
              <a:pPr/>
              <a:t>21</a:t>
            </a:fld>
            <a:endParaRPr lang="en-US"/>
          </a:p>
        </p:txBody>
      </p:sp>
      <p:sp>
        <p:nvSpPr>
          <p:cNvPr id="164866" name="Rectangle 2"/>
          <p:cNvSpPr>
            <a:spLocks noGrp="1" noRot="1" noChangeAspect="1" noChangeArrowheads="1" noTextEdit="1"/>
          </p:cNvSpPr>
          <p:nvPr>
            <p:ph type="sldImg"/>
          </p:nvPr>
        </p:nvSpPr>
        <p:spPr>
          <a:xfrm>
            <a:off x="1152525" y="692150"/>
            <a:ext cx="4554538" cy="3416300"/>
          </a:xfrm>
          <a:ln w="12700" cap="flat">
            <a:solidFill>
              <a:schemeClr val="tx1"/>
            </a:solidFill>
          </a:ln>
        </p:spPr>
      </p:sp>
      <p:sp>
        <p:nvSpPr>
          <p:cNvPr id="164867" name="Rectangle 3"/>
          <p:cNvSpPr>
            <a:spLocks noGrp="1" noChangeArrowheads="1"/>
          </p:cNvSpPr>
          <p:nvPr>
            <p:ph type="body" idx="1"/>
          </p:nvPr>
        </p:nvSpPr>
        <p:spPr>
          <a:xfrm>
            <a:off x="912813" y="4343400"/>
            <a:ext cx="5032375" cy="4114800"/>
          </a:xfrm>
          <a:ln/>
        </p:spPr>
        <p:txBody>
          <a:bodyPr lIns="92084" tIns="46043" rIns="92084" bIns="46043"/>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rgbClr val="0070C0"/>
                </a:solidFill>
              </a:defRPr>
            </a:lvl1p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C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FA179B0-F36C-4D73-8491-E48D749811F0}" type="datetime1">
              <a:rPr lang="en-US" smtClean="0"/>
              <a:pPr/>
              <a:t>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C91BCE-F812-4952-A23B-44D6EE9BB165}" type="slidenum">
              <a:rPr lang="en-US" smtClean="0"/>
              <a:pPr/>
              <a:t>‹#›</a:t>
            </a:fld>
            <a:endParaRPr lang="en-US"/>
          </a:p>
        </p:txBody>
      </p:sp>
      <p:cxnSp>
        <p:nvCxnSpPr>
          <p:cNvPr id="8" name="Straight Connector 7"/>
          <p:cNvCxnSpPr/>
          <p:nvPr userDrawn="1"/>
        </p:nvCxnSpPr>
        <p:spPr>
          <a:xfrm>
            <a:off x="0" y="3733800"/>
            <a:ext cx="9144000" cy="0"/>
          </a:xfrm>
          <a:prstGeom prst="line">
            <a:avLst/>
          </a:prstGeom>
          <a:ln w="76200"/>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2pPr>
              <a:defRPr>
                <a:solidFill>
                  <a:srgbClr val="0070C0"/>
                </a:solidFill>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DD03461E-DC37-4054-9F6B-6F9393E106CD}" type="datetime1">
              <a:rPr lang="en-US" smtClean="0"/>
              <a:pPr/>
              <a:t>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C91BCE-F812-4952-A23B-44D6EE9BB165}" type="slidenum">
              <a:rPr lang="en-US" smtClean="0"/>
              <a:pPr/>
              <a:t>‹#›</a:t>
            </a:fld>
            <a:r>
              <a:rPr lang="en-US" smtClean="0"/>
              <a:t> of 40</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D9196E-FF00-4110-B8A6-234BF8BA09E4}" type="datetime1">
              <a:rPr lang="en-US" smtClean="0"/>
              <a:pPr/>
              <a:t>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C91BCE-F812-4952-A23B-44D6EE9BB16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97E5FE-650F-4C51-AC27-2E8C7B704F89}" type="datetime1">
              <a:rPr lang="en-US" smtClean="0"/>
              <a:pPr/>
              <a:t>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C91BCE-F812-4952-A23B-44D6EE9BB16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169A00-B168-4422-BCB3-BB76F7D2C90D}" type="datetime1">
              <a:rPr lang="en-US" smtClean="0"/>
              <a:pPr/>
              <a:t>2/8/2017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C91BCE-F812-4952-A23B-44D6EE9BB16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00BA765-C4BE-43E7-A77A-74339A0E1CE4}" type="datetime1">
              <a:rPr lang="en-US" smtClean="0"/>
              <a:pPr/>
              <a:t>2/8/2017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C91BCE-F812-4952-A23B-44D6EE9BB16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1BBCC0-A0F5-4106-8CE3-D466692C3081}" type="datetime1">
              <a:rPr lang="en-US" smtClean="0"/>
              <a:pPr/>
              <a:t>2/8/2017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C91BCE-F812-4952-A23B-44D6EE9BB16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7D7381-2EAA-4414-A38F-E49F3CED74B0}" type="datetime1">
              <a:rPr lang="en-US" smtClean="0"/>
              <a:pPr/>
              <a:t>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C91BCE-F812-4952-A23B-44D6EE9BB16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9A94B6A-4504-49EB-904F-4D8D177EC8C9}" type="datetime1">
              <a:rPr lang="en-US" smtClean="0"/>
              <a:pPr/>
              <a:t>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C91BCE-F812-4952-A23B-44D6EE9BB16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FECF25-3070-4056-9E4B-76AA8CF7B139}" type="datetime1">
              <a:rPr lang="en-US" smtClean="0"/>
              <a:pPr/>
              <a:t>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C91BCE-F812-4952-A23B-44D6EE9BB16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D4B1031-974C-40B5-BFDB-A2E3665A48D5}" type="datetime1">
              <a:rPr lang="en-US" smtClean="0"/>
              <a:pPr/>
              <a:t>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C91BCE-F812-4952-A23B-44D6EE9BB16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152400"/>
            <a:ext cx="84582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AE94C4-0E2C-479D-808C-17867F754C91}" type="datetime1">
              <a:rPr lang="en-US" smtClean="0"/>
              <a:pPr/>
              <a:t>2/8/2017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C91BCE-F812-4952-A23B-44D6EE9BB165}" type="slidenum">
              <a:rPr lang="en-US" smtClean="0"/>
              <a:pPr/>
              <a:t>‹#›</a:t>
            </a:fld>
            <a:r>
              <a:rPr lang="en-US" smtClean="0"/>
              <a:t> of 40</a:t>
            </a:r>
            <a:endParaRPr lang="en-US"/>
          </a:p>
        </p:txBody>
      </p:sp>
      <p:cxnSp>
        <p:nvCxnSpPr>
          <p:cNvPr id="7" name="Straight Connector 6"/>
          <p:cNvCxnSpPr/>
          <p:nvPr userDrawn="1"/>
        </p:nvCxnSpPr>
        <p:spPr>
          <a:xfrm>
            <a:off x="0" y="1447800"/>
            <a:ext cx="9144000" cy="0"/>
          </a:xfrm>
          <a:prstGeom prst="line">
            <a:avLst/>
          </a:prstGeom>
          <a:ln w="76200"/>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rgbClr val="0070C0"/>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0070C0"/>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rgbClr val="C00000"/>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C91BCE-F812-4952-A23B-44D6EE9BB165}" type="slidenum">
              <a:rPr lang="en-US" smtClean="0"/>
              <a:pPr/>
              <a:t>1</a:t>
            </a:fld>
            <a:endParaRPr lang="en-US"/>
          </a:p>
        </p:txBody>
      </p:sp>
      <p:pic>
        <p:nvPicPr>
          <p:cNvPr id="4" name="irc_mi" descr="http://www.2muslims.com/images/postcards/postcards/Bismillah/bismillah_islamic_gallery_Bism002-m_jpg.jpg"/>
          <p:cNvPicPr/>
          <p:nvPr/>
        </p:nvPicPr>
        <p:blipFill>
          <a:blip r:embed="rId2" cstate="print"/>
          <a:srcRect b="5322"/>
          <a:stretch>
            <a:fillRect/>
          </a:stretch>
        </p:blipFill>
        <p:spPr bwMode="auto">
          <a:xfrm>
            <a:off x="0" y="0"/>
            <a:ext cx="9143999" cy="6858000"/>
          </a:xfrm>
          <a:prstGeom prst="rect">
            <a:avLst/>
          </a:prstGeom>
          <a:noFill/>
          <a:ln w="9525">
            <a:noFill/>
            <a:miter lim="800000"/>
            <a:headEnd/>
            <a:tailEnd/>
          </a:ln>
        </p:spPr>
      </p:pic>
      <p:sp>
        <p:nvSpPr>
          <p:cNvPr id="5" name="Rectangle 4"/>
          <p:cNvSpPr/>
          <p:nvPr/>
        </p:nvSpPr>
        <p:spPr>
          <a:xfrm>
            <a:off x="4447607" y="3244334"/>
            <a:ext cx="248786" cy="369332"/>
          </a:xfrm>
          <a:prstGeom prst="rect">
            <a:avLst/>
          </a:prstGeom>
        </p:spPr>
        <p:txBody>
          <a:bodyPr wrap="none">
            <a:spAutoFit/>
          </a:bodyPr>
          <a:lstStyle/>
          <a:p>
            <a:r>
              <a:rPr lang="en-US" smtClean="0"/>
              <a:t> </a:t>
            </a:r>
            <a:endParaRPr lang="en-US"/>
          </a:p>
        </p:txBody>
      </p:sp>
    </p:spTree>
  </p:cSld>
  <p:clrMapOvr>
    <a:masterClrMapping/>
  </p:clrMapOvr>
  <p:transition>
    <p:wedg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62000" y="2209800"/>
            <a:ext cx="7623175" cy="1524000"/>
          </a:xfrm>
        </p:spPr>
        <p:txBody>
          <a:bodyPr>
            <a:normAutofit/>
          </a:bodyPr>
          <a:lstStyle/>
          <a:p>
            <a:pPr algn="ctr"/>
            <a:r>
              <a:rPr lang="en-US" sz="8000" b="1" dirty="0" smtClean="0"/>
              <a:t>Lecture</a:t>
            </a:r>
            <a:endParaRPr lang="en-US" sz="8000" dirty="0"/>
          </a:p>
        </p:txBody>
      </p:sp>
      <p:pic>
        <p:nvPicPr>
          <p:cNvPr id="2058" name="Picture 10" descr="untitled"/>
          <p:cNvPicPr>
            <a:picLocks noChangeAspect="1" noChangeArrowheads="1"/>
          </p:cNvPicPr>
          <p:nvPr/>
        </p:nvPicPr>
        <p:blipFill>
          <a:blip r:embed="rId2" cstate="print"/>
          <a:srcRect/>
          <a:stretch>
            <a:fillRect/>
          </a:stretch>
        </p:blipFill>
        <p:spPr bwMode="auto">
          <a:xfrm>
            <a:off x="685800" y="1371600"/>
            <a:ext cx="2876550" cy="866775"/>
          </a:xfrm>
          <a:prstGeom prst="rect">
            <a:avLst/>
          </a:prstGeom>
          <a:noFill/>
        </p:spPr>
      </p:pic>
      <p:sp>
        <p:nvSpPr>
          <p:cNvPr id="5" name="Subtitle 2"/>
          <p:cNvSpPr>
            <a:spLocks noGrp="1"/>
          </p:cNvSpPr>
          <p:nvPr>
            <p:ph type="subTitle" idx="1"/>
          </p:nvPr>
        </p:nvSpPr>
        <p:spPr>
          <a:xfrm>
            <a:off x="457200" y="3886200"/>
            <a:ext cx="8382000" cy="1752600"/>
          </a:xfrm>
        </p:spPr>
        <p:txBody>
          <a:bodyPr/>
          <a:lstStyle/>
          <a:p>
            <a:r>
              <a:rPr lang="en-US" sz="3600" b="1" dirty="0" smtClean="0">
                <a:solidFill>
                  <a:schemeClr val="tx1"/>
                </a:solidFill>
                <a:latin typeface="Arial" pitchFamily="34" charset="0"/>
                <a:cs typeface="Arial" pitchFamily="34" charset="0"/>
              </a:rPr>
              <a:t>INTRODUCTION TO QURANIC STUDIES</a:t>
            </a:r>
            <a:endParaRPr lang="en-US" dirty="0">
              <a:solidFill>
                <a:schemeClr val="tx1"/>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sz="3600" b="1" dirty="0" smtClean="0">
                <a:solidFill>
                  <a:schemeClr val="tx1"/>
                </a:solidFill>
              </a:rPr>
              <a:t>By Muhammad </a:t>
            </a:r>
            <a:r>
              <a:rPr lang="en-US" sz="3600" b="1" dirty="0" err="1" smtClean="0">
                <a:solidFill>
                  <a:schemeClr val="tx1"/>
                </a:solidFill>
              </a:rPr>
              <a:t>Ajmal</a:t>
            </a:r>
            <a:r>
              <a:rPr lang="en-US" sz="3600" b="1" dirty="0" smtClean="0">
                <a:solidFill>
                  <a:schemeClr val="tx1"/>
                </a:solidFill>
              </a:rPr>
              <a:t> </a:t>
            </a:r>
            <a:r>
              <a:rPr lang="en-US" sz="3600" b="1" dirty="0" err="1" smtClean="0">
                <a:solidFill>
                  <a:schemeClr val="tx1"/>
                </a:solidFill>
              </a:rPr>
              <a:t>Farooq</a:t>
            </a:r>
            <a:endParaRPr lang="en-US" sz="3600" b="1" dirty="0">
              <a:solidFill>
                <a:schemeClr val="tx1"/>
              </a:solidFill>
            </a:endParaRPr>
          </a:p>
        </p:txBody>
      </p:sp>
      <p:sp>
        <p:nvSpPr>
          <p:cNvPr id="5" name="Title 4"/>
          <p:cNvSpPr>
            <a:spLocks noGrp="1"/>
          </p:cNvSpPr>
          <p:nvPr>
            <p:ph type="ctrTitle"/>
          </p:nvPr>
        </p:nvSpPr>
        <p:spPr>
          <a:xfrm>
            <a:off x="685800" y="1524001"/>
            <a:ext cx="7772400" cy="1600200"/>
          </a:xfrm>
        </p:spPr>
        <p:txBody>
          <a:bodyPr/>
          <a:lstStyle/>
          <a:p>
            <a:r>
              <a:rPr lang="en-US" b="1" dirty="0" smtClean="0"/>
              <a:t>Introduction to Holy Quran and Its Compilation</a:t>
            </a:r>
            <a:endParaRPr lang="en-US"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04800"/>
            <a:ext cx="7772400" cy="914400"/>
          </a:xfrm>
        </p:spPr>
        <p:txBody>
          <a:bodyPr/>
          <a:lstStyle/>
          <a:p>
            <a:r>
              <a:rPr lang="en-US" sz="5400" b="1" u="sng" dirty="0" smtClean="0">
                <a:solidFill>
                  <a:schemeClr val="accent6">
                    <a:lumMod val="75000"/>
                  </a:schemeClr>
                </a:solidFill>
                <a:effectLst>
                  <a:outerShdw blurRad="38100" dist="38100" dir="2700000" algn="tl">
                    <a:srgbClr val="000000">
                      <a:alpha val="43137"/>
                    </a:srgbClr>
                  </a:outerShdw>
                </a:effectLst>
                <a:latin typeface="Rockwell" pitchFamily="18" charset="0"/>
              </a:rPr>
              <a:t>Out Lines</a:t>
            </a:r>
            <a:endParaRPr lang="en-US" sz="5400" b="1" u="sng" dirty="0">
              <a:solidFill>
                <a:schemeClr val="accent6">
                  <a:lumMod val="75000"/>
                </a:schemeClr>
              </a:solidFill>
              <a:effectLst>
                <a:outerShdw blurRad="38100" dist="38100" dir="2700000" algn="tl">
                  <a:srgbClr val="000000">
                    <a:alpha val="43137"/>
                  </a:srgbClr>
                </a:outerShdw>
              </a:effectLst>
            </a:endParaRPr>
          </a:p>
        </p:txBody>
      </p:sp>
      <p:sp>
        <p:nvSpPr>
          <p:cNvPr id="10243" name="Rectangle 3"/>
          <p:cNvSpPr>
            <a:spLocks noGrp="1" noChangeArrowheads="1"/>
          </p:cNvSpPr>
          <p:nvPr>
            <p:ph type="body" idx="1"/>
          </p:nvPr>
        </p:nvSpPr>
        <p:spPr>
          <a:xfrm>
            <a:off x="0" y="1524000"/>
            <a:ext cx="5334000" cy="5181600"/>
          </a:xfrm>
        </p:spPr>
        <p:txBody>
          <a:bodyPr>
            <a:normAutofit lnSpcReduction="10000"/>
          </a:bodyPr>
          <a:lstStyle/>
          <a:p>
            <a:pPr lvl="1">
              <a:buFont typeface="Wingdings"/>
              <a:buChar char="v"/>
            </a:pPr>
            <a:r>
              <a:rPr lang="en-US" sz="3600" b="1" dirty="0" smtClean="0">
                <a:latin typeface="AvantGarde Md BT" pitchFamily="34" charset="0"/>
              </a:rPr>
              <a:t>BASIC CONCEPT OF THE HOLY </a:t>
            </a:r>
            <a:r>
              <a:rPr lang="en-US" sz="3600" b="1" dirty="0" smtClean="0">
                <a:latin typeface="AvantGarde Md BT" pitchFamily="34" charset="0"/>
              </a:rPr>
              <a:t>QURAN</a:t>
            </a:r>
            <a:endParaRPr lang="en-US" sz="3600" b="1" dirty="0" smtClean="0">
              <a:latin typeface="AvantGarde Md BT" pitchFamily="34" charset="0"/>
            </a:endParaRPr>
          </a:p>
          <a:p>
            <a:pPr marL="411480" lvl="1" indent="0">
              <a:buNone/>
            </a:pPr>
            <a:r>
              <a:rPr lang="en-US" sz="3600" b="1" dirty="0" smtClean="0">
                <a:latin typeface="AvantGarde Md BT" pitchFamily="34" charset="0"/>
              </a:rPr>
              <a:t> </a:t>
            </a:r>
          </a:p>
          <a:p>
            <a:pPr lvl="1">
              <a:buFont typeface="Wingdings"/>
              <a:buChar char="v"/>
            </a:pPr>
            <a:r>
              <a:rPr lang="en-US" sz="3600" b="1" dirty="0" smtClean="0">
                <a:latin typeface="AvantGarde Md BT" pitchFamily="34" charset="0"/>
              </a:rPr>
              <a:t> HISTORY OF THE HOLY QURAN</a:t>
            </a:r>
          </a:p>
          <a:p>
            <a:pPr marL="411480" lvl="1" indent="0">
              <a:buNone/>
            </a:pPr>
            <a:endParaRPr lang="en-US" sz="3600" b="1" dirty="0" smtClean="0">
              <a:latin typeface="AvantGarde Md BT" pitchFamily="34" charset="0"/>
            </a:endParaRPr>
          </a:p>
          <a:p>
            <a:pPr lvl="1">
              <a:buFont typeface="Wingdings"/>
              <a:buChar char="v"/>
            </a:pPr>
            <a:r>
              <a:rPr lang="en-US" sz="3600" b="1" dirty="0" smtClean="0">
                <a:latin typeface="AvantGarde Md BT" pitchFamily="34" charset="0"/>
              </a:rPr>
              <a:t> ULOOM UL QURAN</a:t>
            </a:r>
            <a:endParaRPr lang="en-US" sz="3200" b="1" dirty="0" smtClean="0">
              <a:latin typeface="AvantGarde Md BT" pitchFamily="34" charset="0"/>
            </a:endParaRPr>
          </a:p>
          <a:p>
            <a:pPr lvl="1">
              <a:buFont typeface="Wingdings"/>
              <a:buChar char="v"/>
            </a:pPr>
            <a:endParaRPr lang="en-US" sz="3300" b="1" dirty="0" smtClean="0">
              <a:latin typeface="AvantGarde Md BT" pitchFamily="34" charset="0"/>
            </a:endParaRPr>
          </a:p>
          <a:p>
            <a:pPr lvl="1">
              <a:buFont typeface="Wingdings"/>
              <a:buChar char="v"/>
            </a:pPr>
            <a:endParaRPr lang="en-US" b="1" dirty="0" smtClean="0">
              <a:latin typeface="AvantGarde Md BT" pitchFamily="34" charset="0"/>
            </a:endParaRPr>
          </a:p>
        </p:txBody>
      </p:sp>
      <p:sp>
        <p:nvSpPr>
          <p:cNvPr id="4" name="Slide Number Placeholder 3"/>
          <p:cNvSpPr>
            <a:spLocks noGrp="1"/>
          </p:cNvSpPr>
          <p:nvPr>
            <p:ph type="sldNum" sz="quarter" idx="12"/>
          </p:nvPr>
        </p:nvSpPr>
        <p:spPr/>
        <p:txBody>
          <a:bodyPr/>
          <a:lstStyle/>
          <a:p>
            <a:fld id="{78C91BCE-F812-4952-A23B-44D6EE9BB165}" type="slidenum">
              <a:rPr lang="en-US" smtClean="0"/>
              <a:pPr/>
              <a:t>4</a:t>
            </a:fld>
            <a:endParaRPr lang="en-US"/>
          </a:p>
        </p:txBody>
      </p:sp>
      <p:pic>
        <p:nvPicPr>
          <p:cNvPr id="1026" name="Picture 2" descr="http://www.shahinshah.com/images/pakistan/al-quran.jpg"/>
          <p:cNvPicPr>
            <a:picLocks noChangeAspect="1" noChangeArrowheads="1"/>
          </p:cNvPicPr>
          <p:nvPr/>
        </p:nvPicPr>
        <p:blipFill>
          <a:blip r:embed="rId2" cstate="print"/>
          <a:srcRect/>
          <a:stretch>
            <a:fillRect/>
          </a:stretch>
        </p:blipFill>
        <p:spPr bwMode="auto">
          <a:xfrm>
            <a:off x="5334000" y="1447800"/>
            <a:ext cx="3810000" cy="54102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smtClean="0">
                <a:latin typeface="Times New Roman" pitchFamily="18" charset="0"/>
                <a:cs typeface="Times New Roman" pitchFamily="18" charset="0"/>
              </a:rPr>
              <a:t>Sub Division</a:t>
            </a:r>
            <a:endParaRPr lang="en-US" dirty="0" smtClean="0">
              <a:latin typeface="Times New Roman" pitchFamily="18" charset="0"/>
              <a:cs typeface="Times New Roman" pitchFamily="18" charset="0"/>
            </a:endParaRPr>
          </a:p>
        </p:txBody>
      </p:sp>
      <p:sp>
        <p:nvSpPr>
          <p:cNvPr id="3075" name="AutoShape 3"/>
          <p:cNvSpPr>
            <a:spLocks noGrp="1" noChangeAspect="1" noChangeArrowheads="1"/>
          </p:cNvSpPr>
          <p:nvPr>
            <p:ph type="body" idx="1"/>
          </p:nvPr>
        </p:nvSpPr>
        <p:spPr>
          <a:xfrm>
            <a:off x="457200" y="1600200"/>
            <a:ext cx="8229600" cy="5257800"/>
          </a:xfrm>
        </p:spPr>
        <p:txBody>
          <a:bodyPr>
            <a:normAutofit fontScale="70000" lnSpcReduction="20000"/>
          </a:bodyPr>
          <a:lstStyle/>
          <a:p>
            <a:pPr lvl="1">
              <a:buFont typeface="Wingdings" pitchFamily="2" charset="2"/>
              <a:buChar char="v"/>
            </a:pPr>
            <a:r>
              <a:rPr lang="en-US" sz="3300" b="1" dirty="0" smtClean="0">
                <a:latin typeface="AvantGarde Md BT" pitchFamily="34" charset="0"/>
              </a:rPr>
              <a:t>Basic Concept of Holy Quran</a:t>
            </a:r>
          </a:p>
          <a:p>
            <a:pPr lvl="3">
              <a:buFont typeface="Courier New" pitchFamily="49" charset="0"/>
              <a:buChar char="o"/>
            </a:pPr>
            <a:r>
              <a:rPr lang="en-US" sz="2500" b="1" dirty="0" smtClean="0">
                <a:latin typeface="AvantGarde Md BT" pitchFamily="34" charset="0"/>
              </a:rPr>
              <a:t>Introduction </a:t>
            </a:r>
            <a:r>
              <a:rPr lang="en-US" sz="2500" b="1" dirty="0" smtClean="0">
                <a:latin typeface="AvantGarde Md BT" pitchFamily="34" charset="0"/>
              </a:rPr>
              <a:t>to </a:t>
            </a:r>
            <a:r>
              <a:rPr lang="en-US" sz="2500" b="1" dirty="0" smtClean="0">
                <a:latin typeface="AvantGarde Md BT" pitchFamily="34" charset="0"/>
              </a:rPr>
              <a:t>Holy Quran </a:t>
            </a:r>
            <a:endParaRPr lang="en-US" sz="2500" b="1" dirty="0" smtClean="0">
              <a:latin typeface="AvantGarde Md BT" pitchFamily="34" charset="0"/>
            </a:endParaRPr>
          </a:p>
          <a:p>
            <a:pPr lvl="3">
              <a:buFont typeface="Courier New" pitchFamily="49" charset="0"/>
              <a:buChar char="o"/>
            </a:pPr>
            <a:r>
              <a:rPr lang="en-US" sz="2500" b="1" dirty="0" smtClean="0">
                <a:latin typeface="AvantGarde Md BT" pitchFamily="34" charset="0"/>
              </a:rPr>
              <a:t> Meaning of the </a:t>
            </a:r>
            <a:r>
              <a:rPr lang="en-US" sz="2500" b="1" dirty="0" smtClean="0">
                <a:latin typeface="AvantGarde Md BT" pitchFamily="34" charset="0"/>
              </a:rPr>
              <a:t>word “Quran” and Definition</a:t>
            </a:r>
          </a:p>
          <a:p>
            <a:pPr lvl="3">
              <a:buFont typeface="Courier New" pitchFamily="49" charset="0"/>
              <a:buChar char="o"/>
            </a:pPr>
            <a:r>
              <a:rPr lang="en-US" sz="2800" b="1" dirty="0" smtClean="0"/>
              <a:t>The period of </a:t>
            </a:r>
            <a:r>
              <a:rPr lang="en-US" sz="2800" b="1" dirty="0" smtClean="0"/>
              <a:t>Revelation</a:t>
            </a:r>
          </a:p>
          <a:p>
            <a:pPr lvl="3">
              <a:buFont typeface="Courier New" pitchFamily="49" charset="0"/>
              <a:buChar char="o"/>
            </a:pPr>
            <a:r>
              <a:rPr lang="en-US" sz="2800" b="1" dirty="0" smtClean="0"/>
              <a:t>First </a:t>
            </a:r>
            <a:r>
              <a:rPr lang="en-US" sz="2800" b="1" dirty="0" smtClean="0"/>
              <a:t>Revelation</a:t>
            </a:r>
          </a:p>
          <a:p>
            <a:pPr lvl="3">
              <a:buFont typeface="Courier New" pitchFamily="49" charset="0"/>
              <a:buChar char="o"/>
            </a:pPr>
            <a:r>
              <a:rPr lang="en-US" sz="2800" b="1" dirty="0" smtClean="0"/>
              <a:t>The Subject of the Qur’an</a:t>
            </a:r>
            <a:endParaRPr lang="en-US" sz="2500" b="1" dirty="0" smtClean="0">
              <a:latin typeface="AvantGarde Md BT" pitchFamily="34" charset="0"/>
            </a:endParaRPr>
          </a:p>
          <a:p>
            <a:pPr lvl="1">
              <a:buFont typeface="Wingdings"/>
              <a:buChar char="v"/>
            </a:pPr>
            <a:r>
              <a:rPr lang="en-US" sz="3300" b="1" dirty="0" smtClean="0">
                <a:latin typeface="AvantGarde Md BT" pitchFamily="34" charset="0"/>
              </a:rPr>
              <a:t>History </a:t>
            </a:r>
            <a:r>
              <a:rPr lang="en-US" sz="3300" b="1" dirty="0" smtClean="0">
                <a:latin typeface="AvantGarde Md BT" pitchFamily="34" charset="0"/>
              </a:rPr>
              <a:t>of the Holy </a:t>
            </a:r>
            <a:r>
              <a:rPr lang="en-US" sz="3300" b="1" dirty="0" smtClean="0">
                <a:latin typeface="AvantGarde Md BT" pitchFamily="34" charset="0"/>
              </a:rPr>
              <a:t>Quran</a:t>
            </a:r>
            <a:endParaRPr lang="en-US" sz="3300" b="1" dirty="0" smtClean="0">
              <a:latin typeface="AvantGarde Md BT"/>
            </a:endParaRPr>
          </a:p>
          <a:p>
            <a:pPr lvl="3">
              <a:buFont typeface="Courier New" pitchFamily="49" charset="0"/>
              <a:buChar char="o"/>
            </a:pPr>
            <a:r>
              <a:rPr lang="en-US" sz="2800" b="1" dirty="0" smtClean="0">
                <a:latin typeface="AvantGarde Md BT"/>
              </a:rPr>
              <a:t>Compilation </a:t>
            </a:r>
            <a:r>
              <a:rPr lang="en-US" sz="2800" b="1" dirty="0" smtClean="0">
                <a:latin typeface="AvantGarde Md BT"/>
              </a:rPr>
              <a:t>of the holy </a:t>
            </a:r>
            <a:r>
              <a:rPr lang="en-US" sz="2800" b="1" dirty="0" smtClean="0">
                <a:latin typeface="AvantGarde Md BT"/>
              </a:rPr>
              <a:t>Quran</a:t>
            </a:r>
          </a:p>
          <a:p>
            <a:pPr lvl="3">
              <a:buFont typeface="Wingdings" pitchFamily="2" charset="2"/>
              <a:buChar char="v"/>
            </a:pPr>
            <a:r>
              <a:rPr lang="en-US" sz="2800" b="1" dirty="0" err="1" smtClean="0"/>
              <a:t>Quranic</a:t>
            </a:r>
            <a:r>
              <a:rPr lang="en-US" sz="2800" b="1" dirty="0" smtClean="0"/>
              <a:t> distinguish</a:t>
            </a:r>
            <a:endParaRPr lang="en-US" sz="2800" b="1" dirty="0" smtClean="0">
              <a:latin typeface="AvantGarde Md BT"/>
            </a:endParaRPr>
          </a:p>
          <a:p>
            <a:pPr lvl="3">
              <a:buFont typeface="Courier New" pitchFamily="49" charset="0"/>
              <a:buChar char="o"/>
            </a:pPr>
            <a:r>
              <a:rPr lang="en-US" sz="2800" b="1" dirty="0" smtClean="0">
                <a:latin typeface="AvantGarde Md BT"/>
                <a:cs typeface="Arial" charset="0"/>
              </a:rPr>
              <a:t>The </a:t>
            </a:r>
            <a:r>
              <a:rPr lang="en-US" sz="2800" b="1" dirty="0" smtClean="0">
                <a:latin typeface="AvantGarde Md BT"/>
                <a:cs typeface="Arial" charset="0"/>
              </a:rPr>
              <a:t>Rights Of </a:t>
            </a:r>
            <a:r>
              <a:rPr lang="en-US" sz="2800" b="1" dirty="0" smtClean="0">
                <a:latin typeface="AvantGarde Md BT"/>
                <a:cs typeface="Arial" charset="0"/>
              </a:rPr>
              <a:t>Qur’an</a:t>
            </a:r>
          </a:p>
          <a:p>
            <a:pPr lvl="1">
              <a:buFont typeface="Wingdings" pitchFamily="2" charset="2"/>
              <a:buChar char="v"/>
            </a:pPr>
            <a:r>
              <a:rPr lang="en-US" sz="3600" b="1" dirty="0" err="1" smtClean="0">
                <a:latin typeface="AvantGarde Md BT"/>
                <a:cs typeface="Arial" charset="0"/>
              </a:rPr>
              <a:t>Uloom</a:t>
            </a:r>
            <a:r>
              <a:rPr lang="en-US" sz="3600" b="1" dirty="0" smtClean="0">
                <a:latin typeface="AvantGarde Md BT"/>
                <a:cs typeface="Arial" charset="0"/>
              </a:rPr>
              <a:t>-</a:t>
            </a:r>
            <a:r>
              <a:rPr lang="en-US" sz="3600" b="1" dirty="0" err="1" smtClean="0">
                <a:latin typeface="AvantGarde Md BT"/>
                <a:cs typeface="Arial" charset="0"/>
              </a:rPr>
              <a:t>ul</a:t>
            </a:r>
            <a:r>
              <a:rPr lang="en-US" sz="3600" b="1" dirty="0" smtClean="0">
                <a:latin typeface="AvantGarde Md BT"/>
                <a:cs typeface="Arial" charset="0"/>
              </a:rPr>
              <a:t>-Quran</a:t>
            </a:r>
          </a:p>
          <a:p>
            <a:pPr lvl="3">
              <a:buFont typeface="Courier New" pitchFamily="49" charset="0"/>
              <a:buChar char="o"/>
            </a:pPr>
            <a:r>
              <a:rPr lang="arn-CL" sz="2400" b="1" dirty="0" smtClean="0">
                <a:latin typeface="AvantGarde Md BT"/>
              </a:rPr>
              <a:t>Two Patren of Transmission of the Holy Quran</a:t>
            </a:r>
          </a:p>
          <a:p>
            <a:pPr lvl="3">
              <a:buFont typeface="Courier New" pitchFamily="49" charset="0"/>
              <a:buChar char="o"/>
            </a:pPr>
            <a:r>
              <a:rPr lang="arn-CL" sz="2400" b="1" dirty="0" smtClean="0">
                <a:latin typeface="AvantGarde Md BT"/>
              </a:rPr>
              <a:t>Kinds and Categories of revelation </a:t>
            </a:r>
            <a:endParaRPr lang="en-US" sz="2500" b="1" dirty="0" smtClean="0">
              <a:latin typeface="AvantGarde Md BT"/>
            </a:endParaRPr>
          </a:p>
          <a:p>
            <a:pPr lvl="3">
              <a:buFont typeface="Courier New" pitchFamily="49" charset="0"/>
              <a:buChar char="o"/>
            </a:pPr>
            <a:r>
              <a:rPr lang="en-US" sz="2500" b="1" dirty="0" smtClean="0">
                <a:latin typeface="AvantGarde Md BT"/>
              </a:rPr>
              <a:t>The Theme of the Quran</a:t>
            </a:r>
          </a:p>
          <a:p>
            <a:pPr lvl="3">
              <a:buFont typeface="Courier New" pitchFamily="49" charset="0"/>
              <a:buChar char="o"/>
            </a:pPr>
            <a:r>
              <a:rPr lang="en-US" sz="2500" b="1" dirty="0" smtClean="0">
                <a:latin typeface="AvantGarde Md BT"/>
              </a:rPr>
              <a:t>The </a:t>
            </a:r>
            <a:r>
              <a:rPr lang="en-US" sz="2500" b="1" dirty="0" err="1" smtClean="0">
                <a:latin typeface="AvantGarde Md BT"/>
              </a:rPr>
              <a:t>Quranic</a:t>
            </a:r>
            <a:r>
              <a:rPr lang="en-US" sz="2500" b="1" dirty="0" smtClean="0">
                <a:latin typeface="AvantGarde Md BT"/>
              </a:rPr>
              <a:t> order</a:t>
            </a:r>
          </a:p>
          <a:p>
            <a:pPr lvl="3">
              <a:buFont typeface="Courier New" pitchFamily="49" charset="0"/>
              <a:buChar char="o"/>
            </a:pPr>
            <a:r>
              <a:rPr lang="en-US" sz="2500" b="1" dirty="0" err="1" smtClean="0">
                <a:latin typeface="AvantGarde Md BT"/>
              </a:rPr>
              <a:t>Makki</a:t>
            </a:r>
            <a:r>
              <a:rPr lang="en-US" sz="2500" b="1" dirty="0" smtClean="0">
                <a:latin typeface="AvantGarde Md BT"/>
              </a:rPr>
              <a:t> and </a:t>
            </a:r>
            <a:r>
              <a:rPr lang="en-US" sz="2500" b="1" dirty="0" err="1" smtClean="0">
                <a:latin typeface="AvantGarde Md BT"/>
              </a:rPr>
              <a:t>Madni</a:t>
            </a:r>
            <a:r>
              <a:rPr lang="en-US" sz="2500" b="1" dirty="0" smtClean="0">
                <a:latin typeface="AvantGarde Md BT"/>
              </a:rPr>
              <a:t> </a:t>
            </a:r>
            <a:r>
              <a:rPr lang="en-US" sz="2500" b="1" dirty="0" err="1" smtClean="0">
                <a:latin typeface="AvantGarde Md BT"/>
              </a:rPr>
              <a:t>Surahs</a:t>
            </a:r>
            <a:endParaRPr lang="en-US" sz="2500" b="1" dirty="0" smtClean="0">
              <a:latin typeface="AvantGarde Md BT"/>
            </a:endParaRPr>
          </a:p>
          <a:p>
            <a:pPr lvl="1">
              <a:buFont typeface="Wingdings" pitchFamily="2" charset="2"/>
              <a:buChar char="v"/>
            </a:pPr>
            <a:endParaRPr lang="en-US" sz="3600" b="1" dirty="0" smtClean="0">
              <a:latin typeface="AvantGarde Md BT"/>
              <a:cs typeface="Arial" charset="0"/>
            </a:endParaRPr>
          </a:p>
          <a:p>
            <a:pPr lvl="1">
              <a:buFont typeface="Wingdings" pitchFamily="2" charset="2"/>
              <a:buChar char="v"/>
            </a:pPr>
            <a:endParaRPr lang="en-US" sz="3600" b="1" dirty="0" smtClean="0">
              <a:latin typeface="AvantGarde Md BT"/>
            </a:endParaRPr>
          </a:p>
          <a:p>
            <a:pPr marL="514350" indent="-514350">
              <a:buFont typeface="+mj-lt"/>
              <a:buAutoNum type="arabicPeriod"/>
            </a:pPr>
            <a:endParaRPr lang="en-US" dirty="0" smtClean="0"/>
          </a:p>
        </p:txBody>
      </p:sp>
    </p:spTree>
  </p:cSld>
  <p:clrMapOvr>
    <a:masterClrMapping/>
  </p:clrMapOvr>
  <p:transition advTm="13152"/>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smtClean="0"/>
              <a:t>Introduction to Holy Qura’n</a:t>
            </a:r>
            <a:endParaRPr lang="en-US" dirty="0" smtClean="0"/>
          </a:p>
        </p:txBody>
      </p:sp>
      <p:sp>
        <p:nvSpPr>
          <p:cNvPr id="3075" name="AutoShape 3"/>
          <p:cNvSpPr>
            <a:spLocks noGrp="1" noChangeAspect="1" noChangeArrowheads="1"/>
          </p:cNvSpPr>
          <p:nvPr>
            <p:ph type="body" idx="1"/>
          </p:nvPr>
        </p:nvSpPr>
        <p:spPr/>
        <p:txBody>
          <a:bodyPr>
            <a:normAutofit lnSpcReduction="10000"/>
          </a:bodyPr>
          <a:lstStyle/>
          <a:p>
            <a:endParaRPr lang="en-US" smtClean="0"/>
          </a:p>
          <a:p>
            <a:r>
              <a:rPr lang="arn-CL" smtClean="0"/>
              <a:t>The Divine book</a:t>
            </a:r>
            <a:endParaRPr lang="ar-EG" smtClean="0"/>
          </a:p>
          <a:p>
            <a:r>
              <a:rPr lang="arn-CL" smtClean="0"/>
              <a:t>Last revelied to the last Prophet (PBUH) for last Ummah </a:t>
            </a:r>
            <a:endParaRPr lang="en-US" smtClean="0"/>
          </a:p>
          <a:p>
            <a:r>
              <a:rPr lang="en-US" smtClean="0"/>
              <a:t>The Source of Islamic Law</a:t>
            </a:r>
          </a:p>
          <a:p>
            <a:r>
              <a:rPr lang="en-US" smtClean="0"/>
              <a:t>Qura’n as guidance of humanity </a:t>
            </a:r>
          </a:p>
          <a:p>
            <a:r>
              <a:rPr lang="en-US" smtClean="0"/>
              <a:t>Qura’n as cod of life </a:t>
            </a:r>
          </a:p>
          <a:p>
            <a:r>
              <a:rPr lang="en-US" smtClean="0"/>
              <a:t>Qura’n as shifa against diseases </a:t>
            </a:r>
          </a:p>
          <a:p>
            <a:endParaRPr lang="en-US" smtClean="0"/>
          </a:p>
          <a:p>
            <a:endParaRPr lang="en-US" dirty="0" smtClean="0"/>
          </a:p>
        </p:txBody>
      </p:sp>
    </p:spTree>
  </p:cSld>
  <p:clrMapOvr>
    <a:masterClrMapping/>
  </p:clrMapOvr>
  <p:transition advTm="13152"/>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AvantGarde Md BT" pitchFamily="34" charset="0"/>
              </a:rPr>
              <a:t>Meaning of the word “Quran” and Definition</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arn-CL" b="1" dirty="0" smtClean="0"/>
              <a:t>Etmological Meaning of the word </a:t>
            </a:r>
            <a:r>
              <a:rPr lang="en-US" b="1" dirty="0" err="1" smtClean="0"/>
              <a:t>Qura’n</a:t>
            </a:r>
            <a:endParaRPr lang="en-US" b="1" dirty="0" smtClean="0"/>
          </a:p>
          <a:p>
            <a:pPr>
              <a:buFont typeface="Wingdings" pitchFamily="2" charset="2"/>
              <a:buChar char="v"/>
            </a:pPr>
            <a:r>
              <a:rPr lang="en-US" b="1" dirty="0" smtClean="0"/>
              <a:t>Technically it means and Definition</a:t>
            </a:r>
            <a:endParaRPr lang="en-US" b="1" dirty="0"/>
          </a:p>
        </p:txBody>
      </p:sp>
      <p:sp>
        <p:nvSpPr>
          <p:cNvPr id="4" name="Slide Number Placeholder 3"/>
          <p:cNvSpPr>
            <a:spLocks noGrp="1"/>
          </p:cNvSpPr>
          <p:nvPr>
            <p:ph type="sldNum" sz="quarter" idx="12"/>
          </p:nvPr>
        </p:nvSpPr>
        <p:spPr/>
        <p:txBody>
          <a:bodyPr/>
          <a:lstStyle/>
          <a:p>
            <a:fld id="{78C91BCE-F812-4952-A23B-44D6EE9BB165}" type="slidenum">
              <a:rPr lang="en-US" smtClean="0"/>
              <a:pPr/>
              <a:t>7</a:t>
            </a:fld>
            <a:r>
              <a:rPr lang="en-US" smtClean="0"/>
              <a:t> of 40</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fontScale="90000"/>
          </a:bodyPr>
          <a:lstStyle/>
          <a:p>
            <a:pPr>
              <a:defRPr/>
            </a:pPr>
            <a:r>
              <a:rPr lang="arn-CL" sz="4000" b="1" dirty="0" smtClean="0">
                <a:solidFill>
                  <a:schemeClr val="accent1"/>
                </a:solidFill>
              </a:rPr>
              <a:t>Etmological Meaning of the word </a:t>
            </a:r>
            <a:r>
              <a:rPr lang="en-US" sz="4000" b="1" dirty="0" err="1" smtClean="0"/>
              <a:t>Qura’n</a:t>
            </a:r>
            <a:endParaRPr lang="en-US" sz="4000" b="1" dirty="0" smtClean="0">
              <a:solidFill>
                <a:schemeClr val="accent1"/>
              </a:solidFill>
            </a:endParaRPr>
          </a:p>
        </p:txBody>
      </p:sp>
      <p:sp>
        <p:nvSpPr>
          <p:cNvPr id="3075" name="AutoShape 3"/>
          <p:cNvSpPr>
            <a:spLocks noGrp="1" noChangeAspect="1" noChangeArrowheads="1"/>
          </p:cNvSpPr>
          <p:nvPr>
            <p:ph type="body" idx="1"/>
          </p:nvPr>
        </p:nvSpPr>
        <p:spPr>
          <a:xfrm>
            <a:off x="228600" y="1447800"/>
            <a:ext cx="8765498" cy="5105400"/>
          </a:xfrm>
        </p:spPr>
        <p:txBody>
          <a:bodyPr>
            <a:normAutofit/>
          </a:bodyPr>
          <a:lstStyle/>
          <a:p>
            <a:pPr algn="ctr">
              <a:buNone/>
              <a:defRPr/>
            </a:pPr>
            <a:endParaRPr lang="en-US" sz="2400" b="1" dirty="0" smtClean="0">
              <a:solidFill>
                <a:srgbClr val="C00000"/>
              </a:solidFill>
            </a:endParaRPr>
          </a:p>
          <a:p>
            <a:pPr>
              <a:defRPr/>
            </a:pPr>
            <a:r>
              <a:rPr lang="arn-CL" sz="2400" dirty="0" smtClean="0"/>
              <a:t>This word </a:t>
            </a:r>
            <a:r>
              <a:rPr lang="ur-PK" sz="2400" dirty="0" smtClean="0"/>
              <a:t> قر</a:t>
            </a:r>
            <a:r>
              <a:rPr lang="ar-EG" sz="2400" dirty="0" smtClean="0"/>
              <a:t>أ </a:t>
            </a:r>
            <a:r>
              <a:rPr lang="ur-PK" sz="2400" dirty="0" smtClean="0"/>
              <a:t>ن</a:t>
            </a:r>
            <a:r>
              <a:rPr lang="arn-CL" sz="2400" dirty="0" smtClean="0"/>
              <a:t>is etmology derived from the </a:t>
            </a:r>
            <a:r>
              <a:rPr lang="en-US" sz="2400" dirty="0" smtClean="0"/>
              <a:t> (</a:t>
            </a:r>
            <a:r>
              <a:rPr lang="ur-PK" sz="2400" dirty="0" smtClean="0"/>
              <a:t>قر</a:t>
            </a:r>
            <a:r>
              <a:rPr lang="ar-EG" sz="2400" dirty="0" smtClean="0"/>
              <a:t>أ</a:t>
            </a:r>
            <a:r>
              <a:rPr lang="en-US" sz="2400" dirty="0" smtClean="0"/>
              <a:t>)</a:t>
            </a:r>
            <a:r>
              <a:rPr lang="ar-EG" sz="2400" dirty="0" smtClean="0"/>
              <a:t>ق.ر.أ.</a:t>
            </a:r>
            <a:r>
              <a:rPr lang="en-US" sz="2400" dirty="0" smtClean="0"/>
              <a:t> with its basic </a:t>
            </a:r>
            <a:r>
              <a:rPr lang="arn-CL" sz="2400" dirty="0" smtClean="0"/>
              <a:t>Arabic roots </a:t>
            </a:r>
            <a:endParaRPr lang="en-US" sz="2400" dirty="0" smtClean="0"/>
          </a:p>
          <a:p>
            <a:pPr>
              <a:defRPr/>
            </a:pPr>
            <a:r>
              <a:rPr lang="en-US" sz="2400" dirty="0" smtClean="0"/>
              <a:t>The word (</a:t>
            </a:r>
            <a:r>
              <a:rPr lang="en-US" sz="2400" dirty="0" err="1" smtClean="0"/>
              <a:t>qiraah</a:t>
            </a:r>
            <a:r>
              <a:rPr lang="en-US" sz="2400" dirty="0" smtClean="0"/>
              <a:t>) is also derived from the same roots. So the meaning of (</a:t>
            </a:r>
            <a:r>
              <a:rPr lang="en-US" sz="2400" dirty="0" err="1" smtClean="0"/>
              <a:t>qiraah</a:t>
            </a:r>
            <a:r>
              <a:rPr lang="en-US" sz="2400" dirty="0" smtClean="0"/>
              <a:t>) is reading and recitation. The word </a:t>
            </a:r>
            <a:r>
              <a:rPr lang="en-US" sz="2400" dirty="0" err="1" smtClean="0"/>
              <a:t>Qur’n</a:t>
            </a:r>
            <a:r>
              <a:rPr lang="en-US" sz="2400" dirty="0" smtClean="0"/>
              <a:t> is the tense of exaggeration. So the literal meaning of the word </a:t>
            </a:r>
            <a:r>
              <a:rPr lang="en-US" sz="2400" dirty="0" err="1" smtClean="0"/>
              <a:t>Qura’n</a:t>
            </a:r>
            <a:r>
              <a:rPr lang="en-US" sz="2400" dirty="0" smtClean="0"/>
              <a:t> is the widely read book. So:</a:t>
            </a:r>
          </a:p>
          <a:p>
            <a:pPr>
              <a:defRPr/>
            </a:pPr>
            <a:r>
              <a:rPr lang="en-US" sz="2400" dirty="0" err="1" smtClean="0"/>
              <a:t>Qira’ah</a:t>
            </a:r>
            <a:r>
              <a:rPr lang="en-US" sz="2400" dirty="0" smtClean="0"/>
              <a:t> means: reading and recitation.</a:t>
            </a:r>
          </a:p>
          <a:p>
            <a:pPr>
              <a:defRPr/>
            </a:pPr>
            <a:r>
              <a:rPr lang="en-US" sz="2400" dirty="0" smtClean="0"/>
              <a:t>And </a:t>
            </a:r>
            <a:r>
              <a:rPr lang="en-US" sz="2400" dirty="0" err="1" smtClean="0"/>
              <a:t>Qura’n</a:t>
            </a:r>
            <a:r>
              <a:rPr lang="en-US" sz="2400" dirty="0" smtClean="0"/>
              <a:t> means the widely read book. </a:t>
            </a:r>
          </a:p>
          <a:p>
            <a:pPr>
              <a:defRPr/>
            </a:pPr>
            <a:r>
              <a:rPr lang="en-US" sz="2400" dirty="0" smtClean="0"/>
              <a:t>No doubt that the holy </a:t>
            </a:r>
            <a:r>
              <a:rPr lang="en-US" sz="2400" dirty="0" err="1" smtClean="0"/>
              <a:t>Qura’n</a:t>
            </a:r>
            <a:r>
              <a:rPr lang="en-US" sz="2400" dirty="0" smtClean="0"/>
              <a:t> is recited widely.</a:t>
            </a:r>
          </a:p>
          <a:p>
            <a:pPr eaLnBrk="1" hangingPunct="1">
              <a:buFontTx/>
              <a:buBlip>
                <a:blip r:embed="rId2"/>
              </a:buBlip>
            </a:pPr>
            <a:endParaRPr lang="en-US" sz="2400" dirty="0" smtClean="0"/>
          </a:p>
        </p:txBody>
      </p:sp>
    </p:spTree>
  </p:cSld>
  <p:clrMapOvr>
    <a:masterClrMapping/>
  </p:clrMapOvr>
  <p:transition advTm="13152"/>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Technically it </a:t>
            </a:r>
            <a:r>
              <a:rPr lang="en-US" dirty="0" smtClean="0"/>
              <a:t>means and Definition </a:t>
            </a:r>
            <a:endParaRPr lang="en-US" dirty="0"/>
          </a:p>
        </p:txBody>
      </p:sp>
      <p:sp>
        <p:nvSpPr>
          <p:cNvPr id="3" name="Content Placeholder 2"/>
          <p:cNvSpPr>
            <a:spLocks noGrp="1"/>
          </p:cNvSpPr>
          <p:nvPr>
            <p:ph idx="1"/>
          </p:nvPr>
        </p:nvSpPr>
        <p:spPr/>
        <p:txBody>
          <a:bodyPr>
            <a:normAutofit fontScale="62500" lnSpcReduction="20000"/>
          </a:bodyPr>
          <a:lstStyle/>
          <a:p>
            <a:pPr algn="just">
              <a:defRPr/>
            </a:pPr>
            <a:r>
              <a:rPr lang="en-US" dirty="0" smtClean="0"/>
              <a:t>One of the holy books </a:t>
            </a:r>
            <a:r>
              <a:rPr lang="en-GB" dirty="0" smtClean="0"/>
              <a:t>o</a:t>
            </a:r>
            <a:r>
              <a:rPr lang="en-US" dirty="0" smtClean="0"/>
              <a:t>f Allah which has been revealed to the holy prophet Muhammad (</a:t>
            </a:r>
            <a:r>
              <a:rPr lang="ur-PK" dirty="0" smtClean="0"/>
              <a:t>ﷺ</a:t>
            </a:r>
            <a:r>
              <a:rPr lang="en-US" dirty="0" smtClean="0"/>
              <a:t>) in 23 years.</a:t>
            </a:r>
          </a:p>
          <a:p>
            <a:pPr algn="just">
              <a:defRPr/>
            </a:pPr>
            <a:r>
              <a:rPr lang="en-US" dirty="0" smtClean="0"/>
              <a:t>The revelation of the Qur’an started through </a:t>
            </a:r>
            <a:r>
              <a:rPr lang="en-US" dirty="0" err="1" smtClean="0"/>
              <a:t>Wahi</a:t>
            </a:r>
            <a:r>
              <a:rPr lang="en-US" dirty="0" smtClean="0"/>
              <a:t> (inspiration) from Allah (Almighty). </a:t>
            </a:r>
            <a:endParaRPr lang="en-US" dirty="0" smtClean="0"/>
          </a:p>
          <a:p>
            <a:pPr algn="just">
              <a:buFont typeface="Wingdings" pitchFamily="2" charset="2"/>
              <a:buChar char="v"/>
              <a:defRPr/>
            </a:pPr>
            <a:r>
              <a:rPr lang="en-US" b="1" dirty="0" smtClean="0"/>
              <a:t>Definition: </a:t>
            </a:r>
            <a:endParaRPr lang="en-US" b="1" dirty="0" smtClean="0"/>
          </a:p>
          <a:p>
            <a:pPr marL="114300" indent="0" algn="r">
              <a:buNone/>
            </a:pPr>
            <a:r>
              <a:rPr lang="ar-SA" sz="4400" dirty="0" smtClean="0">
                <a:latin typeface="Traditional Arabic" pitchFamily="18" charset="-78"/>
                <a:cs typeface="Traditional Arabic" pitchFamily="18" charset="-78"/>
              </a:rPr>
              <a:t>« هو كلام الله المعجز , المنزل على خاتم الأنبياء و المرسلين بواسطة الأمين جبريل عليه السلام, المكتوب في المصاحف , المنقول إلينا بالتواتر, المتعبد بتلاوته , المبدوء بسورة الفاتحة, المختتم بسورة الناس »</a:t>
            </a:r>
            <a:endParaRPr lang="en-US" sz="4400" dirty="0" smtClean="0">
              <a:latin typeface="Traditional Arabic" pitchFamily="18" charset="-78"/>
              <a:cs typeface="Traditional Arabic" pitchFamily="18" charset="-78"/>
            </a:endParaRPr>
          </a:p>
          <a:p>
            <a:pPr marL="114300" indent="0" algn="r">
              <a:buNone/>
            </a:pPr>
            <a:endParaRPr lang="en-US" sz="4400" dirty="0" smtClean="0">
              <a:latin typeface="Traditional Arabic" pitchFamily="18" charset="-78"/>
              <a:cs typeface="Traditional Arabic" pitchFamily="18" charset="-78"/>
            </a:endParaRPr>
          </a:p>
          <a:p>
            <a:pPr marL="114300" indent="0">
              <a:buNone/>
            </a:pPr>
            <a:r>
              <a:rPr lang="en-US" dirty="0" smtClean="0">
                <a:latin typeface="Arial" pitchFamily="34" charset="0"/>
                <a:cs typeface="Arial" pitchFamily="34" charset="0"/>
              </a:rPr>
              <a:t>“IT IS THE WORD OF ALLAH AND IS THE MOST MIRACULOUS, REVEALED ON THE LAST PROPHET (PEACE BE UPON HIM) BY MEANS OF ANGEL JIBRAEL (ALAI SALAAM), WRITTEN IN SCRIPTURES, TRANSMITTED TO US THROUGH RECURRENT SOURCES, WORSHIPPED BY RECITATION, STARTING FROM SURAH FATIHA AND ENDING ON SURAN NAAS</a:t>
            </a:r>
            <a:r>
              <a:rPr lang="en-US" dirty="0" smtClean="0">
                <a:latin typeface="Arial" pitchFamily="34" charset="0"/>
                <a:cs typeface="Arial" pitchFamily="34" charset="0"/>
              </a:rPr>
              <a:t>.”</a:t>
            </a:r>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en-US" sz="4000" dirty="0" smtClean="0"/>
              <a:t>First Revelation</a:t>
            </a:r>
          </a:p>
        </p:txBody>
      </p:sp>
      <p:sp>
        <p:nvSpPr>
          <p:cNvPr id="5123" name="Rectangle 3"/>
          <p:cNvSpPr>
            <a:spLocks noGrp="1" noChangeArrowheads="1"/>
          </p:cNvSpPr>
          <p:nvPr>
            <p:ph type="body" idx="1"/>
          </p:nvPr>
        </p:nvSpPr>
        <p:spPr>
          <a:xfrm>
            <a:off x="685800" y="1676400"/>
            <a:ext cx="7772400" cy="4419600"/>
          </a:xfrm>
        </p:spPr>
        <p:txBody>
          <a:bodyPr>
            <a:normAutofit/>
          </a:bodyPr>
          <a:lstStyle/>
          <a:p>
            <a:pPr eaLnBrk="1" hangingPunct="1">
              <a:buFontTx/>
              <a:buBlip>
                <a:blip r:embed="rId2"/>
              </a:buBlip>
            </a:pPr>
            <a:r>
              <a:rPr lang="en-US" dirty="0" smtClean="0"/>
              <a:t>Cave Hera is in </a:t>
            </a:r>
            <a:r>
              <a:rPr lang="en-US" dirty="0" err="1" smtClean="0"/>
              <a:t>Jabl</a:t>
            </a:r>
            <a:r>
              <a:rPr lang="en-US" dirty="0" smtClean="0"/>
              <a:t>-e-</a:t>
            </a:r>
            <a:r>
              <a:rPr lang="en-US" dirty="0" err="1" smtClean="0"/>
              <a:t>Noor</a:t>
            </a:r>
            <a:r>
              <a:rPr lang="en-US" dirty="0" smtClean="0"/>
              <a:t> (</a:t>
            </a:r>
            <a:r>
              <a:rPr lang="en-US" dirty="0" err="1" smtClean="0"/>
              <a:t>Noor</a:t>
            </a:r>
            <a:r>
              <a:rPr lang="en-US" dirty="0" smtClean="0"/>
              <a:t> Mountain) on the road to Mina about 3 miles to the East of Holy </a:t>
            </a:r>
            <a:r>
              <a:rPr lang="en-US" dirty="0" err="1" smtClean="0"/>
              <a:t>Macca</a:t>
            </a:r>
            <a:r>
              <a:rPr lang="en-US" dirty="0" smtClean="0"/>
              <a:t>. </a:t>
            </a:r>
          </a:p>
          <a:p>
            <a:pPr eaLnBrk="1" hangingPunct="1">
              <a:buFontTx/>
              <a:buBlip>
                <a:blip r:embed="rId2"/>
              </a:buBlip>
            </a:pPr>
            <a:r>
              <a:rPr lang="en-US" dirty="0" smtClean="0"/>
              <a:t>The Prophet was about 40 years old when Angel </a:t>
            </a:r>
            <a:r>
              <a:rPr lang="en-US" dirty="0" err="1" smtClean="0"/>
              <a:t>Jibrail</a:t>
            </a:r>
            <a:r>
              <a:rPr lang="en-US" dirty="0" smtClean="0"/>
              <a:t> brought the first revelation from Allah Almighty. </a:t>
            </a:r>
          </a:p>
          <a:p>
            <a:pPr eaLnBrk="1" hangingPunct="1">
              <a:buFontTx/>
              <a:buBlip>
                <a:blip r:embed="rId2"/>
              </a:buBlip>
            </a:pPr>
            <a:r>
              <a:rPr lang="en-US" dirty="0" smtClean="0"/>
              <a:t>The first revealed verses of the Qur’an are the first 5 verses (</a:t>
            </a:r>
            <a:r>
              <a:rPr lang="en-US" dirty="0" err="1" smtClean="0"/>
              <a:t>Ayats</a:t>
            </a:r>
            <a:r>
              <a:rPr lang="en-US" dirty="0" smtClean="0"/>
              <a:t>) of </a:t>
            </a:r>
            <a:r>
              <a:rPr lang="en-US" dirty="0" err="1" smtClean="0"/>
              <a:t>Surah</a:t>
            </a:r>
            <a:r>
              <a:rPr lang="en-US" dirty="0" smtClean="0"/>
              <a:t> Al </a:t>
            </a:r>
            <a:r>
              <a:rPr lang="en-US" dirty="0" err="1" smtClean="0"/>
              <a:t>Alaq</a:t>
            </a:r>
            <a:r>
              <a:rPr lang="en-US" dirty="0" smtClean="0"/>
              <a:t>. </a:t>
            </a:r>
          </a:p>
        </p:txBody>
      </p:sp>
    </p:spTree>
  </p:cSld>
  <p:clrMapOvr>
    <a:masterClrMapping/>
  </p:clrMapOvr>
  <p:transition advTm="18432"/>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defRPr/>
            </a:pPr>
            <a:r>
              <a:rPr lang="en-US" sz="4000" dirty="0" smtClean="0"/>
              <a:t>The period of Revelation</a:t>
            </a:r>
          </a:p>
        </p:txBody>
      </p:sp>
      <p:sp>
        <p:nvSpPr>
          <p:cNvPr id="7171" name="Rectangle 3"/>
          <p:cNvSpPr>
            <a:spLocks noGrp="1" noChangeArrowheads="1"/>
          </p:cNvSpPr>
          <p:nvPr>
            <p:ph type="body" idx="1"/>
          </p:nvPr>
        </p:nvSpPr>
        <p:spPr/>
        <p:txBody>
          <a:bodyPr>
            <a:normAutofit/>
          </a:bodyPr>
          <a:lstStyle/>
          <a:p>
            <a:pPr eaLnBrk="1" hangingPunct="1">
              <a:buFontTx/>
              <a:buBlip>
                <a:blip r:embed="rId2"/>
              </a:buBlip>
            </a:pPr>
            <a:r>
              <a:rPr lang="en-US" dirty="0" smtClean="0"/>
              <a:t>The period of revelation of the Qur’an is 22 years, 5 months and 14 days about 23 years. </a:t>
            </a:r>
          </a:p>
          <a:p>
            <a:pPr eaLnBrk="1" hangingPunct="1">
              <a:buFontTx/>
              <a:buBlip>
                <a:blip r:embed="rId2"/>
              </a:buBlip>
            </a:pPr>
            <a:r>
              <a:rPr lang="en-US" dirty="0" smtClean="0"/>
              <a:t>The last verse was revealed shortly before the Prophets (</a:t>
            </a:r>
            <a:r>
              <a:rPr lang="ur-PK" dirty="0" smtClean="0"/>
              <a:t>ﷺ</a:t>
            </a:r>
            <a:r>
              <a:rPr lang="en-US" dirty="0" smtClean="0"/>
              <a:t>) transferred to Allah in Arafat. It is the third verse of </a:t>
            </a:r>
            <a:r>
              <a:rPr lang="en-US" dirty="0" err="1" smtClean="0"/>
              <a:t>Surah</a:t>
            </a:r>
            <a:r>
              <a:rPr lang="en-US" dirty="0" smtClean="0"/>
              <a:t> Al </a:t>
            </a:r>
            <a:r>
              <a:rPr lang="en-US" dirty="0" err="1" smtClean="0"/>
              <a:t>Maidah</a:t>
            </a:r>
            <a:r>
              <a:rPr lang="en-US" dirty="0" smtClean="0"/>
              <a:t>.</a:t>
            </a:r>
            <a:endParaRPr lang="en-US" dirty="0" smtClean="0"/>
          </a:p>
        </p:txBody>
      </p:sp>
    </p:spTree>
  </p:cSld>
  <p:clrMapOvr>
    <a:masterClrMapping/>
  </p:clrMapOvr>
  <p:transition advTm="21024"/>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defRPr/>
            </a:pPr>
            <a:r>
              <a:rPr lang="en-US" sz="4000" dirty="0" smtClean="0"/>
              <a:t>The </a:t>
            </a:r>
            <a:r>
              <a:rPr lang="en-US" sz="4000" dirty="0" smtClean="0"/>
              <a:t>Subject</a:t>
            </a:r>
            <a:r>
              <a:rPr lang="en-US" sz="4000" dirty="0" smtClean="0"/>
              <a:t> </a:t>
            </a:r>
            <a:r>
              <a:rPr lang="en-US" sz="4000" dirty="0" smtClean="0"/>
              <a:t>of </a:t>
            </a:r>
            <a:r>
              <a:rPr lang="en-US" sz="4000" dirty="0" smtClean="0"/>
              <a:t>the Qur’an</a:t>
            </a:r>
            <a:endParaRPr lang="en-US" sz="4000" dirty="0" smtClean="0"/>
          </a:p>
        </p:txBody>
      </p:sp>
      <p:sp>
        <p:nvSpPr>
          <p:cNvPr id="7171" name="Rectangle 3"/>
          <p:cNvSpPr>
            <a:spLocks noGrp="1" noChangeArrowheads="1"/>
          </p:cNvSpPr>
          <p:nvPr>
            <p:ph type="body" idx="1"/>
          </p:nvPr>
        </p:nvSpPr>
        <p:spPr/>
        <p:txBody>
          <a:bodyPr>
            <a:normAutofit/>
          </a:bodyPr>
          <a:lstStyle/>
          <a:p>
            <a:pPr eaLnBrk="1" hangingPunct="1">
              <a:buFontTx/>
              <a:buBlip>
                <a:blip r:embed="rId2"/>
              </a:buBlip>
            </a:pPr>
            <a:r>
              <a:rPr lang="en-US" dirty="0" smtClean="0"/>
              <a:t>The </a:t>
            </a:r>
            <a:r>
              <a:rPr lang="en-US" dirty="0" smtClean="0"/>
              <a:t>subject of the Qur’an is ''Man" (the one created in the best of form) and his ultimate goal in life. </a:t>
            </a:r>
            <a:endParaRPr lang="en-US" dirty="0" smtClean="0"/>
          </a:p>
          <a:p>
            <a:pPr eaLnBrk="1" hangingPunct="1">
              <a:buFontTx/>
              <a:buBlip>
                <a:blip r:embed="rId2"/>
              </a:buBlip>
            </a:pPr>
            <a:r>
              <a:rPr lang="en-US" dirty="0" smtClean="0"/>
              <a:t> </a:t>
            </a:r>
            <a:r>
              <a:rPr lang="en-US" dirty="0" smtClean="0"/>
              <a:t>Main goal of the man's creation is “to worship of Allah”. </a:t>
            </a:r>
          </a:p>
          <a:p>
            <a:pPr>
              <a:buBlip>
                <a:blip r:embed="rId2"/>
              </a:buBlip>
            </a:pPr>
            <a:r>
              <a:rPr lang="en-US" dirty="0" smtClean="0"/>
              <a:t> </a:t>
            </a:r>
            <a:r>
              <a:rPr lang="en-US" dirty="0" smtClean="0"/>
              <a:t>Man can achieve “the well of Allah” </a:t>
            </a:r>
            <a:r>
              <a:rPr lang="en-US" dirty="0" smtClean="0"/>
              <a:t>to follow </a:t>
            </a:r>
            <a:r>
              <a:rPr lang="en-US" dirty="0" smtClean="0"/>
              <a:t>Qur’an. </a:t>
            </a:r>
            <a:endParaRPr lang="en-US" dirty="0" smtClean="0"/>
          </a:p>
        </p:txBody>
      </p:sp>
    </p:spTree>
  </p:cSld>
  <p:clrMapOvr>
    <a:masterClrMapping/>
  </p:clrMapOvr>
  <p:transition advTm="21024"/>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vantGarde Md BT" pitchFamily="34" charset="0"/>
              </a:rPr>
              <a:t>History of the Holy Quran</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q"/>
            </a:pPr>
            <a:r>
              <a:rPr lang="en-US" dirty="0" smtClean="0"/>
              <a:t>Compilation of the holy </a:t>
            </a:r>
            <a:r>
              <a:rPr lang="en-US" dirty="0" smtClean="0"/>
              <a:t>Quran:1</a:t>
            </a:r>
          </a:p>
          <a:p>
            <a:pPr lvl="1">
              <a:buFont typeface="Courier New" pitchFamily="49" charset="0"/>
              <a:buChar char="o"/>
            </a:pPr>
            <a:r>
              <a:rPr lang="en-US" dirty="0" smtClean="0"/>
              <a:t>In the time of Prophet (</a:t>
            </a:r>
            <a:r>
              <a:rPr lang="ur-PK" dirty="0" smtClean="0"/>
              <a:t>ﷺ</a:t>
            </a:r>
            <a:r>
              <a:rPr lang="en-US" dirty="0" smtClean="0"/>
              <a:t>): His </a:t>
            </a:r>
            <a:r>
              <a:rPr lang="en-US" dirty="0" smtClean="0"/>
              <a:t>instructions to </a:t>
            </a:r>
            <a:r>
              <a:rPr lang="en-US" dirty="0" err="1" smtClean="0"/>
              <a:t>katibeen</a:t>
            </a:r>
            <a:r>
              <a:rPr lang="en-US" dirty="0" smtClean="0"/>
              <a:t>-e-</a:t>
            </a:r>
            <a:r>
              <a:rPr lang="en-US" dirty="0" err="1" smtClean="0"/>
              <a:t>wahi</a:t>
            </a:r>
            <a:r>
              <a:rPr lang="en-US" dirty="0" smtClean="0"/>
              <a:t>.</a:t>
            </a:r>
          </a:p>
          <a:p>
            <a:pPr lvl="1">
              <a:buFont typeface="Courier New" pitchFamily="49" charset="0"/>
              <a:buChar char="o"/>
            </a:pPr>
            <a:r>
              <a:rPr lang="en-US" dirty="0" smtClean="0"/>
              <a:t>In the time of Prophet (</a:t>
            </a:r>
            <a:r>
              <a:rPr lang="ur-PK" dirty="0" smtClean="0"/>
              <a:t>ﷺ</a:t>
            </a:r>
            <a:r>
              <a:rPr lang="en-US" dirty="0" smtClean="0"/>
              <a:t>): His Compilation</a:t>
            </a:r>
          </a:p>
          <a:p>
            <a:pPr lvl="1">
              <a:buFont typeface="Courier New" pitchFamily="49" charset="0"/>
              <a:buChar char="o"/>
            </a:pPr>
            <a:r>
              <a:rPr lang="en-US" dirty="0" smtClean="0"/>
              <a:t>In the time of Prophet (</a:t>
            </a:r>
            <a:r>
              <a:rPr lang="ur-PK" dirty="0" smtClean="0"/>
              <a:t>ﷺ</a:t>
            </a:r>
            <a:r>
              <a:rPr lang="en-US" dirty="0" smtClean="0"/>
              <a:t>): </a:t>
            </a:r>
            <a:r>
              <a:rPr lang="en-US" dirty="0" err="1" smtClean="0"/>
              <a:t>Quranic</a:t>
            </a:r>
            <a:r>
              <a:rPr lang="en-US" dirty="0" smtClean="0"/>
              <a:t> Dialect</a:t>
            </a:r>
          </a:p>
          <a:p>
            <a:pPr>
              <a:buFont typeface="Wingdings" pitchFamily="2" charset="2"/>
              <a:buChar char="q"/>
            </a:pPr>
            <a:r>
              <a:rPr lang="en-US" dirty="0" smtClean="0"/>
              <a:t>Compilation of the holy </a:t>
            </a:r>
            <a:r>
              <a:rPr lang="en-US" dirty="0" smtClean="0"/>
              <a:t>Quran:2</a:t>
            </a:r>
          </a:p>
          <a:p>
            <a:pPr>
              <a:buFont typeface="Wingdings" pitchFamily="2" charset="2"/>
              <a:buChar char="q"/>
            </a:pPr>
            <a:r>
              <a:rPr lang="en-US" dirty="0" smtClean="0"/>
              <a:t>Compilation of the holy Quran:3</a:t>
            </a:r>
            <a:r>
              <a:rPr lang="en-US" dirty="0" smtClean="0"/>
              <a:t> </a:t>
            </a:r>
          </a:p>
          <a:p>
            <a:pPr>
              <a:buNone/>
            </a:pPr>
            <a:r>
              <a:rPr lang="en-US" dirty="0" smtClean="0"/>
              <a:t> </a:t>
            </a:r>
            <a:endParaRPr lang="en-US" dirty="0"/>
          </a:p>
        </p:txBody>
      </p:sp>
      <p:sp>
        <p:nvSpPr>
          <p:cNvPr id="4" name="Slide Number Placeholder 3"/>
          <p:cNvSpPr>
            <a:spLocks noGrp="1"/>
          </p:cNvSpPr>
          <p:nvPr>
            <p:ph type="sldNum" sz="quarter" idx="12"/>
          </p:nvPr>
        </p:nvSpPr>
        <p:spPr/>
        <p:txBody>
          <a:bodyPr/>
          <a:lstStyle/>
          <a:p>
            <a:fld id="{78C91BCE-F812-4952-A23B-44D6EE9BB165}" type="slidenum">
              <a:rPr lang="en-US" smtClean="0"/>
              <a:pPr/>
              <a:t>13</a:t>
            </a:fld>
            <a:r>
              <a:rPr lang="en-US" smtClean="0"/>
              <a:t> of 40</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a:bodyPr>
          <a:lstStyle/>
          <a:p>
            <a:r>
              <a:rPr lang="en-US" sz="4000" dirty="0" smtClean="0"/>
              <a:t>Compilation of the holy Quran:1</a:t>
            </a:r>
            <a:endParaRPr lang="en-US" sz="4000" dirty="0"/>
          </a:p>
        </p:txBody>
      </p:sp>
      <p:sp>
        <p:nvSpPr>
          <p:cNvPr id="18435" name="Rectangle 3"/>
          <p:cNvSpPr>
            <a:spLocks noGrp="1" noChangeArrowheads="1"/>
          </p:cNvSpPr>
          <p:nvPr>
            <p:ph type="body" idx="1"/>
          </p:nvPr>
        </p:nvSpPr>
        <p:spPr>
          <a:xfrm>
            <a:off x="457200" y="1600200"/>
            <a:ext cx="8229600" cy="4953000"/>
          </a:xfrm>
        </p:spPr>
        <p:txBody>
          <a:bodyPr>
            <a:normAutofit fontScale="92500"/>
          </a:bodyPr>
          <a:lstStyle/>
          <a:p>
            <a:pPr>
              <a:lnSpc>
                <a:spcPct val="90000"/>
              </a:lnSpc>
            </a:pPr>
            <a:r>
              <a:rPr lang="en-US" sz="2800" dirty="0" smtClean="0">
                <a:solidFill>
                  <a:schemeClr val="accent6">
                    <a:lumMod val="75000"/>
                  </a:schemeClr>
                </a:solidFill>
              </a:rPr>
              <a:t>The Qur’an was recorded and memorized all together</a:t>
            </a:r>
          </a:p>
          <a:p>
            <a:pPr>
              <a:lnSpc>
                <a:spcPct val="90000"/>
              </a:lnSpc>
            </a:pPr>
            <a:r>
              <a:rPr lang="en-US" sz="2800" dirty="0" smtClean="0"/>
              <a:t>In </a:t>
            </a:r>
            <a:r>
              <a:rPr lang="en-US" sz="2800" dirty="0"/>
              <a:t>Arabia, the people had the habit of memorizing due to their prevailing oral culture, so there were 100’s of 1000’s of people who had memorized the Holy Qur’an in the life time of Prophet </a:t>
            </a:r>
            <a:r>
              <a:rPr lang="en-US" sz="2800" dirty="0" smtClean="0"/>
              <a:t>Muhammad</a:t>
            </a:r>
            <a:r>
              <a:rPr lang="ur-PK" sz="2800" dirty="0" smtClean="0"/>
              <a:t> (ﷺ)</a:t>
            </a:r>
            <a:endParaRPr lang="en-US" sz="2800" dirty="0"/>
          </a:p>
          <a:p>
            <a:pPr>
              <a:lnSpc>
                <a:spcPct val="90000"/>
              </a:lnSpc>
            </a:pPr>
            <a:r>
              <a:rPr lang="en-US" sz="2800" dirty="0"/>
              <a:t>That oral culture is continuing without any gap till today. There were millions of Muslims in every single frame of history in the Muslim world who had memorized the Holy Qur’an completely</a:t>
            </a:r>
          </a:p>
          <a:p>
            <a:pPr>
              <a:lnSpc>
                <a:spcPct val="90000"/>
              </a:lnSpc>
            </a:pPr>
            <a:r>
              <a:rPr lang="en-US" sz="2800" dirty="0"/>
              <a:t>Similarly, the written copies of the Qur’an without a single letter difference, were available </a:t>
            </a:r>
            <a:r>
              <a:rPr lang="en-US" sz="2800" dirty="0" smtClean="0"/>
              <a:t>everywhere</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 the time of Prophet (</a:t>
            </a:r>
            <a:r>
              <a:rPr lang="ur-PK" dirty="0" smtClean="0"/>
              <a:t>ﷺ</a:t>
            </a:r>
            <a:r>
              <a:rPr lang="en-US" dirty="0" smtClean="0"/>
              <a:t>) </a:t>
            </a:r>
            <a:br>
              <a:rPr lang="en-US" dirty="0" smtClean="0"/>
            </a:br>
            <a:r>
              <a:rPr lang="en-US" sz="3600" dirty="0" smtClean="0"/>
              <a:t>His instructions to </a:t>
            </a:r>
            <a:r>
              <a:rPr lang="en-US" sz="3600" dirty="0" err="1" smtClean="0"/>
              <a:t>katibeen</a:t>
            </a:r>
            <a:r>
              <a:rPr lang="en-US" sz="3600" dirty="0" smtClean="0"/>
              <a:t>-e-</a:t>
            </a:r>
            <a:r>
              <a:rPr lang="en-US" sz="3600" dirty="0" err="1" smtClean="0"/>
              <a:t>wahi</a:t>
            </a:r>
            <a:r>
              <a:rPr lang="en-US" sz="3600" dirty="0" smtClean="0"/>
              <a:t>.</a:t>
            </a:r>
            <a:endParaRPr lang="en-US" sz="3600" dirty="0"/>
          </a:p>
        </p:txBody>
      </p:sp>
      <p:sp>
        <p:nvSpPr>
          <p:cNvPr id="3" name="Content Placeholder 2"/>
          <p:cNvSpPr>
            <a:spLocks noGrp="1"/>
          </p:cNvSpPr>
          <p:nvPr>
            <p:ph idx="1"/>
          </p:nvPr>
        </p:nvSpPr>
        <p:spPr/>
        <p:txBody>
          <a:bodyPr>
            <a:noAutofit/>
          </a:bodyPr>
          <a:lstStyle/>
          <a:p>
            <a:pPr marL="228600" indent="-228600">
              <a:buFont typeface="+mj-lt"/>
              <a:buAutoNum type="arabicPeriod"/>
              <a:defRPr/>
            </a:pPr>
            <a:r>
              <a:rPr lang="en-US" sz="2400" b="1" dirty="0" smtClean="0">
                <a:latin typeface="Times New Roman" pitchFamily="18" charset="0"/>
                <a:cs typeface="Times New Roman" pitchFamily="18" charset="0"/>
              </a:rPr>
              <a:t>Memorization regular – genealogy trees memorized</a:t>
            </a:r>
          </a:p>
          <a:p>
            <a:pPr marL="228600" indent="-228600">
              <a:buFont typeface="+mj-lt"/>
              <a:buAutoNum type="arabicPeriod"/>
              <a:defRPr/>
            </a:pPr>
            <a:r>
              <a:rPr lang="en-US" sz="2400" b="1" dirty="0" smtClean="0">
                <a:latin typeface="Times New Roman" pitchFamily="18" charset="0"/>
                <a:cs typeface="Times New Roman" pitchFamily="18" charset="0"/>
              </a:rPr>
              <a:t>Prophet Muhammad (</a:t>
            </a:r>
            <a:r>
              <a:rPr lang="ur-PK" sz="2400" b="1" dirty="0" smtClean="0">
                <a:latin typeface="Times New Roman" pitchFamily="18" charset="0"/>
                <a:cs typeface="Times New Roman" pitchFamily="18" charset="0"/>
              </a:rPr>
              <a:t>ﷺ</a:t>
            </a:r>
            <a:r>
              <a:rPr lang="en-US" sz="2400" b="1" dirty="0" smtClean="0">
                <a:latin typeface="Times New Roman" pitchFamily="18" charset="0"/>
                <a:cs typeface="Times New Roman" pitchFamily="18" charset="0"/>
              </a:rPr>
              <a:t>) himself supervised and authenticated the written texts of the Qur’an </a:t>
            </a:r>
            <a:endParaRPr lang="en-US" sz="2400" dirty="0" smtClean="0">
              <a:latin typeface="Times New Roman" pitchFamily="18" charset="0"/>
              <a:cs typeface="Times New Roman" pitchFamily="18" charset="0"/>
            </a:endParaRPr>
          </a:p>
          <a:p>
            <a:pPr marL="228600" indent="-228600">
              <a:defRPr/>
            </a:pPr>
            <a:r>
              <a:rPr lang="en-US" sz="2400" dirty="0" smtClean="0">
                <a:latin typeface="Times New Roman" pitchFamily="18" charset="0"/>
                <a:cs typeface="Times New Roman" pitchFamily="18" charset="0"/>
              </a:rPr>
              <a:t>Whenever the Prophet received a revelation, he would first memorize it himself </a:t>
            </a:r>
          </a:p>
          <a:p>
            <a:pPr marL="228600" indent="-228600">
              <a:defRPr/>
            </a:pPr>
            <a:r>
              <a:rPr lang="en-US" sz="2400" dirty="0" smtClean="0">
                <a:latin typeface="Times New Roman" pitchFamily="18" charset="0"/>
                <a:cs typeface="Times New Roman" pitchFamily="18" charset="0"/>
              </a:rPr>
              <a:t>Instruct his Companions who would also memorize it. </a:t>
            </a:r>
          </a:p>
          <a:p>
            <a:pPr marL="228600" indent="-228600">
              <a:defRPr/>
            </a:pPr>
            <a:r>
              <a:rPr lang="en-US" sz="2400" dirty="0" smtClean="0">
                <a:latin typeface="Times New Roman" pitchFamily="18" charset="0"/>
                <a:cs typeface="Times New Roman" pitchFamily="18" charset="0"/>
              </a:rPr>
              <a:t>The Prophet would immediately ask the scribes to write down the revelation </a:t>
            </a:r>
          </a:p>
          <a:p>
            <a:pPr marL="228600" indent="-228600">
              <a:defRPr/>
            </a:pPr>
            <a:r>
              <a:rPr lang="en-US" sz="2400" dirty="0" smtClean="0">
                <a:latin typeface="Times New Roman" pitchFamily="18" charset="0"/>
                <a:cs typeface="Times New Roman" pitchFamily="18" charset="0"/>
              </a:rPr>
              <a:t>After receiving each revelation, he would repeat it to his Companions. They would write down the revelation, and he would recheck by asking them to read what they had written.</a:t>
            </a:r>
          </a:p>
          <a:p>
            <a:endParaRPr lang="en-US" sz="24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 the time of Prophet (</a:t>
            </a:r>
            <a:r>
              <a:rPr lang="ur-PK" dirty="0" smtClean="0"/>
              <a:t>ﷺ</a:t>
            </a:r>
            <a:r>
              <a:rPr lang="en-US" dirty="0" smtClean="0"/>
              <a:t>) </a:t>
            </a:r>
            <a:br>
              <a:rPr lang="en-US" dirty="0" smtClean="0"/>
            </a:br>
            <a:r>
              <a:rPr lang="en-US" dirty="0" smtClean="0"/>
              <a:t>His Compilation</a:t>
            </a:r>
            <a:endParaRPr lang="en-US" dirty="0"/>
          </a:p>
        </p:txBody>
      </p:sp>
      <p:sp>
        <p:nvSpPr>
          <p:cNvPr id="3" name="Content Placeholder 2"/>
          <p:cNvSpPr>
            <a:spLocks noGrp="1"/>
          </p:cNvSpPr>
          <p:nvPr>
            <p:ph idx="1"/>
          </p:nvPr>
        </p:nvSpPr>
        <p:spPr/>
        <p:txBody>
          <a:bodyPr>
            <a:normAutofit fontScale="77500" lnSpcReduction="20000"/>
          </a:bodyPr>
          <a:lstStyle/>
          <a:p>
            <a:pPr marL="228600" indent="-228600">
              <a:defRPr/>
            </a:pPr>
            <a:r>
              <a:rPr lang="en-US" dirty="0" smtClean="0">
                <a:latin typeface="Times New Roman" pitchFamily="18" charset="0"/>
                <a:cs typeface="Times New Roman" pitchFamily="18" charset="0"/>
              </a:rPr>
              <a:t>The Qur’an was not compiled by the Prophet </a:t>
            </a:r>
            <a:r>
              <a:rPr lang="en-US" dirty="0" smtClean="0"/>
              <a:t>(</a:t>
            </a:r>
            <a:r>
              <a:rPr lang="ur-PK" dirty="0" smtClean="0"/>
              <a:t>ﷺ</a:t>
            </a:r>
            <a:r>
              <a:rPr lang="en-US" dirty="0" smtClean="0"/>
              <a:t>) </a:t>
            </a:r>
            <a:r>
              <a:rPr lang="en-US" dirty="0" smtClean="0">
                <a:latin typeface="Times New Roman" pitchFamily="18" charset="0"/>
                <a:cs typeface="Times New Roman" pitchFamily="18" charset="0"/>
              </a:rPr>
              <a:t>in the chronological order of revelation. The order and sequence of the Qur’an too was Divinely inspired and was instructed to the Prophet </a:t>
            </a:r>
            <a:r>
              <a:rPr lang="en-US" dirty="0" smtClean="0"/>
              <a:t>(</a:t>
            </a:r>
            <a:r>
              <a:rPr lang="ur-PK" dirty="0" smtClean="0"/>
              <a:t>ﷺ</a:t>
            </a:r>
            <a:r>
              <a:rPr lang="en-US" dirty="0" smtClean="0"/>
              <a:t>) </a:t>
            </a:r>
            <a:r>
              <a:rPr lang="en-US" dirty="0" smtClean="0">
                <a:latin typeface="Times New Roman" pitchFamily="18" charset="0"/>
                <a:cs typeface="Times New Roman" pitchFamily="18" charset="0"/>
              </a:rPr>
              <a:t>by Allah (</a:t>
            </a:r>
            <a:r>
              <a:rPr lang="en-US" dirty="0" err="1" smtClean="0">
                <a:latin typeface="Times New Roman" pitchFamily="18" charset="0"/>
                <a:cs typeface="Times New Roman" pitchFamily="18" charset="0"/>
              </a:rPr>
              <a:t>swt</a:t>
            </a:r>
            <a:r>
              <a:rPr lang="en-US" dirty="0" smtClean="0">
                <a:latin typeface="Times New Roman" pitchFamily="18" charset="0"/>
                <a:cs typeface="Times New Roman" pitchFamily="18" charset="0"/>
              </a:rPr>
              <a:t>)</a:t>
            </a:r>
          </a:p>
          <a:p>
            <a:pPr marL="228600" indent="-228600">
              <a:defRPr/>
            </a:pPr>
            <a:r>
              <a:rPr lang="en-US" dirty="0" smtClean="0">
                <a:latin typeface="Times New Roman" pitchFamily="18" charset="0"/>
                <a:cs typeface="Times New Roman" pitchFamily="18" charset="0"/>
              </a:rPr>
              <a:t>Every </a:t>
            </a:r>
            <a:r>
              <a:rPr lang="en-US" dirty="0" err="1" smtClean="0">
                <a:latin typeface="Times New Roman" pitchFamily="18" charset="0"/>
                <a:cs typeface="Times New Roman" pitchFamily="18" charset="0"/>
              </a:rPr>
              <a:t>Ramadhaan</a:t>
            </a:r>
            <a:r>
              <a:rPr lang="en-US" dirty="0" smtClean="0">
                <a:latin typeface="Times New Roman" pitchFamily="18" charset="0"/>
                <a:cs typeface="Times New Roman" pitchFamily="18" charset="0"/>
              </a:rPr>
              <a:t> all the portions of the Qur’an were revised</a:t>
            </a:r>
          </a:p>
          <a:p>
            <a:pPr marL="228600" indent="-228600">
              <a:defRPr/>
            </a:pPr>
            <a:r>
              <a:rPr lang="en-US" dirty="0" smtClean="0">
                <a:latin typeface="Times New Roman" pitchFamily="18" charset="0"/>
                <a:cs typeface="Times New Roman" pitchFamily="18" charset="0"/>
              </a:rPr>
              <a:t>It is therefore clearly evident that the Qur’an was compiled and authenticated by the Prophet himself during his lifetime, both in the written form as well as in the memory of several of his Companions.</a:t>
            </a:r>
          </a:p>
          <a:p>
            <a:pPr>
              <a:defRPr/>
            </a:pPr>
            <a:r>
              <a:rPr lang="en-US" dirty="0" smtClean="0">
                <a:latin typeface="Times New Roman" pitchFamily="18" charset="0"/>
                <a:cs typeface="Times New Roman" pitchFamily="18" charset="0"/>
              </a:rPr>
              <a:t>Many Companions of the Prophet used to write down the revelation of the Qur’an on their own whenever they heard it from the lips of the Prophet</a:t>
            </a:r>
            <a:r>
              <a:rPr lang="en-US" dirty="0" smtClean="0"/>
              <a:t> (</a:t>
            </a:r>
            <a:r>
              <a:rPr lang="ur-PK" dirty="0" smtClean="0"/>
              <a:t>ﷺ</a:t>
            </a:r>
            <a:r>
              <a:rPr lang="en-US" dirty="0" smtClean="0"/>
              <a:t>)</a:t>
            </a:r>
            <a:r>
              <a:rPr lang="en-US" dirty="0" smtClean="0">
                <a:latin typeface="Times New Roman" pitchFamily="18" charset="0"/>
                <a:cs typeface="Times New Roman" pitchFamily="18" charset="0"/>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 the time of Prophet (</a:t>
            </a:r>
            <a:r>
              <a:rPr lang="ur-PK" dirty="0" smtClean="0"/>
              <a:t>ﷺ</a:t>
            </a:r>
            <a:r>
              <a:rPr lang="en-US" dirty="0" smtClean="0"/>
              <a:t>) </a:t>
            </a:r>
            <a:br>
              <a:rPr lang="en-US" dirty="0" smtClean="0"/>
            </a:br>
            <a:r>
              <a:rPr lang="en-US" dirty="0" err="1" smtClean="0"/>
              <a:t>Quranic</a:t>
            </a:r>
            <a:r>
              <a:rPr lang="en-US" dirty="0" smtClean="0"/>
              <a:t> Dialect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latin typeface="Times New Roman" pitchFamily="18" charset="0"/>
                <a:cs typeface="Times New Roman" pitchFamily="18" charset="0"/>
              </a:rPr>
              <a:t>Muhammad </a:t>
            </a:r>
            <a:r>
              <a:rPr lang="en-US" dirty="0" smtClean="0"/>
              <a:t>(</a:t>
            </a:r>
            <a:r>
              <a:rPr lang="ur-PK" dirty="0" smtClean="0"/>
              <a:t>ﷺ</a:t>
            </a:r>
            <a:r>
              <a:rPr lang="en-US" dirty="0" smtClean="0"/>
              <a:t>)</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seems to have adopted this </a:t>
            </a:r>
            <a:r>
              <a:rPr lang="en-US" dirty="0" smtClean="0">
                <a:latin typeface="Times New Roman" pitchFamily="18" charset="0"/>
                <a:cs typeface="Times New Roman" pitchFamily="18" charset="0"/>
              </a:rPr>
              <a:t>method </a:t>
            </a:r>
            <a:r>
              <a:rPr lang="en-US" dirty="0" smtClean="0">
                <a:latin typeface="Times New Roman" pitchFamily="18" charset="0"/>
                <a:cs typeface="Times New Roman" pitchFamily="18" charset="0"/>
              </a:rPr>
              <a:t>to satisfy the desire of the leading tribes to have a Qur'an in their own dialect; The Qur'an was first revealed in the dialect of the' </a:t>
            </a:r>
            <a:r>
              <a:rPr lang="en-US" dirty="0" err="1" smtClean="0">
                <a:latin typeface="Times New Roman" pitchFamily="18" charset="0"/>
                <a:cs typeface="Times New Roman" pitchFamily="18" charset="0"/>
              </a:rPr>
              <a:t>Quaraish</a:t>
            </a:r>
            <a:r>
              <a:rPr lang="en-US" dirty="0" smtClean="0">
                <a:latin typeface="Times New Roman" pitchFamily="18" charset="0"/>
                <a:cs typeface="Times New Roman" pitchFamily="18" charset="0"/>
              </a:rPr>
              <a:t>, which was the </a:t>
            </a:r>
            <a:r>
              <a:rPr lang="en-US" dirty="0" smtClean="0">
                <a:latin typeface="Times New Roman" pitchFamily="18" charset="0"/>
                <a:cs typeface="Times New Roman" pitchFamily="18" charset="0"/>
              </a:rPr>
              <a:t>Prophet's </a:t>
            </a:r>
            <a:r>
              <a:rPr lang="en-US" dirty="0" smtClean="0"/>
              <a:t>(</a:t>
            </a:r>
            <a:r>
              <a:rPr lang="ur-PK" dirty="0" smtClean="0"/>
              <a:t>ﷺ</a:t>
            </a:r>
            <a:r>
              <a:rPr lang="en-US" dirty="0" smtClean="0"/>
              <a:t>)</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native tongue; but when the </a:t>
            </a:r>
            <a:r>
              <a:rPr lang="en-US" dirty="0" smtClean="0">
                <a:latin typeface="Times New Roman" pitchFamily="18" charset="0"/>
                <a:cs typeface="Times New Roman" pitchFamily="18" charset="0"/>
              </a:rPr>
              <a:t>Prophet </a:t>
            </a:r>
            <a:r>
              <a:rPr lang="en-US" dirty="0" smtClean="0"/>
              <a:t>(</a:t>
            </a:r>
            <a:r>
              <a:rPr lang="ur-PK" dirty="0" smtClean="0"/>
              <a:t>ﷺ</a:t>
            </a:r>
            <a:r>
              <a:rPr lang="en-US" dirty="0" smtClean="0"/>
              <a:t>)</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saw that the people of other tribes recited it with difficulty, then he obtained permission from God to extend its currency by allowing it to be recited in all the chief dialects of Arabia, which ,were seven:-</a:t>
            </a:r>
            <a:r>
              <a:rPr lang="en-US" dirty="0" err="1" smtClean="0">
                <a:latin typeface="Times New Roman" pitchFamily="18" charset="0"/>
                <a:cs typeface="Times New Roman" pitchFamily="18" charset="0"/>
              </a:rPr>
              <a:t>Quraish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Taiy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Hawazim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Yaman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Saqif</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Huzail</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Banu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Tamim</a:t>
            </a:r>
            <a:r>
              <a:rPr lang="en-US" dirty="0" smtClean="0">
                <a:latin typeface="Times New Roman" pitchFamily="18" charset="0"/>
                <a:cs typeface="Times New Roman" pitchFamily="18" charset="0"/>
              </a:rPr>
              <a:t>. Everyone of these tribes accordingly read the Qur’an in its own dialect, till the time of '</a:t>
            </a:r>
            <a:r>
              <a:rPr lang="en-US" dirty="0" err="1" smtClean="0">
                <a:latin typeface="Times New Roman" pitchFamily="18" charset="0"/>
                <a:cs typeface="Times New Roman" pitchFamily="18" charset="0"/>
              </a:rPr>
              <a:t>Usman</a:t>
            </a:r>
            <a:r>
              <a:rPr lang="en-US" dirty="0" smtClean="0">
                <a:latin typeface="Times New Roman" pitchFamily="18" charset="0"/>
                <a:cs typeface="Times New Roman" pitchFamily="18" charset="0"/>
              </a:rPr>
              <a:t>, when those differences of reading ,were prohibited</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Compilation of the holy Quran:2</a:t>
            </a:r>
            <a:endParaRPr lang="en-US" dirty="0"/>
          </a:p>
        </p:txBody>
      </p:sp>
      <p:sp>
        <p:nvSpPr>
          <p:cNvPr id="3" name="Content Placeholder 2"/>
          <p:cNvSpPr>
            <a:spLocks noGrp="1"/>
          </p:cNvSpPr>
          <p:nvPr>
            <p:ph idx="1"/>
          </p:nvPr>
        </p:nvSpPr>
        <p:spPr>
          <a:xfrm>
            <a:off x="152400" y="1524000"/>
            <a:ext cx="8991600" cy="5334000"/>
          </a:xfrm>
        </p:spPr>
        <p:txBody>
          <a:bodyPr>
            <a:noAutofit/>
          </a:bodyPr>
          <a:lstStyle/>
          <a:p>
            <a:pPr marL="609600" indent="-609600">
              <a:buFont typeface="Wingdings" pitchFamily="2" charset="2"/>
              <a:buChar char="n"/>
              <a:defRPr/>
            </a:pPr>
            <a:r>
              <a:rPr lang="en-US" sz="2400" dirty="0" smtClean="0"/>
              <a:t>In the time of </a:t>
            </a:r>
            <a:r>
              <a:rPr lang="en-US" sz="2400" dirty="0" err="1" smtClean="0"/>
              <a:t>AbuBakar</a:t>
            </a:r>
            <a:r>
              <a:rPr lang="en-US" sz="2400" dirty="0" smtClean="0"/>
              <a:t> </a:t>
            </a:r>
            <a:r>
              <a:rPr lang="en-US" sz="2400" dirty="0" err="1" smtClean="0"/>
              <a:t>siddeeq</a:t>
            </a:r>
            <a:r>
              <a:rPr lang="en-US" sz="2400" dirty="0" smtClean="0"/>
              <a:t> (</a:t>
            </a:r>
            <a:r>
              <a:rPr lang="en-US" sz="2400" dirty="0" err="1" smtClean="0"/>
              <a:t>r.a</a:t>
            </a:r>
            <a:r>
              <a:rPr lang="en-US" sz="2400" dirty="0" smtClean="0"/>
              <a:t>.)</a:t>
            </a:r>
          </a:p>
          <a:p>
            <a:pPr marL="609600" indent="-609600">
              <a:buFont typeface="Wingdings" pitchFamily="2" charset="2"/>
              <a:buChar char="n"/>
              <a:defRPr/>
            </a:pPr>
            <a:r>
              <a:rPr lang="en-US" sz="2400" b="1" u="sng" dirty="0" smtClean="0"/>
              <a:t>back ground for the compilation: </a:t>
            </a:r>
            <a:r>
              <a:rPr lang="en-US" sz="1400" b="1" u="sng" dirty="0" smtClean="0"/>
              <a:t>(Reason for the compilation).</a:t>
            </a:r>
          </a:p>
          <a:p>
            <a:pPr marL="609600" indent="-609600">
              <a:buFont typeface="Wingdings" pitchFamily="2" charset="2"/>
              <a:buAutoNum type="arabicPeriod"/>
              <a:defRPr/>
            </a:pPr>
            <a:r>
              <a:rPr lang="en-US" sz="2400" dirty="0" err="1" smtClean="0"/>
              <a:t>Yamama</a:t>
            </a:r>
            <a:r>
              <a:rPr lang="en-US" sz="2400" dirty="0" smtClean="0"/>
              <a:t> war and </a:t>
            </a:r>
            <a:r>
              <a:rPr lang="en-US" sz="2400" dirty="0" err="1" smtClean="0"/>
              <a:t>Hazrat</a:t>
            </a:r>
            <a:r>
              <a:rPr lang="en-US" sz="2400" dirty="0" smtClean="0"/>
              <a:t> </a:t>
            </a:r>
            <a:r>
              <a:rPr lang="en-US" sz="2400" dirty="0" err="1" smtClean="0"/>
              <a:t>Umar</a:t>
            </a:r>
            <a:r>
              <a:rPr lang="en-US" sz="2400" dirty="0" smtClean="0"/>
              <a:t> ‘s proposal.</a:t>
            </a:r>
          </a:p>
          <a:p>
            <a:pPr marL="609600" indent="-609600">
              <a:buFont typeface="Wingdings" pitchFamily="2" charset="2"/>
              <a:buAutoNum type="arabicPeriod"/>
              <a:defRPr/>
            </a:pPr>
            <a:r>
              <a:rPr lang="en-US" sz="2400" dirty="0" err="1" smtClean="0"/>
              <a:t>Hazrat</a:t>
            </a:r>
            <a:r>
              <a:rPr lang="en-US" sz="2400" dirty="0" smtClean="0"/>
              <a:t> </a:t>
            </a:r>
            <a:r>
              <a:rPr lang="en-US" sz="2400" dirty="0" err="1" smtClean="0"/>
              <a:t>zaid</a:t>
            </a:r>
            <a:r>
              <a:rPr lang="en-US" sz="2400" dirty="0" smtClean="0"/>
              <a:t> bin </a:t>
            </a:r>
            <a:r>
              <a:rPr lang="en-US" sz="2400" dirty="0" err="1" smtClean="0"/>
              <a:t>sabit</a:t>
            </a:r>
            <a:r>
              <a:rPr lang="en-US" sz="2400" dirty="0" smtClean="0"/>
              <a:t> and the responsibility.</a:t>
            </a:r>
            <a:endParaRPr lang="ur-PK" sz="2400" dirty="0" smtClean="0"/>
          </a:p>
          <a:p>
            <a:pPr marL="609600" indent="-609600">
              <a:buFont typeface="Wingdings" pitchFamily="2" charset="2"/>
              <a:buAutoNum type="arabicPeriod"/>
              <a:defRPr/>
            </a:pPr>
            <a:r>
              <a:rPr lang="en-US" sz="2800" b="1" u="sng" dirty="0" smtClean="0"/>
              <a:t>Steps taken for the compilation</a:t>
            </a:r>
            <a:endParaRPr lang="ur-PK" b="1" u="sng" dirty="0" smtClean="0"/>
          </a:p>
          <a:p>
            <a:r>
              <a:rPr lang="en-US" sz="2400" dirty="0" smtClean="0"/>
              <a:t>Collection of the personal material.</a:t>
            </a:r>
          </a:p>
          <a:p>
            <a:r>
              <a:rPr lang="en-US" sz="2400" dirty="0" err="1" smtClean="0"/>
              <a:t>Hazrat</a:t>
            </a:r>
            <a:r>
              <a:rPr lang="en-US" sz="2400" dirty="0" smtClean="0"/>
              <a:t> </a:t>
            </a:r>
            <a:r>
              <a:rPr lang="en-US" sz="2400" dirty="0" err="1" smtClean="0"/>
              <a:t>zaid’s</a:t>
            </a:r>
            <a:r>
              <a:rPr lang="en-US" sz="2400" dirty="0" smtClean="0"/>
              <a:t> verification and comparing with the manuscript he had.</a:t>
            </a:r>
          </a:p>
          <a:p>
            <a:r>
              <a:rPr lang="en-US" sz="2400" dirty="0" err="1" smtClean="0"/>
              <a:t>Hazrat</a:t>
            </a:r>
            <a:r>
              <a:rPr lang="en-US" sz="2400" dirty="0" smtClean="0"/>
              <a:t> </a:t>
            </a:r>
            <a:r>
              <a:rPr lang="en-US" sz="2400" dirty="0" err="1" smtClean="0"/>
              <a:t>Umar</a:t>
            </a:r>
            <a:r>
              <a:rPr lang="en-US" sz="2400" dirty="0" smtClean="0"/>
              <a:t> and </a:t>
            </a:r>
            <a:r>
              <a:rPr lang="en-US" sz="2400" dirty="0" err="1" smtClean="0"/>
              <a:t>Hazrat</a:t>
            </a:r>
            <a:r>
              <a:rPr lang="en-US" sz="2400" dirty="0" smtClean="0"/>
              <a:t> </a:t>
            </a:r>
            <a:r>
              <a:rPr lang="en-US" sz="2400" dirty="0" err="1" smtClean="0"/>
              <a:t>zaid</a:t>
            </a:r>
            <a:r>
              <a:rPr lang="en-US" sz="2400" dirty="0" smtClean="0"/>
              <a:t> were </a:t>
            </a:r>
            <a:r>
              <a:rPr lang="en-US" sz="2400" dirty="0" err="1" smtClean="0"/>
              <a:t>hafizan</a:t>
            </a:r>
            <a:r>
              <a:rPr lang="en-US" sz="2400" dirty="0" smtClean="0"/>
              <a:t>-e-</a:t>
            </a:r>
            <a:r>
              <a:rPr lang="en-US" sz="2400" dirty="0" err="1" smtClean="0"/>
              <a:t>Qura’n</a:t>
            </a:r>
            <a:r>
              <a:rPr lang="en-US" sz="2400" dirty="0" smtClean="0"/>
              <a:t>.</a:t>
            </a:r>
          </a:p>
          <a:p>
            <a:r>
              <a:rPr lang="en-US" sz="2400" dirty="0" smtClean="0"/>
              <a:t>Two witnesses</a:t>
            </a:r>
            <a:endParaRPr lang="ur-PK" sz="2400" dirty="0" smtClean="0"/>
          </a:p>
          <a:p>
            <a:pPr marL="609600" indent="-609600">
              <a:buFont typeface="Wingdings" pitchFamily="2" charset="2"/>
              <a:buAutoNum type="arabicPeriod"/>
              <a:defRPr/>
            </a:pPr>
            <a:endParaRPr lang="en-US" sz="2400" dirty="0" smtClean="0"/>
          </a:p>
          <a:p>
            <a:endParaRPr 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Compilation of the holy Quran:3</a:t>
            </a:r>
            <a:endParaRPr lang="en-US" dirty="0"/>
          </a:p>
        </p:txBody>
      </p:sp>
      <p:sp>
        <p:nvSpPr>
          <p:cNvPr id="3" name="Content Placeholder 2"/>
          <p:cNvSpPr>
            <a:spLocks noGrp="1"/>
          </p:cNvSpPr>
          <p:nvPr>
            <p:ph idx="1"/>
          </p:nvPr>
        </p:nvSpPr>
        <p:spPr>
          <a:xfrm>
            <a:off x="152400" y="1524000"/>
            <a:ext cx="8991600" cy="5334000"/>
          </a:xfrm>
        </p:spPr>
        <p:txBody>
          <a:bodyPr>
            <a:noAutofit/>
          </a:bodyPr>
          <a:lstStyle/>
          <a:p>
            <a:pPr marL="228600" indent="-228600">
              <a:defRPr/>
            </a:pPr>
            <a:r>
              <a:rPr lang="en-US" sz="2400" dirty="0" smtClean="0"/>
              <a:t>The different contents of the Qur’an during the period of the third Caliph </a:t>
            </a:r>
            <a:r>
              <a:rPr lang="en-US" sz="2400" dirty="0" err="1" smtClean="0"/>
              <a:t>Usman</a:t>
            </a:r>
            <a:r>
              <a:rPr lang="en-US" sz="2400" dirty="0" smtClean="0"/>
              <a:t> (</a:t>
            </a:r>
            <a:r>
              <a:rPr lang="en-US" sz="2400" dirty="0" err="1" smtClean="0"/>
              <a:t>r.a</a:t>
            </a:r>
            <a:r>
              <a:rPr lang="en-US" sz="2400" dirty="0" smtClean="0"/>
              <a:t>.). </a:t>
            </a:r>
          </a:p>
          <a:p>
            <a:pPr>
              <a:defRPr/>
            </a:pPr>
            <a:r>
              <a:rPr lang="en-US" sz="2400" dirty="0" err="1" smtClean="0"/>
              <a:t>Usman</a:t>
            </a:r>
            <a:r>
              <a:rPr lang="en-US" sz="2400" dirty="0" smtClean="0"/>
              <a:t> (</a:t>
            </a:r>
            <a:r>
              <a:rPr lang="en-US" sz="2400" dirty="0" err="1" smtClean="0"/>
              <a:t>r.a</a:t>
            </a:r>
            <a:r>
              <a:rPr lang="en-US" sz="2400" dirty="0" smtClean="0"/>
              <a:t>.) borrowed the original manuscript of the Qur’an, from </a:t>
            </a:r>
            <a:r>
              <a:rPr lang="en-US" sz="2400" dirty="0" err="1" smtClean="0"/>
              <a:t>Hafsha</a:t>
            </a:r>
            <a:r>
              <a:rPr lang="en-US" sz="2400" dirty="0" smtClean="0"/>
              <a:t> (</a:t>
            </a:r>
            <a:r>
              <a:rPr lang="en-US" sz="2400" dirty="0" err="1" smtClean="0"/>
              <a:t>r.a</a:t>
            </a:r>
            <a:r>
              <a:rPr lang="en-US" sz="2400" dirty="0" smtClean="0"/>
              <a:t>.). </a:t>
            </a:r>
            <a:r>
              <a:rPr lang="en-US" sz="2400" dirty="0" err="1" smtClean="0"/>
              <a:t>Usman</a:t>
            </a:r>
            <a:r>
              <a:rPr lang="en-US" sz="2400" dirty="0" smtClean="0"/>
              <a:t> (</a:t>
            </a:r>
            <a:r>
              <a:rPr lang="en-US" sz="2400" dirty="0" err="1" smtClean="0"/>
              <a:t>r.a</a:t>
            </a:r>
            <a:r>
              <a:rPr lang="en-US" sz="2400" dirty="0" smtClean="0"/>
              <a:t>.) ordered four Companions who were among the scribes who wrote the Qur’an when the </a:t>
            </a:r>
            <a:r>
              <a:rPr lang="en-US" sz="2400" dirty="0" smtClean="0"/>
              <a:t>Prophet</a:t>
            </a:r>
            <a:r>
              <a:rPr lang="en-US" sz="2400" dirty="0" smtClean="0">
                <a:latin typeface="Times New Roman" pitchFamily="18" charset="0"/>
                <a:cs typeface="Times New Roman" pitchFamily="18" charset="0"/>
              </a:rPr>
              <a:t> </a:t>
            </a:r>
            <a:r>
              <a:rPr lang="en-US" sz="2400" dirty="0" smtClean="0"/>
              <a:t>(</a:t>
            </a:r>
            <a:r>
              <a:rPr lang="ur-PK" sz="2400" dirty="0" smtClean="0"/>
              <a:t>ﷺ</a:t>
            </a:r>
            <a:r>
              <a:rPr lang="en-US" sz="2400" dirty="0" smtClean="0"/>
              <a:t>) </a:t>
            </a:r>
            <a:r>
              <a:rPr lang="en-US" sz="2400" dirty="0" smtClean="0"/>
              <a:t>dictated it, led by </a:t>
            </a:r>
            <a:r>
              <a:rPr lang="en-US" sz="2400" dirty="0" err="1" smtClean="0"/>
              <a:t>Zaid</a:t>
            </a:r>
            <a:r>
              <a:rPr lang="en-US" sz="2400" dirty="0" smtClean="0"/>
              <a:t> bin </a:t>
            </a:r>
            <a:r>
              <a:rPr lang="en-US" sz="2400" dirty="0" err="1" smtClean="0"/>
              <a:t>Thabit</a:t>
            </a:r>
            <a:r>
              <a:rPr lang="en-US" sz="2400" dirty="0" smtClean="0"/>
              <a:t> (</a:t>
            </a:r>
            <a:r>
              <a:rPr lang="en-US" sz="2400" dirty="0" err="1" smtClean="0"/>
              <a:t>r.a</a:t>
            </a:r>
            <a:r>
              <a:rPr lang="en-US" sz="2400" dirty="0" smtClean="0"/>
              <a:t>.) to rewrite the script in several perfect copies on </a:t>
            </a:r>
            <a:r>
              <a:rPr lang="en-US" sz="2400" dirty="0" err="1" smtClean="0"/>
              <a:t>Quraishi</a:t>
            </a:r>
            <a:r>
              <a:rPr lang="en-US" sz="2400" dirty="0" smtClean="0"/>
              <a:t> dialect. </a:t>
            </a:r>
          </a:p>
          <a:p>
            <a:pPr>
              <a:defRPr/>
            </a:pPr>
            <a:r>
              <a:rPr lang="en-US" sz="2400" dirty="0" err="1" smtClean="0"/>
              <a:t>Usman</a:t>
            </a:r>
            <a:r>
              <a:rPr lang="en-US" sz="2400" dirty="0" smtClean="0"/>
              <a:t> (</a:t>
            </a:r>
            <a:r>
              <a:rPr lang="en-US" sz="2400" dirty="0" err="1" smtClean="0"/>
              <a:t>r.a</a:t>
            </a:r>
            <a:r>
              <a:rPr lang="en-US" sz="2400" dirty="0" smtClean="0"/>
              <a:t>.) only appealed to the people to destroy all these copies which did not match the original manuscript of the Qur’an in order to preserve the original text of the Qur’an. Two such copies of the original Qur’an authenticated by the Prophet are present to this day, one at the museum in Tashkent and the other at the </a:t>
            </a:r>
            <a:r>
              <a:rPr lang="en-US" sz="2400" dirty="0" err="1" smtClean="0"/>
              <a:t>Topkapi</a:t>
            </a:r>
            <a:r>
              <a:rPr lang="en-US" sz="2400" dirty="0" smtClean="0"/>
              <a:t> Museum in Istanbul, Turkey.</a:t>
            </a:r>
          </a:p>
          <a:p>
            <a:pPr marL="228600" indent="-228600">
              <a:buFont typeface="+mj-lt"/>
              <a:buAutoNum type="arabicPeriod"/>
              <a:defRPr/>
            </a:pPr>
            <a:endParaRPr lang="en-US" sz="2400" dirty="0" smtClean="0"/>
          </a:p>
          <a:p>
            <a:pPr marL="228600" indent="-228600">
              <a:buFont typeface="+mj-lt"/>
              <a:buAutoNum type="arabicPeriod"/>
              <a:defRPr/>
            </a:pPr>
            <a:endParaRPr lang="en-US" sz="2400" dirty="0" smtClean="0"/>
          </a:p>
          <a:p>
            <a:pPr>
              <a:defRPr/>
            </a:pPr>
            <a:endParaRPr lang="en-US" sz="2400" dirty="0" smtClean="0"/>
          </a:p>
          <a:p>
            <a:pPr marL="609600" indent="-609600">
              <a:buFont typeface="Wingdings" pitchFamily="2" charset="2"/>
              <a:buAutoNum type="arabicPeriod"/>
              <a:defRPr/>
            </a:pPr>
            <a:endParaRPr lang="en-US" sz="2400" dirty="0" smtClean="0"/>
          </a:p>
          <a:p>
            <a:endParaRPr lang="en-US" sz="2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r>
              <a:rPr lang="en-US" dirty="0"/>
              <a:t>Quran is a </a:t>
            </a:r>
            <a:r>
              <a:rPr lang="en-US" dirty="0" smtClean="0"/>
              <a:t>principle </a:t>
            </a:r>
            <a:r>
              <a:rPr lang="en-US" dirty="0"/>
              <a:t/>
            </a:r>
            <a:br>
              <a:rPr lang="en-US" dirty="0"/>
            </a:br>
            <a:r>
              <a:rPr lang="en-US" dirty="0"/>
              <a:t>to distinguish</a:t>
            </a:r>
          </a:p>
        </p:txBody>
      </p:sp>
      <p:sp>
        <p:nvSpPr>
          <p:cNvPr id="18435" name="Rectangle 3"/>
          <p:cNvSpPr>
            <a:spLocks noGrp="1" noChangeArrowheads="1"/>
          </p:cNvSpPr>
          <p:nvPr>
            <p:ph type="body" idx="1"/>
          </p:nvPr>
        </p:nvSpPr>
        <p:spPr/>
        <p:txBody>
          <a:bodyPr>
            <a:normAutofit lnSpcReduction="10000"/>
          </a:bodyPr>
          <a:lstStyle/>
          <a:p>
            <a:r>
              <a:rPr lang="en-US" dirty="0"/>
              <a:t>Guidance and misguidance.</a:t>
            </a:r>
          </a:p>
          <a:p>
            <a:r>
              <a:rPr lang="en-US" dirty="0" err="1"/>
              <a:t>Iman</a:t>
            </a:r>
            <a:r>
              <a:rPr lang="en-US" dirty="0"/>
              <a:t> &amp; </a:t>
            </a:r>
            <a:r>
              <a:rPr lang="en-US" dirty="0" err="1"/>
              <a:t>Kufr</a:t>
            </a:r>
            <a:r>
              <a:rPr lang="en-US" dirty="0"/>
              <a:t>.</a:t>
            </a:r>
          </a:p>
          <a:p>
            <a:r>
              <a:rPr lang="en-US" dirty="0"/>
              <a:t>Islam &amp; </a:t>
            </a:r>
            <a:r>
              <a:rPr lang="en-US" dirty="0" err="1"/>
              <a:t>Jahiliyyah</a:t>
            </a:r>
            <a:r>
              <a:rPr lang="en-US" dirty="0"/>
              <a:t>.</a:t>
            </a:r>
          </a:p>
          <a:p>
            <a:r>
              <a:rPr lang="en-US" dirty="0"/>
              <a:t>Acts which bring pleasure or displeasure of Allah.</a:t>
            </a:r>
          </a:p>
          <a:p>
            <a:r>
              <a:rPr lang="en-US" dirty="0"/>
              <a:t>Truth &amp; falsehood.</a:t>
            </a:r>
          </a:p>
          <a:p>
            <a:r>
              <a:rPr lang="en-US" dirty="0" err="1"/>
              <a:t>Halal</a:t>
            </a:r>
            <a:r>
              <a:rPr lang="en-US" dirty="0"/>
              <a:t> and </a:t>
            </a:r>
            <a:r>
              <a:rPr lang="en-US" dirty="0" err="1"/>
              <a:t>Haram</a:t>
            </a:r>
            <a:r>
              <a:rPr lang="en-US" dirty="0"/>
              <a:t>.</a:t>
            </a:r>
          </a:p>
          <a:p>
            <a:r>
              <a:rPr lang="en-US" dirty="0" err="1"/>
              <a:t>Tauhid</a:t>
            </a:r>
            <a:r>
              <a:rPr lang="en-US" dirty="0"/>
              <a:t> and Shirk.</a:t>
            </a:r>
          </a:p>
        </p:txBody>
      </p:sp>
      <p:pic>
        <p:nvPicPr>
          <p:cNvPr id="18436" name="Picture 4"/>
          <p:cNvPicPr>
            <a:picLocks noChangeAspect="1" noChangeArrowheads="1"/>
          </p:cNvPicPr>
          <p:nvPr/>
        </p:nvPicPr>
        <p:blipFill>
          <a:blip r:embed="rId2" cstate="print"/>
          <a:srcRect/>
          <a:stretch>
            <a:fillRect/>
          </a:stretch>
        </p:blipFill>
        <p:spPr bwMode="auto">
          <a:xfrm>
            <a:off x="1828800" y="6019800"/>
            <a:ext cx="4276725" cy="4667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body" idx="1"/>
          </p:nvPr>
        </p:nvSpPr>
        <p:spPr bwMode="auto">
          <a:xfrm>
            <a:off x="228600" y="1447800"/>
            <a:ext cx="8305800" cy="5105400"/>
          </a:xfrm>
          <a:noFill/>
          <a:ln>
            <a:miter lim="800000"/>
            <a:headEnd/>
            <a:tailEnd/>
          </a:ln>
        </p:spPr>
        <p:txBody>
          <a:bodyPr vert="horz" wrap="square" lIns="91440" tIns="45720" rIns="91440" bIns="45720" numCol="1" anchor="t" anchorCtr="0" compatLnSpc="1">
            <a:prstTxWarp prst="textNoShape">
              <a:avLst/>
            </a:prstTxWarp>
            <a:noAutofit/>
          </a:bodyPr>
          <a:lstStyle/>
          <a:p>
            <a:pPr>
              <a:buClr>
                <a:srgbClr val="FFFF00"/>
              </a:buClr>
              <a:buFont typeface="Wingdings" pitchFamily="2" charset="2"/>
              <a:buNone/>
            </a:pPr>
            <a:r>
              <a:rPr lang="en-US" sz="4000" i="0" dirty="0"/>
              <a:t>Scholars say that to leave Qur’an is not to do any of these:</a:t>
            </a:r>
            <a:r>
              <a:rPr lang="en-US" sz="2400" b="0" i="0" dirty="0"/>
              <a:t>  </a:t>
            </a:r>
          </a:p>
          <a:p>
            <a:pPr>
              <a:buClr>
                <a:srgbClr val="FFFF00"/>
              </a:buClr>
              <a:buFont typeface="Wingdings" pitchFamily="2" charset="2"/>
              <a:buNone/>
            </a:pPr>
            <a:r>
              <a:rPr lang="en-US" sz="2400" b="0" i="0" dirty="0"/>
              <a:t> </a:t>
            </a:r>
          </a:p>
          <a:p>
            <a:pPr>
              <a:buClr>
                <a:srgbClr val="FFFF00"/>
              </a:buClr>
              <a:buFont typeface="Wingdings" pitchFamily="2" charset="2"/>
              <a:buChar char="§"/>
            </a:pPr>
            <a:r>
              <a:rPr lang="en-US" sz="2400" b="0" i="0" dirty="0"/>
              <a:t>Believe in it</a:t>
            </a:r>
          </a:p>
          <a:p>
            <a:pPr>
              <a:buClr>
                <a:srgbClr val="FFFF00"/>
              </a:buClr>
              <a:buFont typeface="Wingdings" pitchFamily="2" charset="2"/>
              <a:buChar char="§"/>
            </a:pPr>
            <a:r>
              <a:rPr lang="en-US" sz="2400" b="0" i="0" dirty="0"/>
              <a:t>Read it</a:t>
            </a:r>
          </a:p>
          <a:p>
            <a:pPr>
              <a:buClr>
                <a:srgbClr val="FFFF00"/>
              </a:buClr>
              <a:buFont typeface="Wingdings" pitchFamily="2" charset="2"/>
              <a:buChar char="§"/>
            </a:pPr>
            <a:r>
              <a:rPr lang="en-US" sz="2400" b="0" i="0" dirty="0"/>
              <a:t>Understand it</a:t>
            </a:r>
          </a:p>
          <a:p>
            <a:pPr>
              <a:buClr>
                <a:srgbClr val="FFFF00"/>
              </a:buClr>
              <a:buFont typeface="Wingdings" pitchFamily="2" charset="2"/>
              <a:buChar char="§"/>
            </a:pPr>
            <a:r>
              <a:rPr lang="en-US" sz="2400" b="0" i="0" dirty="0" smtClean="0"/>
              <a:t>Deliberate in </a:t>
            </a:r>
            <a:r>
              <a:rPr lang="en-US" sz="2400" b="0" i="0" dirty="0"/>
              <a:t>its verses</a:t>
            </a:r>
          </a:p>
          <a:p>
            <a:pPr>
              <a:buClr>
                <a:srgbClr val="FFFF00"/>
              </a:buClr>
              <a:buFont typeface="Wingdings" pitchFamily="2" charset="2"/>
              <a:buChar char="§"/>
            </a:pPr>
            <a:r>
              <a:rPr lang="en-US" sz="2400" b="0" i="0" dirty="0"/>
              <a:t>Act upon it</a:t>
            </a:r>
          </a:p>
          <a:p>
            <a:pPr>
              <a:buClr>
                <a:srgbClr val="FFFF00"/>
              </a:buClr>
              <a:buFont typeface="Wingdings" pitchFamily="2" charset="2"/>
              <a:buChar char="§"/>
            </a:pPr>
            <a:r>
              <a:rPr lang="en-US" sz="2400" b="0" i="0" dirty="0"/>
              <a:t>Spread it</a:t>
            </a:r>
          </a:p>
          <a:p>
            <a:pPr>
              <a:buClr>
                <a:srgbClr val="FFFF00"/>
              </a:buClr>
              <a:buFont typeface="Wingdings" pitchFamily="2" charset="2"/>
              <a:buChar char="Ø"/>
            </a:pPr>
            <a:endParaRPr lang="en-US" sz="2400" b="0" i="0" dirty="0"/>
          </a:p>
          <a:p>
            <a:pPr>
              <a:buClr>
                <a:srgbClr val="FFFF00"/>
              </a:buClr>
              <a:buFont typeface="Wingdings" pitchFamily="2" charset="2"/>
              <a:buNone/>
            </a:pPr>
            <a:endParaRPr lang="en-US" sz="2400" i="0" dirty="0"/>
          </a:p>
          <a:p>
            <a:pPr>
              <a:buClr>
                <a:srgbClr val="FFFF00"/>
              </a:buClr>
              <a:buFont typeface="Wingdings" pitchFamily="2" charset="2"/>
              <a:buNone/>
            </a:pPr>
            <a:r>
              <a:rPr lang="en-US" sz="2400" i="0" dirty="0"/>
              <a:t>	</a:t>
            </a:r>
          </a:p>
        </p:txBody>
      </p:sp>
      <p:sp>
        <p:nvSpPr>
          <p:cNvPr id="163843" name="Text Box 3"/>
          <p:cNvSpPr txBox="1">
            <a:spLocks noChangeArrowheads="1"/>
          </p:cNvSpPr>
          <p:nvPr/>
        </p:nvSpPr>
        <p:spPr bwMode="auto">
          <a:xfrm>
            <a:off x="3671888" y="4267200"/>
            <a:ext cx="5091112" cy="457200"/>
          </a:xfrm>
          <a:prstGeom prst="rect">
            <a:avLst/>
          </a:prstGeom>
          <a:noFill/>
          <a:ln w="9525">
            <a:noFill/>
            <a:miter lim="800000"/>
            <a:headEnd/>
            <a:tailEnd/>
          </a:ln>
          <a:effectLst/>
        </p:spPr>
        <p:txBody>
          <a:bodyPr>
            <a:spAutoFit/>
          </a:bodyPr>
          <a:lstStyle/>
          <a:p>
            <a:pPr algn="ctr">
              <a:spcBef>
                <a:spcPct val="50000"/>
              </a:spcBef>
            </a:pPr>
            <a:r>
              <a:rPr lang="en-US" sz="2400">
                <a:solidFill>
                  <a:srgbClr val="00B050"/>
                </a:solidFill>
                <a:latin typeface="Tahoma" pitchFamily="34" charset="0"/>
              </a:rPr>
              <a:t>THE RIGHTS OF QUR’AN</a:t>
            </a:r>
          </a:p>
        </p:txBody>
      </p:sp>
      <p:sp>
        <p:nvSpPr>
          <p:cNvPr id="163844" name="Freeform 4"/>
          <p:cNvSpPr>
            <a:spLocks/>
          </p:cNvSpPr>
          <p:nvPr/>
        </p:nvSpPr>
        <p:spPr bwMode="auto">
          <a:xfrm>
            <a:off x="3505200" y="3581400"/>
            <a:ext cx="334963" cy="2057400"/>
          </a:xfrm>
          <a:custGeom>
            <a:avLst/>
            <a:gdLst/>
            <a:ahLst/>
            <a:cxnLst>
              <a:cxn ang="0">
                <a:pos x="0" y="0"/>
              </a:cxn>
              <a:cxn ang="0">
                <a:pos x="211" y="0"/>
              </a:cxn>
              <a:cxn ang="0">
                <a:pos x="211" y="1670"/>
              </a:cxn>
              <a:cxn ang="0">
                <a:pos x="10" y="1670"/>
              </a:cxn>
            </a:cxnLst>
            <a:rect l="0" t="0" r="r" b="b"/>
            <a:pathLst>
              <a:path w="211" h="1670">
                <a:moveTo>
                  <a:pt x="0" y="0"/>
                </a:moveTo>
                <a:lnTo>
                  <a:pt x="211" y="0"/>
                </a:lnTo>
                <a:lnTo>
                  <a:pt x="211" y="1670"/>
                </a:lnTo>
                <a:lnTo>
                  <a:pt x="10" y="1670"/>
                </a:lnTo>
              </a:path>
            </a:pathLst>
          </a:custGeom>
          <a:noFill/>
          <a:ln w="38100" cap="flat" cmpd="sng">
            <a:solidFill>
              <a:srgbClr val="FFFF00"/>
            </a:solidFill>
            <a:prstDash val="solid"/>
            <a:miter lim="800000"/>
            <a:headEnd type="none" w="med" len="med"/>
            <a:tailEnd type="none" w="med" len="med"/>
          </a:ln>
          <a:effectLst/>
        </p:spPr>
        <p:txBody>
          <a:bodyPr wrap="none"/>
          <a:lstStyle/>
          <a:p>
            <a:endParaRPr lang="en-US"/>
          </a:p>
        </p:txBody>
      </p:sp>
      <p:sp>
        <p:nvSpPr>
          <p:cNvPr id="163845" name="Rectangle 5"/>
          <p:cNvSpPr>
            <a:spLocks noGrp="1" noChangeArrowheads="1"/>
          </p:cNvSpPr>
          <p:nvPr>
            <p:ph type="title"/>
          </p:nvPr>
        </p:nvSpPr>
        <p:spPr bwMode="auto">
          <a:xfrm>
            <a:off x="457200" y="223838"/>
            <a:ext cx="8229600" cy="919162"/>
          </a:xfrm>
          <a:noFill/>
          <a:ln>
            <a:miter lim="800000"/>
            <a:headEnd/>
            <a:tailEnd/>
          </a:ln>
        </p:spPr>
        <p:txBody>
          <a:bodyPr vert="horz" wrap="square" lIns="91440" tIns="45720" rIns="91440" bIns="45720" numCol="1" anchor="t" anchorCtr="0" compatLnSpc="1">
            <a:prstTxWarp prst="textNoShape">
              <a:avLst/>
            </a:prstTxWarp>
            <a:noAutofit/>
          </a:bodyPr>
          <a:lstStyle/>
          <a:p>
            <a:r>
              <a:rPr lang="en-US" sz="4800" dirty="0">
                <a:solidFill>
                  <a:srgbClr val="00B0F0"/>
                </a:solidFill>
                <a:latin typeface="Arial" charset="0"/>
                <a:cs typeface="Arial" charset="0"/>
              </a:rPr>
              <a:t>The Rights Of Qur’an</a:t>
            </a:r>
          </a:p>
        </p:txBody>
      </p:sp>
    </p:spTree>
  </p:cSld>
  <p:clrMapOvr>
    <a:masterClrMapping/>
  </p:clrMapOvr>
  <p:transition advTm="20542"/>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sz="4800" b="1" dirty="0" smtClean="0">
                <a:latin typeface="Arial" pitchFamily="34" charset="0"/>
                <a:cs typeface="Arial" pitchFamily="34" charset="0"/>
              </a:rPr>
              <a:t/>
            </a:r>
            <a:br>
              <a:rPr lang="en-US" sz="4800" b="1" dirty="0" smtClean="0">
                <a:latin typeface="Arial" pitchFamily="34" charset="0"/>
                <a:cs typeface="Arial" pitchFamily="34" charset="0"/>
              </a:rPr>
            </a:br>
            <a:r>
              <a:rPr lang="en-US" sz="4800" b="1" dirty="0">
                <a:latin typeface="Arial" pitchFamily="34" charset="0"/>
                <a:cs typeface="Arial" pitchFamily="34" charset="0"/>
              </a:rPr>
              <a:t/>
            </a:r>
            <a:br>
              <a:rPr lang="en-US" sz="4800" b="1" dirty="0">
                <a:latin typeface="Arial" pitchFamily="34" charset="0"/>
                <a:cs typeface="Arial" pitchFamily="34" charset="0"/>
              </a:rPr>
            </a:br>
            <a:r>
              <a:rPr lang="en-US" sz="4800" b="1" dirty="0" smtClean="0">
                <a:latin typeface="Arial" pitchFamily="34" charset="0"/>
                <a:cs typeface="Arial" pitchFamily="34" charset="0"/>
              </a:rPr>
              <a:t/>
            </a:r>
            <a:br>
              <a:rPr lang="en-US" sz="4800" b="1" dirty="0" smtClean="0">
                <a:latin typeface="Arial" pitchFamily="34" charset="0"/>
                <a:cs typeface="Arial" pitchFamily="34" charset="0"/>
              </a:rPr>
            </a:br>
            <a:r>
              <a:rPr lang="en-US" sz="4800" b="1" dirty="0">
                <a:latin typeface="Arial" pitchFamily="34" charset="0"/>
                <a:cs typeface="Arial" pitchFamily="34" charset="0"/>
              </a:rPr>
              <a:t/>
            </a:r>
            <a:br>
              <a:rPr lang="en-US" sz="4800" b="1" dirty="0">
                <a:latin typeface="Arial" pitchFamily="34" charset="0"/>
                <a:cs typeface="Arial" pitchFamily="34" charset="0"/>
              </a:rPr>
            </a:br>
            <a:r>
              <a:rPr lang="en-US" sz="4800" b="1" dirty="0" smtClean="0">
                <a:latin typeface="Arial" pitchFamily="34" charset="0"/>
                <a:cs typeface="Arial" pitchFamily="34" charset="0"/>
              </a:rPr>
              <a:t/>
            </a:r>
            <a:br>
              <a:rPr lang="en-US" sz="4800" b="1" dirty="0" smtClean="0">
                <a:latin typeface="Arial" pitchFamily="34" charset="0"/>
                <a:cs typeface="Arial" pitchFamily="34" charset="0"/>
              </a:rPr>
            </a:br>
            <a:r>
              <a:rPr lang="en-US" sz="4800" b="1" dirty="0">
                <a:latin typeface="Arial" pitchFamily="34" charset="0"/>
                <a:cs typeface="Arial" pitchFamily="34" charset="0"/>
              </a:rPr>
              <a:t/>
            </a:r>
            <a:br>
              <a:rPr lang="en-US" sz="4800" b="1" dirty="0">
                <a:latin typeface="Arial" pitchFamily="34" charset="0"/>
                <a:cs typeface="Arial" pitchFamily="34" charset="0"/>
              </a:rPr>
            </a:br>
            <a:r>
              <a:rPr lang="en-US" sz="4800" b="1" dirty="0" smtClean="0">
                <a:latin typeface="Arial" pitchFamily="34" charset="0"/>
                <a:cs typeface="Arial" pitchFamily="34" charset="0"/>
              </a:rPr>
              <a:t/>
            </a:r>
            <a:br>
              <a:rPr lang="en-US" sz="4800" b="1" dirty="0" smtClean="0">
                <a:latin typeface="Arial" pitchFamily="34" charset="0"/>
                <a:cs typeface="Arial" pitchFamily="34" charset="0"/>
              </a:rPr>
            </a:br>
            <a:r>
              <a:rPr lang="en-US" sz="4800" b="1" dirty="0">
                <a:latin typeface="Arial" pitchFamily="34" charset="0"/>
                <a:cs typeface="Arial" pitchFamily="34" charset="0"/>
              </a:rPr>
              <a:t> </a:t>
            </a:r>
            <a:r>
              <a:rPr lang="en-US" sz="4800" b="1" dirty="0" smtClean="0">
                <a:latin typeface="Arial" pitchFamily="34" charset="0"/>
                <a:cs typeface="Arial" pitchFamily="34" charset="0"/>
              </a:rPr>
              <a:t>    ULOOM-UL-QURAN     </a:t>
            </a:r>
            <a:r>
              <a:rPr lang="en-US" sz="4800" b="1" dirty="0">
                <a:latin typeface="Arial" pitchFamily="34" charset="0"/>
                <a:cs typeface="Arial" pitchFamily="34" charset="0"/>
              </a:rPr>
              <a:t>	  </a:t>
            </a:r>
            <a:r>
              <a:rPr lang="en-US" sz="4800" b="1" dirty="0" smtClean="0">
                <a:latin typeface="Arial" pitchFamily="34" charset="0"/>
                <a:cs typeface="Arial" pitchFamily="34" charset="0"/>
              </a:rPr>
              <a:t>         (</a:t>
            </a:r>
            <a:r>
              <a:rPr lang="en-US" sz="4800" b="1" dirty="0">
                <a:latin typeface="Arial" pitchFamily="34" charset="0"/>
                <a:cs typeface="Arial" pitchFamily="34" charset="0"/>
              </a:rPr>
              <a:t>SCIENCE OF QURAN</a:t>
            </a:r>
            <a:r>
              <a:rPr lang="en-US" sz="4800" b="1" dirty="0" smtClean="0">
                <a:latin typeface="Arial" pitchFamily="34" charset="0"/>
                <a:cs typeface="Arial" pitchFamily="34" charset="0"/>
              </a:rPr>
              <a:t>)   </a:t>
            </a:r>
            <a:endParaRPr lang="en-US" dirty="0"/>
          </a:p>
        </p:txBody>
      </p:sp>
      <p:sp>
        <p:nvSpPr>
          <p:cNvPr id="4" name="Slide Number Placeholder 3"/>
          <p:cNvSpPr>
            <a:spLocks noGrp="1"/>
          </p:cNvSpPr>
          <p:nvPr>
            <p:ph type="sldNum" sz="quarter" idx="12"/>
          </p:nvPr>
        </p:nvSpPr>
        <p:spPr>
          <a:xfrm>
            <a:off x="10515600" y="6324600"/>
            <a:ext cx="762000" cy="365125"/>
          </a:xfrm>
        </p:spPr>
        <p:txBody>
          <a:bodyPr/>
          <a:lstStyle/>
          <a:p>
            <a:fld id="{78C91BCE-F812-4952-A23B-44D6EE9BB165}" type="slidenum">
              <a:rPr lang="en-US" smtClean="0"/>
              <a:pPr/>
              <a:t>22</a:t>
            </a:fld>
            <a:r>
              <a:rPr lang="en-US" dirty="0" smtClean="0"/>
              <a:t> of 40</a:t>
            </a:r>
            <a:endParaRPr lang="en-US" dirty="0"/>
          </a:p>
        </p:txBody>
      </p:sp>
    </p:spTree>
    <p:extLst>
      <p:ext uri="{BB962C8B-B14F-4D97-AF65-F5344CB8AC3E}">
        <p14:creationId xmlns="" xmlns:p14="http://schemas.microsoft.com/office/powerpoint/2010/main" val="38240218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sz="4000" b="1" dirty="0" smtClean="0">
                <a:latin typeface="Arial" pitchFamily="34" charset="0"/>
                <a:cs typeface="Arial" pitchFamily="34" charset="0"/>
              </a:rPr>
              <a:t>            ULOOM-UL-QURAN </a:t>
            </a:r>
            <a:endParaRPr lang="en-US" sz="4000" b="1" dirty="0">
              <a:latin typeface="Arial" pitchFamily="34" charset="0"/>
              <a:cs typeface="Arial" pitchFamily="34" charset="0"/>
            </a:endParaRPr>
          </a:p>
        </p:txBody>
      </p:sp>
      <p:sp>
        <p:nvSpPr>
          <p:cNvPr id="34819" name="Rectangle 3"/>
          <p:cNvSpPr>
            <a:spLocks noGrp="1" noChangeArrowheads="1"/>
          </p:cNvSpPr>
          <p:nvPr>
            <p:ph idx="1"/>
          </p:nvPr>
        </p:nvSpPr>
        <p:spPr/>
        <p:txBody>
          <a:bodyPr>
            <a:normAutofit fontScale="85000" lnSpcReduction="20000"/>
          </a:bodyPr>
          <a:lstStyle/>
          <a:p>
            <a:pPr marL="137160" indent="0">
              <a:buNone/>
            </a:pPr>
            <a:endParaRPr lang="en-US" dirty="0" smtClean="0"/>
          </a:p>
          <a:p>
            <a:pPr marL="137160" indent="0">
              <a:buFont typeface="Wingdings" pitchFamily="2" charset="2"/>
              <a:buChar char="v"/>
            </a:pPr>
            <a:r>
              <a:rPr lang="ar-SA" dirty="0" smtClean="0"/>
              <a:t> </a:t>
            </a:r>
            <a:r>
              <a:rPr lang="arn-CL" b="1" dirty="0" smtClean="0"/>
              <a:t>Two Patren of Transmission of the Holy Quran</a:t>
            </a:r>
            <a:endParaRPr lang="en-US" b="1" dirty="0" smtClean="0"/>
          </a:p>
          <a:p>
            <a:pPr marL="137160" indent="0">
              <a:buFont typeface="Wingdings" pitchFamily="2" charset="2"/>
              <a:buChar char="v"/>
            </a:pPr>
            <a:r>
              <a:rPr lang="en-US" b="1" dirty="0" smtClean="0"/>
              <a:t>Philosophy behind the gradual revelation </a:t>
            </a:r>
            <a:endParaRPr lang="en-US" b="1" dirty="0" smtClean="0"/>
          </a:p>
          <a:p>
            <a:pPr marL="137160" indent="0">
              <a:buFont typeface="Wingdings" pitchFamily="2" charset="2"/>
              <a:buChar char="v"/>
            </a:pPr>
            <a:r>
              <a:rPr lang="arn-CL" b="1" dirty="0" smtClean="0"/>
              <a:t>Kinds and Categories of </a:t>
            </a:r>
            <a:r>
              <a:rPr lang="arn-CL" b="1" dirty="0" smtClean="0"/>
              <a:t>revelation</a:t>
            </a:r>
          </a:p>
          <a:p>
            <a:pPr marL="137160" indent="0">
              <a:buFont typeface="Wingdings" pitchFamily="2" charset="2"/>
              <a:buChar char="v"/>
            </a:pPr>
            <a:r>
              <a:rPr lang="en-US" b="1" dirty="0" smtClean="0"/>
              <a:t>The Theme of the </a:t>
            </a:r>
            <a:r>
              <a:rPr lang="en-US" b="1" dirty="0" smtClean="0"/>
              <a:t>Quran</a:t>
            </a:r>
          </a:p>
          <a:p>
            <a:pPr marL="137160" indent="0">
              <a:buFont typeface="Wingdings" pitchFamily="2" charset="2"/>
              <a:buChar char="v"/>
            </a:pPr>
            <a:r>
              <a:rPr lang="en-US" b="1" dirty="0" smtClean="0"/>
              <a:t>The </a:t>
            </a:r>
            <a:r>
              <a:rPr lang="en-US" b="1" dirty="0" err="1" smtClean="0"/>
              <a:t>Quranic</a:t>
            </a:r>
            <a:r>
              <a:rPr lang="en-US" b="1" dirty="0" smtClean="0"/>
              <a:t> </a:t>
            </a:r>
            <a:r>
              <a:rPr lang="en-US" b="1" dirty="0" smtClean="0"/>
              <a:t>order</a:t>
            </a:r>
          </a:p>
          <a:p>
            <a:pPr marL="137160" indent="0">
              <a:buFont typeface="Wingdings" pitchFamily="2" charset="2"/>
              <a:buChar char="v"/>
            </a:pPr>
            <a:r>
              <a:rPr lang="en-US" b="1" dirty="0" err="1" smtClean="0"/>
              <a:t>Makki</a:t>
            </a:r>
            <a:r>
              <a:rPr lang="en-US" b="1" dirty="0" smtClean="0"/>
              <a:t> and </a:t>
            </a:r>
            <a:r>
              <a:rPr lang="en-US" b="1" dirty="0" err="1" smtClean="0"/>
              <a:t>Madni</a:t>
            </a:r>
            <a:r>
              <a:rPr lang="en-US" b="1" dirty="0" smtClean="0"/>
              <a:t> </a:t>
            </a:r>
            <a:r>
              <a:rPr lang="en-US" b="1" dirty="0" err="1" smtClean="0"/>
              <a:t>Surahs</a:t>
            </a:r>
            <a:endParaRPr lang="en-US" b="1" dirty="0" smtClean="0"/>
          </a:p>
          <a:p>
            <a:pPr marL="137160" indent="0">
              <a:buNone/>
            </a:pPr>
            <a:endParaRPr lang="en-US" dirty="0"/>
          </a:p>
          <a:p>
            <a:pPr marL="137160" indent="0">
              <a:buNone/>
            </a:pPr>
            <a:endParaRPr lang="en-US" dirty="0"/>
          </a:p>
          <a:p>
            <a:pPr marL="137160" indent="0">
              <a:buNone/>
            </a:pPr>
            <a:r>
              <a:rPr lang="en-US" dirty="0" smtClean="0"/>
              <a:t>  </a:t>
            </a:r>
            <a:r>
              <a:rPr lang="en-US" sz="2800" dirty="0" smtClean="0"/>
              <a:t>  </a:t>
            </a:r>
          </a:p>
        </p:txBody>
      </p:sp>
    </p:spTree>
    <p:extLst>
      <p:ext uri="{BB962C8B-B14F-4D97-AF65-F5344CB8AC3E}">
        <p14:creationId xmlns="" xmlns:p14="http://schemas.microsoft.com/office/powerpoint/2010/main" val="3692624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arn-CL" sz="3200" b="1" dirty="0" smtClean="0"/>
              <a:t>Two Patren </a:t>
            </a:r>
            <a:r>
              <a:rPr lang="arn-CL" sz="3200" b="1" dirty="0" smtClean="0"/>
              <a:t>of </a:t>
            </a:r>
            <a:r>
              <a:rPr lang="arn-CL" sz="3200" b="1" dirty="0" smtClean="0"/>
              <a:t>Transmission of</a:t>
            </a:r>
            <a:r>
              <a:rPr lang="arn-CL" sz="3200" b="1" dirty="0" smtClean="0"/>
              <a:t> </a:t>
            </a:r>
            <a:r>
              <a:rPr lang="arn-CL" sz="3200" b="1" dirty="0" smtClean="0"/>
              <a:t>the Holy Quran</a:t>
            </a:r>
            <a:endParaRPr lang="en-US" sz="3200" dirty="0"/>
          </a:p>
        </p:txBody>
      </p:sp>
      <p:sp>
        <p:nvSpPr>
          <p:cNvPr id="3" name="Content Placeholder 2"/>
          <p:cNvSpPr>
            <a:spLocks noGrp="1"/>
          </p:cNvSpPr>
          <p:nvPr>
            <p:ph idx="1"/>
          </p:nvPr>
        </p:nvSpPr>
        <p:spPr/>
        <p:txBody>
          <a:bodyPr>
            <a:normAutofit fontScale="77500" lnSpcReduction="20000"/>
          </a:bodyPr>
          <a:lstStyle/>
          <a:p>
            <a:pPr algn="just">
              <a:defRPr/>
            </a:pPr>
            <a:r>
              <a:rPr lang="en-US" dirty="0" smtClean="0"/>
              <a:t>Two words used in the holy </a:t>
            </a:r>
            <a:r>
              <a:rPr lang="en-US" dirty="0" err="1" smtClean="0"/>
              <a:t>Qur’n</a:t>
            </a:r>
            <a:r>
              <a:rPr lang="en-US" dirty="0" smtClean="0"/>
              <a:t> in this regard; </a:t>
            </a:r>
            <a:r>
              <a:rPr lang="en-US" dirty="0" err="1" smtClean="0"/>
              <a:t>Inzal</a:t>
            </a:r>
            <a:r>
              <a:rPr lang="en-US" dirty="0" smtClean="0"/>
              <a:t> and </a:t>
            </a:r>
            <a:r>
              <a:rPr lang="en-US" dirty="0" err="1" smtClean="0"/>
              <a:t>Tanzeel</a:t>
            </a:r>
            <a:r>
              <a:rPr lang="en-US" dirty="0" smtClean="0"/>
              <a:t>.</a:t>
            </a:r>
          </a:p>
          <a:p>
            <a:pPr>
              <a:defRPr/>
            </a:pPr>
            <a:r>
              <a:rPr lang="en-US" dirty="0" err="1" smtClean="0"/>
              <a:t>Inzal</a:t>
            </a:r>
            <a:r>
              <a:rPr lang="en-US" dirty="0" smtClean="0"/>
              <a:t> means: transmission in one </a:t>
            </a:r>
            <a:r>
              <a:rPr lang="en-US" dirty="0" err="1" smtClean="0"/>
              <a:t>ocassion</a:t>
            </a:r>
            <a:r>
              <a:rPr lang="ar-SA" dirty="0" smtClean="0"/>
              <a:t>إنا أنزلناه فى ليلة القدر“</a:t>
            </a:r>
            <a:r>
              <a:rPr lang="en-US" dirty="0" smtClean="0"/>
              <a:t> while </a:t>
            </a:r>
            <a:r>
              <a:rPr lang="en-US" dirty="0" err="1" smtClean="0"/>
              <a:t>Tanzeel</a:t>
            </a:r>
            <a:r>
              <a:rPr lang="en-US" dirty="0" smtClean="0"/>
              <a:t> means gradual revelation .</a:t>
            </a:r>
            <a:r>
              <a:rPr lang="ar-SA" dirty="0" smtClean="0"/>
              <a:t>“ونزَّلناه تنزيلا“</a:t>
            </a:r>
            <a:endParaRPr lang="en-US" dirty="0" smtClean="0"/>
          </a:p>
          <a:p>
            <a:pPr>
              <a:defRPr/>
            </a:pPr>
            <a:r>
              <a:rPr lang="en-US" dirty="0" smtClean="0"/>
              <a:t>The holy </a:t>
            </a:r>
            <a:r>
              <a:rPr lang="en-US" dirty="0" err="1" smtClean="0"/>
              <a:t>Qura’n</a:t>
            </a:r>
            <a:r>
              <a:rPr lang="en-US" dirty="0" smtClean="0"/>
              <a:t> was transmitted twice;</a:t>
            </a:r>
          </a:p>
          <a:p>
            <a:pPr>
              <a:defRPr/>
            </a:pPr>
            <a:r>
              <a:rPr lang="en-US" dirty="0" smtClean="0"/>
              <a:t>Full transmission.</a:t>
            </a:r>
          </a:p>
          <a:p>
            <a:pPr>
              <a:defRPr/>
            </a:pPr>
            <a:r>
              <a:rPr lang="en-US" dirty="0" smtClean="0"/>
              <a:t>Gradual revelation.</a:t>
            </a:r>
          </a:p>
          <a:p>
            <a:pPr marL="609600" indent="-609600">
              <a:buFont typeface="Wingdings" pitchFamily="2" charset="2"/>
              <a:buChar char="n"/>
              <a:defRPr/>
            </a:pPr>
            <a:r>
              <a:rPr lang="en-US" dirty="0" smtClean="0"/>
              <a:t>From </a:t>
            </a:r>
            <a:r>
              <a:rPr lang="en-US" dirty="0" err="1" smtClean="0"/>
              <a:t>lawh</a:t>
            </a:r>
            <a:r>
              <a:rPr lang="en-US" dirty="0" smtClean="0"/>
              <a:t>-e-</a:t>
            </a:r>
            <a:r>
              <a:rPr lang="en-US" dirty="0" err="1" smtClean="0"/>
              <a:t>mahfooz</a:t>
            </a:r>
            <a:r>
              <a:rPr lang="en-US" dirty="0" smtClean="0"/>
              <a:t> to bait-</a:t>
            </a:r>
            <a:r>
              <a:rPr lang="en-US" dirty="0" err="1" smtClean="0"/>
              <a:t>ul</a:t>
            </a:r>
            <a:r>
              <a:rPr lang="en-US" dirty="0" smtClean="0"/>
              <a:t>-</a:t>
            </a:r>
            <a:r>
              <a:rPr lang="en-US" dirty="0" err="1" smtClean="0"/>
              <a:t>mamoor</a:t>
            </a:r>
            <a:r>
              <a:rPr lang="en-US" dirty="0" smtClean="0"/>
              <a:t>. (</a:t>
            </a:r>
            <a:r>
              <a:rPr lang="en-US" dirty="0" err="1" smtClean="0"/>
              <a:t>inzal</a:t>
            </a:r>
            <a:r>
              <a:rPr lang="en-US" dirty="0" smtClean="0"/>
              <a:t>)</a:t>
            </a:r>
          </a:p>
          <a:p>
            <a:pPr marL="609600" indent="-609600">
              <a:buFont typeface="Wingdings" pitchFamily="2" charset="2"/>
              <a:buChar char="n"/>
              <a:defRPr/>
            </a:pPr>
            <a:r>
              <a:rPr lang="en-US" dirty="0" smtClean="0"/>
              <a:t>From bait-</a:t>
            </a:r>
            <a:r>
              <a:rPr lang="en-US" dirty="0" err="1" smtClean="0"/>
              <a:t>ul</a:t>
            </a:r>
            <a:r>
              <a:rPr lang="en-US" dirty="0" smtClean="0"/>
              <a:t>-</a:t>
            </a:r>
            <a:r>
              <a:rPr lang="en-US" dirty="0" err="1" smtClean="0"/>
              <a:t>mamoor</a:t>
            </a:r>
            <a:r>
              <a:rPr lang="en-US" dirty="0" smtClean="0"/>
              <a:t> to the holy prophet (</a:t>
            </a:r>
            <a:r>
              <a:rPr lang="ur-PK" dirty="0" smtClean="0"/>
              <a:t>ﷺ</a:t>
            </a:r>
            <a:r>
              <a:rPr lang="en-US" dirty="0" smtClean="0"/>
              <a:t>) (</a:t>
            </a:r>
            <a:r>
              <a:rPr lang="en-US" dirty="0" err="1" smtClean="0"/>
              <a:t>tanzeel</a:t>
            </a:r>
            <a:r>
              <a:rPr lang="en-US" dirty="0" smtClean="0"/>
              <a:t>)</a:t>
            </a:r>
          </a:p>
          <a:p>
            <a:pPr marL="609600" indent="-609600">
              <a:buFont typeface="Wingdings" pitchFamily="2" charset="2"/>
              <a:buChar char="n"/>
              <a:defRPr/>
            </a:pPr>
            <a:r>
              <a:rPr lang="en-US" b="1" dirty="0" smtClean="0"/>
              <a:t>Philosophy behind the gradual </a:t>
            </a:r>
            <a:r>
              <a:rPr lang="en-US" b="1" dirty="0" smtClean="0"/>
              <a:t>revelation?</a:t>
            </a:r>
            <a:endParaRPr lang="en-US" dirty="0" smtClean="0"/>
          </a:p>
          <a:p>
            <a:pPr marL="609600" indent="-609600">
              <a:buFont typeface="Wingdings" pitchFamily="2" charset="2"/>
              <a:buChar char="n"/>
              <a:defRPr/>
            </a:pPr>
            <a:endParaRPr lang="en-US" dirty="0" smtClean="0"/>
          </a:p>
          <a:p>
            <a:pPr marL="609600" indent="-609600">
              <a:defRPr/>
            </a:pPr>
            <a:endParaRPr lang="en-US" dirty="0" smtClean="0"/>
          </a:p>
          <a:p>
            <a:pPr>
              <a:defRPr/>
            </a:pPr>
            <a:endParaRPr lang="en-US" dirty="0" smtClean="0"/>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t>Philosophy behind the gradual revelation </a:t>
            </a:r>
            <a:endParaRPr lang="en-US" sz="2400" dirty="0"/>
          </a:p>
        </p:txBody>
      </p:sp>
      <p:sp>
        <p:nvSpPr>
          <p:cNvPr id="3" name="Content Placeholder 2"/>
          <p:cNvSpPr>
            <a:spLocks noGrp="1"/>
          </p:cNvSpPr>
          <p:nvPr>
            <p:ph idx="1"/>
          </p:nvPr>
        </p:nvSpPr>
        <p:spPr/>
        <p:txBody>
          <a:bodyPr>
            <a:normAutofit/>
          </a:bodyPr>
          <a:lstStyle/>
          <a:p>
            <a:pPr>
              <a:buFont typeface="Wingdings" pitchFamily="2" charset="2"/>
              <a:buChar char="n"/>
              <a:defRPr/>
            </a:pPr>
            <a:r>
              <a:rPr lang="en-US" dirty="0" smtClean="0"/>
              <a:t>Muhammad (</a:t>
            </a:r>
            <a:r>
              <a:rPr lang="ur-PK" dirty="0" smtClean="0"/>
              <a:t>ﷺ</a:t>
            </a:r>
            <a:r>
              <a:rPr lang="en-US" dirty="0" smtClean="0"/>
              <a:t>) was </a:t>
            </a:r>
            <a:r>
              <a:rPr lang="en-US" dirty="0" err="1" smtClean="0"/>
              <a:t>ummy</a:t>
            </a:r>
            <a:r>
              <a:rPr lang="en-US" dirty="0" smtClean="0"/>
              <a:t>.</a:t>
            </a:r>
          </a:p>
          <a:p>
            <a:pPr>
              <a:buFont typeface="Wingdings" pitchFamily="2" charset="2"/>
              <a:buChar char="n"/>
              <a:defRPr/>
            </a:pPr>
            <a:r>
              <a:rPr lang="en-US" dirty="0" smtClean="0"/>
              <a:t>Difficult situation of revelation.</a:t>
            </a:r>
          </a:p>
          <a:p>
            <a:pPr>
              <a:buFont typeface="Wingdings" pitchFamily="2" charset="2"/>
              <a:buChar char="n"/>
              <a:defRPr/>
            </a:pPr>
            <a:r>
              <a:rPr lang="en-US" dirty="0" smtClean="0"/>
              <a:t>To conceal the Prophet (</a:t>
            </a:r>
            <a:r>
              <a:rPr lang="ur-PK" dirty="0" smtClean="0"/>
              <a:t>ﷺ</a:t>
            </a:r>
            <a:r>
              <a:rPr lang="en-US" dirty="0" smtClean="0"/>
              <a:t>) again and again.</a:t>
            </a:r>
          </a:p>
          <a:p>
            <a:pPr>
              <a:buFont typeface="Wingdings" pitchFamily="2" charset="2"/>
              <a:buChar char="n"/>
              <a:defRPr/>
            </a:pPr>
            <a:r>
              <a:rPr lang="en-US" dirty="0" smtClean="0"/>
              <a:t>To be according to the natural process.</a:t>
            </a:r>
          </a:p>
          <a:p>
            <a:r>
              <a:rPr lang="en-US" dirty="0" smtClean="0"/>
              <a:t>Answers, awareness and incidents. They happened again and again.</a:t>
            </a:r>
          </a:p>
          <a:p>
            <a:pPr>
              <a:buNone/>
              <a:defRPr/>
            </a:pPr>
            <a:endParaRPr lang="en-US" dirty="0" smtClean="0"/>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534400" cy="1447800"/>
          </a:xfrm>
        </p:spPr>
        <p:txBody>
          <a:bodyPr>
            <a:normAutofit fontScale="90000"/>
          </a:bodyPr>
          <a:lstStyle/>
          <a:p>
            <a:r>
              <a:rPr lang="arn-CL" b="1" dirty="0" smtClean="0"/>
              <a:t>Kinds</a:t>
            </a:r>
            <a:r>
              <a:rPr lang="arn-CL" b="1" dirty="0" smtClean="0"/>
              <a:t> </a:t>
            </a:r>
            <a:r>
              <a:rPr lang="arn-CL" b="1" dirty="0" smtClean="0"/>
              <a:t>and Categories of revelation</a:t>
            </a:r>
            <a:r>
              <a:rPr lang="ar-SA" dirty="0" smtClean="0"/>
              <a:t/>
            </a:r>
            <a:br>
              <a:rPr lang="ar-SA" dirty="0" smtClean="0"/>
            </a:br>
            <a:endParaRPr lang="en-US" dirty="0"/>
          </a:p>
        </p:txBody>
      </p:sp>
      <p:sp>
        <p:nvSpPr>
          <p:cNvPr id="3" name="Content Placeholder 2"/>
          <p:cNvSpPr>
            <a:spLocks noGrp="1"/>
          </p:cNvSpPr>
          <p:nvPr>
            <p:ph idx="1"/>
          </p:nvPr>
        </p:nvSpPr>
        <p:spPr/>
        <p:txBody>
          <a:bodyPr>
            <a:normAutofit fontScale="85000" lnSpcReduction="20000"/>
          </a:bodyPr>
          <a:lstStyle/>
          <a:p>
            <a:pPr>
              <a:buFont typeface="Wingdings" pitchFamily="2" charset="2"/>
              <a:buChar char="n"/>
              <a:defRPr/>
            </a:pPr>
            <a:r>
              <a:rPr lang="en-US" dirty="0" err="1" smtClean="0"/>
              <a:t>Gabraeel</a:t>
            </a:r>
            <a:r>
              <a:rPr lang="en-US" dirty="0" smtClean="0"/>
              <a:t> (</a:t>
            </a:r>
            <a:r>
              <a:rPr lang="en-US" dirty="0" err="1" smtClean="0"/>
              <a:t>a.s</a:t>
            </a:r>
            <a:r>
              <a:rPr lang="en-US" dirty="0" smtClean="0"/>
              <a:t>.)</a:t>
            </a:r>
            <a:r>
              <a:rPr lang="ur-PK" dirty="0" smtClean="0"/>
              <a:t>حٖضرت جبرائیلؑ</a:t>
            </a:r>
            <a:r>
              <a:rPr lang="en-US" dirty="0" smtClean="0"/>
              <a:t> himself in his own appearance.</a:t>
            </a:r>
          </a:p>
          <a:p>
            <a:pPr>
              <a:buFont typeface="Wingdings" pitchFamily="2" charset="2"/>
              <a:buChar char="n"/>
              <a:defRPr/>
            </a:pPr>
            <a:r>
              <a:rPr lang="en-US" dirty="0" smtClean="0"/>
              <a:t>In the appearance of </a:t>
            </a:r>
            <a:r>
              <a:rPr lang="en-US" dirty="0" err="1" smtClean="0"/>
              <a:t>dihia</a:t>
            </a:r>
            <a:r>
              <a:rPr lang="en-US" dirty="0" smtClean="0"/>
              <a:t> </a:t>
            </a:r>
            <a:r>
              <a:rPr lang="en-US" dirty="0" err="1" smtClean="0"/>
              <a:t>kalbi</a:t>
            </a:r>
            <a:r>
              <a:rPr lang="ur-PK" dirty="0" smtClean="0"/>
              <a:t>د</a:t>
            </a:r>
            <a:r>
              <a:rPr lang="ar-SA" dirty="0" smtClean="0"/>
              <a:t>حية كلبى </a:t>
            </a:r>
            <a:r>
              <a:rPr lang="en-US" dirty="0" smtClean="0"/>
              <a:t>.</a:t>
            </a:r>
          </a:p>
          <a:p>
            <a:pPr>
              <a:buFont typeface="Wingdings" pitchFamily="2" charset="2"/>
              <a:buChar char="n"/>
              <a:defRPr/>
            </a:pPr>
            <a:r>
              <a:rPr lang="en-US" dirty="0" smtClean="0"/>
              <a:t>Only sounds.</a:t>
            </a:r>
            <a:r>
              <a:rPr lang="ar-SA" dirty="0" smtClean="0"/>
              <a:t>صلصلة الجرس</a:t>
            </a:r>
            <a:r>
              <a:rPr lang="en-US" dirty="0" smtClean="0"/>
              <a:t> (difficult form)</a:t>
            </a:r>
          </a:p>
          <a:p>
            <a:pPr>
              <a:buFont typeface="Wingdings" pitchFamily="2" charset="2"/>
              <a:buChar char="n"/>
              <a:defRPr/>
            </a:pPr>
            <a:r>
              <a:rPr lang="en-US" dirty="0" smtClean="0"/>
              <a:t>Direct conversation in dreams, Awakening</a:t>
            </a:r>
          </a:p>
          <a:p>
            <a:pPr>
              <a:buFont typeface="Wingdings" pitchFamily="2" charset="2"/>
              <a:buChar char="n"/>
              <a:defRPr/>
            </a:pPr>
            <a:r>
              <a:rPr lang="en-US" dirty="0" smtClean="0"/>
              <a:t>Inspiration.</a:t>
            </a:r>
          </a:p>
          <a:p>
            <a:pPr>
              <a:buFont typeface="Wingdings" pitchFamily="2" charset="2"/>
              <a:buChar char="n"/>
              <a:defRPr/>
            </a:pPr>
            <a:r>
              <a:rPr lang="en-US" b="1" u="sng" dirty="0" smtClean="0"/>
              <a:t>categories of revelation</a:t>
            </a:r>
            <a:endParaRPr lang="en-US" b="1" dirty="0" smtClean="0"/>
          </a:p>
          <a:p>
            <a:pPr>
              <a:buFont typeface="Wingdings" pitchFamily="2" charset="2"/>
              <a:buChar char="n"/>
              <a:defRPr/>
            </a:pPr>
            <a:r>
              <a:rPr lang="en-US" dirty="0" smtClean="0"/>
              <a:t> Re</a:t>
            </a:r>
            <a:r>
              <a:rPr lang="en-GB" dirty="0" smtClean="0"/>
              <a:t>cited</a:t>
            </a:r>
            <a:endParaRPr lang="en-US" dirty="0" smtClean="0"/>
          </a:p>
          <a:p>
            <a:pPr>
              <a:defRPr/>
            </a:pPr>
            <a:r>
              <a:rPr lang="en-US" dirty="0" smtClean="0"/>
              <a:t>	the holy </a:t>
            </a:r>
            <a:r>
              <a:rPr lang="en-US" dirty="0" err="1" smtClean="0"/>
              <a:t>Qura’n</a:t>
            </a:r>
            <a:r>
              <a:rPr lang="en-US" dirty="0" smtClean="0"/>
              <a:t>.</a:t>
            </a:r>
            <a:r>
              <a:rPr lang="ur-PK" dirty="0" smtClean="0"/>
              <a:t>وحی متلو</a:t>
            </a:r>
            <a:endParaRPr lang="en-US" dirty="0" smtClean="0"/>
          </a:p>
          <a:p>
            <a:pPr>
              <a:buFont typeface="Wingdings" pitchFamily="2" charset="2"/>
              <a:buChar char="n"/>
              <a:defRPr/>
            </a:pPr>
            <a:r>
              <a:rPr lang="en-US" dirty="0" smtClean="0"/>
              <a:t> Non  re</a:t>
            </a:r>
            <a:r>
              <a:rPr lang="en-GB" dirty="0" smtClean="0"/>
              <a:t>cited</a:t>
            </a:r>
            <a:r>
              <a:rPr lang="en-US" dirty="0" smtClean="0"/>
              <a:t>:</a:t>
            </a:r>
          </a:p>
          <a:p>
            <a:pPr>
              <a:defRPr/>
            </a:pPr>
            <a:r>
              <a:rPr lang="en-US" dirty="0" smtClean="0"/>
              <a:t>	</a:t>
            </a:r>
            <a:r>
              <a:rPr lang="en-US" dirty="0" err="1" smtClean="0"/>
              <a:t>hadeeth</a:t>
            </a:r>
            <a:r>
              <a:rPr lang="en-US" dirty="0" smtClean="0"/>
              <a:t> and </a:t>
            </a:r>
            <a:r>
              <a:rPr lang="en-US" dirty="0" err="1" smtClean="0"/>
              <a:t>hadeeth</a:t>
            </a:r>
            <a:r>
              <a:rPr lang="en-US" dirty="0" smtClean="0"/>
              <a:t> </a:t>
            </a:r>
            <a:r>
              <a:rPr lang="en-US" dirty="0" err="1" smtClean="0"/>
              <a:t>qudsi</a:t>
            </a:r>
            <a:r>
              <a:rPr lang="ur-PK" dirty="0" smtClean="0"/>
              <a:t>وحی غیرمتلو</a:t>
            </a:r>
            <a:r>
              <a:rPr lang="en-US" dirty="0" smtClean="0"/>
              <a:t>.</a:t>
            </a:r>
          </a:p>
          <a:p>
            <a:pPr>
              <a:buFont typeface="Wingdings" pitchFamily="2" charset="2"/>
              <a:buChar char="n"/>
              <a:defRPr/>
            </a:pPr>
            <a:endParaRPr lang="en-US" dirty="0" smtClean="0"/>
          </a:p>
          <a:p>
            <a:pPr>
              <a:defRPr/>
            </a:pPr>
            <a:endParaRPr lang="en-US" dirty="0" smtClean="0"/>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defRPr/>
            </a:pPr>
            <a:r>
              <a:rPr lang="en-US" sz="4000" dirty="0" smtClean="0"/>
              <a:t>The Theme of the Quran</a:t>
            </a:r>
          </a:p>
        </p:txBody>
      </p:sp>
      <p:sp>
        <p:nvSpPr>
          <p:cNvPr id="8195" name="Rectangle 3"/>
          <p:cNvSpPr>
            <a:spLocks noGrp="1" noChangeArrowheads="1"/>
          </p:cNvSpPr>
          <p:nvPr>
            <p:ph type="body" idx="1"/>
          </p:nvPr>
        </p:nvSpPr>
        <p:spPr/>
        <p:txBody>
          <a:bodyPr/>
          <a:lstStyle/>
          <a:p>
            <a:pPr eaLnBrk="1" hangingPunct="1">
              <a:buFontTx/>
              <a:buBlip>
                <a:blip r:embed="rId2"/>
              </a:buBlip>
            </a:pPr>
            <a:r>
              <a:rPr lang="en-US" smtClean="0"/>
              <a:t>The theme of the Quran consists broadly of three fundamental beliefs. They are: </a:t>
            </a:r>
          </a:p>
          <a:p>
            <a:pPr eaLnBrk="1" hangingPunct="1">
              <a:buFontTx/>
              <a:buBlip>
                <a:blip r:embed="rId2"/>
              </a:buBlip>
            </a:pPr>
            <a:r>
              <a:rPr lang="en-US" smtClean="0"/>
              <a:t>1. Tawhid - Allah and predestination </a:t>
            </a:r>
          </a:p>
          <a:p>
            <a:pPr eaLnBrk="1" hangingPunct="1">
              <a:buFontTx/>
              <a:buBlip>
                <a:blip r:embed="rId2"/>
              </a:buBlip>
            </a:pPr>
            <a:r>
              <a:rPr lang="en-US" smtClean="0"/>
              <a:t>2. Risalah - Angels of Allah, Books of Allah and Messengers of Allah </a:t>
            </a:r>
          </a:p>
          <a:p>
            <a:pPr eaLnBrk="1" hangingPunct="1">
              <a:buFontTx/>
              <a:buBlip>
                <a:blip r:embed="rId2"/>
              </a:buBlip>
            </a:pPr>
            <a:r>
              <a:rPr lang="en-US" smtClean="0"/>
              <a:t>3. Akhirah - Life after Death and the Day of Judgement </a:t>
            </a:r>
          </a:p>
        </p:txBody>
      </p:sp>
    </p:spTree>
  </p:cSld>
  <p:clrMapOvr>
    <a:masterClrMapping/>
  </p:clrMapOvr>
  <p:transition advTm="15984"/>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458200" cy="1524000"/>
          </a:xfrm>
        </p:spPr>
        <p:txBody>
          <a:bodyPr>
            <a:noAutofit/>
          </a:bodyPr>
          <a:lstStyle/>
          <a:p>
            <a:r>
              <a:rPr lang="en-US" sz="4800" dirty="0" smtClean="0"/>
              <a:t>The </a:t>
            </a:r>
            <a:r>
              <a:rPr lang="en-US" sz="4800" dirty="0" err="1" smtClean="0"/>
              <a:t>Quranic</a:t>
            </a:r>
            <a:r>
              <a:rPr lang="en-US" sz="4800" dirty="0" smtClean="0"/>
              <a:t> order </a:t>
            </a:r>
            <a:br>
              <a:rPr lang="en-US" sz="4800" dirty="0" smtClean="0"/>
            </a:br>
            <a:endParaRPr lang="en-US" sz="4800" dirty="0"/>
          </a:p>
        </p:txBody>
      </p:sp>
      <p:sp>
        <p:nvSpPr>
          <p:cNvPr id="3" name="Content Placeholder 2"/>
          <p:cNvSpPr>
            <a:spLocks noGrp="1"/>
          </p:cNvSpPr>
          <p:nvPr>
            <p:ph idx="1"/>
          </p:nvPr>
        </p:nvSpPr>
        <p:spPr/>
        <p:txBody>
          <a:bodyPr/>
          <a:lstStyle/>
          <a:p>
            <a:pPr>
              <a:buFont typeface="Wingdings" pitchFamily="2" charset="2"/>
              <a:buChar char="n"/>
              <a:defRPr/>
            </a:pPr>
            <a:r>
              <a:rPr lang="en-US" b="1" u="sng" dirty="0" err="1" smtClean="0">
                <a:solidFill>
                  <a:srgbClr val="7030A0"/>
                </a:solidFill>
                <a:effectLst>
                  <a:outerShdw blurRad="38100" dist="38100" dir="2700000" algn="tl">
                    <a:srgbClr val="000000">
                      <a:alpha val="43137"/>
                    </a:srgbClr>
                  </a:outerShdw>
                </a:effectLst>
              </a:rPr>
              <a:t>Tauqeefi</a:t>
            </a:r>
            <a:r>
              <a:rPr lang="en-US" b="1" u="sng" dirty="0" smtClean="0">
                <a:solidFill>
                  <a:srgbClr val="7030A0"/>
                </a:solidFill>
                <a:effectLst>
                  <a:outerShdw blurRad="38100" dist="38100" dir="2700000" algn="tl">
                    <a:srgbClr val="000000">
                      <a:alpha val="43137"/>
                    </a:srgbClr>
                  </a:outerShdw>
                </a:effectLst>
              </a:rPr>
              <a:t> </a:t>
            </a:r>
            <a:r>
              <a:rPr lang="ur-PK" b="1" u="sng" dirty="0" smtClean="0">
                <a:solidFill>
                  <a:srgbClr val="7030A0"/>
                </a:solidFill>
                <a:effectLst>
                  <a:outerShdw blurRad="38100" dist="38100" dir="2700000" algn="tl">
                    <a:srgbClr val="000000">
                      <a:alpha val="43137"/>
                    </a:srgbClr>
                  </a:outerShdw>
                </a:effectLst>
              </a:rPr>
              <a:t> توقیفی</a:t>
            </a:r>
            <a:endParaRPr lang="en-US" b="1" u="sng" dirty="0" smtClean="0">
              <a:solidFill>
                <a:srgbClr val="7030A0"/>
              </a:solidFill>
              <a:effectLst>
                <a:outerShdw blurRad="38100" dist="38100" dir="2700000" algn="tl">
                  <a:srgbClr val="000000">
                    <a:alpha val="43137"/>
                  </a:srgbClr>
                </a:outerShdw>
              </a:effectLst>
            </a:endParaRPr>
          </a:p>
          <a:p>
            <a:pPr>
              <a:buFont typeface="Wingdings" pitchFamily="2" charset="2"/>
              <a:buChar char="n"/>
              <a:defRPr/>
            </a:pPr>
            <a:r>
              <a:rPr lang="en-US" b="1" u="sng" dirty="0" err="1" smtClean="0">
                <a:solidFill>
                  <a:srgbClr val="7030A0"/>
                </a:solidFill>
                <a:effectLst>
                  <a:outerShdw blurRad="38100" dist="38100" dir="2700000" algn="tl">
                    <a:srgbClr val="000000">
                      <a:alpha val="43137"/>
                    </a:srgbClr>
                  </a:outerShdw>
                </a:effectLst>
              </a:rPr>
              <a:t>Nuzooli</a:t>
            </a:r>
            <a:r>
              <a:rPr lang="ur-PK" b="1" u="sng" dirty="0" smtClean="0">
                <a:solidFill>
                  <a:srgbClr val="7030A0"/>
                </a:solidFill>
                <a:effectLst>
                  <a:outerShdw blurRad="38100" dist="38100" dir="2700000" algn="tl">
                    <a:srgbClr val="000000">
                      <a:alpha val="43137"/>
                    </a:srgbClr>
                  </a:outerShdw>
                </a:effectLst>
              </a:rPr>
              <a:t>نزولی </a:t>
            </a:r>
            <a:endParaRPr lang="en-US" b="1" u="sng" dirty="0" smtClean="0">
              <a:solidFill>
                <a:srgbClr val="7030A0"/>
              </a:solidFill>
              <a:effectLst>
                <a:outerShdw blurRad="38100" dist="38100" dir="2700000" algn="tl">
                  <a:srgbClr val="000000">
                    <a:alpha val="43137"/>
                  </a:srgbClr>
                </a:outerShdw>
              </a:effectLst>
            </a:endParaRPr>
          </a:p>
          <a:p>
            <a:pPr>
              <a:lnSpc>
                <a:spcPct val="150000"/>
              </a:lnSpc>
              <a:defRPr/>
            </a:pPr>
            <a:r>
              <a:rPr lang="en-US" sz="2800" dirty="0" smtClean="0"/>
              <a:t>The holy </a:t>
            </a:r>
            <a:r>
              <a:rPr lang="en-US" sz="2800" dirty="0" err="1" smtClean="0"/>
              <a:t>Qura’n</a:t>
            </a:r>
            <a:r>
              <a:rPr lang="en-US" sz="2800" dirty="0" smtClean="0"/>
              <a:t> was recorded only according to </a:t>
            </a:r>
            <a:r>
              <a:rPr lang="en-US" sz="2800" dirty="0" err="1" smtClean="0"/>
              <a:t>Tarteeb</a:t>
            </a:r>
            <a:r>
              <a:rPr lang="en-US" sz="2800" dirty="0" smtClean="0"/>
              <a:t>-e- </a:t>
            </a:r>
            <a:r>
              <a:rPr lang="en-US" sz="2800" dirty="0" err="1" smtClean="0"/>
              <a:t>Tauqeefi</a:t>
            </a:r>
            <a:r>
              <a:rPr lang="en-US" sz="2800" dirty="0" smtClean="0"/>
              <a:t> </a:t>
            </a:r>
            <a:r>
              <a:rPr lang="ur-PK" sz="2800" dirty="0" smtClean="0"/>
              <a:t>(ترتیبِ توقیفی)</a:t>
            </a:r>
            <a:r>
              <a:rPr lang="en-US" sz="2800" dirty="0" smtClean="0"/>
              <a:t>not </a:t>
            </a:r>
            <a:r>
              <a:rPr lang="en-US" sz="2800" dirty="0" err="1" smtClean="0"/>
              <a:t>Nuzooli</a:t>
            </a:r>
            <a:r>
              <a:rPr lang="ur-PK" sz="2800" dirty="0" smtClean="0"/>
              <a:t> (نزولی)</a:t>
            </a:r>
            <a:r>
              <a:rPr lang="en-US" sz="2800" dirty="0" smtClean="0"/>
              <a:t>. Because the compilation is according to </a:t>
            </a:r>
            <a:r>
              <a:rPr lang="en-US" sz="2800" dirty="0" err="1" smtClean="0"/>
              <a:t>lawh</a:t>
            </a:r>
            <a:r>
              <a:rPr lang="en-US" sz="2800" dirty="0" smtClean="0"/>
              <a:t>-e-</a:t>
            </a:r>
            <a:r>
              <a:rPr lang="en-US" sz="2800" dirty="0" err="1" smtClean="0"/>
              <a:t>Mahfooz</a:t>
            </a:r>
            <a:r>
              <a:rPr lang="ur-PK" sz="2800" dirty="0" smtClean="0"/>
              <a:t> (لوح محفوظ)</a:t>
            </a:r>
            <a:r>
              <a:rPr lang="en-US" sz="2800" dirty="0" smtClean="0"/>
              <a:t> while the revelation is according to the circumstances</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rtl="0"/>
            <a:r>
              <a:rPr lang="en-US" dirty="0" err="1" smtClean="0">
                <a:effectLst/>
              </a:rPr>
              <a:t>Makki</a:t>
            </a:r>
            <a:r>
              <a:rPr lang="en-US" dirty="0" smtClean="0">
                <a:effectLst/>
              </a:rPr>
              <a:t> and </a:t>
            </a:r>
            <a:r>
              <a:rPr lang="en-US" dirty="0" err="1" smtClean="0">
                <a:effectLst/>
              </a:rPr>
              <a:t>Madni</a:t>
            </a:r>
            <a:r>
              <a:rPr lang="en-US" dirty="0" smtClean="0">
                <a:effectLst/>
              </a:rPr>
              <a:t> </a:t>
            </a:r>
            <a:r>
              <a:rPr lang="en-US" dirty="0" err="1" smtClean="0">
                <a:effectLst/>
              </a:rPr>
              <a:t>Surahs</a:t>
            </a:r>
            <a:endParaRPr lang="en-US" dirty="0" smtClean="0">
              <a:effectLst/>
            </a:endParaRPr>
          </a:p>
        </p:txBody>
      </p:sp>
      <p:sp>
        <p:nvSpPr>
          <p:cNvPr id="3" name="Content Placeholder 2"/>
          <p:cNvSpPr>
            <a:spLocks noGrp="1"/>
          </p:cNvSpPr>
          <p:nvPr>
            <p:ph idx="1"/>
          </p:nvPr>
        </p:nvSpPr>
        <p:spPr/>
        <p:txBody>
          <a:bodyPr>
            <a:normAutofit lnSpcReduction="10000"/>
          </a:bodyPr>
          <a:lstStyle/>
          <a:p>
            <a:pPr algn="l" rtl="0">
              <a:defRPr/>
            </a:pPr>
            <a:r>
              <a:rPr lang="en-US" dirty="0" smtClean="0">
                <a:effectLst/>
              </a:rPr>
              <a:t>	their </a:t>
            </a:r>
            <a:r>
              <a:rPr lang="en-US" smtClean="0">
                <a:effectLst/>
              </a:rPr>
              <a:t>definition.</a:t>
            </a:r>
          </a:p>
          <a:p>
            <a:pPr algn="l" rtl="0">
              <a:defRPr/>
            </a:pPr>
            <a:r>
              <a:rPr lang="ar-SA" smtClean="0">
                <a:effectLst/>
              </a:rPr>
              <a:t> </a:t>
            </a:r>
            <a:r>
              <a:rPr lang="en-GB" dirty="0" smtClean="0">
                <a:effectLst/>
              </a:rPr>
              <a:t>Before and after the 	migration</a:t>
            </a:r>
            <a:endParaRPr lang="en-US" dirty="0" smtClean="0">
              <a:effectLst/>
            </a:endParaRPr>
          </a:p>
          <a:p>
            <a:pPr algn="l" rtl="0">
              <a:defRPr/>
            </a:pPr>
            <a:r>
              <a:rPr lang="en-US" dirty="0" smtClean="0">
                <a:effectLst/>
              </a:rPr>
              <a:t>	their features.</a:t>
            </a:r>
          </a:p>
          <a:p>
            <a:pPr algn="l" rtl="0">
              <a:buFont typeface="Wingdings" pitchFamily="2" charset="2"/>
              <a:buNone/>
              <a:defRPr/>
            </a:pPr>
            <a:r>
              <a:rPr lang="en-GB" dirty="0" smtClean="0"/>
              <a:t>  </a:t>
            </a:r>
            <a:r>
              <a:rPr lang="en-GB" u="sng" dirty="0" smtClean="0">
                <a:solidFill>
                  <a:srgbClr val="002060"/>
                </a:solidFill>
              </a:rPr>
              <a:t>  </a:t>
            </a:r>
            <a:r>
              <a:rPr lang="en-GB" u="sng" dirty="0" err="1" smtClean="0">
                <a:solidFill>
                  <a:srgbClr val="002060"/>
                </a:solidFill>
              </a:rPr>
              <a:t>Makki</a:t>
            </a:r>
            <a:r>
              <a:rPr lang="en-GB" u="sng" dirty="0" smtClean="0">
                <a:solidFill>
                  <a:srgbClr val="002060"/>
                </a:solidFill>
              </a:rPr>
              <a:t> </a:t>
            </a:r>
            <a:r>
              <a:rPr lang="en-GB" u="sng" dirty="0" err="1" smtClean="0">
                <a:solidFill>
                  <a:srgbClr val="002060"/>
                </a:solidFill>
              </a:rPr>
              <a:t>surahs</a:t>
            </a:r>
            <a:r>
              <a:rPr lang="en-GB" dirty="0" smtClean="0"/>
              <a:t>               </a:t>
            </a:r>
            <a:r>
              <a:rPr lang="en-GB" b="1" u="sng" dirty="0" err="1" smtClean="0">
                <a:solidFill>
                  <a:srgbClr val="00B050"/>
                </a:solidFill>
              </a:rPr>
              <a:t>Madni</a:t>
            </a:r>
            <a:r>
              <a:rPr lang="en-GB" b="1" u="sng" dirty="0" smtClean="0">
                <a:solidFill>
                  <a:srgbClr val="00B050"/>
                </a:solidFill>
              </a:rPr>
              <a:t> </a:t>
            </a:r>
            <a:r>
              <a:rPr lang="en-GB" b="1" u="sng" dirty="0" err="1" smtClean="0">
                <a:solidFill>
                  <a:srgbClr val="00B050"/>
                </a:solidFill>
              </a:rPr>
              <a:t>surahs</a:t>
            </a:r>
            <a:endParaRPr lang="en-GB" b="1" u="sng" dirty="0" smtClean="0">
              <a:solidFill>
                <a:srgbClr val="00B050"/>
              </a:solidFill>
            </a:endParaRPr>
          </a:p>
          <a:p>
            <a:pPr marL="514350" indent="-514350" algn="l" rtl="0">
              <a:buFont typeface="+mj-lt"/>
              <a:buAutoNum type="arabicPeriod"/>
              <a:defRPr/>
            </a:pPr>
            <a:r>
              <a:rPr lang="en-GB" dirty="0" smtClean="0"/>
              <a:t>mostly brief                mostly long</a:t>
            </a:r>
          </a:p>
          <a:p>
            <a:pPr marL="514350" indent="-514350" algn="l" rtl="0">
              <a:buFont typeface="+mj-lt"/>
              <a:buAutoNum type="arabicPeriod"/>
              <a:defRPr/>
            </a:pPr>
            <a:r>
              <a:rPr lang="en-GB" dirty="0" smtClean="0"/>
              <a:t>O people                  o believers</a:t>
            </a:r>
          </a:p>
          <a:p>
            <a:pPr marL="514350" indent="-514350" algn="l" rtl="0">
              <a:buFont typeface="+mj-lt"/>
              <a:buAutoNum type="arabicPeriod"/>
              <a:defRPr/>
            </a:pPr>
            <a:r>
              <a:rPr lang="en-GB" dirty="0" smtClean="0"/>
              <a:t>Beliefs                      injunctions.</a:t>
            </a:r>
          </a:p>
          <a:p>
            <a:pPr marL="514350" indent="-514350" algn="l" rtl="0">
              <a:buFont typeface="+mj-lt"/>
              <a:buAutoNum type="arabicPeriod"/>
              <a:defRPr/>
            </a:pPr>
            <a:r>
              <a:rPr lang="en-GB" dirty="0" smtClean="0"/>
              <a:t>Previous incidents.     Jihad.</a:t>
            </a:r>
          </a:p>
          <a:p>
            <a:pPr>
              <a:defRPr/>
            </a:pPr>
            <a:endParaRPr lang="en-GB"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8C91BCE-F812-4952-A23B-44D6EE9BB165}" type="slidenum">
              <a:rPr lang="en-US" smtClean="0"/>
              <a:pPr/>
              <a:t>30</a:t>
            </a:fld>
            <a:endParaRPr lang="en-US"/>
          </a:p>
        </p:txBody>
      </p:sp>
      <p:pic>
        <p:nvPicPr>
          <p:cNvPr id="177154" name="Picture 2" descr="http://www.justinislam.com/wp-content/uploads/2013/05/JazakALLAH.gif"/>
          <p:cNvPicPr>
            <a:picLocks noChangeAspect="1" noChangeArrowheads="1"/>
          </p:cNvPicPr>
          <p:nvPr/>
        </p:nvPicPr>
        <p:blipFill>
          <a:blip r:embed="rId2" cstate="print"/>
          <a:srcRect/>
          <a:stretch>
            <a:fillRect/>
          </a:stretch>
        </p:blipFill>
        <p:spPr bwMode="auto">
          <a:xfrm>
            <a:off x="1" y="-51130"/>
            <a:ext cx="9144000" cy="6909129"/>
          </a:xfrm>
          <a:prstGeom prst="rect">
            <a:avLst/>
          </a:prstGeom>
          <a:noFill/>
        </p:spPr>
      </p:pic>
      <p:sp>
        <p:nvSpPr>
          <p:cNvPr id="4" name="Rectangle 3"/>
          <p:cNvSpPr/>
          <p:nvPr/>
        </p:nvSpPr>
        <p:spPr>
          <a:xfrm>
            <a:off x="4447607" y="3244334"/>
            <a:ext cx="248786" cy="369332"/>
          </a:xfrm>
          <a:prstGeom prst="rect">
            <a:avLst/>
          </a:prstGeom>
        </p:spPr>
        <p:txBody>
          <a:bodyPr wrap="none">
            <a:spAutoFit/>
          </a:bodyPr>
          <a:lstStyle/>
          <a:p>
            <a:r>
              <a:rPr lang="en-US" smtClean="0"/>
              <a:t> </a:t>
            </a:r>
            <a:endParaRPr lang="en-US"/>
          </a:p>
        </p:txBody>
      </p:sp>
      <p:sp>
        <p:nvSpPr>
          <p:cNvPr id="5" name="Rectangle 4"/>
          <p:cNvSpPr/>
          <p:nvPr/>
        </p:nvSpPr>
        <p:spPr>
          <a:xfrm>
            <a:off x="4447607" y="3244334"/>
            <a:ext cx="248786" cy="369332"/>
          </a:xfrm>
          <a:prstGeom prst="rect">
            <a:avLst/>
          </a:prstGeom>
        </p:spPr>
        <p:txBody>
          <a:bodyPr wrap="none">
            <a:spAutoFit/>
          </a:bodyPr>
          <a:lstStyle/>
          <a:p>
            <a:r>
              <a:rPr lang="en-US" smtClean="0"/>
              <a:t> </a:t>
            </a: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5969</TotalTime>
  <Words>1755</Words>
  <Application>Microsoft Office PowerPoint</Application>
  <PresentationFormat>On-screen Show (4:3)</PresentationFormat>
  <Paragraphs>198</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Slide 1</vt:lpstr>
      <vt:lpstr>Lecture</vt:lpstr>
      <vt:lpstr>Introduction to Holy Quran and Its Compilation</vt:lpstr>
      <vt:lpstr>Out Lines</vt:lpstr>
      <vt:lpstr>Sub Division</vt:lpstr>
      <vt:lpstr>Introduction to Holy Qura’n</vt:lpstr>
      <vt:lpstr>Meaning of the word “Quran” and Definition</vt:lpstr>
      <vt:lpstr>Etmological Meaning of the word Qura’n</vt:lpstr>
      <vt:lpstr>Technically it means and Definition </vt:lpstr>
      <vt:lpstr>First Revelation</vt:lpstr>
      <vt:lpstr>The period of Revelation</vt:lpstr>
      <vt:lpstr>The Subject of the Qur’an</vt:lpstr>
      <vt:lpstr>History of the Holy Quran</vt:lpstr>
      <vt:lpstr>Compilation of the holy Quran:1</vt:lpstr>
      <vt:lpstr>In the time of Prophet (ﷺ)  His instructions to katibeen-e-wahi.</vt:lpstr>
      <vt:lpstr>In the time of Prophet (ﷺ)  His Compilation</vt:lpstr>
      <vt:lpstr>In the time of Prophet (ﷺ)  Quranic Dialect </vt:lpstr>
      <vt:lpstr>Compilation of the holy Quran:2</vt:lpstr>
      <vt:lpstr>Compilation of the holy Quran:3</vt:lpstr>
      <vt:lpstr>Quran is a principle  to distinguish</vt:lpstr>
      <vt:lpstr>The Rights Of Qur’an</vt:lpstr>
      <vt:lpstr>            ULOOM-UL-QURAN                 (SCIENCE OF QURAN)   </vt:lpstr>
      <vt:lpstr>            ULOOM-UL-QURAN </vt:lpstr>
      <vt:lpstr>Two Patren of Transmission of the Holy Quran</vt:lpstr>
      <vt:lpstr>Philosophy behind the gradual revelation </vt:lpstr>
      <vt:lpstr>Kinds and Categories of revelation </vt:lpstr>
      <vt:lpstr>The Theme of the Quran</vt:lpstr>
      <vt:lpstr>The Quranic order  </vt:lpstr>
      <vt:lpstr>Makki and Madni Surahs</vt:lpstr>
      <vt:lpstr>Slide 30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Islamic Studies</dc:title>
  <dc:creator>Hafiz Imran</dc:creator>
  <cp:lastModifiedBy>Dell</cp:lastModifiedBy>
  <cp:revision>594</cp:revision>
  <dcterms:created xsi:type="dcterms:W3CDTF">2014-04-26T14:37:25Z</dcterms:created>
  <dcterms:modified xsi:type="dcterms:W3CDTF">2017-02-08T10:14:53Z</dcterms:modified>
</cp:coreProperties>
</file>