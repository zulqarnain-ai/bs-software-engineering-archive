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4"/>
  </p:notesMasterIdLst>
  <p:sldIdLst>
    <p:sldId id="256" r:id="rId2"/>
    <p:sldId id="257" r:id="rId3"/>
    <p:sldId id="258" r:id="rId4"/>
    <p:sldId id="274" r:id="rId5"/>
    <p:sldId id="260" r:id="rId6"/>
    <p:sldId id="275" r:id="rId7"/>
    <p:sldId id="271" r:id="rId8"/>
    <p:sldId id="272" r:id="rId9"/>
    <p:sldId id="276" r:id="rId10"/>
    <p:sldId id="273" r:id="rId11"/>
    <p:sldId id="261" r:id="rId12"/>
    <p:sldId id="262" r:id="rId13"/>
    <p:sldId id="263" r:id="rId14"/>
    <p:sldId id="264" r:id="rId15"/>
    <p:sldId id="265" r:id="rId16"/>
    <p:sldId id="266" r:id="rId17"/>
    <p:sldId id="277" r:id="rId18"/>
    <p:sldId id="278" r:id="rId19"/>
    <p:sldId id="279" r:id="rId20"/>
    <p:sldId id="280" r:id="rId21"/>
    <p:sldId id="281" r:id="rId22"/>
    <p:sldId id="282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2746" autoAdjust="0"/>
  </p:normalViewPr>
  <p:slideViewPr>
    <p:cSldViewPr>
      <p:cViewPr>
        <p:scale>
          <a:sx n="78" d="100"/>
          <a:sy n="78" d="100"/>
        </p:scale>
        <p:origin x="-270" y="2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CD839-27E0-4C1A-8109-1452113EEB9C}" type="datetimeFigureOut">
              <a:rPr lang="en-US" smtClean="0"/>
              <a:pPr/>
              <a:t>10/13/2017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4CB6E-1762-4F54-9C09-2C65DB00DB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4CB6E-1762-4F54-9C09-2C65DB00DB48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71500" indent="-457200">
              <a:buAutoNum type="arabicPeriod"/>
            </a:pPr>
            <a:r>
              <a:rPr lang="en-US" dirty="0" smtClean="0"/>
              <a:t>a) The set of students who live within one mile of school and walk to classes </a:t>
            </a:r>
          </a:p>
          <a:p>
            <a:pPr marL="571500" indent="-457200">
              <a:buNone/>
            </a:pPr>
            <a:r>
              <a:rPr lang="en-US" dirty="0" smtClean="0"/>
              <a:t>     b) The set of students who live within one mile of school or walk to classes (or do both) </a:t>
            </a:r>
          </a:p>
          <a:p>
            <a:pPr marL="571500" indent="-457200">
              <a:buNone/>
            </a:pPr>
            <a:r>
              <a:rPr lang="en-US" dirty="0" smtClean="0"/>
              <a:t>     c) The set of students who live within one mile of school but do not walk to classes </a:t>
            </a:r>
          </a:p>
          <a:p>
            <a:pPr marL="571500" indent="-457200">
              <a:buNone/>
            </a:pPr>
            <a:r>
              <a:rPr lang="en-US" dirty="0" smtClean="0"/>
              <a:t>      d) The set of students who walk to classes but live more than one mile away from school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4CB6E-1762-4F54-9C09-2C65DB00DB48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3. a) {0,1,2,3,4,5,6}</a:t>
            </a:r>
          </a:p>
          <a:p>
            <a:pPr>
              <a:buNone/>
            </a:pPr>
            <a:r>
              <a:rPr lang="en-US" dirty="0" smtClean="0"/>
              <a:t>     b) {3} </a:t>
            </a:r>
          </a:p>
          <a:p>
            <a:pPr>
              <a:buNone/>
            </a:pPr>
            <a:r>
              <a:rPr lang="en-US" dirty="0" smtClean="0"/>
              <a:t>     c) {1, 2, 4,5} </a:t>
            </a:r>
          </a:p>
          <a:p>
            <a:pPr>
              <a:buNone/>
            </a:pPr>
            <a:r>
              <a:rPr lang="en-US" dirty="0" smtClean="0"/>
              <a:t>     d) {0, 6}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4CB6E-1762-4F54-9C09-2C65DB00DB48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F2AF-A7A4-4970-8840-424324E5FC18}" type="datetimeFigureOut">
              <a:rPr lang="en-US" smtClean="0"/>
              <a:pPr/>
              <a:t>10/13/2017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C1C49C3-3C80-4816-9A8E-38D61CA05A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F2AF-A7A4-4970-8840-424324E5FC18}" type="datetimeFigureOut">
              <a:rPr lang="en-US" smtClean="0"/>
              <a:pPr/>
              <a:t>10/13/2017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9C3-3C80-4816-9A8E-38D61CA05A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F2AF-A7A4-4970-8840-424324E5FC18}" type="datetimeFigureOut">
              <a:rPr lang="en-US" smtClean="0"/>
              <a:pPr/>
              <a:t>10/13/2017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9C3-3C80-4816-9A8E-38D61CA05A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F2AF-A7A4-4970-8840-424324E5FC18}" type="datetimeFigureOut">
              <a:rPr lang="en-US" smtClean="0"/>
              <a:pPr/>
              <a:t>10/13/2017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9C3-3C80-4816-9A8E-38D61CA05A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F2AF-A7A4-4970-8840-424324E5FC18}" type="datetimeFigureOut">
              <a:rPr lang="en-US" smtClean="0"/>
              <a:pPr/>
              <a:t>10/13/2017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9C3-3C80-4816-9A8E-38D61CA05A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F2AF-A7A4-4970-8840-424324E5FC18}" type="datetimeFigureOut">
              <a:rPr lang="en-US" smtClean="0"/>
              <a:pPr/>
              <a:t>10/13/2017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9C3-3C80-4816-9A8E-38D61CA05A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F2AF-A7A4-4970-8840-424324E5FC18}" type="datetimeFigureOut">
              <a:rPr lang="en-US" smtClean="0"/>
              <a:pPr/>
              <a:t>10/13/2017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9C3-3C80-4816-9A8E-38D61CA05A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F2AF-A7A4-4970-8840-424324E5FC18}" type="datetimeFigureOut">
              <a:rPr lang="en-US" smtClean="0"/>
              <a:pPr/>
              <a:t>10/13/2017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9C3-3C80-4816-9A8E-38D61CA05A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F2AF-A7A4-4970-8840-424324E5FC18}" type="datetimeFigureOut">
              <a:rPr lang="en-US" smtClean="0"/>
              <a:pPr/>
              <a:t>10/13/2017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9C3-3C80-4816-9A8E-38D61CA05A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F2AF-A7A4-4970-8840-424324E5FC18}" type="datetimeFigureOut">
              <a:rPr lang="en-US" smtClean="0"/>
              <a:pPr/>
              <a:t>10/13/2017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9C3-3C80-4816-9A8E-38D61CA05A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F2AF-A7A4-4970-8840-424324E5FC18}" type="datetimeFigureOut">
              <a:rPr lang="en-US" smtClean="0"/>
              <a:pPr/>
              <a:t>10/13/2017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9C3-3C80-4816-9A8E-38D61CA05A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E5BF2AF-A7A4-4970-8840-424324E5FC18}" type="datetimeFigureOut">
              <a:rPr lang="en-US" smtClean="0"/>
              <a:pPr/>
              <a:t>10/13/2017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8C1C49C3-3C80-4816-9A8E-38D61CA05A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Sabina </a:t>
            </a:r>
            <a:r>
              <a:rPr lang="en-US" dirty="0" err="1" smtClean="0"/>
              <a:t>irum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500" dirty="0" smtClean="0"/>
              <a:t>Set identities &amp; bit strings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xmlns="" val="343675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3822" t="29846" r="40879" b="8319"/>
          <a:stretch/>
        </p:blipFill>
        <p:spPr bwMode="auto">
          <a:xfrm>
            <a:off x="304800" y="304800"/>
            <a:ext cx="8534400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13741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Identities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can prove set identities mentioned in table 1 in three ways:</a:t>
            </a:r>
          </a:p>
          <a:p>
            <a:endParaRPr lang="en-US" dirty="0" smtClean="0"/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Membership table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Venn Diagram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Set Builder notation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2466469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5400" dirty="0" smtClean="0"/>
              <a:t> Membership table</a:t>
            </a:r>
            <a:endParaRPr lang="en-US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Prove Distributive Law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3792" t="33103" r="27025" b="39337"/>
          <a:stretch/>
        </p:blipFill>
        <p:spPr bwMode="auto">
          <a:xfrm>
            <a:off x="609600" y="1828800"/>
            <a:ext cx="8000999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931573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5400" dirty="0" smtClean="0"/>
              <a:t>VENN DIAGRAM</a:t>
            </a:r>
            <a:endParaRPr lang="en-US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Prove De Morgan law using Venn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42574"/>
            <a:ext cx="8229600" cy="165782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 smtClean="0"/>
              <a:t>One informal way of 'proving' an identity is to draw Venn diagrams for each side of the '=' and show they are the same.</a:t>
            </a:r>
          </a:p>
          <a:p>
            <a:pPr marL="0" indent="0" algn="just">
              <a:buNone/>
            </a:pPr>
            <a:r>
              <a:rPr lang="en-US" dirty="0" smtClean="0"/>
              <a:t>e.g. </a:t>
            </a:r>
            <a:r>
              <a:rPr lang="en-US" sz="2800" dirty="0"/>
              <a:t>2nd De Morgan </a:t>
            </a:r>
            <a:r>
              <a:rPr lang="en-US" sz="2800" dirty="0" smtClean="0"/>
              <a:t>Law: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713797" y="3633787"/>
            <a:ext cx="2534603" cy="328613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209800" y="4541520"/>
            <a:ext cx="1143000" cy="838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898531" y="4541520"/>
            <a:ext cx="1143000" cy="838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828800" y="4389120"/>
            <a:ext cx="2562701" cy="114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945842" y="4564966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A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962400" y="46293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B</a:t>
            </a: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777412" y="5543788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U</a:t>
            </a: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994988" y="4541520"/>
            <a:ext cx="1143000" cy="838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683719" y="4541520"/>
            <a:ext cx="1143000" cy="838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613988" y="4389120"/>
            <a:ext cx="2562701" cy="114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731030" y="4564966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A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747588" y="46293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B</a:t>
            </a:r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562600" y="5543788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U</a:t>
            </a:r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742056" y="4885789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smtClean="0"/>
              <a:t>=</a:t>
            </a:r>
            <a:endParaRPr lang="en-US" sz="3600"/>
          </a:p>
        </p:txBody>
      </p:sp>
      <p:sp>
        <p:nvSpPr>
          <p:cNvPr id="19" name="TextBox 18"/>
          <p:cNvSpPr txBox="1"/>
          <p:nvPr/>
        </p:nvSpPr>
        <p:spPr>
          <a:xfrm>
            <a:off x="4796558" y="4580989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smtClean="0"/>
              <a:t>?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xmlns="" val="2212564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dirty="0" smtClean="0"/>
              <a:t>olution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7848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52725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5400" dirty="0" smtClean="0"/>
              <a:t>SET BUILDER NOTATION</a:t>
            </a:r>
            <a:endParaRPr lang="en-US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Prove De Morgan law A∩B = A∪B. 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5371" t="41478" r="27626" b="35870"/>
          <a:stretch/>
        </p:blipFill>
        <p:spPr bwMode="auto">
          <a:xfrm>
            <a:off x="152400" y="1676400"/>
            <a:ext cx="8763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6019800" y="685800"/>
            <a:ext cx="838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7315200" y="6858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924800" y="6858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168637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3306" t="50662" r="34683" b="19951"/>
          <a:stretch/>
        </p:blipFill>
        <p:spPr bwMode="auto">
          <a:xfrm>
            <a:off x="304800" y="1828800"/>
            <a:ext cx="8305800" cy="4343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02884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Representation of 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Method for storing elements using an arbitrary ordering of the elements of the universal </a:t>
            </a:r>
            <a:r>
              <a:rPr lang="en-US" dirty="0" smtClean="0"/>
              <a:t>set. 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Specify </a:t>
            </a:r>
            <a:r>
              <a:rPr lang="en-US" dirty="0"/>
              <a:t>an arbitrary ordering of the elements of </a:t>
            </a:r>
            <a:r>
              <a:rPr lang="en-US" i="1" dirty="0"/>
              <a:t>U, </a:t>
            </a:r>
            <a:r>
              <a:rPr lang="en-US" dirty="0"/>
              <a:t>for instance </a:t>
            </a:r>
            <a:r>
              <a:rPr lang="en-US" i="1" dirty="0"/>
              <a:t>a</a:t>
            </a:r>
            <a:r>
              <a:rPr lang="en-US" dirty="0"/>
              <a:t>1</a:t>
            </a:r>
            <a:r>
              <a:rPr lang="en-US" i="1" dirty="0"/>
              <a:t>, a</a:t>
            </a:r>
            <a:r>
              <a:rPr lang="en-US" dirty="0"/>
              <a:t>2</a:t>
            </a:r>
            <a:r>
              <a:rPr lang="en-US" i="1" dirty="0"/>
              <a:t>, . . . , an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Represent </a:t>
            </a:r>
            <a:r>
              <a:rPr lang="en-US" dirty="0"/>
              <a:t>a </a:t>
            </a:r>
            <a:r>
              <a:rPr lang="en-US" dirty="0" smtClean="0"/>
              <a:t>subset </a:t>
            </a:r>
            <a:r>
              <a:rPr lang="en-US" i="1" dirty="0"/>
              <a:t>A </a:t>
            </a:r>
            <a:r>
              <a:rPr lang="en-US" dirty="0"/>
              <a:t>of </a:t>
            </a:r>
            <a:r>
              <a:rPr lang="en-US" i="1" dirty="0"/>
              <a:t>U</a:t>
            </a:r>
            <a:r>
              <a:rPr lang="en-US" dirty="0"/>
              <a:t> with the bit string of length </a:t>
            </a:r>
            <a:r>
              <a:rPr lang="en-US" i="1" dirty="0"/>
              <a:t>n, </a:t>
            </a:r>
            <a:r>
              <a:rPr lang="en-US" dirty="0"/>
              <a:t>where the </a:t>
            </a:r>
            <a:r>
              <a:rPr lang="en-US" i="1" dirty="0" err="1"/>
              <a:t>i</a:t>
            </a:r>
            <a:r>
              <a:rPr lang="en-US" dirty="0" err="1"/>
              <a:t>th</a:t>
            </a:r>
            <a:r>
              <a:rPr lang="en-US" dirty="0"/>
              <a:t> bit in this string is 1 if </a:t>
            </a:r>
            <a:r>
              <a:rPr lang="en-US" i="1" dirty="0" err="1"/>
              <a:t>ai</a:t>
            </a:r>
            <a:r>
              <a:rPr lang="en-US" i="1" dirty="0"/>
              <a:t> </a:t>
            </a:r>
            <a:r>
              <a:rPr lang="en-US" dirty="0"/>
              <a:t>belongs to </a:t>
            </a:r>
            <a:r>
              <a:rPr lang="en-US" i="1" dirty="0"/>
              <a:t>A </a:t>
            </a:r>
            <a:r>
              <a:rPr lang="en-US" dirty="0" smtClean="0"/>
              <a:t>and </a:t>
            </a:r>
            <a:r>
              <a:rPr lang="en-US" dirty="0"/>
              <a:t>is 0 if </a:t>
            </a:r>
            <a:r>
              <a:rPr lang="en-US" i="1" dirty="0" err="1"/>
              <a:t>ai</a:t>
            </a:r>
            <a:r>
              <a:rPr lang="en-US" dirty="0"/>
              <a:t> does not belong to </a:t>
            </a:r>
            <a:r>
              <a:rPr lang="en-US" i="1" dirty="0"/>
              <a:t>A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xmlns="" val="3718981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 Let U ={ 1,2,3,4,5,6,7,8,9,10}, and the ordering of elements of U has the elements in increasing order; that is, </a:t>
            </a:r>
            <a:r>
              <a:rPr lang="en-US" dirty="0" err="1" smtClean="0"/>
              <a:t>ai</a:t>
            </a:r>
            <a:r>
              <a:rPr lang="en-US" dirty="0" smtClean="0"/>
              <a:t> = i.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What bit strings represent the subset of all odd integers in U?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the subset of all even integers in U?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Subset of integers not exceeding 5 in U?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90609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Sol 1: The bit string that represents the set of odd integers in U, namely,{1,3,5,7,9} as:</a:t>
            </a:r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	10 1010 1010.</a:t>
            </a:r>
          </a:p>
          <a:p>
            <a:pPr algn="just"/>
            <a:r>
              <a:rPr lang="en-US" dirty="0" smtClean="0"/>
              <a:t>Sol 2: We represent the subset of all even integers in U, namely,{2,4,6,8,10}:</a:t>
            </a:r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                  01 0101 0101</a:t>
            </a:r>
          </a:p>
          <a:p>
            <a:pPr algn="just"/>
            <a:r>
              <a:rPr lang="en-US" dirty="0" smtClean="0"/>
              <a:t>Sol 3: Subset of integers not exceeding 5 in U?</a:t>
            </a:r>
          </a:p>
          <a:p>
            <a:pPr marL="0" indent="0" algn="just">
              <a:buNone/>
            </a:pPr>
            <a:r>
              <a:rPr lang="en-US" dirty="0" smtClean="0"/>
              <a:t>		11 1110 0000</a:t>
            </a:r>
          </a:p>
        </p:txBody>
      </p:sp>
    </p:spTree>
    <p:extLst>
      <p:ext uri="{BB962C8B-B14F-4D97-AF65-F5344CB8AC3E}">
        <p14:creationId xmlns:p14="http://schemas.microsoft.com/office/powerpoint/2010/main" xmlns="" val="2994813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Complement using bit 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We have seen that the bit string for the set {1,3,5,7,9} (with universal set {1,2,3,4, 5,6,7,8,9,10}) is 10 1010 1010.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What is the bit string for the complement of this set?</a:t>
            </a:r>
          </a:p>
          <a:p>
            <a:pPr marL="0" indent="0" algn="just">
              <a:buNone/>
            </a:pPr>
            <a:r>
              <a:rPr lang="en-US" dirty="0" smtClean="0"/>
              <a:t>                          01 0101 0101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73616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Union and Intersection using bit 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</a:t>
            </a:r>
            <a:r>
              <a:rPr lang="en-US" dirty="0" smtClean="0">
                <a:solidFill>
                  <a:srgbClr val="FF0000"/>
                </a:solidFill>
              </a:rPr>
              <a:t>11 1110 0000 and 10 1010 1010</a:t>
            </a:r>
          </a:p>
          <a:p>
            <a:r>
              <a:rPr lang="en-US" dirty="0" smtClean="0"/>
              <a:t>What is union of 2 sets?</a:t>
            </a:r>
          </a:p>
          <a:p>
            <a:pPr marL="0" indent="0">
              <a:buNone/>
            </a:pPr>
            <a:r>
              <a:rPr lang="en-US" dirty="0" smtClean="0"/>
              <a:t>       11 1110 0000∨10 1010 1010=11 1110 1010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What is intersection of 2 sets?</a:t>
            </a:r>
          </a:p>
          <a:p>
            <a:pPr marL="0" indent="0">
              <a:buNone/>
            </a:pPr>
            <a:r>
              <a:rPr lang="en-US" dirty="0" smtClean="0"/>
              <a:t>        11 1110 0000∧10 1010 1010=10 1010 0000,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1097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/>
              <a:t>1. Let A be the set of students who live within one mile of school and let B be the set of students who walk to classes. Describe the students in each of these sets.</a:t>
            </a:r>
          </a:p>
          <a:p>
            <a:pPr marL="571500" indent="-457200" algn="just">
              <a:buAutoNum type="alphaLcParenR"/>
            </a:pPr>
            <a:r>
              <a:rPr lang="en-US" dirty="0" smtClean="0"/>
              <a:t>A ∩ B </a:t>
            </a:r>
          </a:p>
          <a:p>
            <a:pPr marL="571500" indent="-457200" algn="just">
              <a:buAutoNum type="alphaLcParenR"/>
            </a:pPr>
            <a:r>
              <a:rPr lang="en-US" dirty="0" smtClean="0"/>
              <a:t> A ∪ B</a:t>
            </a:r>
          </a:p>
          <a:p>
            <a:pPr marL="571500" indent="-457200" algn="just">
              <a:buAutoNum type="alphaLcParenR"/>
            </a:pPr>
            <a:r>
              <a:rPr lang="en-US" dirty="0" smtClean="0"/>
              <a:t>A − B </a:t>
            </a:r>
          </a:p>
          <a:p>
            <a:pPr marL="571500" indent="-457200" algn="just">
              <a:buAutoNum type="alphaLcParenR"/>
            </a:pPr>
            <a:r>
              <a:rPr lang="en-US" dirty="0" smtClean="0"/>
              <a:t>B − 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457200">
              <a:buNone/>
            </a:pPr>
            <a:r>
              <a:rPr lang="en-US" dirty="0" smtClean="0"/>
              <a:t>3. Let A ={1, 2, 3, 4, 5} and B ={0, 3, 6}. </a:t>
            </a:r>
          </a:p>
          <a:p>
            <a:pPr marL="571500" indent="-457200">
              <a:buNone/>
            </a:pPr>
            <a:r>
              <a:rPr lang="en-US" dirty="0" smtClean="0"/>
              <a:t>Find     a) A ∪ B. </a:t>
            </a:r>
          </a:p>
          <a:p>
            <a:pPr marL="571500" indent="-457200">
              <a:buNone/>
            </a:pPr>
            <a:r>
              <a:rPr lang="en-US" dirty="0" smtClean="0"/>
              <a:t>   	      b) A ∩ B.</a:t>
            </a:r>
          </a:p>
          <a:p>
            <a:pPr marL="571500" indent="-457200">
              <a:buNone/>
            </a:pPr>
            <a:r>
              <a:rPr lang="en-US" dirty="0" smtClean="0"/>
              <a:t>            c) A − B. </a:t>
            </a:r>
          </a:p>
          <a:p>
            <a:pPr marL="571500" indent="-457200">
              <a:buNone/>
            </a:pPr>
            <a:r>
              <a:rPr lang="en-US" dirty="0" smtClean="0"/>
              <a:t> 	      d) B − A.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17. Show that if A, B, and C are sets, then A ∩ B ∩ C =</a:t>
            </a:r>
          </a:p>
          <a:p>
            <a:pPr>
              <a:buNone/>
            </a:pPr>
            <a:r>
              <a:rPr lang="en-US" dirty="0" smtClean="0"/>
              <a:t>A ∪ B ∪ C</a:t>
            </a:r>
          </a:p>
          <a:p>
            <a:pPr>
              <a:buNone/>
            </a:pPr>
            <a:r>
              <a:rPr lang="en-US" dirty="0" smtClean="0"/>
              <a:t>a) by showing each side is a subset of the other side.</a:t>
            </a:r>
          </a:p>
          <a:p>
            <a:pPr>
              <a:buNone/>
            </a:pPr>
            <a:r>
              <a:rPr lang="en-US" dirty="0" smtClean="0"/>
              <a:t>b) using a membership table.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524000"/>
            <a:ext cx="7315200" cy="4871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19. Show that if A and B are sets, then</a:t>
            </a:r>
          </a:p>
          <a:p>
            <a:pPr>
              <a:buNone/>
            </a:pPr>
            <a:r>
              <a:rPr lang="en-US" dirty="0" smtClean="0"/>
              <a:t>a) A − B = A ∩ B.</a:t>
            </a:r>
          </a:p>
          <a:p>
            <a:pPr>
              <a:buNone/>
            </a:pPr>
            <a:r>
              <a:rPr lang="en-US" dirty="0" smtClean="0"/>
              <a:t>b) (A ∩ B) ∪ (A ∩ B) = A.</a:t>
            </a:r>
          </a:p>
          <a:p>
            <a:pPr>
              <a:buNone/>
            </a:pPr>
            <a:r>
              <a:rPr lang="en-US" dirty="0" smtClean="0"/>
              <a:t>Solution :</a:t>
            </a:r>
          </a:p>
          <a:p>
            <a:pPr>
              <a:buNone/>
            </a:pPr>
            <a:r>
              <a:rPr lang="en-US" b="1" dirty="0" smtClean="0"/>
              <a:t>a) Both sides equal {x | x ∈ </a:t>
            </a:r>
            <a:r>
              <a:rPr lang="en-US" b="1" dirty="0" err="1" smtClean="0"/>
              <a:t>A∧x</a:t>
            </a:r>
            <a:r>
              <a:rPr lang="en-US" b="1" dirty="0" smtClean="0"/>
              <a:t> ∈ B}. </a:t>
            </a:r>
          </a:p>
          <a:p>
            <a:pPr>
              <a:buNone/>
            </a:pPr>
            <a:r>
              <a:rPr lang="en-US" b="1" dirty="0" smtClean="0"/>
              <a:t>b) A = A∩U </a:t>
            </a:r>
          </a:p>
          <a:p>
            <a:pPr>
              <a:buNone/>
            </a:pPr>
            <a:r>
              <a:rPr lang="en-US" b="1" dirty="0" smtClean="0"/>
              <a:t>        =A∩ (B ∪ B) </a:t>
            </a:r>
          </a:p>
          <a:p>
            <a:pPr>
              <a:buNone/>
            </a:pPr>
            <a:r>
              <a:rPr lang="en-US" b="1" dirty="0" smtClean="0"/>
              <a:t>        = (A∩ B) ∪ (A∩ B)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21. Prove the </a:t>
            </a:r>
            <a:r>
              <a:rPr lang="en-US" dirty="0" err="1" smtClean="0"/>
              <a:t>ﬁrst</a:t>
            </a:r>
            <a:r>
              <a:rPr lang="en-US" dirty="0" smtClean="0"/>
              <a:t> associative law from Table 1 by showing that if A, B, and C are sets, then A ∪ (B ∪ C) =</a:t>
            </a:r>
          </a:p>
          <a:p>
            <a:pPr>
              <a:buNone/>
            </a:pPr>
            <a:r>
              <a:rPr lang="en-US" dirty="0" smtClean="0"/>
              <a:t>(A ∪ B) ∪ C.</a:t>
            </a:r>
          </a:p>
          <a:p>
            <a:pPr>
              <a:buNone/>
            </a:pPr>
            <a:r>
              <a:rPr lang="en-US" b="1" dirty="0" smtClean="0"/>
              <a:t>Solution :</a:t>
            </a:r>
          </a:p>
          <a:p>
            <a:pPr>
              <a:buNone/>
            </a:pPr>
            <a:r>
              <a:rPr lang="en-US" b="1" dirty="0" smtClean="0"/>
              <a:t>       x ∈ A∪ (B ∪ C) </a:t>
            </a:r>
          </a:p>
          <a:p>
            <a:pPr>
              <a:buNone/>
            </a:pPr>
            <a:r>
              <a:rPr lang="en-US" b="1" dirty="0" smtClean="0"/>
              <a:t>   ≡(x ∈ A) ∨ (x ∈ (B ∪ C))</a:t>
            </a:r>
          </a:p>
          <a:p>
            <a:pPr>
              <a:buNone/>
            </a:pPr>
            <a:r>
              <a:rPr lang="en-US" b="1" dirty="0" smtClean="0"/>
              <a:t>   ≡ (x ∈ A) ∨ (x ∈ B ∨ x ∈ C) </a:t>
            </a:r>
          </a:p>
          <a:p>
            <a:pPr>
              <a:buNone/>
            </a:pPr>
            <a:r>
              <a:rPr lang="en-US" b="1" dirty="0" smtClean="0"/>
              <a:t>   ≡ (x ∈ A ∨ x ∈ B) ∨ (x ∈ C) </a:t>
            </a:r>
          </a:p>
          <a:p>
            <a:pPr>
              <a:buNone/>
            </a:pPr>
            <a:r>
              <a:rPr lang="en-US" b="1" dirty="0" smtClean="0"/>
              <a:t>    ≡ x ∈ (A ∪ B) ∪ C</a:t>
            </a:r>
            <a:endParaRPr lang="en-US" b="1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694</TotalTime>
  <Words>773</Words>
  <Application>Microsoft Office PowerPoint</Application>
  <PresentationFormat>On-screen Show (4:3)</PresentationFormat>
  <Paragraphs>100</Paragraphs>
  <Slides>22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Apothecary</vt:lpstr>
      <vt:lpstr>Set identities &amp; bit strings</vt:lpstr>
      <vt:lpstr>Slide 2</vt:lpstr>
      <vt:lpstr>Set Identities</vt:lpstr>
      <vt:lpstr>Slide 4</vt:lpstr>
      <vt:lpstr>Prove Distributive Law</vt:lpstr>
      <vt:lpstr>Slide 6</vt:lpstr>
      <vt:lpstr>Prove De Morgan law using Venn Diagram</vt:lpstr>
      <vt:lpstr>solution </vt:lpstr>
      <vt:lpstr>Slide 9</vt:lpstr>
      <vt:lpstr>Prove De Morgan law A∩B = A∪B. </vt:lpstr>
      <vt:lpstr>Example 1</vt:lpstr>
      <vt:lpstr>Computer Representation of Sets</vt:lpstr>
      <vt:lpstr>Example 2</vt:lpstr>
      <vt:lpstr>Example 2 Solution</vt:lpstr>
      <vt:lpstr>Complement using bit strings</vt:lpstr>
      <vt:lpstr>Union and Intersection using bit strings</vt:lpstr>
      <vt:lpstr>Example </vt:lpstr>
      <vt:lpstr>Questions</vt:lpstr>
      <vt:lpstr>Slide 19</vt:lpstr>
      <vt:lpstr>Slide 20</vt:lpstr>
      <vt:lpstr>Slide 21</vt:lpstr>
      <vt:lpstr>Slide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DELL;Asma</dc:creator>
  <cp:lastModifiedBy>Windows User</cp:lastModifiedBy>
  <cp:revision>54</cp:revision>
  <dcterms:created xsi:type="dcterms:W3CDTF">2016-10-26T05:32:45Z</dcterms:created>
  <dcterms:modified xsi:type="dcterms:W3CDTF">2017-10-13T06:54:09Z</dcterms:modified>
</cp:coreProperties>
</file>