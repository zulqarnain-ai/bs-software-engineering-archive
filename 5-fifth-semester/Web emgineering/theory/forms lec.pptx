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91" r:id="rId3"/>
    <p:sldId id="293" r:id="rId4"/>
    <p:sldId id="257" r:id="rId5"/>
    <p:sldId id="295" r:id="rId6"/>
    <p:sldId id="296" r:id="rId7"/>
    <p:sldId id="297" r:id="rId8"/>
    <p:sldId id="298" r:id="rId9"/>
    <p:sldId id="329" r:id="rId10"/>
    <p:sldId id="299" r:id="rId11"/>
    <p:sldId id="300" r:id="rId12"/>
    <p:sldId id="328" r:id="rId13"/>
    <p:sldId id="258" r:id="rId14"/>
    <p:sldId id="301" r:id="rId15"/>
    <p:sldId id="318" r:id="rId16"/>
    <p:sldId id="317" r:id="rId17"/>
    <p:sldId id="302" r:id="rId18"/>
    <p:sldId id="319" r:id="rId19"/>
    <p:sldId id="320" r:id="rId20"/>
    <p:sldId id="303" r:id="rId21"/>
    <p:sldId id="304" r:id="rId22"/>
    <p:sldId id="305" r:id="rId23"/>
    <p:sldId id="306" r:id="rId24"/>
    <p:sldId id="307" r:id="rId25"/>
    <p:sldId id="308" r:id="rId26"/>
    <p:sldId id="309" r:id="rId27"/>
    <p:sldId id="310" r:id="rId28"/>
    <p:sldId id="321" r:id="rId29"/>
    <p:sldId id="311" r:id="rId30"/>
    <p:sldId id="312" r:id="rId31"/>
    <p:sldId id="313" r:id="rId32"/>
    <p:sldId id="314" r:id="rId33"/>
    <p:sldId id="315" r:id="rId34"/>
    <p:sldId id="324" r:id="rId35"/>
    <p:sldId id="325" r:id="rId36"/>
    <p:sldId id="330" r:id="rId37"/>
  </p:sldIdLst>
  <p:sldSz cx="9144000" cy="5143500" type="screen16x9"/>
  <p:notesSz cx="9144000" cy="51435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98" d="100"/>
          <a:sy n="98" d="100"/>
        </p:scale>
        <p:origin x="-576" y="-1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F726552-2FE5-48AA-91B1-0EDBBC4712F0}" type="doc">
      <dgm:prSet loTypeId="urn:microsoft.com/office/officeart/2005/8/layout/vList2" loCatId="list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8857831C-3021-4362-A800-F26550363A92}">
      <dgm:prSet/>
      <dgm:spPr/>
      <dgm:t>
        <a:bodyPr/>
        <a:lstStyle/>
        <a:p>
          <a:pPr rtl="0"/>
          <a:r>
            <a:rPr lang="en-US" b="1" dirty="0" smtClean="0"/>
            <a:t>HTML </a:t>
          </a:r>
          <a:r>
            <a:rPr lang="en-US" b="1" dirty="0"/>
            <a:t>FORMS</a:t>
          </a:r>
          <a:endParaRPr lang="en-US" dirty="0"/>
        </a:p>
      </dgm:t>
    </dgm:pt>
    <dgm:pt modelId="{E995F5AC-32EE-4D8C-9EE3-BBA47D3E012C}" type="parTrans" cxnId="{720242EE-E7C7-4BF3-A3BA-C7FA6547AAE7}">
      <dgm:prSet/>
      <dgm:spPr/>
      <dgm:t>
        <a:bodyPr/>
        <a:lstStyle/>
        <a:p>
          <a:endParaRPr lang="en-US"/>
        </a:p>
      </dgm:t>
    </dgm:pt>
    <dgm:pt modelId="{EC5EA389-A1B2-47A0-938A-62B70FAAE72A}" type="sibTrans" cxnId="{720242EE-E7C7-4BF3-A3BA-C7FA6547AAE7}">
      <dgm:prSet/>
      <dgm:spPr/>
      <dgm:t>
        <a:bodyPr/>
        <a:lstStyle/>
        <a:p>
          <a:endParaRPr lang="en-US"/>
        </a:p>
      </dgm:t>
    </dgm:pt>
    <dgm:pt modelId="{E0B61CFB-4AF5-41ED-93E2-584ECE2CE434}" type="pres">
      <dgm:prSet presAssocID="{2F726552-2FE5-48AA-91B1-0EDBBC4712F0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914C8E9D-8C2D-4496-843D-ECF1B97CA39B}" type="pres">
      <dgm:prSet presAssocID="{8857831C-3021-4362-A800-F26550363A92}" presName="parentText" presStyleLbl="node1" presStyleIdx="0" presStyleCnt="1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0DF3FC5A-CC36-4FBB-8574-10B46580EDD7}" type="presOf" srcId="{2F726552-2FE5-48AA-91B1-0EDBBC4712F0}" destId="{E0B61CFB-4AF5-41ED-93E2-584ECE2CE434}" srcOrd="0" destOrd="0" presId="urn:microsoft.com/office/officeart/2005/8/layout/vList2"/>
    <dgm:cxn modelId="{720242EE-E7C7-4BF3-A3BA-C7FA6547AAE7}" srcId="{2F726552-2FE5-48AA-91B1-0EDBBC4712F0}" destId="{8857831C-3021-4362-A800-F26550363A92}" srcOrd="0" destOrd="0" parTransId="{E995F5AC-32EE-4D8C-9EE3-BBA47D3E012C}" sibTransId="{EC5EA389-A1B2-47A0-938A-62B70FAAE72A}"/>
    <dgm:cxn modelId="{194277A2-C9CF-4AB2-AEB8-CE49DD76BF6F}" type="presOf" srcId="{8857831C-3021-4362-A800-F26550363A92}" destId="{914C8E9D-8C2D-4496-843D-ECF1B97CA39B}" srcOrd="0" destOrd="0" presId="urn:microsoft.com/office/officeart/2005/8/layout/vList2"/>
    <dgm:cxn modelId="{88264F22-8668-4E27-B9FE-F3651462D56A}" type="presParOf" srcId="{E0B61CFB-4AF5-41ED-93E2-584ECE2CE434}" destId="{914C8E9D-8C2D-4496-843D-ECF1B97CA39B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3FD47A0-3022-4AE8-B536-E24FA5416D5F}" type="doc">
      <dgm:prSet loTypeId="urn:microsoft.com/office/officeart/2005/8/layout/vList2" loCatId="list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9759B03E-4D5C-432B-80DB-0880056E960D}">
      <dgm:prSet/>
      <dgm:spPr/>
      <dgm:t>
        <a:bodyPr/>
        <a:lstStyle/>
        <a:p>
          <a:pPr rtl="0"/>
          <a:r>
            <a:rPr lang="en-US" b="1" dirty="0" smtClean="0"/>
            <a:t> </a:t>
          </a:r>
          <a:r>
            <a:rPr lang="en-US" b="1" dirty="0"/>
            <a:t>HTML FORM ATTRIBUTES</a:t>
          </a:r>
          <a:endParaRPr lang="en-US" dirty="0"/>
        </a:p>
      </dgm:t>
    </dgm:pt>
    <dgm:pt modelId="{C87A5AC1-F815-47E2-848C-20C40C1DF6EB}" type="parTrans" cxnId="{9C99D024-5A8E-4E5D-8616-94FF8693239C}">
      <dgm:prSet/>
      <dgm:spPr/>
      <dgm:t>
        <a:bodyPr/>
        <a:lstStyle/>
        <a:p>
          <a:endParaRPr lang="en-US"/>
        </a:p>
      </dgm:t>
    </dgm:pt>
    <dgm:pt modelId="{9EBC9A55-04AF-4D68-9BF2-00341310036B}" type="sibTrans" cxnId="{9C99D024-5A8E-4E5D-8616-94FF8693239C}">
      <dgm:prSet/>
      <dgm:spPr/>
      <dgm:t>
        <a:bodyPr/>
        <a:lstStyle/>
        <a:p>
          <a:endParaRPr lang="en-US"/>
        </a:p>
      </dgm:t>
    </dgm:pt>
    <dgm:pt modelId="{7230DF86-58CF-438C-8A18-5A36CDE3D60B}" type="pres">
      <dgm:prSet presAssocID="{33FD47A0-3022-4AE8-B536-E24FA5416D5F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6CFFC5B4-F135-48DB-A2D0-32AE94FD2723}" type="pres">
      <dgm:prSet presAssocID="{9759B03E-4D5C-432B-80DB-0880056E960D}" presName="parentText" presStyleLbl="node1" presStyleIdx="0" presStyleCnt="1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9C99D024-5A8E-4E5D-8616-94FF8693239C}" srcId="{33FD47A0-3022-4AE8-B536-E24FA5416D5F}" destId="{9759B03E-4D5C-432B-80DB-0880056E960D}" srcOrd="0" destOrd="0" parTransId="{C87A5AC1-F815-47E2-848C-20C40C1DF6EB}" sibTransId="{9EBC9A55-04AF-4D68-9BF2-00341310036B}"/>
    <dgm:cxn modelId="{11E4CDE0-E70F-4F4B-933F-D20BC881EDF5}" type="presOf" srcId="{9759B03E-4D5C-432B-80DB-0880056E960D}" destId="{6CFFC5B4-F135-48DB-A2D0-32AE94FD2723}" srcOrd="0" destOrd="0" presId="urn:microsoft.com/office/officeart/2005/8/layout/vList2"/>
    <dgm:cxn modelId="{561C93EB-2031-489A-9397-418495009DC2}" type="presOf" srcId="{33FD47A0-3022-4AE8-B536-E24FA5416D5F}" destId="{7230DF86-58CF-438C-8A18-5A36CDE3D60B}" srcOrd="0" destOrd="0" presId="urn:microsoft.com/office/officeart/2005/8/layout/vList2"/>
    <dgm:cxn modelId="{A591D325-514E-45AF-8192-9B0CF3834B3D}" type="presParOf" srcId="{7230DF86-58CF-438C-8A18-5A36CDE3D60B}" destId="{6CFFC5B4-F135-48DB-A2D0-32AE94FD2723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33FD47A0-3022-4AE8-B536-E24FA5416D5F}" type="doc">
      <dgm:prSet loTypeId="urn:microsoft.com/office/officeart/2005/8/layout/vList2" loCatId="list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9759B03E-4D5C-432B-80DB-0880056E960D}">
      <dgm:prSet/>
      <dgm:spPr/>
      <dgm:t>
        <a:bodyPr/>
        <a:lstStyle/>
        <a:p>
          <a:pPr rtl="0"/>
          <a:r>
            <a:rPr lang="en-US" b="1" dirty="0"/>
            <a:t>1. HTML FORM ATTRIBUTES</a:t>
          </a:r>
          <a:endParaRPr lang="en-US" dirty="0"/>
        </a:p>
      </dgm:t>
    </dgm:pt>
    <dgm:pt modelId="{C87A5AC1-F815-47E2-848C-20C40C1DF6EB}" type="parTrans" cxnId="{9C99D024-5A8E-4E5D-8616-94FF8693239C}">
      <dgm:prSet/>
      <dgm:spPr/>
      <dgm:t>
        <a:bodyPr/>
        <a:lstStyle/>
        <a:p>
          <a:endParaRPr lang="en-US"/>
        </a:p>
      </dgm:t>
    </dgm:pt>
    <dgm:pt modelId="{9EBC9A55-04AF-4D68-9BF2-00341310036B}" type="sibTrans" cxnId="{9C99D024-5A8E-4E5D-8616-94FF8693239C}">
      <dgm:prSet/>
      <dgm:spPr/>
      <dgm:t>
        <a:bodyPr/>
        <a:lstStyle/>
        <a:p>
          <a:endParaRPr lang="en-US"/>
        </a:p>
      </dgm:t>
    </dgm:pt>
    <dgm:pt modelId="{7230DF86-58CF-438C-8A18-5A36CDE3D60B}" type="pres">
      <dgm:prSet presAssocID="{33FD47A0-3022-4AE8-B536-E24FA5416D5F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6CFFC5B4-F135-48DB-A2D0-32AE94FD2723}" type="pres">
      <dgm:prSet presAssocID="{9759B03E-4D5C-432B-80DB-0880056E960D}" presName="parentText" presStyleLbl="node1" presStyleIdx="0" presStyleCnt="1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9C99D024-5A8E-4E5D-8616-94FF8693239C}" srcId="{33FD47A0-3022-4AE8-B536-E24FA5416D5F}" destId="{9759B03E-4D5C-432B-80DB-0880056E960D}" srcOrd="0" destOrd="0" parTransId="{C87A5AC1-F815-47E2-848C-20C40C1DF6EB}" sibTransId="{9EBC9A55-04AF-4D68-9BF2-00341310036B}"/>
    <dgm:cxn modelId="{6C003915-3D55-4D27-A467-454568568624}" type="presOf" srcId="{9759B03E-4D5C-432B-80DB-0880056E960D}" destId="{6CFFC5B4-F135-48DB-A2D0-32AE94FD2723}" srcOrd="0" destOrd="0" presId="urn:microsoft.com/office/officeart/2005/8/layout/vList2"/>
    <dgm:cxn modelId="{2FE37750-0A33-46C7-80DA-8BC89BF2984A}" type="presOf" srcId="{33FD47A0-3022-4AE8-B536-E24FA5416D5F}" destId="{7230DF86-58CF-438C-8A18-5A36CDE3D60B}" srcOrd="0" destOrd="0" presId="urn:microsoft.com/office/officeart/2005/8/layout/vList2"/>
    <dgm:cxn modelId="{930190A8-C8E7-41FF-90DA-EE8EDCAB366C}" type="presParOf" srcId="{7230DF86-58CF-438C-8A18-5A36CDE3D60B}" destId="{6CFFC5B4-F135-48DB-A2D0-32AE94FD2723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33FD47A0-3022-4AE8-B536-E24FA5416D5F}" type="doc">
      <dgm:prSet loTypeId="urn:microsoft.com/office/officeart/2005/8/layout/vList2" loCatId="list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9759B03E-4D5C-432B-80DB-0880056E960D}">
      <dgm:prSet/>
      <dgm:spPr/>
      <dgm:t>
        <a:bodyPr/>
        <a:lstStyle/>
        <a:p>
          <a:pPr rtl="0"/>
          <a:r>
            <a:rPr lang="en-US" b="1" dirty="0"/>
            <a:t>1. HTML </a:t>
          </a:r>
          <a:r>
            <a:rPr lang="en-US" b="1" dirty="0" smtClean="0"/>
            <a:t>FORMS ATTRIBUTE</a:t>
          </a:r>
          <a:endParaRPr lang="en-US" dirty="0"/>
        </a:p>
      </dgm:t>
    </dgm:pt>
    <dgm:pt modelId="{C87A5AC1-F815-47E2-848C-20C40C1DF6EB}" type="parTrans" cxnId="{9C99D024-5A8E-4E5D-8616-94FF8693239C}">
      <dgm:prSet/>
      <dgm:spPr/>
      <dgm:t>
        <a:bodyPr/>
        <a:lstStyle/>
        <a:p>
          <a:endParaRPr lang="en-US"/>
        </a:p>
      </dgm:t>
    </dgm:pt>
    <dgm:pt modelId="{9EBC9A55-04AF-4D68-9BF2-00341310036B}" type="sibTrans" cxnId="{9C99D024-5A8E-4E5D-8616-94FF8693239C}">
      <dgm:prSet/>
      <dgm:spPr/>
      <dgm:t>
        <a:bodyPr/>
        <a:lstStyle/>
        <a:p>
          <a:endParaRPr lang="en-US"/>
        </a:p>
      </dgm:t>
    </dgm:pt>
    <dgm:pt modelId="{7230DF86-58CF-438C-8A18-5A36CDE3D60B}" type="pres">
      <dgm:prSet presAssocID="{33FD47A0-3022-4AE8-B536-E24FA5416D5F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6CFFC5B4-F135-48DB-A2D0-32AE94FD2723}" type="pres">
      <dgm:prSet presAssocID="{9759B03E-4D5C-432B-80DB-0880056E960D}" presName="parentText" presStyleLbl="node1" presStyleIdx="0" presStyleCnt="1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9C99D024-5A8E-4E5D-8616-94FF8693239C}" srcId="{33FD47A0-3022-4AE8-B536-E24FA5416D5F}" destId="{9759B03E-4D5C-432B-80DB-0880056E960D}" srcOrd="0" destOrd="0" parTransId="{C87A5AC1-F815-47E2-848C-20C40C1DF6EB}" sibTransId="{9EBC9A55-04AF-4D68-9BF2-00341310036B}"/>
    <dgm:cxn modelId="{37F3F265-07FC-48FE-B309-1308F668D557}" type="presOf" srcId="{33FD47A0-3022-4AE8-B536-E24FA5416D5F}" destId="{7230DF86-58CF-438C-8A18-5A36CDE3D60B}" srcOrd="0" destOrd="0" presId="urn:microsoft.com/office/officeart/2005/8/layout/vList2"/>
    <dgm:cxn modelId="{03A6BB71-FB32-49E8-B602-D6A46E996D29}" type="presOf" srcId="{9759B03E-4D5C-432B-80DB-0880056E960D}" destId="{6CFFC5B4-F135-48DB-A2D0-32AE94FD2723}" srcOrd="0" destOrd="0" presId="urn:microsoft.com/office/officeart/2005/8/layout/vList2"/>
    <dgm:cxn modelId="{5F417460-FBAF-4217-A88C-314C497EB112}" type="presParOf" srcId="{7230DF86-58CF-438C-8A18-5A36CDE3D60B}" destId="{6CFFC5B4-F135-48DB-A2D0-32AE94FD2723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33FD47A0-3022-4AE8-B536-E24FA5416D5F}" type="doc">
      <dgm:prSet loTypeId="urn:microsoft.com/office/officeart/2005/8/layout/vList2" loCatId="list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9759B03E-4D5C-432B-80DB-0880056E960D}">
      <dgm:prSet/>
      <dgm:spPr/>
      <dgm:t>
        <a:bodyPr/>
        <a:lstStyle/>
        <a:p>
          <a:pPr rtl="0"/>
          <a:r>
            <a:rPr lang="en-US" b="1" dirty="0"/>
            <a:t>1. HTML FORM METHOD GET VS POST</a:t>
          </a:r>
          <a:endParaRPr lang="en-US" dirty="0"/>
        </a:p>
      </dgm:t>
    </dgm:pt>
    <dgm:pt modelId="{C87A5AC1-F815-47E2-848C-20C40C1DF6EB}" type="parTrans" cxnId="{9C99D024-5A8E-4E5D-8616-94FF8693239C}">
      <dgm:prSet/>
      <dgm:spPr/>
      <dgm:t>
        <a:bodyPr/>
        <a:lstStyle/>
        <a:p>
          <a:endParaRPr lang="en-US"/>
        </a:p>
      </dgm:t>
    </dgm:pt>
    <dgm:pt modelId="{9EBC9A55-04AF-4D68-9BF2-00341310036B}" type="sibTrans" cxnId="{9C99D024-5A8E-4E5D-8616-94FF8693239C}">
      <dgm:prSet/>
      <dgm:spPr/>
      <dgm:t>
        <a:bodyPr/>
        <a:lstStyle/>
        <a:p>
          <a:endParaRPr lang="en-US"/>
        </a:p>
      </dgm:t>
    </dgm:pt>
    <dgm:pt modelId="{7230DF86-58CF-438C-8A18-5A36CDE3D60B}" type="pres">
      <dgm:prSet presAssocID="{33FD47A0-3022-4AE8-B536-E24FA5416D5F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6CFFC5B4-F135-48DB-A2D0-32AE94FD2723}" type="pres">
      <dgm:prSet presAssocID="{9759B03E-4D5C-432B-80DB-0880056E960D}" presName="parentText" presStyleLbl="node1" presStyleIdx="0" presStyleCnt="1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9C99D024-5A8E-4E5D-8616-94FF8693239C}" srcId="{33FD47A0-3022-4AE8-B536-E24FA5416D5F}" destId="{9759B03E-4D5C-432B-80DB-0880056E960D}" srcOrd="0" destOrd="0" parTransId="{C87A5AC1-F815-47E2-848C-20C40C1DF6EB}" sibTransId="{9EBC9A55-04AF-4D68-9BF2-00341310036B}"/>
    <dgm:cxn modelId="{D49486EE-A115-4D75-93C8-E6D353556297}" type="presOf" srcId="{33FD47A0-3022-4AE8-B536-E24FA5416D5F}" destId="{7230DF86-58CF-438C-8A18-5A36CDE3D60B}" srcOrd="0" destOrd="0" presId="urn:microsoft.com/office/officeart/2005/8/layout/vList2"/>
    <dgm:cxn modelId="{0D300EF3-9AD8-4ACC-A096-CDC0869F314D}" type="presOf" srcId="{9759B03E-4D5C-432B-80DB-0880056E960D}" destId="{6CFFC5B4-F135-48DB-A2D0-32AE94FD2723}" srcOrd="0" destOrd="0" presId="urn:microsoft.com/office/officeart/2005/8/layout/vList2"/>
    <dgm:cxn modelId="{1A0EDCDC-CDA6-4ABD-9596-0EA6BE8D9457}" type="presParOf" srcId="{7230DF86-58CF-438C-8A18-5A36CDE3D60B}" destId="{6CFFC5B4-F135-48DB-A2D0-32AE94FD2723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33FD47A0-3022-4AE8-B536-E24FA5416D5F}" type="doc">
      <dgm:prSet loTypeId="urn:microsoft.com/office/officeart/2005/8/layout/vList2" loCatId="list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9759B03E-4D5C-432B-80DB-0880056E960D}">
      <dgm:prSet/>
      <dgm:spPr/>
      <dgm:t>
        <a:bodyPr/>
        <a:lstStyle/>
        <a:p>
          <a:pPr rtl="0"/>
          <a:r>
            <a:rPr lang="en-US" b="1" dirty="0"/>
            <a:t>1. HTML FORM METHOD GET VS POST</a:t>
          </a:r>
          <a:endParaRPr lang="en-US" dirty="0"/>
        </a:p>
      </dgm:t>
    </dgm:pt>
    <dgm:pt modelId="{C87A5AC1-F815-47E2-848C-20C40C1DF6EB}" type="parTrans" cxnId="{9C99D024-5A8E-4E5D-8616-94FF8693239C}">
      <dgm:prSet/>
      <dgm:spPr/>
      <dgm:t>
        <a:bodyPr/>
        <a:lstStyle/>
        <a:p>
          <a:endParaRPr lang="en-US"/>
        </a:p>
      </dgm:t>
    </dgm:pt>
    <dgm:pt modelId="{9EBC9A55-04AF-4D68-9BF2-00341310036B}" type="sibTrans" cxnId="{9C99D024-5A8E-4E5D-8616-94FF8693239C}">
      <dgm:prSet/>
      <dgm:spPr/>
      <dgm:t>
        <a:bodyPr/>
        <a:lstStyle/>
        <a:p>
          <a:endParaRPr lang="en-US"/>
        </a:p>
      </dgm:t>
    </dgm:pt>
    <dgm:pt modelId="{7230DF86-58CF-438C-8A18-5A36CDE3D60B}" type="pres">
      <dgm:prSet presAssocID="{33FD47A0-3022-4AE8-B536-E24FA5416D5F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6CFFC5B4-F135-48DB-A2D0-32AE94FD2723}" type="pres">
      <dgm:prSet presAssocID="{9759B03E-4D5C-432B-80DB-0880056E960D}" presName="parentText" presStyleLbl="node1" presStyleIdx="0" presStyleCnt="1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9C99D024-5A8E-4E5D-8616-94FF8693239C}" srcId="{33FD47A0-3022-4AE8-B536-E24FA5416D5F}" destId="{9759B03E-4D5C-432B-80DB-0880056E960D}" srcOrd="0" destOrd="0" parTransId="{C87A5AC1-F815-47E2-848C-20C40C1DF6EB}" sibTransId="{9EBC9A55-04AF-4D68-9BF2-00341310036B}"/>
    <dgm:cxn modelId="{295F7E5C-5D05-49AE-A5B2-526481BAA7C6}" type="presOf" srcId="{9759B03E-4D5C-432B-80DB-0880056E960D}" destId="{6CFFC5B4-F135-48DB-A2D0-32AE94FD2723}" srcOrd="0" destOrd="0" presId="urn:microsoft.com/office/officeart/2005/8/layout/vList2"/>
    <dgm:cxn modelId="{D5A4B925-3918-4A4B-8B54-CE1AF1D14953}" type="presOf" srcId="{33FD47A0-3022-4AE8-B536-E24FA5416D5F}" destId="{7230DF86-58CF-438C-8A18-5A36CDE3D60B}" srcOrd="0" destOrd="0" presId="urn:microsoft.com/office/officeart/2005/8/layout/vList2"/>
    <dgm:cxn modelId="{A19CA0D3-9112-4931-A49D-F78FE6A7DDA5}" type="presParOf" srcId="{7230DF86-58CF-438C-8A18-5A36CDE3D60B}" destId="{6CFFC5B4-F135-48DB-A2D0-32AE94FD2723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DEA9B4DD-60D8-4651-925D-07D2FF8517D4}" type="doc">
      <dgm:prSet loTypeId="urn:microsoft.com/office/officeart/2005/8/layout/vList2" loCatId="list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BAD7694E-B7A7-4131-996E-2697E7670F49}">
      <dgm:prSet/>
      <dgm:spPr/>
      <dgm:t>
        <a:bodyPr/>
        <a:lstStyle/>
        <a:p>
          <a:pPr rtl="0"/>
          <a:r>
            <a:rPr lang="en-US" b="1" dirty="0" smtClean="0"/>
            <a:t> </a:t>
          </a:r>
          <a:r>
            <a:rPr lang="en-US" b="1" dirty="0"/>
            <a:t>Hidden Text Field…</a:t>
          </a:r>
          <a:endParaRPr lang="en-US" dirty="0"/>
        </a:p>
      </dgm:t>
    </dgm:pt>
    <dgm:pt modelId="{B33D52CA-1960-4E19-BF83-2AC9F8E51F14}" type="parTrans" cxnId="{CAC37BAE-7737-43EA-8E58-0BF35069EB50}">
      <dgm:prSet/>
      <dgm:spPr/>
      <dgm:t>
        <a:bodyPr/>
        <a:lstStyle/>
        <a:p>
          <a:endParaRPr lang="en-US"/>
        </a:p>
      </dgm:t>
    </dgm:pt>
    <dgm:pt modelId="{7A7C3A6B-45F9-42B9-840C-8C3D62A5D39A}" type="sibTrans" cxnId="{CAC37BAE-7737-43EA-8E58-0BF35069EB50}">
      <dgm:prSet/>
      <dgm:spPr/>
      <dgm:t>
        <a:bodyPr/>
        <a:lstStyle/>
        <a:p>
          <a:endParaRPr lang="en-US"/>
        </a:p>
      </dgm:t>
    </dgm:pt>
    <dgm:pt modelId="{9D9E74E5-879C-481C-B501-CC3F143D6E29}" type="pres">
      <dgm:prSet presAssocID="{DEA9B4DD-60D8-4651-925D-07D2FF8517D4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03F8DD10-757E-429B-B774-4F7903E75C35}" type="pres">
      <dgm:prSet presAssocID="{BAD7694E-B7A7-4131-996E-2697E7670F49}" presName="parentText" presStyleLbl="node1" presStyleIdx="0" presStyleCnt="1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CAC37BAE-7737-43EA-8E58-0BF35069EB50}" srcId="{DEA9B4DD-60D8-4651-925D-07D2FF8517D4}" destId="{BAD7694E-B7A7-4131-996E-2697E7670F49}" srcOrd="0" destOrd="0" parTransId="{B33D52CA-1960-4E19-BF83-2AC9F8E51F14}" sibTransId="{7A7C3A6B-45F9-42B9-840C-8C3D62A5D39A}"/>
    <dgm:cxn modelId="{C70FB248-0EC0-4260-89EA-38BC405597B8}" type="presOf" srcId="{BAD7694E-B7A7-4131-996E-2697E7670F49}" destId="{03F8DD10-757E-429B-B774-4F7903E75C35}" srcOrd="0" destOrd="0" presId="urn:microsoft.com/office/officeart/2005/8/layout/vList2"/>
    <dgm:cxn modelId="{C58743EC-BA40-447E-B625-AADE0BAA2E56}" type="presOf" srcId="{DEA9B4DD-60D8-4651-925D-07D2FF8517D4}" destId="{9D9E74E5-879C-481C-B501-CC3F143D6E29}" srcOrd="0" destOrd="0" presId="urn:microsoft.com/office/officeart/2005/8/layout/vList2"/>
    <dgm:cxn modelId="{3CE6FA97-397D-4EE3-B9FE-42CD8564B293}" type="presParOf" srcId="{9D9E74E5-879C-481C-B501-CC3F143D6E29}" destId="{03F8DD10-757E-429B-B774-4F7903E75C35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DEA9B4DD-60D8-4651-925D-07D2FF8517D4}" type="doc">
      <dgm:prSet loTypeId="urn:microsoft.com/office/officeart/2005/8/layout/vList2" loCatId="list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BAD7694E-B7A7-4131-996E-2697E7670F49}">
      <dgm:prSet/>
      <dgm:spPr/>
      <dgm:t>
        <a:bodyPr/>
        <a:lstStyle/>
        <a:p>
          <a:pPr rtl="0"/>
          <a:r>
            <a:rPr lang="en-US" b="1" dirty="0" smtClean="0"/>
            <a:t> </a:t>
          </a:r>
          <a:r>
            <a:rPr lang="en-US" b="1" dirty="0"/>
            <a:t>Hidden Text Field…</a:t>
          </a:r>
          <a:endParaRPr lang="en-US" dirty="0"/>
        </a:p>
      </dgm:t>
    </dgm:pt>
    <dgm:pt modelId="{B33D52CA-1960-4E19-BF83-2AC9F8E51F14}" type="parTrans" cxnId="{CAC37BAE-7737-43EA-8E58-0BF35069EB50}">
      <dgm:prSet/>
      <dgm:spPr/>
      <dgm:t>
        <a:bodyPr/>
        <a:lstStyle/>
        <a:p>
          <a:endParaRPr lang="en-US"/>
        </a:p>
      </dgm:t>
    </dgm:pt>
    <dgm:pt modelId="{7A7C3A6B-45F9-42B9-840C-8C3D62A5D39A}" type="sibTrans" cxnId="{CAC37BAE-7737-43EA-8E58-0BF35069EB50}">
      <dgm:prSet/>
      <dgm:spPr/>
      <dgm:t>
        <a:bodyPr/>
        <a:lstStyle/>
        <a:p>
          <a:endParaRPr lang="en-US"/>
        </a:p>
      </dgm:t>
    </dgm:pt>
    <dgm:pt modelId="{9D9E74E5-879C-481C-B501-CC3F143D6E29}" type="pres">
      <dgm:prSet presAssocID="{DEA9B4DD-60D8-4651-925D-07D2FF8517D4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03F8DD10-757E-429B-B774-4F7903E75C35}" type="pres">
      <dgm:prSet presAssocID="{BAD7694E-B7A7-4131-996E-2697E7670F49}" presName="parentText" presStyleLbl="node1" presStyleIdx="0" presStyleCnt="1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7D2FC46E-E57D-4ACB-8F5D-85AA318F7DF4}" type="presOf" srcId="{BAD7694E-B7A7-4131-996E-2697E7670F49}" destId="{03F8DD10-757E-429B-B774-4F7903E75C35}" srcOrd="0" destOrd="0" presId="urn:microsoft.com/office/officeart/2005/8/layout/vList2"/>
    <dgm:cxn modelId="{8FC1B8A5-9C28-42BC-ACD8-2922F07520CE}" type="presOf" srcId="{DEA9B4DD-60D8-4651-925D-07D2FF8517D4}" destId="{9D9E74E5-879C-481C-B501-CC3F143D6E29}" srcOrd="0" destOrd="0" presId="urn:microsoft.com/office/officeart/2005/8/layout/vList2"/>
    <dgm:cxn modelId="{CAC37BAE-7737-43EA-8E58-0BF35069EB50}" srcId="{DEA9B4DD-60D8-4651-925D-07D2FF8517D4}" destId="{BAD7694E-B7A7-4131-996E-2697E7670F49}" srcOrd="0" destOrd="0" parTransId="{B33D52CA-1960-4E19-BF83-2AC9F8E51F14}" sibTransId="{7A7C3A6B-45F9-42B9-840C-8C3D62A5D39A}"/>
    <dgm:cxn modelId="{C7B329AF-0710-434E-9601-DD40D30AC841}" type="presParOf" srcId="{9D9E74E5-879C-481C-B501-CC3F143D6E29}" destId="{03F8DD10-757E-429B-B774-4F7903E75C35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14C8E9D-8C2D-4496-843D-ECF1B97CA39B}">
      <dsp:nvSpPr>
        <dsp:cNvPr id="0" name=""/>
        <dsp:cNvSpPr/>
      </dsp:nvSpPr>
      <dsp:spPr>
        <a:xfrm>
          <a:off x="0" y="8887"/>
          <a:ext cx="8229600" cy="839474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lvl="0" algn="l" defTabSz="15557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500" b="1" kern="1200" dirty="0" smtClean="0"/>
            <a:t>HTML </a:t>
          </a:r>
          <a:r>
            <a:rPr lang="en-US" sz="3500" b="1" kern="1200" dirty="0"/>
            <a:t>FORMS</a:t>
          </a:r>
          <a:endParaRPr lang="en-US" sz="3500" kern="1200" dirty="0"/>
        </a:p>
      </dsp:txBody>
      <dsp:txXfrm>
        <a:off x="40980" y="49867"/>
        <a:ext cx="8147640" cy="75751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CFFC5B4-F135-48DB-A2D0-32AE94FD2723}">
      <dsp:nvSpPr>
        <dsp:cNvPr id="0" name=""/>
        <dsp:cNvSpPr/>
      </dsp:nvSpPr>
      <dsp:spPr>
        <a:xfrm>
          <a:off x="0" y="8887"/>
          <a:ext cx="8229600" cy="839474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lvl="0" algn="l" defTabSz="15557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500" b="1" kern="1200" dirty="0" smtClean="0"/>
            <a:t> </a:t>
          </a:r>
          <a:r>
            <a:rPr lang="en-US" sz="3500" b="1" kern="1200" dirty="0"/>
            <a:t>HTML FORM ATTRIBUTES</a:t>
          </a:r>
          <a:endParaRPr lang="en-US" sz="3500" kern="1200" dirty="0"/>
        </a:p>
      </dsp:txBody>
      <dsp:txXfrm>
        <a:off x="40980" y="49867"/>
        <a:ext cx="8147640" cy="75751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CFFC5B4-F135-48DB-A2D0-32AE94FD2723}">
      <dsp:nvSpPr>
        <dsp:cNvPr id="0" name=""/>
        <dsp:cNvSpPr/>
      </dsp:nvSpPr>
      <dsp:spPr>
        <a:xfrm>
          <a:off x="0" y="8887"/>
          <a:ext cx="8229600" cy="839474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lvl="0" algn="l" defTabSz="15557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500" b="1" kern="1200" dirty="0"/>
            <a:t>1. HTML FORM ATTRIBUTES</a:t>
          </a:r>
          <a:endParaRPr lang="en-US" sz="3500" kern="1200" dirty="0"/>
        </a:p>
      </dsp:txBody>
      <dsp:txXfrm>
        <a:off x="40980" y="49867"/>
        <a:ext cx="8147640" cy="757514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CFFC5B4-F135-48DB-A2D0-32AE94FD2723}">
      <dsp:nvSpPr>
        <dsp:cNvPr id="0" name=""/>
        <dsp:cNvSpPr/>
      </dsp:nvSpPr>
      <dsp:spPr>
        <a:xfrm>
          <a:off x="0" y="8887"/>
          <a:ext cx="8229600" cy="839474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lvl="0" algn="l" defTabSz="15557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500" b="1" kern="1200" dirty="0"/>
            <a:t>1. HTML </a:t>
          </a:r>
          <a:r>
            <a:rPr lang="en-US" sz="3500" b="1" kern="1200" dirty="0" smtClean="0"/>
            <a:t>FORMS ATTRIBUTE</a:t>
          </a:r>
          <a:endParaRPr lang="en-US" sz="3500" kern="1200" dirty="0"/>
        </a:p>
      </dsp:txBody>
      <dsp:txXfrm>
        <a:off x="40980" y="49867"/>
        <a:ext cx="8147640" cy="757514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CFFC5B4-F135-48DB-A2D0-32AE94FD2723}">
      <dsp:nvSpPr>
        <dsp:cNvPr id="0" name=""/>
        <dsp:cNvSpPr/>
      </dsp:nvSpPr>
      <dsp:spPr>
        <a:xfrm>
          <a:off x="0" y="8887"/>
          <a:ext cx="8229600" cy="839474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lvl="0" algn="l" defTabSz="15557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500" b="1" kern="1200" dirty="0"/>
            <a:t>1. HTML FORM METHOD GET VS POST</a:t>
          </a:r>
          <a:endParaRPr lang="en-US" sz="3500" kern="1200" dirty="0"/>
        </a:p>
      </dsp:txBody>
      <dsp:txXfrm>
        <a:off x="40980" y="49867"/>
        <a:ext cx="8147640" cy="757514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CFFC5B4-F135-48DB-A2D0-32AE94FD2723}">
      <dsp:nvSpPr>
        <dsp:cNvPr id="0" name=""/>
        <dsp:cNvSpPr/>
      </dsp:nvSpPr>
      <dsp:spPr>
        <a:xfrm>
          <a:off x="0" y="8887"/>
          <a:ext cx="8229600" cy="839474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lvl="0" algn="l" defTabSz="15557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500" b="1" kern="1200" dirty="0"/>
            <a:t>1. HTML FORM METHOD GET VS POST</a:t>
          </a:r>
          <a:endParaRPr lang="en-US" sz="3500" kern="1200" dirty="0"/>
        </a:p>
      </dsp:txBody>
      <dsp:txXfrm>
        <a:off x="40980" y="49867"/>
        <a:ext cx="8147640" cy="757514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3F8DD10-757E-429B-B774-4F7903E75C35}">
      <dsp:nvSpPr>
        <dsp:cNvPr id="0" name=""/>
        <dsp:cNvSpPr/>
      </dsp:nvSpPr>
      <dsp:spPr>
        <a:xfrm>
          <a:off x="0" y="8887"/>
          <a:ext cx="8229600" cy="839474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lvl="0" algn="l" defTabSz="15557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500" b="1" kern="1200" dirty="0" smtClean="0"/>
            <a:t> </a:t>
          </a:r>
          <a:r>
            <a:rPr lang="en-US" sz="3500" b="1" kern="1200" dirty="0"/>
            <a:t>Hidden Text Field…</a:t>
          </a:r>
          <a:endParaRPr lang="en-US" sz="3500" kern="1200" dirty="0"/>
        </a:p>
      </dsp:txBody>
      <dsp:txXfrm>
        <a:off x="40980" y="49867"/>
        <a:ext cx="8147640" cy="757514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3F8DD10-757E-429B-B774-4F7903E75C35}">
      <dsp:nvSpPr>
        <dsp:cNvPr id="0" name=""/>
        <dsp:cNvSpPr/>
      </dsp:nvSpPr>
      <dsp:spPr>
        <a:xfrm>
          <a:off x="0" y="8887"/>
          <a:ext cx="8229600" cy="839474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lvl="0" algn="l" defTabSz="15557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500" b="1" kern="1200" dirty="0" smtClean="0"/>
            <a:t> </a:t>
          </a:r>
          <a:r>
            <a:rPr lang="en-US" sz="3500" b="1" kern="1200" dirty="0"/>
            <a:t>Hidden Text Field…</a:t>
          </a:r>
          <a:endParaRPr lang="en-US" sz="3500" kern="1200" dirty="0"/>
        </a:p>
      </dsp:txBody>
      <dsp:txXfrm>
        <a:off x="40980" y="49867"/>
        <a:ext cx="8147640" cy="75751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1594485"/>
            <a:ext cx="7772400" cy="10801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rgbClr val="F45E6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rgbClr val="5E686C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10/7/2024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F45E6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5E686C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10/7/2024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F45E6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10/7/2024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  <a:solidFill>
            <a:srgbClr val="F45E6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F45E6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10/7/2024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10/7/2024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5045700"/>
            <a:ext cx="9144000" cy="98425"/>
          </a:xfrm>
          <a:custGeom>
            <a:avLst/>
            <a:gdLst/>
            <a:ahLst/>
            <a:cxnLst/>
            <a:rect l="l" t="t" r="r" b="b"/>
            <a:pathLst>
              <a:path w="9144000" h="98425">
                <a:moveTo>
                  <a:pt x="9143999" y="97799"/>
                </a:moveTo>
                <a:lnTo>
                  <a:pt x="0" y="977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97799"/>
                </a:lnTo>
                <a:close/>
              </a:path>
            </a:pathLst>
          </a:custGeom>
          <a:solidFill>
            <a:srgbClr val="F45E6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84725" y="448119"/>
            <a:ext cx="6996430" cy="5130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rgbClr val="F45E6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84725" y="1176350"/>
            <a:ext cx="8364220" cy="36055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rgbClr val="5E686C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10/7/2024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diagramLayout" Target="../diagrams/layout2.xml"/><Relationship Id="rId7" Type="http://schemas.openxmlformats.org/officeDocument/2006/relationships/image" Target="../media/image2.png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diagramLayout" Target="../diagrams/layout3.xml"/><Relationship Id="rId7" Type="http://schemas.openxmlformats.org/officeDocument/2006/relationships/image" Target="../media/image4.png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7" Type="http://schemas.openxmlformats.org/officeDocument/2006/relationships/image" Target="../media/image6.png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7" Type="http://schemas.openxmlformats.org/officeDocument/2006/relationships/image" Target="../media/image7.png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7" Type="http://schemas.openxmlformats.org/officeDocument/2006/relationships/image" Target="../media/image11.png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7" Type="http://schemas.openxmlformats.org/officeDocument/2006/relationships/image" Target="../media/image12.png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749050" y="748799"/>
            <a:ext cx="3646170" cy="3646170"/>
          </a:xfrm>
          <a:custGeom>
            <a:avLst/>
            <a:gdLst/>
            <a:ahLst/>
            <a:cxnLst/>
            <a:rect l="l" t="t" r="r" b="b"/>
            <a:pathLst>
              <a:path w="3646170" h="3646170">
                <a:moveTo>
                  <a:pt x="3645899" y="3645899"/>
                </a:moveTo>
                <a:lnTo>
                  <a:pt x="0" y="3645899"/>
                </a:lnTo>
                <a:lnTo>
                  <a:pt x="0" y="0"/>
                </a:lnTo>
                <a:lnTo>
                  <a:pt x="3645899" y="0"/>
                </a:lnTo>
                <a:lnTo>
                  <a:pt x="3645899" y="3645899"/>
                </a:lnTo>
                <a:close/>
              </a:path>
            </a:pathLst>
          </a:custGeom>
          <a:solidFill>
            <a:srgbClr val="F45E6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992950" y="992699"/>
            <a:ext cx="3158490" cy="3158490"/>
          </a:xfrm>
          <a:prstGeom prst="rect">
            <a:avLst/>
          </a:prstGeom>
          <a:solidFill>
            <a:srgbClr val="F45E61"/>
          </a:solidFill>
          <a:ln w="28574">
            <a:solidFill>
              <a:srgbClr val="FFFFFF"/>
            </a:solidFill>
          </a:ln>
        </p:spPr>
        <p:txBody>
          <a:bodyPr vert="horz" wrap="square" lIns="0" tIns="2311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820"/>
              </a:spcBef>
            </a:pPr>
            <a:endParaRPr/>
          </a:p>
          <a:p>
            <a:pPr marL="274955" marR="266700" indent="-635" algn="ctr">
              <a:lnSpc>
                <a:spcPts val="3829"/>
              </a:lnSpc>
              <a:spcBef>
                <a:spcPts val="5"/>
              </a:spcBef>
            </a:pPr>
            <a:r>
              <a:rPr spc="-55" dirty="0">
                <a:solidFill>
                  <a:srgbClr val="FFFFFF"/>
                </a:solidFill>
                <a:latin typeface="Tahoma"/>
                <a:cs typeface="Tahoma"/>
              </a:rPr>
              <a:t>HTML</a:t>
            </a:r>
            <a:r>
              <a:rPr spc="-28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pc="-10" dirty="0">
                <a:solidFill>
                  <a:srgbClr val="FFFFFF"/>
                </a:solidFill>
                <a:latin typeface="Tahoma"/>
                <a:cs typeface="Tahoma"/>
              </a:rPr>
              <a:t>Forms </a:t>
            </a:r>
            <a:r>
              <a:rPr spc="-225" dirty="0">
                <a:solidFill>
                  <a:srgbClr val="FFFFFF"/>
                </a:solidFill>
                <a:latin typeface="Tahoma"/>
                <a:cs typeface="Tahoma"/>
              </a:rPr>
              <a:t>and</a:t>
            </a:r>
            <a:r>
              <a:rPr spc="-30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pc="-180" dirty="0">
                <a:solidFill>
                  <a:srgbClr val="FFFFFF"/>
                </a:solidFill>
                <a:latin typeface="Tahoma"/>
                <a:cs typeface="Tahoma"/>
              </a:rPr>
              <a:t>Javascript </a:t>
            </a:r>
            <a:r>
              <a:rPr spc="-50" dirty="0">
                <a:solidFill>
                  <a:srgbClr val="FFFFFF"/>
                </a:solidFill>
                <a:latin typeface="Tahoma"/>
                <a:cs typeface="Tahoma"/>
              </a:rPr>
              <a:t>Validation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Diagram 6"/>
          <p:cNvGraphicFramePr/>
          <p:nvPr>
            <p:extLst>
              <p:ext uri="{D42A27DB-BD31-4B8C-83A1-F6EECF244321}">
                <p14:modId xmlns:p14="http://schemas.microsoft.com/office/powerpoint/2010/main" val="1433904931"/>
              </p:ext>
            </p:extLst>
          </p:nvPr>
        </p:nvGraphicFramePr>
        <p:xfrm>
          <a:off x="457200" y="205979"/>
          <a:ext cx="8229600" cy="857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285750" indent="-285750">
              <a:buFont typeface="Wingdings" pitchFamily="2" charset="2"/>
              <a:buChar char="§"/>
            </a:pPr>
            <a:r>
              <a:rPr lang="en-AU" sz="2000" b="1" dirty="0">
                <a:latin typeface="Calibri" pitchFamily="34" charset="0"/>
                <a:cs typeface="Calibri" pitchFamily="34" charset="0"/>
              </a:rPr>
              <a:t>Forms provide a means of </a:t>
            </a:r>
            <a:r>
              <a:rPr lang="en-AU" sz="2000" b="1" dirty="0">
                <a:solidFill>
                  <a:srgbClr val="FF0000"/>
                </a:solidFill>
                <a:latin typeface="Calibri" pitchFamily="34" charset="0"/>
                <a:cs typeface="Calibri" pitchFamily="34" charset="0"/>
              </a:rPr>
              <a:t>submitting</a:t>
            </a:r>
            <a:r>
              <a:rPr lang="en-AU" sz="2000" b="1" dirty="0">
                <a:latin typeface="Calibri" pitchFamily="34" charset="0"/>
                <a:cs typeface="Calibri" pitchFamily="34" charset="0"/>
              </a:rPr>
              <a:t> information from the </a:t>
            </a:r>
            <a:r>
              <a:rPr lang="en-AU" sz="2000" b="1" dirty="0">
                <a:solidFill>
                  <a:srgbClr val="FF0000"/>
                </a:solidFill>
                <a:latin typeface="Calibri" pitchFamily="34" charset="0"/>
                <a:cs typeface="Calibri" pitchFamily="34" charset="0"/>
              </a:rPr>
              <a:t>client to the </a:t>
            </a:r>
            <a:r>
              <a:rPr lang="en-AU" sz="2000" b="1" dirty="0" smtClean="0">
                <a:solidFill>
                  <a:srgbClr val="FF0000"/>
                </a:solidFill>
                <a:latin typeface="Calibri" pitchFamily="34" charset="0"/>
                <a:cs typeface="Calibri" pitchFamily="34" charset="0"/>
              </a:rPr>
              <a:t>server</a:t>
            </a:r>
          </a:p>
          <a:p>
            <a:pPr marL="285750" indent="-285750">
              <a:buFont typeface="Wingdings" pitchFamily="2" charset="2"/>
              <a:buChar char="§"/>
            </a:pPr>
            <a:endParaRPr lang="en-AU" sz="2000" b="1" dirty="0">
              <a:solidFill>
                <a:srgbClr val="FF0000"/>
              </a:solidFill>
              <a:latin typeface="Calibri" pitchFamily="34" charset="0"/>
              <a:cs typeface="Calibri" pitchFamily="34" charset="0"/>
            </a:endParaRPr>
          </a:p>
          <a:p>
            <a:pPr marL="285750" indent="-285750">
              <a:buFont typeface="Wingdings" pitchFamily="2" charset="2"/>
              <a:buChar char="§"/>
            </a:pPr>
            <a:r>
              <a:rPr lang="en-US" sz="2000" b="1" dirty="0" smtClean="0">
                <a:latin typeface="Calibri" pitchFamily="34" charset="0"/>
                <a:cs typeface="Calibri" pitchFamily="34" charset="0"/>
              </a:rPr>
              <a:t>HTML </a:t>
            </a:r>
            <a:r>
              <a:rPr lang="en-US" sz="2000" b="1" dirty="0">
                <a:latin typeface="Calibri" pitchFamily="34" charset="0"/>
                <a:cs typeface="Calibri" pitchFamily="34" charset="0"/>
              </a:rPr>
              <a:t>supports tags for </a:t>
            </a:r>
            <a:r>
              <a:rPr lang="en-US" sz="2000" b="1" dirty="0">
                <a:solidFill>
                  <a:srgbClr val="FF0000"/>
                </a:solidFill>
                <a:latin typeface="Calibri" pitchFamily="34" charset="0"/>
                <a:cs typeface="Calibri" pitchFamily="34" charset="0"/>
              </a:rPr>
              <a:t>creating forms</a:t>
            </a:r>
            <a:r>
              <a:rPr lang="en-US" sz="2000" b="1" dirty="0">
                <a:latin typeface="Calibri" pitchFamily="34" charset="0"/>
                <a:cs typeface="Calibri" pitchFamily="34" charset="0"/>
              </a:rPr>
              <a:t>, however, it </a:t>
            </a:r>
            <a:r>
              <a:rPr lang="en-US" sz="2000" b="1" dirty="0">
                <a:solidFill>
                  <a:srgbClr val="FF0000"/>
                </a:solidFill>
                <a:latin typeface="Calibri" pitchFamily="34" charset="0"/>
                <a:cs typeface="Calibri" pitchFamily="34" charset="0"/>
              </a:rPr>
              <a:t>does not </a:t>
            </a:r>
            <a:r>
              <a:rPr lang="en-US" sz="2000" b="1" dirty="0">
                <a:latin typeface="Calibri" pitchFamily="34" charset="0"/>
                <a:cs typeface="Calibri" pitchFamily="34" charset="0"/>
              </a:rPr>
              <a:t>process the </a:t>
            </a:r>
            <a:r>
              <a:rPr lang="en-US" sz="2000" b="1" dirty="0" smtClean="0">
                <a:latin typeface="Calibri" pitchFamily="34" charset="0"/>
                <a:cs typeface="Calibri" pitchFamily="34" charset="0"/>
              </a:rPr>
              <a:t>information</a:t>
            </a:r>
          </a:p>
          <a:p>
            <a:pPr marL="285750" indent="-285750">
              <a:buFont typeface="Wingdings" pitchFamily="2" charset="2"/>
              <a:buChar char="§"/>
            </a:pPr>
            <a:endParaRPr lang="en-US" sz="2000" b="1" dirty="0">
              <a:latin typeface="Calibri" pitchFamily="34" charset="0"/>
              <a:cs typeface="Calibri" pitchFamily="34" charset="0"/>
            </a:endParaRPr>
          </a:p>
          <a:p>
            <a:pPr marL="285750" indent="-285750">
              <a:buFont typeface="Wingdings" pitchFamily="2" charset="2"/>
              <a:buChar char="§"/>
            </a:pPr>
            <a:r>
              <a:rPr lang="en-US" sz="2000" b="1" dirty="0" smtClean="0">
                <a:latin typeface="Calibri" pitchFamily="34" charset="0"/>
                <a:cs typeface="Calibri" pitchFamily="34" charset="0"/>
              </a:rPr>
              <a:t>Use </a:t>
            </a:r>
            <a:r>
              <a:rPr lang="en-US" sz="2000" b="1" dirty="0">
                <a:solidFill>
                  <a:srgbClr val="FF0000"/>
                </a:solidFill>
                <a:latin typeface="Calibri" pitchFamily="34" charset="0"/>
                <a:cs typeface="Calibri" pitchFamily="34" charset="0"/>
              </a:rPr>
              <a:t>server-side script </a:t>
            </a:r>
            <a:r>
              <a:rPr lang="en-US" sz="2000" b="1" dirty="0">
                <a:latin typeface="Calibri" pitchFamily="34" charset="0"/>
                <a:cs typeface="Calibri" pitchFamily="34" charset="0"/>
              </a:rPr>
              <a:t>to process form </a:t>
            </a:r>
            <a:r>
              <a:rPr lang="en-US" sz="2000" b="1" dirty="0" smtClean="0">
                <a:latin typeface="Calibri" pitchFamily="34" charset="0"/>
                <a:cs typeface="Calibri" pitchFamily="34" charset="0"/>
              </a:rPr>
              <a:t>information</a:t>
            </a:r>
          </a:p>
          <a:p>
            <a:pPr marL="285750" indent="-285750">
              <a:buFont typeface="Wingdings" pitchFamily="2" charset="2"/>
              <a:buChar char="§"/>
            </a:pPr>
            <a:endParaRPr lang="en-US" sz="2000" b="1" dirty="0">
              <a:latin typeface="Calibri" pitchFamily="34" charset="0"/>
              <a:cs typeface="Calibri" pitchFamily="34" charset="0"/>
            </a:endParaRPr>
          </a:p>
          <a:p>
            <a:pPr marL="285750" indent="-285750">
              <a:buFont typeface="Wingdings" pitchFamily="2" charset="2"/>
              <a:buChar char="§"/>
            </a:pPr>
            <a:r>
              <a:rPr lang="en-US" sz="2000" b="1" dirty="0" smtClean="0">
                <a:latin typeface="Calibri" pitchFamily="34" charset="0"/>
                <a:cs typeface="Calibri" pitchFamily="34" charset="0"/>
              </a:rPr>
              <a:t>Server-side </a:t>
            </a:r>
            <a:r>
              <a:rPr lang="en-US" sz="2000" b="1" dirty="0">
                <a:latin typeface="Calibri" pitchFamily="34" charset="0"/>
                <a:cs typeface="Calibri" pitchFamily="34" charset="0"/>
              </a:rPr>
              <a:t>script runs on the </a:t>
            </a:r>
            <a:r>
              <a:rPr lang="en-US" sz="2000" b="1" dirty="0">
                <a:solidFill>
                  <a:srgbClr val="FF0000"/>
                </a:solidFill>
                <a:latin typeface="Calibri" pitchFamily="34" charset="0"/>
                <a:cs typeface="Calibri" pitchFamily="34" charset="0"/>
              </a:rPr>
              <a:t>Web server </a:t>
            </a:r>
            <a:r>
              <a:rPr lang="en-US" sz="2000" b="1" dirty="0">
                <a:latin typeface="Calibri" pitchFamily="34" charset="0"/>
                <a:cs typeface="Calibri" pitchFamily="34" charset="0"/>
              </a:rPr>
              <a:t>and receives data from a form and uses it to perform </a:t>
            </a:r>
            <a:r>
              <a:rPr lang="en-US" sz="2000" b="1" dirty="0">
                <a:solidFill>
                  <a:srgbClr val="FF0000"/>
                </a:solidFill>
                <a:latin typeface="Calibri" pitchFamily="34" charset="0"/>
                <a:cs typeface="Calibri" pitchFamily="34" charset="0"/>
              </a:rPr>
              <a:t>a set of tasks</a:t>
            </a:r>
          </a:p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6553200" y="4767263"/>
            <a:ext cx="2133600" cy="276999"/>
          </a:xfrm>
          <a:prstGeom prst="rect">
            <a:avLst/>
          </a:prstGeom>
        </p:spPr>
        <p:txBody>
          <a:bodyPr/>
          <a:lstStyle/>
          <a:p>
            <a:fld id="{EDC5919B-A997-476E-B3C7-F75027308DB2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30234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xmlns="" id="{DDA155F2-6A55-4303-9DD4-F76317ACD59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45780" y="1123950"/>
            <a:ext cx="8229600" cy="2172074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79257B63-705A-451B-82AF-990C0FDF1FAA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6553200" y="4767263"/>
            <a:ext cx="2133600" cy="276999"/>
          </a:xfrm>
          <a:prstGeom prst="rect">
            <a:avLst/>
          </a:prstGeom>
        </p:spPr>
        <p:txBody>
          <a:bodyPr/>
          <a:lstStyle/>
          <a:p>
            <a:fld id="{EDC5919B-A997-476E-B3C7-F75027308DB2}" type="slidenum">
              <a:rPr lang="en-US" smtClean="0"/>
              <a:pPr/>
              <a:t>3</a:t>
            </a:fld>
            <a:endParaRPr lang="en-US"/>
          </a:p>
        </p:txBody>
      </p:sp>
      <p:grpSp>
        <p:nvGrpSpPr>
          <p:cNvPr id="7" name="Group 6"/>
          <p:cNvGrpSpPr/>
          <p:nvPr/>
        </p:nvGrpSpPr>
        <p:grpSpPr>
          <a:xfrm>
            <a:off x="304800" y="133350"/>
            <a:ext cx="8229600" cy="839474"/>
            <a:chOff x="0" y="8887"/>
            <a:chExt cx="8229600" cy="839474"/>
          </a:xfrm>
        </p:grpSpPr>
        <p:sp>
          <p:nvSpPr>
            <p:cNvPr id="8" name="Rounded Rectangle 7"/>
            <p:cNvSpPr/>
            <p:nvPr/>
          </p:nvSpPr>
          <p:spPr>
            <a:xfrm>
              <a:off x="0" y="8887"/>
              <a:ext cx="8229600" cy="839474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9" name="Rounded Rectangle 4"/>
            <p:cNvSpPr/>
            <p:nvPr/>
          </p:nvSpPr>
          <p:spPr>
            <a:xfrm>
              <a:off x="40980" y="49867"/>
              <a:ext cx="8147640" cy="757514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33350" tIns="133350" rIns="133350" bIns="133350" numCol="1" spcCol="1270" anchor="ctr" anchorCtr="0">
              <a:noAutofit/>
            </a:bodyPr>
            <a:lstStyle/>
            <a:p>
              <a:pPr lvl="0" algn="l" defTabSz="1555750" rtl="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3500" b="1" kern="1200" dirty="0" smtClean="0"/>
                <a:t>HTML </a:t>
              </a:r>
              <a:r>
                <a:rPr lang="en-US" sz="3500" b="1" kern="1200" dirty="0"/>
                <a:t>FORMS</a:t>
              </a:r>
              <a:endParaRPr lang="en-US" sz="3500" kern="1200" dirty="0"/>
            </a:p>
          </p:txBody>
        </p:sp>
      </p:grpSp>
    </p:spTree>
    <p:extLst>
      <p:ext uri="{BB962C8B-B14F-4D97-AF65-F5344CB8AC3E}">
        <p14:creationId xmlns:p14="http://schemas.microsoft.com/office/powerpoint/2010/main" val="23249940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384725" y="1216355"/>
            <a:ext cx="7987665" cy="274280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4599"/>
              </a:lnSpc>
              <a:spcBef>
                <a:spcPts val="1575"/>
              </a:spcBef>
            </a:pPr>
            <a:r>
              <a:rPr sz="1800" dirty="0" smtClean="0">
                <a:solidFill>
                  <a:srgbClr val="5E686C"/>
                </a:solidFill>
                <a:latin typeface="Tahoma"/>
                <a:cs typeface="Tahoma"/>
              </a:rPr>
              <a:t>Form</a:t>
            </a:r>
            <a:r>
              <a:rPr sz="1800" spc="-140" dirty="0" smtClean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elements</a:t>
            </a:r>
            <a:r>
              <a:rPr sz="1800" spc="-14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are</a:t>
            </a:r>
            <a:r>
              <a:rPr sz="1800" spc="-14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different</a:t>
            </a:r>
            <a:r>
              <a:rPr sz="1800" spc="-13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types</a:t>
            </a:r>
            <a:r>
              <a:rPr sz="1800" spc="-14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of</a:t>
            </a:r>
            <a:r>
              <a:rPr sz="1800" spc="-14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input</a:t>
            </a:r>
            <a:r>
              <a:rPr sz="1800" spc="-14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25" dirty="0">
                <a:solidFill>
                  <a:srgbClr val="5E686C"/>
                </a:solidFill>
                <a:latin typeface="Tahoma"/>
                <a:cs typeface="Tahoma"/>
              </a:rPr>
              <a:t>elements,</a:t>
            </a:r>
            <a:r>
              <a:rPr sz="1800" spc="-13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like</a:t>
            </a:r>
            <a:r>
              <a:rPr sz="1800" spc="-14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text</a:t>
            </a:r>
            <a:r>
              <a:rPr sz="1800" spc="-14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20" dirty="0">
                <a:solidFill>
                  <a:srgbClr val="5E686C"/>
                </a:solidFill>
                <a:latin typeface="Tahoma"/>
                <a:cs typeface="Tahoma"/>
              </a:rPr>
              <a:t>fields,</a:t>
            </a:r>
            <a:r>
              <a:rPr sz="1800" spc="-14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5E686C"/>
                </a:solidFill>
                <a:latin typeface="Tahoma"/>
                <a:cs typeface="Tahoma"/>
              </a:rPr>
              <a:t>checkboxes,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radio</a:t>
            </a:r>
            <a:r>
              <a:rPr sz="1800" spc="-18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5E686C"/>
                </a:solidFill>
                <a:latin typeface="Tahoma"/>
                <a:cs typeface="Tahoma"/>
              </a:rPr>
              <a:t>buttons,</a:t>
            </a:r>
            <a:r>
              <a:rPr sz="1800" spc="-18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submit</a:t>
            </a:r>
            <a:r>
              <a:rPr sz="1800" spc="-18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5E686C"/>
                </a:solidFill>
                <a:latin typeface="Tahoma"/>
                <a:cs typeface="Tahoma"/>
              </a:rPr>
              <a:t>buttons,</a:t>
            </a:r>
            <a:r>
              <a:rPr sz="1800" spc="-18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25" dirty="0">
                <a:solidFill>
                  <a:srgbClr val="5E686C"/>
                </a:solidFill>
                <a:latin typeface="Tahoma"/>
                <a:cs typeface="Tahoma"/>
              </a:rPr>
              <a:t>and</a:t>
            </a:r>
            <a:r>
              <a:rPr sz="1800" spc="-18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5E686C"/>
                </a:solidFill>
                <a:latin typeface="Tahoma"/>
                <a:cs typeface="Tahoma"/>
              </a:rPr>
              <a:t>more.</a:t>
            </a:r>
            <a:endParaRPr sz="180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630"/>
              </a:spcBef>
            </a:pPr>
            <a:endParaRPr sz="1800" dirty="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1400" spc="-10" dirty="0">
                <a:solidFill>
                  <a:srgbClr val="0B5394"/>
                </a:solidFill>
                <a:latin typeface="Courier New"/>
                <a:cs typeface="Courier New"/>
              </a:rPr>
              <a:t>&lt;form&gt;</a:t>
            </a:r>
            <a:endParaRPr sz="1400" dirty="0">
              <a:latin typeface="Courier New"/>
              <a:cs typeface="Courier New"/>
            </a:endParaRPr>
          </a:p>
          <a:p>
            <a:pPr marL="226060">
              <a:lnSpc>
                <a:spcPct val="100000"/>
              </a:lnSpc>
              <a:spcBef>
                <a:spcPts val="270"/>
              </a:spcBef>
            </a:pPr>
            <a:r>
              <a:rPr sz="1400" spc="-50" dirty="0">
                <a:solidFill>
                  <a:srgbClr val="0B5394"/>
                </a:solidFill>
                <a:latin typeface="Courier New"/>
                <a:cs typeface="Courier New"/>
              </a:rPr>
              <a:t>.</a:t>
            </a:r>
            <a:endParaRPr sz="1400" dirty="0">
              <a:latin typeface="Courier New"/>
              <a:cs typeface="Courier New"/>
            </a:endParaRPr>
          </a:p>
          <a:p>
            <a:pPr marL="226060">
              <a:lnSpc>
                <a:spcPct val="100000"/>
              </a:lnSpc>
              <a:spcBef>
                <a:spcPts val="270"/>
              </a:spcBef>
            </a:pPr>
            <a:r>
              <a:rPr sz="1400" spc="-50" dirty="0">
                <a:solidFill>
                  <a:srgbClr val="0B5394"/>
                </a:solidFill>
                <a:latin typeface="Courier New"/>
                <a:cs typeface="Courier New"/>
              </a:rPr>
              <a:t>.</a:t>
            </a:r>
            <a:endParaRPr sz="1400" dirty="0">
              <a:latin typeface="Courier New"/>
              <a:cs typeface="Courier New"/>
            </a:endParaRPr>
          </a:p>
          <a:p>
            <a:pPr marL="220979">
              <a:lnSpc>
                <a:spcPct val="100000"/>
              </a:lnSpc>
              <a:spcBef>
                <a:spcPts val="270"/>
              </a:spcBef>
            </a:pPr>
            <a:r>
              <a:rPr sz="1400" i="1" dirty="0">
                <a:solidFill>
                  <a:srgbClr val="0B5394"/>
                </a:solidFill>
                <a:latin typeface="Trebuchet MS"/>
                <a:cs typeface="Trebuchet MS"/>
              </a:rPr>
              <a:t>form</a:t>
            </a:r>
            <a:r>
              <a:rPr sz="1400" i="1" spc="85" dirty="0">
                <a:solidFill>
                  <a:srgbClr val="0B5394"/>
                </a:solidFill>
                <a:latin typeface="Trebuchet MS"/>
                <a:cs typeface="Trebuchet MS"/>
              </a:rPr>
              <a:t>  </a:t>
            </a:r>
            <a:r>
              <a:rPr sz="1400" i="1" spc="75" dirty="0">
                <a:solidFill>
                  <a:srgbClr val="0B5394"/>
                </a:solidFill>
                <a:latin typeface="Trebuchet MS"/>
                <a:cs typeface="Trebuchet MS"/>
              </a:rPr>
              <a:t>elements</a:t>
            </a:r>
            <a:endParaRPr sz="1400" dirty="0">
              <a:latin typeface="Trebuchet MS"/>
              <a:cs typeface="Trebuchet MS"/>
            </a:endParaRPr>
          </a:p>
          <a:p>
            <a:pPr marL="226060">
              <a:lnSpc>
                <a:spcPct val="100000"/>
              </a:lnSpc>
              <a:spcBef>
                <a:spcPts val="270"/>
              </a:spcBef>
            </a:pPr>
            <a:r>
              <a:rPr sz="1400" spc="-50" dirty="0">
                <a:solidFill>
                  <a:srgbClr val="0B5394"/>
                </a:solidFill>
                <a:latin typeface="Courier New"/>
                <a:cs typeface="Courier New"/>
              </a:rPr>
              <a:t>.</a:t>
            </a:r>
            <a:endParaRPr sz="1400" dirty="0">
              <a:latin typeface="Courier New"/>
              <a:cs typeface="Courier New"/>
            </a:endParaRPr>
          </a:p>
          <a:p>
            <a:pPr marL="226060">
              <a:lnSpc>
                <a:spcPct val="100000"/>
              </a:lnSpc>
              <a:spcBef>
                <a:spcPts val="270"/>
              </a:spcBef>
            </a:pPr>
            <a:r>
              <a:rPr sz="1400" spc="-50" dirty="0">
                <a:solidFill>
                  <a:srgbClr val="0B5394"/>
                </a:solidFill>
                <a:latin typeface="Courier New"/>
                <a:cs typeface="Courier New"/>
              </a:rPr>
              <a:t>.</a:t>
            </a:r>
            <a:endParaRPr sz="1400" dirty="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270"/>
              </a:spcBef>
            </a:pPr>
            <a:r>
              <a:rPr sz="1400" spc="-10" dirty="0">
                <a:solidFill>
                  <a:srgbClr val="0B5394"/>
                </a:solidFill>
                <a:latin typeface="Courier New"/>
                <a:cs typeface="Courier New"/>
              </a:rPr>
              <a:t>&lt;/form&gt;</a:t>
            </a:r>
            <a:endParaRPr sz="1400" dirty="0">
              <a:latin typeface="Courier New"/>
              <a:cs typeface="Courier New"/>
            </a:endParaRPr>
          </a:p>
        </p:txBody>
      </p:sp>
      <p:grpSp>
        <p:nvGrpSpPr>
          <p:cNvPr id="5" name="Group 4"/>
          <p:cNvGrpSpPr/>
          <p:nvPr/>
        </p:nvGrpSpPr>
        <p:grpSpPr>
          <a:xfrm>
            <a:off x="137842" y="19809"/>
            <a:ext cx="8229600" cy="839474"/>
            <a:chOff x="0" y="8887"/>
            <a:chExt cx="8229600" cy="839474"/>
          </a:xfrm>
        </p:grpSpPr>
        <p:sp>
          <p:nvSpPr>
            <p:cNvPr id="6" name="Rounded Rectangle 5"/>
            <p:cNvSpPr/>
            <p:nvPr/>
          </p:nvSpPr>
          <p:spPr>
            <a:xfrm>
              <a:off x="0" y="8887"/>
              <a:ext cx="8229600" cy="839474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7" name="Rounded Rectangle 4"/>
            <p:cNvSpPr/>
            <p:nvPr/>
          </p:nvSpPr>
          <p:spPr>
            <a:xfrm>
              <a:off x="40980" y="49867"/>
              <a:ext cx="8147640" cy="757514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33350" tIns="133350" rIns="133350" bIns="133350" numCol="1" spcCol="1270" anchor="ctr" anchorCtr="0">
              <a:noAutofit/>
            </a:bodyPr>
            <a:lstStyle/>
            <a:p>
              <a:pPr lvl="0" algn="l" defTabSz="1555750" rtl="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3500" b="1" kern="1200" dirty="0" smtClean="0"/>
                <a:t>HTML </a:t>
              </a:r>
              <a:r>
                <a:rPr lang="en-US" sz="3500" b="1" kern="1200" dirty="0"/>
                <a:t>FORMS…</a:t>
              </a:r>
              <a:endParaRPr lang="en-US" sz="3500" kern="1200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Diagram 6"/>
          <p:cNvGraphicFramePr/>
          <p:nvPr>
            <p:extLst>
              <p:ext uri="{D42A27DB-BD31-4B8C-83A1-F6EECF244321}">
                <p14:modId xmlns:p14="http://schemas.microsoft.com/office/powerpoint/2010/main" val="2863631136"/>
              </p:ext>
            </p:extLst>
          </p:nvPr>
        </p:nvGraphicFramePr>
        <p:xfrm>
          <a:off x="457200" y="205979"/>
          <a:ext cx="8229600" cy="857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AutoNum type="arabicPeriod"/>
            </a:pPr>
            <a:r>
              <a:rPr lang="en-AU" sz="3000" b="1" dirty="0">
                <a:solidFill>
                  <a:srgbClr val="FF0000"/>
                </a:solidFill>
                <a:latin typeface="Calibri" pitchFamily="34" charset="0"/>
                <a:cs typeface="Calibri" pitchFamily="34" charset="0"/>
              </a:rPr>
              <a:t>A</a:t>
            </a:r>
            <a:r>
              <a:rPr lang="en-AU" sz="3000" b="1" dirty="0" smtClean="0">
                <a:solidFill>
                  <a:srgbClr val="FF0000"/>
                </a:solidFill>
                <a:latin typeface="Calibri" pitchFamily="34" charset="0"/>
                <a:cs typeface="Calibri" pitchFamily="34" charset="0"/>
              </a:rPr>
              <a:t>ction </a:t>
            </a:r>
            <a:r>
              <a:rPr lang="en-AU" sz="3000" b="1" dirty="0">
                <a:solidFill>
                  <a:srgbClr val="FF0000"/>
                </a:solidFill>
                <a:latin typeface="Calibri" pitchFamily="34" charset="0"/>
                <a:cs typeface="Calibri" pitchFamily="34" charset="0"/>
              </a:rPr>
              <a:t>– </a:t>
            </a:r>
          </a:p>
          <a:p>
            <a:pPr marL="914400" lvl="1" indent="-514350">
              <a:buFont typeface="Wingdings" pitchFamily="2" charset="2"/>
              <a:buChar char="q"/>
            </a:pPr>
            <a:r>
              <a:rPr lang="en-US" sz="2000" dirty="0"/>
              <a:t>The action attribute defines the action to be performed when the form is submitted.</a:t>
            </a:r>
          </a:p>
          <a:p>
            <a:pPr marL="914400" lvl="1" indent="-514350">
              <a:buFont typeface="Wingdings" pitchFamily="2" charset="2"/>
              <a:buChar char="q"/>
            </a:pPr>
            <a:r>
              <a:rPr lang="en-US" sz="2000" dirty="0"/>
              <a:t>Usually, the form data is sent to a file on the server when the user clicks on the submit button</a:t>
            </a:r>
            <a:r>
              <a:rPr lang="en-US" sz="2400" dirty="0"/>
              <a:t>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EDC5919B-A997-476E-B3C7-F75027308DB2}" type="slidenum">
              <a:rPr lang="en-US" smtClean="0"/>
              <a:pPr/>
              <a:t>5</a:t>
            </a:fld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xmlns="" id="{DE092A2D-A3DF-4970-97F7-5F81E5BAC0A2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l="3354" t="18073" r="3399"/>
          <a:stretch/>
        </p:blipFill>
        <p:spPr>
          <a:xfrm>
            <a:off x="723014" y="2945218"/>
            <a:ext cx="7389628" cy="134243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D165F6EF-2D05-4319-B90C-2F8DFC42DF6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3400" y="4460292"/>
            <a:ext cx="7924800" cy="285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56093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Diagram 6"/>
          <p:cNvGraphicFramePr/>
          <p:nvPr>
            <p:extLst>
              <p:ext uri="{D42A27DB-BD31-4B8C-83A1-F6EECF244321}">
                <p14:modId xmlns:p14="http://schemas.microsoft.com/office/powerpoint/2010/main" val="3695987539"/>
              </p:ext>
            </p:extLst>
          </p:nvPr>
        </p:nvGraphicFramePr>
        <p:xfrm>
          <a:off x="457200" y="205979"/>
          <a:ext cx="8229600" cy="857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90000"/>
              </a:lnSpc>
              <a:buNone/>
            </a:pPr>
            <a:r>
              <a:rPr lang="en-AU" b="1" dirty="0">
                <a:latin typeface="Calibri" pitchFamily="34" charset="0"/>
                <a:cs typeface="Calibri" pitchFamily="34" charset="0"/>
              </a:rPr>
              <a:t>TARGET ATTRIBUTE</a:t>
            </a:r>
          </a:p>
          <a:p>
            <a:pPr>
              <a:lnSpc>
                <a:spcPct val="90000"/>
              </a:lnSpc>
              <a:buNone/>
            </a:pPr>
            <a:endParaRPr lang="en-AU" b="1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EDC5919B-A997-476E-B3C7-F75027308DB2}" type="slidenum">
              <a:rPr lang="en-US" smtClean="0"/>
              <a:pPr/>
              <a:t>6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51708A7A-660B-4190-92D1-A796C62B77D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4801" y="1821656"/>
            <a:ext cx="7815262" cy="212169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9B354798-8AC1-4F44-9F6C-B38363BC8A6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11835" y="4164805"/>
            <a:ext cx="8070165" cy="400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28502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Diagram 6"/>
          <p:cNvGraphicFramePr/>
          <p:nvPr>
            <p:extLst>
              <p:ext uri="{D42A27DB-BD31-4B8C-83A1-F6EECF244321}">
                <p14:modId xmlns:p14="http://schemas.microsoft.com/office/powerpoint/2010/main" val="2278283207"/>
              </p:ext>
            </p:extLst>
          </p:nvPr>
        </p:nvGraphicFramePr>
        <p:xfrm>
          <a:off x="457200" y="205979"/>
          <a:ext cx="8229600" cy="857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90000"/>
              </a:lnSpc>
              <a:buNone/>
            </a:pPr>
            <a:r>
              <a:rPr lang="en-AU" b="1" dirty="0">
                <a:latin typeface="Calibri" pitchFamily="34" charset="0"/>
                <a:cs typeface="Calibri" pitchFamily="34" charset="0"/>
              </a:rPr>
              <a:t>Common Form Attributes:</a:t>
            </a:r>
          </a:p>
          <a:p>
            <a:pPr>
              <a:lnSpc>
                <a:spcPct val="90000"/>
              </a:lnSpc>
              <a:buNone/>
            </a:pPr>
            <a:r>
              <a:rPr lang="en-AU" sz="3000" b="1" dirty="0">
                <a:solidFill>
                  <a:srgbClr val="FF0000"/>
                </a:solidFill>
                <a:latin typeface="Calibri" pitchFamily="34" charset="0"/>
                <a:cs typeface="Calibri" pitchFamily="34" charset="0"/>
              </a:rPr>
              <a:t>2. method –</a:t>
            </a:r>
          </a:p>
          <a:p>
            <a:pPr lvl="1"/>
            <a:r>
              <a:rPr lang="en-US" dirty="0"/>
              <a:t>The method attribute specifies the HTTP method to be used when submitting the form data.</a:t>
            </a:r>
          </a:p>
          <a:p>
            <a:pPr lvl="1"/>
            <a:r>
              <a:rPr lang="en-US" dirty="0"/>
              <a:t>The form-data can be sent as URL variables (with method="get") or as HTTP post transaction (with method="post").</a:t>
            </a:r>
          </a:p>
          <a:p>
            <a:pPr lvl="1"/>
            <a:r>
              <a:rPr lang="en-US" dirty="0"/>
              <a:t>The default HTTP method when submitting form data is GET. </a:t>
            </a:r>
          </a:p>
          <a:p>
            <a:pPr lvl="1">
              <a:lnSpc>
                <a:spcPct val="90000"/>
              </a:lnSpc>
              <a:buNone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EDC5919B-A997-476E-B3C7-F75027308DB2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4439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Diagram 6"/>
          <p:cNvGraphicFramePr/>
          <p:nvPr>
            <p:extLst>
              <p:ext uri="{D42A27DB-BD31-4B8C-83A1-F6EECF244321}">
                <p14:modId xmlns:p14="http://schemas.microsoft.com/office/powerpoint/2010/main" val="3046064693"/>
              </p:ext>
            </p:extLst>
          </p:nvPr>
        </p:nvGraphicFramePr>
        <p:xfrm>
          <a:off x="457200" y="205979"/>
          <a:ext cx="8229600" cy="857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EDC5919B-A997-476E-B3C7-F75027308DB2}" type="slidenum">
              <a:rPr lang="en-US" smtClean="0"/>
              <a:pPr/>
              <a:t>8</a:t>
            </a:fld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xmlns="" id="{8AE50355-2724-49E5-A955-99773F61305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7"/>
          <a:stretch>
            <a:fillRect/>
          </a:stretch>
        </p:blipFill>
        <p:spPr>
          <a:xfrm>
            <a:off x="304800" y="1125736"/>
            <a:ext cx="8229600" cy="2131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54392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479822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EXAMPLE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14401"/>
            <a:ext cx="8382000" cy="368022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800" dirty="0" smtClean="0"/>
              <a:t>&lt;</a:t>
            </a:r>
            <a:r>
              <a:rPr lang="en-US" sz="2800" dirty="0"/>
              <a:t>form action="signin.php" method=“get"&gt; </a:t>
            </a:r>
          </a:p>
          <a:p>
            <a:pPr>
              <a:buNone/>
            </a:pPr>
            <a:r>
              <a:rPr lang="en-US" sz="2800" dirty="0"/>
              <a:t>&lt;!-- HTML Form Element --&gt; </a:t>
            </a:r>
          </a:p>
          <a:p>
            <a:pPr>
              <a:buNone/>
            </a:pPr>
            <a:r>
              <a:rPr lang="en-US" sz="2800" dirty="0"/>
              <a:t>&lt;/form&gt;</a:t>
            </a:r>
          </a:p>
          <a:p>
            <a:pPr>
              <a:buNone/>
            </a:pPr>
            <a:r>
              <a:rPr lang="en-US" sz="2800" b="1" dirty="0"/>
              <a:t>What will be the output </a:t>
            </a:r>
          </a:p>
          <a:p>
            <a:pPr>
              <a:buNone/>
            </a:pPr>
            <a:r>
              <a:rPr lang="en-US" sz="2800" dirty="0"/>
              <a:t>://www.w3schools.com/action_page.php?fname=John&amp;lname=Doe</a:t>
            </a:r>
            <a:endParaRPr lang="en-US" sz="2800" b="1" dirty="0"/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  <a:p>
            <a:pPr lvl="4">
              <a:buNone/>
            </a:pPr>
            <a:endParaRPr lang="en-US" sz="36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EDC5919B-A997-476E-B3C7-F75027308DB2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16300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Diagram 6"/>
          <p:cNvGraphicFramePr/>
          <p:nvPr>
            <p:extLst>
              <p:ext uri="{D42A27DB-BD31-4B8C-83A1-F6EECF244321}">
                <p14:modId xmlns:p14="http://schemas.microsoft.com/office/powerpoint/2010/main" val="2252431227"/>
              </p:ext>
            </p:extLst>
          </p:nvPr>
        </p:nvGraphicFramePr>
        <p:xfrm>
          <a:off x="457200" y="205979"/>
          <a:ext cx="8229600" cy="857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EDC5919B-A997-476E-B3C7-F75027308DB2}" type="slidenum">
              <a:rPr lang="en-US" smtClean="0"/>
              <a:pPr/>
              <a:t>10</a:t>
            </a:fld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xmlns="" id="{4FC0DB2D-7993-46E8-91C2-F8059EC5DF9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7"/>
          <a:stretch>
            <a:fillRect/>
          </a:stretch>
        </p:blipFill>
        <p:spPr>
          <a:xfrm>
            <a:off x="228600" y="1326606"/>
            <a:ext cx="8610600" cy="15880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95266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479822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EXAMPLE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14401"/>
            <a:ext cx="8382000" cy="368022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800" dirty="0"/>
              <a:t>&lt;form action="signin.php" method="post“ target=“_self”&gt;</a:t>
            </a:r>
          </a:p>
          <a:p>
            <a:pPr>
              <a:buNone/>
            </a:pPr>
            <a:r>
              <a:rPr lang="en-US" sz="2800" dirty="0"/>
              <a:t> &lt;!-- HTML Form Element --&gt; </a:t>
            </a:r>
          </a:p>
          <a:p>
            <a:pPr>
              <a:buNone/>
            </a:pPr>
            <a:r>
              <a:rPr lang="en-US" sz="2800" dirty="0"/>
              <a:t>&lt;/form&gt;</a:t>
            </a:r>
          </a:p>
          <a:p>
            <a:pPr>
              <a:buNone/>
            </a:pPr>
            <a:r>
              <a:rPr lang="en-US" sz="2800" dirty="0"/>
              <a:t> </a:t>
            </a:r>
            <a:r>
              <a:rPr lang="en-US" sz="2800" b="1" dirty="0"/>
              <a:t>output is shown as</a:t>
            </a:r>
          </a:p>
          <a:p>
            <a:pPr>
              <a:buNone/>
            </a:pPr>
            <a:r>
              <a:rPr lang="en-US" sz="2800" dirty="0"/>
              <a:t>	://www.w3schools.com/action_page.php</a:t>
            </a:r>
          </a:p>
          <a:p>
            <a:pPr lvl="4">
              <a:buNone/>
            </a:pPr>
            <a:endParaRPr lang="en-US" dirty="0"/>
          </a:p>
          <a:p>
            <a:pPr>
              <a:buNone/>
            </a:pPr>
            <a:endParaRPr lang="en-US" dirty="0"/>
          </a:p>
          <a:p>
            <a:pPr lvl="4">
              <a:buNone/>
            </a:pPr>
            <a:endParaRPr lang="en-US" sz="36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EDC5919B-A997-476E-B3C7-F75027308DB2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12604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/>
        </p:nvGrpSpPr>
        <p:grpSpPr>
          <a:xfrm>
            <a:off x="457200" y="2152013"/>
            <a:ext cx="8229600" cy="839474"/>
            <a:chOff x="0" y="8887"/>
            <a:chExt cx="8229600" cy="839474"/>
          </a:xfrm>
        </p:grpSpPr>
        <p:sp>
          <p:nvSpPr>
            <p:cNvPr id="5" name="Rounded Rectangle 4"/>
            <p:cNvSpPr/>
            <p:nvPr/>
          </p:nvSpPr>
          <p:spPr>
            <a:xfrm>
              <a:off x="0" y="8887"/>
              <a:ext cx="8229600" cy="839474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6" name="Rounded Rectangle 4"/>
            <p:cNvSpPr/>
            <p:nvPr/>
          </p:nvSpPr>
          <p:spPr>
            <a:xfrm>
              <a:off x="40980" y="49867"/>
              <a:ext cx="8147640" cy="757514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33350" tIns="133350" rIns="133350" bIns="133350" numCol="1" spcCol="1270" anchor="ctr" anchorCtr="0">
              <a:noAutofit/>
            </a:bodyPr>
            <a:lstStyle/>
            <a:p>
              <a:pPr lvl="0" algn="l" defTabSz="1555750" rtl="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3500" b="1" kern="1200" dirty="0" smtClean="0"/>
                <a:t> </a:t>
              </a:r>
              <a:r>
                <a:rPr lang="en-US" sz="3500" b="1" kern="1200" dirty="0"/>
                <a:t>HTML FORM </a:t>
              </a:r>
              <a:r>
                <a:rPr lang="en-US" sz="3500" b="1" kern="1200" dirty="0" smtClean="0"/>
                <a:t>ELEMENTS</a:t>
              </a:r>
              <a:endParaRPr lang="en-US" sz="3500" kern="1200" dirty="0"/>
            </a:p>
          </p:txBody>
        </p:sp>
      </p:grpSp>
    </p:spTree>
    <p:extLst>
      <p:ext uri="{BB962C8B-B14F-4D97-AF65-F5344CB8AC3E}">
        <p14:creationId xmlns:p14="http://schemas.microsoft.com/office/powerpoint/2010/main" val="23219552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endParaRPr spc="100" dirty="0"/>
          </a:p>
        </p:txBody>
      </p:sp>
      <p:sp>
        <p:nvSpPr>
          <p:cNvPr id="3" name="object 3"/>
          <p:cNvSpPr txBox="1"/>
          <p:nvPr/>
        </p:nvSpPr>
        <p:spPr>
          <a:xfrm>
            <a:off x="384725" y="1216355"/>
            <a:ext cx="7598409" cy="12426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The</a:t>
            </a:r>
            <a:r>
              <a:rPr sz="1800" spc="-16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400" spc="-10" dirty="0">
                <a:solidFill>
                  <a:srgbClr val="5E686C"/>
                </a:solidFill>
                <a:latin typeface="Courier New"/>
                <a:cs typeface="Courier New"/>
              </a:rPr>
              <a:t>&lt;input&gt;</a:t>
            </a:r>
            <a:r>
              <a:rPr sz="1400" spc="-445" dirty="0">
                <a:solidFill>
                  <a:srgbClr val="5E686C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element</a:t>
            </a:r>
            <a:r>
              <a:rPr sz="1800" spc="-16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is</a:t>
            </a:r>
            <a:r>
              <a:rPr sz="1800" spc="-16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the</a:t>
            </a:r>
            <a:r>
              <a:rPr sz="1800" spc="-16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most</a:t>
            </a:r>
            <a:r>
              <a:rPr sz="1800" spc="-16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important</a:t>
            </a:r>
            <a:r>
              <a:rPr sz="1800" spc="-16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form</a:t>
            </a:r>
            <a:r>
              <a:rPr sz="1800" spc="-16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5E686C"/>
                </a:solidFill>
                <a:latin typeface="Tahoma"/>
                <a:cs typeface="Tahoma"/>
              </a:rPr>
              <a:t>element.</a:t>
            </a:r>
            <a:endParaRPr sz="180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300"/>
              </a:spcBef>
            </a:pPr>
            <a:endParaRPr sz="1800" dirty="0">
              <a:latin typeface="Tahoma"/>
              <a:cs typeface="Tahoma"/>
            </a:endParaRPr>
          </a:p>
          <a:p>
            <a:pPr marL="12700" marR="5080">
              <a:lnSpc>
                <a:spcPct val="114599"/>
              </a:lnSpc>
            </a:pP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The</a:t>
            </a:r>
            <a:r>
              <a:rPr sz="1800" spc="-19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400" spc="-10" dirty="0">
                <a:solidFill>
                  <a:srgbClr val="5E686C"/>
                </a:solidFill>
                <a:latin typeface="Courier New"/>
                <a:cs typeface="Courier New"/>
              </a:rPr>
              <a:t>&lt;input&gt;</a:t>
            </a:r>
            <a:r>
              <a:rPr sz="1400" spc="-475" dirty="0">
                <a:solidFill>
                  <a:srgbClr val="5E686C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element</a:t>
            </a:r>
            <a:r>
              <a:rPr sz="1800" spc="-19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5E686C"/>
                </a:solidFill>
                <a:latin typeface="Tahoma"/>
                <a:cs typeface="Tahoma"/>
              </a:rPr>
              <a:t>can</a:t>
            </a:r>
            <a:r>
              <a:rPr sz="1800" spc="-19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5E686C"/>
                </a:solidFill>
                <a:latin typeface="Tahoma"/>
                <a:cs typeface="Tahoma"/>
              </a:rPr>
              <a:t>be</a:t>
            </a:r>
            <a:r>
              <a:rPr sz="1800" spc="-19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displayed</a:t>
            </a:r>
            <a:r>
              <a:rPr sz="1800" spc="-19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in</a:t>
            </a:r>
            <a:r>
              <a:rPr sz="1800" spc="-19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several</a:t>
            </a:r>
            <a:r>
              <a:rPr sz="1800" spc="-19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45" dirty="0">
                <a:solidFill>
                  <a:srgbClr val="5E686C"/>
                </a:solidFill>
                <a:latin typeface="Tahoma"/>
                <a:cs typeface="Tahoma"/>
              </a:rPr>
              <a:t>ways,</a:t>
            </a:r>
            <a:r>
              <a:rPr sz="1800" spc="-19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5E686C"/>
                </a:solidFill>
                <a:latin typeface="Tahoma"/>
                <a:cs typeface="Tahoma"/>
              </a:rPr>
              <a:t>depending</a:t>
            </a:r>
            <a:r>
              <a:rPr sz="1800" spc="-19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on</a:t>
            </a:r>
            <a:r>
              <a:rPr sz="1800" spc="-19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the</a:t>
            </a:r>
            <a:r>
              <a:rPr sz="1800" spc="-19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20" dirty="0">
                <a:solidFill>
                  <a:srgbClr val="5E686C"/>
                </a:solidFill>
                <a:latin typeface="Tahoma"/>
                <a:cs typeface="Tahoma"/>
              </a:rPr>
              <a:t>type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attribute.</a:t>
            </a:r>
            <a:r>
              <a:rPr sz="1800" spc="-14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Here</a:t>
            </a:r>
            <a:r>
              <a:rPr sz="1800" spc="-14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are</a:t>
            </a:r>
            <a:r>
              <a:rPr sz="1800" spc="-14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20" dirty="0">
                <a:solidFill>
                  <a:srgbClr val="5E686C"/>
                </a:solidFill>
                <a:latin typeface="Tahoma"/>
                <a:cs typeface="Tahoma"/>
              </a:rPr>
              <a:t>some</a:t>
            </a:r>
            <a:r>
              <a:rPr sz="1800" spc="-14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5E686C"/>
                </a:solidFill>
                <a:latin typeface="Tahoma"/>
                <a:cs typeface="Tahoma"/>
              </a:rPr>
              <a:t>examples:</a:t>
            </a:r>
            <a:endParaRPr sz="1800" dirty="0">
              <a:latin typeface="Tahoma"/>
              <a:cs typeface="Tahoma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947737" y="2659112"/>
          <a:ext cx="7239000" cy="23780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19500"/>
                <a:gridCol w="3619500"/>
              </a:tblGrid>
              <a:tr h="391795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1400" b="1" spc="-20" dirty="0">
                          <a:latin typeface="Arial"/>
                          <a:cs typeface="Arial"/>
                        </a:rPr>
                        <a:t>Type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7810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1400" b="1" spc="-10" dirty="0">
                          <a:latin typeface="Arial"/>
                          <a:cs typeface="Arial"/>
                        </a:rPr>
                        <a:t>Description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7810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</a:tr>
              <a:tr h="391795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dirty="0">
                          <a:latin typeface="Arial MT"/>
                          <a:cs typeface="Arial MT"/>
                        </a:rPr>
                        <a:t>&lt;input</a:t>
                      </a:r>
                      <a:r>
                        <a:rPr sz="14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spc="-10" dirty="0">
                          <a:latin typeface="Arial MT"/>
                          <a:cs typeface="Arial MT"/>
                        </a:rPr>
                        <a:t>type="text"&gt;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7874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dirty="0">
                          <a:latin typeface="Arial MT"/>
                          <a:cs typeface="Arial MT"/>
                        </a:rPr>
                        <a:t>Defines</a:t>
                      </a:r>
                      <a:r>
                        <a:rPr sz="14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a</a:t>
                      </a:r>
                      <a:r>
                        <a:rPr sz="1400" spc="-10" dirty="0">
                          <a:latin typeface="Arial MT"/>
                          <a:cs typeface="Arial MT"/>
                        </a:rPr>
                        <a:t> one-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line</a:t>
                      </a:r>
                      <a:r>
                        <a:rPr sz="1400" spc="-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text</a:t>
                      </a:r>
                      <a:r>
                        <a:rPr sz="1400" spc="-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input</a:t>
                      </a:r>
                      <a:r>
                        <a:rPr sz="1400" spc="-10" dirty="0">
                          <a:latin typeface="Arial MT"/>
                          <a:cs typeface="Arial MT"/>
                        </a:rPr>
                        <a:t> field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7874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</a:tr>
              <a:tr h="601345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1400" dirty="0">
                          <a:latin typeface="Arial MT"/>
                          <a:cs typeface="Arial MT"/>
                        </a:rPr>
                        <a:t>&lt;input</a:t>
                      </a:r>
                      <a:r>
                        <a:rPr sz="14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spc="-10" dirty="0">
                          <a:latin typeface="Arial MT"/>
                          <a:cs typeface="Arial MT"/>
                        </a:rPr>
                        <a:t>type="radio"&gt;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7810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 marR="177165">
                        <a:lnSpc>
                          <a:spcPts val="1650"/>
                        </a:lnSpc>
                        <a:spcBef>
                          <a:spcPts val="695"/>
                        </a:spcBef>
                      </a:pPr>
                      <a:r>
                        <a:rPr sz="1400" dirty="0">
                          <a:latin typeface="Arial MT"/>
                          <a:cs typeface="Arial MT"/>
                        </a:rPr>
                        <a:t>Defines</a:t>
                      </a:r>
                      <a:r>
                        <a:rPr sz="14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a</a:t>
                      </a:r>
                      <a:r>
                        <a:rPr sz="14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radio</a:t>
                      </a:r>
                      <a:r>
                        <a:rPr sz="14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button</a:t>
                      </a:r>
                      <a:r>
                        <a:rPr sz="14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(for</a:t>
                      </a:r>
                      <a:r>
                        <a:rPr sz="14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selecting</a:t>
                      </a:r>
                      <a:r>
                        <a:rPr sz="14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one</a:t>
                      </a:r>
                      <a:r>
                        <a:rPr sz="14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spc="-25" dirty="0">
                          <a:latin typeface="Arial MT"/>
                          <a:cs typeface="Arial MT"/>
                        </a:rPr>
                        <a:t>of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many</a:t>
                      </a:r>
                      <a:r>
                        <a:rPr sz="14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spc="-10" dirty="0">
                          <a:latin typeface="Arial MT"/>
                          <a:cs typeface="Arial MT"/>
                        </a:rPr>
                        <a:t>choices)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8826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</a:tr>
              <a:tr h="601345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dirty="0">
                          <a:latin typeface="Arial MT"/>
                          <a:cs typeface="Arial MT"/>
                        </a:rPr>
                        <a:t>&lt;input</a:t>
                      </a:r>
                      <a:r>
                        <a:rPr sz="14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spc="-10" dirty="0">
                          <a:latin typeface="Arial MT"/>
                          <a:cs typeface="Arial MT"/>
                        </a:rPr>
                        <a:t>type="submit"&gt;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7874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 marR="187960">
                        <a:lnSpc>
                          <a:spcPts val="1650"/>
                        </a:lnSpc>
                        <a:spcBef>
                          <a:spcPts val="700"/>
                        </a:spcBef>
                      </a:pPr>
                      <a:r>
                        <a:rPr sz="1400" dirty="0">
                          <a:latin typeface="Arial MT"/>
                          <a:cs typeface="Arial MT"/>
                        </a:rPr>
                        <a:t>Defines</a:t>
                      </a:r>
                      <a:r>
                        <a:rPr sz="14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a</a:t>
                      </a:r>
                      <a:r>
                        <a:rPr sz="14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submit</a:t>
                      </a:r>
                      <a:r>
                        <a:rPr sz="14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button</a:t>
                      </a:r>
                      <a:r>
                        <a:rPr sz="14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(for</a:t>
                      </a:r>
                      <a:r>
                        <a:rPr sz="14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submitting</a:t>
                      </a:r>
                      <a:r>
                        <a:rPr sz="14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spc="-25" dirty="0">
                          <a:latin typeface="Arial MT"/>
                          <a:cs typeface="Arial MT"/>
                        </a:rPr>
                        <a:t>the </a:t>
                      </a:r>
                      <a:r>
                        <a:rPr sz="1400" spc="-10" dirty="0">
                          <a:latin typeface="Arial MT"/>
                          <a:cs typeface="Arial MT"/>
                        </a:rPr>
                        <a:t>form)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8890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</a:tr>
              <a:tr h="391795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dirty="0">
                          <a:latin typeface="Arial MT"/>
                          <a:cs typeface="Arial MT"/>
                        </a:rPr>
                        <a:t>&lt;input</a:t>
                      </a:r>
                      <a:r>
                        <a:rPr sz="14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spc="-10" dirty="0">
                          <a:latin typeface="Arial MT"/>
                          <a:cs typeface="Arial MT"/>
                        </a:rPr>
                        <a:t>type="checkbox"&gt;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7874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dirty="0">
                          <a:latin typeface="Arial MT"/>
                          <a:cs typeface="Arial MT"/>
                        </a:rPr>
                        <a:t>Defines</a:t>
                      </a:r>
                      <a:r>
                        <a:rPr sz="14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a</a:t>
                      </a:r>
                      <a:r>
                        <a:rPr sz="14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spc="-10" dirty="0">
                          <a:latin typeface="Arial MT"/>
                          <a:cs typeface="Arial MT"/>
                        </a:rPr>
                        <a:t>checkbox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7874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pSp>
        <p:nvGrpSpPr>
          <p:cNvPr id="8" name="Group 7"/>
          <p:cNvGrpSpPr/>
          <p:nvPr/>
        </p:nvGrpSpPr>
        <p:grpSpPr>
          <a:xfrm>
            <a:off x="228600" y="285750"/>
            <a:ext cx="8229600" cy="839474"/>
            <a:chOff x="0" y="8887"/>
            <a:chExt cx="8229600" cy="839474"/>
          </a:xfrm>
        </p:grpSpPr>
        <p:sp>
          <p:nvSpPr>
            <p:cNvPr id="9" name="Rounded Rectangle 8"/>
            <p:cNvSpPr/>
            <p:nvPr/>
          </p:nvSpPr>
          <p:spPr>
            <a:xfrm>
              <a:off x="0" y="8887"/>
              <a:ext cx="8229600" cy="839474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0" name="Rounded Rectangle 4"/>
            <p:cNvSpPr/>
            <p:nvPr/>
          </p:nvSpPr>
          <p:spPr>
            <a:xfrm>
              <a:off x="40980" y="49867"/>
              <a:ext cx="8147640" cy="757514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33350" tIns="133350" rIns="133350" bIns="133350" numCol="1" spcCol="1270" anchor="ctr" anchorCtr="0">
              <a:noAutofit/>
            </a:bodyPr>
            <a:lstStyle/>
            <a:p>
              <a:pPr lvl="0" algn="l" defTabSz="1555750" rtl="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3600" spc="105" dirty="0" smtClean="0"/>
                <a:t>The</a:t>
              </a:r>
              <a:r>
                <a:rPr lang="en-US" sz="3600" spc="-40" dirty="0" smtClean="0"/>
                <a:t> </a:t>
              </a:r>
              <a:r>
                <a:rPr lang="en-US" sz="3600" spc="120" dirty="0" smtClean="0"/>
                <a:t>&lt;input&gt;</a:t>
              </a:r>
              <a:r>
                <a:rPr lang="en-US" sz="3600" spc="-35" dirty="0" smtClean="0"/>
                <a:t> </a:t>
              </a:r>
              <a:r>
                <a:rPr lang="en-US" sz="3600" spc="100" dirty="0" smtClean="0"/>
                <a:t>Element</a:t>
              </a:r>
              <a:endParaRPr lang="en-US" sz="3500" kern="1200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90" dirty="0"/>
              <a:t>Input</a:t>
            </a:r>
            <a:r>
              <a:rPr spc="-50" dirty="0"/>
              <a:t> </a:t>
            </a:r>
            <a:r>
              <a:rPr spc="85" dirty="0"/>
              <a:t>Type</a:t>
            </a:r>
            <a:r>
              <a:rPr spc="-45" dirty="0"/>
              <a:t> </a:t>
            </a:r>
            <a:r>
              <a:rPr spc="55" dirty="0"/>
              <a:t>Text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4725" y="1216355"/>
            <a:ext cx="56978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solidFill>
                  <a:srgbClr val="F45E61"/>
                </a:solidFill>
                <a:latin typeface="Courier New"/>
                <a:cs typeface="Courier New"/>
              </a:rPr>
              <a:t>&lt;input</a:t>
            </a:r>
            <a:r>
              <a:rPr sz="1600" spc="85" dirty="0">
                <a:solidFill>
                  <a:srgbClr val="F45E61"/>
                </a:solidFill>
                <a:latin typeface="Courier New"/>
                <a:cs typeface="Courier New"/>
              </a:rPr>
              <a:t> </a:t>
            </a:r>
            <a:r>
              <a:rPr sz="1600" spc="-20" dirty="0">
                <a:solidFill>
                  <a:srgbClr val="F45E61"/>
                </a:solidFill>
                <a:latin typeface="Courier New"/>
                <a:cs typeface="Courier New"/>
              </a:rPr>
              <a:t>type="text"&gt;</a:t>
            </a:r>
            <a:r>
              <a:rPr sz="1600" spc="-580" dirty="0">
                <a:solidFill>
                  <a:srgbClr val="F45E61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defines</a:t>
            </a:r>
            <a:r>
              <a:rPr sz="1800" spc="-19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45" dirty="0">
                <a:solidFill>
                  <a:srgbClr val="5E686C"/>
                </a:solidFill>
                <a:latin typeface="Tahoma"/>
                <a:cs typeface="Tahoma"/>
              </a:rPr>
              <a:t>a</a:t>
            </a:r>
            <a:r>
              <a:rPr sz="1800" spc="-18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one-line</a:t>
            </a:r>
            <a:r>
              <a:rPr sz="1800" spc="-19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text</a:t>
            </a:r>
            <a:r>
              <a:rPr sz="1800" spc="-18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input</a:t>
            </a:r>
            <a:r>
              <a:rPr sz="1800" spc="-19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5E686C"/>
                </a:solidFill>
                <a:latin typeface="Tahoma"/>
                <a:cs typeface="Tahoma"/>
              </a:rPr>
              <a:t>field: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48225" y="2259429"/>
            <a:ext cx="3866515" cy="11131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430"/>
              </a:lnSpc>
              <a:spcBef>
                <a:spcPts val="100"/>
              </a:spcBef>
            </a:pPr>
            <a:r>
              <a:rPr sz="1200" spc="-10" dirty="0">
                <a:solidFill>
                  <a:srgbClr val="0B5394"/>
                </a:solidFill>
                <a:latin typeface="Courier New"/>
                <a:cs typeface="Courier New"/>
              </a:rPr>
              <a:t>&lt;form&gt;</a:t>
            </a:r>
            <a:endParaRPr sz="1200" dirty="0">
              <a:latin typeface="Courier New"/>
              <a:cs typeface="Courier New"/>
            </a:endParaRPr>
          </a:p>
          <a:p>
            <a:pPr marL="195580">
              <a:lnSpc>
                <a:spcPts val="1425"/>
              </a:lnSpc>
            </a:pPr>
            <a:r>
              <a:rPr sz="1200" dirty="0" smtClean="0">
                <a:solidFill>
                  <a:srgbClr val="0B5394"/>
                </a:solidFill>
                <a:latin typeface="Courier New"/>
                <a:cs typeface="Courier New"/>
              </a:rPr>
              <a:t>First</a:t>
            </a:r>
            <a:r>
              <a:rPr sz="1200" spc="-65" dirty="0" smtClean="0">
                <a:solidFill>
                  <a:srgbClr val="0B5394"/>
                </a:solidFill>
                <a:latin typeface="Courier New"/>
                <a:cs typeface="Courier New"/>
              </a:rPr>
              <a:t> </a:t>
            </a:r>
            <a:r>
              <a:rPr sz="1200" spc="-10" dirty="0" smtClean="0">
                <a:solidFill>
                  <a:srgbClr val="0B5394"/>
                </a:solidFill>
                <a:latin typeface="Courier New"/>
                <a:cs typeface="Courier New"/>
              </a:rPr>
              <a:t>name:&lt;</a:t>
            </a:r>
            <a:r>
              <a:rPr sz="1200" spc="-10" dirty="0" err="1" smtClean="0">
                <a:solidFill>
                  <a:srgbClr val="0B5394"/>
                </a:solidFill>
                <a:latin typeface="Courier New"/>
                <a:cs typeface="Courier New"/>
              </a:rPr>
              <a:t>br</a:t>
            </a:r>
            <a:r>
              <a:rPr sz="1200" spc="-10" dirty="0" smtClean="0">
                <a:solidFill>
                  <a:srgbClr val="0B5394"/>
                </a:solidFill>
                <a:latin typeface="Courier New"/>
                <a:cs typeface="Courier New"/>
              </a:rPr>
              <a:t>&gt;</a:t>
            </a:r>
            <a:endParaRPr sz="1200" dirty="0">
              <a:latin typeface="Courier New"/>
              <a:cs typeface="Courier New"/>
            </a:endParaRPr>
          </a:p>
          <a:p>
            <a:pPr marL="195580" marR="5080">
              <a:lnSpc>
                <a:spcPts val="1430"/>
              </a:lnSpc>
              <a:spcBef>
                <a:spcPts val="45"/>
              </a:spcBef>
            </a:pPr>
            <a:r>
              <a:rPr sz="1200" dirty="0">
                <a:solidFill>
                  <a:srgbClr val="0B5394"/>
                </a:solidFill>
                <a:latin typeface="Courier New"/>
                <a:cs typeface="Courier New"/>
              </a:rPr>
              <a:t>&lt;input</a:t>
            </a:r>
            <a:r>
              <a:rPr sz="1200" spc="-105" dirty="0">
                <a:solidFill>
                  <a:srgbClr val="0B5394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solidFill>
                  <a:srgbClr val="0B5394"/>
                </a:solidFill>
                <a:latin typeface="Courier New"/>
                <a:cs typeface="Courier New"/>
              </a:rPr>
              <a:t>type="text"</a:t>
            </a:r>
            <a:r>
              <a:rPr sz="1200" spc="-105" dirty="0">
                <a:solidFill>
                  <a:srgbClr val="0B5394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0B5394"/>
                </a:solidFill>
                <a:latin typeface="Courier New"/>
                <a:cs typeface="Courier New"/>
              </a:rPr>
              <a:t>name="firstname"&gt;&lt;br&gt; </a:t>
            </a:r>
            <a:r>
              <a:rPr sz="1200" dirty="0">
                <a:solidFill>
                  <a:srgbClr val="0B5394"/>
                </a:solidFill>
                <a:latin typeface="Courier New"/>
                <a:cs typeface="Courier New"/>
              </a:rPr>
              <a:t>Last</a:t>
            </a:r>
            <a:r>
              <a:rPr sz="1200" spc="-50" dirty="0">
                <a:solidFill>
                  <a:srgbClr val="0B5394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0B5394"/>
                </a:solidFill>
                <a:latin typeface="Courier New"/>
                <a:cs typeface="Courier New"/>
              </a:rPr>
              <a:t>name:&lt;br&gt;</a:t>
            </a:r>
            <a:endParaRPr sz="1200" dirty="0">
              <a:latin typeface="Courier New"/>
              <a:cs typeface="Courier New"/>
            </a:endParaRPr>
          </a:p>
          <a:p>
            <a:pPr marL="195580">
              <a:lnSpc>
                <a:spcPts val="1365"/>
              </a:lnSpc>
            </a:pPr>
            <a:r>
              <a:rPr sz="1200" dirty="0">
                <a:solidFill>
                  <a:srgbClr val="0B5394"/>
                </a:solidFill>
                <a:latin typeface="Courier New"/>
                <a:cs typeface="Courier New"/>
              </a:rPr>
              <a:t>&lt;input</a:t>
            </a:r>
            <a:r>
              <a:rPr sz="1200" spc="-105" dirty="0">
                <a:solidFill>
                  <a:srgbClr val="0B5394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solidFill>
                  <a:srgbClr val="0B5394"/>
                </a:solidFill>
                <a:latin typeface="Courier New"/>
                <a:cs typeface="Courier New"/>
              </a:rPr>
              <a:t>type="text"</a:t>
            </a:r>
            <a:r>
              <a:rPr sz="1200" spc="-105" dirty="0">
                <a:solidFill>
                  <a:srgbClr val="0B5394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0B5394"/>
                </a:solidFill>
                <a:latin typeface="Courier New"/>
                <a:cs typeface="Courier New"/>
              </a:rPr>
              <a:t>name="lastname"&gt;</a:t>
            </a:r>
            <a:endParaRPr sz="1200" dirty="0">
              <a:latin typeface="Courier New"/>
              <a:cs typeface="Courier New"/>
            </a:endParaRPr>
          </a:p>
          <a:p>
            <a:pPr marL="12700">
              <a:lnSpc>
                <a:spcPts val="1435"/>
              </a:lnSpc>
            </a:pPr>
            <a:r>
              <a:rPr sz="1200" spc="-10" dirty="0">
                <a:solidFill>
                  <a:srgbClr val="0B5394"/>
                </a:solidFill>
                <a:latin typeface="Courier New"/>
                <a:cs typeface="Courier New"/>
              </a:rPr>
              <a:t>&lt;/form&gt;</a:t>
            </a:r>
            <a:endParaRPr sz="1200" dirty="0">
              <a:latin typeface="Courier New"/>
              <a:cs typeface="Courier New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936828" y="2296575"/>
            <a:ext cx="2208381" cy="1056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35238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&lt;label&gt; Element</a:t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76349"/>
            <a:ext cx="8229600" cy="3318273"/>
          </a:xfrm>
        </p:spPr>
        <p:txBody>
          <a:bodyPr>
            <a:normAutofit/>
          </a:bodyPr>
          <a:lstStyle/>
          <a:p>
            <a:pPr algn="just"/>
            <a:r>
              <a:rPr lang="en-US" sz="2000" dirty="0">
                <a:latin typeface="+mj-lt"/>
              </a:rPr>
              <a:t>The &lt;label&gt; element defines a label for several form elements </a:t>
            </a:r>
          </a:p>
          <a:p>
            <a:pPr algn="just"/>
            <a:r>
              <a:rPr lang="en-US" sz="2000" dirty="0">
                <a:latin typeface="+mj-lt"/>
              </a:rPr>
              <a:t>The for attribute of the &lt;label&gt; tag should be equal to the id attribute of the &lt;input&gt; element to bind them together.</a:t>
            </a:r>
          </a:p>
          <a:p>
            <a:pPr>
              <a:buNone/>
            </a:pP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EDC5919B-A997-476E-B3C7-F75027308DB2}" type="slidenum">
              <a:rPr lang="en-US" smtClean="0"/>
              <a:pPr/>
              <a:t>15</a:t>
            </a:fld>
            <a:endParaRPr lang="en-US"/>
          </a:p>
        </p:txBody>
      </p:sp>
      <p:pic>
        <p:nvPicPr>
          <p:cNvPr id="6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85677" y="2266950"/>
            <a:ext cx="5410200" cy="742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8386336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Slide Number Placeholder 3">
            <a:extLst>
              <a:ext uri="{FF2B5EF4-FFF2-40B4-BE49-F238E27FC236}">
                <a16:creationId xmlns:a16="http://schemas.microsoft.com/office/drawing/2014/main" xmlns="" id="{8F2CBC8C-7383-4C8B-AB69-6B96A0AC901A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fld id="{9A21584B-39A8-4378-B131-B560A642D368}" type="slidenum">
              <a:rPr lang="en-US" altLang="en-US" sz="1400">
                <a:latin typeface="Arial" panose="020B0604020202020204" pitchFamily="34" charset="0"/>
              </a:rPr>
              <a:pPr/>
              <a:t>16</a:t>
            </a:fld>
            <a:endParaRPr lang="en-US" altLang="en-US" sz="1400">
              <a:latin typeface="Arial" panose="020B0604020202020204" pitchFamily="34" charset="0"/>
            </a:endParaRPr>
          </a:p>
        </p:txBody>
      </p:sp>
      <p:sp>
        <p:nvSpPr>
          <p:cNvPr id="14339" name="Rectangle 2">
            <a:extLst>
              <a:ext uri="{FF2B5EF4-FFF2-40B4-BE49-F238E27FC236}">
                <a16:creationId xmlns:a16="http://schemas.microsoft.com/office/drawing/2014/main" xmlns="" id="{8A84397D-3F38-427C-990C-5DA8E70BA0D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84725" y="448119"/>
            <a:ext cx="6996430" cy="492443"/>
          </a:xfrm>
        </p:spPr>
        <p:txBody>
          <a:bodyPr/>
          <a:lstStyle/>
          <a:p>
            <a:pPr eaLnBrk="1" hangingPunct="1"/>
            <a:r>
              <a:rPr lang="en-US" altLang="en-US"/>
              <a:t>Text Input (type=“text”)</a:t>
            </a:r>
          </a:p>
        </p:txBody>
      </p:sp>
      <p:sp>
        <p:nvSpPr>
          <p:cNvPr id="54275" name="Rectangle 3">
            <a:extLst>
              <a:ext uri="{FF2B5EF4-FFF2-40B4-BE49-F238E27FC236}">
                <a16:creationId xmlns:a16="http://schemas.microsoft.com/office/drawing/2014/main" xmlns="" id="{3DF7AE45-86E0-48F7-8C2C-EE523A180E9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4725" y="971550"/>
            <a:ext cx="8364220" cy="3046988"/>
          </a:xfrm>
        </p:spPr>
        <p:txBody>
          <a:bodyPr/>
          <a:lstStyle/>
          <a:p>
            <a:pPr eaLnBrk="1" hangingPunct="1"/>
            <a:r>
              <a:rPr lang="en-US" altLang="en-US" b="1" dirty="0">
                <a:latin typeface="+mj-lt"/>
              </a:rPr>
              <a:t>Example 1</a:t>
            </a:r>
            <a:r>
              <a:rPr lang="en-US" altLang="en-US" dirty="0">
                <a:latin typeface="+mj-lt"/>
              </a:rPr>
              <a:t>:</a:t>
            </a:r>
            <a:r>
              <a:rPr lang="en-US" altLang="en-US" sz="1600" dirty="0">
                <a:latin typeface="+mj-lt"/>
              </a:rPr>
              <a:t> </a:t>
            </a:r>
            <a:r>
              <a:rPr lang="en-US" altLang="en-US" b="1" dirty="0">
                <a:latin typeface="+mj-lt"/>
              </a:rPr>
              <a:t>A text field named "text1" that is 30 characters wide.</a:t>
            </a:r>
          </a:p>
          <a:p>
            <a:pPr eaLnBrk="1" hangingPunct="1"/>
            <a:r>
              <a:rPr lang="en-US" altLang="en-US" b="1" dirty="0">
                <a:solidFill>
                  <a:schemeClr val="accent2"/>
                </a:solidFill>
                <a:latin typeface="+mj-lt"/>
              </a:rPr>
              <a:t>&lt;input type="text" name="text1" size="30"&gt;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 b="1" dirty="0">
              <a:solidFill>
                <a:schemeClr val="accent2"/>
              </a:solidFill>
              <a:latin typeface="+mj-lt"/>
            </a:endParaRPr>
          </a:p>
          <a:p>
            <a:pPr lvl="1" eaLnBrk="1" hangingPunct="1">
              <a:buFont typeface="Wingdings" panose="05000000000000000000" pitchFamily="2" charset="2"/>
              <a:buNone/>
            </a:pPr>
            <a:endParaRPr lang="en-US" altLang="en-US" b="1" dirty="0">
              <a:solidFill>
                <a:schemeClr val="accent2"/>
              </a:solidFill>
              <a:latin typeface="+mj-lt"/>
            </a:endParaRPr>
          </a:p>
          <a:p>
            <a:pPr eaLnBrk="1" hangingPunct="1"/>
            <a:r>
              <a:rPr lang="en-US" altLang="en-US" b="1" dirty="0">
                <a:latin typeface="+mj-lt"/>
              </a:rPr>
              <a:t>Example 2: A text field named "text2" that is 30 characters wide but will only accept 20 characters.</a:t>
            </a:r>
          </a:p>
          <a:p>
            <a:pPr eaLnBrk="1" hangingPunct="1"/>
            <a:r>
              <a:rPr lang="en-US" altLang="en-US" b="1" dirty="0">
                <a:solidFill>
                  <a:schemeClr val="accent2"/>
                </a:solidFill>
                <a:latin typeface="+mj-lt"/>
              </a:rPr>
              <a:t>&lt;input type="text" name="text2" size="30" </a:t>
            </a:r>
            <a:r>
              <a:rPr lang="en-US" altLang="en-US" b="1" dirty="0" err="1">
                <a:solidFill>
                  <a:schemeClr val="accent2"/>
                </a:solidFill>
                <a:latin typeface="+mj-lt"/>
              </a:rPr>
              <a:t>maxlength</a:t>
            </a:r>
            <a:r>
              <a:rPr lang="en-US" altLang="en-US" b="1" dirty="0">
                <a:solidFill>
                  <a:schemeClr val="accent2"/>
                </a:solidFill>
                <a:latin typeface="+mj-lt"/>
              </a:rPr>
              <a:t>="20"&gt;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 b="1" dirty="0">
              <a:solidFill>
                <a:schemeClr val="accent2"/>
              </a:solidFill>
              <a:latin typeface="+mj-lt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 b="1" dirty="0">
              <a:solidFill>
                <a:schemeClr val="accent2"/>
              </a:solidFill>
              <a:latin typeface="+mj-lt"/>
            </a:endParaRPr>
          </a:p>
          <a:p>
            <a:pPr eaLnBrk="1" hangingPunct="1"/>
            <a:r>
              <a:rPr lang="en-US" altLang="en-US" b="1" dirty="0">
                <a:latin typeface="+mj-lt"/>
              </a:rPr>
              <a:t>Example 3:</a:t>
            </a:r>
            <a:r>
              <a:rPr lang="en-US" altLang="en-US" b="1" dirty="0">
                <a:solidFill>
                  <a:schemeClr val="accent2"/>
                </a:solidFill>
                <a:latin typeface="+mj-lt"/>
              </a:rPr>
              <a:t> </a:t>
            </a:r>
            <a:r>
              <a:rPr lang="en-US" altLang="en-US" b="1" dirty="0">
                <a:latin typeface="+mj-lt"/>
              </a:rPr>
              <a:t>A text field named "text3" that is 40 characters wide with default value.</a:t>
            </a:r>
          </a:p>
          <a:p>
            <a:pPr eaLnBrk="1" hangingPunct="1"/>
            <a:r>
              <a:rPr lang="en-US" altLang="en-US" b="1" dirty="0">
                <a:solidFill>
                  <a:schemeClr val="accent2"/>
                </a:solidFill>
                <a:latin typeface="+mj-lt"/>
              </a:rPr>
              <a:t>&lt;input type="text" name="text3" size="40" value="We are not alone"&gt;</a:t>
            </a:r>
          </a:p>
        </p:txBody>
      </p:sp>
    </p:spTree>
    <p:extLst>
      <p:ext uri="{BB962C8B-B14F-4D97-AF65-F5344CB8AC3E}">
        <p14:creationId xmlns:p14="http://schemas.microsoft.com/office/powerpoint/2010/main" val="386109006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275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90" dirty="0"/>
              <a:t>Input</a:t>
            </a:r>
            <a:r>
              <a:rPr spc="-50" dirty="0"/>
              <a:t> </a:t>
            </a:r>
            <a:r>
              <a:rPr spc="85" dirty="0"/>
              <a:t>Type</a:t>
            </a:r>
            <a:r>
              <a:rPr spc="-45" dirty="0"/>
              <a:t> </a:t>
            </a:r>
            <a:r>
              <a:rPr spc="135" dirty="0"/>
              <a:t>Password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4725" y="1216355"/>
            <a:ext cx="7607934" cy="1128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solidFill>
                  <a:srgbClr val="F45E61"/>
                </a:solidFill>
                <a:latin typeface="Courier New"/>
                <a:cs typeface="Courier New"/>
              </a:rPr>
              <a:t>&lt;input </a:t>
            </a:r>
            <a:r>
              <a:rPr sz="1600" spc="-20" dirty="0">
                <a:solidFill>
                  <a:srgbClr val="F45E61"/>
                </a:solidFill>
                <a:latin typeface="Courier New"/>
                <a:cs typeface="Courier New"/>
              </a:rPr>
              <a:t>type="password"&gt;</a:t>
            </a:r>
            <a:r>
              <a:rPr sz="1600" spc="-615" dirty="0">
                <a:solidFill>
                  <a:srgbClr val="F45E61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defines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45" dirty="0">
                <a:solidFill>
                  <a:srgbClr val="5E686C"/>
                </a:solidFill>
                <a:latin typeface="Tahoma"/>
                <a:cs typeface="Tahoma"/>
              </a:rPr>
              <a:t>a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password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5E686C"/>
                </a:solidFill>
                <a:latin typeface="Tahoma"/>
                <a:cs typeface="Tahoma"/>
              </a:rPr>
              <a:t>field:</a:t>
            </a:r>
            <a:endParaRPr sz="180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16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500"/>
              </a:spcBef>
            </a:pPr>
            <a:endParaRPr sz="16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The</a:t>
            </a:r>
            <a:r>
              <a:rPr sz="1800" spc="-17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characters</a:t>
            </a:r>
            <a:r>
              <a:rPr sz="1800" spc="-17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in</a:t>
            </a:r>
            <a:r>
              <a:rPr sz="1800" spc="-17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45" dirty="0">
                <a:solidFill>
                  <a:srgbClr val="5E686C"/>
                </a:solidFill>
                <a:latin typeface="Tahoma"/>
                <a:cs typeface="Tahoma"/>
              </a:rPr>
              <a:t>a</a:t>
            </a:r>
            <a:r>
              <a:rPr sz="1800" spc="-17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password</a:t>
            </a:r>
            <a:r>
              <a:rPr sz="1800" spc="-17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field</a:t>
            </a:r>
            <a:r>
              <a:rPr sz="1800" spc="-17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are</a:t>
            </a:r>
            <a:r>
              <a:rPr sz="1800" spc="-17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20" dirty="0">
                <a:solidFill>
                  <a:srgbClr val="5E686C"/>
                </a:solidFill>
                <a:latin typeface="Tahoma"/>
                <a:cs typeface="Tahoma"/>
              </a:rPr>
              <a:t>masked</a:t>
            </a:r>
            <a:r>
              <a:rPr sz="1800" spc="-17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25" dirty="0">
                <a:solidFill>
                  <a:srgbClr val="5E686C"/>
                </a:solidFill>
                <a:latin typeface="Tahoma"/>
                <a:cs typeface="Tahoma"/>
              </a:rPr>
              <a:t>(shown</a:t>
            </a:r>
            <a:r>
              <a:rPr sz="1800" spc="-17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35" dirty="0">
                <a:solidFill>
                  <a:srgbClr val="5E686C"/>
                </a:solidFill>
                <a:latin typeface="Tahoma"/>
                <a:cs typeface="Tahoma"/>
              </a:rPr>
              <a:t>as</a:t>
            </a:r>
            <a:r>
              <a:rPr sz="1800" spc="-17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asterisks</a:t>
            </a:r>
            <a:r>
              <a:rPr sz="1800" spc="-17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or</a:t>
            </a:r>
            <a:r>
              <a:rPr sz="1800" spc="-17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5E686C"/>
                </a:solidFill>
                <a:latin typeface="Tahoma"/>
                <a:cs typeface="Tahoma"/>
              </a:rPr>
              <a:t>circles).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84725" y="2876754"/>
            <a:ext cx="3774440" cy="11131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430"/>
              </a:lnSpc>
              <a:spcBef>
                <a:spcPts val="100"/>
              </a:spcBef>
            </a:pPr>
            <a:r>
              <a:rPr sz="1200" spc="-10" dirty="0">
                <a:solidFill>
                  <a:srgbClr val="0B5394"/>
                </a:solidFill>
                <a:latin typeface="Courier New"/>
                <a:cs typeface="Courier New"/>
              </a:rPr>
              <a:t>&lt;form&gt;</a:t>
            </a:r>
            <a:endParaRPr sz="1200">
              <a:latin typeface="Courier New"/>
              <a:cs typeface="Courier New"/>
            </a:endParaRPr>
          </a:p>
          <a:p>
            <a:pPr marL="195580">
              <a:lnSpc>
                <a:spcPts val="1425"/>
              </a:lnSpc>
            </a:pPr>
            <a:r>
              <a:rPr sz="1200" dirty="0">
                <a:solidFill>
                  <a:srgbClr val="0B5394"/>
                </a:solidFill>
                <a:latin typeface="Courier New"/>
                <a:cs typeface="Courier New"/>
              </a:rPr>
              <a:t>User</a:t>
            </a:r>
            <a:r>
              <a:rPr sz="1200" spc="-50" dirty="0">
                <a:solidFill>
                  <a:srgbClr val="0B5394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0B5394"/>
                </a:solidFill>
                <a:latin typeface="Courier New"/>
                <a:cs typeface="Courier New"/>
              </a:rPr>
              <a:t>name:&lt;br&gt;</a:t>
            </a:r>
            <a:endParaRPr sz="1200">
              <a:latin typeface="Courier New"/>
              <a:cs typeface="Courier New"/>
            </a:endParaRPr>
          </a:p>
          <a:p>
            <a:pPr marL="195580" marR="5080">
              <a:lnSpc>
                <a:spcPts val="1430"/>
              </a:lnSpc>
              <a:spcBef>
                <a:spcPts val="45"/>
              </a:spcBef>
            </a:pPr>
            <a:r>
              <a:rPr sz="1200" dirty="0">
                <a:solidFill>
                  <a:srgbClr val="0B5394"/>
                </a:solidFill>
                <a:latin typeface="Courier New"/>
                <a:cs typeface="Courier New"/>
              </a:rPr>
              <a:t>&lt;input</a:t>
            </a:r>
            <a:r>
              <a:rPr sz="1200" spc="-105" dirty="0">
                <a:solidFill>
                  <a:srgbClr val="0B5394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solidFill>
                  <a:srgbClr val="0B5394"/>
                </a:solidFill>
                <a:latin typeface="Courier New"/>
                <a:cs typeface="Courier New"/>
              </a:rPr>
              <a:t>type="text"</a:t>
            </a:r>
            <a:r>
              <a:rPr sz="1200" spc="-105" dirty="0">
                <a:solidFill>
                  <a:srgbClr val="0B5394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0B5394"/>
                </a:solidFill>
                <a:latin typeface="Courier New"/>
                <a:cs typeface="Courier New"/>
              </a:rPr>
              <a:t>name="username"&gt;&lt;br&gt; </a:t>
            </a:r>
            <a:r>
              <a:rPr sz="1200" dirty="0">
                <a:solidFill>
                  <a:srgbClr val="0B5394"/>
                </a:solidFill>
                <a:latin typeface="Courier New"/>
                <a:cs typeface="Courier New"/>
              </a:rPr>
              <a:t>User</a:t>
            </a:r>
            <a:r>
              <a:rPr sz="1200" spc="-50" dirty="0">
                <a:solidFill>
                  <a:srgbClr val="0B5394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0B5394"/>
                </a:solidFill>
                <a:latin typeface="Courier New"/>
                <a:cs typeface="Courier New"/>
              </a:rPr>
              <a:t>password:&lt;br&gt;</a:t>
            </a:r>
            <a:endParaRPr sz="1200">
              <a:latin typeface="Courier New"/>
              <a:cs typeface="Courier New"/>
            </a:endParaRPr>
          </a:p>
          <a:p>
            <a:pPr marL="195580">
              <a:lnSpc>
                <a:spcPts val="1365"/>
              </a:lnSpc>
            </a:pPr>
            <a:r>
              <a:rPr sz="1200" dirty="0">
                <a:solidFill>
                  <a:srgbClr val="0B5394"/>
                </a:solidFill>
                <a:latin typeface="Courier New"/>
                <a:cs typeface="Courier New"/>
              </a:rPr>
              <a:t>&lt;input</a:t>
            </a:r>
            <a:r>
              <a:rPr sz="1200" spc="-55" dirty="0">
                <a:solidFill>
                  <a:srgbClr val="0B5394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0B5394"/>
                </a:solidFill>
                <a:latin typeface="Courier New"/>
                <a:cs typeface="Courier New"/>
              </a:rPr>
              <a:t>type="password"</a:t>
            </a:r>
            <a:r>
              <a:rPr sz="1200" spc="-55" dirty="0">
                <a:solidFill>
                  <a:srgbClr val="0B5394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0B5394"/>
                </a:solidFill>
                <a:latin typeface="Courier New"/>
                <a:cs typeface="Courier New"/>
              </a:rPr>
              <a:t>name="psw"&gt;</a:t>
            </a:r>
            <a:endParaRPr sz="1200">
              <a:latin typeface="Courier New"/>
              <a:cs typeface="Courier New"/>
            </a:endParaRPr>
          </a:p>
          <a:p>
            <a:pPr marL="12700">
              <a:lnSpc>
                <a:spcPts val="1435"/>
              </a:lnSpc>
            </a:pPr>
            <a:r>
              <a:rPr sz="1200" spc="-10" dirty="0">
                <a:solidFill>
                  <a:srgbClr val="0B5394"/>
                </a:solidFill>
                <a:latin typeface="Courier New"/>
                <a:cs typeface="Courier New"/>
              </a:rPr>
              <a:t>&lt;/form&gt;</a:t>
            </a:r>
            <a:endParaRPr sz="1200">
              <a:latin typeface="Courier New"/>
              <a:cs typeface="Courier New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666328" y="2904800"/>
            <a:ext cx="2145974" cy="10790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60733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Diagram 6"/>
          <p:cNvGraphicFramePr/>
          <p:nvPr>
            <p:extLst>
              <p:ext uri="{D42A27DB-BD31-4B8C-83A1-F6EECF244321}">
                <p14:modId xmlns:p14="http://schemas.microsoft.com/office/powerpoint/2010/main" val="2881043477"/>
              </p:ext>
            </p:extLst>
          </p:nvPr>
        </p:nvGraphicFramePr>
        <p:xfrm>
          <a:off x="457200" y="205979"/>
          <a:ext cx="8229600" cy="857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EDC5919B-A997-476E-B3C7-F75027308DB2}" type="slidenum">
              <a:rPr lang="en-US" smtClean="0"/>
              <a:pPr/>
              <a:t>18</a:t>
            </a:fld>
            <a:endParaRPr lang="en-US"/>
          </a:p>
        </p:txBody>
      </p:sp>
      <p:pic>
        <p:nvPicPr>
          <p:cNvPr id="4" name="Content Placeholder 3" descr="formelement - Notepad"/>
          <p:cNvPicPr>
            <a:picLocks noGrp="1" noChangeAspect="1"/>
          </p:cNvPicPr>
          <p:nvPr>
            <p:ph idx="1"/>
          </p:nvPr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2080" b="24480"/>
          <a:stretch/>
        </p:blipFill>
        <p:spPr>
          <a:xfrm>
            <a:off x="533400" y="1200150"/>
            <a:ext cx="8229600" cy="446568"/>
          </a:xfrm>
        </p:spPr>
      </p:pic>
      <p:cxnSp>
        <p:nvCxnSpPr>
          <p:cNvPr id="9" name="Straight Arrow Connector 8"/>
          <p:cNvCxnSpPr/>
          <p:nvPr/>
        </p:nvCxnSpPr>
        <p:spPr>
          <a:xfrm flipH="1" flipV="1">
            <a:off x="2133600" y="1504950"/>
            <a:ext cx="762000" cy="40005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2362200" y="1905000"/>
            <a:ext cx="1905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Type is hidden</a:t>
            </a:r>
          </a:p>
        </p:txBody>
      </p:sp>
    </p:spTree>
    <p:extLst>
      <p:ext uri="{BB962C8B-B14F-4D97-AF65-F5344CB8AC3E}">
        <p14:creationId xmlns:p14="http://schemas.microsoft.com/office/powerpoint/2010/main" val="37692628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Diagram 6"/>
          <p:cNvGraphicFramePr/>
          <p:nvPr>
            <p:extLst>
              <p:ext uri="{D42A27DB-BD31-4B8C-83A1-F6EECF244321}">
                <p14:modId xmlns:p14="http://schemas.microsoft.com/office/powerpoint/2010/main" val="2851990234"/>
              </p:ext>
            </p:extLst>
          </p:nvPr>
        </p:nvGraphicFramePr>
        <p:xfrm>
          <a:off x="457200" y="205979"/>
          <a:ext cx="8229600" cy="857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EDC5919B-A997-476E-B3C7-F75027308DB2}" type="slidenum">
              <a:rPr lang="en-US" smtClean="0"/>
              <a:pPr/>
              <a:t>19</a:t>
            </a:fld>
            <a:endParaRPr lang="en-US"/>
          </a:p>
        </p:txBody>
      </p:sp>
      <p:pic>
        <p:nvPicPr>
          <p:cNvPr id="4" name="Content Placeholder 3" descr="HTML FOrms - Google Chrome"/>
          <p:cNvPicPr>
            <a:picLocks noGrp="1" noChangeAspect="1"/>
          </p:cNvPicPr>
          <p:nvPr>
            <p:ph idx="1"/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235984"/>
            <a:ext cx="8229600" cy="3322805"/>
          </a:xfrm>
        </p:spPr>
      </p:pic>
      <p:cxnSp>
        <p:nvCxnSpPr>
          <p:cNvPr id="9" name="Straight Arrow Connector 8"/>
          <p:cNvCxnSpPr/>
          <p:nvPr/>
        </p:nvCxnSpPr>
        <p:spPr>
          <a:xfrm flipH="1" flipV="1">
            <a:off x="5334000" y="2971800"/>
            <a:ext cx="228600" cy="40005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029200" y="3486150"/>
            <a:ext cx="2895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Hidden field is not visible</a:t>
            </a:r>
          </a:p>
        </p:txBody>
      </p:sp>
    </p:spTree>
    <p:extLst>
      <p:ext uri="{BB962C8B-B14F-4D97-AF65-F5344CB8AC3E}">
        <p14:creationId xmlns:p14="http://schemas.microsoft.com/office/powerpoint/2010/main" val="4233525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90" dirty="0"/>
              <a:t>Input</a:t>
            </a:r>
            <a:r>
              <a:rPr spc="-50" dirty="0"/>
              <a:t> </a:t>
            </a:r>
            <a:r>
              <a:rPr spc="85" dirty="0"/>
              <a:t>Type</a:t>
            </a:r>
            <a:r>
              <a:rPr spc="-45" dirty="0"/>
              <a:t> </a:t>
            </a:r>
            <a:r>
              <a:rPr spc="105" dirty="0"/>
              <a:t>Submit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4725" y="1176350"/>
            <a:ext cx="8089265" cy="1597025"/>
          </a:xfrm>
          <a:prstGeom prst="rect">
            <a:avLst/>
          </a:prstGeom>
        </p:spPr>
        <p:txBody>
          <a:bodyPr vert="horz" wrap="square" lIns="0" tIns="527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14"/>
              </a:spcBef>
            </a:pPr>
            <a:r>
              <a:rPr sz="1600" dirty="0">
                <a:solidFill>
                  <a:srgbClr val="F45E61"/>
                </a:solidFill>
                <a:latin typeface="Courier New"/>
                <a:cs typeface="Courier New"/>
              </a:rPr>
              <a:t>&lt;input</a:t>
            </a:r>
            <a:r>
              <a:rPr sz="1600" spc="120" dirty="0">
                <a:solidFill>
                  <a:srgbClr val="F45E61"/>
                </a:solidFill>
                <a:latin typeface="Courier New"/>
                <a:cs typeface="Courier New"/>
              </a:rPr>
              <a:t> </a:t>
            </a:r>
            <a:r>
              <a:rPr sz="1600" spc="-20" dirty="0">
                <a:solidFill>
                  <a:srgbClr val="F45E61"/>
                </a:solidFill>
                <a:latin typeface="Courier New"/>
                <a:cs typeface="Courier New"/>
              </a:rPr>
              <a:t>type="submit"&gt;</a:t>
            </a:r>
            <a:r>
              <a:rPr sz="1600" spc="-565" dirty="0">
                <a:solidFill>
                  <a:srgbClr val="F45E61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defines</a:t>
            </a:r>
            <a:r>
              <a:rPr sz="1800" spc="-17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45" dirty="0">
                <a:solidFill>
                  <a:srgbClr val="5E686C"/>
                </a:solidFill>
                <a:latin typeface="Tahoma"/>
                <a:cs typeface="Tahoma"/>
              </a:rPr>
              <a:t>a</a:t>
            </a:r>
            <a:r>
              <a:rPr sz="1800" spc="-17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button</a:t>
            </a:r>
            <a:r>
              <a:rPr sz="1800" spc="-17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for</a:t>
            </a:r>
            <a:r>
              <a:rPr sz="1800" spc="-17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submitting</a:t>
            </a:r>
            <a:r>
              <a:rPr sz="1800" spc="-17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form</a:t>
            </a:r>
            <a:r>
              <a:rPr sz="1800" spc="-17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data</a:t>
            </a:r>
            <a:r>
              <a:rPr sz="1800" spc="-17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to</a:t>
            </a:r>
            <a:r>
              <a:rPr sz="1800" spc="-17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50" dirty="0">
                <a:solidFill>
                  <a:srgbClr val="5E686C"/>
                </a:solidFill>
                <a:latin typeface="Tahoma"/>
                <a:cs typeface="Tahoma"/>
              </a:rPr>
              <a:t>a</a:t>
            </a:r>
            <a:endParaRPr sz="18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315"/>
              </a:spcBef>
            </a:pPr>
            <a:r>
              <a:rPr sz="1800" b="1" spc="-125" dirty="0">
                <a:solidFill>
                  <a:srgbClr val="5E686C"/>
                </a:solidFill>
                <a:latin typeface="Tahoma"/>
                <a:cs typeface="Tahoma"/>
              </a:rPr>
              <a:t>form-</a:t>
            </a:r>
            <a:r>
              <a:rPr sz="1800" b="1" spc="-10" dirty="0">
                <a:solidFill>
                  <a:srgbClr val="5E686C"/>
                </a:solidFill>
                <a:latin typeface="Tahoma"/>
                <a:cs typeface="Tahoma"/>
              </a:rPr>
              <a:t>handler</a:t>
            </a:r>
            <a:r>
              <a:rPr sz="1800" spc="-10" dirty="0">
                <a:solidFill>
                  <a:srgbClr val="5E686C"/>
                </a:solidFill>
                <a:latin typeface="Tahoma"/>
                <a:cs typeface="Tahoma"/>
              </a:rPr>
              <a:t>.</a:t>
            </a:r>
            <a:endParaRPr sz="18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300"/>
              </a:spcBef>
            </a:pPr>
            <a:endParaRPr sz="1800">
              <a:latin typeface="Tahoma"/>
              <a:cs typeface="Tahoma"/>
            </a:endParaRPr>
          </a:p>
          <a:p>
            <a:pPr marL="12700" marR="5080">
              <a:lnSpc>
                <a:spcPct val="114599"/>
              </a:lnSpc>
            </a:pP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The</a:t>
            </a:r>
            <a:r>
              <a:rPr sz="1800" spc="-15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form-handler</a:t>
            </a:r>
            <a:r>
              <a:rPr sz="1800" spc="-15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is</a:t>
            </a:r>
            <a:r>
              <a:rPr sz="1800" spc="-15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typically</a:t>
            </a:r>
            <a:r>
              <a:rPr sz="1800" spc="-15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45" dirty="0">
                <a:solidFill>
                  <a:srgbClr val="5E686C"/>
                </a:solidFill>
                <a:latin typeface="Tahoma"/>
                <a:cs typeface="Tahoma"/>
              </a:rPr>
              <a:t>a</a:t>
            </a:r>
            <a:r>
              <a:rPr sz="1800" spc="-14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b="1" spc="-105" dirty="0">
                <a:solidFill>
                  <a:srgbClr val="5E686C"/>
                </a:solidFill>
                <a:latin typeface="Tahoma"/>
                <a:cs typeface="Tahoma"/>
              </a:rPr>
              <a:t>server</a:t>
            </a:r>
            <a:r>
              <a:rPr sz="1800" b="1" spc="-114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b="1" spc="-155" dirty="0">
                <a:solidFill>
                  <a:srgbClr val="5E686C"/>
                </a:solidFill>
                <a:latin typeface="Tahoma"/>
                <a:cs typeface="Tahoma"/>
              </a:rPr>
              <a:t>page</a:t>
            </a:r>
            <a:r>
              <a:rPr sz="1800" b="1" spc="-10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with</a:t>
            </a:r>
            <a:r>
              <a:rPr sz="1800" spc="-15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45" dirty="0">
                <a:solidFill>
                  <a:srgbClr val="5E686C"/>
                </a:solidFill>
                <a:latin typeface="Tahoma"/>
                <a:cs typeface="Tahoma"/>
              </a:rPr>
              <a:t>a</a:t>
            </a:r>
            <a:r>
              <a:rPr sz="1800" spc="-15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script</a:t>
            </a:r>
            <a:r>
              <a:rPr sz="1800" spc="-15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for</a:t>
            </a:r>
            <a:r>
              <a:rPr sz="1800" spc="-15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processing</a:t>
            </a:r>
            <a:r>
              <a:rPr sz="1800" spc="-15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input</a:t>
            </a:r>
            <a:r>
              <a:rPr sz="1800" spc="-14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5E686C"/>
                </a:solidFill>
                <a:latin typeface="Tahoma"/>
                <a:cs typeface="Tahoma"/>
              </a:rPr>
              <a:t>data. </a:t>
            </a:r>
            <a:r>
              <a:rPr sz="1800" spc="90" dirty="0">
                <a:solidFill>
                  <a:srgbClr val="5E686C"/>
                </a:solidFill>
                <a:latin typeface="Tahoma"/>
                <a:cs typeface="Tahoma"/>
              </a:rPr>
              <a:t>We</a:t>
            </a:r>
            <a:r>
              <a:rPr sz="1800" spc="-15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will</a:t>
            </a:r>
            <a:r>
              <a:rPr sz="1800" spc="-14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learn</a:t>
            </a:r>
            <a:r>
              <a:rPr sz="1800" spc="-14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this</a:t>
            </a:r>
            <a:r>
              <a:rPr sz="1800" spc="-14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later</a:t>
            </a:r>
            <a:r>
              <a:rPr sz="1800" spc="-14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when</a:t>
            </a:r>
            <a:r>
              <a:rPr sz="1800" spc="-14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we</a:t>
            </a:r>
            <a:r>
              <a:rPr sz="1800" spc="-14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talk</a:t>
            </a:r>
            <a:r>
              <a:rPr sz="1800" spc="-15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about</a:t>
            </a:r>
            <a:r>
              <a:rPr sz="1800" spc="-14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20" dirty="0">
                <a:solidFill>
                  <a:srgbClr val="5E686C"/>
                </a:solidFill>
                <a:latin typeface="Tahoma"/>
                <a:cs typeface="Tahoma"/>
              </a:rPr>
              <a:t>PHP.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84725" y="2991054"/>
            <a:ext cx="5420360" cy="1098378"/>
          </a:xfrm>
          <a:prstGeom prst="rect">
            <a:avLst/>
          </a:prstGeom>
        </p:spPr>
        <p:txBody>
          <a:bodyPr vert="horz" wrap="square" lIns="0" tIns="19685" rIns="0" bIns="0" rtlCol="0">
            <a:spAutoFit/>
          </a:bodyPr>
          <a:lstStyle/>
          <a:p>
            <a:pPr marL="195580" marR="2473325" indent="-182880">
              <a:lnSpc>
                <a:spcPts val="1430"/>
              </a:lnSpc>
              <a:spcBef>
                <a:spcPts val="155"/>
              </a:spcBef>
            </a:pPr>
            <a:r>
              <a:rPr sz="1200" dirty="0">
                <a:solidFill>
                  <a:srgbClr val="0B5394"/>
                </a:solidFill>
                <a:latin typeface="Courier New"/>
                <a:cs typeface="Courier New"/>
              </a:rPr>
              <a:t>&lt;form</a:t>
            </a:r>
            <a:r>
              <a:rPr sz="1200" spc="-65" dirty="0">
                <a:solidFill>
                  <a:srgbClr val="0B5394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0B5394"/>
                </a:solidFill>
                <a:latin typeface="Courier New"/>
                <a:cs typeface="Courier New"/>
              </a:rPr>
              <a:t>action="/action_page.php"&gt; </a:t>
            </a:r>
            <a:r>
              <a:rPr sz="1200" dirty="0">
                <a:solidFill>
                  <a:srgbClr val="0B5394"/>
                </a:solidFill>
                <a:latin typeface="Courier New"/>
                <a:cs typeface="Courier New"/>
              </a:rPr>
              <a:t>First</a:t>
            </a:r>
            <a:r>
              <a:rPr sz="1200" spc="-65" dirty="0">
                <a:solidFill>
                  <a:srgbClr val="0B5394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0B5394"/>
                </a:solidFill>
                <a:latin typeface="Courier New"/>
                <a:cs typeface="Courier New"/>
              </a:rPr>
              <a:t>name:&lt;br&gt;</a:t>
            </a:r>
            <a:endParaRPr sz="1200" dirty="0">
              <a:latin typeface="Courier New"/>
              <a:cs typeface="Courier New"/>
            </a:endParaRPr>
          </a:p>
          <a:p>
            <a:pPr marL="195580">
              <a:lnSpc>
                <a:spcPts val="1365"/>
              </a:lnSpc>
            </a:pPr>
            <a:r>
              <a:rPr sz="1200" dirty="0">
                <a:solidFill>
                  <a:srgbClr val="0B5394"/>
                </a:solidFill>
                <a:latin typeface="Courier New"/>
                <a:cs typeface="Courier New"/>
              </a:rPr>
              <a:t>&lt;input</a:t>
            </a:r>
            <a:r>
              <a:rPr sz="1200" spc="-85" dirty="0">
                <a:solidFill>
                  <a:srgbClr val="0B5394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solidFill>
                  <a:srgbClr val="0B5394"/>
                </a:solidFill>
                <a:latin typeface="Courier New"/>
                <a:cs typeface="Courier New"/>
              </a:rPr>
              <a:t>type="text"</a:t>
            </a:r>
            <a:r>
              <a:rPr sz="1200" spc="-80" dirty="0">
                <a:solidFill>
                  <a:srgbClr val="0B5394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0B5394"/>
                </a:solidFill>
                <a:latin typeface="Courier New"/>
                <a:cs typeface="Courier New"/>
              </a:rPr>
              <a:t>name="firstname"</a:t>
            </a:r>
            <a:r>
              <a:rPr sz="1200" spc="-80" dirty="0">
                <a:solidFill>
                  <a:srgbClr val="0B5394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0B5394"/>
                </a:solidFill>
                <a:latin typeface="Courier New"/>
                <a:cs typeface="Courier New"/>
              </a:rPr>
              <a:t>value="Mickey"&gt;&lt;br&gt;</a:t>
            </a:r>
            <a:endParaRPr sz="1200" dirty="0">
              <a:latin typeface="Courier New"/>
              <a:cs typeface="Courier New"/>
            </a:endParaRPr>
          </a:p>
          <a:p>
            <a:pPr marL="195580">
              <a:lnSpc>
                <a:spcPts val="1425"/>
              </a:lnSpc>
            </a:pPr>
            <a:r>
              <a:rPr sz="1200" dirty="0">
                <a:solidFill>
                  <a:srgbClr val="0B5394"/>
                </a:solidFill>
                <a:latin typeface="Courier New"/>
                <a:cs typeface="Courier New"/>
              </a:rPr>
              <a:t>Last</a:t>
            </a:r>
            <a:r>
              <a:rPr sz="1200" spc="-50" dirty="0">
                <a:solidFill>
                  <a:srgbClr val="0B5394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0B5394"/>
                </a:solidFill>
                <a:latin typeface="Courier New"/>
                <a:cs typeface="Courier New"/>
              </a:rPr>
              <a:t>name:&lt;br&gt;</a:t>
            </a:r>
            <a:endParaRPr sz="1200" dirty="0">
              <a:latin typeface="Courier New"/>
              <a:cs typeface="Courier New"/>
            </a:endParaRPr>
          </a:p>
          <a:p>
            <a:pPr marL="195580">
              <a:lnSpc>
                <a:spcPts val="1425"/>
              </a:lnSpc>
            </a:pPr>
            <a:r>
              <a:rPr sz="1200" dirty="0" smtClean="0">
                <a:solidFill>
                  <a:srgbClr val="0B5394"/>
                </a:solidFill>
                <a:latin typeface="Courier New"/>
                <a:cs typeface="Courier New"/>
              </a:rPr>
              <a:t>&lt;</a:t>
            </a:r>
            <a:r>
              <a:rPr sz="1200" dirty="0">
                <a:solidFill>
                  <a:srgbClr val="0B5394"/>
                </a:solidFill>
                <a:latin typeface="Courier New"/>
                <a:cs typeface="Courier New"/>
              </a:rPr>
              <a:t>input</a:t>
            </a:r>
            <a:r>
              <a:rPr sz="1200" spc="-120" dirty="0">
                <a:solidFill>
                  <a:srgbClr val="0B5394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solidFill>
                  <a:srgbClr val="0B5394"/>
                </a:solidFill>
                <a:latin typeface="Courier New"/>
                <a:cs typeface="Courier New"/>
              </a:rPr>
              <a:t>type="submit"</a:t>
            </a:r>
            <a:r>
              <a:rPr sz="1200" spc="-114" dirty="0">
                <a:solidFill>
                  <a:srgbClr val="0B5394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0B5394"/>
                </a:solidFill>
                <a:latin typeface="Courier New"/>
                <a:cs typeface="Courier New"/>
              </a:rPr>
              <a:t>value="Submit"&gt;</a:t>
            </a:r>
            <a:endParaRPr sz="1200" dirty="0">
              <a:latin typeface="Courier New"/>
              <a:cs typeface="Courier New"/>
            </a:endParaRPr>
          </a:p>
          <a:p>
            <a:pPr marL="12700">
              <a:lnSpc>
                <a:spcPts val="1435"/>
              </a:lnSpc>
            </a:pPr>
            <a:r>
              <a:rPr sz="1200" spc="-10" dirty="0">
                <a:solidFill>
                  <a:srgbClr val="0B5394"/>
                </a:solidFill>
                <a:latin typeface="Courier New"/>
                <a:cs typeface="Courier New"/>
              </a:rPr>
              <a:t>&lt;/form&gt;</a:t>
            </a:r>
            <a:endParaRPr sz="1200" dirty="0">
              <a:latin typeface="Courier New"/>
              <a:cs typeface="Courier New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557100" y="3166387"/>
            <a:ext cx="1752599" cy="1228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30553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90" dirty="0"/>
              <a:t>Input</a:t>
            </a:r>
            <a:r>
              <a:rPr spc="-50" dirty="0"/>
              <a:t> </a:t>
            </a:r>
            <a:r>
              <a:rPr spc="85" dirty="0"/>
              <a:t>Type</a:t>
            </a:r>
            <a:r>
              <a:rPr spc="-45" dirty="0"/>
              <a:t> </a:t>
            </a:r>
            <a:r>
              <a:rPr spc="90" dirty="0"/>
              <a:t>Reset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384725" y="1176350"/>
            <a:ext cx="8364220" cy="9474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4599"/>
              </a:lnSpc>
              <a:spcBef>
                <a:spcPts val="100"/>
              </a:spcBef>
            </a:pPr>
            <a:r>
              <a:rPr sz="1600" dirty="0">
                <a:solidFill>
                  <a:srgbClr val="F45E61"/>
                </a:solidFill>
                <a:latin typeface="Courier New"/>
                <a:cs typeface="Courier New"/>
              </a:rPr>
              <a:t>&lt;input</a:t>
            </a:r>
            <a:r>
              <a:rPr sz="1600" spc="145" dirty="0">
                <a:solidFill>
                  <a:srgbClr val="F45E61"/>
                </a:solidFill>
                <a:latin typeface="Courier New"/>
                <a:cs typeface="Courier New"/>
              </a:rPr>
              <a:t> </a:t>
            </a:r>
            <a:r>
              <a:rPr sz="1600" spc="-20" dirty="0">
                <a:solidFill>
                  <a:srgbClr val="F45E61"/>
                </a:solidFill>
                <a:latin typeface="Courier New"/>
                <a:cs typeface="Courier New"/>
              </a:rPr>
              <a:t>type="reset"&gt;</a:t>
            </a:r>
            <a:r>
              <a:rPr sz="1600" spc="-560" dirty="0">
                <a:solidFill>
                  <a:srgbClr val="F45E61"/>
                </a:solidFill>
                <a:latin typeface="Courier New"/>
                <a:cs typeface="Courier New"/>
              </a:rPr>
              <a:t> </a:t>
            </a:r>
            <a:r>
              <a:rPr dirty="0"/>
              <a:t>defines</a:t>
            </a:r>
            <a:r>
              <a:rPr spc="-165" dirty="0"/>
              <a:t> </a:t>
            </a:r>
            <a:r>
              <a:rPr spc="-45" dirty="0"/>
              <a:t>a</a:t>
            </a:r>
            <a:r>
              <a:rPr spc="-165" dirty="0"/>
              <a:t> </a:t>
            </a:r>
            <a:r>
              <a:rPr dirty="0"/>
              <a:t>reset</a:t>
            </a:r>
            <a:r>
              <a:rPr spc="-165" dirty="0"/>
              <a:t> </a:t>
            </a:r>
            <a:r>
              <a:rPr dirty="0"/>
              <a:t>button</a:t>
            </a:r>
            <a:r>
              <a:rPr spc="-165" dirty="0"/>
              <a:t> </a:t>
            </a:r>
            <a:r>
              <a:rPr dirty="0"/>
              <a:t>that</a:t>
            </a:r>
            <a:r>
              <a:rPr spc="-165" dirty="0"/>
              <a:t> </a:t>
            </a:r>
            <a:r>
              <a:rPr dirty="0"/>
              <a:t>will</a:t>
            </a:r>
            <a:r>
              <a:rPr spc="-165" dirty="0"/>
              <a:t> </a:t>
            </a:r>
            <a:r>
              <a:rPr dirty="0"/>
              <a:t>reset</a:t>
            </a:r>
            <a:r>
              <a:rPr spc="-165" dirty="0"/>
              <a:t> </a:t>
            </a:r>
            <a:r>
              <a:rPr dirty="0"/>
              <a:t>all</a:t>
            </a:r>
            <a:r>
              <a:rPr spc="-165" dirty="0"/>
              <a:t> </a:t>
            </a:r>
            <a:r>
              <a:rPr dirty="0"/>
              <a:t>form</a:t>
            </a:r>
            <a:r>
              <a:rPr spc="-170" dirty="0"/>
              <a:t> </a:t>
            </a:r>
            <a:r>
              <a:rPr dirty="0"/>
              <a:t>values</a:t>
            </a:r>
            <a:r>
              <a:rPr spc="-165" dirty="0"/>
              <a:t> </a:t>
            </a:r>
            <a:r>
              <a:rPr dirty="0"/>
              <a:t>to</a:t>
            </a:r>
            <a:r>
              <a:rPr spc="-165" dirty="0"/>
              <a:t> </a:t>
            </a:r>
            <a:r>
              <a:rPr spc="-10" dirty="0"/>
              <a:t>their </a:t>
            </a:r>
            <a:r>
              <a:rPr dirty="0"/>
              <a:t>default</a:t>
            </a:r>
            <a:r>
              <a:rPr spc="-114" dirty="0"/>
              <a:t> </a:t>
            </a:r>
            <a:r>
              <a:rPr spc="-10" dirty="0"/>
              <a:t>values:</a:t>
            </a:r>
            <a:endParaRPr sz="1600" dirty="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430"/>
              </a:spcBef>
            </a:pPr>
            <a:endParaRPr sz="1600" dirty="0"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29947096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90" dirty="0"/>
              <a:t>Input</a:t>
            </a:r>
            <a:r>
              <a:rPr spc="-50" dirty="0"/>
              <a:t> </a:t>
            </a:r>
            <a:r>
              <a:rPr spc="85" dirty="0"/>
              <a:t>Type</a:t>
            </a:r>
            <a:r>
              <a:rPr spc="-45" dirty="0"/>
              <a:t> </a:t>
            </a:r>
            <a:r>
              <a:rPr spc="60" dirty="0"/>
              <a:t>Radio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4725" y="1216355"/>
            <a:ext cx="7270750" cy="92836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solidFill>
                  <a:srgbClr val="F45E61"/>
                </a:solidFill>
                <a:latin typeface="Courier New"/>
                <a:cs typeface="Courier New"/>
              </a:rPr>
              <a:t>&lt;input</a:t>
            </a:r>
            <a:r>
              <a:rPr sz="1600" spc="25" dirty="0">
                <a:solidFill>
                  <a:srgbClr val="F45E61"/>
                </a:solidFill>
                <a:latin typeface="Courier New"/>
                <a:cs typeface="Courier New"/>
              </a:rPr>
              <a:t> </a:t>
            </a:r>
            <a:r>
              <a:rPr sz="1600" spc="-20" dirty="0">
                <a:solidFill>
                  <a:srgbClr val="F45E61"/>
                </a:solidFill>
                <a:latin typeface="Courier New"/>
                <a:cs typeface="Courier New"/>
              </a:rPr>
              <a:t>type="radio"&gt;</a:t>
            </a:r>
            <a:r>
              <a:rPr sz="1600" spc="-605" dirty="0">
                <a:solidFill>
                  <a:srgbClr val="F45E61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defines</a:t>
            </a:r>
            <a:r>
              <a:rPr sz="1800" spc="-204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45" dirty="0">
                <a:solidFill>
                  <a:srgbClr val="5E686C"/>
                </a:solidFill>
                <a:latin typeface="Tahoma"/>
                <a:cs typeface="Tahoma"/>
              </a:rPr>
              <a:t>a</a:t>
            </a:r>
            <a:r>
              <a:rPr sz="1800" spc="-21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radio</a:t>
            </a:r>
            <a:r>
              <a:rPr sz="1800" spc="-21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5E686C"/>
                </a:solidFill>
                <a:latin typeface="Tahoma"/>
                <a:cs typeface="Tahoma"/>
              </a:rPr>
              <a:t>button.</a:t>
            </a:r>
            <a:endParaRPr sz="18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615"/>
              </a:spcBef>
            </a:pPr>
            <a:endParaRPr sz="18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Radio</a:t>
            </a:r>
            <a:r>
              <a:rPr sz="1800" spc="-17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buttons</a:t>
            </a:r>
            <a:r>
              <a:rPr sz="1800" spc="-16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let</a:t>
            </a:r>
            <a:r>
              <a:rPr sz="1800" spc="-16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45" dirty="0">
                <a:solidFill>
                  <a:srgbClr val="5E686C"/>
                </a:solidFill>
                <a:latin typeface="Tahoma"/>
                <a:cs typeface="Tahoma"/>
              </a:rPr>
              <a:t>a</a:t>
            </a:r>
            <a:r>
              <a:rPr sz="1800" spc="-16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user</a:t>
            </a:r>
            <a:r>
              <a:rPr sz="1800" spc="-16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select</a:t>
            </a:r>
            <a:r>
              <a:rPr sz="1800" spc="-17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110" dirty="0">
                <a:solidFill>
                  <a:srgbClr val="5E686C"/>
                </a:solidFill>
                <a:latin typeface="Tahoma"/>
                <a:cs typeface="Tahoma"/>
              </a:rPr>
              <a:t>ONLY</a:t>
            </a:r>
            <a:r>
              <a:rPr sz="1800" spc="-16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114" dirty="0">
                <a:solidFill>
                  <a:srgbClr val="5E686C"/>
                </a:solidFill>
                <a:latin typeface="Tahoma"/>
                <a:cs typeface="Tahoma"/>
              </a:rPr>
              <a:t>ONE</a:t>
            </a:r>
            <a:r>
              <a:rPr sz="1800" spc="-16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of</a:t>
            </a:r>
            <a:r>
              <a:rPr sz="1800" spc="-16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45" dirty="0">
                <a:solidFill>
                  <a:srgbClr val="5E686C"/>
                </a:solidFill>
                <a:latin typeface="Tahoma"/>
                <a:cs typeface="Tahoma"/>
              </a:rPr>
              <a:t>a</a:t>
            </a:r>
            <a:r>
              <a:rPr sz="1800" spc="-16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limited</a:t>
            </a:r>
            <a:r>
              <a:rPr sz="1800" spc="-17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number</a:t>
            </a:r>
            <a:r>
              <a:rPr sz="1800" spc="-16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of</a:t>
            </a:r>
            <a:r>
              <a:rPr sz="1800" spc="-16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5E686C"/>
                </a:solidFill>
                <a:latin typeface="Tahoma"/>
                <a:cs typeface="Tahoma"/>
              </a:rPr>
              <a:t>choices: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84725" y="2850083"/>
            <a:ext cx="6060440" cy="1073150"/>
          </a:xfrm>
          <a:prstGeom prst="rect">
            <a:avLst/>
          </a:prstGeom>
        </p:spPr>
        <p:txBody>
          <a:bodyPr vert="horz" wrap="square" lIns="0" tIns="3936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9"/>
              </a:spcBef>
            </a:pPr>
            <a:r>
              <a:rPr sz="1200" spc="-10" dirty="0">
                <a:solidFill>
                  <a:srgbClr val="0B5394"/>
                </a:solidFill>
                <a:latin typeface="Courier New"/>
                <a:cs typeface="Courier New"/>
              </a:rPr>
              <a:t>&lt;form&gt;</a:t>
            </a:r>
            <a:endParaRPr sz="1200">
              <a:latin typeface="Courier New"/>
              <a:cs typeface="Courier New"/>
            </a:endParaRPr>
          </a:p>
          <a:p>
            <a:pPr marL="195580">
              <a:lnSpc>
                <a:spcPct val="100000"/>
              </a:lnSpc>
              <a:spcBef>
                <a:spcPts val="209"/>
              </a:spcBef>
            </a:pPr>
            <a:r>
              <a:rPr sz="1200" dirty="0">
                <a:solidFill>
                  <a:srgbClr val="0B5394"/>
                </a:solidFill>
                <a:latin typeface="Courier New"/>
                <a:cs typeface="Courier New"/>
              </a:rPr>
              <a:t>&lt;input</a:t>
            </a:r>
            <a:r>
              <a:rPr sz="1200" spc="-125" dirty="0">
                <a:solidFill>
                  <a:srgbClr val="0B5394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solidFill>
                  <a:srgbClr val="0B5394"/>
                </a:solidFill>
                <a:latin typeface="Courier New"/>
                <a:cs typeface="Courier New"/>
              </a:rPr>
              <a:t>type="radio"</a:t>
            </a:r>
            <a:r>
              <a:rPr sz="1200" spc="-125" dirty="0">
                <a:solidFill>
                  <a:srgbClr val="0B5394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solidFill>
                  <a:srgbClr val="0B5394"/>
                </a:solidFill>
                <a:latin typeface="Courier New"/>
                <a:cs typeface="Courier New"/>
              </a:rPr>
              <a:t>name="gender"</a:t>
            </a:r>
            <a:r>
              <a:rPr sz="1200" spc="-125" dirty="0">
                <a:solidFill>
                  <a:srgbClr val="0B5394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solidFill>
                  <a:srgbClr val="0B5394"/>
                </a:solidFill>
                <a:latin typeface="Courier New"/>
                <a:cs typeface="Courier New"/>
              </a:rPr>
              <a:t>value="male"</a:t>
            </a:r>
            <a:r>
              <a:rPr sz="1200" spc="-125" dirty="0">
                <a:solidFill>
                  <a:srgbClr val="0B5394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solidFill>
                  <a:srgbClr val="0B5394"/>
                </a:solidFill>
                <a:latin typeface="Courier New"/>
                <a:cs typeface="Courier New"/>
              </a:rPr>
              <a:t>checked&gt;</a:t>
            </a:r>
            <a:r>
              <a:rPr sz="1200" spc="-125" dirty="0">
                <a:solidFill>
                  <a:srgbClr val="0B5394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0B5394"/>
                </a:solidFill>
                <a:latin typeface="Courier New"/>
                <a:cs typeface="Courier New"/>
              </a:rPr>
              <a:t>Male&lt;br&gt;</a:t>
            </a:r>
            <a:endParaRPr sz="1200">
              <a:latin typeface="Courier New"/>
              <a:cs typeface="Courier New"/>
            </a:endParaRPr>
          </a:p>
          <a:p>
            <a:pPr marL="195580">
              <a:lnSpc>
                <a:spcPct val="100000"/>
              </a:lnSpc>
              <a:spcBef>
                <a:spcPts val="209"/>
              </a:spcBef>
            </a:pPr>
            <a:r>
              <a:rPr sz="1200" dirty="0">
                <a:solidFill>
                  <a:srgbClr val="0B5394"/>
                </a:solidFill>
                <a:latin typeface="Courier New"/>
                <a:cs typeface="Courier New"/>
              </a:rPr>
              <a:t>&lt;input</a:t>
            </a:r>
            <a:r>
              <a:rPr sz="1200" spc="-105" dirty="0">
                <a:solidFill>
                  <a:srgbClr val="0B5394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solidFill>
                  <a:srgbClr val="0B5394"/>
                </a:solidFill>
                <a:latin typeface="Courier New"/>
                <a:cs typeface="Courier New"/>
              </a:rPr>
              <a:t>type="radio"</a:t>
            </a:r>
            <a:r>
              <a:rPr sz="1200" spc="-105" dirty="0">
                <a:solidFill>
                  <a:srgbClr val="0B5394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solidFill>
                  <a:srgbClr val="0B5394"/>
                </a:solidFill>
                <a:latin typeface="Courier New"/>
                <a:cs typeface="Courier New"/>
              </a:rPr>
              <a:t>name="gender"</a:t>
            </a:r>
            <a:r>
              <a:rPr sz="1200" spc="-105" dirty="0">
                <a:solidFill>
                  <a:srgbClr val="0B5394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0B5394"/>
                </a:solidFill>
                <a:latin typeface="Courier New"/>
                <a:cs typeface="Courier New"/>
              </a:rPr>
              <a:t>value="female"&gt;</a:t>
            </a:r>
            <a:r>
              <a:rPr sz="1200" spc="-100" dirty="0">
                <a:solidFill>
                  <a:srgbClr val="0B5394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0B5394"/>
                </a:solidFill>
                <a:latin typeface="Courier New"/>
                <a:cs typeface="Courier New"/>
              </a:rPr>
              <a:t>Female&lt;br&gt;</a:t>
            </a:r>
            <a:endParaRPr sz="1200">
              <a:latin typeface="Courier New"/>
              <a:cs typeface="Courier New"/>
            </a:endParaRPr>
          </a:p>
          <a:p>
            <a:pPr marL="195580">
              <a:lnSpc>
                <a:spcPct val="100000"/>
              </a:lnSpc>
              <a:spcBef>
                <a:spcPts val="210"/>
              </a:spcBef>
            </a:pPr>
            <a:r>
              <a:rPr sz="1200" dirty="0">
                <a:solidFill>
                  <a:srgbClr val="0B5394"/>
                </a:solidFill>
                <a:latin typeface="Courier New"/>
                <a:cs typeface="Courier New"/>
              </a:rPr>
              <a:t>&lt;input</a:t>
            </a:r>
            <a:r>
              <a:rPr sz="1200" spc="-140" dirty="0">
                <a:solidFill>
                  <a:srgbClr val="0B5394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solidFill>
                  <a:srgbClr val="0B5394"/>
                </a:solidFill>
                <a:latin typeface="Courier New"/>
                <a:cs typeface="Courier New"/>
              </a:rPr>
              <a:t>type="radio"</a:t>
            </a:r>
            <a:r>
              <a:rPr sz="1200" spc="-140" dirty="0">
                <a:solidFill>
                  <a:srgbClr val="0B5394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solidFill>
                  <a:srgbClr val="0B5394"/>
                </a:solidFill>
                <a:latin typeface="Courier New"/>
                <a:cs typeface="Courier New"/>
              </a:rPr>
              <a:t>name="gender"</a:t>
            </a:r>
            <a:r>
              <a:rPr sz="1200" spc="-135" dirty="0">
                <a:solidFill>
                  <a:srgbClr val="0B5394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solidFill>
                  <a:srgbClr val="0B5394"/>
                </a:solidFill>
                <a:latin typeface="Courier New"/>
                <a:cs typeface="Courier New"/>
              </a:rPr>
              <a:t>value="other"&gt;</a:t>
            </a:r>
            <a:r>
              <a:rPr sz="1200" spc="-140" dirty="0">
                <a:solidFill>
                  <a:srgbClr val="0B5394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0B5394"/>
                </a:solidFill>
                <a:latin typeface="Courier New"/>
                <a:cs typeface="Courier New"/>
              </a:rPr>
              <a:t>Other</a:t>
            </a:r>
            <a:endParaRPr sz="12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210"/>
              </a:spcBef>
            </a:pPr>
            <a:r>
              <a:rPr sz="1200" spc="-10" dirty="0">
                <a:solidFill>
                  <a:srgbClr val="0B5394"/>
                </a:solidFill>
                <a:latin typeface="Courier New"/>
                <a:cs typeface="Courier New"/>
              </a:rPr>
              <a:t>&lt;/form&gt;</a:t>
            </a:r>
            <a:endParaRPr sz="1200">
              <a:latin typeface="Courier New"/>
              <a:cs typeface="Courier New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358488" y="3073200"/>
            <a:ext cx="761999" cy="6191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19051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90" dirty="0"/>
              <a:t>Input</a:t>
            </a:r>
            <a:r>
              <a:rPr spc="-50" dirty="0"/>
              <a:t> </a:t>
            </a:r>
            <a:r>
              <a:rPr spc="85" dirty="0"/>
              <a:t>Type</a:t>
            </a:r>
            <a:r>
              <a:rPr spc="-45" dirty="0"/>
              <a:t> </a:t>
            </a:r>
            <a:r>
              <a:rPr spc="105" dirty="0"/>
              <a:t>Checkbox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4725" y="1216355"/>
            <a:ext cx="8312784" cy="92836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solidFill>
                  <a:srgbClr val="F45E61"/>
                </a:solidFill>
                <a:latin typeface="Courier New"/>
                <a:cs typeface="Courier New"/>
              </a:rPr>
              <a:t>&lt;input </a:t>
            </a:r>
            <a:r>
              <a:rPr sz="1600" spc="-20" dirty="0">
                <a:solidFill>
                  <a:srgbClr val="F45E61"/>
                </a:solidFill>
                <a:latin typeface="Courier New"/>
                <a:cs typeface="Courier New"/>
              </a:rPr>
              <a:t>type="checkbox"&gt;</a:t>
            </a:r>
            <a:r>
              <a:rPr sz="1600" spc="-610" dirty="0">
                <a:solidFill>
                  <a:srgbClr val="F45E61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defines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45" dirty="0">
                <a:solidFill>
                  <a:srgbClr val="5E686C"/>
                </a:solidFill>
                <a:latin typeface="Tahoma"/>
                <a:cs typeface="Tahoma"/>
              </a:rPr>
              <a:t>a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5E686C"/>
                </a:solidFill>
                <a:latin typeface="Tahoma"/>
                <a:cs typeface="Tahoma"/>
              </a:rPr>
              <a:t>checkbox.</a:t>
            </a:r>
            <a:endParaRPr sz="18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855"/>
              </a:spcBef>
            </a:pPr>
            <a:endParaRPr sz="16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Checkboxes</a:t>
            </a:r>
            <a:r>
              <a:rPr sz="1800" spc="-15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let</a:t>
            </a:r>
            <a:r>
              <a:rPr sz="1800" spc="-15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45" dirty="0">
                <a:solidFill>
                  <a:srgbClr val="5E686C"/>
                </a:solidFill>
                <a:latin typeface="Tahoma"/>
                <a:cs typeface="Tahoma"/>
              </a:rPr>
              <a:t>a</a:t>
            </a:r>
            <a:r>
              <a:rPr sz="1800" spc="-15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user</a:t>
            </a:r>
            <a:r>
              <a:rPr sz="1800" spc="-15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select</a:t>
            </a:r>
            <a:r>
              <a:rPr sz="1800" spc="-15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75" dirty="0">
                <a:solidFill>
                  <a:srgbClr val="5E686C"/>
                </a:solidFill>
                <a:latin typeface="Tahoma"/>
                <a:cs typeface="Tahoma"/>
              </a:rPr>
              <a:t>ZERO</a:t>
            </a:r>
            <a:r>
              <a:rPr sz="1800" spc="-15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or</a:t>
            </a:r>
            <a:r>
              <a:rPr sz="1800" spc="-15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114" dirty="0">
                <a:solidFill>
                  <a:srgbClr val="5E686C"/>
                </a:solidFill>
                <a:latin typeface="Tahoma"/>
                <a:cs typeface="Tahoma"/>
              </a:rPr>
              <a:t>MORE</a:t>
            </a:r>
            <a:r>
              <a:rPr sz="1800" spc="-15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options</a:t>
            </a:r>
            <a:r>
              <a:rPr sz="1800" spc="-15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of</a:t>
            </a:r>
            <a:r>
              <a:rPr sz="1800" spc="-15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45" dirty="0">
                <a:solidFill>
                  <a:srgbClr val="5E686C"/>
                </a:solidFill>
                <a:latin typeface="Tahoma"/>
                <a:cs typeface="Tahoma"/>
              </a:rPr>
              <a:t>a</a:t>
            </a:r>
            <a:r>
              <a:rPr sz="1800" spc="-15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limited</a:t>
            </a:r>
            <a:r>
              <a:rPr sz="1800" spc="-15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number</a:t>
            </a:r>
            <a:r>
              <a:rPr sz="1800" spc="-15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of</a:t>
            </a:r>
            <a:r>
              <a:rPr sz="1800" spc="-15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5E686C"/>
                </a:solidFill>
                <a:latin typeface="Tahoma"/>
                <a:cs typeface="Tahoma"/>
              </a:rPr>
              <a:t>choices.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84725" y="2850083"/>
            <a:ext cx="6609080" cy="863600"/>
          </a:xfrm>
          <a:prstGeom prst="rect">
            <a:avLst/>
          </a:prstGeom>
        </p:spPr>
        <p:txBody>
          <a:bodyPr vert="horz" wrap="square" lIns="0" tIns="3936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9"/>
              </a:spcBef>
            </a:pPr>
            <a:r>
              <a:rPr sz="1200" spc="-10" dirty="0">
                <a:solidFill>
                  <a:srgbClr val="0B5394"/>
                </a:solidFill>
                <a:latin typeface="Courier New"/>
                <a:cs typeface="Courier New"/>
              </a:rPr>
              <a:t>&lt;form&gt;</a:t>
            </a:r>
            <a:endParaRPr sz="1200">
              <a:latin typeface="Courier New"/>
              <a:cs typeface="Courier New"/>
            </a:endParaRPr>
          </a:p>
          <a:p>
            <a:pPr marL="195580">
              <a:lnSpc>
                <a:spcPct val="100000"/>
              </a:lnSpc>
              <a:spcBef>
                <a:spcPts val="209"/>
              </a:spcBef>
            </a:pPr>
            <a:r>
              <a:rPr sz="1200" dirty="0">
                <a:solidFill>
                  <a:srgbClr val="0B5394"/>
                </a:solidFill>
                <a:latin typeface="Courier New"/>
                <a:cs typeface="Courier New"/>
              </a:rPr>
              <a:t>&lt;input</a:t>
            </a:r>
            <a:r>
              <a:rPr sz="1200" spc="-55" dirty="0">
                <a:solidFill>
                  <a:srgbClr val="0B5394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0B5394"/>
                </a:solidFill>
                <a:latin typeface="Courier New"/>
                <a:cs typeface="Courier New"/>
              </a:rPr>
              <a:t>type="checkbox"</a:t>
            </a:r>
            <a:r>
              <a:rPr sz="1200" spc="-55" dirty="0">
                <a:solidFill>
                  <a:srgbClr val="0B5394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0B5394"/>
                </a:solidFill>
                <a:latin typeface="Courier New"/>
                <a:cs typeface="Courier New"/>
              </a:rPr>
              <a:t>name="vehicle1"</a:t>
            </a:r>
            <a:r>
              <a:rPr sz="1200" spc="-55" dirty="0">
                <a:solidFill>
                  <a:srgbClr val="0B5394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solidFill>
                  <a:srgbClr val="0B5394"/>
                </a:solidFill>
                <a:latin typeface="Courier New"/>
                <a:cs typeface="Courier New"/>
              </a:rPr>
              <a:t>value="Bike"&gt;</a:t>
            </a:r>
            <a:r>
              <a:rPr sz="1200" spc="-50" dirty="0">
                <a:solidFill>
                  <a:srgbClr val="0B5394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solidFill>
                  <a:srgbClr val="0B5394"/>
                </a:solidFill>
                <a:latin typeface="Courier New"/>
                <a:cs typeface="Courier New"/>
              </a:rPr>
              <a:t>I</a:t>
            </a:r>
            <a:r>
              <a:rPr sz="1200" spc="-55" dirty="0">
                <a:solidFill>
                  <a:srgbClr val="0B5394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solidFill>
                  <a:srgbClr val="0B5394"/>
                </a:solidFill>
                <a:latin typeface="Courier New"/>
                <a:cs typeface="Courier New"/>
              </a:rPr>
              <a:t>have</a:t>
            </a:r>
            <a:r>
              <a:rPr sz="1200" spc="-55" dirty="0">
                <a:solidFill>
                  <a:srgbClr val="0B5394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solidFill>
                  <a:srgbClr val="0B5394"/>
                </a:solidFill>
                <a:latin typeface="Courier New"/>
                <a:cs typeface="Courier New"/>
              </a:rPr>
              <a:t>a</a:t>
            </a:r>
            <a:r>
              <a:rPr sz="1200" spc="-50" dirty="0">
                <a:solidFill>
                  <a:srgbClr val="0B5394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0B5394"/>
                </a:solidFill>
                <a:latin typeface="Courier New"/>
                <a:cs typeface="Courier New"/>
              </a:rPr>
              <a:t>bike&lt;br&gt;</a:t>
            </a:r>
            <a:endParaRPr sz="1200">
              <a:latin typeface="Courier New"/>
              <a:cs typeface="Courier New"/>
            </a:endParaRPr>
          </a:p>
          <a:p>
            <a:pPr marL="195580">
              <a:lnSpc>
                <a:spcPct val="100000"/>
              </a:lnSpc>
              <a:spcBef>
                <a:spcPts val="209"/>
              </a:spcBef>
            </a:pPr>
            <a:r>
              <a:rPr sz="1200" dirty="0">
                <a:solidFill>
                  <a:srgbClr val="0B5394"/>
                </a:solidFill>
                <a:latin typeface="Courier New"/>
                <a:cs typeface="Courier New"/>
              </a:rPr>
              <a:t>&lt;input</a:t>
            </a:r>
            <a:r>
              <a:rPr sz="1200" spc="-55" dirty="0">
                <a:solidFill>
                  <a:srgbClr val="0B5394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0B5394"/>
                </a:solidFill>
                <a:latin typeface="Courier New"/>
                <a:cs typeface="Courier New"/>
              </a:rPr>
              <a:t>type="checkbox"</a:t>
            </a:r>
            <a:r>
              <a:rPr sz="1200" spc="-50" dirty="0">
                <a:solidFill>
                  <a:srgbClr val="0B5394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0B5394"/>
                </a:solidFill>
                <a:latin typeface="Courier New"/>
                <a:cs typeface="Courier New"/>
              </a:rPr>
              <a:t>name="vehicle2"</a:t>
            </a:r>
            <a:r>
              <a:rPr sz="1200" spc="-50" dirty="0">
                <a:solidFill>
                  <a:srgbClr val="0B5394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solidFill>
                  <a:srgbClr val="0B5394"/>
                </a:solidFill>
                <a:latin typeface="Courier New"/>
                <a:cs typeface="Courier New"/>
              </a:rPr>
              <a:t>value="Car"&gt;</a:t>
            </a:r>
            <a:r>
              <a:rPr sz="1200" spc="-55" dirty="0">
                <a:solidFill>
                  <a:srgbClr val="0B5394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solidFill>
                  <a:srgbClr val="0B5394"/>
                </a:solidFill>
                <a:latin typeface="Courier New"/>
                <a:cs typeface="Courier New"/>
              </a:rPr>
              <a:t>I</a:t>
            </a:r>
            <a:r>
              <a:rPr sz="1200" spc="-50" dirty="0">
                <a:solidFill>
                  <a:srgbClr val="0B5394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solidFill>
                  <a:srgbClr val="0B5394"/>
                </a:solidFill>
                <a:latin typeface="Courier New"/>
                <a:cs typeface="Courier New"/>
              </a:rPr>
              <a:t>have</a:t>
            </a:r>
            <a:r>
              <a:rPr sz="1200" spc="-50" dirty="0">
                <a:solidFill>
                  <a:srgbClr val="0B5394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solidFill>
                  <a:srgbClr val="0B5394"/>
                </a:solidFill>
                <a:latin typeface="Courier New"/>
                <a:cs typeface="Courier New"/>
              </a:rPr>
              <a:t>a</a:t>
            </a:r>
            <a:r>
              <a:rPr sz="1200" spc="-55" dirty="0">
                <a:solidFill>
                  <a:srgbClr val="0B5394"/>
                </a:solidFill>
                <a:latin typeface="Courier New"/>
                <a:cs typeface="Courier New"/>
              </a:rPr>
              <a:t> </a:t>
            </a:r>
            <a:r>
              <a:rPr sz="1200" spc="-25" dirty="0">
                <a:solidFill>
                  <a:srgbClr val="0B5394"/>
                </a:solidFill>
                <a:latin typeface="Courier New"/>
                <a:cs typeface="Courier New"/>
              </a:rPr>
              <a:t>car</a:t>
            </a:r>
            <a:endParaRPr sz="12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210"/>
              </a:spcBef>
            </a:pPr>
            <a:r>
              <a:rPr sz="1200" spc="-10" dirty="0">
                <a:solidFill>
                  <a:srgbClr val="0B5394"/>
                </a:solidFill>
                <a:latin typeface="Courier New"/>
                <a:cs typeface="Courier New"/>
              </a:rPr>
              <a:t>&lt;/form&gt;</a:t>
            </a:r>
            <a:endParaRPr sz="1200">
              <a:latin typeface="Courier New"/>
              <a:cs typeface="Courier New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217025" y="3714775"/>
            <a:ext cx="1076324" cy="466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75913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05" dirty="0"/>
              <a:t>The</a:t>
            </a:r>
            <a:r>
              <a:rPr spc="-40" dirty="0"/>
              <a:t> </a:t>
            </a:r>
            <a:r>
              <a:rPr spc="135" dirty="0"/>
              <a:t>&lt;select&gt;</a:t>
            </a:r>
            <a:r>
              <a:rPr spc="-35" dirty="0"/>
              <a:t> </a:t>
            </a:r>
            <a:r>
              <a:rPr spc="100" dirty="0"/>
              <a:t>Element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4725" y="1176350"/>
            <a:ext cx="6216650" cy="968375"/>
          </a:xfrm>
          <a:prstGeom prst="rect">
            <a:avLst/>
          </a:prstGeom>
        </p:spPr>
        <p:txBody>
          <a:bodyPr vert="horz" wrap="square" lIns="0" tIns="527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14"/>
              </a:spcBef>
            </a:pP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The</a:t>
            </a:r>
            <a:r>
              <a:rPr sz="1800" spc="-19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600" spc="-20" dirty="0">
                <a:solidFill>
                  <a:srgbClr val="F45E61"/>
                </a:solidFill>
                <a:latin typeface="Courier New"/>
                <a:cs typeface="Courier New"/>
              </a:rPr>
              <a:t>&lt;select&gt;</a:t>
            </a:r>
            <a:r>
              <a:rPr sz="1600" spc="-580" dirty="0">
                <a:solidFill>
                  <a:srgbClr val="F45E61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element</a:t>
            </a:r>
            <a:r>
              <a:rPr sz="1800" spc="-18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defines</a:t>
            </a:r>
            <a:r>
              <a:rPr sz="1800" spc="-18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45" dirty="0">
                <a:solidFill>
                  <a:srgbClr val="5E686C"/>
                </a:solidFill>
                <a:latin typeface="Tahoma"/>
                <a:cs typeface="Tahoma"/>
              </a:rPr>
              <a:t>a</a:t>
            </a:r>
            <a:r>
              <a:rPr sz="1800" spc="-18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drop-down</a:t>
            </a:r>
            <a:r>
              <a:rPr sz="1800" spc="-19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20" dirty="0">
                <a:solidFill>
                  <a:srgbClr val="5E686C"/>
                </a:solidFill>
                <a:latin typeface="Tahoma"/>
                <a:cs typeface="Tahoma"/>
              </a:rPr>
              <a:t>list</a:t>
            </a:r>
            <a:endParaRPr sz="1800">
              <a:latin typeface="Tahoma"/>
              <a:cs typeface="Tahoma"/>
            </a:endParaRPr>
          </a:p>
          <a:p>
            <a:pPr marL="12700" marR="5080">
              <a:lnSpc>
                <a:spcPct val="114599"/>
              </a:lnSpc>
            </a:pP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The</a:t>
            </a:r>
            <a:r>
              <a:rPr sz="1800" spc="-19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600" spc="-20" dirty="0">
                <a:solidFill>
                  <a:srgbClr val="F45E61"/>
                </a:solidFill>
                <a:latin typeface="Courier New"/>
                <a:cs typeface="Courier New"/>
              </a:rPr>
              <a:t>&lt;option&gt;</a:t>
            </a:r>
            <a:r>
              <a:rPr sz="1600" spc="-580" dirty="0">
                <a:solidFill>
                  <a:srgbClr val="F45E61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elements</a:t>
            </a:r>
            <a:r>
              <a:rPr sz="1800" spc="-18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defines</a:t>
            </a:r>
            <a:r>
              <a:rPr sz="1800" spc="-18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25" dirty="0">
                <a:solidFill>
                  <a:srgbClr val="5E686C"/>
                </a:solidFill>
                <a:latin typeface="Tahoma"/>
                <a:cs typeface="Tahoma"/>
              </a:rPr>
              <a:t>an</a:t>
            </a:r>
            <a:r>
              <a:rPr sz="1800" spc="-19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option</a:t>
            </a:r>
            <a:r>
              <a:rPr sz="1800" spc="-18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that</a:t>
            </a:r>
            <a:r>
              <a:rPr sz="1800" spc="-18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5E686C"/>
                </a:solidFill>
                <a:latin typeface="Tahoma"/>
                <a:cs typeface="Tahoma"/>
              </a:rPr>
              <a:t>can</a:t>
            </a:r>
            <a:r>
              <a:rPr sz="1800" spc="-18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5E686C"/>
                </a:solidFill>
                <a:latin typeface="Tahoma"/>
                <a:cs typeface="Tahoma"/>
              </a:rPr>
              <a:t>be</a:t>
            </a:r>
            <a:r>
              <a:rPr sz="1800" spc="-18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5E686C"/>
                </a:solidFill>
                <a:latin typeface="Tahoma"/>
                <a:cs typeface="Tahoma"/>
              </a:rPr>
              <a:t>selected. </a:t>
            </a:r>
            <a:r>
              <a:rPr sz="1800" spc="55" dirty="0">
                <a:solidFill>
                  <a:srgbClr val="5E686C"/>
                </a:solidFill>
                <a:latin typeface="Tahoma"/>
                <a:cs typeface="Tahoma"/>
              </a:rPr>
              <a:t>By</a:t>
            </a:r>
            <a:r>
              <a:rPr sz="1800" spc="-15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5E686C"/>
                </a:solidFill>
                <a:latin typeface="Tahoma"/>
                <a:cs typeface="Tahoma"/>
              </a:rPr>
              <a:t>default,</a:t>
            </a:r>
            <a:r>
              <a:rPr sz="1800" spc="-15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the</a:t>
            </a:r>
            <a:r>
              <a:rPr sz="1800" spc="-15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first</a:t>
            </a:r>
            <a:r>
              <a:rPr sz="1800" spc="-15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item</a:t>
            </a:r>
            <a:r>
              <a:rPr sz="1800" spc="-15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in</a:t>
            </a:r>
            <a:r>
              <a:rPr sz="1800" spc="-15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the</a:t>
            </a:r>
            <a:r>
              <a:rPr sz="1800" spc="-15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drop-down</a:t>
            </a:r>
            <a:r>
              <a:rPr sz="1800" spc="-15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list</a:t>
            </a:r>
            <a:r>
              <a:rPr sz="1800" spc="-15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is</a:t>
            </a:r>
            <a:r>
              <a:rPr sz="1800" spc="-15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5E686C"/>
                </a:solidFill>
                <a:latin typeface="Tahoma"/>
                <a:cs typeface="Tahoma"/>
              </a:rPr>
              <a:t>selected.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84725" y="2764358"/>
            <a:ext cx="3683000" cy="1275989"/>
          </a:xfrm>
          <a:prstGeom prst="rect">
            <a:avLst/>
          </a:prstGeom>
        </p:spPr>
        <p:txBody>
          <a:bodyPr vert="horz" wrap="square" lIns="0" tIns="3936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9"/>
              </a:spcBef>
            </a:pPr>
            <a:r>
              <a:rPr sz="1200" spc="-10" dirty="0">
                <a:solidFill>
                  <a:srgbClr val="0B5394"/>
                </a:solidFill>
                <a:latin typeface="Courier New"/>
                <a:cs typeface="Courier New"/>
              </a:rPr>
              <a:t>&lt;form&gt;</a:t>
            </a:r>
            <a:endParaRPr sz="1200" dirty="0">
              <a:latin typeface="Courier New"/>
              <a:cs typeface="Courier New"/>
            </a:endParaRPr>
          </a:p>
          <a:p>
            <a:pPr marL="195580">
              <a:lnSpc>
                <a:spcPct val="100000"/>
              </a:lnSpc>
              <a:spcBef>
                <a:spcPts val="209"/>
              </a:spcBef>
            </a:pPr>
            <a:r>
              <a:rPr sz="1200" dirty="0">
                <a:solidFill>
                  <a:srgbClr val="0B5394"/>
                </a:solidFill>
                <a:latin typeface="Courier New"/>
                <a:cs typeface="Courier New"/>
              </a:rPr>
              <a:t>&lt;select</a:t>
            </a:r>
            <a:r>
              <a:rPr sz="1200" spc="-90" dirty="0">
                <a:solidFill>
                  <a:srgbClr val="0B5394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0B5394"/>
                </a:solidFill>
                <a:latin typeface="Courier New"/>
                <a:cs typeface="Courier New"/>
              </a:rPr>
              <a:t>name="cars"&gt;</a:t>
            </a:r>
            <a:endParaRPr sz="1200" dirty="0">
              <a:latin typeface="Courier New"/>
              <a:cs typeface="Courier New"/>
            </a:endParaRPr>
          </a:p>
          <a:p>
            <a:pPr marL="378460">
              <a:lnSpc>
                <a:spcPct val="100000"/>
              </a:lnSpc>
              <a:spcBef>
                <a:spcPts val="209"/>
              </a:spcBef>
            </a:pPr>
            <a:r>
              <a:rPr sz="1200" dirty="0">
                <a:solidFill>
                  <a:srgbClr val="0B5394"/>
                </a:solidFill>
                <a:latin typeface="Courier New"/>
                <a:cs typeface="Courier New"/>
              </a:rPr>
              <a:t>&lt;option</a:t>
            </a:r>
            <a:r>
              <a:rPr sz="1200" spc="-90" dirty="0">
                <a:solidFill>
                  <a:srgbClr val="0B5394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0B5394"/>
                </a:solidFill>
                <a:latin typeface="Courier New"/>
                <a:cs typeface="Courier New"/>
              </a:rPr>
              <a:t>value="volvo"&gt;Volvo&lt;/option&gt;</a:t>
            </a:r>
            <a:endParaRPr sz="1200" dirty="0">
              <a:latin typeface="Courier New"/>
              <a:cs typeface="Courier New"/>
            </a:endParaRPr>
          </a:p>
          <a:p>
            <a:pPr marL="378460">
              <a:lnSpc>
                <a:spcPct val="100000"/>
              </a:lnSpc>
              <a:spcBef>
                <a:spcPts val="210"/>
              </a:spcBef>
            </a:pPr>
            <a:r>
              <a:rPr sz="1200" dirty="0" smtClean="0">
                <a:solidFill>
                  <a:srgbClr val="0B5394"/>
                </a:solidFill>
                <a:latin typeface="Courier New"/>
                <a:cs typeface="Courier New"/>
              </a:rPr>
              <a:t>&lt;</a:t>
            </a:r>
            <a:r>
              <a:rPr sz="1200" dirty="0">
                <a:solidFill>
                  <a:srgbClr val="0B5394"/>
                </a:solidFill>
                <a:latin typeface="Courier New"/>
                <a:cs typeface="Courier New"/>
              </a:rPr>
              <a:t>option</a:t>
            </a:r>
            <a:r>
              <a:rPr sz="1200" spc="-90" dirty="0">
                <a:solidFill>
                  <a:srgbClr val="0B5394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0B5394"/>
                </a:solidFill>
                <a:latin typeface="Courier New"/>
                <a:cs typeface="Courier New"/>
              </a:rPr>
              <a:t>value="audi"&gt;Audi&lt;/option&gt;</a:t>
            </a:r>
            <a:endParaRPr sz="1200" dirty="0">
              <a:latin typeface="Courier New"/>
              <a:cs typeface="Courier New"/>
            </a:endParaRPr>
          </a:p>
          <a:p>
            <a:pPr marL="195580">
              <a:lnSpc>
                <a:spcPct val="100000"/>
              </a:lnSpc>
              <a:spcBef>
                <a:spcPts val="210"/>
              </a:spcBef>
            </a:pPr>
            <a:r>
              <a:rPr sz="1200" spc="-10" dirty="0">
                <a:solidFill>
                  <a:srgbClr val="0B5394"/>
                </a:solidFill>
                <a:latin typeface="Courier New"/>
                <a:cs typeface="Courier New"/>
              </a:rPr>
              <a:t>&lt;/select&gt;</a:t>
            </a:r>
            <a:endParaRPr sz="1200" dirty="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210"/>
              </a:spcBef>
            </a:pPr>
            <a:r>
              <a:rPr sz="1200" spc="-10" dirty="0">
                <a:solidFill>
                  <a:srgbClr val="0B5394"/>
                </a:solidFill>
                <a:latin typeface="Courier New"/>
                <a:cs typeface="Courier New"/>
              </a:rPr>
              <a:t>&lt;/form&gt;</a:t>
            </a:r>
            <a:endParaRPr sz="1200" dirty="0">
              <a:latin typeface="Courier New"/>
              <a:cs typeface="Courier New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23250" y="2642758"/>
            <a:ext cx="1056151" cy="16751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81586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05" dirty="0"/>
              <a:t>The</a:t>
            </a:r>
            <a:r>
              <a:rPr spc="-40" dirty="0"/>
              <a:t> </a:t>
            </a:r>
            <a:r>
              <a:rPr spc="135" dirty="0"/>
              <a:t>&lt;select&gt;</a:t>
            </a:r>
            <a:r>
              <a:rPr spc="-35" dirty="0"/>
              <a:t> </a:t>
            </a:r>
            <a:r>
              <a:rPr spc="100" dirty="0"/>
              <a:t>Element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4725" y="1216355"/>
            <a:ext cx="7106284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To</a:t>
            </a:r>
            <a:r>
              <a:rPr sz="1800" spc="-15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define</a:t>
            </a:r>
            <a:r>
              <a:rPr sz="1800" spc="-15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45" dirty="0">
                <a:solidFill>
                  <a:srgbClr val="5E686C"/>
                </a:solidFill>
                <a:latin typeface="Tahoma"/>
                <a:cs typeface="Tahoma"/>
              </a:rPr>
              <a:t>a</a:t>
            </a:r>
            <a:r>
              <a:rPr sz="1800" spc="-15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pre-selected</a:t>
            </a:r>
            <a:r>
              <a:rPr sz="1800" spc="-15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5E686C"/>
                </a:solidFill>
                <a:latin typeface="Tahoma"/>
                <a:cs typeface="Tahoma"/>
              </a:rPr>
              <a:t>option,</a:t>
            </a:r>
            <a:r>
              <a:rPr sz="1800" spc="-15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5E686C"/>
                </a:solidFill>
                <a:latin typeface="Tahoma"/>
                <a:cs typeface="Tahoma"/>
              </a:rPr>
              <a:t>add</a:t>
            </a:r>
            <a:r>
              <a:rPr sz="1800" spc="-15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the</a:t>
            </a:r>
            <a:r>
              <a:rPr sz="1800" spc="-15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F45E61"/>
                </a:solidFill>
                <a:latin typeface="Tahoma"/>
                <a:cs typeface="Tahoma"/>
              </a:rPr>
              <a:t>selected</a:t>
            </a:r>
            <a:r>
              <a:rPr sz="1800" spc="-150" dirty="0">
                <a:solidFill>
                  <a:srgbClr val="F45E61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attribute</a:t>
            </a:r>
            <a:r>
              <a:rPr sz="1800" spc="-15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to</a:t>
            </a:r>
            <a:r>
              <a:rPr sz="1800" spc="-15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the</a:t>
            </a:r>
            <a:r>
              <a:rPr sz="1800" spc="-15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5E686C"/>
                </a:solidFill>
                <a:latin typeface="Tahoma"/>
                <a:cs typeface="Tahoma"/>
              </a:rPr>
              <a:t>option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84725" y="2135708"/>
            <a:ext cx="4323715" cy="1275989"/>
          </a:xfrm>
          <a:prstGeom prst="rect">
            <a:avLst/>
          </a:prstGeom>
        </p:spPr>
        <p:txBody>
          <a:bodyPr vert="horz" wrap="square" lIns="0" tIns="3936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9"/>
              </a:spcBef>
            </a:pPr>
            <a:r>
              <a:rPr sz="1200" spc="-10" dirty="0">
                <a:solidFill>
                  <a:srgbClr val="0B5394"/>
                </a:solidFill>
                <a:latin typeface="Courier New"/>
                <a:cs typeface="Courier New"/>
              </a:rPr>
              <a:t>&lt;form&gt;</a:t>
            </a:r>
            <a:endParaRPr sz="1200" dirty="0">
              <a:latin typeface="Courier New"/>
              <a:cs typeface="Courier New"/>
            </a:endParaRPr>
          </a:p>
          <a:p>
            <a:pPr marL="195580">
              <a:lnSpc>
                <a:spcPct val="100000"/>
              </a:lnSpc>
              <a:spcBef>
                <a:spcPts val="209"/>
              </a:spcBef>
            </a:pPr>
            <a:r>
              <a:rPr sz="1200" dirty="0">
                <a:solidFill>
                  <a:srgbClr val="0B5394"/>
                </a:solidFill>
                <a:latin typeface="Courier New"/>
                <a:cs typeface="Courier New"/>
              </a:rPr>
              <a:t>&lt;select</a:t>
            </a:r>
            <a:r>
              <a:rPr sz="1200" spc="-90" dirty="0">
                <a:solidFill>
                  <a:srgbClr val="0B5394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0B5394"/>
                </a:solidFill>
                <a:latin typeface="Courier New"/>
                <a:cs typeface="Courier New"/>
              </a:rPr>
              <a:t>name="cars"&gt;</a:t>
            </a:r>
            <a:endParaRPr sz="1200" dirty="0">
              <a:latin typeface="Courier New"/>
              <a:cs typeface="Courier New"/>
            </a:endParaRPr>
          </a:p>
          <a:p>
            <a:pPr marL="378460">
              <a:lnSpc>
                <a:spcPct val="100000"/>
              </a:lnSpc>
              <a:spcBef>
                <a:spcPts val="209"/>
              </a:spcBef>
            </a:pPr>
            <a:r>
              <a:rPr sz="1200" dirty="0">
                <a:solidFill>
                  <a:srgbClr val="0B5394"/>
                </a:solidFill>
                <a:latin typeface="Courier New"/>
                <a:cs typeface="Courier New"/>
              </a:rPr>
              <a:t>&lt;option</a:t>
            </a:r>
            <a:r>
              <a:rPr sz="1200" spc="-90" dirty="0">
                <a:solidFill>
                  <a:srgbClr val="0B5394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0B5394"/>
                </a:solidFill>
                <a:latin typeface="Courier New"/>
                <a:cs typeface="Courier New"/>
              </a:rPr>
              <a:t>value="volvo"&gt;Volvo&lt;/option&gt;</a:t>
            </a:r>
            <a:endParaRPr sz="1200" dirty="0">
              <a:latin typeface="Courier New"/>
              <a:cs typeface="Courier New"/>
            </a:endParaRPr>
          </a:p>
          <a:p>
            <a:pPr marL="378460">
              <a:lnSpc>
                <a:spcPct val="100000"/>
              </a:lnSpc>
              <a:spcBef>
                <a:spcPts val="209"/>
              </a:spcBef>
            </a:pPr>
            <a:r>
              <a:rPr sz="1200" dirty="0" smtClean="0">
                <a:solidFill>
                  <a:srgbClr val="0B5394"/>
                </a:solidFill>
                <a:latin typeface="Courier New"/>
                <a:cs typeface="Courier New"/>
              </a:rPr>
              <a:t>&lt;</a:t>
            </a:r>
            <a:r>
              <a:rPr sz="1200" dirty="0">
                <a:solidFill>
                  <a:srgbClr val="0B5394"/>
                </a:solidFill>
                <a:latin typeface="Courier New"/>
                <a:cs typeface="Courier New"/>
              </a:rPr>
              <a:t>option</a:t>
            </a:r>
            <a:r>
              <a:rPr sz="1200" spc="-120" dirty="0">
                <a:solidFill>
                  <a:srgbClr val="0B5394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solidFill>
                  <a:srgbClr val="0B5394"/>
                </a:solidFill>
                <a:latin typeface="Courier New"/>
                <a:cs typeface="Courier New"/>
              </a:rPr>
              <a:t>value="fiat"</a:t>
            </a:r>
            <a:r>
              <a:rPr sz="1200" spc="-114" dirty="0">
                <a:solidFill>
                  <a:srgbClr val="0B5394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0B5394"/>
                </a:solidFill>
                <a:latin typeface="Courier New"/>
                <a:cs typeface="Courier New"/>
              </a:rPr>
              <a:t>selected&gt;Fiat&lt;/option&gt;</a:t>
            </a:r>
            <a:endParaRPr sz="1200" dirty="0">
              <a:latin typeface="Courier New"/>
              <a:cs typeface="Courier New"/>
            </a:endParaRPr>
          </a:p>
          <a:p>
            <a:pPr marL="195580">
              <a:lnSpc>
                <a:spcPct val="100000"/>
              </a:lnSpc>
              <a:spcBef>
                <a:spcPts val="210"/>
              </a:spcBef>
            </a:pPr>
            <a:r>
              <a:rPr sz="1200" spc="-10" dirty="0" smtClean="0">
                <a:solidFill>
                  <a:srgbClr val="0B5394"/>
                </a:solidFill>
                <a:latin typeface="Courier New"/>
                <a:cs typeface="Courier New"/>
              </a:rPr>
              <a:t>&lt;/</a:t>
            </a:r>
            <a:r>
              <a:rPr sz="1200" spc="-10" dirty="0">
                <a:solidFill>
                  <a:srgbClr val="0B5394"/>
                </a:solidFill>
                <a:latin typeface="Courier New"/>
                <a:cs typeface="Courier New"/>
              </a:rPr>
              <a:t>select&gt;</a:t>
            </a:r>
            <a:endParaRPr sz="1200" dirty="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210"/>
              </a:spcBef>
            </a:pPr>
            <a:r>
              <a:rPr sz="1200" spc="-10" dirty="0">
                <a:solidFill>
                  <a:srgbClr val="0B5394"/>
                </a:solidFill>
                <a:latin typeface="Courier New"/>
                <a:cs typeface="Courier New"/>
              </a:rPr>
              <a:t>&lt;/form&gt;</a:t>
            </a:r>
            <a:endParaRPr sz="1200" dirty="0">
              <a:latin typeface="Courier New"/>
              <a:cs typeface="Courier New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788525" y="2355475"/>
            <a:ext cx="1058924" cy="1764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02468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05" dirty="0"/>
              <a:t>The</a:t>
            </a:r>
            <a:r>
              <a:rPr spc="-40" dirty="0"/>
              <a:t> </a:t>
            </a:r>
            <a:r>
              <a:rPr spc="135" dirty="0"/>
              <a:t>&lt;select&gt;</a:t>
            </a:r>
            <a:r>
              <a:rPr spc="-35" dirty="0"/>
              <a:t> </a:t>
            </a:r>
            <a:r>
              <a:rPr spc="100" dirty="0"/>
              <a:t>Element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4725" y="1176350"/>
            <a:ext cx="7307580" cy="6540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4599"/>
              </a:lnSpc>
              <a:spcBef>
                <a:spcPts val="100"/>
              </a:spcBef>
            </a:pP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Use</a:t>
            </a:r>
            <a:r>
              <a:rPr sz="1800" spc="-14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the</a:t>
            </a:r>
            <a:r>
              <a:rPr sz="1800" spc="-13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F45E61"/>
                </a:solidFill>
                <a:latin typeface="Tahoma"/>
                <a:cs typeface="Tahoma"/>
              </a:rPr>
              <a:t>multiple</a:t>
            </a:r>
            <a:r>
              <a:rPr sz="1800" spc="-135" dirty="0">
                <a:solidFill>
                  <a:srgbClr val="F45E61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attribute</a:t>
            </a:r>
            <a:r>
              <a:rPr sz="1800" spc="-13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to</a:t>
            </a:r>
            <a:r>
              <a:rPr sz="1800" spc="-13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allow</a:t>
            </a:r>
            <a:r>
              <a:rPr sz="1800" spc="-13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the</a:t>
            </a:r>
            <a:r>
              <a:rPr sz="1800" spc="-13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user</a:t>
            </a:r>
            <a:r>
              <a:rPr sz="1800" spc="-13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to</a:t>
            </a:r>
            <a:r>
              <a:rPr sz="1800" spc="-13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select</a:t>
            </a:r>
            <a:r>
              <a:rPr sz="1800" spc="-13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more</a:t>
            </a:r>
            <a:r>
              <a:rPr sz="1800" spc="-14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than</a:t>
            </a:r>
            <a:r>
              <a:rPr sz="1800" spc="-13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one</a:t>
            </a:r>
            <a:r>
              <a:rPr sz="1800" spc="-13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5E686C"/>
                </a:solidFill>
                <a:latin typeface="Tahoma"/>
                <a:cs typeface="Tahoma"/>
              </a:rPr>
              <a:t>value: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Use</a:t>
            </a:r>
            <a:r>
              <a:rPr sz="1800" spc="-14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the</a:t>
            </a:r>
            <a:r>
              <a:rPr sz="1800" spc="-13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F45E61"/>
                </a:solidFill>
                <a:latin typeface="Tahoma"/>
                <a:cs typeface="Tahoma"/>
              </a:rPr>
              <a:t>size</a:t>
            </a:r>
            <a:r>
              <a:rPr sz="1800" spc="-140" dirty="0">
                <a:solidFill>
                  <a:srgbClr val="F45E61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attribute</a:t>
            </a:r>
            <a:r>
              <a:rPr sz="1800" spc="-13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to</a:t>
            </a:r>
            <a:r>
              <a:rPr sz="1800" spc="-13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specify</a:t>
            </a:r>
            <a:r>
              <a:rPr sz="1800" spc="-14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the</a:t>
            </a:r>
            <a:r>
              <a:rPr sz="1800" spc="-13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number</a:t>
            </a:r>
            <a:r>
              <a:rPr sz="1800" spc="-13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of</a:t>
            </a:r>
            <a:r>
              <a:rPr sz="1800" spc="-14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visible</a:t>
            </a:r>
            <a:r>
              <a:rPr sz="1800" spc="-13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5E686C"/>
                </a:solidFill>
                <a:latin typeface="Tahoma"/>
                <a:cs typeface="Tahoma"/>
              </a:rPr>
              <a:t>values: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84725" y="2450033"/>
            <a:ext cx="3683000" cy="1701800"/>
          </a:xfrm>
          <a:prstGeom prst="rect">
            <a:avLst/>
          </a:prstGeom>
        </p:spPr>
        <p:txBody>
          <a:bodyPr vert="horz" wrap="square" lIns="0" tIns="3936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9"/>
              </a:spcBef>
            </a:pPr>
            <a:r>
              <a:rPr sz="1200" spc="-10" dirty="0">
                <a:solidFill>
                  <a:srgbClr val="0B5394"/>
                </a:solidFill>
                <a:latin typeface="Courier New"/>
                <a:cs typeface="Courier New"/>
              </a:rPr>
              <a:t>&lt;form&gt;</a:t>
            </a:r>
            <a:endParaRPr sz="1200">
              <a:latin typeface="Courier New"/>
              <a:cs typeface="Courier New"/>
            </a:endParaRPr>
          </a:p>
          <a:p>
            <a:pPr marR="5080" algn="r">
              <a:lnSpc>
                <a:spcPct val="100000"/>
              </a:lnSpc>
              <a:spcBef>
                <a:spcPts val="209"/>
              </a:spcBef>
            </a:pPr>
            <a:r>
              <a:rPr sz="1200" dirty="0">
                <a:solidFill>
                  <a:srgbClr val="0B5394"/>
                </a:solidFill>
                <a:latin typeface="Courier New"/>
                <a:cs typeface="Courier New"/>
              </a:rPr>
              <a:t>&lt;select</a:t>
            </a:r>
            <a:r>
              <a:rPr sz="1200" spc="-110" dirty="0">
                <a:solidFill>
                  <a:srgbClr val="0B5394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solidFill>
                  <a:srgbClr val="0B5394"/>
                </a:solidFill>
                <a:latin typeface="Courier New"/>
                <a:cs typeface="Courier New"/>
              </a:rPr>
              <a:t>name="cars"</a:t>
            </a:r>
            <a:r>
              <a:rPr sz="1200" spc="-105" dirty="0">
                <a:solidFill>
                  <a:srgbClr val="0B5394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solidFill>
                  <a:srgbClr val="0B5394"/>
                </a:solidFill>
                <a:latin typeface="Courier New"/>
                <a:cs typeface="Courier New"/>
              </a:rPr>
              <a:t>size="3"</a:t>
            </a:r>
            <a:r>
              <a:rPr sz="1200" spc="-105" dirty="0">
                <a:solidFill>
                  <a:srgbClr val="0B5394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0B5394"/>
                </a:solidFill>
                <a:latin typeface="Courier New"/>
                <a:cs typeface="Courier New"/>
              </a:rPr>
              <a:t>multiple&gt;</a:t>
            </a:r>
            <a:endParaRPr sz="1200">
              <a:latin typeface="Courier New"/>
              <a:cs typeface="Courier New"/>
            </a:endParaRPr>
          </a:p>
          <a:p>
            <a:pPr marR="5080" algn="r">
              <a:lnSpc>
                <a:spcPct val="100000"/>
              </a:lnSpc>
              <a:spcBef>
                <a:spcPts val="209"/>
              </a:spcBef>
            </a:pPr>
            <a:r>
              <a:rPr sz="1200" dirty="0">
                <a:solidFill>
                  <a:srgbClr val="0B5394"/>
                </a:solidFill>
                <a:latin typeface="Courier New"/>
                <a:cs typeface="Courier New"/>
              </a:rPr>
              <a:t>&lt;option</a:t>
            </a:r>
            <a:r>
              <a:rPr sz="1200" spc="-90" dirty="0">
                <a:solidFill>
                  <a:srgbClr val="0B5394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0B5394"/>
                </a:solidFill>
                <a:latin typeface="Courier New"/>
                <a:cs typeface="Courier New"/>
              </a:rPr>
              <a:t>value="volvo"&gt;Volvo&lt;/option&gt;</a:t>
            </a:r>
            <a:endParaRPr sz="1200">
              <a:latin typeface="Courier New"/>
              <a:cs typeface="Courier New"/>
            </a:endParaRPr>
          </a:p>
          <a:p>
            <a:pPr marL="378460">
              <a:lnSpc>
                <a:spcPct val="100000"/>
              </a:lnSpc>
              <a:spcBef>
                <a:spcPts val="209"/>
              </a:spcBef>
            </a:pPr>
            <a:r>
              <a:rPr sz="1200" dirty="0">
                <a:solidFill>
                  <a:srgbClr val="0B5394"/>
                </a:solidFill>
                <a:latin typeface="Courier New"/>
                <a:cs typeface="Courier New"/>
              </a:rPr>
              <a:t>&lt;option</a:t>
            </a:r>
            <a:r>
              <a:rPr sz="1200" spc="-90" dirty="0">
                <a:solidFill>
                  <a:srgbClr val="0B5394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0B5394"/>
                </a:solidFill>
                <a:latin typeface="Courier New"/>
                <a:cs typeface="Courier New"/>
              </a:rPr>
              <a:t>value="saab"&gt;Saab&lt;/option&gt;</a:t>
            </a:r>
            <a:endParaRPr sz="1200">
              <a:latin typeface="Courier New"/>
              <a:cs typeface="Courier New"/>
            </a:endParaRPr>
          </a:p>
          <a:p>
            <a:pPr marL="378460">
              <a:lnSpc>
                <a:spcPct val="100000"/>
              </a:lnSpc>
              <a:spcBef>
                <a:spcPts val="209"/>
              </a:spcBef>
            </a:pPr>
            <a:r>
              <a:rPr sz="1200" dirty="0">
                <a:solidFill>
                  <a:srgbClr val="0B5394"/>
                </a:solidFill>
                <a:latin typeface="Courier New"/>
                <a:cs typeface="Courier New"/>
              </a:rPr>
              <a:t>&lt;option</a:t>
            </a:r>
            <a:r>
              <a:rPr sz="1200" spc="-90" dirty="0">
                <a:solidFill>
                  <a:srgbClr val="0B5394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0B5394"/>
                </a:solidFill>
                <a:latin typeface="Courier New"/>
                <a:cs typeface="Courier New"/>
              </a:rPr>
              <a:t>value="fiat"&gt;Fiat&lt;/option&gt;</a:t>
            </a:r>
            <a:endParaRPr sz="1200">
              <a:latin typeface="Courier New"/>
              <a:cs typeface="Courier New"/>
            </a:endParaRPr>
          </a:p>
          <a:p>
            <a:pPr marL="378460">
              <a:lnSpc>
                <a:spcPct val="100000"/>
              </a:lnSpc>
              <a:spcBef>
                <a:spcPts val="210"/>
              </a:spcBef>
            </a:pPr>
            <a:r>
              <a:rPr sz="1200" dirty="0">
                <a:solidFill>
                  <a:srgbClr val="0B5394"/>
                </a:solidFill>
                <a:latin typeface="Courier New"/>
                <a:cs typeface="Courier New"/>
              </a:rPr>
              <a:t>&lt;option</a:t>
            </a:r>
            <a:r>
              <a:rPr sz="1200" spc="-90" dirty="0">
                <a:solidFill>
                  <a:srgbClr val="0B5394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0B5394"/>
                </a:solidFill>
                <a:latin typeface="Courier New"/>
                <a:cs typeface="Courier New"/>
              </a:rPr>
              <a:t>value="audi"&gt;Audi&lt;/option&gt;</a:t>
            </a:r>
            <a:endParaRPr sz="1200">
              <a:latin typeface="Courier New"/>
              <a:cs typeface="Courier New"/>
            </a:endParaRPr>
          </a:p>
          <a:p>
            <a:pPr marL="195580">
              <a:lnSpc>
                <a:spcPct val="100000"/>
              </a:lnSpc>
              <a:spcBef>
                <a:spcPts val="210"/>
              </a:spcBef>
            </a:pPr>
            <a:r>
              <a:rPr sz="1200" spc="-10" dirty="0">
                <a:solidFill>
                  <a:srgbClr val="0B5394"/>
                </a:solidFill>
                <a:latin typeface="Courier New"/>
                <a:cs typeface="Courier New"/>
              </a:rPr>
              <a:t>&lt;/select&gt;</a:t>
            </a:r>
            <a:endParaRPr sz="12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210"/>
              </a:spcBef>
            </a:pPr>
            <a:r>
              <a:rPr sz="1200" spc="-10" dirty="0">
                <a:solidFill>
                  <a:srgbClr val="0B5394"/>
                </a:solidFill>
                <a:latin typeface="Courier New"/>
                <a:cs typeface="Courier New"/>
              </a:rPr>
              <a:t>&lt;/form&gt;</a:t>
            </a:r>
            <a:endParaRPr sz="1200">
              <a:latin typeface="Courier New"/>
              <a:cs typeface="Courier New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503650" y="2719962"/>
            <a:ext cx="854649" cy="930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0649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05" dirty="0"/>
              <a:t>The</a:t>
            </a:r>
            <a:r>
              <a:rPr spc="-35" dirty="0"/>
              <a:t> </a:t>
            </a:r>
            <a:r>
              <a:rPr spc="85" dirty="0"/>
              <a:t>&lt;textarea&gt;</a:t>
            </a:r>
            <a:r>
              <a:rPr spc="-30" dirty="0"/>
              <a:t> </a:t>
            </a:r>
            <a:r>
              <a:rPr spc="100" dirty="0"/>
              <a:t>Element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4725" y="1216355"/>
            <a:ext cx="6915150" cy="1328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The</a:t>
            </a:r>
            <a:r>
              <a:rPr sz="1800" spc="48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600" dirty="0">
                <a:solidFill>
                  <a:srgbClr val="F45E61"/>
                </a:solidFill>
                <a:latin typeface="Courier New"/>
                <a:cs typeface="Courier New"/>
              </a:rPr>
              <a:t>&lt;textarea&gt;</a:t>
            </a:r>
            <a:r>
              <a:rPr sz="1600" spc="80" dirty="0">
                <a:solidFill>
                  <a:srgbClr val="F45E61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element</a:t>
            </a:r>
            <a:r>
              <a:rPr sz="1800" spc="-18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defines</a:t>
            </a:r>
            <a:r>
              <a:rPr sz="1800" spc="-19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45" dirty="0">
                <a:solidFill>
                  <a:srgbClr val="5E686C"/>
                </a:solidFill>
                <a:latin typeface="Tahoma"/>
                <a:cs typeface="Tahoma"/>
              </a:rPr>
              <a:t>a</a:t>
            </a:r>
            <a:r>
              <a:rPr sz="1800" spc="-19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multi-line</a:t>
            </a:r>
            <a:r>
              <a:rPr sz="1800" spc="-19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input</a:t>
            </a:r>
            <a:r>
              <a:rPr sz="1800" spc="-19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field</a:t>
            </a:r>
            <a:r>
              <a:rPr sz="1800" spc="-18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105" dirty="0">
                <a:solidFill>
                  <a:srgbClr val="5E686C"/>
                </a:solidFill>
                <a:latin typeface="Tahoma"/>
                <a:cs typeface="Tahoma"/>
              </a:rPr>
              <a:t>(a</a:t>
            </a:r>
            <a:r>
              <a:rPr sz="1800" spc="-19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text</a:t>
            </a:r>
            <a:r>
              <a:rPr sz="1800" spc="-19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5E686C"/>
                </a:solidFill>
                <a:latin typeface="Tahoma"/>
                <a:cs typeface="Tahoma"/>
              </a:rPr>
              <a:t>area)</a:t>
            </a:r>
            <a:endParaRPr sz="1800">
              <a:latin typeface="Tahoma"/>
              <a:cs typeface="Tahoma"/>
            </a:endParaRPr>
          </a:p>
          <a:p>
            <a:pPr marL="12700" marR="107314">
              <a:lnSpc>
                <a:spcPct val="187500"/>
              </a:lnSpc>
            </a:pP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The</a:t>
            </a:r>
            <a:r>
              <a:rPr sz="1800" spc="-14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F45E61"/>
                </a:solidFill>
                <a:latin typeface="Tahoma"/>
                <a:cs typeface="Tahoma"/>
              </a:rPr>
              <a:t>rows</a:t>
            </a:r>
            <a:r>
              <a:rPr sz="1800" spc="-140" dirty="0">
                <a:solidFill>
                  <a:srgbClr val="F45E61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attribute</a:t>
            </a:r>
            <a:r>
              <a:rPr sz="1800" spc="-14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specifies</a:t>
            </a:r>
            <a:r>
              <a:rPr sz="1800" spc="-14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the</a:t>
            </a:r>
            <a:r>
              <a:rPr sz="1800" spc="-14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visible</a:t>
            </a:r>
            <a:r>
              <a:rPr sz="1800" spc="-14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number</a:t>
            </a:r>
            <a:r>
              <a:rPr sz="1800" spc="-14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of</a:t>
            </a:r>
            <a:r>
              <a:rPr sz="1800" spc="-13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lines</a:t>
            </a:r>
            <a:r>
              <a:rPr sz="1800" spc="-14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in</a:t>
            </a:r>
            <a:r>
              <a:rPr sz="1800" spc="-14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45" dirty="0">
                <a:solidFill>
                  <a:srgbClr val="5E686C"/>
                </a:solidFill>
                <a:latin typeface="Tahoma"/>
                <a:cs typeface="Tahoma"/>
              </a:rPr>
              <a:t>a</a:t>
            </a:r>
            <a:r>
              <a:rPr sz="1800" spc="-14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text</a:t>
            </a:r>
            <a:r>
              <a:rPr sz="1800" spc="-14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5E686C"/>
                </a:solidFill>
                <a:latin typeface="Tahoma"/>
                <a:cs typeface="Tahoma"/>
              </a:rPr>
              <a:t>area.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The</a:t>
            </a:r>
            <a:r>
              <a:rPr sz="1800" spc="-13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F45E61"/>
                </a:solidFill>
                <a:latin typeface="Tahoma"/>
                <a:cs typeface="Tahoma"/>
              </a:rPr>
              <a:t>cols</a:t>
            </a:r>
            <a:r>
              <a:rPr sz="1800" spc="-125" dirty="0">
                <a:solidFill>
                  <a:srgbClr val="F45E61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attribute</a:t>
            </a:r>
            <a:r>
              <a:rPr sz="1800" spc="-13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specifies</a:t>
            </a:r>
            <a:r>
              <a:rPr sz="1800" spc="-12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the</a:t>
            </a:r>
            <a:r>
              <a:rPr sz="1800" spc="-12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visible</a:t>
            </a:r>
            <a:r>
              <a:rPr sz="1800" spc="-13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width</a:t>
            </a:r>
            <a:r>
              <a:rPr sz="1800" spc="-12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of</a:t>
            </a:r>
            <a:r>
              <a:rPr sz="1800" spc="-12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45" dirty="0">
                <a:solidFill>
                  <a:srgbClr val="5E686C"/>
                </a:solidFill>
                <a:latin typeface="Tahoma"/>
                <a:cs typeface="Tahoma"/>
              </a:rPr>
              <a:t>a</a:t>
            </a:r>
            <a:r>
              <a:rPr sz="1800" spc="-13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text</a:t>
            </a:r>
            <a:r>
              <a:rPr sz="1800" spc="-12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5E686C"/>
                </a:solidFill>
                <a:latin typeface="Tahoma"/>
                <a:cs typeface="Tahoma"/>
              </a:rPr>
              <a:t>area.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84725" y="2850083"/>
            <a:ext cx="4323080" cy="1073150"/>
          </a:xfrm>
          <a:prstGeom prst="rect">
            <a:avLst/>
          </a:prstGeom>
        </p:spPr>
        <p:txBody>
          <a:bodyPr vert="horz" wrap="square" lIns="0" tIns="3936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9"/>
              </a:spcBef>
            </a:pPr>
            <a:r>
              <a:rPr sz="1200" spc="-10" dirty="0">
                <a:solidFill>
                  <a:srgbClr val="0B5394"/>
                </a:solidFill>
                <a:latin typeface="Courier New"/>
                <a:cs typeface="Courier New"/>
              </a:rPr>
              <a:t>&lt;form&gt;</a:t>
            </a:r>
            <a:endParaRPr sz="1200">
              <a:latin typeface="Courier New"/>
              <a:cs typeface="Courier New"/>
            </a:endParaRPr>
          </a:p>
          <a:p>
            <a:pPr marL="469900" marR="5080" indent="-274320">
              <a:lnSpc>
                <a:spcPct val="114599"/>
              </a:lnSpc>
            </a:pPr>
            <a:r>
              <a:rPr sz="1200" dirty="0">
                <a:solidFill>
                  <a:srgbClr val="0B5394"/>
                </a:solidFill>
                <a:latin typeface="Courier New"/>
                <a:cs typeface="Courier New"/>
              </a:rPr>
              <a:t>&lt;textarea</a:t>
            </a:r>
            <a:r>
              <a:rPr sz="1200" spc="-135" dirty="0">
                <a:solidFill>
                  <a:srgbClr val="0B5394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solidFill>
                  <a:srgbClr val="0B5394"/>
                </a:solidFill>
                <a:latin typeface="Courier New"/>
                <a:cs typeface="Courier New"/>
              </a:rPr>
              <a:t>name="message"</a:t>
            </a:r>
            <a:r>
              <a:rPr sz="1200" spc="-130" dirty="0">
                <a:solidFill>
                  <a:srgbClr val="0B5394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solidFill>
                  <a:srgbClr val="0B5394"/>
                </a:solidFill>
                <a:latin typeface="Courier New"/>
                <a:cs typeface="Courier New"/>
              </a:rPr>
              <a:t>rows="10"</a:t>
            </a:r>
            <a:r>
              <a:rPr sz="1200" spc="-130" dirty="0">
                <a:solidFill>
                  <a:srgbClr val="0B5394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0B5394"/>
                </a:solidFill>
                <a:latin typeface="Courier New"/>
                <a:cs typeface="Courier New"/>
              </a:rPr>
              <a:t>cols="30"&gt; </a:t>
            </a:r>
            <a:r>
              <a:rPr sz="1200" dirty="0">
                <a:solidFill>
                  <a:srgbClr val="0B5394"/>
                </a:solidFill>
                <a:latin typeface="Courier New"/>
                <a:cs typeface="Courier New"/>
              </a:rPr>
              <a:t>The</a:t>
            </a:r>
            <a:r>
              <a:rPr sz="1200" spc="-45" dirty="0">
                <a:solidFill>
                  <a:srgbClr val="0B5394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solidFill>
                  <a:srgbClr val="0B5394"/>
                </a:solidFill>
                <a:latin typeface="Courier New"/>
                <a:cs typeface="Courier New"/>
              </a:rPr>
              <a:t>cat</a:t>
            </a:r>
            <a:r>
              <a:rPr sz="1200" spc="-45" dirty="0">
                <a:solidFill>
                  <a:srgbClr val="0B5394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solidFill>
                  <a:srgbClr val="0B5394"/>
                </a:solidFill>
                <a:latin typeface="Courier New"/>
                <a:cs typeface="Courier New"/>
              </a:rPr>
              <a:t>was</a:t>
            </a:r>
            <a:r>
              <a:rPr sz="1200" spc="-40" dirty="0">
                <a:solidFill>
                  <a:srgbClr val="0B5394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solidFill>
                  <a:srgbClr val="0B5394"/>
                </a:solidFill>
                <a:latin typeface="Courier New"/>
                <a:cs typeface="Courier New"/>
              </a:rPr>
              <a:t>playing</a:t>
            </a:r>
            <a:r>
              <a:rPr sz="1200" spc="-45" dirty="0">
                <a:solidFill>
                  <a:srgbClr val="0B5394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solidFill>
                  <a:srgbClr val="0B5394"/>
                </a:solidFill>
                <a:latin typeface="Courier New"/>
                <a:cs typeface="Courier New"/>
              </a:rPr>
              <a:t>in</a:t>
            </a:r>
            <a:r>
              <a:rPr sz="1200" spc="-40" dirty="0">
                <a:solidFill>
                  <a:srgbClr val="0B5394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solidFill>
                  <a:srgbClr val="0B5394"/>
                </a:solidFill>
                <a:latin typeface="Courier New"/>
                <a:cs typeface="Courier New"/>
              </a:rPr>
              <a:t>the</a:t>
            </a:r>
            <a:r>
              <a:rPr sz="1200" spc="-45" dirty="0">
                <a:solidFill>
                  <a:srgbClr val="0B5394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0B5394"/>
                </a:solidFill>
                <a:latin typeface="Courier New"/>
                <a:cs typeface="Courier New"/>
              </a:rPr>
              <a:t>garden.</a:t>
            </a:r>
            <a:endParaRPr sz="1200">
              <a:latin typeface="Courier New"/>
              <a:cs typeface="Courier New"/>
            </a:endParaRPr>
          </a:p>
          <a:p>
            <a:pPr marL="195580">
              <a:lnSpc>
                <a:spcPct val="100000"/>
              </a:lnSpc>
              <a:spcBef>
                <a:spcPts val="209"/>
              </a:spcBef>
            </a:pPr>
            <a:r>
              <a:rPr sz="1200" spc="-10" dirty="0">
                <a:solidFill>
                  <a:srgbClr val="0B5394"/>
                </a:solidFill>
                <a:latin typeface="Courier New"/>
                <a:cs typeface="Courier New"/>
              </a:rPr>
              <a:t>&lt;/textarea&gt;</a:t>
            </a:r>
            <a:endParaRPr sz="12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209"/>
              </a:spcBef>
            </a:pPr>
            <a:r>
              <a:rPr sz="1200" spc="-10" dirty="0">
                <a:solidFill>
                  <a:srgbClr val="0B5394"/>
                </a:solidFill>
                <a:latin typeface="Courier New"/>
                <a:cs typeface="Courier New"/>
              </a:rPr>
              <a:t>&lt;/form&gt;</a:t>
            </a:r>
            <a:endParaRPr sz="12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84725" y="4195776"/>
            <a:ext cx="5163820" cy="6540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4599"/>
              </a:lnSpc>
              <a:spcBef>
                <a:spcPts val="100"/>
              </a:spcBef>
            </a:pP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You</a:t>
            </a:r>
            <a:r>
              <a:rPr sz="1800" spc="-17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5E686C"/>
                </a:solidFill>
                <a:latin typeface="Tahoma"/>
                <a:cs typeface="Tahoma"/>
              </a:rPr>
              <a:t>can</a:t>
            </a:r>
            <a:r>
              <a:rPr sz="1800" spc="-17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also</a:t>
            </a:r>
            <a:r>
              <a:rPr sz="1800" spc="-17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define</a:t>
            </a:r>
            <a:r>
              <a:rPr sz="1800" spc="-17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the</a:t>
            </a:r>
            <a:r>
              <a:rPr sz="1800" spc="-17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size</a:t>
            </a:r>
            <a:r>
              <a:rPr sz="1800" spc="-17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of</a:t>
            </a:r>
            <a:r>
              <a:rPr sz="1800" spc="-17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the</a:t>
            </a:r>
            <a:r>
              <a:rPr sz="1800" spc="-17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text</a:t>
            </a:r>
            <a:r>
              <a:rPr sz="1800" spc="-17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5E686C"/>
                </a:solidFill>
                <a:latin typeface="Tahoma"/>
                <a:cs typeface="Tahoma"/>
              </a:rPr>
              <a:t>area</a:t>
            </a:r>
            <a:r>
              <a:rPr sz="1800" spc="-17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by</a:t>
            </a:r>
            <a:r>
              <a:rPr sz="1800" spc="-17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5E686C"/>
                </a:solidFill>
                <a:latin typeface="Tahoma"/>
                <a:cs typeface="Tahoma"/>
              </a:rPr>
              <a:t>using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CSS</a:t>
            </a:r>
            <a:r>
              <a:rPr sz="1800" spc="-11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properties</a:t>
            </a:r>
            <a:r>
              <a:rPr sz="1800" spc="-11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width</a:t>
            </a:r>
            <a:r>
              <a:rPr sz="1800" spc="-10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25" dirty="0">
                <a:solidFill>
                  <a:srgbClr val="5E686C"/>
                </a:solidFill>
                <a:latin typeface="Tahoma"/>
                <a:cs typeface="Tahoma"/>
              </a:rPr>
              <a:t>and</a:t>
            </a:r>
            <a:r>
              <a:rPr sz="1800" spc="-11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5E686C"/>
                </a:solidFill>
                <a:latin typeface="Tahoma"/>
                <a:cs typeface="Tahoma"/>
              </a:rPr>
              <a:t>height</a:t>
            </a:r>
            <a:endParaRPr sz="1800">
              <a:latin typeface="Tahoma"/>
              <a:cs typeface="Tahoma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54512" y="2722700"/>
            <a:ext cx="2819399" cy="2209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62652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133350"/>
            <a:ext cx="8610600" cy="472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1320507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98796" y="1919178"/>
            <a:ext cx="614680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b="0" spc="300" dirty="0">
                <a:solidFill>
                  <a:srgbClr val="FFFFFF"/>
                </a:solidFill>
                <a:latin typeface="Tahoma"/>
                <a:cs typeface="Tahoma"/>
              </a:rPr>
              <a:t>HTML</a:t>
            </a:r>
            <a:r>
              <a:rPr sz="4800" b="0" spc="-5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4800" b="0" spc="-55" dirty="0">
                <a:solidFill>
                  <a:srgbClr val="FFFFFF"/>
                </a:solidFill>
                <a:latin typeface="Tahoma"/>
                <a:cs typeface="Tahoma"/>
              </a:rPr>
              <a:t>Input</a:t>
            </a:r>
            <a:r>
              <a:rPr sz="4800" b="0" spc="-54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4800" b="0" spc="110" dirty="0">
                <a:solidFill>
                  <a:srgbClr val="FFFFFF"/>
                </a:solidFill>
                <a:latin typeface="Tahoma"/>
                <a:cs typeface="Tahoma"/>
              </a:rPr>
              <a:t>Attributes</a:t>
            </a:r>
            <a:endParaRPr sz="4800">
              <a:latin typeface="Tahoma"/>
              <a:cs typeface="Tahoma"/>
            </a:endParaRPr>
          </a:p>
        </p:txBody>
      </p:sp>
    </p:spTree>
    <p:extLst>
      <p:ext uri="{BB962C8B-B14F-4D97-AF65-F5344CB8AC3E}">
        <p14:creationId xmlns:p14="http://schemas.microsoft.com/office/powerpoint/2010/main" val="29003450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05" dirty="0"/>
              <a:t>The</a:t>
            </a:r>
            <a:r>
              <a:rPr spc="-50" dirty="0"/>
              <a:t> </a:t>
            </a:r>
            <a:r>
              <a:rPr spc="100" dirty="0"/>
              <a:t>value</a:t>
            </a:r>
            <a:r>
              <a:rPr spc="-45" dirty="0"/>
              <a:t> </a:t>
            </a:r>
            <a:r>
              <a:rPr spc="60" dirty="0"/>
              <a:t>Attribute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4725" y="1216355"/>
            <a:ext cx="6144895" cy="187487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The</a:t>
            </a:r>
            <a:r>
              <a:rPr sz="1800" spc="-14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F45E61"/>
                </a:solidFill>
                <a:latin typeface="Tahoma"/>
                <a:cs typeface="Tahoma"/>
              </a:rPr>
              <a:t>value</a:t>
            </a:r>
            <a:r>
              <a:rPr sz="1800" spc="-140" dirty="0">
                <a:solidFill>
                  <a:srgbClr val="F45E61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attribute</a:t>
            </a:r>
            <a:r>
              <a:rPr sz="1800" spc="-13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specifies</a:t>
            </a:r>
            <a:r>
              <a:rPr sz="1800" spc="-14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the</a:t>
            </a:r>
            <a:r>
              <a:rPr sz="1800" spc="-13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initial</a:t>
            </a:r>
            <a:r>
              <a:rPr sz="1800" spc="-14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value</a:t>
            </a:r>
            <a:r>
              <a:rPr sz="1800" spc="-13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for</a:t>
            </a:r>
            <a:r>
              <a:rPr sz="1800" spc="-14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25" dirty="0">
                <a:solidFill>
                  <a:srgbClr val="5E686C"/>
                </a:solidFill>
                <a:latin typeface="Tahoma"/>
                <a:cs typeface="Tahoma"/>
              </a:rPr>
              <a:t>an</a:t>
            </a:r>
            <a:r>
              <a:rPr sz="1800" spc="-14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input</a:t>
            </a:r>
            <a:r>
              <a:rPr sz="1800" spc="-13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5E686C"/>
                </a:solidFill>
                <a:latin typeface="Tahoma"/>
                <a:cs typeface="Tahoma"/>
              </a:rPr>
              <a:t>field:</a:t>
            </a:r>
            <a:endParaRPr sz="180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630"/>
              </a:spcBef>
            </a:pPr>
            <a:endParaRPr sz="1800" dirty="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1400" spc="-10" dirty="0">
                <a:solidFill>
                  <a:srgbClr val="0B5394"/>
                </a:solidFill>
                <a:latin typeface="Courier New"/>
                <a:cs typeface="Courier New"/>
              </a:rPr>
              <a:t>&lt;form&gt;</a:t>
            </a:r>
            <a:endParaRPr sz="1400" dirty="0">
              <a:latin typeface="Courier New"/>
              <a:cs typeface="Courier New"/>
            </a:endParaRPr>
          </a:p>
          <a:p>
            <a:pPr marL="226060">
              <a:lnSpc>
                <a:spcPct val="100000"/>
              </a:lnSpc>
              <a:spcBef>
                <a:spcPts val="270"/>
              </a:spcBef>
            </a:pPr>
            <a:r>
              <a:rPr sz="1400" dirty="0">
                <a:solidFill>
                  <a:srgbClr val="0B5394"/>
                </a:solidFill>
                <a:latin typeface="Courier New"/>
                <a:cs typeface="Courier New"/>
              </a:rPr>
              <a:t>First</a:t>
            </a:r>
            <a:r>
              <a:rPr sz="1400" spc="-25" dirty="0">
                <a:solidFill>
                  <a:srgbClr val="0B5394"/>
                </a:solidFill>
                <a:latin typeface="Courier New"/>
                <a:cs typeface="Courier New"/>
              </a:rPr>
              <a:t> </a:t>
            </a:r>
            <a:r>
              <a:rPr sz="1400" spc="-10" dirty="0">
                <a:solidFill>
                  <a:srgbClr val="0B5394"/>
                </a:solidFill>
                <a:latin typeface="Courier New"/>
                <a:cs typeface="Courier New"/>
              </a:rPr>
              <a:t>name:&lt;br&gt;</a:t>
            </a:r>
            <a:endParaRPr sz="1400" dirty="0">
              <a:latin typeface="Courier New"/>
              <a:cs typeface="Courier New"/>
            </a:endParaRPr>
          </a:p>
          <a:p>
            <a:pPr marL="226060">
              <a:lnSpc>
                <a:spcPct val="100000"/>
              </a:lnSpc>
              <a:spcBef>
                <a:spcPts val="270"/>
              </a:spcBef>
            </a:pPr>
            <a:r>
              <a:rPr sz="1400" dirty="0">
                <a:solidFill>
                  <a:srgbClr val="0B5394"/>
                </a:solidFill>
                <a:latin typeface="Courier New"/>
                <a:cs typeface="Courier New"/>
              </a:rPr>
              <a:t>&lt;input</a:t>
            </a:r>
            <a:r>
              <a:rPr sz="1400" spc="-50" dirty="0">
                <a:solidFill>
                  <a:srgbClr val="0B5394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0B5394"/>
                </a:solidFill>
                <a:latin typeface="Courier New"/>
                <a:cs typeface="Courier New"/>
              </a:rPr>
              <a:t>type="text"</a:t>
            </a:r>
            <a:r>
              <a:rPr sz="1400" spc="-45" dirty="0">
                <a:solidFill>
                  <a:srgbClr val="0B5394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0B5394"/>
                </a:solidFill>
                <a:latin typeface="Courier New"/>
                <a:cs typeface="Courier New"/>
              </a:rPr>
              <a:t>name="firstname"</a:t>
            </a:r>
            <a:r>
              <a:rPr sz="1400" spc="-50" dirty="0">
                <a:solidFill>
                  <a:srgbClr val="0B5394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0B5394"/>
                </a:solidFill>
                <a:latin typeface="Courier New"/>
                <a:cs typeface="Courier New"/>
              </a:rPr>
              <a:t>value</a:t>
            </a:r>
            <a:r>
              <a:rPr sz="1400" spc="-45" dirty="0">
                <a:solidFill>
                  <a:srgbClr val="0B5394"/>
                </a:solidFill>
                <a:latin typeface="Courier New"/>
                <a:cs typeface="Courier New"/>
              </a:rPr>
              <a:t> </a:t>
            </a:r>
            <a:r>
              <a:rPr sz="1400" spc="-10" dirty="0">
                <a:solidFill>
                  <a:srgbClr val="0B5394"/>
                </a:solidFill>
                <a:latin typeface="Courier New"/>
                <a:cs typeface="Courier New"/>
              </a:rPr>
              <a:t>="John"&gt;</a:t>
            </a:r>
            <a:endParaRPr sz="1400" dirty="0">
              <a:latin typeface="Courier New"/>
              <a:cs typeface="Courier New"/>
            </a:endParaRPr>
          </a:p>
          <a:p>
            <a:pPr marL="226060">
              <a:lnSpc>
                <a:spcPct val="100000"/>
              </a:lnSpc>
              <a:spcBef>
                <a:spcPts val="270"/>
              </a:spcBef>
            </a:pPr>
            <a:r>
              <a:rPr sz="1400" spc="-20" dirty="0">
                <a:solidFill>
                  <a:srgbClr val="0B5394"/>
                </a:solidFill>
                <a:latin typeface="Courier New"/>
                <a:cs typeface="Courier New"/>
              </a:rPr>
              <a:t>&lt;</a:t>
            </a:r>
            <a:r>
              <a:rPr sz="1400" spc="-20" dirty="0" err="1">
                <a:solidFill>
                  <a:srgbClr val="0B5394"/>
                </a:solidFill>
                <a:latin typeface="Courier New"/>
                <a:cs typeface="Courier New"/>
              </a:rPr>
              <a:t>br</a:t>
            </a:r>
            <a:r>
              <a:rPr sz="1400" spc="-20" dirty="0" smtClean="0">
                <a:solidFill>
                  <a:srgbClr val="0B5394"/>
                </a:solidFill>
                <a:latin typeface="Courier New"/>
                <a:cs typeface="Courier New"/>
              </a:rPr>
              <a:t>&gt;</a:t>
            </a:r>
          </a:p>
          <a:p>
            <a:pPr marL="12700">
              <a:lnSpc>
                <a:spcPct val="100000"/>
              </a:lnSpc>
              <a:spcBef>
                <a:spcPts val="270"/>
              </a:spcBef>
            </a:pPr>
            <a:r>
              <a:rPr sz="1400" spc="-10" dirty="0" smtClean="0">
                <a:solidFill>
                  <a:srgbClr val="0B5394"/>
                </a:solidFill>
                <a:latin typeface="Courier New"/>
                <a:cs typeface="Courier New"/>
              </a:rPr>
              <a:t>&lt;/form&gt;</a:t>
            </a:r>
            <a:endParaRPr sz="1400" dirty="0">
              <a:latin typeface="Courier New"/>
              <a:cs typeface="Courier New"/>
            </a:endParaRPr>
          </a:p>
        </p:txBody>
      </p:sp>
      <p:pic>
        <p:nvPicPr>
          <p:cNvPr id="4" name="object 4"/>
          <p:cNvPicPr/>
          <p:nvPr/>
        </p:nvPicPr>
        <p:blipFill rotWithShape="1">
          <a:blip r:embed="rId2" cstate="print"/>
          <a:srcRect b="50000"/>
          <a:stretch/>
        </p:blipFill>
        <p:spPr>
          <a:xfrm>
            <a:off x="6031149" y="3316274"/>
            <a:ext cx="2384221" cy="5418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60813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05" dirty="0"/>
              <a:t>The</a:t>
            </a:r>
            <a:r>
              <a:rPr spc="-50" dirty="0"/>
              <a:t> </a:t>
            </a:r>
            <a:r>
              <a:rPr spc="120" dirty="0"/>
              <a:t>readonly</a:t>
            </a:r>
            <a:r>
              <a:rPr spc="-50" dirty="0"/>
              <a:t> </a:t>
            </a:r>
            <a:r>
              <a:rPr spc="60" dirty="0"/>
              <a:t>Attribute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4725" y="1216355"/>
            <a:ext cx="8355965" cy="187487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The</a:t>
            </a:r>
            <a:r>
              <a:rPr sz="1800" spc="-15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F45E61"/>
                </a:solidFill>
                <a:latin typeface="Tahoma"/>
                <a:cs typeface="Tahoma"/>
              </a:rPr>
              <a:t>readonly</a:t>
            </a:r>
            <a:r>
              <a:rPr sz="1800" spc="-145" dirty="0">
                <a:solidFill>
                  <a:srgbClr val="F45E61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attribute</a:t>
            </a:r>
            <a:r>
              <a:rPr sz="1800" spc="-15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specifies</a:t>
            </a:r>
            <a:r>
              <a:rPr sz="1800" spc="-15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that</a:t>
            </a:r>
            <a:r>
              <a:rPr sz="1800" spc="-15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the</a:t>
            </a:r>
            <a:r>
              <a:rPr sz="1800" spc="-15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input</a:t>
            </a:r>
            <a:r>
              <a:rPr sz="1800" spc="-15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field</a:t>
            </a:r>
            <a:r>
              <a:rPr sz="1800" spc="-15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is</a:t>
            </a:r>
            <a:r>
              <a:rPr sz="1800" spc="-15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read</a:t>
            </a:r>
            <a:r>
              <a:rPr sz="1800" spc="-15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only</a:t>
            </a:r>
            <a:r>
              <a:rPr sz="1800" spc="-15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25" dirty="0">
                <a:solidFill>
                  <a:srgbClr val="5E686C"/>
                </a:solidFill>
                <a:latin typeface="Tahoma"/>
                <a:cs typeface="Tahoma"/>
              </a:rPr>
              <a:t>(cannot</a:t>
            </a:r>
            <a:r>
              <a:rPr sz="1800" spc="-15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5E686C"/>
                </a:solidFill>
                <a:latin typeface="Tahoma"/>
                <a:cs typeface="Tahoma"/>
              </a:rPr>
              <a:t>be</a:t>
            </a:r>
            <a:r>
              <a:rPr sz="1800" spc="-15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5E686C"/>
                </a:solidFill>
                <a:latin typeface="Tahoma"/>
                <a:cs typeface="Tahoma"/>
              </a:rPr>
              <a:t>changed):</a:t>
            </a:r>
            <a:endParaRPr sz="180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630"/>
              </a:spcBef>
            </a:pPr>
            <a:endParaRPr sz="1800" dirty="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1400" spc="-10" dirty="0">
                <a:solidFill>
                  <a:srgbClr val="0B5394"/>
                </a:solidFill>
                <a:latin typeface="Courier New"/>
                <a:cs typeface="Courier New"/>
              </a:rPr>
              <a:t>&lt;form&gt;</a:t>
            </a:r>
            <a:endParaRPr sz="1400" dirty="0">
              <a:latin typeface="Courier New"/>
              <a:cs typeface="Courier New"/>
            </a:endParaRPr>
          </a:p>
          <a:p>
            <a:pPr marL="226060">
              <a:lnSpc>
                <a:spcPct val="100000"/>
              </a:lnSpc>
              <a:spcBef>
                <a:spcPts val="270"/>
              </a:spcBef>
            </a:pPr>
            <a:r>
              <a:rPr sz="1400" dirty="0">
                <a:solidFill>
                  <a:srgbClr val="0B5394"/>
                </a:solidFill>
                <a:latin typeface="Courier New"/>
                <a:cs typeface="Courier New"/>
              </a:rPr>
              <a:t>First</a:t>
            </a:r>
            <a:r>
              <a:rPr sz="1400" spc="-25" dirty="0">
                <a:solidFill>
                  <a:srgbClr val="0B5394"/>
                </a:solidFill>
                <a:latin typeface="Courier New"/>
                <a:cs typeface="Courier New"/>
              </a:rPr>
              <a:t> </a:t>
            </a:r>
            <a:r>
              <a:rPr sz="1400" spc="-10" dirty="0">
                <a:solidFill>
                  <a:srgbClr val="0B5394"/>
                </a:solidFill>
                <a:latin typeface="Courier New"/>
                <a:cs typeface="Courier New"/>
              </a:rPr>
              <a:t>name:&lt;br&gt;</a:t>
            </a:r>
            <a:endParaRPr sz="1400" dirty="0">
              <a:latin typeface="Courier New"/>
              <a:cs typeface="Courier New"/>
            </a:endParaRPr>
          </a:p>
          <a:p>
            <a:pPr marL="226060">
              <a:lnSpc>
                <a:spcPct val="100000"/>
              </a:lnSpc>
              <a:spcBef>
                <a:spcPts val="270"/>
              </a:spcBef>
            </a:pPr>
            <a:r>
              <a:rPr sz="1400" dirty="0">
                <a:solidFill>
                  <a:srgbClr val="0B5394"/>
                </a:solidFill>
                <a:latin typeface="Courier New"/>
                <a:cs typeface="Courier New"/>
              </a:rPr>
              <a:t>&lt;input</a:t>
            </a:r>
            <a:r>
              <a:rPr sz="1400" spc="-55" dirty="0">
                <a:solidFill>
                  <a:srgbClr val="0B5394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0B5394"/>
                </a:solidFill>
                <a:latin typeface="Courier New"/>
                <a:cs typeface="Courier New"/>
              </a:rPr>
              <a:t>type="text"</a:t>
            </a:r>
            <a:r>
              <a:rPr sz="1400" spc="-45" dirty="0">
                <a:solidFill>
                  <a:srgbClr val="0B5394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0B5394"/>
                </a:solidFill>
                <a:latin typeface="Courier New"/>
                <a:cs typeface="Courier New"/>
              </a:rPr>
              <a:t>name="firstname"</a:t>
            </a:r>
            <a:r>
              <a:rPr sz="1400" spc="-45" dirty="0">
                <a:solidFill>
                  <a:srgbClr val="0B5394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0B5394"/>
                </a:solidFill>
                <a:latin typeface="Courier New"/>
                <a:cs typeface="Courier New"/>
              </a:rPr>
              <a:t>value</a:t>
            </a:r>
            <a:r>
              <a:rPr sz="1400" spc="-45" dirty="0">
                <a:solidFill>
                  <a:srgbClr val="0B5394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0B5394"/>
                </a:solidFill>
                <a:latin typeface="Courier New"/>
                <a:cs typeface="Courier New"/>
              </a:rPr>
              <a:t>="John"</a:t>
            </a:r>
            <a:r>
              <a:rPr sz="1400" spc="-45" dirty="0">
                <a:solidFill>
                  <a:srgbClr val="0B5394"/>
                </a:solidFill>
                <a:latin typeface="Courier New"/>
                <a:cs typeface="Courier New"/>
              </a:rPr>
              <a:t> </a:t>
            </a:r>
            <a:r>
              <a:rPr sz="1400" spc="-10" dirty="0">
                <a:solidFill>
                  <a:srgbClr val="0B5394"/>
                </a:solidFill>
                <a:latin typeface="Courier New"/>
                <a:cs typeface="Courier New"/>
              </a:rPr>
              <a:t>readonly&gt;</a:t>
            </a:r>
            <a:endParaRPr sz="1400" dirty="0">
              <a:latin typeface="Courier New"/>
              <a:cs typeface="Courier New"/>
            </a:endParaRPr>
          </a:p>
          <a:p>
            <a:pPr marL="226060">
              <a:lnSpc>
                <a:spcPct val="100000"/>
              </a:lnSpc>
              <a:spcBef>
                <a:spcPts val="270"/>
              </a:spcBef>
            </a:pPr>
            <a:r>
              <a:rPr sz="1400" spc="-20" dirty="0">
                <a:solidFill>
                  <a:srgbClr val="0B5394"/>
                </a:solidFill>
                <a:latin typeface="Courier New"/>
                <a:cs typeface="Courier New"/>
              </a:rPr>
              <a:t>&lt;br&gt;</a:t>
            </a:r>
            <a:endParaRPr sz="1400" dirty="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270"/>
              </a:spcBef>
            </a:pPr>
            <a:r>
              <a:rPr sz="1400" spc="-10" dirty="0" smtClean="0">
                <a:solidFill>
                  <a:srgbClr val="0B5394"/>
                </a:solidFill>
                <a:latin typeface="Courier New"/>
                <a:cs typeface="Courier New"/>
              </a:rPr>
              <a:t>&lt;/</a:t>
            </a:r>
            <a:r>
              <a:rPr sz="1400" spc="-10" dirty="0">
                <a:solidFill>
                  <a:srgbClr val="0B5394"/>
                </a:solidFill>
                <a:latin typeface="Courier New"/>
                <a:cs typeface="Courier New"/>
              </a:rPr>
              <a:t>form&gt;</a:t>
            </a:r>
            <a:endParaRPr sz="1400" dirty="0"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4545956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05" dirty="0"/>
              <a:t>The</a:t>
            </a:r>
            <a:r>
              <a:rPr spc="-45" dirty="0"/>
              <a:t> </a:t>
            </a:r>
            <a:r>
              <a:rPr spc="125" dirty="0"/>
              <a:t>disabled</a:t>
            </a:r>
            <a:r>
              <a:rPr spc="-40" dirty="0"/>
              <a:t> </a:t>
            </a:r>
            <a:r>
              <a:rPr spc="60" dirty="0"/>
              <a:t>Attribute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4725" y="1216355"/>
            <a:ext cx="7806690" cy="124239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The</a:t>
            </a:r>
            <a:r>
              <a:rPr sz="1800" spc="-14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F45E61"/>
                </a:solidFill>
                <a:latin typeface="Tahoma"/>
                <a:cs typeface="Tahoma"/>
              </a:rPr>
              <a:t>disabled</a:t>
            </a:r>
            <a:r>
              <a:rPr sz="1800" spc="-145" dirty="0">
                <a:solidFill>
                  <a:srgbClr val="F45E61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attribute</a:t>
            </a:r>
            <a:r>
              <a:rPr sz="1800" spc="-14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specifies</a:t>
            </a:r>
            <a:r>
              <a:rPr sz="1800" spc="-14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that</a:t>
            </a:r>
            <a:r>
              <a:rPr sz="1800" spc="-14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the</a:t>
            </a:r>
            <a:r>
              <a:rPr sz="1800" spc="-14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input</a:t>
            </a:r>
            <a:r>
              <a:rPr sz="1800" spc="-14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field</a:t>
            </a:r>
            <a:r>
              <a:rPr sz="1800" spc="-14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is</a:t>
            </a:r>
            <a:r>
              <a:rPr sz="1800" spc="-14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5E686C"/>
                </a:solidFill>
                <a:latin typeface="Tahoma"/>
                <a:cs typeface="Tahoma"/>
              </a:rPr>
              <a:t>disabled.</a:t>
            </a:r>
            <a:endParaRPr sz="180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300"/>
              </a:spcBef>
            </a:pPr>
            <a:endParaRPr sz="1800" dirty="0">
              <a:latin typeface="Tahoma"/>
              <a:cs typeface="Tahoma"/>
            </a:endParaRPr>
          </a:p>
          <a:p>
            <a:pPr marL="12700" marR="5080">
              <a:lnSpc>
                <a:spcPct val="114599"/>
              </a:lnSpc>
            </a:pPr>
            <a:r>
              <a:rPr sz="1800" spc="135" dirty="0">
                <a:solidFill>
                  <a:srgbClr val="5E686C"/>
                </a:solidFill>
                <a:latin typeface="Tahoma"/>
                <a:cs typeface="Tahoma"/>
              </a:rPr>
              <a:t>A</a:t>
            </a:r>
            <a:r>
              <a:rPr sz="1800" spc="-17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disabled</a:t>
            </a:r>
            <a:r>
              <a:rPr sz="1800" spc="-17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input</a:t>
            </a:r>
            <a:r>
              <a:rPr sz="1800" spc="-17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field</a:t>
            </a:r>
            <a:r>
              <a:rPr sz="1800" spc="-16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is</a:t>
            </a:r>
            <a:r>
              <a:rPr sz="1800" spc="-16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F45E61"/>
                </a:solidFill>
                <a:latin typeface="Tahoma"/>
                <a:cs typeface="Tahoma"/>
              </a:rPr>
              <a:t>unusable</a:t>
            </a:r>
            <a:r>
              <a:rPr sz="1800" spc="-170" dirty="0">
                <a:solidFill>
                  <a:srgbClr val="F45E61"/>
                </a:solidFill>
                <a:latin typeface="Tahoma"/>
                <a:cs typeface="Tahoma"/>
              </a:rPr>
              <a:t> </a:t>
            </a:r>
            <a:r>
              <a:rPr sz="1800" spc="-25" dirty="0">
                <a:solidFill>
                  <a:srgbClr val="F45E61"/>
                </a:solidFill>
                <a:latin typeface="Tahoma"/>
                <a:cs typeface="Tahoma"/>
              </a:rPr>
              <a:t>and</a:t>
            </a:r>
            <a:r>
              <a:rPr sz="1800" spc="-165" dirty="0">
                <a:solidFill>
                  <a:srgbClr val="F45E61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F45E61"/>
                </a:solidFill>
                <a:latin typeface="Tahoma"/>
                <a:cs typeface="Tahoma"/>
              </a:rPr>
              <a:t>un-</a:t>
            </a:r>
            <a:r>
              <a:rPr sz="1800" spc="-20" dirty="0">
                <a:solidFill>
                  <a:srgbClr val="F45E61"/>
                </a:solidFill>
                <a:latin typeface="Tahoma"/>
                <a:cs typeface="Tahoma"/>
              </a:rPr>
              <a:t>clickable</a:t>
            </a:r>
            <a:r>
              <a:rPr sz="1800" spc="-20" dirty="0">
                <a:solidFill>
                  <a:srgbClr val="5E686C"/>
                </a:solidFill>
                <a:latin typeface="Tahoma"/>
                <a:cs typeface="Tahoma"/>
              </a:rPr>
              <a:t>,</a:t>
            </a:r>
            <a:r>
              <a:rPr sz="1800" spc="-17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25" dirty="0">
                <a:solidFill>
                  <a:srgbClr val="5E686C"/>
                </a:solidFill>
                <a:latin typeface="Tahoma"/>
                <a:cs typeface="Tahoma"/>
              </a:rPr>
              <a:t>and</a:t>
            </a:r>
            <a:r>
              <a:rPr sz="1800" spc="-17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its</a:t>
            </a:r>
            <a:r>
              <a:rPr sz="1800" spc="-16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value</a:t>
            </a:r>
            <a:r>
              <a:rPr sz="1800" spc="-16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F45E61"/>
                </a:solidFill>
                <a:latin typeface="Tahoma"/>
                <a:cs typeface="Tahoma"/>
              </a:rPr>
              <a:t>will</a:t>
            </a:r>
            <a:r>
              <a:rPr sz="1800" spc="-170" dirty="0">
                <a:solidFill>
                  <a:srgbClr val="F45E61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F45E61"/>
                </a:solidFill>
                <a:latin typeface="Tahoma"/>
                <a:cs typeface="Tahoma"/>
              </a:rPr>
              <a:t>not</a:t>
            </a:r>
            <a:r>
              <a:rPr sz="1800" spc="-165" dirty="0">
                <a:solidFill>
                  <a:srgbClr val="F45E61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F45E61"/>
                </a:solidFill>
                <a:latin typeface="Tahoma"/>
                <a:cs typeface="Tahoma"/>
              </a:rPr>
              <a:t>be</a:t>
            </a:r>
            <a:r>
              <a:rPr sz="1800" spc="-170" dirty="0">
                <a:solidFill>
                  <a:srgbClr val="F45E61"/>
                </a:solidFill>
                <a:latin typeface="Tahoma"/>
                <a:cs typeface="Tahoma"/>
              </a:rPr>
              <a:t> </a:t>
            </a:r>
            <a:r>
              <a:rPr sz="1800" spc="-20" dirty="0">
                <a:solidFill>
                  <a:srgbClr val="F45E61"/>
                </a:solidFill>
                <a:latin typeface="Tahoma"/>
                <a:cs typeface="Tahoma"/>
              </a:rPr>
              <a:t>sent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when</a:t>
            </a:r>
            <a:r>
              <a:rPr sz="1800" spc="-18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submitting</a:t>
            </a:r>
            <a:r>
              <a:rPr sz="1800" spc="-17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the</a:t>
            </a:r>
            <a:r>
              <a:rPr sz="1800" spc="-17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20" dirty="0" smtClean="0">
                <a:solidFill>
                  <a:srgbClr val="5E686C"/>
                </a:solidFill>
                <a:latin typeface="Tahoma"/>
                <a:cs typeface="Tahoma"/>
              </a:rPr>
              <a:t>form</a:t>
            </a:r>
            <a:endParaRPr sz="1800" dirty="0">
              <a:latin typeface="Tahoma"/>
              <a:cs typeface="Tahoma"/>
            </a:endParaRPr>
          </a:p>
        </p:txBody>
      </p:sp>
    </p:spTree>
    <p:extLst>
      <p:ext uri="{BB962C8B-B14F-4D97-AF65-F5344CB8AC3E}">
        <p14:creationId xmlns:p14="http://schemas.microsoft.com/office/powerpoint/2010/main" val="8971451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05" dirty="0"/>
              <a:t>The</a:t>
            </a:r>
            <a:r>
              <a:rPr spc="-45" dirty="0"/>
              <a:t> </a:t>
            </a:r>
            <a:r>
              <a:rPr spc="145" dirty="0"/>
              <a:t>size</a:t>
            </a:r>
            <a:r>
              <a:rPr spc="-45" dirty="0"/>
              <a:t> </a:t>
            </a:r>
            <a:r>
              <a:rPr spc="60" dirty="0"/>
              <a:t>Attribute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4725" y="1216355"/>
            <a:ext cx="6788784" cy="162095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The</a:t>
            </a:r>
            <a:r>
              <a:rPr sz="1800" spc="-16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F45E61"/>
                </a:solidFill>
                <a:latin typeface="Tahoma"/>
                <a:cs typeface="Tahoma"/>
              </a:rPr>
              <a:t>size</a:t>
            </a:r>
            <a:r>
              <a:rPr sz="1800" spc="-155" dirty="0">
                <a:solidFill>
                  <a:srgbClr val="F45E61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attribute</a:t>
            </a:r>
            <a:r>
              <a:rPr sz="1800" spc="-15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specifies</a:t>
            </a:r>
            <a:r>
              <a:rPr sz="1800" spc="-15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the</a:t>
            </a:r>
            <a:r>
              <a:rPr sz="1800" spc="-15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size</a:t>
            </a:r>
            <a:r>
              <a:rPr sz="1800" spc="-15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35" dirty="0">
                <a:solidFill>
                  <a:srgbClr val="5E686C"/>
                </a:solidFill>
                <a:latin typeface="Tahoma"/>
                <a:cs typeface="Tahoma"/>
              </a:rPr>
              <a:t>(in</a:t>
            </a:r>
            <a:r>
              <a:rPr sz="1800" spc="-15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characters)</a:t>
            </a:r>
            <a:r>
              <a:rPr sz="1800" spc="-15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for</a:t>
            </a:r>
            <a:r>
              <a:rPr sz="1800" spc="-15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the</a:t>
            </a:r>
            <a:r>
              <a:rPr sz="1800" spc="-15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input</a:t>
            </a:r>
            <a:r>
              <a:rPr sz="1800" spc="-15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5E686C"/>
                </a:solidFill>
                <a:latin typeface="Tahoma"/>
                <a:cs typeface="Tahoma"/>
              </a:rPr>
              <a:t>field:</a:t>
            </a:r>
            <a:endParaRPr sz="180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630"/>
              </a:spcBef>
            </a:pPr>
            <a:endParaRPr sz="1800" dirty="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1400" spc="-10" dirty="0">
                <a:solidFill>
                  <a:srgbClr val="0B5394"/>
                </a:solidFill>
                <a:latin typeface="Courier New"/>
                <a:cs typeface="Courier New"/>
              </a:rPr>
              <a:t>&lt;form&gt;</a:t>
            </a:r>
            <a:endParaRPr sz="1400" dirty="0">
              <a:latin typeface="Courier New"/>
              <a:cs typeface="Courier New"/>
            </a:endParaRPr>
          </a:p>
          <a:p>
            <a:pPr marL="226060">
              <a:lnSpc>
                <a:spcPct val="100000"/>
              </a:lnSpc>
              <a:spcBef>
                <a:spcPts val="270"/>
              </a:spcBef>
            </a:pPr>
            <a:r>
              <a:rPr sz="1400" dirty="0">
                <a:solidFill>
                  <a:srgbClr val="0B5394"/>
                </a:solidFill>
                <a:latin typeface="Courier New"/>
                <a:cs typeface="Courier New"/>
              </a:rPr>
              <a:t>First</a:t>
            </a:r>
            <a:r>
              <a:rPr sz="1400" spc="-25" dirty="0">
                <a:solidFill>
                  <a:srgbClr val="0B5394"/>
                </a:solidFill>
                <a:latin typeface="Courier New"/>
                <a:cs typeface="Courier New"/>
              </a:rPr>
              <a:t> </a:t>
            </a:r>
            <a:r>
              <a:rPr sz="1400" spc="-10" dirty="0">
                <a:solidFill>
                  <a:srgbClr val="0B5394"/>
                </a:solidFill>
                <a:latin typeface="Courier New"/>
                <a:cs typeface="Courier New"/>
              </a:rPr>
              <a:t>name:&lt;br&gt;</a:t>
            </a:r>
            <a:endParaRPr sz="1400" dirty="0">
              <a:latin typeface="Courier New"/>
              <a:cs typeface="Courier New"/>
            </a:endParaRPr>
          </a:p>
          <a:p>
            <a:pPr marL="226060">
              <a:lnSpc>
                <a:spcPct val="100000"/>
              </a:lnSpc>
              <a:spcBef>
                <a:spcPts val="270"/>
              </a:spcBef>
            </a:pPr>
            <a:r>
              <a:rPr sz="1400" dirty="0">
                <a:solidFill>
                  <a:srgbClr val="0B5394"/>
                </a:solidFill>
                <a:latin typeface="Courier New"/>
                <a:cs typeface="Courier New"/>
              </a:rPr>
              <a:t>&lt;input</a:t>
            </a:r>
            <a:r>
              <a:rPr sz="1400" spc="-60" dirty="0">
                <a:solidFill>
                  <a:srgbClr val="0B5394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0B5394"/>
                </a:solidFill>
                <a:latin typeface="Courier New"/>
                <a:cs typeface="Courier New"/>
              </a:rPr>
              <a:t>type="text"</a:t>
            </a:r>
            <a:r>
              <a:rPr sz="1400" spc="-55" dirty="0">
                <a:solidFill>
                  <a:srgbClr val="0B5394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0B5394"/>
                </a:solidFill>
                <a:latin typeface="Courier New"/>
                <a:cs typeface="Courier New"/>
              </a:rPr>
              <a:t>name="firstname"</a:t>
            </a:r>
            <a:r>
              <a:rPr sz="1400" spc="-55" dirty="0">
                <a:solidFill>
                  <a:srgbClr val="0B5394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0B5394"/>
                </a:solidFill>
                <a:latin typeface="Courier New"/>
                <a:cs typeface="Courier New"/>
              </a:rPr>
              <a:t>value="John"</a:t>
            </a:r>
            <a:r>
              <a:rPr sz="1400" spc="-55" dirty="0">
                <a:solidFill>
                  <a:srgbClr val="0B5394"/>
                </a:solidFill>
                <a:latin typeface="Courier New"/>
                <a:cs typeface="Courier New"/>
              </a:rPr>
              <a:t> </a:t>
            </a:r>
            <a:r>
              <a:rPr sz="1400" spc="-10" dirty="0">
                <a:solidFill>
                  <a:srgbClr val="0B5394"/>
                </a:solidFill>
                <a:latin typeface="Courier New"/>
                <a:cs typeface="Courier New"/>
              </a:rPr>
              <a:t>size="40"&gt;</a:t>
            </a:r>
            <a:endParaRPr sz="1400" dirty="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270"/>
              </a:spcBef>
            </a:pPr>
            <a:r>
              <a:rPr sz="1400" spc="-10" dirty="0" smtClean="0">
                <a:solidFill>
                  <a:srgbClr val="0B5394"/>
                </a:solidFill>
                <a:latin typeface="Courier New"/>
                <a:cs typeface="Courier New"/>
              </a:rPr>
              <a:t>&lt;/</a:t>
            </a:r>
            <a:r>
              <a:rPr sz="1400" spc="-10" dirty="0">
                <a:solidFill>
                  <a:srgbClr val="0B5394"/>
                </a:solidFill>
                <a:latin typeface="Courier New"/>
                <a:cs typeface="Courier New"/>
              </a:rPr>
              <a:t>form&gt;</a:t>
            </a:r>
            <a:endParaRPr sz="1400" dirty="0"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16969683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4725" y="448119"/>
            <a:ext cx="6996430" cy="492443"/>
          </a:xfrm>
        </p:spPr>
        <p:txBody>
          <a:bodyPr/>
          <a:lstStyle/>
          <a:p>
            <a:r>
              <a:rPr lang="en-US" dirty="0" smtClean="0"/>
              <a:t>Placeholder attribute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4725" y="1176350"/>
            <a:ext cx="8364220" cy="1261884"/>
          </a:xfrm>
        </p:spPr>
        <p:txBody>
          <a:bodyPr/>
          <a:lstStyle/>
          <a:p>
            <a:pPr marL="285750" indent="-285750">
              <a:buFont typeface="Wingdings" pitchFamily="2" charset="2"/>
              <a:buChar char="§"/>
            </a:pPr>
            <a:r>
              <a:rPr lang="en-US" sz="1600" dirty="0">
                <a:latin typeface="+mj-lt"/>
              </a:rPr>
              <a:t>The input placeholder attribute specifies a short hint that describes the expected value of an input field (a sample value or a short description of the expected format</a:t>
            </a:r>
            <a:r>
              <a:rPr lang="en-US" sz="1600" dirty="0" smtClean="0">
                <a:latin typeface="+mj-lt"/>
              </a:rPr>
              <a:t>).</a:t>
            </a:r>
          </a:p>
          <a:p>
            <a:pPr marL="285750" indent="-285750">
              <a:buFont typeface="Wingdings" pitchFamily="2" charset="2"/>
              <a:buChar char="§"/>
            </a:pPr>
            <a:endParaRPr lang="en-US" sz="1600" dirty="0">
              <a:latin typeface="+mj-lt"/>
            </a:endParaRPr>
          </a:p>
          <a:p>
            <a:pPr marL="285750" indent="-285750">
              <a:buFont typeface="Wingdings" pitchFamily="2" charset="2"/>
              <a:buChar char="§"/>
            </a:pPr>
            <a:r>
              <a:rPr lang="en-US" sz="1600" dirty="0" smtClean="0">
                <a:latin typeface="+mj-lt"/>
              </a:rPr>
              <a:t>The </a:t>
            </a:r>
            <a:r>
              <a:rPr lang="en-US" sz="1600" dirty="0">
                <a:latin typeface="+mj-lt"/>
              </a:rPr>
              <a:t>short hint is displayed in the input field before the user enters a value</a:t>
            </a:r>
          </a:p>
          <a:p>
            <a:endParaRPr lang="en-US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2724150"/>
            <a:ext cx="5867400" cy="1295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8924356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4725" y="448119"/>
            <a:ext cx="6996430" cy="492443"/>
          </a:xfrm>
        </p:spPr>
        <p:txBody>
          <a:bodyPr/>
          <a:lstStyle/>
          <a:p>
            <a:r>
              <a:rPr lang="en-US" dirty="0" smtClean="0"/>
              <a:t>Required attribute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4725" y="1176350"/>
            <a:ext cx="8364220" cy="276999"/>
          </a:xfrm>
        </p:spPr>
        <p:txBody>
          <a:bodyPr/>
          <a:lstStyle/>
          <a:p>
            <a:r>
              <a:rPr lang="en-US" dirty="0"/>
              <a:t> &lt;input type="text" id="username" name="username" required&gt;</a:t>
            </a:r>
          </a:p>
        </p:txBody>
      </p:sp>
    </p:spTree>
    <p:extLst>
      <p:ext uri="{BB962C8B-B14F-4D97-AF65-F5344CB8AC3E}">
        <p14:creationId xmlns:p14="http://schemas.microsoft.com/office/powerpoint/2010/main" val="8261124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4725" y="1176350"/>
            <a:ext cx="8364220" cy="553998"/>
          </a:xfrm>
        </p:spPr>
        <p:txBody>
          <a:bodyPr/>
          <a:lstStyle/>
          <a:p>
            <a:r>
              <a:rPr lang="en-US" dirty="0" smtClean="0"/>
              <a:t>Example </a:t>
            </a:r>
          </a:p>
          <a:p>
            <a:r>
              <a:rPr lang="en-US" dirty="0" smtClean="0"/>
              <a:t>Create a form embedded in a table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67428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174</TotalTime>
  <Words>1355</Words>
  <Application>Microsoft Office PowerPoint</Application>
  <PresentationFormat>On-screen Show (16:9)</PresentationFormat>
  <Paragraphs>213</Paragraphs>
  <Slides>36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37" baseType="lpstr">
      <vt:lpstr>Office Theme</vt:lpstr>
      <vt:lpstr> HTML Forms and Javascript Validation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EXAMPLE </vt:lpstr>
      <vt:lpstr>PowerPoint Presentation</vt:lpstr>
      <vt:lpstr>EXAMPLE </vt:lpstr>
      <vt:lpstr>PowerPoint Presentation</vt:lpstr>
      <vt:lpstr>PowerPoint Presentation</vt:lpstr>
      <vt:lpstr>Input Type Text</vt:lpstr>
      <vt:lpstr>&lt;label&gt; Element  </vt:lpstr>
      <vt:lpstr>Text Input (type=“text”)</vt:lpstr>
      <vt:lpstr>Input Type Password</vt:lpstr>
      <vt:lpstr>PowerPoint Presentation</vt:lpstr>
      <vt:lpstr>PowerPoint Presentation</vt:lpstr>
      <vt:lpstr>Input Type Submit</vt:lpstr>
      <vt:lpstr>Input Type Reset</vt:lpstr>
      <vt:lpstr>Input Type Radio</vt:lpstr>
      <vt:lpstr>Input Type Checkbox</vt:lpstr>
      <vt:lpstr>The &lt;select&gt; Element</vt:lpstr>
      <vt:lpstr>The &lt;select&gt; Element</vt:lpstr>
      <vt:lpstr>The &lt;select&gt; Element</vt:lpstr>
      <vt:lpstr>The &lt;textarea&gt; Element</vt:lpstr>
      <vt:lpstr>PowerPoint Presentation</vt:lpstr>
      <vt:lpstr>HTML Input Attributes</vt:lpstr>
      <vt:lpstr>The value Attribute</vt:lpstr>
      <vt:lpstr>The readonly Attribute</vt:lpstr>
      <vt:lpstr>The disabled Attribute</vt:lpstr>
      <vt:lpstr>The size Attribute</vt:lpstr>
      <vt:lpstr>Placeholder attribute</vt:lpstr>
      <vt:lpstr>Required attribute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HTML Forms and Javascript Validation</dc:title>
  <dc:creator>Saadia Sh</dc:creator>
  <cp:lastModifiedBy>Sadi Shabbit</cp:lastModifiedBy>
  <cp:revision>13</cp:revision>
  <dcterms:created xsi:type="dcterms:W3CDTF">2024-02-25T14:06:45Z</dcterms:created>
  <dcterms:modified xsi:type="dcterms:W3CDTF">2024-10-06T19:48:17Z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or">
    <vt:lpwstr>Google</vt:lpwstr>
  </property>
</Properties>
</file>