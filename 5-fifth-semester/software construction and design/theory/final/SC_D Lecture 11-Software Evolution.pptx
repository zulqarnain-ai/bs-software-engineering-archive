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61" r:id="rId5"/>
    <p:sldId id="259" r:id="rId6"/>
    <p:sldId id="260" r:id="rId7"/>
    <p:sldId id="262" r:id="rId8"/>
    <p:sldId id="264" r:id="rId9"/>
    <p:sldId id="265" r:id="rId10"/>
    <p:sldId id="267" r:id="rId11"/>
    <p:sldId id="263" r:id="rId12"/>
    <p:sldId id="268" r:id="rId13"/>
    <p:sldId id="266" r:id="rId14"/>
    <p:sldId id="270" r:id="rId15"/>
    <p:sldId id="271" r:id="rId16"/>
    <p:sldId id="273" r:id="rId17"/>
    <p:sldId id="272"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06" autoAdjust="0"/>
  </p:normalViewPr>
  <p:slideViewPr>
    <p:cSldViewPr snapToGrid="0" showGuides="1">
      <p:cViewPr varScale="1">
        <p:scale>
          <a:sx n="49" d="100"/>
          <a:sy n="49" d="100"/>
        </p:scale>
        <p:origin x="1312" y="4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A0A61-C3EF-4306-83B0-D8C3F0A7AB66}" type="datetimeFigureOut">
              <a:rPr lang="en-US" smtClean="0"/>
              <a:t>5/6/2024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0355A-B885-4FBD-B035-054EEA24D4D0}" type="slidenum">
              <a:rPr lang="en-US" smtClean="0"/>
              <a:t>‹#›</a:t>
            </a:fld>
            <a:endParaRPr lang="en-US"/>
          </a:p>
        </p:txBody>
      </p:sp>
    </p:spTree>
    <p:extLst>
      <p:ext uri="{BB962C8B-B14F-4D97-AF65-F5344CB8AC3E}">
        <p14:creationId xmlns:p14="http://schemas.microsoft.com/office/powerpoint/2010/main" val="31781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 3 –Chapter 9</a:t>
            </a:r>
          </a:p>
        </p:txBody>
      </p:sp>
      <p:sp>
        <p:nvSpPr>
          <p:cNvPr id="4" name="Slide Number Placeholder 3"/>
          <p:cNvSpPr>
            <a:spLocks noGrp="1"/>
          </p:cNvSpPr>
          <p:nvPr>
            <p:ph type="sldNum" sz="quarter" idx="10"/>
          </p:nvPr>
        </p:nvSpPr>
        <p:spPr/>
        <p:txBody>
          <a:bodyPr/>
          <a:lstStyle/>
          <a:p>
            <a:fld id="{A150355A-B885-4FBD-B035-054EEA24D4D0}" type="slidenum">
              <a:rPr lang="en-US" smtClean="0"/>
              <a:t>2</a:t>
            </a:fld>
            <a:endParaRPr lang="en-US"/>
          </a:p>
        </p:txBody>
      </p:sp>
    </p:spTree>
    <p:extLst>
      <p:ext uri="{BB962C8B-B14F-4D97-AF65-F5344CB8AC3E}">
        <p14:creationId xmlns:p14="http://schemas.microsoft.com/office/powerpoint/2010/main" val="362663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some cases 90 % of software costs are due</a:t>
            </a:r>
            <a:r>
              <a:rPr lang="en-US" baseline="0" dirty="0"/>
              <a:t> to Software Evolution</a:t>
            </a:r>
            <a:endParaRPr lang="en-US" dirty="0"/>
          </a:p>
        </p:txBody>
      </p:sp>
      <p:sp>
        <p:nvSpPr>
          <p:cNvPr id="4" name="Slide Number Placeholder 3"/>
          <p:cNvSpPr>
            <a:spLocks noGrp="1"/>
          </p:cNvSpPr>
          <p:nvPr>
            <p:ph type="sldNum" sz="quarter" idx="10"/>
          </p:nvPr>
        </p:nvSpPr>
        <p:spPr/>
        <p:txBody>
          <a:bodyPr/>
          <a:lstStyle/>
          <a:p>
            <a:fld id="{A150355A-B885-4FBD-B035-054EEA24D4D0}" type="slidenum">
              <a:rPr lang="en-US" smtClean="0"/>
              <a:t>5</a:t>
            </a:fld>
            <a:endParaRPr lang="en-US"/>
          </a:p>
        </p:txBody>
      </p:sp>
    </p:spTree>
    <p:extLst>
      <p:ext uri="{BB962C8B-B14F-4D97-AF65-F5344CB8AC3E}">
        <p14:creationId xmlns:p14="http://schemas.microsoft.com/office/powerpoint/2010/main" val="132902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multi-agent system (MAS) is </a:t>
            </a:r>
            <a:r>
              <a:rPr lang="en-US" sz="1200" b="1" i="0" kern="1200" dirty="0">
                <a:solidFill>
                  <a:schemeClr val="tx1"/>
                </a:solidFill>
                <a:effectLst/>
                <a:latin typeface="+mn-lt"/>
                <a:ea typeface="+mn-ea"/>
                <a:cs typeface="+mn-cs"/>
              </a:rPr>
              <a:t>a loosely coupled network of software agents</a:t>
            </a:r>
            <a:r>
              <a:rPr lang="en-US" sz="1200" b="0" i="0" kern="1200" dirty="0">
                <a:solidFill>
                  <a:schemeClr val="tx1"/>
                </a:solidFill>
                <a:effectLst/>
                <a:latin typeface="+mn-lt"/>
                <a:ea typeface="+mn-ea"/>
                <a:cs typeface="+mn-cs"/>
              </a:rPr>
              <a:t> that interact to solve problems that are beyond the individual capacities or knowledge of each problem solver.</a:t>
            </a:r>
            <a:endParaRPr lang="en-US" dirty="0"/>
          </a:p>
        </p:txBody>
      </p:sp>
      <p:sp>
        <p:nvSpPr>
          <p:cNvPr id="4" name="Slide Number Placeholder 3"/>
          <p:cNvSpPr>
            <a:spLocks noGrp="1"/>
          </p:cNvSpPr>
          <p:nvPr>
            <p:ph type="sldNum" sz="quarter" idx="10"/>
          </p:nvPr>
        </p:nvSpPr>
        <p:spPr/>
        <p:txBody>
          <a:bodyPr/>
          <a:lstStyle/>
          <a:p>
            <a:fld id="{A150355A-B885-4FBD-B035-054EEA24D4D0}" type="slidenum">
              <a:rPr lang="en-US" smtClean="0"/>
              <a:t>9</a:t>
            </a:fld>
            <a:endParaRPr lang="en-US"/>
          </a:p>
        </p:txBody>
      </p:sp>
    </p:spTree>
    <p:extLst>
      <p:ext uri="{BB962C8B-B14F-4D97-AF65-F5344CB8AC3E}">
        <p14:creationId xmlns:p14="http://schemas.microsoft.com/office/powerpoint/2010/main" val="170810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Usually greater than development costs (2* to 100* depending on the application).Affected by both technical and non-technical </a:t>
            </a:r>
            <a:r>
              <a:rPr lang="en-US" sz="1200" b="0" i="0" kern="1200" dirty="0" err="1">
                <a:solidFill>
                  <a:schemeClr val="tx1"/>
                </a:solidFill>
                <a:effectLst/>
                <a:latin typeface="+mn-lt"/>
                <a:ea typeface="+mn-ea"/>
                <a:cs typeface="+mn-cs"/>
              </a:rPr>
              <a:t>factors.Increases</a:t>
            </a:r>
            <a:r>
              <a:rPr lang="en-US" sz="1200" b="0" i="0" kern="1200" dirty="0">
                <a:solidFill>
                  <a:schemeClr val="tx1"/>
                </a:solidFill>
                <a:effectLst/>
                <a:latin typeface="+mn-lt"/>
                <a:ea typeface="+mn-ea"/>
                <a:cs typeface="+mn-cs"/>
              </a:rPr>
              <a:t> as software changes accumulate. Changes corrupt the software structure making further maintenance more </a:t>
            </a:r>
            <a:r>
              <a:rPr lang="en-US" sz="1200" b="0" i="0" kern="1200" dirty="0" err="1">
                <a:solidFill>
                  <a:schemeClr val="tx1"/>
                </a:solidFill>
                <a:effectLst/>
                <a:latin typeface="+mn-lt"/>
                <a:ea typeface="+mn-ea"/>
                <a:cs typeface="+mn-cs"/>
              </a:rPr>
              <a:t>difficult.Ageing</a:t>
            </a:r>
            <a:r>
              <a:rPr lang="en-US" sz="1200" b="0" i="0" kern="1200" dirty="0">
                <a:solidFill>
                  <a:schemeClr val="tx1"/>
                </a:solidFill>
                <a:effectLst/>
                <a:latin typeface="+mn-lt"/>
                <a:ea typeface="+mn-ea"/>
                <a:cs typeface="+mn-cs"/>
              </a:rPr>
              <a:t> software can have high support costs (e.g. old languages, compilers etc.).</a:t>
            </a:r>
            <a:endParaRPr lang="en-US" dirty="0"/>
          </a:p>
        </p:txBody>
      </p:sp>
      <p:sp>
        <p:nvSpPr>
          <p:cNvPr id="4" name="Slide Number Placeholder 3"/>
          <p:cNvSpPr>
            <a:spLocks noGrp="1"/>
          </p:cNvSpPr>
          <p:nvPr>
            <p:ph type="sldNum" sz="quarter" idx="10"/>
          </p:nvPr>
        </p:nvSpPr>
        <p:spPr/>
        <p:txBody>
          <a:bodyPr/>
          <a:lstStyle/>
          <a:p>
            <a:fld id="{A150355A-B885-4FBD-B035-054EEA24D4D0}" type="slidenum">
              <a:rPr lang="en-US" smtClean="0"/>
              <a:t>11</a:t>
            </a:fld>
            <a:endParaRPr lang="en-US"/>
          </a:p>
        </p:txBody>
      </p:sp>
    </p:spTree>
    <p:extLst>
      <p:ext uri="{BB962C8B-B14F-4D97-AF65-F5344CB8AC3E}">
        <p14:creationId xmlns:p14="http://schemas.microsoft.com/office/powerpoint/2010/main" val="990412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hardware in power plants, manufacturing machines controlled by computers running MS-DOS, or outdated financial systems</a:t>
            </a:r>
            <a:r>
              <a:rPr lang="en-US" sz="1200" b="0" i="0" kern="1200" dirty="0">
                <a:solidFill>
                  <a:schemeClr val="tx1"/>
                </a:solidFill>
                <a:effectLst/>
                <a:latin typeface="+mn-lt"/>
                <a:ea typeface="+mn-ea"/>
                <a:cs typeface="+mn-cs"/>
              </a:rPr>
              <a:t>.</a:t>
            </a:r>
          </a:p>
          <a:p>
            <a:r>
              <a:rPr lang="en-US" b="0" i="0" dirty="0">
                <a:solidFill>
                  <a:srgbClr val="202124"/>
                </a:solidFill>
                <a:effectLst/>
                <a:latin typeface="arial" panose="020B0604020202020204" pitchFamily="34" charset="0"/>
              </a:rPr>
              <a:t> </a:t>
            </a:r>
            <a:r>
              <a:rPr lang="en-US" b="1" i="0" dirty="0">
                <a:solidFill>
                  <a:srgbClr val="202124"/>
                </a:solidFill>
                <a:effectLst/>
                <a:latin typeface="arial" panose="020B0604020202020204" pitchFamily="34" charset="0"/>
              </a:rPr>
              <a:t>factory equipment that run on MS-DOS</a:t>
            </a:r>
            <a:endParaRPr lang="en-US" sz="1200" b="0" i="0" kern="1200" dirty="0">
              <a:solidFill>
                <a:schemeClr val="tx1"/>
              </a:solidFill>
              <a:effectLst/>
              <a:latin typeface="+mn-lt"/>
              <a:ea typeface="+mn-ea"/>
              <a:cs typeface="+mn-cs"/>
            </a:endParaRPr>
          </a:p>
          <a:p>
            <a:r>
              <a:rPr lang="en-US" b="0" i="0" dirty="0">
                <a:solidFill>
                  <a:srgbClr val="374151"/>
                </a:solidFill>
                <a:effectLst/>
                <a:latin typeface="Söhne"/>
              </a:rPr>
              <a:t>MS-DOS is a command-line interface (CLI) operating system that does not have a graphical user interface (GUI) like Windows. </a:t>
            </a:r>
            <a:endParaRPr lang="en-US" dirty="0"/>
          </a:p>
        </p:txBody>
      </p:sp>
      <p:sp>
        <p:nvSpPr>
          <p:cNvPr id="4" name="Slide Number Placeholder 3"/>
          <p:cNvSpPr>
            <a:spLocks noGrp="1"/>
          </p:cNvSpPr>
          <p:nvPr>
            <p:ph type="sldNum" sz="quarter" idx="10"/>
          </p:nvPr>
        </p:nvSpPr>
        <p:spPr/>
        <p:txBody>
          <a:bodyPr/>
          <a:lstStyle/>
          <a:p>
            <a:fld id="{A150355A-B885-4FBD-B035-054EEA24D4D0}" type="slidenum">
              <a:rPr lang="en-US" smtClean="0"/>
              <a:t>18</a:t>
            </a:fld>
            <a:endParaRPr lang="en-US"/>
          </a:p>
        </p:txBody>
      </p:sp>
    </p:spTree>
    <p:extLst>
      <p:ext uri="{BB962C8B-B14F-4D97-AF65-F5344CB8AC3E}">
        <p14:creationId xmlns:p14="http://schemas.microsoft.com/office/powerpoint/2010/main" val="2308058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Reengineering=Reverse engineering +Delta Forward Engineering</a:t>
            </a:r>
          </a:p>
        </p:txBody>
      </p:sp>
      <p:sp>
        <p:nvSpPr>
          <p:cNvPr id="4" name="Slide Number Placeholder 3"/>
          <p:cNvSpPr>
            <a:spLocks noGrp="1"/>
          </p:cNvSpPr>
          <p:nvPr>
            <p:ph type="sldNum" sz="quarter" idx="10"/>
          </p:nvPr>
        </p:nvSpPr>
        <p:spPr/>
        <p:txBody>
          <a:bodyPr/>
          <a:lstStyle/>
          <a:p>
            <a:fld id="{A150355A-B885-4FBD-B035-054EEA24D4D0}" type="slidenum">
              <a:rPr lang="en-US" smtClean="0"/>
              <a:t>20</a:t>
            </a:fld>
            <a:endParaRPr lang="en-US"/>
          </a:p>
        </p:txBody>
      </p:sp>
    </p:spTree>
    <p:extLst>
      <p:ext uri="{BB962C8B-B14F-4D97-AF65-F5344CB8AC3E}">
        <p14:creationId xmlns:p14="http://schemas.microsoft.com/office/powerpoint/2010/main" val="12666611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3050003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74489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13261577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F65F9D-0400-4CF1-9F43-38B1CADB4F05}"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1598792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F65F9D-0400-4CF1-9F43-38B1CADB4F05}" type="datetimeFigureOut">
              <a:rPr lang="en-US" smtClean="0"/>
              <a:t>5/6/2024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3050987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F65F9D-0400-4CF1-9F43-38B1CADB4F05}" type="datetimeFigureOut">
              <a:rPr lang="en-US" smtClean="0"/>
              <a:t>5/6/2024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2936422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F65F9D-0400-4CF1-9F43-38B1CADB4F05}" type="datetimeFigureOut">
              <a:rPr lang="en-US" smtClean="0"/>
              <a:t>5/6/2024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1025484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65F9D-0400-4CF1-9F43-38B1CADB4F05}"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1313096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65F9D-0400-4CF1-9F43-38B1CADB4F05}"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3683008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F65F9D-0400-4CF1-9F43-38B1CADB4F05}" type="datetimeFigureOut">
              <a:rPr lang="en-US" smtClean="0"/>
              <a:t>5/6/2024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3291249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1713244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488951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2197540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9F65F9D-0400-4CF1-9F43-38B1CADB4F05}" type="datetimeFigureOut">
              <a:rPr lang="en-US" smtClean="0"/>
              <a:t>5/6/2024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730024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9F65F9D-0400-4CF1-9F43-38B1CADB4F05}" type="datetimeFigureOut">
              <a:rPr lang="en-US" smtClean="0"/>
              <a:t>5/6/2024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3871226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2428511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9F65F9D-0400-4CF1-9F43-38B1CADB4F05}" type="datetimeFigureOut">
              <a:rPr lang="en-US" smtClean="0"/>
              <a:t>5/6/2024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6FD595-240D-449A-9A9A-8911BA9A9C86}" type="slidenum">
              <a:rPr lang="en-US" smtClean="0"/>
              <a:t>‹#›</a:t>
            </a:fld>
            <a:endParaRPr lang="en-US"/>
          </a:p>
        </p:txBody>
      </p:sp>
    </p:spTree>
    <p:extLst>
      <p:ext uri="{BB962C8B-B14F-4D97-AF65-F5344CB8AC3E}">
        <p14:creationId xmlns:p14="http://schemas.microsoft.com/office/powerpoint/2010/main" val="2535058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C9F65F9D-0400-4CF1-9F43-38B1CADB4F05}" type="datetimeFigureOut">
              <a:rPr lang="en-US" smtClean="0"/>
              <a:t>5/6/2024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6FD595-240D-449A-9A9A-8911BA9A9C86}" type="slidenum">
              <a:rPr lang="en-US" smtClean="0"/>
              <a:t>‹#›</a:t>
            </a:fld>
            <a:endParaRPr lang="en-US"/>
          </a:p>
        </p:txBody>
      </p:sp>
    </p:spTree>
    <p:extLst>
      <p:ext uri="{BB962C8B-B14F-4D97-AF65-F5344CB8AC3E}">
        <p14:creationId xmlns:p14="http://schemas.microsoft.com/office/powerpoint/2010/main" val="24466683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Evolution</a:t>
            </a:r>
          </a:p>
        </p:txBody>
      </p:sp>
      <p:sp>
        <p:nvSpPr>
          <p:cNvPr id="3" name="Subtitle 2"/>
          <p:cNvSpPr>
            <a:spLocks noGrp="1"/>
          </p:cNvSpPr>
          <p:nvPr>
            <p:ph type="subTitle" idx="1"/>
          </p:nvPr>
        </p:nvSpPr>
        <p:spPr/>
        <p:txBody>
          <a:bodyPr/>
          <a:lstStyle/>
          <a:p>
            <a:r>
              <a:rPr lang="en-US" dirty="0"/>
              <a:t>Chapter 9 Software Engineering by Ian </a:t>
            </a:r>
            <a:r>
              <a:rPr lang="en-US"/>
              <a:t>Sommerville</a:t>
            </a:r>
          </a:p>
        </p:txBody>
      </p:sp>
    </p:spTree>
    <p:extLst>
      <p:ext uri="{BB962C8B-B14F-4D97-AF65-F5344CB8AC3E}">
        <p14:creationId xmlns:p14="http://schemas.microsoft.com/office/powerpoint/2010/main" val="1160559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Content Placeholder 2"/>
          <p:cNvSpPr>
            <a:spLocks noGrp="1"/>
          </p:cNvSpPr>
          <p:nvPr>
            <p:ph idx="1"/>
          </p:nvPr>
        </p:nvSpPr>
        <p:spPr/>
        <p:txBody>
          <a:bodyPr/>
          <a:lstStyle/>
          <a:p>
            <a:r>
              <a:rPr lang="en-US" dirty="0"/>
              <a:t>Evolution processes </a:t>
            </a:r>
          </a:p>
          <a:p>
            <a:r>
              <a:rPr lang="en-US" dirty="0"/>
              <a:t>Program evolution dynamics </a:t>
            </a:r>
          </a:p>
          <a:p>
            <a:r>
              <a:rPr lang="en-US" dirty="0"/>
              <a:t>Software maintenance </a:t>
            </a:r>
          </a:p>
          <a:p>
            <a:r>
              <a:rPr lang="en-US" dirty="0"/>
              <a:t> Legacy system management</a:t>
            </a:r>
          </a:p>
        </p:txBody>
      </p:sp>
    </p:spTree>
    <p:extLst>
      <p:ext uri="{BB962C8B-B14F-4D97-AF65-F5344CB8AC3E}">
        <p14:creationId xmlns:p14="http://schemas.microsoft.com/office/powerpoint/2010/main" val="4183708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p:txBody>
          <a:bodyPr/>
          <a:lstStyle/>
          <a:p>
            <a:r>
              <a:rPr lang="en-US" dirty="0"/>
              <a:t>Software development does not stop when a system is delivered but continues throughout the lifetime of the system</a:t>
            </a:r>
          </a:p>
          <a:p>
            <a:r>
              <a:rPr lang="en-US" dirty="0"/>
              <a:t>After a system has been deployed, it inevitably has to change if it is to remain useful</a:t>
            </a:r>
          </a:p>
          <a:p>
            <a:r>
              <a:rPr lang="en-US" dirty="0"/>
              <a:t>Business changes and changes to user expectations generate new requirements for the existing software</a:t>
            </a:r>
          </a:p>
          <a:p>
            <a:r>
              <a:rPr lang="en-US" dirty="0"/>
              <a:t>Parts of the software may have to be modified to correct errors that are found in operation, to adapt it for changes to its hardware and software platform, and to improve its performance or other non-functional characteristic</a:t>
            </a:r>
          </a:p>
        </p:txBody>
      </p:sp>
    </p:spTree>
    <p:extLst>
      <p:ext uri="{BB962C8B-B14F-4D97-AF65-F5344CB8AC3E}">
        <p14:creationId xmlns:p14="http://schemas.microsoft.com/office/powerpoint/2010/main" val="26337353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Software change is inevitable</a:t>
            </a:r>
            <a:endParaRPr lang="en-US" dirty="0"/>
          </a:p>
        </p:txBody>
      </p:sp>
      <p:sp>
        <p:nvSpPr>
          <p:cNvPr id="5" name="Content Placeholder 4"/>
          <p:cNvSpPr>
            <a:spLocks noGrp="1"/>
          </p:cNvSpPr>
          <p:nvPr>
            <p:ph idx="1"/>
          </p:nvPr>
        </p:nvSpPr>
        <p:spPr/>
        <p:txBody>
          <a:bodyPr/>
          <a:lstStyle/>
          <a:p>
            <a:r>
              <a:rPr lang="en-US" dirty="0"/>
              <a:t>New requirements emerge when the software is used;</a:t>
            </a:r>
          </a:p>
          <a:p>
            <a:r>
              <a:rPr lang="en-US" dirty="0"/>
              <a:t>The business environment changes;</a:t>
            </a:r>
          </a:p>
          <a:p>
            <a:r>
              <a:rPr lang="en-US" dirty="0"/>
              <a:t>Errors must be repaired;</a:t>
            </a:r>
          </a:p>
          <a:p>
            <a:r>
              <a:rPr lang="en-US" dirty="0"/>
              <a:t>New computers and equipment is added to the system;</a:t>
            </a:r>
          </a:p>
          <a:p>
            <a:r>
              <a:rPr lang="en-US" dirty="0"/>
              <a:t>The performance or reliability of the system may have to be improved.</a:t>
            </a:r>
          </a:p>
          <a:p>
            <a:r>
              <a:rPr lang="en-US" dirty="0"/>
              <a:t>A key problem for organizations is implementing and managing change to their existing software systems.</a:t>
            </a:r>
            <a:br>
              <a:rPr lang="en-US" dirty="0"/>
            </a:br>
            <a:endParaRPr lang="en-US" dirty="0"/>
          </a:p>
        </p:txBody>
      </p:sp>
    </p:spTree>
    <p:extLst>
      <p:ext uri="{BB962C8B-B14F-4D97-AF65-F5344CB8AC3E}">
        <p14:creationId xmlns:p14="http://schemas.microsoft.com/office/powerpoint/2010/main" val="231798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 Importance</a:t>
            </a:r>
          </a:p>
        </p:txBody>
      </p:sp>
      <p:sp>
        <p:nvSpPr>
          <p:cNvPr id="3" name="Content Placeholder 2"/>
          <p:cNvSpPr>
            <a:spLocks noGrp="1"/>
          </p:cNvSpPr>
          <p:nvPr>
            <p:ph idx="1"/>
          </p:nvPr>
        </p:nvSpPr>
        <p:spPr/>
        <p:txBody>
          <a:bodyPr>
            <a:normAutofit fontScale="92500"/>
          </a:bodyPr>
          <a:lstStyle/>
          <a:p>
            <a:r>
              <a:rPr lang="en-US" dirty="0"/>
              <a:t>Software evolution is important because organizations have invested large amounts of money in their software and are now completely dependent on these systems. </a:t>
            </a:r>
          </a:p>
          <a:p>
            <a:r>
              <a:rPr lang="en-US" dirty="0"/>
              <a:t>Their systems are critical business assets and they have to invest in system change to maintain the value of these assets. </a:t>
            </a:r>
          </a:p>
          <a:p>
            <a:r>
              <a:rPr lang="en-US" dirty="0"/>
              <a:t>Consequently, most large companies spend more on maintaining existing systems than on new systems development. </a:t>
            </a:r>
          </a:p>
          <a:p>
            <a:r>
              <a:rPr lang="en-US" dirty="0"/>
              <a:t>Based on an informal industry poll, </a:t>
            </a:r>
            <a:r>
              <a:rPr lang="en-US" dirty="0" err="1"/>
              <a:t>Erlikh</a:t>
            </a:r>
            <a:r>
              <a:rPr lang="en-US" dirty="0"/>
              <a:t> (2000) suggests that 85–90% of organizational software costs are evolution costs. Other surveys suggest that about two-thirds of software costs are evolution costs. For sure, the costs of software change are a large part of the IT budget for all companies.</a:t>
            </a:r>
          </a:p>
        </p:txBody>
      </p:sp>
    </p:spTree>
    <p:extLst>
      <p:ext uri="{BB962C8B-B14F-4D97-AF65-F5344CB8AC3E}">
        <p14:creationId xmlns:p14="http://schemas.microsoft.com/office/powerpoint/2010/main" val="2472548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a:t>
            </a:r>
          </a:p>
        </p:txBody>
      </p:sp>
      <p:sp>
        <p:nvSpPr>
          <p:cNvPr id="3" name="Content Placeholder 2"/>
          <p:cNvSpPr>
            <a:spLocks noGrp="1"/>
          </p:cNvSpPr>
          <p:nvPr>
            <p:ph idx="1"/>
          </p:nvPr>
        </p:nvSpPr>
        <p:spPr/>
        <p:txBody>
          <a:bodyPr/>
          <a:lstStyle/>
          <a:p>
            <a:r>
              <a:rPr lang="en-US" dirty="0"/>
              <a:t>Useful software systems often have a very long lifetime. </a:t>
            </a:r>
          </a:p>
          <a:p>
            <a:r>
              <a:rPr lang="en-US" dirty="0"/>
              <a:t>For example, large military or infrastructure systems, such as air traffic control systems, may have a lifetime of 30 years or more. Business systems are often more than 10 years old. Software cost a lot of money so a company has to use a software system for many years to get a return on its investment</a:t>
            </a:r>
          </a:p>
        </p:txBody>
      </p:sp>
    </p:spTree>
    <p:extLst>
      <p:ext uri="{BB962C8B-B14F-4D97-AF65-F5344CB8AC3E}">
        <p14:creationId xmlns:p14="http://schemas.microsoft.com/office/powerpoint/2010/main" val="2955533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Changes</a:t>
            </a:r>
          </a:p>
        </p:txBody>
      </p:sp>
      <p:sp>
        <p:nvSpPr>
          <p:cNvPr id="3" name="Content Placeholder 2"/>
          <p:cNvSpPr>
            <a:spLocks noGrp="1"/>
          </p:cNvSpPr>
          <p:nvPr>
            <p:ph idx="1"/>
          </p:nvPr>
        </p:nvSpPr>
        <p:spPr>
          <a:xfrm>
            <a:off x="838200" y="2586446"/>
            <a:ext cx="10515600" cy="3455580"/>
          </a:xfrm>
        </p:spPr>
        <p:txBody>
          <a:bodyPr>
            <a:normAutofit/>
          </a:bodyPr>
          <a:lstStyle/>
          <a:p>
            <a:r>
              <a:rPr lang="en-US" dirty="0"/>
              <a:t>Repair of Software Faults-Changing a system to correct deficiencies in the way meets its requirements.</a:t>
            </a:r>
          </a:p>
          <a:p>
            <a:r>
              <a:rPr lang="en-US" dirty="0"/>
              <a:t>Adapt software to a different operating environment-Changing a system so that it operates in a different environment (computer, OS, etc.) from its initial implementation.</a:t>
            </a:r>
          </a:p>
          <a:p>
            <a:r>
              <a:rPr lang="en-US" dirty="0"/>
              <a:t>Add to or modify the system’s functionality-Modifying the system to satisfy new requirements.</a:t>
            </a:r>
          </a:p>
          <a:p>
            <a:r>
              <a:rPr lang="en-US" dirty="0"/>
              <a:t>Improve the program structure and system performance-Modifying the system without changing functional behavior</a:t>
            </a:r>
          </a:p>
        </p:txBody>
      </p:sp>
    </p:spTree>
    <p:extLst>
      <p:ext uri="{BB962C8B-B14F-4D97-AF65-F5344CB8AC3E}">
        <p14:creationId xmlns:p14="http://schemas.microsoft.com/office/powerpoint/2010/main" val="1082015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evolution dynamics</a:t>
            </a:r>
          </a:p>
        </p:txBody>
      </p:sp>
      <p:sp>
        <p:nvSpPr>
          <p:cNvPr id="3" name="Content Placeholder 2"/>
          <p:cNvSpPr>
            <a:spLocks noGrp="1"/>
          </p:cNvSpPr>
          <p:nvPr>
            <p:ph idx="1"/>
          </p:nvPr>
        </p:nvSpPr>
        <p:spPr/>
        <p:txBody>
          <a:bodyPr/>
          <a:lstStyle/>
          <a:p>
            <a:r>
              <a:rPr lang="en-US" dirty="0"/>
              <a:t>Program evolution dynamics is the study of the processes of system change.</a:t>
            </a:r>
          </a:p>
          <a:p>
            <a:r>
              <a:rPr lang="en-US" dirty="0"/>
              <a:t>After major empirical studies, Lehman and </a:t>
            </a:r>
            <a:r>
              <a:rPr lang="en-US" dirty="0" err="1"/>
              <a:t>Belady</a:t>
            </a:r>
            <a:r>
              <a:rPr lang="en-US" dirty="0"/>
              <a:t> proposed that there were a number of ‘laws’ which applied to all systems as they evolved.</a:t>
            </a:r>
          </a:p>
          <a:p>
            <a:r>
              <a:rPr lang="en-US" dirty="0"/>
              <a:t>These are sensible observations rather than laws. They are applicable to large systems developed by large organizations. </a:t>
            </a:r>
          </a:p>
          <a:p>
            <a:r>
              <a:rPr lang="en-US" dirty="0"/>
              <a:t>Perhaps less applicable in other cases.</a:t>
            </a:r>
          </a:p>
        </p:txBody>
      </p:sp>
    </p:spTree>
    <p:extLst>
      <p:ext uri="{BB962C8B-B14F-4D97-AF65-F5344CB8AC3E}">
        <p14:creationId xmlns:p14="http://schemas.microsoft.com/office/powerpoint/2010/main" val="1333456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Lehman’s laws</a:t>
            </a:r>
          </a:p>
        </p:txBody>
      </p:sp>
      <p:pic>
        <p:nvPicPr>
          <p:cNvPr id="4" name="Content Placeholder 3"/>
          <p:cNvPicPr>
            <a:picLocks noGrp="1" noChangeAspect="1"/>
          </p:cNvPicPr>
          <p:nvPr>
            <p:ph idx="1"/>
          </p:nvPr>
        </p:nvPicPr>
        <p:blipFill>
          <a:blip r:embed="rId3"/>
          <a:stretch>
            <a:fillRect/>
          </a:stretch>
        </p:blipFill>
        <p:spPr>
          <a:xfrm>
            <a:off x="2374681" y="1690688"/>
            <a:ext cx="6816616" cy="4769344"/>
          </a:xfrm>
          <a:prstGeom prst="rect">
            <a:avLst/>
          </a:prstGeom>
        </p:spPr>
      </p:pic>
    </p:spTree>
    <p:extLst>
      <p:ext uri="{BB962C8B-B14F-4D97-AF65-F5344CB8AC3E}">
        <p14:creationId xmlns:p14="http://schemas.microsoft.com/office/powerpoint/2010/main" val="407217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a:t>
            </a:r>
          </a:p>
        </p:txBody>
      </p:sp>
      <p:sp>
        <p:nvSpPr>
          <p:cNvPr id="3" name="Content Placeholder 2"/>
          <p:cNvSpPr>
            <a:spLocks noGrp="1"/>
          </p:cNvSpPr>
          <p:nvPr>
            <p:ph idx="1"/>
          </p:nvPr>
        </p:nvSpPr>
        <p:spPr/>
        <p:txBody>
          <a:bodyPr/>
          <a:lstStyle/>
          <a:p>
            <a:pPr marL="0" indent="0">
              <a:buNone/>
            </a:pPr>
            <a:r>
              <a:rPr lang="en-US" dirty="0"/>
              <a:t>Broad definition of evolution: </a:t>
            </a:r>
          </a:p>
          <a:p>
            <a:r>
              <a:rPr lang="en-US" dirty="0"/>
              <a:t>Generally, software evolution refers to the study and management of the process of making changes to software over time.</a:t>
            </a:r>
          </a:p>
          <a:p>
            <a:r>
              <a:rPr lang="en-US" dirty="0"/>
              <a:t>In this definition, software evolution comprises:</a:t>
            </a:r>
          </a:p>
          <a:p>
            <a:pPr>
              <a:buFont typeface="Wingdings" panose="05000000000000000000" pitchFamily="2" charset="2"/>
              <a:buChar char="v"/>
            </a:pPr>
            <a:r>
              <a:rPr lang="en-US" dirty="0"/>
              <a:t> Development activities</a:t>
            </a:r>
          </a:p>
          <a:p>
            <a:pPr>
              <a:buFont typeface="Wingdings" panose="05000000000000000000" pitchFamily="2" charset="2"/>
              <a:buChar char="v"/>
            </a:pPr>
            <a:r>
              <a:rPr lang="en-US" dirty="0"/>
              <a:t>Maintenance activities</a:t>
            </a:r>
          </a:p>
          <a:p>
            <a:pPr>
              <a:buFont typeface="Wingdings" panose="05000000000000000000" pitchFamily="2" charset="2"/>
              <a:buChar char="v"/>
            </a:pPr>
            <a:r>
              <a:rPr lang="en-US" dirty="0"/>
              <a:t>Reengineering activities</a:t>
            </a:r>
          </a:p>
        </p:txBody>
      </p:sp>
    </p:spTree>
    <p:extLst>
      <p:ext uri="{BB962C8B-B14F-4D97-AF65-F5344CB8AC3E}">
        <p14:creationId xmlns:p14="http://schemas.microsoft.com/office/powerpoint/2010/main" val="1529323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Software Maintenance: Overview</a:t>
            </a:r>
            <a:endParaRPr lang="en-US" dirty="0"/>
          </a:p>
        </p:txBody>
      </p:sp>
      <p:sp>
        <p:nvSpPr>
          <p:cNvPr id="3" name="Content Placeholder 2"/>
          <p:cNvSpPr>
            <a:spLocks noGrp="1"/>
          </p:cNvSpPr>
          <p:nvPr>
            <p:ph idx="1"/>
          </p:nvPr>
        </p:nvSpPr>
        <p:spPr/>
        <p:txBody>
          <a:bodyPr/>
          <a:lstStyle/>
          <a:p>
            <a:pPr marL="0" indent="0">
              <a:buNone/>
            </a:pPr>
            <a:r>
              <a:rPr lang="en-US" i="1" dirty="0"/>
              <a:t>The activities of changing the system after it has been delivered</a:t>
            </a:r>
          </a:p>
          <a:p>
            <a:pPr marL="0" indent="0">
              <a:buNone/>
            </a:pPr>
            <a:r>
              <a:rPr lang="en-US" b="1" i="1" dirty="0"/>
              <a:t>Types of software maintenance:</a:t>
            </a:r>
          </a:p>
          <a:p>
            <a:pPr marL="0" indent="0">
              <a:buNone/>
            </a:pPr>
            <a:r>
              <a:rPr lang="en-US" b="1" dirty="0"/>
              <a:t>Corrective maintenance: </a:t>
            </a:r>
            <a:r>
              <a:rPr lang="en-US" dirty="0"/>
              <a:t>repair of software faults</a:t>
            </a:r>
          </a:p>
          <a:p>
            <a:pPr marL="0" indent="0">
              <a:buNone/>
            </a:pPr>
            <a:r>
              <a:rPr lang="en-US" b="1" dirty="0"/>
              <a:t>Adaptive maintenance: </a:t>
            </a:r>
            <a:r>
              <a:rPr lang="en-US" dirty="0"/>
              <a:t>modification of software due to changes in the operating environment (hardware, supporting software)</a:t>
            </a:r>
          </a:p>
          <a:p>
            <a:pPr marL="0" indent="0">
              <a:buNone/>
            </a:pPr>
            <a:r>
              <a:rPr lang="en-US" b="1" dirty="0"/>
              <a:t>Perfective maintenance: </a:t>
            </a:r>
            <a:r>
              <a:rPr lang="en-US" dirty="0"/>
              <a:t>additions to and/or modifications of system functionality due to organizational or business changes</a:t>
            </a:r>
          </a:p>
        </p:txBody>
      </p:sp>
    </p:spTree>
    <p:extLst>
      <p:ext uri="{BB962C8B-B14F-4D97-AF65-F5344CB8AC3E}">
        <p14:creationId xmlns:p14="http://schemas.microsoft.com/office/powerpoint/2010/main" val="2536112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Development/Maintenance Cost</a:t>
            </a:r>
          </a:p>
        </p:txBody>
      </p:sp>
      <p:pic>
        <p:nvPicPr>
          <p:cNvPr id="4" name="Content Placeholder 3"/>
          <p:cNvPicPr>
            <a:picLocks noGrp="1" noChangeAspect="1"/>
          </p:cNvPicPr>
          <p:nvPr>
            <p:ph idx="1"/>
          </p:nvPr>
        </p:nvPicPr>
        <p:blipFill>
          <a:blip r:embed="rId2"/>
          <a:stretch>
            <a:fillRect/>
          </a:stretch>
        </p:blipFill>
        <p:spPr>
          <a:xfrm>
            <a:off x="2367756" y="2682875"/>
            <a:ext cx="6400800" cy="3257550"/>
          </a:xfrm>
          <a:prstGeom prst="rect">
            <a:avLst/>
          </a:prstGeom>
        </p:spPr>
      </p:pic>
    </p:spTree>
    <p:extLst>
      <p:ext uri="{BB962C8B-B14F-4D97-AF65-F5344CB8AC3E}">
        <p14:creationId xmlns:p14="http://schemas.microsoft.com/office/powerpoint/2010/main" val="2541125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Maintenance Cost Factors</a:t>
            </a:r>
          </a:p>
        </p:txBody>
      </p:sp>
      <p:sp>
        <p:nvSpPr>
          <p:cNvPr id="3" name="Content Placeholder 2"/>
          <p:cNvSpPr>
            <a:spLocks noGrp="1"/>
          </p:cNvSpPr>
          <p:nvPr>
            <p:ph idx="1"/>
          </p:nvPr>
        </p:nvSpPr>
        <p:spPr/>
        <p:txBody>
          <a:bodyPr>
            <a:normAutofit fontScale="92500" lnSpcReduction="20000"/>
          </a:bodyPr>
          <a:lstStyle/>
          <a:p>
            <a:r>
              <a:rPr lang="en-US" b="1" dirty="0"/>
              <a:t>Team stability</a:t>
            </a:r>
          </a:p>
          <a:p>
            <a:pPr marL="0" indent="0">
              <a:buNone/>
            </a:pPr>
            <a:r>
              <a:rPr lang="en-US" dirty="0"/>
              <a:t>Maintenance costs are reduced if the same staff are involved with them for some time.</a:t>
            </a:r>
          </a:p>
          <a:p>
            <a:r>
              <a:rPr lang="en-US" b="1" dirty="0"/>
              <a:t>Contractual responsibility</a:t>
            </a:r>
          </a:p>
          <a:p>
            <a:pPr marL="0" indent="0">
              <a:buNone/>
            </a:pPr>
            <a:r>
              <a:rPr lang="en-US" dirty="0"/>
              <a:t>The developers of a system may have no contractual responsibility for maintenance so there is no incentive to design for future change.</a:t>
            </a:r>
          </a:p>
          <a:p>
            <a:r>
              <a:rPr lang="en-US" b="1" dirty="0"/>
              <a:t>Staff skills</a:t>
            </a:r>
          </a:p>
          <a:p>
            <a:pPr marL="0" indent="0">
              <a:buNone/>
            </a:pPr>
            <a:r>
              <a:rPr lang="en-US" dirty="0"/>
              <a:t>Maintenance staff are often inexperienced and have limited domain knowledge</a:t>
            </a:r>
          </a:p>
          <a:p>
            <a:r>
              <a:rPr lang="en-US" b="1" dirty="0"/>
              <a:t>Program age and structure</a:t>
            </a:r>
          </a:p>
          <a:p>
            <a:pPr marL="0" indent="0">
              <a:buNone/>
            </a:pPr>
            <a:r>
              <a:rPr lang="en-US" dirty="0"/>
              <a:t>As programs age, their structure is degraded and they become harder to understand and change.</a:t>
            </a:r>
          </a:p>
        </p:txBody>
      </p:sp>
    </p:spTree>
    <p:extLst>
      <p:ext uri="{BB962C8B-B14F-4D97-AF65-F5344CB8AC3E}">
        <p14:creationId xmlns:p14="http://schemas.microsoft.com/office/powerpoint/2010/main" val="28946064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Evolution Process</a:t>
            </a:r>
          </a:p>
        </p:txBody>
      </p:sp>
      <p:pic>
        <p:nvPicPr>
          <p:cNvPr id="6" name="Content Placeholder 5"/>
          <p:cNvPicPr>
            <a:picLocks noGrp="1" noChangeAspect="1"/>
          </p:cNvPicPr>
          <p:nvPr>
            <p:ph idx="1"/>
          </p:nvPr>
        </p:nvPicPr>
        <p:blipFill>
          <a:blip r:embed="rId2"/>
          <a:stretch>
            <a:fillRect/>
          </a:stretch>
        </p:blipFill>
        <p:spPr>
          <a:xfrm>
            <a:off x="1943100" y="2649401"/>
            <a:ext cx="8305800" cy="2514600"/>
          </a:xfrm>
          <a:prstGeom prst="rect">
            <a:avLst/>
          </a:prstGeom>
        </p:spPr>
      </p:pic>
    </p:spTree>
    <p:extLst>
      <p:ext uri="{BB962C8B-B14F-4D97-AF65-F5344CB8AC3E}">
        <p14:creationId xmlns:p14="http://schemas.microsoft.com/office/powerpoint/2010/main" val="1803958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Change Implementation</a:t>
            </a:r>
          </a:p>
        </p:txBody>
      </p:sp>
      <p:pic>
        <p:nvPicPr>
          <p:cNvPr id="4" name="Content Placeholder 3"/>
          <p:cNvPicPr>
            <a:picLocks noGrp="1" noChangeAspect="1"/>
          </p:cNvPicPr>
          <p:nvPr>
            <p:ph idx="1"/>
          </p:nvPr>
        </p:nvPicPr>
        <p:blipFill>
          <a:blip r:embed="rId2"/>
          <a:stretch>
            <a:fillRect/>
          </a:stretch>
        </p:blipFill>
        <p:spPr>
          <a:xfrm>
            <a:off x="1308424" y="2678962"/>
            <a:ext cx="9575152" cy="1782680"/>
          </a:xfrm>
          <a:prstGeom prst="rect">
            <a:avLst/>
          </a:prstGeom>
        </p:spPr>
      </p:pic>
    </p:spTree>
    <p:extLst>
      <p:ext uri="{BB962C8B-B14F-4D97-AF65-F5344CB8AC3E}">
        <p14:creationId xmlns:p14="http://schemas.microsoft.com/office/powerpoint/2010/main" val="4242809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Urgent Changes Request</a:t>
            </a:r>
          </a:p>
        </p:txBody>
      </p:sp>
      <p:sp>
        <p:nvSpPr>
          <p:cNvPr id="3" name="Content Placeholder 2"/>
          <p:cNvSpPr>
            <a:spLocks noGrp="1"/>
          </p:cNvSpPr>
          <p:nvPr>
            <p:ph idx="1"/>
          </p:nvPr>
        </p:nvSpPr>
        <p:spPr/>
        <p:txBody>
          <a:bodyPr/>
          <a:lstStyle/>
          <a:p>
            <a:r>
              <a:rPr lang="en-US" dirty="0"/>
              <a:t>Urgent changes may have to be implemented without going through all stages of the evolution process</a:t>
            </a:r>
          </a:p>
          <a:p>
            <a:r>
              <a:rPr lang="en-US" dirty="0"/>
              <a:t>If a serious system fault has to be repaired;</a:t>
            </a:r>
          </a:p>
          <a:p>
            <a:r>
              <a:rPr lang="en-US" dirty="0"/>
              <a:t>If changes to the system’s environment (e.g. an OS upgrade) have unexpected effects.</a:t>
            </a:r>
          </a:p>
          <a:p>
            <a:r>
              <a:rPr lang="en-US" dirty="0"/>
              <a:t> If there are business changes that require a very rapid response (e.g. the release of a competing product).</a:t>
            </a:r>
          </a:p>
        </p:txBody>
      </p:sp>
    </p:spTree>
    <p:extLst>
      <p:ext uri="{BB962C8B-B14F-4D97-AF65-F5344CB8AC3E}">
        <p14:creationId xmlns:p14="http://schemas.microsoft.com/office/powerpoint/2010/main" val="695632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Emergency Repair Process</a:t>
            </a:r>
          </a:p>
        </p:txBody>
      </p:sp>
      <p:pic>
        <p:nvPicPr>
          <p:cNvPr id="4" name="Content Placeholder 3"/>
          <p:cNvPicPr>
            <a:picLocks noGrp="1" noChangeAspect="1"/>
          </p:cNvPicPr>
          <p:nvPr>
            <p:ph idx="1"/>
          </p:nvPr>
        </p:nvPicPr>
        <p:blipFill>
          <a:blip r:embed="rId2"/>
          <a:stretch>
            <a:fillRect/>
          </a:stretch>
        </p:blipFill>
        <p:spPr>
          <a:xfrm>
            <a:off x="177298" y="2483712"/>
            <a:ext cx="10696702" cy="1646853"/>
          </a:xfrm>
          <a:prstGeom prst="rect">
            <a:avLst/>
          </a:prstGeom>
        </p:spPr>
      </p:pic>
    </p:spTree>
    <p:extLst>
      <p:ext uri="{BB962C8B-B14F-4D97-AF65-F5344CB8AC3E}">
        <p14:creationId xmlns:p14="http://schemas.microsoft.com/office/powerpoint/2010/main" val="1219923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Legacy System </a:t>
            </a:r>
          </a:p>
        </p:txBody>
      </p:sp>
      <p:sp>
        <p:nvSpPr>
          <p:cNvPr id="3" name="Content Placeholder 2"/>
          <p:cNvSpPr>
            <a:spLocks noGrp="1"/>
          </p:cNvSpPr>
          <p:nvPr>
            <p:ph idx="1"/>
          </p:nvPr>
        </p:nvSpPr>
        <p:spPr/>
        <p:txBody>
          <a:bodyPr>
            <a:normAutofit/>
          </a:bodyPr>
          <a:lstStyle/>
          <a:p>
            <a:r>
              <a:rPr lang="en-US" dirty="0"/>
              <a:t>Older Systems that remain vital to an organization</a:t>
            </a:r>
          </a:p>
          <a:p>
            <a:r>
              <a:rPr lang="en-US" dirty="0"/>
              <a:t>Legacy systems are old systems that are still useful and are sometimes critical to business operation. </a:t>
            </a:r>
          </a:p>
          <a:p>
            <a:r>
              <a:rPr lang="en-US" dirty="0"/>
              <a:t>They may be implemented using outdated languages and technology or may use other systems that are expensive to maintain. </a:t>
            </a:r>
          </a:p>
          <a:p>
            <a:r>
              <a:rPr lang="en-US" dirty="0"/>
              <a:t>Often their structure has been degraded by change and documentation is missing or out of date.</a:t>
            </a:r>
          </a:p>
          <a:p>
            <a:r>
              <a:rPr lang="en-US" dirty="0"/>
              <a:t> Nevertheless, it may not be cost effective to replace these systems. </a:t>
            </a:r>
          </a:p>
        </p:txBody>
      </p:sp>
    </p:spTree>
    <p:extLst>
      <p:ext uri="{BB962C8B-B14F-4D97-AF65-F5344CB8AC3E}">
        <p14:creationId xmlns:p14="http://schemas.microsoft.com/office/powerpoint/2010/main" val="3230479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legacy dilemma</a:t>
            </a:r>
          </a:p>
        </p:txBody>
      </p:sp>
      <p:sp>
        <p:nvSpPr>
          <p:cNvPr id="3" name="Content Placeholder 2"/>
          <p:cNvSpPr>
            <a:spLocks noGrp="1"/>
          </p:cNvSpPr>
          <p:nvPr>
            <p:ph idx="1"/>
          </p:nvPr>
        </p:nvSpPr>
        <p:spPr/>
        <p:txBody>
          <a:bodyPr/>
          <a:lstStyle/>
          <a:p>
            <a:r>
              <a:rPr lang="en-US" dirty="0"/>
              <a:t>It is expensive and risky to replace the legacy system </a:t>
            </a:r>
          </a:p>
          <a:p>
            <a:r>
              <a:rPr lang="en-US" dirty="0"/>
              <a:t>It is expensive to maintain the legacy system </a:t>
            </a:r>
          </a:p>
          <a:p>
            <a:r>
              <a:rPr lang="en-US" dirty="0"/>
              <a:t>Businesses must weigh up the costs and risks and may choose to extend the system lifetime using techniques such as re-engineering.</a:t>
            </a:r>
          </a:p>
        </p:txBody>
      </p:sp>
    </p:spTree>
    <p:extLst>
      <p:ext uri="{BB962C8B-B14F-4D97-AF65-F5344CB8AC3E}">
        <p14:creationId xmlns:p14="http://schemas.microsoft.com/office/powerpoint/2010/main" val="3486503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 engineering</a:t>
            </a:r>
          </a:p>
        </p:txBody>
      </p:sp>
      <p:sp>
        <p:nvSpPr>
          <p:cNvPr id="3" name="Content Placeholder 2"/>
          <p:cNvSpPr>
            <a:spLocks noGrp="1"/>
          </p:cNvSpPr>
          <p:nvPr>
            <p:ph idx="1"/>
          </p:nvPr>
        </p:nvSpPr>
        <p:spPr/>
        <p:txBody>
          <a:bodyPr/>
          <a:lstStyle/>
          <a:p>
            <a:r>
              <a:rPr lang="en-US" dirty="0"/>
              <a:t> It is a process of software development which is done to improve the maintainability of a software system. </a:t>
            </a:r>
          </a:p>
          <a:p>
            <a:r>
              <a:rPr lang="en-US" dirty="0"/>
              <a:t>Technical Definition: Software Re- engineering is the examination and alteration of a system to reconstitute it in a new form</a:t>
            </a:r>
          </a:p>
        </p:txBody>
      </p:sp>
    </p:spTree>
    <p:extLst>
      <p:ext uri="{BB962C8B-B14F-4D97-AF65-F5344CB8AC3E}">
        <p14:creationId xmlns:p14="http://schemas.microsoft.com/office/powerpoint/2010/main" val="3705445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Re-Engineering Cost Factors</a:t>
            </a:r>
          </a:p>
        </p:txBody>
      </p:sp>
      <p:sp>
        <p:nvSpPr>
          <p:cNvPr id="3" name="Content Placeholder 2"/>
          <p:cNvSpPr>
            <a:spLocks noGrp="1"/>
          </p:cNvSpPr>
          <p:nvPr>
            <p:ph idx="1"/>
          </p:nvPr>
        </p:nvSpPr>
        <p:spPr/>
        <p:txBody>
          <a:bodyPr/>
          <a:lstStyle/>
          <a:p>
            <a:pPr fontAlgn="base"/>
            <a:r>
              <a:rPr lang="en-US" dirty="0"/>
              <a:t>The quality of the software to be re-engineered.</a:t>
            </a:r>
          </a:p>
          <a:p>
            <a:pPr fontAlgn="base"/>
            <a:r>
              <a:rPr lang="en-US" dirty="0"/>
              <a:t>The tool support availability for engineering.</a:t>
            </a:r>
          </a:p>
          <a:p>
            <a:pPr fontAlgn="base"/>
            <a:r>
              <a:rPr lang="en-US" dirty="0"/>
              <a:t>The extent of the data conversion which is required.</a:t>
            </a:r>
          </a:p>
          <a:p>
            <a:pPr fontAlgn="base"/>
            <a:r>
              <a:rPr lang="en-US"/>
              <a:t>The availability of expert staff for Re-engineering.</a:t>
            </a:r>
          </a:p>
          <a:p>
            <a:pPr marL="0" indent="0">
              <a:buNone/>
            </a:pPr>
            <a:endParaRPr lang="en-US"/>
          </a:p>
        </p:txBody>
      </p:sp>
    </p:spTree>
    <p:extLst>
      <p:ext uri="{BB962C8B-B14F-4D97-AF65-F5344CB8AC3E}">
        <p14:creationId xmlns:p14="http://schemas.microsoft.com/office/powerpoint/2010/main" val="20372447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589</TotalTime>
  <Words>1160</Words>
  <Application>Microsoft Office PowerPoint</Application>
  <PresentationFormat>Widescreen</PresentationFormat>
  <Paragraphs>101</Paragraphs>
  <Slides>21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Arial</vt:lpstr>
      <vt:lpstr>Calibri</vt:lpstr>
      <vt:lpstr>Century Gothic</vt:lpstr>
      <vt:lpstr>Söhne</vt:lpstr>
      <vt:lpstr>Wingdings</vt:lpstr>
      <vt:lpstr>Wingdings 3</vt:lpstr>
      <vt:lpstr>Ion Boardroom</vt:lpstr>
      <vt:lpstr>Software Evolution</vt:lpstr>
      <vt:lpstr>Contents</vt:lpstr>
      <vt:lpstr>Introduction</vt:lpstr>
      <vt:lpstr> Software change is inevitable</vt:lpstr>
      <vt:lpstr>Software Evolution Importance</vt:lpstr>
      <vt:lpstr>Importance</vt:lpstr>
      <vt:lpstr>Types of Changes</vt:lpstr>
      <vt:lpstr>Program evolution dynamics</vt:lpstr>
      <vt:lpstr>Lehman’s laws</vt:lpstr>
      <vt:lpstr>Software Evolution</vt:lpstr>
      <vt:lpstr>Software Maintenance: Overview</vt:lpstr>
      <vt:lpstr>Development/Maintenance Cost</vt:lpstr>
      <vt:lpstr>Maintenance Cost Factors</vt:lpstr>
      <vt:lpstr>Software Evolution Process</vt:lpstr>
      <vt:lpstr>Change Implementation</vt:lpstr>
      <vt:lpstr>Urgent Changes Request</vt:lpstr>
      <vt:lpstr>Emergency Repair Process</vt:lpstr>
      <vt:lpstr>Legacy System </vt:lpstr>
      <vt:lpstr>The legacy dilemma</vt:lpstr>
      <vt:lpstr>Software Re- engineering</vt:lpstr>
      <vt:lpstr>Re-Engineering Cost Factors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Evolution</dc:title>
  <dc:creator>MY PC</dc:creator>
  <cp:lastModifiedBy>Fatima gillani</cp:lastModifiedBy>
  <cp:revision>17</cp:revision>
  <dcterms:created xsi:type="dcterms:W3CDTF">2021-11-02T03:34:30Z</dcterms:created>
  <dcterms:modified xsi:type="dcterms:W3CDTF">2024-05-06T13:00:01Z</dcterms:modified>
</cp:coreProperties>
</file>