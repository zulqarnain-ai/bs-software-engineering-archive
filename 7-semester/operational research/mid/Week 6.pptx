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810" r:id="rId2"/>
  </p:sldMasterIdLst>
  <p:notesMasterIdLst>
    <p:notesMasterId r:id="rId37"/>
  </p:notesMasterIdLst>
  <p:sldIdLst>
    <p:sldId id="368" r:id="rId3"/>
    <p:sldId id="463" r:id="rId4"/>
    <p:sldId id="479" r:id="rId5"/>
    <p:sldId id="494" r:id="rId6"/>
    <p:sldId id="495" r:id="rId7"/>
    <p:sldId id="480" r:id="rId8"/>
    <p:sldId id="496" r:id="rId9"/>
    <p:sldId id="497" r:id="rId10"/>
    <p:sldId id="499" r:id="rId11"/>
    <p:sldId id="502" r:id="rId12"/>
    <p:sldId id="500" r:id="rId13"/>
    <p:sldId id="503" r:id="rId14"/>
    <p:sldId id="504" r:id="rId15"/>
    <p:sldId id="506" r:id="rId16"/>
    <p:sldId id="505" r:id="rId17"/>
    <p:sldId id="507" r:id="rId18"/>
    <p:sldId id="508" r:id="rId19"/>
    <p:sldId id="509" r:id="rId20"/>
    <p:sldId id="510" r:id="rId21"/>
    <p:sldId id="511" r:id="rId22"/>
    <p:sldId id="522" r:id="rId23"/>
    <p:sldId id="523" r:id="rId24"/>
    <p:sldId id="524" r:id="rId25"/>
    <p:sldId id="518" r:id="rId26"/>
    <p:sldId id="525" r:id="rId27"/>
    <p:sldId id="526" r:id="rId28"/>
    <p:sldId id="527" r:id="rId29"/>
    <p:sldId id="528" r:id="rId30"/>
    <p:sldId id="529" r:id="rId31"/>
    <p:sldId id="530" r:id="rId32"/>
    <p:sldId id="531" r:id="rId33"/>
    <p:sldId id="532" r:id="rId34"/>
    <p:sldId id="533" r:id="rId35"/>
    <p:sldId id="410"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91" autoAdjust="0"/>
  </p:normalViewPr>
  <p:slideViewPr>
    <p:cSldViewPr snapToGrid="0">
      <p:cViewPr>
        <p:scale>
          <a:sx n="71" d="100"/>
          <a:sy n="71" d="100"/>
        </p:scale>
        <p:origin x="-1160" y="22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9194E4-79C8-41B0-9AF4-53058728BAB5}" type="datetimeFigureOut">
              <a:rPr lang="en-US" smtClean="0"/>
              <a:t>3/20/2025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BFD4BB-E70E-4D5C-83E2-D95045F6F69E}" type="slidenum">
              <a:rPr lang="en-US" smtClean="0"/>
              <a:t>‹#›</a:t>
            </a:fld>
            <a:endParaRPr lang="en-US"/>
          </a:p>
        </p:txBody>
      </p:sp>
    </p:spTree>
    <p:extLst>
      <p:ext uri="{BB962C8B-B14F-4D97-AF65-F5344CB8AC3E}">
        <p14:creationId xmlns:p14="http://schemas.microsoft.com/office/powerpoint/2010/main" val="1859167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9D63FB-4DD9-4903-83FE-F80270576417}" type="datetime1">
              <a:rPr lang="en-US" smtClean="0"/>
              <a:pPr/>
              <a:t>3/20/2025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1980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7DFA81-FF35-40E2-AA6F-C4E4697E2C73}" type="datetime1">
              <a:rPr lang="en-US" smtClean="0"/>
              <a:pPr/>
              <a:t>3/20/2025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221450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708B4E-9E6D-47DB-A8C9-443A66B04FA1}" type="datetime1">
              <a:rPr lang="en-US" smtClean="0"/>
              <a:pPr/>
              <a:t>3/20/2025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194269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AD187-3CAF-4EEB-B511-D277A7E40C82}" type="datetime1">
              <a:rPr lang="en-US" smtClean="0"/>
              <a:pPr/>
              <a:t>3/20/2025</a:t>
            </a:fld>
            <a:endParaRPr lang="en-US"/>
          </a:p>
        </p:txBody>
      </p:sp>
      <p:sp>
        <p:nvSpPr>
          <p:cNvPr id="6" name="Footer Placeholder 5"/>
          <p:cNvSpPr>
            <a:spLocks noGrp="1"/>
          </p:cNvSpPr>
          <p:nvPr>
            <p:ph type="ftr" sz="quarter" idx="11"/>
          </p:nvPr>
        </p:nvSpPr>
        <p:spPr/>
        <p:txBody>
          <a:bodyPr/>
          <a:lstStyle/>
          <a:p>
            <a:r>
              <a:rPr lang="en-US"/>
              <a:t>CSC102 Discrete Structures</a:t>
            </a:r>
          </a:p>
        </p:txBody>
      </p:sp>
      <p:sp>
        <p:nvSpPr>
          <p:cNvPr id="7" name="Slide Number Placeholder 6"/>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2759662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DFEB82-3297-42CA-9AC7-D3ECF198E013}" type="datetime1">
              <a:rPr lang="en-US" smtClean="0"/>
              <a:pPr/>
              <a:t>3/20/2025</a:t>
            </a:fld>
            <a:endParaRPr lang="en-US"/>
          </a:p>
        </p:txBody>
      </p:sp>
      <p:sp>
        <p:nvSpPr>
          <p:cNvPr id="8" name="Footer Placeholder 7"/>
          <p:cNvSpPr>
            <a:spLocks noGrp="1"/>
          </p:cNvSpPr>
          <p:nvPr>
            <p:ph type="ftr" sz="quarter" idx="11"/>
          </p:nvPr>
        </p:nvSpPr>
        <p:spPr/>
        <p:txBody>
          <a:bodyPr/>
          <a:lstStyle/>
          <a:p>
            <a:r>
              <a:rPr lang="en-US"/>
              <a:t>CSC102 Discrete Structures</a:t>
            </a:r>
          </a:p>
        </p:txBody>
      </p:sp>
      <p:sp>
        <p:nvSpPr>
          <p:cNvPr id="9" name="Slide Number Placeholder 8"/>
          <p:cNvSpPr>
            <a:spLocks noGrp="1"/>
          </p:cNvSpPr>
          <p:nvPr>
            <p:ph type="sldNum" sz="quarter" idx="12"/>
          </p:nvPr>
        </p:nvSpPr>
        <p:spPr/>
        <p:txBody>
          <a:bodyPr/>
          <a:lstStyle/>
          <a:p>
            <a:fld id="{8ACE3F9D-533B-438E-AA49-48601E6C708E}"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9286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348733-E273-4EF3-8143-57B6AA49A592}" type="datetime1">
              <a:rPr lang="en-US" smtClean="0"/>
              <a:pPr/>
              <a:t>3/20/2025</a:t>
            </a:fld>
            <a:endParaRPr lang="en-US"/>
          </a:p>
        </p:txBody>
      </p:sp>
      <p:sp>
        <p:nvSpPr>
          <p:cNvPr id="4" name="Footer Placeholder 3"/>
          <p:cNvSpPr>
            <a:spLocks noGrp="1"/>
          </p:cNvSpPr>
          <p:nvPr>
            <p:ph type="ftr" sz="quarter" idx="11"/>
          </p:nvPr>
        </p:nvSpPr>
        <p:spPr/>
        <p:txBody>
          <a:bodyPr/>
          <a:lstStyle/>
          <a:p>
            <a:r>
              <a:rPr lang="en-US"/>
              <a:t>CSC102 Discrete Structures</a:t>
            </a:r>
          </a:p>
        </p:txBody>
      </p:sp>
      <p:sp>
        <p:nvSpPr>
          <p:cNvPr id="5" name="Slide Number Placeholder 4"/>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2844993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616BD8-1159-4CEE-BF69-08E8DE6F04D4}" type="datetime1">
              <a:rPr lang="en-US" smtClean="0"/>
              <a:pPr/>
              <a:t>3/20/2025</a:t>
            </a:fld>
            <a:endParaRPr lang="en-US"/>
          </a:p>
        </p:txBody>
      </p:sp>
      <p:sp>
        <p:nvSpPr>
          <p:cNvPr id="3" name="Footer Placeholder 2"/>
          <p:cNvSpPr>
            <a:spLocks noGrp="1"/>
          </p:cNvSpPr>
          <p:nvPr>
            <p:ph type="ftr" sz="quarter" idx="11"/>
          </p:nvPr>
        </p:nvSpPr>
        <p:spPr/>
        <p:txBody>
          <a:bodyPr/>
          <a:lstStyle/>
          <a:p>
            <a:r>
              <a:rPr lang="en-US"/>
              <a:t>CSC102 Discrete Structures</a:t>
            </a:r>
          </a:p>
        </p:txBody>
      </p:sp>
      <p:sp>
        <p:nvSpPr>
          <p:cNvPr id="4" name="Slide Number Placeholder 3"/>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418655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55B0FE-4AC0-4D7B-83B1-A18CD9CB8AEE}" type="datetime1">
              <a:rPr lang="en-US" smtClean="0"/>
              <a:pPr/>
              <a:t>3/20/2025</a:t>
            </a:fld>
            <a:endParaRPr lang="en-US"/>
          </a:p>
        </p:txBody>
      </p:sp>
      <p:sp>
        <p:nvSpPr>
          <p:cNvPr id="6" name="Footer Placeholder 5"/>
          <p:cNvSpPr>
            <a:spLocks noGrp="1"/>
          </p:cNvSpPr>
          <p:nvPr>
            <p:ph type="ftr" sz="quarter" idx="11"/>
          </p:nvPr>
        </p:nvSpPr>
        <p:spPr/>
        <p:txBody>
          <a:bodyPr/>
          <a:lstStyle/>
          <a:p>
            <a:r>
              <a:rPr lang="en-US"/>
              <a:t>CSC102 Discrete Structures</a:t>
            </a:r>
          </a:p>
        </p:txBody>
      </p:sp>
      <p:sp>
        <p:nvSpPr>
          <p:cNvPr id="7" name="Slide Number Placeholder 6"/>
          <p:cNvSpPr>
            <a:spLocks noGrp="1"/>
          </p:cNvSpPr>
          <p:nvPr>
            <p:ph type="sldNum" sz="quarter" idx="12"/>
          </p:nvPr>
        </p:nvSpPr>
        <p:spPr/>
        <p:txBody>
          <a:bodyPr/>
          <a:lstStyle/>
          <a:p>
            <a:fld id="{8ACE3F9D-533B-438E-AA49-48601E6C708E}"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2614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52F497-D16F-472A-8AB2-6923D245D09D}" type="datetime1">
              <a:rPr lang="en-US" smtClean="0"/>
              <a:pPr/>
              <a:t>3/20/2025</a:t>
            </a:fld>
            <a:endParaRPr lang="en-US"/>
          </a:p>
        </p:txBody>
      </p:sp>
      <p:sp>
        <p:nvSpPr>
          <p:cNvPr id="6" name="Footer Placeholder 5"/>
          <p:cNvSpPr>
            <a:spLocks noGrp="1"/>
          </p:cNvSpPr>
          <p:nvPr>
            <p:ph type="ftr" sz="quarter" idx="11"/>
          </p:nvPr>
        </p:nvSpPr>
        <p:spPr/>
        <p:txBody>
          <a:bodyPr/>
          <a:lstStyle/>
          <a:p>
            <a:r>
              <a:rPr lang="en-US"/>
              <a:t>CSC102 Discrete Structures</a:t>
            </a:r>
          </a:p>
        </p:txBody>
      </p:sp>
      <p:sp>
        <p:nvSpPr>
          <p:cNvPr id="7" name="Slide Number Placeholder 6"/>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2153874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0E3EED-3DA2-4ED4-9C83-CEA1A9E43AAB}" type="datetime1">
              <a:rPr lang="en-US" smtClean="0"/>
              <a:pPr/>
              <a:t>3/20/2025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4137173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7ADCE-E054-4FA0-B715-AC4537BA8B51}" type="datetime1">
              <a:rPr lang="en-US" smtClean="0"/>
              <a:pPr/>
              <a:t>3/20/2025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a:p>
        </p:txBody>
      </p:sp>
    </p:spTree>
    <p:extLst>
      <p:ext uri="{BB962C8B-B14F-4D97-AF65-F5344CB8AC3E}">
        <p14:creationId xmlns:p14="http://schemas.microsoft.com/office/powerpoint/2010/main" val="2285704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3B539F5C-786E-4BDB-B868-73CB6082799F}" type="datetimeFigureOut">
              <a:rPr lang="en-US" smtClean="0"/>
              <a:pPr/>
              <a:t>3/20/2025</a:t>
            </a:fld>
            <a:endParaRPr lang="en-US"/>
          </a:p>
        </p:txBody>
      </p:sp>
      <p:sp>
        <p:nvSpPr>
          <p:cNvPr id="5" name="Footer Placeholder 4"/>
          <p:cNvSpPr>
            <a:spLocks noGrp="1"/>
          </p:cNvSpPr>
          <p:nvPr>
            <p:ph type="ftr" sz="quarter" idx="11"/>
          </p:nvPr>
        </p:nvSpPr>
        <p:spPr>
          <a:xfrm>
            <a:off x="1900237" y="5410202"/>
            <a:ext cx="3843665" cy="365125"/>
          </a:xfrm>
        </p:spPr>
        <p:txBody>
          <a:bodyPr/>
          <a:lstStyle/>
          <a:p>
            <a:endParaRPr lang="en-US"/>
          </a:p>
        </p:txBody>
      </p:sp>
      <p:sp>
        <p:nvSpPr>
          <p:cNvPr id="6" name="Slide Number Placeholder 5"/>
          <p:cNvSpPr>
            <a:spLocks noGrp="1"/>
          </p:cNvSpPr>
          <p:nvPr>
            <p:ph type="sldNum" sz="quarter" idx="12"/>
          </p:nvPr>
        </p:nvSpPr>
        <p:spPr>
          <a:xfrm>
            <a:off x="7915603" y="5410200"/>
            <a:ext cx="578317" cy="365125"/>
          </a:xfrm>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216713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US"/>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3B539F5C-786E-4BDB-B868-73CB6082799F}" type="datetimeFigureOut">
              <a:rPr lang="en-US" smtClean="0"/>
              <a:pPr/>
              <a:t>3/20/2025</a:t>
            </a:fld>
            <a:endParaRPr lang="en-US"/>
          </a:p>
        </p:txBody>
      </p:sp>
      <p:sp>
        <p:nvSpPr>
          <p:cNvPr id="50" name="Footer Placeholder 4"/>
          <p:cNvSpPr>
            <a:spLocks noGrp="1"/>
          </p:cNvSpPr>
          <p:nvPr>
            <p:ph type="ftr" sz="quarter" idx="11"/>
          </p:nvPr>
        </p:nvSpPr>
        <p:spPr>
          <a:xfrm>
            <a:off x="856059" y="5883276"/>
            <a:ext cx="4679482" cy="365125"/>
          </a:xfrm>
        </p:spPr>
        <p:txBody>
          <a:bodyPr/>
          <a:lstStyle/>
          <a:p>
            <a:endParaRPr lang="en-US"/>
          </a:p>
        </p:txBody>
      </p:sp>
      <p:sp>
        <p:nvSpPr>
          <p:cNvPr id="51" name="Slide Number Placeholder 5"/>
          <p:cNvSpPr>
            <a:spLocks noGrp="1"/>
          </p:cNvSpPr>
          <p:nvPr>
            <p:ph type="sldNum" sz="quarter" idx="12"/>
          </p:nvPr>
        </p:nvSpPr>
        <p:spPr>
          <a:xfrm>
            <a:off x="7707241" y="5883275"/>
            <a:ext cx="578317" cy="365125"/>
          </a:xfrm>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843370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539F5C-786E-4BDB-B868-73CB6082799F}" type="datetimeFigureOut">
              <a:rPr lang="en-US" smtClean="0"/>
              <a:pPr/>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5322276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539F5C-786E-4BDB-B868-73CB6082799F}" type="datetimeFigureOut">
              <a:rPr lang="en-US" smtClean="0"/>
              <a:pPr/>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5937079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539F5C-786E-4BDB-B868-73CB6082799F}" type="datetimeFigureOut">
              <a:rPr lang="en-US" smtClean="0"/>
              <a:pPr/>
              <a:t>3/20/2025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863845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539F5C-786E-4BDB-B868-73CB6082799F}" type="datetimeFigureOut">
              <a:rPr lang="en-US" smtClean="0"/>
              <a:pPr/>
              <a:t>3/20/2025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41665759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539F5C-786E-4BDB-B868-73CB6082799F}" type="datetimeFigureOut">
              <a:rPr lang="en-US" smtClean="0"/>
              <a:pPr/>
              <a:t>3/20/2025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5460042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4134435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2558548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847064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28371702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13546302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9241074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B539F5C-786E-4BDB-B868-73CB6082799F}" type="datetimeFigureOut">
              <a:rPr lang="en-US" smtClean="0"/>
              <a:pPr/>
              <a:t>3/20/2025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2006651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B539F5C-786E-4BDB-B868-73CB6082799F}" type="datetimeFigureOut">
              <a:rPr lang="en-US" smtClean="0"/>
              <a:pPr/>
              <a:t>3/20/2025</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5850541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39F5C-786E-4BDB-B868-73CB6082799F}" type="datetimeFigureOut">
              <a:rPr lang="en-US" smtClean="0"/>
              <a:pPr/>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27599241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39F5C-786E-4BDB-B868-73CB6082799F}" type="datetimeFigureOut">
              <a:rPr lang="en-US" smtClean="0"/>
              <a:pPr/>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4207753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3.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E9BFFB69-46B3-4750-912C-E29F4B8DA29C}" type="datetime1">
              <a:rPr lang="en-US" smtClean="0"/>
              <a:pPr/>
              <a:t>3/20/2025</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CSC102 Discrete Structures</a:t>
            </a:r>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8ACE3F9D-533B-438E-AA49-48601E6C708E}" type="slidenum">
              <a:rPr lang="en-US" smtClean="0"/>
              <a:pPr/>
              <a:t>‹#›</a:t>
            </a:fld>
            <a:endParaRPr lang="en-US"/>
          </a:p>
        </p:txBody>
      </p:sp>
    </p:spTree>
    <p:extLst>
      <p:ext uri="{BB962C8B-B14F-4D97-AF65-F5344CB8AC3E}">
        <p14:creationId xmlns:p14="http://schemas.microsoft.com/office/powerpoint/2010/main" val="20244468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8" name="Group 7"/>
          <p:cNvGrpSpPr/>
          <p:nvPr/>
        </p:nvGrpSpPr>
        <p:grpSpPr>
          <a:xfrm>
            <a:off x="-14288" y="0"/>
            <a:ext cx="9041774" cy="6858001"/>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grpSp>
      </p:grpSp>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9BFFB69-46B3-4750-912C-E29F4B8DA29C}" type="datetime1">
              <a:rPr lang="en-US" smtClean="0"/>
              <a:pPr/>
              <a:t>3/20/2025</a:t>
            </a:fld>
            <a:endParaRPr lang="en-US"/>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CSC102 Discrete Structures</a:t>
            </a:r>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ACE3F9D-533B-438E-AA49-48601E6C708E}" type="slidenum">
              <a:rPr lang="en-US" smtClean="0"/>
              <a:pPr/>
              <a:t>‹#›</a:t>
            </a:fld>
            <a:endParaRPr lang="en-US"/>
          </a:p>
        </p:txBody>
      </p:sp>
    </p:spTree>
    <p:extLst>
      <p:ext uri="{BB962C8B-B14F-4D97-AF65-F5344CB8AC3E}">
        <p14:creationId xmlns:p14="http://schemas.microsoft.com/office/powerpoint/2010/main" val="277719450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effectLst>
            <a:outerShdw blurRad="114300" dist="38100" dir="2700000" algn="tl">
              <a:srgbClr val="000000">
                <a:alpha val="26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27000" dist="38100" dir="2700000" algn="tl">
              <a:srgbClr val="000000">
                <a:alpha val="33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27000" dist="38100" dir="2700000" algn="tl">
              <a:srgbClr val="000000">
                <a:alpha val="33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27000" dist="38100" dir="2700000" algn="tl">
              <a:srgbClr val="000000">
                <a:alpha val="33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13.xml"/><Relationship Id="rId6" Type="http://schemas.openxmlformats.org/officeDocument/2006/relationships/image" Target="../media/image81.png"/><Relationship Id="rId5" Type="http://schemas.openxmlformats.org/officeDocument/2006/relationships/image" Target="../media/image46.png"/><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9.png"/><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12.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49.png"/><Relationship Id="rId1" Type="http://schemas.openxmlformats.org/officeDocument/2006/relationships/slideLayout" Target="../slideLayouts/slideLayout1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0.png"/><Relationship Id="rId1" Type="http://schemas.openxmlformats.org/officeDocument/2006/relationships/slideLayout" Target="../slideLayouts/slideLayout1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0.png"/><Relationship Id="rId1" Type="http://schemas.openxmlformats.org/officeDocument/2006/relationships/slideLayout" Target="../slideLayouts/slideLayout13.xml"/><Relationship Id="rId4" Type="http://schemas.openxmlformats.org/officeDocument/2006/relationships/image" Target="../media/image66.png"/></Relationships>
</file>

<file path=ppt/slides/_rels/slide1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7C545C-EAC2-4814-AE8B-2D0C943C3029}"/>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xmlns="" id="{39211BDA-D7DF-4130-A3B3-EE0167636377}"/>
              </a:ext>
            </a:extLst>
          </p:cNvPr>
          <p:cNvSpPr>
            <a:spLocks noGrp="1"/>
          </p:cNvSpPr>
          <p:nvPr>
            <p:ph type="subTitle" idx="1"/>
          </p:nvPr>
        </p:nvSpPr>
        <p:spPr>
          <a:xfrm>
            <a:off x="1192237" y="4391464"/>
            <a:ext cx="6400800" cy="2206283"/>
          </a:xfrm>
        </p:spPr>
        <p:txBody>
          <a:bodyPr>
            <a:normAutofit/>
          </a:bodyPr>
          <a:lstStyle/>
          <a:p>
            <a:pPr algn="ctr"/>
            <a:r>
              <a:rPr lang="en-US" sz="3900" b="1" dirty="0"/>
              <a:t>Operations Research</a:t>
            </a:r>
          </a:p>
          <a:p>
            <a:pPr algn="ctr"/>
            <a:r>
              <a:rPr lang="en-US" sz="2800" b="1" dirty="0">
                <a:solidFill>
                  <a:srgbClr val="000000">
                    <a:lumMod val="75000"/>
                    <a:lumOff val="25000"/>
                  </a:srgbClr>
                </a:solidFill>
              </a:rPr>
              <a:t>(Software </a:t>
            </a:r>
            <a:r>
              <a:rPr lang="en-US" sz="2800" b="1">
                <a:solidFill>
                  <a:srgbClr val="000000">
                    <a:lumMod val="75000"/>
                    <a:lumOff val="25000"/>
                  </a:srgbClr>
                </a:solidFill>
              </a:rPr>
              <a:t>Engineering</a:t>
            </a:r>
            <a:r>
              <a:rPr lang="en-US" sz="2800" b="1" smtClean="0">
                <a:solidFill>
                  <a:srgbClr val="000000">
                    <a:lumMod val="75000"/>
                    <a:lumOff val="25000"/>
                  </a:srgbClr>
                </a:solidFill>
              </a:rPr>
              <a:t>)</a:t>
            </a:r>
            <a:endParaRPr lang="en-US" sz="3200" b="1" dirty="0"/>
          </a:p>
        </p:txBody>
      </p:sp>
      <p:pic>
        <p:nvPicPr>
          <p:cNvPr id="4" name="Picture 3">
            <a:extLst>
              <a:ext uri="{FF2B5EF4-FFF2-40B4-BE49-F238E27FC236}">
                <a16:creationId xmlns:a16="http://schemas.microsoft.com/office/drawing/2014/main" xmlns="" id="{667F458A-708A-4E75-9D30-9C4DBEA489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1600"/>
            <a:ext cx="9144000" cy="2661764"/>
          </a:xfrm>
          <a:prstGeom prst="rect">
            <a:avLst/>
          </a:prstGeom>
        </p:spPr>
      </p:pic>
      <p:sp>
        <p:nvSpPr>
          <p:cNvPr id="5" name="Rectangle 4">
            <a:extLst>
              <a:ext uri="{FF2B5EF4-FFF2-40B4-BE49-F238E27FC236}">
                <a16:creationId xmlns:a16="http://schemas.microsoft.com/office/drawing/2014/main" xmlns="" id="{CA972A36-04A5-41D7-9B19-15A743E4476F}"/>
              </a:ext>
            </a:extLst>
          </p:cNvPr>
          <p:cNvSpPr/>
          <p:nvPr/>
        </p:nvSpPr>
        <p:spPr>
          <a:xfrm>
            <a:off x="3713463" y="637061"/>
            <a:ext cx="1717073" cy="523220"/>
          </a:xfrm>
          <a:prstGeom prst="rect">
            <a:avLst/>
          </a:prstGeom>
        </p:spPr>
        <p:txBody>
          <a:bodyPr wrap="none">
            <a:spAutoFit/>
          </a:bodyPr>
          <a:lstStyle/>
          <a:p>
            <a:pPr algn="ctr"/>
            <a:r>
              <a:rPr lang="en-US" sz="2800" b="1" u="sng" dirty="0">
                <a:solidFill>
                  <a:srgbClr val="FF0000"/>
                </a:solidFill>
                <a:latin typeface="Arial" panose="020B0604020202020204" pitchFamily="34" charset="0"/>
                <a:cs typeface="Arial" panose="020B0604020202020204" pitchFamily="34" charset="0"/>
              </a:rPr>
              <a:t>Week # 6</a:t>
            </a:r>
            <a:endParaRPr lang="en-GB" sz="2800" u="sng" dirty="0">
              <a:solidFill>
                <a:srgbClr val="FF0000"/>
              </a:solidFill>
            </a:endParaRPr>
          </a:p>
        </p:txBody>
      </p:sp>
    </p:spTree>
    <p:extLst>
      <p:ext uri="{BB962C8B-B14F-4D97-AF65-F5344CB8AC3E}">
        <p14:creationId xmlns:p14="http://schemas.microsoft.com/office/powerpoint/2010/main" val="3155315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554" y="152354"/>
            <a:ext cx="7429499" cy="1478570"/>
          </a:xfrm>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a:t>
            </a:r>
            <a:r>
              <a:rPr lang="en-US" sz="4000" dirty="0" smtClean="0">
                <a:solidFill>
                  <a:srgbClr val="C00000"/>
                </a:solidFill>
                <a:latin typeface="Arial" panose="020B0604020202020204" pitchFamily="34" charset="0"/>
                <a:cs typeface="Arial" panose="020B0604020202020204" pitchFamily="34" charset="0"/>
              </a:rPr>
              <a:t>SIMPLEX method</a:t>
            </a:r>
            <a:endParaRPr lang="en-US" sz="4000" dirty="0">
              <a:solidFill>
                <a:srgbClr val="C00000"/>
              </a:solidFill>
              <a:latin typeface="Arial" panose="020B0604020202020204" pitchFamily="34" charset="0"/>
              <a:cs typeface="Arial" panose="020B0604020202020204" pitchFamily="34" charset="0"/>
            </a:endParaRPr>
          </a:p>
        </p:txBody>
      </p:sp>
      <p:sp>
        <p:nvSpPr>
          <p:cNvPr id="4" name="Content Placeholder 5">
            <a:extLst>
              <a:ext uri="{FF2B5EF4-FFF2-40B4-BE49-F238E27FC236}">
                <a16:creationId xmlns:a16="http://schemas.microsoft.com/office/drawing/2014/main" xmlns="" id="{5870081A-CB5D-472D-B85C-BEF833BDD76E}"/>
              </a:ext>
            </a:extLst>
          </p:cNvPr>
          <p:cNvSpPr>
            <a:spLocks noGrp="1"/>
          </p:cNvSpPr>
          <p:nvPr>
            <p:ph idx="1"/>
          </p:nvPr>
        </p:nvSpPr>
        <p:spPr>
          <a:xfrm>
            <a:off x="856060" y="1434250"/>
            <a:ext cx="7964384" cy="4608513"/>
          </a:xfrm>
        </p:spPr>
        <p:txBody>
          <a:bodyPr>
            <a:noAutofit/>
          </a:bodyPr>
          <a:lstStyle/>
          <a:p>
            <a:pPr marL="0" indent="0" algn="just">
              <a:buNone/>
            </a:pPr>
            <a:r>
              <a:rPr lang="en-US" dirty="0">
                <a:effectLst/>
                <a:latin typeface="Arial" panose="020B0604020202020204" pitchFamily="34" charset="0"/>
                <a:cs typeface="Arial" panose="020B0604020202020204" pitchFamily="34" charset="0"/>
              </a:rPr>
              <a:t>In two </a:t>
            </a:r>
            <a:r>
              <a:rPr lang="en-US" dirty="0" smtClean="0">
                <a:effectLst/>
                <a:latin typeface="Arial" panose="020B0604020202020204" pitchFamily="34" charset="0"/>
                <a:cs typeface="Arial" panose="020B0604020202020204" pitchFamily="34" charset="0"/>
              </a:rPr>
              <a:t>phase Simplex </a:t>
            </a:r>
            <a:r>
              <a:rPr lang="en-US" dirty="0">
                <a:effectLst/>
                <a:latin typeface="Arial" panose="020B0604020202020204" pitchFamily="34" charset="0"/>
                <a:cs typeface="Arial" panose="020B0604020202020204" pitchFamily="34" charset="0"/>
              </a:rPr>
              <a:t>method the whole procedure of solving a Linear programming problem involving artificial variable is divided into two phases. In Phase-I we form a new objective function by assigning </a:t>
            </a:r>
            <a:r>
              <a:rPr lang="en-US" dirty="0" smtClean="0">
                <a:effectLst/>
                <a:latin typeface="Arial" panose="020B0604020202020204" pitchFamily="34" charset="0"/>
                <a:cs typeface="Arial" panose="020B0604020202020204" pitchFamily="34" charset="0"/>
              </a:rPr>
              <a:t>negative </a:t>
            </a:r>
            <a:r>
              <a:rPr lang="en-US" dirty="0">
                <a:effectLst/>
                <a:latin typeface="Arial" panose="020B0604020202020204" pitchFamily="34" charset="0"/>
                <a:cs typeface="Arial" panose="020B0604020202020204" pitchFamily="34" charset="0"/>
              </a:rPr>
              <a:t>one to each of the artificial variables (for maximization case) and multiply with positive one (for minimization case). Then we try to eliminate the artificial variables from the basis. After that </a:t>
            </a:r>
            <a:r>
              <a:rPr lang="en-US" dirty="0">
                <a:solidFill>
                  <a:srgbClr val="FF0000"/>
                </a:solidFill>
                <a:effectLst/>
                <a:latin typeface="Arial" panose="020B0604020202020204" pitchFamily="34" charset="0"/>
                <a:cs typeface="Arial" panose="020B0604020202020204" pitchFamily="34" charset="0"/>
              </a:rPr>
              <a:t>all the values in new function is zero or </a:t>
            </a:r>
            <a:r>
              <a:rPr lang="en-US" dirty="0" smtClean="0">
                <a:solidFill>
                  <a:srgbClr val="FF0000"/>
                </a:solidFill>
                <a:effectLst/>
                <a:latin typeface="Arial" panose="020B0604020202020204" pitchFamily="34" charset="0"/>
                <a:cs typeface="Arial" panose="020B0604020202020204" pitchFamily="34" charset="0"/>
              </a:rPr>
              <a:t>negative for minimization problem, </a:t>
            </a:r>
            <a:r>
              <a:rPr lang="en-US" dirty="0">
                <a:effectLst/>
                <a:latin typeface="Arial" panose="020B0604020202020204" pitchFamily="34" charset="0"/>
                <a:cs typeface="Arial" panose="020B0604020202020204" pitchFamily="34" charset="0"/>
              </a:rPr>
              <a:t>then we move towards phase-II and using simplex algorithm to find an optimal solution.</a:t>
            </a:r>
          </a:p>
        </p:txBody>
      </p:sp>
    </p:spTree>
    <p:extLst>
      <p:ext uri="{BB962C8B-B14F-4D97-AF65-F5344CB8AC3E}">
        <p14:creationId xmlns:p14="http://schemas.microsoft.com/office/powerpoint/2010/main" val="1099496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a:t>
            </a:r>
            <a:r>
              <a:rPr lang="en-US" sz="4000" dirty="0" smtClean="0">
                <a:solidFill>
                  <a:srgbClr val="C00000"/>
                </a:solidFill>
                <a:latin typeface="Arial" panose="020B0604020202020204" pitchFamily="34" charset="0"/>
                <a:cs typeface="Arial" panose="020B0604020202020204" pitchFamily="34" charset="0"/>
              </a:rPr>
              <a:t>phase SIMPLEX </a:t>
            </a:r>
            <a:r>
              <a:rPr lang="en-US" sz="4000" dirty="0">
                <a:solidFill>
                  <a:srgbClr val="C00000"/>
                </a:solidFill>
                <a:latin typeface="Arial" panose="020B0604020202020204" pitchFamily="34" charset="0"/>
                <a:cs typeface="Arial" panose="020B0604020202020204" pitchFamily="34" charset="0"/>
              </a:rPr>
              <a:t>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lvl="0" indent="0" algn="just">
                  <a:buNone/>
                </a:pPr>
                <a:r>
                  <a:rPr lang="en-US" sz="2800" b="1" dirty="0">
                    <a:solidFill>
                      <a:prstClr val="black"/>
                    </a:solidFill>
                    <a:effectLst/>
                    <a:latin typeface="Arial" panose="020B0604020202020204" pitchFamily="34" charset="0"/>
                    <a:cs typeface="Arial" panose="020B0604020202020204" pitchFamily="34" charset="0"/>
                  </a:rPr>
                  <a:t>Example 1:</a:t>
                </a:r>
              </a:p>
              <a:p>
                <a:pPr marL="0" lvl="0" indent="0" algn="ctr">
                  <a:buNone/>
                </a:pPr>
                <a14:m>
                  <m:oMathPara xmlns:m="http://schemas.openxmlformats.org/officeDocument/2006/math">
                    <m:oMathParaPr>
                      <m:jc m:val="centerGroup"/>
                    </m:oMathParaPr>
                    <m:oMath xmlns:m="http://schemas.openxmlformats.org/officeDocument/2006/math">
                      <m:r>
                        <m:rPr>
                          <m:sty m:val="p"/>
                        </m:rPr>
                        <a:rPr lang="en-US" sz="2800" b="0" i="0" smtClean="0">
                          <a:solidFill>
                            <a:prstClr val="black"/>
                          </a:solidFill>
                          <a:effectLst/>
                          <a:latin typeface="Cambria Math" panose="02040503050406030204" pitchFamily="18" charset="0"/>
                          <a:cs typeface="Arial" panose="020B0604020202020204" pitchFamily="34" charset="0"/>
                        </a:rPr>
                        <m:t>Min</m:t>
                      </m:r>
                      <m:r>
                        <a:rPr lang="en-US" sz="2800" b="0" i="0" smtClean="0">
                          <a:solidFill>
                            <a:prstClr val="black"/>
                          </a:solidFill>
                          <a:effectLst/>
                          <a:latin typeface="Cambria Math" panose="02040503050406030204" pitchFamily="18" charset="0"/>
                          <a:cs typeface="Arial" panose="020B0604020202020204" pitchFamily="34" charset="0"/>
                        </a:rPr>
                        <m:t> </m:t>
                      </m:r>
                      <m:r>
                        <m:rPr>
                          <m:sty m:val="p"/>
                        </m:rPr>
                        <a:rPr lang="en-US" sz="2800" b="0" i="0" smtClean="0">
                          <a:solidFill>
                            <a:prstClr val="black"/>
                          </a:solidFill>
                          <a:effectLst/>
                          <a:latin typeface="Cambria Math" panose="02040503050406030204" pitchFamily="18" charset="0"/>
                          <a:cs typeface="Arial" panose="020B0604020202020204" pitchFamily="34" charset="0"/>
                        </a:rPr>
                        <m:t>Z</m:t>
                      </m:r>
                      <m:r>
                        <a:rPr lang="en-US" sz="2800" b="0" i="1" smtClean="0">
                          <a:solidFill>
                            <a:prstClr val="black"/>
                          </a:solidFill>
                          <a:effectLst/>
                          <a:latin typeface="Cambria Math" panose="02040503050406030204" pitchFamily="18" charset="0"/>
                          <a:cs typeface="Arial" panose="020B0604020202020204" pitchFamily="34" charset="0"/>
                        </a:rPr>
                        <m:t>=4</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r>
                  <a:rPr lang="en-US" sz="2800" dirty="0">
                    <a:solidFill>
                      <a:prstClr val="black"/>
                    </a:solidFill>
                    <a:effectLst/>
                    <a:latin typeface="Arial" panose="020B0604020202020204" pitchFamily="34" charset="0"/>
                    <a:cs typeface="Arial" panose="020B0604020202020204" pitchFamily="34" charset="0"/>
                  </a:rPr>
                  <a:t>Subject to Constraints:</a:t>
                </a:r>
              </a:p>
              <a:p>
                <a:pPr marL="0" lvl="0" indent="0" algn="just">
                  <a:buNone/>
                </a:pPr>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=3</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sz="2800" i="1">
                          <a:solidFill>
                            <a:prstClr val="black"/>
                          </a:solidFill>
                          <a:effectLst/>
                          <a:latin typeface="Cambria Math" panose="02040503050406030204" pitchFamily="18" charset="0"/>
                          <a:cs typeface="Arial" panose="020B0604020202020204" pitchFamily="34" charset="0"/>
                        </a:rPr>
                        <m:t>4</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 6</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sz="2800" b="0" i="1" smtClean="0">
                          <a:solidFill>
                            <a:prstClr val="black"/>
                          </a:solidFill>
                          <a:effectLst/>
                          <a:latin typeface="Cambria Math" panose="02040503050406030204" pitchFamily="18" charset="0"/>
                          <a:cs typeface="Arial" panose="020B0604020202020204" pitchFamily="34" charset="0"/>
                        </a:rPr>
                        <m:t> </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b="0" i="1" smtClean="0">
                              <a:solidFill>
                                <a:prstClr val="black"/>
                              </a:solidFill>
                              <a:effectLst/>
                              <a:latin typeface="Cambria Math" panose="02040503050406030204" pitchFamily="18" charset="0"/>
                              <a:cs typeface="Arial" panose="020B0604020202020204" pitchFamily="34" charset="0"/>
                            </a:rPr>
                            <m:t>1</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2</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i="1">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4</m:t>
                      </m:r>
                    </m:oMath>
                  </m:oMathPara>
                </a14:m>
                <a:endParaRPr lang="en-US" sz="2800" dirty="0">
                  <a:solidFill>
                    <a:prstClr val="black"/>
                  </a:solidFill>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l="-1641" t="-529"/>
                </a:stretch>
              </a:blipFill>
            </p:spPr>
            <p:txBody>
              <a:bodyPr/>
              <a:lstStyle/>
              <a:p>
                <a:r>
                  <a:rPr lang="en-US">
                    <a:noFill/>
                  </a:rPr>
                  <a:t> </a:t>
                </a:r>
              </a:p>
            </p:txBody>
          </p:sp>
        </mc:Fallback>
      </mc:AlternateContent>
    </p:spTree>
    <p:extLst>
      <p:ext uri="{BB962C8B-B14F-4D97-AF65-F5344CB8AC3E}">
        <p14:creationId xmlns:p14="http://schemas.microsoft.com/office/powerpoint/2010/main" val="1070007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lvl="0" indent="0" algn="just">
                  <a:buNone/>
                </a:pPr>
                <a:r>
                  <a:rPr lang="en-US" sz="2800" b="0" i="0" dirty="0">
                    <a:solidFill>
                      <a:prstClr val="black"/>
                    </a:solidFill>
                    <a:effectLst/>
                    <a:latin typeface="Cambria Math" panose="02040503050406030204" pitchFamily="18" charset="0"/>
                    <a:cs typeface="Arial" panose="020B0604020202020204" pitchFamily="34" charset="0"/>
                  </a:rPr>
                  <a:t>Let A1 and A2 be the artificial variables and making a new equation of artificial variable</a:t>
                </a:r>
              </a:p>
              <a:p>
                <a:pPr marL="0" lvl="0" indent="0" algn="just">
                  <a:buNone/>
                </a:pPr>
                <a14:m>
                  <m:oMathPara xmlns:m="http://schemas.openxmlformats.org/officeDocument/2006/math">
                    <m:oMathParaPr>
                      <m:jc m:val="centerGroup"/>
                    </m:oMathParaPr>
                    <m:oMath xmlns:m="http://schemas.openxmlformats.org/officeDocument/2006/math">
                      <m:r>
                        <m:rPr>
                          <m:sty m:val="p"/>
                        </m:rPr>
                        <a:rPr lang="en-US" sz="2800" smtClean="0">
                          <a:solidFill>
                            <a:prstClr val="black"/>
                          </a:solidFill>
                          <a:effectLst/>
                          <a:latin typeface="Cambria Math" panose="02040503050406030204" pitchFamily="18" charset="0"/>
                          <a:cs typeface="Arial" panose="020B0604020202020204" pitchFamily="34" charset="0"/>
                        </a:rPr>
                        <m:t>w</m:t>
                      </m:r>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𝐴</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𝐴</m:t>
                          </m:r>
                        </m:e>
                        <m:sub>
                          <m:r>
                            <a:rPr lang="en-US" sz="2800" i="1">
                              <a:solidFill>
                                <a:prstClr val="black"/>
                              </a:solidFill>
                              <a:effectLst/>
                              <a:latin typeface="Cambria Math" panose="02040503050406030204" pitchFamily="18" charset="0"/>
                              <a:cs typeface="Arial" panose="020B0604020202020204" pitchFamily="34" charset="0"/>
                            </a:rPr>
                            <m:t>2</m:t>
                          </m:r>
                        </m:sub>
                      </m:sSub>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r>
                  <a:rPr lang="en-US" sz="2800" dirty="0">
                    <a:solidFill>
                      <a:prstClr val="black"/>
                    </a:solidFill>
                    <a:effectLst/>
                    <a:latin typeface="Arial" panose="020B0604020202020204" pitchFamily="34" charset="0"/>
                    <a:cs typeface="Arial" panose="020B0604020202020204" pitchFamily="34" charset="0"/>
                  </a:rPr>
                  <a:t>Subject to Constraints:</a:t>
                </a:r>
              </a:p>
              <a:p>
                <a:pPr marL="0" lvl="0" indent="0" algn="just">
                  <a:buNone/>
                </a:pPr>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𝐴</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b="0" i="1" smtClean="0">
                          <a:solidFill>
                            <a:prstClr val="black"/>
                          </a:solidFill>
                          <a:effectLst/>
                          <a:latin typeface="Cambria Math" panose="02040503050406030204" pitchFamily="18" charset="0"/>
                          <a:cs typeface="Arial" panose="020B0604020202020204" pitchFamily="34" charset="0"/>
                        </a:rPr>
                        <m:t>=3</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sz="2800" i="1">
                          <a:solidFill>
                            <a:prstClr val="black"/>
                          </a:solidFill>
                          <a:effectLst/>
                          <a:latin typeface="Cambria Math" panose="02040503050406030204" pitchFamily="18" charset="0"/>
                          <a:cs typeface="Arial" panose="020B0604020202020204" pitchFamily="34" charset="0"/>
                        </a:rPr>
                        <m:t>4</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𝑆</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𝐴</m:t>
                          </m:r>
                        </m:e>
                        <m:sub>
                          <m:r>
                            <a:rPr lang="en-US" sz="2800" b="0" i="1" smtClean="0">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 6</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sz="2800" b="0" i="1" smtClean="0">
                          <a:solidFill>
                            <a:prstClr val="black"/>
                          </a:solidFill>
                          <a:effectLst/>
                          <a:latin typeface="Cambria Math" panose="02040503050406030204" pitchFamily="18" charset="0"/>
                          <a:cs typeface="Arial" panose="020B0604020202020204" pitchFamily="34" charset="0"/>
                        </a:rPr>
                        <m:t> </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b="0" i="1" smtClean="0">
                              <a:solidFill>
                                <a:prstClr val="black"/>
                              </a:solidFill>
                              <a:effectLst/>
                              <a:latin typeface="Cambria Math" panose="02040503050406030204" pitchFamily="18" charset="0"/>
                              <a:cs typeface="Arial" panose="020B0604020202020204" pitchFamily="34" charset="0"/>
                            </a:rPr>
                            <m:t>1</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2</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𝑆</m:t>
                          </m:r>
                        </m:e>
                        <m:sub>
                          <m:r>
                            <a:rPr lang="en-US" sz="2800" b="0" i="1" smtClean="0">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=4</m:t>
                      </m:r>
                    </m:oMath>
                  </m:oMathPara>
                </a14:m>
                <a:endParaRPr lang="en-US" sz="2800" dirty="0">
                  <a:solidFill>
                    <a:prstClr val="black"/>
                  </a:solidFill>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l="-1641" t="-529" r="-1723"/>
                </a:stretch>
              </a:blipFill>
            </p:spPr>
            <p:txBody>
              <a:bodyPr/>
              <a:lstStyle/>
              <a:p>
                <a:r>
                  <a:rPr lang="en-US">
                    <a:noFill/>
                  </a:rPr>
                  <a:t> </a:t>
                </a:r>
              </a:p>
            </p:txBody>
          </p:sp>
        </mc:Fallback>
      </mc:AlternateContent>
    </p:spTree>
    <p:extLst>
      <p:ext uri="{BB962C8B-B14F-4D97-AF65-F5344CB8AC3E}">
        <p14:creationId xmlns:p14="http://schemas.microsoft.com/office/powerpoint/2010/main" val="1265683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lvl="0" indent="0" algn="just">
                  <a:buNone/>
                </a:pPr>
                <a:r>
                  <a:rPr lang="en-US" sz="2800" b="0" i="0" dirty="0">
                    <a:solidFill>
                      <a:prstClr val="black"/>
                    </a:solidFill>
                    <a:effectLst/>
                    <a:latin typeface="Cambria Math" panose="02040503050406030204" pitchFamily="18" charset="0"/>
                    <a:cs typeface="Arial" panose="020B0604020202020204" pitchFamily="34" charset="0"/>
                  </a:rPr>
                  <a:t>Phase 1:</a:t>
                </a:r>
              </a:p>
              <a:p>
                <a:pPr marL="0" lvl="0" indent="0" algn="just">
                  <a:buNone/>
                </a:pPr>
                <a14:m>
                  <m:oMathPara xmlns:m="http://schemas.openxmlformats.org/officeDocument/2006/math">
                    <m:oMathParaPr>
                      <m:jc m:val="centerGroup"/>
                    </m:oMathParaPr>
                    <m:oMath xmlns:m="http://schemas.openxmlformats.org/officeDocument/2006/math">
                      <m:r>
                        <m:rPr>
                          <m:sty m:val="p"/>
                        </m:rPr>
                        <a:rPr lang="en-US" sz="2800" smtClean="0">
                          <a:solidFill>
                            <a:prstClr val="black"/>
                          </a:solidFill>
                          <a:effectLst/>
                          <a:latin typeface="Cambria Math" panose="02040503050406030204" pitchFamily="18" charset="0"/>
                          <a:cs typeface="Arial" panose="020B0604020202020204" pitchFamily="34" charset="0"/>
                        </a:rPr>
                        <m:t>w</m:t>
                      </m:r>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cs typeface="Arial" panose="020B0604020202020204" pitchFamily="34" charset="0"/>
                            </a:rPr>
                            <m:t>6</m:t>
                          </m:r>
                          <m:r>
                            <a:rPr lang="en-US" sz="2800" i="1">
                              <a:solidFill>
                                <a:prstClr val="black"/>
                              </a:solidFill>
                              <a:effectLst/>
                              <a:latin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cs typeface="Arial" panose="020B0604020202020204" pitchFamily="34" charset="0"/>
                            </a:rPr>
                            <m:t>4</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cs typeface="Arial" panose="020B0604020202020204" pitchFamily="34" charset="0"/>
                        </a:rPr>
                        <m:t>3</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𝑆</m:t>
                          </m:r>
                        </m:e>
                        <m:sub>
                          <m:r>
                            <a:rPr lang="en-US" sz="2800" b="0" i="1" smtClean="0">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m:rPr>
                          <m:sty m:val="p"/>
                        </m:rPr>
                        <a:rPr lang="en-US" sz="2800">
                          <a:solidFill>
                            <a:prstClr val="black"/>
                          </a:solidFill>
                          <a:effectLst/>
                          <a:latin typeface="Cambria Math" panose="02040503050406030204" pitchFamily="18" charset="0"/>
                          <a:cs typeface="Arial" panose="020B0604020202020204" pitchFamily="34" charset="0"/>
                        </a:rPr>
                        <m:t>w</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+7</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m:t>
                          </m:r>
                          <m:r>
                            <a:rPr lang="en-US" sz="2800" i="1">
                              <a:solidFill>
                                <a:prstClr val="black"/>
                              </a:solidFill>
                              <a:effectLst/>
                              <a:latin typeface="Cambria Math" panose="02040503050406030204" pitchFamily="18" charset="0"/>
                              <a:cs typeface="Arial" panose="020B0604020202020204" pitchFamily="34" charset="0"/>
                            </a:rPr>
                            <m:t>4</m:t>
                          </m:r>
                          <m:r>
                            <a:rPr lang="en-US" sz="2800" i="1">
                              <a:solidFill>
                                <a:prstClr val="black"/>
                              </a:solidFill>
                              <a:effectLst/>
                              <a:latin typeface="Cambria Math" panose="02040503050406030204" pitchFamily="18" charset="0"/>
                              <a:cs typeface="Arial" panose="020B0604020202020204" pitchFamily="34" charset="0"/>
                            </a:rPr>
                            <m:t>𝑥</m:t>
                          </m:r>
                        </m:e>
                        <m:sub>
                          <m:r>
                            <a:rPr lang="en-US" sz="2800" b="0" i="1" smtClean="0">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𝑆</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b="0" i="1" smtClean="0">
                          <a:solidFill>
                            <a:prstClr val="black"/>
                          </a:solidFill>
                          <a:effectLst/>
                          <a:latin typeface="Cambria Math" panose="02040503050406030204" pitchFamily="18" charset="0"/>
                          <a:cs typeface="Arial" panose="020B0604020202020204" pitchFamily="34" charset="0"/>
                        </a:rPr>
                        <m:t>=9</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sz="2800" b="0" i="1" smtClean="0">
                          <a:solidFill>
                            <a:prstClr val="black"/>
                          </a:solidFill>
                          <a:effectLst/>
                          <a:latin typeface="Cambria Math" panose="02040503050406030204" pitchFamily="18" charset="0"/>
                          <a:cs typeface="Arial" panose="020B0604020202020204" pitchFamily="34" charset="0"/>
                        </a:rPr>
                        <m:t>𝑧</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−4</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m:t>
                          </m:r>
                          <m:r>
                            <a:rPr lang="en-US" sz="2800" i="1">
                              <a:solidFill>
                                <a:prstClr val="black"/>
                              </a:solidFill>
                              <a:effectLst/>
                              <a:latin typeface="Cambria Math" panose="02040503050406030204" pitchFamily="18" charset="0"/>
                              <a:cs typeface="Arial" panose="020B0604020202020204" pitchFamily="34" charset="0"/>
                            </a:rPr>
                            <m:t>𝑥</m:t>
                          </m:r>
                        </m:e>
                        <m:sub>
                          <m:r>
                            <a:rPr lang="en-US" sz="2800" b="0" i="1" smtClean="0">
                              <a:solidFill>
                                <a:prstClr val="black"/>
                              </a:solidFill>
                              <a:effectLst/>
                              <a:latin typeface="Cambria Math" panose="02040503050406030204" pitchFamily="18" charset="0"/>
                              <a:cs typeface="Arial" panose="020B0604020202020204" pitchFamily="34" charset="0"/>
                            </a:rPr>
                            <m:t>2</m:t>
                          </m:r>
                        </m:sub>
                      </m:sSub>
                      <m:r>
                        <a:rPr lang="en-US" sz="2800" i="1">
                          <a:solidFill>
                            <a:prstClr val="black"/>
                          </a:solidFill>
                          <a:effectLst/>
                          <a:latin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cs typeface="Arial" panose="020B0604020202020204" pitchFamily="34" charset="0"/>
                        </a:rPr>
                        <m:t>0</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r>
                  <a:rPr lang="en-US" sz="2800" dirty="0">
                    <a:solidFill>
                      <a:prstClr val="black"/>
                    </a:solidFill>
                    <a:effectLst/>
                    <a:latin typeface="Arial" panose="020B0604020202020204" pitchFamily="34" charset="0"/>
                    <a:cs typeface="Arial" panose="020B0604020202020204" pitchFamily="34" charset="0"/>
                  </a:rPr>
                  <a:t>Subject to constraint:</a:t>
                </a:r>
              </a:p>
              <a:p>
                <a:pPr marL="0" lvl="0" indent="0" algn="just">
                  <a:buNone/>
                </a:pPr>
                <a14:m>
                  <m:oMathPara xmlns:m="http://schemas.openxmlformats.org/officeDocument/2006/math">
                    <m:oMathParaPr>
                      <m:jc m:val="centerGroup"/>
                    </m:oMathParaPr>
                    <m:oMath xmlns:m="http://schemas.openxmlformats.org/officeDocument/2006/math">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𝐴</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b="0" i="1" smtClean="0">
                          <a:solidFill>
                            <a:prstClr val="black"/>
                          </a:solidFill>
                          <a:effectLst/>
                          <a:latin typeface="Cambria Math" panose="02040503050406030204" pitchFamily="18" charset="0"/>
                          <a:cs typeface="Arial" panose="020B0604020202020204" pitchFamily="34" charset="0"/>
                        </a:rPr>
                        <m:t>=3</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sz="2800" i="1">
                          <a:solidFill>
                            <a:prstClr val="black"/>
                          </a:solidFill>
                          <a:effectLst/>
                          <a:latin typeface="Cambria Math" panose="02040503050406030204" pitchFamily="18" charset="0"/>
                          <a:cs typeface="Arial" panose="020B0604020202020204" pitchFamily="34" charset="0"/>
                        </a:rPr>
                        <m:t>4</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𝑆</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𝐴</m:t>
                          </m:r>
                        </m:e>
                        <m:sub>
                          <m:r>
                            <a:rPr lang="en-US" sz="2800" b="0" i="1" smtClean="0">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 6</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sz="2800" b="0" i="1" smtClean="0">
                          <a:solidFill>
                            <a:prstClr val="black"/>
                          </a:solidFill>
                          <a:effectLst/>
                          <a:latin typeface="Cambria Math" panose="02040503050406030204" pitchFamily="18" charset="0"/>
                          <a:cs typeface="Arial" panose="020B0604020202020204" pitchFamily="34" charset="0"/>
                        </a:rPr>
                        <m:t> </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b="0" i="1" smtClean="0">
                              <a:solidFill>
                                <a:prstClr val="black"/>
                              </a:solidFill>
                              <a:effectLst/>
                              <a:latin typeface="Cambria Math" panose="02040503050406030204" pitchFamily="18" charset="0"/>
                              <a:cs typeface="Arial" panose="020B0604020202020204" pitchFamily="34" charset="0"/>
                            </a:rPr>
                            <m:t>1</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2</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𝑆</m:t>
                          </m:r>
                        </m:e>
                        <m:sub>
                          <m:r>
                            <a:rPr lang="en-US" sz="2800" b="0" i="1" smtClean="0">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=4</m:t>
                      </m:r>
                    </m:oMath>
                  </m:oMathPara>
                </a14:m>
                <a:endParaRPr lang="en-US" sz="2800" dirty="0">
                  <a:solidFill>
                    <a:prstClr val="black"/>
                  </a:solidFill>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l="-1641" t="-529"/>
                </a:stretch>
              </a:blipFill>
            </p:spPr>
            <p:txBody>
              <a:bodyPr/>
              <a:lstStyle/>
              <a:p>
                <a:r>
                  <a:rPr lang="en-US">
                    <a:noFill/>
                  </a:rPr>
                  <a:t> </a:t>
                </a:r>
              </a:p>
            </p:txBody>
          </p:sp>
        </mc:Fallback>
      </mc:AlternateContent>
    </p:spTree>
    <p:extLst>
      <p:ext uri="{BB962C8B-B14F-4D97-AF65-F5344CB8AC3E}">
        <p14:creationId xmlns:p14="http://schemas.microsoft.com/office/powerpoint/2010/main" val="1471662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60" y="663388"/>
            <a:ext cx="7429499" cy="1237130"/>
          </a:xfrm>
        </p:spPr>
        <p:txBody>
          <a:bodyPr>
            <a:normAutofit fontScale="90000"/>
          </a:bodyPr>
          <a:lstStyle/>
          <a:p>
            <a:r>
              <a:rPr lang="en-US" sz="4000" dirty="0">
                <a:solidFill>
                  <a:srgbClr val="C00000"/>
                </a:solidFill>
                <a:latin typeface="Arial" panose="020B0604020202020204" pitchFamily="34" charset="0"/>
                <a:cs typeface="Arial" panose="020B0604020202020204" pitchFamily="34" charset="0"/>
              </a:rPr>
              <a:t>Two phase </a:t>
            </a:r>
            <a:r>
              <a:rPr lang="en-US" sz="4000" dirty="0" smtClean="0">
                <a:solidFill>
                  <a:srgbClr val="C00000"/>
                </a:solidFill>
                <a:latin typeface="Arial" panose="020B0604020202020204" pitchFamily="34" charset="0"/>
                <a:cs typeface="Arial" panose="020B0604020202020204" pitchFamily="34" charset="0"/>
              </a:rPr>
              <a:t>method</a:t>
            </a:r>
            <a:br>
              <a:rPr lang="en-US" sz="4000" dirty="0" smtClean="0">
                <a:solidFill>
                  <a:srgbClr val="C00000"/>
                </a:solidFill>
                <a:latin typeface="Arial" panose="020B0604020202020204" pitchFamily="34" charset="0"/>
                <a:cs typeface="Arial" panose="020B0604020202020204" pitchFamily="34" charset="0"/>
              </a:rPr>
            </a:br>
            <a:r>
              <a:rPr lang="en-US" sz="1300" dirty="0">
                <a:latin typeface="Arial" panose="020B0604020202020204" pitchFamily="34" charset="0"/>
                <a:cs typeface="Arial" panose="020B0604020202020204" pitchFamily="34" charset="0"/>
              </a:rPr>
              <a:t>(Minimization so choose more positive value in </a:t>
            </a:r>
            <a:r>
              <a:rPr lang="en-US" sz="1300" dirty="0" smtClean="0">
                <a:latin typeface="Arial" panose="020B0604020202020204" pitchFamily="34" charset="0"/>
                <a:cs typeface="Arial" panose="020B0604020202020204" pitchFamily="34" charset="0"/>
              </a:rPr>
              <a:t>w-row</a:t>
            </a:r>
            <a:r>
              <a:rPr lang="en-US" sz="1300" dirty="0">
                <a:latin typeface="Arial" panose="020B0604020202020204" pitchFamily="34" charset="0"/>
                <a:cs typeface="Arial" panose="020B0604020202020204" pitchFamily="34" charset="0"/>
              </a:rPr>
              <a:t>)</a:t>
            </a:r>
            <a:r>
              <a:rPr lang="en-US" sz="4000" dirty="0">
                <a:latin typeface="Arial" panose="020B0604020202020204" pitchFamily="34" charset="0"/>
                <a:cs typeface="Arial" panose="020B0604020202020204" pitchFamily="34" charset="0"/>
              </a:rPr>
              <a:t/>
            </a:r>
            <a:br>
              <a:rPr lang="en-US" sz="4000" dirty="0">
                <a:latin typeface="Arial" panose="020B0604020202020204" pitchFamily="34" charset="0"/>
                <a:cs typeface="Arial" panose="020B0604020202020204" pitchFamily="34" charset="0"/>
              </a:rPr>
            </a:br>
            <a:endParaRPr lang="en-US" sz="4000" dirty="0">
              <a:solidFill>
                <a:srgbClr val="C00000"/>
              </a:solidFill>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extLst>
                  <p:ext uri="{D42A27DB-BD31-4B8C-83A1-F6EECF244321}">
                    <p14:modId xmlns:p14="http://schemas.microsoft.com/office/powerpoint/2010/main" val="913035121"/>
                  </p:ext>
                </p:extLst>
              </p:nvPr>
            </p:nvGraphicFramePr>
            <p:xfrm>
              <a:off x="861665" y="1714455"/>
              <a:ext cx="7705160" cy="4650486"/>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822399">
                      <a:extLst>
                        <a:ext uri="{9D8B030D-6E8A-4147-A177-3AD203B41FA5}">
                          <a16:colId xmlns:a16="http://schemas.microsoft.com/office/drawing/2014/main" xmlns="" val="3733485545"/>
                        </a:ext>
                      </a:extLst>
                    </a:gridCol>
                    <a:gridCol w="907766">
                      <a:extLst>
                        <a:ext uri="{9D8B030D-6E8A-4147-A177-3AD203B41FA5}">
                          <a16:colId xmlns:a16="http://schemas.microsoft.com/office/drawing/2014/main" xmlns="" val="3456232338"/>
                        </a:ext>
                      </a:extLst>
                    </a:gridCol>
                    <a:gridCol w="792992">
                      <a:extLst>
                        <a:ext uri="{9D8B030D-6E8A-4147-A177-3AD203B41FA5}">
                          <a16:colId xmlns:a16="http://schemas.microsoft.com/office/drawing/2014/main" xmlns="" val="457432290"/>
                        </a:ext>
                      </a:extLst>
                    </a:gridCol>
                    <a:gridCol w="708887">
                      <a:extLst>
                        <a:ext uri="{9D8B030D-6E8A-4147-A177-3AD203B41FA5}">
                          <a16:colId xmlns:a16="http://schemas.microsoft.com/office/drawing/2014/main" xmlns="" val="2791127480"/>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1285473">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428491">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7</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9</a:t>
                          </a:r>
                        </a:p>
                      </a:txBody>
                      <a:tcPr/>
                    </a:tc>
                    <a:tc>
                      <a:txBody>
                        <a:bodyPr/>
                        <a:lstStyle/>
                        <a:p>
                          <a:pPr algn="ctr"/>
                          <a:endParaRPr lang="en-US" dirty="0"/>
                        </a:p>
                      </a:txBody>
                      <a:tcPr/>
                    </a:tc>
                    <a:extLst>
                      <a:ext uri="{0D108BD9-81ED-4DB2-BD59-A6C34878D82A}">
                        <a16:rowId xmlns:a16="http://schemas.microsoft.com/office/drawing/2014/main" xmlns="" val="3181063999"/>
                      </a:ext>
                    </a:extLst>
                  </a:tr>
                  <a:tr h="428491">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-4</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dirty="0" smtClean="0">
                                    <a:solidFill>
                                      <a:schemeClr val="tx1"/>
                                    </a:solidFill>
                                    <a:latin typeface="Cambria Math" panose="02040503050406030204" pitchFamily="18" charset="0"/>
                                  </a:rPr>
                                  <m:t>0</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568703">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3</m:t>
                                </m:r>
                              </m:oMath>
                            </m:oMathPara>
                          </a14:m>
                          <a:endParaRPr lang="en-US" dirty="0">
                            <a:solidFill>
                              <a:schemeClr val="tx1"/>
                            </a:solidFill>
                          </a:endParaRPr>
                        </a:p>
                      </a:txBody>
                      <a:tcPr/>
                    </a:tc>
                    <a:tc>
                      <a:txBody>
                        <a:bodyPr/>
                        <a:lstStyle/>
                        <a:p>
                          <a:pPr algn="ct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dirty="0" smtClean="0">
                                        <a:ln>
                                          <a:noFill/>
                                        </a:ln>
                                        <a:solidFill>
                                          <a:srgbClr val="FF0000"/>
                                        </a:solidFill>
                                        <a:effectLst/>
                                        <a:uLnTx/>
                                        <a:uFillTx/>
                                        <a:latin typeface="Cambria Math"/>
                                        <a:ea typeface="+mn-ea"/>
                                        <a:cs typeface="+mn-cs"/>
                                      </a:rPr>
                                    </m:ctrlPr>
                                  </m:fPr>
                                  <m:num>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3</m:t>
                                    </m:r>
                                  </m:num>
                                  <m:den>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3</m:t>
                                    </m:r>
                                  </m:den>
                                </m:f>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=1</m:t>
                                </m:r>
                              </m:oMath>
                            </m:oMathPara>
                          </a14:m>
                          <a:endParaRPr lang="en-US" dirty="0">
                            <a:solidFill>
                              <a:schemeClr val="tx1"/>
                            </a:solidFill>
                          </a:endParaRPr>
                        </a:p>
                      </a:txBody>
                      <a:tcPr/>
                    </a:tc>
                    <a:extLst>
                      <a:ext uri="{0D108BD9-81ED-4DB2-BD59-A6C34878D82A}">
                        <a16:rowId xmlns:a16="http://schemas.microsoft.com/office/drawing/2014/main" xmlns="" val="1697728900"/>
                      </a:ext>
                    </a:extLst>
                  </a:tr>
                  <a:tr h="824131">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b>
                                </m:sSub>
                              </m:oMath>
                            </m:oMathPara>
                          </a14:m>
                          <a:endParaRPr lang="en-US" dirty="0"/>
                        </a:p>
                      </a:txBody>
                      <a:tcPr/>
                    </a:tc>
                    <a:tc>
                      <a:txBody>
                        <a:bodyPr/>
                        <a:lstStyle/>
                        <a:p>
                          <a:pPr algn="ctr"/>
                          <a:r>
                            <a:rPr lang="en-US" dirty="0">
                              <a:solidFill>
                                <a:srgbClr val="FF0000"/>
                              </a:solidFill>
                            </a:rPr>
                            <a:t>4</a:t>
                          </a:r>
                        </a:p>
                      </a:txBody>
                      <a:tcPr/>
                    </a:tc>
                    <a:tc>
                      <a:txBody>
                        <a:bodyPr/>
                        <a:lstStyle/>
                        <a:p>
                          <a:pPr algn="ctr"/>
                          <a:r>
                            <a:rPr lang="en-US" dirty="0"/>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dirty="0" smtClean="0">
                                        <a:ln>
                                          <a:noFill/>
                                        </a:ln>
                                        <a:solidFill>
                                          <a:prstClr val="black"/>
                                        </a:solidFill>
                                        <a:effectLst/>
                                        <a:uLnTx/>
                                        <a:uFillTx/>
                                        <a:latin typeface="Cambria Math"/>
                                        <a:ea typeface="+mn-ea"/>
                                        <a:cs typeface="+mn-cs"/>
                                      </a:rPr>
                                    </m:ctrlPr>
                                  </m:fPr>
                                  <m:num>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6</m:t>
                                    </m:r>
                                  </m:num>
                                  <m:den>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m:t>
                                    </m:r>
                                  </m:den>
                                </m:f>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=1.5</m:t>
                                </m:r>
                              </m:oMath>
                            </m:oMathPara>
                          </a14:m>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p>
                      </a:txBody>
                      <a:tcPr/>
                    </a:tc>
                    <a:extLst>
                      <a:ext uri="{0D108BD9-81ED-4DB2-BD59-A6C34878D82A}">
                        <a16:rowId xmlns:a16="http://schemas.microsoft.com/office/drawing/2014/main" xmlns="" val="110143584"/>
                      </a:ext>
                    </a:extLst>
                  </a:tr>
                  <a:tr h="823179">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b>
                                </m:sSub>
                              </m:oMath>
                            </m:oMathPara>
                          </a14:m>
                          <a:endParaRPr lang="en-US" dirty="0"/>
                        </a:p>
                      </a:txBody>
                      <a:tcPr/>
                    </a:tc>
                    <a:tc>
                      <a:txBody>
                        <a:bodyPr/>
                        <a:lstStyle/>
                        <a:p>
                          <a:pPr algn="ctr"/>
                          <a:r>
                            <a:rPr lang="en-US" dirty="0">
                              <a:solidFill>
                                <a:srgbClr val="FF0000"/>
                              </a:solidFill>
                            </a:rPr>
                            <a:t>1</a:t>
                          </a:r>
                        </a:p>
                      </a:txBody>
                      <a:tcPr/>
                    </a:tc>
                    <a:tc>
                      <a:txBody>
                        <a:bodyPr/>
                        <a:lstStyle/>
                        <a:p>
                          <a:pPr algn="ctr"/>
                          <a:r>
                            <a:rPr lang="en-US" dirty="0"/>
                            <a:t>2</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dirty="0" smtClean="0">
                                        <a:ln>
                                          <a:noFill/>
                                        </a:ln>
                                        <a:solidFill>
                                          <a:prstClr val="black"/>
                                        </a:solidFill>
                                        <a:effectLst/>
                                        <a:uLnTx/>
                                        <a:uFillTx/>
                                        <a:latin typeface="Cambria Math"/>
                                        <a:ea typeface="+mn-ea"/>
                                        <a:cs typeface="+mn-cs"/>
                                      </a:rPr>
                                    </m:ctrlPr>
                                  </m:fPr>
                                  <m:num>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m:t>
                                    </m:r>
                                  </m:num>
                                  <m:den>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m:t>
                                    </m:r>
                                  </m:den>
                                </m:f>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m:t>
                                </m:r>
                              </m:oMath>
                            </m:oMathPara>
                          </a14:m>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 xmlns:a16="http://schemas.microsoft.com/office/drawing/2014/main" xmlns:a14="http://schemas.microsoft.com/office/drawing/2010/main" id="{363C6AA0-D659-4938-81F4-B7B5A22D8D24}"/>
                  </a:ext>
                </a:extLst>
              </p:cNvPr>
              <p:cNvGraphicFramePr>
                <a:graphicFrameLocks noGrp="1"/>
              </p:cNvGraphicFramePr>
              <p:nvPr>
                <p:extLst>
                  <p:ext uri="{D42A27DB-BD31-4B8C-83A1-F6EECF244321}">
                    <p14:modId xmlns:p14="http://schemas.microsoft.com/office/powerpoint/2010/main" val="913035121"/>
                  </p:ext>
                </p:extLst>
              </p:nvPr>
            </p:nvGraphicFramePr>
            <p:xfrm>
              <a:off x="861665" y="1714455"/>
              <a:ext cx="7705160" cy="4650486"/>
            </p:xfrm>
            <a:graphic>
              <a:graphicData uri="http://schemas.openxmlformats.org/drawingml/2006/table">
                <a:tbl>
                  <a:tblPr firstRow="1" bandRow="1">
                    <a:tableStyleId>{7DF18680-E054-41AD-8BC1-D1AEF772440D}</a:tableStyleId>
                  </a:tblPr>
                  <a:tblGrid>
                    <a:gridCol w="843285">
                      <a:extLst>
                        <a:ext uri="{9D8B030D-6E8A-4147-A177-3AD203B41FA5}">
                          <a16:colId xmlns="" xmlns:a16="http://schemas.microsoft.com/office/drawing/2014/main" xmlns:a14="http://schemas.microsoft.com/office/drawing/2010/main" val="1700886628"/>
                        </a:ext>
                      </a:extLst>
                    </a:gridCol>
                    <a:gridCol w="648346">
                      <a:extLst>
                        <a:ext uri="{9D8B030D-6E8A-4147-A177-3AD203B41FA5}">
                          <a16:colId xmlns="" xmlns:a16="http://schemas.microsoft.com/office/drawing/2014/main" xmlns:a14="http://schemas.microsoft.com/office/drawing/2010/main" val="2853653774"/>
                        </a:ext>
                      </a:extLst>
                    </a:gridCol>
                    <a:gridCol w="732917">
                      <a:extLst>
                        <a:ext uri="{9D8B030D-6E8A-4147-A177-3AD203B41FA5}">
                          <a16:colId xmlns="" xmlns:a16="http://schemas.microsoft.com/office/drawing/2014/main" xmlns:a14="http://schemas.microsoft.com/office/drawing/2010/main" val="1852071440"/>
                        </a:ext>
                      </a:extLst>
                    </a:gridCol>
                    <a:gridCol w="822399">
                      <a:extLst>
                        <a:ext uri="{9D8B030D-6E8A-4147-A177-3AD203B41FA5}">
                          <a16:colId xmlns="" xmlns:a16="http://schemas.microsoft.com/office/drawing/2014/main" xmlns:a14="http://schemas.microsoft.com/office/drawing/2010/main" val="3733485545"/>
                        </a:ext>
                      </a:extLst>
                    </a:gridCol>
                    <a:gridCol w="907766">
                      <a:extLst>
                        <a:ext uri="{9D8B030D-6E8A-4147-A177-3AD203B41FA5}">
                          <a16:colId xmlns="" xmlns:a16="http://schemas.microsoft.com/office/drawing/2014/main" xmlns:a14="http://schemas.microsoft.com/office/drawing/2010/main" val="3456232338"/>
                        </a:ext>
                      </a:extLst>
                    </a:gridCol>
                    <a:gridCol w="792992">
                      <a:extLst>
                        <a:ext uri="{9D8B030D-6E8A-4147-A177-3AD203B41FA5}">
                          <a16:colId xmlns="" xmlns:a16="http://schemas.microsoft.com/office/drawing/2014/main" xmlns:a14="http://schemas.microsoft.com/office/drawing/2010/main" val="457432290"/>
                        </a:ext>
                      </a:extLst>
                    </a:gridCol>
                    <a:gridCol w="708887">
                      <a:extLst>
                        <a:ext uri="{9D8B030D-6E8A-4147-A177-3AD203B41FA5}">
                          <a16:colId xmlns="" xmlns:a16="http://schemas.microsoft.com/office/drawing/2014/main" xmlns:a14="http://schemas.microsoft.com/office/drawing/2010/main" val="2791127480"/>
                        </a:ext>
                      </a:extLst>
                    </a:gridCol>
                    <a:gridCol w="1124284">
                      <a:extLst>
                        <a:ext uri="{9D8B030D-6E8A-4147-A177-3AD203B41FA5}">
                          <a16:colId xmlns="" xmlns:a16="http://schemas.microsoft.com/office/drawing/2014/main" xmlns:a14="http://schemas.microsoft.com/office/drawing/2010/main" val="1798884083"/>
                        </a:ext>
                      </a:extLst>
                    </a:gridCol>
                    <a:gridCol w="1124284">
                      <a:extLst>
                        <a:ext uri="{9D8B030D-6E8A-4147-A177-3AD203B41FA5}">
                          <a16:colId xmlns="" xmlns:a16="http://schemas.microsoft.com/office/drawing/2014/main" xmlns:a14="http://schemas.microsoft.com/office/drawing/2010/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rotWithShape="1">
                          <a:blip r:embed="rId2"/>
                          <a:stretch>
                            <a:fillRect l="-128972" t="-3556" r="-953271" b="-246222"/>
                          </a:stretch>
                        </a:blipFill>
                      </a:tcPr>
                    </a:tc>
                    <a:tc>
                      <a:txBody>
                        <a:bodyPr/>
                        <a:lstStyle/>
                        <a:p>
                          <a:endParaRPr lang="en-US"/>
                        </a:p>
                      </a:txBody>
                      <a:tcPr>
                        <a:blipFill rotWithShape="1">
                          <a:blip r:embed="rId2"/>
                          <a:stretch>
                            <a:fillRect l="-204167" t="-3556" r="-750000" b="-246222"/>
                          </a:stretch>
                        </a:blipFill>
                      </a:tcPr>
                    </a:tc>
                    <a:tc>
                      <a:txBody>
                        <a:bodyPr/>
                        <a:lstStyle/>
                        <a:p>
                          <a:endParaRPr lang="en-US"/>
                        </a:p>
                      </a:txBody>
                      <a:tcPr>
                        <a:blipFill rotWithShape="1">
                          <a:blip r:embed="rId2"/>
                          <a:stretch>
                            <a:fillRect l="-270370" t="-3556" r="-566667" b="-246222"/>
                          </a:stretch>
                        </a:blipFill>
                      </a:tcPr>
                    </a:tc>
                    <a:tc>
                      <a:txBody>
                        <a:bodyPr/>
                        <a:lstStyle/>
                        <a:p>
                          <a:endParaRPr lang="en-US"/>
                        </a:p>
                      </a:txBody>
                      <a:tcPr>
                        <a:blipFill rotWithShape="1">
                          <a:blip r:embed="rId2"/>
                          <a:stretch>
                            <a:fillRect l="-335570" t="-3556" r="-413423" b="-246222"/>
                          </a:stretch>
                        </a:blipFill>
                      </a:tcPr>
                    </a:tc>
                    <a:tc>
                      <a:txBody>
                        <a:bodyPr/>
                        <a:lstStyle/>
                        <a:p>
                          <a:endParaRPr lang="en-US"/>
                        </a:p>
                      </a:txBody>
                      <a:tcPr>
                        <a:blipFill rotWithShape="1">
                          <a:blip r:embed="rId2"/>
                          <a:stretch>
                            <a:fillRect l="-499231" t="-3556" r="-373846" b="-246222"/>
                          </a:stretch>
                        </a:blipFill>
                      </a:tcPr>
                    </a:tc>
                    <a:tc>
                      <a:txBody>
                        <a:bodyPr/>
                        <a:lstStyle/>
                        <a:p>
                          <a:endParaRPr lang="en-US"/>
                        </a:p>
                      </a:txBody>
                      <a:tcPr>
                        <a:blipFill rotWithShape="1">
                          <a:blip r:embed="rId2"/>
                          <a:stretch>
                            <a:fillRect l="-671552" t="-3556" r="-318966" b="-246222"/>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 xmlns:a16="http://schemas.microsoft.com/office/drawing/2014/main" xmlns:a14="http://schemas.microsoft.com/office/drawing/2010/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7</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9</a:t>
                          </a:r>
                        </a:p>
                      </a:txBody>
                      <a:tcPr/>
                    </a:tc>
                    <a:tc>
                      <a:txBody>
                        <a:bodyPr/>
                        <a:lstStyle/>
                        <a:p>
                          <a:pPr algn="ctr"/>
                          <a:endParaRPr lang="en-US" dirty="0"/>
                        </a:p>
                      </a:txBody>
                      <a:tcPr/>
                    </a:tc>
                    <a:extLst>
                      <a:ext uri="{0D108BD9-81ED-4DB2-BD59-A6C34878D82A}">
                        <a16:rowId xmlns="" xmlns:a16="http://schemas.microsoft.com/office/drawing/2014/main" xmlns:a14="http://schemas.microsoft.com/office/drawing/2010/main" val="3181063999"/>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-4</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rotWithShape="1">
                          <a:blip r:embed="rId2"/>
                          <a:stretch>
                            <a:fillRect l="-483784" t="-410667" r="-100000" b="-538667"/>
                          </a:stretch>
                        </a:blipFill>
                      </a:tcPr>
                    </a:tc>
                    <a:tc>
                      <a:txBody>
                        <a:bodyPr/>
                        <a:lstStyle/>
                        <a:p>
                          <a:pPr algn="ctr"/>
                          <a:endParaRPr lang="en-US" dirty="0">
                            <a:solidFill>
                              <a:schemeClr val="tx1"/>
                            </a:solidFill>
                          </a:endParaRPr>
                        </a:p>
                      </a:txBody>
                      <a:tcPr/>
                    </a:tc>
                    <a:extLst>
                      <a:ext uri="{0D108BD9-81ED-4DB2-BD59-A6C34878D82A}">
                        <a16:rowId xmlns="" xmlns:a16="http://schemas.microsoft.com/office/drawing/2014/main" xmlns:a14="http://schemas.microsoft.com/office/drawing/2010/main" val="3265417494"/>
                      </a:ext>
                    </a:extLst>
                  </a:tr>
                  <a:tr h="606806">
                    <a:tc>
                      <a:txBody>
                        <a:bodyPr/>
                        <a:lstStyle/>
                        <a:p>
                          <a:endParaRPr lang="en-US"/>
                        </a:p>
                      </a:txBody>
                      <a:tcPr>
                        <a:blipFill rotWithShape="1">
                          <a:blip r:embed="rId2"/>
                          <a:stretch>
                            <a:fillRect t="-383000" r="-816667" b="-304000"/>
                          </a:stretch>
                        </a:blipFill>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rotWithShape="1">
                          <a:blip r:embed="rId2"/>
                          <a:stretch>
                            <a:fillRect l="-483784" t="-383000" r="-100000" b="-304000"/>
                          </a:stretch>
                        </a:blipFill>
                      </a:tcPr>
                    </a:tc>
                    <a:tc>
                      <a:txBody>
                        <a:bodyPr/>
                        <a:lstStyle/>
                        <a:p>
                          <a:endParaRPr lang="en-US"/>
                        </a:p>
                      </a:txBody>
                      <a:tcPr>
                        <a:blipFill rotWithShape="1">
                          <a:blip r:embed="rId2"/>
                          <a:stretch>
                            <a:fillRect l="-586957" t="-383000" r="-543" b="-304000"/>
                          </a:stretch>
                        </a:blipFill>
                      </a:tcPr>
                    </a:tc>
                    <a:extLst>
                      <a:ext uri="{0D108BD9-81ED-4DB2-BD59-A6C34878D82A}">
                        <a16:rowId xmlns="" xmlns:a16="http://schemas.microsoft.com/office/drawing/2014/main" xmlns:a14="http://schemas.microsoft.com/office/drawing/2010/main" val="1697728900"/>
                      </a:ext>
                    </a:extLst>
                  </a:tr>
                  <a:tr h="879348">
                    <a:tc>
                      <a:txBody>
                        <a:bodyPr/>
                        <a:lstStyle/>
                        <a:p>
                          <a:endParaRPr lang="en-US"/>
                        </a:p>
                      </a:txBody>
                      <a:tcPr>
                        <a:blipFill rotWithShape="1">
                          <a:blip r:embed="rId2"/>
                          <a:stretch>
                            <a:fillRect t="-335417" r="-816667" b="-111111"/>
                          </a:stretch>
                        </a:blipFill>
                      </a:tcPr>
                    </a:tc>
                    <a:tc>
                      <a:txBody>
                        <a:bodyPr/>
                        <a:lstStyle/>
                        <a:p>
                          <a:pPr algn="ctr"/>
                          <a:r>
                            <a:rPr lang="en-US" dirty="0">
                              <a:solidFill>
                                <a:srgbClr val="FF0000"/>
                              </a:solidFill>
                            </a:rPr>
                            <a:t>4</a:t>
                          </a:r>
                        </a:p>
                      </a:txBody>
                      <a:tcPr/>
                    </a:tc>
                    <a:tc>
                      <a:txBody>
                        <a:bodyPr/>
                        <a:lstStyle/>
                        <a:p>
                          <a:pPr algn="ctr"/>
                          <a:r>
                            <a:rPr lang="en-US" dirty="0"/>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6</a:t>
                          </a:r>
                        </a:p>
                      </a:txBody>
                      <a:tcPr/>
                    </a:tc>
                    <a:tc>
                      <a:txBody>
                        <a:bodyPr/>
                        <a:lstStyle/>
                        <a:p>
                          <a:endParaRPr lang="en-US"/>
                        </a:p>
                      </a:txBody>
                      <a:tcPr>
                        <a:blipFill rotWithShape="1">
                          <a:blip r:embed="rId2"/>
                          <a:stretch>
                            <a:fillRect l="-586957" t="-335417" r="-543" b="-111111"/>
                          </a:stretch>
                        </a:blipFill>
                      </a:tcPr>
                    </a:tc>
                    <a:extLst>
                      <a:ext uri="{0D108BD9-81ED-4DB2-BD59-A6C34878D82A}">
                        <a16:rowId xmlns="" xmlns:a16="http://schemas.microsoft.com/office/drawing/2014/main" xmlns:a14="http://schemas.microsoft.com/office/drawing/2010/main" val="110143584"/>
                      </a:ext>
                    </a:extLst>
                  </a:tr>
                  <a:tr h="878332">
                    <a:tc>
                      <a:txBody>
                        <a:bodyPr/>
                        <a:lstStyle/>
                        <a:p>
                          <a:endParaRPr lang="en-US"/>
                        </a:p>
                      </a:txBody>
                      <a:tcPr>
                        <a:blipFill rotWithShape="1">
                          <a:blip r:embed="rId2"/>
                          <a:stretch>
                            <a:fillRect t="-435417" r="-816667" b="-11111"/>
                          </a:stretch>
                        </a:blipFill>
                      </a:tcPr>
                    </a:tc>
                    <a:tc>
                      <a:txBody>
                        <a:bodyPr/>
                        <a:lstStyle/>
                        <a:p>
                          <a:pPr algn="ctr"/>
                          <a:r>
                            <a:rPr lang="en-US" dirty="0">
                              <a:solidFill>
                                <a:srgbClr val="FF0000"/>
                              </a:solidFill>
                            </a:rPr>
                            <a:t>1</a:t>
                          </a:r>
                        </a:p>
                      </a:txBody>
                      <a:tcPr/>
                    </a:tc>
                    <a:tc>
                      <a:txBody>
                        <a:bodyPr/>
                        <a:lstStyle/>
                        <a:p>
                          <a:pPr algn="ctr"/>
                          <a:r>
                            <a:rPr lang="en-US" dirty="0"/>
                            <a:t>2</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4</a:t>
                          </a:r>
                        </a:p>
                      </a:txBody>
                      <a:tcPr/>
                    </a:tc>
                    <a:tc>
                      <a:txBody>
                        <a:bodyPr/>
                        <a:lstStyle/>
                        <a:p>
                          <a:endParaRPr lang="en-US"/>
                        </a:p>
                      </a:txBody>
                      <a:tcPr>
                        <a:blipFill rotWithShape="1">
                          <a:blip r:embed="rId2"/>
                          <a:stretch>
                            <a:fillRect l="-586957" t="-435417" r="-543" b="-11111"/>
                          </a:stretch>
                        </a:blipFill>
                      </a:tcPr>
                    </a:tc>
                    <a:extLst>
                      <a:ext uri="{0D108BD9-81ED-4DB2-BD59-A6C34878D82A}">
                        <a16:rowId xmlns="" xmlns:a16="http://schemas.microsoft.com/office/drawing/2014/main" xmlns:a14="http://schemas.microsoft.com/office/drawing/2010/main" val="3414884863"/>
                      </a:ext>
                    </a:extLst>
                  </a:tr>
                </a:tbl>
              </a:graphicData>
            </a:graphic>
          </p:graphicFrame>
        </mc:Fallback>
      </mc:AlternateContent>
    </p:spTree>
    <p:extLst>
      <p:ext uri="{BB962C8B-B14F-4D97-AF65-F5344CB8AC3E}">
        <p14:creationId xmlns:p14="http://schemas.microsoft.com/office/powerpoint/2010/main" val="542699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2272" y="107530"/>
            <a:ext cx="7429499" cy="1478570"/>
          </a:xfrm>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extLst>
                  <p:ext uri="{D42A27DB-BD31-4B8C-83A1-F6EECF244321}">
                    <p14:modId xmlns:p14="http://schemas.microsoft.com/office/powerpoint/2010/main" val="3083088328"/>
                  </p:ext>
                </p:extLst>
              </p:nvPr>
            </p:nvGraphicFramePr>
            <p:xfrm>
              <a:off x="691335" y="1620992"/>
              <a:ext cx="7705160" cy="4650486"/>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913143">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792992">
                      <a:extLst>
                        <a:ext uri="{9D8B030D-6E8A-4147-A177-3AD203B41FA5}">
                          <a16:colId xmlns:a16="http://schemas.microsoft.com/office/drawing/2014/main" xmlns="" val="457432290"/>
                        </a:ext>
                      </a:extLst>
                    </a:gridCol>
                    <a:gridCol w="708887">
                      <a:extLst>
                        <a:ext uri="{9D8B030D-6E8A-4147-A177-3AD203B41FA5}">
                          <a16:colId xmlns:a16="http://schemas.microsoft.com/office/drawing/2014/main" xmlns="" val="2791127480"/>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7</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9</a:t>
                          </a:r>
                        </a:p>
                      </a:txBody>
                      <a:tcPr/>
                    </a:tc>
                    <a:tc>
                      <a:txBody>
                        <a:bodyPr/>
                        <a:lstStyle/>
                        <a:p>
                          <a:pPr algn="ctr"/>
                          <a:endParaRPr lang="en-US" dirty="0"/>
                        </a:p>
                      </a:txBody>
                      <a:tcPr/>
                    </a:tc>
                    <a:extLst>
                      <a:ext uri="{0D108BD9-81ED-4DB2-BD59-A6C34878D82A}">
                        <a16:rowId xmlns:a16="http://schemas.microsoft.com/office/drawing/2014/main" xmlns="" val="3181063999"/>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-4</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dirty="0" smtClean="0">
                                    <a:solidFill>
                                      <a:schemeClr val="tx1"/>
                                    </a:solidFill>
                                    <a:latin typeface="Cambria Math" panose="02040503050406030204" pitchFamily="18" charset="0"/>
                                  </a:rPr>
                                  <m:t>0</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3</m:t>
                                </m:r>
                              </m:oMath>
                            </m:oMathPara>
                          </a14:m>
                          <a:endParaRPr lang="en-US" dirty="0">
                            <a:solidFill>
                              <a:schemeClr val="tx1"/>
                            </a:solidFill>
                          </a:endParaRPr>
                        </a:p>
                      </a:txBody>
                      <a:tcPr/>
                    </a:tc>
                    <a:tc>
                      <a:txBody>
                        <a:bodyPr/>
                        <a:lstStyle/>
                        <a:p>
                          <a:pPr algn="ct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dirty="0" smtClean="0">
                                        <a:ln>
                                          <a:noFill/>
                                        </a:ln>
                                        <a:solidFill>
                                          <a:srgbClr val="FF0000"/>
                                        </a:solidFill>
                                        <a:effectLst/>
                                        <a:uLnTx/>
                                        <a:uFillTx/>
                                        <a:latin typeface="Cambria Math"/>
                                        <a:ea typeface="+mn-ea"/>
                                        <a:cs typeface="+mn-cs"/>
                                      </a:rPr>
                                    </m:ctrlPr>
                                  </m:fPr>
                                  <m:num>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3</m:t>
                                    </m:r>
                                  </m:num>
                                  <m:den>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3</m:t>
                                    </m:r>
                                  </m:den>
                                </m:f>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=1</m:t>
                                </m:r>
                              </m:oMath>
                            </m:oMathPara>
                          </a14:m>
                          <a:endParaRPr lang="en-US" dirty="0">
                            <a:solidFill>
                              <a:schemeClr val="tx1"/>
                            </a:solidFill>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b>
                                </m:sSub>
                              </m:oMath>
                            </m:oMathPara>
                          </a14:m>
                          <a:endParaRPr lang="en-US" dirty="0"/>
                        </a:p>
                      </a:txBody>
                      <a:tcPr/>
                    </a:tc>
                    <a:tc>
                      <a:txBody>
                        <a:bodyPr/>
                        <a:lstStyle/>
                        <a:p>
                          <a:pPr algn="ctr"/>
                          <a:r>
                            <a:rPr lang="en-US" dirty="0">
                              <a:solidFill>
                                <a:srgbClr val="FF0000"/>
                              </a:solidFill>
                            </a:rPr>
                            <a:t>4</a:t>
                          </a:r>
                        </a:p>
                      </a:txBody>
                      <a:tcPr/>
                    </a:tc>
                    <a:tc>
                      <a:txBody>
                        <a:bodyPr/>
                        <a:lstStyle/>
                        <a:p>
                          <a:pPr algn="ctr"/>
                          <a:r>
                            <a:rPr lang="en-US" dirty="0"/>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dirty="0" smtClean="0">
                                        <a:ln>
                                          <a:noFill/>
                                        </a:ln>
                                        <a:solidFill>
                                          <a:prstClr val="black"/>
                                        </a:solidFill>
                                        <a:effectLst/>
                                        <a:uLnTx/>
                                        <a:uFillTx/>
                                        <a:latin typeface="Cambria Math"/>
                                        <a:ea typeface="+mn-ea"/>
                                        <a:cs typeface="+mn-cs"/>
                                      </a:rPr>
                                    </m:ctrlPr>
                                  </m:fPr>
                                  <m:num>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6</m:t>
                                    </m:r>
                                  </m:num>
                                  <m:den>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m:t>
                                    </m:r>
                                  </m:den>
                                </m:f>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=1.5</m:t>
                                </m:r>
                              </m:oMath>
                            </m:oMathPara>
                          </a14:m>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p>
                      </a:txBody>
                      <a:tcPr/>
                    </a:tc>
                    <a:extLst>
                      <a:ext uri="{0D108BD9-81ED-4DB2-BD59-A6C34878D82A}">
                        <a16:rowId xmlns:a16="http://schemas.microsoft.com/office/drawing/2014/main" xmlns="" val="11014358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b>
                                </m:sSub>
                              </m:oMath>
                            </m:oMathPara>
                          </a14:m>
                          <a:endParaRPr lang="en-US" dirty="0"/>
                        </a:p>
                      </a:txBody>
                      <a:tcPr/>
                    </a:tc>
                    <a:tc>
                      <a:txBody>
                        <a:bodyPr/>
                        <a:lstStyle/>
                        <a:p>
                          <a:pPr algn="ctr"/>
                          <a:r>
                            <a:rPr lang="en-US" dirty="0">
                              <a:solidFill>
                                <a:srgbClr val="FF0000"/>
                              </a:solidFill>
                            </a:rPr>
                            <a:t>1</a:t>
                          </a:r>
                        </a:p>
                      </a:txBody>
                      <a:tcPr/>
                    </a:tc>
                    <a:tc>
                      <a:txBody>
                        <a:bodyPr/>
                        <a:lstStyle/>
                        <a:p>
                          <a:pPr algn="ctr"/>
                          <a:r>
                            <a:rPr lang="en-US" dirty="0"/>
                            <a:t>2</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dirty="0" smtClean="0">
                                        <a:ln>
                                          <a:noFill/>
                                        </a:ln>
                                        <a:solidFill>
                                          <a:prstClr val="black"/>
                                        </a:solidFill>
                                        <a:effectLst/>
                                        <a:uLnTx/>
                                        <a:uFillTx/>
                                        <a:latin typeface="Cambria Math"/>
                                        <a:ea typeface="+mn-ea"/>
                                        <a:cs typeface="+mn-cs"/>
                                      </a:rPr>
                                    </m:ctrlPr>
                                  </m:fPr>
                                  <m:num>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m:t>
                                    </m:r>
                                  </m:num>
                                  <m:den>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m:t>
                                    </m:r>
                                  </m:den>
                                </m:f>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m:t>
                                </m:r>
                              </m:oMath>
                            </m:oMathPara>
                          </a14:m>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p>
                      </a:txBody>
                      <a:tcPr/>
                    </a:tc>
                    <a:extLst>
                      <a:ext uri="{0D108BD9-81ED-4DB2-BD59-A6C34878D82A}">
                        <a16:rowId xmlns:a16="http://schemas.microsoft.com/office/drawing/2014/main" xmlns="" val="3414884863"/>
                      </a:ext>
                    </a:extLst>
                  </a:tr>
                </a:tbl>
              </a:graphicData>
            </a:graphic>
          </p:graphicFrame>
        </mc:Choice>
        <mc:Fallback>
          <p:graphicFrame>
            <p:nvGraphicFramePr>
              <p:cNvPr id="4" name="Table 4">
                <a:extLst>
                  <a:ext uri="{FF2B5EF4-FFF2-40B4-BE49-F238E27FC236}">
                    <a16:creationId xmlns:a16="http://schemas.microsoft.com/office/drawing/2014/main" xmlns="" xmlns:a14="http://schemas.microsoft.com/office/drawing/2010/main" id="{363C6AA0-D659-4938-81F4-B7B5A22D8D24}"/>
                  </a:ext>
                </a:extLst>
              </p:cNvPr>
              <p:cNvGraphicFramePr>
                <a:graphicFrameLocks noGrp="1"/>
              </p:cNvGraphicFramePr>
              <p:nvPr>
                <p:extLst>
                  <p:ext uri="{D42A27DB-BD31-4B8C-83A1-F6EECF244321}">
                    <p14:modId xmlns:p14="http://schemas.microsoft.com/office/powerpoint/2010/main" val="3083088328"/>
                  </p:ext>
                </p:extLst>
              </p:nvPr>
            </p:nvGraphicFramePr>
            <p:xfrm>
              <a:off x="691335" y="1620992"/>
              <a:ext cx="7705160" cy="4650486"/>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xmlns:a14="http://schemas.microsoft.com/office/drawing/2010/main" val="1700886628"/>
                        </a:ext>
                      </a:extLst>
                    </a:gridCol>
                    <a:gridCol w="648346">
                      <a:extLst>
                        <a:ext uri="{9D8B030D-6E8A-4147-A177-3AD203B41FA5}">
                          <a16:colId xmlns:a16="http://schemas.microsoft.com/office/drawing/2014/main" xmlns="" xmlns:a14="http://schemas.microsoft.com/office/drawing/2010/main" val="2853653774"/>
                        </a:ext>
                      </a:extLst>
                    </a:gridCol>
                    <a:gridCol w="732917">
                      <a:extLst>
                        <a:ext uri="{9D8B030D-6E8A-4147-A177-3AD203B41FA5}">
                          <a16:colId xmlns:a16="http://schemas.microsoft.com/office/drawing/2014/main" xmlns="" xmlns:a14="http://schemas.microsoft.com/office/drawing/2010/main" val="1852071440"/>
                        </a:ext>
                      </a:extLst>
                    </a:gridCol>
                    <a:gridCol w="913143">
                      <a:extLst>
                        <a:ext uri="{9D8B030D-6E8A-4147-A177-3AD203B41FA5}">
                          <a16:colId xmlns:a16="http://schemas.microsoft.com/office/drawing/2014/main" xmlns="" xmlns:a14="http://schemas.microsoft.com/office/drawing/2010/main" val="3733485545"/>
                        </a:ext>
                      </a:extLst>
                    </a:gridCol>
                    <a:gridCol w="817022">
                      <a:extLst>
                        <a:ext uri="{9D8B030D-6E8A-4147-A177-3AD203B41FA5}">
                          <a16:colId xmlns:a16="http://schemas.microsoft.com/office/drawing/2014/main" xmlns="" xmlns:a14="http://schemas.microsoft.com/office/drawing/2010/main" val="3456232338"/>
                        </a:ext>
                      </a:extLst>
                    </a:gridCol>
                    <a:gridCol w="792992">
                      <a:extLst>
                        <a:ext uri="{9D8B030D-6E8A-4147-A177-3AD203B41FA5}">
                          <a16:colId xmlns:a16="http://schemas.microsoft.com/office/drawing/2014/main" xmlns="" xmlns:a14="http://schemas.microsoft.com/office/drawing/2010/main" val="457432290"/>
                        </a:ext>
                      </a:extLst>
                    </a:gridCol>
                    <a:gridCol w="708887">
                      <a:extLst>
                        <a:ext uri="{9D8B030D-6E8A-4147-A177-3AD203B41FA5}">
                          <a16:colId xmlns:a16="http://schemas.microsoft.com/office/drawing/2014/main" xmlns="" xmlns:a14="http://schemas.microsoft.com/office/drawing/2010/main" val="2791127480"/>
                        </a:ext>
                      </a:extLst>
                    </a:gridCol>
                    <a:gridCol w="1124284">
                      <a:extLst>
                        <a:ext uri="{9D8B030D-6E8A-4147-A177-3AD203B41FA5}">
                          <a16:colId xmlns:a16="http://schemas.microsoft.com/office/drawing/2014/main" xmlns="" xmlns:a14="http://schemas.microsoft.com/office/drawing/2010/main" val="1798884083"/>
                        </a:ext>
                      </a:extLst>
                    </a:gridCol>
                    <a:gridCol w="1124284">
                      <a:extLst>
                        <a:ext uri="{9D8B030D-6E8A-4147-A177-3AD203B41FA5}">
                          <a16:colId xmlns:a16="http://schemas.microsoft.com/office/drawing/2014/main" xmlns="" xmlns:a14="http://schemas.microsoft.com/office/drawing/2010/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rotWithShape="1">
                          <a:blip r:embed="rId2"/>
                          <a:stretch>
                            <a:fillRect l="-128972" t="-3556" r="-953271" b="-246222"/>
                          </a:stretch>
                        </a:blipFill>
                      </a:tcPr>
                    </a:tc>
                    <a:tc>
                      <a:txBody>
                        <a:bodyPr/>
                        <a:lstStyle/>
                        <a:p>
                          <a:endParaRPr lang="en-US"/>
                        </a:p>
                      </a:txBody>
                      <a:tcPr>
                        <a:blipFill rotWithShape="1">
                          <a:blip r:embed="rId2"/>
                          <a:stretch>
                            <a:fillRect l="-204167" t="-3556" r="-750000" b="-246222"/>
                          </a:stretch>
                        </a:blipFill>
                      </a:tcPr>
                    </a:tc>
                    <a:tc>
                      <a:txBody>
                        <a:bodyPr/>
                        <a:lstStyle/>
                        <a:p>
                          <a:endParaRPr lang="en-US"/>
                        </a:p>
                      </a:txBody>
                      <a:tcPr>
                        <a:blipFill rotWithShape="1">
                          <a:blip r:embed="rId2"/>
                          <a:stretch>
                            <a:fillRect l="-243333" t="-3556" r="-500000" b="-246222"/>
                          </a:stretch>
                        </a:blipFill>
                      </a:tcPr>
                    </a:tc>
                    <a:tc>
                      <a:txBody>
                        <a:bodyPr/>
                        <a:lstStyle/>
                        <a:p>
                          <a:endParaRPr lang="en-US"/>
                        </a:p>
                      </a:txBody>
                      <a:tcPr>
                        <a:blipFill rotWithShape="1">
                          <a:blip r:embed="rId2"/>
                          <a:stretch>
                            <a:fillRect l="-384328" t="-3556" r="-459701" b="-246222"/>
                          </a:stretch>
                        </a:blipFill>
                      </a:tcPr>
                    </a:tc>
                    <a:tc>
                      <a:txBody>
                        <a:bodyPr/>
                        <a:lstStyle/>
                        <a:p>
                          <a:endParaRPr lang="en-US"/>
                        </a:p>
                      </a:txBody>
                      <a:tcPr>
                        <a:blipFill rotWithShape="1">
                          <a:blip r:embed="rId2"/>
                          <a:stretch>
                            <a:fillRect l="-499231" t="-3556" r="-373846" b="-246222"/>
                          </a:stretch>
                        </a:blipFill>
                      </a:tcPr>
                    </a:tc>
                    <a:tc>
                      <a:txBody>
                        <a:bodyPr/>
                        <a:lstStyle/>
                        <a:p>
                          <a:endParaRPr lang="en-US"/>
                        </a:p>
                      </a:txBody>
                      <a:tcPr>
                        <a:blipFill rotWithShape="1">
                          <a:blip r:embed="rId2"/>
                          <a:stretch>
                            <a:fillRect l="-671552" t="-3556" r="-318966" b="-246222"/>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xmlns:a14="http://schemas.microsoft.com/office/drawing/2010/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7</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9</a:t>
                          </a:r>
                        </a:p>
                      </a:txBody>
                      <a:tcPr/>
                    </a:tc>
                    <a:tc>
                      <a:txBody>
                        <a:bodyPr/>
                        <a:lstStyle/>
                        <a:p>
                          <a:pPr algn="ctr"/>
                          <a:endParaRPr lang="en-US" dirty="0"/>
                        </a:p>
                      </a:txBody>
                      <a:tcPr/>
                    </a:tc>
                    <a:extLst>
                      <a:ext uri="{0D108BD9-81ED-4DB2-BD59-A6C34878D82A}">
                        <a16:rowId xmlns:a16="http://schemas.microsoft.com/office/drawing/2014/main" xmlns="" xmlns:a14="http://schemas.microsoft.com/office/drawing/2010/main" val="3181063999"/>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-4</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rotWithShape="1">
                          <a:blip r:embed="rId2"/>
                          <a:stretch>
                            <a:fillRect l="-483784" t="-410667" r="-100000" b="-538667"/>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xmlns="" xmlns:a14="http://schemas.microsoft.com/office/drawing/2010/main" val="3265417494"/>
                      </a:ext>
                    </a:extLst>
                  </a:tr>
                  <a:tr h="606806">
                    <a:tc>
                      <a:txBody>
                        <a:bodyPr/>
                        <a:lstStyle/>
                        <a:p>
                          <a:endParaRPr lang="en-US"/>
                        </a:p>
                      </a:txBody>
                      <a:tcPr>
                        <a:blipFill rotWithShape="1">
                          <a:blip r:embed="rId2"/>
                          <a:stretch>
                            <a:fillRect t="-383000" r="-816667" b="-304000"/>
                          </a:stretch>
                        </a:blipFill>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rotWithShape="1">
                          <a:blip r:embed="rId2"/>
                          <a:stretch>
                            <a:fillRect l="-483784" t="-383000" r="-100000" b="-304000"/>
                          </a:stretch>
                        </a:blipFill>
                      </a:tcPr>
                    </a:tc>
                    <a:tc>
                      <a:txBody>
                        <a:bodyPr/>
                        <a:lstStyle/>
                        <a:p>
                          <a:endParaRPr lang="en-US"/>
                        </a:p>
                      </a:txBody>
                      <a:tcPr>
                        <a:blipFill rotWithShape="1">
                          <a:blip r:embed="rId2"/>
                          <a:stretch>
                            <a:fillRect l="-586957" t="-383000" r="-543" b="-304000"/>
                          </a:stretch>
                        </a:blipFill>
                      </a:tcPr>
                    </a:tc>
                    <a:extLst>
                      <a:ext uri="{0D108BD9-81ED-4DB2-BD59-A6C34878D82A}">
                        <a16:rowId xmlns:a16="http://schemas.microsoft.com/office/drawing/2014/main" xmlns="" xmlns:a14="http://schemas.microsoft.com/office/drawing/2010/main" val="1697728900"/>
                      </a:ext>
                    </a:extLst>
                  </a:tr>
                  <a:tr h="879348">
                    <a:tc>
                      <a:txBody>
                        <a:bodyPr/>
                        <a:lstStyle/>
                        <a:p>
                          <a:endParaRPr lang="en-US"/>
                        </a:p>
                      </a:txBody>
                      <a:tcPr>
                        <a:blipFill rotWithShape="1">
                          <a:blip r:embed="rId2"/>
                          <a:stretch>
                            <a:fillRect t="-335417" r="-816667" b="-111111"/>
                          </a:stretch>
                        </a:blipFill>
                      </a:tcPr>
                    </a:tc>
                    <a:tc>
                      <a:txBody>
                        <a:bodyPr/>
                        <a:lstStyle/>
                        <a:p>
                          <a:pPr algn="ctr"/>
                          <a:r>
                            <a:rPr lang="en-US" dirty="0">
                              <a:solidFill>
                                <a:srgbClr val="FF0000"/>
                              </a:solidFill>
                            </a:rPr>
                            <a:t>4</a:t>
                          </a:r>
                        </a:p>
                      </a:txBody>
                      <a:tcPr/>
                    </a:tc>
                    <a:tc>
                      <a:txBody>
                        <a:bodyPr/>
                        <a:lstStyle/>
                        <a:p>
                          <a:pPr algn="ctr"/>
                          <a:r>
                            <a:rPr lang="en-US" dirty="0"/>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6</a:t>
                          </a:r>
                        </a:p>
                      </a:txBody>
                      <a:tcPr/>
                    </a:tc>
                    <a:tc>
                      <a:txBody>
                        <a:bodyPr/>
                        <a:lstStyle/>
                        <a:p>
                          <a:endParaRPr lang="en-US"/>
                        </a:p>
                      </a:txBody>
                      <a:tcPr>
                        <a:blipFill rotWithShape="1">
                          <a:blip r:embed="rId2"/>
                          <a:stretch>
                            <a:fillRect l="-586957" t="-335417" r="-543" b="-111111"/>
                          </a:stretch>
                        </a:blipFill>
                      </a:tcPr>
                    </a:tc>
                    <a:extLst>
                      <a:ext uri="{0D108BD9-81ED-4DB2-BD59-A6C34878D82A}">
                        <a16:rowId xmlns:a16="http://schemas.microsoft.com/office/drawing/2014/main" xmlns="" xmlns:a14="http://schemas.microsoft.com/office/drawing/2010/main" val="110143584"/>
                      </a:ext>
                    </a:extLst>
                  </a:tr>
                  <a:tr h="878332">
                    <a:tc>
                      <a:txBody>
                        <a:bodyPr/>
                        <a:lstStyle/>
                        <a:p>
                          <a:endParaRPr lang="en-US"/>
                        </a:p>
                      </a:txBody>
                      <a:tcPr>
                        <a:blipFill rotWithShape="1">
                          <a:blip r:embed="rId2"/>
                          <a:stretch>
                            <a:fillRect t="-435417" r="-816667" b="-11111"/>
                          </a:stretch>
                        </a:blipFill>
                      </a:tcPr>
                    </a:tc>
                    <a:tc>
                      <a:txBody>
                        <a:bodyPr/>
                        <a:lstStyle/>
                        <a:p>
                          <a:pPr algn="ctr"/>
                          <a:r>
                            <a:rPr lang="en-US" dirty="0">
                              <a:solidFill>
                                <a:srgbClr val="FF0000"/>
                              </a:solidFill>
                            </a:rPr>
                            <a:t>1</a:t>
                          </a:r>
                        </a:p>
                      </a:txBody>
                      <a:tcPr/>
                    </a:tc>
                    <a:tc>
                      <a:txBody>
                        <a:bodyPr/>
                        <a:lstStyle/>
                        <a:p>
                          <a:pPr algn="ctr"/>
                          <a:r>
                            <a:rPr lang="en-US" dirty="0"/>
                            <a:t>2</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4</a:t>
                          </a:r>
                        </a:p>
                      </a:txBody>
                      <a:tcPr/>
                    </a:tc>
                    <a:tc>
                      <a:txBody>
                        <a:bodyPr/>
                        <a:lstStyle/>
                        <a:p>
                          <a:endParaRPr lang="en-US"/>
                        </a:p>
                      </a:txBody>
                      <a:tcPr>
                        <a:blipFill rotWithShape="1">
                          <a:blip r:embed="rId2"/>
                          <a:stretch>
                            <a:fillRect l="-586957" t="-435417" r="-543" b="-11111"/>
                          </a:stretch>
                        </a:blipFill>
                      </a:tcPr>
                    </a:tc>
                    <a:extLst>
                      <a:ext uri="{0D108BD9-81ED-4DB2-BD59-A6C34878D82A}">
                        <a16:rowId xmlns:a16="http://schemas.microsoft.com/office/drawing/2014/main" xmlns="" xmlns:a14="http://schemas.microsoft.com/office/drawing/2010/main" val="3414884863"/>
                      </a:ext>
                    </a:extLst>
                  </a:tr>
                </a:tbl>
              </a:graphicData>
            </a:graphic>
          </p:graphicFrame>
        </mc:Fallback>
      </mc:AlternateContent>
    </p:spTree>
    <p:extLst>
      <p:ext uri="{BB962C8B-B14F-4D97-AF65-F5344CB8AC3E}">
        <p14:creationId xmlns:p14="http://schemas.microsoft.com/office/powerpoint/2010/main" val="1652495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extLst>
                  <p:ext uri="{D42A27DB-BD31-4B8C-83A1-F6EECF244321}">
                    <p14:modId xmlns:p14="http://schemas.microsoft.com/office/powerpoint/2010/main" val="3126251593"/>
                  </p:ext>
                </p:extLst>
              </p:nvPr>
            </p:nvGraphicFramePr>
            <p:xfrm>
              <a:off x="718229" y="1872004"/>
              <a:ext cx="7705160" cy="365760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913143">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792992">
                      <a:extLst>
                        <a:ext uri="{9D8B030D-6E8A-4147-A177-3AD203B41FA5}">
                          <a16:colId xmlns:a16="http://schemas.microsoft.com/office/drawing/2014/main" xmlns="" val="457432290"/>
                        </a:ext>
                      </a:extLst>
                    </a:gridCol>
                    <a:gridCol w="708887">
                      <a:extLst>
                        <a:ext uri="{9D8B030D-6E8A-4147-A177-3AD203B41FA5}">
                          <a16:colId xmlns:a16="http://schemas.microsoft.com/office/drawing/2014/main" xmlns="" val="2791127480"/>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7</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9</a:t>
                          </a:r>
                        </a:p>
                      </a:txBody>
                      <a:tcPr/>
                    </a:tc>
                    <a:tc>
                      <a:txBody>
                        <a:bodyPr/>
                        <a:lstStyle/>
                        <a:p>
                          <a:pPr algn="ctr"/>
                          <a:endParaRPr lang="en-US" dirty="0"/>
                        </a:p>
                      </a:txBody>
                      <a:tcPr/>
                    </a:tc>
                    <a:extLst>
                      <a:ext uri="{0D108BD9-81ED-4DB2-BD59-A6C34878D82A}">
                        <a16:rowId xmlns:a16="http://schemas.microsoft.com/office/drawing/2014/main" xmlns="" val="3181063999"/>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-4</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dirty="0" smtClean="0">
                                    <a:solidFill>
                                      <a:schemeClr val="tx1"/>
                                    </a:solidFill>
                                    <a:latin typeface="Cambria Math" panose="02040503050406030204" pitchFamily="18" charset="0"/>
                                  </a:rPr>
                                  <m:t>0</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rgbClr val="FF0000"/>
                              </a:solidFill>
                            </a:rPr>
                            <a:t>1</a:t>
                          </a:r>
                        </a:p>
                      </a:txBody>
                      <a:tcPr/>
                    </a:tc>
                    <a:tc>
                      <a:txBody>
                        <a:bodyPr/>
                        <a:lstStyle/>
                        <a:p>
                          <a:pPr algn="ctr"/>
                          <a:r>
                            <a:rPr lang="en-US" dirty="0"/>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b>
                                </m:sSub>
                              </m:oMath>
                            </m:oMathPara>
                          </a14:m>
                          <a:endParaRPr lang="en-US" dirty="0"/>
                        </a:p>
                      </a:txBody>
                      <a:tcPr/>
                    </a:tc>
                    <a:tc>
                      <a:txBody>
                        <a:bodyPr/>
                        <a:lstStyle/>
                        <a:p>
                          <a:pPr algn="ctr"/>
                          <a:r>
                            <a:rPr lang="en-US" dirty="0">
                              <a:solidFill>
                                <a:srgbClr val="FF0000"/>
                              </a:solidFill>
                            </a:rPr>
                            <a:t>4</a:t>
                          </a:r>
                        </a:p>
                      </a:txBody>
                      <a:tcPr/>
                    </a:tc>
                    <a:tc>
                      <a:txBody>
                        <a:bodyPr/>
                        <a:lstStyle/>
                        <a:p>
                          <a:pPr algn="ctr"/>
                          <a:r>
                            <a:rPr lang="en-US" dirty="0"/>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6</a:t>
                          </a:r>
                        </a:p>
                      </a:txBody>
                      <a:tcPr/>
                    </a:tc>
                    <a:tc>
                      <a:txBody>
                        <a:bodyPr/>
                        <a:lstStyle/>
                        <a:p>
                          <a:pPr algn="ctr"/>
                          <a:endParaRPr lang="en-US" dirty="0"/>
                        </a:p>
                      </a:txBody>
                      <a:tcPr/>
                    </a:tc>
                    <a:extLst>
                      <a:ext uri="{0D108BD9-81ED-4DB2-BD59-A6C34878D82A}">
                        <a16:rowId xmlns:a16="http://schemas.microsoft.com/office/drawing/2014/main" xmlns="" val="11014358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b>
                                </m:sSub>
                              </m:oMath>
                            </m:oMathPara>
                          </a14:m>
                          <a:endParaRPr lang="en-US" dirty="0"/>
                        </a:p>
                      </a:txBody>
                      <a:tcPr/>
                    </a:tc>
                    <a:tc>
                      <a:txBody>
                        <a:bodyPr/>
                        <a:lstStyle/>
                        <a:p>
                          <a:pPr algn="ctr"/>
                          <a:r>
                            <a:rPr lang="en-US" dirty="0">
                              <a:solidFill>
                                <a:srgbClr val="FF0000"/>
                              </a:solidFill>
                            </a:rPr>
                            <a:t>1</a:t>
                          </a:r>
                        </a:p>
                      </a:txBody>
                      <a:tcPr/>
                    </a:tc>
                    <a:tc>
                      <a:txBody>
                        <a:bodyPr/>
                        <a:lstStyle/>
                        <a:p>
                          <a:pPr algn="ctr"/>
                          <a:r>
                            <a:rPr lang="en-US" dirty="0"/>
                            <a:t>2</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4</a:t>
                          </a:r>
                        </a:p>
                      </a:txBody>
                      <a:tcPr/>
                    </a:tc>
                    <a:tc>
                      <a:txBody>
                        <a:bodyPr/>
                        <a:lstStyle/>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a16="http://schemas.microsoft.com/office/drawing/2014/main" id="{363C6AA0-D659-4938-81F4-B7B5A22D8D24}"/>
                  </a:ext>
                </a:extLst>
              </p:cNvPr>
              <p:cNvGraphicFramePr>
                <a:graphicFrameLocks noGrp="1"/>
              </p:cNvGraphicFramePr>
              <p:nvPr>
                <p:extLst>
                  <p:ext uri="{D42A27DB-BD31-4B8C-83A1-F6EECF244321}">
                    <p14:modId xmlns:p14="http://schemas.microsoft.com/office/powerpoint/2010/main" val="3126251593"/>
                  </p:ext>
                </p:extLst>
              </p:nvPr>
            </p:nvGraphicFramePr>
            <p:xfrm>
              <a:off x="718229" y="1872004"/>
              <a:ext cx="7705160" cy="365760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32917">
                      <a:extLst>
                        <a:ext uri="{9D8B030D-6E8A-4147-A177-3AD203B41FA5}">
                          <a16:colId xmlns:a16="http://schemas.microsoft.com/office/drawing/2014/main" val="1852071440"/>
                        </a:ext>
                      </a:extLst>
                    </a:gridCol>
                    <a:gridCol w="913143">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792992">
                      <a:extLst>
                        <a:ext uri="{9D8B030D-6E8A-4147-A177-3AD203B41FA5}">
                          <a16:colId xmlns:a16="http://schemas.microsoft.com/office/drawing/2014/main" val="457432290"/>
                        </a:ext>
                      </a:extLst>
                    </a:gridCol>
                    <a:gridCol w="708887">
                      <a:extLst>
                        <a:ext uri="{9D8B030D-6E8A-4147-A177-3AD203B41FA5}">
                          <a16:colId xmlns:a16="http://schemas.microsoft.com/office/drawing/2014/main" val="2791127480"/>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2"/>
                          <a:stretch>
                            <a:fillRect l="-129907" t="-3556" r="-957009" b="-168000"/>
                          </a:stretch>
                        </a:blipFill>
                      </a:tcPr>
                    </a:tc>
                    <a:tc>
                      <a:txBody>
                        <a:bodyPr/>
                        <a:lstStyle/>
                        <a:p>
                          <a:endParaRPr lang="en-US"/>
                        </a:p>
                      </a:txBody>
                      <a:tcPr>
                        <a:blipFill>
                          <a:blip r:embed="rId2"/>
                          <a:stretch>
                            <a:fillRect l="-205000" t="-3556" r="-753333" b="-168000"/>
                          </a:stretch>
                        </a:blipFill>
                      </a:tcPr>
                    </a:tc>
                    <a:tc>
                      <a:txBody>
                        <a:bodyPr/>
                        <a:lstStyle/>
                        <a:p>
                          <a:endParaRPr lang="en-US"/>
                        </a:p>
                      </a:txBody>
                      <a:tcPr>
                        <a:blipFill>
                          <a:blip r:embed="rId2"/>
                          <a:stretch>
                            <a:fillRect l="-244000" t="-3556" r="-502667" b="-168000"/>
                          </a:stretch>
                        </a:blipFill>
                      </a:tcPr>
                    </a:tc>
                    <a:tc>
                      <a:txBody>
                        <a:bodyPr/>
                        <a:lstStyle/>
                        <a:p>
                          <a:endParaRPr lang="en-US"/>
                        </a:p>
                      </a:txBody>
                      <a:tcPr>
                        <a:blipFill>
                          <a:blip r:embed="rId2"/>
                          <a:stretch>
                            <a:fillRect l="-385075" t="-3556" r="-462687" b="-168000"/>
                          </a:stretch>
                        </a:blipFill>
                      </a:tcPr>
                    </a:tc>
                    <a:tc>
                      <a:txBody>
                        <a:bodyPr/>
                        <a:lstStyle/>
                        <a:p>
                          <a:endParaRPr lang="en-US"/>
                        </a:p>
                      </a:txBody>
                      <a:tcPr>
                        <a:blipFill>
                          <a:blip r:embed="rId2"/>
                          <a:stretch>
                            <a:fillRect l="-500000" t="-3556" r="-376923" b="-168000"/>
                          </a:stretch>
                        </a:blipFill>
                      </a:tcPr>
                    </a:tc>
                    <a:tc>
                      <a:txBody>
                        <a:bodyPr/>
                        <a:lstStyle/>
                        <a:p>
                          <a:endParaRPr lang="en-US"/>
                        </a:p>
                      </a:txBody>
                      <a:tcPr>
                        <a:blipFill>
                          <a:blip r:embed="rId2"/>
                          <a:stretch>
                            <a:fillRect l="-666667" t="-3556" r="-318803" b="-16800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7</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9</a:t>
                          </a:r>
                        </a:p>
                      </a:txBody>
                      <a:tcPr/>
                    </a:tc>
                    <a:tc>
                      <a:txBody>
                        <a:bodyPr/>
                        <a:lstStyle/>
                        <a:p>
                          <a:pPr algn="ctr"/>
                          <a:endParaRPr lang="en-US" dirty="0"/>
                        </a:p>
                      </a:txBody>
                      <a:tcPr/>
                    </a:tc>
                    <a:extLst>
                      <a:ext uri="{0D108BD9-81ED-4DB2-BD59-A6C34878D82A}">
                        <a16:rowId xmlns:a16="http://schemas.microsoft.com/office/drawing/2014/main" val="3181063999"/>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-4</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487500" t="-412000" r="-102717" b="-302667"/>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3265417494"/>
                      </a:ext>
                    </a:extLst>
                  </a:tr>
                  <a:tr h="457200">
                    <a:tc>
                      <a:txBody>
                        <a:bodyPr/>
                        <a:lstStyle/>
                        <a:p>
                          <a:endParaRPr lang="en-US"/>
                        </a:p>
                      </a:txBody>
                      <a:tcPr>
                        <a:blipFill>
                          <a:blip r:embed="rId2"/>
                          <a:stretch>
                            <a:fillRect l="-725" t="-512000" r="-819565" b="-202667"/>
                          </a:stretch>
                        </a:blipFill>
                      </a:tcPr>
                    </a:tc>
                    <a:tc>
                      <a:txBody>
                        <a:bodyPr/>
                        <a:lstStyle/>
                        <a:p>
                          <a:pPr algn="ctr"/>
                          <a:r>
                            <a:rPr lang="en-US" dirty="0">
                              <a:solidFill>
                                <a:srgbClr val="FF0000"/>
                              </a:solidFill>
                            </a:rPr>
                            <a:t>1</a:t>
                          </a:r>
                        </a:p>
                      </a:txBody>
                      <a:tcPr/>
                    </a:tc>
                    <a:tc>
                      <a:txBody>
                        <a:bodyPr/>
                        <a:lstStyle/>
                        <a:p>
                          <a:pPr algn="ctr"/>
                          <a:r>
                            <a:rPr lang="en-US" dirty="0"/>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0</a:t>
                          </a:r>
                        </a:p>
                      </a:txBody>
                      <a:tcPr/>
                    </a:tc>
                    <a:tc>
                      <a:txBody>
                        <a:bodyPr/>
                        <a:lstStyle/>
                        <a:p>
                          <a:endParaRPr lang="en-US"/>
                        </a:p>
                      </a:txBody>
                      <a:tcPr>
                        <a:blipFill>
                          <a:blip r:embed="rId2"/>
                          <a:stretch>
                            <a:fillRect l="-487500" t="-512000" r="-102717" b="-202667"/>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1697728900"/>
                      </a:ext>
                    </a:extLst>
                  </a:tr>
                  <a:tr h="457200">
                    <a:tc>
                      <a:txBody>
                        <a:bodyPr/>
                        <a:lstStyle/>
                        <a:p>
                          <a:endParaRPr lang="en-US"/>
                        </a:p>
                      </a:txBody>
                      <a:tcPr>
                        <a:blipFill>
                          <a:blip r:embed="rId2"/>
                          <a:stretch>
                            <a:fillRect l="-725" t="-612000" r="-819565" b="-102667"/>
                          </a:stretch>
                        </a:blipFill>
                      </a:tcPr>
                    </a:tc>
                    <a:tc>
                      <a:txBody>
                        <a:bodyPr/>
                        <a:lstStyle/>
                        <a:p>
                          <a:pPr algn="ctr"/>
                          <a:r>
                            <a:rPr lang="en-US" dirty="0">
                              <a:solidFill>
                                <a:srgbClr val="FF0000"/>
                              </a:solidFill>
                            </a:rPr>
                            <a:t>4</a:t>
                          </a:r>
                        </a:p>
                      </a:txBody>
                      <a:tcPr/>
                    </a:tc>
                    <a:tc>
                      <a:txBody>
                        <a:bodyPr/>
                        <a:lstStyle/>
                        <a:p>
                          <a:pPr algn="ctr"/>
                          <a:r>
                            <a:rPr lang="en-US" dirty="0"/>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6</a:t>
                          </a:r>
                        </a:p>
                      </a:txBody>
                      <a:tcPr/>
                    </a:tc>
                    <a:tc>
                      <a:txBody>
                        <a:bodyPr/>
                        <a:lstStyle/>
                        <a:p>
                          <a:pPr algn="ctr"/>
                          <a:endParaRPr lang="en-US" dirty="0"/>
                        </a:p>
                      </a:txBody>
                      <a:tcPr/>
                    </a:tc>
                    <a:extLst>
                      <a:ext uri="{0D108BD9-81ED-4DB2-BD59-A6C34878D82A}">
                        <a16:rowId xmlns:a16="http://schemas.microsoft.com/office/drawing/2014/main" val="110143584"/>
                      </a:ext>
                    </a:extLst>
                  </a:tr>
                  <a:tr h="457200">
                    <a:tc>
                      <a:txBody>
                        <a:bodyPr/>
                        <a:lstStyle/>
                        <a:p>
                          <a:endParaRPr lang="en-US"/>
                        </a:p>
                      </a:txBody>
                      <a:tcPr>
                        <a:blipFill>
                          <a:blip r:embed="rId2"/>
                          <a:stretch>
                            <a:fillRect l="-725" t="-712000" r="-819565" b="-2667"/>
                          </a:stretch>
                        </a:blipFill>
                      </a:tcPr>
                    </a:tc>
                    <a:tc>
                      <a:txBody>
                        <a:bodyPr/>
                        <a:lstStyle/>
                        <a:p>
                          <a:pPr algn="ctr"/>
                          <a:r>
                            <a:rPr lang="en-US" dirty="0">
                              <a:solidFill>
                                <a:srgbClr val="FF0000"/>
                              </a:solidFill>
                            </a:rPr>
                            <a:t>1</a:t>
                          </a:r>
                        </a:p>
                      </a:txBody>
                      <a:tcPr/>
                    </a:tc>
                    <a:tc>
                      <a:txBody>
                        <a:bodyPr/>
                        <a:lstStyle/>
                        <a:p>
                          <a:pPr algn="ctr"/>
                          <a:r>
                            <a:rPr lang="en-US" dirty="0"/>
                            <a:t>2</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4</a:t>
                          </a:r>
                        </a:p>
                      </a:txBody>
                      <a:tcPr/>
                    </a:tc>
                    <a:tc>
                      <a:txBody>
                        <a:bodyPr/>
                        <a:lstStyle/>
                        <a:p>
                          <a:pPr algn="ctr"/>
                          <a:endParaRPr lang="en-US" dirty="0"/>
                        </a:p>
                      </a:txBody>
                      <a:tcPr/>
                    </a:tc>
                    <a:extLst>
                      <a:ext uri="{0D108BD9-81ED-4DB2-BD59-A6C34878D82A}">
                        <a16:rowId xmlns:a16="http://schemas.microsoft.com/office/drawing/2014/main" val="3414884863"/>
                      </a:ext>
                    </a:extLst>
                  </a:tr>
                </a:tbl>
              </a:graphicData>
            </a:graphic>
          </p:graphicFrame>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3BFFAC40-A98C-4008-8927-4508C18FB47C}"/>
                  </a:ext>
                </a:extLst>
              </p:cNvPr>
              <p:cNvSpPr/>
              <p:nvPr/>
            </p:nvSpPr>
            <p:spPr>
              <a:xfrm>
                <a:off x="3764178" y="5682002"/>
                <a:ext cx="2566284" cy="790216"/>
              </a:xfrm>
              <a:prstGeom prst="rect">
                <a:avLst/>
              </a:prstGeom>
            </p:spPr>
            <p:txBody>
              <a:bodyPr wrap="square">
                <a:spAutoFit/>
              </a:bodyPr>
              <a:lstStyle/>
              <a:p>
                <a:pPr lvl="0" defTabSz="914400">
                  <a:defRPr/>
                </a:pPr>
                <a:r>
                  <a:rPr lang="en-US" sz="3200" b="0" dirty="0">
                    <a:solidFill>
                      <a:prstClr val="black"/>
                    </a:solidFill>
                  </a:rPr>
                  <a:t>B</a:t>
                </a:r>
                <a14:m>
                  <m:oMath xmlns:m="http://schemas.openxmlformats.org/officeDocument/2006/math">
                    <m:r>
                      <a:rPr lang="en-US" sz="3200" b="0" i="1" dirty="0" smtClean="0">
                        <a:solidFill>
                          <a:prstClr val="black"/>
                        </a:solidFill>
                        <a:latin typeface="Cambria Math" panose="02040503050406030204" pitchFamily="18" charset="0"/>
                      </a:rPr>
                      <m:t>𝑦</m:t>
                    </m:r>
                    <m:r>
                      <a:rPr lang="en-US" sz="3200" b="0" i="1" dirty="0" smtClean="0">
                        <a:solidFill>
                          <a:prstClr val="black"/>
                        </a:solidFill>
                        <a:latin typeface="Cambria Math" panose="02040503050406030204" pitchFamily="18" charset="0"/>
                      </a:rPr>
                      <m:t> </m:t>
                    </m:r>
                    <m:f>
                      <m:fPr>
                        <m:ctrlPr>
                          <a:rPr lang="en-US" sz="3200" b="0" i="1" dirty="0" smtClean="0">
                            <a:solidFill>
                              <a:prstClr val="black"/>
                            </a:solidFill>
                            <a:latin typeface="Cambria Math"/>
                          </a:rPr>
                        </m:ctrlPr>
                      </m:fPr>
                      <m:num>
                        <m:r>
                          <a:rPr lang="en-US" sz="3200" b="0" i="1" dirty="0" smtClean="0">
                            <a:solidFill>
                              <a:prstClr val="black"/>
                            </a:solidFill>
                            <a:latin typeface="Cambria Math" panose="02040503050406030204" pitchFamily="18" charset="0"/>
                          </a:rPr>
                          <m:t>1</m:t>
                        </m:r>
                      </m:num>
                      <m:den>
                        <m:r>
                          <a:rPr lang="en-US" sz="3200" b="0" i="1" dirty="0" smtClean="0">
                            <a:solidFill>
                              <a:prstClr val="black"/>
                            </a:solidFill>
                            <a:latin typeface="Cambria Math" panose="02040503050406030204" pitchFamily="18" charset="0"/>
                          </a:rPr>
                          <m:t>3</m:t>
                        </m:r>
                      </m:den>
                    </m:f>
                    <m:sSub>
                      <m:sSubPr>
                        <m:ctrlPr>
                          <a:rPr lang="en-US" sz="4000" i="1">
                            <a:solidFill>
                              <a:srgbClr val="FF0000"/>
                            </a:solidFill>
                            <a:latin typeface="Cambria Math"/>
                            <a:cs typeface="Arial" panose="020B0604020202020204" pitchFamily="34" charset="0"/>
                          </a:rPr>
                        </m:ctrlPr>
                      </m:sSubPr>
                      <m:e>
                        <m:r>
                          <a:rPr lang="en-US" sz="4000" i="1">
                            <a:solidFill>
                              <a:srgbClr val="FF0000"/>
                            </a:solidFill>
                            <a:latin typeface="Cambria Math" panose="02040503050406030204" pitchFamily="18" charset="0"/>
                            <a:cs typeface="Arial" panose="020B0604020202020204" pitchFamily="34" charset="0"/>
                          </a:rPr>
                          <m:t>𝑥</m:t>
                        </m:r>
                      </m:e>
                      <m:sub>
                        <m:r>
                          <a:rPr lang="en-US" sz="4000" i="1">
                            <a:solidFill>
                              <a:srgbClr val="FF0000"/>
                            </a:solidFill>
                            <a:latin typeface="Cambria Math" panose="02040503050406030204" pitchFamily="18" charset="0"/>
                            <a:cs typeface="Arial" panose="020B0604020202020204" pitchFamily="34" charset="0"/>
                          </a:rPr>
                          <m:t>1</m:t>
                        </m:r>
                      </m:sub>
                    </m:sSub>
                  </m:oMath>
                </a14:m>
                <a:endParaRPr lang="en-US" sz="3200" dirty="0">
                  <a:solidFill>
                    <a:prstClr val="black"/>
                  </a:solidFill>
                </a:endParaRPr>
              </a:p>
            </p:txBody>
          </p:sp>
        </mc:Choice>
        <mc:Fallback xmlns="">
          <p:sp>
            <p:nvSpPr>
              <p:cNvPr id="3" name="Rectangle 2">
                <a:extLst>
                  <a:ext uri="{FF2B5EF4-FFF2-40B4-BE49-F238E27FC236}">
                    <a16:creationId xmlns:a16="http://schemas.microsoft.com/office/drawing/2014/main" id="{3BFFAC40-A98C-4008-8927-4508C18FB47C}"/>
                  </a:ext>
                </a:extLst>
              </p:cNvPr>
              <p:cNvSpPr>
                <a:spLocks noRot="1" noChangeAspect="1" noMove="1" noResize="1" noEditPoints="1" noAdjustHandles="1" noChangeArrowheads="1" noChangeShapeType="1" noTextEdit="1"/>
              </p:cNvSpPr>
              <p:nvPr/>
            </p:nvSpPr>
            <p:spPr>
              <a:xfrm>
                <a:off x="3764178" y="5682002"/>
                <a:ext cx="2566284" cy="790216"/>
              </a:xfrm>
              <a:prstGeom prst="rect">
                <a:avLst/>
              </a:prstGeom>
              <a:blipFill>
                <a:blip r:embed="rId3"/>
                <a:stretch>
                  <a:fillRect l="-5938" b="-11538"/>
                </a:stretch>
              </a:blipFill>
            </p:spPr>
            <p:txBody>
              <a:bodyPr/>
              <a:lstStyle/>
              <a:p>
                <a:r>
                  <a:rPr lang="en-US">
                    <a:noFill/>
                  </a:rPr>
                  <a:t> </a:t>
                </a:r>
              </a:p>
            </p:txBody>
          </p:sp>
        </mc:Fallback>
      </mc:AlternateContent>
    </p:spTree>
    <p:extLst>
      <p:ext uri="{BB962C8B-B14F-4D97-AF65-F5344CB8AC3E}">
        <p14:creationId xmlns:p14="http://schemas.microsoft.com/office/powerpoint/2010/main" val="1731211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𝑤</m:t>
                      </m:r>
                      <m:r>
                        <a:rPr lang="en-US" sz="2000" i="1" dirty="0">
                          <a:solidFill>
                            <a:prstClr val="black"/>
                          </a:solidFill>
                          <a:effectLst/>
                          <a:latin typeface="Cambria Math" panose="02040503050406030204" pitchFamily="18" charset="0"/>
                        </a:rPr>
                        <m:t>−7</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𝑧</m:t>
                      </m:r>
                      <m:r>
                        <a:rPr lang="en-US" sz="2000" i="1" dirty="0">
                          <a:solidFill>
                            <a:prstClr val="black"/>
                          </a:solidFill>
                          <a:effectLst/>
                          <a:latin typeface="Cambria Math" panose="02040503050406030204" pitchFamily="18" charset="0"/>
                        </a:rPr>
                        <m:t>+4</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indent="0">
                  <a:buNone/>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cs typeface="Arial" panose="020B0604020202020204" pitchFamily="34" charset="0"/>
                        </a:rPr>
                        <m:t>𝑥</m:t>
                      </m:r>
                    </m:oMath>
                  </m:oMathPara>
                </a14:m>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extLst>
                  <p:ext uri="{D42A27DB-BD31-4B8C-83A1-F6EECF244321}">
                    <p14:modId xmlns:p14="http://schemas.microsoft.com/office/powerpoint/2010/main" val="191013828"/>
                  </p:ext>
                </p:extLst>
              </p:nvPr>
            </p:nvGraphicFramePr>
            <p:xfrm>
              <a:off x="718229" y="1872004"/>
              <a:ext cx="7705160" cy="384048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913143">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792992">
                      <a:extLst>
                        <a:ext uri="{9D8B030D-6E8A-4147-A177-3AD203B41FA5}">
                          <a16:colId xmlns:a16="http://schemas.microsoft.com/office/drawing/2014/main" xmlns="" val="457432290"/>
                        </a:ext>
                      </a:extLst>
                    </a:gridCol>
                    <a:gridCol w="708887">
                      <a:extLst>
                        <a:ext uri="{9D8B030D-6E8A-4147-A177-3AD203B41FA5}">
                          <a16:colId xmlns:a16="http://schemas.microsoft.com/office/drawing/2014/main" xmlns="" val="2791127480"/>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5/3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-7/3</a:t>
                          </a:r>
                        </a:p>
                      </a:txBody>
                      <a:tcPr/>
                    </a:tc>
                    <a:tc>
                      <a:txBody>
                        <a:bodyPr/>
                        <a:lstStyle/>
                        <a:p>
                          <a:pPr algn="ctr"/>
                          <a:r>
                            <a:rPr lang="en-US" dirty="0"/>
                            <a:t>0</a:t>
                          </a:r>
                        </a:p>
                      </a:txBody>
                      <a:tcPr/>
                    </a:tc>
                    <a:tc>
                      <a:txBody>
                        <a:bodyPr/>
                        <a:lstStyle/>
                        <a:p>
                          <a:pPr algn="ctr"/>
                          <a:r>
                            <a:rPr lang="en-US" dirty="0"/>
                            <a:t>2</a:t>
                          </a:r>
                        </a:p>
                      </a:txBody>
                      <a:tcPr/>
                    </a:tc>
                    <a:tc>
                      <a:txBody>
                        <a:bodyPr/>
                        <a:lstStyle/>
                        <a:p>
                          <a:pPr algn="ctr"/>
                          <a:endParaRPr lang="en-US" dirty="0"/>
                        </a:p>
                      </a:txBody>
                      <a:tcPr/>
                    </a:tc>
                    <a:extLst>
                      <a:ext uri="{0D108BD9-81ED-4DB2-BD59-A6C34878D82A}">
                        <a16:rowId xmlns:a16="http://schemas.microsoft.com/office/drawing/2014/main" xmlns="" val="3181063999"/>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4/3</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4</m:t>
                                </m:r>
                              </m:oMath>
                            </m:oMathPara>
                          </a14:m>
                          <a:endParaRPr lang="en-US"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5/3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-4/3</a:t>
                          </a:r>
                        </a:p>
                      </a:txBody>
                      <a:tcPr/>
                    </a:tc>
                    <a:tc>
                      <a:txBody>
                        <a:bodyPr/>
                        <a:lstStyle/>
                        <a:p>
                          <a:pPr algn="ctr"/>
                          <a:r>
                            <a:rPr lang="en-US" dirty="0"/>
                            <a:t>1</a:t>
                          </a:r>
                        </a:p>
                      </a:txBody>
                      <a:tcPr/>
                    </a:tc>
                    <a:tc>
                      <a:txBody>
                        <a:bodyPr/>
                        <a:lstStyle/>
                        <a:p>
                          <a:pPr algn="ctr"/>
                          <a:r>
                            <a:rPr lang="en-US" dirty="0"/>
                            <a:t>2</a:t>
                          </a:r>
                        </a:p>
                      </a:txBody>
                      <a:tcPr/>
                    </a:tc>
                    <a:tc>
                      <a:txBody>
                        <a:bodyPr/>
                        <a:lstStyle/>
                        <a:p>
                          <a:pPr algn="ctr"/>
                          <a:endParaRPr lang="en-US" dirty="0"/>
                        </a:p>
                      </a:txBody>
                      <a:tcPr/>
                    </a:tc>
                    <a:extLst>
                      <a:ext uri="{0D108BD9-81ED-4DB2-BD59-A6C34878D82A}">
                        <a16:rowId xmlns:a16="http://schemas.microsoft.com/office/drawing/2014/main" xmlns="" val="11014358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5/3</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-1/3</a:t>
                          </a:r>
                        </a:p>
                      </a:txBody>
                      <a:tcPr/>
                    </a:tc>
                    <a:tc>
                      <a:txBody>
                        <a:bodyPr/>
                        <a:lstStyle/>
                        <a:p>
                          <a:pPr algn="ctr"/>
                          <a:r>
                            <a:rPr lang="en-US" dirty="0"/>
                            <a:t>0</a:t>
                          </a:r>
                        </a:p>
                      </a:txBody>
                      <a:tcPr/>
                    </a:tc>
                    <a:tc>
                      <a:txBody>
                        <a:bodyPr/>
                        <a:lstStyle/>
                        <a:p>
                          <a:pPr algn="ctr"/>
                          <a:r>
                            <a:rPr lang="en-US" dirty="0"/>
                            <a:t>3</a:t>
                          </a:r>
                        </a:p>
                      </a:txBody>
                      <a:tcPr/>
                    </a:tc>
                    <a:tc>
                      <a:txBody>
                        <a:bodyPr/>
                        <a:lstStyle/>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a16="http://schemas.microsoft.com/office/drawing/2014/main" id="{363C6AA0-D659-4938-81F4-B7B5A22D8D24}"/>
                  </a:ext>
                </a:extLst>
              </p:cNvPr>
              <p:cNvGraphicFramePr>
                <a:graphicFrameLocks noGrp="1"/>
              </p:cNvGraphicFramePr>
              <p:nvPr>
                <p:extLst>
                  <p:ext uri="{D42A27DB-BD31-4B8C-83A1-F6EECF244321}">
                    <p14:modId xmlns:p14="http://schemas.microsoft.com/office/powerpoint/2010/main" val="191013828"/>
                  </p:ext>
                </p:extLst>
              </p:nvPr>
            </p:nvGraphicFramePr>
            <p:xfrm>
              <a:off x="718229" y="1872004"/>
              <a:ext cx="7705160" cy="384048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32917">
                      <a:extLst>
                        <a:ext uri="{9D8B030D-6E8A-4147-A177-3AD203B41FA5}">
                          <a16:colId xmlns:a16="http://schemas.microsoft.com/office/drawing/2014/main" val="1852071440"/>
                        </a:ext>
                      </a:extLst>
                    </a:gridCol>
                    <a:gridCol w="913143">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792992">
                      <a:extLst>
                        <a:ext uri="{9D8B030D-6E8A-4147-A177-3AD203B41FA5}">
                          <a16:colId xmlns:a16="http://schemas.microsoft.com/office/drawing/2014/main" val="457432290"/>
                        </a:ext>
                      </a:extLst>
                    </a:gridCol>
                    <a:gridCol w="708887">
                      <a:extLst>
                        <a:ext uri="{9D8B030D-6E8A-4147-A177-3AD203B41FA5}">
                          <a16:colId xmlns:a16="http://schemas.microsoft.com/office/drawing/2014/main" val="2791127480"/>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3"/>
                          <a:stretch>
                            <a:fillRect l="-129907" t="-3556" r="-957009" b="-181333"/>
                          </a:stretch>
                        </a:blipFill>
                      </a:tcPr>
                    </a:tc>
                    <a:tc>
                      <a:txBody>
                        <a:bodyPr/>
                        <a:lstStyle/>
                        <a:p>
                          <a:endParaRPr lang="en-US"/>
                        </a:p>
                      </a:txBody>
                      <a:tcPr>
                        <a:blipFill>
                          <a:blip r:embed="rId3"/>
                          <a:stretch>
                            <a:fillRect l="-205000" t="-3556" r="-753333" b="-181333"/>
                          </a:stretch>
                        </a:blipFill>
                      </a:tcPr>
                    </a:tc>
                    <a:tc>
                      <a:txBody>
                        <a:bodyPr/>
                        <a:lstStyle/>
                        <a:p>
                          <a:endParaRPr lang="en-US"/>
                        </a:p>
                      </a:txBody>
                      <a:tcPr>
                        <a:blipFill>
                          <a:blip r:embed="rId3"/>
                          <a:stretch>
                            <a:fillRect l="-244000" t="-3556" r="-502667" b="-181333"/>
                          </a:stretch>
                        </a:blipFill>
                      </a:tcPr>
                    </a:tc>
                    <a:tc>
                      <a:txBody>
                        <a:bodyPr/>
                        <a:lstStyle/>
                        <a:p>
                          <a:endParaRPr lang="en-US"/>
                        </a:p>
                      </a:txBody>
                      <a:tcPr>
                        <a:blipFill>
                          <a:blip r:embed="rId3"/>
                          <a:stretch>
                            <a:fillRect l="-385075" t="-3556" r="-462687" b="-181333"/>
                          </a:stretch>
                        </a:blipFill>
                      </a:tcPr>
                    </a:tc>
                    <a:tc>
                      <a:txBody>
                        <a:bodyPr/>
                        <a:lstStyle/>
                        <a:p>
                          <a:endParaRPr lang="en-US"/>
                        </a:p>
                      </a:txBody>
                      <a:tcPr>
                        <a:blipFill>
                          <a:blip r:embed="rId3"/>
                          <a:stretch>
                            <a:fillRect l="-500000" t="-3556" r="-376923" b="-181333"/>
                          </a:stretch>
                        </a:blipFill>
                      </a:tcPr>
                    </a:tc>
                    <a:tc>
                      <a:txBody>
                        <a:bodyPr/>
                        <a:lstStyle/>
                        <a:p>
                          <a:endParaRPr lang="en-US"/>
                        </a:p>
                      </a:txBody>
                      <a:tcPr>
                        <a:blipFill>
                          <a:blip r:embed="rId3"/>
                          <a:stretch>
                            <a:fillRect l="-666667" t="-3556" r="-318803" b="-181333"/>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5/3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-7/3</a:t>
                          </a:r>
                        </a:p>
                      </a:txBody>
                      <a:tcPr/>
                    </a:tc>
                    <a:tc>
                      <a:txBody>
                        <a:bodyPr/>
                        <a:lstStyle/>
                        <a:p>
                          <a:pPr algn="ctr"/>
                          <a:r>
                            <a:rPr lang="en-US" dirty="0"/>
                            <a:t>0</a:t>
                          </a:r>
                        </a:p>
                      </a:txBody>
                      <a:tcPr/>
                    </a:tc>
                    <a:tc>
                      <a:txBody>
                        <a:bodyPr/>
                        <a:lstStyle/>
                        <a:p>
                          <a:pPr algn="ctr"/>
                          <a:r>
                            <a:rPr lang="en-US" dirty="0"/>
                            <a:t>2</a:t>
                          </a:r>
                        </a:p>
                      </a:txBody>
                      <a:tcPr/>
                    </a:tc>
                    <a:tc>
                      <a:txBody>
                        <a:bodyPr/>
                        <a:lstStyle/>
                        <a:p>
                          <a:pPr algn="ctr"/>
                          <a:endParaRPr lang="en-US" dirty="0"/>
                        </a:p>
                      </a:txBody>
                      <a:tcPr/>
                    </a:tc>
                    <a:extLst>
                      <a:ext uri="{0D108BD9-81ED-4DB2-BD59-A6C34878D82A}">
                        <a16:rowId xmlns:a16="http://schemas.microsoft.com/office/drawing/2014/main" val="3181063999"/>
                      </a:ext>
                    </a:extLst>
                  </a:tr>
                  <a:tr h="64008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4/3</a:t>
                          </a:r>
                        </a:p>
                      </a:txBody>
                      <a:tcPr/>
                    </a:tc>
                    <a:tc>
                      <a:txBody>
                        <a:bodyPr/>
                        <a:lstStyle/>
                        <a:p>
                          <a:pPr algn="ctr"/>
                          <a:r>
                            <a:rPr lang="en-US" dirty="0"/>
                            <a:t>0</a:t>
                          </a:r>
                        </a:p>
                      </a:txBody>
                      <a:tcPr/>
                    </a:tc>
                    <a:tc>
                      <a:txBody>
                        <a:bodyPr/>
                        <a:lstStyle/>
                        <a:p>
                          <a:endParaRPr lang="en-US"/>
                        </a:p>
                      </a:txBody>
                      <a:tcPr>
                        <a:blipFill>
                          <a:blip r:embed="rId3"/>
                          <a:stretch>
                            <a:fillRect l="-487500" t="-290566" r="-102717" b="-21415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val="3265417494"/>
                      </a:ext>
                    </a:extLst>
                  </a:tr>
                  <a:tr h="457200">
                    <a:tc>
                      <a:txBody>
                        <a:bodyPr/>
                        <a:lstStyle/>
                        <a:p>
                          <a:endParaRPr lang="en-US"/>
                        </a:p>
                      </a:txBody>
                      <a:tcPr>
                        <a:blipFill>
                          <a:blip r:embed="rId3"/>
                          <a:stretch>
                            <a:fillRect l="-725" t="-552000" r="-819565" b="-202667"/>
                          </a:stretch>
                        </a:blipFill>
                      </a:tcPr>
                    </a:tc>
                    <a:tc>
                      <a:txBody>
                        <a:bodyPr/>
                        <a:lstStyle/>
                        <a:p>
                          <a:pPr algn="ctr"/>
                          <a:r>
                            <a:rPr lang="en-US" dirty="0">
                              <a:solidFill>
                                <a:schemeClr val="tx1"/>
                              </a:solidFill>
                            </a:rPr>
                            <a:t>1</a:t>
                          </a:r>
                        </a:p>
                      </a:txBody>
                      <a:tcPr/>
                    </a:tc>
                    <a:tc>
                      <a:txBody>
                        <a:bodyPr/>
                        <a:lstStyle/>
                        <a:p>
                          <a:pPr algn="ctr"/>
                          <a:r>
                            <a:rPr lang="en-US" dirty="0">
                              <a:solidFill>
                                <a:schemeClr val="tx1"/>
                              </a:solidFill>
                            </a:rPr>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0</a:t>
                          </a:r>
                        </a:p>
                      </a:txBody>
                      <a:tcPr/>
                    </a:tc>
                    <a:tc>
                      <a:txBody>
                        <a:bodyPr/>
                        <a:lstStyle/>
                        <a:p>
                          <a:endParaRPr lang="en-US"/>
                        </a:p>
                      </a:txBody>
                      <a:tcPr>
                        <a:blipFill>
                          <a:blip r:embed="rId3"/>
                          <a:stretch>
                            <a:fillRect l="-487500" t="-552000" r="-102717" b="-202667"/>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1697728900"/>
                      </a:ext>
                    </a:extLst>
                  </a:tr>
                  <a:tr h="457200">
                    <a:tc>
                      <a:txBody>
                        <a:bodyPr/>
                        <a:lstStyle/>
                        <a:p>
                          <a:endParaRPr lang="en-US"/>
                        </a:p>
                      </a:txBody>
                      <a:tcPr>
                        <a:blipFill>
                          <a:blip r:embed="rId3"/>
                          <a:stretch>
                            <a:fillRect l="-725" t="-652000" r="-819565" b="-102667"/>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5/3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-4/3</a:t>
                          </a:r>
                        </a:p>
                      </a:txBody>
                      <a:tcPr/>
                    </a:tc>
                    <a:tc>
                      <a:txBody>
                        <a:bodyPr/>
                        <a:lstStyle/>
                        <a:p>
                          <a:pPr algn="ctr"/>
                          <a:r>
                            <a:rPr lang="en-US" dirty="0"/>
                            <a:t>1</a:t>
                          </a:r>
                        </a:p>
                      </a:txBody>
                      <a:tcPr/>
                    </a:tc>
                    <a:tc>
                      <a:txBody>
                        <a:bodyPr/>
                        <a:lstStyle/>
                        <a:p>
                          <a:pPr algn="ctr"/>
                          <a:r>
                            <a:rPr lang="en-US" dirty="0"/>
                            <a:t>2</a:t>
                          </a:r>
                        </a:p>
                      </a:txBody>
                      <a:tcPr/>
                    </a:tc>
                    <a:tc>
                      <a:txBody>
                        <a:bodyPr/>
                        <a:lstStyle/>
                        <a:p>
                          <a:pPr algn="ctr"/>
                          <a:endParaRPr lang="en-US" dirty="0"/>
                        </a:p>
                      </a:txBody>
                      <a:tcPr/>
                    </a:tc>
                    <a:extLst>
                      <a:ext uri="{0D108BD9-81ED-4DB2-BD59-A6C34878D82A}">
                        <a16:rowId xmlns:a16="http://schemas.microsoft.com/office/drawing/2014/main" val="110143584"/>
                      </a:ext>
                    </a:extLst>
                  </a:tr>
                  <a:tr h="457200">
                    <a:tc>
                      <a:txBody>
                        <a:bodyPr/>
                        <a:lstStyle/>
                        <a:p>
                          <a:endParaRPr lang="en-US"/>
                        </a:p>
                      </a:txBody>
                      <a:tcPr>
                        <a:blipFill>
                          <a:blip r:embed="rId3"/>
                          <a:stretch>
                            <a:fillRect l="-725" t="-752000" r="-819565" b="-2667"/>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5/3</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-1/3</a:t>
                          </a:r>
                        </a:p>
                      </a:txBody>
                      <a:tcPr/>
                    </a:tc>
                    <a:tc>
                      <a:txBody>
                        <a:bodyPr/>
                        <a:lstStyle/>
                        <a:p>
                          <a:pPr algn="ctr"/>
                          <a:r>
                            <a:rPr lang="en-US" dirty="0"/>
                            <a:t>0</a:t>
                          </a:r>
                        </a:p>
                      </a:txBody>
                      <a:tcPr/>
                    </a:tc>
                    <a:tc>
                      <a:txBody>
                        <a:bodyPr/>
                        <a:lstStyle/>
                        <a:p>
                          <a:pPr algn="ctr"/>
                          <a:r>
                            <a:rPr lang="en-US" dirty="0"/>
                            <a:t>3</a:t>
                          </a:r>
                        </a:p>
                      </a:txBody>
                      <a:tcPr/>
                    </a:tc>
                    <a:tc>
                      <a:txBody>
                        <a:bodyPr/>
                        <a:lstStyle/>
                        <a:p>
                          <a:pPr algn="ctr"/>
                          <a:endParaRPr lang="en-US" dirty="0"/>
                        </a:p>
                      </a:txBody>
                      <a:tcPr/>
                    </a:tc>
                    <a:extLst>
                      <a:ext uri="{0D108BD9-81ED-4DB2-BD59-A6C34878D82A}">
                        <a16:rowId xmlns:a16="http://schemas.microsoft.com/office/drawing/2014/main" val="3414884863"/>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xmlns="" id="{94D4203F-24AA-43F3-A0A6-8655BA618112}"/>
                  </a:ext>
                </a:extLst>
              </p:cNvPr>
              <p:cNvSpPr/>
              <p:nvPr/>
            </p:nvSpPr>
            <p:spPr>
              <a:xfrm>
                <a:off x="1955409" y="5915909"/>
                <a:ext cx="1299861" cy="400110"/>
              </a:xfrm>
              <a:prstGeom prst="rect">
                <a:avLst/>
              </a:prstGeom>
            </p:spPr>
            <p:txBody>
              <a:bodyPr wrap="square">
                <a:spAutoFit/>
              </a:bodyPr>
              <a:lstStyle/>
              <a:p>
                <a:pPr lvl="0" algn="ctr" defTabSz="914400"/>
                <a14:m>
                  <m:oMath xmlns:m="http://schemas.openxmlformats.org/officeDocument/2006/math">
                    <m:r>
                      <a:rPr lang="en-US" sz="2000" b="0" i="1" smtClean="0">
                        <a:solidFill>
                          <a:prstClr val="black"/>
                        </a:solidFill>
                        <a:latin typeface="Cambria Math" panose="02040503050406030204" pitchFamily="18" charset="0"/>
                      </a:rPr>
                      <m:t>𝑤</m:t>
                    </m:r>
                    <m:r>
                      <a:rPr lang="en-US" sz="2000" b="0" i="1" smtClean="0">
                        <a:solidFill>
                          <a:prstClr val="black"/>
                        </a:solidFill>
                        <a:latin typeface="Cambria Math" panose="02040503050406030204" pitchFamily="18" charset="0"/>
                      </a:rPr>
                      <m:t>−7</m:t>
                    </m:r>
                    <m:sSub>
                      <m:sSubPr>
                        <m:ctrlPr>
                          <a:rPr lang="en-US" sz="2000" i="1" smtClean="0">
                            <a:solidFill>
                              <a:srgbClr val="FF0000"/>
                            </a:solidFill>
                            <a:latin typeface="Cambria Math"/>
                            <a:cs typeface="Arial" panose="020B0604020202020204" pitchFamily="34" charset="0"/>
                          </a:rPr>
                        </m:ctrlPr>
                      </m:sSubPr>
                      <m:e>
                        <m:r>
                          <a:rPr lang="en-US" sz="2000" i="1">
                            <a:solidFill>
                              <a:srgbClr val="FF0000"/>
                            </a:solidFill>
                            <a:latin typeface="Cambria Math" panose="02040503050406030204" pitchFamily="18" charset="0"/>
                            <a:cs typeface="Arial" panose="020B0604020202020204" pitchFamily="34" charset="0"/>
                          </a:rPr>
                          <m:t>𝑥</m:t>
                        </m:r>
                      </m:e>
                      <m:sub>
                        <m:r>
                          <a:rPr lang="en-US" sz="2000" i="1">
                            <a:solidFill>
                              <a:srgbClr val="FF0000"/>
                            </a:solidFill>
                            <a:latin typeface="Cambria Math" panose="02040503050406030204" pitchFamily="18" charset="0"/>
                            <a:cs typeface="Arial" panose="020B0604020202020204" pitchFamily="34" charset="0"/>
                          </a:rPr>
                          <m:t>1</m:t>
                        </m:r>
                      </m:sub>
                    </m:sSub>
                  </m:oMath>
                </a14:m>
                <a:r>
                  <a:rPr lang="en-US" sz="2000" dirty="0">
                    <a:solidFill>
                      <a:prstClr val="black"/>
                    </a:solidFill>
                  </a:rPr>
                  <a:t>,</a:t>
                </a:r>
              </a:p>
            </p:txBody>
          </p:sp>
        </mc:Choice>
        <mc:Fallback xmlns="">
          <p:sp>
            <p:nvSpPr>
              <p:cNvPr id="5" name="Rectangle 4">
                <a:extLst>
                  <a:ext uri="{FF2B5EF4-FFF2-40B4-BE49-F238E27FC236}">
                    <a16:creationId xmlns:a16="http://schemas.microsoft.com/office/drawing/2014/main" id="{94D4203F-24AA-43F3-A0A6-8655BA618112}"/>
                  </a:ext>
                </a:extLst>
              </p:cNvPr>
              <p:cNvSpPr>
                <a:spLocks noRot="1" noChangeAspect="1" noMove="1" noResize="1" noEditPoints="1" noAdjustHandles="1" noChangeArrowheads="1" noChangeShapeType="1" noTextEdit="1"/>
              </p:cNvSpPr>
              <p:nvPr/>
            </p:nvSpPr>
            <p:spPr>
              <a:xfrm>
                <a:off x="1955409" y="5915909"/>
                <a:ext cx="1299861" cy="400110"/>
              </a:xfrm>
              <a:prstGeom prst="rect">
                <a:avLst/>
              </a:prstGeom>
              <a:blipFill>
                <a:blip r:embed="rId4"/>
                <a:stretch>
                  <a:fillRect t="-7576"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9AE28A62-E3C7-4764-81AA-6AC4FB921C17}"/>
                  </a:ext>
                </a:extLst>
              </p:cNvPr>
              <p:cNvSpPr/>
              <p:nvPr/>
            </p:nvSpPr>
            <p:spPr>
              <a:xfrm>
                <a:off x="3054758" y="5915909"/>
                <a:ext cx="1299861" cy="400110"/>
              </a:xfrm>
              <a:prstGeom prst="rect">
                <a:avLst/>
              </a:prstGeom>
            </p:spPr>
            <p:txBody>
              <a:bodyPr wrap="square">
                <a:spAutoFit/>
              </a:bodyPr>
              <a:lstStyle/>
              <a:p>
                <a:pPr lvl="0" algn="ctr" defTabSz="914400"/>
                <a14:m>
                  <m:oMath xmlns:m="http://schemas.openxmlformats.org/officeDocument/2006/math">
                    <m:r>
                      <a:rPr lang="en-US" sz="2000" b="0" i="1" smtClean="0">
                        <a:solidFill>
                          <a:prstClr val="black"/>
                        </a:solidFill>
                        <a:latin typeface="Cambria Math" panose="02040503050406030204" pitchFamily="18" charset="0"/>
                      </a:rPr>
                      <m:t>𝑧</m:t>
                    </m:r>
                    <m:r>
                      <a:rPr lang="en-US" sz="2000" b="0" i="1" smtClean="0">
                        <a:solidFill>
                          <a:prstClr val="black"/>
                        </a:solidFill>
                        <a:latin typeface="Cambria Math" panose="02040503050406030204" pitchFamily="18" charset="0"/>
                      </a:rPr>
                      <m:t>+4</m:t>
                    </m:r>
                    <m:sSub>
                      <m:sSubPr>
                        <m:ctrlPr>
                          <a:rPr lang="en-US" sz="2000" i="1">
                            <a:solidFill>
                              <a:prstClr val="black"/>
                            </a:solidFill>
                            <a:latin typeface="Cambria Math"/>
                            <a:cs typeface="Arial" panose="020B0604020202020204" pitchFamily="34" charset="0"/>
                          </a:rPr>
                        </m:ctrlPr>
                      </m:sSubPr>
                      <m:e>
                        <m:r>
                          <a:rPr lang="en-US" sz="2000" i="1">
                            <a:solidFill>
                              <a:prstClr val="black"/>
                            </a:solidFill>
                            <a:latin typeface="Cambria Math" panose="02040503050406030204" pitchFamily="18" charset="0"/>
                            <a:cs typeface="Arial" panose="020B0604020202020204" pitchFamily="34" charset="0"/>
                          </a:rPr>
                          <m:t>𝑥</m:t>
                        </m:r>
                      </m:e>
                      <m:sub>
                        <m:r>
                          <a:rPr lang="en-US" sz="2000" i="1">
                            <a:solidFill>
                              <a:prstClr val="black"/>
                            </a:solidFill>
                            <a:latin typeface="Cambria Math" panose="02040503050406030204" pitchFamily="18" charset="0"/>
                            <a:cs typeface="Arial" panose="020B0604020202020204" pitchFamily="34" charset="0"/>
                          </a:rPr>
                          <m:t>1</m:t>
                        </m:r>
                      </m:sub>
                    </m:sSub>
                  </m:oMath>
                </a14:m>
                <a:r>
                  <a:rPr lang="en-US" sz="2000" dirty="0">
                    <a:solidFill>
                      <a:prstClr val="black"/>
                    </a:solidFill>
                  </a:rPr>
                  <a:t>,</a:t>
                </a:r>
              </a:p>
            </p:txBody>
          </p:sp>
        </mc:Choice>
        <mc:Fallback xmlns="">
          <p:sp>
            <p:nvSpPr>
              <p:cNvPr id="8" name="Rectangle 7">
                <a:extLst>
                  <a:ext uri="{FF2B5EF4-FFF2-40B4-BE49-F238E27FC236}">
                    <a16:creationId xmlns:a16="http://schemas.microsoft.com/office/drawing/2014/main" id="{9AE28A62-E3C7-4764-81AA-6AC4FB921C17}"/>
                  </a:ext>
                </a:extLst>
              </p:cNvPr>
              <p:cNvSpPr>
                <a:spLocks noRot="1" noChangeAspect="1" noMove="1" noResize="1" noEditPoints="1" noAdjustHandles="1" noChangeArrowheads="1" noChangeShapeType="1" noTextEdit="1"/>
              </p:cNvSpPr>
              <p:nvPr/>
            </p:nvSpPr>
            <p:spPr>
              <a:xfrm>
                <a:off x="3054758" y="5915909"/>
                <a:ext cx="1299861" cy="400110"/>
              </a:xfrm>
              <a:prstGeom prst="rect">
                <a:avLst/>
              </a:prstGeom>
              <a:blipFill>
                <a:blip r:embed="rId5"/>
                <a:stretch>
                  <a:fillRect t="-7576"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xmlns="" id="{84D4869B-0125-4CD3-BCB8-E87AECE75DE9}"/>
                  </a:ext>
                </a:extLst>
              </p:cNvPr>
              <p:cNvSpPr/>
              <p:nvPr/>
            </p:nvSpPr>
            <p:spPr>
              <a:xfrm>
                <a:off x="4154107" y="5915909"/>
                <a:ext cx="1299861" cy="400110"/>
              </a:xfrm>
              <a:prstGeom prst="rect">
                <a:avLst/>
              </a:prstGeom>
            </p:spPr>
            <p:txBody>
              <a:bodyPr wrap="square">
                <a:spAutoFit/>
              </a:bodyPr>
              <a:lstStyle/>
              <a:p>
                <a:pPr lvl="0" algn="ctr" defTabSz="914400"/>
                <a14:m>
                  <m:oMath xmlns:m="http://schemas.openxmlformats.org/officeDocument/2006/math">
                    <m:r>
                      <a:rPr lang="en-US" sz="2000" i="1" smtClean="0">
                        <a:solidFill>
                          <a:prstClr val="black"/>
                        </a:solidFill>
                        <a:latin typeface="Cambria Math" panose="02040503050406030204" pitchFamily="18" charset="0"/>
                        <a:cs typeface="Arial" panose="020B0604020202020204" pitchFamily="34" charset="0"/>
                      </a:rPr>
                      <m:t> </m:t>
                    </m:r>
                    <m:r>
                      <a:rPr lang="en-US" sz="2000" b="0" i="1" smtClean="0">
                        <a:solidFill>
                          <a:prstClr val="black"/>
                        </a:solidFill>
                        <a:latin typeface="Cambria Math" panose="02040503050406030204" pitchFamily="18" charset="0"/>
                        <a:cs typeface="Arial" panose="020B0604020202020204" pitchFamily="34" charset="0"/>
                      </a:rPr>
                      <m:t>𝐴</m:t>
                    </m:r>
                    <m:r>
                      <a:rPr lang="en-US" sz="2000" b="0" i="1" smtClean="0">
                        <a:solidFill>
                          <a:prstClr val="black"/>
                        </a:solidFill>
                        <a:latin typeface="Cambria Math" panose="02040503050406030204" pitchFamily="18" charset="0"/>
                        <a:cs typeface="Arial" panose="020B0604020202020204" pitchFamily="34" charset="0"/>
                      </a:rPr>
                      <m:t>2−4</m:t>
                    </m:r>
                    <m:sSub>
                      <m:sSubPr>
                        <m:ctrlPr>
                          <a:rPr lang="en-US" sz="2000" i="1" smtClean="0">
                            <a:solidFill>
                              <a:srgbClr val="FF0000"/>
                            </a:solidFill>
                            <a:latin typeface="Cambria Math"/>
                            <a:cs typeface="Arial" panose="020B0604020202020204" pitchFamily="34" charset="0"/>
                          </a:rPr>
                        </m:ctrlPr>
                      </m:sSubPr>
                      <m:e>
                        <m:r>
                          <a:rPr lang="en-US" sz="2000" i="1">
                            <a:solidFill>
                              <a:srgbClr val="FF0000"/>
                            </a:solidFill>
                            <a:latin typeface="Cambria Math" panose="02040503050406030204" pitchFamily="18" charset="0"/>
                            <a:cs typeface="Arial" panose="020B0604020202020204" pitchFamily="34" charset="0"/>
                          </a:rPr>
                          <m:t>𝑥</m:t>
                        </m:r>
                      </m:e>
                      <m:sub>
                        <m:r>
                          <a:rPr lang="en-US" sz="2000" i="1">
                            <a:solidFill>
                              <a:srgbClr val="FF0000"/>
                            </a:solidFill>
                            <a:latin typeface="Cambria Math" panose="02040503050406030204" pitchFamily="18" charset="0"/>
                            <a:cs typeface="Arial" panose="020B0604020202020204" pitchFamily="34" charset="0"/>
                          </a:rPr>
                          <m:t>1</m:t>
                        </m:r>
                      </m:sub>
                    </m:sSub>
                  </m:oMath>
                </a14:m>
                <a:r>
                  <a:rPr lang="en-US" sz="2000" dirty="0">
                    <a:solidFill>
                      <a:prstClr val="black"/>
                    </a:solidFill>
                  </a:rPr>
                  <a:t>,</a:t>
                </a:r>
              </a:p>
            </p:txBody>
          </p:sp>
        </mc:Choice>
        <mc:Fallback xmlns="">
          <p:sp>
            <p:nvSpPr>
              <p:cNvPr id="9" name="Rectangle 8">
                <a:extLst>
                  <a:ext uri="{FF2B5EF4-FFF2-40B4-BE49-F238E27FC236}">
                    <a16:creationId xmlns="" xmlns:a16="http://schemas.microsoft.com/office/drawing/2014/main" xmlns:a14="http://schemas.microsoft.com/office/drawing/2010/main" id="{84D4869B-0125-4CD3-BCB8-E87AECE75DE9}"/>
                  </a:ext>
                </a:extLst>
              </p:cNvPr>
              <p:cNvSpPr>
                <a:spLocks noRot="1" noChangeAspect="1" noMove="1" noResize="1" noEditPoints="1" noAdjustHandles="1" noChangeArrowheads="1" noChangeShapeType="1" noTextEdit="1"/>
              </p:cNvSpPr>
              <p:nvPr/>
            </p:nvSpPr>
            <p:spPr>
              <a:xfrm>
                <a:off x="4154107" y="5915909"/>
                <a:ext cx="1299861" cy="400110"/>
              </a:xfrm>
              <a:prstGeom prst="rect">
                <a:avLst/>
              </a:prstGeom>
              <a:blipFill rotWithShape="1">
                <a:blip r:embed="rId6"/>
                <a:stretch>
                  <a:fillRect t="-7576" r="-9813" b="-2575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xmlns="" id="{81AA053B-8D5E-4A81-A835-FC49C942326B}"/>
                  </a:ext>
                </a:extLst>
              </p:cNvPr>
              <p:cNvSpPr/>
              <p:nvPr/>
            </p:nvSpPr>
            <p:spPr>
              <a:xfrm>
                <a:off x="5296334" y="5915909"/>
                <a:ext cx="1299861" cy="400110"/>
              </a:xfrm>
              <a:prstGeom prst="rect">
                <a:avLst/>
              </a:prstGeom>
            </p:spPr>
            <p:txBody>
              <a:bodyPr wrap="square">
                <a:spAutoFit/>
              </a:bodyPr>
              <a:lstStyle/>
              <a:p>
                <a:pPr lvl="0" algn="ctr" defTabSz="914400"/>
                <a:r>
                  <a:rPr lang="en-US" sz="2000" dirty="0">
                    <a:solidFill>
                      <a:prstClr val="black"/>
                    </a:solidFill>
                  </a:rPr>
                  <a:t>S</a:t>
                </a:r>
                <a:r>
                  <a:rPr lang="en-US" sz="2000" b="0" dirty="0">
                    <a:solidFill>
                      <a:prstClr val="black"/>
                    </a:solidFill>
                  </a:rPr>
                  <a:t>2</a:t>
                </a:r>
                <a14:m>
                  <m:oMath xmlns:m="http://schemas.openxmlformats.org/officeDocument/2006/math">
                    <m:r>
                      <a:rPr lang="en-US" sz="2000" b="0" i="1" smtClean="0">
                        <a:solidFill>
                          <a:prstClr val="black"/>
                        </a:solidFill>
                        <a:latin typeface="Cambria Math" panose="02040503050406030204" pitchFamily="18" charset="0"/>
                      </a:rPr>
                      <m:t>−</m:t>
                    </m:r>
                    <m:sSub>
                      <m:sSubPr>
                        <m:ctrlPr>
                          <a:rPr lang="en-US" sz="2000" i="1" smtClean="0">
                            <a:solidFill>
                              <a:srgbClr val="FF0000"/>
                            </a:solidFill>
                            <a:latin typeface="Cambria Math"/>
                            <a:cs typeface="Arial" panose="020B0604020202020204" pitchFamily="34" charset="0"/>
                          </a:rPr>
                        </m:ctrlPr>
                      </m:sSubPr>
                      <m:e>
                        <m:r>
                          <a:rPr lang="en-US" sz="2000" i="1">
                            <a:solidFill>
                              <a:srgbClr val="FF0000"/>
                            </a:solidFill>
                            <a:latin typeface="Cambria Math" panose="02040503050406030204" pitchFamily="18" charset="0"/>
                            <a:cs typeface="Arial" panose="020B0604020202020204" pitchFamily="34" charset="0"/>
                          </a:rPr>
                          <m:t>𝑥</m:t>
                        </m:r>
                      </m:e>
                      <m:sub>
                        <m:r>
                          <a:rPr lang="en-US" sz="2000" i="1">
                            <a:solidFill>
                              <a:srgbClr val="FF0000"/>
                            </a:solidFill>
                            <a:latin typeface="Cambria Math" panose="02040503050406030204" pitchFamily="18" charset="0"/>
                            <a:cs typeface="Arial" panose="020B0604020202020204" pitchFamily="34" charset="0"/>
                          </a:rPr>
                          <m:t>1</m:t>
                        </m:r>
                      </m:sub>
                    </m:sSub>
                  </m:oMath>
                </a14:m>
                <a:endParaRPr lang="en-US" sz="2000" dirty="0">
                  <a:solidFill>
                    <a:prstClr val="black"/>
                  </a:solidFill>
                </a:endParaRPr>
              </a:p>
            </p:txBody>
          </p:sp>
        </mc:Choice>
        <mc:Fallback xmlns="">
          <p:sp>
            <p:nvSpPr>
              <p:cNvPr id="10" name="Rectangle 9">
                <a:extLst>
                  <a:ext uri="{FF2B5EF4-FFF2-40B4-BE49-F238E27FC236}">
                    <a16:creationId xmlns:a16="http://schemas.microsoft.com/office/drawing/2014/main" id="{81AA053B-8D5E-4A81-A835-FC49C942326B}"/>
                  </a:ext>
                </a:extLst>
              </p:cNvPr>
              <p:cNvSpPr>
                <a:spLocks noRot="1" noChangeAspect="1" noMove="1" noResize="1" noEditPoints="1" noAdjustHandles="1" noChangeArrowheads="1" noChangeShapeType="1" noTextEdit="1"/>
              </p:cNvSpPr>
              <p:nvPr/>
            </p:nvSpPr>
            <p:spPr>
              <a:xfrm>
                <a:off x="5296334" y="5915909"/>
                <a:ext cx="1299861" cy="400110"/>
              </a:xfrm>
              <a:prstGeom prst="rect">
                <a:avLst/>
              </a:prstGeom>
              <a:blipFill>
                <a:blip r:embed="rId7"/>
                <a:stretch>
                  <a:fillRect t="-7576" b="-25758"/>
                </a:stretch>
              </a:blipFill>
            </p:spPr>
            <p:txBody>
              <a:bodyPr/>
              <a:lstStyle/>
              <a:p>
                <a:r>
                  <a:rPr lang="en-US">
                    <a:noFill/>
                  </a:rPr>
                  <a:t> </a:t>
                </a:r>
              </a:p>
            </p:txBody>
          </p:sp>
        </mc:Fallback>
      </mc:AlternateContent>
    </p:spTree>
    <p:extLst>
      <p:ext uri="{BB962C8B-B14F-4D97-AF65-F5344CB8AC3E}">
        <p14:creationId xmlns:p14="http://schemas.microsoft.com/office/powerpoint/2010/main" val="3347825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𝑤</m:t>
                      </m:r>
                      <m:r>
                        <a:rPr lang="en-US" sz="2000" i="1" dirty="0">
                          <a:solidFill>
                            <a:prstClr val="black"/>
                          </a:solidFill>
                          <a:effectLst/>
                          <a:latin typeface="Cambria Math" panose="02040503050406030204" pitchFamily="18" charset="0"/>
                        </a:rPr>
                        <m:t>−7</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𝑧</m:t>
                      </m:r>
                      <m:r>
                        <a:rPr lang="en-US" sz="2000" i="1" dirty="0">
                          <a:solidFill>
                            <a:prstClr val="black"/>
                          </a:solidFill>
                          <a:effectLst/>
                          <a:latin typeface="Cambria Math" panose="02040503050406030204" pitchFamily="18" charset="0"/>
                        </a:rPr>
                        <m:t>+4</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nvGraphicFramePr>
            <p:xfrm>
              <a:off x="718229" y="1872004"/>
              <a:ext cx="7705160" cy="487134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913143">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792992">
                      <a:extLst>
                        <a:ext uri="{9D8B030D-6E8A-4147-A177-3AD203B41FA5}">
                          <a16:colId xmlns:a16="http://schemas.microsoft.com/office/drawing/2014/main" xmlns="" val="457432290"/>
                        </a:ext>
                      </a:extLst>
                    </a:gridCol>
                    <a:gridCol w="708887">
                      <a:extLst>
                        <a:ext uri="{9D8B030D-6E8A-4147-A177-3AD203B41FA5}">
                          <a16:colId xmlns:a16="http://schemas.microsoft.com/office/drawing/2014/main" xmlns="" val="2791127480"/>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5/3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-7/3</a:t>
                          </a:r>
                        </a:p>
                      </a:txBody>
                      <a:tcPr/>
                    </a:tc>
                    <a:tc>
                      <a:txBody>
                        <a:bodyPr/>
                        <a:lstStyle/>
                        <a:p>
                          <a:pPr algn="ctr"/>
                          <a:r>
                            <a:rPr lang="en-US" dirty="0"/>
                            <a:t>0</a:t>
                          </a:r>
                        </a:p>
                      </a:txBody>
                      <a:tcPr/>
                    </a:tc>
                    <a:tc>
                      <a:txBody>
                        <a:bodyPr/>
                        <a:lstStyle/>
                        <a:p>
                          <a:pPr algn="ctr"/>
                          <a:r>
                            <a:rPr lang="en-US" dirty="0"/>
                            <a:t>2</a:t>
                          </a:r>
                        </a:p>
                      </a:txBody>
                      <a:tcPr/>
                    </a:tc>
                    <a:tc>
                      <a:txBody>
                        <a:bodyPr/>
                        <a:lstStyle/>
                        <a:p>
                          <a:pPr algn="ctr"/>
                          <a:endParaRPr lang="en-US" dirty="0"/>
                        </a:p>
                      </a:txBody>
                      <a:tcPr/>
                    </a:tc>
                    <a:extLst>
                      <a:ext uri="{0D108BD9-81ED-4DB2-BD59-A6C34878D82A}">
                        <a16:rowId xmlns:a16="http://schemas.microsoft.com/office/drawing/2014/main" xmlns="" val="3181063999"/>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4/3</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4</m:t>
                                </m:r>
                              </m:oMath>
                            </m:oMathPara>
                          </a14:m>
                          <a:endParaRPr lang="en-US"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1</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US"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oMath>
                            </m:oMathPara>
                          </a14:m>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2</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5/3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-4/3</a:t>
                          </a:r>
                        </a:p>
                      </a:txBody>
                      <a:tcPr/>
                    </a:tc>
                    <a:tc>
                      <a:txBody>
                        <a:bodyPr/>
                        <a:lstStyle/>
                        <a:p>
                          <a:pPr algn="ctr"/>
                          <a:r>
                            <a:rPr lang="en-US" dirty="0"/>
                            <a:t>1</a:t>
                          </a:r>
                        </a:p>
                      </a:txBody>
                      <a:tcPr/>
                    </a:tc>
                    <a:tc>
                      <a:txBody>
                        <a:bodyPr/>
                        <a:lstStyle/>
                        <a:p>
                          <a:pPr algn="ctr"/>
                          <a:r>
                            <a:rPr lang="en-US"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smtClean="0">
                                        <a:ln>
                                          <a:noFill/>
                                        </a:ln>
                                        <a:solidFill>
                                          <a:srgbClr val="FF0000"/>
                                        </a:solidFill>
                                        <a:effectLst/>
                                        <a:uLnTx/>
                                        <a:uFillTx/>
                                        <a:latin typeface="Cambria Math"/>
                                        <a:ea typeface="+mn-ea"/>
                                        <a:cs typeface="+mn-cs"/>
                                      </a:rPr>
                                    </m:ctrlPr>
                                  </m:fPr>
                                  <m:num>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6</m:t>
                                    </m:r>
                                  </m:num>
                                  <m:den>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5</m:t>
                                    </m:r>
                                  </m:den>
                                </m:f>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=1.2</m:t>
                                </m:r>
                              </m:oMath>
                            </m:oMathPara>
                          </a14:m>
                          <a:endParaRPr kumimoji="0" lang="en-US" sz="1800" b="0" i="0" u="none" strike="noStrike" kern="1200" cap="none" spc="0" normalizeH="0" baseline="0" noProof="0" dirty="0">
                            <a:ln>
                              <a:noFill/>
                            </a:ln>
                            <a:solidFill>
                              <a:srgbClr val="FF0000"/>
                            </a:solidFill>
                            <a:effectLst/>
                            <a:uLnTx/>
                            <a:uFillTx/>
                            <a:latin typeface="+mn-lt"/>
                            <a:ea typeface="+mn-ea"/>
                            <a:cs typeface="+mn-cs"/>
                          </a:endParaRPr>
                        </a:p>
                        <a:p>
                          <a:pPr algn="ctr"/>
                          <a:endParaRPr lang="en-US" dirty="0"/>
                        </a:p>
                      </a:txBody>
                      <a:tcPr/>
                    </a:tc>
                    <a:extLst>
                      <a:ext uri="{0D108BD9-81ED-4DB2-BD59-A6C34878D82A}">
                        <a16:rowId xmlns:a16="http://schemas.microsoft.com/office/drawing/2014/main" xmlns="" val="11014358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5/3</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-1/3</a:t>
                          </a:r>
                        </a:p>
                      </a:txBody>
                      <a:tcPr/>
                    </a:tc>
                    <a:tc>
                      <a:txBody>
                        <a:bodyPr/>
                        <a:lstStyle/>
                        <a:p>
                          <a:pPr algn="ctr"/>
                          <a:r>
                            <a:rPr lang="en-US" dirty="0"/>
                            <a:t>0</a:t>
                          </a:r>
                        </a:p>
                      </a:txBody>
                      <a:tcPr/>
                    </a:tc>
                    <a:tc>
                      <a:txBody>
                        <a:bodyPr/>
                        <a:lstStyle/>
                        <a:p>
                          <a:pPr algn="ctr"/>
                          <a:r>
                            <a:rPr lang="en-US"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smtClean="0">
                                        <a:ln>
                                          <a:noFill/>
                                        </a:ln>
                                        <a:solidFill>
                                          <a:prstClr val="black"/>
                                        </a:solidFill>
                                        <a:effectLst/>
                                        <a:uLnTx/>
                                        <a:uFillTx/>
                                        <a:latin typeface="Cambria Math"/>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m:t>
                                    </m:r>
                                  </m:num>
                                  <m:den>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den>
                                </m:f>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=1.8</m:t>
                                </m:r>
                              </m:oMath>
                            </m:oMathPara>
                          </a14:m>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a16="http://schemas.microsoft.com/office/drawing/2014/main" id="{363C6AA0-D659-4938-81F4-B7B5A22D8D24}"/>
                  </a:ext>
                </a:extLst>
              </p:cNvPr>
              <p:cNvGraphicFramePr>
                <a:graphicFrameLocks noGrp="1"/>
              </p:cNvGraphicFramePr>
              <p:nvPr/>
            </p:nvGraphicFramePr>
            <p:xfrm>
              <a:off x="718229" y="1872004"/>
              <a:ext cx="7705160" cy="487134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32917">
                      <a:extLst>
                        <a:ext uri="{9D8B030D-6E8A-4147-A177-3AD203B41FA5}">
                          <a16:colId xmlns:a16="http://schemas.microsoft.com/office/drawing/2014/main" val="1852071440"/>
                        </a:ext>
                      </a:extLst>
                    </a:gridCol>
                    <a:gridCol w="913143">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792992">
                      <a:extLst>
                        <a:ext uri="{9D8B030D-6E8A-4147-A177-3AD203B41FA5}">
                          <a16:colId xmlns:a16="http://schemas.microsoft.com/office/drawing/2014/main" val="457432290"/>
                        </a:ext>
                      </a:extLst>
                    </a:gridCol>
                    <a:gridCol w="708887">
                      <a:extLst>
                        <a:ext uri="{9D8B030D-6E8A-4147-A177-3AD203B41FA5}">
                          <a16:colId xmlns:a16="http://schemas.microsoft.com/office/drawing/2014/main" val="2791127480"/>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3"/>
                          <a:stretch>
                            <a:fillRect l="-129907" t="-3556" r="-957009" b="-256444"/>
                          </a:stretch>
                        </a:blipFill>
                      </a:tcPr>
                    </a:tc>
                    <a:tc>
                      <a:txBody>
                        <a:bodyPr/>
                        <a:lstStyle/>
                        <a:p>
                          <a:endParaRPr lang="en-US"/>
                        </a:p>
                      </a:txBody>
                      <a:tcPr>
                        <a:blipFill>
                          <a:blip r:embed="rId3"/>
                          <a:stretch>
                            <a:fillRect l="-205000" t="-3556" r="-753333" b="-256444"/>
                          </a:stretch>
                        </a:blipFill>
                      </a:tcPr>
                    </a:tc>
                    <a:tc>
                      <a:txBody>
                        <a:bodyPr/>
                        <a:lstStyle/>
                        <a:p>
                          <a:endParaRPr lang="en-US"/>
                        </a:p>
                      </a:txBody>
                      <a:tcPr>
                        <a:blipFill>
                          <a:blip r:embed="rId3"/>
                          <a:stretch>
                            <a:fillRect l="-244000" t="-3556" r="-502667" b="-256444"/>
                          </a:stretch>
                        </a:blipFill>
                      </a:tcPr>
                    </a:tc>
                    <a:tc>
                      <a:txBody>
                        <a:bodyPr/>
                        <a:lstStyle/>
                        <a:p>
                          <a:endParaRPr lang="en-US"/>
                        </a:p>
                      </a:txBody>
                      <a:tcPr>
                        <a:blipFill>
                          <a:blip r:embed="rId3"/>
                          <a:stretch>
                            <a:fillRect l="-385075" t="-3556" r="-462687" b="-256444"/>
                          </a:stretch>
                        </a:blipFill>
                      </a:tcPr>
                    </a:tc>
                    <a:tc>
                      <a:txBody>
                        <a:bodyPr/>
                        <a:lstStyle/>
                        <a:p>
                          <a:endParaRPr lang="en-US"/>
                        </a:p>
                      </a:txBody>
                      <a:tcPr>
                        <a:blipFill>
                          <a:blip r:embed="rId3"/>
                          <a:stretch>
                            <a:fillRect l="-500000" t="-3556" r="-376923" b="-256444"/>
                          </a:stretch>
                        </a:blipFill>
                      </a:tcPr>
                    </a:tc>
                    <a:tc>
                      <a:txBody>
                        <a:bodyPr/>
                        <a:lstStyle/>
                        <a:p>
                          <a:endParaRPr lang="en-US"/>
                        </a:p>
                      </a:txBody>
                      <a:tcPr>
                        <a:blipFill>
                          <a:blip r:embed="rId3"/>
                          <a:stretch>
                            <a:fillRect l="-666667" t="-3556" r="-318803" b="-256444"/>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5/3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-7/3</a:t>
                          </a:r>
                        </a:p>
                      </a:txBody>
                      <a:tcPr/>
                    </a:tc>
                    <a:tc>
                      <a:txBody>
                        <a:bodyPr/>
                        <a:lstStyle/>
                        <a:p>
                          <a:pPr algn="ctr"/>
                          <a:r>
                            <a:rPr lang="en-US" dirty="0"/>
                            <a:t>0</a:t>
                          </a:r>
                        </a:p>
                      </a:txBody>
                      <a:tcPr/>
                    </a:tc>
                    <a:tc>
                      <a:txBody>
                        <a:bodyPr/>
                        <a:lstStyle/>
                        <a:p>
                          <a:pPr algn="ctr"/>
                          <a:r>
                            <a:rPr lang="en-US" dirty="0"/>
                            <a:t>2</a:t>
                          </a:r>
                        </a:p>
                      </a:txBody>
                      <a:tcPr/>
                    </a:tc>
                    <a:tc>
                      <a:txBody>
                        <a:bodyPr/>
                        <a:lstStyle/>
                        <a:p>
                          <a:pPr algn="ctr"/>
                          <a:endParaRPr lang="en-US" dirty="0"/>
                        </a:p>
                      </a:txBody>
                      <a:tcPr/>
                    </a:tc>
                    <a:extLst>
                      <a:ext uri="{0D108BD9-81ED-4DB2-BD59-A6C34878D82A}">
                        <a16:rowId xmlns:a16="http://schemas.microsoft.com/office/drawing/2014/main" val="3181063999"/>
                      </a:ext>
                    </a:extLst>
                  </a:tr>
                  <a:tr h="64008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4/3</a:t>
                          </a:r>
                        </a:p>
                      </a:txBody>
                      <a:tcPr/>
                    </a:tc>
                    <a:tc>
                      <a:txBody>
                        <a:bodyPr/>
                        <a:lstStyle/>
                        <a:p>
                          <a:pPr algn="ctr"/>
                          <a:r>
                            <a:rPr lang="en-US" dirty="0"/>
                            <a:t>0</a:t>
                          </a:r>
                        </a:p>
                      </a:txBody>
                      <a:tcPr/>
                    </a:tc>
                    <a:tc>
                      <a:txBody>
                        <a:bodyPr/>
                        <a:lstStyle/>
                        <a:p>
                          <a:endParaRPr lang="en-US"/>
                        </a:p>
                      </a:txBody>
                      <a:tcPr>
                        <a:blipFill>
                          <a:blip r:embed="rId3"/>
                          <a:stretch>
                            <a:fillRect l="-487500" t="-293333" r="-102717" b="-378095"/>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val="3265417494"/>
                      </a:ext>
                    </a:extLst>
                  </a:tr>
                  <a:tr h="640080">
                    <a:tc>
                      <a:txBody>
                        <a:bodyPr/>
                        <a:lstStyle/>
                        <a:p>
                          <a:endParaRPr lang="en-US"/>
                        </a:p>
                      </a:txBody>
                      <a:tcPr>
                        <a:blipFill>
                          <a:blip r:embed="rId3"/>
                          <a:stretch>
                            <a:fillRect l="-725" t="-389623" r="-819565" b="-274528"/>
                          </a:stretch>
                        </a:blipFill>
                      </a:tcPr>
                    </a:tc>
                    <a:tc>
                      <a:txBody>
                        <a:bodyPr/>
                        <a:lstStyle/>
                        <a:p>
                          <a:pPr algn="ctr"/>
                          <a:r>
                            <a:rPr lang="en-US" dirty="0">
                              <a:solidFill>
                                <a:schemeClr val="tx1"/>
                              </a:solidFill>
                            </a:rPr>
                            <a:t>1</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0</a:t>
                          </a:r>
                        </a:p>
                      </a:txBody>
                      <a:tcPr/>
                    </a:tc>
                    <a:tc>
                      <a:txBody>
                        <a:bodyPr/>
                        <a:lstStyle/>
                        <a:p>
                          <a:endParaRPr lang="en-US"/>
                        </a:p>
                      </a:txBody>
                      <a:tcPr>
                        <a:blipFill>
                          <a:blip r:embed="rId3"/>
                          <a:stretch>
                            <a:fillRect l="-487500" t="-389623" r="-102717" b="-274528"/>
                          </a:stretch>
                        </a:blipFill>
                      </a:tcPr>
                    </a:tc>
                    <a:tc>
                      <a:txBody>
                        <a:bodyPr/>
                        <a:lstStyle/>
                        <a:p>
                          <a:endParaRPr lang="en-US"/>
                        </a:p>
                      </a:txBody>
                      <a:tcPr>
                        <a:blipFill>
                          <a:blip r:embed="rId3"/>
                          <a:stretch>
                            <a:fillRect l="-584324" t="-389623" r="-2162" b="-274528"/>
                          </a:stretch>
                        </a:blipFill>
                      </a:tcPr>
                    </a:tc>
                    <a:extLst>
                      <a:ext uri="{0D108BD9-81ED-4DB2-BD59-A6C34878D82A}">
                        <a16:rowId xmlns:a16="http://schemas.microsoft.com/office/drawing/2014/main" val="1697728900"/>
                      </a:ext>
                    </a:extLst>
                  </a:tr>
                  <a:tr h="881190">
                    <a:tc>
                      <a:txBody>
                        <a:bodyPr/>
                        <a:lstStyle/>
                        <a:p>
                          <a:endParaRPr lang="en-US"/>
                        </a:p>
                      </a:txBody>
                      <a:tcPr>
                        <a:blipFill>
                          <a:blip r:embed="rId3"/>
                          <a:stretch>
                            <a:fillRect l="-725" t="-360417" r="-819565" b="-102083"/>
                          </a:stretch>
                        </a:blipFill>
                      </a:tcPr>
                    </a:tc>
                    <a:tc>
                      <a:txBody>
                        <a:bodyPr/>
                        <a:lstStyle/>
                        <a:p>
                          <a:pPr algn="ctr"/>
                          <a:r>
                            <a:rPr lang="en-US" dirty="0">
                              <a:solidFill>
                                <a:schemeClr val="tx1"/>
                              </a:solidFill>
                            </a:rPr>
                            <a:t>0</a:t>
                          </a:r>
                        </a:p>
                      </a:txBody>
                      <a:tcPr/>
                    </a:tc>
                    <a:tc>
                      <a:txBody>
                        <a:bodyPr/>
                        <a:lstStyle/>
                        <a:p>
                          <a:pPr algn="ctr"/>
                          <a:r>
                            <a:rPr lang="en-US" dirty="0">
                              <a:solidFill>
                                <a:srgbClr val="FF0000"/>
                              </a:solidFill>
                            </a:rPr>
                            <a:t>5/3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-4/3</a:t>
                          </a:r>
                        </a:p>
                      </a:txBody>
                      <a:tcPr/>
                    </a:tc>
                    <a:tc>
                      <a:txBody>
                        <a:bodyPr/>
                        <a:lstStyle/>
                        <a:p>
                          <a:pPr algn="ctr"/>
                          <a:r>
                            <a:rPr lang="en-US" dirty="0"/>
                            <a:t>1</a:t>
                          </a:r>
                        </a:p>
                      </a:txBody>
                      <a:tcPr/>
                    </a:tc>
                    <a:tc>
                      <a:txBody>
                        <a:bodyPr/>
                        <a:lstStyle/>
                        <a:p>
                          <a:pPr algn="ctr"/>
                          <a:r>
                            <a:rPr lang="en-US" dirty="0"/>
                            <a:t>2</a:t>
                          </a:r>
                        </a:p>
                      </a:txBody>
                      <a:tcPr/>
                    </a:tc>
                    <a:tc>
                      <a:txBody>
                        <a:bodyPr/>
                        <a:lstStyle/>
                        <a:p>
                          <a:endParaRPr lang="en-US"/>
                        </a:p>
                      </a:txBody>
                      <a:tcPr>
                        <a:blipFill>
                          <a:blip r:embed="rId3"/>
                          <a:stretch>
                            <a:fillRect l="-584324" t="-360417" r="-2162" b="-102083"/>
                          </a:stretch>
                        </a:blipFill>
                      </a:tcPr>
                    </a:tc>
                    <a:extLst>
                      <a:ext uri="{0D108BD9-81ED-4DB2-BD59-A6C34878D82A}">
                        <a16:rowId xmlns:a16="http://schemas.microsoft.com/office/drawing/2014/main" val="110143584"/>
                      </a:ext>
                    </a:extLst>
                  </a:tr>
                  <a:tr h="881190">
                    <a:tc>
                      <a:txBody>
                        <a:bodyPr/>
                        <a:lstStyle/>
                        <a:p>
                          <a:endParaRPr lang="en-US"/>
                        </a:p>
                      </a:txBody>
                      <a:tcPr>
                        <a:blipFill>
                          <a:blip r:embed="rId3"/>
                          <a:stretch>
                            <a:fillRect l="-725" t="-457241" r="-819565" b="-1379"/>
                          </a:stretch>
                        </a:blipFill>
                      </a:tcPr>
                    </a:tc>
                    <a:tc>
                      <a:txBody>
                        <a:bodyPr/>
                        <a:lstStyle/>
                        <a:p>
                          <a:pPr algn="ctr"/>
                          <a:r>
                            <a:rPr lang="en-US" dirty="0">
                              <a:solidFill>
                                <a:schemeClr val="tx1"/>
                              </a:solidFill>
                            </a:rPr>
                            <a:t>0</a:t>
                          </a:r>
                        </a:p>
                      </a:txBody>
                      <a:tcPr/>
                    </a:tc>
                    <a:tc>
                      <a:txBody>
                        <a:bodyPr/>
                        <a:lstStyle/>
                        <a:p>
                          <a:pPr algn="ctr"/>
                          <a:r>
                            <a:rPr lang="en-US" dirty="0">
                              <a:solidFill>
                                <a:srgbClr val="FF0000"/>
                              </a:solidFill>
                            </a:rPr>
                            <a:t>5/3</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-1/3</a:t>
                          </a:r>
                        </a:p>
                      </a:txBody>
                      <a:tcPr/>
                    </a:tc>
                    <a:tc>
                      <a:txBody>
                        <a:bodyPr/>
                        <a:lstStyle/>
                        <a:p>
                          <a:pPr algn="ctr"/>
                          <a:r>
                            <a:rPr lang="en-US" dirty="0"/>
                            <a:t>0</a:t>
                          </a:r>
                        </a:p>
                      </a:txBody>
                      <a:tcPr/>
                    </a:tc>
                    <a:tc>
                      <a:txBody>
                        <a:bodyPr/>
                        <a:lstStyle/>
                        <a:p>
                          <a:pPr algn="ctr"/>
                          <a:r>
                            <a:rPr lang="en-US" dirty="0"/>
                            <a:t>3</a:t>
                          </a:r>
                        </a:p>
                      </a:txBody>
                      <a:tcPr/>
                    </a:tc>
                    <a:tc>
                      <a:txBody>
                        <a:bodyPr/>
                        <a:lstStyle/>
                        <a:p>
                          <a:endParaRPr lang="en-US"/>
                        </a:p>
                      </a:txBody>
                      <a:tcPr>
                        <a:blipFill>
                          <a:blip r:embed="rId3"/>
                          <a:stretch>
                            <a:fillRect l="-584324" t="-457241" r="-2162" b="-1379"/>
                          </a:stretch>
                        </a:blipFill>
                      </a:tcPr>
                    </a:tc>
                    <a:extLst>
                      <a:ext uri="{0D108BD9-81ED-4DB2-BD59-A6C34878D82A}">
                        <a16:rowId xmlns:a16="http://schemas.microsoft.com/office/drawing/2014/main" val="3414884863"/>
                      </a:ext>
                    </a:extLst>
                  </a:tr>
                </a:tbl>
              </a:graphicData>
            </a:graphic>
          </p:graphicFrame>
        </mc:Fallback>
      </mc:AlternateContent>
    </p:spTree>
    <p:extLst>
      <p:ext uri="{BB962C8B-B14F-4D97-AF65-F5344CB8AC3E}">
        <p14:creationId xmlns:p14="http://schemas.microsoft.com/office/powerpoint/2010/main" val="25274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𝑤</m:t>
                      </m:r>
                      <m:r>
                        <a:rPr lang="en-US" sz="2000" i="1" dirty="0">
                          <a:solidFill>
                            <a:prstClr val="black"/>
                          </a:solidFill>
                          <a:effectLst/>
                          <a:latin typeface="Cambria Math" panose="02040503050406030204" pitchFamily="18" charset="0"/>
                        </a:rPr>
                        <m:t>−7</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𝑧</m:t>
                      </m:r>
                      <m:r>
                        <a:rPr lang="en-US" sz="2000" i="1" dirty="0">
                          <a:solidFill>
                            <a:prstClr val="black"/>
                          </a:solidFill>
                          <a:effectLst/>
                          <a:latin typeface="Cambria Math" panose="02040503050406030204" pitchFamily="18" charset="0"/>
                        </a:rPr>
                        <m:t>+4</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extLst>
                  <p:ext uri="{D42A27DB-BD31-4B8C-83A1-F6EECF244321}">
                    <p14:modId xmlns:p14="http://schemas.microsoft.com/office/powerpoint/2010/main" val="4131624402"/>
                  </p:ext>
                </p:extLst>
              </p:nvPr>
            </p:nvGraphicFramePr>
            <p:xfrm>
              <a:off x="718229" y="1872004"/>
              <a:ext cx="7705160" cy="384048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913143">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792992">
                      <a:extLst>
                        <a:ext uri="{9D8B030D-6E8A-4147-A177-3AD203B41FA5}">
                          <a16:colId xmlns:a16="http://schemas.microsoft.com/office/drawing/2014/main" xmlns="" val="457432290"/>
                        </a:ext>
                      </a:extLst>
                    </a:gridCol>
                    <a:gridCol w="708887">
                      <a:extLst>
                        <a:ext uri="{9D8B030D-6E8A-4147-A177-3AD203B41FA5}">
                          <a16:colId xmlns:a16="http://schemas.microsoft.com/office/drawing/2014/main" xmlns="" val="2791127480"/>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5/3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-7/3</a:t>
                          </a:r>
                        </a:p>
                      </a:txBody>
                      <a:tcPr/>
                    </a:tc>
                    <a:tc>
                      <a:txBody>
                        <a:bodyPr/>
                        <a:lstStyle/>
                        <a:p>
                          <a:pPr algn="ctr"/>
                          <a:r>
                            <a:rPr lang="en-US" dirty="0"/>
                            <a:t>0</a:t>
                          </a:r>
                        </a:p>
                      </a:txBody>
                      <a:tcPr/>
                    </a:tc>
                    <a:tc>
                      <a:txBody>
                        <a:bodyPr/>
                        <a:lstStyle/>
                        <a:p>
                          <a:pPr algn="ctr"/>
                          <a:r>
                            <a:rPr lang="en-US" dirty="0"/>
                            <a:t>2</a:t>
                          </a:r>
                        </a:p>
                      </a:txBody>
                      <a:tcPr/>
                    </a:tc>
                    <a:tc>
                      <a:txBody>
                        <a:bodyPr/>
                        <a:lstStyle/>
                        <a:p>
                          <a:pPr algn="ctr"/>
                          <a:endParaRPr lang="en-US" dirty="0"/>
                        </a:p>
                      </a:txBody>
                      <a:tcPr/>
                    </a:tc>
                    <a:extLst>
                      <a:ext uri="{0D108BD9-81ED-4DB2-BD59-A6C34878D82A}">
                        <a16:rowId xmlns:a16="http://schemas.microsoft.com/office/drawing/2014/main" xmlns="" val="3181063999"/>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4/3</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4</m:t>
                                </m:r>
                              </m:oMath>
                            </m:oMathPara>
                          </a14:m>
                          <a:endParaRPr lang="en-US"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1</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2</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a:t>
                          </a:r>
                        </a:p>
                      </a:txBody>
                      <a:tcPr/>
                    </a:tc>
                    <a:tc>
                      <a:txBody>
                        <a:bodyPr/>
                        <a:lstStyle/>
                        <a:p>
                          <a:pPr algn="ctr"/>
                          <a:r>
                            <a:rPr lang="en-US" dirty="0"/>
                            <a:t>-3/5</a:t>
                          </a:r>
                        </a:p>
                      </a:txBody>
                      <a:tcPr/>
                    </a:tc>
                    <a:tc>
                      <a:txBody>
                        <a:bodyPr/>
                        <a:lstStyle/>
                        <a:p>
                          <a:pPr algn="ctr"/>
                          <a:r>
                            <a:rPr lang="en-US" dirty="0"/>
                            <a:t>0</a:t>
                          </a:r>
                        </a:p>
                      </a:txBody>
                      <a:tcPr/>
                    </a:tc>
                    <a:tc>
                      <a:txBody>
                        <a:bodyPr/>
                        <a:lstStyle/>
                        <a:p>
                          <a:pPr algn="ctr"/>
                          <a:r>
                            <a:rPr lang="en-US" dirty="0"/>
                            <a:t>-4/5</a:t>
                          </a:r>
                        </a:p>
                      </a:txBody>
                      <a:tcPr/>
                    </a:tc>
                    <a:tc>
                      <a:txBody>
                        <a:bodyPr/>
                        <a:lstStyle/>
                        <a:p>
                          <a:pPr algn="ctr"/>
                          <a:r>
                            <a:rPr lang="en-US" dirty="0"/>
                            <a:t>3/5</a:t>
                          </a:r>
                        </a:p>
                      </a:txBody>
                      <a:tcPr/>
                    </a:tc>
                    <a:tc>
                      <a:txBody>
                        <a:bodyPr/>
                        <a:lstStyle/>
                        <a:p>
                          <a:pPr algn="ctr"/>
                          <a:r>
                            <a:rPr lang="en-US" dirty="0"/>
                            <a:t>6/5</a:t>
                          </a:r>
                        </a:p>
                      </a:txBody>
                      <a:tcPr/>
                    </a:tc>
                    <a:tc>
                      <a:txBody>
                        <a:bodyPr/>
                        <a:lstStyle/>
                        <a:p>
                          <a:pPr algn="ctr"/>
                          <a:endParaRPr lang="en-US" dirty="0"/>
                        </a:p>
                      </a:txBody>
                      <a:tcPr/>
                    </a:tc>
                    <a:extLst>
                      <a:ext uri="{0D108BD9-81ED-4DB2-BD59-A6C34878D82A}">
                        <a16:rowId xmlns:a16="http://schemas.microsoft.com/office/drawing/2014/main" xmlns="" val="11014358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5/3</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-1/3</a:t>
                          </a:r>
                        </a:p>
                      </a:txBody>
                      <a:tcPr/>
                    </a:tc>
                    <a:tc>
                      <a:txBody>
                        <a:bodyPr/>
                        <a:lstStyle/>
                        <a:p>
                          <a:pPr algn="ctr"/>
                          <a:r>
                            <a:rPr lang="en-US" dirty="0"/>
                            <a:t>0</a:t>
                          </a:r>
                        </a:p>
                      </a:txBody>
                      <a:tcPr/>
                    </a:tc>
                    <a:tc>
                      <a:txBody>
                        <a:bodyPr/>
                        <a:lstStyle/>
                        <a:p>
                          <a:pPr algn="ctr"/>
                          <a:r>
                            <a:rPr lang="en-US" dirty="0"/>
                            <a:t>3</a:t>
                          </a:r>
                        </a:p>
                      </a:txBody>
                      <a:tcPr/>
                    </a:tc>
                    <a:tc>
                      <a:txBody>
                        <a:bodyPr/>
                        <a:lstStyle/>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a16="http://schemas.microsoft.com/office/drawing/2014/main" id="{363C6AA0-D659-4938-81F4-B7B5A22D8D24}"/>
                  </a:ext>
                </a:extLst>
              </p:cNvPr>
              <p:cNvGraphicFramePr>
                <a:graphicFrameLocks noGrp="1"/>
              </p:cNvGraphicFramePr>
              <p:nvPr>
                <p:extLst>
                  <p:ext uri="{D42A27DB-BD31-4B8C-83A1-F6EECF244321}">
                    <p14:modId xmlns:p14="http://schemas.microsoft.com/office/powerpoint/2010/main" val="4131624402"/>
                  </p:ext>
                </p:extLst>
              </p:nvPr>
            </p:nvGraphicFramePr>
            <p:xfrm>
              <a:off x="718229" y="1872004"/>
              <a:ext cx="7705160" cy="384048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32917">
                      <a:extLst>
                        <a:ext uri="{9D8B030D-6E8A-4147-A177-3AD203B41FA5}">
                          <a16:colId xmlns:a16="http://schemas.microsoft.com/office/drawing/2014/main" val="1852071440"/>
                        </a:ext>
                      </a:extLst>
                    </a:gridCol>
                    <a:gridCol w="913143">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792992">
                      <a:extLst>
                        <a:ext uri="{9D8B030D-6E8A-4147-A177-3AD203B41FA5}">
                          <a16:colId xmlns:a16="http://schemas.microsoft.com/office/drawing/2014/main" val="457432290"/>
                        </a:ext>
                      </a:extLst>
                    </a:gridCol>
                    <a:gridCol w="708887">
                      <a:extLst>
                        <a:ext uri="{9D8B030D-6E8A-4147-A177-3AD203B41FA5}">
                          <a16:colId xmlns:a16="http://schemas.microsoft.com/office/drawing/2014/main" val="2791127480"/>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3"/>
                          <a:stretch>
                            <a:fillRect l="-129907" t="-3556" r="-957009" b="-181333"/>
                          </a:stretch>
                        </a:blipFill>
                      </a:tcPr>
                    </a:tc>
                    <a:tc>
                      <a:txBody>
                        <a:bodyPr/>
                        <a:lstStyle/>
                        <a:p>
                          <a:endParaRPr lang="en-US"/>
                        </a:p>
                      </a:txBody>
                      <a:tcPr>
                        <a:blipFill>
                          <a:blip r:embed="rId3"/>
                          <a:stretch>
                            <a:fillRect l="-205000" t="-3556" r="-753333" b="-181333"/>
                          </a:stretch>
                        </a:blipFill>
                      </a:tcPr>
                    </a:tc>
                    <a:tc>
                      <a:txBody>
                        <a:bodyPr/>
                        <a:lstStyle/>
                        <a:p>
                          <a:endParaRPr lang="en-US"/>
                        </a:p>
                      </a:txBody>
                      <a:tcPr>
                        <a:blipFill>
                          <a:blip r:embed="rId3"/>
                          <a:stretch>
                            <a:fillRect l="-244000" t="-3556" r="-502667" b="-181333"/>
                          </a:stretch>
                        </a:blipFill>
                      </a:tcPr>
                    </a:tc>
                    <a:tc>
                      <a:txBody>
                        <a:bodyPr/>
                        <a:lstStyle/>
                        <a:p>
                          <a:endParaRPr lang="en-US"/>
                        </a:p>
                      </a:txBody>
                      <a:tcPr>
                        <a:blipFill>
                          <a:blip r:embed="rId3"/>
                          <a:stretch>
                            <a:fillRect l="-385075" t="-3556" r="-462687" b="-181333"/>
                          </a:stretch>
                        </a:blipFill>
                      </a:tcPr>
                    </a:tc>
                    <a:tc>
                      <a:txBody>
                        <a:bodyPr/>
                        <a:lstStyle/>
                        <a:p>
                          <a:endParaRPr lang="en-US"/>
                        </a:p>
                      </a:txBody>
                      <a:tcPr>
                        <a:blipFill>
                          <a:blip r:embed="rId3"/>
                          <a:stretch>
                            <a:fillRect l="-500000" t="-3556" r="-376923" b="-181333"/>
                          </a:stretch>
                        </a:blipFill>
                      </a:tcPr>
                    </a:tc>
                    <a:tc>
                      <a:txBody>
                        <a:bodyPr/>
                        <a:lstStyle/>
                        <a:p>
                          <a:endParaRPr lang="en-US"/>
                        </a:p>
                      </a:txBody>
                      <a:tcPr>
                        <a:blipFill>
                          <a:blip r:embed="rId3"/>
                          <a:stretch>
                            <a:fillRect l="-666667" t="-3556" r="-318803" b="-181333"/>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5/3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-7/3</a:t>
                          </a:r>
                        </a:p>
                      </a:txBody>
                      <a:tcPr/>
                    </a:tc>
                    <a:tc>
                      <a:txBody>
                        <a:bodyPr/>
                        <a:lstStyle/>
                        <a:p>
                          <a:pPr algn="ctr"/>
                          <a:r>
                            <a:rPr lang="en-US" dirty="0"/>
                            <a:t>0</a:t>
                          </a:r>
                        </a:p>
                      </a:txBody>
                      <a:tcPr/>
                    </a:tc>
                    <a:tc>
                      <a:txBody>
                        <a:bodyPr/>
                        <a:lstStyle/>
                        <a:p>
                          <a:pPr algn="ctr"/>
                          <a:r>
                            <a:rPr lang="en-US" dirty="0"/>
                            <a:t>2</a:t>
                          </a:r>
                        </a:p>
                      </a:txBody>
                      <a:tcPr/>
                    </a:tc>
                    <a:tc>
                      <a:txBody>
                        <a:bodyPr/>
                        <a:lstStyle/>
                        <a:p>
                          <a:pPr algn="ctr"/>
                          <a:endParaRPr lang="en-US" dirty="0"/>
                        </a:p>
                      </a:txBody>
                      <a:tcPr/>
                    </a:tc>
                    <a:extLst>
                      <a:ext uri="{0D108BD9-81ED-4DB2-BD59-A6C34878D82A}">
                        <a16:rowId xmlns:a16="http://schemas.microsoft.com/office/drawing/2014/main" val="3181063999"/>
                      </a:ext>
                    </a:extLst>
                  </a:tr>
                  <a:tr h="64008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4/3</a:t>
                          </a:r>
                        </a:p>
                      </a:txBody>
                      <a:tcPr/>
                    </a:tc>
                    <a:tc>
                      <a:txBody>
                        <a:bodyPr/>
                        <a:lstStyle/>
                        <a:p>
                          <a:pPr algn="ctr"/>
                          <a:r>
                            <a:rPr lang="en-US" dirty="0"/>
                            <a:t>0</a:t>
                          </a:r>
                        </a:p>
                      </a:txBody>
                      <a:tcPr/>
                    </a:tc>
                    <a:tc>
                      <a:txBody>
                        <a:bodyPr/>
                        <a:lstStyle/>
                        <a:p>
                          <a:endParaRPr lang="en-US"/>
                        </a:p>
                      </a:txBody>
                      <a:tcPr>
                        <a:blipFill>
                          <a:blip r:embed="rId3"/>
                          <a:stretch>
                            <a:fillRect l="-487500" t="-290566" r="-102717" b="-21415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val="3265417494"/>
                      </a:ext>
                    </a:extLst>
                  </a:tr>
                  <a:tr h="457200">
                    <a:tc>
                      <a:txBody>
                        <a:bodyPr/>
                        <a:lstStyle/>
                        <a:p>
                          <a:endParaRPr lang="en-US"/>
                        </a:p>
                      </a:txBody>
                      <a:tcPr>
                        <a:blipFill>
                          <a:blip r:embed="rId3"/>
                          <a:stretch>
                            <a:fillRect l="-725" t="-552000" r="-819565" b="-202667"/>
                          </a:stretch>
                        </a:blipFill>
                      </a:tcPr>
                    </a:tc>
                    <a:tc>
                      <a:txBody>
                        <a:bodyPr/>
                        <a:lstStyle/>
                        <a:p>
                          <a:pPr algn="ctr"/>
                          <a:r>
                            <a:rPr lang="en-US" dirty="0">
                              <a:solidFill>
                                <a:schemeClr val="tx1"/>
                              </a:solidFill>
                            </a:rPr>
                            <a:t>1</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0</a:t>
                          </a:r>
                        </a:p>
                      </a:txBody>
                      <a:tcPr/>
                    </a:tc>
                    <a:tc>
                      <a:txBody>
                        <a:bodyPr/>
                        <a:lstStyle/>
                        <a:p>
                          <a:endParaRPr lang="en-US"/>
                        </a:p>
                      </a:txBody>
                      <a:tcPr>
                        <a:blipFill>
                          <a:blip r:embed="rId3"/>
                          <a:stretch>
                            <a:fillRect l="-487500" t="-552000" r="-102717" b="-202667"/>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1697728900"/>
                      </a:ext>
                    </a:extLst>
                  </a:tr>
                  <a:tr h="457200">
                    <a:tc>
                      <a:txBody>
                        <a:bodyPr/>
                        <a:lstStyle/>
                        <a:p>
                          <a:endParaRPr lang="en-US"/>
                        </a:p>
                      </a:txBody>
                      <a:tcPr>
                        <a:blipFill>
                          <a:blip r:embed="rId3"/>
                          <a:stretch>
                            <a:fillRect l="-725" t="-652000" r="-819565" b="-102667"/>
                          </a:stretch>
                        </a:blipFill>
                      </a:tcPr>
                    </a:tc>
                    <a:tc>
                      <a:txBody>
                        <a:bodyPr/>
                        <a:lstStyle/>
                        <a:p>
                          <a:pPr algn="ctr"/>
                          <a:r>
                            <a:rPr lang="en-US" dirty="0">
                              <a:solidFill>
                                <a:schemeClr val="tx1"/>
                              </a:solidFill>
                            </a:rPr>
                            <a:t>0</a:t>
                          </a:r>
                        </a:p>
                      </a:txBody>
                      <a:tcPr/>
                    </a:tc>
                    <a:tc>
                      <a:txBody>
                        <a:bodyPr/>
                        <a:lstStyle/>
                        <a:p>
                          <a:pPr algn="ctr"/>
                          <a:r>
                            <a:rPr lang="en-US" dirty="0">
                              <a:solidFill>
                                <a:srgbClr val="FF0000"/>
                              </a:solidFill>
                            </a:rPr>
                            <a:t>1</a:t>
                          </a:r>
                        </a:p>
                      </a:txBody>
                      <a:tcPr/>
                    </a:tc>
                    <a:tc>
                      <a:txBody>
                        <a:bodyPr/>
                        <a:lstStyle/>
                        <a:p>
                          <a:pPr algn="ctr"/>
                          <a:r>
                            <a:rPr lang="en-US" dirty="0"/>
                            <a:t>-3/5</a:t>
                          </a:r>
                        </a:p>
                      </a:txBody>
                      <a:tcPr/>
                    </a:tc>
                    <a:tc>
                      <a:txBody>
                        <a:bodyPr/>
                        <a:lstStyle/>
                        <a:p>
                          <a:pPr algn="ctr"/>
                          <a:r>
                            <a:rPr lang="en-US" dirty="0"/>
                            <a:t>0</a:t>
                          </a:r>
                        </a:p>
                      </a:txBody>
                      <a:tcPr/>
                    </a:tc>
                    <a:tc>
                      <a:txBody>
                        <a:bodyPr/>
                        <a:lstStyle/>
                        <a:p>
                          <a:pPr algn="ctr"/>
                          <a:r>
                            <a:rPr lang="en-US" dirty="0"/>
                            <a:t>-4/5</a:t>
                          </a:r>
                        </a:p>
                      </a:txBody>
                      <a:tcPr/>
                    </a:tc>
                    <a:tc>
                      <a:txBody>
                        <a:bodyPr/>
                        <a:lstStyle/>
                        <a:p>
                          <a:pPr algn="ctr"/>
                          <a:r>
                            <a:rPr lang="en-US" dirty="0"/>
                            <a:t>3/5</a:t>
                          </a:r>
                        </a:p>
                      </a:txBody>
                      <a:tcPr/>
                    </a:tc>
                    <a:tc>
                      <a:txBody>
                        <a:bodyPr/>
                        <a:lstStyle/>
                        <a:p>
                          <a:pPr algn="ctr"/>
                          <a:r>
                            <a:rPr lang="en-US" dirty="0"/>
                            <a:t>6/5</a:t>
                          </a:r>
                        </a:p>
                      </a:txBody>
                      <a:tcPr/>
                    </a:tc>
                    <a:tc>
                      <a:txBody>
                        <a:bodyPr/>
                        <a:lstStyle/>
                        <a:p>
                          <a:pPr algn="ctr"/>
                          <a:endParaRPr lang="en-US" dirty="0"/>
                        </a:p>
                      </a:txBody>
                      <a:tcPr/>
                    </a:tc>
                    <a:extLst>
                      <a:ext uri="{0D108BD9-81ED-4DB2-BD59-A6C34878D82A}">
                        <a16:rowId xmlns:a16="http://schemas.microsoft.com/office/drawing/2014/main" val="110143584"/>
                      </a:ext>
                    </a:extLst>
                  </a:tr>
                  <a:tr h="457200">
                    <a:tc>
                      <a:txBody>
                        <a:bodyPr/>
                        <a:lstStyle/>
                        <a:p>
                          <a:endParaRPr lang="en-US"/>
                        </a:p>
                      </a:txBody>
                      <a:tcPr>
                        <a:blipFill>
                          <a:blip r:embed="rId3"/>
                          <a:stretch>
                            <a:fillRect l="-725" t="-752000" r="-819565" b="-2667"/>
                          </a:stretch>
                        </a:blipFill>
                      </a:tcPr>
                    </a:tc>
                    <a:tc>
                      <a:txBody>
                        <a:bodyPr/>
                        <a:lstStyle/>
                        <a:p>
                          <a:pPr algn="ctr"/>
                          <a:r>
                            <a:rPr lang="en-US" dirty="0">
                              <a:solidFill>
                                <a:schemeClr val="tx1"/>
                              </a:solidFill>
                            </a:rPr>
                            <a:t>0</a:t>
                          </a:r>
                        </a:p>
                      </a:txBody>
                      <a:tcPr/>
                    </a:tc>
                    <a:tc>
                      <a:txBody>
                        <a:bodyPr/>
                        <a:lstStyle/>
                        <a:p>
                          <a:pPr algn="ctr"/>
                          <a:r>
                            <a:rPr lang="en-US" dirty="0">
                              <a:solidFill>
                                <a:srgbClr val="FF0000"/>
                              </a:solidFill>
                            </a:rPr>
                            <a:t>5/3</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-1/3</a:t>
                          </a:r>
                        </a:p>
                      </a:txBody>
                      <a:tcPr/>
                    </a:tc>
                    <a:tc>
                      <a:txBody>
                        <a:bodyPr/>
                        <a:lstStyle/>
                        <a:p>
                          <a:pPr algn="ctr"/>
                          <a:r>
                            <a:rPr lang="en-US" dirty="0"/>
                            <a:t>0</a:t>
                          </a:r>
                        </a:p>
                      </a:txBody>
                      <a:tcPr/>
                    </a:tc>
                    <a:tc>
                      <a:txBody>
                        <a:bodyPr/>
                        <a:lstStyle/>
                        <a:p>
                          <a:pPr algn="ctr"/>
                          <a:r>
                            <a:rPr lang="en-US" dirty="0"/>
                            <a:t>3</a:t>
                          </a:r>
                        </a:p>
                      </a:txBody>
                      <a:tcPr/>
                    </a:tc>
                    <a:tc>
                      <a:txBody>
                        <a:bodyPr/>
                        <a:lstStyle/>
                        <a:p>
                          <a:pPr algn="ctr"/>
                          <a:endParaRPr lang="en-US" dirty="0"/>
                        </a:p>
                      </a:txBody>
                      <a:tcPr/>
                    </a:tc>
                    <a:extLst>
                      <a:ext uri="{0D108BD9-81ED-4DB2-BD59-A6C34878D82A}">
                        <a16:rowId xmlns:a16="http://schemas.microsoft.com/office/drawing/2014/main" val="3414884863"/>
                      </a:ext>
                    </a:extLst>
                  </a:tr>
                </a:tbl>
              </a:graphicData>
            </a:graphic>
          </p:graphicFrame>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DF4787B8-E811-45A5-A520-E09AF09BA383}"/>
                  </a:ext>
                </a:extLst>
              </p:cNvPr>
              <p:cNvSpPr/>
              <p:nvPr/>
            </p:nvSpPr>
            <p:spPr>
              <a:xfrm>
                <a:off x="3670185" y="5844374"/>
                <a:ext cx="1531766" cy="791820"/>
              </a:xfrm>
              <a:prstGeom prst="rect">
                <a:avLst/>
              </a:prstGeom>
            </p:spPr>
            <p:txBody>
              <a:bodyPr wrap="none">
                <a:spAutoFit/>
              </a:bodyPr>
              <a:lstStyle/>
              <a:p>
                <a:pPr lvl="0" defTabSz="914400">
                  <a:defRPr/>
                </a:pPr>
                <a:r>
                  <a:rPr lang="en-US" sz="3200" dirty="0">
                    <a:solidFill>
                      <a:prstClr val="black"/>
                    </a:solidFill>
                  </a:rPr>
                  <a:t>B</a:t>
                </a:r>
                <a14:m>
                  <m:oMath xmlns:m="http://schemas.openxmlformats.org/officeDocument/2006/math">
                    <m:r>
                      <a:rPr lang="en-US" sz="3200" i="1" dirty="0">
                        <a:solidFill>
                          <a:prstClr val="black"/>
                        </a:solidFill>
                        <a:latin typeface="Cambria Math" panose="02040503050406030204" pitchFamily="18" charset="0"/>
                      </a:rPr>
                      <m:t>𝑦</m:t>
                    </m:r>
                    <m:r>
                      <a:rPr lang="en-US" sz="3200" i="1" dirty="0">
                        <a:solidFill>
                          <a:prstClr val="black"/>
                        </a:solidFill>
                        <a:latin typeface="Cambria Math" panose="02040503050406030204" pitchFamily="18" charset="0"/>
                      </a:rPr>
                      <m:t> </m:t>
                    </m:r>
                    <m:f>
                      <m:fPr>
                        <m:ctrlPr>
                          <a:rPr lang="en-US" sz="3200" i="1" dirty="0">
                            <a:solidFill>
                              <a:prstClr val="black"/>
                            </a:solidFill>
                            <a:latin typeface="Cambria Math"/>
                          </a:rPr>
                        </m:ctrlPr>
                      </m:fPr>
                      <m:num>
                        <m:r>
                          <a:rPr lang="en-US" sz="3200" b="0" i="1" dirty="0" smtClean="0">
                            <a:solidFill>
                              <a:prstClr val="black"/>
                            </a:solidFill>
                            <a:latin typeface="Cambria Math" panose="02040503050406030204" pitchFamily="18" charset="0"/>
                          </a:rPr>
                          <m:t>3</m:t>
                        </m:r>
                      </m:num>
                      <m:den>
                        <m:r>
                          <a:rPr lang="en-US" sz="3200" b="0" i="1" dirty="0" smtClean="0">
                            <a:solidFill>
                              <a:prstClr val="black"/>
                            </a:solidFill>
                            <a:latin typeface="Cambria Math" panose="02040503050406030204" pitchFamily="18" charset="0"/>
                          </a:rPr>
                          <m:t>5</m:t>
                        </m:r>
                      </m:den>
                    </m:f>
                    <m:sSub>
                      <m:sSubPr>
                        <m:ctrlPr>
                          <a:rPr lang="en-US" sz="4000" i="1">
                            <a:solidFill>
                              <a:srgbClr val="FF0000"/>
                            </a:solidFill>
                            <a:latin typeface="Cambria Math"/>
                            <a:cs typeface="Arial" panose="020B0604020202020204" pitchFamily="34" charset="0"/>
                          </a:rPr>
                        </m:ctrlPr>
                      </m:sSubPr>
                      <m:e>
                        <m:r>
                          <a:rPr lang="en-US" sz="4000" i="1">
                            <a:solidFill>
                              <a:srgbClr val="FF0000"/>
                            </a:solidFill>
                            <a:latin typeface="Cambria Math" panose="02040503050406030204" pitchFamily="18" charset="0"/>
                            <a:cs typeface="Arial" panose="020B0604020202020204" pitchFamily="34" charset="0"/>
                          </a:rPr>
                          <m:t>𝑥</m:t>
                        </m:r>
                      </m:e>
                      <m:sub>
                        <m:r>
                          <a:rPr lang="en-US" sz="4000" b="0" i="1" smtClean="0">
                            <a:solidFill>
                              <a:srgbClr val="FF0000"/>
                            </a:solidFill>
                            <a:latin typeface="Cambria Math" panose="02040503050406030204" pitchFamily="18" charset="0"/>
                            <a:cs typeface="Arial" panose="020B0604020202020204" pitchFamily="34" charset="0"/>
                          </a:rPr>
                          <m:t>2</m:t>
                        </m:r>
                      </m:sub>
                    </m:sSub>
                  </m:oMath>
                </a14:m>
                <a:endParaRPr lang="en-US" sz="3200" dirty="0">
                  <a:solidFill>
                    <a:prstClr val="black"/>
                  </a:solidFill>
                </a:endParaRPr>
              </a:p>
            </p:txBody>
          </p:sp>
        </mc:Choice>
        <mc:Fallback xmlns="">
          <p:sp>
            <p:nvSpPr>
              <p:cNvPr id="3" name="Rectangle 2">
                <a:extLst>
                  <a:ext uri="{FF2B5EF4-FFF2-40B4-BE49-F238E27FC236}">
                    <a16:creationId xmlns:a16="http://schemas.microsoft.com/office/drawing/2014/main" id="{DF4787B8-E811-45A5-A520-E09AF09BA383}"/>
                  </a:ext>
                </a:extLst>
              </p:cNvPr>
              <p:cNvSpPr>
                <a:spLocks noRot="1" noChangeAspect="1" noMove="1" noResize="1" noEditPoints="1" noAdjustHandles="1" noChangeArrowheads="1" noChangeShapeType="1" noTextEdit="1"/>
              </p:cNvSpPr>
              <p:nvPr/>
            </p:nvSpPr>
            <p:spPr>
              <a:xfrm>
                <a:off x="3670185" y="5844374"/>
                <a:ext cx="1531766" cy="791820"/>
              </a:xfrm>
              <a:prstGeom prst="rect">
                <a:avLst/>
              </a:prstGeom>
              <a:blipFill>
                <a:blip r:embed="rId4"/>
                <a:stretch>
                  <a:fillRect l="-9960" b="-12308"/>
                </a:stretch>
              </a:blipFill>
            </p:spPr>
            <p:txBody>
              <a:bodyPr/>
              <a:lstStyle/>
              <a:p>
                <a:r>
                  <a:rPr lang="en-US">
                    <a:noFill/>
                  </a:rPr>
                  <a:t> </a:t>
                </a:r>
              </a:p>
            </p:txBody>
          </p:sp>
        </mc:Fallback>
      </mc:AlternateContent>
    </p:spTree>
    <p:extLst>
      <p:ext uri="{BB962C8B-B14F-4D97-AF65-F5344CB8AC3E}">
        <p14:creationId xmlns:p14="http://schemas.microsoft.com/office/powerpoint/2010/main" val="303515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𝑤</m:t>
                      </m:r>
                      <m:r>
                        <a:rPr lang="en-US" sz="2000" i="1" dirty="0">
                          <a:solidFill>
                            <a:prstClr val="black"/>
                          </a:solidFill>
                          <a:effectLst/>
                          <a:latin typeface="Cambria Math" panose="02040503050406030204" pitchFamily="18" charset="0"/>
                        </a:rPr>
                        <m:t>−7</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𝑧</m:t>
                      </m:r>
                      <m:r>
                        <a:rPr lang="en-US" sz="2000" i="1" dirty="0">
                          <a:solidFill>
                            <a:prstClr val="black"/>
                          </a:solidFill>
                          <a:effectLst/>
                          <a:latin typeface="Cambria Math" panose="02040503050406030204" pitchFamily="18" charset="0"/>
                        </a:rPr>
                        <m:t>+4</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extLst>
                  <p:ext uri="{D42A27DB-BD31-4B8C-83A1-F6EECF244321}">
                    <p14:modId xmlns:p14="http://schemas.microsoft.com/office/powerpoint/2010/main" val="1063256501"/>
                  </p:ext>
                </p:extLst>
              </p:nvPr>
            </p:nvGraphicFramePr>
            <p:xfrm>
              <a:off x="718229" y="1872004"/>
              <a:ext cx="7705160" cy="384048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913143">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792992">
                      <a:extLst>
                        <a:ext uri="{9D8B030D-6E8A-4147-A177-3AD203B41FA5}">
                          <a16:colId xmlns:a16="http://schemas.microsoft.com/office/drawing/2014/main" xmlns="" val="457432290"/>
                        </a:ext>
                      </a:extLst>
                    </a:gridCol>
                    <a:gridCol w="708887">
                      <a:extLst>
                        <a:ext uri="{9D8B030D-6E8A-4147-A177-3AD203B41FA5}">
                          <a16:colId xmlns:a16="http://schemas.microsoft.com/office/drawing/2014/main" xmlns="" val="2791127480"/>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endParaRPr lang="en-US" dirty="0"/>
                        </a:p>
                      </a:txBody>
                      <a:tcPr/>
                    </a:tc>
                    <a:extLst>
                      <a:ext uri="{0D108BD9-81ED-4DB2-BD59-A6C34878D82A}">
                        <a16:rowId xmlns:a16="http://schemas.microsoft.com/office/drawing/2014/main" xmlns="" val="3181063999"/>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1/5</a:t>
                          </a:r>
                        </a:p>
                      </a:txBody>
                      <a:tcPr/>
                    </a:tc>
                    <a:tc>
                      <a:txBody>
                        <a:bodyPr/>
                        <a:lstStyle/>
                        <a:p>
                          <a:pPr algn="ctr"/>
                          <a:r>
                            <a:rPr lang="en-US" dirty="0"/>
                            <a:t>0</a:t>
                          </a:r>
                        </a:p>
                      </a:txBody>
                      <a:tcPr/>
                    </a:tc>
                    <a:tc>
                      <a:txBody>
                        <a:bodyPr/>
                        <a:lstStyle/>
                        <a:p>
                          <a:pPr algn="ctr"/>
                          <a:r>
                            <a:rPr lang="en-US" dirty="0"/>
                            <a:t>8/5</a:t>
                          </a:r>
                        </a:p>
                      </a:txBody>
                      <a:tcPr/>
                    </a:tc>
                    <a:tc>
                      <a:txBody>
                        <a:bodyPr/>
                        <a:lstStyle/>
                        <a:p>
                          <a:pPr algn="ctr"/>
                          <a:r>
                            <a:rPr lang="en-US" dirty="0"/>
                            <a:t>-1/5</a:t>
                          </a:r>
                        </a:p>
                      </a:txBody>
                      <a:tcPr/>
                    </a:tc>
                    <a:tc>
                      <a:txBody>
                        <a:bodyPr/>
                        <a:lstStyle/>
                        <a:p>
                          <a:pPr algn="ctr"/>
                          <a:r>
                            <a:rPr lang="en-US" dirty="0">
                              <a:solidFill>
                                <a:schemeClr val="tx1"/>
                              </a:solidFill>
                            </a:rPr>
                            <a:t>18/5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1/5</a:t>
                          </a:r>
                        </a:p>
                      </a:txBody>
                      <a:tcPr/>
                    </a:tc>
                    <a:tc>
                      <a:txBody>
                        <a:bodyPr/>
                        <a:lstStyle/>
                        <a:p>
                          <a:pPr algn="ctr"/>
                          <a:r>
                            <a:rPr lang="en-US" dirty="0"/>
                            <a:t>0</a:t>
                          </a:r>
                        </a:p>
                      </a:txBody>
                      <a:tcPr/>
                    </a:tc>
                    <a:tc>
                      <a:txBody>
                        <a:bodyPr/>
                        <a:lstStyle/>
                        <a:p>
                          <a:pPr algn="ctr"/>
                          <a:r>
                            <a:rPr lang="en-US" dirty="0"/>
                            <a:t>3/5</a:t>
                          </a:r>
                        </a:p>
                      </a:txBody>
                      <a:tcPr/>
                    </a:tc>
                    <a:tc>
                      <a:txBody>
                        <a:bodyPr/>
                        <a:lstStyle/>
                        <a:p>
                          <a:pPr algn="ctr"/>
                          <a:r>
                            <a:rPr lang="en-US" dirty="0"/>
                            <a:t>-1/5</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3/5</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t>-3/5</a:t>
                          </a:r>
                        </a:p>
                      </a:txBody>
                      <a:tcPr/>
                    </a:tc>
                    <a:tc>
                      <a:txBody>
                        <a:bodyPr/>
                        <a:lstStyle/>
                        <a:p>
                          <a:pPr algn="ctr"/>
                          <a:r>
                            <a:rPr lang="en-US" dirty="0"/>
                            <a:t>0</a:t>
                          </a:r>
                        </a:p>
                      </a:txBody>
                      <a:tcPr/>
                    </a:tc>
                    <a:tc>
                      <a:txBody>
                        <a:bodyPr/>
                        <a:lstStyle/>
                        <a:p>
                          <a:pPr algn="ctr"/>
                          <a:r>
                            <a:rPr lang="en-US" dirty="0"/>
                            <a:t>-4/5</a:t>
                          </a:r>
                        </a:p>
                      </a:txBody>
                      <a:tcPr/>
                    </a:tc>
                    <a:tc>
                      <a:txBody>
                        <a:bodyPr/>
                        <a:lstStyle/>
                        <a:p>
                          <a:pPr algn="ctr"/>
                          <a:r>
                            <a:rPr lang="en-US" dirty="0"/>
                            <a:t>3/5</a:t>
                          </a:r>
                        </a:p>
                      </a:txBody>
                      <a:tcPr/>
                    </a:tc>
                    <a:tc>
                      <a:txBody>
                        <a:bodyPr/>
                        <a:lstStyle/>
                        <a:p>
                          <a:pPr algn="ctr"/>
                          <a:r>
                            <a:rPr lang="en-US" dirty="0"/>
                            <a:t>6/5</a:t>
                          </a:r>
                        </a:p>
                      </a:txBody>
                      <a:tcPr/>
                    </a:tc>
                    <a:tc>
                      <a:txBody>
                        <a:bodyPr/>
                        <a:lstStyle/>
                        <a:p>
                          <a:pPr algn="ctr"/>
                          <a:endParaRPr lang="en-US" dirty="0"/>
                        </a:p>
                      </a:txBody>
                      <a:tcPr/>
                    </a:tc>
                    <a:extLst>
                      <a:ext uri="{0D108BD9-81ED-4DB2-BD59-A6C34878D82A}">
                        <a16:rowId xmlns:a16="http://schemas.microsoft.com/office/drawing/2014/main" xmlns="" val="11014358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a16="http://schemas.microsoft.com/office/drawing/2014/main" id="{363C6AA0-D659-4938-81F4-B7B5A22D8D24}"/>
                  </a:ext>
                </a:extLst>
              </p:cNvPr>
              <p:cNvGraphicFramePr>
                <a:graphicFrameLocks noGrp="1"/>
              </p:cNvGraphicFramePr>
              <p:nvPr>
                <p:extLst>
                  <p:ext uri="{D42A27DB-BD31-4B8C-83A1-F6EECF244321}">
                    <p14:modId xmlns:p14="http://schemas.microsoft.com/office/powerpoint/2010/main" val="1063256501"/>
                  </p:ext>
                </p:extLst>
              </p:nvPr>
            </p:nvGraphicFramePr>
            <p:xfrm>
              <a:off x="718229" y="1872004"/>
              <a:ext cx="7705160" cy="384048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32917">
                      <a:extLst>
                        <a:ext uri="{9D8B030D-6E8A-4147-A177-3AD203B41FA5}">
                          <a16:colId xmlns:a16="http://schemas.microsoft.com/office/drawing/2014/main" val="1852071440"/>
                        </a:ext>
                      </a:extLst>
                    </a:gridCol>
                    <a:gridCol w="913143">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792992">
                      <a:extLst>
                        <a:ext uri="{9D8B030D-6E8A-4147-A177-3AD203B41FA5}">
                          <a16:colId xmlns:a16="http://schemas.microsoft.com/office/drawing/2014/main" val="457432290"/>
                        </a:ext>
                      </a:extLst>
                    </a:gridCol>
                    <a:gridCol w="708887">
                      <a:extLst>
                        <a:ext uri="{9D8B030D-6E8A-4147-A177-3AD203B41FA5}">
                          <a16:colId xmlns:a16="http://schemas.microsoft.com/office/drawing/2014/main" val="2791127480"/>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3"/>
                          <a:stretch>
                            <a:fillRect l="-129907" t="-3556" r="-957009" b="-181333"/>
                          </a:stretch>
                        </a:blipFill>
                      </a:tcPr>
                    </a:tc>
                    <a:tc>
                      <a:txBody>
                        <a:bodyPr/>
                        <a:lstStyle/>
                        <a:p>
                          <a:endParaRPr lang="en-US"/>
                        </a:p>
                      </a:txBody>
                      <a:tcPr>
                        <a:blipFill>
                          <a:blip r:embed="rId3"/>
                          <a:stretch>
                            <a:fillRect l="-205000" t="-3556" r="-753333" b="-181333"/>
                          </a:stretch>
                        </a:blipFill>
                      </a:tcPr>
                    </a:tc>
                    <a:tc>
                      <a:txBody>
                        <a:bodyPr/>
                        <a:lstStyle/>
                        <a:p>
                          <a:endParaRPr lang="en-US"/>
                        </a:p>
                      </a:txBody>
                      <a:tcPr>
                        <a:blipFill>
                          <a:blip r:embed="rId3"/>
                          <a:stretch>
                            <a:fillRect l="-244000" t="-3556" r="-502667" b="-181333"/>
                          </a:stretch>
                        </a:blipFill>
                      </a:tcPr>
                    </a:tc>
                    <a:tc>
                      <a:txBody>
                        <a:bodyPr/>
                        <a:lstStyle/>
                        <a:p>
                          <a:endParaRPr lang="en-US"/>
                        </a:p>
                      </a:txBody>
                      <a:tcPr>
                        <a:blipFill>
                          <a:blip r:embed="rId3"/>
                          <a:stretch>
                            <a:fillRect l="-385075" t="-3556" r="-462687" b="-181333"/>
                          </a:stretch>
                        </a:blipFill>
                      </a:tcPr>
                    </a:tc>
                    <a:tc>
                      <a:txBody>
                        <a:bodyPr/>
                        <a:lstStyle/>
                        <a:p>
                          <a:endParaRPr lang="en-US"/>
                        </a:p>
                      </a:txBody>
                      <a:tcPr>
                        <a:blipFill>
                          <a:blip r:embed="rId3"/>
                          <a:stretch>
                            <a:fillRect l="-500000" t="-3556" r="-376923" b="-181333"/>
                          </a:stretch>
                        </a:blipFill>
                      </a:tcPr>
                    </a:tc>
                    <a:tc>
                      <a:txBody>
                        <a:bodyPr/>
                        <a:lstStyle/>
                        <a:p>
                          <a:endParaRPr lang="en-US"/>
                        </a:p>
                      </a:txBody>
                      <a:tcPr>
                        <a:blipFill>
                          <a:blip r:embed="rId3"/>
                          <a:stretch>
                            <a:fillRect l="-666667" t="-3556" r="-318803" b="-181333"/>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endParaRPr lang="en-US" dirty="0"/>
                        </a:p>
                      </a:txBody>
                      <a:tcPr/>
                    </a:tc>
                    <a:extLst>
                      <a:ext uri="{0D108BD9-81ED-4DB2-BD59-A6C34878D82A}">
                        <a16:rowId xmlns:a16="http://schemas.microsoft.com/office/drawing/2014/main" val="3181063999"/>
                      </a:ext>
                    </a:extLst>
                  </a:tr>
                  <a:tr h="64008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1/5</a:t>
                          </a:r>
                        </a:p>
                      </a:txBody>
                      <a:tcPr/>
                    </a:tc>
                    <a:tc>
                      <a:txBody>
                        <a:bodyPr/>
                        <a:lstStyle/>
                        <a:p>
                          <a:pPr algn="ctr"/>
                          <a:r>
                            <a:rPr lang="en-US" dirty="0"/>
                            <a:t>0</a:t>
                          </a:r>
                        </a:p>
                      </a:txBody>
                      <a:tcPr/>
                    </a:tc>
                    <a:tc>
                      <a:txBody>
                        <a:bodyPr/>
                        <a:lstStyle/>
                        <a:p>
                          <a:pPr algn="ctr"/>
                          <a:r>
                            <a:rPr lang="en-US" dirty="0"/>
                            <a:t>8/5</a:t>
                          </a:r>
                        </a:p>
                      </a:txBody>
                      <a:tcPr/>
                    </a:tc>
                    <a:tc>
                      <a:txBody>
                        <a:bodyPr/>
                        <a:lstStyle/>
                        <a:p>
                          <a:pPr algn="ctr"/>
                          <a:r>
                            <a:rPr lang="en-US" dirty="0"/>
                            <a:t>-1/5</a:t>
                          </a:r>
                        </a:p>
                      </a:txBody>
                      <a:tcPr/>
                    </a:tc>
                    <a:tc>
                      <a:txBody>
                        <a:bodyPr/>
                        <a:lstStyle/>
                        <a:p>
                          <a:pPr algn="ctr"/>
                          <a:r>
                            <a:rPr lang="en-US" dirty="0">
                              <a:solidFill>
                                <a:schemeClr val="tx1"/>
                              </a:solidFill>
                            </a:rPr>
                            <a:t>18/5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val="3265417494"/>
                      </a:ext>
                    </a:extLst>
                  </a:tr>
                  <a:tr h="457200">
                    <a:tc>
                      <a:txBody>
                        <a:bodyPr/>
                        <a:lstStyle/>
                        <a:p>
                          <a:endParaRPr lang="en-US"/>
                        </a:p>
                      </a:txBody>
                      <a:tcPr>
                        <a:blipFill>
                          <a:blip r:embed="rId3"/>
                          <a:stretch>
                            <a:fillRect l="-725" t="-552000" r="-819565" b="-202667"/>
                          </a:stretch>
                        </a:blipFill>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1/5</a:t>
                          </a:r>
                        </a:p>
                      </a:txBody>
                      <a:tcPr/>
                    </a:tc>
                    <a:tc>
                      <a:txBody>
                        <a:bodyPr/>
                        <a:lstStyle/>
                        <a:p>
                          <a:pPr algn="ctr"/>
                          <a:r>
                            <a:rPr lang="en-US" dirty="0"/>
                            <a:t>0</a:t>
                          </a:r>
                        </a:p>
                      </a:txBody>
                      <a:tcPr/>
                    </a:tc>
                    <a:tc>
                      <a:txBody>
                        <a:bodyPr/>
                        <a:lstStyle/>
                        <a:p>
                          <a:pPr algn="ctr"/>
                          <a:r>
                            <a:rPr lang="en-US" dirty="0"/>
                            <a:t>3/5</a:t>
                          </a:r>
                        </a:p>
                      </a:txBody>
                      <a:tcPr/>
                    </a:tc>
                    <a:tc>
                      <a:txBody>
                        <a:bodyPr/>
                        <a:lstStyle/>
                        <a:p>
                          <a:pPr algn="ctr"/>
                          <a:r>
                            <a:rPr lang="en-US" dirty="0"/>
                            <a:t>-1/5</a:t>
                          </a:r>
                        </a:p>
                      </a:txBody>
                      <a:tcPr/>
                    </a:tc>
                    <a:tc>
                      <a:txBody>
                        <a:bodyPr/>
                        <a:lstStyle/>
                        <a:p>
                          <a:endParaRPr lang="en-US"/>
                        </a:p>
                      </a:txBody>
                      <a:tcPr>
                        <a:blipFill>
                          <a:blip r:embed="rId3"/>
                          <a:stretch>
                            <a:fillRect l="-487500" t="-552000" r="-102717" b="-202667"/>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1697728900"/>
                      </a:ext>
                    </a:extLst>
                  </a:tr>
                  <a:tr h="457200">
                    <a:tc>
                      <a:txBody>
                        <a:bodyPr/>
                        <a:lstStyle/>
                        <a:p>
                          <a:endParaRPr lang="en-US"/>
                        </a:p>
                      </a:txBody>
                      <a:tcPr>
                        <a:blipFill>
                          <a:blip r:embed="rId3"/>
                          <a:stretch>
                            <a:fillRect l="-725" t="-652000" r="-819565" b="-102667"/>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t>-3/5</a:t>
                          </a:r>
                        </a:p>
                      </a:txBody>
                      <a:tcPr/>
                    </a:tc>
                    <a:tc>
                      <a:txBody>
                        <a:bodyPr/>
                        <a:lstStyle/>
                        <a:p>
                          <a:pPr algn="ctr"/>
                          <a:r>
                            <a:rPr lang="en-US" dirty="0"/>
                            <a:t>0</a:t>
                          </a:r>
                        </a:p>
                      </a:txBody>
                      <a:tcPr/>
                    </a:tc>
                    <a:tc>
                      <a:txBody>
                        <a:bodyPr/>
                        <a:lstStyle/>
                        <a:p>
                          <a:pPr algn="ctr"/>
                          <a:r>
                            <a:rPr lang="en-US" dirty="0"/>
                            <a:t>-4/5</a:t>
                          </a:r>
                        </a:p>
                      </a:txBody>
                      <a:tcPr/>
                    </a:tc>
                    <a:tc>
                      <a:txBody>
                        <a:bodyPr/>
                        <a:lstStyle/>
                        <a:p>
                          <a:pPr algn="ctr"/>
                          <a:r>
                            <a:rPr lang="en-US" dirty="0"/>
                            <a:t>3/5</a:t>
                          </a:r>
                        </a:p>
                      </a:txBody>
                      <a:tcPr/>
                    </a:tc>
                    <a:tc>
                      <a:txBody>
                        <a:bodyPr/>
                        <a:lstStyle/>
                        <a:p>
                          <a:pPr algn="ctr"/>
                          <a:r>
                            <a:rPr lang="en-US" dirty="0"/>
                            <a:t>6/5</a:t>
                          </a:r>
                        </a:p>
                      </a:txBody>
                      <a:tcPr/>
                    </a:tc>
                    <a:tc>
                      <a:txBody>
                        <a:bodyPr/>
                        <a:lstStyle/>
                        <a:p>
                          <a:pPr algn="ctr"/>
                          <a:endParaRPr lang="en-US" dirty="0"/>
                        </a:p>
                      </a:txBody>
                      <a:tcPr/>
                    </a:tc>
                    <a:extLst>
                      <a:ext uri="{0D108BD9-81ED-4DB2-BD59-A6C34878D82A}">
                        <a16:rowId xmlns:a16="http://schemas.microsoft.com/office/drawing/2014/main" val="110143584"/>
                      </a:ext>
                    </a:extLst>
                  </a:tr>
                  <a:tr h="457200">
                    <a:tc>
                      <a:txBody>
                        <a:bodyPr/>
                        <a:lstStyle/>
                        <a:p>
                          <a:endParaRPr lang="en-US"/>
                        </a:p>
                      </a:txBody>
                      <a:tcPr>
                        <a:blipFill>
                          <a:blip r:embed="rId3"/>
                          <a:stretch>
                            <a:fillRect l="-725" t="-752000" r="-819565" b="-2667"/>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endParaRPr lang="en-US" dirty="0"/>
                        </a:p>
                      </a:txBody>
                      <a:tcPr/>
                    </a:tc>
                    <a:extLst>
                      <a:ext uri="{0D108BD9-81ED-4DB2-BD59-A6C34878D82A}">
                        <a16:rowId xmlns:a16="http://schemas.microsoft.com/office/drawing/2014/main" val="3414884863"/>
                      </a:ext>
                    </a:extLst>
                  </a:tr>
                </a:tbl>
              </a:graphicData>
            </a:graphic>
          </p:graphicFrame>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DF4787B8-E811-45A5-A520-E09AF09BA383}"/>
                  </a:ext>
                </a:extLst>
              </p:cNvPr>
              <p:cNvSpPr/>
              <p:nvPr/>
            </p:nvSpPr>
            <p:spPr>
              <a:xfrm>
                <a:off x="1292745" y="5930272"/>
                <a:ext cx="1541448" cy="709938"/>
              </a:xfrm>
              <a:prstGeom prst="rect">
                <a:avLst/>
              </a:prstGeom>
            </p:spPr>
            <p:txBody>
              <a:bodyPr wrap="none">
                <a:spAutoFit/>
              </a:bodyPr>
              <a:lstStyle/>
              <a:p>
                <a:pPr lvl="0" defTabSz="914400">
                  <a:defRPr/>
                </a:pPr>
                <a14:m>
                  <m:oMath xmlns:m="http://schemas.openxmlformats.org/officeDocument/2006/math">
                    <m:sSub>
                      <m:sSubPr>
                        <m:ctrlPr>
                          <a:rPr lang="en-US" sz="2800" i="1" smtClean="0">
                            <a:solidFill>
                              <a:schemeClr val="tx1"/>
                            </a:solidFill>
                            <a:latin typeface="Cambria Math"/>
                            <a:cs typeface="Arial" panose="020B0604020202020204" pitchFamily="34" charset="0"/>
                          </a:rPr>
                        </m:ctrlPr>
                      </m:sSubPr>
                      <m:e>
                        <m:r>
                          <a:rPr lang="en-US" sz="2800" b="0" i="1" smtClean="0">
                            <a:solidFill>
                              <a:schemeClr val="tx1"/>
                            </a:solidFill>
                            <a:latin typeface="Cambria Math" panose="02040503050406030204" pitchFamily="18" charset="0"/>
                            <a:cs typeface="Arial" panose="020B0604020202020204" pitchFamily="34" charset="0"/>
                          </a:rPr>
                          <m:t>𝑠</m:t>
                        </m:r>
                      </m:e>
                      <m:sub>
                        <m:r>
                          <a:rPr lang="en-US" sz="2800" b="0" i="1" smtClean="0">
                            <a:solidFill>
                              <a:schemeClr val="tx1"/>
                            </a:solidFill>
                            <a:latin typeface="Cambria Math" panose="02040503050406030204" pitchFamily="18" charset="0"/>
                            <a:cs typeface="Arial" panose="020B0604020202020204" pitchFamily="34" charset="0"/>
                          </a:rPr>
                          <m:t>2</m:t>
                        </m:r>
                      </m:sub>
                    </m:sSub>
                    <m:r>
                      <a:rPr lang="en-US" sz="2800" b="0" i="1" smtClean="0">
                        <a:solidFill>
                          <a:schemeClr val="tx1"/>
                        </a:solidFill>
                        <a:latin typeface="Cambria Math" panose="02040503050406030204" pitchFamily="18" charset="0"/>
                        <a:cs typeface="Arial" panose="020B0604020202020204" pitchFamily="34" charset="0"/>
                      </a:rPr>
                      <m:t>−</m:t>
                    </m:r>
                    <m:f>
                      <m:fPr>
                        <m:ctrlPr>
                          <a:rPr lang="en-US" sz="2800" b="0" i="1" smtClean="0">
                            <a:solidFill>
                              <a:schemeClr val="tx1"/>
                            </a:solidFill>
                            <a:latin typeface="Cambria Math"/>
                            <a:cs typeface="Arial" panose="020B0604020202020204" pitchFamily="34" charset="0"/>
                          </a:rPr>
                        </m:ctrlPr>
                      </m:fPr>
                      <m:num>
                        <m:r>
                          <a:rPr lang="en-US" sz="2800" b="0" i="1" smtClean="0">
                            <a:solidFill>
                              <a:schemeClr val="tx1"/>
                            </a:solidFill>
                            <a:latin typeface="Cambria Math" panose="02040503050406030204" pitchFamily="18" charset="0"/>
                            <a:cs typeface="Arial" panose="020B0604020202020204" pitchFamily="34" charset="0"/>
                          </a:rPr>
                          <m:t>5</m:t>
                        </m:r>
                      </m:num>
                      <m:den>
                        <m:r>
                          <a:rPr lang="en-US" sz="2800" b="0" i="1" smtClean="0">
                            <a:solidFill>
                              <a:schemeClr val="tx1"/>
                            </a:solidFill>
                            <a:latin typeface="Cambria Math" panose="02040503050406030204" pitchFamily="18" charset="0"/>
                            <a:cs typeface="Arial" panose="020B0604020202020204" pitchFamily="34" charset="0"/>
                          </a:rPr>
                          <m:t>3</m:t>
                        </m:r>
                      </m:den>
                    </m:f>
                  </m:oMath>
                </a14:m>
                <a:r>
                  <a:rPr lang="en-US" sz="2800" dirty="0">
                    <a:solidFill>
                      <a:srgbClr val="FF0000"/>
                    </a:solidFill>
                    <a:cs typeface="Arial" panose="020B0604020202020204" pitchFamily="34" charset="0"/>
                  </a:rPr>
                  <a:t> </a:t>
                </a:r>
                <a14:m>
                  <m:oMath xmlns:m="http://schemas.openxmlformats.org/officeDocument/2006/math">
                    <m:sSub>
                      <m:sSubPr>
                        <m:ctrlPr>
                          <a:rPr lang="en-US" sz="2800" i="1">
                            <a:solidFill>
                              <a:srgbClr val="FF0000"/>
                            </a:solidFill>
                            <a:latin typeface="Cambria Math"/>
                            <a:cs typeface="Arial" panose="020B0604020202020204" pitchFamily="34" charset="0"/>
                          </a:rPr>
                        </m:ctrlPr>
                      </m:sSubPr>
                      <m:e>
                        <m:r>
                          <a:rPr lang="en-US" sz="2800" b="0" i="1" smtClean="0">
                            <a:solidFill>
                              <a:srgbClr val="FF0000"/>
                            </a:solidFill>
                            <a:latin typeface="Cambria Math" panose="02040503050406030204" pitchFamily="18" charset="0"/>
                            <a:cs typeface="Arial" panose="020B0604020202020204" pitchFamily="34" charset="0"/>
                          </a:rPr>
                          <m:t>𝑥</m:t>
                        </m:r>
                      </m:e>
                      <m:sub>
                        <m:r>
                          <a:rPr lang="en-US" sz="2800" i="1">
                            <a:solidFill>
                              <a:srgbClr val="FF0000"/>
                            </a:solidFill>
                            <a:latin typeface="Cambria Math" panose="02040503050406030204" pitchFamily="18" charset="0"/>
                            <a:cs typeface="Arial" panose="020B0604020202020204" pitchFamily="34" charset="0"/>
                          </a:rPr>
                          <m:t>2</m:t>
                        </m:r>
                      </m:sub>
                    </m:sSub>
                  </m:oMath>
                </a14:m>
                <a:endParaRPr lang="en-US" sz="3200" dirty="0">
                  <a:solidFill>
                    <a:prstClr val="black"/>
                  </a:solidFill>
                </a:endParaRPr>
              </a:p>
            </p:txBody>
          </p:sp>
        </mc:Choice>
        <mc:Fallback xmlns="">
          <p:sp>
            <p:nvSpPr>
              <p:cNvPr id="3" name="Rectangle 2">
                <a:extLst>
                  <a:ext uri="{FF2B5EF4-FFF2-40B4-BE49-F238E27FC236}">
                    <a16:creationId xmlns:a16="http://schemas.microsoft.com/office/drawing/2014/main" id="{DF4787B8-E811-45A5-A520-E09AF09BA383}"/>
                  </a:ext>
                </a:extLst>
              </p:cNvPr>
              <p:cNvSpPr>
                <a:spLocks noRot="1" noChangeAspect="1" noMove="1" noResize="1" noEditPoints="1" noAdjustHandles="1" noChangeArrowheads="1" noChangeShapeType="1" noTextEdit="1"/>
              </p:cNvSpPr>
              <p:nvPr/>
            </p:nvSpPr>
            <p:spPr>
              <a:xfrm>
                <a:off x="1292745" y="5930272"/>
                <a:ext cx="1541448" cy="70993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xmlns="" id="{798E6F8C-5347-4F42-93D0-317BB4AA3BF4}"/>
                  </a:ext>
                </a:extLst>
              </p:cNvPr>
              <p:cNvSpPr/>
              <p:nvPr/>
            </p:nvSpPr>
            <p:spPr>
              <a:xfrm>
                <a:off x="2834193" y="5930272"/>
                <a:ext cx="1564083" cy="702885"/>
              </a:xfrm>
              <a:prstGeom prst="rect">
                <a:avLst/>
              </a:prstGeom>
            </p:spPr>
            <p:txBody>
              <a:bodyPr wrap="none">
                <a:spAutoFit/>
              </a:bodyPr>
              <a:lstStyle/>
              <a:p>
                <a:pPr lvl="0" defTabSz="914400">
                  <a:defRPr/>
                </a:pPr>
                <a14:m>
                  <m:oMath xmlns:m="http://schemas.openxmlformats.org/officeDocument/2006/math">
                    <m:sSub>
                      <m:sSubPr>
                        <m:ctrlPr>
                          <a:rPr lang="en-US" sz="2800" i="1" smtClean="0">
                            <a:solidFill>
                              <a:schemeClr val="tx1"/>
                            </a:solidFill>
                            <a:latin typeface="Cambria Math"/>
                            <a:cs typeface="Arial" panose="020B0604020202020204" pitchFamily="34" charset="0"/>
                          </a:rPr>
                        </m:ctrlPr>
                      </m:sSubPr>
                      <m:e>
                        <m:r>
                          <a:rPr lang="en-US" sz="2800" b="0" i="1" smtClean="0">
                            <a:solidFill>
                              <a:schemeClr val="tx1"/>
                            </a:solidFill>
                            <a:latin typeface="Cambria Math" panose="02040503050406030204" pitchFamily="18" charset="0"/>
                            <a:cs typeface="Arial" panose="020B0604020202020204" pitchFamily="34" charset="0"/>
                          </a:rPr>
                          <m:t>𝑥</m:t>
                        </m:r>
                      </m:e>
                      <m:sub>
                        <m:r>
                          <a:rPr lang="en-US" sz="2800" b="0" i="1" smtClean="0">
                            <a:solidFill>
                              <a:schemeClr val="tx1"/>
                            </a:solidFill>
                            <a:latin typeface="Cambria Math" panose="02040503050406030204" pitchFamily="18" charset="0"/>
                            <a:cs typeface="Arial" panose="020B0604020202020204" pitchFamily="34" charset="0"/>
                          </a:rPr>
                          <m:t>1</m:t>
                        </m:r>
                      </m:sub>
                    </m:sSub>
                    <m:r>
                      <a:rPr lang="en-US" sz="2800" b="0" i="1" smtClean="0">
                        <a:solidFill>
                          <a:schemeClr val="tx1"/>
                        </a:solidFill>
                        <a:latin typeface="Cambria Math" panose="02040503050406030204" pitchFamily="18" charset="0"/>
                        <a:cs typeface="Arial" panose="020B0604020202020204" pitchFamily="34" charset="0"/>
                      </a:rPr>
                      <m:t>−</m:t>
                    </m:r>
                    <m:f>
                      <m:fPr>
                        <m:ctrlPr>
                          <a:rPr lang="en-US" sz="2800" b="0" i="1" smtClean="0">
                            <a:solidFill>
                              <a:schemeClr val="tx1"/>
                            </a:solidFill>
                            <a:latin typeface="Cambria Math"/>
                            <a:cs typeface="Arial" panose="020B0604020202020204" pitchFamily="34" charset="0"/>
                          </a:rPr>
                        </m:ctrlPr>
                      </m:fPr>
                      <m:num>
                        <m:r>
                          <a:rPr lang="en-US" sz="2800" b="0" i="1" smtClean="0">
                            <a:solidFill>
                              <a:schemeClr val="tx1"/>
                            </a:solidFill>
                            <a:latin typeface="Cambria Math" panose="02040503050406030204" pitchFamily="18" charset="0"/>
                            <a:cs typeface="Arial" panose="020B0604020202020204" pitchFamily="34" charset="0"/>
                          </a:rPr>
                          <m:t>1</m:t>
                        </m:r>
                      </m:num>
                      <m:den>
                        <m:r>
                          <a:rPr lang="en-US" sz="2800" b="0" i="1" smtClean="0">
                            <a:solidFill>
                              <a:schemeClr val="tx1"/>
                            </a:solidFill>
                            <a:latin typeface="Cambria Math" panose="02040503050406030204" pitchFamily="18" charset="0"/>
                            <a:cs typeface="Arial" panose="020B0604020202020204" pitchFamily="34" charset="0"/>
                          </a:rPr>
                          <m:t>3</m:t>
                        </m:r>
                      </m:den>
                    </m:f>
                  </m:oMath>
                </a14:m>
                <a:r>
                  <a:rPr lang="en-US" sz="2800" dirty="0">
                    <a:solidFill>
                      <a:srgbClr val="FF0000"/>
                    </a:solidFill>
                    <a:cs typeface="Arial" panose="020B0604020202020204" pitchFamily="34" charset="0"/>
                  </a:rPr>
                  <a:t> </a:t>
                </a:r>
                <a14:m>
                  <m:oMath xmlns:m="http://schemas.openxmlformats.org/officeDocument/2006/math">
                    <m:sSub>
                      <m:sSubPr>
                        <m:ctrlPr>
                          <a:rPr lang="en-US" sz="2800" i="1">
                            <a:solidFill>
                              <a:srgbClr val="FF0000"/>
                            </a:solidFill>
                            <a:latin typeface="Cambria Math"/>
                            <a:cs typeface="Arial" panose="020B0604020202020204" pitchFamily="34" charset="0"/>
                          </a:rPr>
                        </m:ctrlPr>
                      </m:sSubPr>
                      <m:e>
                        <m:r>
                          <a:rPr lang="en-US" sz="2800" b="0" i="1" smtClean="0">
                            <a:solidFill>
                              <a:srgbClr val="FF0000"/>
                            </a:solidFill>
                            <a:latin typeface="Cambria Math" panose="02040503050406030204" pitchFamily="18" charset="0"/>
                            <a:cs typeface="Arial" panose="020B0604020202020204" pitchFamily="34" charset="0"/>
                          </a:rPr>
                          <m:t>𝑥</m:t>
                        </m:r>
                      </m:e>
                      <m:sub>
                        <m:r>
                          <a:rPr lang="en-US" sz="2800" i="1">
                            <a:solidFill>
                              <a:srgbClr val="FF0000"/>
                            </a:solidFill>
                            <a:latin typeface="Cambria Math" panose="02040503050406030204" pitchFamily="18" charset="0"/>
                            <a:cs typeface="Arial" panose="020B0604020202020204" pitchFamily="34" charset="0"/>
                          </a:rPr>
                          <m:t>2</m:t>
                        </m:r>
                      </m:sub>
                    </m:sSub>
                  </m:oMath>
                </a14:m>
                <a:endParaRPr lang="en-US" sz="3200" dirty="0">
                  <a:solidFill>
                    <a:prstClr val="black"/>
                  </a:solidFill>
                </a:endParaRPr>
              </a:p>
            </p:txBody>
          </p:sp>
        </mc:Choice>
        <mc:Fallback xmlns="">
          <p:sp>
            <p:nvSpPr>
              <p:cNvPr id="7" name="Rectangle 6">
                <a:extLst>
                  <a:ext uri="{FF2B5EF4-FFF2-40B4-BE49-F238E27FC236}">
                    <a16:creationId xmlns:a16="http://schemas.microsoft.com/office/drawing/2014/main" id="{798E6F8C-5347-4F42-93D0-317BB4AA3BF4}"/>
                  </a:ext>
                </a:extLst>
              </p:cNvPr>
              <p:cNvSpPr>
                <a:spLocks noRot="1" noChangeAspect="1" noMove="1" noResize="1" noEditPoints="1" noAdjustHandles="1" noChangeArrowheads="1" noChangeShapeType="1" noTextEdit="1"/>
              </p:cNvSpPr>
              <p:nvPr/>
            </p:nvSpPr>
            <p:spPr>
              <a:xfrm>
                <a:off x="2834193" y="5930272"/>
                <a:ext cx="1564083" cy="70288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CC9AB0DF-5A7C-4BE8-B7D6-EEB139CE6C15}"/>
                  </a:ext>
                </a:extLst>
              </p:cNvPr>
              <p:cNvSpPr/>
              <p:nvPr/>
            </p:nvSpPr>
            <p:spPr>
              <a:xfrm>
                <a:off x="4536107" y="5926745"/>
                <a:ext cx="1275349" cy="702885"/>
              </a:xfrm>
              <a:prstGeom prst="rect">
                <a:avLst/>
              </a:prstGeom>
            </p:spPr>
            <p:txBody>
              <a:bodyPr wrap="none">
                <a:spAutoFit/>
              </a:bodyPr>
              <a:lstStyle/>
              <a:p>
                <a:pPr lvl="0" defTabSz="914400">
                  <a:defRPr/>
                </a:pPr>
                <a:r>
                  <a:rPr lang="en-US" sz="2800" b="0" dirty="0">
                    <a:solidFill>
                      <a:schemeClr val="tx1"/>
                    </a:solidFill>
                    <a:cs typeface="Arial" panose="020B0604020202020204" pitchFamily="34" charset="0"/>
                  </a:rPr>
                  <a:t>z</a:t>
                </a:r>
                <a14:m>
                  <m:oMath xmlns:m="http://schemas.openxmlformats.org/officeDocument/2006/math">
                    <m:r>
                      <a:rPr lang="en-US" sz="2800" b="0" i="1" smtClean="0">
                        <a:solidFill>
                          <a:schemeClr val="tx1"/>
                        </a:solidFill>
                        <a:latin typeface="Cambria Math" panose="02040503050406030204" pitchFamily="18" charset="0"/>
                        <a:cs typeface="Arial" panose="020B0604020202020204" pitchFamily="34" charset="0"/>
                      </a:rPr>
                      <m:t>−</m:t>
                    </m:r>
                    <m:f>
                      <m:fPr>
                        <m:ctrlPr>
                          <a:rPr lang="en-US" sz="2800" b="0" i="1" smtClean="0">
                            <a:solidFill>
                              <a:schemeClr val="tx1"/>
                            </a:solidFill>
                            <a:latin typeface="Cambria Math"/>
                            <a:cs typeface="Arial" panose="020B0604020202020204" pitchFamily="34" charset="0"/>
                          </a:rPr>
                        </m:ctrlPr>
                      </m:fPr>
                      <m:num>
                        <m:r>
                          <a:rPr lang="en-US" sz="2800" b="0" i="1" smtClean="0">
                            <a:solidFill>
                              <a:schemeClr val="tx1"/>
                            </a:solidFill>
                            <a:latin typeface="Cambria Math" panose="02040503050406030204" pitchFamily="18" charset="0"/>
                            <a:cs typeface="Arial" panose="020B0604020202020204" pitchFamily="34" charset="0"/>
                          </a:rPr>
                          <m:t>1</m:t>
                        </m:r>
                      </m:num>
                      <m:den>
                        <m:r>
                          <a:rPr lang="en-US" sz="2800" b="0" i="1" smtClean="0">
                            <a:solidFill>
                              <a:schemeClr val="tx1"/>
                            </a:solidFill>
                            <a:latin typeface="Cambria Math" panose="02040503050406030204" pitchFamily="18" charset="0"/>
                            <a:cs typeface="Arial" panose="020B0604020202020204" pitchFamily="34" charset="0"/>
                          </a:rPr>
                          <m:t>3</m:t>
                        </m:r>
                      </m:den>
                    </m:f>
                  </m:oMath>
                </a14:m>
                <a:r>
                  <a:rPr lang="en-US" sz="2800" dirty="0">
                    <a:solidFill>
                      <a:srgbClr val="FF0000"/>
                    </a:solidFill>
                    <a:cs typeface="Arial" panose="020B0604020202020204" pitchFamily="34" charset="0"/>
                  </a:rPr>
                  <a:t> </a:t>
                </a:r>
                <a14:m>
                  <m:oMath xmlns:m="http://schemas.openxmlformats.org/officeDocument/2006/math">
                    <m:sSub>
                      <m:sSubPr>
                        <m:ctrlPr>
                          <a:rPr lang="en-US" sz="2800" i="1">
                            <a:solidFill>
                              <a:srgbClr val="FF0000"/>
                            </a:solidFill>
                            <a:latin typeface="Cambria Math"/>
                            <a:cs typeface="Arial" panose="020B0604020202020204" pitchFamily="34" charset="0"/>
                          </a:rPr>
                        </m:ctrlPr>
                      </m:sSubPr>
                      <m:e>
                        <m:r>
                          <a:rPr lang="en-US" sz="2800" b="0" i="1" smtClean="0">
                            <a:solidFill>
                              <a:srgbClr val="FF0000"/>
                            </a:solidFill>
                            <a:latin typeface="Cambria Math" panose="02040503050406030204" pitchFamily="18" charset="0"/>
                            <a:cs typeface="Arial" panose="020B0604020202020204" pitchFamily="34" charset="0"/>
                          </a:rPr>
                          <m:t>𝑥</m:t>
                        </m:r>
                      </m:e>
                      <m:sub>
                        <m:r>
                          <a:rPr lang="en-US" sz="2800" i="1">
                            <a:solidFill>
                              <a:srgbClr val="FF0000"/>
                            </a:solidFill>
                            <a:latin typeface="Cambria Math" panose="02040503050406030204" pitchFamily="18" charset="0"/>
                            <a:cs typeface="Arial" panose="020B0604020202020204" pitchFamily="34" charset="0"/>
                          </a:rPr>
                          <m:t>2</m:t>
                        </m:r>
                      </m:sub>
                    </m:sSub>
                  </m:oMath>
                </a14:m>
                <a:endParaRPr lang="en-US" sz="3200" dirty="0">
                  <a:solidFill>
                    <a:prstClr val="black"/>
                  </a:solidFill>
                </a:endParaRPr>
              </a:p>
            </p:txBody>
          </p:sp>
        </mc:Choice>
        <mc:Fallback xmlns="">
          <p:sp>
            <p:nvSpPr>
              <p:cNvPr id="8" name="Rectangle 7">
                <a:extLst>
                  <a:ext uri="{FF2B5EF4-FFF2-40B4-BE49-F238E27FC236}">
                    <a16:creationId xmlns:a16="http://schemas.microsoft.com/office/drawing/2014/main" id="{CC9AB0DF-5A7C-4BE8-B7D6-EEB139CE6C15}"/>
                  </a:ext>
                </a:extLst>
              </p:cNvPr>
              <p:cNvSpPr>
                <a:spLocks noRot="1" noChangeAspect="1" noMove="1" noResize="1" noEditPoints="1" noAdjustHandles="1" noChangeArrowheads="1" noChangeShapeType="1" noTextEdit="1"/>
              </p:cNvSpPr>
              <p:nvPr/>
            </p:nvSpPr>
            <p:spPr>
              <a:xfrm>
                <a:off x="4536107" y="5926745"/>
                <a:ext cx="1275349" cy="702885"/>
              </a:xfrm>
              <a:prstGeom prst="rect">
                <a:avLst/>
              </a:prstGeom>
              <a:blipFill>
                <a:blip r:embed="rId6"/>
                <a:stretch>
                  <a:fillRect l="-9569" b="-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xmlns="" id="{30C2DDF0-A637-488F-9F6D-390A86D381E7}"/>
                  </a:ext>
                </a:extLst>
              </p:cNvPr>
              <p:cNvSpPr/>
              <p:nvPr/>
            </p:nvSpPr>
            <p:spPr>
              <a:xfrm>
                <a:off x="6100190" y="5930272"/>
                <a:ext cx="1357103" cy="709938"/>
              </a:xfrm>
              <a:prstGeom prst="rect">
                <a:avLst/>
              </a:prstGeom>
            </p:spPr>
            <p:txBody>
              <a:bodyPr wrap="none">
                <a:spAutoFit/>
              </a:bodyPr>
              <a:lstStyle/>
              <a:p>
                <a:pPr lvl="0" defTabSz="914400">
                  <a:defRPr/>
                </a:pPr>
                <a:r>
                  <a:rPr lang="en-US" sz="2800" b="0" dirty="0">
                    <a:solidFill>
                      <a:schemeClr val="tx1"/>
                    </a:solidFill>
                    <a:cs typeface="Arial" panose="020B0604020202020204" pitchFamily="34" charset="0"/>
                  </a:rPr>
                  <a:t>w</a:t>
                </a:r>
                <a14:m>
                  <m:oMath xmlns:m="http://schemas.openxmlformats.org/officeDocument/2006/math">
                    <m:r>
                      <a:rPr lang="en-US" sz="2800" b="0" i="1" smtClean="0">
                        <a:solidFill>
                          <a:schemeClr val="tx1"/>
                        </a:solidFill>
                        <a:latin typeface="Cambria Math" panose="02040503050406030204" pitchFamily="18" charset="0"/>
                        <a:cs typeface="Arial" panose="020B0604020202020204" pitchFamily="34" charset="0"/>
                      </a:rPr>
                      <m:t>−</m:t>
                    </m:r>
                    <m:f>
                      <m:fPr>
                        <m:ctrlPr>
                          <a:rPr lang="en-US" sz="2800" b="0" i="1" smtClean="0">
                            <a:solidFill>
                              <a:schemeClr val="tx1"/>
                            </a:solidFill>
                            <a:latin typeface="Cambria Math"/>
                            <a:cs typeface="Arial" panose="020B0604020202020204" pitchFamily="34" charset="0"/>
                          </a:rPr>
                        </m:ctrlPr>
                      </m:fPr>
                      <m:num>
                        <m:r>
                          <a:rPr lang="en-US" sz="2800" b="0" i="1" smtClean="0">
                            <a:solidFill>
                              <a:schemeClr val="tx1"/>
                            </a:solidFill>
                            <a:latin typeface="Cambria Math" panose="02040503050406030204" pitchFamily="18" charset="0"/>
                            <a:cs typeface="Arial" panose="020B0604020202020204" pitchFamily="34" charset="0"/>
                          </a:rPr>
                          <m:t>5</m:t>
                        </m:r>
                      </m:num>
                      <m:den>
                        <m:r>
                          <a:rPr lang="en-US" sz="2800" b="0" i="1" smtClean="0">
                            <a:solidFill>
                              <a:schemeClr val="tx1"/>
                            </a:solidFill>
                            <a:latin typeface="Cambria Math" panose="02040503050406030204" pitchFamily="18" charset="0"/>
                            <a:cs typeface="Arial" panose="020B0604020202020204" pitchFamily="34" charset="0"/>
                          </a:rPr>
                          <m:t>3</m:t>
                        </m:r>
                      </m:den>
                    </m:f>
                  </m:oMath>
                </a14:m>
                <a:r>
                  <a:rPr lang="en-US" sz="2800" dirty="0">
                    <a:solidFill>
                      <a:srgbClr val="FF0000"/>
                    </a:solidFill>
                    <a:cs typeface="Arial" panose="020B0604020202020204" pitchFamily="34" charset="0"/>
                  </a:rPr>
                  <a:t> </a:t>
                </a:r>
                <a14:m>
                  <m:oMath xmlns:m="http://schemas.openxmlformats.org/officeDocument/2006/math">
                    <m:sSub>
                      <m:sSubPr>
                        <m:ctrlPr>
                          <a:rPr lang="en-US" sz="2800" i="1">
                            <a:solidFill>
                              <a:srgbClr val="FF0000"/>
                            </a:solidFill>
                            <a:latin typeface="Cambria Math"/>
                            <a:cs typeface="Arial" panose="020B0604020202020204" pitchFamily="34" charset="0"/>
                          </a:rPr>
                        </m:ctrlPr>
                      </m:sSubPr>
                      <m:e>
                        <m:r>
                          <a:rPr lang="en-US" sz="2800" b="0" i="1" smtClean="0">
                            <a:solidFill>
                              <a:srgbClr val="FF0000"/>
                            </a:solidFill>
                            <a:latin typeface="Cambria Math" panose="02040503050406030204" pitchFamily="18" charset="0"/>
                            <a:cs typeface="Arial" panose="020B0604020202020204" pitchFamily="34" charset="0"/>
                          </a:rPr>
                          <m:t>𝑥</m:t>
                        </m:r>
                      </m:e>
                      <m:sub>
                        <m:r>
                          <a:rPr lang="en-US" sz="2800" i="1">
                            <a:solidFill>
                              <a:srgbClr val="FF0000"/>
                            </a:solidFill>
                            <a:latin typeface="Cambria Math" panose="02040503050406030204" pitchFamily="18" charset="0"/>
                            <a:cs typeface="Arial" panose="020B0604020202020204" pitchFamily="34" charset="0"/>
                          </a:rPr>
                          <m:t>2</m:t>
                        </m:r>
                      </m:sub>
                    </m:sSub>
                  </m:oMath>
                </a14:m>
                <a:endParaRPr lang="en-US" sz="3200" dirty="0">
                  <a:solidFill>
                    <a:prstClr val="black"/>
                  </a:solidFill>
                </a:endParaRPr>
              </a:p>
            </p:txBody>
          </p:sp>
        </mc:Choice>
        <mc:Fallback xmlns="">
          <p:sp>
            <p:nvSpPr>
              <p:cNvPr id="9" name="Rectangle 8">
                <a:extLst>
                  <a:ext uri="{FF2B5EF4-FFF2-40B4-BE49-F238E27FC236}">
                    <a16:creationId xmlns:a16="http://schemas.microsoft.com/office/drawing/2014/main" id="{30C2DDF0-A637-488F-9F6D-390A86D381E7}"/>
                  </a:ext>
                </a:extLst>
              </p:cNvPr>
              <p:cNvSpPr>
                <a:spLocks noRot="1" noChangeAspect="1" noMove="1" noResize="1" noEditPoints="1" noAdjustHandles="1" noChangeArrowheads="1" noChangeShapeType="1" noTextEdit="1"/>
              </p:cNvSpPr>
              <p:nvPr/>
            </p:nvSpPr>
            <p:spPr>
              <a:xfrm>
                <a:off x="6100190" y="5930272"/>
                <a:ext cx="1357103" cy="709938"/>
              </a:xfrm>
              <a:prstGeom prst="rect">
                <a:avLst/>
              </a:prstGeom>
              <a:blipFill>
                <a:blip r:embed="rId7"/>
                <a:stretch>
                  <a:fillRect l="-9459" b="-11207"/>
                </a:stretch>
              </a:blipFill>
            </p:spPr>
            <p:txBody>
              <a:bodyPr/>
              <a:lstStyle/>
              <a:p>
                <a:r>
                  <a:rPr lang="en-US">
                    <a:noFill/>
                  </a:rPr>
                  <a:t> </a:t>
                </a:r>
              </a:p>
            </p:txBody>
          </p:sp>
        </mc:Fallback>
      </mc:AlternateContent>
    </p:spTree>
    <p:extLst>
      <p:ext uri="{BB962C8B-B14F-4D97-AF65-F5344CB8AC3E}">
        <p14:creationId xmlns:p14="http://schemas.microsoft.com/office/powerpoint/2010/main" val="2551828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r>
                  <a:rPr lang="en-US" dirty="0">
                    <a:latin typeface="Arial" panose="020B0604020202020204" pitchFamily="34" charset="0"/>
                    <a:cs typeface="Arial" panose="020B0604020202020204" pitchFamily="34" charset="0"/>
                  </a:rPr>
                  <a:t>Phase 2. (Minimization so choose more positive value in </a:t>
                </a:r>
                <a:r>
                  <a:rPr lang="en-US" dirty="0" smtClean="0">
                    <a:latin typeface="Arial" panose="020B0604020202020204" pitchFamily="34" charset="0"/>
                    <a:cs typeface="Arial" panose="020B0604020202020204" pitchFamily="34" charset="0"/>
                  </a:rPr>
                  <a:t>z-row</a:t>
                </a:r>
                <a:r>
                  <a:rPr lang="en-US" dirty="0">
                    <a:latin typeface="Arial" panose="020B0604020202020204" pitchFamily="34" charset="0"/>
                    <a:cs typeface="Arial" panose="020B0604020202020204" pitchFamily="34" charset="0"/>
                  </a:rPr>
                  <a:t>) </a:t>
                </a:r>
              </a:p>
              <a:p>
                <a:pPr marL="0" indent="0">
                  <a:buNone/>
                </a:pPr>
                <a:endParaRPr lang="en-US" dirty="0">
                  <a:latin typeface="Arial" panose="020B0604020202020204" pitchFamily="34" charset="0"/>
                  <a:cs typeface="Arial" panose="020B0604020202020204" pitchFamily="34" charset="0"/>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𝑤</m:t>
                      </m:r>
                      <m:r>
                        <a:rPr lang="en-US" sz="2000" i="1" dirty="0">
                          <a:solidFill>
                            <a:prstClr val="black"/>
                          </a:solidFill>
                          <a:effectLst/>
                          <a:latin typeface="Cambria Math" panose="02040503050406030204" pitchFamily="18" charset="0"/>
                        </a:rPr>
                        <m:t>−7</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𝑧</m:t>
                      </m:r>
                      <m:r>
                        <a:rPr lang="en-US" sz="2000" i="1" dirty="0">
                          <a:solidFill>
                            <a:prstClr val="black"/>
                          </a:solidFill>
                          <a:effectLst/>
                          <a:latin typeface="Cambria Math" panose="02040503050406030204" pitchFamily="18" charset="0"/>
                        </a:rPr>
                        <m:t>+4</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 xmlns:a16="http://schemas.microsoft.com/office/drawing/2014/main" xmlns:a14="http://schemas.microsoft.com/office/drawing/2010/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rotWithShape="1">
                <a:blip r:embed="rId2"/>
                <a:stretch>
                  <a:fillRect l="-1887" t="-119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extLst>
                  <p:ext uri="{D42A27DB-BD31-4B8C-83A1-F6EECF244321}">
                    <p14:modId xmlns:p14="http://schemas.microsoft.com/office/powerpoint/2010/main" val="282883945"/>
                  </p:ext>
                </p:extLst>
              </p:nvPr>
            </p:nvGraphicFramePr>
            <p:xfrm>
              <a:off x="1370694" y="3236570"/>
              <a:ext cx="6279476" cy="3383280"/>
            </p:xfrm>
            <a:graphic>
              <a:graphicData uri="http://schemas.openxmlformats.org/drawingml/2006/table">
                <a:tbl>
                  <a:tblPr firstRow="1" bandRow="1">
                    <a:tableStyleId>{7DF18680-E054-41AD-8BC1-D1AEF772440D}</a:tableStyleId>
                  </a:tblPr>
                  <a:tblGrid>
                    <a:gridCol w="919480">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913143">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1/5</a:t>
                          </a:r>
                        </a:p>
                      </a:txBody>
                      <a:tcPr/>
                    </a:tc>
                    <a:tc>
                      <a:txBody>
                        <a:bodyPr/>
                        <a:lstStyle/>
                        <a:p>
                          <a:pPr algn="ctr"/>
                          <a:r>
                            <a:rPr lang="en-US" dirty="0"/>
                            <a:t>0</a:t>
                          </a:r>
                        </a:p>
                      </a:txBody>
                      <a:tcPr/>
                    </a:tc>
                    <a:tc>
                      <a:txBody>
                        <a:bodyPr/>
                        <a:lstStyle/>
                        <a:p>
                          <a:pPr algn="ctr"/>
                          <a:r>
                            <a:rPr lang="en-US" dirty="0">
                              <a:solidFill>
                                <a:schemeClr val="tx1"/>
                              </a:solidFill>
                            </a:rPr>
                            <a:t>18/5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1/5</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3/5</m:t>
                                </m:r>
                              </m:oMath>
                            </m:oMathPara>
                          </a14:m>
                          <a:endParaRPr lang="en-US" dirty="0">
                            <a:solidFill>
                              <a:schemeClr val="tx1"/>
                            </a:solidFill>
                          </a:endParaRPr>
                        </a:p>
                      </a:txBody>
                      <a:tcPr/>
                    </a:tc>
                    <a:tc>
                      <a:txBody>
                        <a:bodyPr/>
                        <a:lstStyle/>
                        <a:p>
                          <a:pPr algn="ctr"/>
                          <a:r>
                            <a:rPr lang="en-US" dirty="0">
                              <a:solidFill>
                                <a:schemeClr val="tx1"/>
                              </a:solidFill>
                            </a:rPr>
                            <a:t>3</a:t>
                          </a: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rgbClr val="FF0000"/>
                              </a:solidFill>
                            </a:rPr>
                            <a:t>-3/5</a:t>
                          </a:r>
                        </a:p>
                      </a:txBody>
                      <a:tcPr/>
                    </a:tc>
                    <a:tc>
                      <a:txBody>
                        <a:bodyPr/>
                        <a:lstStyle/>
                        <a:p>
                          <a:pPr algn="ctr"/>
                          <a:r>
                            <a:rPr lang="en-US" dirty="0"/>
                            <a:t>0</a:t>
                          </a:r>
                        </a:p>
                      </a:txBody>
                      <a:tcPr/>
                    </a:tc>
                    <a:tc>
                      <a:txBody>
                        <a:bodyPr/>
                        <a:lstStyle/>
                        <a:p>
                          <a:pPr algn="ctr"/>
                          <a:r>
                            <a:rPr lang="en-US" dirty="0"/>
                            <a:t>6/5</a:t>
                          </a:r>
                        </a:p>
                      </a:txBody>
                      <a:tcPr/>
                    </a:tc>
                    <a:tc>
                      <a:txBody>
                        <a:bodyPr/>
                        <a:lstStyle/>
                        <a:p>
                          <a:pPr algn="ctr"/>
                          <a:r>
                            <a:rPr lang="en-US" dirty="0"/>
                            <a:t>negative</a:t>
                          </a:r>
                        </a:p>
                      </a:txBody>
                      <a:tcPr/>
                    </a:tc>
                    <a:extLst>
                      <a:ext uri="{0D108BD9-81ED-4DB2-BD59-A6C34878D82A}">
                        <a16:rowId xmlns:a16="http://schemas.microsoft.com/office/drawing/2014/main" xmlns="" val="11014358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2</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solidFill>
                                <a:srgbClr val="FF0000"/>
                              </a:solidFill>
                            </a:rPr>
                            <a:t>1</a:t>
                          </a:r>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a16="http://schemas.microsoft.com/office/drawing/2014/main" id="{363C6AA0-D659-4938-81F4-B7B5A22D8D24}"/>
                  </a:ext>
                </a:extLst>
              </p:cNvPr>
              <p:cNvGraphicFramePr>
                <a:graphicFrameLocks noGrp="1"/>
              </p:cNvGraphicFramePr>
              <p:nvPr>
                <p:extLst>
                  <p:ext uri="{D42A27DB-BD31-4B8C-83A1-F6EECF244321}">
                    <p14:modId xmlns:p14="http://schemas.microsoft.com/office/powerpoint/2010/main" val="282883945"/>
                  </p:ext>
                </p:extLst>
              </p:nvPr>
            </p:nvGraphicFramePr>
            <p:xfrm>
              <a:off x="1370694" y="3236570"/>
              <a:ext cx="6279476" cy="3383280"/>
            </p:xfrm>
            <a:graphic>
              <a:graphicData uri="http://schemas.openxmlformats.org/drawingml/2006/table">
                <a:tbl>
                  <a:tblPr firstRow="1" bandRow="1">
                    <a:tableStyleId>{7DF18680-E054-41AD-8BC1-D1AEF772440D}</a:tableStyleId>
                  </a:tblPr>
                  <a:tblGrid>
                    <a:gridCol w="919480">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32917">
                      <a:extLst>
                        <a:ext uri="{9D8B030D-6E8A-4147-A177-3AD203B41FA5}">
                          <a16:colId xmlns:a16="http://schemas.microsoft.com/office/drawing/2014/main" val="1852071440"/>
                        </a:ext>
                      </a:extLst>
                    </a:gridCol>
                    <a:gridCol w="913143">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3"/>
                          <a:stretch>
                            <a:fillRect l="-143396" t="-3111" r="-734906" b="-148444"/>
                          </a:stretch>
                        </a:blipFill>
                      </a:tcPr>
                    </a:tc>
                    <a:tc>
                      <a:txBody>
                        <a:bodyPr/>
                        <a:lstStyle/>
                        <a:p>
                          <a:endParaRPr lang="en-US"/>
                        </a:p>
                      </a:txBody>
                      <a:tcPr>
                        <a:blipFill>
                          <a:blip r:embed="rId3"/>
                          <a:stretch>
                            <a:fillRect l="-213223" t="-3111" r="-543802" b="-148444"/>
                          </a:stretch>
                        </a:blipFill>
                      </a:tcPr>
                    </a:tc>
                    <a:tc>
                      <a:txBody>
                        <a:bodyPr/>
                        <a:lstStyle/>
                        <a:p>
                          <a:endParaRPr lang="en-US"/>
                        </a:p>
                      </a:txBody>
                      <a:tcPr>
                        <a:blipFill>
                          <a:blip r:embed="rId3"/>
                          <a:stretch>
                            <a:fillRect l="-252667" t="-3111" r="-338667" b="-148444"/>
                          </a:stretch>
                        </a:blipFill>
                      </a:tcPr>
                    </a:tc>
                    <a:tc>
                      <a:txBody>
                        <a:bodyPr/>
                        <a:lstStyle/>
                        <a:p>
                          <a:endParaRPr lang="en-US"/>
                        </a:p>
                      </a:txBody>
                      <a:tcPr>
                        <a:blipFill>
                          <a:blip r:embed="rId3"/>
                          <a:stretch>
                            <a:fillRect l="-394776" t="-3111" r="-279104" b="-148444"/>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64008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1/5</a:t>
                          </a:r>
                        </a:p>
                      </a:txBody>
                      <a:tcPr/>
                    </a:tc>
                    <a:tc>
                      <a:txBody>
                        <a:bodyPr/>
                        <a:lstStyle/>
                        <a:p>
                          <a:pPr algn="ctr"/>
                          <a:r>
                            <a:rPr lang="en-US" dirty="0"/>
                            <a:t>0</a:t>
                          </a:r>
                        </a:p>
                      </a:txBody>
                      <a:tcPr/>
                    </a:tc>
                    <a:tc>
                      <a:txBody>
                        <a:bodyPr/>
                        <a:lstStyle/>
                        <a:p>
                          <a:pPr algn="ctr"/>
                          <a:r>
                            <a:rPr lang="en-US" dirty="0">
                              <a:solidFill>
                                <a:schemeClr val="tx1"/>
                              </a:solidFill>
                            </a:rPr>
                            <a:t>18/5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val="3265417494"/>
                      </a:ext>
                    </a:extLst>
                  </a:tr>
                  <a:tr h="457200">
                    <a:tc>
                      <a:txBody>
                        <a:bodyPr/>
                        <a:lstStyle/>
                        <a:p>
                          <a:endParaRPr lang="en-US"/>
                        </a:p>
                      </a:txBody>
                      <a:tcPr>
                        <a:blipFill>
                          <a:blip r:embed="rId3"/>
                          <a:stretch>
                            <a:fillRect l="-662" t="-450667" r="-586093" b="-204000"/>
                          </a:stretch>
                        </a:blipFill>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1/5</a:t>
                          </a:r>
                        </a:p>
                      </a:txBody>
                      <a:tcPr/>
                    </a:tc>
                    <a:tc>
                      <a:txBody>
                        <a:bodyPr/>
                        <a:lstStyle/>
                        <a:p>
                          <a:pPr algn="ctr"/>
                          <a:r>
                            <a:rPr lang="en-US" dirty="0"/>
                            <a:t>0</a:t>
                          </a:r>
                        </a:p>
                      </a:txBody>
                      <a:tcPr/>
                    </a:tc>
                    <a:tc>
                      <a:txBody>
                        <a:bodyPr/>
                        <a:lstStyle/>
                        <a:p>
                          <a:endParaRPr lang="en-US"/>
                        </a:p>
                      </a:txBody>
                      <a:tcPr>
                        <a:blipFill>
                          <a:blip r:embed="rId3"/>
                          <a:stretch>
                            <a:fillRect l="-360326" t="-450667" r="-103261" b="-204000"/>
                          </a:stretch>
                        </a:blipFill>
                      </a:tcPr>
                    </a:tc>
                    <a:tc>
                      <a:txBody>
                        <a:bodyPr/>
                        <a:lstStyle/>
                        <a:p>
                          <a:pPr algn="ctr"/>
                          <a:r>
                            <a:rPr lang="en-US" dirty="0">
                              <a:solidFill>
                                <a:schemeClr val="tx1"/>
                              </a:solidFill>
                            </a:rPr>
                            <a:t>3</a:t>
                          </a:r>
                        </a:p>
                      </a:txBody>
                      <a:tcPr/>
                    </a:tc>
                    <a:extLst>
                      <a:ext uri="{0D108BD9-81ED-4DB2-BD59-A6C34878D82A}">
                        <a16:rowId xmlns:a16="http://schemas.microsoft.com/office/drawing/2014/main" val="1697728900"/>
                      </a:ext>
                    </a:extLst>
                  </a:tr>
                  <a:tr h="457200">
                    <a:tc>
                      <a:txBody>
                        <a:bodyPr/>
                        <a:lstStyle/>
                        <a:p>
                          <a:endParaRPr lang="en-US"/>
                        </a:p>
                      </a:txBody>
                      <a:tcPr>
                        <a:blipFill>
                          <a:blip r:embed="rId3"/>
                          <a:stretch>
                            <a:fillRect l="-662" t="-550667" r="-586093" b="-104000"/>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rgbClr val="FF0000"/>
                              </a:solidFill>
                            </a:rPr>
                            <a:t>-3/5</a:t>
                          </a:r>
                        </a:p>
                      </a:txBody>
                      <a:tcPr/>
                    </a:tc>
                    <a:tc>
                      <a:txBody>
                        <a:bodyPr/>
                        <a:lstStyle/>
                        <a:p>
                          <a:pPr algn="ctr"/>
                          <a:r>
                            <a:rPr lang="en-US" dirty="0"/>
                            <a:t>0</a:t>
                          </a:r>
                        </a:p>
                      </a:txBody>
                      <a:tcPr/>
                    </a:tc>
                    <a:tc>
                      <a:txBody>
                        <a:bodyPr/>
                        <a:lstStyle/>
                        <a:p>
                          <a:pPr algn="ctr"/>
                          <a:r>
                            <a:rPr lang="en-US" dirty="0"/>
                            <a:t>6/5</a:t>
                          </a:r>
                        </a:p>
                      </a:txBody>
                      <a:tcPr/>
                    </a:tc>
                    <a:tc>
                      <a:txBody>
                        <a:bodyPr/>
                        <a:lstStyle/>
                        <a:p>
                          <a:pPr algn="ctr"/>
                          <a:r>
                            <a:rPr lang="en-US" dirty="0"/>
                            <a:t>negative</a:t>
                          </a:r>
                        </a:p>
                      </a:txBody>
                      <a:tcPr/>
                    </a:tc>
                    <a:extLst>
                      <a:ext uri="{0D108BD9-81ED-4DB2-BD59-A6C34878D82A}">
                        <a16:rowId xmlns:a16="http://schemas.microsoft.com/office/drawing/2014/main" val="110143584"/>
                      </a:ext>
                    </a:extLst>
                  </a:tr>
                  <a:tr h="457200">
                    <a:tc>
                      <a:txBody>
                        <a:bodyPr/>
                        <a:lstStyle/>
                        <a:p>
                          <a:endParaRPr lang="en-US"/>
                        </a:p>
                      </a:txBody>
                      <a:tcPr>
                        <a:blipFill>
                          <a:blip r:embed="rId3"/>
                          <a:stretch>
                            <a:fillRect l="-662" t="-650667" r="-586093" b="-4000"/>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solidFill>
                                <a:srgbClr val="FF0000"/>
                              </a:solidFill>
                            </a:rPr>
                            <a:t>1</a:t>
                          </a:r>
                        </a:p>
                      </a:txBody>
                      <a:tcPr/>
                    </a:tc>
                    <a:extLst>
                      <a:ext uri="{0D108BD9-81ED-4DB2-BD59-A6C34878D82A}">
                        <a16:rowId xmlns:a16="http://schemas.microsoft.com/office/drawing/2014/main" val="3414884863"/>
                      </a:ext>
                    </a:extLst>
                  </a:tr>
                </a:tbl>
              </a:graphicData>
            </a:graphic>
          </p:graphicFrame>
        </mc:Fallback>
      </mc:AlternateContent>
    </p:spTree>
    <p:extLst>
      <p:ext uri="{BB962C8B-B14F-4D97-AF65-F5344CB8AC3E}">
        <p14:creationId xmlns:p14="http://schemas.microsoft.com/office/powerpoint/2010/main" val="2314194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𝑤</m:t>
                      </m:r>
                      <m:r>
                        <a:rPr lang="en-US" sz="2000" i="1" dirty="0">
                          <a:solidFill>
                            <a:prstClr val="black"/>
                          </a:solidFill>
                          <a:effectLst/>
                          <a:latin typeface="Cambria Math" panose="02040503050406030204" pitchFamily="18" charset="0"/>
                        </a:rPr>
                        <m:t>−7</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𝑧</m:t>
                      </m:r>
                      <m:r>
                        <a:rPr lang="en-US" sz="2000" i="1" dirty="0">
                          <a:solidFill>
                            <a:prstClr val="black"/>
                          </a:solidFill>
                          <a:effectLst/>
                          <a:latin typeface="Cambria Math" panose="02040503050406030204" pitchFamily="18" charset="0"/>
                        </a:rPr>
                        <m:t>+4</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extLst>
                  <p:ext uri="{D42A27DB-BD31-4B8C-83A1-F6EECF244321}">
                    <p14:modId xmlns:p14="http://schemas.microsoft.com/office/powerpoint/2010/main" val="1493284273"/>
                  </p:ext>
                </p:extLst>
              </p:nvPr>
            </p:nvGraphicFramePr>
            <p:xfrm>
              <a:off x="1431071" y="2420644"/>
              <a:ext cx="6279476" cy="3383280"/>
            </p:xfrm>
            <a:graphic>
              <a:graphicData uri="http://schemas.openxmlformats.org/drawingml/2006/table">
                <a:tbl>
                  <a:tblPr firstRow="1" bandRow="1">
                    <a:tableStyleId>{7DF18680-E054-41AD-8BC1-D1AEF772440D}</a:tableStyleId>
                  </a:tblPr>
                  <a:tblGrid>
                    <a:gridCol w="919480">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913143">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1/5</a:t>
                          </a:r>
                        </a:p>
                      </a:txBody>
                      <a:tcPr/>
                    </a:tc>
                    <a:tc>
                      <a:txBody>
                        <a:bodyPr/>
                        <a:lstStyle/>
                        <a:p>
                          <a:pPr algn="ctr"/>
                          <a:r>
                            <a:rPr lang="en-US" dirty="0"/>
                            <a:t>0</a:t>
                          </a:r>
                        </a:p>
                      </a:txBody>
                      <a:tcPr/>
                    </a:tc>
                    <a:tc>
                      <a:txBody>
                        <a:bodyPr/>
                        <a:lstStyle/>
                        <a:p>
                          <a:pPr algn="ctr"/>
                          <a:r>
                            <a:rPr lang="en-US" dirty="0">
                              <a:solidFill>
                                <a:schemeClr val="tx1"/>
                              </a:solidFill>
                            </a:rPr>
                            <a:t>18/5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1/5</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3/5</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rgbClr val="FF0000"/>
                              </a:solidFill>
                            </a:rPr>
                            <a:t>-3/5</a:t>
                          </a:r>
                        </a:p>
                      </a:txBody>
                      <a:tcPr/>
                    </a:tc>
                    <a:tc>
                      <a:txBody>
                        <a:bodyPr/>
                        <a:lstStyle/>
                        <a:p>
                          <a:pPr algn="ctr"/>
                          <a:r>
                            <a:rPr lang="en-US" dirty="0"/>
                            <a:t>0</a:t>
                          </a:r>
                        </a:p>
                      </a:txBody>
                      <a:tcPr/>
                    </a:tc>
                    <a:tc>
                      <a:txBody>
                        <a:bodyPr/>
                        <a:lstStyle/>
                        <a:p>
                          <a:pPr algn="ctr"/>
                          <a:r>
                            <a:rPr lang="en-US" dirty="0"/>
                            <a:t>6/5</a:t>
                          </a:r>
                        </a:p>
                      </a:txBody>
                      <a:tcPr/>
                    </a:tc>
                    <a:tc>
                      <a:txBody>
                        <a:bodyPr/>
                        <a:lstStyle/>
                        <a:p>
                          <a:pPr algn="ctr"/>
                          <a:endParaRPr lang="en-US" dirty="0"/>
                        </a:p>
                      </a:txBody>
                      <a:tcPr/>
                    </a:tc>
                    <a:extLst>
                      <a:ext uri="{0D108BD9-81ED-4DB2-BD59-A6C34878D82A}">
                        <a16:rowId xmlns:a16="http://schemas.microsoft.com/office/drawing/2014/main" xmlns="" val="11014358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1</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a:t>
                          </a:r>
                        </a:p>
                      </a:txBody>
                      <a:tcPr/>
                    </a:tc>
                    <a:tc>
                      <a:txBody>
                        <a:bodyPr/>
                        <a:lstStyle/>
                        <a:p>
                          <a:pPr algn="ctr"/>
                          <a:r>
                            <a:rPr lang="en-US" dirty="0"/>
                            <a:t>1</a:t>
                          </a:r>
                        </a:p>
                      </a:txBody>
                      <a:tcPr/>
                    </a:tc>
                    <a:tc>
                      <a:txBody>
                        <a:bodyPr/>
                        <a:lstStyle/>
                        <a:p>
                          <a:pPr algn="ctr"/>
                          <a:r>
                            <a:rPr lang="en-US" dirty="0"/>
                            <a:t>1</a:t>
                          </a:r>
                        </a:p>
                      </a:txBody>
                      <a:tcPr/>
                    </a:tc>
                    <a:tc>
                      <a:txBody>
                        <a:bodyPr/>
                        <a:lstStyle/>
                        <a:p>
                          <a:pPr algn="ctr"/>
                          <a:endParaRPr lang="en-US" dirty="0">
                            <a:solidFill>
                              <a:srgbClr val="FF0000"/>
                            </a:solidFill>
                          </a:endParaRPr>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a16="http://schemas.microsoft.com/office/drawing/2014/main" id="{363C6AA0-D659-4938-81F4-B7B5A22D8D24}"/>
                  </a:ext>
                </a:extLst>
              </p:cNvPr>
              <p:cNvGraphicFramePr>
                <a:graphicFrameLocks noGrp="1"/>
              </p:cNvGraphicFramePr>
              <p:nvPr>
                <p:extLst>
                  <p:ext uri="{D42A27DB-BD31-4B8C-83A1-F6EECF244321}">
                    <p14:modId xmlns:p14="http://schemas.microsoft.com/office/powerpoint/2010/main" val="1493284273"/>
                  </p:ext>
                </p:extLst>
              </p:nvPr>
            </p:nvGraphicFramePr>
            <p:xfrm>
              <a:off x="1431071" y="2420644"/>
              <a:ext cx="6279476" cy="3383280"/>
            </p:xfrm>
            <a:graphic>
              <a:graphicData uri="http://schemas.openxmlformats.org/drawingml/2006/table">
                <a:tbl>
                  <a:tblPr firstRow="1" bandRow="1">
                    <a:tableStyleId>{7DF18680-E054-41AD-8BC1-D1AEF772440D}</a:tableStyleId>
                  </a:tblPr>
                  <a:tblGrid>
                    <a:gridCol w="919480">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32917">
                      <a:extLst>
                        <a:ext uri="{9D8B030D-6E8A-4147-A177-3AD203B41FA5}">
                          <a16:colId xmlns:a16="http://schemas.microsoft.com/office/drawing/2014/main" val="1852071440"/>
                        </a:ext>
                      </a:extLst>
                    </a:gridCol>
                    <a:gridCol w="913143">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3"/>
                          <a:stretch>
                            <a:fillRect l="-143396" t="-3556" r="-734906" b="-148000"/>
                          </a:stretch>
                        </a:blipFill>
                      </a:tcPr>
                    </a:tc>
                    <a:tc>
                      <a:txBody>
                        <a:bodyPr/>
                        <a:lstStyle/>
                        <a:p>
                          <a:endParaRPr lang="en-US"/>
                        </a:p>
                      </a:txBody>
                      <a:tcPr>
                        <a:blipFill>
                          <a:blip r:embed="rId3"/>
                          <a:stretch>
                            <a:fillRect l="-213223" t="-3556" r="-543802" b="-148000"/>
                          </a:stretch>
                        </a:blipFill>
                      </a:tcPr>
                    </a:tc>
                    <a:tc>
                      <a:txBody>
                        <a:bodyPr/>
                        <a:lstStyle/>
                        <a:p>
                          <a:endParaRPr lang="en-US"/>
                        </a:p>
                      </a:txBody>
                      <a:tcPr>
                        <a:blipFill>
                          <a:blip r:embed="rId3"/>
                          <a:stretch>
                            <a:fillRect l="-252667" t="-3556" r="-338667" b="-148000"/>
                          </a:stretch>
                        </a:blipFill>
                      </a:tcPr>
                    </a:tc>
                    <a:tc>
                      <a:txBody>
                        <a:bodyPr/>
                        <a:lstStyle/>
                        <a:p>
                          <a:endParaRPr lang="en-US"/>
                        </a:p>
                      </a:txBody>
                      <a:tcPr>
                        <a:blipFill>
                          <a:blip r:embed="rId3"/>
                          <a:stretch>
                            <a:fillRect l="-394776" t="-3556" r="-279104" b="-14800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64008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1/5</a:t>
                          </a:r>
                        </a:p>
                      </a:txBody>
                      <a:tcPr/>
                    </a:tc>
                    <a:tc>
                      <a:txBody>
                        <a:bodyPr/>
                        <a:lstStyle/>
                        <a:p>
                          <a:pPr algn="ctr"/>
                          <a:r>
                            <a:rPr lang="en-US" dirty="0"/>
                            <a:t>0</a:t>
                          </a:r>
                        </a:p>
                      </a:txBody>
                      <a:tcPr/>
                    </a:tc>
                    <a:tc>
                      <a:txBody>
                        <a:bodyPr/>
                        <a:lstStyle/>
                        <a:p>
                          <a:pPr algn="ctr"/>
                          <a:r>
                            <a:rPr lang="en-US" dirty="0">
                              <a:solidFill>
                                <a:schemeClr val="tx1"/>
                              </a:solidFill>
                            </a:rPr>
                            <a:t>18/5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val="3265417494"/>
                      </a:ext>
                    </a:extLst>
                  </a:tr>
                  <a:tr h="457200">
                    <a:tc>
                      <a:txBody>
                        <a:bodyPr/>
                        <a:lstStyle/>
                        <a:p>
                          <a:endParaRPr lang="en-US"/>
                        </a:p>
                      </a:txBody>
                      <a:tcPr>
                        <a:blipFill>
                          <a:blip r:embed="rId3"/>
                          <a:stretch>
                            <a:fillRect l="-662" t="-452000" r="-586093" b="-202667"/>
                          </a:stretch>
                        </a:blipFill>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1/5</a:t>
                          </a:r>
                        </a:p>
                      </a:txBody>
                      <a:tcPr/>
                    </a:tc>
                    <a:tc>
                      <a:txBody>
                        <a:bodyPr/>
                        <a:lstStyle/>
                        <a:p>
                          <a:pPr algn="ctr"/>
                          <a:r>
                            <a:rPr lang="en-US" dirty="0"/>
                            <a:t>0</a:t>
                          </a:r>
                        </a:p>
                      </a:txBody>
                      <a:tcPr/>
                    </a:tc>
                    <a:tc>
                      <a:txBody>
                        <a:bodyPr/>
                        <a:lstStyle/>
                        <a:p>
                          <a:endParaRPr lang="en-US"/>
                        </a:p>
                      </a:txBody>
                      <a:tcPr>
                        <a:blipFill>
                          <a:blip r:embed="rId3"/>
                          <a:stretch>
                            <a:fillRect l="-360326" t="-452000" r="-103261" b="-202667"/>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1697728900"/>
                      </a:ext>
                    </a:extLst>
                  </a:tr>
                  <a:tr h="457200">
                    <a:tc>
                      <a:txBody>
                        <a:bodyPr/>
                        <a:lstStyle/>
                        <a:p>
                          <a:endParaRPr lang="en-US"/>
                        </a:p>
                      </a:txBody>
                      <a:tcPr>
                        <a:blipFill>
                          <a:blip r:embed="rId3"/>
                          <a:stretch>
                            <a:fillRect l="-662" t="-552000" r="-586093" b="-102667"/>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rgbClr val="FF0000"/>
                              </a:solidFill>
                            </a:rPr>
                            <a:t>-3/5</a:t>
                          </a:r>
                        </a:p>
                      </a:txBody>
                      <a:tcPr/>
                    </a:tc>
                    <a:tc>
                      <a:txBody>
                        <a:bodyPr/>
                        <a:lstStyle/>
                        <a:p>
                          <a:pPr algn="ctr"/>
                          <a:r>
                            <a:rPr lang="en-US" dirty="0"/>
                            <a:t>0</a:t>
                          </a:r>
                        </a:p>
                      </a:txBody>
                      <a:tcPr/>
                    </a:tc>
                    <a:tc>
                      <a:txBody>
                        <a:bodyPr/>
                        <a:lstStyle/>
                        <a:p>
                          <a:pPr algn="ctr"/>
                          <a:r>
                            <a:rPr lang="en-US" dirty="0"/>
                            <a:t>6/5</a:t>
                          </a:r>
                        </a:p>
                      </a:txBody>
                      <a:tcPr/>
                    </a:tc>
                    <a:tc>
                      <a:txBody>
                        <a:bodyPr/>
                        <a:lstStyle/>
                        <a:p>
                          <a:pPr algn="ctr"/>
                          <a:endParaRPr lang="en-US" dirty="0"/>
                        </a:p>
                      </a:txBody>
                      <a:tcPr/>
                    </a:tc>
                    <a:extLst>
                      <a:ext uri="{0D108BD9-81ED-4DB2-BD59-A6C34878D82A}">
                        <a16:rowId xmlns:a16="http://schemas.microsoft.com/office/drawing/2014/main" val="110143584"/>
                      </a:ext>
                    </a:extLst>
                  </a:tr>
                  <a:tr h="457200">
                    <a:tc>
                      <a:txBody>
                        <a:bodyPr/>
                        <a:lstStyle/>
                        <a:p>
                          <a:endParaRPr lang="en-US"/>
                        </a:p>
                      </a:txBody>
                      <a:tcPr>
                        <a:blipFill>
                          <a:blip r:embed="rId3"/>
                          <a:stretch>
                            <a:fillRect l="-662" t="-652000" r="-586093" b="-2667"/>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a:t>
                          </a:r>
                        </a:p>
                      </a:txBody>
                      <a:tcPr/>
                    </a:tc>
                    <a:tc>
                      <a:txBody>
                        <a:bodyPr/>
                        <a:lstStyle/>
                        <a:p>
                          <a:pPr algn="ctr"/>
                          <a:r>
                            <a:rPr lang="en-US" dirty="0"/>
                            <a:t>1</a:t>
                          </a:r>
                        </a:p>
                      </a:txBody>
                      <a:tcPr/>
                    </a:tc>
                    <a:tc>
                      <a:txBody>
                        <a:bodyPr/>
                        <a:lstStyle/>
                        <a:p>
                          <a:pPr algn="ctr"/>
                          <a:r>
                            <a:rPr lang="en-US" dirty="0"/>
                            <a:t>1</a:t>
                          </a:r>
                        </a:p>
                      </a:txBody>
                      <a:tcPr/>
                    </a:tc>
                    <a:tc>
                      <a:txBody>
                        <a:bodyPr/>
                        <a:lstStyle/>
                        <a:p>
                          <a:pPr algn="ctr"/>
                          <a:endParaRPr lang="en-US" dirty="0">
                            <a:solidFill>
                              <a:srgbClr val="FF0000"/>
                            </a:solidFill>
                          </a:endParaRPr>
                        </a:p>
                      </a:txBody>
                      <a:tcPr/>
                    </a:tc>
                    <a:extLst>
                      <a:ext uri="{0D108BD9-81ED-4DB2-BD59-A6C34878D82A}">
                        <a16:rowId xmlns:a16="http://schemas.microsoft.com/office/drawing/2014/main" val="3414884863"/>
                      </a:ext>
                    </a:extLst>
                  </a:tr>
                </a:tbl>
              </a:graphicData>
            </a:graphic>
          </p:graphicFrame>
        </mc:Fallback>
      </mc:AlternateContent>
    </p:spTree>
    <p:extLst>
      <p:ext uri="{BB962C8B-B14F-4D97-AF65-F5344CB8AC3E}">
        <p14:creationId xmlns:p14="http://schemas.microsoft.com/office/powerpoint/2010/main" val="4225667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𝑤</m:t>
                      </m:r>
                      <m:r>
                        <a:rPr lang="en-US" sz="2000" i="1" dirty="0">
                          <a:solidFill>
                            <a:prstClr val="black"/>
                          </a:solidFill>
                          <a:effectLst/>
                          <a:latin typeface="Cambria Math" panose="02040503050406030204" pitchFamily="18" charset="0"/>
                        </a:rPr>
                        <m:t>−7</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𝑧</m:t>
                      </m:r>
                      <m:r>
                        <a:rPr lang="en-US" sz="2000" i="1" dirty="0">
                          <a:solidFill>
                            <a:prstClr val="black"/>
                          </a:solidFill>
                          <a:effectLst/>
                          <a:latin typeface="Cambria Math" panose="02040503050406030204" pitchFamily="18" charset="0"/>
                        </a:rPr>
                        <m:t>+4</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extLst>
                  <p:ext uri="{D42A27DB-BD31-4B8C-83A1-F6EECF244321}">
                    <p14:modId xmlns:p14="http://schemas.microsoft.com/office/powerpoint/2010/main" val="2438691437"/>
                  </p:ext>
                </p:extLst>
              </p:nvPr>
            </p:nvGraphicFramePr>
            <p:xfrm>
              <a:off x="1469168" y="1956410"/>
              <a:ext cx="6203281" cy="338328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913143">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-1/5</a:t>
                          </a:r>
                        </a:p>
                      </a:txBody>
                      <a:tcPr/>
                    </a:tc>
                    <a:tc>
                      <a:txBody>
                        <a:bodyPr/>
                        <a:lstStyle/>
                        <a:p>
                          <a:pPr algn="ctr"/>
                          <a:r>
                            <a:rPr lang="en-US" dirty="0">
                              <a:solidFill>
                                <a:schemeClr val="tx1"/>
                              </a:solidFill>
                            </a:rPr>
                            <a:t>17/5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-1/5</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2/5</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3/5</a:t>
                          </a:r>
                        </a:p>
                      </a:txBody>
                      <a:tcPr/>
                    </a:tc>
                    <a:tc>
                      <a:txBody>
                        <a:bodyPr/>
                        <a:lstStyle/>
                        <a:p>
                          <a:pPr algn="ctr"/>
                          <a:r>
                            <a:rPr lang="en-US" dirty="0"/>
                            <a:t>9/5</a:t>
                          </a:r>
                        </a:p>
                      </a:txBody>
                      <a:tcPr/>
                    </a:tc>
                    <a:tc>
                      <a:txBody>
                        <a:bodyPr/>
                        <a:lstStyle/>
                        <a:p>
                          <a:pPr algn="ctr"/>
                          <a:endParaRPr lang="en-US" dirty="0"/>
                        </a:p>
                      </a:txBody>
                      <a:tcPr/>
                    </a:tc>
                    <a:extLst>
                      <a:ext uri="{0D108BD9-81ED-4DB2-BD59-A6C34878D82A}">
                        <a16:rowId xmlns:a16="http://schemas.microsoft.com/office/drawing/2014/main" xmlns="" val="11014358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1</a:t>
                          </a:r>
                        </a:p>
                      </a:txBody>
                      <a:tcPr/>
                    </a:tc>
                    <a:tc>
                      <a:txBody>
                        <a:bodyPr/>
                        <a:lstStyle/>
                        <a:p>
                          <a:pPr algn="ctr"/>
                          <a:endParaRPr lang="en-US" dirty="0">
                            <a:solidFill>
                              <a:srgbClr val="FF0000"/>
                            </a:solidFill>
                          </a:endParaRPr>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a16="http://schemas.microsoft.com/office/drawing/2014/main" id="{363C6AA0-D659-4938-81F4-B7B5A22D8D24}"/>
                  </a:ext>
                </a:extLst>
              </p:cNvPr>
              <p:cNvGraphicFramePr>
                <a:graphicFrameLocks noGrp="1"/>
              </p:cNvGraphicFramePr>
              <p:nvPr>
                <p:extLst>
                  <p:ext uri="{D42A27DB-BD31-4B8C-83A1-F6EECF244321}">
                    <p14:modId xmlns:p14="http://schemas.microsoft.com/office/powerpoint/2010/main" val="2438691437"/>
                  </p:ext>
                </p:extLst>
              </p:nvPr>
            </p:nvGraphicFramePr>
            <p:xfrm>
              <a:off x="1469168" y="1956410"/>
              <a:ext cx="6203281" cy="338328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32917">
                      <a:extLst>
                        <a:ext uri="{9D8B030D-6E8A-4147-A177-3AD203B41FA5}">
                          <a16:colId xmlns:a16="http://schemas.microsoft.com/office/drawing/2014/main" val="1852071440"/>
                        </a:ext>
                      </a:extLst>
                    </a:gridCol>
                    <a:gridCol w="913143">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3"/>
                          <a:stretch>
                            <a:fillRect l="-130841" t="-3111" r="-726168" b="-148444"/>
                          </a:stretch>
                        </a:blipFill>
                      </a:tcPr>
                    </a:tc>
                    <a:tc>
                      <a:txBody>
                        <a:bodyPr/>
                        <a:lstStyle/>
                        <a:p>
                          <a:endParaRPr lang="en-US"/>
                        </a:p>
                      </a:txBody>
                      <a:tcPr>
                        <a:blipFill>
                          <a:blip r:embed="rId3"/>
                          <a:stretch>
                            <a:fillRect l="-205833" t="-3111" r="-547500" b="-148444"/>
                          </a:stretch>
                        </a:blipFill>
                      </a:tcPr>
                    </a:tc>
                    <a:tc>
                      <a:txBody>
                        <a:bodyPr/>
                        <a:lstStyle/>
                        <a:p>
                          <a:endParaRPr lang="en-US"/>
                        </a:p>
                      </a:txBody>
                      <a:tcPr>
                        <a:blipFill>
                          <a:blip r:embed="rId3"/>
                          <a:stretch>
                            <a:fillRect l="-244667" t="-3111" r="-338000" b="-148444"/>
                          </a:stretch>
                        </a:blipFill>
                      </a:tcPr>
                    </a:tc>
                    <a:tc>
                      <a:txBody>
                        <a:bodyPr/>
                        <a:lstStyle/>
                        <a:p>
                          <a:endParaRPr lang="en-US"/>
                        </a:p>
                      </a:txBody>
                      <a:tcPr>
                        <a:blipFill>
                          <a:blip r:embed="rId3"/>
                          <a:stretch>
                            <a:fillRect l="-385821" t="-3111" r="-278358" b="-148444"/>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64008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-1/5</a:t>
                          </a:r>
                        </a:p>
                      </a:txBody>
                      <a:tcPr/>
                    </a:tc>
                    <a:tc>
                      <a:txBody>
                        <a:bodyPr/>
                        <a:lstStyle/>
                        <a:p>
                          <a:pPr algn="ctr"/>
                          <a:r>
                            <a:rPr lang="en-US" dirty="0">
                              <a:solidFill>
                                <a:schemeClr val="tx1"/>
                              </a:solidFill>
                            </a:rPr>
                            <a:t>17/5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val="3265417494"/>
                      </a:ext>
                    </a:extLst>
                  </a:tr>
                  <a:tr h="457200">
                    <a:tc>
                      <a:txBody>
                        <a:bodyPr/>
                        <a:lstStyle/>
                        <a:p>
                          <a:endParaRPr lang="en-US"/>
                        </a:p>
                      </a:txBody>
                      <a:tcPr>
                        <a:blipFill>
                          <a:blip r:embed="rId3"/>
                          <a:stretch>
                            <a:fillRect l="-1449" t="-450667" r="-640580" b="-204000"/>
                          </a:stretch>
                        </a:blipFill>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-1/5</a:t>
                          </a:r>
                        </a:p>
                      </a:txBody>
                      <a:tcPr/>
                    </a:tc>
                    <a:tc>
                      <a:txBody>
                        <a:bodyPr/>
                        <a:lstStyle/>
                        <a:p>
                          <a:endParaRPr lang="en-US"/>
                        </a:p>
                      </a:txBody>
                      <a:tcPr>
                        <a:blipFill>
                          <a:blip r:embed="rId3"/>
                          <a:stretch>
                            <a:fillRect l="-353804" t="-450667" r="-102717" b="-204000"/>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1697728900"/>
                      </a:ext>
                    </a:extLst>
                  </a:tr>
                  <a:tr h="457200">
                    <a:tc>
                      <a:txBody>
                        <a:bodyPr/>
                        <a:lstStyle/>
                        <a:p>
                          <a:endParaRPr lang="en-US"/>
                        </a:p>
                      </a:txBody>
                      <a:tcPr>
                        <a:blipFill>
                          <a:blip r:embed="rId3"/>
                          <a:stretch>
                            <a:fillRect l="-1449" t="-550667" r="-640580" b="-104000"/>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3/5</a:t>
                          </a:r>
                        </a:p>
                      </a:txBody>
                      <a:tcPr/>
                    </a:tc>
                    <a:tc>
                      <a:txBody>
                        <a:bodyPr/>
                        <a:lstStyle/>
                        <a:p>
                          <a:pPr algn="ctr"/>
                          <a:r>
                            <a:rPr lang="en-US" dirty="0"/>
                            <a:t>9/5</a:t>
                          </a:r>
                        </a:p>
                      </a:txBody>
                      <a:tcPr/>
                    </a:tc>
                    <a:tc>
                      <a:txBody>
                        <a:bodyPr/>
                        <a:lstStyle/>
                        <a:p>
                          <a:pPr algn="ctr"/>
                          <a:endParaRPr lang="en-US" dirty="0"/>
                        </a:p>
                      </a:txBody>
                      <a:tcPr/>
                    </a:tc>
                    <a:extLst>
                      <a:ext uri="{0D108BD9-81ED-4DB2-BD59-A6C34878D82A}">
                        <a16:rowId xmlns:a16="http://schemas.microsoft.com/office/drawing/2014/main" val="110143584"/>
                      </a:ext>
                    </a:extLst>
                  </a:tr>
                  <a:tr h="457200">
                    <a:tc>
                      <a:txBody>
                        <a:bodyPr/>
                        <a:lstStyle/>
                        <a:p>
                          <a:endParaRPr lang="en-US"/>
                        </a:p>
                      </a:txBody>
                      <a:tcPr>
                        <a:blipFill>
                          <a:blip r:embed="rId3"/>
                          <a:stretch>
                            <a:fillRect l="-1449" t="-650667" r="-640580" b="-4000"/>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1</a:t>
                          </a:r>
                        </a:p>
                      </a:txBody>
                      <a:tcPr/>
                    </a:tc>
                    <a:tc>
                      <a:txBody>
                        <a:bodyPr/>
                        <a:lstStyle/>
                        <a:p>
                          <a:pPr algn="ctr"/>
                          <a:endParaRPr lang="en-US" dirty="0">
                            <a:solidFill>
                              <a:srgbClr val="FF0000"/>
                            </a:solidFill>
                          </a:endParaRPr>
                        </a:p>
                      </a:txBody>
                      <a:tcPr/>
                    </a:tc>
                    <a:extLst>
                      <a:ext uri="{0D108BD9-81ED-4DB2-BD59-A6C34878D82A}">
                        <a16:rowId xmlns:a16="http://schemas.microsoft.com/office/drawing/2014/main" val="3414884863"/>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xmlns="" id="{32D67A62-6C55-4685-AE4E-0F77B74EE737}"/>
                  </a:ext>
                </a:extLst>
              </p:cNvPr>
              <p:cNvSpPr/>
              <p:nvPr/>
            </p:nvSpPr>
            <p:spPr>
              <a:xfrm>
                <a:off x="1469168" y="5743875"/>
                <a:ext cx="1606915" cy="704295"/>
              </a:xfrm>
              <a:prstGeom prst="rect">
                <a:avLst/>
              </a:prstGeom>
            </p:spPr>
            <p:txBody>
              <a:bodyPr wrap="none">
                <a:spAutoFit/>
              </a:bodyPr>
              <a:lstStyle/>
              <a:p>
                <a:pPr lvl="0" defTabSz="914400">
                  <a:defRPr/>
                </a:pPr>
                <a14:m>
                  <m:oMath xmlns:m="http://schemas.openxmlformats.org/officeDocument/2006/math">
                    <m:sSub>
                      <m:sSubPr>
                        <m:ctrlPr>
                          <a:rPr lang="en-US" sz="2800" i="1" smtClean="0">
                            <a:solidFill>
                              <a:schemeClr val="tx1"/>
                            </a:solidFill>
                            <a:latin typeface="Cambria Math"/>
                            <a:cs typeface="Arial" panose="020B0604020202020204" pitchFamily="34" charset="0"/>
                          </a:rPr>
                        </m:ctrlPr>
                      </m:sSubPr>
                      <m:e>
                        <m:r>
                          <a:rPr lang="en-US" sz="2800" b="0" i="1" smtClean="0">
                            <a:solidFill>
                              <a:schemeClr val="tx1"/>
                            </a:solidFill>
                            <a:latin typeface="Cambria Math" panose="02040503050406030204" pitchFamily="18" charset="0"/>
                            <a:cs typeface="Arial" panose="020B0604020202020204" pitchFamily="34" charset="0"/>
                          </a:rPr>
                          <m:t>𝑥</m:t>
                        </m:r>
                      </m:e>
                      <m:sub>
                        <m:r>
                          <a:rPr lang="en-US" sz="2800" b="0" i="1" smtClean="0">
                            <a:solidFill>
                              <a:schemeClr val="tx1"/>
                            </a:solidFill>
                            <a:latin typeface="Cambria Math" panose="02040503050406030204" pitchFamily="18" charset="0"/>
                            <a:cs typeface="Arial" panose="020B0604020202020204" pitchFamily="34" charset="0"/>
                          </a:rPr>
                          <m:t>2</m:t>
                        </m:r>
                      </m:sub>
                    </m:sSub>
                    <m:r>
                      <a:rPr lang="en-US" sz="2800" b="0" i="1" smtClean="0">
                        <a:solidFill>
                          <a:schemeClr val="tx1"/>
                        </a:solidFill>
                        <a:latin typeface="Cambria Math" panose="02040503050406030204" pitchFamily="18" charset="0"/>
                        <a:cs typeface="Arial" panose="020B0604020202020204" pitchFamily="34" charset="0"/>
                      </a:rPr>
                      <m:t>+</m:t>
                    </m:r>
                    <m:f>
                      <m:fPr>
                        <m:ctrlPr>
                          <a:rPr lang="en-US" sz="2800" b="0" i="1" smtClean="0">
                            <a:solidFill>
                              <a:schemeClr val="tx1"/>
                            </a:solidFill>
                            <a:latin typeface="Cambria Math"/>
                            <a:cs typeface="Arial" panose="020B0604020202020204" pitchFamily="34" charset="0"/>
                          </a:rPr>
                        </m:ctrlPr>
                      </m:fPr>
                      <m:num>
                        <m:r>
                          <a:rPr lang="en-US" sz="2800" b="0" i="1" smtClean="0">
                            <a:solidFill>
                              <a:schemeClr val="tx1"/>
                            </a:solidFill>
                            <a:latin typeface="Cambria Math" panose="02040503050406030204" pitchFamily="18" charset="0"/>
                            <a:cs typeface="Arial" panose="020B0604020202020204" pitchFamily="34" charset="0"/>
                          </a:rPr>
                          <m:t>3</m:t>
                        </m:r>
                      </m:num>
                      <m:den>
                        <m:r>
                          <a:rPr lang="en-US" sz="2800" b="0" i="1" smtClean="0">
                            <a:solidFill>
                              <a:schemeClr val="tx1"/>
                            </a:solidFill>
                            <a:latin typeface="Cambria Math" panose="02040503050406030204" pitchFamily="18" charset="0"/>
                            <a:cs typeface="Arial" panose="020B0604020202020204" pitchFamily="34" charset="0"/>
                          </a:rPr>
                          <m:t>5</m:t>
                        </m:r>
                      </m:den>
                    </m:f>
                  </m:oMath>
                </a14:m>
                <a:r>
                  <a:rPr lang="en-US" sz="2800" dirty="0">
                    <a:solidFill>
                      <a:srgbClr val="FF0000"/>
                    </a:solidFill>
                    <a:cs typeface="Arial" panose="020B0604020202020204" pitchFamily="34" charset="0"/>
                  </a:rPr>
                  <a:t> </a:t>
                </a:r>
                <a14:m>
                  <m:oMath xmlns:m="http://schemas.openxmlformats.org/officeDocument/2006/math">
                    <m:sSub>
                      <m:sSubPr>
                        <m:ctrlPr>
                          <a:rPr lang="en-US" sz="2800" i="1">
                            <a:solidFill>
                              <a:srgbClr val="FF0000"/>
                            </a:solidFill>
                            <a:latin typeface="Cambria Math"/>
                            <a:cs typeface="Arial" panose="020B0604020202020204" pitchFamily="34" charset="0"/>
                          </a:rPr>
                        </m:ctrlPr>
                      </m:sSubPr>
                      <m:e>
                        <m:r>
                          <a:rPr lang="en-US" sz="2800" b="0" i="1" smtClean="0">
                            <a:solidFill>
                              <a:srgbClr val="FF0000"/>
                            </a:solidFill>
                            <a:latin typeface="Cambria Math" panose="02040503050406030204" pitchFamily="18" charset="0"/>
                            <a:cs typeface="Arial" panose="020B0604020202020204" pitchFamily="34" charset="0"/>
                          </a:rPr>
                          <m:t>𝑠</m:t>
                        </m:r>
                      </m:e>
                      <m:sub>
                        <m:r>
                          <a:rPr lang="en-US" sz="2800" b="0" i="1" smtClean="0">
                            <a:solidFill>
                              <a:srgbClr val="FF0000"/>
                            </a:solidFill>
                            <a:latin typeface="Cambria Math" panose="02040503050406030204" pitchFamily="18" charset="0"/>
                            <a:cs typeface="Arial" panose="020B0604020202020204" pitchFamily="34" charset="0"/>
                          </a:rPr>
                          <m:t>1</m:t>
                        </m:r>
                      </m:sub>
                    </m:sSub>
                    <m:r>
                      <a:rPr lang="en-US" sz="2800" b="0" i="1" smtClean="0">
                        <a:solidFill>
                          <a:srgbClr val="FF0000"/>
                        </a:solidFill>
                        <a:latin typeface="Cambria Math" panose="02040503050406030204" pitchFamily="18" charset="0"/>
                        <a:cs typeface="Arial" panose="020B0604020202020204" pitchFamily="34" charset="0"/>
                      </a:rPr>
                      <m:t>,</m:t>
                    </m:r>
                  </m:oMath>
                </a14:m>
                <a:endParaRPr lang="en-US" sz="3200" dirty="0">
                  <a:solidFill>
                    <a:prstClr val="black"/>
                  </a:solidFill>
                </a:endParaRPr>
              </a:p>
            </p:txBody>
          </p:sp>
        </mc:Choice>
        <mc:Fallback xmlns="">
          <p:sp>
            <p:nvSpPr>
              <p:cNvPr id="5" name="Rectangle 4">
                <a:extLst>
                  <a:ext uri="{FF2B5EF4-FFF2-40B4-BE49-F238E27FC236}">
                    <a16:creationId xmlns:a16="http://schemas.microsoft.com/office/drawing/2014/main" id="{32D67A62-6C55-4685-AE4E-0F77B74EE737}"/>
                  </a:ext>
                </a:extLst>
              </p:cNvPr>
              <p:cNvSpPr>
                <a:spLocks noRot="1" noChangeAspect="1" noMove="1" noResize="1" noEditPoints="1" noAdjustHandles="1" noChangeArrowheads="1" noChangeShapeType="1" noTextEdit="1"/>
              </p:cNvSpPr>
              <p:nvPr/>
            </p:nvSpPr>
            <p:spPr>
              <a:xfrm>
                <a:off x="1469168" y="5743875"/>
                <a:ext cx="1606915" cy="70429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xmlns="" id="{0E19F692-CCD6-4B40-B5C2-425E2D3F4A69}"/>
                  </a:ext>
                </a:extLst>
              </p:cNvPr>
              <p:cNvSpPr/>
              <p:nvPr/>
            </p:nvSpPr>
            <p:spPr>
              <a:xfrm>
                <a:off x="3029360" y="5743875"/>
                <a:ext cx="1598643" cy="703398"/>
              </a:xfrm>
              <a:prstGeom prst="rect">
                <a:avLst/>
              </a:prstGeom>
            </p:spPr>
            <p:txBody>
              <a:bodyPr wrap="none">
                <a:spAutoFit/>
              </a:bodyPr>
              <a:lstStyle/>
              <a:p>
                <a:pPr lvl="0" defTabSz="914400">
                  <a:defRPr/>
                </a:pPr>
                <a14:m>
                  <m:oMath xmlns:m="http://schemas.openxmlformats.org/officeDocument/2006/math">
                    <m:sSub>
                      <m:sSubPr>
                        <m:ctrlPr>
                          <a:rPr lang="en-US" sz="2800" i="1" smtClean="0">
                            <a:solidFill>
                              <a:schemeClr val="tx1"/>
                            </a:solidFill>
                            <a:latin typeface="Cambria Math"/>
                            <a:cs typeface="Arial" panose="020B0604020202020204" pitchFamily="34" charset="0"/>
                          </a:rPr>
                        </m:ctrlPr>
                      </m:sSubPr>
                      <m:e>
                        <m:r>
                          <a:rPr lang="en-US" sz="2800" b="0" i="1" smtClean="0">
                            <a:solidFill>
                              <a:schemeClr val="tx1"/>
                            </a:solidFill>
                            <a:latin typeface="Cambria Math" panose="02040503050406030204" pitchFamily="18" charset="0"/>
                            <a:cs typeface="Arial" panose="020B0604020202020204" pitchFamily="34" charset="0"/>
                          </a:rPr>
                          <m:t>𝑥</m:t>
                        </m:r>
                      </m:e>
                      <m:sub>
                        <m:r>
                          <a:rPr lang="en-US" sz="2800" b="0" i="1" smtClean="0">
                            <a:solidFill>
                              <a:schemeClr val="tx1"/>
                            </a:solidFill>
                            <a:latin typeface="Cambria Math" panose="02040503050406030204" pitchFamily="18" charset="0"/>
                            <a:cs typeface="Arial" panose="020B0604020202020204" pitchFamily="34" charset="0"/>
                          </a:rPr>
                          <m:t>1</m:t>
                        </m:r>
                      </m:sub>
                    </m:sSub>
                    <m:r>
                      <a:rPr lang="en-US" sz="2800" b="0" i="1" smtClean="0">
                        <a:solidFill>
                          <a:schemeClr val="tx1"/>
                        </a:solidFill>
                        <a:latin typeface="Cambria Math" panose="02040503050406030204" pitchFamily="18" charset="0"/>
                        <a:cs typeface="Arial" panose="020B0604020202020204" pitchFamily="34" charset="0"/>
                      </a:rPr>
                      <m:t>−</m:t>
                    </m:r>
                    <m:f>
                      <m:fPr>
                        <m:ctrlPr>
                          <a:rPr lang="en-US" sz="2800" b="0" i="1" smtClean="0">
                            <a:solidFill>
                              <a:schemeClr val="tx1"/>
                            </a:solidFill>
                            <a:latin typeface="Cambria Math"/>
                            <a:cs typeface="Arial" panose="020B0604020202020204" pitchFamily="34" charset="0"/>
                          </a:rPr>
                        </m:ctrlPr>
                      </m:fPr>
                      <m:num>
                        <m:r>
                          <a:rPr lang="en-US" sz="2800" b="0" i="1" smtClean="0">
                            <a:solidFill>
                              <a:schemeClr val="tx1"/>
                            </a:solidFill>
                            <a:latin typeface="Cambria Math" panose="02040503050406030204" pitchFamily="18" charset="0"/>
                            <a:cs typeface="Arial" panose="020B0604020202020204" pitchFamily="34" charset="0"/>
                          </a:rPr>
                          <m:t>1</m:t>
                        </m:r>
                      </m:num>
                      <m:den>
                        <m:r>
                          <a:rPr lang="en-US" sz="2800" b="0" i="1" smtClean="0">
                            <a:solidFill>
                              <a:schemeClr val="tx1"/>
                            </a:solidFill>
                            <a:latin typeface="Cambria Math" panose="02040503050406030204" pitchFamily="18" charset="0"/>
                            <a:cs typeface="Arial" panose="020B0604020202020204" pitchFamily="34" charset="0"/>
                          </a:rPr>
                          <m:t>5</m:t>
                        </m:r>
                      </m:den>
                    </m:f>
                  </m:oMath>
                </a14:m>
                <a:r>
                  <a:rPr lang="en-US" sz="2800" dirty="0">
                    <a:solidFill>
                      <a:srgbClr val="FF0000"/>
                    </a:solidFill>
                    <a:cs typeface="Arial" panose="020B0604020202020204" pitchFamily="34" charset="0"/>
                  </a:rPr>
                  <a:t> </a:t>
                </a:r>
                <a14:m>
                  <m:oMath xmlns:m="http://schemas.openxmlformats.org/officeDocument/2006/math">
                    <m:sSub>
                      <m:sSubPr>
                        <m:ctrlPr>
                          <a:rPr lang="en-US" sz="2800" i="1">
                            <a:solidFill>
                              <a:srgbClr val="FF0000"/>
                            </a:solidFill>
                            <a:latin typeface="Cambria Math"/>
                            <a:cs typeface="Arial" panose="020B0604020202020204" pitchFamily="34" charset="0"/>
                          </a:rPr>
                        </m:ctrlPr>
                      </m:sSubPr>
                      <m:e>
                        <m:r>
                          <a:rPr lang="en-US" sz="2800" b="0" i="1" smtClean="0">
                            <a:solidFill>
                              <a:srgbClr val="FF0000"/>
                            </a:solidFill>
                            <a:latin typeface="Cambria Math" panose="02040503050406030204" pitchFamily="18" charset="0"/>
                            <a:cs typeface="Arial" panose="020B0604020202020204" pitchFamily="34" charset="0"/>
                          </a:rPr>
                          <m:t>𝑠</m:t>
                        </m:r>
                      </m:e>
                      <m:sub>
                        <m:r>
                          <a:rPr lang="en-US" sz="2800" b="0" i="1" smtClean="0">
                            <a:solidFill>
                              <a:srgbClr val="FF0000"/>
                            </a:solidFill>
                            <a:latin typeface="Cambria Math" panose="02040503050406030204" pitchFamily="18" charset="0"/>
                            <a:cs typeface="Arial" panose="020B0604020202020204" pitchFamily="34" charset="0"/>
                          </a:rPr>
                          <m:t>1</m:t>
                        </m:r>
                      </m:sub>
                    </m:sSub>
                    <m:r>
                      <a:rPr lang="en-US" sz="2800" b="0" i="1" smtClean="0">
                        <a:solidFill>
                          <a:srgbClr val="FF0000"/>
                        </a:solidFill>
                        <a:latin typeface="Cambria Math" panose="02040503050406030204" pitchFamily="18" charset="0"/>
                        <a:cs typeface="Arial" panose="020B0604020202020204" pitchFamily="34" charset="0"/>
                      </a:rPr>
                      <m:t>,</m:t>
                    </m:r>
                  </m:oMath>
                </a14:m>
                <a:endParaRPr lang="en-US" sz="3200" dirty="0">
                  <a:solidFill>
                    <a:prstClr val="black"/>
                  </a:solidFill>
                </a:endParaRPr>
              </a:p>
            </p:txBody>
          </p:sp>
        </mc:Choice>
        <mc:Fallback xmlns="">
          <p:sp>
            <p:nvSpPr>
              <p:cNvPr id="7" name="Rectangle 6">
                <a:extLst>
                  <a:ext uri="{FF2B5EF4-FFF2-40B4-BE49-F238E27FC236}">
                    <a16:creationId xmlns:a16="http://schemas.microsoft.com/office/drawing/2014/main" id="{0E19F692-CCD6-4B40-B5C2-425E2D3F4A69}"/>
                  </a:ext>
                </a:extLst>
              </p:cNvPr>
              <p:cNvSpPr>
                <a:spLocks noRot="1" noChangeAspect="1" noMove="1" noResize="1" noEditPoints="1" noAdjustHandles="1" noChangeArrowheads="1" noChangeShapeType="1" noTextEdit="1"/>
              </p:cNvSpPr>
              <p:nvPr/>
            </p:nvSpPr>
            <p:spPr>
              <a:xfrm>
                <a:off x="3029360" y="5743875"/>
                <a:ext cx="1598643" cy="70339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0176A60C-FCD4-4B02-8282-1AF41830D338}"/>
                  </a:ext>
                </a:extLst>
              </p:cNvPr>
              <p:cNvSpPr/>
              <p:nvPr/>
            </p:nvSpPr>
            <p:spPr>
              <a:xfrm>
                <a:off x="4570808" y="5743875"/>
                <a:ext cx="1358064" cy="703398"/>
              </a:xfrm>
              <a:prstGeom prst="rect">
                <a:avLst/>
              </a:prstGeom>
            </p:spPr>
            <p:txBody>
              <a:bodyPr wrap="none">
                <a:spAutoFit/>
              </a:bodyPr>
              <a:lstStyle/>
              <a:p>
                <a:pPr lvl="0" defTabSz="914400">
                  <a:defRPr/>
                </a:pPr>
                <a14:m>
                  <m:oMath xmlns:m="http://schemas.openxmlformats.org/officeDocument/2006/math">
                    <m:r>
                      <a:rPr lang="en-US" sz="2800" i="1" smtClean="0">
                        <a:solidFill>
                          <a:schemeClr val="tx1"/>
                        </a:solidFill>
                        <a:latin typeface="Cambria Math" panose="02040503050406030204" pitchFamily="18" charset="0"/>
                        <a:cs typeface="Arial" panose="020B0604020202020204" pitchFamily="34" charset="0"/>
                      </a:rPr>
                      <m:t>𝑧</m:t>
                    </m:r>
                    <m:r>
                      <a:rPr lang="en-US" sz="2800" b="0" i="1" smtClean="0">
                        <a:solidFill>
                          <a:schemeClr val="tx1"/>
                        </a:solidFill>
                        <a:latin typeface="Cambria Math" panose="02040503050406030204" pitchFamily="18" charset="0"/>
                        <a:cs typeface="Arial" panose="020B0604020202020204" pitchFamily="34" charset="0"/>
                      </a:rPr>
                      <m:t>−</m:t>
                    </m:r>
                    <m:f>
                      <m:fPr>
                        <m:ctrlPr>
                          <a:rPr lang="en-US" sz="2800" b="0" i="1" smtClean="0">
                            <a:solidFill>
                              <a:schemeClr val="tx1"/>
                            </a:solidFill>
                            <a:latin typeface="Cambria Math"/>
                            <a:cs typeface="Arial" panose="020B0604020202020204" pitchFamily="34" charset="0"/>
                          </a:rPr>
                        </m:ctrlPr>
                      </m:fPr>
                      <m:num>
                        <m:r>
                          <a:rPr lang="en-US" sz="2800" b="0" i="1" smtClean="0">
                            <a:solidFill>
                              <a:schemeClr val="tx1"/>
                            </a:solidFill>
                            <a:latin typeface="Cambria Math" panose="02040503050406030204" pitchFamily="18" charset="0"/>
                            <a:cs typeface="Arial" panose="020B0604020202020204" pitchFamily="34" charset="0"/>
                          </a:rPr>
                          <m:t>1</m:t>
                        </m:r>
                      </m:num>
                      <m:den>
                        <m:r>
                          <a:rPr lang="en-US" sz="2800" b="0" i="1" smtClean="0">
                            <a:solidFill>
                              <a:schemeClr val="tx1"/>
                            </a:solidFill>
                            <a:latin typeface="Cambria Math" panose="02040503050406030204" pitchFamily="18" charset="0"/>
                            <a:cs typeface="Arial" panose="020B0604020202020204" pitchFamily="34" charset="0"/>
                          </a:rPr>
                          <m:t>5</m:t>
                        </m:r>
                      </m:den>
                    </m:f>
                  </m:oMath>
                </a14:m>
                <a:r>
                  <a:rPr lang="en-US" sz="2800" dirty="0">
                    <a:solidFill>
                      <a:srgbClr val="FF0000"/>
                    </a:solidFill>
                    <a:cs typeface="Arial" panose="020B0604020202020204" pitchFamily="34" charset="0"/>
                  </a:rPr>
                  <a:t> </a:t>
                </a:r>
                <a14:m>
                  <m:oMath xmlns:m="http://schemas.openxmlformats.org/officeDocument/2006/math">
                    <m:sSub>
                      <m:sSubPr>
                        <m:ctrlPr>
                          <a:rPr lang="en-US" sz="2800" i="1">
                            <a:solidFill>
                              <a:srgbClr val="FF0000"/>
                            </a:solidFill>
                            <a:latin typeface="Cambria Math"/>
                            <a:cs typeface="Arial" panose="020B0604020202020204" pitchFamily="34" charset="0"/>
                          </a:rPr>
                        </m:ctrlPr>
                      </m:sSubPr>
                      <m:e>
                        <m:r>
                          <a:rPr lang="en-US" sz="2800" b="0" i="1" smtClean="0">
                            <a:solidFill>
                              <a:srgbClr val="FF0000"/>
                            </a:solidFill>
                            <a:latin typeface="Cambria Math" panose="02040503050406030204" pitchFamily="18" charset="0"/>
                            <a:cs typeface="Arial" panose="020B0604020202020204" pitchFamily="34" charset="0"/>
                          </a:rPr>
                          <m:t>𝑠</m:t>
                        </m:r>
                      </m:e>
                      <m:sub>
                        <m:r>
                          <a:rPr lang="en-US" sz="2800" b="0" i="1" smtClean="0">
                            <a:solidFill>
                              <a:srgbClr val="FF0000"/>
                            </a:solidFill>
                            <a:latin typeface="Cambria Math" panose="02040503050406030204" pitchFamily="18" charset="0"/>
                            <a:cs typeface="Arial" panose="020B0604020202020204" pitchFamily="34" charset="0"/>
                          </a:rPr>
                          <m:t>1</m:t>
                        </m:r>
                      </m:sub>
                    </m:sSub>
                  </m:oMath>
                </a14:m>
                <a:endParaRPr lang="en-US" sz="3200" dirty="0">
                  <a:solidFill>
                    <a:prstClr val="black"/>
                  </a:solidFill>
                </a:endParaRPr>
              </a:p>
            </p:txBody>
          </p:sp>
        </mc:Choice>
        <mc:Fallback xmlns="">
          <p:sp>
            <p:nvSpPr>
              <p:cNvPr id="8" name="Rectangle 7">
                <a:extLst>
                  <a:ext uri="{FF2B5EF4-FFF2-40B4-BE49-F238E27FC236}">
                    <a16:creationId xmlns:a16="http://schemas.microsoft.com/office/drawing/2014/main" id="{0176A60C-FCD4-4B02-8282-1AF41830D338}"/>
                  </a:ext>
                </a:extLst>
              </p:cNvPr>
              <p:cNvSpPr>
                <a:spLocks noRot="1" noChangeAspect="1" noMove="1" noResize="1" noEditPoints="1" noAdjustHandles="1" noChangeArrowheads="1" noChangeShapeType="1" noTextEdit="1"/>
              </p:cNvSpPr>
              <p:nvPr/>
            </p:nvSpPr>
            <p:spPr>
              <a:xfrm>
                <a:off x="4570808" y="5743875"/>
                <a:ext cx="1358064" cy="703398"/>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42081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𝑤</m:t>
                      </m:r>
                      <m:r>
                        <a:rPr lang="en-US" sz="2000" i="1" dirty="0">
                          <a:solidFill>
                            <a:prstClr val="black"/>
                          </a:solidFill>
                          <a:effectLst/>
                          <a:latin typeface="Cambria Math" panose="02040503050406030204" pitchFamily="18" charset="0"/>
                        </a:rPr>
                        <m:t>−7</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lvl="0" indent="0">
                  <a:lnSpc>
                    <a:spcPct val="100000"/>
                  </a:lnSpc>
                  <a:spcBef>
                    <a:spcPts val="0"/>
                  </a:spcBef>
                  <a:buSzTx/>
                  <a:buNone/>
                  <a:defRPr/>
                </a:pPr>
                <a14:m>
                  <m:oMathPara xmlns:m="http://schemas.openxmlformats.org/officeDocument/2006/math">
                    <m:oMathParaPr>
                      <m:jc m:val="centerGroup"/>
                    </m:oMathParaPr>
                    <m:oMath xmlns:m="http://schemas.openxmlformats.org/officeDocument/2006/math">
                      <m:r>
                        <a:rPr lang="en-US" sz="2000" i="1" dirty="0">
                          <a:solidFill>
                            <a:prstClr val="black"/>
                          </a:solidFill>
                          <a:effectLst/>
                          <a:latin typeface="Cambria Math" panose="02040503050406030204" pitchFamily="18" charset="0"/>
                        </a:rPr>
                        <m:t>𝑧</m:t>
                      </m:r>
                      <m:r>
                        <a:rPr lang="en-US" sz="2000" i="1" dirty="0">
                          <a:solidFill>
                            <a:prstClr val="black"/>
                          </a:solidFill>
                          <a:effectLst/>
                          <a:latin typeface="Cambria Math" panose="02040503050406030204" pitchFamily="18" charset="0"/>
                        </a:rPr>
                        <m:t>+4</m:t>
                      </m:r>
                      <m:sSub>
                        <m:sSubPr>
                          <m:ctrlPr>
                            <a:rPr lang="en-US" sz="2800" i="1">
                              <a:solidFill>
                                <a:srgbClr val="FF0000"/>
                              </a:solidFill>
                              <a:effectLst/>
                              <a:latin typeface="Cambria Math"/>
                              <a:cs typeface="Arial" panose="020B0604020202020204" pitchFamily="34" charset="0"/>
                            </a:rPr>
                          </m:ctrlPr>
                        </m:sSubPr>
                        <m:e>
                          <m:r>
                            <a:rPr lang="en-US" sz="2800" i="1">
                              <a:solidFill>
                                <a:srgbClr val="FF0000"/>
                              </a:solidFill>
                              <a:effectLst/>
                              <a:latin typeface="Cambria Math" panose="02040503050406030204" pitchFamily="18" charset="0"/>
                              <a:cs typeface="Arial" panose="020B0604020202020204" pitchFamily="34" charset="0"/>
                            </a:rPr>
                            <m:t>𝑥</m:t>
                          </m:r>
                        </m:e>
                        <m:sub>
                          <m:r>
                            <a:rPr lang="en-US" sz="2800" i="1">
                              <a:solidFill>
                                <a:srgbClr val="FF0000"/>
                              </a:solidFill>
                              <a:effectLst/>
                              <a:latin typeface="Cambria Math" panose="02040503050406030204" pitchFamily="18" charset="0"/>
                              <a:cs typeface="Arial" panose="020B0604020202020204" pitchFamily="34" charset="0"/>
                            </a:rPr>
                            <m:t>1</m:t>
                          </m:r>
                        </m:sub>
                      </m:sSub>
                    </m:oMath>
                  </m:oMathPara>
                </a14:m>
                <a:endParaRPr lang="en-US" sz="2000" dirty="0">
                  <a:solidFill>
                    <a:prstClr val="black"/>
                  </a:solidFill>
                  <a:effectLst/>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nvGraphicFramePr>
            <p:xfrm>
              <a:off x="1469168" y="1956410"/>
              <a:ext cx="6203281" cy="338328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913143">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-1/5</a:t>
                          </a:r>
                        </a:p>
                      </a:txBody>
                      <a:tcPr/>
                    </a:tc>
                    <a:tc>
                      <a:txBody>
                        <a:bodyPr/>
                        <a:lstStyle/>
                        <a:p>
                          <a:pPr algn="ctr"/>
                          <a:r>
                            <a:rPr lang="en-US" dirty="0">
                              <a:solidFill>
                                <a:schemeClr val="tx1"/>
                              </a:solidFill>
                            </a:rPr>
                            <a:t>17/5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-1/5</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2/5</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3/5</a:t>
                          </a:r>
                        </a:p>
                      </a:txBody>
                      <a:tcPr/>
                    </a:tc>
                    <a:tc>
                      <a:txBody>
                        <a:bodyPr/>
                        <a:lstStyle/>
                        <a:p>
                          <a:pPr algn="ctr"/>
                          <a:r>
                            <a:rPr lang="en-US" dirty="0"/>
                            <a:t>9/5</a:t>
                          </a:r>
                        </a:p>
                      </a:txBody>
                      <a:tcPr/>
                    </a:tc>
                    <a:tc>
                      <a:txBody>
                        <a:bodyPr/>
                        <a:lstStyle/>
                        <a:p>
                          <a:pPr algn="ctr"/>
                          <a:endParaRPr lang="en-US" dirty="0"/>
                        </a:p>
                      </a:txBody>
                      <a:tcPr/>
                    </a:tc>
                    <a:extLst>
                      <a:ext uri="{0D108BD9-81ED-4DB2-BD59-A6C34878D82A}">
                        <a16:rowId xmlns:a16="http://schemas.microsoft.com/office/drawing/2014/main" xmlns="" val="11014358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dirty="0">
                            <a:solidFill>
                              <a:schemeClr val="tx1"/>
                            </a:solidFill>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1</a:t>
                          </a:r>
                        </a:p>
                      </a:txBody>
                      <a:tcPr/>
                    </a:tc>
                    <a:tc>
                      <a:txBody>
                        <a:bodyPr/>
                        <a:lstStyle/>
                        <a:p>
                          <a:pPr algn="ctr"/>
                          <a:endParaRPr lang="en-US" dirty="0">
                            <a:solidFill>
                              <a:srgbClr val="FF0000"/>
                            </a:solidFill>
                          </a:endParaRPr>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a16="http://schemas.microsoft.com/office/drawing/2014/main" id="{363C6AA0-D659-4938-81F4-B7B5A22D8D24}"/>
                  </a:ext>
                </a:extLst>
              </p:cNvPr>
              <p:cNvGraphicFramePr>
                <a:graphicFrameLocks noGrp="1"/>
              </p:cNvGraphicFramePr>
              <p:nvPr/>
            </p:nvGraphicFramePr>
            <p:xfrm>
              <a:off x="1469168" y="1956410"/>
              <a:ext cx="6203281" cy="338328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32917">
                      <a:extLst>
                        <a:ext uri="{9D8B030D-6E8A-4147-A177-3AD203B41FA5}">
                          <a16:colId xmlns:a16="http://schemas.microsoft.com/office/drawing/2014/main" val="1852071440"/>
                        </a:ext>
                      </a:extLst>
                    </a:gridCol>
                    <a:gridCol w="913143">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3"/>
                          <a:stretch>
                            <a:fillRect l="-130841" t="-3111" r="-726168" b="-148444"/>
                          </a:stretch>
                        </a:blipFill>
                      </a:tcPr>
                    </a:tc>
                    <a:tc>
                      <a:txBody>
                        <a:bodyPr/>
                        <a:lstStyle/>
                        <a:p>
                          <a:endParaRPr lang="en-US"/>
                        </a:p>
                      </a:txBody>
                      <a:tcPr>
                        <a:blipFill>
                          <a:blip r:embed="rId3"/>
                          <a:stretch>
                            <a:fillRect l="-205833" t="-3111" r="-547500" b="-148444"/>
                          </a:stretch>
                        </a:blipFill>
                      </a:tcPr>
                    </a:tc>
                    <a:tc>
                      <a:txBody>
                        <a:bodyPr/>
                        <a:lstStyle/>
                        <a:p>
                          <a:endParaRPr lang="en-US"/>
                        </a:p>
                      </a:txBody>
                      <a:tcPr>
                        <a:blipFill>
                          <a:blip r:embed="rId3"/>
                          <a:stretch>
                            <a:fillRect l="-244667" t="-3111" r="-338000" b="-148444"/>
                          </a:stretch>
                        </a:blipFill>
                      </a:tcPr>
                    </a:tc>
                    <a:tc>
                      <a:txBody>
                        <a:bodyPr/>
                        <a:lstStyle/>
                        <a:p>
                          <a:endParaRPr lang="en-US"/>
                        </a:p>
                      </a:txBody>
                      <a:tcPr>
                        <a:blipFill>
                          <a:blip r:embed="rId3"/>
                          <a:stretch>
                            <a:fillRect l="-385821" t="-3111" r="-278358" b="-148444"/>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64008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-1/5</a:t>
                          </a:r>
                        </a:p>
                      </a:txBody>
                      <a:tcPr/>
                    </a:tc>
                    <a:tc>
                      <a:txBody>
                        <a:bodyPr/>
                        <a:lstStyle/>
                        <a:p>
                          <a:pPr algn="ctr"/>
                          <a:r>
                            <a:rPr lang="en-US" dirty="0">
                              <a:solidFill>
                                <a:schemeClr val="tx1"/>
                              </a:solidFill>
                            </a:rPr>
                            <a:t>17/5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lt"/>
                            <a:ea typeface="+mn-ea"/>
                            <a:cs typeface="+mn-cs"/>
                          </a:endParaRPr>
                        </a:p>
                        <a:p>
                          <a:pPr algn="ctr"/>
                          <a:endParaRPr lang="en-US" dirty="0">
                            <a:solidFill>
                              <a:schemeClr val="tx1"/>
                            </a:solidFill>
                          </a:endParaRPr>
                        </a:p>
                      </a:txBody>
                      <a:tcPr/>
                    </a:tc>
                    <a:extLst>
                      <a:ext uri="{0D108BD9-81ED-4DB2-BD59-A6C34878D82A}">
                        <a16:rowId xmlns:a16="http://schemas.microsoft.com/office/drawing/2014/main" val="3265417494"/>
                      </a:ext>
                    </a:extLst>
                  </a:tr>
                  <a:tr h="457200">
                    <a:tc>
                      <a:txBody>
                        <a:bodyPr/>
                        <a:lstStyle/>
                        <a:p>
                          <a:endParaRPr lang="en-US"/>
                        </a:p>
                      </a:txBody>
                      <a:tcPr>
                        <a:blipFill>
                          <a:blip r:embed="rId3"/>
                          <a:stretch>
                            <a:fillRect l="-1449" t="-450667" r="-640580" b="-204000"/>
                          </a:stretch>
                        </a:blipFill>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-1/5</a:t>
                          </a:r>
                        </a:p>
                      </a:txBody>
                      <a:tcPr/>
                    </a:tc>
                    <a:tc>
                      <a:txBody>
                        <a:bodyPr/>
                        <a:lstStyle/>
                        <a:p>
                          <a:endParaRPr lang="en-US"/>
                        </a:p>
                      </a:txBody>
                      <a:tcPr>
                        <a:blipFill>
                          <a:blip r:embed="rId3"/>
                          <a:stretch>
                            <a:fillRect l="-353804" t="-450667" r="-102717" b="-204000"/>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1697728900"/>
                      </a:ext>
                    </a:extLst>
                  </a:tr>
                  <a:tr h="457200">
                    <a:tc>
                      <a:txBody>
                        <a:bodyPr/>
                        <a:lstStyle/>
                        <a:p>
                          <a:endParaRPr lang="en-US"/>
                        </a:p>
                      </a:txBody>
                      <a:tcPr>
                        <a:blipFill>
                          <a:blip r:embed="rId3"/>
                          <a:stretch>
                            <a:fillRect l="-1449" t="-550667" r="-640580" b="-104000"/>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3/5</a:t>
                          </a:r>
                        </a:p>
                      </a:txBody>
                      <a:tcPr/>
                    </a:tc>
                    <a:tc>
                      <a:txBody>
                        <a:bodyPr/>
                        <a:lstStyle/>
                        <a:p>
                          <a:pPr algn="ctr"/>
                          <a:r>
                            <a:rPr lang="en-US" dirty="0"/>
                            <a:t>9/5</a:t>
                          </a:r>
                        </a:p>
                      </a:txBody>
                      <a:tcPr/>
                    </a:tc>
                    <a:tc>
                      <a:txBody>
                        <a:bodyPr/>
                        <a:lstStyle/>
                        <a:p>
                          <a:pPr algn="ctr"/>
                          <a:endParaRPr lang="en-US" dirty="0"/>
                        </a:p>
                      </a:txBody>
                      <a:tcPr/>
                    </a:tc>
                    <a:extLst>
                      <a:ext uri="{0D108BD9-81ED-4DB2-BD59-A6C34878D82A}">
                        <a16:rowId xmlns:a16="http://schemas.microsoft.com/office/drawing/2014/main" val="110143584"/>
                      </a:ext>
                    </a:extLst>
                  </a:tr>
                  <a:tr h="457200">
                    <a:tc>
                      <a:txBody>
                        <a:bodyPr/>
                        <a:lstStyle/>
                        <a:p>
                          <a:endParaRPr lang="en-US"/>
                        </a:p>
                      </a:txBody>
                      <a:tcPr>
                        <a:blipFill>
                          <a:blip r:embed="rId3"/>
                          <a:stretch>
                            <a:fillRect l="-1449" t="-650667" r="-640580" b="-4000"/>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1</a:t>
                          </a:r>
                        </a:p>
                      </a:txBody>
                      <a:tcPr/>
                    </a:tc>
                    <a:tc>
                      <a:txBody>
                        <a:bodyPr/>
                        <a:lstStyle/>
                        <a:p>
                          <a:pPr algn="ctr"/>
                          <a:endParaRPr lang="en-US" dirty="0">
                            <a:solidFill>
                              <a:srgbClr val="FF0000"/>
                            </a:solidFill>
                          </a:endParaRPr>
                        </a:p>
                      </a:txBody>
                      <a:tcPr/>
                    </a:tc>
                    <a:extLst>
                      <a:ext uri="{0D108BD9-81ED-4DB2-BD59-A6C34878D82A}">
                        <a16:rowId xmlns:a16="http://schemas.microsoft.com/office/drawing/2014/main" val="3414884863"/>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xmlns="" id="{0E19F692-CCD6-4B40-B5C2-425E2D3F4A69}"/>
                  </a:ext>
                </a:extLst>
              </p:cNvPr>
              <p:cNvSpPr/>
              <p:nvPr/>
            </p:nvSpPr>
            <p:spPr>
              <a:xfrm>
                <a:off x="505902" y="5492088"/>
                <a:ext cx="7779657" cy="707886"/>
              </a:xfrm>
              <a:prstGeom prst="rect">
                <a:avLst/>
              </a:prstGeom>
            </p:spPr>
            <p:txBody>
              <a:bodyPr wrap="square">
                <a:spAutoFit/>
              </a:bodyPr>
              <a:lstStyle/>
              <a:p>
                <a:pPr lvl="0" defTabSz="914400">
                  <a:defRPr/>
                </a:pPr>
                <a14:m>
                  <m:oMathPara xmlns:m="http://schemas.openxmlformats.org/officeDocument/2006/math">
                    <m:oMathParaPr>
                      <m:jc m:val="centerGroup"/>
                    </m:oMathParaPr>
                    <m:oMath xmlns:m="http://schemas.openxmlformats.org/officeDocument/2006/math">
                      <m:r>
                        <a:rPr lang="en-US" sz="2000" b="0" i="1" smtClean="0">
                          <a:solidFill>
                            <a:prstClr val="black"/>
                          </a:solidFill>
                          <a:latin typeface="Cambria Math" panose="02040503050406030204" pitchFamily="18" charset="0"/>
                        </a:rPr>
                        <m:t>𝐴𝑠</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𝑡h𝑒𝑟𝑒</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𝑖𝑠</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𝑛𝑜</m:t>
                      </m:r>
                    </m:oMath>
                  </m:oMathPara>
                </a14:m>
                <a:endParaRPr lang="en-US" sz="2000" b="0" i="1" dirty="0">
                  <a:solidFill>
                    <a:prstClr val="black"/>
                  </a:solidFill>
                  <a:latin typeface="Cambria Math" panose="02040503050406030204" pitchFamily="18" charset="0"/>
                </a:endParaRPr>
              </a:p>
              <a:p>
                <a:pPr lvl="0" defTabSz="914400">
                  <a:defRPr/>
                </a:pPr>
                <a14:m>
                  <m:oMathPara xmlns:m="http://schemas.openxmlformats.org/officeDocument/2006/math">
                    <m:oMathParaPr>
                      <m:jc m:val="centerGroup"/>
                    </m:oMathParaPr>
                    <m:oMath xmlns:m="http://schemas.openxmlformats.org/officeDocument/2006/math">
                      <m:r>
                        <a:rPr lang="en-US" sz="2000" b="0" i="1" smtClean="0">
                          <a:solidFill>
                            <a:prstClr val="black"/>
                          </a:solidFill>
                          <a:latin typeface="Cambria Math" panose="02040503050406030204" pitchFamily="18" charset="0"/>
                        </a:rPr>
                        <m:t>+</m:t>
                      </m:r>
                      <m:r>
                        <a:rPr lang="en-US" sz="2000" b="0" i="1" smtClean="0">
                          <a:solidFill>
                            <a:prstClr val="black"/>
                          </a:solidFill>
                          <a:latin typeface="Cambria Math" panose="02040503050406030204" pitchFamily="18" charset="0"/>
                        </a:rPr>
                        <m:t>𝑣𝑒</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𝑣𝑎𝑙𝑢𝑒</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𝑖𝑛</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𝑡h𝑒</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𝑜𝑏𝑗𝑒𝑐𝑡𝑖𝑣𝑒</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𝑓𝑢𝑛𝑐𝑡𝑖𝑜𝑛</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𝑠𝑜</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𝑡h𝑒</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𝑜𝑝𝑡𝑖𝑚𝑎𝑙</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𝑠𝑜𝑙𝑢𝑡𝑖𝑜𝑛</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𝑖𝑠</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𝑜𝑏𝑡𝑎𝑖𝑛𝑒𝑑</m:t>
                      </m:r>
                    </m:oMath>
                  </m:oMathPara>
                </a14:m>
                <a:endParaRPr lang="en-US" sz="2000" dirty="0">
                  <a:solidFill>
                    <a:prstClr val="black"/>
                  </a:solidFill>
                </a:endParaRPr>
              </a:p>
            </p:txBody>
          </p:sp>
        </mc:Choice>
        <mc:Fallback xmlns="">
          <p:sp>
            <p:nvSpPr>
              <p:cNvPr id="7" name="Rectangle 6">
                <a:extLst>
                  <a:ext uri="{FF2B5EF4-FFF2-40B4-BE49-F238E27FC236}">
                    <a16:creationId xmlns:a16="http://schemas.microsoft.com/office/drawing/2014/main" id="{0E19F692-CCD6-4B40-B5C2-425E2D3F4A69}"/>
                  </a:ext>
                </a:extLst>
              </p:cNvPr>
              <p:cNvSpPr>
                <a:spLocks noRot="1" noChangeAspect="1" noMove="1" noResize="1" noEditPoints="1" noAdjustHandles="1" noChangeArrowheads="1" noChangeShapeType="1" noTextEdit="1"/>
              </p:cNvSpPr>
              <p:nvPr/>
            </p:nvSpPr>
            <p:spPr>
              <a:xfrm>
                <a:off x="505902" y="5492088"/>
                <a:ext cx="7779657" cy="707886"/>
              </a:xfrm>
              <a:prstGeom prst="rect">
                <a:avLst/>
              </a:prstGeom>
              <a:blipFill>
                <a:blip r:embed="rId4"/>
                <a:stretch>
                  <a:fillRect r="-6270" b="-7759"/>
                </a:stretch>
              </a:blipFill>
            </p:spPr>
            <p:txBody>
              <a:bodyPr/>
              <a:lstStyle/>
              <a:p>
                <a:r>
                  <a:rPr lang="en-US">
                    <a:noFill/>
                  </a:rPr>
                  <a:t> </a:t>
                </a:r>
              </a:p>
            </p:txBody>
          </p:sp>
        </mc:Fallback>
      </mc:AlternateContent>
    </p:spTree>
    <p:extLst>
      <p:ext uri="{BB962C8B-B14F-4D97-AF65-F5344CB8AC3E}">
        <p14:creationId xmlns:p14="http://schemas.microsoft.com/office/powerpoint/2010/main" val="24452931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lvl="0" indent="0" algn="just">
                  <a:buNone/>
                </a:pPr>
                <a:r>
                  <a:rPr lang="en-US" sz="2800" b="1" dirty="0">
                    <a:solidFill>
                      <a:prstClr val="black"/>
                    </a:solidFill>
                    <a:effectLst/>
                    <a:latin typeface="Arial" panose="020B0604020202020204" pitchFamily="34" charset="0"/>
                    <a:cs typeface="Arial" panose="020B0604020202020204" pitchFamily="34" charset="0"/>
                  </a:rPr>
                  <a:t>Example 2:</a:t>
                </a:r>
              </a:p>
              <a:p>
                <a:pPr marL="0" lvl="0" indent="0" algn="ctr">
                  <a:buNone/>
                </a:pPr>
                <a14:m>
                  <m:oMathPara xmlns:m="http://schemas.openxmlformats.org/officeDocument/2006/math">
                    <m:oMathParaPr>
                      <m:jc m:val="centerGroup"/>
                    </m:oMathParaPr>
                    <m:oMath xmlns:m="http://schemas.openxmlformats.org/officeDocument/2006/math">
                      <m:r>
                        <m:rPr>
                          <m:sty m:val="p"/>
                        </m:rPr>
                        <a:rPr lang="en-US" sz="2800" b="0" i="0" smtClean="0">
                          <a:solidFill>
                            <a:prstClr val="black"/>
                          </a:solidFill>
                          <a:effectLst/>
                          <a:latin typeface="Cambria Math" panose="02040503050406030204" pitchFamily="18" charset="0"/>
                          <a:cs typeface="Arial" panose="020B0604020202020204" pitchFamily="34" charset="0"/>
                        </a:rPr>
                        <m:t>Max</m:t>
                      </m:r>
                      <m:r>
                        <a:rPr lang="en-US" sz="2800" b="0" i="0" smtClean="0">
                          <a:solidFill>
                            <a:prstClr val="black"/>
                          </a:solidFill>
                          <a:effectLst/>
                          <a:latin typeface="Cambria Math" panose="02040503050406030204" pitchFamily="18" charset="0"/>
                          <a:cs typeface="Arial" panose="020B0604020202020204" pitchFamily="34" charset="0"/>
                        </a:rPr>
                        <m:t> </m:t>
                      </m:r>
                      <m:r>
                        <m:rPr>
                          <m:sty m:val="p"/>
                        </m:rPr>
                        <a:rPr lang="en-US" sz="2800" b="0" i="0" smtClean="0">
                          <a:solidFill>
                            <a:prstClr val="black"/>
                          </a:solidFill>
                          <a:effectLst/>
                          <a:latin typeface="Cambria Math" panose="02040503050406030204" pitchFamily="18" charset="0"/>
                          <a:cs typeface="Arial" panose="020B0604020202020204" pitchFamily="34" charset="0"/>
                        </a:rPr>
                        <m:t>Z</m:t>
                      </m:r>
                      <m:r>
                        <a:rPr lang="en-US" sz="2800" b="0" i="1" smtClean="0">
                          <a:solidFill>
                            <a:prstClr val="black"/>
                          </a:solidFill>
                          <a:effectLst/>
                          <a:latin typeface="Cambria Math" panose="02040503050406030204" pitchFamily="18" charset="0"/>
                          <a:cs typeface="Arial" panose="020B0604020202020204" pitchFamily="34" charset="0"/>
                        </a:rPr>
                        <m:t>=4</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5</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r>
                  <a:rPr lang="en-US" sz="2800" dirty="0">
                    <a:solidFill>
                      <a:prstClr val="black"/>
                    </a:solidFill>
                    <a:effectLst/>
                    <a:latin typeface="Arial" panose="020B0604020202020204" pitchFamily="34" charset="0"/>
                    <a:cs typeface="Arial" panose="020B0604020202020204" pitchFamily="34" charset="0"/>
                  </a:rPr>
                  <a:t>Subject to Constraints:</a:t>
                </a:r>
              </a:p>
              <a:p>
                <a:pPr marL="0" lvl="0" indent="0" algn="just">
                  <a:buNone/>
                </a:pPr>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2</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cs typeface="Arial" panose="020B0604020202020204" pitchFamily="34" charset="0"/>
                        </a:rPr>
                        <m:t>3</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i="1">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6</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sz="2800" i="1">
                          <a:solidFill>
                            <a:prstClr val="black"/>
                          </a:solidFill>
                          <a:effectLst/>
                          <a:latin typeface="Cambria Math" panose="02040503050406030204" pitchFamily="18" charset="0"/>
                          <a:cs typeface="Arial" panose="020B0604020202020204" pitchFamily="34" charset="0"/>
                        </a:rPr>
                        <m:t>3</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3</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l="-1641" t="-529"/>
                </a:stretch>
              </a:blipFill>
            </p:spPr>
            <p:txBody>
              <a:bodyPr/>
              <a:lstStyle/>
              <a:p>
                <a:r>
                  <a:rPr lang="en-US">
                    <a:noFill/>
                  </a:rPr>
                  <a:t> </a:t>
                </a:r>
              </a:p>
            </p:txBody>
          </p:sp>
        </mc:Fallback>
      </mc:AlternateContent>
    </p:spTree>
    <p:extLst>
      <p:ext uri="{BB962C8B-B14F-4D97-AF65-F5344CB8AC3E}">
        <p14:creationId xmlns:p14="http://schemas.microsoft.com/office/powerpoint/2010/main" val="23777668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lvl="0" indent="0" algn="just">
                  <a:buNone/>
                </a:pPr>
                <a:r>
                  <a:rPr lang="en-US" sz="2800" b="0" i="0" dirty="0">
                    <a:solidFill>
                      <a:prstClr val="black"/>
                    </a:solidFill>
                    <a:effectLst/>
                    <a:latin typeface="Cambria Math" panose="02040503050406030204" pitchFamily="18" charset="0"/>
                    <a:cs typeface="Arial" panose="020B0604020202020204" pitchFamily="34" charset="0"/>
                  </a:rPr>
                  <a:t>Let A1 be the artificial variables and making a new equation of artificial variable </a:t>
                </a:r>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r>
                  <a:rPr lang="en-US" sz="2800" dirty="0">
                    <a:solidFill>
                      <a:prstClr val="black"/>
                    </a:solidFill>
                    <a:effectLst/>
                    <a:latin typeface="Arial" panose="020B0604020202020204" pitchFamily="34" charset="0"/>
                    <a:cs typeface="Arial" panose="020B0604020202020204" pitchFamily="34" charset="0"/>
                  </a:rPr>
                  <a:t>As this is a case of maximization so we will multiply by (-1)</a:t>
                </a:r>
              </a:p>
              <a:p>
                <a:pPr marL="0" lvl="0" indent="0" algn="just">
                  <a:buNone/>
                </a:pPr>
                <a14:m>
                  <m:oMathPara xmlns:m="http://schemas.openxmlformats.org/officeDocument/2006/math">
                    <m:oMathParaPr>
                      <m:jc m:val="centerGroup"/>
                    </m:oMathParaPr>
                    <m:oMath xmlns:m="http://schemas.openxmlformats.org/officeDocument/2006/math">
                      <m:r>
                        <m:rPr>
                          <m:sty m:val="p"/>
                        </m:rPr>
                        <a:rPr lang="en-US" sz="2800">
                          <a:solidFill>
                            <a:prstClr val="black"/>
                          </a:solidFill>
                          <a:effectLst/>
                          <a:latin typeface="Cambria Math" panose="02040503050406030204" pitchFamily="18" charset="0"/>
                          <a:cs typeface="Arial" panose="020B0604020202020204" pitchFamily="34" charset="0"/>
                        </a:rPr>
                        <m:t>w</m:t>
                      </m:r>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m:t>
                          </m:r>
                          <m:r>
                            <a:rPr lang="en-US" sz="2800" i="1">
                              <a:solidFill>
                                <a:prstClr val="black"/>
                              </a:solidFill>
                              <a:effectLst/>
                              <a:latin typeface="Cambria Math" panose="02040503050406030204" pitchFamily="18" charset="0"/>
                              <a:cs typeface="Arial" panose="020B0604020202020204" pitchFamily="34" charset="0"/>
                            </a:rPr>
                            <m:t>𝐴</m:t>
                          </m:r>
                        </m:e>
                        <m:sub>
                          <m:r>
                            <a:rPr lang="en-US" sz="2800" i="1">
                              <a:solidFill>
                                <a:prstClr val="black"/>
                              </a:solidFill>
                              <a:effectLst/>
                              <a:latin typeface="Cambria Math" panose="02040503050406030204" pitchFamily="18" charset="0"/>
                              <a:cs typeface="Arial" panose="020B0604020202020204" pitchFamily="34" charset="0"/>
                            </a:rPr>
                            <m:t>1</m:t>
                          </m:r>
                        </m:sub>
                      </m:sSub>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r>
                  <a:rPr lang="en-US" sz="2800" dirty="0">
                    <a:solidFill>
                      <a:prstClr val="black"/>
                    </a:solidFill>
                    <a:effectLst/>
                    <a:latin typeface="Arial" panose="020B0604020202020204" pitchFamily="34" charset="0"/>
                    <a:cs typeface="Arial" panose="020B0604020202020204" pitchFamily="34" charset="0"/>
                  </a:rPr>
                  <a:t>Subject to Constraints:</a:t>
                </a:r>
              </a:p>
              <a:p>
                <a:pPr marL="0" lvl="0" indent="0" algn="just">
                  <a:buNone/>
                </a:pPr>
                <a14:m>
                  <m:oMathPara xmlns:m="http://schemas.openxmlformats.org/officeDocument/2006/math">
                    <m:oMathParaPr>
                      <m:jc m:val="centerGroup"/>
                    </m:oMathParaPr>
                    <m:oMath xmlns:m="http://schemas.openxmlformats.org/officeDocument/2006/math">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2</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𝑆</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b="0" i="1" smtClean="0">
                          <a:solidFill>
                            <a:prstClr val="black"/>
                          </a:solidFill>
                          <a:effectLst/>
                          <a:latin typeface="Cambria Math" panose="02040503050406030204" pitchFamily="18" charset="0"/>
                          <a:cs typeface="Arial" panose="020B0604020202020204" pitchFamily="34" charset="0"/>
                        </a:rPr>
                        <m:t>=6</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sz="2800" i="1">
                          <a:solidFill>
                            <a:prstClr val="black"/>
                          </a:solidFill>
                          <a:effectLst/>
                          <a:latin typeface="Cambria Math" panose="02040503050406030204" pitchFamily="18" charset="0"/>
                          <a:cs typeface="Arial" panose="020B0604020202020204" pitchFamily="34" charset="0"/>
                        </a:rPr>
                        <m:t>3</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𝑆</m:t>
                          </m:r>
                        </m:e>
                        <m:sub>
                          <m:r>
                            <a:rPr lang="en-US" sz="2800" b="0" i="1" smtClean="0">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𝐴</m:t>
                          </m:r>
                        </m:e>
                        <m:sub>
                          <m:r>
                            <a:rPr lang="en-US" sz="2800" b="0" i="1" smtClean="0">
                              <a:solidFill>
                                <a:prstClr val="black"/>
                              </a:solidFill>
                              <a:effectLst/>
                              <a:latin typeface="Cambria Math" panose="02040503050406030204" pitchFamily="18" charset="0"/>
                              <a:cs typeface="Arial" panose="020B0604020202020204" pitchFamily="34" charset="0"/>
                            </a:rPr>
                            <m:t>1</m:t>
                          </m:r>
                        </m:sub>
                      </m:sSub>
                      <m:r>
                        <a:rPr lang="en-US" sz="2800" b="0" i="1" smtClean="0">
                          <a:solidFill>
                            <a:prstClr val="black"/>
                          </a:solidFill>
                          <a:effectLst/>
                          <a:latin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3</m:t>
                      </m:r>
                    </m:oMath>
                  </m:oMathPara>
                </a14:m>
                <a:endParaRPr lang="en-US" sz="2800" dirty="0">
                  <a:solidFill>
                    <a:prstClr val="black"/>
                  </a:solidFill>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l="-1641" t="-529" r="-1723"/>
                </a:stretch>
              </a:blipFill>
            </p:spPr>
            <p:txBody>
              <a:bodyPr/>
              <a:lstStyle/>
              <a:p>
                <a:r>
                  <a:rPr lang="en-US">
                    <a:noFill/>
                  </a:rPr>
                  <a:t> </a:t>
                </a:r>
              </a:p>
            </p:txBody>
          </p:sp>
        </mc:Fallback>
      </mc:AlternateContent>
    </p:spTree>
    <p:extLst>
      <p:ext uri="{BB962C8B-B14F-4D97-AF65-F5344CB8AC3E}">
        <p14:creationId xmlns:p14="http://schemas.microsoft.com/office/powerpoint/2010/main" val="12029907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lvl="0" indent="0" algn="just">
                  <a:buNone/>
                </a:pPr>
                <a:r>
                  <a:rPr lang="en-US" sz="2800" b="0" i="0" dirty="0">
                    <a:solidFill>
                      <a:prstClr val="black"/>
                    </a:solidFill>
                    <a:effectLst/>
                    <a:latin typeface="Cambria Math" panose="02040503050406030204" pitchFamily="18" charset="0"/>
                    <a:cs typeface="Arial" panose="020B0604020202020204" pitchFamily="34" charset="0"/>
                  </a:rPr>
                  <a:t>Phase 1:</a:t>
                </a:r>
              </a:p>
              <a:p>
                <a:pPr marL="0" lvl="0" indent="0" algn="just">
                  <a:buNone/>
                </a:pPr>
                <a14:m>
                  <m:oMathPara xmlns:m="http://schemas.openxmlformats.org/officeDocument/2006/math">
                    <m:oMathParaPr>
                      <m:jc m:val="centerGroup"/>
                    </m:oMathParaPr>
                    <m:oMath xmlns:m="http://schemas.openxmlformats.org/officeDocument/2006/math">
                      <m:r>
                        <m:rPr>
                          <m:sty m:val="p"/>
                        </m:rPr>
                        <a:rPr lang="en-US" sz="2800" smtClean="0">
                          <a:solidFill>
                            <a:prstClr val="black"/>
                          </a:solidFill>
                          <a:effectLst/>
                          <a:latin typeface="Cambria Math" panose="02040503050406030204" pitchFamily="18" charset="0"/>
                          <a:cs typeface="Arial" panose="020B0604020202020204" pitchFamily="34" charset="0"/>
                        </a:rPr>
                        <m:t>w</m:t>
                      </m:r>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𝑆</m:t>
                          </m:r>
                        </m:e>
                        <m:sub>
                          <m:r>
                            <a:rPr lang="en-US" sz="2800" b="0" i="1" smtClean="0">
                              <a:solidFill>
                                <a:prstClr val="black"/>
                              </a:solidFill>
                              <a:effectLst/>
                              <a:latin typeface="Cambria Math" panose="02040503050406030204" pitchFamily="18" charset="0"/>
                              <a:cs typeface="Arial" panose="020B0604020202020204" pitchFamily="34" charset="0"/>
                            </a:rPr>
                            <m:t>2</m:t>
                          </m:r>
                        </m:sub>
                      </m:sSub>
                      <m:r>
                        <a:rPr lang="en-US" sz="2800" i="1">
                          <a:solidFill>
                            <a:prstClr val="black"/>
                          </a:solidFill>
                          <a:effectLst/>
                          <a:latin typeface="Cambria Math" panose="02040503050406030204" pitchFamily="18" charset="0"/>
                          <a:cs typeface="Arial" panose="020B0604020202020204" pitchFamily="34" charset="0"/>
                        </a:rPr>
                        <m:t>)</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m:rPr>
                          <m:sty m:val="p"/>
                        </m:rPr>
                        <a:rPr lang="en-US" sz="2800">
                          <a:solidFill>
                            <a:prstClr val="black"/>
                          </a:solidFill>
                          <a:effectLst/>
                          <a:latin typeface="Cambria Math" panose="02040503050406030204" pitchFamily="18" charset="0"/>
                          <a:cs typeface="Arial" panose="020B0604020202020204" pitchFamily="34" charset="0"/>
                        </a:rPr>
                        <m:t>w</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m:t>
                          </m:r>
                          <m:r>
                            <a:rPr lang="en-US" sz="2800" i="1">
                              <a:solidFill>
                                <a:prstClr val="black"/>
                              </a:solidFill>
                              <a:effectLst/>
                              <a:latin typeface="Cambria Math" panose="02040503050406030204" pitchFamily="18" charset="0"/>
                              <a:cs typeface="Arial" panose="020B0604020202020204" pitchFamily="34" charset="0"/>
                            </a:rPr>
                            <m:t>𝑥</m:t>
                          </m:r>
                        </m:e>
                        <m:sub>
                          <m:r>
                            <a:rPr lang="en-US" sz="2800" b="0" i="1" smtClean="0">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𝑆</m:t>
                          </m:r>
                        </m:e>
                        <m:sub>
                          <m:r>
                            <a:rPr lang="en-US" sz="2800" b="0" i="1" smtClean="0">
                              <a:solidFill>
                                <a:prstClr val="black"/>
                              </a:solidFill>
                              <a:effectLst/>
                              <a:latin typeface="Cambria Math" panose="02040503050406030204" pitchFamily="18" charset="0"/>
                              <a:cs typeface="Arial" panose="020B0604020202020204" pitchFamily="34" charset="0"/>
                            </a:rPr>
                            <m:t>2</m:t>
                          </m:r>
                        </m:sub>
                      </m:sSub>
                      <m:r>
                        <a:rPr lang="en-US" sz="2800" b="0" i="1" smtClean="0">
                          <a:solidFill>
                            <a:prstClr val="black"/>
                          </a:solidFill>
                          <a:effectLst/>
                          <a:latin typeface="Cambria Math" panose="02040503050406030204" pitchFamily="18" charset="0"/>
                          <a:cs typeface="Arial" panose="020B0604020202020204" pitchFamily="34" charset="0"/>
                        </a:rPr>
                        <m:t>=−3</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sz="2800" b="0" i="1" smtClean="0">
                          <a:solidFill>
                            <a:prstClr val="black"/>
                          </a:solidFill>
                          <a:effectLst/>
                          <a:latin typeface="Cambria Math" panose="02040503050406030204" pitchFamily="18" charset="0"/>
                          <a:cs typeface="Arial" panose="020B0604020202020204" pitchFamily="34" charset="0"/>
                        </a:rPr>
                        <m:t>𝑧</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−4</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−5</m:t>
                          </m:r>
                          <m:r>
                            <a:rPr lang="en-US" sz="2800" i="1">
                              <a:solidFill>
                                <a:prstClr val="black"/>
                              </a:solidFill>
                              <a:effectLst/>
                              <a:latin typeface="Cambria Math" panose="02040503050406030204" pitchFamily="18" charset="0"/>
                              <a:cs typeface="Arial" panose="020B0604020202020204" pitchFamily="34" charset="0"/>
                            </a:rPr>
                            <m:t>𝑥</m:t>
                          </m:r>
                        </m:e>
                        <m:sub>
                          <m:r>
                            <a:rPr lang="en-US" sz="2800" b="0" i="1" smtClean="0">
                              <a:solidFill>
                                <a:prstClr val="black"/>
                              </a:solidFill>
                              <a:effectLst/>
                              <a:latin typeface="Cambria Math" panose="02040503050406030204" pitchFamily="18" charset="0"/>
                              <a:cs typeface="Arial" panose="020B0604020202020204" pitchFamily="34" charset="0"/>
                            </a:rPr>
                            <m:t>2</m:t>
                          </m:r>
                        </m:sub>
                      </m:sSub>
                      <m:r>
                        <a:rPr lang="en-US" sz="2800" i="1">
                          <a:solidFill>
                            <a:prstClr val="black"/>
                          </a:solidFill>
                          <a:effectLst/>
                          <a:latin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cs typeface="Arial" panose="020B0604020202020204" pitchFamily="34" charset="0"/>
                        </a:rPr>
                        <m:t>0</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r>
                  <a:rPr lang="en-US" sz="2800" dirty="0">
                    <a:solidFill>
                      <a:prstClr val="black"/>
                    </a:solidFill>
                    <a:effectLst/>
                    <a:latin typeface="Arial" panose="020B0604020202020204" pitchFamily="34" charset="0"/>
                    <a:cs typeface="Arial" panose="020B0604020202020204" pitchFamily="34" charset="0"/>
                  </a:rPr>
                  <a:t>Subject to constraint:</a:t>
                </a:r>
              </a:p>
              <a:p>
                <a:pPr marL="0" lvl="0" indent="0" algn="just">
                  <a:buNone/>
                </a:pPr>
                <a14:m>
                  <m:oMathPara xmlns:m="http://schemas.openxmlformats.org/officeDocument/2006/math">
                    <m:oMathParaPr>
                      <m:jc m:val="centerGroup"/>
                    </m:oMathParaPr>
                    <m:oMath xmlns:m="http://schemas.openxmlformats.org/officeDocument/2006/math">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2</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𝑆</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=6</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sz="2800" i="1">
                          <a:solidFill>
                            <a:prstClr val="black"/>
                          </a:solidFill>
                          <a:effectLst/>
                          <a:latin typeface="Cambria Math" panose="02040503050406030204" pitchFamily="18" charset="0"/>
                          <a:cs typeface="Arial" panose="020B0604020202020204" pitchFamily="34" charset="0"/>
                        </a:rPr>
                        <m:t>3</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𝑆</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𝐴</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r>
                        <a:rPr lang="en-US" sz="2800" i="1">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3</m:t>
                      </m:r>
                    </m:oMath>
                  </m:oMathPara>
                </a14:m>
                <a:endParaRPr lang="en-US" sz="2800" dirty="0">
                  <a:solidFill>
                    <a:prstClr val="black"/>
                  </a:solidFill>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l="-1641" t="-529"/>
                </a:stretch>
              </a:blipFill>
            </p:spPr>
            <p:txBody>
              <a:bodyPr/>
              <a:lstStyle/>
              <a:p>
                <a:r>
                  <a:rPr lang="en-US">
                    <a:noFill/>
                  </a:rPr>
                  <a:t> </a:t>
                </a:r>
              </a:p>
            </p:txBody>
          </p:sp>
        </mc:Fallback>
      </mc:AlternateContent>
    </p:spTree>
    <p:extLst>
      <p:ext uri="{BB962C8B-B14F-4D97-AF65-F5344CB8AC3E}">
        <p14:creationId xmlns:p14="http://schemas.microsoft.com/office/powerpoint/2010/main" val="28803326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a:t>
            </a:r>
            <a:r>
              <a:rPr lang="en-US" sz="4000" dirty="0" smtClean="0">
                <a:solidFill>
                  <a:srgbClr val="C00000"/>
                </a:solidFill>
                <a:latin typeface="Arial" panose="020B0604020202020204" pitchFamily="34" charset="0"/>
                <a:cs typeface="Arial" panose="020B0604020202020204" pitchFamily="34" charset="0"/>
              </a:rPr>
              <a:t>method</a:t>
            </a:r>
            <a:br>
              <a:rPr lang="en-US" sz="4000" dirty="0" smtClean="0">
                <a:solidFill>
                  <a:srgbClr val="C00000"/>
                </a:solidFill>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(Maximization so choose more negative value in </a:t>
            </a:r>
            <a:r>
              <a:rPr lang="en-US" sz="1800" dirty="0" smtClean="0">
                <a:latin typeface="Arial" panose="020B0604020202020204" pitchFamily="34" charset="0"/>
                <a:cs typeface="Arial" panose="020B0604020202020204" pitchFamily="34" charset="0"/>
              </a:rPr>
              <a:t>w-row</a:t>
            </a:r>
            <a:r>
              <a:rPr lang="en-US" sz="1800" dirty="0">
                <a:latin typeface="Arial" panose="020B0604020202020204" pitchFamily="34" charset="0"/>
                <a:cs typeface="Arial" panose="020B0604020202020204" pitchFamily="34" charset="0"/>
              </a:rPr>
              <a:t>)</a:t>
            </a:r>
            <a:r>
              <a:rPr lang="en-US" sz="4000" dirty="0">
                <a:latin typeface="Arial" panose="020B0604020202020204" pitchFamily="34" charset="0"/>
                <a:cs typeface="Arial" panose="020B0604020202020204" pitchFamily="34" charset="0"/>
              </a:rPr>
              <a:t/>
            </a:r>
            <a:br>
              <a:rPr lang="en-US" sz="4000" dirty="0">
                <a:latin typeface="Arial" panose="020B0604020202020204" pitchFamily="34" charset="0"/>
                <a:cs typeface="Arial" panose="020B0604020202020204" pitchFamily="34" charset="0"/>
              </a:rPr>
            </a:br>
            <a:endParaRPr lang="en-US" sz="4000" dirty="0">
              <a:solidFill>
                <a:srgbClr val="C00000"/>
              </a:solidFill>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extLst>
                  <p:ext uri="{D42A27DB-BD31-4B8C-83A1-F6EECF244321}">
                    <p14:modId xmlns:p14="http://schemas.microsoft.com/office/powerpoint/2010/main" val="443770894"/>
                  </p:ext>
                </p:extLst>
              </p:nvPr>
            </p:nvGraphicFramePr>
            <p:xfrm>
              <a:off x="924329" y="1914207"/>
              <a:ext cx="6996273" cy="3772154"/>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913143">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792992">
                      <a:extLst>
                        <a:ext uri="{9D8B030D-6E8A-4147-A177-3AD203B41FA5}">
                          <a16:colId xmlns:a16="http://schemas.microsoft.com/office/drawing/2014/main" xmlns="" val="457432290"/>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-3</a:t>
                          </a:r>
                        </a:p>
                      </a:txBody>
                      <a:tcPr/>
                    </a:tc>
                    <a:tc>
                      <a:txBody>
                        <a:bodyPr/>
                        <a:lstStyle/>
                        <a:p>
                          <a:pPr algn="ctr"/>
                          <a:endParaRPr lang="en-US" dirty="0"/>
                        </a:p>
                      </a:txBody>
                      <a:tcPr/>
                    </a:tc>
                    <a:extLst>
                      <a:ext uri="{0D108BD9-81ED-4DB2-BD59-A6C34878D82A}">
                        <a16:rowId xmlns:a16="http://schemas.microsoft.com/office/drawing/2014/main" xmlns="" val="3181063999"/>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-4</a:t>
                          </a:r>
                        </a:p>
                      </a:txBody>
                      <a:tcPr/>
                    </a:tc>
                    <a:tc>
                      <a:txBody>
                        <a:bodyPr/>
                        <a:lstStyle/>
                        <a:p>
                          <a:pPr algn="ctr"/>
                          <a:r>
                            <a:rPr lang="en-US" dirty="0"/>
                            <a:t>-5</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dirty="0" smtClean="0">
                                    <a:solidFill>
                                      <a:schemeClr val="tx1"/>
                                    </a:solidFill>
                                    <a:latin typeface="Cambria Math" panose="02040503050406030204" pitchFamily="18" charset="0"/>
                                  </a:rPr>
                                  <m:t>0</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rgbClr val="FF0000"/>
                              </a:solidFill>
                            </a:rPr>
                            <a:t>2</a:t>
                          </a:r>
                        </a:p>
                      </a:txBody>
                      <a:tcPr/>
                    </a:tc>
                    <a:tc>
                      <a:txBody>
                        <a:bodyPr/>
                        <a:lstStyle/>
                        <a:p>
                          <a:pPr algn="ctr"/>
                          <a:r>
                            <a:rPr lang="en-US" dirty="0">
                              <a:solidFill>
                                <a:schemeClr val="tx1"/>
                              </a:solidFill>
                            </a:rPr>
                            <a:t>3</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6</m:t>
                                </m:r>
                              </m:oMath>
                            </m:oMathPara>
                          </a14:m>
                          <a:endParaRPr lang="en-US" dirty="0">
                            <a:solidFill>
                              <a:schemeClr val="tx1"/>
                            </a:solidFill>
                          </a:endParaRPr>
                        </a:p>
                      </a:txBody>
                      <a:tcPr/>
                    </a:tc>
                    <a:tc>
                      <a:txBody>
                        <a:bodyPr/>
                        <a:lstStyle/>
                        <a:p>
                          <a:pPr algn="ct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dirty="0" smtClean="0">
                                        <a:ln>
                                          <a:noFill/>
                                        </a:ln>
                                        <a:solidFill>
                                          <a:schemeClr val="tx1"/>
                                        </a:solidFill>
                                        <a:effectLst/>
                                        <a:uLnTx/>
                                        <a:uFillTx/>
                                        <a:latin typeface="Cambria Math"/>
                                        <a:ea typeface="+mn-ea"/>
                                        <a:cs typeface="+mn-cs"/>
                                      </a:rPr>
                                    </m:ctrlPr>
                                  </m:fPr>
                                  <m:num>
                                    <m:r>
                                      <a:rPr kumimoji="0" lang="en-US" sz="18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6</m:t>
                                    </m:r>
                                  </m:num>
                                  <m:den>
                                    <m:r>
                                      <a:rPr kumimoji="0" lang="en-US" sz="18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2</m:t>
                                    </m:r>
                                  </m:den>
                                </m:f>
                                <m:r>
                                  <a:rPr kumimoji="0" lang="en-US" sz="18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=3</m:t>
                                </m:r>
                              </m:oMath>
                            </m:oMathPara>
                          </a14:m>
                          <a:endParaRPr lang="en-US" dirty="0">
                            <a:solidFill>
                              <a:schemeClr val="tx1"/>
                            </a:solidFill>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1</m:t>
                                    </m:r>
                                  </m:sub>
                                </m:sSub>
                              </m:oMath>
                            </m:oMathPara>
                          </a14:m>
                          <a:endParaRPr lang="en-US" dirty="0"/>
                        </a:p>
                      </a:txBody>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dirty="0" smtClean="0">
                                        <a:ln>
                                          <a:noFill/>
                                        </a:ln>
                                        <a:solidFill>
                                          <a:srgbClr val="FF0000"/>
                                        </a:solidFill>
                                        <a:effectLst/>
                                        <a:uLnTx/>
                                        <a:uFillTx/>
                                        <a:latin typeface="Cambria Math"/>
                                        <a:ea typeface="+mn-ea"/>
                                        <a:cs typeface="+mn-cs"/>
                                      </a:rPr>
                                    </m:ctrlPr>
                                  </m:fPr>
                                  <m:num>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3</m:t>
                                    </m:r>
                                  </m:num>
                                  <m:den>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3</m:t>
                                    </m:r>
                                  </m:den>
                                </m:f>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0" noProof="0" dirty="0">
                            <a:ln>
                              <a:noFill/>
                            </a:ln>
                            <a:solidFill>
                              <a:srgbClr val="FF0000"/>
                            </a:solidFill>
                            <a:effectLst/>
                            <a:uLnTx/>
                            <a:uFillTx/>
                            <a:latin typeface="+mn-lt"/>
                            <a:ea typeface="+mn-ea"/>
                            <a:cs typeface="+mn-cs"/>
                          </a:endParaRPr>
                        </a:p>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a16="http://schemas.microsoft.com/office/drawing/2014/main" id="{363C6AA0-D659-4938-81F4-B7B5A22D8D24}"/>
                  </a:ext>
                </a:extLst>
              </p:cNvPr>
              <p:cNvGraphicFramePr>
                <a:graphicFrameLocks noGrp="1"/>
              </p:cNvGraphicFramePr>
              <p:nvPr>
                <p:extLst>
                  <p:ext uri="{D42A27DB-BD31-4B8C-83A1-F6EECF244321}">
                    <p14:modId xmlns:p14="http://schemas.microsoft.com/office/powerpoint/2010/main" val="443770894"/>
                  </p:ext>
                </p:extLst>
              </p:nvPr>
            </p:nvGraphicFramePr>
            <p:xfrm>
              <a:off x="924329" y="1914207"/>
              <a:ext cx="6996273" cy="3772154"/>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32917">
                      <a:extLst>
                        <a:ext uri="{9D8B030D-6E8A-4147-A177-3AD203B41FA5}">
                          <a16:colId xmlns:a16="http://schemas.microsoft.com/office/drawing/2014/main" val="1852071440"/>
                        </a:ext>
                      </a:extLst>
                    </a:gridCol>
                    <a:gridCol w="913143">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792992">
                      <a:extLst>
                        <a:ext uri="{9D8B030D-6E8A-4147-A177-3AD203B41FA5}">
                          <a16:colId xmlns:a16="http://schemas.microsoft.com/office/drawing/2014/main" val="457432290"/>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2"/>
                          <a:stretch>
                            <a:fillRect l="-129907" t="-3556" r="-848598" b="-176000"/>
                          </a:stretch>
                        </a:blipFill>
                      </a:tcPr>
                    </a:tc>
                    <a:tc>
                      <a:txBody>
                        <a:bodyPr/>
                        <a:lstStyle/>
                        <a:p>
                          <a:endParaRPr lang="en-US"/>
                        </a:p>
                      </a:txBody>
                      <a:tcPr>
                        <a:blipFill>
                          <a:blip r:embed="rId2"/>
                          <a:stretch>
                            <a:fillRect l="-205000" t="-3556" r="-656667" b="-176000"/>
                          </a:stretch>
                        </a:blipFill>
                      </a:tcPr>
                    </a:tc>
                    <a:tc>
                      <a:txBody>
                        <a:bodyPr/>
                        <a:lstStyle/>
                        <a:p>
                          <a:endParaRPr lang="en-US"/>
                        </a:p>
                      </a:txBody>
                      <a:tcPr>
                        <a:blipFill>
                          <a:blip r:embed="rId2"/>
                          <a:stretch>
                            <a:fillRect l="-244000" t="-3556" r="-425333" b="-176000"/>
                          </a:stretch>
                        </a:blipFill>
                      </a:tcPr>
                    </a:tc>
                    <a:tc>
                      <a:txBody>
                        <a:bodyPr/>
                        <a:lstStyle/>
                        <a:p>
                          <a:endParaRPr lang="en-US"/>
                        </a:p>
                      </a:txBody>
                      <a:tcPr>
                        <a:blipFill>
                          <a:blip r:embed="rId2"/>
                          <a:stretch>
                            <a:fillRect l="-385075" t="-3556" r="-376119" b="-176000"/>
                          </a:stretch>
                        </a:blipFill>
                      </a:tcPr>
                    </a:tc>
                    <a:tc>
                      <a:txBody>
                        <a:bodyPr/>
                        <a:lstStyle/>
                        <a:p>
                          <a:endParaRPr lang="en-US"/>
                        </a:p>
                      </a:txBody>
                      <a:tcPr>
                        <a:blipFill>
                          <a:blip r:embed="rId2"/>
                          <a:stretch>
                            <a:fillRect l="-496183" t="-3556" r="-284733" b="-17600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-3</a:t>
                          </a:r>
                        </a:p>
                      </a:txBody>
                      <a:tcPr/>
                    </a:tc>
                    <a:tc>
                      <a:txBody>
                        <a:bodyPr/>
                        <a:lstStyle/>
                        <a:p>
                          <a:pPr algn="ctr"/>
                          <a:endParaRPr lang="en-US" dirty="0"/>
                        </a:p>
                      </a:txBody>
                      <a:tcPr/>
                    </a:tc>
                    <a:extLst>
                      <a:ext uri="{0D108BD9-81ED-4DB2-BD59-A6C34878D82A}">
                        <a16:rowId xmlns:a16="http://schemas.microsoft.com/office/drawing/2014/main" val="3181063999"/>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-4</a:t>
                          </a:r>
                        </a:p>
                      </a:txBody>
                      <a:tcPr/>
                    </a:tc>
                    <a:tc>
                      <a:txBody>
                        <a:bodyPr/>
                        <a:lstStyle/>
                        <a:p>
                          <a:pPr algn="ctr"/>
                          <a:r>
                            <a:rPr lang="en-US" dirty="0"/>
                            <a:t>-5</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424457" t="-410667" r="-102717" b="-328000"/>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3265417494"/>
                      </a:ext>
                    </a:extLst>
                  </a:tr>
                  <a:tr h="605028">
                    <a:tc>
                      <a:txBody>
                        <a:bodyPr/>
                        <a:lstStyle/>
                        <a:p>
                          <a:endParaRPr lang="en-US"/>
                        </a:p>
                      </a:txBody>
                      <a:tcPr>
                        <a:blipFill>
                          <a:blip r:embed="rId2"/>
                          <a:stretch>
                            <a:fillRect l="-725" t="-386869" r="-735507" b="-148485"/>
                          </a:stretch>
                        </a:blipFill>
                      </a:tcPr>
                    </a:tc>
                    <a:tc>
                      <a:txBody>
                        <a:bodyPr/>
                        <a:lstStyle/>
                        <a:p>
                          <a:pPr algn="ctr"/>
                          <a:r>
                            <a:rPr lang="en-US" dirty="0">
                              <a:solidFill>
                                <a:srgbClr val="FF0000"/>
                              </a:solidFill>
                            </a:rPr>
                            <a:t>2</a:t>
                          </a:r>
                        </a:p>
                      </a:txBody>
                      <a:tcPr/>
                    </a:tc>
                    <a:tc>
                      <a:txBody>
                        <a:bodyPr/>
                        <a:lstStyle/>
                        <a:p>
                          <a:pPr algn="ctr"/>
                          <a:r>
                            <a:rPr lang="en-US" dirty="0">
                              <a:solidFill>
                                <a:schemeClr val="tx1"/>
                              </a:solidFill>
                            </a:rPr>
                            <a:t>3</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endParaRPr lang="en-US"/>
                        </a:p>
                      </a:txBody>
                      <a:tcPr>
                        <a:blipFill>
                          <a:blip r:embed="rId2"/>
                          <a:stretch>
                            <a:fillRect l="-424457" t="-386869" r="-102717" b="-148485"/>
                          </a:stretch>
                        </a:blipFill>
                      </a:tcPr>
                    </a:tc>
                    <a:tc>
                      <a:txBody>
                        <a:bodyPr/>
                        <a:lstStyle/>
                        <a:p>
                          <a:endParaRPr lang="en-US"/>
                        </a:p>
                      </a:txBody>
                      <a:tcPr>
                        <a:blipFill>
                          <a:blip r:embed="rId2"/>
                          <a:stretch>
                            <a:fillRect l="-521622" t="-386869" r="-2162" b="-148485"/>
                          </a:stretch>
                        </a:blipFill>
                      </a:tcPr>
                    </a:tc>
                    <a:extLst>
                      <a:ext uri="{0D108BD9-81ED-4DB2-BD59-A6C34878D82A}">
                        <a16:rowId xmlns:a16="http://schemas.microsoft.com/office/drawing/2014/main" val="1697728900"/>
                      </a:ext>
                    </a:extLst>
                  </a:tr>
                  <a:tr h="881126">
                    <a:tc>
                      <a:txBody>
                        <a:bodyPr/>
                        <a:lstStyle/>
                        <a:p>
                          <a:endParaRPr lang="en-US"/>
                        </a:p>
                      </a:txBody>
                      <a:tcPr>
                        <a:blipFill>
                          <a:blip r:embed="rId2"/>
                          <a:stretch>
                            <a:fillRect l="-725" t="-332414" r="-735507" b="-1379"/>
                          </a:stretch>
                        </a:blipFill>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3</a:t>
                          </a:r>
                        </a:p>
                      </a:txBody>
                      <a:tcPr/>
                    </a:tc>
                    <a:tc>
                      <a:txBody>
                        <a:bodyPr/>
                        <a:lstStyle/>
                        <a:p>
                          <a:endParaRPr lang="en-US"/>
                        </a:p>
                      </a:txBody>
                      <a:tcPr>
                        <a:blipFill>
                          <a:blip r:embed="rId2"/>
                          <a:stretch>
                            <a:fillRect l="-521622" t="-332414" r="-2162" b="-1379"/>
                          </a:stretch>
                        </a:blipFill>
                      </a:tcPr>
                    </a:tc>
                    <a:extLst>
                      <a:ext uri="{0D108BD9-81ED-4DB2-BD59-A6C34878D82A}">
                        <a16:rowId xmlns:a16="http://schemas.microsoft.com/office/drawing/2014/main" val="3414884863"/>
                      </a:ext>
                    </a:extLst>
                  </a:tr>
                </a:tbl>
              </a:graphicData>
            </a:graphic>
          </p:graphicFrame>
        </mc:Fallback>
      </mc:AlternateContent>
    </p:spTree>
    <p:extLst>
      <p:ext uri="{BB962C8B-B14F-4D97-AF65-F5344CB8AC3E}">
        <p14:creationId xmlns:p14="http://schemas.microsoft.com/office/powerpoint/2010/main" val="154213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extLst>
                  <p:ext uri="{D42A27DB-BD31-4B8C-83A1-F6EECF244321}">
                    <p14:modId xmlns:p14="http://schemas.microsoft.com/office/powerpoint/2010/main" val="4085481704"/>
                  </p:ext>
                </p:extLst>
              </p:nvPr>
            </p:nvGraphicFramePr>
            <p:xfrm>
              <a:off x="924329" y="1914207"/>
              <a:ext cx="6996273" cy="3772154"/>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913143">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792992">
                      <a:extLst>
                        <a:ext uri="{9D8B030D-6E8A-4147-A177-3AD203B41FA5}">
                          <a16:colId xmlns:a16="http://schemas.microsoft.com/office/drawing/2014/main" xmlns="" val="457432290"/>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-3</a:t>
                          </a:r>
                        </a:p>
                      </a:txBody>
                      <a:tcPr/>
                    </a:tc>
                    <a:tc>
                      <a:txBody>
                        <a:bodyPr/>
                        <a:lstStyle/>
                        <a:p>
                          <a:pPr algn="ctr"/>
                          <a:endParaRPr lang="en-US" dirty="0"/>
                        </a:p>
                      </a:txBody>
                      <a:tcPr/>
                    </a:tc>
                    <a:extLst>
                      <a:ext uri="{0D108BD9-81ED-4DB2-BD59-A6C34878D82A}">
                        <a16:rowId xmlns:a16="http://schemas.microsoft.com/office/drawing/2014/main" xmlns="" val="3181063999"/>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-4</a:t>
                          </a:r>
                        </a:p>
                      </a:txBody>
                      <a:tcPr/>
                    </a:tc>
                    <a:tc>
                      <a:txBody>
                        <a:bodyPr/>
                        <a:lstStyle/>
                        <a:p>
                          <a:pPr algn="ctr"/>
                          <a:r>
                            <a:rPr lang="en-US" dirty="0"/>
                            <a:t>-5</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dirty="0" smtClean="0">
                                    <a:solidFill>
                                      <a:schemeClr val="tx1"/>
                                    </a:solidFill>
                                    <a:latin typeface="Cambria Math" panose="02040503050406030204" pitchFamily="18" charset="0"/>
                                  </a:rPr>
                                  <m:t>0</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rgbClr val="FF0000"/>
                              </a:solidFill>
                            </a:rPr>
                            <a:t>2</a:t>
                          </a:r>
                        </a:p>
                      </a:txBody>
                      <a:tcPr/>
                    </a:tc>
                    <a:tc>
                      <a:txBody>
                        <a:bodyPr/>
                        <a:lstStyle/>
                        <a:p>
                          <a:pPr algn="ctr"/>
                          <a:r>
                            <a:rPr lang="en-US" dirty="0">
                              <a:solidFill>
                                <a:schemeClr val="tx1"/>
                              </a:solidFill>
                            </a:rPr>
                            <a:t>3</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6</m:t>
                                </m:r>
                              </m:oMath>
                            </m:oMathPara>
                          </a14:m>
                          <a:endParaRPr lang="en-US" dirty="0">
                            <a:solidFill>
                              <a:schemeClr val="tx1"/>
                            </a:solidFill>
                          </a:endParaRPr>
                        </a:p>
                      </a:txBody>
                      <a:tcPr/>
                    </a:tc>
                    <a:tc>
                      <a:txBody>
                        <a:bodyPr/>
                        <a:lstStyle/>
                        <a:p>
                          <a:pPr algn="ct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dirty="0" smtClean="0">
                                        <a:ln>
                                          <a:noFill/>
                                        </a:ln>
                                        <a:solidFill>
                                          <a:schemeClr val="tx1"/>
                                        </a:solidFill>
                                        <a:effectLst/>
                                        <a:uLnTx/>
                                        <a:uFillTx/>
                                        <a:latin typeface="Cambria Math"/>
                                        <a:ea typeface="+mn-ea"/>
                                        <a:cs typeface="+mn-cs"/>
                                      </a:rPr>
                                    </m:ctrlPr>
                                  </m:fPr>
                                  <m:num>
                                    <m:r>
                                      <a:rPr kumimoji="0" lang="en-US" sz="18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6</m:t>
                                    </m:r>
                                  </m:num>
                                  <m:den>
                                    <m:r>
                                      <a:rPr kumimoji="0" lang="en-US" sz="18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2</m:t>
                                    </m:r>
                                  </m:den>
                                </m:f>
                                <m:r>
                                  <a:rPr kumimoji="0" lang="en-US" sz="18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=3</m:t>
                                </m:r>
                              </m:oMath>
                            </m:oMathPara>
                          </a14:m>
                          <a:endParaRPr lang="en-US" dirty="0">
                            <a:solidFill>
                              <a:schemeClr val="tx1"/>
                            </a:solidFill>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1</m:t>
                                    </m:r>
                                  </m:sub>
                                </m:sSub>
                              </m:oMath>
                            </m:oMathPara>
                          </a14:m>
                          <a:endParaRPr lang="en-US" dirty="0"/>
                        </a:p>
                      </a:txBody>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dirty="0" smtClean="0">
                                        <a:ln>
                                          <a:noFill/>
                                        </a:ln>
                                        <a:solidFill>
                                          <a:srgbClr val="FF0000"/>
                                        </a:solidFill>
                                        <a:effectLst/>
                                        <a:uLnTx/>
                                        <a:uFillTx/>
                                        <a:latin typeface="Cambria Math"/>
                                        <a:ea typeface="+mn-ea"/>
                                        <a:cs typeface="+mn-cs"/>
                                      </a:rPr>
                                    </m:ctrlPr>
                                  </m:fPr>
                                  <m:num>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3</m:t>
                                    </m:r>
                                  </m:num>
                                  <m:den>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3</m:t>
                                    </m:r>
                                  </m:den>
                                </m:f>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0" noProof="0" dirty="0">
                            <a:ln>
                              <a:noFill/>
                            </a:ln>
                            <a:solidFill>
                              <a:srgbClr val="FF0000"/>
                            </a:solidFill>
                            <a:effectLst/>
                            <a:uLnTx/>
                            <a:uFillTx/>
                            <a:latin typeface="+mn-lt"/>
                            <a:ea typeface="+mn-ea"/>
                            <a:cs typeface="+mn-cs"/>
                          </a:endParaRPr>
                        </a:p>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a16="http://schemas.microsoft.com/office/drawing/2014/main" id="{363C6AA0-D659-4938-81F4-B7B5A22D8D24}"/>
                  </a:ext>
                </a:extLst>
              </p:cNvPr>
              <p:cNvGraphicFramePr>
                <a:graphicFrameLocks noGrp="1"/>
              </p:cNvGraphicFramePr>
              <p:nvPr>
                <p:extLst>
                  <p:ext uri="{D42A27DB-BD31-4B8C-83A1-F6EECF244321}">
                    <p14:modId xmlns:p14="http://schemas.microsoft.com/office/powerpoint/2010/main" val="4085481704"/>
                  </p:ext>
                </p:extLst>
              </p:nvPr>
            </p:nvGraphicFramePr>
            <p:xfrm>
              <a:off x="924329" y="1914207"/>
              <a:ext cx="6996273" cy="3772154"/>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32917">
                      <a:extLst>
                        <a:ext uri="{9D8B030D-6E8A-4147-A177-3AD203B41FA5}">
                          <a16:colId xmlns:a16="http://schemas.microsoft.com/office/drawing/2014/main" val="1852071440"/>
                        </a:ext>
                      </a:extLst>
                    </a:gridCol>
                    <a:gridCol w="913143">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792992">
                      <a:extLst>
                        <a:ext uri="{9D8B030D-6E8A-4147-A177-3AD203B41FA5}">
                          <a16:colId xmlns:a16="http://schemas.microsoft.com/office/drawing/2014/main" val="457432290"/>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2"/>
                          <a:stretch>
                            <a:fillRect l="-129907" t="-3556" r="-848598" b="-176000"/>
                          </a:stretch>
                        </a:blipFill>
                      </a:tcPr>
                    </a:tc>
                    <a:tc>
                      <a:txBody>
                        <a:bodyPr/>
                        <a:lstStyle/>
                        <a:p>
                          <a:endParaRPr lang="en-US"/>
                        </a:p>
                      </a:txBody>
                      <a:tcPr>
                        <a:blipFill>
                          <a:blip r:embed="rId2"/>
                          <a:stretch>
                            <a:fillRect l="-205000" t="-3556" r="-656667" b="-176000"/>
                          </a:stretch>
                        </a:blipFill>
                      </a:tcPr>
                    </a:tc>
                    <a:tc>
                      <a:txBody>
                        <a:bodyPr/>
                        <a:lstStyle/>
                        <a:p>
                          <a:endParaRPr lang="en-US"/>
                        </a:p>
                      </a:txBody>
                      <a:tcPr>
                        <a:blipFill>
                          <a:blip r:embed="rId2"/>
                          <a:stretch>
                            <a:fillRect l="-244000" t="-3556" r="-425333" b="-176000"/>
                          </a:stretch>
                        </a:blipFill>
                      </a:tcPr>
                    </a:tc>
                    <a:tc>
                      <a:txBody>
                        <a:bodyPr/>
                        <a:lstStyle/>
                        <a:p>
                          <a:endParaRPr lang="en-US"/>
                        </a:p>
                      </a:txBody>
                      <a:tcPr>
                        <a:blipFill>
                          <a:blip r:embed="rId2"/>
                          <a:stretch>
                            <a:fillRect l="-385075" t="-3556" r="-376119" b="-176000"/>
                          </a:stretch>
                        </a:blipFill>
                      </a:tcPr>
                    </a:tc>
                    <a:tc>
                      <a:txBody>
                        <a:bodyPr/>
                        <a:lstStyle/>
                        <a:p>
                          <a:endParaRPr lang="en-US"/>
                        </a:p>
                      </a:txBody>
                      <a:tcPr>
                        <a:blipFill>
                          <a:blip r:embed="rId2"/>
                          <a:stretch>
                            <a:fillRect l="-496183" t="-3556" r="-284733" b="-17600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-3</a:t>
                          </a:r>
                        </a:p>
                      </a:txBody>
                      <a:tcPr/>
                    </a:tc>
                    <a:tc>
                      <a:txBody>
                        <a:bodyPr/>
                        <a:lstStyle/>
                        <a:p>
                          <a:pPr algn="ctr"/>
                          <a:endParaRPr lang="en-US" dirty="0"/>
                        </a:p>
                      </a:txBody>
                      <a:tcPr/>
                    </a:tc>
                    <a:extLst>
                      <a:ext uri="{0D108BD9-81ED-4DB2-BD59-A6C34878D82A}">
                        <a16:rowId xmlns:a16="http://schemas.microsoft.com/office/drawing/2014/main" val="3181063999"/>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-4</a:t>
                          </a:r>
                        </a:p>
                      </a:txBody>
                      <a:tcPr/>
                    </a:tc>
                    <a:tc>
                      <a:txBody>
                        <a:bodyPr/>
                        <a:lstStyle/>
                        <a:p>
                          <a:pPr algn="ctr"/>
                          <a:r>
                            <a:rPr lang="en-US" dirty="0"/>
                            <a:t>-5</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424457" t="-410667" r="-102717" b="-328000"/>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3265417494"/>
                      </a:ext>
                    </a:extLst>
                  </a:tr>
                  <a:tr h="605028">
                    <a:tc>
                      <a:txBody>
                        <a:bodyPr/>
                        <a:lstStyle/>
                        <a:p>
                          <a:endParaRPr lang="en-US"/>
                        </a:p>
                      </a:txBody>
                      <a:tcPr>
                        <a:blipFill>
                          <a:blip r:embed="rId2"/>
                          <a:stretch>
                            <a:fillRect l="-725" t="-386869" r="-735507" b="-148485"/>
                          </a:stretch>
                        </a:blipFill>
                      </a:tcPr>
                    </a:tc>
                    <a:tc>
                      <a:txBody>
                        <a:bodyPr/>
                        <a:lstStyle/>
                        <a:p>
                          <a:pPr algn="ctr"/>
                          <a:r>
                            <a:rPr lang="en-US" dirty="0">
                              <a:solidFill>
                                <a:srgbClr val="FF0000"/>
                              </a:solidFill>
                            </a:rPr>
                            <a:t>2</a:t>
                          </a:r>
                        </a:p>
                      </a:txBody>
                      <a:tcPr/>
                    </a:tc>
                    <a:tc>
                      <a:txBody>
                        <a:bodyPr/>
                        <a:lstStyle/>
                        <a:p>
                          <a:pPr algn="ctr"/>
                          <a:r>
                            <a:rPr lang="en-US" dirty="0">
                              <a:solidFill>
                                <a:schemeClr val="tx1"/>
                              </a:solidFill>
                            </a:rPr>
                            <a:t>3</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endParaRPr lang="en-US"/>
                        </a:p>
                      </a:txBody>
                      <a:tcPr>
                        <a:blipFill>
                          <a:blip r:embed="rId2"/>
                          <a:stretch>
                            <a:fillRect l="-424457" t="-386869" r="-102717" b="-148485"/>
                          </a:stretch>
                        </a:blipFill>
                      </a:tcPr>
                    </a:tc>
                    <a:tc>
                      <a:txBody>
                        <a:bodyPr/>
                        <a:lstStyle/>
                        <a:p>
                          <a:endParaRPr lang="en-US"/>
                        </a:p>
                      </a:txBody>
                      <a:tcPr>
                        <a:blipFill>
                          <a:blip r:embed="rId2"/>
                          <a:stretch>
                            <a:fillRect l="-521622" t="-386869" r="-2162" b="-148485"/>
                          </a:stretch>
                        </a:blipFill>
                      </a:tcPr>
                    </a:tc>
                    <a:extLst>
                      <a:ext uri="{0D108BD9-81ED-4DB2-BD59-A6C34878D82A}">
                        <a16:rowId xmlns:a16="http://schemas.microsoft.com/office/drawing/2014/main" val="1697728900"/>
                      </a:ext>
                    </a:extLst>
                  </a:tr>
                  <a:tr h="881126">
                    <a:tc>
                      <a:txBody>
                        <a:bodyPr/>
                        <a:lstStyle/>
                        <a:p>
                          <a:endParaRPr lang="en-US"/>
                        </a:p>
                      </a:txBody>
                      <a:tcPr>
                        <a:blipFill>
                          <a:blip r:embed="rId2"/>
                          <a:stretch>
                            <a:fillRect l="-725" t="-332414" r="-735507" b="-1379"/>
                          </a:stretch>
                        </a:blipFill>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3</a:t>
                          </a:r>
                        </a:p>
                      </a:txBody>
                      <a:tcPr/>
                    </a:tc>
                    <a:tc>
                      <a:txBody>
                        <a:bodyPr/>
                        <a:lstStyle/>
                        <a:p>
                          <a:endParaRPr lang="en-US"/>
                        </a:p>
                      </a:txBody>
                      <a:tcPr>
                        <a:blipFill>
                          <a:blip r:embed="rId2"/>
                          <a:stretch>
                            <a:fillRect l="-521622" t="-332414" r="-2162" b="-1379"/>
                          </a:stretch>
                        </a:blipFill>
                      </a:tcPr>
                    </a:tc>
                    <a:extLst>
                      <a:ext uri="{0D108BD9-81ED-4DB2-BD59-A6C34878D82A}">
                        <a16:rowId xmlns:a16="http://schemas.microsoft.com/office/drawing/2014/main" val="3414884863"/>
                      </a:ext>
                    </a:extLst>
                  </a:tr>
                </a:tbl>
              </a:graphicData>
            </a:graphic>
          </p:graphicFrame>
        </mc:Fallback>
      </mc:AlternateContent>
    </p:spTree>
    <p:extLst>
      <p:ext uri="{BB962C8B-B14F-4D97-AF65-F5344CB8AC3E}">
        <p14:creationId xmlns:p14="http://schemas.microsoft.com/office/powerpoint/2010/main" val="33362190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extLst>
                  <p:ext uri="{D42A27DB-BD31-4B8C-83A1-F6EECF244321}">
                    <p14:modId xmlns:p14="http://schemas.microsoft.com/office/powerpoint/2010/main" val="315618805"/>
                  </p:ext>
                </p:extLst>
              </p:nvPr>
            </p:nvGraphicFramePr>
            <p:xfrm>
              <a:off x="924329" y="1914207"/>
              <a:ext cx="6996273" cy="320040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32917">
                      <a:extLst>
                        <a:ext uri="{9D8B030D-6E8A-4147-A177-3AD203B41FA5}">
                          <a16:colId xmlns:a16="http://schemas.microsoft.com/office/drawing/2014/main" xmlns="" val="1852071440"/>
                        </a:ext>
                      </a:extLst>
                    </a:gridCol>
                    <a:gridCol w="913143">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792992">
                      <a:extLst>
                        <a:ext uri="{9D8B030D-6E8A-4147-A177-3AD203B41FA5}">
                          <a16:colId xmlns:a16="http://schemas.microsoft.com/office/drawing/2014/main" xmlns="" val="457432290"/>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-3</a:t>
                          </a:r>
                        </a:p>
                      </a:txBody>
                      <a:tcPr/>
                    </a:tc>
                    <a:tc>
                      <a:txBody>
                        <a:bodyPr/>
                        <a:lstStyle/>
                        <a:p>
                          <a:pPr algn="ctr"/>
                          <a:endParaRPr lang="en-US" dirty="0"/>
                        </a:p>
                      </a:txBody>
                      <a:tcPr/>
                    </a:tc>
                    <a:extLst>
                      <a:ext uri="{0D108BD9-81ED-4DB2-BD59-A6C34878D82A}">
                        <a16:rowId xmlns:a16="http://schemas.microsoft.com/office/drawing/2014/main" xmlns="" val="3181063999"/>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-4</a:t>
                          </a:r>
                        </a:p>
                      </a:txBody>
                      <a:tcPr/>
                    </a:tc>
                    <a:tc>
                      <a:txBody>
                        <a:bodyPr/>
                        <a:lstStyle/>
                        <a:p>
                          <a:pPr algn="ctr"/>
                          <a:r>
                            <a:rPr lang="en-US" dirty="0"/>
                            <a:t>-5</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dirty="0" smtClean="0">
                                    <a:solidFill>
                                      <a:schemeClr val="tx1"/>
                                    </a:solidFill>
                                    <a:latin typeface="Cambria Math" panose="02040503050406030204" pitchFamily="18" charset="0"/>
                                  </a:rPr>
                                  <m:t>0</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rgbClr val="FF0000"/>
                              </a:solidFill>
                            </a:rPr>
                            <a:t>2</a:t>
                          </a:r>
                        </a:p>
                      </a:txBody>
                      <a:tcPr/>
                    </a:tc>
                    <a:tc>
                      <a:txBody>
                        <a:bodyPr/>
                        <a:lstStyle/>
                        <a:p>
                          <a:pPr algn="ctr"/>
                          <a:r>
                            <a:rPr lang="en-US" dirty="0">
                              <a:solidFill>
                                <a:schemeClr val="tx1"/>
                              </a:solidFill>
                            </a:rPr>
                            <a:t>3</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6</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1</m:t>
                                    </m:r>
                                  </m:sub>
                                </m:sSub>
                              </m:oMath>
                            </m:oMathPara>
                          </a14:m>
                          <a:endParaRPr lang="en-US" dirty="0"/>
                        </a:p>
                      </a:txBody>
                      <a:tcPr/>
                    </a:tc>
                    <a:tc>
                      <a:txBody>
                        <a:bodyPr/>
                        <a:lstStyle/>
                        <a:p>
                          <a:pPr algn="ctr"/>
                          <a:r>
                            <a:rPr lang="en-US" dirty="0">
                              <a:solidFill>
                                <a:srgbClr val="FF0000"/>
                              </a:solidFill>
                            </a:rPr>
                            <a:t>1</a:t>
                          </a:r>
                        </a:p>
                      </a:txBody>
                      <a:tcPr/>
                    </a:tc>
                    <a:tc>
                      <a:txBody>
                        <a:bodyPr/>
                        <a:lstStyle/>
                        <a:p>
                          <a:pPr algn="ctr"/>
                          <a:r>
                            <a:rPr lang="en-US" dirty="0"/>
                            <a:t>1/3</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1/3</a:t>
                          </a:r>
                        </a:p>
                      </a:txBody>
                      <a:tcPr/>
                    </a:tc>
                    <a:tc>
                      <a:txBody>
                        <a:bodyPr/>
                        <a:lstStyle/>
                        <a:p>
                          <a:pPr algn="ctr"/>
                          <a:r>
                            <a:rPr lang="en-US" dirty="0"/>
                            <a:t>1</a:t>
                          </a:r>
                        </a:p>
                      </a:txBody>
                      <a:tcPr/>
                    </a:tc>
                    <a:tc>
                      <a:txBody>
                        <a:bodyPr/>
                        <a:lstStyle/>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a16="http://schemas.microsoft.com/office/drawing/2014/main" id="{363C6AA0-D659-4938-81F4-B7B5A22D8D24}"/>
                  </a:ext>
                </a:extLst>
              </p:cNvPr>
              <p:cNvGraphicFramePr>
                <a:graphicFrameLocks noGrp="1"/>
              </p:cNvGraphicFramePr>
              <p:nvPr>
                <p:extLst>
                  <p:ext uri="{D42A27DB-BD31-4B8C-83A1-F6EECF244321}">
                    <p14:modId xmlns:p14="http://schemas.microsoft.com/office/powerpoint/2010/main" val="315618805"/>
                  </p:ext>
                </p:extLst>
              </p:nvPr>
            </p:nvGraphicFramePr>
            <p:xfrm>
              <a:off x="924329" y="1914207"/>
              <a:ext cx="6996273" cy="320040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32917">
                      <a:extLst>
                        <a:ext uri="{9D8B030D-6E8A-4147-A177-3AD203B41FA5}">
                          <a16:colId xmlns:a16="http://schemas.microsoft.com/office/drawing/2014/main" val="1852071440"/>
                        </a:ext>
                      </a:extLst>
                    </a:gridCol>
                    <a:gridCol w="913143">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792992">
                      <a:extLst>
                        <a:ext uri="{9D8B030D-6E8A-4147-A177-3AD203B41FA5}">
                          <a16:colId xmlns:a16="http://schemas.microsoft.com/office/drawing/2014/main" val="457432290"/>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2"/>
                          <a:stretch>
                            <a:fillRect l="-129907" t="-3556" r="-848598" b="-134667"/>
                          </a:stretch>
                        </a:blipFill>
                      </a:tcPr>
                    </a:tc>
                    <a:tc>
                      <a:txBody>
                        <a:bodyPr/>
                        <a:lstStyle/>
                        <a:p>
                          <a:endParaRPr lang="en-US"/>
                        </a:p>
                      </a:txBody>
                      <a:tcPr>
                        <a:blipFill>
                          <a:blip r:embed="rId2"/>
                          <a:stretch>
                            <a:fillRect l="-205000" t="-3556" r="-656667" b="-134667"/>
                          </a:stretch>
                        </a:blipFill>
                      </a:tcPr>
                    </a:tc>
                    <a:tc>
                      <a:txBody>
                        <a:bodyPr/>
                        <a:lstStyle/>
                        <a:p>
                          <a:endParaRPr lang="en-US"/>
                        </a:p>
                      </a:txBody>
                      <a:tcPr>
                        <a:blipFill>
                          <a:blip r:embed="rId2"/>
                          <a:stretch>
                            <a:fillRect l="-244000" t="-3556" r="-425333" b="-134667"/>
                          </a:stretch>
                        </a:blipFill>
                      </a:tcPr>
                    </a:tc>
                    <a:tc>
                      <a:txBody>
                        <a:bodyPr/>
                        <a:lstStyle/>
                        <a:p>
                          <a:endParaRPr lang="en-US"/>
                        </a:p>
                      </a:txBody>
                      <a:tcPr>
                        <a:blipFill>
                          <a:blip r:embed="rId2"/>
                          <a:stretch>
                            <a:fillRect l="-385075" t="-3556" r="-376119" b="-134667"/>
                          </a:stretch>
                        </a:blipFill>
                      </a:tcPr>
                    </a:tc>
                    <a:tc>
                      <a:txBody>
                        <a:bodyPr/>
                        <a:lstStyle/>
                        <a:p>
                          <a:endParaRPr lang="en-US"/>
                        </a:p>
                      </a:txBody>
                      <a:tcPr>
                        <a:blipFill>
                          <a:blip r:embed="rId2"/>
                          <a:stretch>
                            <a:fillRect l="-496183" t="-3556" r="-284733" b="-13466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-3</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-3</a:t>
                          </a:r>
                        </a:p>
                      </a:txBody>
                      <a:tcPr/>
                    </a:tc>
                    <a:tc>
                      <a:txBody>
                        <a:bodyPr/>
                        <a:lstStyle/>
                        <a:p>
                          <a:pPr algn="ctr"/>
                          <a:endParaRPr lang="en-US" dirty="0"/>
                        </a:p>
                      </a:txBody>
                      <a:tcPr/>
                    </a:tc>
                    <a:extLst>
                      <a:ext uri="{0D108BD9-81ED-4DB2-BD59-A6C34878D82A}">
                        <a16:rowId xmlns:a16="http://schemas.microsoft.com/office/drawing/2014/main" val="3181063999"/>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-4</a:t>
                          </a:r>
                        </a:p>
                      </a:txBody>
                      <a:tcPr/>
                    </a:tc>
                    <a:tc>
                      <a:txBody>
                        <a:bodyPr/>
                        <a:lstStyle/>
                        <a:p>
                          <a:pPr algn="ctr"/>
                          <a:r>
                            <a:rPr lang="en-US" dirty="0"/>
                            <a:t>-5</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424457" t="-412000" r="-102717" b="-202667"/>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3265417494"/>
                      </a:ext>
                    </a:extLst>
                  </a:tr>
                  <a:tr h="457200">
                    <a:tc>
                      <a:txBody>
                        <a:bodyPr/>
                        <a:lstStyle/>
                        <a:p>
                          <a:endParaRPr lang="en-US"/>
                        </a:p>
                      </a:txBody>
                      <a:tcPr>
                        <a:blipFill>
                          <a:blip r:embed="rId2"/>
                          <a:stretch>
                            <a:fillRect l="-725" t="-512000" r="-735507" b="-102667"/>
                          </a:stretch>
                        </a:blipFill>
                      </a:tcPr>
                    </a:tc>
                    <a:tc>
                      <a:txBody>
                        <a:bodyPr/>
                        <a:lstStyle/>
                        <a:p>
                          <a:pPr algn="ctr"/>
                          <a:r>
                            <a:rPr lang="en-US" dirty="0">
                              <a:solidFill>
                                <a:srgbClr val="FF0000"/>
                              </a:solidFill>
                            </a:rPr>
                            <a:t>2</a:t>
                          </a:r>
                        </a:p>
                      </a:txBody>
                      <a:tcPr/>
                    </a:tc>
                    <a:tc>
                      <a:txBody>
                        <a:bodyPr/>
                        <a:lstStyle/>
                        <a:p>
                          <a:pPr algn="ctr"/>
                          <a:r>
                            <a:rPr lang="en-US" dirty="0">
                              <a:solidFill>
                                <a:schemeClr val="tx1"/>
                              </a:solidFill>
                            </a:rPr>
                            <a:t>3</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endParaRPr lang="en-US"/>
                        </a:p>
                      </a:txBody>
                      <a:tcPr>
                        <a:blipFill>
                          <a:blip r:embed="rId2"/>
                          <a:stretch>
                            <a:fillRect l="-424457" t="-512000" r="-102717" b="-102667"/>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1697728900"/>
                      </a:ext>
                    </a:extLst>
                  </a:tr>
                  <a:tr h="457200">
                    <a:tc>
                      <a:txBody>
                        <a:bodyPr/>
                        <a:lstStyle/>
                        <a:p>
                          <a:endParaRPr lang="en-US"/>
                        </a:p>
                      </a:txBody>
                      <a:tcPr>
                        <a:blipFill>
                          <a:blip r:embed="rId2"/>
                          <a:stretch>
                            <a:fillRect l="-725" t="-612000" r="-735507" b="-2667"/>
                          </a:stretch>
                        </a:blipFill>
                      </a:tcPr>
                    </a:tc>
                    <a:tc>
                      <a:txBody>
                        <a:bodyPr/>
                        <a:lstStyle/>
                        <a:p>
                          <a:pPr algn="ctr"/>
                          <a:r>
                            <a:rPr lang="en-US" dirty="0">
                              <a:solidFill>
                                <a:srgbClr val="FF0000"/>
                              </a:solidFill>
                            </a:rPr>
                            <a:t>1</a:t>
                          </a:r>
                        </a:p>
                      </a:txBody>
                      <a:tcPr/>
                    </a:tc>
                    <a:tc>
                      <a:txBody>
                        <a:bodyPr/>
                        <a:lstStyle/>
                        <a:p>
                          <a:pPr algn="ctr"/>
                          <a:r>
                            <a:rPr lang="en-US" dirty="0"/>
                            <a:t>1/3</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1/3</a:t>
                          </a:r>
                        </a:p>
                      </a:txBody>
                      <a:tcPr/>
                    </a:tc>
                    <a:tc>
                      <a:txBody>
                        <a:bodyPr/>
                        <a:lstStyle/>
                        <a:p>
                          <a:pPr algn="ctr"/>
                          <a:r>
                            <a:rPr lang="en-US" dirty="0"/>
                            <a:t>1</a:t>
                          </a:r>
                        </a:p>
                      </a:txBody>
                      <a:tcPr/>
                    </a:tc>
                    <a:tc>
                      <a:txBody>
                        <a:bodyPr/>
                        <a:lstStyle/>
                        <a:p>
                          <a:pPr algn="ctr"/>
                          <a:endParaRPr lang="en-US" dirty="0"/>
                        </a:p>
                      </a:txBody>
                      <a:tcPr/>
                    </a:tc>
                    <a:extLst>
                      <a:ext uri="{0D108BD9-81ED-4DB2-BD59-A6C34878D82A}">
                        <a16:rowId xmlns:a16="http://schemas.microsoft.com/office/drawing/2014/main" val="3414884863"/>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xmlns="" id="{3F6B009F-A312-4E3E-92B9-733B3CC90176}"/>
                  </a:ext>
                </a:extLst>
              </p:cNvPr>
              <p:cNvSpPr/>
              <p:nvPr/>
            </p:nvSpPr>
            <p:spPr>
              <a:xfrm>
                <a:off x="3287667" y="5267005"/>
                <a:ext cx="2566284" cy="790216"/>
              </a:xfrm>
              <a:prstGeom prst="rect">
                <a:avLst/>
              </a:prstGeom>
            </p:spPr>
            <p:txBody>
              <a:bodyPr wrap="square">
                <a:spAutoFit/>
              </a:bodyPr>
              <a:lstStyle/>
              <a:p>
                <a:pPr lvl="0" defTabSz="914400">
                  <a:defRPr/>
                </a:pPr>
                <a:r>
                  <a:rPr lang="en-US" sz="3200" b="0" dirty="0">
                    <a:solidFill>
                      <a:prstClr val="black"/>
                    </a:solidFill>
                  </a:rPr>
                  <a:t>B</a:t>
                </a:r>
                <a14:m>
                  <m:oMath xmlns:m="http://schemas.openxmlformats.org/officeDocument/2006/math">
                    <m:r>
                      <a:rPr lang="en-US" sz="3200" b="0" i="1" dirty="0" smtClean="0">
                        <a:solidFill>
                          <a:prstClr val="black"/>
                        </a:solidFill>
                        <a:latin typeface="Cambria Math" panose="02040503050406030204" pitchFamily="18" charset="0"/>
                      </a:rPr>
                      <m:t>𝑦</m:t>
                    </m:r>
                    <m:r>
                      <a:rPr lang="en-US" sz="3200" b="0" i="1" dirty="0" smtClean="0">
                        <a:solidFill>
                          <a:prstClr val="black"/>
                        </a:solidFill>
                        <a:latin typeface="Cambria Math" panose="02040503050406030204" pitchFamily="18" charset="0"/>
                      </a:rPr>
                      <m:t> </m:t>
                    </m:r>
                    <m:f>
                      <m:fPr>
                        <m:ctrlPr>
                          <a:rPr lang="en-US" sz="3200" b="0" i="1" dirty="0" smtClean="0">
                            <a:solidFill>
                              <a:prstClr val="black"/>
                            </a:solidFill>
                            <a:latin typeface="Cambria Math"/>
                          </a:rPr>
                        </m:ctrlPr>
                      </m:fPr>
                      <m:num>
                        <m:r>
                          <a:rPr lang="en-US" sz="3200" b="0" i="1" dirty="0" smtClean="0">
                            <a:solidFill>
                              <a:prstClr val="black"/>
                            </a:solidFill>
                            <a:latin typeface="Cambria Math" panose="02040503050406030204" pitchFamily="18" charset="0"/>
                          </a:rPr>
                          <m:t>1</m:t>
                        </m:r>
                      </m:num>
                      <m:den>
                        <m:r>
                          <a:rPr lang="en-US" sz="3200" b="0" i="1" dirty="0" smtClean="0">
                            <a:solidFill>
                              <a:prstClr val="black"/>
                            </a:solidFill>
                            <a:latin typeface="Cambria Math" panose="02040503050406030204" pitchFamily="18" charset="0"/>
                          </a:rPr>
                          <m:t>3</m:t>
                        </m:r>
                      </m:den>
                    </m:f>
                    <m:sSub>
                      <m:sSubPr>
                        <m:ctrlPr>
                          <a:rPr lang="en-US" sz="4000" i="1">
                            <a:solidFill>
                              <a:srgbClr val="FF0000"/>
                            </a:solidFill>
                            <a:latin typeface="Cambria Math"/>
                            <a:cs typeface="Arial" panose="020B0604020202020204" pitchFamily="34" charset="0"/>
                          </a:rPr>
                        </m:ctrlPr>
                      </m:sSubPr>
                      <m:e>
                        <m:r>
                          <a:rPr lang="en-US" sz="4000" i="1">
                            <a:solidFill>
                              <a:srgbClr val="FF0000"/>
                            </a:solidFill>
                            <a:latin typeface="Cambria Math" panose="02040503050406030204" pitchFamily="18" charset="0"/>
                            <a:cs typeface="Arial" panose="020B0604020202020204" pitchFamily="34" charset="0"/>
                          </a:rPr>
                          <m:t>𝑥</m:t>
                        </m:r>
                      </m:e>
                      <m:sub>
                        <m:r>
                          <a:rPr lang="en-US" sz="4000" i="1">
                            <a:solidFill>
                              <a:srgbClr val="FF0000"/>
                            </a:solidFill>
                            <a:latin typeface="Cambria Math" panose="02040503050406030204" pitchFamily="18" charset="0"/>
                            <a:cs typeface="Arial" panose="020B0604020202020204" pitchFamily="34" charset="0"/>
                          </a:rPr>
                          <m:t>1</m:t>
                        </m:r>
                      </m:sub>
                    </m:sSub>
                  </m:oMath>
                </a14:m>
                <a:endParaRPr lang="en-US" sz="3200" dirty="0">
                  <a:solidFill>
                    <a:prstClr val="black"/>
                  </a:solidFill>
                </a:endParaRPr>
              </a:p>
            </p:txBody>
          </p:sp>
        </mc:Choice>
        <mc:Fallback xmlns="">
          <p:sp>
            <p:nvSpPr>
              <p:cNvPr id="5" name="Rectangle 4">
                <a:extLst>
                  <a:ext uri="{FF2B5EF4-FFF2-40B4-BE49-F238E27FC236}">
                    <a16:creationId xmlns:a16="http://schemas.microsoft.com/office/drawing/2014/main" id="{3F6B009F-A312-4E3E-92B9-733B3CC90176}"/>
                  </a:ext>
                </a:extLst>
              </p:cNvPr>
              <p:cNvSpPr>
                <a:spLocks noRot="1" noChangeAspect="1" noMove="1" noResize="1" noEditPoints="1" noAdjustHandles="1" noChangeArrowheads="1" noChangeShapeType="1" noTextEdit="1"/>
              </p:cNvSpPr>
              <p:nvPr/>
            </p:nvSpPr>
            <p:spPr>
              <a:xfrm>
                <a:off x="3287667" y="5267005"/>
                <a:ext cx="2566284" cy="790216"/>
              </a:xfrm>
              <a:prstGeom prst="rect">
                <a:avLst/>
              </a:prstGeom>
              <a:blipFill>
                <a:blip r:embed="rId3"/>
                <a:stretch>
                  <a:fillRect l="-5938" b="-11538"/>
                </a:stretch>
              </a:blipFill>
            </p:spPr>
            <p:txBody>
              <a:bodyPr/>
              <a:lstStyle/>
              <a:p>
                <a:r>
                  <a:rPr lang="en-US">
                    <a:noFill/>
                  </a:rPr>
                  <a:t> </a:t>
                </a:r>
              </a:p>
            </p:txBody>
          </p:sp>
        </mc:Fallback>
      </mc:AlternateContent>
    </p:spTree>
    <p:extLst>
      <p:ext uri="{BB962C8B-B14F-4D97-AF65-F5344CB8AC3E}">
        <p14:creationId xmlns:p14="http://schemas.microsoft.com/office/powerpoint/2010/main" val="29185043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xmlns="" id="{363C6AA0-D659-4938-81F4-B7B5A22D8D24}"/>
                  </a:ext>
                </a:extLst>
              </p:cNvPr>
              <p:cNvGraphicFramePr>
                <a:graphicFrameLocks noGrp="1"/>
              </p:cNvGraphicFramePr>
              <p:nvPr>
                <p:extLst>
                  <p:ext uri="{D42A27DB-BD31-4B8C-83A1-F6EECF244321}">
                    <p14:modId xmlns:p14="http://schemas.microsoft.com/office/powerpoint/2010/main" val="3056031841"/>
                  </p:ext>
                </p:extLst>
              </p:nvPr>
            </p:nvGraphicFramePr>
            <p:xfrm>
              <a:off x="924329" y="1914207"/>
              <a:ext cx="6996273" cy="320040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91474">
                      <a:extLst>
                        <a:ext uri="{9D8B030D-6E8A-4147-A177-3AD203B41FA5}">
                          <a16:colId xmlns:a16="http://schemas.microsoft.com/office/drawing/2014/main" xmlns="" val="1852071440"/>
                        </a:ext>
                      </a:extLst>
                    </a:gridCol>
                    <a:gridCol w="854586">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792992">
                      <a:extLst>
                        <a:ext uri="{9D8B030D-6E8A-4147-A177-3AD203B41FA5}">
                          <a16:colId xmlns:a16="http://schemas.microsoft.com/office/drawing/2014/main" xmlns="" val="457432290"/>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endParaRPr lang="en-US" dirty="0"/>
                        </a:p>
                      </a:txBody>
                      <a:tcPr/>
                    </a:tc>
                    <a:extLst>
                      <a:ext uri="{0D108BD9-81ED-4DB2-BD59-A6C34878D82A}">
                        <a16:rowId xmlns:a16="http://schemas.microsoft.com/office/drawing/2014/main" xmlns="" val="3181063999"/>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0</a:t>
                          </a:r>
                        </a:p>
                      </a:txBody>
                      <a:tcPr/>
                    </a:tc>
                    <a:tc>
                      <a:txBody>
                        <a:bodyPr/>
                        <a:lstStyle/>
                        <a:p>
                          <a:pPr algn="ctr"/>
                          <a:r>
                            <a:rPr lang="en-US" dirty="0"/>
                            <a:t>-11/3</a:t>
                          </a:r>
                        </a:p>
                      </a:txBody>
                      <a:tcPr/>
                    </a:tc>
                    <a:tc>
                      <a:txBody>
                        <a:bodyPr/>
                        <a:lstStyle/>
                        <a:p>
                          <a:pPr algn="ctr"/>
                          <a:r>
                            <a:rPr lang="en-US" dirty="0"/>
                            <a:t>0</a:t>
                          </a:r>
                        </a:p>
                      </a:txBody>
                      <a:tcPr/>
                    </a:tc>
                    <a:tc>
                      <a:txBody>
                        <a:bodyPr/>
                        <a:lstStyle/>
                        <a:p>
                          <a:pPr algn="ctr"/>
                          <a:r>
                            <a:rPr lang="en-US" dirty="0"/>
                            <a:t>-4/3</a:t>
                          </a:r>
                        </a:p>
                      </a:txBody>
                      <a:tcPr/>
                    </a:tc>
                    <a:tc>
                      <a:txBody>
                        <a:bodyPr/>
                        <a:lstStyle/>
                        <a:p>
                          <a:pPr algn="ctr"/>
                          <a:r>
                            <a:rPr lang="en-US" smtClean="0"/>
                            <a:t>4/3</a:t>
                          </a:r>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4</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rgbClr val="FF0000"/>
                              </a:solidFill>
                            </a:rPr>
                            <a:t>0</a:t>
                          </a:r>
                        </a:p>
                      </a:txBody>
                      <a:tcPr/>
                    </a:tc>
                    <a:tc>
                      <a:txBody>
                        <a:bodyPr/>
                        <a:lstStyle/>
                        <a:p>
                          <a:pPr algn="ctr"/>
                          <a:r>
                            <a:rPr lang="en-US" dirty="0">
                              <a:solidFill>
                                <a:schemeClr val="tx1"/>
                              </a:solidFill>
                            </a:rPr>
                            <a:t>7/3</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2/3</a:t>
                          </a:r>
                        </a:p>
                      </a:txBody>
                      <a:tcPr/>
                    </a:tc>
                    <a:tc>
                      <a:txBody>
                        <a:bodyPr/>
                        <a:lstStyle/>
                        <a:p>
                          <a:pPr algn="ctr"/>
                          <a:r>
                            <a:rPr lang="en-US" dirty="0">
                              <a:solidFill>
                                <a:schemeClr val="tx1"/>
                              </a:solidFill>
                            </a:rPr>
                            <a:t>-2/3</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4</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1</m:t>
                                    </m:r>
                                  </m:sub>
                                </m:sSub>
                              </m:oMath>
                            </m:oMathPara>
                          </a14:m>
                          <a:endParaRPr lang="en-US" dirty="0"/>
                        </a:p>
                      </a:txBody>
                      <a:tcPr/>
                    </a:tc>
                    <a:tc>
                      <a:txBody>
                        <a:bodyPr/>
                        <a:lstStyle/>
                        <a:p>
                          <a:pPr algn="ctr"/>
                          <a:r>
                            <a:rPr lang="en-US" dirty="0">
                              <a:solidFill>
                                <a:srgbClr val="FF0000"/>
                              </a:solidFill>
                            </a:rPr>
                            <a:t>1</a:t>
                          </a:r>
                        </a:p>
                      </a:txBody>
                      <a:tcPr/>
                    </a:tc>
                    <a:tc>
                      <a:txBody>
                        <a:bodyPr/>
                        <a:lstStyle/>
                        <a:p>
                          <a:pPr algn="ctr"/>
                          <a:r>
                            <a:rPr lang="en-US" dirty="0"/>
                            <a:t>1/3</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1/3</a:t>
                          </a:r>
                        </a:p>
                      </a:txBody>
                      <a:tcPr/>
                    </a:tc>
                    <a:tc>
                      <a:txBody>
                        <a:bodyPr/>
                        <a:lstStyle/>
                        <a:p>
                          <a:pPr algn="ctr"/>
                          <a:r>
                            <a:rPr lang="en-US" dirty="0"/>
                            <a:t>1</a:t>
                          </a:r>
                        </a:p>
                      </a:txBody>
                      <a:tcPr/>
                    </a:tc>
                    <a:tc>
                      <a:txBody>
                        <a:bodyPr/>
                        <a:lstStyle/>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4" name="Table 4">
                <a:extLst>
                  <a:ext uri="{FF2B5EF4-FFF2-40B4-BE49-F238E27FC236}">
                    <a16:creationId xmlns="" xmlns:a16="http://schemas.microsoft.com/office/drawing/2014/main" xmlns:a14="http://schemas.microsoft.com/office/drawing/2010/main" id="{363C6AA0-D659-4938-81F4-B7B5A22D8D24}"/>
                  </a:ext>
                </a:extLst>
              </p:cNvPr>
              <p:cNvGraphicFramePr>
                <a:graphicFrameLocks noGrp="1"/>
              </p:cNvGraphicFramePr>
              <p:nvPr>
                <p:extLst>
                  <p:ext uri="{D42A27DB-BD31-4B8C-83A1-F6EECF244321}">
                    <p14:modId xmlns:p14="http://schemas.microsoft.com/office/powerpoint/2010/main" val="3056031841"/>
                  </p:ext>
                </p:extLst>
              </p:nvPr>
            </p:nvGraphicFramePr>
            <p:xfrm>
              <a:off x="924329" y="1914207"/>
              <a:ext cx="6996273" cy="3200400"/>
            </p:xfrm>
            <a:graphic>
              <a:graphicData uri="http://schemas.openxmlformats.org/drawingml/2006/table">
                <a:tbl>
                  <a:tblPr firstRow="1" bandRow="1">
                    <a:tableStyleId>{7DF18680-E054-41AD-8BC1-D1AEF772440D}</a:tableStyleId>
                  </a:tblPr>
                  <a:tblGrid>
                    <a:gridCol w="843285">
                      <a:extLst>
                        <a:ext uri="{9D8B030D-6E8A-4147-A177-3AD203B41FA5}">
                          <a16:colId xmlns="" xmlns:a16="http://schemas.microsoft.com/office/drawing/2014/main" xmlns:a14="http://schemas.microsoft.com/office/drawing/2010/main" val="1700886628"/>
                        </a:ext>
                      </a:extLst>
                    </a:gridCol>
                    <a:gridCol w="648346">
                      <a:extLst>
                        <a:ext uri="{9D8B030D-6E8A-4147-A177-3AD203B41FA5}">
                          <a16:colId xmlns="" xmlns:a16="http://schemas.microsoft.com/office/drawing/2014/main" xmlns:a14="http://schemas.microsoft.com/office/drawing/2010/main" val="2853653774"/>
                        </a:ext>
                      </a:extLst>
                    </a:gridCol>
                    <a:gridCol w="791474">
                      <a:extLst>
                        <a:ext uri="{9D8B030D-6E8A-4147-A177-3AD203B41FA5}">
                          <a16:colId xmlns="" xmlns:a16="http://schemas.microsoft.com/office/drawing/2014/main" xmlns:a14="http://schemas.microsoft.com/office/drawing/2010/main" val="1852071440"/>
                        </a:ext>
                      </a:extLst>
                    </a:gridCol>
                    <a:gridCol w="854586">
                      <a:extLst>
                        <a:ext uri="{9D8B030D-6E8A-4147-A177-3AD203B41FA5}">
                          <a16:colId xmlns="" xmlns:a16="http://schemas.microsoft.com/office/drawing/2014/main" xmlns:a14="http://schemas.microsoft.com/office/drawing/2010/main" val="3733485545"/>
                        </a:ext>
                      </a:extLst>
                    </a:gridCol>
                    <a:gridCol w="817022">
                      <a:extLst>
                        <a:ext uri="{9D8B030D-6E8A-4147-A177-3AD203B41FA5}">
                          <a16:colId xmlns="" xmlns:a16="http://schemas.microsoft.com/office/drawing/2014/main" xmlns:a14="http://schemas.microsoft.com/office/drawing/2010/main" val="3456232338"/>
                        </a:ext>
                      </a:extLst>
                    </a:gridCol>
                    <a:gridCol w="792992">
                      <a:extLst>
                        <a:ext uri="{9D8B030D-6E8A-4147-A177-3AD203B41FA5}">
                          <a16:colId xmlns="" xmlns:a16="http://schemas.microsoft.com/office/drawing/2014/main" xmlns:a14="http://schemas.microsoft.com/office/drawing/2010/main" val="457432290"/>
                        </a:ext>
                      </a:extLst>
                    </a:gridCol>
                    <a:gridCol w="1124284">
                      <a:extLst>
                        <a:ext uri="{9D8B030D-6E8A-4147-A177-3AD203B41FA5}">
                          <a16:colId xmlns="" xmlns:a16="http://schemas.microsoft.com/office/drawing/2014/main" xmlns:a14="http://schemas.microsoft.com/office/drawing/2010/main" val="1798884083"/>
                        </a:ext>
                      </a:extLst>
                    </a:gridCol>
                    <a:gridCol w="1124284">
                      <a:extLst>
                        <a:ext uri="{9D8B030D-6E8A-4147-A177-3AD203B41FA5}">
                          <a16:colId xmlns="" xmlns:a16="http://schemas.microsoft.com/office/drawing/2014/main" xmlns:a14="http://schemas.microsoft.com/office/drawing/2010/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rotWithShape="1">
                          <a:blip r:embed="rId2"/>
                          <a:stretch>
                            <a:fillRect l="-129907" t="-3556" r="-843925" b="-143556"/>
                          </a:stretch>
                        </a:blipFill>
                      </a:tcPr>
                    </a:tc>
                    <a:tc>
                      <a:txBody>
                        <a:bodyPr/>
                        <a:lstStyle/>
                        <a:p>
                          <a:endParaRPr lang="en-US"/>
                        </a:p>
                      </a:txBody>
                      <a:tcPr>
                        <a:blipFill rotWithShape="1">
                          <a:blip r:embed="rId2"/>
                          <a:stretch>
                            <a:fillRect l="-190698" t="-3556" r="-600000" b="-143556"/>
                          </a:stretch>
                        </a:blipFill>
                      </a:tcPr>
                    </a:tc>
                    <a:tc>
                      <a:txBody>
                        <a:bodyPr/>
                        <a:lstStyle/>
                        <a:p>
                          <a:endParaRPr lang="en-US"/>
                        </a:p>
                      </a:txBody>
                      <a:tcPr>
                        <a:blipFill rotWithShape="1">
                          <a:blip r:embed="rId2"/>
                          <a:stretch>
                            <a:fillRect l="-267857" t="-3556" r="-452857" b="-143556"/>
                          </a:stretch>
                        </a:blipFill>
                      </a:tcPr>
                    </a:tc>
                    <a:tc>
                      <a:txBody>
                        <a:bodyPr/>
                        <a:lstStyle/>
                        <a:p>
                          <a:endParaRPr lang="en-US"/>
                        </a:p>
                      </a:txBody>
                      <a:tcPr>
                        <a:blipFill rotWithShape="1">
                          <a:blip r:embed="rId2"/>
                          <a:stretch>
                            <a:fillRect l="-384328" t="-3556" r="-373134" b="-143556"/>
                          </a:stretch>
                        </a:blipFill>
                      </a:tcPr>
                    </a:tc>
                    <a:tc>
                      <a:txBody>
                        <a:bodyPr/>
                        <a:lstStyle/>
                        <a:p>
                          <a:endParaRPr lang="en-US"/>
                        </a:p>
                      </a:txBody>
                      <a:tcPr>
                        <a:blipFill rotWithShape="1">
                          <a:blip r:embed="rId2"/>
                          <a:stretch>
                            <a:fillRect l="-499231" t="-3556" r="-284615" b="-143556"/>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 xmlns:a16="http://schemas.microsoft.com/office/drawing/2014/main" xmlns:a14="http://schemas.microsoft.com/office/drawing/2010/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w</a:t>
                          </a:r>
                        </a:p>
                      </a:txBody>
                      <a:tcPr/>
                    </a:tc>
                    <a:tc>
                      <a:txBody>
                        <a:bodyPr/>
                        <a:lstStyle/>
                        <a:p>
                          <a:pPr algn="ctr"/>
                          <a:r>
                            <a:rPr lang="en-US" dirty="0">
                              <a:solidFill>
                                <a:srgbClr val="FF0000"/>
                              </a:solidFill>
                            </a:rPr>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endParaRPr lang="en-US" dirty="0"/>
                        </a:p>
                      </a:txBody>
                      <a:tcPr/>
                    </a:tc>
                    <a:extLst>
                      <a:ext uri="{0D108BD9-81ED-4DB2-BD59-A6C34878D82A}">
                        <a16:rowId xmlns="" xmlns:a16="http://schemas.microsoft.com/office/drawing/2014/main" xmlns:a14="http://schemas.microsoft.com/office/drawing/2010/main" val="3181063999"/>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rgbClr val="FF0000"/>
                              </a:solidFill>
                            </a:rPr>
                            <a:t>0</a:t>
                          </a:r>
                        </a:p>
                      </a:txBody>
                      <a:tcPr/>
                    </a:tc>
                    <a:tc>
                      <a:txBody>
                        <a:bodyPr/>
                        <a:lstStyle/>
                        <a:p>
                          <a:pPr algn="ctr"/>
                          <a:r>
                            <a:rPr lang="en-US" dirty="0"/>
                            <a:t>-11/3</a:t>
                          </a:r>
                        </a:p>
                      </a:txBody>
                      <a:tcPr/>
                    </a:tc>
                    <a:tc>
                      <a:txBody>
                        <a:bodyPr/>
                        <a:lstStyle/>
                        <a:p>
                          <a:pPr algn="ctr"/>
                          <a:r>
                            <a:rPr lang="en-US" dirty="0"/>
                            <a:t>0</a:t>
                          </a:r>
                        </a:p>
                      </a:txBody>
                      <a:tcPr/>
                    </a:tc>
                    <a:tc>
                      <a:txBody>
                        <a:bodyPr/>
                        <a:lstStyle/>
                        <a:p>
                          <a:pPr algn="ctr"/>
                          <a:r>
                            <a:rPr lang="en-US" dirty="0"/>
                            <a:t>-4/3</a:t>
                          </a:r>
                        </a:p>
                      </a:txBody>
                      <a:tcPr/>
                    </a:tc>
                    <a:tc>
                      <a:txBody>
                        <a:bodyPr/>
                        <a:lstStyle/>
                        <a:p>
                          <a:pPr algn="ctr"/>
                          <a:r>
                            <a:rPr lang="en-US" smtClean="0"/>
                            <a:t>4/3</a:t>
                          </a:r>
                          <a:endParaRPr lang="en-US" dirty="0"/>
                        </a:p>
                      </a:txBody>
                      <a:tcPr/>
                    </a:tc>
                    <a:tc>
                      <a:txBody>
                        <a:bodyPr/>
                        <a:lstStyle/>
                        <a:p>
                          <a:endParaRPr lang="en-US"/>
                        </a:p>
                      </a:txBody>
                      <a:tcPr>
                        <a:blipFill rotWithShape="1">
                          <a:blip r:embed="rId2"/>
                          <a:stretch>
                            <a:fillRect l="-421081" t="-410667" r="-100000" b="-230667"/>
                          </a:stretch>
                        </a:blipFill>
                      </a:tcPr>
                    </a:tc>
                    <a:tc>
                      <a:txBody>
                        <a:bodyPr/>
                        <a:lstStyle/>
                        <a:p>
                          <a:pPr algn="ctr"/>
                          <a:endParaRPr lang="en-US" dirty="0">
                            <a:solidFill>
                              <a:schemeClr val="tx1"/>
                            </a:solidFill>
                          </a:endParaRPr>
                        </a:p>
                      </a:txBody>
                      <a:tcPr/>
                    </a:tc>
                    <a:extLst>
                      <a:ext uri="{0D108BD9-81ED-4DB2-BD59-A6C34878D82A}">
                        <a16:rowId xmlns="" xmlns:a16="http://schemas.microsoft.com/office/drawing/2014/main" xmlns:a14="http://schemas.microsoft.com/office/drawing/2010/main" val="3265417494"/>
                      </a:ext>
                    </a:extLst>
                  </a:tr>
                  <a:tr h="457200">
                    <a:tc>
                      <a:txBody>
                        <a:bodyPr/>
                        <a:lstStyle/>
                        <a:p>
                          <a:endParaRPr lang="en-US"/>
                        </a:p>
                      </a:txBody>
                      <a:tcPr>
                        <a:blipFill rotWithShape="1">
                          <a:blip r:embed="rId2"/>
                          <a:stretch>
                            <a:fillRect l="-725" t="-510667" r="-731884" b="-130667"/>
                          </a:stretch>
                        </a:blipFill>
                      </a:tcPr>
                    </a:tc>
                    <a:tc>
                      <a:txBody>
                        <a:bodyPr/>
                        <a:lstStyle/>
                        <a:p>
                          <a:pPr algn="ctr"/>
                          <a:r>
                            <a:rPr lang="en-US" dirty="0">
                              <a:solidFill>
                                <a:srgbClr val="FF0000"/>
                              </a:solidFill>
                            </a:rPr>
                            <a:t>0</a:t>
                          </a:r>
                        </a:p>
                      </a:txBody>
                      <a:tcPr/>
                    </a:tc>
                    <a:tc>
                      <a:txBody>
                        <a:bodyPr/>
                        <a:lstStyle/>
                        <a:p>
                          <a:pPr algn="ctr"/>
                          <a:r>
                            <a:rPr lang="en-US" dirty="0">
                              <a:solidFill>
                                <a:schemeClr val="tx1"/>
                              </a:solidFill>
                            </a:rPr>
                            <a:t>7/3</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2/3</a:t>
                          </a:r>
                        </a:p>
                      </a:txBody>
                      <a:tcPr/>
                    </a:tc>
                    <a:tc>
                      <a:txBody>
                        <a:bodyPr/>
                        <a:lstStyle/>
                        <a:p>
                          <a:pPr algn="ctr"/>
                          <a:r>
                            <a:rPr lang="en-US" dirty="0">
                              <a:solidFill>
                                <a:schemeClr val="tx1"/>
                              </a:solidFill>
                            </a:rPr>
                            <a:t>-2/3</a:t>
                          </a:r>
                        </a:p>
                      </a:txBody>
                      <a:tcPr/>
                    </a:tc>
                    <a:tc>
                      <a:txBody>
                        <a:bodyPr/>
                        <a:lstStyle/>
                        <a:p>
                          <a:endParaRPr lang="en-US"/>
                        </a:p>
                      </a:txBody>
                      <a:tcPr>
                        <a:blipFill rotWithShape="1">
                          <a:blip r:embed="rId2"/>
                          <a:stretch>
                            <a:fillRect l="-421081" t="-510667" r="-100000" b="-130667"/>
                          </a:stretch>
                        </a:blipFill>
                      </a:tcPr>
                    </a:tc>
                    <a:tc>
                      <a:txBody>
                        <a:bodyPr/>
                        <a:lstStyle/>
                        <a:p>
                          <a:pPr algn="ctr"/>
                          <a:endParaRPr lang="en-US" dirty="0">
                            <a:solidFill>
                              <a:schemeClr val="tx1"/>
                            </a:solidFill>
                          </a:endParaRPr>
                        </a:p>
                      </a:txBody>
                      <a:tcPr/>
                    </a:tc>
                    <a:extLst>
                      <a:ext uri="{0D108BD9-81ED-4DB2-BD59-A6C34878D82A}">
                        <a16:rowId xmlns="" xmlns:a16="http://schemas.microsoft.com/office/drawing/2014/main" xmlns:a14="http://schemas.microsoft.com/office/drawing/2010/main" val="1697728900"/>
                      </a:ext>
                    </a:extLst>
                  </a:tr>
                  <a:tr h="457200">
                    <a:tc>
                      <a:txBody>
                        <a:bodyPr/>
                        <a:lstStyle/>
                        <a:p>
                          <a:endParaRPr lang="en-US"/>
                        </a:p>
                      </a:txBody>
                      <a:tcPr>
                        <a:blipFill rotWithShape="1">
                          <a:blip r:embed="rId2"/>
                          <a:stretch>
                            <a:fillRect l="-725" t="-610667" r="-731884" b="-30667"/>
                          </a:stretch>
                        </a:blipFill>
                      </a:tcPr>
                    </a:tc>
                    <a:tc>
                      <a:txBody>
                        <a:bodyPr/>
                        <a:lstStyle/>
                        <a:p>
                          <a:pPr algn="ctr"/>
                          <a:r>
                            <a:rPr lang="en-US" dirty="0">
                              <a:solidFill>
                                <a:srgbClr val="FF0000"/>
                              </a:solidFill>
                            </a:rPr>
                            <a:t>1</a:t>
                          </a:r>
                        </a:p>
                      </a:txBody>
                      <a:tcPr/>
                    </a:tc>
                    <a:tc>
                      <a:txBody>
                        <a:bodyPr/>
                        <a:lstStyle/>
                        <a:p>
                          <a:pPr algn="ctr"/>
                          <a:r>
                            <a:rPr lang="en-US" dirty="0"/>
                            <a:t>1/3</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1/3</a:t>
                          </a:r>
                        </a:p>
                      </a:txBody>
                      <a:tcPr/>
                    </a:tc>
                    <a:tc>
                      <a:txBody>
                        <a:bodyPr/>
                        <a:lstStyle/>
                        <a:p>
                          <a:pPr algn="ctr"/>
                          <a:r>
                            <a:rPr lang="en-US" dirty="0"/>
                            <a:t>1</a:t>
                          </a:r>
                        </a:p>
                      </a:txBody>
                      <a:tcPr/>
                    </a:tc>
                    <a:tc>
                      <a:txBody>
                        <a:bodyPr/>
                        <a:lstStyle/>
                        <a:p>
                          <a:pPr algn="ctr"/>
                          <a:endParaRPr lang="en-US" dirty="0"/>
                        </a:p>
                      </a:txBody>
                      <a:tcPr/>
                    </a:tc>
                    <a:extLst>
                      <a:ext uri="{0D108BD9-81ED-4DB2-BD59-A6C34878D82A}">
                        <a16:rowId xmlns="" xmlns:a16="http://schemas.microsoft.com/office/drawing/2014/main" xmlns:a14="http://schemas.microsoft.com/office/drawing/2010/main" val="3414884863"/>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xmlns="" id="{FE765C55-A10C-4F54-A7C4-31CF9BFF5CDB}"/>
                  </a:ext>
                </a:extLst>
              </p:cNvPr>
              <p:cNvSpPr/>
              <p:nvPr/>
            </p:nvSpPr>
            <p:spPr>
              <a:xfrm>
                <a:off x="1603717" y="5474606"/>
                <a:ext cx="1299861" cy="400110"/>
              </a:xfrm>
              <a:prstGeom prst="rect">
                <a:avLst/>
              </a:prstGeom>
            </p:spPr>
            <p:txBody>
              <a:bodyPr wrap="square">
                <a:spAutoFit/>
              </a:bodyPr>
              <a:lstStyle/>
              <a:p>
                <a:pPr lvl="0" algn="ctr" defTabSz="914400"/>
                <a14:m>
                  <m:oMath xmlns:m="http://schemas.openxmlformats.org/officeDocument/2006/math">
                    <m:sSub>
                      <m:sSubPr>
                        <m:ctrlPr>
                          <a:rPr lang="en-US" sz="2000" i="1" smtClean="0">
                            <a:latin typeface="Cambria Math"/>
                            <a:cs typeface="Arial" panose="020B0604020202020204" pitchFamily="34" charset="0"/>
                          </a:rPr>
                        </m:ctrlPr>
                      </m:sSubPr>
                      <m:e>
                        <m:r>
                          <a:rPr lang="en-US" sz="2000" i="1">
                            <a:latin typeface="Cambria Math" panose="02040503050406030204" pitchFamily="18" charset="0"/>
                            <a:cs typeface="Arial" panose="020B0604020202020204" pitchFamily="34" charset="0"/>
                          </a:rPr>
                          <m:t>𝑠</m:t>
                        </m:r>
                      </m:e>
                      <m:sub>
                        <m:r>
                          <a:rPr lang="en-US" sz="2000" i="1">
                            <a:latin typeface="Cambria Math" panose="02040503050406030204" pitchFamily="18" charset="0"/>
                            <a:cs typeface="Arial" panose="020B0604020202020204" pitchFamily="34" charset="0"/>
                          </a:rPr>
                          <m:t>1</m:t>
                        </m:r>
                      </m:sub>
                    </m:sSub>
                    <m:r>
                      <a:rPr lang="en-US" sz="2000" b="0" i="1" smtClean="0">
                        <a:solidFill>
                          <a:prstClr val="black"/>
                        </a:solidFill>
                        <a:latin typeface="Cambria Math" panose="02040503050406030204" pitchFamily="18" charset="0"/>
                      </a:rPr>
                      <m:t>−2</m:t>
                    </m:r>
                    <m:sSub>
                      <m:sSubPr>
                        <m:ctrlPr>
                          <a:rPr lang="en-US" sz="2000" i="1" smtClean="0">
                            <a:solidFill>
                              <a:srgbClr val="FF0000"/>
                            </a:solidFill>
                            <a:latin typeface="Cambria Math"/>
                            <a:cs typeface="Arial" panose="020B0604020202020204" pitchFamily="34" charset="0"/>
                          </a:rPr>
                        </m:ctrlPr>
                      </m:sSubPr>
                      <m:e>
                        <m:r>
                          <a:rPr lang="en-US" sz="2000" i="1">
                            <a:solidFill>
                              <a:srgbClr val="FF0000"/>
                            </a:solidFill>
                            <a:latin typeface="Cambria Math" panose="02040503050406030204" pitchFamily="18" charset="0"/>
                            <a:cs typeface="Arial" panose="020B0604020202020204" pitchFamily="34" charset="0"/>
                          </a:rPr>
                          <m:t>𝑥</m:t>
                        </m:r>
                      </m:e>
                      <m:sub>
                        <m:r>
                          <a:rPr lang="en-US" sz="2000" i="1">
                            <a:solidFill>
                              <a:srgbClr val="FF0000"/>
                            </a:solidFill>
                            <a:latin typeface="Cambria Math" panose="02040503050406030204" pitchFamily="18" charset="0"/>
                            <a:cs typeface="Arial" panose="020B0604020202020204" pitchFamily="34" charset="0"/>
                          </a:rPr>
                          <m:t>1</m:t>
                        </m:r>
                      </m:sub>
                    </m:sSub>
                  </m:oMath>
                </a14:m>
                <a:r>
                  <a:rPr lang="en-US" sz="2000" dirty="0">
                    <a:solidFill>
                      <a:prstClr val="black"/>
                    </a:solidFill>
                  </a:rPr>
                  <a:t>,</a:t>
                </a:r>
              </a:p>
            </p:txBody>
          </p:sp>
        </mc:Choice>
        <mc:Fallback xmlns="">
          <p:sp>
            <p:nvSpPr>
              <p:cNvPr id="7" name="Rectangle 6">
                <a:extLst>
                  <a:ext uri="{FF2B5EF4-FFF2-40B4-BE49-F238E27FC236}">
                    <a16:creationId xmlns:a16="http://schemas.microsoft.com/office/drawing/2014/main" id="{FE765C55-A10C-4F54-A7C4-31CF9BFF5CDB}"/>
                  </a:ext>
                </a:extLst>
              </p:cNvPr>
              <p:cNvSpPr>
                <a:spLocks noRot="1" noChangeAspect="1" noMove="1" noResize="1" noEditPoints="1" noAdjustHandles="1" noChangeArrowheads="1" noChangeShapeType="1" noTextEdit="1"/>
              </p:cNvSpPr>
              <p:nvPr/>
            </p:nvSpPr>
            <p:spPr>
              <a:xfrm>
                <a:off x="1603717" y="5474606"/>
                <a:ext cx="1299861" cy="400110"/>
              </a:xfrm>
              <a:prstGeom prst="rect">
                <a:avLst/>
              </a:prstGeom>
              <a:blipFill>
                <a:blip r:embed="rId3"/>
                <a:stretch>
                  <a:fillRect t="-7576"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93CE6463-A240-4B72-B4B9-EEB522F78DE6}"/>
                  </a:ext>
                </a:extLst>
              </p:cNvPr>
              <p:cNvSpPr/>
              <p:nvPr/>
            </p:nvSpPr>
            <p:spPr>
              <a:xfrm>
                <a:off x="2903578" y="5474606"/>
                <a:ext cx="1299861" cy="400110"/>
              </a:xfrm>
              <a:prstGeom prst="rect">
                <a:avLst/>
              </a:prstGeom>
            </p:spPr>
            <p:txBody>
              <a:bodyPr wrap="square">
                <a:spAutoFit/>
              </a:bodyPr>
              <a:lstStyle/>
              <a:p>
                <a:pPr lvl="0" algn="ctr" defTabSz="914400"/>
                <a:r>
                  <a:rPr lang="en-US" sz="2000" b="0" dirty="0">
                    <a:solidFill>
                      <a:prstClr val="black"/>
                    </a:solidFill>
                  </a:rPr>
                  <a:t>z</a:t>
                </a:r>
                <a14:m>
                  <m:oMath xmlns:m="http://schemas.openxmlformats.org/officeDocument/2006/math">
                    <m:r>
                      <a:rPr lang="en-US" sz="2000" i="1">
                        <a:solidFill>
                          <a:prstClr val="black"/>
                        </a:solidFill>
                        <a:latin typeface="Cambria Math" panose="02040503050406030204" pitchFamily="18" charset="0"/>
                      </a:rPr>
                      <m:t>+</m:t>
                    </m:r>
                    <m:r>
                      <a:rPr lang="en-US" sz="2000" b="0" i="1" smtClean="0">
                        <a:solidFill>
                          <a:prstClr val="black"/>
                        </a:solidFill>
                        <a:latin typeface="Cambria Math" panose="02040503050406030204" pitchFamily="18" charset="0"/>
                      </a:rPr>
                      <m:t>4</m:t>
                    </m:r>
                    <m:sSub>
                      <m:sSubPr>
                        <m:ctrlPr>
                          <a:rPr lang="en-US" sz="2000" i="1" smtClean="0">
                            <a:solidFill>
                              <a:srgbClr val="FF0000"/>
                            </a:solidFill>
                            <a:latin typeface="Cambria Math"/>
                            <a:cs typeface="Arial" panose="020B0604020202020204" pitchFamily="34" charset="0"/>
                          </a:rPr>
                        </m:ctrlPr>
                      </m:sSubPr>
                      <m:e>
                        <m:r>
                          <a:rPr lang="en-US" sz="2000" i="1">
                            <a:solidFill>
                              <a:srgbClr val="FF0000"/>
                            </a:solidFill>
                            <a:latin typeface="Cambria Math" panose="02040503050406030204" pitchFamily="18" charset="0"/>
                            <a:cs typeface="Arial" panose="020B0604020202020204" pitchFamily="34" charset="0"/>
                          </a:rPr>
                          <m:t>𝑥</m:t>
                        </m:r>
                      </m:e>
                      <m:sub>
                        <m:r>
                          <a:rPr lang="en-US" sz="2000" i="1">
                            <a:solidFill>
                              <a:srgbClr val="FF0000"/>
                            </a:solidFill>
                            <a:latin typeface="Cambria Math" panose="02040503050406030204" pitchFamily="18" charset="0"/>
                            <a:cs typeface="Arial" panose="020B0604020202020204" pitchFamily="34" charset="0"/>
                          </a:rPr>
                          <m:t>1</m:t>
                        </m:r>
                      </m:sub>
                    </m:sSub>
                  </m:oMath>
                </a14:m>
                <a:r>
                  <a:rPr lang="en-US" sz="2000" dirty="0">
                    <a:solidFill>
                      <a:prstClr val="black"/>
                    </a:solidFill>
                  </a:rPr>
                  <a:t>,</a:t>
                </a:r>
              </a:p>
            </p:txBody>
          </p:sp>
        </mc:Choice>
        <mc:Fallback xmlns="">
          <p:sp>
            <p:nvSpPr>
              <p:cNvPr id="8" name="Rectangle 7">
                <a:extLst>
                  <a:ext uri="{FF2B5EF4-FFF2-40B4-BE49-F238E27FC236}">
                    <a16:creationId xmlns:a16="http://schemas.microsoft.com/office/drawing/2014/main" id="{93CE6463-A240-4B72-B4B9-EEB522F78DE6}"/>
                  </a:ext>
                </a:extLst>
              </p:cNvPr>
              <p:cNvSpPr>
                <a:spLocks noRot="1" noChangeAspect="1" noMove="1" noResize="1" noEditPoints="1" noAdjustHandles="1" noChangeArrowheads="1" noChangeShapeType="1" noTextEdit="1"/>
              </p:cNvSpPr>
              <p:nvPr/>
            </p:nvSpPr>
            <p:spPr>
              <a:xfrm>
                <a:off x="2903578" y="5474606"/>
                <a:ext cx="1299861" cy="400110"/>
              </a:xfrm>
              <a:prstGeom prst="rect">
                <a:avLst/>
              </a:prstGeom>
              <a:blipFill>
                <a:blip r:embed="rId4"/>
                <a:stretch>
                  <a:fillRect t="-7576"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xmlns="" id="{08E09029-A47B-4C09-B768-9200EBE5EAF9}"/>
                  </a:ext>
                </a:extLst>
              </p:cNvPr>
              <p:cNvSpPr/>
              <p:nvPr/>
            </p:nvSpPr>
            <p:spPr>
              <a:xfrm>
                <a:off x="4203439" y="5474606"/>
                <a:ext cx="1299861" cy="400110"/>
              </a:xfrm>
              <a:prstGeom prst="rect">
                <a:avLst/>
              </a:prstGeom>
            </p:spPr>
            <p:txBody>
              <a:bodyPr wrap="square">
                <a:spAutoFit/>
              </a:bodyPr>
              <a:lstStyle/>
              <a:p>
                <a:pPr lvl="0" algn="ctr" defTabSz="914400"/>
                <a14:m>
                  <m:oMath xmlns:m="http://schemas.openxmlformats.org/officeDocument/2006/math">
                    <m:r>
                      <a:rPr lang="en-US" sz="2000" b="0" i="1" smtClean="0">
                        <a:solidFill>
                          <a:prstClr val="black"/>
                        </a:solidFill>
                        <a:latin typeface="Cambria Math" panose="02040503050406030204" pitchFamily="18" charset="0"/>
                      </a:rPr>
                      <m:t>𝑤</m:t>
                    </m:r>
                    <m:r>
                      <a:rPr lang="en-US" sz="2000" b="0" i="1" smtClean="0">
                        <a:solidFill>
                          <a:prstClr val="black"/>
                        </a:solidFill>
                        <a:latin typeface="Cambria Math" panose="02040503050406030204" pitchFamily="18" charset="0"/>
                      </a:rPr>
                      <m:t>+3</m:t>
                    </m:r>
                    <m:sSub>
                      <m:sSubPr>
                        <m:ctrlPr>
                          <a:rPr lang="en-US" sz="2000" i="1" smtClean="0">
                            <a:solidFill>
                              <a:srgbClr val="FF0000"/>
                            </a:solidFill>
                            <a:latin typeface="Cambria Math"/>
                            <a:cs typeface="Arial" panose="020B0604020202020204" pitchFamily="34" charset="0"/>
                          </a:rPr>
                        </m:ctrlPr>
                      </m:sSubPr>
                      <m:e>
                        <m:r>
                          <a:rPr lang="en-US" sz="2000" i="1">
                            <a:solidFill>
                              <a:srgbClr val="FF0000"/>
                            </a:solidFill>
                            <a:latin typeface="Cambria Math" panose="02040503050406030204" pitchFamily="18" charset="0"/>
                            <a:cs typeface="Arial" panose="020B0604020202020204" pitchFamily="34" charset="0"/>
                          </a:rPr>
                          <m:t>𝑥</m:t>
                        </m:r>
                      </m:e>
                      <m:sub>
                        <m:r>
                          <a:rPr lang="en-US" sz="2000" i="1">
                            <a:solidFill>
                              <a:srgbClr val="FF0000"/>
                            </a:solidFill>
                            <a:latin typeface="Cambria Math" panose="02040503050406030204" pitchFamily="18" charset="0"/>
                            <a:cs typeface="Arial" panose="020B0604020202020204" pitchFamily="34" charset="0"/>
                          </a:rPr>
                          <m:t>1</m:t>
                        </m:r>
                      </m:sub>
                    </m:sSub>
                  </m:oMath>
                </a14:m>
                <a:r>
                  <a:rPr lang="en-US" sz="2000" dirty="0">
                    <a:solidFill>
                      <a:prstClr val="black"/>
                    </a:solidFill>
                  </a:rPr>
                  <a:t>,</a:t>
                </a:r>
              </a:p>
            </p:txBody>
          </p:sp>
        </mc:Choice>
        <mc:Fallback xmlns="">
          <p:sp>
            <p:nvSpPr>
              <p:cNvPr id="9" name="Rectangle 8">
                <a:extLst>
                  <a:ext uri="{FF2B5EF4-FFF2-40B4-BE49-F238E27FC236}">
                    <a16:creationId xmlns:a16="http://schemas.microsoft.com/office/drawing/2014/main" id="{08E09029-A47B-4C09-B768-9200EBE5EAF9}"/>
                  </a:ext>
                </a:extLst>
              </p:cNvPr>
              <p:cNvSpPr>
                <a:spLocks noRot="1" noChangeAspect="1" noMove="1" noResize="1" noEditPoints="1" noAdjustHandles="1" noChangeArrowheads="1" noChangeShapeType="1" noTextEdit="1"/>
              </p:cNvSpPr>
              <p:nvPr/>
            </p:nvSpPr>
            <p:spPr>
              <a:xfrm>
                <a:off x="4203439" y="5474606"/>
                <a:ext cx="1299861" cy="400110"/>
              </a:xfrm>
              <a:prstGeom prst="rect">
                <a:avLst/>
              </a:prstGeom>
              <a:blipFill>
                <a:blip r:embed="rId5"/>
                <a:stretch>
                  <a:fillRect t="-7576" b="-25758"/>
                </a:stretch>
              </a:blipFill>
            </p:spPr>
            <p:txBody>
              <a:bodyPr/>
              <a:lstStyle/>
              <a:p>
                <a:r>
                  <a:rPr lang="en-US">
                    <a:noFill/>
                  </a:rPr>
                  <a:t> </a:t>
                </a:r>
              </a:p>
            </p:txBody>
          </p:sp>
        </mc:Fallback>
      </mc:AlternateContent>
    </p:spTree>
    <p:extLst>
      <p:ext uri="{BB962C8B-B14F-4D97-AF65-F5344CB8AC3E}">
        <p14:creationId xmlns:p14="http://schemas.microsoft.com/office/powerpoint/2010/main" val="2451974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r>
              <a:rPr lang="en-US" dirty="0">
                <a:latin typeface="Arial" panose="020B0604020202020204" pitchFamily="34" charset="0"/>
                <a:cs typeface="Arial" panose="020B0604020202020204" pitchFamily="34" charset="0"/>
              </a:rPr>
              <a:t>Phase 2. (</a:t>
            </a:r>
            <a:r>
              <a:rPr lang="en-US" dirty="0" smtClean="0">
                <a:latin typeface="Arial" panose="020B0604020202020204" pitchFamily="34" charset="0"/>
                <a:cs typeface="Arial" panose="020B0604020202020204" pitchFamily="34" charset="0"/>
              </a:rPr>
              <a:t>Maximization </a:t>
            </a:r>
            <a:r>
              <a:rPr lang="en-US" dirty="0">
                <a:latin typeface="Arial" panose="020B0604020202020204" pitchFamily="34" charset="0"/>
                <a:cs typeface="Arial" panose="020B0604020202020204" pitchFamily="34" charset="0"/>
              </a:rPr>
              <a:t>so choose more </a:t>
            </a:r>
            <a:r>
              <a:rPr lang="en-US" dirty="0" smtClean="0">
                <a:latin typeface="Arial" panose="020B0604020202020204" pitchFamily="34" charset="0"/>
                <a:cs typeface="Arial" panose="020B0604020202020204" pitchFamily="34" charset="0"/>
              </a:rPr>
              <a:t>negative </a:t>
            </a:r>
            <a:r>
              <a:rPr lang="en-US" dirty="0">
                <a:latin typeface="Arial" panose="020B0604020202020204" pitchFamily="34" charset="0"/>
                <a:cs typeface="Arial" panose="020B0604020202020204" pitchFamily="34" charset="0"/>
              </a:rPr>
              <a:t>value in z-row)</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xmlns="" id="{861F7C3A-3977-41E2-BBF8-6F1A8AE4B805}"/>
                  </a:ext>
                </a:extLst>
              </p:cNvPr>
              <p:cNvGraphicFramePr>
                <a:graphicFrameLocks noGrp="1"/>
              </p:cNvGraphicFramePr>
              <p:nvPr>
                <p:extLst>
                  <p:ext uri="{D42A27DB-BD31-4B8C-83A1-F6EECF244321}">
                    <p14:modId xmlns:p14="http://schemas.microsoft.com/office/powerpoint/2010/main" val="1293340473"/>
                  </p:ext>
                </p:extLst>
              </p:nvPr>
            </p:nvGraphicFramePr>
            <p:xfrm>
              <a:off x="1214648" y="3487317"/>
              <a:ext cx="6203281" cy="2948686"/>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91474">
                      <a:extLst>
                        <a:ext uri="{9D8B030D-6E8A-4147-A177-3AD203B41FA5}">
                          <a16:colId xmlns:a16="http://schemas.microsoft.com/office/drawing/2014/main" xmlns="" val="1852071440"/>
                        </a:ext>
                      </a:extLst>
                    </a:gridCol>
                    <a:gridCol w="854586">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-11/3</a:t>
                          </a:r>
                        </a:p>
                      </a:txBody>
                      <a:tcPr/>
                    </a:tc>
                    <a:tc>
                      <a:txBody>
                        <a:bodyPr/>
                        <a:lstStyle/>
                        <a:p>
                          <a:pPr algn="ctr"/>
                          <a:r>
                            <a:rPr lang="en-US" dirty="0"/>
                            <a:t>0</a:t>
                          </a:r>
                        </a:p>
                      </a:txBody>
                      <a:tcPr/>
                    </a:tc>
                    <a:tc>
                      <a:txBody>
                        <a:bodyPr/>
                        <a:lstStyle/>
                        <a:p>
                          <a:pPr algn="ctr"/>
                          <a:r>
                            <a:rPr lang="en-US" dirty="0"/>
                            <a:t>-4/3</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4</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7/3</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2/3</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4</m:t>
                                </m:r>
                              </m:oMath>
                            </m:oMathPara>
                          </a14:m>
                          <a:endParaRPr lang="en-US"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en-US" sz="1800" b="0" i="1" u="none" strike="noStrike" kern="1200" cap="none" spc="0" normalizeH="0" baseline="0" noProof="0" dirty="0" smtClean="0">
                                      <a:ln>
                                        <a:noFill/>
                                      </a:ln>
                                      <a:solidFill>
                                        <a:srgbClr val="FF0000"/>
                                      </a:solidFill>
                                      <a:effectLst/>
                                      <a:uLnTx/>
                                      <a:uFillTx/>
                                      <a:latin typeface="Cambria Math"/>
                                      <a:ea typeface="+mn-ea"/>
                                      <a:cs typeface="+mn-cs"/>
                                    </a:rPr>
                                  </m:ctrlPr>
                                </m:fPr>
                                <m:num>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12</m:t>
                                  </m:r>
                                </m:num>
                                <m:den>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7</m:t>
                                  </m:r>
                                </m:den>
                              </m:f>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m:t>
                              </m:r>
                            </m:oMath>
                          </a14:m>
                          <a:r>
                            <a:rPr kumimoji="0" lang="en-US" sz="1800" b="0" i="0" u="none" strike="noStrike" kern="1200" cap="none" spc="0" normalizeH="0" baseline="0" noProof="0" dirty="0">
                              <a:ln>
                                <a:noFill/>
                              </a:ln>
                              <a:solidFill>
                                <a:srgbClr val="FF0000"/>
                              </a:solidFill>
                              <a:effectLst/>
                              <a:uLnTx/>
                              <a:uFillTx/>
                              <a:latin typeface="+mn-lt"/>
                              <a:ea typeface="+mn-ea"/>
                              <a:cs typeface="+mn-cs"/>
                            </a:rPr>
                            <a:t>1.7</a:t>
                          </a: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dirty="0"/>
                        </a:p>
                      </a:txBody>
                      <a:tcPr/>
                    </a:tc>
                    <a:tc>
                      <a:txBody>
                        <a:bodyPr/>
                        <a:lstStyle/>
                        <a:p>
                          <a:pPr algn="ctr"/>
                          <a:r>
                            <a:rPr lang="en-US" dirty="0">
                              <a:solidFill>
                                <a:schemeClr val="tx1"/>
                              </a:solidFill>
                            </a:rPr>
                            <a:t>1</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3</m:t>
                                </m:r>
                              </m:oMath>
                            </m:oMathPara>
                          </a14:m>
                          <a:endParaRPr lang="en-US" dirty="0">
                            <a:solidFill>
                              <a:schemeClr val="tx1"/>
                            </a:solidFill>
                          </a:endParaRPr>
                        </a:p>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5" name="Table 4">
                <a:extLst>
                  <a:ext uri="{FF2B5EF4-FFF2-40B4-BE49-F238E27FC236}">
                    <a16:creationId xmlns="" xmlns:a16="http://schemas.microsoft.com/office/drawing/2014/main" xmlns:a14="http://schemas.microsoft.com/office/drawing/2010/main" id="{861F7C3A-3977-41E2-BBF8-6F1A8AE4B805}"/>
                  </a:ext>
                </a:extLst>
              </p:cNvPr>
              <p:cNvGraphicFramePr>
                <a:graphicFrameLocks noGrp="1"/>
              </p:cNvGraphicFramePr>
              <p:nvPr>
                <p:extLst>
                  <p:ext uri="{D42A27DB-BD31-4B8C-83A1-F6EECF244321}">
                    <p14:modId xmlns:p14="http://schemas.microsoft.com/office/powerpoint/2010/main" val="1293340473"/>
                  </p:ext>
                </p:extLst>
              </p:nvPr>
            </p:nvGraphicFramePr>
            <p:xfrm>
              <a:off x="1214648" y="3487317"/>
              <a:ext cx="6203281" cy="2948686"/>
            </p:xfrm>
            <a:graphic>
              <a:graphicData uri="http://schemas.openxmlformats.org/drawingml/2006/table">
                <a:tbl>
                  <a:tblPr firstRow="1" bandRow="1">
                    <a:tableStyleId>{7DF18680-E054-41AD-8BC1-D1AEF772440D}</a:tableStyleId>
                  </a:tblPr>
                  <a:tblGrid>
                    <a:gridCol w="843285">
                      <a:extLst>
                        <a:ext uri="{9D8B030D-6E8A-4147-A177-3AD203B41FA5}">
                          <a16:colId xmlns="" xmlns:a16="http://schemas.microsoft.com/office/drawing/2014/main" xmlns:a14="http://schemas.microsoft.com/office/drawing/2010/main" val="1700886628"/>
                        </a:ext>
                      </a:extLst>
                    </a:gridCol>
                    <a:gridCol w="648346">
                      <a:extLst>
                        <a:ext uri="{9D8B030D-6E8A-4147-A177-3AD203B41FA5}">
                          <a16:colId xmlns="" xmlns:a16="http://schemas.microsoft.com/office/drawing/2014/main" xmlns:a14="http://schemas.microsoft.com/office/drawing/2010/main" val="2853653774"/>
                        </a:ext>
                      </a:extLst>
                    </a:gridCol>
                    <a:gridCol w="791474">
                      <a:extLst>
                        <a:ext uri="{9D8B030D-6E8A-4147-A177-3AD203B41FA5}">
                          <a16:colId xmlns="" xmlns:a16="http://schemas.microsoft.com/office/drawing/2014/main" xmlns:a14="http://schemas.microsoft.com/office/drawing/2010/main" val="1852071440"/>
                        </a:ext>
                      </a:extLst>
                    </a:gridCol>
                    <a:gridCol w="854586">
                      <a:extLst>
                        <a:ext uri="{9D8B030D-6E8A-4147-A177-3AD203B41FA5}">
                          <a16:colId xmlns="" xmlns:a16="http://schemas.microsoft.com/office/drawing/2014/main" xmlns:a14="http://schemas.microsoft.com/office/drawing/2010/main" val="3733485545"/>
                        </a:ext>
                      </a:extLst>
                    </a:gridCol>
                    <a:gridCol w="817022">
                      <a:extLst>
                        <a:ext uri="{9D8B030D-6E8A-4147-A177-3AD203B41FA5}">
                          <a16:colId xmlns="" xmlns:a16="http://schemas.microsoft.com/office/drawing/2014/main" xmlns:a14="http://schemas.microsoft.com/office/drawing/2010/main" val="3456232338"/>
                        </a:ext>
                      </a:extLst>
                    </a:gridCol>
                    <a:gridCol w="1124284">
                      <a:extLst>
                        <a:ext uri="{9D8B030D-6E8A-4147-A177-3AD203B41FA5}">
                          <a16:colId xmlns="" xmlns:a16="http://schemas.microsoft.com/office/drawing/2014/main" xmlns:a14="http://schemas.microsoft.com/office/drawing/2010/main" val="1798884083"/>
                        </a:ext>
                      </a:extLst>
                    </a:gridCol>
                    <a:gridCol w="1124284">
                      <a:extLst>
                        <a:ext uri="{9D8B030D-6E8A-4147-A177-3AD203B41FA5}">
                          <a16:colId xmlns="" xmlns:a16="http://schemas.microsoft.com/office/drawing/2014/main" xmlns:a14="http://schemas.microsoft.com/office/drawing/2010/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rotWithShape="1">
                          <a:blip r:embed="rId2"/>
                          <a:stretch>
                            <a:fillRect l="-128972" t="-3556" r="-722430" b="-122222"/>
                          </a:stretch>
                        </a:blipFill>
                      </a:tcPr>
                    </a:tc>
                    <a:tc>
                      <a:txBody>
                        <a:bodyPr/>
                        <a:lstStyle/>
                        <a:p>
                          <a:endParaRPr lang="en-US"/>
                        </a:p>
                      </a:txBody>
                      <a:tcPr>
                        <a:blipFill rotWithShape="1">
                          <a:blip r:embed="rId2"/>
                          <a:stretch>
                            <a:fillRect l="-188462" t="-3556" r="-494615" b="-122222"/>
                          </a:stretch>
                        </a:blipFill>
                      </a:tcPr>
                    </a:tc>
                    <a:tc>
                      <a:txBody>
                        <a:bodyPr/>
                        <a:lstStyle/>
                        <a:p>
                          <a:endParaRPr lang="en-US"/>
                        </a:p>
                      </a:txBody>
                      <a:tcPr>
                        <a:blipFill rotWithShape="1">
                          <a:blip r:embed="rId2"/>
                          <a:stretch>
                            <a:fillRect l="-267857" t="-3556" r="-359286" b="-122222"/>
                          </a:stretch>
                        </a:blipFill>
                      </a:tcPr>
                    </a:tc>
                    <a:tc>
                      <a:txBody>
                        <a:bodyPr/>
                        <a:lstStyle/>
                        <a:p>
                          <a:endParaRPr lang="en-US"/>
                        </a:p>
                      </a:txBody>
                      <a:tcPr>
                        <a:blipFill rotWithShape="1">
                          <a:blip r:embed="rId2"/>
                          <a:stretch>
                            <a:fillRect l="-384328" t="-3556" r="-275373" b="-122222"/>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 xmlns:a16="http://schemas.microsoft.com/office/drawing/2014/main" xmlns:a14="http://schemas.microsoft.com/office/drawing/2010/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-11/3</a:t>
                          </a:r>
                        </a:p>
                      </a:txBody>
                      <a:tcPr/>
                    </a:tc>
                    <a:tc>
                      <a:txBody>
                        <a:bodyPr/>
                        <a:lstStyle/>
                        <a:p>
                          <a:pPr algn="ctr"/>
                          <a:r>
                            <a:rPr lang="en-US" dirty="0"/>
                            <a:t>0</a:t>
                          </a:r>
                        </a:p>
                      </a:txBody>
                      <a:tcPr/>
                    </a:tc>
                    <a:tc>
                      <a:txBody>
                        <a:bodyPr/>
                        <a:lstStyle/>
                        <a:p>
                          <a:pPr algn="ctr"/>
                          <a:r>
                            <a:rPr lang="en-US" dirty="0"/>
                            <a:t>-4/3</a:t>
                          </a:r>
                        </a:p>
                      </a:txBody>
                      <a:tcPr/>
                    </a:tc>
                    <a:tc>
                      <a:txBody>
                        <a:bodyPr/>
                        <a:lstStyle/>
                        <a:p>
                          <a:endParaRPr lang="en-US"/>
                        </a:p>
                      </a:txBody>
                      <a:tcPr>
                        <a:blipFill rotWithShape="1">
                          <a:blip r:embed="rId2"/>
                          <a:stretch>
                            <a:fillRect l="-352717" t="-310667" r="-100543" b="-266667"/>
                          </a:stretch>
                        </a:blipFill>
                      </a:tcPr>
                    </a:tc>
                    <a:tc>
                      <a:txBody>
                        <a:bodyPr/>
                        <a:lstStyle/>
                        <a:p>
                          <a:pPr algn="ctr"/>
                          <a:endParaRPr lang="en-US" dirty="0">
                            <a:solidFill>
                              <a:schemeClr val="tx1"/>
                            </a:solidFill>
                          </a:endParaRPr>
                        </a:p>
                      </a:txBody>
                      <a:tcPr/>
                    </a:tc>
                    <a:extLst>
                      <a:ext uri="{0D108BD9-81ED-4DB2-BD59-A6C34878D82A}">
                        <a16:rowId xmlns="" xmlns:a16="http://schemas.microsoft.com/office/drawing/2014/main" xmlns:a14="http://schemas.microsoft.com/office/drawing/2010/main" val="3265417494"/>
                      </a:ext>
                    </a:extLst>
                  </a:tr>
                  <a:tr h="479806">
                    <a:tc>
                      <a:txBody>
                        <a:bodyPr/>
                        <a:lstStyle/>
                        <a:p>
                          <a:endParaRPr lang="en-US"/>
                        </a:p>
                      </a:txBody>
                      <a:tcPr>
                        <a:blipFill rotWithShape="1">
                          <a:blip r:embed="rId2"/>
                          <a:stretch>
                            <a:fillRect t="-389873" r="-637681" b="-153165"/>
                          </a:stretch>
                        </a:blipFill>
                      </a:tcPr>
                    </a:tc>
                    <a:tc>
                      <a:txBody>
                        <a:bodyPr/>
                        <a:lstStyle/>
                        <a:p>
                          <a:pPr algn="ctr"/>
                          <a:r>
                            <a:rPr lang="en-US" dirty="0">
                              <a:solidFill>
                                <a:schemeClr val="tx1"/>
                              </a:solidFill>
                            </a:rPr>
                            <a:t>0</a:t>
                          </a:r>
                        </a:p>
                      </a:txBody>
                      <a:tcPr/>
                    </a:tc>
                    <a:tc>
                      <a:txBody>
                        <a:bodyPr/>
                        <a:lstStyle/>
                        <a:p>
                          <a:pPr algn="ctr"/>
                          <a:r>
                            <a:rPr lang="en-US" dirty="0">
                              <a:solidFill>
                                <a:srgbClr val="FF0000"/>
                              </a:solidFill>
                            </a:rPr>
                            <a:t>7/3</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2/3</a:t>
                          </a:r>
                        </a:p>
                      </a:txBody>
                      <a:tcPr/>
                    </a:tc>
                    <a:tc>
                      <a:txBody>
                        <a:bodyPr/>
                        <a:lstStyle/>
                        <a:p>
                          <a:endParaRPr lang="en-US"/>
                        </a:p>
                      </a:txBody>
                      <a:tcPr>
                        <a:blipFill rotWithShape="1">
                          <a:blip r:embed="rId2"/>
                          <a:stretch>
                            <a:fillRect l="-352717" t="-389873" r="-100543" b="-153165"/>
                          </a:stretch>
                        </a:blipFill>
                      </a:tcPr>
                    </a:tc>
                    <a:tc>
                      <a:txBody>
                        <a:bodyPr/>
                        <a:lstStyle/>
                        <a:p>
                          <a:endParaRPr lang="en-US"/>
                        </a:p>
                      </a:txBody>
                      <a:tcPr>
                        <a:blipFill rotWithShape="1">
                          <a:blip r:embed="rId2"/>
                          <a:stretch>
                            <a:fillRect l="-450270" t="-389873" b="-153165"/>
                          </a:stretch>
                        </a:blipFill>
                      </a:tcPr>
                    </a:tc>
                    <a:extLst>
                      <a:ext uri="{0D108BD9-81ED-4DB2-BD59-A6C34878D82A}">
                        <a16:rowId xmlns="" xmlns:a16="http://schemas.microsoft.com/office/drawing/2014/main" xmlns:a14="http://schemas.microsoft.com/office/drawing/2010/main" val="1697728900"/>
                      </a:ext>
                    </a:extLst>
                  </a:tr>
                  <a:tr h="640080">
                    <a:tc>
                      <a:txBody>
                        <a:bodyPr/>
                        <a:lstStyle/>
                        <a:p>
                          <a:endParaRPr lang="en-US"/>
                        </a:p>
                      </a:txBody>
                      <a:tcPr>
                        <a:blipFill rotWithShape="1">
                          <a:blip r:embed="rId2"/>
                          <a:stretch>
                            <a:fillRect t="-368571" r="-637681" b="-15238"/>
                          </a:stretch>
                        </a:blipFill>
                      </a:tcPr>
                    </a:tc>
                    <a:tc>
                      <a:txBody>
                        <a:bodyPr/>
                        <a:lstStyle/>
                        <a:p>
                          <a:pPr algn="ctr"/>
                          <a:r>
                            <a:rPr lang="en-US" dirty="0">
                              <a:solidFill>
                                <a:schemeClr val="tx1"/>
                              </a:solidFill>
                            </a:rPr>
                            <a:t>1</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1</a:t>
                          </a:r>
                        </a:p>
                      </a:txBody>
                      <a:tcPr/>
                    </a:tc>
                    <a:tc>
                      <a:txBody>
                        <a:bodyPr/>
                        <a:lstStyle/>
                        <a:p>
                          <a:endParaRPr lang="en-US"/>
                        </a:p>
                      </a:txBody>
                      <a:tcPr>
                        <a:blipFill rotWithShape="1">
                          <a:blip r:embed="rId2"/>
                          <a:stretch>
                            <a:fillRect l="-450270" t="-368571" b="-15238"/>
                          </a:stretch>
                        </a:blipFill>
                      </a:tcPr>
                    </a:tc>
                    <a:extLst>
                      <a:ext uri="{0D108BD9-81ED-4DB2-BD59-A6C34878D82A}">
                        <a16:rowId xmlns="" xmlns:a16="http://schemas.microsoft.com/office/drawing/2014/main" xmlns:a14="http://schemas.microsoft.com/office/drawing/2010/main" val="3414884863"/>
                      </a:ext>
                    </a:extLst>
                  </a:tr>
                </a:tbl>
              </a:graphicData>
            </a:graphic>
          </p:graphicFrame>
        </mc:Fallback>
      </mc:AlternateContent>
    </p:spTree>
    <p:extLst>
      <p:ext uri="{BB962C8B-B14F-4D97-AF65-F5344CB8AC3E}">
        <p14:creationId xmlns:p14="http://schemas.microsoft.com/office/powerpoint/2010/main" val="26041537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r>
              <a:rPr lang="en-US" dirty="0">
                <a:latin typeface="Arial" panose="020B0604020202020204" pitchFamily="34" charset="0"/>
                <a:cs typeface="Arial" panose="020B0604020202020204" pitchFamily="34" charset="0"/>
              </a:rPr>
              <a:t>Phase 2.</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xmlns="" id="{861F7C3A-3977-41E2-BBF8-6F1A8AE4B805}"/>
                  </a:ext>
                </a:extLst>
              </p:cNvPr>
              <p:cNvGraphicFramePr>
                <a:graphicFrameLocks noGrp="1"/>
              </p:cNvGraphicFramePr>
              <p:nvPr>
                <p:extLst>
                  <p:ext uri="{D42A27DB-BD31-4B8C-83A1-F6EECF244321}">
                    <p14:modId xmlns:p14="http://schemas.microsoft.com/office/powerpoint/2010/main" val="3996339903"/>
                  </p:ext>
                </p:extLst>
              </p:nvPr>
            </p:nvGraphicFramePr>
            <p:xfrm>
              <a:off x="856060" y="3039082"/>
              <a:ext cx="6203281" cy="3074734"/>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91474">
                      <a:extLst>
                        <a:ext uri="{9D8B030D-6E8A-4147-A177-3AD203B41FA5}">
                          <a16:colId xmlns:a16="http://schemas.microsoft.com/office/drawing/2014/main" xmlns="" val="1852071440"/>
                        </a:ext>
                      </a:extLst>
                    </a:gridCol>
                    <a:gridCol w="854586">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-11/3</a:t>
                          </a:r>
                        </a:p>
                      </a:txBody>
                      <a:tcPr/>
                    </a:tc>
                    <a:tc>
                      <a:txBody>
                        <a:bodyPr/>
                        <a:lstStyle/>
                        <a:p>
                          <a:pPr algn="ctr"/>
                          <a:r>
                            <a:rPr lang="en-US" dirty="0"/>
                            <a:t>0</a:t>
                          </a:r>
                        </a:p>
                      </a:txBody>
                      <a:tcPr/>
                    </a:tc>
                    <a:tc>
                      <a:txBody>
                        <a:bodyPr/>
                        <a:lstStyle/>
                        <a:p>
                          <a:pPr algn="ctr"/>
                          <a:r>
                            <a:rPr lang="en-US" dirty="0"/>
                            <a:t>-4/3</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4</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7/3</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2/3</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4</m:t>
                                </m:r>
                              </m:oMath>
                            </m:oMathPara>
                          </a14:m>
                          <a:endParaRPr lang="en-US"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1800" b="0" i="1" u="none" strike="noStrike" kern="1200" cap="none" spc="0" normalizeH="0" baseline="0" noProof="0" dirty="0" smtClean="0">
                                        <a:ln>
                                          <a:noFill/>
                                        </a:ln>
                                        <a:solidFill>
                                          <a:srgbClr val="FF0000"/>
                                        </a:solidFill>
                                        <a:effectLst/>
                                        <a:uLnTx/>
                                        <a:uFillTx/>
                                        <a:latin typeface="Cambria Math"/>
                                        <a:ea typeface="+mn-ea"/>
                                        <a:cs typeface="+mn-cs"/>
                                      </a:rPr>
                                    </m:ctrlPr>
                                  </m:fPr>
                                  <m:num>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12</m:t>
                                    </m:r>
                                  </m:num>
                                  <m:den>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7</m:t>
                                    </m:r>
                                  </m:den>
                                </m:f>
                                <m:r>
                                  <a:rPr kumimoji="0" lang="en-US" sz="1800" b="0" i="1" u="none" strike="noStrike" kern="1200" cap="none" spc="0" normalizeH="0" baseline="0" noProof="0" dirty="0" smtClean="0">
                                    <a:ln>
                                      <a:noFill/>
                                    </a:ln>
                                    <a:solidFill>
                                      <a:srgbClr val="FF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dirty="0"/>
                        </a:p>
                      </a:txBody>
                      <a:tcPr/>
                    </a:tc>
                    <a:tc>
                      <a:txBody>
                        <a:bodyPr/>
                        <a:lstStyle/>
                        <a:p>
                          <a:pPr algn="ctr"/>
                          <a:r>
                            <a:rPr lang="en-US" dirty="0">
                              <a:solidFill>
                                <a:schemeClr val="tx1"/>
                              </a:solidFill>
                            </a:rPr>
                            <a:t>1</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dirty="0" smtClean="0">
                                    <a:ln>
                                      <a:noFill/>
                                    </a:ln>
                                    <a:solidFill>
                                      <a:schemeClr val="tx1"/>
                                    </a:solidFill>
                                    <a:effectLst/>
                                    <a:uLnTx/>
                                    <a:uFillTx/>
                                    <a:latin typeface="Cambria Math" panose="02040503050406030204" pitchFamily="18" charset="0"/>
                                    <a:ea typeface="+mn-ea"/>
                                    <a:cs typeface="+mn-cs"/>
                                  </a:rPr>
                                  <m:t>3</m:t>
                                </m:r>
                              </m:oMath>
                            </m:oMathPara>
                          </a14:m>
                          <a:endParaRPr lang="en-US" dirty="0">
                            <a:solidFill>
                              <a:schemeClr val="tx1"/>
                            </a:solidFill>
                          </a:endParaRPr>
                        </a:p>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5" name="Table 4">
                <a:extLst>
                  <a:ext uri="{FF2B5EF4-FFF2-40B4-BE49-F238E27FC236}">
                    <a16:creationId xmlns:a16="http://schemas.microsoft.com/office/drawing/2014/main" id="{861F7C3A-3977-41E2-BBF8-6F1A8AE4B805}"/>
                  </a:ext>
                </a:extLst>
              </p:cNvPr>
              <p:cNvGraphicFramePr>
                <a:graphicFrameLocks noGrp="1"/>
              </p:cNvGraphicFramePr>
              <p:nvPr>
                <p:extLst>
                  <p:ext uri="{D42A27DB-BD31-4B8C-83A1-F6EECF244321}">
                    <p14:modId xmlns:p14="http://schemas.microsoft.com/office/powerpoint/2010/main" val="3996339903"/>
                  </p:ext>
                </p:extLst>
              </p:nvPr>
            </p:nvGraphicFramePr>
            <p:xfrm>
              <a:off x="856060" y="3039082"/>
              <a:ext cx="6203281" cy="3074734"/>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91474">
                      <a:extLst>
                        <a:ext uri="{9D8B030D-6E8A-4147-A177-3AD203B41FA5}">
                          <a16:colId xmlns:a16="http://schemas.microsoft.com/office/drawing/2014/main" val="1852071440"/>
                        </a:ext>
                      </a:extLst>
                    </a:gridCol>
                    <a:gridCol w="854586">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2"/>
                          <a:stretch>
                            <a:fillRect l="-132075" t="-3111" r="-733962" b="-125778"/>
                          </a:stretch>
                        </a:blipFill>
                      </a:tcPr>
                    </a:tc>
                    <a:tc>
                      <a:txBody>
                        <a:bodyPr/>
                        <a:lstStyle/>
                        <a:p>
                          <a:endParaRPr lang="en-US"/>
                        </a:p>
                      </a:txBody>
                      <a:tcPr>
                        <a:blipFill>
                          <a:blip r:embed="rId2"/>
                          <a:stretch>
                            <a:fillRect l="-189231" t="-3111" r="-498462" b="-125778"/>
                          </a:stretch>
                        </a:blipFill>
                      </a:tcPr>
                    </a:tc>
                    <a:tc>
                      <a:txBody>
                        <a:bodyPr/>
                        <a:lstStyle/>
                        <a:p>
                          <a:endParaRPr lang="en-US"/>
                        </a:p>
                      </a:txBody>
                      <a:tcPr>
                        <a:blipFill>
                          <a:blip r:embed="rId2"/>
                          <a:stretch>
                            <a:fillRect l="-268571" t="-3111" r="-362857" b="-125778"/>
                          </a:stretch>
                        </a:blipFill>
                      </a:tcPr>
                    </a:tc>
                    <a:tc>
                      <a:txBody>
                        <a:bodyPr/>
                        <a:lstStyle/>
                        <a:p>
                          <a:endParaRPr lang="en-US"/>
                        </a:p>
                      </a:txBody>
                      <a:tcPr>
                        <a:blipFill>
                          <a:blip r:embed="rId2"/>
                          <a:stretch>
                            <a:fillRect l="-382222" t="-3111" r="-276296" b="-125778"/>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-11/3</a:t>
                          </a:r>
                        </a:p>
                      </a:txBody>
                      <a:tcPr/>
                    </a:tc>
                    <a:tc>
                      <a:txBody>
                        <a:bodyPr/>
                        <a:lstStyle/>
                        <a:p>
                          <a:pPr algn="ctr"/>
                          <a:r>
                            <a:rPr lang="en-US" dirty="0"/>
                            <a:t>0</a:t>
                          </a:r>
                        </a:p>
                      </a:txBody>
                      <a:tcPr/>
                    </a:tc>
                    <a:tc>
                      <a:txBody>
                        <a:bodyPr/>
                        <a:lstStyle/>
                        <a:p>
                          <a:pPr algn="ctr"/>
                          <a:r>
                            <a:rPr lang="en-US" dirty="0"/>
                            <a:t>-4/3</a:t>
                          </a:r>
                        </a:p>
                      </a:txBody>
                      <a:tcPr/>
                    </a:tc>
                    <a:tc>
                      <a:txBody>
                        <a:bodyPr/>
                        <a:lstStyle/>
                        <a:p>
                          <a:endParaRPr lang="en-US"/>
                        </a:p>
                      </a:txBody>
                      <a:tcPr>
                        <a:blipFill>
                          <a:blip r:embed="rId2"/>
                          <a:stretch>
                            <a:fillRect l="-353804" t="-309333" r="-102717" b="-277333"/>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3265417494"/>
                      </a:ext>
                    </a:extLst>
                  </a:tr>
                  <a:tr h="605854">
                    <a:tc>
                      <a:txBody>
                        <a:bodyPr/>
                        <a:lstStyle/>
                        <a:p>
                          <a:endParaRPr lang="en-US"/>
                        </a:p>
                      </a:txBody>
                      <a:tcPr>
                        <a:blipFill>
                          <a:blip r:embed="rId2"/>
                          <a:stretch>
                            <a:fillRect l="-719" t="-307000" r="-635971" b="-108000"/>
                          </a:stretch>
                        </a:blipFill>
                      </a:tcPr>
                    </a:tc>
                    <a:tc>
                      <a:txBody>
                        <a:bodyPr/>
                        <a:lstStyle/>
                        <a:p>
                          <a:pPr algn="ctr"/>
                          <a:r>
                            <a:rPr lang="en-US" dirty="0">
                              <a:solidFill>
                                <a:schemeClr val="tx1"/>
                              </a:solidFill>
                            </a:rPr>
                            <a:t>0</a:t>
                          </a:r>
                        </a:p>
                      </a:txBody>
                      <a:tcPr/>
                    </a:tc>
                    <a:tc>
                      <a:txBody>
                        <a:bodyPr/>
                        <a:lstStyle/>
                        <a:p>
                          <a:pPr algn="ctr"/>
                          <a:r>
                            <a:rPr lang="en-US" dirty="0">
                              <a:solidFill>
                                <a:srgbClr val="FF0000"/>
                              </a:solidFill>
                            </a:rPr>
                            <a:t>7/3</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2/3</a:t>
                          </a:r>
                        </a:p>
                      </a:txBody>
                      <a:tcPr/>
                    </a:tc>
                    <a:tc>
                      <a:txBody>
                        <a:bodyPr/>
                        <a:lstStyle/>
                        <a:p>
                          <a:endParaRPr lang="en-US"/>
                        </a:p>
                      </a:txBody>
                      <a:tcPr>
                        <a:blipFill>
                          <a:blip r:embed="rId2"/>
                          <a:stretch>
                            <a:fillRect l="-353804" t="-307000" r="-102717" b="-108000"/>
                          </a:stretch>
                        </a:blipFill>
                      </a:tcPr>
                    </a:tc>
                    <a:tc>
                      <a:txBody>
                        <a:bodyPr/>
                        <a:lstStyle/>
                        <a:p>
                          <a:endParaRPr lang="en-US"/>
                        </a:p>
                      </a:txBody>
                      <a:tcPr>
                        <a:blipFill>
                          <a:blip r:embed="rId2"/>
                          <a:stretch>
                            <a:fillRect l="-451351" t="-307000" r="-2162" b="-108000"/>
                          </a:stretch>
                        </a:blipFill>
                      </a:tcPr>
                    </a:tc>
                    <a:extLst>
                      <a:ext uri="{0D108BD9-81ED-4DB2-BD59-A6C34878D82A}">
                        <a16:rowId xmlns:a16="http://schemas.microsoft.com/office/drawing/2014/main" val="1697728900"/>
                      </a:ext>
                    </a:extLst>
                  </a:tr>
                  <a:tr h="640080">
                    <a:tc>
                      <a:txBody>
                        <a:bodyPr/>
                        <a:lstStyle/>
                        <a:p>
                          <a:endParaRPr lang="en-US"/>
                        </a:p>
                      </a:txBody>
                      <a:tcPr>
                        <a:blipFill>
                          <a:blip r:embed="rId2"/>
                          <a:stretch>
                            <a:fillRect l="-719" t="-387619" r="-635971" b="-2857"/>
                          </a:stretch>
                        </a:blipFill>
                      </a:tcPr>
                    </a:tc>
                    <a:tc>
                      <a:txBody>
                        <a:bodyPr/>
                        <a:lstStyle/>
                        <a:p>
                          <a:pPr algn="ctr"/>
                          <a:r>
                            <a:rPr lang="en-US" dirty="0">
                              <a:solidFill>
                                <a:schemeClr val="tx1"/>
                              </a:solidFill>
                            </a:rPr>
                            <a:t>1</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1</a:t>
                          </a:r>
                        </a:p>
                      </a:txBody>
                      <a:tcPr/>
                    </a:tc>
                    <a:tc>
                      <a:txBody>
                        <a:bodyPr/>
                        <a:lstStyle/>
                        <a:p>
                          <a:endParaRPr lang="en-US"/>
                        </a:p>
                      </a:txBody>
                      <a:tcPr>
                        <a:blipFill>
                          <a:blip r:embed="rId2"/>
                          <a:stretch>
                            <a:fillRect l="-451351" t="-387619" r="-2162" b="-2857"/>
                          </a:stretch>
                        </a:blipFill>
                      </a:tcPr>
                    </a:tc>
                    <a:extLst>
                      <a:ext uri="{0D108BD9-81ED-4DB2-BD59-A6C34878D82A}">
                        <a16:rowId xmlns:a16="http://schemas.microsoft.com/office/drawing/2014/main" val="3414884863"/>
                      </a:ext>
                    </a:extLst>
                  </a:tr>
                </a:tbl>
              </a:graphicData>
            </a:graphic>
          </p:graphicFrame>
        </mc:Fallback>
      </mc:AlternateContent>
    </p:spTree>
    <p:extLst>
      <p:ext uri="{BB962C8B-B14F-4D97-AF65-F5344CB8AC3E}">
        <p14:creationId xmlns:p14="http://schemas.microsoft.com/office/powerpoint/2010/main" val="36423425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xmlns="" id="{861F7C3A-3977-41E2-BBF8-6F1A8AE4B805}"/>
                  </a:ext>
                </a:extLst>
              </p:cNvPr>
              <p:cNvGraphicFramePr>
                <a:graphicFrameLocks noGrp="1"/>
              </p:cNvGraphicFramePr>
              <p:nvPr>
                <p:extLst>
                  <p:ext uri="{D42A27DB-BD31-4B8C-83A1-F6EECF244321}">
                    <p14:modId xmlns:p14="http://schemas.microsoft.com/office/powerpoint/2010/main" val="2051811908"/>
                  </p:ext>
                </p:extLst>
              </p:nvPr>
            </p:nvGraphicFramePr>
            <p:xfrm>
              <a:off x="856060" y="2097088"/>
              <a:ext cx="6203281" cy="2891854"/>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91474">
                      <a:extLst>
                        <a:ext uri="{9D8B030D-6E8A-4147-A177-3AD203B41FA5}">
                          <a16:colId xmlns:a16="http://schemas.microsoft.com/office/drawing/2014/main" xmlns="" val="1852071440"/>
                        </a:ext>
                      </a:extLst>
                    </a:gridCol>
                    <a:gridCol w="854586">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-11/3</a:t>
                          </a:r>
                        </a:p>
                      </a:txBody>
                      <a:tcPr/>
                    </a:tc>
                    <a:tc>
                      <a:txBody>
                        <a:bodyPr/>
                        <a:lstStyle/>
                        <a:p>
                          <a:pPr algn="ctr"/>
                          <a:r>
                            <a:rPr lang="en-US" dirty="0"/>
                            <a:t>0</a:t>
                          </a:r>
                        </a:p>
                      </a:txBody>
                      <a:tcPr/>
                    </a:tc>
                    <a:tc>
                      <a:txBody>
                        <a:bodyPr/>
                        <a:lstStyle/>
                        <a:p>
                          <a:pPr algn="ctr"/>
                          <a:r>
                            <a:rPr lang="en-US" dirty="0"/>
                            <a:t>-4/3</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4</m:t>
                                </m:r>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a:t>
                          </a:r>
                        </a:p>
                      </a:txBody>
                      <a:tcPr/>
                    </a:tc>
                    <a:tc>
                      <a:txBody>
                        <a:bodyPr/>
                        <a:lstStyle/>
                        <a:p>
                          <a:pPr algn="ctr"/>
                          <a:r>
                            <a:rPr lang="en-US" dirty="0">
                              <a:solidFill>
                                <a:schemeClr val="tx1"/>
                              </a:solidFill>
                            </a:rPr>
                            <a:t>3/7</a:t>
                          </a:r>
                        </a:p>
                      </a:txBody>
                      <a:tcPr/>
                    </a:tc>
                    <a:tc>
                      <a:txBody>
                        <a:bodyPr/>
                        <a:lstStyle/>
                        <a:p>
                          <a:pPr algn="ctr"/>
                          <a:r>
                            <a:rPr lang="en-US" dirty="0">
                              <a:solidFill>
                                <a:schemeClr val="tx1"/>
                              </a:solidFill>
                            </a:rPr>
                            <a:t>2/7</a:t>
                          </a:r>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a:rPr>
                                    </m:ctrlPr>
                                  </m:fPr>
                                  <m:num>
                                    <m:r>
                                      <a:rPr lang="en-US" b="0" i="1" smtClean="0">
                                        <a:solidFill>
                                          <a:schemeClr val="tx1"/>
                                        </a:solidFill>
                                        <a:latin typeface="Cambria Math" panose="02040503050406030204" pitchFamily="18" charset="0"/>
                                      </a:rPr>
                                      <m:t>12</m:t>
                                    </m:r>
                                  </m:num>
                                  <m:den>
                                    <m:r>
                                      <a:rPr lang="en-US" b="0" i="1" smtClean="0">
                                        <a:solidFill>
                                          <a:schemeClr val="tx1"/>
                                        </a:solidFill>
                                        <a:latin typeface="Cambria Math" panose="02040503050406030204" pitchFamily="18" charset="0"/>
                                      </a:rPr>
                                      <m:t>7</m:t>
                                    </m:r>
                                  </m:den>
                                </m:f>
                              </m:oMath>
                            </m:oMathPara>
                          </a14:m>
                          <a:endParaRPr lang="en-US"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dirty="0"/>
                        </a:p>
                      </a:txBody>
                      <a:tcPr/>
                    </a:tc>
                    <a:tc>
                      <a:txBody>
                        <a:bodyPr/>
                        <a:lstStyle/>
                        <a:p>
                          <a:pPr algn="ctr"/>
                          <a:r>
                            <a:rPr lang="en-US" dirty="0">
                              <a:solidFill>
                                <a:schemeClr val="tx1"/>
                              </a:solidFill>
                            </a:rPr>
                            <a:t>1</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1</a:t>
                          </a:r>
                        </a:p>
                      </a:txBody>
                      <a:tcPr/>
                    </a:tc>
                    <a:tc>
                      <a:txBody>
                        <a:bodyPr/>
                        <a:lstStyle/>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5" name="Table 4">
                <a:extLst>
                  <a:ext uri="{FF2B5EF4-FFF2-40B4-BE49-F238E27FC236}">
                    <a16:creationId xmlns:a16="http://schemas.microsoft.com/office/drawing/2014/main" id="{861F7C3A-3977-41E2-BBF8-6F1A8AE4B805}"/>
                  </a:ext>
                </a:extLst>
              </p:cNvPr>
              <p:cNvGraphicFramePr>
                <a:graphicFrameLocks noGrp="1"/>
              </p:cNvGraphicFramePr>
              <p:nvPr>
                <p:extLst>
                  <p:ext uri="{D42A27DB-BD31-4B8C-83A1-F6EECF244321}">
                    <p14:modId xmlns:p14="http://schemas.microsoft.com/office/powerpoint/2010/main" val="2051811908"/>
                  </p:ext>
                </p:extLst>
              </p:nvPr>
            </p:nvGraphicFramePr>
            <p:xfrm>
              <a:off x="856060" y="2097088"/>
              <a:ext cx="6203281" cy="2891854"/>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91474">
                      <a:extLst>
                        <a:ext uri="{9D8B030D-6E8A-4147-A177-3AD203B41FA5}">
                          <a16:colId xmlns:a16="http://schemas.microsoft.com/office/drawing/2014/main" val="1852071440"/>
                        </a:ext>
                      </a:extLst>
                    </a:gridCol>
                    <a:gridCol w="854586">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2"/>
                          <a:stretch>
                            <a:fillRect l="-132075" t="-3556" r="-733962" b="-112000"/>
                          </a:stretch>
                        </a:blipFill>
                      </a:tcPr>
                    </a:tc>
                    <a:tc>
                      <a:txBody>
                        <a:bodyPr/>
                        <a:lstStyle/>
                        <a:p>
                          <a:endParaRPr lang="en-US"/>
                        </a:p>
                      </a:txBody>
                      <a:tcPr>
                        <a:blipFill>
                          <a:blip r:embed="rId2"/>
                          <a:stretch>
                            <a:fillRect l="-189231" t="-3556" r="-498462" b="-112000"/>
                          </a:stretch>
                        </a:blipFill>
                      </a:tcPr>
                    </a:tc>
                    <a:tc>
                      <a:txBody>
                        <a:bodyPr/>
                        <a:lstStyle/>
                        <a:p>
                          <a:endParaRPr lang="en-US"/>
                        </a:p>
                      </a:txBody>
                      <a:tcPr>
                        <a:blipFill>
                          <a:blip r:embed="rId2"/>
                          <a:stretch>
                            <a:fillRect l="-268571" t="-3556" r="-362857" b="-112000"/>
                          </a:stretch>
                        </a:blipFill>
                      </a:tcPr>
                    </a:tc>
                    <a:tc>
                      <a:txBody>
                        <a:bodyPr/>
                        <a:lstStyle/>
                        <a:p>
                          <a:endParaRPr lang="en-US"/>
                        </a:p>
                      </a:txBody>
                      <a:tcPr>
                        <a:blipFill>
                          <a:blip r:embed="rId2"/>
                          <a:stretch>
                            <a:fillRect l="-382222" t="-3556" r="-276296" b="-11200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rgbClr val="FF0000"/>
                              </a:solidFill>
                            </a:rPr>
                            <a:t>-11/3</a:t>
                          </a:r>
                        </a:p>
                      </a:txBody>
                      <a:tcPr/>
                    </a:tc>
                    <a:tc>
                      <a:txBody>
                        <a:bodyPr/>
                        <a:lstStyle/>
                        <a:p>
                          <a:pPr algn="ctr"/>
                          <a:r>
                            <a:rPr lang="en-US" dirty="0"/>
                            <a:t>0</a:t>
                          </a:r>
                        </a:p>
                      </a:txBody>
                      <a:tcPr/>
                    </a:tc>
                    <a:tc>
                      <a:txBody>
                        <a:bodyPr/>
                        <a:lstStyle/>
                        <a:p>
                          <a:pPr algn="ctr"/>
                          <a:r>
                            <a:rPr lang="en-US" dirty="0"/>
                            <a:t>-4/3</a:t>
                          </a:r>
                        </a:p>
                      </a:txBody>
                      <a:tcPr/>
                    </a:tc>
                    <a:tc>
                      <a:txBody>
                        <a:bodyPr/>
                        <a:lstStyle/>
                        <a:p>
                          <a:endParaRPr lang="en-US"/>
                        </a:p>
                      </a:txBody>
                      <a:tcPr>
                        <a:blipFill>
                          <a:blip r:embed="rId2"/>
                          <a:stretch>
                            <a:fillRect l="-353804" t="-310667" r="-102717" b="-236000"/>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3265417494"/>
                      </a:ext>
                    </a:extLst>
                  </a:tr>
                  <a:tr h="605854">
                    <a:tc>
                      <a:txBody>
                        <a:bodyPr/>
                        <a:lstStyle/>
                        <a:p>
                          <a:endParaRPr lang="en-US"/>
                        </a:p>
                      </a:txBody>
                      <a:tcPr>
                        <a:blipFill>
                          <a:blip r:embed="rId2"/>
                          <a:stretch>
                            <a:fillRect l="-719" t="-308000" r="-635971" b="-77000"/>
                          </a:stretch>
                        </a:blipFill>
                      </a:tcPr>
                    </a:tc>
                    <a:tc>
                      <a:txBody>
                        <a:bodyPr/>
                        <a:lstStyle/>
                        <a:p>
                          <a:pPr algn="ctr"/>
                          <a:r>
                            <a:rPr lang="en-US" dirty="0">
                              <a:solidFill>
                                <a:schemeClr val="tx1"/>
                              </a:solidFill>
                            </a:rPr>
                            <a:t>0</a:t>
                          </a:r>
                        </a:p>
                      </a:txBody>
                      <a:tcPr/>
                    </a:tc>
                    <a:tc>
                      <a:txBody>
                        <a:bodyPr/>
                        <a:lstStyle/>
                        <a:p>
                          <a:pPr algn="ctr"/>
                          <a:r>
                            <a:rPr lang="en-US" dirty="0">
                              <a:solidFill>
                                <a:srgbClr val="FF0000"/>
                              </a:solidFill>
                            </a:rPr>
                            <a:t>1</a:t>
                          </a:r>
                        </a:p>
                      </a:txBody>
                      <a:tcPr/>
                    </a:tc>
                    <a:tc>
                      <a:txBody>
                        <a:bodyPr/>
                        <a:lstStyle/>
                        <a:p>
                          <a:pPr algn="ctr"/>
                          <a:r>
                            <a:rPr lang="en-US" dirty="0">
                              <a:solidFill>
                                <a:schemeClr val="tx1"/>
                              </a:solidFill>
                            </a:rPr>
                            <a:t>3/7</a:t>
                          </a:r>
                        </a:p>
                      </a:txBody>
                      <a:tcPr/>
                    </a:tc>
                    <a:tc>
                      <a:txBody>
                        <a:bodyPr/>
                        <a:lstStyle/>
                        <a:p>
                          <a:pPr algn="ctr"/>
                          <a:r>
                            <a:rPr lang="en-US" dirty="0">
                              <a:solidFill>
                                <a:schemeClr val="tx1"/>
                              </a:solidFill>
                            </a:rPr>
                            <a:t>2/7</a:t>
                          </a:r>
                        </a:p>
                      </a:txBody>
                      <a:tcPr/>
                    </a:tc>
                    <a:tc>
                      <a:txBody>
                        <a:bodyPr/>
                        <a:lstStyle/>
                        <a:p>
                          <a:endParaRPr lang="en-US"/>
                        </a:p>
                      </a:txBody>
                      <a:tcPr>
                        <a:blipFill>
                          <a:blip r:embed="rId2"/>
                          <a:stretch>
                            <a:fillRect l="-353804" t="-308000" r="-102717" b="-77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val="1697728900"/>
                      </a:ext>
                    </a:extLst>
                  </a:tr>
                  <a:tr h="457200">
                    <a:tc>
                      <a:txBody>
                        <a:bodyPr/>
                        <a:lstStyle/>
                        <a:p>
                          <a:endParaRPr lang="en-US"/>
                        </a:p>
                      </a:txBody>
                      <a:tcPr>
                        <a:blipFill>
                          <a:blip r:embed="rId2"/>
                          <a:stretch>
                            <a:fillRect l="-719" t="-544000" r="-635971" b="-2667"/>
                          </a:stretch>
                        </a:blipFill>
                      </a:tcPr>
                    </a:tc>
                    <a:tc>
                      <a:txBody>
                        <a:bodyPr/>
                        <a:lstStyle/>
                        <a:p>
                          <a:pPr algn="ctr"/>
                          <a:r>
                            <a:rPr lang="en-US" dirty="0">
                              <a:solidFill>
                                <a:schemeClr val="tx1"/>
                              </a:solidFill>
                            </a:rPr>
                            <a:t>1</a:t>
                          </a:r>
                        </a:p>
                      </a:txBody>
                      <a:tcPr/>
                    </a:tc>
                    <a:tc>
                      <a:txBody>
                        <a:bodyPr/>
                        <a:lstStyle/>
                        <a:p>
                          <a:pPr algn="ctr"/>
                          <a:r>
                            <a:rPr lang="en-US" dirty="0">
                              <a:solidFill>
                                <a:srgbClr val="FF0000"/>
                              </a:solidFill>
                            </a:rPr>
                            <a:t>1/3</a:t>
                          </a:r>
                        </a:p>
                      </a:txBody>
                      <a:tcPr/>
                    </a:tc>
                    <a:tc>
                      <a:txBody>
                        <a:bodyPr/>
                        <a:lstStyle/>
                        <a:p>
                          <a:pPr algn="ctr"/>
                          <a:r>
                            <a:rPr lang="en-US" dirty="0"/>
                            <a:t>0</a:t>
                          </a:r>
                        </a:p>
                      </a:txBody>
                      <a:tcPr/>
                    </a:tc>
                    <a:tc>
                      <a:txBody>
                        <a:bodyPr/>
                        <a:lstStyle/>
                        <a:p>
                          <a:pPr algn="ctr"/>
                          <a:r>
                            <a:rPr lang="en-US" dirty="0"/>
                            <a:t>-1/3</a:t>
                          </a:r>
                        </a:p>
                      </a:txBody>
                      <a:tcPr/>
                    </a:tc>
                    <a:tc>
                      <a:txBody>
                        <a:bodyPr/>
                        <a:lstStyle/>
                        <a:p>
                          <a:pPr algn="ctr"/>
                          <a:r>
                            <a:rPr lang="en-US" dirty="0"/>
                            <a:t>1</a:t>
                          </a:r>
                        </a:p>
                      </a:txBody>
                      <a:tcPr/>
                    </a:tc>
                    <a:tc>
                      <a:txBody>
                        <a:bodyPr/>
                        <a:lstStyle/>
                        <a:p>
                          <a:pPr algn="ctr"/>
                          <a:endParaRPr lang="en-US" dirty="0"/>
                        </a:p>
                      </a:txBody>
                      <a:tcPr/>
                    </a:tc>
                    <a:extLst>
                      <a:ext uri="{0D108BD9-81ED-4DB2-BD59-A6C34878D82A}">
                        <a16:rowId xmlns:a16="http://schemas.microsoft.com/office/drawing/2014/main" val="3414884863"/>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xmlns="" id="{B1CE7AB4-84DD-4F68-B296-32FBCF1BED58}"/>
                  </a:ext>
                </a:extLst>
              </p:cNvPr>
              <p:cNvSpPr/>
              <p:nvPr/>
            </p:nvSpPr>
            <p:spPr>
              <a:xfrm>
                <a:off x="1722387" y="5324172"/>
                <a:ext cx="1371273" cy="702244"/>
              </a:xfrm>
              <a:prstGeom prst="rect">
                <a:avLst/>
              </a:prstGeom>
            </p:spPr>
            <p:txBody>
              <a:bodyPr wrap="none">
                <a:spAutoFit/>
              </a:bodyPr>
              <a:lstStyle/>
              <a:p>
                <a:pPr lvl="0" defTabSz="914400">
                  <a:defRPr/>
                </a:pPr>
                <a14:m>
                  <m:oMath xmlns:m="http://schemas.openxmlformats.org/officeDocument/2006/math">
                    <m:r>
                      <a:rPr lang="en-US" sz="2800" b="0" i="1" smtClean="0">
                        <a:solidFill>
                          <a:schemeClr val="tx1"/>
                        </a:solidFill>
                        <a:latin typeface="Cambria Math" panose="02040503050406030204" pitchFamily="18" charset="0"/>
                        <a:cs typeface="Arial" panose="020B0604020202020204" pitchFamily="34" charset="0"/>
                      </a:rPr>
                      <m:t>𝐵𝑦</m:t>
                    </m:r>
                    <m:r>
                      <a:rPr lang="en-US" sz="2800" b="0" i="1" smtClean="0">
                        <a:solidFill>
                          <a:schemeClr val="tx1"/>
                        </a:solidFill>
                        <a:latin typeface="Cambria Math" panose="02040503050406030204" pitchFamily="18" charset="0"/>
                        <a:cs typeface="Arial" panose="020B0604020202020204" pitchFamily="34" charset="0"/>
                      </a:rPr>
                      <m:t> </m:t>
                    </m:r>
                    <m:f>
                      <m:fPr>
                        <m:ctrlPr>
                          <a:rPr lang="en-US" sz="2800" b="0" i="1" smtClean="0">
                            <a:solidFill>
                              <a:schemeClr val="tx1"/>
                            </a:solidFill>
                            <a:latin typeface="Cambria Math"/>
                            <a:cs typeface="Arial" panose="020B0604020202020204" pitchFamily="34" charset="0"/>
                          </a:rPr>
                        </m:ctrlPr>
                      </m:fPr>
                      <m:num>
                        <m:r>
                          <a:rPr lang="en-US" sz="2800" b="0" i="1" smtClean="0">
                            <a:solidFill>
                              <a:schemeClr val="tx1"/>
                            </a:solidFill>
                            <a:latin typeface="Cambria Math" panose="02040503050406030204" pitchFamily="18" charset="0"/>
                            <a:cs typeface="Arial" panose="020B0604020202020204" pitchFamily="34" charset="0"/>
                          </a:rPr>
                          <m:t>3</m:t>
                        </m:r>
                      </m:num>
                      <m:den>
                        <m:r>
                          <a:rPr lang="en-US" sz="2800" b="0" i="1" smtClean="0">
                            <a:solidFill>
                              <a:schemeClr val="tx1"/>
                            </a:solidFill>
                            <a:latin typeface="Cambria Math" panose="02040503050406030204" pitchFamily="18" charset="0"/>
                            <a:cs typeface="Arial" panose="020B0604020202020204" pitchFamily="34" charset="0"/>
                          </a:rPr>
                          <m:t>7</m:t>
                        </m:r>
                      </m:den>
                    </m:f>
                  </m:oMath>
                </a14:m>
                <a:r>
                  <a:rPr lang="en-US" sz="2800" dirty="0">
                    <a:solidFill>
                      <a:srgbClr val="FF0000"/>
                    </a:solidFill>
                    <a:cs typeface="Arial" panose="020B0604020202020204" pitchFamily="34" charset="0"/>
                  </a:rPr>
                  <a:t> </a:t>
                </a:r>
                <a14:m>
                  <m:oMath xmlns:m="http://schemas.openxmlformats.org/officeDocument/2006/math">
                    <m:sSub>
                      <m:sSubPr>
                        <m:ctrlPr>
                          <a:rPr lang="en-US" sz="2800" i="1">
                            <a:solidFill>
                              <a:srgbClr val="FF0000"/>
                            </a:solidFill>
                            <a:latin typeface="Cambria Math"/>
                            <a:cs typeface="Arial" panose="020B0604020202020204" pitchFamily="34" charset="0"/>
                          </a:rPr>
                        </m:ctrlPr>
                      </m:sSubPr>
                      <m:e>
                        <m:r>
                          <a:rPr lang="en-US" sz="2800" b="0" i="1" smtClean="0">
                            <a:solidFill>
                              <a:srgbClr val="FF0000"/>
                            </a:solidFill>
                            <a:latin typeface="Cambria Math" panose="02040503050406030204" pitchFamily="18" charset="0"/>
                            <a:cs typeface="Arial" panose="020B0604020202020204" pitchFamily="34" charset="0"/>
                          </a:rPr>
                          <m:t>𝑥</m:t>
                        </m:r>
                      </m:e>
                      <m:sub>
                        <m:r>
                          <a:rPr lang="en-US" sz="2800" b="0" i="1" smtClean="0">
                            <a:solidFill>
                              <a:srgbClr val="FF0000"/>
                            </a:solidFill>
                            <a:latin typeface="Cambria Math" panose="02040503050406030204" pitchFamily="18" charset="0"/>
                            <a:cs typeface="Arial" panose="020B0604020202020204" pitchFamily="34" charset="0"/>
                          </a:rPr>
                          <m:t>2</m:t>
                        </m:r>
                      </m:sub>
                    </m:sSub>
                  </m:oMath>
                </a14:m>
                <a:endParaRPr lang="en-US" sz="3200" dirty="0">
                  <a:solidFill>
                    <a:prstClr val="black"/>
                  </a:solidFill>
                </a:endParaRPr>
              </a:p>
            </p:txBody>
          </p:sp>
        </mc:Choice>
        <mc:Fallback xmlns="">
          <p:sp>
            <p:nvSpPr>
              <p:cNvPr id="7" name="Rectangle 6">
                <a:extLst>
                  <a:ext uri="{FF2B5EF4-FFF2-40B4-BE49-F238E27FC236}">
                    <a16:creationId xmlns:a16="http://schemas.microsoft.com/office/drawing/2014/main" id="{B1CE7AB4-84DD-4F68-B296-32FBCF1BED58}"/>
                  </a:ext>
                </a:extLst>
              </p:cNvPr>
              <p:cNvSpPr>
                <a:spLocks noRot="1" noChangeAspect="1" noMove="1" noResize="1" noEditPoints="1" noAdjustHandles="1" noChangeArrowheads="1" noChangeShapeType="1" noTextEdit="1"/>
              </p:cNvSpPr>
              <p:nvPr/>
            </p:nvSpPr>
            <p:spPr>
              <a:xfrm>
                <a:off x="1722387" y="5324172"/>
                <a:ext cx="1371273" cy="70224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6184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xmlns="" id="{861F7C3A-3977-41E2-BBF8-6F1A8AE4B805}"/>
                  </a:ext>
                </a:extLst>
              </p:cNvPr>
              <p:cNvGraphicFramePr>
                <a:graphicFrameLocks noGrp="1"/>
              </p:cNvGraphicFramePr>
              <p:nvPr>
                <p:extLst>
                  <p:ext uri="{D42A27DB-BD31-4B8C-83A1-F6EECF244321}">
                    <p14:modId xmlns:p14="http://schemas.microsoft.com/office/powerpoint/2010/main" val="2567232981"/>
                  </p:ext>
                </p:extLst>
              </p:nvPr>
            </p:nvGraphicFramePr>
            <p:xfrm>
              <a:off x="856060" y="2097088"/>
              <a:ext cx="6203281" cy="3040508"/>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91474">
                      <a:extLst>
                        <a:ext uri="{9D8B030D-6E8A-4147-A177-3AD203B41FA5}">
                          <a16:colId xmlns:a16="http://schemas.microsoft.com/office/drawing/2014/main" xmlns="" val="1852071440"/>
                        </a:ext>
                      </a:extLst>
                    </a:gridCol>
                    <a:gridCol w="854586">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11/7</a:t>
                          </a:r>
                        </a:p>
                      </a:txBody>
                      <a:tcPr/>
                    </a:tc>
                    <a:tc>
                      <a:txBody>
                        <a:bodyPr/>
                        <a:lstStyle/>
                        <a:p>
                          <a:pPr algn="ctr"/>
                          <a:r>
                            <a:rPr lang="en-US" dirty="0"/>
                            <a:t>-2/7</a:t>
                          </a:r>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a:rPr>
                                    </m:ctrlPr>
                                  </m:fPr>
                                  <m:num>
                                    <m:r>
                                      <a:rPr lang="en-US" b="0" i="1" smtClean="0">
                                        <a:solidFill>
                                          <a:schemeClr val="tx1"/>
                                        </a:solidFill>
                                        <a:latin typeface="Cambria Math" panose="02040503050406030204" pitchFamily="18" charset="0"/>
                                      </a:rPr>
                                      <m:t>72</m:t>
                                    </m:r>
                                  </m:num>
                                  <m:den>
                                    <m:r>
                                      <a:rPr lang="en-US" b="0" i="1" smtClean="0">
                                        <a:solidFill>
                                          <a:schemeClr val="tx1"/>
                                        </a:solidFill>
                                        <a:latin typeface="Cambria Math" panose="02040503050406030204" pitchFamily="18" charset="0"/>
                                      </a:rPr>
                                      <m:t>7</m:t>
                                    </m:r>
                                  </m:den>
                                </m:f>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3/7</a:t>
                          </a:r>
                        </a:p>
                      </a:txBody>
                      <a:tcPr/>
                    </a:tc>
                    <a:tc>
                      <a:txBody>
                        <a:bodyPr/>
                        <a:lstStyle/>
                        <a:p>
                          <a:pPr algn="ctr"/>
                          <a:r>
                            <a:rPr lang="en-US" dirty="0">
                              <a:solidFill>
                                <a:schemeClr val="tx1"/>
                              </a:solidFill>
                            </a:rPr>
                            <a:t>2/7</a:t>
                          </a:r>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a:rPr>
                                    </m:ctrlPr>
                                  </m:fPr>
                                  <m:num>
                                    <m:r>
                                      <a:rPr lang="en-US" b="0" i="1" smtClean="0">
                                        <a:solidFill>
                                          <a:schemeClr val="tx1"/>
                                        </a:solidFill>
                                        <a:latin typeface="Cambria Math" panose="02040503050406030204" pitchFamily="18" charset="0"/>
                                      </a:rPr>
                                      <m:t>12</m:t>
                                    </m:r>
                                  </m:num>
                                  <m:den>
                                    <m:r>
                                      <a:rPr lang="en-US" b="0" i="1" smtClean="0">
                                        <a:solidFill>
                                          <a:schemeClr val="tx1"/>
                                        </a:solidFill>
                                        <a:latin typeface="Cambria Math" panose="02040503050406030204" pitchFamily="18" charset="0"/>
                                      </a:rPr>
                                      <m:t>7</m:t>
                                    </m:r>
                                  </m:den>
                                </m:f>
                              </m:oMath>
                            </m:oMathPara>
                          </a14:m>
                          <a:endParaRPr lang="en-US"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dirty="0"/>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-1/7</a:t>
                          </a:r>
                        </a:p>
                      </a:txBody>
                      <a:tcPr/>
                    </a:tc>
                    <a:tc>
                      <a:txBody>
                        <a:bodyPr/>
                        <a:lstStyle/>
                        <a:p>
                          <a:pPr algn="ctr"/>
                          <a:r>
                            <a:rPr lang="en-US" dirty="0"/>
                            <a:t>-3/7</a:t>
                          </a:r>
                        </a:p>
                      </a:txBody>
                      <a:tcPr/>
                    </a:tc>
                    <a:tc>
                      <a:txBody>
                        <a:bodyPr/>
                        <a:lstStyle/>
                        <a:p>
                          <a:pPr algn="ctr"/>
                          <a:r>
                            <a:rPr lang="en-US" dirty="0"/>
                            <a:t>3/7</a:t>
                          </a:r>
                        </a:p>
                      </a:txBody>
                      <a:tcPr/>
                    </a:tc>
                    <a:tc>
                      <a:txBody>
                        <a:bodyPr/>
                        <a:lstStyle/>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5" name="Table 4">
                <a:extLst>
                  <a:ext uri="{FF2B5EF4-FFF2-40B4-BE49-F238E27FC236}">
                    <a16:creationId xmlns:a16="http://schemas.microsoft.com/office/drawing/2014/main" id="{861F7C3A-3977-41E2-BBF8-6F1A8AE4B805}"/>
                  </a:ext>
                </a:extLst>
              </p:cNvPr>
              <p:cNvGraphicFramePr>
                <a:graphicFrameLocks noGrp="1"/>
              </p:cNvGraphicFramePr>
              <p:nvPr>
                <p:extLst>
                  <p:ext uri="{D42A27DB-BD31-4B8C-83A1-F6EECF244321}">
                    <p14:modId xmlns:p14="http://schemas.microsoft.com/office/powerpoint/2010/main" val="2567232981"/>
                  </p:ext>
                </p:extLst>
              </p:nvPr>
            </p:nvGraphicFramePr>
            <p:xfrm>
              <a:off x="856060" y="2097088"/>
              <a:ext cx="6203281" cy="3040508"/>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91474">
                      <a:extLst>
                        <a:ext uri="{9D8B030D-6E8A-4147-A177-3AD203B41FA5}">
                          <a16:colId xmlns:a16="http://schemas.microsoft.com/office/drawing/2014/main" val="1852071440"/>
                        </a:ext>
                      </a:extLst>
                    </a:gridCol>
                    <a:gridCol w="854586">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2"/>
                          <a:stretch>
                            <a:fillRect l="-132075" t="-3556" r="-733962" b="-122667"/>
                          </a:stretch>
                        </a:blipFill>
                      </a:tcPr>
                    </a:tc>
                    <a:tc>
                      <a:txBody>
                        <a:bodyPr/>
                        <a:lstStyle/>
                        <a:p>
                          <a:endParaRPr lang="en-US"/>
                        </a:p>
                      </a:txBody>
                      <a:tcPr>
                        <a:blipFill>
                          <a:blip r:embed="rId2"/>
                          <a:stretch>
                            <a:fillRect l="-189231" t="-3556" r="-498462" b="-122667"/>
                          </a:stretch>
                        </a:blipFill>
                      </a:tcPr>
                    </a:tc>
                    <a:tc>
                      <a:txBody>
                        <a:bodyPr/>
                        <a:lstStyle/>
                        <a:p>
                          <a:endParaRPr lang="en-US"/>
                        </a:p>
                      </a:txBody>
                      <a:tcPr>
                        <a:blipFill>
                          <a:blip r:embed="rId2"/>
                          <a:stretch>
                            <a:fillRect l="-268571" t="-3556" r="-362857" b="-122667"/>
                          </a:stretch>
                        </a:blipFill>
                      </a:tcPr>
                    </a:tc>
                    <a:tc>
                      <a:txBody>
                        <a:bodyPr/>
                        <a:lstStyle/>
                        <a:p>
                          <a:endParaRPr lang="en-US"/>
                        </a:p>
                      </a:txBody>
                      <a:tcPr>
                        <a:blipFill>
                          <a:blip r:embed="rId2"/>
                          <a:stretch>
                            <a:fillRect l="-382222" t="-3556" r="-276296" b="-12266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605854">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11/7</a:t>
                          </a:r>
                        </a:p>
                      </a:txBody>
                      <a:tcPr/>
                    </a:tc>
                    <a:tc>
                      <a:txBody>
                        <a:bodyPr/>
                        <a:lstStyle/>
                        <a:p>
                          <a:pPr algn="ctr"/>
                          <a:r>
                            <a:rPr lang="en-US" dirty="0"/>
                            <a:t>-2/7</a:t>
                          </a:r>
                        </a:p>
                      </a:txBody>
                      <a:tcPr/>
                    </a:tc>
                    <a:tc>
                      <a:txBody>
                        <a:bodyPr/>
                        <a:lstStyle/>
                        <a:p>
                          <a:endParaRPr lang="en-US"/>
                        </a:p>
                      </a:txBody>
                      <a:tcPr>
                        <a:blipFill>
                          <a:blip r:embed="rId2"/>
                          <a:stretch>
                            <a:fillRect l="-353804" t="-233000" r="-102717" b="-176000"/>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3265417494"/>
                      </a:ext>
                    </a:extLst>
                  </a:tr>
                  <a:tr h="605854">
                    <a:tc>
                      <a:txBody>
                        <a:bodyPr/>
                        <a:lstStyle/>
                        <a:p>
                          <a:endParaRPr lang="en-US"/>
                        </a:p>
                      </a:txBody>
                      <a:tcPr>
                        <a:blipFill>
                          <a:blip r:embed="rId2"/>
                          <a:stretch>
                            <a:fillRect l="-719" t="-336364" r="-635971" b="-77778"/>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3/7</a:t>
                          </a:r>
                        </a:p>
                      </a:txBody>
                      <a:tcPr/>
                    </a:tc>
                    <a:tc>
                      <a:txBody>
                        <a:bodyPr/>
                        <a:lstStyle/>
                        <a:p>
                          <a:pPr algn="ctr"/>
                          <a:r>
                            <a:rPr lang="en-US" dirty="0">
                              <a:solidFill>
                                <a:schemeClr val="tx1"/>
                              </a:solidFill>
                            </a:rPr>
                            <a:t>2/7</a:t>
                          </a:r>
                        </a:p>
                      </a:txBody>
                      <a:tcPr/>
                    </a:tc>
                    <a:tc>
                      <a:txBody>
                        <a:bodyPr/>
                        <a:lstStyle/>
                        <a:p>
                          <a:endParaRPr lang="en-US"/>
                        </a:p>
                      </a:txBody>
                      <a:tcPr>
                        <a:blipFill>
                          <a:blip r:embed="rId2"/>
                          <a:stretch>
                            <a:fillRect l="-353804" t="-336364" r="-102717" b="-77778"/>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val="1697728900"/>
                      </a:ext>
                    </a:extLst>
                  </a:tr>
                  <a:tr h="457200">
                    <a:tc>
                      <a:txBody>
                        <a:bodyPr/>
                        <a:lstStyle/>
                        <a:p>
                          <a:endParaRPr lang="en-US"/>
                        </a:p>
                      </a:txBody>
                      <a:tcPr>
                        <a:blipFill>
                          <a:blip r:embed="rId2"/>
                          <a:stretch>
                            <a:fillRect l="-719" t="-576000" r="-635971" b="-2667"/>
                          </a:stretch>
                        </a:blipFill>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-1/7</a:t>
                          </a:r>
                        </a:p>
                      </a:txBody>
                      <a:tcPr/>
                    </a:tc>
                    <a:tc>
                      <a:txBody>
                        <a:bodyPr/>
                        <a:lstStyle/>
                        <a:p>
                          <a:pPr algn="ctr"/>
                          <a:r>
                            <a:rPr lang="en-US" dirty="0"/>
                            <a:t>-3/7</a:t>
                          </a:r>
                        </a:p>
                      </a:txBody>
                      <a:tcPr/>
                    </a:tc>
                    <a:tc>
                      <a:txBody>
                        <a:bodyPr/>
                        <a:lstStyle/>
                        <a:p>
                          <a:pPr algn="ctr"/>
                          <a:r>
                            <a:rPr lang="en-US" dirty="0"/>
                            <a:t>3/7</a:t>
                          </a:r>
                        </a:p>
                      </a:txBody>
                      <a:tcPr/>
                    </a:tc>
                    <a:tc>
                      <a:txBody>
                        <a:bodyPr/>
                        <a:lstStyle/>
                        <a:p>
                          <a:pPr algn="ctr"/>
                          <a:endParaRPr lang="en-US" dirty="0"/>
                        </a:p>
                      </a:txBody>
                      <a:tcPr/>
                    </a:tc>
                    <a:extLst>
                      <a:ext uri="{0D108BD9-81ED-4DB2-BD59-A6C34878D82A}">
                        <a16:rowId xmlns:a16="http://schemas.microsoft.com/office/drawing/2014/main" val="3414884863"/>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xmlns="" id="{B1CE7AB4-84DD-4F68-B296-32FBCF1BED58}"/>
                  </a:ext>
                </a:extLst>
              </p:cNvPr>
              <p:cNvSpPr/>
              <p:nvPr/>
            </p:nvSpPr>
            <p:spPr>
              <a:xfrm>
                <a:off x="1722387" y="5324172"/>
                <a:ext cx="1716367" cy="702885"/>
              </a:xfrm>
              <a:prstGeom prst="rect">
                <a:avLst/>
              </a:prstGeom>
            </p:spPr>
            <p:txBody>
              <a:bodyPr wrap="none">
                <a:spAutoFit/>
              </a:bodyPr>
              <a:lstStyle/>
              <a:p>
                <a:pPr lvl="0" defTabSz="914400">
                  <a:defRPr/>
                </a:pPr>
                <a14:m>
                  <m:oMath xmlns:m="http://schemas.openxmlformats.org/officeDocument/2006/math">
                    <m:sSub>
                      <m:sSubPr>
                        <m:ctrlPr>
                          <a:rPr lang="en-US" sz="2800" i="1" smtClean="0">
                            <a:solidFill>
                              <a:schemeClr val="tx1"/>
                            </a:solidFill>
                            <a:latin typeface="Cambria Math"/>
                            <a:cs typeface="Arial" panose="020B0604020202020204" pitchFamily="34" charset="0"/>
                          </a:rPr>
                        </m:ctrlPr>
                      </m:sSubPr>
                      <m:e>
                        <m:r>
                          <a:rPr lang="en-US" sz="2800" i="1">
                            <a:solidFill>
                              <a:schemeClr val="tx1"/>
                            </a:solidFill>
                            <a:latin typeface="Cambria Math" panose="02040503050406030204" pitchFamily="18" charset="0"/>
                            <a:cs typeface="Arial" panose="020B0604020202020204" pitchFamily="34" charset="0"/>
                          </a:rPr>
                          <m:t>𝑥</m:t>
                        </m:r>
                      </m:e>
                      <m:sub>
                        <m:r>
                          <a:rPr lang="en-US" sz="2800" b="0" i="1" smtClean="0">
                            <a:solidFill>
                              <a:schemeClr val="tx1"/>
                            </a:solidFill>
                            <a:latin typeface="Cambria Math" panose="02040503050406030204" pitchFamily="18" charset="0"/>
                            <a:cs typeface="Arial" panose="020B0604020202020204" pitchFamily="34" charset="0"/>
                          </a:rPr>
                          <m:t>1</m:t>
                        </m:r>
                      </m:sub>
                    </m:sSub>
                    <m:r>
                      <a:rPr lang="en-US" sz="2800" b="0" i="1" smtClean="0">
                        <a:solidFill>
                          <a:schemeClr val="tx1"/>
                        </a:solidFill>
                        <a:latin typeface="Cambria Math" panose="02040503050406030204" pitchFamily="18" charset="0"/>
                        <a:cs typeface="Arial" panose="020B0604020202020204" pitchFamily="34" charset="0"/>
                      </a:rPr>
                      <m:t>−</m:t>
                    </m:r>
                    <m:f>
                      <m:fPr>
                        <m:ctrlPr>
                          <a:rPr lang="en-US" sz="2800" b="0" i="1" smtClean="0">
                            <a:solidFill>
                              <a:schemeClr val="tx1"/>
                            </a:solidFill>
                            <a:latin typeface="Cambria Math"/>
                            <a:cs typeface="Arial" panose="020B0604020202020204" pitchFamily="34" charset="0"/>
                          </a:rPr>
                        </m:ctrlPr>
                      </m:fPr>
                      <m:num>
                        <m:r>
                          <a:rPr lang="en-US" sz="2800" b="0" i="1" smtClean="0">
                            <a:solidFill>
                              <a:schemeClr val="tx1"/>
                            </a:solidFill>
                            <a:latin typeface="Cambria Math" panose="02040503050406030204" pitchFamily="18" charset="0"/>
                            <a:cs typeface="Arial" panose="020B0604020202020204" pitchFamily="34" charset="0"/>
                          </a:rPr>
                          <m:t>1</m:t>
                        </m:r>
                      </m:num>
                      <m:den>
                        <m:r>
                          <a:rPr lang="en-US" sz="2800" b="0" i="1" smtClean="0">
                            <a:solidFill>
                              <a:schemeClr val="tx1"/>
                            </a:solidFill>
                            <a:latin typeface="Cambria Math" panose="02040503050406030204" pitchFamily="18" charset="0"/>
                            <a:cs typeface="Arial" panose="020B0604020202020204" pitchFamily="34" charset="0"/>
                          </a:rPr>
                          <m:t>3</m:t>
                        </m:r>
                      </m:den>
                    </m:f>
                  </m:oMath>
                </a14:m>
                <a:r>
                  <a:rPr lang="en-US" sz="2800" dirty="0">
                    <a:solidFill>
                      <a:srgbClr val="FF0000"/>
                    </a:solidFill>
                    <a:cs typeface="Arial" panose="020B0604020202020204" pitchFamily="34" charset="0"/>
                  </a:rPr>
                  <a:t> </a:t>
                </a:r>
                <a14:m>
                  <m:oMath xmlns:m="http://schemas.openxmlformats.org/officeDocument/2006/math">
                    <m:sSub>
                      <m:sSubPr>
                        <m:ctrlPr>
                          <a:rPr lang="en-US" sz="2800" i="1">
                            <a:solidFill>
                              <a:srgbClr val="FF0000"/>
                            </a:solidFill>
                            <a:latin typeface="Cambria Math"/>
                            <a:cs typeface="Arial" panose="020B0604020202020204" pitchFamily="34" charset="0"/>
                          </a:rPr>
                        </m:ctrlPr>
                      </m:sSubPr>
                      <m:e>
                        <m:r>
                          <a:rPr lang="en-US" sz="2800" b="0" i="1" smtClean="0">
                            <a:solidFill>
                              <a:srgbClr val="FF0000"/>
                            </a:solidFill>
                            <a:latin typeface="Cambria Math" panose="02040503050406030204" pitchFamily="18" charset="0"/>
                            <a:cs typeface="Arial" panose="020B0604020202020204" pitchFamily="34" charset="0"/>
                          </a:rPr>
                          <m:t>𝑥</m:t>
                        </m:r>
                      </m:e>
                      <m:sub>
                        <m:r>
                          <a:rPr lang="en-US" sz="2800" b="0" i="1" smtClean="0">
                            <a:solidFill>
                              <a:srgbClr val="FF0000"/>
                            </a:solidFill>
                            <a:latin typeface="Cambria Math" panose="02040503050406030204" pitchFamily="18" charset="0"/>
                            <a:cs typeface="Arial" panose="020B0604020202020204" pitchFamily="34" charset="0"/>
                          </a:rPr>
                          <m:t>2</m:t>
                        </m:r>
                      </m:sub>
                    </m:sSub>
                    <m:r>
                      <a:rPr lang="en-US" sz="2800" b="0" i="1" smtClean="0">
                        <a:solidFill>
                          <a:srgbClr val="FF0000"/>
                        </a:solidFill>
                        <a:latin typeface="Cambria Math" panose="02040503050406030204" pitchFamily="18" charset="0"/>
                        <a:cs typeface="Arial" panose="020B0604020202020204" pitchFamily="34" charset="0"/>
                      </a:rPr>
                      <m:t> ,</m:t>
                    </m:r>
                  </m:oMath>
                </a14:m>
                <a:endParaRPr lang="en-US" sz="3200" dirty="0">
                  <a:solidFill>
                    <a:prstClr val="black"/>
                  </a:solidFill>
                </a:endParaRPr>
              </a:p>
            </p:txBody>
          </p:sp>
        </mc:Choice>
        <mc:Fallback xmlns="">
          <p:sp>
            <p:nvSpPr>
              <p:cNvPr id="7" name="Rectangle 6">
                <a:extLst>
                  <a:ext uri="{FF2B5EF4-FFF2-40B4-BE49-F238E27FC236}">
                    <a16:creationId xmlns:a16="http://schemas.microsoft.com/office/drawing/2014/main" id="{B1CE7AB4-84DD-4F68-B296-32FBCF1BED58}"/>
                  </a:ext>
                </a:extLst>
              </p:cNvPr>
              <p:cNvSpPr>
                <a:spLocks noRot="1" noChangeAspect="1" noMove="1" noResize="1" noEditPoints="1" noAdjustHandles="1" noChangeArrowheads="1" noChangeShapeType="1" noTextEdit="1"/>
              </p:cNvSpPr>
              <p:nvPr/>
            </p:nvSpPr>
            <p:spPr>
              <a:xfrm>
                <a:off x="1722387" y="5324172"/>
                <a:ext cx="1716367" cy="70288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076AF6E2-3E9F-4017-9E77-BB954B9F1D80}"/>
                  </a:ext>
                </a:extLst>
              </p:cNvPr>
              <p:cNvSpPr/>
              <p:nvPr/>
            </p:nvSpPr>
            <p:spPr>
              <a:xfrm>
                <a:off x="3504858" y="5324171"/>
                <a:ext cx="1427635" cy="702885"/>
              </a:xfrm>
              <a:prstGeom prst="rect">
                <a:avLst/>
              </a:prstGeom>
            </p:spPr>
            <p:txBody>
              <a:bodyPr wrap="none">
                <a:spAutoFit/>
              </a:bodyPr>
              <a:lstStyle/>
              <a:p>
                <a:pPr lvl="0" defTabSz="914400">
                  <a:defRPr/>
                </a:pPr>
                <a:r>
                  <a:rPr lang="en-US" sz="2800" b="0" dirty="0">
                    <a:solidFill>
                      <a:schemeClr val="tx1"/>
                    </a:solidFill>
                    <a:cs typeface="Arial" panose="020B0604020202020204" pitchFamily="34" charset="0"/>
                  </a:rPr>
                  <a:t>z</a:t>
                </a:r>
                <a14:m>
                  <m:oMath xmlns:m="http://schemas.openxmlformats.org/officeDocument/2006/math">
                    <m:r>
                      <a:rPr lang="en-US" sz="2800" i="1" dirty="0">
                        <a:latin typeface="Cambria Math" panose="02040503050406030204" pitchFamily="18" charset="0"/>
                        <a:cs typeface="Arial" panose="020B0604020202020204" pitchFamily="34" charset="0"/>
                      </a:rPr>
                      <m:t>+</m:t>
                    </m:r>
                    <m:f>
                      <m:fPr>
                        <m:ctrlPr>
                          <a:rPr lang="en-US" sz="2800" b="0" i="1" smtClean="0">
                            <a:solidFill>
                              <a:schemeClr val="tx1"/>
                            </a:solidFill>
                            <a:latin typeface="Cambria Math"/>
                            <a:cs typeface="Arial" panose="020B0604020202020204" pitchFamily="34" charset="0"/>
                          </a:rPr>
                        </m:ctrlPr>
                      </m:fPr>
                      <m:num>
                        <m:r>
                          <a:rPr lang="en-US" sz="2800" b="0" i="1" smtClean="0">
                            <a:solidFill>
                              <a:schemeClr val="tx1"/>
                            </a:solidFill>
                            <a:latin typeface="Cambria Math" panose="02040503050406030204" pitchFamily="18" charset="0"/>
                            <a:cs typeface="Arial" panose="020B0604020202020204" pitchFamily="34" charset="0"/>
                          </a:rPr>
                          <m:t>11</m:t>
                        </m:r>
                      </m:num>
                      <m:den>
                        <m:r>
                          <a:rPr lang="en-US" sz="2800" b="0" i="1" smtClean="0">
                            <a:solidFill>
                              <a:schemeClr val="tx1"/>
                            </a:solidFill>
                            <a:latin typeface="Cambria Math" panose="02040503050406030204" pitchFamily="18" charset="0"/>
                            <a:cs typeface="Arial" panose="020B0604020202020204" pitchFamily="34" charset="0"/>
                          </a:rPr>
                          <m:t>3</m:t>
                        </m:r>
                      </m:den>
                    </m:f>
                  </m:oMath>
                </a14:m>
                <a:r>
                  <a:rPr lang="en-US" sz="2800" dirty="0">
                    <a:solidFill>
                      <a:srgbClr val="FF0000"/>
                    </a:solidFill>
                    <a:cs typeface="Arial" panose="020B0604020202020204" pitchFamily="34" charset="0"/>
                  </a:rPr>
                  <a:t> </a:t>
                </a:r>
                <a14:m>
                  <m:oMath xmlns:m="http://schemas.openxmlformats.org/officeDocument/2006/math">
                    <m:sSub>
                      <m:sSubPr>
                        <m:ctrlPr>
                          <a:rPr lang="en-US" sz="2800" i="1">
                            <a:solidFill>
                              <a:srgbClr val="FF0000"/>
                            </a:solidFill>
                            <a:latin typeface="Cambria Math"/>
                            <a:cs typeface="Arial" panose="020B0604020202020204" pitchFamily="34" charset="0"/>
                          </a:rPr>
                        </m:ctrlPr>
                      </m:sSubPr>
                      <m:e>
                        <m:r>
                          <a:rPr lang="en-US" sz="2800" b="0" i="1" smtClean="0">
                            <a:solidFill>
                              <a:srgbClr val="FF0000"/>
                            </a:solidFill>
                            <a:latin typeface="Cambria Math" panose="02040503050406030204" pitchFamily="18" charset="0"/>
                            <a:cs typeface="Arial" panose="020B0604020202020204" pitchFamily="34" charset="0"/>
                          </a:rPr>
                          <m:t>𝑥</m:t>
                        </m:r>
                      </m:e>
                      <m:sub>
                        <m:r>
                          <a:rPr lang="en-US" sz="2800" b="0" i="1" smtClean="0">
                            <a:solidFill>
                              <a:srgbClr val="FF0000"/>
                            </a:solidFill>
                            <a:latin typeface="Cambria Math" panose="02040503050406030204" pitchFamily="18" charset="0"/>
                            <a:cs typeface="Arial" panose="020B0604020202020204" pitchFamily="34" charset="0"/>
                          </a:rPr>
                          <m:t>2</m:t>
                        </m:r>
                      </m:sub>
                    </m:sSub>
                  </m:oMath>
                </a14:m>
                <a:endParaRPr lang="en-US" sz="3200" dirty="0">
                  <a:solidFill>
                    <a:prstClr val="black"/>
                  </a:solidFill>
                </a:endParaRPr>
              </a:p>
            </p:txBody>
          </p:sp>
        </mc:Choice>
        <mc:Fallback xmlns="">
          <p:sp>
            <p:nvSpPr>
              <p:cNvPr id="8" name="Rectangle 7">
                <a:extLst>
                  <a:ext uri="{FF2B5EF4-FFF2-40B4-BE49-F238E27FC236}">
                    <a16:creationId xmlns:a16="http://schemas.microsoft.com/office/drawing/2014/main" id="{076AF6E2-3E9F-4017-9E77-BB954B9F1D80}"/>
                  </a:ext>
                </a:extLst>
              </p:cNvPr>
              <p:cNvSpPr>
                <a:spLocks noRot="1" noChangeAspect="1" noMove="1" noResize="1" noEditPoints="1" noAdjustHandles="1" noChangeArrowheads="1" noChangeShapeType="1" noTextEdit="1"/>
              </p:cNvSpPr>
              <p:nvPr/>
            </p:nvSpPr>
            <p:spPr>
              <a:xfrm>
                <a:off x="3504858" y="5324171"/>
                <a:ext cx="1427635" cy="702885"/>
              </a:xfrm>
              <a:prstGeom prst="rect">
                <a:avLst/>
              </a:prstGeom>
              <a:blipFill>
                <a:blip r:embed="rId4"/>
                <a:stretch>
                  <a:fillRect l="-8974" b="-10345"/>
                </a:stretch>
              </a:blipFill>
            </p:spPr>
            <p:txBody>
              <a:bodyPr/>
              <a:lstStyle/>
              <a:p>
                <a:r>
                  <a:rPr lang="en-US">
                    <a:noFill/>
                  </a:rPr>
                  <a:t> </a:t>
                </a:r>
              </a:p>
            </p:txBody>
          </p:sp>
        </mc:Fallback>
      </mc:AlternateContent>
    </p:spTree>
    <p:extLst>
      <p:ext uri="{BB962C8B-B14F-4D97-AF65-F5344CB8AC3E}">
        <p14:creationId xmlns:p14="http://schemas.microsoft.com/office/powerpoint/2010/main" val="121054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xmlns="" id="{861F7C3A-3977-41E2-BBF8-6F1A8AE4B805}"/>
                  </a:ext>
                </a:extLst>
              </p:cNvPr>
              <p:cNvGraphicFramePr>
                <a:graphicFrameLocks noGrp="1"/>
              </p:cNvGraphicFramePr>
              <p:nvPr>
                <p:extLst>
                  <p:ext uri="{D42A27DB-BD31-4B8C-83A1-F6EECF244321}">
                    <p14:modId xmlns:p14="http://schemas.microsoft.com/office/powerpoint/2010/main" val="3563068812"/>
                  </p:ext>
                </p:extLst>
              </p:nvPr>
            </p:nvGraphicFramePr>
            <p:xfrm>
              <a:off x="856060" y="2097088"/>
              <a:ext cx="6203281" cy="3040508"/>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91474">
                      <a:extLst>
                        <a:ext uri="{9D8B030D-6E8A-4147-A177-3AD203B41FA5}">
                          <a16:colId xmlns:a16="http://schemas.microsoft.com/office/drawing/2014/main" xmlns="" val="1852071440"/>
                        </a:ext>
                      </a:extLst>
                    </a:gridCol>
                    <a:gridCol w="854586">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11/7</a:t>
                          </a:r>
                        </a:p>
                      </a:txBody>
                      <a:tcPr/>
                    </a:tc>
                    <a:tc>
                      <a:txBody>
                        <a:bodyPr/>
                        <a:lstStyle/>
                        <a:p>
                          <a:pPr algn="ctr"/>
                          <a:r>
                            <a:rPr lang="en-US" dirty="0">
                              <a:solidFill>
                                <a:srgbClr val="FF0000"/>
                              </a:solidFill>
                            </a:rPr>
                            <a:t>-2/7</a:t>
                          </a:r>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a:rPr>
                                    </m:ctrlPr>
                                  </m:fPr>
                                  <m:num>
                                    <m:r>
                                      <a:rPr lang="en-US" b="0" i="1" smtClean="0">
                                        <a:solidFill>
                                          <a:schemeClr val="tx1"/>
                                        </a:solidFill>
                                        <a:latin typeface="Cambria Math" panose="02040503050406030204" pitchFamily="18" charset="0"/>
                                      </a:rPr>
                                      <m:t>72</m:t>
                                    </m:r>
                                  </m:num>
                                  <m:den>
                                    <m:r>
                                      <a:rPr lang="en-US" b="0" i="1" smtClean="0">
                                        <a:solidFill>
                                          <a:schemeClr val="tx1"/>
                                        </a:solidFill>
                                        <a:latin typeface="Cambria Math" panose="02040503050406030204" pitchFamily="18" charset="0"/>
                                      </a:rPr>
                                      <m:t>7</m:t>
                                    </m:r>
                                  </m:den>
                                </m:f>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3/7</a:t>
                          </a:r>
                        </a:p>
                      </a:txBody>
                      <a:tcPr/>
                    </a:tc>
                    <a:tc>
                      <a:txBody>
                        <a:bodyPr/>
                        <a:lstStyle/>
                        <a:p>
                          <a:pPr algn="ctr"/>
                          <a:r>
                            <a:rPr lang="en-US" dirty="0">
                              <a:solidFill>
                                <a:srgbClr val="FF0000"/>
                              </a:solidFill>
                            </a:rPr>
                            <a:t>2/7</a:t>
                          </a:r>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a:rPr>
                                    </m:ctrlPr>
                                  </m:fPr>
                                  <m:num>
                                    <m:r>
                                      <a:rPr lang="en-US" b="0" i="1" smtClean="0">
                                        <a:solidFill>
                                          <a:schemeClr val="tx1"/>
                                        </a:solidFill>
                                        <a:latin typeface="Cambria Math" panose="02040503050406030204" pitchFamily="18" charset="0"/>
                                      </a:rPr>
                                      <m:t>12</m:t>
                                    </m:r>
                                  </m:num>
                                  <m:den>
                                    <m:r>
                                      <a:rPr lang="en-US" b="0" i="1" smtClean="0">
                                        <a:solidFill>
                                          <a:schemeClr val="tx1"/>
                                        </a:solidFill>
                                        <a:latin typeface="Cambria Math" panose="02040503050406030204" pitchFamily="18" charset="0"/>
                                      </a:rPr>
                                      <m:t>7</m:t>
                                    </m:r>
                                  </m:den>
                                </m:f>
                              </m:oMath>
                            </m:oMathPara>
                          </a14:m>
                          <a:endParaRPr lang="en-US"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mn-lt"/>
                              <a:ea typeface="+mn-ea"/>
                              <a:cs typeface="+mn-cs"/>
                            </a:rPr>
                            <a:t>6</a:t>
                          </a: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dirty="0"/>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-1/7</a:t>
                          </a:r>
                        </a:p>
                      </a:txBody>
                      <a:tcPr/>
                    </a:tc>
                    <a:tc>
                      <a:txBody>
                        <a:bodyPr/>
                        <a:lstStyle/>
                        <a:p>
                          <a:pPr algn="ctr"/>
                          <a:r>
                            <a:rPr lang="en-US" dirty="0">
                              <a:solidFill>
                                <a:srgbClr val="FF0000"/>
                              </a:solidFill>
                            </a:rPr>
                            <a:t>-3/7</a:t>
                          </a:r>
                        </a:p>
                      </a:txBody>
                      <a:tcPr/>
                    </a:tc>
                    <a:tc>
                      <a:txBody>
                        <a:bodyPr/>
                        <a:lstStyle/>
                        <a:p>
                          <a:pPr algn="ctr"/>
                          <a:r>
                            <a:rPr lang="en-US" dirty="0"/>
                            <a:t>3/7</a:t>
                          </a:r>
                        </a:p>
                      </a:txBody>
                      <a:tcPr/>
                    </a:tc>
                    <a:tc>
                      <a:txBody>
                        <a:bodyPr/>
                        <a:lstStyle/>
                        <a:p>
                          <a:pPr algn="ctr"/>
                          <a:r>
                            <a:rPr lang="en-US" dirty="0"/>
                            <a:t>Negative </a:t>
                          </a:r>
                        </a:p>
                      </a:txBody>
                      <a:tcPr/>
                    </a:tc>
                    <a:extLst>
                      <a:ext uri="{0D108BD9-81ED-4DB2-BD59-A6C34878D82A}">
                        <a16:rowId xmlns:a16="http://schemas.microsoft.com/office/drawing/2014/main" xmlns="" val="3414884863"/>
                      </a:ext>
                    </a:extLst>
                  </a:tr>
                </a:tbl>
              </a:graphicData>
            </a:graphic>
          </p:graphicFrame>
        </mc:Choice>
        <mc:Fallback xmlns="">
          <p:graphicFrame>
            <p:nvGraphicFramePr>
              <p:cNvPr id="5" name="Table 4">
                <a:extLst>
                  <a:ext uri="{FF2B5EF4-FFF2-40B4-BE49-F238E27FC236}">
                    <a16:creationId xmlns:a16="http://schemas.microsoft.com/office/drawing/2014/main" id="{861F7C3A-3977-41E2-BBF8-6F1A8AE4B805}"/>
                  </a:ext>
                </a:extLst>
              </p:cNvPr>
              <p:cNvGraphicFramePr>
                <a:graphicFrameLocks noGrp="1"/>
              </p:cNvGraphicFramePr>
              <p:nvPr>
                <p:extLst>
                  <p:ext uri="{D42A27DB-BD31-4B8C-83A1-F6EECF244321}">
                    <p14:modId xmlns:p14="http://schemas.microsoft.com/office/powerpoint/2010/main" val="3563068812"/>
                  </p:ext>
                </p:extLst>
              </p:nvPr>
            </p:nvGraphicFramePr>
            <p:xfrm>
              <a:off x="856060" y="2097088"/>
              <a:ext cx="6203281" cy="3040508"/>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91474">
                      <a:extLst>
                        <a:ext uri="{9D8B030D-6E8A-4147-A177-3AD203B41FA5}">
                          <a16:colId xmlns:a16="http://schemas.microsoft.com/office/drawing/2014/main" val="1852071440"/>
                        </a:ext>
                      </a:extLst>
                    </a:gridCol>
                    <a:gridCol w="854586">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2"/>
                          <a:stretch>
                            <a:fillRect l="-132075" t="-3556" r="-733962" b="-122667"/>
                          </a:stretch>
                        </a:blipFill>
                      </a:tcPr>
                    </a:tc>
                    <a:tc>
                      <a:txBody>
                        <a:bodyPr/>
                        <a:lstStyle/>
                        <a:p>
                          <a:endParaRPr lang="en-US"/>
                        </a:p>
                      </a:txBody>
                      <a:tcPr>
                        <a:blipFill>
                          <a:blip r:embed="rId2"/>
                          <a:stretch>
                            <a:fillRect l="-189231" t="-3556" r="-498462" b="-122667"/>
                          </a:stretch>
                        </a:blipFill>
                      </a:tcPr>
                    </a:tc>
                    <a:tc>
                      <a:txBody>
                        <a:bodyPr/>
                        <a:lstStyle/>
                        <a:p>
                          <a:endParaRPr lang="en-US"/>
                        </a:p>
                      </a:txBody>
                      <a:tcPr>
                        <a:blipFill>
                          <a:blip r:embed="rId2"/>
                          <a:stretch>
                            <a:fillRect l="-268571" t="-3556" r="-362857" b="-122667"/>
                          </a:stretch>
                        </a:blipFill>
                      </a:tcPr>
                    </a:tc>
                    <a:tc>
                      <a:txBody>
                        <a:bodyPr/>
                        <a:lstStyle/>
                        <a:p>
                          <a:endParaRPr lang="en-US"/>
                        </a:p>
                      </a:txBody>
                      <a:tcPr>
                        <a:blipFill>
                          <a:blip r:embed="rId2"/>
                          <a:stretch>
                            <a:fillRect l="-382222" t="-3556" r="-276296" b="-12266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605854">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11/7</a:t>
                          </a:r>
                        </a:p>
                      </a:txBody>
                      <a:tcPr/>
                    </a:tc>
                    <a:tc>
                      <a:txBody>
                        <a:bodyPr/>
                        <a:lstStyle/>
                        <a:p>
                          <a:pPr algn="ctr"/>
                          <a:r>
                            <a:rPr lang="en-US" dirty="0">
                              <a:solidFill>
                                <a:srgbClr val="FF0000"/>
                              </a:solidFill>
                            </a:rPr>
                            <a:t>-2/7</a:t>
                          </a:r>
                        </a:p>
                      </a:txBody>
                      <a:tcPr/>
                    </a:tc>
                    <a:tc>
                      <a:txBody>
                        <a:bodyPr/>
                        <a:lstStyle/>
                        <a:p>
                          <a:endParaRPr lang="en-US"/>
                        </a:p>
                      </a:txBody>
                      <a:tcPr>
                        <a:blipFill>
                          <a:blip r:embed="rId2"/>
                          <a:stretch>
                            <a:fillRect l="-353804" t="-233000" r="-102717" b="-176000"/>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3265417494"/>
                      </a:ext>
                    </a:extLst>
                  </a:tr>
                  <a:tr h="605854">
                    <a:tc>
                      <a:txBody>
                        <a:bodyPr/>
                        <a:lstStyle/>
                        <a:p>
                          <a:endParaRPr lang="en-US"/>
                        </a:p>
                      </a:txBody>
                      <a:tcPr>
                        <a:blipFill>
                          <a:blip r:embed="rId2"/>
                          <a:stretch>
                            <a:fillRect l="-719" t="-336364" r="-635971" b="-77778"/>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3/7</a:t>
                          </a:r>
                        </a:p>
                      </a:txBody>
                      <a:tcPr/>
                    </a:tc>
                    <a:tc>
                      <a:txBody>
                        <a:bodyPr/>
                        <a:lstStyle/>
                        <a:p>
                          <a:pPr algn="ctr"/>
                          <a:r>
                            <a:rPr lang="en-US" dirty="0">
                              <a:solidFill>
                                <a:srgbClr val="FF0000"/>
                              </a:solidFill>
                            </a:rPr>
                            <a:t>2/7</a:t>
                          </a:r>
                        </a:p>
                      </a:txBody>
                      <a:tcPr/>
                    </a:tc>
                    <a:tc>
                      <a:txBody>
                        <a:bodyPr/>
                        <a:lstStyle/>
                        <a:p>
                          <a:endParaRPr lang="en-US"/>
                        </a:p>
                      </a:txBody>
                      <a:tcPr>
                        <a:blipFill>
                          <a:blip r:embed="rId2"/>
                          <a:stretch>
                            <a:fillRect l="-353804" t="-336364" r="-102717" b="-77778"/>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mn-lt"/>
                              <a:ea typeface="+mn-ea"/>
                              <a:cs typeface="+mn-cs"/>
                            </a:rPr>
                            <a:t>6</a:t>
                          </a:r>
                        </a:p>
                      </a:txBody>
                      <a:tcPr/>
                    </a:tc>
                    <a:extLst>
                      <a:ext uri="{0D108BD9-81ED-4DB2-BD59-A6C34878D82A}">
                        <a16:rowId xmlns:a16="http://schemas.microsoft.com/office/drawing/2014/main" val="1697728900"/>
                      </a:ext>
                    </a:extLst>
                  </a:tr>
                  <a:tr h="457200">
                    <a:tc>
                      <a:txBody>
                        <a:bodyPr/>
                        <a:lstStyle/>
                        <a:p>
                          <a:endParaRPr lang="en-US"/>
                        </a:p>
                      </a:txBody>
                      <a:tcPr>
                        <a:blipFill>
                          <a:blip r:embed="rId2"/>
                          <a:stretch>
                            <a:fillRect l="-719" t="-576000" r="-635971" b="-2667"/>
                          </a:stretch>
                        </a:blipFill>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-1/7</a:t>
                          </a:r>
                        </a:p>
                      </a:txBody>
                      <a:tcPr/>
                    </a:tc>
                    <a:tc>
                      <a:txBody>
                        <a:bodyPr/>
                        <a:lstStyle/>
                        <a:p>
                          <a:pPr algn="ctr"/>
                          <a:r>
                            <a:rPr lang="en-US" dirty="0">
                              <a:solidFill>
                                <a:srgbClr val="FF0000"/>
                              </a:solidFill>
                            </a:rPr>
                            <a:t>-3/7</a:t>
                          </a:r>
                        </a:p>
                      </a:txBody>
                      <a:tcPr/>
                    </a:tc>
                    <a:tc>
                      <a:txBody>
                        <a:bodyPr/>
                        <a:lstStyle/>
                        <a:p>
                          <a:pPr algn="ctr"/>
                          <a:r>
                            <a:rPr lang="en-US" dirty="0"/>
                            <a:t>3/7</a:t>
                          </a:r>
                        </a:p>
                      </a:txBody>
                      <a:tcPr/>
                    </a:tc>
                    <a:tc>
                      <a:txBody>
                        <a:bodyPr/>
                        <a:lstStyle/>
                        <a:p>
                          <a:pPr algn="ctr"/>
                          <a:r>
                            <a:rPr lang="en-US" dirty="0"/>
                            <a:t>Negative </a:t>
                          </a:r>
                        </a:p>
                      </a:txBody>
                      <a:tcPr/>
                    </a:tc>
                    <a:extLst>
                      <a:ext uri="{0D108BD9-81ED-4DB2-BD59-A6C34878D82A}">
                        <a16:rowId xmlns:a16="http://schemas.microsoft.com/office/drawing/2014/main" val="3414884863"/>
                      </a:ext>
                    </a:extLst>
                  </a:tr>
                </a:tbl>
              </a:graphicData>
            </a:graphic>
          </p:graphicFrame>
        </mc:Fallback>
      </mc:AlternateContent>
    </p:spTree>
    <p:extLst>
      <p:ext uri="{BB962C8B-B14F-4D97-AF65-F5344CB8AC3E}">
        <p14:creationId xmlns:p14="http://schemas.microsoft.com/office/powerpoint/2010/main" val="2386932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xmlns="" id="{861F7C3A-3977-41E2-BBF8-6F1A8AE4B805}"/>
                  </a:ext>
                </a:extLst>
              </p:cNvPr>
              <p:cNvGraphicFramePr>
                <a:graphicFrameLocks noGrp="1"/>
              </p:cNvGraphicFramePr>
              <p:nvPr>
                <p:extLst>
                  <p:ext uri="{D42A27DB-BD31-4B8C-83A1-F6EECF244321}">
                    <p14:modId xmlns:p14="http://schemas.microsoft.com/office/powerpoint/2010/main" val="3245007843"/>
                  </p:ext>
                </p:extLst>
              </p:nvPr>
            </p:nvGraphicFramePr>
            <p:xfrm>
              <a:off x="856060" y="2097088"/>
              <a:ext cx="6203281" cy="3040508"/>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91474">
                      <a:extLst>
                        <a:ext uri="{9D8B030D-6E8A-4147-A177-3AD203B41FA5}">
                          <a16:colId xmlns:a16="http://schemas.microsoft.com/office/drawing/2014/main" xmlns="" val="1852071440"/>
                        </a:ext>
                      </a:extLst>
                    </a:gridCol>
                    <a:gridCol w="854586">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11/7</a:t>
                          </a:r>
                        </a:p>
                      </a:txBody>
                      <a:tcPr/>
                    </a:tc>
                    <a:tc>
                      <a:txBody>
                        <a:bodyPr/>
                        <a:lstStyle/>
                        <a:p>
                          <a:pPr algn="ctr"/>
                          <a:r>
                            <a:rPr lang="en-US" dirty="0">
                              <a:solidFill>
                                <a:srgbClr val="FF0000"/>
                              </a:solidFill>
                            </a:rPr>
                            <a:t>-2/7</a:t>
                          </a:r>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a:rPr>
                                    </m:ctrlPr>
                                  </m:fPr>
                                  <m:num>
                                    <m:r>
                                      <a:rPr lang="en-US" b="0" i="1" smtClean="0">
                                        <a:solidFill>
                                          <a:schemeClr val="tx1"/>
                                        </a:solidFill>
                                        <a:latin typeface="Cambria Math" panose="02040503050406030204" pitchFamily="18" charset="0"/>
                                      </a:rPr>
                                      <m:t>72</m:t>
                                    </m:r>
                                  </m:num>
                                  <m:den>
                                    <m:r>
                                      <a:rPr lang="en-US" b="0" i="1" smtClean="0">
                                        <a:solidFill>
                                          <a:schemeClr val="tx1"/>
                                        </a:solidFill>
                                        <a:latin typeface="Cambria Math" panose="02040503050406030204" pitchFamily="18" charset="0"/>
                                      </a:rPr>
                                      <m:t>7</m:t>
                                    </m:r>
                                  </m:den>
                                </m:f>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3/7</a:t>
                          </a:r>
                        </a:p>
                      </a:txBody>
                      <a:tcPr/>
                    </a:tc>
                    <a:tc>
                      <a:txBody>
                        <a:bodyPr/>
                        <a:lstStyle/>
                        <a:p>
                          <a:pPr algn="ctr"/>
                          <a:r>
                            <a:rPr lang="en-US" dirty="0">
                              <a:solidFill>
                                <a:srgbClr val="FF0000"/>
                              </a:solidFill>
                            </a:rPr>
                            <a:t>2/7</a:t>
                          </a:r>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a:rPr>
                                    </m:ctrlPr>
                                  </m:fPr>
                                  <m:num>
                                    <m:r>
                                      <a:rPr lang="en-US" b="0" i="1" smtClean="0">
                                        <a:solidFill>
                                          <a:schemeClr val="tx1"/>
                                        </a:solidFill>
                                        <a:latin typeface="Cambria Math" panose="02040503050406030204" pitchFamily="18" charset="0"/>
                                      </a:rPr>
                                      <m:t>12</m:t>
                                    </m:r>
                                  </m:num>
                                  <m:den>
                                    <m:r>
                                      <a:rPr lang="en-US" b="0" i="1" smtClean="0">
                                        <a:solidFill>
                                          <a:schemeClr val="tx1"/>
                                        </a:solidFill>
                                        <a:latin typeface="Cambria Math" panose="02040503050406030204" pitchFamily="18" charset="0"/>
                                      </a:rPr>
                                      <m:t>7</m:t>
                                    </m:r>
                                  </m:den>
                                </m:f>
                              </m:oMath>
                            </m:oMathPara>
                          </a14:m>
                          <a:endParaRPr lang="en-US"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mn-lt"/>
                              <a:ea typeface="+mn-ea"/>
                              <a:cs typeface="+mn-cs"/>
                            </a:rPr>
                            <a:t>6</a:t>
                          </a: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dirty="0"/>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-1/7</a:t>
                          </a:r>
                        </a:p>
                      </a:txBody>
                      <a:tcPr/>
                    </a:tc>
                    <a:tc>
                      <a:txBody>
                        <a:bodyPr/>
                        <a:lstStyle/>
                        <a:p>
                          <a:pPr algn="ctr"/>
                          <a:r>
                            <a:rPr lang="en-US" dirty="0">
                              <a:solidFill>
                                <a:srgbClr val="FF0000"/>
                              </a:solidFill>
                            </a:rPr>
                            <a:t>-3/7</a:t>
                          </a:r>
                        </a:p>
                      </a:txBody>
                      <a:tcPr/>
                    </a:tc>
                    <a:tc>
                      <a:txBody>
                        <a:bodyPr/>
                        <a:lstStyle/>
                        <a:p>
                          <a:pPr algn="ctr"/>
                          <a:r>
                            <a:rPr lang="en-US" dirty="0"/>
                            <a:t>3/7</a:t>
                          </a:r>
                        </a:p>
                      </a:txBody>
                      <a:tcPr/>
                    </a:tc>
                    <a:tc>
                      <a:txBody>
                        <a:bodyPr/>
                        <a:lstStyle/>
                        <a:p>
                          <a:pPr algn="ctr"/>
                          <a:r>
                            <a:rPr lang="en-US" dirty="0"/>
                            <a:t>Negative </a:t>
                          </a:r>
                        </a:p>
                      </a:txBody>
                      <a:tcPr/>
                    </a:tc>
                    <a:extLst>
                      <a:ext uri="{0D108BD9-81ED-4DB2-BD59-A6C34878D82A}">
                        <a16:rowId xmlns:a16="http://schemas.microsoft.com/office/drawing/2014/main" xmlns="" val="3414884863"/>
                      </a:ext>
                    </a:extLst>
                  </a:tr>
                </a:tbl>
              </a:graphicData>
            </a:graphic>
          </p:graphicFrame>
        </mc:Choice>
        <mc:Fallback xmlns="">
          <p:graphicFrame>
            <p:nvGraphicFramePr>
              <p:cNvPr id="5" name="Table 4">
                <a:extLst>
                  <a:ext uri="{FF2B5EF4-FFF2-40B4-BE49-F238E27FC236}">
                    <a16:creationId xmlns:a16="http://schemas.microsoft.com/office/drawing/2014/main" id="{861F7C3A-3977-41E2-BBF8-6F1A8AE4B805}"/>
                  </a:ext>
                </a:extLst>
              </p:cNvPr>
              <p:cNvGraphicFramePr>
                <a:graphicFrameLocks noGrp="1"/>
              </p:cNvGraphicFramePr>
              <p:nvPr>
                <p:extLst>
                  <p:ext uri="{D42A27DB-BD31-4B8C-83A1-F6EECF244321}">
                    <p14:modId xmlns:p14="http://schemas.microsoft.com/office/powerpoint/2010/main" val="3245007843"/>
                  </p:ext>
                </p:extLst>
              </p:nvPr>
            </p:nvGraphicFramePr>
            <p:xfrm>
              <a:off x="856060" y="2097088"/>
              <a:ext cx="6203281" cy="3040508"/>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91474">
                      <a:extLst>
                        <a:ext uri="{9D8B030D-6E8A-4147-A177-3AD203B41FA5}">
                          <a16:colId xmlns:a16="http://schemas.microsoft.com/office/drawing/2014/main" val="1852071440"/>
                        </a:ext>
                      </a:extLst>
                    </a:gridCol>
                    <a:gridCol w="854586">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2"/>
                          <a:stretch>
                            <a:fillRect l="-132075" t="-3556" r="-733962" b="-122667"/>
                          </a:stretch>
                        </a:blipFill>
                      </a:tcPr>
                    </a:tc>
                    <a:tc>
                      <a:txBody>
                        <a:bodyPr/>
                        <a:lstStyle/>
                        <a:p>
                          <a:endParaRPr lang="en-US"/>
                        </a:p>
                      </a:txBody>
                      <a:tcPr>
                        <a:blipFill>
                          <a:blip r:embed="rId2"/>
                          <a:stretch>
                            <a:fillRect l="-189231" t="-3556" r="-498462" b="-122667"/>
                          </a:stretch>
                        </a:blipFill>
                      </a:tcPr>
                    </a:tc>
                    <a:tc>
                      <a:txBody>
                        <a:bodyPr/>
                        <a:lstStyle/>
                        <a:p>
                          <a:endParaRPr lang="en-US"/>
                        </a:p>
                      </a:txBody>
                      <a:tcPr>
                        <a:blipFill>
                          <a:blip r:embed="rId2"/>
                          <a:stretch>
                            <a:fillRect l="-268571" t="-3556" r="-362857" b="-122667"/>
                          </a:stretch>
                        </a:blipFill>
                      </a:tcPr>
                    </a:tc>
                    <a:tc>
                      <a:txBody>
                        <a:bodyPr/>
                        <a:lstStyle/>
                        <a:p>
                          <a:endParaRPr lang="en-US"/>
                        </a:p>
                      </a:txBody>
                      <a:tcPr>
                        <a:blipFill>
                          <a:blip r:embed="rId2"/>
                          <a:stretch>
                            <a:fillRect l="-382222" t="-3556" r="-276296" b="-12266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605854">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11/7</a:t>
                          </a:r>
                        </a:p>
                      </a:txBody>
                      <a:tcPr/>
                    </a:tc>
                    <a:tc>
                      <a:txBody>
                        <a:bodyPr/>
                        <a:lstStyle/>
                        <a:p>
                          <a:pPr algn="ctr"/>
                          <a:r>
                            <a:rPr lang="en-US" dirty="0">
                              <a:solidFill>
                                <a:srgbClr val="FF0000"/>
                              </a:solidFill>
                            </a:rPr>
                            <a:t>-2/7</a:t>
                          </a:r>
                        </a:p>
                      </a:txBody>
                      <a:tcPr/>
                    </a:tc>
                    <a:tc>
                      <a:txBody>
                        <a:bodyPr/>
                        <a:lstStyle/>
                        <a:p>
                          <a:endParaRPr lang="en-US"/>
                        </a:p>
                      </a:txBody>
                      <a:tcPr>
                        <a:blipFill>
                          <a:blip r:embed="rId2"/>
                          <a:stretch>
                            <a:fillRect l="-353804" t="-233000" r="-102717" b="-176000"/>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3265417494"/>
                      </a:ext>
                    </a:extLst>
                  </a:tr>
                  <a:tr h="605854">
                    <a:tc>
                      <a:txBody>
                        <a:bodyPr/>
                        <a:lstStyle/>
                        <a:p>
                          <a:endParaRPr lang="en-US"/>
                        </a:p>
                      </a:txBody>
                      <a:tcPr>
                        <a:blipFill>
                          <a:blip r:embed="rId2"/>
                          <a:stretch>
                            <a:fillRect l="-719" t="-336364" r="-635971" b="-77778"/>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3/7</a:t>
                          </a:r>
                        </a:p>
                      </a:txBody>
                      <a:tcPr/>
                    </a:tc>
                    <a:tc>
                      <a:txBody>
                        <a:bodyPr/>
                        <a:lstStyle/>
                        <a:p>
                          <a:pPr algn="ctr"/>
                          <a:r>
                            <a:rPr lang="en-US" dirty="0">
                              <a:solidFill>
                                <a:srgbClr val="FF0000"/>
                              </a:solidFill>
                            </a:rPr>
                            <a:t>2/7</a:t>
                          </a:r>
                        </a:p>
                      </a:txBody>
                      <a:tcPr/>
                    </a:tc>
                    <a:tc>
                      <a:txBody>
                        <a:bodyPr/>
                        <a:lstStyle/>
                        <a:p>
                          <a:endParaRPr lang="en-US"/>
                        </a:p>
                      </a:txBody>
                      <a:tcPr>
                        <a:blipFill>
                          <a:blip r:embed="rId2"/>
                          <a:stretch>
                            <a:fillRect l="-353804" t="-336364" r="-102717" b="-77778"/>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mn-lt"/>
                              <a:ea typeface="+mn-ea"/>
                              <a:cs typeface="+mn-cs"/>
                            </a:rPr>
                            <a:t>6</a:t>
                          </a:r>
                        </a:p>
                      </a:txBody>
                      <a:tcPr/>
                    </a:tc>
                    <a:extLst>
                      <a:ext uri="{0D108BD9-81ED-4DB2-BD59-A6C34878D82A}">
                        <a16:rowId xmlns:a16="http://schemas.microsoft.com/office/drawing/2014/main" val="1697728900"/>
                      </a:ext>
                    </a:extLst>
                  </a:tr>
                  <a:tr h="457200">
                    <a:tc>
                      <a:txBody>
                        <a:bodyPr/>
                        <a:lstStyle/>
                        <a:p>
                          <a:endParaRPr lang="en-US"/>
                        </a:p>
                      </a:txBody>
                      <a:tcPr>
                        <a:blipFill>
                          <a:blip r:embed="rId2"/>
                          <a:stretch>
                            <a:fillRect l="-719" t="-576000" r="-635971" b="-2667"/>
                          </a:stretch>
                        </a:blipFill>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-1/7</a:t>
                          </a:r>
                        </a:p>
                      </a:txBody>
                      <a:tcPr/>
                    </a:tc>
                    <a:tc>
                      <a:txBody>
                        <a:bodyPr/>
                        <a:lstStyle/>
                        <a:p>
                          <a:pPr algn="ctr"/>
                          <a:r>
                            <a:rPr lang="en-US" dirty="0">
                              <a:solidFill>
                                <a:srgbClr val="FF0000"/>
                              </a:solidFill>
                            </a:rPr>
                            <a:t>-3/7</a:t>
                          </a:r>
                        </a:p>
                      </a:txBody>
                      <a:tcPr/>
                    </a:tc>
                    <a:tc>
                      <a:txBody>
                        <a:bodyPr/>
                        <a:lstStyle/>
                        <a:p>
                          <a:pPr algn="ctr"/>
                          <a:r>
                            <a:rPr lang="en-US" dirty="0"/>
                            <a:t>3/7</a:t>
                          </a:r>
                        </a:p>
                      </a:txBody>
                      <a:tcPr/>
                    </a:tc>
                    <a:tc>
                      <a:txBody>
                        <a:bodyPr/>
                        <a:lstStyle/>
                        <a:p>
                          <a:pPr algn="ctr"/>
                          <a:r>
                            <a:rPr lang="en-US" dirty="0"/>
                            <a:t>Negative </a:t>
                          </a:r>
                        </a:p>
                      </a:txBody>
                      <a:tcPr/>
                    </a:tc>
                    <a:extLst>
                      <a:ext uri="{0D108BD9-81ED-4DB2-BD59-A6C34878D82A}">
                        <a16:rowId xmlns:a16="http://schemas.microsoft.com/office/drawing/2014/main" val="3414884863"/>
                      </a:ext>
                    </a:extLst>
                  </a:tr>
                </a:tbl>
              </a:graphicData>
            </a:graphic>
          </p:graphicFrame>
        </mc:Fallback>
      </mc:AlternateContent>
    </p:spTree>
    <p:extLst>
      <p:ext uri="{BB962C8B-B14F-4D97-AF65-F5344CB8AC3E}">
        <p14:creationId xmlns:p14="http://schemas.microsoft.com/office/powerpoint/2010/main" val="18453794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xmlns="" id="{861F7C3A-3977-41E2-BBF8-6F1A8AE4B805}"/>
                  </a:ext>
                </a:extLst>
              </p:cNvPr>
              <p:cNvGraphicFramePr>
                <a:graphicFrameLocks noGrp="1"/>
              </p:cNvGraphicFramePr>
              <p:nvPr>
                <p:extLst>
                  <p:ext uri="{D42A27DB-BD31-4B8C-83A1-F6EECF244321}">
                    <p14:modId xmlns:p14="http://schemas.microsoft.com/office/powerpoint/2010/main" val="4286470789"/>
                  </p:ext>
                </p:extLst>
              </p:nvPr>
            </p:nvGraphicFramePr>
            <p:xfrm>
              <a:off x="856060" y="2097088"/>
              <a:ext cx="6203281" cy="2891854"/>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91474">
                      <a:extLst>
                        <a:ext uri="{9D8B030D-6E8A-4147-A177-3AD203B41FA5}">
                          <a16:colId xmlns:a16="http://schemas.microsoft.com/office/drawing/2014/main" xmlns="" val="1852071440"/>
                        </a:ext>
                      </a:extLst>
                    </a:gridCol>
                    <a:gridCol w="854586">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11/7</a:t>
                          </a:r>
                        </a:p>
                      </a:txBody>
                      <a:tcPr/>
                    </a:tc>
                    <a:tc>
                      <a:txBody>
                        <a:bodyPr/>
                        <a:lstStyle/>
                        <a:p>
                          <a:pPr algn="ctr"/>
                          <a:r>
                            <a:rPr lang="en-US" dirty="0">
                              <a:solidFill>
                                <a:srgbClr val="FF0000"/>
                              </a:solidFill>
                            </a:rPr>
                            <a:t>-2/7</a:t>
                          </a:r>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a:rPr>
                                    </m:ctrlPr>
                                  </m:fPr>
                                  <m:num>
                                    <m:r>
                                      <a:rPr lang="en-US" b="0" i="1" smtClean="0">
                                        <a:solidFill>
                                          <a:schemeClr val="tx1"/>
                                        </a:solidFill>
                                        <a:latin typeface="Cambria Math" panose="02040503050406030204" pitchFamily="18" charset="0"/>
                                      </a:rPr>
                                      <m:t>72</m:t>
                                    </m:r>
                                  </m:num>
                                  <m:den>
                                    <m:r>
                                      <a:rPr lang="en-US" b="0" i="1" smtClean="0">
                                        <a:solidFill>
                                          <a:schemeClr val="tx1"/>
                                        </a:solidFill>
                                        <a:latin typeface="Cambria Math" panose="02040503050406030204" pitchFamily="18" charset="0"/>
                                      </a:rPr>
                                      <m:t>7</m:t>
                                    </m:r>
                                  </m:den>
                                </m:f>
                              </m:oMath>
                            </m:oMathPara>
                          </a14:m>
                          <a:endParaRPr lang="en-US" dirty="0">
                            <a:solidFill>
                              <a:schemeClr val="tx1"/>
                            </a:solidFill>
                          </a:endParaRP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7/2</a:t>
                          </a:r>
                        </a:p>
                      </a:txBody>
                      <a:tcPr/>
                    </a:tc>
                    <a:tc>
                      <a:txBody>
                        <a:bodyPr/>
                        <a:lstStyle/>
                        <a:p>
                          <a:pPr algn="ctr"/>
                          <a:r>
                            <a:rPr lang="en-US" dirty="0">
                              <a:solidFill>
                                <a:schemeClr val="tx1"/>
                              </a:solidFill>
                            </a:rPr>
                            <a:t>3/2</a:t>
                          </a:r>
                        </a:p>
                      </a:txBody>
                      <a:tcPr/>
                    </a:tc>
                    <a:tc>
                      <a:txBody>
                        <a:bodyPr/>
                        <a:lstStyle/>
                        <a:p>
                          <a:pPr algn="ctr"/>
                          <a:r>
                            <a:rPr lang="en-US" dirty="0">
                              <a:solidFill>
                                <a:srgbClr val="FF0000"/>
                              </a:solidFill>
                            </a:rPr>
                            <a:t>1</a:t>
                          </a:r>
                        </a:p>
                      </a:txBody>
                      <a:tcPr/>
                    </a:tc>
                    <a:tc>
                      <a:txBody>
                        <a:bodyPr/>
                        <a:lstStyle/>
                        <a:p>
                          <a:pPr algn="ctr"/>
                          <a:r>
                            <a:rPr lang="en-US" dirty="0">
                              <a:solidFill>
                                <a:schemeClr val="tx1"/>
                              </a:solidFill>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dirty="0"/>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-1/7</a:t>
                          </a:r>
                        </a:p>
                      </a:txBody>
                      <a:tcPr/>
                    </a:tc>
                    <a:tc>
                      <a:txBody>
                        <a:bodyPr/>
                        <a:lstStyle/>
                        <a:p>
                          <a:pPr algn="ctr"/>
                          <a:r>
                            <a:rPr lang="en-US" dirty="0">
                              <a:solidFill>
                                <a:srgbClr val="FF0000"/>
                              </a:solidFill>
                            </a:rPr>
                            <a:t>-3/7</a:t>
                          </a:r>
                        </a:p>
                      </a:txBody>
                      <a:tcPr/>
                    </a:tc>
                    <a:tc>
                      <a:txBody>
                        <a:bodyPr/>
                        <a:lstStyle/>
                        <a:p>
                          <a:pPr algn="ctr"/>
                          <a:r>
                            <a:rPr lang="en-US" dirty="0"/>
                            <a:t>3/7</a:t>
                          </a:r>
                        </a:p>
                      </a:txBody>
                      <a:tcPr/>
                    </a:tc>
                    <a:tc>
                      <a:txBody>
                        <a:bodyPr/>
                        <a:lstStyle/>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5" name="Table 4">
                <a:extLst>
                  <a:ext uri="{FF2B5EF4-FFF2-40B4-BE49-F238E27FC236}">
                    <a16:creationId xmlns:a16="http://schemas.microsoft.com/office/drawing/2014/main" id="{861F7C3A-3977-41E2-BBF8-6F1A8AE4B805}"/>
                  </a:ext>
                </a:extLst>
              </p:cNvPr>
              <p:cNvGraphicFramePr>
                <a:graphicFrameLocks noGrp="1"/>
              </p:cNvGraphicFramePr>
              <p:nvPr>
                <p:extLst>
                  <p:ext uri="{D42A27DB-BD31-4B8C-83A1-F6EECF244321}">
                    <p14:modId xmlns:p14="http://schemas.microsoft.com/office/powerpoint/2010/main" val="4286470789"/>
                  </p:ext>
                </p:extLst>
              </p:nvPr>
            </p:nvGraphicFramePr>
            <p:xfrm>
              <a:off x="856060" y="2097088"/>
              <a:ext cx="6203281" cy="2891854"/>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91474">
                      <a:extLst>
                        <a:ext uri="{9D8B030D-6E8A-4147-A177-3AD203B41FA5}">
                          <a16:colId xmlns:a16="http://schemas.microsoft.com/office/drawing/2014/main" val="1852071440"/>
                        </a:ext>
                      </a:extLst>
                    </a:gridCol>
                    <a:gridCol w="854586">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2"/>
                          <a:stretch>
                            <a:fillRect l="-132075" t="-3556" r="-733962" b="-112000"/>
                          </a:stretch>
                        </a:blipFill>
                      </a:tcPr>
                    </a:tc>
                    <a:tc>
                      <a:txBody>
                        <a:bodyPr/>
                        <a:lstStyle/>
                        <a:p>
                          <a:endParaRPr lang="en-US"/>
                        </a:p>
                      </a:txBody>
                      <a:tcPr>
                        <a:blipFill>
                          <a:blip r:embed="rId2"/>
                          <a:stretch>
                            <a:fillRect l="-189231" t="-3556" r="-498462" b="-112000"/>
                          </a:stretch>
                        </a:blipFill>
                      </a:tcPr>
                    </a:tc>
                    <a:tc>
                      <a:txBody>
                        <a:bodyPr/>
                        <a:lstStyle/>
                        <a:p>
                          <a:endParaRPr lang="en-US"/>
                        </a:p>
                      </a:txBody>
                      <a:tcPr>
                        <a:blipFill>
                          <a:blip r:embed="rId2"/>
                          <a:stretch>
                            <a:fillRect l="-268571" t="-3556" r="-362857" b="-112000"/>
                          </a:stretch>
                        </a:blipFill>
                      </a:tcPr>
                    </a:tc>
                    <a:tc>
                      <a:txBody>
                        <a:bodyPr/>
                        <a:lstStyle/>
                        <a:p>
                          <a:endParaRPr lang="en-US"/>
                        </a:p>
                      </a:txBody>
                      <a:tcPr>
                        <a:blipFill>
                          <a:blip r:embed="rId2"/>
                          <a:stretch>
                            <a:fillRect l="-382222" t="-3556" r="-276296" b="-11200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605854">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0</a:t>
                          </a:r>
                        </a:p>
                      </a:txBody>
                      <a:tcPr/>
                    </a:tc>
                    <a:tc>
                      <a:txBody>
                        <a:bodyPr/>
                        <a:lstStyle/>
                        <a:p>
                          <a:pPr algn="ctr"/>
                          <a:r>
                            <a:rPr lang="en-US" dirty="0"/>
                            <a:t>11/7</a:t>
                          </a:r>
                        </a:p>
                      </a:txBody>
                      <a:tcPr/>
                    </a:tc>
                    <a:tc>
                      <a:txBody>
                        <a:bodyPr/>
                        <a:lstStyle/>
                        <a:p>
                          <a:pPr algn="ctr"/>
                          <a:r>
                            <a:rPr lang="en-US" dirty="0">
                              <a:solidFill>
                                <a:srgbClr val="FF0000"/>
                              </a:solidFill>
                            </a:rPr>
                            <a:t>-2/7</a:t>
                          </a:r>
                        </a:p>
                      </a:txBody>
                      <a:tcPr/>
                    </a:tc>
                    <a:tc>
                      <a:txBody>
                        <a:bodyPr/>
                        <a:lstStyle/>
                        <a:p>
                          <a:endParaRPr lang="en-US"/>
                        </a:p>
                      </a:txBody>
                      <a:tcPr>
                        <a:blipFill>
                          <a:blip r:embed="rId2"/>
                          <a:stretch>
                            <a:fillRect l="-353804" t="-233000" r="-102717" b="-152000"/>
                          </a:stretch>
                        </a:blipFill>
                      </a:tcPr>
                    </a:tc>
                    <a:tc>
                      <a:txBody>
                        <a:bodyPr/>
                        <a:lstStyle/>
                        <a:p>
                          <a:pPr algn="ctr"/>
                          <a:endParaRPr lang="en-US" dirty="0">
                            <a:solidFill>
                              <a:schemeClr val="tx1"/>
                            </a:solidFill>
                          </a:endParaRPr>
                        </a:p>
                      </a:txBody>
                      <a:tcPr/>
                    </a:tc>
                    <a:extLst>
                      <a:ext uri="{0D108BD9-81ED-4DB2-BD59-A6C34878D82A}">
                        <a16:rowId xmlns:a16="http://schemas.microsoft.com/office/drawing/2014/main" val="3265417494"/>
                      </a:ext>
                    </a:extLst>
                  </a:tr>
                  <a:tr h="457200">
                    <a:tc>
                      <a:txBody>
                        <a:bodyPr/>
                        <a:lstStyle/>
                        <a:p>
                          <a:endParaRPr lang="en-US"/>
                        </a:p>
                      </a:txBody>
                      <a:tcPr>
                        <a:blipFill>
                          <a:blip r:embed="rId2"/>
                          <a:stretch>
                            <a:fillRect l="-719" t="-444000" r="-635971" b="-102667"/>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7/2</a:t>
                          </a:r>
                        </a:p>
                      </a:txBody>
                      <a:tcPr/>
                    </a:tc>
                    <a:tc>
                      <a:txBody>
                        <a:bodyPr/>
                        <a:lstStyle/>
                        <a:p>
                          <a:pPr algn="ctr"/>
                          <a:r>
                            <a:rPr lang="en-US" dirty="0">
                              <a:solidFill>
                                <a:schemeClr val="tx1"/>
                              </a:solidFill>
                            </a:rPr>
                            <a:t>3/2</a:t>
                          </a:r>
                        </a:p>
                      </a:txBody>
                      <a:tcPr/>
                    </a:tc>
                    <a:tc>
                      <a:txBody>
                        <a:bodyPr/>
                        <a:lstStyle/>
                        <a:p>
                          <a:pPr algn="ctr"/>
                          <a:r>
                            <a:rPr lang="en-US" dirty="0">
                              <a:solidFill>
                                <a:srgbClr val="FF0000"/>
                              </a:solidFill>
                            </a:rPr>
                            <a:t>1</a:t>
                          </a:r>
                        </a:p>
                      </a:txBody>
                      <a:tcPr/>
                    </a:tc>
                    <a:tc>
                      <a:txBody>
                        <a:bodyPr/>
                        <a:lstStyle/>
                        <a:p>
                          <a:pPr algn="ctr"/>
                          <a:r>
                            <a:rPr lang="en-US" dirty="0">
                              <a:solidFill>
                                <a:schemeClr val="tx1"/>
                              </a:solidFill>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val="1697728900"/>
                      </a:ext>
                    </a:extLst>
                  </a:tr>
                  <a:tr h="457200">
                    <a:tc>
                      <a:txBody>
                        <a:bodyPr/>
                        <a:lstStyle/>
                        <a:p>
                          <a:endParaRPr lang="en-US"/>
                        </a:p>
                      </a:txBody>
                      <a:tcPr>
                        <a:blipFill>
                          <a:blip r:embed="rId2"/>
                          <a:stretch>
                            <a:fillRect l="-719" t="-544000" r="-635971" b="-2667"/>
                          </a:stretch>
                        </a:blipFill>
                      </a:tcPr>
                    </a:tc>
                    <a:tc>
                      <a:txBody>
                        <a:bodyPr/>
                        <a:lstStyle/>
                        <a:p>
                          <a:pPr algn="ctr"/>
                          <a:r>
                            <a:rPr lang="en-US" dirty="0">
                              <a:solidFill>
                                <a:schemeClr val="tx1"/>
                              </a:solidFill>
                            </a:rPr>
                            <a:t>1</a:t>
                          </a:r>
                        </a:p>
                      </a:txBody>
                      <a:tcPr/>
                    </a:tc>
                    <a:tc>
                      <a:txBody>
                        <a:bodyPr/>
                        <a:lstStyle/>
                        <a:p>
                          <a:pPr algn="ctr"/>
                          <a:r>
                            <a:rPr lang="en-US" dirty="0">
                              <a:solidFill>
                                <a:schemeClr val="tx1"/>
                              </a:solidFill>
                            </a:rPr>
                            <a:t>0</a:t>
                          </a:r>
                        </a:p>
                      </a:txBody>
                      <a:tcPr/>
                    </a:tc>
                    <a:tc>
                      <a:txBody>
                        <a:bodyPr/>
                        <a:lstStyle/>
                        <a:p>
                          <a:pPr algn="ctr"/>
                          <a:r>
                            <a:rPr lang="en-US" dirty="0"/>
                            <a:t>-1/7</a:t>
                          </a:r>
                        </a:p>
                      </a:txBody>
                      <a:tcPr/>
                    </a:tc>
                    <a:tc>
                      <a:txBody>
                        <a:bodyPr/>
                        <a:lstStyle/>
                        <a:p>
                          <a:pPr algn="ctr"/>
                          <a:r>
                            <a:rPr lang="en-US" dirty="0">
                              <a:solidFill>
                                <a:srgbClr val="FF0000"/>
                              </a:solidFill>
                            </a:rPr>
                            <a:t>-3/7</a:t>
                          </a:r>
                        </a:p>
                      </a:txBody>
                      <a:tcPr/>
                    </a:tc>
                    <a:tc>
                      <a:txBody>
                        <a:bodyPr/>
                        <a:lstStyle/>
                        <a:p>
                          <a:pPr algn="ctr"/>
                          <a:r>
                            <a:rPr lang="en-US" dirty="0"/>
                            <a:t>3/7</a:t>
                          </a:r>
                        </a:p>
                      </a:txBody>
                      <a:tcPr/>
                    </a:tc>
                    <a:tc>
                      <a:txBody>
                        <a:bodyPr/>
                        <a:lstStyle/>
                        <a:p>
                          <a:pPr algn="ctr"/>
                          <a:endParaRPr lang="en-US" dirty="0"/>
                        </a:p>
                      </a:txBody>
                      <a:tcPr/>
                    </a:tc>
                    <a:extLst>
                      <a:ext uri="{0D108BD9-81ED-4DB2-BD59-A6C34878D82A}">
                        <a16:rowId xmlns:a16="http://schemas.microsoft.com/office/drawing/2014/main" val="3414884863"/>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xmlns="" id="{AFF4D224-5277-4D5E-80FD-256ACB9CCC0C}"/>
                  </a:ext>
                </a:extLst>
              </p:cNvPr>
              <p:cNvSpPr/>
              <p:nvPr/>
            </p:nvSpPr>
            <p:spPr>
              <a:xfrm>
                <a:off x="1609845" y="5406250"/>
                <a:ext cx="1414105" cy="699166"/>
              </a:xfrm>
              <a:prstGeom prst="rect">
                <a:avLst/>
              </a:prstGeom>
            </p:spPr>
            <p:txBody>
              <a:bodyPr wrap="none">
                <a:spAutoFit/>
              </a:bodyPr>
              <a:lstStyle/>
              <a:p>
                <a:pPr lvl="0" defTabSz="914400">
                  <a:defRPr/>
                </a:pPr>
                <a14:m>
                  <m:oMath xmlns:m="http://schemas.openxmlformats.org/officeDocument/2006/math">
                    <m:r>
                      <a:rPr lang="en-US" sz="2800" i="1" smtClean="0">
                        <a:solidFill>
                          <a:schemeClr val="tx1"/>
                        </a:solidFill>
                        <a:latin typeface="Cambria Math" panose="02040503050406030204" pitchFamily="18" charset="0"/>
                        <a:cs typeface="Arial" panose="020B0604020202020204" pitchFamily="34" charset="0"/>
                      </a:rPr>
                      <m:t>𝐵</m:t>
                    </m:r>
                    <m:r>
                      <a:rPr lang="en-US" sz="2800" b="0" i="1" smtClean="0">
                        <a:solidFill>
                          <a:schemeClr val="tx1"/>
                        </a:solidFill>
                        <a:latin typeface="Cambria Math" panose="02040503050406030204" pitchFamily="18" charset="0"/>
                        <a:cs typeface="Arial" panose="020B0604020202020204" pitchFamily="34" charset="0"/>
                      </a:rPr>
                      <m:t>𝑦</m:t>
                    </m:r>
                    <m:r>
                      <a:rPr lang="en-US" sz="2800" b="0" i="1" smtClean="0">
                        <a:solidFill>
                          <a:schemeClr val="tx1"/>
                        </a:solidFill>
                        <a:latin typeface="Cambria Math" panose="02040503050406030204" pitchFamily="18" charset="0"/>
                        <a:cs typeface="Arial" panose="020B0604020202020204" pitchFamily="34" charset="0"/>
                      </a:rPr>
                      <m:t> </m:t>
                    </m:r>
                    <m:f>
                      <m:fPr>
                        <m:ctrlPr>
                          <a:rPr lang="en-US" sz="2800" b="0" i="1" smtClean="0">
                            <a:solidFill>
                              <a:schemeClr val="tx1"/>
                            </a:solidFill>
                            <a:latin typeface="Cambria Math"/>
                            <a:cs typeface="Arial" panose="020B0604020202020204" pitchFamily="34" charset="0"/>
                          </a:rPr>
                        </m:ctrlPr>
                      </m:fPr>
                      <m:num>
                        <m:r>
                          <a:rPr lang="en-US" sz="2800" b="0" i="1" smtClean="0">
                            <a:solidFill>
                              <a:schemeClr val="tx1"/>
                            </a:solidFill>
                            <a:latin typeface="Cambria Math" panose="02040503050406030204" pitchFamily="18" charset="0"/>
                            <a:cs typeface="Arial" panose="020B0604020202020204" pitchFamily="34" charset="0"/>
                          </a:rPr>
                          <m:t>7</m:t>
                        </m:r>
                      </m:num>
                      <m:den>
                        <m:r>
                          <a:rPr lang="en-US" sz="2800" b="0" i="1" smtClean="0">
                            <a:solidFill>
                              <a:schemeClr val="tx1"/>
                            </a:solidFill>
                            <a:latin typeface="Cambria Math" panose="02040503050406030204" pitchFamily="18" charset="0"/>
                            <a:cs typeface="Arial" panose="020B0604020202020204" pitchFamily="34" charset="0"/>
                          </a:rPr>
                          <m:t>2</m:t>
                        </m:r>
                      </m:den>
                    </m:f>
                  </m:oMath>
                </a14:m>
                <a:r>
                  <a:rPr lang="en-US" sz="2800" dirty="0">
                    <a:solidFill>
                      <a:srgbClr val="FF0000"/>
                    </a:solidFill>
                    <a:cs typeface="Arial" panose="020B0604020202020204" pitchFamily="34" charset="0"/>
                  </a:rPr>
                  <a:t> </a:t>
                </a:r>
                <a14:m>
                  <m:oMath xmlns:m="http://schemas.openxmlformats.org/officeDocument/2006/math">
                    <m:sSub>
                      <m:sSubPr>
                        <m:ctrlPr>
                          <a:rPr lang="en-US" sz="2800" i="1">
                            <a:solidFill>
                              <a:srgbClr val="FF0000"/>
                            </a:solidFill>
                            <a:latin typeface="Cambria Math"/>
                            <a:cs typeface="Arial" panose="020B0604020202020204" pitchFamily="34" charset="0"/>
                          </a:rPr>
                        </m:ctrlPr>
                      </m:sSubPr>
                      <m:e>
                        <m:r>
                          <a:rPr lang="en-US" sz="2800" b="0" i="1" smtClean="0">
                            <a:solidFill>
                              <a:srgbClr val="FF0000"/>
                            </a:solidFill>
                            <a:latin typeface="Cambria Math" panose="02040503050406030204" pitchFamily="18" charset="0"/>
                            <a:cs typeface="Arial" panose="020B0604020202020204" pitchFamily="34" charset="0"/>
                          </a:rPr>
                          <m:t>𝑠</m:t>
                        </m:r>
                      </m:e>
                      <m:sub>
                        <m:r>
                          <a:rPr lang="en-US" sz="2800" b="0" i="1" smtClean="0">
                            <a:solidFill>
                              <a:srgbClr val="FF0000"/>
                            </a:solidFill>
                            <a:latin typeface="Cambria Math" panose="02040503050406030204" pitchFamily="18" charset="0"/>
                            <a:cs typeface="Arial" panose="020B0604020202020204" pitchFamily="34" charset="0"/>
                          </a:rPr>
                          <m:t>2</m:t>
                        </m:r>
                      </m:sub>
                    </m:sSub>
                    <m:r>
                      <a:rPr lang="en-US" sz="2800" b="0" i="1" smtClean="0">
                        <a:solidFill>
                          <a:srgbClr val="FF0000"/>
                        </a:solidFill>
                        <a:latin typeface="Cambria Math" panose="02040503050406030204" pitchFamily="18" charset="0"/>
                        <a:cs typeface="Arial" panose="020B0604020202020204" pitchFamily="34" charset="0"/>
                      </a:rPr>
                      <m:t>,</m:t>
                    </m:r>
                  </m:oMath>
                </a14:m>
                <a:endParaRPr lang="en-US" sz="3200" dirty="0">
                  <a:solidFill>
                    <a:prstClr val="black"/>
                  </a:solidFill>
                </a:endParaRPr>
              </a:p>
            </p:txBody>
          </p:sp>
        </mc:Choice>
        <mc:Fallback xmlns="">
          <p:sp>
            <p:nvSpPr>
              <p:cNvPr id="7" name="Rectangle 6">
                <a:extLst>
                  <a:ext uri="{FF2B5EF4-FFF2-40B4-BE49-F238E27FC236}">
                    <a16:creationId xmlns:a16="http://schemas.microsoft.com/office/drawing/2014/main" id="{AFF4D224-5277-4D5E-80FD-256ACB9CCC0C}"/>
                  </a:ext>
                </a:extLst>
              </p:cNvPr>
              <p:cNvSpPr>
                <a:spLocks noRot="1" noChangeAspect="1" noMove="1" noResize="1" noEditPoints="1" noAdjustHandles="1" noChangeArrowheads="1" noChangeShapeType="1" noTextEdit="1"/>
              </p:cNvSpPr>
              <p:nvPr/>
            </p:nvSpPr>
            <p:spPr>
              <a:xfrm>
                <a:off x="1609845" y="5406250"/>
                <a:ext cx="1414105" cy="69916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568497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xmlns="" id="{861F7C3A-3977-41E2-BBF8-6F1A8AE4B805}"/>
                  </a:ext>
                </a:extLst>
              </p:cNvPr>
              <p:cNvGraphicFramePr>
                <a:graphicFrameLocks noGrp="1"/>
              </p:cNvGraphicFramePr>
              <p:nvPr>
                <p:extLst>
                  <p:ext uri="{D42A27DB-BD31-4B8C-83A1-F6EECF244321}">
                    <p14:modId xmlns:p14="http://schemas.microsoft.com/office/powerpoint/2010/main" val="2205123700"/>
                  </p:ext>
                </p:extLst>
              </p:nvPr>
            </p:nvGraphicFramePr>
            <p:xfrm>
              <a:off x="856060" y="2097088"/>
              <a:ext cx="6203281" cy="274320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91474">
                      <a:extLst>
                        <a:ext uri="{9D8B030D-6E8A-4147-A177-3AD203B41FA5}">
                          <a16:colId xmlns:a16="http://schemas.microsoft.com/office/drawing/2014/main" xmlns="" val="1852071440"/>
                        </a:ext>
                      </a:extLst>
                    </a:gridCol>
                    <a:gridCol w="854586">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t>2</a:t>
                          </a:r>
                        </a:p>
                      </a:txBody>
                      <a:tcPr/>
                    </a:tc>
                    <a:tc>
                      <a:txBody>
                        <a:bodyPr/>
                        <a:lstStyle/>
                        <a:p>
                          <a:pPr algn="ctr"/>
                          <a:r>
                            <a:rPr lang="en-US" dirty="0">
                              <a:solidFill>
                                <a:srgbClr val="FF0000"/>
                              </a:solidFill>
                            </a:rPr>
                            <a:t>0</a:t>
                          </a:r>
                        </a:p>
                      </a:txBody>
                      <a:tcPr/>
                    </a:tc>
                    <a:tc>
                      <a:txBody>
                        <a:bodyPr/>
                        <a:lstStyle/>
                        <a:p>
                          <a:pPr algn="ctr"/>
                          <a:r>
                            <a:rPr lang="en-US" dirty="0">
                              <a:solidFill>
                                <a:schemeClr val="tx1"/>
                              </a:solidFill>
                            </a:rPr>
                            <a:t>12</a:t>
                          </a: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7/2</a:t>
                          </a:r>
                        </a:p>
                      </a:txBody>
                      <a:tcPr/>
                    </a:tc>
                    <a:tc>
                      <a:txBody>
                        <a:bodyPr/>
                        <a:lstStyle/>
                        <a:p>
                          <a:pPr algn="ctr"/>
                          <a:r>
                            <a:rPr lang="en-US" dirty="0">
                              <a:solidFill>
                                <a:schemeClr val="tx1"/>
                              </a:solidFill>
                            </a:rPr>
                            <a:t>3/2</a:t>
                          </a:r>
                        </a:p>
                      </a:txBody>
                      <a:tcPr/>
                    </a:tc>
                    <a:tc>
                      <a:txBody>
                        <a:bodyPr/>
                        <a:lstStyle/>
                        <a:p>
                          <a:pPr algn="ctr"/>
                          <a:r>
                            <a:rPr lang="en-US" dirty="0">
                              <a:solidFill>
                                <a:srgbClr val="FF0000"/>
                              </a:solidFill>
                            </a:rPr>
                            <a:t>1</a:t>
                          </a:r>
                        </a:p>
                      </a:txBody>
                      <a:tcPr/>
                    </a:tc>
                    <a:tc>
                      <a:txBody>
                        <a:bodyPr/>
                        <a:lstStyle/>
                        <a:p>
                          <a:pPr algn="ctr"/>
                          <a:r>
                            <a:rPr lang="en-US" dirty="0">
                              <a:solidFill>
                                <a:schemeClr val="tx1"/>
                              </a:solidFill>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dirty="0"/>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3/2</a:t>
                          </a:r>
                        </a:p>
                      </a:txBody>
                      <a:tcPr/>
                    </a:tc>
                    <a:tc>
                      <a:txBody>
                        <a:bodyPr/>
                        <a:lstStyle/>
                        <a:p>
                          <a:pPr algn="ctr"/>
                          <a:r>
                            <a:rPr lang="en-US" dirty="0"/>
                            <a:t>1/2</a:t>
                          </a:r>
                        </a:p>
                      </a:txBody>
                      <a:tcPr/>
                    </a:tc>
                    <a:tc>
                      <a:txBody>
                        <a:bodyPr/>
                        <a:lstStyle/>
                        <a:p>
                          <a:pPr algn="ctr"/>
                          <a:r>
                            <a:rPr lang="en-US" dirty="0">
                              <a:solidFill>
                                <a:srgbClr val="FF0000"/>
                              </a:solidFill>
                            </a:rPr>
                            <a:t>0</a:t>
                          </a:r>
                        </a:p>
                      </a:txBody>
                      <a:tcPr/>
                    </a:tc>
                    <a:tc>
                      <a:txBody>
                        <a:bodyPr/>
                        <a:lstStyle/>
                        <a:p>
                          <a:pPr algn="ctr"/>
                          <a:r>
                            <a:rPr lang="en-US" dirty="0"/>
                            <a:t>3</a:t>
                          </a:r>
                        </a:p>
                      </a:txBody>
                      <a:tcPr/>
                    </a:tc>
                    <a:tc>
                      <a:txBody>
                        <a:bodyPr/>
                        <a:lstStyle/>
                        <a:p>
                          <a:pPr algn="ctr"/>
                          <a:endParaRPr lang="en-US" dirty="0"/>
                        </a:p>
                      </a:txBody>
                      <a:tcPr/>
                    </a:tc>
                    <a:extLst>
                      <a:ext uri="{0D108BD9-81ED-4DB2-BD59-A6C34878D82A}">
                        <a16:rowId xmlns:a16="http://schemas.microsoft.com/office/drawing/2014/main" xmlns="" val="3414884863"/>
                      </a:ext>
                    </a:extLst>
                  </a:tr>
                </a:tbl>
              </a:graphicData>
            </a:graphic>
          </p:graphicFrame>
        </mc:Choice>
        <mc:Fallback xmlns="">
          <p:graphicFrame>
            <p:nvGraphicFramePr>
              <p:cNvPr id="5" name="Table 4">
                <a:extLst>
                  <a:ext uri="{FF2B5EF4-FFF2-40B4-BE49-F238E27FC236}">
                    <a16:creationId xmlns:a16="http://schemas.microsoft.com/office/drawing/2014/main" id="{861F7C3A-3977-41E2-BBF8-6F1A8AE4B805}"/>
                  </a:ext>
                </a:extLst>
              </p:cNvPr>
              <p:cNvGraphicFramePr>
                <a:graphicFrameLocks noGrp="1"/>
              </p:cNvGraphicFramePr>
              <p:nvPr>
                <p:extLst>
                  <p:ext uri="{D42A27DB-BD31-4B8C-83A1-F6EECF244321}">
                    <p14:modId xmlns:p14="http://schemas.microsoft.com/office/powerpoint/2010/main" val="2205123700"/>
                  </p:ext>
                </p:extLst>
              </p:nvPr>
            </p:nvGraphicFramePr>
            <p:xfrm>
              <a:off x="856060" y="2097088"/>
              <a:ext cx="6203281" cy="274320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91474">
                      <a:extLst>
                        <a:ext uri="{9D8B030D-6E8A-4147-A177-3AD203B41FA5}">
                          <a16:colId xmlns:a16="http://schemas.microsoft.com/office/drawing/2014/main" val="1852071440"/>
                        </a:ext>
                      </a:extLst>
                    </a:gridCol>
                    <a:gridCol w="854586">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2"/>
                          <a:stretch>
                            <a:fillRect l="-132075" t="-3540" r="-733962" b="-100442"/>
                          </a:stretch>
                        </a:blipFill>
                      </a:tcPr>
                    </a:tc>
                    <a:tc>
                      <a:txBody>
                        <a:bodyPr/>
                        <a:lstStyle/>
                        <a:p>
                          <a:endParaRPr lang="en-US"/>
                        </a:p>
                      </a:txBody>
                      <a:tcPr>
                        <a:blipFill>
                          <a:blip r:embed="rId2"/>
                          <a:stretch>
                            <a:fillRect l="-189231" t="-3540" r="-498462" b="-100442"/>
                          </a:stretch>
                        </a:blipFill>
                      </a:tcPr>
                    </a:tc>
                    <a:tc>
                      <a:txBody>
                        <a:bodyPr/>
                        <a:lstStyle/>
                        <a:p>
                          <a:endParaRPr lang="en-US"/>
                        </a:p>
                      </a:txBody>
                      <a:tcPr>
                        <a:blipFill>
                          <a:blip r:embed="rId2"/>
                          <a:stretch>
                            <a:fillRect l="-268571" t="-3540" r="-362857" b="-100442"/>
                          </a:stretch>
                        </a:blipFill>
                      </a:tcPr>
                    </a:tc>
                    <a:tc>
                      <a:txBody>
                        <a:bodyPr/>
                        <a:lstStyle/>
                        <a:p>
                          <a:endParaRPr lang="en-US"/>
                        </a:p>
                      </a:txBody>
                      <a:tcPr>
                        <a:blipFill>
                          <a:blip r:embed="rId2"/>
                          <a:stretch>
                            <a:fillRect l="-382222" t="-3540" r="-276296" b="-100442"/>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t>2</a:t>
                          </a:r>
                        </a:p>
                      </a:txBody>
                      <a:tcPr/>
                    </a:tc>
                    <a:tc>
                      <a:txBody>
                        <a:bodyPr/>
                        <a:lstStyle/>
                        <a:p>
                          <a:pPr algn="ctr"/>
                          <a:r>
                            <a:rPr lang="en-US" dirty="0">
                              <a:solidFill>
                                <a:srgbClr val="FF0000"/>
                              </a:solidFill>
                            </a:rPr>
                            <a:t>0</a:t>
                          </a:r>
                        </a:p>
                      </a:txBody>
                      <a:tcPr/>
                    </a:tc>
                    <a:tc>
                      <a:txBody>
                        <a:bodyPr/>
                        <a:lstStyle/>
                        <a:p>
                          <a:pPr algn="ctr"/>
                          <a:r>
                            <a:rPr lang="en-US" dirty="0">
                              <a:solidFill>
                                <a:schemeClr val="tx1"/>
                              </a:solidFill>
                            </a:rPr>
                            <a:t>12</a:t>
                          </a: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val="3265417494"/>
                      </a:ext>
                    </a:extLst>
                  </a:tr>
                  <a:tr h="457200">
                    <a:tc>
                      <a:txBody>
                        <a:bodyPr/>
                        <a:lstStyle/>
                        <a:p>
                          <a:endParaRPr lang="en-US"/>
                        </a:p>
                      </a:txBody>
                      <a:tcPr>
                        <a:blipFill>
                          <a:blip r:embed="rId2"/>
                          <a:stretch>
                            <a:fillRect l="-719" t="-412000" r="-635971" b="-102667"/>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7/2</a:t>
                          </a:r>
                        </a:p>
                      </a:txBody>
                      <a:tcPr/>
                    </a:tc>
                    <a:tc>
                      <a:txBody>
                        <a:bodyPr/>
                        <a:lstStyle/>
                        <a:p>
                          <a:pPr algn="ctr"/>
                          <a:r>
                            <a:rPr lang="en-US" dirty="0">
                              <a:solidFill>
                                <a:schemeClr val="tx1"/>
                              </a:solidFill>
                            </a:rPr>
                            <a:t>3/2</a:t>
                          </a:r>
                        </a:p>
                      </a:txBody>
                      <a:tcPr/>
                    </a:tc>
                    <a:tc>
                      <a:txBody>
                        <a:bodyPr/>
                        <a:lstStyle/>
                        <a:p>
                          <a:pPr algn="ctr"/>
                          <a:r>
                            <a:rPr lang="en-US" dirty="0">
                              <a:solidFill>
                                <a:srgbClr val="FF0000"/>
                              </a:solidFill>
                            </a:rPr>
                            <a:t>1</a:t>
                          </a:r>
                        </a:p>
                      </a:txBody>
                      <a:tcPr/>
                    </a:tc>
                    <a:tc>
                      <a:txBody>
                        <a:bodyPr/>
                        <a:lstStyle/>
                        <a:p>
                          <a:pPr algn="ctr"/>
                          <a:r>
                            <a:rPr lang="en-US" dirty="0">
                              <a:solidFill>
                                <a:schemeClr val="tx1"/>
                              </a:solidFill>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val="1697728900"/>
                      </a:ext>
                    </a:extLst>
                  </a:tr>
                  <a:tr h="457200">
                    <a:tc>
                      <a:txBody>
                        <a:bodyPr/>
                        <a:lstStyle/>
                        <a:p>
                          <a:endParaRPr lang="en-US"/>
                        </a:p>
                      </a:txBody>
                      <a:tcPr>
                        <a:blipFill>
                          <a:blip r:embed="rId2"/>
                          <a:stretch>
                            <a:fillRect l="-719" t="-512000" r="-635971" b="-2667"/>
                          </a:stretch>
                        </a:blipFill>
                      </a:tcPr>
                    </a:tc>
                    <a:tc>
                      <a:txBody>
                        <a:bodyPr/>
                        <a:lstStyle/>
                        <a:p>
                          <a:pPr algn="ctr"/>
                          <a:r>
                            <a:rPr lang="en-US" dirty="0">
                              <a:solidFill>
                                <a:schemeClr val="tx1"/>
                              </a:solidFill>
                            </a:rPr>
                            <a:t>1</a:t>
                          </a:r>
                        </a:p>
                      </a:txBody>
                      <a:tcPr/>
                    </a:tc>
                    <a:tc>
                      <a:txBody>
                        <a:bodyPr/>
                        <a:lstStyle/>
                        <a:p>
                          <a:pPr algn="ctr"/>
                          <a:r>
                            <a:rPr lang="en-US" dirty="0">
                              <a:solidFill>
                                <a:schemeClr val="tx1"/>
                              </a:solidFill>
                            </a:rPr>
                            <a:t>3/2</a:t>
                          </a:r>
                        </a:p>
                      </a:txBody>
                      <a:tcPr/>
                    </a:tc>
                    <a:tc>
                      <a:txBody>
                        <a:bodyPr/>
                        <a:lstStyle/>
                        <a:p>
                          <a:pPr algn="ctr"/>
                          <a:r>
                            <a:rPr lang="en-US" dirty="0"/>
                            <a:t>1/2</a:t>
                          </a:r>
                        </a:p>
                      </a:txBody>
                      <a:tcPr/>
                    </a:tc>
                    <a:tc>
                      <a:txBody>
                        <a:bodyPr/>
                        <a:lstStyle/>
                        <a:p>
                          <a:pPr algn="ctr"/>
                          <a:r>
                            <a:rPr lang="en-US" dirty="0">
                              <a:solidFill>
                                <a:srgbClr val="FF0000"/>
                              </a:solidFill>
                            </a:rPr>
                            <a:t>0</a:t>
                          </a:r>
                        </a:p>
                      </a:txBody>
                      <a:tcPr/>
                    </a:tc>
                    <a:tc>
                      <a:txBody>
                        <a:bodyPr/>
                        <a:lstStyle/>
                        <a:p>
                          <a:pPr algn="ctr"/>
                          <a:r>
                            <a:rPr lang="en-US" dirty="0"/>
                            <a:t>3</a:t>
                          </a:r>
                        </a:p>
                      </a:txBody>
                      <a:tcPr/>
                    </a:tc>
                    <a:tc>
                      <a:txBody>
                        <a:bodyPr/>
                        <a:lstStyle/>
                        <a:p>
                          <a:pPr algn="ctr"/>
                          <a:endParaRPr lang="en-US" dirty="0"/>
                        </a:p>
                      </a:txBody>
                      <a:tcPr/>
                    </a:tc>
                    <a:extLst>
                      <a:ext uri="{0D108BD9-81ED-4DB2-BD59-A6C34878D82A}">
                        <a16:rowId xmlns:a16="http://schemas.microsoft.com/office/drawing/2014/main" val="3414884863"/>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xmlns="" id="{AFF4D224-5277-4D5E-80FD-256ACB9CCC0C}"/>
                  </a:ext>
                </a:extLst>
              </p:cNvPr>
              <p:cNvSpPr/>
              <p:nvPr/>
            </p:nvSpPr>
            <p:spPr>
              <a:xfrm>
                <a:off x="1609845" y="5406250"/>
                <a:ext cx="1685461" cy="702244"/>
              </a:xfrm>
              <a:prstGeom prst="rect">
                <a:avLst/>
              </a:prstGeom>
            </p:spPr>
            <p:txBody>
              <a:bodyPr wrap="none">
                <a:spAutoFit/>
              </a:bodyPr>
              <a:lstStyle/>
              <a:p>
                <a:pPr lvl="0" defTabSz="914400">
                  <a:defRPr/>
                </a:pPr>
                <a14:m>
                  <m:oMath xmlns:m="http://schemas.openxmlformats.org/officeDocument/2006/math">
                    <m:sSub>
                      <m:sSubPr>
                        <m:ctrlPr>
                          <a:rPr lang="en-US" sz="2800" i="1" smtClean="0">
                            <a:solidFill>
                              <a:schemeClr val="tx1"/>
                            </a:solidFill>
                            <a:latin typeface="Cambria Math"/>
                            <a:cs typeface="Arial" panose="020B0604020202020204" pitchFamily="34" charset="0"/>
                          </a:rPr>
                        </m:ctrlPr>
                      </m:sSubPr>
                      <m:e>
                        <m:r>
                          <a:rPr lang="en-US" sz="2800" b="0" i="1" smtClean="0">
                            <a:solidFill>
                              <a:schemeClr val="tx1"/>
                            </a:solidFill>
                            <a:latin typeface="Cambria Math" panose="02040503050406030204" pitchFamily="18" charset="0"/>
                            <a:cs typeface="Arial" panose="020B0604020202020204" pitchFamily="34" charset="0"/>
                          </a:rPr>
                          <m:t>𝑥</m:t>
                        </m:r>
                      </m:e>
                      <m:sub>
                        <m:r>
                          <a:rPr lang="en-US" sz="2800" b="0" i="1" smtClean="0">
                            <a:solidFill>
                              <a:schemeClr val="tx1"/>
                            </a:solidFill>
                            <a:latin typeface="Cambria Math" panose="02040503050406030204" pitchFamily="18" charset="0"/>
                            <a:cs typeface="Arial" panose="020B0604020202020204" pitchFamily="34" charset="0"/>
                          </a:rPr>
                          <m:t>1</m:t>
                        </m:r>
                      </m:sub>
                    </m:sSub>
                    <m:r>
                      <a:rPr lang="en-US" sz="2800" b="0" i="1" smtClean="0">
                        <a:solidFill>
                          <a:schemeClr val="tx1"/>
                        </a:solidFill>
                        <a:latin typeface="Cambria Math" panose="02040503050406030204" pitchFamily="18" charset="0"/>
                        <a:cs typeface="Arial" panose="020B0604020202020204" pitchFamily="34" charset="0"/>
                      </a:rPr>
                      <m:t>+</m:t>
                    </m:r>
                    <m:f>
                      <m:fPr>
                        <m:ctrlPr>
                          <a:rPr lang="en-US" sz="2800" b="0" i="1" smtClean="0">
                            <a:solidFill>
                              <a:schemeClr val="tx1"/>
                            </a:solidFill>
                            <a:latin typeface="Cambria Math"/>
                            <a:cs typeface="Arial" panose="020B0604020202020204" pitchFamily="34" charset="0"/>
                          </a:rPr>
                        </m:ctrlPr>
                      </m:fPr>
                      <m:num>
                        <m:r>
                          <a:rPr lang="en-US" sz="2800" b="0" i="1" smtClean="0">
                            <a:solidFill>
                              <a:schemeClr val="tx1"/>
                            </a:solidFill>
                            <a:latin typeface="Cambria Math" panose="02040503050406030204" pitchFamily="18" charset="0"/>
                            <a:cs typeface="Arial" panose="020B0604020202020204" pitchFamily="34" charset="0"/>
                          </a:rPr>
                          <m:t>3</m:t>
                        </m:r>
                      </m:num>
                      <m:den>
                        <m:r>
                          <a:rPr lang="en-US" sz="2800" b="0" i="1" smtClean="0">
                            <a:solidFill>
                              <a:schemeClr val="tx1"/>
                            </a:solidFill>
                            <a:latin typeface="Cambria Math" panose="02040503050406030204" pitchFamily="18" charset="0"/>
                            <a:cs typeface="Arial" panose="020B0604020202020204" pitchFamily="34" charset="0"/>
                          </a:rPr>
                          <m:t>7</m:t>
                        </m:r>
                      </m:den>
                    </m:f>
                  </m:oMath>
                </a14:m>
                <a:r>
                  <a:rPr lang="en-US" sz="2800" dirty="0">
                    <a:solidFill>
                      <a:srgbClr val="FF0000"/>
                    </a:solidFill>
                    <a:cs typeface="Arial" panose="020B0604020202020204" pitchFamily="34" charset="0"/>
                  </a:rPr>
                  <a:t> </a:t>
                </a:r>
                <a14:m>
                  <m:oMath xmlns:m="http://schemas.openxmlformats.org/officeDocument/2006/math">
                    <m:sSub>
                      <m:sSubPr>
                        <m:ctrlPr>
                          <a:rPr lang="en-US" sz="2800" i="1">
                            <a:solidFill>
                              <a:srgbClr val="FF0000"/>
                            </a:solidFill>
                            <a:latin typeface="Cambria Math"/>
                            <a:cs typeface="Arial" panose="020B0604020202020204" pitchFamily="34" charset="0"/>
                          </a:rPr>
                        </m:ctrlPr>
                      </m:sSubPr>
                      <m:e>
                        <m:r>
                          <a:rPr lang="en-US" sz="2800" b="0" i="1" smtClean="0">
                            <a:solidFill>
                              <a:srgbClr val="FF0000"/>
                            </a:solidFill>
                            <a:latin typeface="Cambria Math" panose="02040503050406030204" pitchFamily="18" charset="0"/>
                            <a:cs typeface="Arial" panose="020B0604020202020204" pitchFamily="34" charset="0"/>
                          </a:rPr>
                          <m:t>𝑠</m:t>
                        </m:r>
                      </m:e>
                      <m:sub>
                        <m:r>
                          <a:rPr lang="en-US" sz="2800" b="0" i="1" smtClean="0">
                            <a:solidFill>
                              <a:srgbClr val="FF0000"/>
                            </a:solidFill>
                            <a:latin typeface="Cambria Math" panose="02040503050406030204" pitchFamily="18" charset="0"/>
                            <a:cs typeface="Arial" panose="020B0604020202020204" pitchFamily="34" charset="0"/>
                          </a:rPr>
                          <m:t>2</m:t>
                        </m:r>
                      </m:sub>
                    </m:sSub>
                    <m:r>
                      <a:rPr lang="en-US" sz="2800" b="0" i="1" smtClean="0">
                        <a:solidFill>
                          <a:srgbClr val="FF0000"/>
                        </a:solidFill>
                        <a:latin typeface="Cambria Math" panose="02040503050406030204" pitchFamily="18" charset="0"/>
                        <a:cs typeface="Arial" panose="020B0604020202020204" pitchFamily="34" charset="0"/>
                      </a:rPr>
                      <m:t> ,</m:t>
                    </m:r>
                  </m:oMath>
                </a14:m>
                <a:endParaRPr lang="en-US" sz="3200" dirty="0">
                  <a:solidFill>
                    <a:prstClr val="black"/>
                  </a:solidFill>
                </a:endParaRPr>
              </a:p>
            </p:txBody>
          </p:sp>
        </mc:Choice>
        <mc:Fallback xmlns="">
          <p:sp>
            <p:nvSpPr>
              <p:cNvPr id="7" name="Rectangle 6">
                <a:extLst>
                  <a:ext uri="{FF2B5EF4-FFF2-40B4-BE49-F238E27FC236}">
                    <a16:creationId xmlns:a16="http://schemas.microsoft.com/office/drawing/2014/main" id="{AFF4D224-5277-4D5E-80FD-256ACB9CCC0C}"/>
                  </a:ext>
                </a:extLst>
              </p:cNvPr>
              <p:cNvSpPr>
                <a:spLocks noRot="1" noChangeAspect="1" noMove="1" noResize="1" noEditPoints="1" noAdjustHandles="1" noChangeArrowheads="1" noChangeShapeType="1" noTextEdit="1"/>
              </p:cNvSpPr>
              <p:nvPr/>
            </p:nvSpPr>
            <p:spPr>
              <a:xfrm>
                <a:off x="1609845" y="5406250"/>
                <a:ext cx="1685461" cy="70224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D7AF5810-5839-4842-B839-E374E3B8FD27}"/>
                  </a:ext>
                </a:extLst>
              </p:cNvPr>
              <p:cNvSpPr/>
              <p:nvPr/>
            </p:nvSpPr>
            <p:spPr>
              <a:xfrm>
                <a:off x="3340787" y="5406250"/>
                <a:ext cx="1244443" cy="702244"/>
              </a:xfrm>
              <a:prstGeom prst="rect">
                <a:avLst/>
              </a:prstGeom>
            </p:spPr>
            <p:txBody>
              <a:bodyPr wrap="none">
                <a:spAutoFit/>
              </a:bodyPr>
              <a:lstStyle/>
              <a:p>
                <a:pPr lvl="0" defTabSz="914400">
                  <a:defRPr/>
                </a:pPr>
                <a:r>
                  <a:rPr lang="en-US" sz="2800" b="0" dirty="0">
                    <a:solidFill>
                      <a:schemeClr val="tx1"/>
                    </a:solidFill>
                    <a:cs typeface="Arial" panose="020B0604020202020204" pitchFamily="34" charset="0"/>
                  </a:rPr>
                  <a:t>z</a:t>
                </a:r>
                <a14:m>
                  <m:oMath xmlns:m="http://schemas.openxmlformats.org/officeDocument/2006/math">
                    <m:r>
                      <a:rPr lang="en-US" sz="2800" b="0" i="1" smtClean="0">
                        <a:solidFill>
                          <a:schemeClr val="tx1"/>
                        </a:solidFill>
                        <a:latin typeface="Cambria Math" panose="02040503050406030204" pitchFamily="18" charset="0"/>
                        <a:cs typeface="Arial" panose="020B0604020202020204" pitchFamily="34" charset="0"/>
                      </a:rPr>
                      <m:t>+</m:t>
                    </m:r>
                    <m:f>
                      <m:fPr>
                        <m:ctrlPr>
                          <a:rPr lang="en-US" sz="2800" b="0" i="1" smtClean="0">
                            <a:solidFill>
                              <a:schemeClr val="tx1"/>
                            </a:solidFill>
                            <a:latin typeface="Cambria Math"/>
                            <a:cs typeface="Arial" panose="020B0604020202020204" pitchFamily="34" charset="0"/>
                          </a:rPr>
                        </m:ctrlPr>
                      </m:fPr>
                      <m:num>
                        <m:r>
                          <a:rPr lang="en-US" sz="2800" b="0" i="1" smtClean="0">
                            <a:solidFill>
                              <a:schemeClr val="tx1"/>
                            </a:solidFill>
                            <a:latin typeface="Cambria Math" panose="02040503050406030204" pitchFamily="18" charset="0"/>
                            <a:cs typeface="Arial" panose="020B0604020202020204" pitchFamily="34" charset="0"/>
                          </a:rPr>
                          <m:t>2</m:t>
                        </m:r>
                      </m:num>
                      <m:den>
                        <m:r>
                          <a:rPr lang="en-US" sz="2800" b="0" i="1" smtClean="0">
                            <a:solidFill>
                              <a:schemeClr val="tx1"/>
                            </a:solidFill>
                            <a:latin typeface="Cambria Math" panose="02040503050406030204" pitchFamily="18" charset="0"/>
                            <a:cs typeface="Arial" panose="020B0604020202020204" pitchFamily="34" charset="0"/>
                          </a:rPr>
                          <m:t>7</m:t>
                        </m:r>
                      </m:den>
                    </m:f>
                  </m:oMath>
                </a14:m>
                <a:r>
                  <a:rPr lang="en-US" sz="2800" dirty="0">
                    <a:solidFill>
                      <a:srgbClr val="FF0000"/>
                    </a:solidFill>
                    <a:cs typeface="Arial" panose="020B0604020202020204" pitchFamily="34" charset="0"/>
                  </a:rPr>
                  <a:t> </a:t>
                </a:r>
                <a14:m>
                  <m:oMath xmlns:m="http://schemas.openxmlformats.org/officeDocument/2006/math">
                    <m:sSub>
                      <m:sSubPr>
                        <m:ctrlPr>
                          <a:rPr lang="en-US" sz="2800" i="1">
                            <a:solidFill>
                              <a:srgbClr val="FF0000"/>
                            </a:solidFill>
                            <a:latin typeface="Cambria Math"/>
                            <a:cs typeface="Arial" panose="020B0604020202020204" pitchFamily="34" charset="0"/>
                          </a:rPr>
                        </m:ctrlPr>
                      </m:sSubPr>
                      <m:e>
                        <m:r>
                          <a:rPr lang="en-US" sz="2800" b="0" i="1" smtClean="0">
                            <a:solidFill>
                              <a:srgbClr val="FF0000"/>
                            </a:solidFill>
                            <a:latin typeface="Cambria Math" panose="02040503050406030204" pitchFamily="18" charset="0"/>
                            <a:cs typeface="Arial" panose="020B0604020202020204" pitchFamily="34" charset="0"/>
                          </a:rPr>
                          <m:t>𝑠</m:t>
                        </m:r>
                      </m:e>
                      <m:sub>
                        <m:r>
                          <a:rPr lang="en-US" sz="2800" b="0" i="1" smtClean="0">
                            <a:solidFill>
                              <a:srgbClr val="FF0000"/>
                            </a:solidFill>
                            <a:latin typeface="Cambria Math" panose="02040503050406030204" pitchFamily="18" charset="0"/>
                            <a:cs typeface="Arial" panose="020B0604020202020204" pitchFamily="34" charset="0"/>
                          </a:rPr>
                          <m:t>2</m:t>
                        </m:r>
                      </m:sub>
                    </m:sSub>
                  </m:oMath>
                </a14:m>
                <a:endParaRPr lang="en-US" sz="3200" dirty="0">
                  <a:solidFill>
                    <a:prstClr val="black"/>
                  </a:solidFill>
                </a:endParaRPr>
              </a:p>
            </p:txBody>
          </p:sp>
        </mc:Choice>
        <mc:Fallback xmlns="">
          <p:sp>
            <p:nvSpPr>
              <p:cNvPr id="8" name="Rectangle 7">
                <a:extLst>
                  <a:ext uri="{FF2B5EF4-FFF2-40B4-BE49-F238E27FC236}">
                    <a16:creationId xmlns:a16="http://schemas.microsoft.com/office/drawing/2014/main" id="{D7AF5810-5839-4842-B839-E374E3B8FD27}"/>
                  </a:ext>
                </a:extLst>
              </p:cNvPr>
              <p:cNvSpPr>
                <a:spLocks noRot="1" noChangeAspect="1" noMove="1" noResize="1" noEditPoints="1" noAdjustHandles="1" noChangeArrowheads="1" noChangeShapeType="1" noTextEdit="1"/>
              </p:cNvSpPr>
              <p:nvPr/>
            </p:nvSpPr>
            <p:spPr>
              <a:xfrm>
                <a:off x="3340787" y="5406250"/>
                <a:ext cx="1244443" cy="702244"/>
              </a:xfrm>
              <a:prstGeom prst="rect">
                <a:avLst/>
              </a:prstGeom>
              <a:blipFill>
                <a:blip r:embed="rId4"/>
                <a:stretch>
                  <a:fillRect l="-9804" b="-11304"/>
                </a:stretch>
              </a:blipFill>
            </p:spPr>
            <p:txBody>
              <a:bodyPr/>
              <a:lstStyle/>
              <a:p>
                <a:r>
                  <a:rPr lang="en-US">
                    <a:noFill/>
                  </a:rPr>
                  <a:t> </a:t>
                </a:r>
              </a:p>
            </p:txBody>
          </p:sp>
        </mc:Fallback>
      </mc:AlternateContent>
    </p:spTree>
    <p:extLst>
      <p:ext uri="{BB962C8B-B14F-4D97-AF65-F5344CB8AC3E}">
        <p14:creationId xmlns:p14="http://schemas.microsoft.com/office/powerpoint/2010/main" val="12851456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Two phase method</a:t>
            </a:r>
          </a:p>
        </p:txBody>
      </p:sp>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xmlns="" id="{861F7C3A-3977-41E2-BBF8-6F1A8AE4B805}"/>
                  </a:ext>
                </a:extLst>
              </p:cNvPr>
              <p:cNvGraphicFramePr>
                <a:graphicFrameLocks noGrp="1"/>
              </p:cNvGraphicFramePr>
              <p:nvPr>
                <p:extLst>
                  <p:ext uri="{D42A27DB-BD31-4B8C-83A1-F6EECF244321}">
                    <p14:modId xmlns:p14="http://schemas.microsoft.com/office/powerpoint/2010/main" val="3482804959"/>
                  </p:ext>
                </p:extLst>
              </p:nvPr>
            </p:nvGraphicFramePr>
            <p:xfrm>
              <a:off x="856060" y="2097088"/>
              <a:ext cx="6203281" cy="274320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xmlns="" val="1700886628"/>
                        </a:ext>
                      </a:extLst>
                    </a:gridCol>
                    <a:gridCol w="648346">
                      <a:extLst>
                        <a:ext uri="{9D8B030D-6E8A-4147-A177-3AD203B41FA5}">
                          <a16:colId xmlns:a16="http://schemas.microsoft.com/office/drawing/2014/main" xmlns="" val="2853653774"/>
                        </a:ext>
                      </a:extLst>
                    </a:gridCol>
                    <a:gridCol w="791474">
                      <a:extLst>
                        <a:ext uri="{9D8B030D-6E8A-4147-A177-3AD203B41FA5}">
                          <a16:colId xmlns:a16="http://schemas.microsoft.com/office/drawing/2014/main" xmlns="" val="1852071440"/>
                        </a:ext>
                      </a:extLst>
                    </a:gridCol>
                    <a:gridCol w="854586">
                      <a:extLst>
                        <a:ext uri="{9D8B030D-6E8A-4147-A177-3AD203B41FA5}">
                          <a16:colId xmlns:a16="http://schemas.microsoft.com/office/drawing/2014/main" xmlns="" val="3733485545"/>
                        </a:ext>
                      </a:extLst>
                    </a:gridCol>
                    <a:gridCol w="817022">
                      <a:extLst>
                        <a:ext uri="{9D8B030D-6E8A-4147-A177-3AD203B41FA5}">
                          <a16:colId xmlns:a16="http://schemas.microsoft.com/office/drawing/2014/main" xmlns="" val="3456232338"/>
                        </a:ext>
                      </a:extLst>
                    </a:gridCol>
                    <a:gridCol w="1124284">
                      <a:extLst>
                        <a:ext uri="{9D8B030D-6E8A-4147-A177-3AD203B41FA5}">
                          <a16:colId xmlns:a16="http://schemas.microsoft.com/office/drawing/2014/main" xmlns="" val="1798884083"/>
                        </a:ext>
                      </a:extLst>
                    </a:gridCol>
                    <a:gridCol w="1124284">
                      <a:extLst>
                        <a:ext uri="{9D8B030D-6E8A-4147-A177-3AD203B41FA5}">
                          <a16:colId xmlns:a16="http://schemas.microsoft.com/office/drawing/2014/main" xmlns="" val="2308203304"/>
                        </a:ext>
                      </a:extLst>
                    </a:gridCol>
                  </a:tblGrid>
                  <a:tr h="370840">
                    <a:tc>
                      <a:txBody>
                        <a:bodyPr/>
                        <a:lstStyle/>
                        <a:p>
                          <a:r>
                            <a:rPr lang="en-US" sz="2400" dirty="0">
                              <a:solidFill>
                                <a:schemeClr val="tx1"/>
                              </a:solidFill>
                            </a:rPr>
                            <a:t>Basic</a:t>
                          </a: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xmlns="" val="1870999327"/>
                      </a:ext>
                    </a:extLst>
                  </a:tr>
                  <a:tr h="37084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2</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12</a:t>
                          </a: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265417494"/>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𝑠</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2</m:t>
                                    </m:r>
                                  </m:sub>
                                </m:sSub>
                              </m:oMath>
                            </m:oMathPara>
                          </a14:m>
                          <a:endParaRPr lang="en-US" sz="24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7/2</a:t>
                          </a:r>
                        </a:p>
                      </a:txBody>
                      <a:tcPr/>
                    </a:tc>
                    <a:tc>
                      <a:txBody>
                        <a:bodyPr/>
                        <a:lstStyle/>
                        <a:p>
                          <a:pPr algn="ctr"/>
                          <a:r>
                            <a:rPr lang="en-US" dirty="0">
                              <a:solidFill>
                                <a:schemeClr val="tx1"/>
                              </a:solidFill>
                            </a:rPr>
                            <a:t>3/2</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a:txBody>
                      <a:tcPr/>
                    </a:tc>
                    <a:extLst>
                      <a:ext uri="{0D108BD9-81ED-4DB2-BD59-A6C34878D82A}">
                        <a16:rowId xmlns:a16="http://schemas.microsoft.com/office/drawing/2014/main" xmlns="" val="16977289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tx1"/>
                                        </a:solidFill>
                                        <a:effectLst/>
                                        <a:uLnTx/>
                                        <a:uFillTx/>
                                        <a:latin typeface="Cambria Math"/>
                                        <a:ea typeface="+mn-ea"/>
                                        <a:cs typeface="Arial" panose="020B0604020202020204" pitchFamily="34" charset="0"/>
                                      </a:rPr>
                                    </m:ctrlPr>
                                  </m:sSubPr>
                                  <m:e>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𝑥</m:t>
                                    </m:r>
                                  </m:e>
                                  <m: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Arial" panose="020B0604020202020204" pitchFamily="34" charset="0"/>
                                      </a:rPr>
                                      <m:t>1</m:t>
                                    </m:r>
                                  </m:sub>
                                </m:sSub>
                              </m:oMath>
                            </m:oMathPara>
                          </a14:m>
                          <a:endParaRPr lang="en-US" dirty="0">
                            <a:solidFill>
                              <a:schemeClr val="tx1"/>
                            </a:solidFill>
                          </a:endParaRP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3/2</a:t>
                          </a:r>
                        </a:p>
                      </a:txBody>
                      <a:tcPr/>
                    </a:tc>
                    <a:tc>
                      <a:txBody>
                        <a:bodyPr/>
                        <a:lstStyle/>
                        <a:p>
                          <a:pPr algn="ctr"/>
                          <a:r>
                            <a:rPr lang="en-US" dirty="0">
                              <a:solidFill>
                                <a:schemeClr val="tx1"/>
                              </a:solidFill>
                            </a:rPr>
                            <a:t>1/2</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3</a:t>
                          </a: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xmlns="" val="3414884863"/>
                      </a:ext>
                    </a:extLst>
                  </a:tr>
                </a:tbl>
              </a:graphicData>
            </a:graphic>
          </p:graphicFrame>
        </mc:Choice>
        <mc:Fallback xmlns="">
          <p:graphicFrame>
            <p:nvGraphicFramePr>
              <p:cNvPr id="5" name="Table 4">
                <a:extLst>
                  <a:ext uri="{FF2B5EF4-FFF2-40B4-BE49-F238E27FC236}">
                    <a16:creationId xmlns:a16="http://schemas.microsoft.com/office/drawing/2014/main" id="{861F7C3A-3977-41E2-BBF8-6F1A8AE4B805}"/>
                  </a:ext>
                </a:extLst>
              </p:cNvPr>
              <p:cNvGraphicFramePr>
                <a:graphicFrameLocks noGrp="1"/>
              </p:cNvGraphicFramePr>
              <p:nvPr>
                <p:extLst>
                  <p:ext uri="{D42A27DB-BD31-4B8C-83A1-F6EECF244321}">
                    <p14:modId xmlns:p14="http://schemas.microsoft.com/office/powerpoint/2010/main" val="3482804959"/>
                  </p:ext>
                </p:extLst>
              </p:nvPr>
            </p:nvGraphicFramePr>
            <p:xfrm>
              <a:off x="856060" y="2097088"/>
              <a:ext cx="6203281" cy="2743200"/>
            </p:xfrm>
            <a:graphic>
              <a:graphicData uri="http://schemas.openxmlformats.org/drawingml/2006/table">
                <a:tbl>
                  <a:tblPr firstRow="1" bandRow="1">
                    <a:tableStyleId>{7DF18680-E054-41AD-8BC1-D1AEF772440D}</a:tableStyleId>
                  </a:tblPr>
                  <a:tblGrid>
                    <a:gridCol w="843285">
                      <a:extLst>
                        <a:ext uri="{9D8B030D-6E8A-4147-A177-3AD203B41FA5}">
                          <a16:colId xmlns:a16="http://schemas.microsoft.com/office/drawing/2014/main" val="1700886628"/>
                        </a:ext>
                      </a:extLst>
                    </a:gridCol>
                    <a:gridCol w="648346">
                      <a:extLst>
                        <a:ext uri="{9D8B030D-6E8A-4147-A177-3AD203B41FA5}">
                          <a16:colId xmlns:a16="http://schemas.microsoft.com/office/drawing/2014/main" val="2853653774"/>
                        </a:ext>
                      </a:extLst>
                    </a:gridCol>
                    <a:gridCol w="791474">
                      <a:extLst>
                        <a:ext uri="{9D8B030D-6E8A-4147-A177-3AD203B41FA5}">
                          <a16:colId xmlns:a16="http://schemas.microsoft.com/office/drawing/2014/main" val="1852071440"/>
                        </a:ext>
                      </a:extLst>
                    </a:gridCol>
                    <a:gridCol w="854586">
                      <a:extLst>
                        <a:ext uri="{9D8B030D-6E8A-4147-A177-3AD203B41FA5}">
                          <a16:colId xmlns:a16="http://schemas.microsoft.com/office/drawing/2014/main" val="3733485545"/>
                        </a:ext>
                      </a:extLst>
                    </a:gridCol>
                    <a:gridCol w="817022">
                      <a:extLst>
                        <a:ext uri="{9D8B030D-6E8A-4147-A177-3AD203B41FA5}">
                          <a16:colId xmlns:a16="http://schemas.microsoft.com/office/drawing/2014/main" val="3456232338"/>
                        </a:ext>
                      </a:extLst>
                    </a:gridCol>
                    <a:gridCol w="1124284">
                      <a:extLst>
                        <a:ext uri="{9D8B030D-6E8A-4147-A177-3AD203B41FA5}">
                          <a16:colId xmlns:a16="http://schemas.microsoft.com/office/drawing/2014/main" val="1798884083"/>
                        </a:ext>
                      </a:extLst>
                    </a:gridCol>
                    <a:gridCol w="1124284">
                      <a:extLst>
                        <a:ext uri="{9D8B030D-6E8A-4147-A177-3AD203B41FA5}">
                          <a16:colId xmlns:a16="http://schemas.microsoft.com/office/drawing/2014/main" val="2308203304"/>
                        </a:ext>
                      </a:extLst>
                    </a:gridCol>
                  </a:tblGrid>
                  <a:tr h="1371600">
                    <a:tc>
                      <a:txBody>
                        <a:bodyPr/>
                        <a:lstStyle/>
                        <a:p>
                          <a:r>
                            <a:rPr lang="en-US" sz="2400" dirty="0">
                              <a:solidFill>
                                <a:schemeClr val="tx1"/>
                              </a:solidFill>
                            </a:rPr>
                            <a:t>Basic</a:t>
                          </a:r>
                        </a:p>
                      </a:txBody>
                      <a:tcPr/>
                    </a:tc>
                    <a:tc>
                      <a:txBody>
                        <a:bodyPr/>
                        <a:lstStyle/>
                        <a:p>
                          <a:endParaRPr lang="en-US"/>
                        </a:p>
                      </a:txBody>
                      <a:tcPr>
                        <a:blipFill>
                          <a:blip r:embed="rId2"/>
                          <a:stretch>
                            <a:fillRect l="-132075" t="-3540" r="-733962" b="-100442"/>
                          </a:stretch>
                        </a:blipFill>
                      </a:tcPr>
                    </a:tc>
                    <a:tc>
                      <a:txBody>
                        <a:bodyPr/>
                        <a:lstStyle/>
                        <a:p>
                          <a:endParaRPr lang="en-US"/>
                        </a:p>
                      </a:txBody>
                      <a:tcPr>
                        <a:blipFill>
                          <a:blip r:embed="rId2"/>
                          <a:stretch>
                            <a:fillRect l="-189231" t="-3540" r="-498462" b="-100442"/>
                          </a:stretch>
                        </a:blipFill>
                      </a:tcPr>
                    </a:tc>
                    <a:tc>
                      <a:txBody>
                        <a:bodyPr/>
                        <a:lstStyle/>
                        <a:p>
                          <a:endParaRPr lang="en-US"/>
                        </a:p>
                      </a:txBody>
                      <a:tcPr>
                        <a:blipFill>
                          <a:blip r:embed="rId2"/>
                          <a:stretch>
                            <a:fillRect l="-268571" t="-3540" r="-362857" b="-100442"/>
                          </a:stretch>
                        </a:blipFill>
                      </a:tcPr>
                    </a:tc>
                    <a:tc>
                      <a:txBody>
                        <a:bodyPr/>
                        <a:lstStyle/>
                        <a:p>
                          <a:endParaRPr lang="en-US"/>
                        </a:p>
                      </a:txBody>
                      <a:tcPr>
                        <a:blipFill>
                          <a:blip r:embed="rId2"/>
                          <a:stretch>
                            <a:fillRect l="-382222" t="-3540" r="-276296" b="-100442"/>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Sol</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Min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n-lt"/>
                            <a:ea typeface="+mn-ea"/>
                            <a:cs typeface="+mn-cs"/>
                          </a:endParaRPr>
                        </a:p>
                        <a:p>
                          <a:endParaRPr lang="en-US" dirty="0"/>
                        </a:p>
                      </a:txBody>
                      <a:tcPr/>
                    </a:tc>
                    <a:extLst>
                      <a:ext uri="{0D108BD9-81ED-4DB2-BD59-A6C34878D82A}">
                        <a16:rowId xmlns:a16="http://schemas.microsoft.com/office/drawing/2014/main" val="1870999327"/>
                      </a:ext>
                    </a:extLst>
                  </a:tr>
                  <a:tr h="457200">
                    <a:tc>
                      <a:txBody>
                        <a:bodyPr/>
                        <a:lstStyle/>
                        <a:p>
                          <a:pPr algn="ctr"/>
                          <a:r>
                            <a:rPr lang="en-US" sz="2400" dirty="0">
                              <a:solidFill>
                                <a:schemeClr val="tx1"/>
                              </a:solidFill>
                              <a:latin typeface="Arial" panose="020B0604020202020204" pitchFamily="34" charset="0"/>
                              <a:cs typeface="Arial" panose="020B0604020202020204" pitchFamily="34" charset="0"/>
                            </a:rPr>
                            <a:t>z</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2</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12</a:t>
                          </a: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val="3265417494"/>
                      </a:ext>
                    </a:extLst>
                  </a:tr>
                  <a:tr h="457200">
                    <a:tc>
                      <a:txBody>
                        <a:bodyPr/>
                        <a:lstStyle/>
                        <a:p>
                          <a:endParaRPr lang="en-US"/>
                        </a:p>
                      </a:txBody>
                      <a:tcPr>
                        <a:blipFill>
                          <a:blip r:embed="rId2"/>
                          <a:stretch>
                            <a:fillRect l="-719" t="-412000" r="-635971" b="-102667"/>
                          </a:stretch>
                        </a:blipFill>
                      </a:tcPr>
                    </a:tc>
                    <a:tc>
                      <a:txBody>
                        <a:bodyPr/>
                        <a:lstStyle/>
                        <a:p>
                          <a:pPr algn="ctr"/>
                          <a:r>
                            <a:rPr lang="en-US" dirty="0">
                              <a:solidFill>
                                <a:schemeClr val="tx1"/>
                              </a:solidFill>
                            </a:rPr>
                            <a:t>0</a:t>
                          </a:r>
                        </a:p>
                      </a:txBody>
                      <a:tcPr/>
                    </a:tc>
                    <a:tc>
                      <a:txBody>
                        <a:bodyPr/>
                        <a:lstStyle/>
                        <a:p>
                          <a:pPr algn="ctr"/>
                          <a:r>
                            <a:rPr lang="en-US" dirty="0">
                              <a:solidFill>
                                <a:schemeClr val="tx1"/>
                              </a:solidFill>
                            </a:rPr>
                            <a:t>7/2</a:t>
                          </a:r>
                        </a:p>
                      </a:txBody>
                      <a:tcPr/>
                    </a:tc>
                    <a:tc>
                      <a:txBody>
                        <a:bodyPr/>
                        <a:lstStyle/>
                        <a:p>
                          <a:pPr algn="ctr"/>
                          <a:r>
                            <a:rPr lang="en-US" dirty="0">
                              <a:solidFill>
                                <a:schemeClr val="tx1"/>
                              </a:solidFill>
                            </a:rPr>
                            <a:t>3/2</a:t>
                          </a:r>
                        </a:p>
                      </a:txBody>
                      <a:tcPr/>
                    </a:tc>
                    <a:tc>
                      <a:txBody>
                        <a:bodyPr/>
                        <a:lstStyle/>
                        <a:p>
                          <a:pPr algn="ctr"/>
                          <a:r>
                            <a:rPr lang="en-US" dirty="0">
                              <a:solidFill>
                                <a:schemeClr val="tx1"/>
                              </a:solidFill>
                            </a:rPr>
                            <a:t>1</a:t>
                          </a:r>
                        </a:p>
                      </a:txBody>
                      <a:tcPr/>
                    </a:tc>
                    <a:tc>
                      <a:txBody>
                        <a:bodyPr/>
                        <a:lstStyle/>
                        <a:p>
                          <a:pPr algn="ctr"/>
                          <a:r>
                            <a:rPr lang="en-US" dirty="0">
                              <a:solidFill>
                                <a:schemeClr val="tx1"/>
                              </a:solidFill>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a:txBody>
                      <a:tcPr/>
                    </a:tc>
                    <a:extLst>
                      <a:ext uri="{0D108BD9-81ED-4DB2-BD59-A6C34878D82A}">
                        <a16:rowId xmlns:a16="http://schemas.microsoft.com/office/drawing/2014/main" val="1697728900"/>
                      </a:ext>
                    </a:extLst>
                  </a:tr>
                  <a:tr h="457200">
                    <a:tc>
                      <a:txBody>
                        <a:bodyPr/>
                        <a:lstStyle/>
                        <a:p>
                          <a:endParaRPr lang="en-US"/>
                        </a:p>
                      </a:txBody>
                      <a:tcPr>
                        <a:blipFill>
                          <a:blip r:embed="rId2"/>
                          <a:stretch>
                            <a:fillRect l="-719" t="-512000" r="-635971" b="-2667"/>
                          </a:stretch>
                        </a:blipFill>
                      </a:tcPr>
                    </a:tc>
                    <a:tc>
                      <a:txBody>
                        <a:bodyPr/>
                        <a:lstStyle/>
                        <a:p>
                          <a:pPr algn="ctr"/>
                          <a:r>
                            <a:rPr lang="en-US" dirty="0">
                              <a:solidFill>
                                <a:schemeClr val="tx1"/>
                              </a:solidFill>
                            </a:rPr>
                            <a:t>1</a:t>
                          </a:r>
                        </a:p>
                      </a:txBody>
                      <a:tcPr/>
                    </a:tc>
                    <a:tc>
                      <a:txBody>
                        <a:bodyPr/>
                        <a:lstStyle/>
                        <a:p>
                          <a:pPr algn="ctr"/>
                          <a:r>
                            <a:rPr lang="en-US" dirty="0">
                              <a:solidFill>
                                <a:schemeClr val="tx1"/>
                              </a:solidFill>
                            </a:rPr>
                            <a:t>3/2</a:t>
                          </a:r>
                        </a:p>
                      </a:txBody>
                      <a:tcPr/>
                    </a:tc>
                    <a:tc>
                      <a:txBody>
                        <a:bodyPr/>
                        <a:lstStyle/>
                        <a:p>
                          <a:pPr algn="ctr"/>
                          <a:r>
                            <a:rPr lang="en-US" dirty="0">
                              <a:solidFill>
                                <a:schemeClr val="tx1"/>
                              </a:solidFill>
                            </a:rPr>
                            <a:t>1/2</a:t>
                          </a:r>
                        </a:p>
                      </a:txBody>
                      <a:tcPr/>
                    </a:tc>
                    <a:tc>
                      <a:txBody>
                        <a:bodyPr/>
                        <a:lstStyle/>
                        <a:p>
                          <a:pPr algn="ctr"/>
                          <a:r>
                            <a:rPr lang="en-US" dirty="0">
                              <a:solidFill>
                                <a:schemeClr val="tx1"/>
                              </a:solidFill>
                            </a:rPr>
                            <a:t>0</a:t>
                          </a:r>
                        </a:p>
                      </a:txBody>
                      <a:tcPr/>
                    </a:tc>
                    <a:tc>
                      <a:txBody>
                        <a:bodyPr/>
                        <a:lstStyle/>
                        <a:p>
                          <a:pPr algn="ctr"/>
                          <a:r>
                            <a:rPr lang="en-US" dirty="0">
                              <a:solidFill>
                                <a:schemeClr val="tx1"/>
                              </a:solidFill>
                            </a:rPr>
                            <a:t>3</a:t>
                          </a:r>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val="3414884863"/>
                      </a:ext>
                    </a:extLst>
                  </a:tr>
                </a:tbl>
              </a:graphicData>
            </a:graphic>
          </p:graphicFrame>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xmlns="" id="{954ACDD8-5375-4027-A973-D874FBF0EE02}"/>
                  </a:ext>
                </a:extLst>
              </p:cNvPr>
              <p:cNvSpPr/>
              <p:nvPr/>
            </p:nvSpPr>
            <p:spPr>
              <a:xfrm>
                <a:off x="505902" y="5141257"/>
                <a:ext cx="7779657" cy="707886"/>
              </a:xfrm>
              <a:prstGeom prst="rect">
                <a:avLst/>
              </a:prstGeom>
            </p:spPr>
            <p:txBody>
              <a:bodyPr wrap="square">
                <a:spAutoFit/>
              </a:bodyPr>
              <a:lstStyle/>
              <a:p>
                <a:pPr lvl="0" defTabSz="914400">
                  <a:defRPr/>
                </a:pPr>
                <a14:m>
                  <m:oMathPara xmlns:m="http://schemas.openxmlformats.org/officeDocument/2006/math">
                    <m:oMathParaPr>
                      <m:jc m:val="centerGroup"/>
                    </m:oMathParaPr>
                    <m:oMath xmlns:m="http://schemas.openxmlformats.org/officeDocument/2006/math">
                      <m:r>
                        <a:rPr lang="en-US" sz="2000" b="0" i="1" smtClean="0">
                          <a:solidFill>
                            <a:prstClr val="black"/>
                          </a:solidFill>
                          <a:latin typeface="Cambria Math" panose="02040503050406030204" pitchFamily="18" charset="0"/>
                        </a:rPr>
                        <m:t>𝐴𝑠</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𝑡h𝑒𝑟𝑒</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𝑖𝑠</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𝑛𝑜</m:t>
                      </m:r>
                    </m:oMath>
                  </m:oMathPara>
                </a14:m>
                <a:endParaRPr lang="en-US" sz="2000" b="0" i="1" dirty="0">
                  <a:solidFill>
                    <a:prstClr val="black"/>
                  </a:solidFill>
                  <a:latin typeface="Cambria Math" panose="02040503050406030204" pitchFamily="18" charset="0"/>
                </a:endParaRPr>
              </a:p>
              <a:p>
                <a:pPr lvl="0" defTabSz="914400">
                  <a:defRPr/>
                </a:pPr>
                <a14:m>
                  <m:oMathPara xmlns:m="http://schemas.openxmlformats.org/officeDocument/2006/math">
                    <m:oMathParaPr>
                      <m:jc m:val="centerGroup"/>
                    </m:oMathParaPr>
                    <m:oMath xmlns:m="http://schemas.openxmlformats.org/officeDocument/2006/math">
                      <m:r>
                        <a:rPr lang="en-US" sz="2000" i="1">
                          <a:solidFill>
                            <a:prstClr val="black"/>
                          </a:solidFill>
                          <a:latin typeface="Cambria Math" panose="02040503050406030204" pitchFamily="18" charset="0"/>
                        </a:rPr>
                        <m:t>−</m:t>
                      </m:r>
                      <m:r>
                        <a:rPr lang="en-US" sz="2000" b="0" i="1" smtClean="0">
                          <a:solidFill>
                            <a:prstClr val="black"/>
                          </a:solidFill>
                          <a:latin typeface="Cambria Math" panose="02040503050406030204" pitchFamily="18" charset="0"/>
                        </a:rPr>
                        <m:t>𝑣𝑒</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𝑣𝑎𝑙𝑢𝑒</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𝑖𝑛</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𝑡h𝑒</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𝑜𝑏𝑗𝑒𝑐𝑡𝑖𝑣𝑒</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𝑓𝑢𝑛𝑐𝑡𝑖𝑜𝑛</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𝑠𝑜</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𝑡h𝑒</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𝑜𝑝𝑡𝑖𝑚𝑎𝑙</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𝑠𝑜𝑙𝑢𝑡𝑖𝑜𝑛</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𝑖𝑠</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rPr>
                        <m:t>𝑜𝑏𝑡𝑎𝑖𝑛𝑒𝑑</m:t>
                      </m:r>
                    </m:oMath>
                  </m:oMathPara>
                </a14:m>
                <a:endParaRPr lang="en-US" sz="2000" dirty="0">
                  <a:solidFill>
                    <a:prstClr val="black"/>
                  </a:solidFill>
                </a:endParaRPr>
              </a:p>
            </p:txBody>
          </p:sp>
        </mc:Choice>
        <mc:Fallback xmlns="">
          <p:sp>
            <p:nvSpPr>
              <p:cNvPr id="9" name="Rectangle 8">
                <a:extLst>
                  <a:ext uri="{FF2B5EF4-FFF2-40B4-BE49-F238E27FC236}">
                    <a16:creationId xmlns:a16="http://schemas.microsoft.com/office/drawing/2014/main" id="{954ACDD8-5375-4027-A973-D874FBF0EE02}"/>
                  </a:ext>
                </a:extLst>
              </p:cNvPr>
              <p:cNvSpPr>
                <a:spLocks noRot="1" noChangeAspect="1" noMove="1" noResize="1" noEditPoints="1" noAdjustHandles="1" noChangeArrowheads="1" noChangeShapeType="1" noTextEdit="1"/>
              </p:cNvSpPr>
              <p:nvPr/>
            </p:nvSpPr>
            <p:spPr>
              <a:xfrm>
                <a:off x="505902" y="5141257"/>
                <a:ext cx="7779657" cy="707886"/>
              </a:xfrm>
              <a:prstGeom prst="rect">
                <a:avLst/>
              </a:prstGeom>
              <a:blipFill>
                <a:blip r:embed="rId3"/>
                <a:stretch>
                  <a:fillRect r="-4859" b="-6838"/>
                </a:stretch>
              </a:blipFill>
            </p:spPr>
            <p:txBody>
              <a:bodyPr/>
              <a:lstStyle/>
              <a:p>
                <a:r>
                  <a:rPr lang="en-US">
                    <a:noFill/>
                  </a:rPr>
                  <a:t> </a:t>
                </a:r>
              </a:p>
            </p:txBody>
          </p:sp>
        </mc:Fallback>
      </mc:AlternateContent>
    </p:spTree>
    <p:extLst>
      <p:ext uri="{BB962C8B-B14F-4D97-AF65-F5344CB8AC3E}">
        <p14:creationId xmlns:p14="http://schemas.microsoft.com/office/powerpoint/2010/main" val="16592906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task</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56060" y="2249486"/>
                <a:ext cx="7429499" cy="4608513"/>
              </a:xfrm>
            </p:spPr>
            <p:txBody>
              <a:bodyPr>
                <a:normAutofit/>
              </a:bodyPr>
              <a:lstStyle/>
              <a:p>
                <a:pPr marL="0" lvl="0" indent="0" algn="ctr">
                  <a:buNone/>
                </a:pPr>
                <a14:m>
                  <m:oMathPara xmlns:m="http://schemas.openxmlformats.org/officeDocument/2006/math">
                    <m:oMathParaPr>
                      <m:jc m:val="centerGroup"/>
                    </m:oMathParaPr>
                    <m:oMath xmlns:m="http://schemas.openxmlformats.org/officeDocument/2006/math">
                      <m:r>
                        <m:rPr>
                          <m:sty m:val="p"/>
                        </m:rPr>
                        <a:rPr lang="en-US" sz="2800" b="0" i="0" smtClean="0">
                          <a:solidFill>
                            <a:prstClr val="black"/>
                          </a:solidFill>
                          <a:effectLst/>
                          <a:latin typeface="Cambria Math" panose="02040503050406030204" pitchFamily="18" charset="0"/>
                          <a:cs typeface="Arial" panose="020B0604020202020204" pitchFamily="34" charset="0"/>
                        </a:rPr>
                        <m:t>Max</m:t>
                      </m:r>
                      <m:r>
                        <a:rPr lang="en-US" sz="2800" b="0" i="0" smtClean="0">
                          <a:solidFill>
                            <a:prstClr val="black"/>
                          </a:solidFill>
                          <a:effectLst/>
                          <a:latin typeface="Cambria Math" panose="02040503050406030204" pitchFamily="18" charset="0"/>
                          <a:cs typeface="Arial" panose="020B0604020202020204" pitchFamily="34" charset="0"/>
                        </a:rPr>
                        <m:t> </m:t>
                      </m:r>
                      <m:r>
                        <m:rPr>
                          <m:sty m:val="p"/>
                        </m:rPr>
                        <a:rPr lang="en-US" sz="2800" b="0" i="0" smtClean="0">
                          <a:solidFill>
                            <a:prstClr val="black"/>
                          </a:solidFill>
                          <a:effectLst/>
                          <a:latin typeface="Cambria Math" panose="02040503050406030204" pitchFamily="18" charset="0"/>
                          <a:cs typeface="Arial" panose="020B0604020202020204" pitchFamily="34" charset="0"/>
                        </a:rPr>
                        <m:t>Z</m:t>
                      </m:r>
                      <m:r>
                        <a:rPr lang="en-US" sz="2800" b="0" i="1" smtClean="0">
                          <a:solidFill>
                            <a:prstClr val="black"/>
                          </a:solidFill>
                          <a:effectLst/>
                          <a:latin typeface="Cambria Math" panose="02040503050406030204" pitchFamily="18" charset="0"/>
                          <a:cs typeface="Arial" panose="020B0604020202020204" pitchFamily="34" charset="0"/>
                        </a:rPr>
                        <m:t>=5</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cs typeface="Arial" panose="020B0604020202020204" pitchFamily="34" charset="0"/>
                        </a:rPr>
                        <m:t>8</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r>
                  <a:rPr lang="en-US" sz="2800" dirty="0">
                    <a:solidFill>
                      <a:prstClr val="black"/>
                    </a:solidFill>
                    <a:effectLst/>
                    <a:latin typeface="Arial" panose="020B0604020202020204" pitchFamily="34" charset="0"/>
                    <a:cs typeface="Arial" panose="020B0604020202020204" pitchFamily="34" charset="0"/>
                  </a:rPr>
                  <a:t>Subject to Constraints:</a:t>
                </a:r>
              </a:p>
              <a:p>
                <a:pPr marL="0" lvl="0" indent="0" algn="just">
                  <a:buNone/>
                </a:pPr>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3</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2</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i="1">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cs typeface="Arial" panose="020B0604020202020204" pitchFamily="34" charset="0"/>
                        </a:rPr>
                        <m:t>3</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1</m:t>
                          </m:r>
                        </m:sub>
                      </m:sSub>
                      <m:r>
                        <a:rPr lang="en-US" sz="2800" i="1">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b="0" i="1" smtClean="0">
                              <a:solidFill>
                                <a:prstClr val="black"/>
                              </a:solidFill>
                              <a:effectLst/>
                              <a:latin typeface="Cambria Math" panose="02040503050406030204" pitchFamily="18" charset="0"/>
                              <a:cs typeface="Arial" panose="020B0604020202020204" pitchFamily="34" charset="0"/>
                            </a:rPr>
                            <m:t>4</m:t>
                          </m:r>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4</m:t>
                      </m:r>
                    </m:oMath>
                  </m:oMathPara>
                </a14:m>
                <a:endParaRPr lang="en-US" sz="2800" dirty="0">
                  <a:solidFill>
                    <a:prstClr val="black"/>
                  </a:solidFill>
                  <a:effectLst/>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sz="2800" b="0" i="1" smtClean="0">
                          <a:solidFill>
                            <a:prstClr val="black"/>
                          </a:solidFill>
                          <a:effectLst/>
                          <a:latin typeface="Cambria Math" panose="02040503050406030204" pitchFamily="18" charset="0"/>
                          <a:cs typeface="Arial" panose="020B0604020202020204" pitchFamily="34" charset="0"/>
                        </a:rPr>
                        <m:t> </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b="0" i="1" smtClean="0">
                              <a:solidFill>
                                <a:prstClr val="black"/>
                              </a:solidFill>
                              <a:effectLst/>
                              <a:latin typeface="Cambria Math" panose="02040503050406030204" pitchFamily="18" charset="0"/>
                              <a:cs typeface="Arial" panose="020B0604020202020204" pitchFamily="34" charset="0"/>
                            </a:rPr>
                            <m:t>1</m:t>
                          </m:r>
                        </m:sub>
                      </m:sSub>
                      <m:r>
                        <a:rPr lang="en-US" sz="2800" b="0" i="1" smtClean="0">
                          <a:solidFill>
                            <a:prstClr val="black"/>
                          </a:solidFill>
                          <a:effectLst/>
                          <a:latin typeface="Cambria Math" panose="02040503050406030204" pitchFamily="18" charset="0"/>
                          <a:cs typeface="Arial" panose="020B0604020202020204" pitchFamily="34" charset="0"/>
                        </a:rPr>
                        <m:t>+</m:t>
                      </m:r>
                      <m:sSub>
                        <m:sSubPr>
                          <m:ctrlPr>
                            <a:rPr lang="en-US" sz="2800" i="1">
                              <a:solidFill>
                                <a:prstClr val="black"/>
                              </a:solidFill>
                              <a:effectLst/>
                              <a:latin typeface="Cambria Math"/>
                              <a:cs typeface="Arial" panose="020B0604020202020204" pitchFamily="34" charset="0"/>
                            </a:rPr>
                          </m:ctrlPr>
                        </m:sSubPr>
                        <m:e>
                          <m:r>
                            <a:rPr lang="en-US" sz="2800" i="1">
                              <a:solidFill>
                                <a:prstClr val="black"/>
                              </a:solidFill>
                              <a:effectLst/>
                              <a:latin typeface="Cambria Math" panose="02040503050406030204" pitchFamily="18" charset="0"/>
                              <a:cs typeface="Arial" panose="020B0604020202020204" pitchFamily="34" charset="0"/>
                            </a:rPr>
                            <m:t>𝑥</m:t>
                          </m:r>
                        </m:e>
                        <m:sub>
                          <m:r>
                            <a:rPr lang="en-US" sz="2800" i="1">
                              <a:solidFill>
                                <a:prstClr val="black"/>
                              </a:solidFill>
                              <a:effectLst/>
                              <a:latin typeface="Cambria Math" panose="02040503050406030204" pitchFamily="18" charset="0"/>
                              <a:cs typeface="Arial" panose="020B0604020202020204" pitchFamily="34" charset="0"/>
                            </a:rPr>
                            <m:t>2</m:t>
                          </m:r>
                        </m:sub>
                      </m:sSub>
                      <m:r>
                        <a:rPr lang="en-US" sz="2800" i="1">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prstClr val="black"/>
                          </a:solidFill>
                          <a:effectLst/>
                          <a:latin typeface="Cambria Math" panose="02040503050406030204" pitchFamily="18" charset="0"/>
                          <a:ea typeface="Cambria Math" panose="02040503050406030204" pitchFamily="18" charset="0"/>
                          <a:cs typeface="Arial" panose="020B0604020202020204" pitchFamily="34" charset="0"/>
                        </a:rPr>
                        <m:t>5</m:t>
                      </m:r>
                    </m:oMath>
                  </m:oMathPara>
                </a14:m>
                <a:endParaRPr lang="en-US" sz="2800" dirty="0">
                  <a:solidFill>
                    <a:prstClr val="black"/>
                  </a:solidFill>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a:blip r:embed="rId2"/>
                <a:stretch>
                  <a:fillRect l="-1641"/>
                </a:stretch>
              </a:blipFill>
            </p:spPr>
            <p:txBody>
              <a:bodyPr/>
              <a:lstStyle/>
              <a:p>
                <a:r>
                  <a:rPr lang="en-US">
                    <a:noFill/>
                  </a:rPr>
                  <a:t> </a:t>
                </a:r>
              </a:p>
            </p:txBody>
          </p:sp>
        </mc:Fallback>
      </mc:AlternateContent>
    </p:spTree>
    <p:extLst>
      <p:ext uri="{BB962C8B-B14F-4D97-AF65-F5344CB8AC3E}">
        <p14:creationId xmlns:p14="http://schemas.microsoft.com/office/powerpoint/2010/main" val="673647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2689715"/>
            <a:ext cx="7429499" cy="1478570"/>
          </a:xfrm>
        </p:spPr>
        <p:txBody>
          <a:bodyPr>
            <a:normAutofit fontScale="90000"/>
          </a:bodyPr>
          <a:lstStyle/>
          <a:p>
            <a:pPr lvl="0" algn="ctr">
              <a:lnSpc>
                <a:spcPct val="100000"/>
              </a:lnSpc>
              <a:spcBef>
                <a:spcPts val="0"/>
              </a:spcBef>
            </a:pPr>
            <a:r>
              <a:rPr lang="en-GB" sz="5400" b="1" cap="none" dirty="0">
                <a:solidFill>
                  <a:prstClr val="black"/>
                </a:solidFill>
                <a:latin typeface="Arial" panose="020B0604020202020204" pitchFamily="34" charset="0"/>
                <a:ea typeface="+mn-ea"/>
                <a:cs typeface="Arial" panose="020B0604020202020204" pitchFamily="34" charset="0"/>
              </a:rPr>
              <a:t>Thank you!</a:t>
            </a:r>
            <a:r>
              <a:rPr lang="en-GB" sz="4800" b="1" cap="none" dirty="0">
                <a:solidFill>
                  <a:prstClr val="black"/>
                </a:solidFill>
                <a:latin typeface="Arial" panose="020B0604020202020204" pitchFamily="34" charset="0"/>
                <a:ea typeface="+mn-ea"/>
                <a:cs typeface="Arial" panose="020B0604020202020204" pitchFamily="34" charset="0"/>
              </a:rPr>
              <a:t/>
            </a:r>
            <a:br>
              <a:rPr lang="en-GB" sz="4800" b="1" cap="none" dirty="0">
                <a:solidFill>
                  <a:prstClr val="black"/>
                </a:solidFill>
                <a:latin typeface="Arial" panose="020B0604020202020204" pitchFamily="34" charset="0"/>
                <a:ea typeface="+mn-ea"/>
                <a:cs typeface="Arial" panose="020B0604020202020204" pitchFamily="34" charset="0"/>
              </a:rPr>
            </a:br>
            <a:endParaRPr lang="en-US" sz="40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07375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Clarity">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Circuit">
  <a:themeElements>
    <a:clrScheme name="Circuit">
      <a:dk1>
        <a:sysClr val="windowText" lastClr="000000"/>
      </a:dk1>
      <a:lt1>
        <a:sysClr val="window" lastClr="FFFFFF"/>
      </a:lt1>
      <a:dk2>
        <a:srgbClr val="2B5F27"/>
      </a:dk2>
      <a:lt2>
        <a:srgbClr val="D8FC68"/>
      </a:lt2>
      <a:accent1>
        <a:srgbClr val="DDC855"/>
      </a:accent1>
      <a:accent2>
        <a:srgbClr val="FCA03D"/>
      </a:accent2>
      <a:accent3>
        <a:srgbClr val="E36439"/>
      </a:accent3>
      <a:accent4>
        <a:srgbClr val="C2935B"/>
      </a:accent4>
      <a:accent5>
        <a:srgbClr val="88C25C"/>
      </a:accent5>
      <a:accent6>
        <a:srgbClr val="BFCC86"/>
      </a:accent6>
      <a:hlink>
        <a:srgbClr val="FFCE23"/>
      </a:hlink>
      <a:folHlink>
        <a:srgbClr val="FDEB86"/>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xmlns="" name="Circuit" id="{0AC2F7E7-15F5-431C-B2A2-456FE929F56C}" vid="{97ECCC31-8429-4523-BE8D-8F09B7A4D46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3129</TotalTime>
  <Words>2976</Words>
  <Application>Microsoft Office PowerPoint</Application>
  <PresentationFormat>On-screen Show (4:3)</PresentationFormat>
  <Paragraphs>1041</Paragraphs>
  <Slides>34</Slides>
  <Notes>0</Notes>
  <HiddenSlides>0</HiddenSlides>
  <MMClips>0</MMClips>
  <ScaleCrop>false</ScaleCrop>
  <HeadingPairs>
    <vt:vector size="4" baseType="variant">
      <vt:variant>
        <vt:lpstr>Theme</vt:lpstr>
      </vt:variant>
      <vt:variant>
        <vt:i4>2</vt:i4>
      </vt:variant>
      <vt:variant>
        <vt:lpstr>Slide Titles</vt:lpstr>
      </vt:variant>
      <vt:variant>
        <vt:i4>34</vt:i4>
      </vt:variant>
    </vt:vector>
  </HeadingPairs>
  <TitlesOfParts>
    <vt:vector size="36" baseType="lpstr">
      <vt:lpstr>Clarity</vt:lpstr>
      <vt:lpstr>Circuit</vt:lpstr>
      <vt:lpstr>PowerPoint Presentation</vt:lpstr>
      <vt:lpstr>Two phase SIMPLEX method</vt:lpstr>
      <vt:lpstr>Two phase SIMPLEX method</vt:lpstr>
      <vt:lpstr>Two phase method</vt:lpstr>
      <vt:lpstr>Two phase method</vt:lpstr>
      <vt:lpstr>Two phase method (Minimization so choose more positive value in w-row) </vt:lpstr>
      <vt:lpstr>Two phase method</vt:lpstr>
      <vt:lpstr>Two phase method</vt:lpstr>
      <vt:lpstr>Two phase method</vt:lpstr>
      <vt:lpstr>Two phase method</vt:lpstr>
      <vt:lpstr>Two phase method</vt:lpstr>
      <vt:lpstr>Two phase method</vt:lpstr>
      <vt:lpstr>Two phase method</vt:lpstr>
      <vt:lpstr>Two phase method</vt:lpstr>
      <vt:lpstr>Two phase method</vt:lpstr>
      <vt:lpstr>Two phase method</vt:lpstr>
      <vt:lpstr>Two phase method</vt:lpstr>
      <vt:lpstr>Two phase method</vt:lpstr>
      <vt:lpstr>Two phase method</vt:lpstr>
      <vt:lpstr>Two phase method (Maximization so choose more negative value in w-row) </vt:lpstr>
      <vt:lpstr>Two phase method</vt:lpstr>
      <vt:lpstr>Two phase method</vt:lpstr>
      <vt:lpstr>Two phase method</vt:lpstr>
      <vt:lpstr>Two phase method</vt:lpstr>
      <vt:lpstr>Two phase method</vt:lpstr>
      <vt:lpstr>Two phase method</vt:lpstr>
      <vt:lpstr>Two phase method</vt:lpstr>
      <vt:lpstr>Two phase method</vt:lpstr>
      <vt:lpstr>Two phase method</vt:lpstr>
      <vt:lpstr>Two phase method</vt:lpstr>
      <vt:lpstr>Two phase method</vt:lpstr>
      <vt:lpstr>Two phase method</vt:lpstr>
      <vt:lpstr>task</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Bakhtawar</dc:creator>
  <cp:lastModifiedBy>4G Traders</cp:lastModifiedBy>
  <cp:revision>271</cp:revision>
  <dcterms:created xsi:type="dcterms:W3CDTF">2022-09-10T13:48:09Z</dcterms:created>
  <dcterms:modified xsi:type="dcterms:W3CDTF">2025-03-20T04:08:07Z</dcterms:modified>
</cp:coreProperties>
</file>