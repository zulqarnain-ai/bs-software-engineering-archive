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57" r:id="rId2"/>
    <p:sldId id="289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3549" autoAdjust="0"/>
  </p:normalViewPr>
  <p:slideViewPr>
    <p:cSldViewPr snapToGrid="0">
      <p:cViewPr varScale="1">
        <p:scale>
          <a:sx n="50" d="100"/>
          <a:sy n="50" d="100"/>
        </p:scale>
        <p:origin x="1051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20388-C9C7-4B86-8181-8F2B84837865}" type="datetimeFigureOut">
              <a:rPr lang="en-PK" smtClean="0"/>
              <a:t>15/11/2024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99E468-8726-4994-9A66-CC8B2A4730D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72581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998152-ABCE-40C6-A4C8-1E23CE669779}" type="slidenum">
              <a:rPr kumimoji="0" lang="en-P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P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1641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sng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  <a:t>An envisionment </a:t>
            </a:r>
            <a:r>
              <a:rPr lang="en-US" b="0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  <a:t>is </a:t>
            </a:r>
            <a:r>
              <a:rPr lang="en-US" b="1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  <a:t>meaning that is in the process of being made</a:t>
            </a:r>
            <a:r>
              <a:rPr lang="en-US" b="0" i="0" dirty="0">
                <a:solidFill>
                  <a:srgbClr val="BFBFBF"/>
                </a:solidFill>
                <a:effectLst/>
                <a:latin typeface="Arial" panose="020B0604020202020204" pitchFamily="34" charset="0"/>
              </a:rPr>
              <a:t>; it is meaning-in-motion.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9E468-8726-4994-9A66-CC8B2A4730D9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41264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visual display of information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9E468-8726-4994-9A66-CC8B2A4730D9}" type="slidenum">
              <a:rPr lang="en-PK" smtClean="0"/>
              <a:t>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94811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8E8E8"/>
                </a:solidFill>
                <a:effectLst/>
                <a:latin typeface="Google Sans"/>
              </a:rPr>
              <a:t>A snapshot is </a:t>
            </a:r>
            <a:r>
              <a:rPr lang="en-US" b="0" i="0" dirty="0">
                <a:solidFill>
                  <a:srgbClr val="FFFFFF"/>
                </a:solidFill>
                <a:effectLst/>
                <a:latin typeface="Google Sans"/>
              </a:rPr>
              <a:t>an image of your system/volume at a specific point in time</a:t>
            </a:r>
            <a:r>
              <a:rPr lang="en-US" b="0" i="0" dirty="0">
                <a:solidFill>
                  <a:srgbClr val="E8E8E8"/>
                </a:solidFill>
                <a:effectLst/>
                <a:latin typeface="Google Sans"/>
              </a:rPr>
              <a:t>. The first snapshot is an exact copy of the given data volume. Subsequent snapshots store data blocks that have been changed or added, enabling quicker versioning.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99E468-8726-4994-9A66-CC8B2A4730D9}" type="slidenum">
              <a:rPr lang="en-PK" smtClean="0"/>
              <a:t>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516722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Paper prototyping doesn’t require much detail, as designers normally do it in the very early stages of the design process. The drawings don’t have to be a work of art, but they should clearly communicate your design ideas, to the extent that you could even perform a bit of early usability testing. This is a great way to work out the information architecture of the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DB13E5-6137-4CF4-BC4E-3BF332F60FE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74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DB13E5-6137-4CF4-BC4E-3BF332F60FE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4052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used by interaction designers to tell a story about a design</a:t>
            </a:r>
          </a:p>
          <a:p>
            <a:endParaRPr lang="en-US" dirty="0"/>
          </a:p>
          <a:p>
            <a:r>
              <a:rPr lang="en-US" dirty="0"/>
              <a:t>Video prototyping allows people to connect with the design as they would in real life </a:t>
            </a:r>
          </a:p>
          <a:p>
            <a:r>
              <a:rPr lang="en-US" dirty="0"/>
              <a:t>Show</a:t>
            </a:r>
            <a:r>
              <a:rPr lang="en-US" baseline="0" dirty="0"/>
              <a:t> entire experience in term of all </a:t>
            </a:r>
            <a:r>
              <a:rPr lang="en-US" baseline="0" dirty="0" err="1"/>
              <a:t>stateholders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383BE4-A343-4586-B3F6-166893F6A27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453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505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07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954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11/15/2024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935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11/15/2024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90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11/15/2024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44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906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11/15/2024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298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11/15/2024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190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11/15/2024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340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11/15/2024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27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11/15/2024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292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Ms. Iqra Shahzad, Department of Software Engineering , NUML ,Islamabad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23A4B5B-CBFE-C920-C84A-5F697CE177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Finding suitable presentation- envisionment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D821E-6C86-0987-6EE6-3C20D42A9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Envisionment in practice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67574-81C3-73DC-CD56-E93D3B5A1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BB2604-F95D-DBD5-7B04-71C624C08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563" y="2454388"/>
            <a:ext cx="7201905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106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48B50-FB34-72B3-43F3-01509AC8A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Finding Suitable Representations </a:t>
            </a:r>
            <a:br>
              <a:rPr lang="en-PK" sz="2800" dirty="0"/>
            </a:br>
            <a:endParaRPr lang="en-PK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2AEA9-7027-16CF-1BD2-0C65BF784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4544" y="2173362"/>
            <a:ext cx="7315200" cy="5120640"/>
          </a:xfrm>
        </p:spPr>
        <p:txBody>
          <a:bodyPr>
            <a:normAutofit/>
          </a:bodyPr>
          <a:lstStyle/>
          <a:p>
            <a:pPr algn="ctr"/>
            <a:r>
              <a:rPr lang="en-US" sz="3200" b="0" i="0" dirty="0">
                <a:solidFill>
                  <a:srgbClr val="2B2B2B"/>
                </a:solidFill>
                <a:effectLst/>
                <a:latin typeface="Merriweather" panose="00000500000000000000" pitchFamily="2" charset="0"/>
              </a:rPr>
              <a:t>How can you design computer displays that are as meaningful as possible to human viewers?</a:t>
            </a:r>
          </a:p>
          <a:p>
            <a:pPr algn="ctr"/>
            <a:endParaRPr lang="en-US" sz="3200" b="0" i="0" dirty="0">
              <a:solidFill>
                <a:srgbClr val="2B2B2B"/>
              </a:solidFill>
              <a:effectLst/>
              <a:latin typeface="Merriweather" panose="00000500000000000000" pitchFamily="2" charset="0"/>
            </a:endParaRPr>
          </a:p>
          <a:p>
            <a:pPr algn="ctr"/>
            <a:endParaRPr lang="en-US" sz="3200" dirty="0">
              <a:solidFill>
                <a:srgbClr val="2B2B2B"/>
              </a:solidFill>
              <a:latin typeface="Merriweather" panose="00000500000000000000" pitchFamily="2" charset="0"/>
            </a:endParaRPr>
          </a:p>
          <a:p>
            <a:pPr algn="ctr"/>
            <a:endParaRPr lang="en-US" sz="3200" dirty="0">
              <a:solidFill>
                <a:srgbClr val="2B2B2B"/>
              </a:solidFill>
              <a:latin typeface="Merriweather" panose="00000500000000000000" pitchFamily="2" charset="0"/>
            </a:endParaRPr>
          </a:p>
          <a:p>
            <a:pPr algn="ctr"/>
            <a:endParaRPr lang="en-US" sz="3200" dirty="0">
              <a:solidFill>
                <a:srgbClr val="2B2B2B"/>
              </a:solidFill>
              <a:latin typeface="Merriweather" panose="00000500000000000000" pitchFamily="2" charset="0"/>
            </a:endParaRPr>
          </a:p>
          <a:p>
            <a:pPr algn="ctr"/>
            <a:endParaRPr lang="en-US" sz="3200" dirty="0">
              <a:solidFill>
                <a:srgbClr val="2B2B2B"/>
              </a:solidFill>
              <a:latin typeface="Merriweather" panose="00000500000000000000" pitchFamily="2" charset="0"/>
            </a:endParaRPr>
          </a:p>
          <a:p>
            <a:pPr algn="ctr"/>
            <a:endParaRPr lang="en-US" sz="3200" dirty="0">
              <a:solidFill>
                <a:srgbClr val="2B2B2B"/>
              </a:solidFill>
              <a:latin typeface="Merriweather" panose="00000500000000000000" pitchFamily="2" charset="0"/>
            </a:endParaRPr>
          </a:p>
          <a:p>
            <a:pPr algn="ctr"/>
            <a:endParaRPr lang="en-US" sz="3200" dirty="0">
              <a:solidFill>
                <a:srgbClr val="2B2B2B"/>
              </a:solidFill>
              <a:latin typeface="Merriweather" panose="00000500000000000000" pitchFamily="2" charset="0"/>
            </a:endParaRPr>
          </a:p>
          <a:p>
            <a:pPr algn="ctr"/>
            <a:endParaRPr lang="en-PK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7B41F0-A324-5E19-0579-79B5704F2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262" y="680845"/>
            <a:ext cx="10858573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783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4C9EE1D-12BB-43F7-9A2A-893578DCA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962A31-C54E-4762-B155-59777FED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B392D36-B685-45E0-B197-6EE5D7480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CA8533-CC5E-4754-9A04-047EDE49E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A5EAD6-43DA-448C-DDD9-8C4F46F10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590661"/>
            <a:ext cx="10210862" cy="10656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900" spc="-100"/>
              <a:t>Envisionment Process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57CDE7-8D06-3B02-BC7F-BE20AC75B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691" y="1351782"/>
            <a:ext cx="4789994" cy="1822455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5E390D-707D-F2A0-601D-172DDC7436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844645" y="82244"/>
            <a:ext cx="6347354" cy="38457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1D875A-6DB8-CC2F-249E-56264F9581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0721" y="3764019"/>
            <a:ext cx="3268437" cy="297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75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9BB46-F6DD-C729-7CA7-730CC5158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Sketches and Snapshots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FD18F-6D73-D6FB-B19F-3E58F8CC0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All designers should practice it</a:t>
            </a:r>
          </a:p>
          <a:p>
            <a:r>
              <a:rPr lang="en-US" sz="3200" dirty="0"/>
              <a:t> Ideas and thoughts are visualized and explored </a:t>
            </a:r>
          </a:p>
          <a:p>
            <a:r>
              <a:rPr lang="en-US" sz="3200" dirty="0"/>
              <a:t> Millennium bridge was first designed on a paper napkin in restaurant </a:t>
            </a:r>
          </a:p>
          <a:p>
            <a:r>
              <a:rPr lang="en-US" sz="3200" dirty="0"/>
              <a:t>Designers should have sketch book</a:t>
            </a:r>
            <a:endParaRPr lang="en-PK" sz="3200" dirty="0"/>
          </a:p>
        </p:txBody>
      </p:sp>
    </p:spTree>
    <p:extLst>
      <p:ext uri="{BB962C8B-B14F-4D97-AF65-F5344CB8AC3E}">
        <p14:creationId xmlns:p14="http://schemas.microsoft.com/office/powerpoint/2010/main" val="1347934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64C9EE1D-12BB-43F7-9A2A-893578DCA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43962A31-C54E-4762-B155-59777FED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 useBgFill="1">
        <p:nvSpPr>
          <p:cNvPr id="2059" name="Rectangle 2058">
            <a:extLst>
              <a:ext uri="{FF2B5EF4-FFF2-40B4-BE49-F238E27FC236}">
                <a16:creationId xmlns:a16="http://schemas.microsoft.com/office/drawing/2014/main" id="{4B392D36-B685-45E0-B197-6EE5D7480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9DCA8533-CC5E-4754-9A04-047EDE49E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561389-420E-337D-F2F5-D82C330CFB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1385" y="484632"/>
            <a:ext cx="4574605" cy="3556755"/>
          </a:xfrm>
          <a:prstGeom prst="rect">
            <a:avLst/>
          </a:prstGeom>
        </p:spPr>
      </p:pic>
      <p:pic>
        <p:nvPicPr>
          <p:cNvPr id="2050" name="Picture 2" descr="HCI - Scribal Handwriting - Team 33">
            <a:extLst>
              <a:ext uri="{FF2B5EF4-FFF2-40B4-BE49-F238E27FC236}">
                <a16:creationId xmlns:a16="http://schemas.microsoft.com/office/drawing/2014/main" id="{7BF03B99-F808-00FC-8BEA-3A319B83D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24147" y="484632"/>
            <a:ext cx="4418329" cy="3556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8149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754C990-9493-43C5-A08F-2B9A55F7D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76A2F0-4868-448D-8624-668A960A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FCE8F2-2045-305C-BA67-DFD03F3603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55672" y="804334"/>
            <a:ext cx="6480656" cy="524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279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415B7-C536-26EB-24C1-733C5EFF5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Storyboards 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CA992-B8D0-2A5D-402E-6A2232DD3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Originated from filmmaking </a:t>
            </a:r>
          </a:p>
          <a:p>
            <a:r>
              <a:rPr lang="en-US" dirty="0"/>
              <a:t>Cartoon-like structures </a:t>
            </a:r>
          </a:p>
          <a:p>
            <a:r>
              <a:rPr lang="en-US" dirty="0"/>
              <a:t>Key moments are presented </a:t>
            </a:r>
          </a:p>
          <a:p>
            <a:r>
              <a:rPr lang="en-US" dirty="0"/>
              <a:t>Feel the ‘flow’ of experience</a:t>
            </a:r>
          </a:p>
          <a:p>
            <a:r>
              <a:rPr lang="en-US" dirty="0"/>
              <a:t> Economical; 6-8 scenes on a page </a:t>
            </a:r>
          </a:p>
          <a:p>
            <a:r>
              <a:rPr lang="en-US" dirty="0"/>
              <a:t>Based on the concrete scenarios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871275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9518C-EE99-F623-6658-62C394EF5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A57C3-709F-EACE-7327-247131DAC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098C38-6DEF-1D25-26D6-72B55F398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545" y="804687"/>
            <a:ext cx="9916909" cy="523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000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2425-3896-3729-D946-2465EB40B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E454C1-54E7-C355-7838-9FDAA70A63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6878" y="0"/>
            <a:ext cx="8978722" cy="675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727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6F588-F5B1-7703-21F9-12622C96A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Mood boards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5ECD1-2DF1-1F33-9557-6488EAA9B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A0325"/>
                </a:solidFill>
                <a:effectLst/>
                <a:latin typeface="Poppins" panose="00000500000000000000" pitchFamily="2" charset="0"/>
              </a:rPr>
              <a:t>a </a:t>
            </a:r>
            <a:r>
              <a:rPr lang="en-US" b="0" i="0" dirty="0" err="1">
                <a:solidFill>
                  <a:srgbClr val="0A0325"/>
                </a:solidFill>
                <a:effectLst/>
                <a:latin typeface="Poppins" panose="00000500000000000000" pitchFamily="2" charset="0"/>
              </a:rPr>
              <a:t>moodboard</a:t>
            </a:r>
            <a:r>
              <a:rPr lang="en-US" b="0" i="0" dirty="0">
                <a:solidFill>
                  <a:srgbClr val="0A0325"/>
                </a:solidFill>
                <a:effectLst/>
                <a:latin typeface="Poppins" panose="00000500000000000000" pitchFamily="2" charset="0"/>
              </a:rPr>
              <a:t> is a picture that shows how the product should look, feel, and act. </a:t>
            </a:r>
          </a:p>
          <a:p>
            <a:r>
              <a:rPr lang="en-US" b="0" i="0" dirty="0">
                <a:solidFill>
                  <a:srgbClr val="0A0325"/>
                </a:solidFill>
                <a:effectLst/>
                <a:latin typeface="Poppins" panose="00000500000000000000" pitchFamily="2" charset="0"/>
              </a:rPr>
              <a:t>It’s usually a mix of pictures, colors, textures, patterns, fonts, and other visual elements that capture the essence of the product’s personality and make people feel or think of things in a certain way. </a:t>
            </a:r>
          </a:p>
          <a:p>
            <a:r>
              <a:rPr lang="en-US" b="0" i="0" dirty="0">
                <a:solidFill>
                  <a:srgbClr val="0A0325"/>
                </a:solidFill>
                <a:effectLst/>
                <a:latin typeface="Poppins" panose="00000500000000000000" pitchFamily="2" charset="0"/>
              </a:rPr>
              <a:t>This keeps the product’s vibe consistent across all its marketing stuff.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04305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9" name="Rectangle 3098">
            <a:extLst>
              <a:ext uri="{FF2B5EF4-FFF2-40B4-BE49-F238E27FC236}">
                <a16:creationId xmlns:a16="http://schemas.microsoft.com/office/drawing/2014/main" id="{A1DFCBE5-52C1-48A9-89CF-E7D68CCA1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0" name="Rectangle 3099">
            <a:extLst>
              <a:ext uri="{FF2B5EF4-FFF2-40B4-BE49-F238E27FC236}">
                <a16:creationId xmlns:a16="http://schemas.microsoft.com/office/drawing/2014/main" id="{EB17C8F6-D357-4254-BBAC-96B01EEBE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47203"/>
            <a:ext cx="11707367" cy="25726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2B26A2-50A0-D967-DE64-2E2FBB7B9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691" y="4049486"/>
            <a:ext cx="4825480" cy="1883228"/>
          </a:xfrm>
        </p:spPr>
        <p:txBody>
          <a:bodyPr>
            <a:normAutofit/>
          </a:bodyPr>
          <a:lstStyle/>
          <a:p>
            <a:pPr algn="r"/>
            <a:endParaRPr lang="en-PK" sz="4400"/>
          </a:p>
        </p:txBody>
      </p:sp>
      <p:pic>
        <p:nvPicPr>
          <p:cNvPr id="3078" name="Picture 6" descr="Travel Moodboard Poster Template | PosterMyWall">
            <a:extLst>
              <a:ext uri="{FF2B5EF4-FFF2-40B4-BE49-F238E27FC236}">
                <a16:creationId xmlns:a16="http://schemas.microsoft.com/office/drawing/2014/main" id="{F97DAEA4-7775-7875-0E89-E780E7C8B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3691" y="810340"/>
            <a:ext cx="3331905" cy="2224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A collage of different colors of a person&#10;&#10;Description automatically generated">
            <a:extLst>
              <a:ext uri="{FF2B5EF4-FFF2-40B4-BE49-F238E27FC236}">
                <a16:creationId xmlns:a16="http://schemas.microsoft.com/office/drawing/2014/main" id="{EB42E4EE-B456-1A57-1455-99AAA6B8B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55503" y="810340"/>
            <a:ext cx="3331905" cy="2224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A collage of different drinks&#10;&#10;Description automatically generated">
            <a:extLst>
              <a:ext uri="{FF2B5EF4-FFF2-40B4-BE49-F238E27FC236}">
                <a16:creationId xmlns:a16="http://schemas.microsoft.com/office/drawing/2014/main" id="{E7BF57E9-C952-3EA4-0AB8-E1201B49F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7314" y="484633"/>
            <a:ext cx="2911858" cy="2875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A6F23-018D-0816-3FA4-1BE69933B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8316" y="3960531"/>
            <a:ext cx="4846151" cy="2061138"/>
          </a:xfrm>
        </p:spPr>
        <p:txBody>
          <a:bodyPr>
            <a:normAutofit/>
          </a:bodyPr>
          <a:lstStyle/>
          <a:p>
            <a:endParaRPr lang="en-PK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750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FBD2B-0CEC-5D9B-4699-D926D5FC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Navigation maps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7EDDE8-72EE-E122-6A99-FA7F455A29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8738" y="1421517"/>
            <a:ext cx="7315200" cy="4005441"/>
          </a:xfrm>
        </p:spPr>
      </p:pic>
    </p:spTree>
    <p:extLst>
      <p:ext uri="{BB962C8B-B14F-4D97-AF65-F5344CB8AC3E}">
        <p14:creationId xmlns:p14="http://schemas.microsoft.com/office/powerpoint/2010/main" val="870338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DA631-8B2D-F763-903C-1CB89F464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6C7AC5-717F-19D3-67A3-B35FBDC716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8738" y="1282617"/>
            <a:ext cx="7315200" cy="4283241"/>
          </a:xfrm>
        </p:spPr>
      </p:pic>
    </p:spTree>
    <p:extLst>
      <p:ext uri="{BB962C8B-B14F-4D97-AF65-F5344CB8AC3E}">
        <p14:creationId xmlns:p14="http://schemas.microsoft.com/office/powerpoint/2010/main" val="2612665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00397-D314-3057-1F50-5873A77DE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 frames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129423-686A-12AA-D993-C357359275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89120" y="3609094"/>
            <a:ext cx="7315200" cy="213239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CF0760-EF78-4EC5-F156-D4967868ABE4}"/>
              </a:ext>
            </a:extLst>
          </p:cNvPr>
          <p:cNvSpPr txBox="1"/>
          <p:nvPr/>
        </p:nvSpPr>
        <p:spPr>
          <a:xfrm>
            <a:off x="3707130" y="562106"/>
            <a:ext cx="799719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dirty="0">
                <a:effectLst/>
                <a:latin typeface="__figmaSans_a26a19"/>
              </a:rPr>
              <a:t>Wireframes are basic blueprints that help teams align on requirements, keeping UX design  focused and constructive. </a:t>
            </a:r>
          </a:p>
          <a:p>
            <a:pPr algn="l"/>
            <a:r>
              <a:rPr lang="en-US" sz="2400" b="0" i="0" dirty="0">
                <a:effectLst/>
                <a:latin typeface="__figmaSans_a26a19"/>
              </a:rPr>
              <a:t>Think of your wireframe as the skeleton of final product</a:t>
            </a:r>
            <a:endParaRPr lang="en-US" sz="2400" dirty="0">
              <a:latin typeface="__figmaSans_a26a19"/>
            </a:endParaRPr>
          </a:p>
          <a:p>
            <a:pPr algn="l"/>
            <a:r>
              <a:rPr lang="en-US" sz="2400" b="0" i="0" dirty="0">
                <a:effectLst/>
                <a:latin typeface="__figmaSans_a26a19"/>
              </a:rPr>
              <a:t> components, and features, including: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var(--f-font-sans, '__figmaSans_a26a19', '__figmaSans_Fallback_a26a19', SF Pro Display, system-ui, helvetica, sans-serif)"/>
              </a:rPr>
              <a:t>Screen layouts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var(--f-font-sans, '__figmaSans_a26a19', '__figmaSans_Fallback_a26a19', SF Pro Display, system-ui, helvetica, sans-serif)"/>
              </a:rPr>
              <a:t>Navigation bars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var(--f-font-sans, '__figmaSans_a26a19', '__figmaSans_Fallback_a26a19', SF Pro Display, system-ui, helvetica, sans-serif)"/>
              </a:rPr>
              <a:t>Components of UX and UI design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var(--f-font-sans, '__figmaSans_a26a19', '__figmaSans_Fallback_a26a19', SF Pro Display, system-ui, helvetica, sans-serif)"/>
              </a:rPr>
              <a:t>Interactive elements</a:t>
            </a:r>
          </a:p>
        </p:txBody>
      </p:sp>
    </p:spTree>
    <p:extLst>
      <p:ext uri="{BB962C8B-B14F-4D97-AF65-F5344CB8AC3E}">
        <p14:creationId xmlns:p14="http://schemas.microsoft.com/office/powerpoint/2010/main" val="4237928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A1DFCBE5-52C1-48A9-89CF-E7D68CCA1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EB17C8F6-D357-4254-BBAC-96B01EEBE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647203"/>
            <a:ext cx="11707367" cy="25726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FD0EC1-1786-8474-71A1-ADA052E24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691" y="4049486"/>
            <a:ext cx="4825480" cy="1883228"/>
          </a:xfrm>
        </p:spPr>
        <p:txBody>
          <a:bodyPr>
            <a:normAutofit/>
          </a:bodyPr>
          <a:lstStyle/>
          <a:p>
            <a:pPr algn="r"/>
            <a:endParaRPr lang="en-PK" sz="4400"/>
          </a:p>
        </p:txBody>
      </p:sp>
      <p:pic>
        <p:nvPicPr>
          <p:cNvPr id="4098" name="Picture 2" descr="what is wireframing cover photo">
            <a:extLst>
              <a:ext uri="{FF2B5EF4-FFF2-40B4-BE49-F238E27FC236}">
                <a16:creationId xmlns:a16="http://schemas.microsoft.com/office/drawing/2014/main" id="{CB92F4D1-3179-2867-7E2E-1D2EA6BFB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3691" y="799511"/>
            <a:ext cx="4789994" cy="2394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Wireframe | Definition and Overview">
            <a:extLst>
              <a:ext uri="{FF2B5EF4-FFF2-40B4-BE49-F238E27FC236}">
                <a16:creationId xmlns:a16="http://schemas.microsoft.com/office/drawing/2014/main" id="{5783E6F0-6CED-3179-1C93-71684FB1F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8316" y="633927"/>
            <a:ext cx="4700285" cy="2726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CAAEB-BBA3-8F17-D067-DCD79A306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8316" y="4049485"/>
            <a:ext cx="4846151" cy="1883229"/>
          </a:xfrm>
        </p:spPr>
        <p:txBody>
          <a:bodyPr>
            <a:normAutofit/>
          </a:bodyPr>
          <a:lstStyle/>
          <a:p>
            <a:endParaRPr lang="en-PK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4982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565F8-4FE5-F6CD-B38A-A7D1F4F1E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7EF376-66B1-28E0-E169-3F0A0BB564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68738" y="1133692"/>
            <a:ext cx="7315200" cy="4581090"/>
          </a:xfrm>
        </p:spPr>
      </p:pic>
    </p:spTree>
    <p:extLst>
      <p:ext uri="{BB962C8B-B14F-4D97-AF65-F5344CB8AC3E}">
        <p14:creationId xmlns:p14="http://schemas.microsoft.com/office/powerpoint/2010/main" val="2638400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00B11-260C-BD8B-035A-1B4FB6A5A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82C41-8025-BE14-4130-2F1F958AB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647633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04-ux-prototyping-uxid-slide-by-anton-chandra-and-bahni-mahariasha-4-638.jpg"/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733801" y="873252"/>
            <a:ext cx="7559039" cy="492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992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l="26697"/>
          <a:stretch/>
        </p:blipFill>
        <p:spPr>
          <a:xfrm>
            <a:off x="3672839" y="-15588"/>
            <a:ext cx="6718069" cy="687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5961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prototypes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Paper prototypes</a:t>
            </a:r>
          </a:p>
          <a:p>
            <a:r>
              <a:rPr lang="en-US" b="1" dirty="0"/>
              <a:t>Low fi prototypes</a:t>
            </a:r>
          </a:p>
          <a:p>
            <a:r>
              <a:rPr lang="en-US" b="1" dirty="0"/>
              <a:t>High fi prototypes</a:t>
            </a:r>
          </a:p>
          <a:p>
            <a:r>
              <a:rPr lang="en-US" b="1" dirty="0"/>
              <a:t>User driven prototypes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256288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 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Paper prototyping apps and websites is a method some design teams </a:t>
            </a:r>
            <a:r>
              <a:rPr lang="en-US" sz="24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to begin conceptualizing a new product or feature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method involves sketching a quick outline of your product and its different screens, UI layouts and elements.</a:t>
            </a:r>
          </a:p>
          <a:p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It’s a fast and cheap way to get ideas down on paper so that you can communicate them to your team and other stakeholders. </a:t>
            </a:r>
          </a:p>
          <a:p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this reason, the paper prototyping methodology is also brilliant for brainstorming and ideation sessions.</a:t>
            </a:r>
            <a:endParaRPr lang="en-US" sz="2400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714530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5125"/>
            <a:ext cx="7654636" cy="49404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777" y="145472"/>
            <a:ext cx="7500938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98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Low-fidelity prototypes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low-fidelity prototype is the crucial foundation that the majority of the product’s design will be built around.</a:t>
            </a:r>
          </a:p>
          <a:p>
            <a:r>
              <a:rPr lang="en-US" dirty="0"/>
              <a:t>The low-fidelity prototyping methodology consists of quickly designing a digital outline of your screen’s UI consisting of various elements on the screen along with </a:t>
            </a:r>
            <a:r>
              <a:rPr lang="en-US" u="sng" dirty="0"/>
              <a:t>basic content.</a:t>
            </a:r>
          </a:p>
          <a:p>
            <a:r>
              <a:rPr lang="en-US" dirty="0"/>
              <a:t> It cuts out distraction by focusing on only the fundamental details, such </a:t>
            </a:r>
            <a:r>
              <a:rPr lang="en-US" u="sng" dirty="0"/>
              <a:t>as layout, spacing, element positioning, screen flow and information architecture.</a:t>
            </a:r>
          </a:p>
        </p:txBody>
      </p:sp>
    </p:spTree>
    <p:extLst>
      <p:ext uri="{BB962C8B-B14F-4D97-AF65-F5344CB8AC3E}">
        <p14:creationId xmlns:p14="http://schemas.microsoft.com/office/powerpoint/2010/main" val="27491685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test low-fidelity prototypes on your users to check your product’s layouts and screen flows are intuitive.</a:t>
            </a:r>
          </a:p>
          <a:p>
            <a:r>
              <a:rPr lang="en-US" dirty="0"/>
              <a:t>After these basic details are validated, you can then push ahead with more advanced UI design and complex interactions.</a:t>
            </a:r>
          </a:p>
        </p:txBody>
      </p:sp>
      <p:pic>
        <p:nvPicPr>
          <p:cNvPr id="1026" name="Picture 2" descr="Prototyping methodologies - low fidelit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086" y="365125"/>
            <a:ext cx="8348870" cy="640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w vs high fidelity prototypes: a complete break down - Justinmi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65125"/>
            <a:ext cx="10106526" cy="640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950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fi prototypes: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high-fidelity prototyping methodology means designing a pixel-perfect prototype with real images, graphics font and complex interactions. </a:t>
            </a:r>
          </a:p>
          <a:p>
            <a:r>
              <a:rPr lang="en-US" dirty="0"/>
              <a:t>High-fidelity prototypes are brilliant for testing on your users as they represent how the final product will be. </a:t>
            </a:r>
          </a:p>
          <a:p>
            <a:r>
              <a:rPr lang="en-US" dirty="0"/>
              <a:t>Once validated, it’s the last thing you’ll be handing off to your developers.</a:t>
            </a:r>
          </a:p>
          <a:p>
            <a:r>
              <a:rPr lang="en-US" dirty="0"/>
              <a:t>The beauty with this method is that your developers will get everything they need from the start – assets, images, color codes, fonts and they will also understand how to program the functionality and interactivity of the product.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709" y="212725"/>
            <a:ext cx="9850581" cy="63105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068" y="365125"/>
            <a:ext cx="9415896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96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driven prototypes: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365952"/>
            <a:ext cx="4351338" cy="4351338"/>
          </a:xfrm>
          <a:prstGeom prst="rect">
            <a:avLst/>
          </a:prstGeom>
        </p:spPr>
      </p:pic>
      <p:sp>
        <p:nvSpPr>
          <p:cNvPr id="4" name="Cloud 3"/>
          <p:cNvSpPr/>
          <p:nvPr/>
        </p:nvSpPr>
        <p:spPr>
          <a:xfrm>
            <a:off x="3484418" y="1538288"/>
            <a:ext cx="7869382" cy="2881746"/>
          </a:xfrm>
          <a:prstGeom prst="cloud">
            <a:avLst/>
          </a:prstGeom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Are we getting users to design our prototypes now while we just sit back and relax? No, definitely not. </a:t>
            </a:r>
          </a:p>
        </p:txBody>
      </p:sp>
    </p:spTree>
    <p:extLst>
      <p:ext uri="{BB962C8B-B14F-4D97-AF65-F5344CB8AC3E}">
        <p14:creationId xmlns:p14="http://schemas.microsoft.com/office/powerpoint/2010/main" val="357537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E9F5D7F-1BBC-4096-ADA7-AA9C9E4D2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D370DD-716B-4528-B475-331F84CEA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9514" y="758953"/>
            <a:ext cx="7052486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9D076F-656A-4CD9-83AD-AF8F4B28C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912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771" y="2163275"/>
            <a:ext cx="3778286" cy="252200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1644" y="2510395"/>
            <a:ext cx="6451109" cy="3274586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The user-driven prototyping methodology is merely an exercise where you sit down with a user and ask them to draw out how they expect a UI to look or a feature to work.</a:t>
            </a:r>
          </a:p>
          <a:p>
            <a:r>
              <a:rPr lang="en-US">
                <a:solidFill>
                  <a:srgbClr val="FFFFFF"/>
                </a:solidFill>
              </a:rPr>
              <a:t>With this prototyping method, you’re not getting them to design the product, instead, you’re analyzing their sketches to understand their thought processes.</a:t>
            </a:r>
          </a:p>
        </p:txBody>
      </p:sp>
    </p:spTree>
    <p:extLst>
      <p:ext uri="{BB962C8B-B14F-4D97-AF65-F5344CB8AC3E}">
        <p14:creationId xmlns:p14="http://schemas.microsoft.com/office/powerpoint/2010/main" val="2181897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prototype: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Use video to illustrate how users will interact with a new system. The goal is to refine a single system concept, making design choices that highlight and explore a particular design path.</a:t>
            </a:r>
          </a:p>
          <a:p>
            <a:r>
              <a:rPr lang="en-US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Video prototypes are organized as scenarios that illustrate how people might interact with a future technology in a realistic setting.</a:t>
            </a:r>
          </a:p>
          <a:p>
            <a:r>
              <a:rPr lang="en-US" dirty="0"/>
              <a:t>The focus should be on helping designers to consider the details of how users will react to and control new technology in the context in which it will be used.</a:t>
            </a:r>
          </a:p>
        </p:txBody>
      </p:sp>
    </p:spTree>
    <p:extLst>
      <p:ext uri="{BB962C8B-B14F-4D97-AF65-F5344CB8AC3E}">
        <p14:creationId xmlns:p14="http://schemas.microsoft.com/office/powerpoint/2010/main" val="24086938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5DC95B7-2A72-483B-BA19-2BE7512055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822AFE-7E96-4A51-9E55-FCAEACD21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4516" y="4212709"/>
            <a:ext cx="10764932" cy="18739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69EA61-C175-4B7E-807B-58199DEA7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4060" t="25823" r="14922" b="21546"/>
          <a:stretch/>
        </p:blipFill>
        <p:spPr>
          <a:xfrm>
            <a:off x="2425978" y="757326"/>
            <a:ext cx="7642004" cy="318568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516" y="4386720"/>
            <a:ext cx="10565484" cy="1526582"/>
          </a:xfrm>
        </p:spPr>
        <p:txBody>
          <a:bodyPr anchor="ctr">
            <a:normAutofit fontScale="92500"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Video prototyping</a:t>
            </a:r>
            <a:r>
              <a:rPr lang="en-US" sz="2400" dirty="0">
                <a:solidFill>
                  <a:srgbClr val="FFFFFF"/>
                </a:solidFill>
              </a:rPr>
              <a:t> is used by interaction designers to tell a story about a design. Video prototyping allows people to connect with the design as they would in real life. It shows the entire experience through a narrative. Moreover, video prototyping allows all the stakeholders - users, developers, buyers, etc. - to understand the design better.</a:t>
            </a:r>
          </a:p>
        </p:txBody>
      </p:sp>
    </p:spTree>
    <p:extLst>
      <p:ext uri="{BB962C8B-B14F-4D97-AF65-F5344CB8AC3E}">
        <p14:creationId xmlns:p14="http://schemas.microsoft.com/office/powerpoint/2010/main" val="3050498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prototyping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video prototyping tools can be divided into categories based on the level of fidelity and functionality they offer. </a:t>
            </a:r>
            <a:r>
              <a:rPr lang="en-US" b="1" dirty="0"/>
              <a:t>Low-fidelity tools, </a:t>
            </a:r>
            <a:r>
              <a:rPr lang="en-US" dirty="0"/>
              <a:t>such as paper and pencil, whiteboard, or PowerPoint, allow users to create simple and rough sketches of their video idea with basic shapes, colors, and text; these are useful for brainstorming, ideating, and communicating the core concept and flow of a video. </a:t>
            </a:r>
          </a:p>
          <a:p>
            <a:r>
              <a:rPr lang="en-US" b="1" dirty="0"/>
              <a:t>High-fidelity tools </a:t>
            </a:r>
            <a:r>
              <a:rPr lang="en-US" dirty="0"/>
              <a:t>like Adobe After Effects, Principle, or </a:t>
            </a:r>
            <a:r>
              <a:rPr lang="en-US" dirty="0" err="1"/>
              <a:t>InVision</a:t>
            </a:r>
            <a:r>
              <a:rPr lang="en-US" dirty="0"/>
              <a:t> Studio enable users to create fully functional and interactive simulations of their video idea with animations, transitions, sounds, and user inputs; these are excellent for testing the usability, performance, and feedback of a video.</a:t>
            </a:r>
          </a:p>
        </p:txBody>
      </p:sp>
    </p:spTree>
    <p:extLst>
      <p:ext uri="{BB962C8B-B14F-4D97-AF65-F5344CB8AC3E}">
        <p14:creationId xmlns:p14="http://schemas.microsoft.com/office/powerpoint/2010/main" val="21961427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Mobile Application Design : Paper Prototype Video - YouTub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7202165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1098</Words>
  <Application>Microsoft Office PowerPoint</Application>
  <PresentationFormat>Widescreen</PresentationFormat>
  <Paragraphs>87</Paragraphs>
  <Slides>32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4" baseType="lpstr">
      <vt:lpstr>__figmaSans_a26a19</vt:lpstr>
      <vt:lpstr>Aptos</vt:lpstr>
      <vt:lpstr>Arial</vt:lpstr>
      <vt:lpstr>Arial Rounded MT Bold</vt:lpstr>
      <vt:lpstr>Calibri</vt:lpstr>
      <vt:lpstr>Corbel</vt:lpstr>
      <vt:lpstr>Google Sans</vt:lpstr>
      <vt:lpstr>Merriweather</vt:lpstr>
      <vt:lpstr>Poppins</vt:lpstr>
      <vt:lpstr>var(--f-font-sans, '__figmaSans_a26a19', '__figmaSans_Fallback_a26a19', SF Pro Display, system-ui, helvetica, sans-serif)</vt:lpstr>
      <vt:lpstr>Wingdings 2</vt:lpstr>
      <vt:lpstr>Frame</vt:lpstr>
      <vt:lpstr>Finding suitable presentation- envisionment</vt:lpstr>
      <vt:lpstr>Envisionment in practice</vt:lpstr>
      <vt:lpstr>Finding Suitable Representations  </vt:lpstr>
      <vt:lpstr>Envisionment Process</vt:lpstr>
      <vt:lpstr>Sketches and Snapshots</vt:lpstr>
      <vt:lpstr>PowerPoint Presentation</vt:lpstr>
      <vt:lpstr>PowerPoint Presentation</vt:lpstr>
      <vt:lpstr>Storyboards </vt:lpstr>
      <vt:lpstr>PowerPoint Presentation</vt:lpstr>
      <vt:lpstr>PowerPoint Presentation</vt:lpstr>
      <vt:lpstr>Mood boards</vt:lpstr>
      <vt:lpstr>PowerPoint Presentation</vt:lpstr>
      <vt:lpstr>Navigation maps</vt:lpstr>
      <vt:lpstr>PowerPoint Presentation</vt:lpstr>
      <vt:lpstr>Wire frames</vt:lpstr>
      <vt:lpstr>PowerPoint Presentation</vt:lpstr>
      <vt:lpstr>PowerPoint Presentation</vt:lpstr>
      <vt:lpstr>prototype</vt:lpstr>
      <vt:lpstr>Prototype</vt:lpstr>
      <vt:lpstr>PowerPoint Presentation</vt:lpstr>
      <vt:lpstr>Types of prototypes</vt:lpstr>
      <vt:lpstr>Paper prototype</vt:lpstr>
      <vt:lpstr>PowerPoint Presentation</vt:lpstr>
      <vt:lpstr>Low-fidelity prototypes </vt:lpstr>
      <vt:lpstr>PowerPoint Presentation</vt:lpstr>
      <vt:lpstr>High fi prototypes:</vt:lpstr>
      <vt:lpstr>User driven prototypes:</vt:lpstr>
      <vt:lpstr>PowerPoint Presentation</vt:lpstr>
      <vt:lpstr>Video prototype:</vt:lpstr>
      <vt:lpstr>PowerPoint Presentation</vt:lpstr>
      <vt:lpstr>video prototyping tools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Iqra Shahzad</dc:creator>
  <cp:lastModifiedBy>Iqra Shahzad</cp:lastModifiedBy>
  <cp:revision>5</cp:revision>
  <dcterms:created xsi:type="dcterms:W3CDTF">2024-11-15T08:06:35Z</dcterms:created>
  <dcterms:modified xsi:type="dcterms:W3CDTF">2024-11-15T09:04:37Z</dcterms:modified>
</cp:coreProperties>
</file>