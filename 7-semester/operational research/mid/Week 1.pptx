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0" r:id="rId1"/>
  </p:sldMasterIdLst>
  <p:notesMasterIdLst>
    <p:notesMasterId r:id="rId36"/>
  </p:notesMasterIdLst>
  <p:sldIdLst>
    <p:sldId id="368" r:id="rId2"/>
    <p:sldId id="434" r:id="rId3"/>
    <p:sldId id="282" r:id="rId4"/>
    <p:sldId id="411" r:id="rId5"/>
    <p:sldId id="412" r:id="rId6"/>
    <p:sldId id="414" r:id="rId7"/>
    <p:sldId id="415" r:id="rId8"/>
    <p:sldId id="413" r:id="rId9"/>
    <p:sldId id="416" r:id="rId10"/>
    <p:sldId id="417" r:id="rId11"/>
    <p:sldId id="418" r:id="rId12"/>
    <p:sldId id="283" r:id="rId13"/>
    <p:sldId id="285" r:id="rId14"/>
    <p:sldId id="419" r:id="rId15"/>
    <p:sldId id="420" r:id="rId16"/>
    <p:sldId id="435" r:id="rId17"/>
    <p:sldId id="436" r:id="rId18"/>
    <p:sldId id="437" r:id="rId19"/>
    <p:sldId id="438" r:id="rId20"/>
    <p:sldId id="295" r:id="rId21"/>
    <p:sldId id="421" r:id="rId22"/>
    <p:sldId id="422" r:id="rId23"/>
    <p:sldId id="423" r:id="rId24"/>
    <p:sldId id="424" r:id="rId25"/>
    <p:sldId id="425" r:id="rId26"/>
    <p:sldId id="426" r:id="rId27"/>
    <p:sldId id="427" r:id="rId28"/>
    <p:sldId id="432" r:id="rId29"/>
    <p:sldId id="429" r:id="rId30"/>
    <p:sldId id="430" r:id="rId31"/>
    <p:sldId id="433" r:id="rId32"/>
    <p:sldId id="431" r:id="rId33"/>
    <p:sldId id="439" r:id="rId34"/>
    <p:sldId id="410" r:id="rId3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p:scale>
          <a:sx n="71" d="100"/>
          <a:sy n="71" d="100"/>
        </p:scale>
        <p:origin x="-1160" y="2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9194E4-79C8-41B0-9AF4-53058728BAB5}" type="datetimeFigureOut">
              <a:rPr lang="en-US" smtClean="0"/>
              <a:t>9/16/2025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BFD4BB-E70E-4D5C-83E2-D95045F6F69E}" type="slidenum">
              <a:rPr lang="en-US" smtClean="0"/>
              <a:t>‹#›</a:t>
            </a:fld>
            <a:endParaRPr lang="en-US"/>
          </a:p>
        </p:txBody>
      </p:sp>
    </p:spTree>
    <p:extLst>
      <p:ext uri="{BB962C8B-B14F-4D97-AF65-F5344CB8AC3E}">
        <p14:creationId xmlns:p14="http://schemas.microsoft.com/office/powerpoint/2010/main" val="18591674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2"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a14="http://schemas.microsoft.com/office/drawing/2010/main">
                <a:solidFill>
                  <a:srgbClr val="FFFFFF"/>
                </a:solidFill>
              </a14:hiddenFill>
            </a:ext>
          </a:extLst>
        </p:spPr>
      </p:pic>
      <p:grpSp>
        <p:nvGrpSpPr>
          <p:cNvPr id="66" name="Group 65"/>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67"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68"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69"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70"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71"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72"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73"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74"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75"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76"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77"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78"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79"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80"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81"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82"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83"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84"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85"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86"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87"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88"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89"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90"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91"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92"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93"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94"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95"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96"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97"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98"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99"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00"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01"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02"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03"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04"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05"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06"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07"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108"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09"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10"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11"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12"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13"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14"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15"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16"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17"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18"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19"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20"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900238" y="1122363"/>
            <a:ext cx="6593681"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900238" y="3602038"/>
            <a:ext cx="6593681"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5801052" y="5410202"/>
            <a:ext cx="2057400" cy="365125"/>
          </a:xfrm>
        </p:spPr>
        <p:txBody>
          <a:bodyPr/>
          <a:lstStyle/>
          <a:p>
            <a:fld id="{3B539F5C-786E-4BDB-B868-73CB6082799F}" type="datetimeFigureOut">
              <a:rPr lang="en-US" smtClean="0"/>
              <a:pPr/>
              <a:t>9/16/2025</a:t>
            </a:fld>
            <a:endParaRPr lang="en-US"/>
          </a:p>
        </p:txBody>
      </p:sp>
      <p:sp>
        <p:nvSpPr>
          <p:cNvPr id="5" name="Footer Placeholder 4"/>
          <p:cNvSpPr>
            <a:spLocks noGrp="1"/>
          </p:cNvSpPr>
          <p:nvPr>
            <p:ph type="ftr" sz="quarter" idx="11"/>
          </p:nvPr>
        </p:nvSpPr>
        <p:spPr>
          <a:xfrm>
            <a:off x="1900237" y="5410202"/>
            <a:ext cx="3843665" cy="365125"/>
          </a:xfrm>
        </p:spPr>
        <p:txBody>
          <a:bodyPr/>
          <a:lstStyle/>
          <a:p>
            <a:endParaRPr lang="en-US"/>
          </a:p>
        </p:txBody>
      </p:sp>
      <p:sp>
        <p:nvSpPr>
          <p:cNvPr id="6" name="Slide Number Placeholder 5"/>
          <p:cNvSpPr>
            <a:spLocks noGrp="1"/>
          </p:cNvSpPr>
          <p:nvPr>
            <p:ph type="sldNum" sz="quarter" idx="12"/>
          </p:nvPr>
        </p:nvSpPr>
        <p:spPr>
          <a:xfrm>
            <a:off x="7915603" y="5410200"/>
            <a:ext cx="578317" cy="365125"/>
          </a:xfrm>
        </p:spPr>
        <p:txBody>
          <a:bodyPr/>
          <a:lstStyle/>
          <a:p>
            <a:fld id="{5B454187-9C8A-4D01-8196-68D867131FBF}" type="slidenum">
              <a:rPr lang="en-US" smtClean="0"/>
              <a:pPr/>
              <a:t>‹#›</a:t>
            </a:fld>
            <a:endParaRPr lang="en-US"/>
          </a:p>
        </p:txBody>
      </p:sp>
    </p:spTree>
    <p:extLst>
      <p:ext uri="{BB962C8B-B14F-4D97-AF65-F5344CB8AC3E}">
        <p14:creationId xmlns:p14="http://schemas.microsoft.com/office/powerpoint/2010/main" val="38648454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7" name="Title 1"/>
          <p:cNvSpPr>
            <a:spLocks noGrp="1"/>
          </p:cNvSpPr>
          <p:nvPr>
            <p:ph type="title"/>
          </p:nvPr>
        </p:nvSpPr>
        <p:spPr>
          <a:xfrm>
            <a:off x="856060" y="618518"/>
            <a:ext cx="7429499" cy="1478570"/>
          </a:xfrm>
        </p:spPr>
        <p:txBody>
          <a:bodyPr/>
          <a:lstStyle/>
          <a:p>
            <a:r>
              <a:rPr lang="en-US"/>
              <a:t>Click to edit Master title style</a:t>
            </a:r>
            <a:endParaRPr lang="en-US" dirty="0"/>
          </a:p>
        </p:txBody>
      </p:sp>
      <p:sp>
        <p:nvSpPr>
          <p:cNvPr id="48" name="Content Placeholder 2"/>
          <p:cNvSpPr>
            <a:spLocks noGrp="1"/>
          </p:cNvSpPr>
          <p:nvPr>
            <p:ph idx="1"/>
          </p:nvPr>
        </p:nvSpPr>
        <p:spPr>
          <a:xfrm>
            <a:off x="856060" y="2249487"/>
            <a:ext cx="742949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Date Placeholder 3"/>
          <p:cNvSpPr>
            <a:spLocks noGrp="1"/>
          </p:cNvSpPr>
          <p:nvPr>
            <p:ph type="dt" sz="half" idx="10"/>
          </p:nvPr>
        </p:nvSpPr>
        <p:spPr>
          <a:xfrm>
            <a:off x="5592691" y="5883277"/>
            <a:ext cx="2057400" cy="365125"/>
          </a:xfrm>
        </p:spPr>
        <p:txBody>
          <a:bodyPr/>
          <a:lstStyle/>
          <a:p>
            <a:fld id="{3B539F5C-786E-4BDB-B868-73CB6082799F}" type="datetimeFigureOut">
              <a:rPr lang="en-US" smtClean="0"/>
              <a:pPr/>
              <a:t>9/16/2025</a:t>
            </a:fld>
            <a:endParaRPr lang="en-US"/>
          </a:p>
        </p:txBody>
      </p:sp>
      <p:sp>
        <p:nvSpPr>
          <p:cNvPr id="50" name="Footer Placeholder 4"/>
          <p:cNvSpPr>
            <a:spLocks noGrp="1"/>
          </p:cNvSpPr>
          <p:nvPr>
            <p:ph type="ftr" sz="quarter" idx="11"/>
          </p:nvPr>
        </p:nvSpPr>
        <p:spPr>
          <a:xfrm>
            <a:off x="856059" y="5883276"/>
            <a:ext cx="4679482" cy="365125"/>
          </a:xfrm>
        </p:spPr>
        <p:txBody>
          <a:bodyPr/>
          <a:lstStyle/>
          <a:p>
            <a:endParaRPr lang="en-US"/>
          </a:p>
        </p:txBody>
      </p:sp>
      <p:sp>
        <p:nvSpPr>
          <p:cNvPr id="51" name="Slide Number Placeholder 5"/>
          <p:cNvSpPr>
            <a:spLocks noGrp="1"/>
          </p:cNvSpPr>
          <p:nvPr>
            <p:ph type="sldNum" sz="quarter" idx="12"/>
          </p:nvPr>
        </p:nvSpPr>
        <p:spPr>
          <a:xfrm>
            <a:off x="7707241" y="5883275"/>
            <a:ext cx="578317" cy="365125"/>
          </a:xfrm>
        </p:spPr>
        <p:txBody>
          <a:bodyPr/>
          <a:lstStyle/>
          <a:p>
            <a:fld id="{5B454187-9C8A-4D01-8196-68D867131FBF}" type="slidenum">
              <a:rPr lang="en-US" smtClean="0"/>
              <a:pPr/>
              <a:t>‹#›</a:t>
            </a:fld>
            <a:endParaRPr lang="en-US"/>
          </a:p>
        </p:txBody>
      </p:sp>
    </p:spTree>
    <p:extLst>
      <p:ext uri="{BB962C8B-B14F-4D97-AF65-F5344CB8AC3E}">
        <p14:creationId xmlns:p14="http://schemas.microsoft.com/office/powerpoint/2010/main" val="11920976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56058" y="1419227"/>
            <a:ext cx="74295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856058" y="4424362"/>
            <a:ext cx="74295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B539F5C-786E-4BDB-B868-73CB6082799F}" type="datetimeFigureOut">
              <a:rPr lang="en-US" smtClean="0"/>
              <a:pPr/>
              <a:t>9/16/2025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454187-9C8A-4D01-8196-68D867131FBF}" type="slidenum">
              <a:rPr lang="en-US" smtClean="0"/>
              <a:pPr/>
              <a:t>‹#›</a:t>
            </a:fld>
            <a:endParaRPr lang="en-US"/>
          </a:p>
        </p:txBody>
      </p:sp>
    </p:spTree>
    <p:extLst>
      <p:ext uri="{BB962C8B-B14F-4D97-AF65-F5344CB8AC3E}">
        <p14:creationId xmlns:p14="http://schemas.microsoft.com/office/powerpoint/2010/main" val="32740977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56058" y="2249486"/>
            <a:ext cx="3658792"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1" y="2249486"/>
            <a:ext cx="3656408"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539F5C-786E-4BDB-B868-73CB6082799F}" type="datetimeFigureOut">
              <a:rPr lang="en-US" smtClean="0"/>
              <a:pPr/>
              <a:t>9/16/2025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454187-9C8A-4D01-8196-68D867131FBF}" type="slidenum">
              <a:rPr lang="en-US" smtClean="0"/>
              <a:pPr/>
              <a:t>‹#›</a:t>
            </a:fld>
            <a:endParaRPr lang="en-US"/>
          </a:p>
        </p:txBody>
      </p:sp>
    </p:spTree>
    <p:extLst>
      <p:ext uri="{BB962C8B-B14F-4D97-AF65-F5344CB8AC3E}">
        <p14:creationId xmlns:p14="http://schemas.microsoft.com/office/powerpoint/2010/main" val="898698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56058" y="619127"/>
            <a:ext cx="74295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78902" y="2249486"/>
            <a:ext cx="3435949"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56058" y="3073398"/>
            <a:ext cx="3658793"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51992" y="2249485"/>
            <a:ext cx="3433565"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3073398"/>
            <a:ext cx="3656408"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B539F5C-786E-4BDB-B868-73CB6082799F}" type="datetimeFigureOut">
              <a:rPr lang="en-US" smtClean="0"/>
              <a:pPr/>
              <a:t>9/16/2025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B454187-9C8A-4D01-8196-68D867131FBF}" type="slidenum">
              <a:rPr lang="en-US" smtClean="0"/>
              <a:pPr/>
              <a:t>‹#›</a:t>
            </a:fld>
            <a:endParaRPr lang="en-US"/>
          </a:p>
        </p:txBody>
      </p:sp>
    </p:spTree>
    <p:extLst>
      <p:ext uri="{BB962C8B-B14F-4D97-AF65-F5344CB8AC3E}">
        <p14:creationId xmlns:p14="http://schemas.microsoft.com/office/powerpoint/2010/main" val="27657963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B539F5C-786E-4BDB-B868-73CB6082799F}" type="datetimeFigureOut">
              <a:rPr lang="en-US" smtClean="0"/>
              <a:pPr/>
              <a:t>9/16/2025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B454187-9C8A-4D01-8196-68D867131FBF}" type="slidenum">
              <a:rPr lang="en-US" smtClean="0"/>
              <a:pPr/>
              <a:t>‹#›</a:t>
            </a:fld>
            <a:endParaRPr lang="en-US"/>
          </a:p>
        </p:txBody>
      </p:sp>
    </p:spTree>
    <p:extLst>
      <p:ext uri="{BB962C8B-B14F-4D97-AF65-F5344CB8AC3E}">
        <p14:creationId xmlns:p14="http://schemas.microsoft.com/office/powerpoint/2010/main" val="11578787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539F5C-786E-4BDB-B868-73CB6082799F}" type="datetimeFigureOut">
              <a:rPr lang="en-US" smtClean="0"/>
              <a:pPr/>
              <a:t>9/16/2025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B454187-9C8A-4D01-8196-68D867131FBF}" type="slidenum">
              <a:rPr lang="en-US" smtClean="0"/>
              <a:pPr/>
              <a:t>‹#›</a:t>
            </a:fld>
            <a:endParaRPr lang="en-US"/>
          </a:p>
        </p:txBody>
      </p:sp>
    </p:spTree>
    <p:extLst>
      <p:ext uri="{BB962C8B-B14F-4D97-AF65-F5344CB8AC3E}">
        <p14:creationId xmlns:p14="http://schemas.microsoft.com/office/powerpoint/2010/main" val="19597003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029" y="609601"/>
            <a:ext cx="2892028"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67150" y="592666"/>
            <a:ext cx="4418407"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0029" y="2249486"/>
            <a:ext cx="2892028"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539F5C-786E-4BDB-B868-73CB6082799F}" type="datetimeFigureOut">
              <a:rPr lang="en-US" smtClean="0"/>
              <a:pPr/>
              <a:t>9/16/2025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454187-9C8A-4D01-8196-68D867131FBF}" type="slidenum">
              <a:rPr lang="en-US" smtClean="0"/>
              <a:pPr/>
              <a:t>‹#›</a:t>
            </a:fld>
            <a:endParaRPr lang="en-US"/>
          </a:p>
        </p:txBody>
      </p:sp>
    </p:spTree>
    <p:extLst>
      <p:ext uri="{BB962C8B-B14F-4D97-AF65-F5344CB8AC3E}">
        <p14:creationId xmlns:p14="http://schemas.microsoft.com/office/powerpoint/2010/main" val="4738562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61" y="609600"/>
            <a:ext cx="3753962"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32866" y="609600"/>
            <a:ext cx="3452693" cy="5181602"/>
          </a:xfrm>
          <a:prstGeom prst="round2DiagRect">
            <a:avLst>
              <a:gd name="adj1" fmla="val 6074"/>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856059" y="2249486"/>
            <a:ext cx="3753964"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539F5C-786E-4BDB-B868-73CB6082799F}" type="datetimeFigureOut">
              <a:rPr lang="en-US" smtClean="0"/>
              <a:pPr/>
              <a:t>9/16/2025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454187-9C8A-4D01-8196-68D867131FBF}" type="slidenum">
              <a:rPr lang="en-US" smtClean="0"/>
              <a:pPr/>
              <a:t>‹#›</a:t>
            </a:fld>
            <a:endParaRPr lang="en-US"/>
          </a:p>
        </p:txBody>
      </p:sp>
    </p:spTree>
    <p:extLst>
      <p:ext uri="{BB962C8B-B14F-4D97-AF65-F5344CB8AC3E}">
        <p14:creationId xmlns:p14="http://schemas.microsoft.com/office/powerpoint/2010/main" val="9722906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58" y="4304665"/>
            <a:ext cx="7434266"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56058" y="606426"/>
            <a:ext cx="7434266" cy="3299778"/>
          </a:xfrm>
          <a:prstGeom prst="round2DiagRect">
            <a:avLst>
              <a:gd name="adj1" fmla="val 5101"/>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856024" y="5124020"/>
            <a:ext cx="7433144"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539F5C-786E-4BDB-B868-73CB6082799F}" type="datetimeFigureOut">
              <a:rPr lang="en-US" smtClean="0"/>
              <a:pPr/>
              <a:t>9/16/2025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454187-9C8A-4D01-8196-68D867131FBF}" type="slidenum">
              <a:rPr lang="en-US" smtClean="0"/>
              <a:pPr/>
              <a:t>‹#›</a:t>
            </a:fld>
            <a:endParaRPr lang="en-US"/>
          </a:p>
        </p:txBody>
      </p:sp>
    </p:spTree>
    <p:extLst>
      <p:ext uri="{BB962C8B-B14F-4D97-AF65-F5344CB8AC3E}">
        <p14:creationId xmlns:p14="http://schemas.microsoft.com/office/powerpoint/2010/main" val="5811946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93" y="609600"/>
            <a:ext cx="7429466"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856058" y="4419600"/>
            <a:ext cx="7428344"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539F5C-786E-4BDB-B868-73CB6082799F}" type="datetimeFigureOut">
              <a:rPr lang="en-US" smtClean="0"/>
              <a:pPr/>
              <a:t>9/16/2025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454187-9C8A-4D01-8196-68D867131FBF}" type="slidenum">
              <a:rPr lang="en-US" smtClean="0"/>
              <a:pPr/>
              <a:t>‹#›</a:t>
            </a:fld>
            <a:endParaRPr lang="en-US"/>
          </a:p>
        </p:txBody>
      </p:sp>
    </p:spTree>
    <p:extLst>
      <p:ext uri="{BB962C8B-B14F-4D97-AF65-F5344CB8AC3E}">
        <p14:creationId xmlns:p14="http://schemas.microsoft.com/office/powerpoint/2010/main" val="18208530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609600"/>
            <a:ext cx="6977064"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290484" y="3365557"/>
            <a:ext cx="6564224"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856058" y="4309919"/>
            <a:ext cx="74295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539F5C-786E-4BDB-B868-73CB6082799F}" type="datetimeFigureOut">
              <a:rPr lang="en-US" smtClean="0"/>
              <a:pPr/>
              <a:t>9/16/2025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454187-9C8A-4D01-8196-68D867131FBF}" type="slidenum">
              <a:rPr lang="en-US" smtClean="0"/>
              <a:pPr/>
              <a:t>‹#›</a:t>
            </a:fld>
            <a:endParaRPr lang="en-US"/>
          </a:p>
        </p:txBody>
      </p:sp>
      <p:sp>
        <p:nvSpPr>
          <p:cNvPr id="52" name="TextBox 51"/>
          <p:cNvSpPr txBox="1"/>
          <p:nvPr/>
        </p:nvSpPr>
        <p:spPr>
          <a:xfrm>
            <a:off x="696579" y="718458"/>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53" name="TextBox 52"/>
          <p:cNvSpPr txBox="1"/>
          <p:nvPr/>
        </p:nvSpPr>
        <p:spPr>
          <a:xfrm>
            <a:off x="7817473" y="2764972"/>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Tree>
    <p:extLst>
      <p:ext uri="{BB962C8B-B14F-4D97-AF65-F5344CB8AC3E}">
        <p14:creationId xmlns:p14="http://schemas.microsoft.com/office/powerpoint/2010/main" val="13595103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56058" y="2134042"/>
            <a:ext cx="74295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856023" y="4657655"/>
            <a:ext cx="7428379"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539F5C-786E-4BDB-B868-73CB6082799F}" type="datetimeFigureOut">
              <a:rPr lang="en-US" smtClean="0"/>
              <a:pPr/>
              <a:t>9/16/2025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454187-9C8A-4D01-8196-68D867131FBF}" type="slidenum">
              <a:rPr lang="en-US" smtClean="0"/>
              <a:pPr/>
              <a:t>‹#›</a:t>
            </a:fld>
            <a:endParaRPr lang="en-US"/>
          </a:p>
        </p:txBody>
      </p:sp>
    </p:spTree>
    <p:extLst>
      <p:ext uri="{BB962C8B-B14F-4D97-AF65-F5344CB8AC3E}">
        <p14:creationId xmlns:p14="http://schemas.microsoft.com/office/powerpoint/2010/main" val="37480728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56060" y="609600"/>
            <a:ext cx="7429499"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856058" y="2674463"/>
            <a:ext cx="2397674"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856059" y="3360263"/>
            <a:ext cx="2396432"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86075" y="2677635"/>
            <a:ext cx="2388289"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86075" y="3363435"/>
            <a:ext cx="238895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889332" y="2674463"/>
            <a:ext cx="2396226"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889332" y="3360263"/>
            <a:ext cx="2396226"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B539F5C-786E-4BDB-B868-73CB6082799F}" type="datetimeFigureOut">
              <a:rPr lang="en-US" smtClean="0"/>
              <a:pPr/>
              <a:t>9/16/2025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B454187-9C8A-4D01-8196-68D867131FBF}" type="slidenum">
              <a:rPr lang="en-US" smtClean="0"/>
              <a:pPr/>
              <a:t>‹#›</a:t>
            </a:fld>
            <a:endParaRPr lang="en-US"/>
          </a:p>
        </p:txBody>
      </p:sp>
    </p:spTree>
    <p:extLst>
      <p:ext uri="{BB962C8B-B14F-4D97-AF65-F5344CB8AC3E}">
        <p14:creationId xmlns:p14="http://schemas.microsoft.com/office/powerpoint/2010/main" val="35101871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56059" y="609600"/>
            <a:ext cx="74294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856060" y="4404596"/>
            <a:ext cx="239643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856060" y="2666998"/>
            <a:ext cx="239643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856060" y="4980859"/>
            <a:ext cx="239643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366790" y="4404596"/>
            <a:ext cx="24003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366790" y="2666998"/>
            <a:ext cx="2399205"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3365695" y="4980857"/>
            <a:ext cx="24003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889426" y="4404595"/>
            <a:ext cx="2393056"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889332" y="2666998"/>
            <a:ext cx="2396227"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5889332" y="4980855"/>
            <a:ext cx="2396226"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B539F5C-786E-4BDB-B868-73CB6082799F}" type="datetimeFigureOut">
              <a:rPr lang="en-US" smtClean="0"/>
              <a:pPr/>
              <a:t>9/16/2025</a:t>
            </a:fld>
            <a:endParaRPr lang="en-US"/>
          </a:p>
        </p:txBody>
      </p:sp>
      <p:sp>
        <p:nvSpPr>
          <p:cNvPr id="4" name="Footer Placeholder 3"/>
          <p:cNvSpPr>
            <a:spLocks noGrp="1"/>
          </p:cNvSpPr>
          <p:nvPr>
            <p:ph type="ftr" sz="quarter" idx="11"/>
          </p:nvPr>
        </p:nvSpPr>
        <p:spPr/>
        <p:txBody>
          <a:bodyPr/>
          <a:lstStyle>
            <a:lvl1pPr>
              <a:defRPr cap="all" baseline="0"/>
            </a:lvl1pPr>
          </a:lstStyle>
          <a:p>
            <a:endParaRPr lang="en-US"/>
          </a:p>
        </p:txBody>
      </p:sp>
      <p:sp>
        <p:nvSpPr>
          <p:cNvPr id="5" name="Slide Number Placeholder 4"/>
          <p:cNvSpPr>
            <a:spLocks noGrp="1"/>
          </p:cNvSpPr>
          <p:nvPr>
            <p:ph type="sldNum" sz="quarter" idx="12"/>
          </p:nvPr>
        </p:nvSpPr>
        <p:spPr/>
        <p:txBody>
          <a:bodyPr/>
          <a:lstStyle/>
          <a:p>
            <a:fld id="{5B454187-9C8A-4D01-8196-68D867131FBF}" type="slidenum">
              <a:rPr lang="en-US" smtClean="0"/>
              <a:pPr/>
              <a:t>‹#›</a:t>
            </a:fld>
            <a:endParaRPr lang="en-US"/>
          </a:p>
        </p:txBody>
      </p:sp>
    </p:spTree>
    <p:extLst>
      <p:ext uri="{BB962C8B-B14F-4D97-AF65-F5344CB8AC3E}">
        <p14:creationId xmlns:p14="http://schemas.microsoft.com/office/powerpoint/2010/main" val="36344127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539F5C-786E-4BDB-B868-73CB6082799F}" type="datetimeFigureOut">
              <a:rPr lang="en-US" smtClean="0"/>
              <a:pPr/>
              <a:t>9/16/2025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454187-9C8A-4D01-8196-68D867131FBF}" type="slidenum">
              <a:rPr lang="en-US" smtClean="0"/>
              <a:pPr/>
              <a:t>‹#›</a:t>
            </a:fld>
            <a:endParaRPr lang="en-US"/>
          </a:p>
        </p:txBody>
      </p:sp>
    </p:spTree>
    <p:extLst>
      <p:ext uri="{BB962C8B-B14F-4D97-AF65-F5344CB8AC3E}">
        <p14:creationId xmlns:p14="http://schemas.microsoft.com/office/powerpoint/2010/main" val="35412598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1" y="609600"/>
            <a:ext cx="1503758"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56057" y="609600"/>
            <a:ext cx="5811443"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539F5C-786E-4BDB-B868-73CB6082799F}" type="datetimeFigureOut">
              <a:rPr lang="en-US" smtClean="0"/>
              <a:pPr/>
              <a:t>9/16/2025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454187-9C8A-4D01-8196-68D867131FBF}" type="slidenum">
              <a:rPr lang="en-US" smtClean="0"/>
              <a:pPr/>
              <a:t>‹#›</a:t>
            </a:fld>
            <a:endParaRPr lang="en-US"/>
          </a:p>
        </p:txBody>
      </p:sp>
    </p:spTree>
    <p:extLst>
      <p:ext uri="{BB962C8B-B14F-4D97-AF65-F5344CB8AC3E}">
        <p14:creationId xmlns:p14="http://schemas.microsoft.com/office/powerpoint/2010/main" val="20108443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a14="http://schemas.microsoft.com/office/drawing/2010/main">
                <a:solidFill>
                  <a:srgbClr val="FFFFFF"/>
                </a:solidFill>
              </a14:hiddenFill>
            </a:ext>
          </a:extLst>
        </p:spPr>
      </p:pic>
      <p:grpSp>
        <p:nvGrpSpPr>
          <p:cNvPr id="8" name="Group 7"/>
          <p:cNvGrpSpPr/>
          <p:nvPr/>
        </p:nvGrpSpPr>
        <p:grpSpPr>
          <a:xfrm>
            <a:off x="-14288" y="0"/>
            <a:ext cx="9041774" cy="6858001"/>
            <a:chOff x="-14288" y="0"/>
            <a:chExt cx="9041774"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grpSp>
        <p:grpSp>
          <p:nvGrpSpPr>
            <p:cNvPr id="10" name="Group 9"/>
            <p:cNvGrpSpPr/>
            <p:nvPr/>
          </p:nvGrpSpPr>
          <p:grpSpPr>
            <a:xfrm>
              <a:off x="8352798"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856060" y="618518"/>
            <a:ext cx="7429499"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856060" y="2249487"/>
            <a:ext cx="74294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592691" y="5883277"/>
            <a:ext cx="20574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9BFFB69-46B3-4750-912C-E29F4B8DA29C}" type="datetime1">
              <a:rPr lang="en-US" smtClean="0"/>
              <a:pPr/>
              <a:t>9/16/2025</a:t>
            </a:fld>
            <a:endParaRPr lang="en-US"/>
          </a:p>
        </p:txBody>
      </p:sp>
      <p:sp>
        <p:nvSpPr>
          <p:cNvPr id="5" name="Footer Placeholder 4"/>
          <p:cNvSpPr>
            <a:spLocks noGrp="1"/>
          </p:cNvSpPr>
          <p:nvPr>
            <p:ph type="ftr" sz="quarter" idx="3"/>
          </p:nvPr>
        </p:nvSpPr>
        <p:spPr>
          <a:xfrm>
            <a:off x="856059" y="5883276"/>
            <a:ext cx="4679482" cy="365125"/>
          </a:xfrm>
          <a:prstGeom prst="rect">
            <a:avLst/>
          </a:prstGeom>
        </p:spPr>
        <p:txBody>
          <a:bodyPr vert="horz" lIns="91440" tIns="45720" rIns="91440" bIns="45720" rtlCol="0" anchor="ctr"/>
          <a:lstStyle>
            <a:lvl1pPr algn="l">
              <a:defRPr sz="1050">
                <a:solidFill>
                  <a:schemeClr val="tx1">
                    <a:tint val="75000"/>
                  </a:schemeClr>
                </a:solidFill>
              </a:defRPr>
            </a:lvl1pPr>
          </a:lstStyle>
          <a:p>
            <a:r>
              <a:rPr lang="en-US"/>
              <a:t>CSC102 Discrete Structures</a:t>
            </a:r>
          </a:p>
        </p:txBody>
      </p:sp>
      <p:sp>
        <p:nvSpPr>
          <p:cNvPr id="6" name="Slide Number Placeholder 5"/>
          <p:cNvSpPr>
            <a:spLocks noGrp="1"/>
          </p:cNvSpPr>
          <p:nvPr>
            <p:ph type="sldNum" sz="quarter" idx="4"/>
          </p:nvPr>
        </p:nvSpPr>
        <p:spPr>
          <a:xfrm>
            <a:off x="7707241" y="5883275"/>
            <a:ext cx="578317"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8ACE3F9D-533B-438E-AA49-48601E6C708E}" type="slidenum">
              <a:rPr lang="en-US" smtClean="0"/>
              <a:pPr/>
              <a:t>‹#›</a:t>
            </a:fld>
            <a:endParaRPr lang="en-US"/>
          </a:p>
        </p:txBody>
      </p:sp>
    </p:spTree>
    <p:extLst>
      <p:ext uri="{BB962C8B-B14F-4D97-AF65-F5344CB8AC3E}">
        <p14:creationId xmlns:p14="http://schemas.microsoft.com/office/powerpoint/2010/main" val="377227395"/>
      </p:ext>
    </p:extLst>
  </p:cSld>
  <p:clrMap bg1="dk1" tx1="lt1" bg2="dk2" tx2="lt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 id="2147483822" r:id="rId12"/>
    <p:sldLayoutId id="2147483823" r:id="rId13"/>
    <p:sldLayoutId id="2147483824" r:id="rId14"/>
    <p:sldLayoutId id="2147483825" r:id="rId15"/>
    <p:sldLayoutId id="2147483826" r:id="rId16"/>
    <p:sldLayoutId id="2147483827" r:id="rId17"/>
  </p:sldLayoutIdLst>
  <p:hf sldNum="0" hdr="0" ft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07C545C-EAC2-4814-AE8B-2D0C943C3029}"/>
              </a:ext>
            </a:extLst>
          </p:cNvPr>
          <p:cNvSpPr>
            <a:spLocks noGrp="1"/>
          </p:cNvSpPr>
          <p:nvPr>
            <p:ph type="ctrTitle"/>
          </p:nvPr>
        </p:nvSpPr>
        <p:spPr/>
        <p:txBody>
          <a:bodyPr/>
          <a:lstStyle/>
          <a:p>
            <a:endParaRPr lang="en-US" dirty="0"/>
          </a:p>
        </p:txBody>
      </p:sp>
      <p:sp>
        <p:nvSpPr>
          <p:cNvPr id="3" name="Subtitle 2">
            <a:extLst>
              <a:ext uri="{FF2B5EF4-FFF2-40B4-BE49-F238E27FC236}">
                <a16:creationId xmlns="" xmlns:a16="http://schemas.microsoft.com/office/drawing/2014/main" id="{39211BDA-D7DF-4130-A3B3-EE0167636377}"/>
              </a:ext>
            </a:extLst>
          </p:cNvPr>
          <p:cNvSpPr>
            <a:spLocks noGrp="1"/>
          </p:cNvSpPr>
          <p:nvPr>
            <p:ph type="subTitle" idx="1"/>
          </p:nvPr>
        </p:nvSpPr>
        <p:spPr>
          <a:xfrm>
            <a:off x="1192237" y="4391464"/>
            <a:ext cx="6400800" cy="2206283"/>
          </a:xfrm>
        </p:spPr>
        <p:txBody>
          <a:bodyPr>
            <a:normAutofit/>
          </a:bodyPr>
          <a:lstStyle/>
          <a:p>
            <a:pPr algn="ctr"/>
            <a:r>
              <a:rPr lang="en-US" sz="3900" b="1" dirty="0"/>
              <a:t>Operations Research</a:t>
            </a:r>
          </a:p>
          <a:p>
            <a:pPr algn="ctr"/>
            <a:r>
              <a:rPr lang="en-US" sz="2800" b="1" dirty="0">
                <a:solidFill>
                  <a:srgbClr val="000000">
                    <a:lumMod val="75000"/>
                    <a:lumOff val="25000"/>
                  </a:srgbClr>
                </a:solidFill>
              </a:rPr>
              <a:t>(Software Engineering</a:t>
            </a:r>
            <a:r>
              <a:rPr lang="en-US" sz="2800" b="1" dirty="0" smtClean="0">
                <a:solidFill>
                  <a:srgbClr val="000000">
                    <a:lumMod val="75000"/>
                    <a:lumOff val="25000"/>
                  </a:srgbClr>
                </a:solidFill>
              </a:rPr>
              <a:t>)</a:t>
            </a:r>
            <a:endParaRPr lang="en-US" sz="3200" b="1" dirty="0"/>
          </a:p>
        </p:txBody>
      </p:sp>
      <p:pic>
        <p:nvPicPr>
          <p:cNvPr id="4" name="Picture 3">
            <a:extLst>
              <a:ext uri="{FF2B5EF4-FFF2-40B4-BE49-F238E27FC236}">
                <a16:creationId xmlns="" xmlns:a16="http://schemas.microsoft.com/office/drawing/2014/main" id="{667F458A-708A-4E75-9D30-9C4DBEA489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71600"/>
            <a:ext cx="9144000" cy="2661764"/>
          </a:xfrm>
          <a:prstGeom prst="rect">
            <a:avLst/>
          </a:prstGeom>
        </p:spPr>
      </p:pic>
      <p:sp>
        <p:nvSpPr>
          <p:cNvPr id="5" name="Rectangle 4">
            <a:extLst>
              <a:ext uri="{FF2B5EF4-FFF2-40B4-BE49-F238E27FC236}">
                <a16:creationId xmlns="" xmlns:a16="http://schemas.microsoft.com/office/drawing/2014/main" id="{CA972A36-04A5-41D7-9B19-15A743E4476F}"/>
              </a:ext>
            </a:extLst>
          </p:cNvPr>
          <p:cNvSpPr/>
          <p:nvPr/>
        </p:nvSpPr>
        <p:spPr>
          <a:xfrm>
            <a:off x="3763156" y="637061"/>
            <a:ext cx="1617687" cy="523220"/>
          </a:xfrm>
          <a:prstGeom prst="rect">
            <a:avLst/>
          </a:prstGeom>
        </p:spPr>
        <p:txBody>
          <a:bodyPr wrap="none">
            <a:spAutoFit/>
          </a:bodyPr>
          <a:lstStyle/>
          <a:p>
            <a:pPr algn="ctr"/>
            <a:r>
              <a:rPr lang="en-US" sz="2800" b="1" u="sng" dirty="0">
                <a:solidFill>
                  <a:srgbClr val="FF0000"/>
                </a:solidFill>
                <a:latin typeface="Arial" panose="020B0604020202020204" pitchFamily="34" charset="0"/>
                <a:cs typeface="Arial" panose="020B0604020202020204" pitchFamily="34" charset="0"/>
              </a:rPr>
              <a:t>Week #1</a:t>
            </a:r>
            <a:endParaRPr lang="en-GB" sz="2800" u="sng" dirty="0">
              <a:solidFill>
                <a:srgbClr val="FF0000"/>
              </a:solidFill>
            </a:endParaRPr>
          </a:p>
        </p:txBody>
      </p:sp>
    </p:spTree>
    <p:extLst>
      <p:ext uri="{BB962C8B-B14F-4D97-AF65-F5344CB8AC3E}">
        <p14:creationId xmlns:p14="http://schemas.microsoft.com/office/powerpoint/2010/main" val="315531550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76518" y="1174377"/>
            <a:ext cx="8686800" cy="4031873"/>
          </a:xfrm>
          <a:prstGeom prst="rect">
            <a:avLst/>
          </a:prstGeom>
          <a:noFill/>
        </p:spPr>
        <p:txBody>
          <a:bodyPr wrap="square" rtlCol="0">
            <a:spAutoFit/>
          </a:bodyPr>
          <a:lstStyle/>
          <a:p>
            <a:r>
              <a:rPr lang="en-US" sz="2800" u="sng" dirty="0" smtClean="0"/>
              <a:t>Lets start with a Mapping as an organization’s Prospective</a:t>
            </a:r>
          </a:p>
          <a:p>
            <a:endParaRPr lang="en-US" sz="2800" u="sng" dirty="0" smtClean="0"/>
          </a:p>
          <a:p>
            <a:r>
              <a:rPr lang="en-US" sz="2000" dirty="0" smtClean="0"/>
              <a:t>              Profit                                        Maximize</a:t>
            </a:r>
          </a:p>
          <a:p>
            <a:endParaRPr lang="en-US" sz="2000" dirty="0" smtClean="0"/>
          </a:p>
          <a:p>
            <a:r>
              <a:rPr lang="en-US" sz="2000" dirty="0" smtClean="0"/>
              <a:t>              Cost                                            Minimize</a:t>
            </a:r>
          </a:p>
          <a:p>
            <a:endParaRPr lang="en-US" sz="2000" dirty="0" smtClean="0"/>
          </a:p>
          <a:p>
            <a:r>
              <a:rPr lang="en-US" sz="2000" dirty="0" smtClean="0"/>
              <a:t>              Resources                                    Optimize</a:t>
            </a:r>
          </a:p>
          <a:p>
            <a:endParaRPr lang="en-US" sz="2000" dirty="0" smtClean="0"/>
          </a:p>
          <a:p>
            <a:r>
              <a:rPr lang="en-US" sz="2000" dirty="0" smtClean="0"/>
              <a:t>              Input</a:t>
            </a:r>
          </a:p>
          <a:p>
            <a:endParaRPr lang="en-US" sz="2000" dirty="0" smtClean="0"/>
          </a:p>
          <a:p>
            <a:endParaRPr lang="en-US" sz="2000" dirty="0" smtClean="0"/>
          </a:p>
          <a:p>
            <a:r>
              <a:rPr lang="en-US" sz="2000" dirty="0" smtClean="0"/>
              <a:t>            Output</a:t>
            </a:r>
            <a:endParaRPr lang="en-GB" sz="2800" dirty="0"/>
          </a:p>
        </p:txBody>
      </p:sp>
      <p:sp>
        <p:nvSpPr>
          <p:cNvPr id="5" name="Right Arrow 4"/>
          <p:cNvSpPr/>
          <p:nvPr/>
        </p:nvSpPr>
        <p:spPr>
          <a:xfrm>
            <a:off x="2083766" y="2124635"/>
            <a:ext cx="2675965" cy="17929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ight Arrow 5"/>
          <p:cNvSpPr/>
          <p:nvPr/>
        </p:nvSpPr>
        <p:spPr>
          <a:xfrm>
            <a:off x="2083766" y="2667535"/>
            <a:ext cx="2891645" cy="17929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ight Arrow 6"/>
          <p:cNvSpPr/>
          <p:nvPr/>
        </p:nvSpPr>
        <p:spPr>
          <a:xfrm>
            <a:off x="2528046" y="3398756"/>
            <a:ext cx="2332803" cy="14570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ight Arrow 7"/>
          <p:cNvSpPr/>
          <p:nvPr/>
        </p:nvSpPr>
        <p:spPr>
          <a:xfrm rot="20439428" flipV="1">
            <a:off x="1988487" y="3399088"/>
            <a:ext cx="3113892" cy="1970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ight Arrow 8"/>
          <p:cNvSpPr/>
          <p:nvPr/>
        </p:nvSpPr>
        <p:spPr>
          <a:xfrm rot="18902841" flipV="1">
            <a:off x="1554866" y="3582665"/>
            <a:ext cx="3795071" cy="18564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797517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Operation Research</a:t>
            </a:r>
          </a:p>
        </p:txBody>
      </p:sp>
      <p:sp>
        <p:nvSpPr>
          <p:cNvPr id="3" name="Content Placeholder 2"/>
          <p:cNvSpPr>
            <a:spLocks noGrp="1"/>
          </p:cNvSpPr>
          <p:nvPr>
            <p:ph idx="1"/>
          </p:nvPr>
        </p:nvSpPr>
        <p:spPr>
          <a:xfrm>
            <a:off x="856059" y="2097088"/>
            <a:ext cx="7429499" cy="4608513"/>
          </a:xfrm>
        </p:spPr>
        <p:txBody>
          <a:bodyPr>
            <a:normAutofit/>
          </a:bodyPr>
          <a:lstStyle/>
          <a:p>
            <a:pPr algn="just" fontAlgn="base">
              <a:lnSpc>
                <a:spcPct val="100000"/>
              </a:lnSpc>
              <a:spcBef>
                <a:spcPct val="20000"/>
              </a:spcBef>
              <a:spcAft>
                <a:spcPct val="0"/>
              </a:spcAft>
              <a:buSzTx/>
            </a:pPr>
            <a:r>
              <a:rPr lang="en-US" altLang="en-US" sz="3000" b="1" u="sng" dirty="0">
                <a:solidFill>
                  <a:srgbClr val="FFCC00"/>
                </a:solidFill>
                <a:latin typeface="Arial" panose="020B0604020202020204" pitchFamily="34" charset="0"/>
                <a:cs typeface="Arial" panose="020B0604020202020204" pitchFamily="34" charset="0"/>
              </a:rPr>
              <a:t>Operations Research</a:t>
            </a:r>
            <a:r>
              <a:rPr lang="en-US" altLang="en-US" sz="3000" dirty="0">
                <a:solidFill>
                  <a:srgbClr val="FFFFFF"/>
                </a:solidFill>
                <a:latin typeface="Arial" panose="020B0604020202020204" pitchFamily="34" charset="0"/>
                <a:cs typeface="Arial" panose="020B0604020202020204" pitchFamily="34" charset="0"/>
              </a:rPr>
              <a:t> is an Art and Science</a:t>
            </a:r>
          </a:p>
          <a:p>
            <a:pPr algn="just"/>
            <a:r>
              <a:rPr lang="en-US" sz="3000" dirty="0">
                <a:latin typeface="Arial" panose="020B0604020202020204" pitchFamily="34" charset="0"/>
                <a:cs typeface="Arial" panose="020B0604020202020204" pitchFamily="34" charset="0"/>
              </a:rPr>
              <a:t>Operation Research (O.R) is an art of wining wars without actual fighting. </a:t>
            </a:r>
            <a:r>
              <a:rPr lang="en-US" sz="3000" dirty="0">
                <a:solidFill>
                  <a:srgbClr val="FF0000"/>
                </a:solidFill>
                <a:latin typeface="Arial" panose="020B0604020202020204" pitchFamily="34" charset="0"/>
                <a:cs typeface="Arial" panose="020B0604020202020204" pitchFamily="34" charset="0"/>
              </a:rPr>
              <a:t>(Arthur Clark)</a:t>
            </a:r>
          </a:p>
          <a:p>
            <a:pPr algn="just"/>
            <a:r>
              <a:rPr lang="en-US" sz="3000" dirty="0">
                <a:latin typeface="Arial" panose="020B0604020202020204" pitchFamily="34" charset="0"/>
                <a:cs typeface="Arial" panose="020B0604020202020204" pitchFamily="34" charset="0"/>
              </a:rPr>
              <a:t>O.R is a scientific approach to the problems </a:t>
            </a:r>
            <a:r>
              <a:rPr lang="en-US" sz="3000" dirty="0">
                <a:solidFill>
                  <a:srgbClr val="FF0000"/>
                </a:solidFill>
                <a:latin typeface="Arial" panose="020B0604020202020204" pitchFamily="34" charset="0"/>
                <a:cs typeface="Arial" panose="020B0604020202020204" pitchFamily="34" charset="0"/>
              </a:rPr>
              <a:t>(H.M. Wagner)</a:t>
            </a:r>
            <a:endParaRPr lang="en-US" altLang="en-US" sz="3000" dirty="0">
              <a:solidFill>
                <a:srgbClr val="FF0000"/>
              </a:solidFill>
              <a:latin typeface="Arial" panose="020B0604020202020204" pitchFamily="34" charset="0"/>
              <a:cs typeface="Arial" panose="020B0604020202020204" pitchFamily="34" charset="0"/>
            </a:endParaRPr>
          </a:p>
          <a:p>
            <a:pPr marL="0" indent="0">
              <a:lnSpc>
                <a:spcPct val="90000"/>
              </a:lnSpc>
              <a:buNone/>
            </a:pPr>
            <a:endParaRPr lang="en-US" sz="8600" dirty="0">
              <a:latin typeface="Arial" panose="020B0604020202020204" pitchFamily="34" charset="0"/>
              <a:ea typeface="ＭＳ Ｐゴシック" pitchFamily="34" charset="-128"/>
              <a:cs typeface="Arial" panose="020B0604020202020204" pitchFamily="34" charset="0"/>
              <a:sym typeface="Symbol" pitchFamily="18" charset="2"/>
            </a:endParaRPr>
          </a:p>
          <a:p>
            <a:endParaRPr lang="en-US" dirty="0"/>
          </a:p>
        </p:txBody>
      </p:sp>
    </p:spTree>
    <p:extLst>
      <p:ext uri="{BB962C8B-B14F-4D97-AF65-F5344CB8AC3E}">
        <p14:creationId xmlns:p14="http://schemas.microsoft.com/office/powerpoint/2010/main" val="294587502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Operation Research</a:t>
            </a:r>
          </a:p>
        </p:txBody>
      </p:sp>
      <p:sp>
        <p:nvSpPr>
          <p:cNvPr id="3" name="Content Placeholder 2"/>
          <p:cNvSpPr>
            <a:spLocks noGrp="1"/>
          </p:cNvSpPr>
          <p:nvPr>
            <p:ph idx="1"/>
          </p:nvPr>
        </p:nvSpPr>
        <p:spPr>
          <a:xfrm>
            <a:off x="856059" y="2097088"/>
            <a:ext cx="7429499" cy="4608513"/>
          </a:xfrm>
        </p:spPr>
        <p:txBody>
          <a:bodyPr>
            <a:normAutofit/>
          </a:bodyPr>
          <a:lstStyle/>
          <a:p>
            <a:pPr algn="just" fontAlgn="base">
              <a:lnSpc>
                <a:spcPct val="100000"/>
              </a:lnSpc>
              <a:spcBef>
                <a:spcPct val="20000"/>
              </a:spcBef>
              <a:spcAft>
                <a:spcPct val="0"/>
              </a:spcAft>
              <a:buSzTx/>
            </a:pPr>
            <a:r>
              <a:rPr lang="en-US" altLang="en-US" sz="3000" dirty="0">
                <a:latin typeface="Arial" panose="020B0604020202020204" pitchFamily="34" charset="0"/>
                <a:cs typeface="Arial" panose="020B0604020202020204" pitchFamily="34" charset="0"/>
              </a:rPr>
              <a:t>O.R is a scientific approach towards linear programming problems</a:t>
            </a:r>
          </a:p>
          <a:p>
            <a:pPr marL="0" indent="0" algn="just" fontAlgn="base">
              <a:lnSpc>
                <a:spcPct val="100000"/>
              </a:lnSpc>
              <a:spcBef>
                <a:spcPct val="20000"/>
              </a:spcBef>
              <a:spcAft>
                <a:spcPct val="0"/>
              </a:spcAft>
              <a:buSzTx/>
              <a:buNone/>
            </a:pPr>
            <a:endParaRPr lang="en-US" altLang="en-US" sz="3000" dirty="0">
              <a:latin typeface="Arial" panose="020B0604020202020204" pitchFamily="34" charset="0"/>
              <a:cs typeface="Arial" panose="020B0604020202020204" pitchFamily="34" charset="0"/>
            </a:endParaRPr>
          </a:p>
          <a:p>
            <a:pPr algn="just" fontAlgn="base">
              <a:lnSpc>
                <a:spcPct val="100000"/>
              </a:lnSpc>
              <a:spcBef>
                <a:spcPct val="20000"/>
              </a:spcBef>
              <a:spcAft>
                <a:spcPct val="0"/>
              </a:spcAft>
              <a:buSzTx/>
            </a:pPr>
            <a:r>
              <a:rPr lang="en-US" altLang="en-US" sz="3000" dirty="0">
                <a:latin typeface="Arial" panose="020B0604020202020204" pitchFamily="34" charset="0"/>
                <a:cs typeface="Arial" panose="020B0604020202020204" pitchFamily="34" charset="0"/>
              </a:rPr>
              <a:t>O.R in one sentence is defined as “Do things best under constraint”</a:t>
            </a:r>
          </a:p>
          <a:p>
            <a:pPr marL="0" indent="0" algn="just" fontAlgn="base">
              <a:lnSpc>
                <a:spcPct val="100000"/>
              </a:lnSpc>
              <a:spcBef>
                <a:spcPct val="20000"/>
              </a:spcBef>
              <a:spcAft>
                <a:spcPct val="0"/>
              </a:spcAft>
              <a:buSzTx/>
              <a:buNone/>
            </a:pPr>
            <a:endParaRPr lang="en-US" altLang="en-US" sz="3000" dirty="0">
              <a:latin typeface="Arial" panose="020B0604020202020204" pitchFamily="34" charset="0"/>
              <a:cs typeface="Arial" panose="020B0604020202020204" pitchFamily="34" charset="0"/>
            </a:endParaRPr>
          </a:p>
          <a:p>
            <a:pPr marL="0" indent="0">
              <a:lnSpc>
                <a:spcPct val="90000"/>
              </a:lnSpc>
              <a:buNone/>
            </a:pPr>
            <a:endParaRPr lang="en-US" sz="8600" dirty="0">
              <a:latin typeface="Arial" panose="020B0604020202020204" pitchFamily="34" charset="0"/>
              <a:ea typeface="ＭＳ Ｐゴシック" pitchFamily="34" charset="-128"/>
              <a:cs typeface="Arial" panose="020B0604020202020204" pitchFamily="34" charset="0"/>
              <a:sym typeface="Symbol" pitchFamily="18" charset="2"/>
            </a:endParaRPr>
          </a:p>
          <a:p>
            <a:endParaRPr lang="en-US" dirty="0"/>
          </a:p>
        </p:txBody>
      </p:sp>
    </p:spTree>
    <p:extLst>
      <p:ext uri="{BB962C8B-B14F-4D97-AF65-F5344CB8AC3E}">
        <p14:creationId xmlns:p14="http://schemas.microsoft.com/office/powerpoint/2010/main" val="36349964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Brief Introduction</a:t>
            </a:r>
          </a:p>
        </p:txBody>
      </p:sp>
      <p:sp>
        <p:nvSpPr>
          <p:cNvPr id="3" name="Content Placeholder 2"/>
          <p:cNvSpPr>
            <a:spLocks noGrp="1"/>
          </p:cNvSpPr>
          <p:nvPr>
            <p:ph idx="1"/>
          </p:nvPr>
        </p:nvSpPr>
        <p:spPr>
          <a:xfrm>
            <a:off x="856059" y="2097088"/>
            <a:ext cx="7429499" cy="4608513"/>
          </a:xfrm>
        </p:spPr>
        <p:txBody>
          <a:bodyPr>
            <a:normAutofit/>
          </a:bodyPr>
          <a:lstStyle/>
          <a:p>
            <a:pPr marL="342900" lvl="0" indent="-342900" algn="just">
              <a:lnSpc>
                <a:spcPct val="100000"/>
              </a:lnSpc>
              <a:spcBef>
                <a:spcPts val="0"/>
              </a:spcBef>
              <a:buSzTx/>
            </a:pPr>
            <a:r>
              <a:rPr lang="en-US" sz="2800" dirty="0">
                <a:latin typeface="Arial" panose="020B0604020202020204" pitchFamily="34" charset="0"/>
                <a:ea typeface="Calibri" panose="020F0502020204030204" pitchFamily="34" charset="0"/>
                <a:cs typeface="Arial" panose="020B0604020202020204" pitchFamily="34" charset="0"/>
              </a:rPr>
              <a:t>O.R is the act of getting the best outcome. The basic goal is to maximize benefit, minimize effort, minimize risk and minimize cost. The benefit, effort, cost and risk are normally expressed by a function of certain design variables.</a:t>
            </a:r>
          </a:p>
          <a:p>
            <a:pPr marL="0" lvl="0" indent="0" algn="just">
              <a:lnSpc>
                <a:spcPct val="100000"/>
              </a:lnSpc>
              <a:spcBef>
                <a:spcPts val="0"/>
              </a:spcBef>
              <a:buSzTx/>
              <a:buNone/>
            </a:pPr>
            <a:endParaRPr lang="en-US" sz="2800" dirty="0">
              <a:latin typeface="Arial" panose="020B0604020202020204" pitchFamily="34" charset="0"/>
              <a:ea typeface="Calibri" panose="020F0502020204030204" pitchFamily="34" charset="0"/>
              <a:cs typeface="Arial" panose="020B0604020202020204" pitchFamily="34" charset="0"/>
            </a:endParaRPr>
          </a:p>
          <a:p>
            <a:pPr marL="342900" lvl="0" indent="-342900" algn="just">
              <a:lnSpc>
                <a:spcPct val="100000"/>
              </a:lnSpc>
              <a:spcBef>
                <a:spcPts val="0"/>
              </a:spcBef>
              <a:buSzTx/>
            </a:pPr>
            <a:r>
              <a:rPr lang="en-US" sz="2800" dirty="0">
                <a:latin typeface="Arial" panose="020B0604020202020204" pitchFamily="34" charset="0"/>
                <a:ea typeface="Calibri" panose="020F0502020204030204" pitchFamily="34" charset="0"/>
                <a:cs typeface="Arial" panose="020B0604020202020204" pitchFamily="34" charset="0"/>
              </a:rPr>
              <a:t>O.R is the procedure of finding the conditions which give the minimum and maximum value of a function. </a:t>
            </a:r>
          </a:p>
          <a:p>
            <a:pPr marL="0" lvl="0" indent="0" algn="just">
              <a:lnSpc>
                <a:spcPct val="100000"/>
              </a:lnSpc>
              <a:spcBef>
                <a:spcPts val="0"/>
              </a:spcBef>
              <a:buSzTx/>
              <a:buNone/>
            </a:pPr>
            <a:endParaRPr lang="en-US" sz="2800" dirty="0">
              <a:latin typeface="Arial" panose="020B0604020202020204" pitchFamily="34" charset="0"/>
              <a:ea typeface="Calibri" panose="020F0502020204030204" pitchFamily="34" charset="0"/>
              <a:cs typeface="Arial" panose="020B0604020202020204" pitchFamily="34" charset="0"/>
            </a:endParaRPr>
          </a:p>
          <a:p>
            <a:pPr marL="0" indent="0" algn="just" fontAlgn="base">
              <a:lnSpc>
                <a:spcPct val="100000"/>
              </a:lnSpc>
              <a:spcBef>
                <a:spcPct val="20000"/>
              </a:spcBef>
              <a:spcAft>
                <a:spcPct val="0"/>
              </a:spcAft>
              <a:buSzTx/>
              <a:buNone/>
            </a:pPr>
            <a:endParaRPr lang="en-US" altLang="en-US" sz="3000" dirty="0">
              <a:latin typeface="Arial" panose="020B0604020202020204" pitchFamily="34" charset="0"/>
              <a:cs typeface="Arial" panose="020B0604020202020204" pitchFamily="34" charset="0"/>
            </a:endParaRPr>
          </a:p>
          <a:p>
            <a:pPr marL="0" indent="0">
              <a:lnSpc>
                <a:spcPct val="90000"/>
              </a:lnSpc>
              <a:buNone/>
            </a:pPr>
            <a:endParaRPr lang="en-US" sz="8600" dirty="0">
              <a:latin typeface="Arial" panose="020B0604020202020204" pitchFamily="34" charset="0"/>
              <a:ea typeface="ＭＳ Ｐゴシック" pitchFamily="34" charset="-128"/>
              <a:cs typeface="Arial" panose="020B0604020202020204" pitchFamily="34" charset="0"/>
              <a:sym typeface="Symbol" pitchFamily="18" charset="2"/>
            </a:endParaRPr>
          </a:p>
          <a:p>
            <a:endParaRPr lang="en-US" dirty="0"/>
          </a:p>
        </p:txBody>
      </p:sp>
    </p:spTree>
    <p:extLst>
      <p:ext uri="{BB962C8B-B14F-4D97-AF65-F5344CB8AC3E}">
        <p14:creationId xmlns:p14="http://schemas.microsoft.com/office/powerpoint/2010/main" val="390829508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Brief Introduction</a:t>
            </a:r>
          </a:p>
        </p:txBody>
      </p:sp>
      <p:sp>
        <p:nvSpPr>
          <p:cNvPr id="3" name="Content Placeholder 2"/>
          <p:cNvSpPr>
            <a:spLocks noGrp="1"/>
          </p:cNvSpPr>
          <p:nvPr>
            <p:ph idx="1"/>
          </p:nvPr>
        </p:nvSpPr>
        <p:spPr>
          <a:xfrm>
            <a:off x="856059" y="2097088"/>
            <a:ext cx="7429499" cy="4608513"/>
          </a:xfrm>
        </p:spPr>
        <p:txBody>
          <a:bodyPr>
            <a:normAutofit lnSpcReduction="10000"/>
          </a:bodyPr>
          <a:lstStyle/>
          <a:p>
            <a:pPr algn="just">
              <a:lnSpc>
                <a:spcPct val="100000"/>
              </a:lnSpc>
              <a:spcBef>
                <a:spcPts val="0"/>
              </a:spcBef>
              <a:buSzTx/>
            </a:pPr>
            <a:r>
              <a:rPr lang="en-US" sz="2800" dirty="0">
                <a:latin typeface="Arial" panose="020B0604020202020204" pitchFamily="34" charset="0"/>
                <a:ea typeface="Calibri" panose="020F0502020204030204" pitchFamily="34" charset="0"/>
                <a:cs typeface="Arial" panose="020B0604020202020204" pitchFamily="34" charset="0"/>
              </a:rPr>
              <a:t>O.R Models have been used for a long time, now adays they have become essential as business and work related to engineering becomes difficult and more complicated. Therefore it is no feasible economically to make the decision without the assistance of such models. </a:t>
            </a:r>
          </a:p>
          <a:p>
            <a:pPr algn="just">
              <a:lnSpc>
                <a:spcPct val="100000"/>
              </a:lnSpc>
              <a:spcBef>
                <a:spcPts val="0"/>
              </a:spcBef>
              <a:buSzTx/>
            </a:pPr>
            <a:endParaRPr lang="en-US" sz="2800" dirty="0">
              <a:latin typeface="Arial" panose="020B0604020202020204" pitchFamily="34" charset="0"/>
              <a:ea typeface="Calibri" panose="020F0502020204030204" pitchFamily="34" charset="0"/>
              <a:cs typeface="Arial" panose="020B0604020202020204" pitchFamily="34" charset="0"/>
            </a:endParaRPr>
          </a:p>
          <a:p>
            <a:pPr algn="just">
              <a:lnSpc>
                <a:spcPct val="100000"/>
              </a:lnSpc>
              <a:spcBef>
                <a:spcPts val="0"/>
              </a:spcBef>
              <a:buSzTx/>
            </a:pPr>
            <a:r>
              <a:rPr lang="en-US" sz="2800" dirty="0">
                <a:latin typeface="Arial" panose="020B0604020202020204" pitchFamily="34" charset="0"/>
                <a:ea typeface="Calibri" panose="020F0502020204030204" pitchFamily="34" charset="0"/>
                <a:cs typeface="Arial" panose="020B0604020202020204" pitchFamily="34" charset="0"/>
              </a:rPr>
              <a:t>For example in a big firm a minor improvement in the percentage might lead to a million dollar increase in profit</a:t>
            </a:r>
          </a:p>
          <a:p>
            <a:pPr marL="0" indent="0" algn="just" fontAlgn="base">
              <a:lnSpc>
                <a:spcPct val="100000"/>
              </a:lnSpc>
              <a:spcBef>
                <a:spcPct val="20000"/>
              </a:spcBef>
              <a:spcAft>
                <a:spcPct val="0"/>
              </a:spcAft>
              <a:buSzTx/>
              <a:buNone/>
            </a:pPr>
            <a:endParaRPr lang="en-US" altLang="en-US" sz="3000" dirty="0">
              <a:latin typeface="Arial" panose="020B0604020202020204" pitchFamily="34" charset="0"/>
              <a:cs typeface="Arial" panose="020B0604020202020204" pitchFamily="34" charset="0"/>
            </a:endParaRPr>
          </a:p>
          <a:p>
            <a:pPr marL="0" indent="0">
              <a:lnSpc>
                <a:spcPct val="90000"/>
              </a:lnSpc>
              <a:buNone/>
            </a:pPr>
            <a:endParaRPr lang="en-US" sz="8600" dirty="0">
              <a:latin typeface="Arial" panose="020B0604020202020204" pitchFamily="34" charset="0"/>
              <a:ea typeface="ＭＳ Ｐゴシック" pitchFamily="34" charset="-128"/>
              <a:cs typeface="Arial" panose="020B0604020202020204" pitchFamily="34" charset="0"/>
              <a:sym typeface="Symbol" pitchFamily="18" charset="2"/>
            </a:endParaRPr>
          </a:p>
          <a:p>
            <a:endParaRPr lang="en-US" dirty="0"/>
          </a:p>
        </p:txBody>
      </p:sp>
    </p:spTree>
    <p:extLst>
      <p:ext uri="{BB962C8B-B14F-4D97-AF65-F5344CB8AC3E}">
        <p14:creationId xmlns:p14="http://schemas.microsoft.com/office/powerpoint/2010/main" val="369199586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Brief Introduction</a:t>
            </a:r>
          </a:p>
        </p:txBody>
      </p:sp>
      <p:sp>
        <p:nvSpPr>
          <p:cNvPr id="3" name="Content Placeholder 2"/>
          <p:cNvSpPr>
            <a:spLocks noGrp="1"/>
          </p:cNvSpPr>
          <p:nvPr>
            <p:ph idx="1"/>
          </p:nvPr>
        </p:nvSpPr>
        <p:spPr>
          <a:xfrm>
            <a:off x="856059" y="2097088"/>
            <a:ext cx="7429499" cy="4608513"/>
          </a:xfrm>
        </p:spPr>
        <p:txBody>
          <a:bodyPr>
            <a:normAutofit fontScale="92500" lnSpcReduction="10000"/>
          </a:bodyPr>
          <a:lstStyle/>
          <a:p>
            <a:pPr algn="just" fontAlgn="base">
              <a:lnSpc>
                <a:spcPct val="100000"/>
              </a:lnSpc>
              <a:spcBef>
                <a:spcPct val="20000"/>
              </a:spcBef>
              <a:spcAft>
                <a:spcPct val="0"/>
              </a:spcAft>
              <a:buSzTx/>
            </a:pPr>
            <a:r>
              <a:rPr lang="en-US" altLang="en-US" sz="2800" dirty="0">
                <a:latin typeface="Arial" panose="020B0604020202020204" pitchFamily="34" charset="0"/>
                <a:cs typeface="Arial" panose="020B0604020202020204" pitchFamily="34" charset="0"/>
              </a:rPr>
              <a:t>But for achieving this improvement might require proper analyzing of all sections of a firm, which is possible with the help of O.R Models.</a:t>
            </a:r>
          </a:p>
          <a:p>
            <a:pPr marL="0" indent="0" algn="just" fontAlgn="base">
              <a:lnSpc>
                <a:spcPct val="100000"/>
              </a:lnSpc>
              <a:spcBef>
                <a:spcPct val="20000"/>
              </a:spcBef>
              <a:spcAft>
                <a:spcPct val="0"/>
              </a:spcAft>
              <a:buSzTx/>
              <a:buNone/>
            </a:pPr>
            <a:endParaRPr lang="en-US" altLang="en-US" sz="2800" dirty="0">
              <a:latin typeface="Arial" panose="020B0604020202020204" pitchFamily="34" charset="0"/>
              <a:cs typeface="Arial" panose="020B0604020202020204" pitchFamily="34" charset="0"/>
            </a:endParaRPr>
          </a:p>
          <a:p>
            <a:pPr marL="342900" lvl="0" indent="-342900" algn="just">
              <a:lnSpc>
                <a:spcPct val="100000"/>
              </a:lnSpc>
              <a:spcBef>
                <a:spcPts val="0"/>
              </a:spcBef>
              <a:buSzTx/>
            </a:pPr>
            <a:r>
              <a:rPr lang="en-US" sz="2800" dirty="0">
                <a:solidFill>
                  <a:prstClr val="white"/>
                </a:solidFill>
                <a:latin typeface="Arial" panose="020B0604020202020204" pitchFamily="34" charset="0"/>
                <a:cs typeface="Arial" panose="020B0604020202020204" pitchFamily="34" charset="0"/>
              </a:rPr>
              <a:t>After the rapid development of efficient and high-speed computers this field gets great attention, more and more  problem have been explored and solved. </a:t>
            </a:r>
          </a:p>
          <a:p>
            <a:pPr marL="342900" lvl="0" indent="-342900" algn="just">
              <a:lnSpc>
                <a:spcPct val="100000"/>
              </a:lnSpc>
              <a:spcBef>
                <a:spcPts val="0"/>
              </a:spcBef>
              <a:buSzTx/>
            </a:pPr>
            <a:endParaRPr lang="en-US" sz="2800" dirty="0">
              <a:solidFill>
                <a:prstClr val="white"/>
              </a:solidFill>
              <a:latin typeface="Arial" panose="020B0604020202020204" pitchFamily="34" charset="0"/>
              <a:cs typeface="Arial" panose="020B0604020202020204" pitchFamily="34" charset="0"/>
            </a:endParaRPr>
          </a:p>
          <a:p>
            <a:pPr marL="342900" lvl="0" indent="-342900" algn="just">
              <a:lnSpc>
                <a:spcPct val="100000"/>
              </a:lnSpc>
              <a:spcBef>
                <a:spcPts val="0"/>
              </a:spcBef>
              <a:buSzTx/>
            </a:pPr>
            <a:r>
              <a:rPr lang="en-US" sz="2800" dirty="0">
                <a:solidFill>
                  <a:prstClr val="white"/>
                </a:solidFill>
                <a:latin typeface="Arial" panose="020B0604020202020204" pitchFamily="34" charset="0"/>
                <a:cs typeface="Arial" panose="020B0604020202020204" pitchFamily="34" charset="0"/>
              </a:rPr>
              <a:t>The field of O.R is still a very active research area. </a:t>
            </a:r>
          </a:p>
          <a:p>
            <a:pPr marL="0" indent="0" algn="just" fontAlgn="base">
              <a:lnSpc>
                <a:spcPct val="100000"/>
              </a:lnSpc>
              <a:spcBef>
                <a:spcPct val="20000"/>
              </a:spcBef>
              <a:spcAft>
                <a:spcPct val="0"/>
              </a:spcAft>
              <a:buSzTx/>
              <a:buNone/>
            </a:pPr>
            <a:endParaRPr lang="en-US" altLang="en-US" sz="3000" dirty="0">
              <a:latin typeface="Arial" panose="020B0604020202020204" pitchFamily="34" charset="0"/>
              <a:cs typeface="Arial" panose="020B0604020202020204" pitchFamily="34" charset="0"/>
            </a:endParaRPr>
          </a:p>
          <a:p>
            <a:pPr marL="0" indent="0">
              <a:lnSpc>
                <a:spcPct val="90000"/>
              </a:lnSpc>
              <a:buNone/>
            </a:pPr>
            <a:endParaRPr lang="en-US" sz="8600" dirty="0">
              <a:latin typeface="Arial" panose="020B0604020202020204" pitchFamily="34" charset="0"/>
              <a:ea typeface="ＭＳ Ｐゴシック" pitchFamily="34" charset="-128"/>
              <a:cs typeface="Arial" panose="020B0604020202020204" pitchFamily="34" charset="0"/>
              <a:sym typeface="Symbol" pitchFamily="18" charset="2"/>
            </a:endParaRPr>
          </a:p>
          <a:p>
            <a:endParaRPr lang="en-US" dirty="0"/>
          </a:p>
        </p:txBody>
      </p:sp>
    </p:spTree>
    <p:extLst>
      <p:ext uri="{BB962C8B-B14F-4D97-AF65-F5344CB8AC3E}">
        <p14:creationId xmlns:p14="http://schemas.microsoft.com/office/powerpoint/2010/main" val="376318972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Background </a:t>
            </a:r>
          </a:p>
        </p:txBody>
      </p:sp>
      <p:sp>
        <p:nvSpPr>
          <p:cNvPr id="3" name="Content Placeholder 2"/>
          <p:cNvSpPr>
            <a:spLocks noGrp="1"/>
          </p:cNvSpPr>
          <p:nvPr>
            <p:ph idx="1"/>
          </p:nvPr>
        </p:nvSpPr>
        <p:spPr>
          <a:xfrm>
            <a:off x="856059" y="2097088"/>
            <a:ext cx="7429499" cy="4608513"/>
          </a:xfrm>
        </p:spPr>
        <p:txBody>
          <a:bodyPr>
            <a:normAutofit/>
          </a:bodyPr>
          <a:lstStyle/>
          <a:p>
            <a:pPr algn="just">
              <a:lnSpc>
                <a:spcPct val="100000"/>
              </a:lnSpc>
              <a:spcBef>
                <a:spcPts val="0"/>
              </a:spcBef>
              <a:buSzTx/>
            </a:pPr>
            <a:r>
              <a:rPr lang="en-US" sz="2800" dirty="0">
                <a:latin typeface="Arial" panose="020B0604020202020204" pitchFamily="34" charset="0"/>
                <a:cs typeface="Arial" panose="020B0604020202020204" pitchFamily="34" charset="0"/>
              </a:rPr>
              <a:t>The roots of O.R are as old as science and society. Though the roots of O.R extends to even early 1800, it was </a:t>
            </a:r>
            <a:r>
              <a:rPr lang="en-US" altLang="en-US" sz="3200" dirty="0">
                <a:solidFill>
                  <a:srgbClr val="FFFFFF"/>
                </a:solidFill>
                <a:latin typeface="Times New Roman"/>
              </a:rPr>
              <a:t>in World War II, when Frederick W. Taylor emphasized the application of scientific analysis to the methods of production, that the real start took place. </a:t>
            </a:r>
          </a:p>
          <a:p>
            <a:pPr marL="0" indent="0" algn="just" fontAlgn="base">
              <a:lnSpc>
                <a:spcPct val="100000"/>
              </a:lnSpc>
              <a:spcBef>
                <a:spcPct val="20000"/>
              </a:spcBef>
              <a:spcAft>
                <a:spcPct val="0"/>
              </a:spcAft>
              <a:buSzTx/>
              <a:buNone/>
            </a:pPr>
            <a:endParaRPr lang="en-US" altLang="en-US" sz="3000" dirty="0">
              <a:latin typeface="Arial" panose="020B0604020202020204" pitchFamily="34" charset="0"/>
              <a:cs typeface="Arial" panose="020B0604020202020204" pitchFamily="34" charset="0"/>
            </a:endParaRPr>
          </a:p>
          <a:p>
            <a:pPr marL="0" indent="0">
              <a:lnSpc>
                <a:spcPct val="90000"/>
              </a:lnSpc>
              <a:buNone/>
            </a:pPr>
            <a:endParaRPr lang="en-US" sz="8600" dirty="0">
              <a:latin typeface="Arial" panose="020B0604020202020204" pitchFamily="34" charset="0"/>
              <a:ea typeface="ＭＳ Ｐゴシック" pitchFamily="34" charset="-128"/>
              <a:cs typeface="Arial" panose="020B0604020202020204" pitchFamily="34" charset="0"/>
              <a:sym typeface="Symbol" pitchFamily="18" charset="2"/>
            </a:endParaRPr>
          </a:p>
          <a:p>
            <a:endParaRPr lang="en-US" dirty="0"/>
          </a:p>
        </p:txBody>
      </p:sp>
    </p:spTree>
    <p:extLst>
      <p:ext uri="{BB962C8B-B14F-4D97-AF65-F5344CB8AC3E}">
        <p14:creationId xmlns:p14="http://schemas.microsoft.com/office/powerpoint/2010/main" val="20332601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Application of O.R in real life/Scope </a:t>
            </a:r>
          </a:p>
        </p:txBody>
      </p:sp>
      <p:sp>
        <p:nvSpPr>
          <p:cNvPr id="3" name="Content Placeholder 2"/>
          <p:cNvSpPr>
            <a:spLocks noGrp="1"/>
          </p:cNvSpPr>
          <p:nvPr>
            <p:ph idx="1"/>
          </p:nvPr>
        </p:nvSpPr>
        <p:spPr>
          <a:xfrm>
            <a:off x="856059" y="2097088"/>
            <a:ext cx="7429499" cy="4608513"/>
          </a:xfrm>
        </p:spPr>
        <p:txBody>
          <a:bodyPr>
            <a:normAutofit/>
          </a:bodyPr>
          <a:lstStyle/>
          <a:p>
            <a:pPr marL="0" indent="0" algn="just" fontAlgn="base">
              <a:lnSpc>
                <a:spcPct val="100000"/>
              </a:lnSpc>
              <a:spcBef>
                <a:spcPct val="20000"/>
              </a:spcBef>
              <a:spcAft>
                <a:spcPct val="0"/>
              </a:spcAft>
              <a:buSzTx/>
              <a:buNone/>
            </a:pPr>
            <a:r>
              <a:rPr lang="en-US" altLang="en-US" sz="3000" dirty="0">
                <a:latin typeface="Arial" panose="020B0604020202020204" pitchFamily="34" charset="0"/>
                <a:cs typeface="Arial" panose="020B0604020202020204" pitchFamily="34" charset="0"/>
              </a:rPr>
              <a:t>O.R is applied to a lot of real world cases, some of them are given below.</a:t>
            </a:r>
          </a:p>
          <a:p>
            <a:pPr marL="514350" indent="-514350" algn="just" fontAlgn="base">
              <a:lnSpc>
                <a:spcPct val="100000"/>
              </a:lnSpc>
              <a:spcBef>
                <a:spcPct val="20000"/>
              </a:spcBef>
              <a:spcAft>
                <a:spcPct val="0"/>
              </a:spcAft>
              <a:buSzTx/>
              <a:buAutoNum type="arabicPeriod"/>
            </a:pPr>
            <a:r>
              <a:rPr lang="en-US" altLang="en-US" sz="3000" dirty="0">
                <a:latin typeface="Arial" panose="020B0604020202020204" pitchFamily="34" charset="0"/>
                <a:cs typeface="Arial" panose="020B0604020202020204" pitchFamily="34" charset="0"/>
              </a:rPr>
              <a:t>Assignment (assigning uber drivers to customer.</a:t>
            </a:r>
          </a:p>
          <a:p>
            <a:pPr marL="514350" indent="-514350" algn="just" fontAlgn="base">
              <a:lnSpc>
                <a:spcPct val="100000"/>
              </a:lnSpc>
              <a:spcBef>
                <a:spcPct val="20000"/>
              </a:spcBef>
              <a:spcAft>
                <a:spcPct val="0"/>
              </a:spcAft>
              <a:buSzTx/>
              <a:buAutoNum type="arabicPeriod"/>
            </a:pPr>
            <a:r>
              <a:rPr lang="en-US" altLang="en-US" sz="3000" dirty="0">
                <a:latin typeface="Arial" panose="020B0604020202020204" pitchFamily="34" charset="0"/>
                <a:cs typeface="Arial" panose="020B0604020202020204" pitchFamily="34" charset="0"/>
              </a:rPr>
              <a:t>Scheduling (scheduling multiple TV shows together to achieve max views possible).</a:t>
            </a:r>
          </a:p>
          <a:p>
            <a:pPr marL="514350" indent="-514350" algn="just" fontAlgn="base">
              <a:lnSpc>
                <a:spcPct val="100000"/>
              </a:lnSpc>
              <a:spcBef>
                <a:spcPct val="20000"/>
              </a:spcBef>
              <a:spcAft>
                <a:spcPct val="0"/>
              </a:spcAft>
              <a:buSzTx/>
              <a:buAutoNum type="arabicPeriod"/>
            </a:pPr>
            <a:r>
              <a:rPr lang="en-US" altLang="en-US" sz="3000" dirty="0">
                <a:latin typeface="Arial" panose="020B0604020202020204" pitchFamily="34" charset="0"/>
                <a:cs typeface="Arial" panose="020B0604020202020204" pitchFamily="34" charset="0"/>
              </a:rPr>
              <a:t>Pricing Science (airline ticket pricing).</a:t>
            </a:r>
          </a:p>
          <a:p>
            <a:pPr marL="0" indent="0">
              <a:lnSpc>
                <a:spcPct val="90000"/>
              </a:lnSpc>
              <a:buNone/>
            </a:pPr>
            <a:endParaRPr lang="en-US" sz="8600" dirty="0">
              <a:latin typeface="Arial" panose="020B0604020202020204" pitchFamily="34" charset="0"/>
              <a:ea typeface="ＭＳ Ｐゴシック" pitchFamily="34" charset="-128"/>
              <a:cs typeface="Arial" panose="020B0604020202020204" pitchFamily="34" charset="0"/>
              <a:sym typeface="Symbol" pitchFamily="18" charset="2"/>
            </a:endParaRPr>
          </a:p>
          <a:p>
            <a:endParaRPr lang="en-US" dirty="0"/>
          </a:p>
        </p:txBody>
      </p:sp>
    </p:spTree>
    <p:extLst>
      <p:ext uri="{BB962C8B-B14F-4D97-AF65-F5344CB8AC3E}">
        <p14:creationId xmlns:p14="http://schemas.microsoft.com/office/powerpoint/2010/main" val="225110719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Application of O.R in real life/Scope </a:t>
            </a:r>
          </a:p>
        </p:txBody>
      </p:sp>
      <p:sp>
        <p:nvSpPr>
          <p:cNvPr id="3" name="Content Placeholder 2"/>
          <p:cNvSpPr>
            <a:spLocks noGrp="1"/>
          </p:cNvSpPr>
          <p:nvPr>
            <p:ph idx="1"/>
          </p:nvPr>
        </p:nvSpPr>
        <p:spPr>
          <a:xfrm>
            <a:off x="856059" y="2097088"/>
            <a:ext cx="7429499" cy="4608513"/>
          </a:xfrm>
        </p:spPr>
        <p:txBody>
          <a:bodyPr>
            <a:normAutofit/>
          </a:bodyPr>
          <a:lstStyle/>
          <a:p>
            <a:pPr marL="0" indent="0" algn="just" fontAlgn="base">
              <a:lnSpc>
                <a:spcPct val="100000"/>
              </a:lnSpc>
              <a:spcBef>
                <a:spcPct val="20000"/>
              </a:spcBef>
              <a:spcAft>
                <a:spcPct val="0"/>
              </a:spcAft>
              <a:buSzTx/>
              <a:buNone/>
            </a:pPr>
            <a:r>
              <a:rPr lang="en-US" altLang="en-US" sz="3000" dirty="0">
                <a:latin typeface="Arial" panose="020B0604020202020204" pitchFamily="34" charset="0"/>
                <a:cs typeface="Arial" panose="020B0604020202020204" pitchFamily="34" charset="0"/>
              </a:rPr>
              <a:t>4. Routing (master planning the routes of  </a:t>
            </a:r>
          </a:p>
          <a:p>
            <a:pPr marL="0" indent="0" algn="just" fontAlgn="base">
              <a:lnSpc>
                <a:spcPct val="100000"/>
              </a:lnSpc>
              <a:spcBef>
                <a:spcPct val="20000"/>
              </a:spcBef>
              <a:spcAft>
                <a:spcPct val="0"/>
              </a:spcAft>
              <a:buSzTx/>
              <a:buNone/>
            </a:pPr>
            <a:r>
              <a:rPr lang="en-US" altLang="en-US" sz="3000" dirty="0">
                <a:latin typeface="Arial" panose="020B0604020202020204" pitchFamily="34" charset="0"/>
                <a:cs typeface="Arial" panose="020B0604020202020204" pitchFamily="34" charset="0"/>
              </a:rPr>
              <a:t>    buses, so that few buses are needed as  </a:t>
            </a:r>
          </a:p>
          <a:p>
            <a:pPr marL="0" indent="0" algn="just" fontAlgn="base">
              <a:lnSpc>
                <a:spcPct val="100000"/>
              </a:lnSpc>
              <a:spcBef>
                <a:spcPct val="20000"/>
              </a:spcBef>
              <a:spcAft>
                <a:spcPct val="0"/>
              </a:spcAft>
              <a:buSzTx/>
              <a:buNone/>
            </a:pPr>
            <a:r>
              <a:rPr lang="en-US" altLang="en-US" sz="3000" dirty="0">
                <a:latin typeface="Arial" panose="020B0604020202020204" pitchFamily="34" charset="0"/>
                <a:cs typeface="Arial" panose="020B0604020202020204" pitchFamily="34" charset="0"/>
              </a:rPr>
              <a:t>    possible).</a:t>
            </a:r>
          </a:p>
          <a:p>
            <a:pPr marL="0" indent="0" algn="just" fontAlgn="base">
              <a:lnSpc>
                <a:spcPct val="100000"/>
              </a:lnSpc>
              <a:spcBef>
                <a:spcPct val="20000"/>
              </a:spcBef>
              <a:spcAft>
                <a:spcPct val="0"/>
              </a:spcAft>
              <a:buSzTx/>
              <a:buNone/>
            </a:pPr>
            <a:endParaRPr lang="en-US" altLang="en-US" sz="3000" dirty="0">
              <a:latin typeface="Arial" panose="020B0604020202020204" pitchFamily="34" charset="0"/>
              <a:cs typeface="Arial" panose="020B0604020202020204" pitchFamily="34" charset="0"/>
            </a:endParaRPr>
          </a:p>
          <a:p>
            <a:pPr marL="0" indent="0" algn="just" fontAlgn="base">
              <a:lnSpc>
                <a:spcPct val="100000"/>
              </a:lnSpc>
              <a:spcBef>
                <a:spcPct val="20000"/>
              </a:spcBef>
              <a:spcAft>
                <a:spcPct val="0"/>
              </a:spcAft>
              <a:buSzTx/>
              <a:buNone/>
            </a:pPr>
            <a:r>
              <a:rPr lang="en-US" altLang="en-US" sz="3000" dirty="0">
                <a:latin typeface="Arial" panose="020B0604020202020204" pitchFamily="34" charset="0"/>
                <a:cs typeface="Arial" panose="020B0604020202020204" pitchFamily="34" charset="0"/>
              </a:rPr>
              <a:t>5. Facility location (deciding the most  </a:t>
            </a:r>
          </a:p>
          <a:p>
            <a:pPr marL="0" indent="0" algn="just" fontAlgn="base">
              <a:lnSpc>
                <a:spcPct val="100000"/>
              </a:lnSpc>
              <a:spcBef>
                <a:spcPct val="20000"/>
              </a:spcBef>
              <a:spcAft>
                <a:spcPct val="0"/>
              </a:spcAft>
              <a:buSzTx/>
              <a:buNone/>
            </a:pPr>
            <a:r>
              <a:rPr lang="en-US" altLang="en-US" sz="3000" dirty="0">
                <a:latin typeface="Arial" panose="020B0604020202020204" pitchFamily="34" charset="0"/>
                <a:cs typeface="Arial" panose="020B0604020202020204" pitchFamily="34" charset="0"/>
              </a:rPr>
              <a:t>    appropriate location for new facility such  </a:t>
            </a:r>
          </a:p>
          <a:p>
            <a:pPr marL="0" indent="0" algn="just" fontAlgn="base">
              <a:lnSpc>
                <a:spcPct val="100000"/>
              </a:lnSpc>
              <a:spcBef>
                <a:spcPct val="20000"/>
              </a:spcBef>
              <a:spcAft>
                <a:spcPct val="0"/>
              </a:spcAft>
              <a:buSzTx/>
              <a:buNone/>
            </a:pPr>
            <a:r>
              <a:rPr lang="en-US" altLang="en-US" sz="3000" dirty="0">
                <a:latin typeface="Arial" panose="020B0604020202020204" pitchFamily="34" charset="0"/>
                <a:cs typeface="Arial" panose="020B0604020202020204" pitchFamily="34" charset="0"/>
              </a:rPr>
              <a:t>    as warehouse , factory or fire station).</a:t>
            </a:r>
          </a:p>
          <a:p>
            <a:pPr marL="0" indent="0">
              <a:lnSpc>
                <a:spcPct val="90000"/>
              </a:lnSpc>
              <a:buNone/>
            </a:pPr>
            <a:endParaRPr lang="en-US" sz="8600" dirty="0">
              <a:latin typeface="Arial" panose="020B0604020202020204" pitchFamily="34" charset="0"/>
              <a:ea typeface="ＭＳ Ｐゴシック" pitchFamily="34" charset="-128"/>
              <a:cs typeface="Arial" panose="020B0604020202020204" pitchFamily="34" charset="0"/>
              <a:sym typeface="Symbol" pitchFamily="18" charset="2"/>
            </a:endParaRPr>
          </a:p>
          <a:p>
            <a:endParaRPr lang="en-US" dirty="0"/>
          </a:p>
        </p:txBody>
      </p:sp>
    </p:spTree>
    <p:extLst>
      <p:ext uri="{BB962C8B-B14F-4D97-AF65-F5344CB8AC3E}">
        <p14:creationId xmlns:p14="http://schemas.microsoft.com/office/powerpoint/2010/main" val="333377256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Application of O.R in real life/Scope </a:t>
            </a:r>
          </a:p>
        </p:txBody>
      </p:sp>
      <p:sp>
        <p:nvSpPr>
          <p:cNvPr id="3" name="Content Placeholder 2"/>
          <p:cNvSpPr>
            <a:spLocks noGrp="1"/>
          </p:cNvSpPr>
          <p:nvPr>
            <p:ph idx="1"/>
          </p:nvPr>
        </p:nvSpPr>
        <p:spPr>
          <a:xfrm>
            <a:off x="856059" y="2097088"/>
            <a:ext cx="7429499" cy="4608513"/>
          </a:xfrm>
        </p:spPr>
        <p:txBody>
          <a:bodyPr>
            <a:normAutofit/>
          </a:bodyPr>
          <a:lstStyle/>
          <a:p>
            <a:pPr marL="0" indent="0" algn="just" fontAlgn="base">
              <a:lnSpc>
                <a:spcPct val="100000"/>
              </a:lnSpc>
              <a:spcBef>
                <a:spcPct val="20000"/>
              </a:spcBef>
              <a:spcAft>
                <a:spcPct val="0"/>
              </a:spcAft>
              <a:buSzTx/>
              <a:buNone/>
            </a:pPr>
            <a:r>
              <a:rPr lang="en-US" sz="3000" dirty="0">
                <a:latin typeface="Arial" panose="020B0604020202020204" pitchFamily="34" charset="0"/>
                <a:ea typeface="ＭＳ Ｐゴシック" pitchFamily="34" charset="-128"/>
                <a:cs typeface="Arial" panose="020B0604020202020204" pitchFamily="34" charset="0"/>
                <a:sym typeface="Symbol" pitchFamily="18" charset="2"/>
              </a:rPr>
              <a:t>For example you want to travel from Islamabad to Lahore, then you will open google map, it provides you option like car, trains, buses and flight (these are the available resources) and you will decide which resources suits you.</a:t>
            </a:r>
            <a:endParaRPr lang="en-US" sz="8600" dirty="0">
              <a:latin typeface="Arial" panose="020B0604020202020204" pitchFamily="34" charset="0"/>
              <a:ea typeface="ＭＳ Ｐゴシック" pitchFamily="34" charset="-128"/>
              <a:cs typeface="Arial" panose="020B0604020202020204" pitchFamily="34" charset="0"/>
              <a:sym typeface="Symbol" pitchFamily="18" charset="2"/>
            </a:endParaRPr>
          </a:p>
          <a:p>
            <a:endParaRPr lang="en-US" dirty="0"/>
          </a:p>
        </p:txBody>
      </p:sp>
    </p:spTree>
    <p:extLst>
      <p:ext uri="{BB962C8B-B14F-4D97-AF65-F5344CB8AC3E}">
        <p14:creationId xmlns:p14="http://schemas.microsoft.com/office/powerpoint/2010/main" val="51402698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When is </a:t>
            </a:r>
            <a:r>
              <a:rPr lang="en-US" sz="4000" dirty="0" err="1">
                <a:solidFill>
                  <a:srgbClr val="C00000"/>
                </a:solidFill>
                <a:latin typeface="Arial" panose="020B0604020202020204" pitchFamily="34" charset="0"/>
                <a:cs typeface="Arial" panose="020B0604020202020204" pitchFamily="34" charset="0"/>
              </a:rPr>
              <a:t>oR</a:t>
            </a:r>
            <a:r>
              <a:rPr lang="en-US" sz="4000" dirty="0">
                <a:solidFill>
                  <a:srgbClr val="C00000"/>
                </a:solidFill>
                <a:latin typeface="Arial" panose="020B0604020202020204" pitchFamily="34" charset="0"/>
                <a:cs typeface="Arial" panose="020B0604020202020204" pitchFamily="34" charset="0"/>
              </a:rPr>
              <a:t> USED?</a:t>
            </a:r>
          </a:p>
        </p:txBody>
      </p:sp>
      <p:sp>
        <p:nvSpPr>
          <p:cNvPr id="3" name="Content Placeholder 2"/>
          <p:cNvSpPr>
            <a:spLocks noGrp="1"/>
          </p:cNvSpPr>
          <p:nvPr>
            <p:ph idx="1"/>
          </p:nvPr>
        </p:nvSpPr>
        <p:spPr>
          <a:xfrm>
            <a:off x="856059" y="2097088"/>
            <a:ext cx="7429499" cy="4608513"/>
          </a:xfrm>
        </p:spPr>
        <p:txBody>
          <a:bodyPr>
            <a:normAutofit/>
          </a:bodyPr>
          <a:lstStyle/>
          <a:p>
            <a:pPr lvl="0" algn="just">
              <a:lnSpc>
                <a:spcPct val="90000"/>
              </a:lnSpc>
              <a:buClr>
                <a:srgbClr val="005892"/>
              </a:buClr>
              <a:buSzTx/>
            </a:pPr>
            <a:r>
              <a:rPr lang="en-GB" sz="2800" dirty="0">
                <a:latin typeface="Arial" panose="020B0604020202020204" pitchFamily="34" charset="0"/>
                <a:cs typeface="Arial" panose="020B0604020202020204" pitchFamily="34" charset="0"/>
              </a:rPr>
              <a:t>O.R is a way to solve problems in which one seeks to achieve the best outcome.</a:t>
            </a:r>
          </a:p>
          <a:p>
            <a:pPr lvl="0" algn="just">
              <a:lnSpc>
                <a:spcPct val="90000"/>
              </a:lnSpc>
              <a:buClr>
                <a:srgbClr val="005892"/>
              </a:buClr>
              <a:buSzTx/>
            </a:pPr>
            <a:r>
              <a:rPr lang="en-GB" sz="2800" dirty="0">
                <a:latin typeface="Arial" panose="020B0604020202020204" pitchFamily="34" charset="0"/>
                <a:cs typeface="Arial" panose="020B0604020202020204" pitchFamily="34" charset="0"/>
              </a:rPr>
              <a:t>Simulation allows you to try out different approaches by simulating events numerous times and answer the “What if…?” question. </a:t>
            </a:r>
          </a:p>
          <a:p>
            <a:pPr lvl="0" algn="just">
              <a:lnSpc>
                <a:spcPct val="90000"/>
              </a:lnSpc>
              <a:buClr>
                <a:srgbClr val="005892"/>
              </a:buClr>
              <a:buSzTx/>
            </a:pPr>
            <a:r>
              <a:rPr lang="en-GB" sz="2800" dirty="0">
                <a:latin typeface="Arial" panose="020B0604020202020204" pitchFamily="34" charset="0"/>
                <a:cs typeface="Arial" panose="020B0604020202020204" pitchFamily="34" charset="0"/>
              </a:rPr>
              <a:t>Queuing theory is used to approximate a real queuing situation or system, so the queuing behaviour can be analysed mathematically.</a:t>
            </a:r>
          </a:p>
          <a:p>
            <a:endParaRPr lang="en-US" dirty="0"/>
          </a:p>
        </p:txBody>
      </p:sp>
    </p:spTree>
    <p:extLst>
      <p:ext uri="{BB962C8B-B14F-4D97-AF65-F5344CB8AC3E}">
        <p14:creationId xmlns:p14="http://schemas.microsoft.com/office/powerpoint/2010/main" val="123330240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WHEN IS OR USEFUL</a:t>
            </a:r>
          </a:p>
        </p:txBody>
      </p:sp>
      <p:sp>
        <p:nvSpPr>
          <p:cNvPr id="3" name="Content Placeholder 2"/>
          <p:cNvSpPr>
            <a:spLocks noGrp="1"/>
          </p:cNvSpPr>
          <p:nvPr>
            <p:ph idx="1"/>
          </p:nvPr>
        </p:nvSpPr>
        <p:spPr>
          <a:xfrm>
            <a:off x="856060" y="2069954"/>
            <a:ext cx="7429499" cy="4608513"/>
          </a:xfrm>
        </p:spPr>
        <p:txBody>
          <a:bodyPr>
            <a:normAutofit lnSpcReduction="10000"/>
          </a:bodyPr>
          <a:lstStyle/>
          <a:p>
            <a:pPr marL="588600" lvl="0" indent="-457200" algn="just">
              <a:spcBef>
                <a:spcPts val="0"/>
              </a:spcBef>
              <a:buClr>
                <a:srgbClr val="005892"/>
              </a:buClr>
              <a:buSzTx/>
            </a:pPr>
            <a:r>
              <a:rPr lang="en-GB" sz="2800" dirty="0">
                <a:latin typeface="Arial" panose="020B0604020202020204" pitchFamily="34" charset="0"/>
                <a:cs typeface="Arial" panose="020B0604020202020204" pitchFamily="34" charset="0"/>
              </a:rPr>
              <a:t>When a decision is complex or it’s unclear what the main problem is</a:t>
            </a:r>
          </a:p>
          <a:p>
            <a:pPr marL="588600" lvl="0" indent="-457200" algn="just">
              <a:spcBef>
                <a:spcPts val="0"/>
              </a:spcBef>
              <a:buClr>
                <a:srgbClr val="005892"/>
              </a:buClr>
              <a:buSzTx/>
            </a:pPr>
            <a:r>
              <a:rPr lang="en-GB" sz="2800" dirty="0">
                <a:latin typeface="Arial" panose="020B0604020202020204" pitchFamily="34" charset="0"/>
                <a:cs typeface="Arial" panose="020B0604020202020204" pitchFamily="34" charset="0"/>
              </a:rPr>
              <a:t>When it’s uncertain what the outcome of different actions will be</a:t>
            </a:r>
          </a:p>
          <a:p>
            <a:pPr marL="588600" lvl="0" indent="-457200" algn="just">
              <a:spcBef>
                <a:spcPts val="0"/>
              </a:spcBef>
              <a:buClr>
                <a:srgbClr val="005892"/>
              </a:buClr>
              <a:buSzTx/>
            </a:pPr>
            <a:r>
              <a:rPr lang="en-GB" sz="2800" dirty="0">
                <a:latin typeface="Arial" panose="020B0604020202020204" pitchFamily="34" charset="0"/>
                <a:cs typeface="Arial" panose="020B0604020202020204" pitchFamily="34" charset="0"/>
              </a:rPr>
              <a:t>When you don’t know how well things are working or think they could work better</a:t>
            </a:r>
          </a:p>
          <a:p>
            <a:pPr marL="588600" lvl="0" indent="-457200" algn="just">
              <a:spcBef>
                <a:spcPts val="0"/>
              </a:spcBef>
              <a:buClr>
                <a:srgbClr val="005892"/>
              </a:buClr>
              <a:buSzTx/>
            </a:pPr>
            <a:r>
              <a:rPr lang="en-GB" sz="2800" dirty="0">
                <a:latin typeface="Arial" panose="020B0604020202020204" pitchFamily="34" charset="0"/>
                <a:cs typeface="Arial" panose="020B0604020202020204" pitchFamily="34" charset="0"/>
              </a:rPr>
              <a:t>When you are worried about risks</a:t>
            </a:r>
          </a:p>
          <a:p>
            <a:pPr marL="588600" lvl="0" indent="-457200" algn="just">
              <a:spcBef>
                <a:spcPts val="0"/>
              </a:spcBef>
              <a:buClr>
                <a:srgbClr val="005892"/>
              </a:buClr>
              <a:buSzTx/>
            </a:pPr>
            <a:r>
              <a:rPr lang="en-GB" sz="2800" dirty="0">
                <a:latin typeface="Arial" panose="020B0604020202020204" pitchFamily="34" charset="0"/>
                <a:cs typeface="Arial" panose="020B0604020202020204" pitchFamily="34" charset="0"/>
              </a:rPr>
              <a:t>When you need to take account of the views of different stakeholder groups</a:t>
            </a:r>
          </a:p>
          <a:p>
            <a:pPr marL="457200" lvl="2" indent="-457200" algn="just">
              <a:spcBef>
                <a:spcPts val="600"/>
              </a:spcBef>
              <a:buSzPct val="85000"/>
              <a:defRPr/>
            </a:pPr>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8762388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Terminology</a:t>
            </a:r>
          </a:p>
        </p:txBody>
      </p:sp>
      <p:sp>
        <p:nvSpPr>
          <p:cNvPr id="3" name="Content Placeholder 2"/>
          <p:cNvSpPr>
            <a:spLocks noGrp="1"/>
          </p:cNvSpPr>
          <p:nvPr>
            <p:ph idx="1"/>
          </p:nvPr>
        </p:nvSpPr>
        <p:spPr>
          <a:xfrm>
            <a:off x="856060" y="2069954"/>
            <a:ext cx="7429499" cy="4608513"/>
          </a:xfrm>
        </p:spPr>
        <p:txBody>
          <a:bodyPr>
            <a:normAutofit/>
          </a:bodyPr>
          <a:lstStyle/>
          <a:p>
            <a:pPr marL="342900" lvl="0" indent="-342900" algn="just" fontAlgn="base">
              <a:lnSpc>
                <a:spcPct val="100000"/>
              </a:lnSpc>
              <a:spcBef>
                <a:spcPct val="20000"/>
              </a:spcBef>
              <a:spcAft>
                <a:spcPct val="0"/>
              </a:spcAft>
              <a:buSzTx/>
              <a:buFontTx/>
              <a:buChar char="•"/>
            </a:pPr>
            <a:r>
              <a:rPr lang="tr-TR" altLang="en-US" sz="3200" dirty="0">
                <a:solidFill>
                  <a:srgbClr val="FFFFFF"/>
                </a:solidFill>
                <a:latin typeface="Arial" panose="020B0604020202020204" pitchFamily="34" charset="0"/>
                <a:cs typeface="Arial" panose="020B0604020202020204" pitchFamily="34" charset="0"/>
              </a:rPr>
              <a:t>The British/Europeans refer to “</a:t>
            </a:r>
            <a:r>
              <a:rPr lang="en-US" altLang="en-US" sz="3200" b="1" dirty="0">
                <a:solidFill>
                  <a:srgbClr val="FFCC00"/>
                </a:solidFill>
                <a:latin typeface="Arial" panose="020B0604020202020204" pitchFamily="34" charset="0"/>
                <a:cs typeface="Arial" panose="020B0604020202020204" pitchFamily="34" charset="0"/>
              </a:rPr>
              <a:t>O</a:t>
            </a:r>
            <a:r>
              <a:rPr lang="tr-TR" altLang="en-US" sz="3200" b="1" dirty="0">
                <a:solidFill>
                  <a:srgbClr val="FFCC00"/>
                </a:solidFill>
                <a:latin typeface="Arial" panose="020B0604020202020204" pitchFamily="34" charset="0"/>
                <a:cs typeface="Arial" panose="020B0604020202020204" pitchFamily="34" charset="0"/>
              </a:rPr>
              <a:t>perational </a:t>
            </a:r>
            <a:r>
              <a:rPr lang="en-US" altLang="en-US" sz="3200" b="1" dirty="0">
                <a:solidFill>
                  <a:srgbClr val="FFCC00"/>
                </a:solidFill>
                <a:latin typeface="Arial" panose="020B0604020202020204" pitchFamily="34" charset="0"/>
                <a:cs typeface="Arial" panose="020B0604020202020204" pitchFamily="34" charset="0"/>
              </a:rPr>
              <a:t>R</a:t>
            </a:r>
            <a:r>
              <a:rPr lang="tr-TR" altLang="en-US" sz="3200" b="1" dirty="0">
                <a:solidFill>
                  <a:srgbClr val="FFCC00"/>
                </a:solidFill>
                <a:latin typeface="Arial" panose="020B0604020202020204" pitchFamily="34" charset="0"/>
                <a:cs typeface="Arial" panose="020B0604020202020204" pitchFamily="34" charset="0"/>
              </a:rPr>
              <a:t>esearch</a:t>
            </a:r>
            <a:r>
              <a:rPr lang="tr-TR" altLang="en-US" sz="3200" dirty="0">
                <a:solidFill>
                  <a:srgbClr val="FFFFFF"/>
                </a:solidFill>
                <a:latin typeface="Arial" panose="020B0604020202020204" pitchFamily="34" charset="0"/>
                <a:cs typeface="Arial" panose="020B0604020202020204" pitchFamily="34" charset="0"/>
              </a:rPr>
              <a:t>", the Americans to “</a:t>
            </a:r>
            <a:r>
              <a:rPr lang="en-US" altLang="en-US" sz="3200" b="1" dirty="0">
                <a:solidFill>
                  <a:srgbClr val="FFCC00"/>
                </a:solidFill>
                <a:latin typeface="Arial" panose="020B0604020202020204" pitchFamily="34" charset="0"/>
                <a:cs typeface="Arial" panose="020B0604020202020204" pitchFamily="34" charset="0"/>
              </a:rPr>
              <a:t>O</a:t>
            </a:r>
            <a:r>
              <a:rPr lang="tr-TR" altLang="en-US" sz="3200" b="1" dirty="0">
                <a:solidFill>
                  <a:srgbClr val="FFCC00"/>
                </a:solidFill>
                <a:latin typeface="Arial" panose="020B0604020202020204" pitchFamily="34" charset="0"/>
                <a:cs typeface="Arial" panose="020B0604020202020204" pitchFamily="34" charset="0"/>
              </a:rPr>
              <a:t>perations </a:t>
            </a:r>
            <a:r>
              <a:rPr lang="en-US" altLang="en-US" sz="3200" b="1" dirty="0">
                <a:solidFill>
                  <a:srgbClr val="FFCC00"/>
                </a:solidFill>
                <a:latin typeface="Arial" panose="020B0604020202020204" pitchFamily="34" charset="0"/>
                <a:cs typeface="Arial" panose="020B0604020202020204" pitchFamily="34" charset="0"/>
              </a:rPr>
              <a:t>R</a:t>
            </a:r>
            <a:r>
              <a:rPr lang="tr-TR" altLang="en-US" sz="3200" b="1" dirty="0">
                <a:solidFill>
                  <a:srgbClr val="FFCC00"/>
                </a:solidFill>
                <a:latin typeface="Arial" panose="020B0604020202020204" pitchFamily="34" charset="0"/>
                <a:cs typeface="Arial" panose="020B0604020202020204" pitchFamily="34" charset="0"/>
              </a:rPr>
              <a:t>esearch</a:t>
            </a:r>
            <a:r>
              <a:rPr lang="tr-TR" altLang="en-US" sz="3200" dirty="0">
                <a:solidFill>
                  <a:srgbClr val="FFFFFF"/>
                </a:solidFill>
                <a:latin typeface="Arial" panose="020B0604020202020204" pitchFamily="34" charset="0"/>
                <a:cs typeface="Arial" panose="020B0604020202020204" pitchFamily="34" charset="0"/>
              </a:rPr>
              <a:t>" - but both are often shortened to just "OR".</a:t>
            </a:r>
            <a:endParaRPr lang="en-US" altLang="en-US" sz="3200" dirty="0">
              <a:solidFill>
                <a:srgbClr val="FFFFFF"/>
              </a:solidFill>
              <a:latin typeface="Arial" panose="020B0604020202020204" pitchFamily="34" charset="0"/>
              <a:cs typeface="Arial" panose="020B0604020202020204" pitchFamily="34" charset="0"/>
            </a:endParaRPr>
          </a:p>
          <a:p>
            <a:pPr marL="457200" lvl="2" indent="-457200" algn="just">
              <a:spcBef>
                <a:spcPts val="600"/>
              </a:spcBef>
              <a:buSzPct val="85000"/>
              <a:defRPr/>
            </a:pPr>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5285747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err="1">
                <a:solidFill>
                  <a:srgbClr val="C00000"/>
                </a:solidFill>
                <a:latin typeface="Arial" panose="020B0604020202020204" pitchFamily="34" charset="0"/>
                <a:cs typeface="Arial" panose="020B0604020202020204" pitchFamily="34" charset="0"/>
              </a:rPr>
              <a:t>O.r</a:t>
            </a:r>
            <a:r>
              <a:rPr lang="en-US" sz="4000" dirty="0">
                <a:solidFill>
                  <a:srgbClr val="C00000"/>
                </a:solidFill>
                <a:latin typeface="Arial" panose="020B0604020202020204" pitchFamily="34" charset="0"/>
                <a:cs typeface="Arial" panose="020B0604020202020204" pitchFamily="34" charset="0"/>
              </a:rPr>
              <a:t> models</a:t>
            </a:r>
          </a:p>
        </p:txBody>
      </p:sp>
      <p:sp>
        <p:nvSpPr>
          <p:cNvPr id="3" name="Content Placeholder 2"/>
          <p:cNvSpPr>
            <a:spLocks noGrp="1"/>
          </p:cNvSpPr>
          <p:nvPr>
            <p:ph idx="1"/>
          </p:nvPr>
        </p:nvSpPr>
        <p:spPr>
          <a:xfrm>
            <a:off x="856060" y="2069954"/>
            <a:ext cx="7429499" cy="4608513"/>
          </a:xfrm>
        </p:spPr>
        <p:txBody>
          <a:bodyPr>
            <a:normAutofit lnSpcReduction="10000"/>
          </a:bodyPr>
          <a:lstStyle/>
          <a:p>
            <a:pPr marL="0" lvl="0" indent="0" algn="just" eaLnBrk="0" fontAlgn="base" hangingPunct="0">
              <a:lnSpc>
                <a:spcPct val="100000"/>
              </a:lnSpc>
              <a:spcBef>
                <a:spcPct val="0"/>
              </a:spcBef>
              <a:spcAft>
                <a:spcPct val="50000"/>
              </a:spcAft>
              <a:buSzTx/>
              <a:buNone/>
            </a:pPr>
            <a:r>
              <a:rPr lang="en-US" altLang="en-US" sz="2800" dirty="0">
                <a:solidFill>
                  <a:srgbClr val="FFFFFF"/>
                </a:solidFill>
                <a:latin typeface="Arial" panose="020B0604020202020204" pitchFamily="34" charset="0"/>
                <a:cs typeface="Arial" panose="020B0604020202020204" pitchFamily="34" charset="0"/>
              </a:rPr>
              <a:t>The most common used model of O.R is Linear Programming, whereas the other used models of O.R is given below,</a:t>
            </a:r>
          </a:p>
          <a:p>
            <a:pPr marL="0" lvl="0" indent="0" algn="just" eaLnBrk="0" fontAlgn="base" hangingPunct="0">
              <a:lnSpc>
                <a:spcPct val="100000"/>
              </a:lnSpc>
              <a:spcBef>
                <a:spcPct val="0"/>
              </a:spcBef>
              <a:spcAft>
                <a:spcPct val="50000"/>
              </a:spcAft>
              <a:buSzTx/>
              <a:buNone/>
            </a:pPr>
            <a:r>
              <a:rPr lang="en-US" altLang="en-US" sz="2800" dirty="0">
                <a:solidFill>
                  <a:srgbClr val="FFFFFF"/>
                </a:solidFill>
                <a:latin typeface="Arial" panose="020B0604020202020204" pitchFamily="34" charset="0"/>
                <a:cs typeface="Arial" panose="020B0604020202020204" pitchFamily="34" charset="0"/>
              </a:rPr>
              <a:t>	</a:t>
            </a:r>
          </a:p>
          <a:p>
            <a:pPr marL="0" lvl="0" indent="0" algn="just" eaLnBrk="0" fontAlgn="base" hangingPunct="0">
              <a:lnSpc>
                <a:spcPct val="100000"/>
              </a:lnSpc>
              <a:spcBef>
                <a:spcPct val="0"/>
              </a:spcBef>
              <a:spcAft>
                <a:spcPct val="50000"/>
              </a:spcAft>
              <a:buSzTx/>
              <a:buNone/>
            </a:pPr>
            <a:r>
              <a:rPr lang="en-US" altLang="en-US" sz="2800" dirty="0">
                <a:solidFill>
                  <a:srgbClr val="FFFFFF"/>
                </a:solidFill>
                <a:latin typeface="Arial" panose="020B0604020202020204" pitchFamily="34" charset="0"/>
                <a:cs typeface="Arial" panose="020B0604020202020204" pitchFamily="34" charset="0"/>
              </a:rPr>
              <a:t>• Network Optimization</a:t>
            </a:r>
          </a:p>
          <a:p>
            <a:pPr marL="0" lvl="0" indent="0" algn="just" eaLnBrk="0" fontAlgn="base" hangingPunct="0">
              <a:lnSpc>
                <a:spcPct val="100000"/>
              </a:lnSpc>
              <a:spcBef>
                <a:spcPct val="0"/>
              </a:spcBef>
              <a:spcAft>
                <a:spcPct val="50000"/>
              </a:spcAft>
              <a:buSzTx/>
              <a:buNone/>
            </a:pPr>
            <a:r>
              <a:rPr lang="en-US" altLang="en-US" sz="2800" dirty="0">
                <a:solidFill>
                  <a:srgbClr val="FFFFFF"/>
                </a:solidFill>
                <a:latin typeface="Arial" panose="020B0604020202020204" pitchFamily="34" charset="0"/>
                <a:cs typeface="Arial" panose="020B0604020202020204" pitchFamily="34" charset="0"/>
              </a:rPr>
              <a:t>• Integer Programming	 </a:t>
            </a:r>
          </a:p>
          <a:p>
            <a:pPr marL="0" lvl="0" indent="0" algn="just" eaLnBrk="0" fontAlgn="base" hangingPunct="0">
              <a:lnSpc>
                <a:spcPct val="100000"/>
              </a:lnSpc>
              <a:spcBef>
                <a:spcPct val="0"/>
              </a:spcBef>
              <a:spcAft>
                <a:spcPct val="50000"/>
              </a:spcAft>
              <a:buSzTx/>
              <a:buNone/>
            </a:pPr>
            <a:r>
              <a:rPr lang="en-US" altLang="en-US" sz="2800" dirty="0">
                <a:solidFill>
                  <a:srgbClr val="FFFFFF"/>
                </a:solidFill>
                <a:latin typeface="Arial" panose="020B0604020202020204" pitchFamily="34" charset="0"/>
                <a:cs typeface="Arial" panose="020B0604020202020204" pitchFamily="34" charset="0"/>
              </a:rPr>
              <a:t>• Nonlinear Programming	 </a:t>
            </a:r>
          </a:p>
          <a:p>
            <a:pPr marL="0" lvl="0" indent="0" algn="just" eaLnBrk="0" fontAlgn="base" hangingPunct="0">
              <a:lnSpc>
                <a:spcPct val="100000"/>
              </a:lnSpc>
              <a:spcBef>
                <a:spcPct val="0"/>
              </a:spcBef>
              <a:spcAft>
                <a:spcPct val="50000"/>
              </a:spcAft>
              <a:buSzTx/>
              <a:buFontTx/>
              <a:buChar char="•"/>
            </a:pPr>
            <a:r>
              <a:rPr lang="en-US" altLang="en-US" sz="2800" dirty="0">
                <a:solidFill>
                  <a:srgbClr val="FFFFFF"/>
                </a:solidFill>
                <a:latin typeface="Arial" panose="020B0604020202020204" pitchFamily="34" charset="0"/>
                <a:cs typeface="Arial" panose="020B0604020202020204" pitchFamily="34" charset="0"/>
              </a:rPr>
              <a:t> Inventory Models            </a:t>
            </a:r>
          </a:p>
          <a:p>
            <a:pPr marL="457200" lvl="2" indent="-457200" algn="just">
              <a:spcBef>
                <a:spcPts val="600"/>
              </a:spcBef>
              <a:buSzPct val="85000"/>
              <a:defRPr/>
            </a:pPr>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5617622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191435" y="502024"/>
            <a:ext cx="2465294" cy="564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Observation</a:t>
            </a:r>
            <a:endParaRPr lang="en-GB" dirty="0"/>
          </a:p>
        </p:txBody>
      </p:sp>
      <p:cxnSp>
        <p:nvCxnSpPr>
          <p:cNvPr id="9" name="Straight Arrow Connector 8"/>
          <p:cNvCxnSpPr/>
          <p:nvPr/>
        </p:nvCxnSpPr>
        <p:spPr>
          <a:xfrm>
            <a:off x="4424082" y="1066800"/>
            <a:ext cx="0" cy="519953"/>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3191435" y="1586753"/>
            <a:ext cx="2617694" cy="4392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Problem Definition</a:t>
            </a:r>
            <a:endParaRPr lang="en-GB" dirty="0"/>
          </a:p>
        </p:txBody>
      </p:sp>
      <p:sp>
        <p:nvSpPr>
          <p:cNvPr id="12" name="Rectangle 11"/>
          <p:cNvSpPr/>
          <p:nvPr/>
        </p:nvSpPr>
        <p:spPr>
          <a:xfrm>
            <a:off x="1281953" y="2160494"/>
            <a:ext cx="6535271" cy="245633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 name="TextBox 12"/>
          <p:cNvSpPr txBox="1"/>
          <p:nvPr/>
        </p:nvSpPr>
        <p:spPr>
          <a:xfrm>
            <a:off x="1281953" y="1791162"/>
            <a:ext cx="1864659" cy="369332"/>
          </a:xfrm>
          <a:prstGeom prst="rect">
            <a:avLst/>
          </a:prstGeom>
          <a:noFill/>
        </p:spPr>
        <p:txBody>
          <a:bodyPr wrap="square" rtlCol="0">
            <a:spAutoFit/>
          </a:bodyPr>
          <a:lstStyle/>
          <a:p>
            <a:r>
              <a:rPr lang="en-US" dirty="0" smtClean="0"/>
              <a:t>OR Techniques</a:t>
            </a:r>
            <a:endParaRPr lang="en-GB" dirty="0"/>
          </a:p>
        </p:txBody>
      </p:sp>
      <p:sp>
        <p:nvSpPr>
          <p:cNvPr id="14" name="Rectangle 13"/>
          <p:cNvSpPr/>
          <p:nvPr/>
        </p:nvSpPr>
        <p:spPr>
          <a:xfrm>
            <a:off x="3491753" y="2303928"/>
            <a:ext cx="2017058" cy="869578"/>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Model Construction</a:t>
            </a:r>
            <a:endParaRPr lang="en-GB" dirty="0"/>
          </a:p>
        </p:txBody>
      </p:sp>
      <p:sp>
        <p:nvSpPr>
          <p:cNvPr id="15" name="Rectangle 14"/>
          <p:cNvSpPr/>
          <p:nvPr/>
        </p:nvSpPr>
        <p:spPr>
          <a:xfrm>
            <a:off x="3491753" y="3738281"/>
            <a:ext cx="2017058" cy="4661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Solution</a:t>
            </a:r>
            <a:endParaRPr lang="en-GB" dirty="0"/>
          </a:p>
        </p:txBody>
      </p:sp>
      <p:sp>
        <p:nvSpPr>
          <p:cNvPr id="18" name="Rectangle 17"/>
          <p:cNvSpPr/>
          <p:nvPr/>
        </p:nvSpPr>
        <p:spPr>
          <a:xfrm>
            <a:off x="3491753" y="4787151"/>
            <a:ext cx="2017058" cy="4661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Implementation</a:t>
            </a:r>
            <a:endParaRPr lang="en-GB" dirty="0"/>
          </a:p>
        </p:txBody>
      </p:sp>
      <p:cxnSp>
        <p:nvCxnSpPr>
          <p:cNvPr id="23" name="Straight Arrow Connector 22"/>
          <p:cNvCxnSpPr/>
          <p:nvPr/>
        </p:nvCxnSpPr>
        <p:spPr>
          <a:xfrm>
            <a:off x="4410635" y="1975828"/>
            <a:ext cx="0" cy="3281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4450976" y="3173506"/>
            <a:ext cx="0" cy="519953"/>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4450976" y="4267198"/>
            <a:ext cx="0" cy="519953"/>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2743200" y="1791162"/>
            <a:ext cx="0" cy="322907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endCxn id="10" idx="1"/>
          </p:cNvCxnSpPr>
          <p:nvPr/>
        </p:nvCxnSpPr>
        <p:spPr>
          <a:xfrm>
            <a:off x="2743200" y="1791162"/>
            <a:ext cx="448235" cy="15226"/>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2770094" y="2653553"/>
            <a:ext cx="721659"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endCxn id="15" idx="1"/>
          </p:cNvCxnSpPr>
          <p:nvPr/>
        </p:nvCxnSpPr>
        <p:spPr>
          <a:xfrm flipV="1">
            <a:off x="2743200" y="3971364"/>
            <a:ext cx="748553" cy="17929"/>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stCxn id="18" idx="1"/>
          </p:cNvCxnSpPr>
          <p:nvPr/>
        </p:nvCxnSpPr>
        <p:spPr>
          <a:xfrm flipH="1" flipV="1">
            <a:off x="2743200" y="5020233"/>
            <a:ext cx="748553" cy="1"/>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1506071" y="4157841"/>
            <a:ext cx="1092415" cy="369332"/>
          </a:xfrm>
          <a:prstGeom prst="rect">
            <a:avLst/>
          </a:prstGeom>
          <a:noFill/>
        </p:spPr>
        <p:txBody>
          <a:bodyPr wrap="none" rtlCol="0">
            <a:spAutoFit/>
          </a:bodyPr>
          <a:lstStyle/>
          <a:p>
            <a:r>
              <a:rPr lang="en-US" dirty="0" smtClean="0"/>
              <a:t>Feedback</a:t>
            </a:r>
            <a:endParaRPr lang="en-GB" dirty="0"/>
          </a:p>
        </p:txBody>
      </p:sp>
      <p:sp>
        <p:nvSpPr>
          <p:cNvPr id="50" name="TextBox 49"/>
          <p:cNvSpPr txBox="1"/>
          <p:nvPr/>
        </p:nvSpPr>
        <p:spPr>
          <a:xfrm>
            <a:off x="6600224" y="4659865"/>
            <a:ext cx="1217000" cy="369332"/>
          </a:xfrm>
          <a:prstGeom prst="rect">
            <a:avLst/>
          </a:prstGeom>
          <a:noFill/>
        </p:spPr>
        <p:txBody>
          <a:bodyPr wrap="none" rtlCol="0">
            <a:spAutoFit/>
          </a:bodyPr>
          <a:lstStyle/>
          <a:p>
            <a:r>
              <a:rPr lang="en-US" dirty="0" smtClean="0"/>
              <a:t>Information</a:t>
            </a:r>
            <a:endParaRPr lang="en-GB" dirty="0"/>
          </a:p>
        </p:txBody>
      </p:sp>
      <p:sp>
        <p:nvSpPr>
          <p:cNvPr id="51" name="TextBox 50"/>
          <p:cNvSpPr txBox="1"/>
          <p:nvPr/>
        </p:nvSpPr>
        <p:spPr>
          <a:xfrm>
            <a:off x="1030941" y="61119"/>
            <a:ext cx="1967205" cy="523220"/>
          </a:xfrm>
          <a:prstGeom prst="rect">
            <a:avLst/>
          </a:prstGeom>
          <a:noFill/>
        </p:spPr>
        <p:txBody>
          <a:bodyPr wrap="none" rtlCol="0">
            <a:spAutoFit/>
          </a:bodyPr>
          <a:lstStyle/>
          <a:p>
            <a:r>
              <a:rPr lang="en-US" sz="2800" b="1" u="sng" dirty="0" smtClean="0">
                <a:solidFill>
                  <a:srgbClr val="FF0000"/>
                </a:solidFill>
              </a:rPr>
              <a:t>OR Process:</a:t>
            </a:r>
            <a:endParaRPr lang="en-GB" b="1" u="sng" dirty="0">
              <a:solidFill>
                <a:srgbClr val="FF0000"/>
              </a:solidFill>
            </a:endParaRPr>
          </a:p>
        </p:txBody>
      </p:sp>
    </p:spTree>
    <p:extLst>
      <p:ext uri="{BB962C8B-B14F-4D97-AF65-F5344CB8AC3E}">
        <p14:creationId xmlns:p14="http://schemas.microsoft.com/office/powerpoint/2010/main" val="163998807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87424977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687671"/>
          </a:xfrm>
          <a:prstGeom prst="rect">
            <a:avLst/>
          </a:prstGeom>
        </p:spPr>
      </p:pic>
    </p:spTree>
    <p:extLst>
      <p:ext uri="{BB962C8B-B14F-4D97-AF65-F5344CB8AC3E}">
        <p14:creationId xmlns:p14="http://schemas.microsoft.com/office/powerpoint/2010/main" val="330408747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9144000" cy="6562164"/>
          </a:xfrm>
          <a:prstGeom prst="rect">
            <a:avLst/>
          </a:prstGeom>
        </p:spPr>
      </p:pic>
    </p:spTree>
    <p:extLst>
      <p:ext uri="{BB962C8B-B14F-4D97-AF65-F5344CB8AC3E}">
        <p14:creationId xmlns:p14="http://schemas.microsoft.com/office/powerpoint/2010/main" val="103939618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6389" y="215106"/>
            <a:ext cx="7429499" cy="1478570"/>
          </a:xfrm>
        </p:spPr>
        <p:txBody>
          <a:bodyPr>
            <a:normAutofit/>
          </a:bodyPr>
          <a:lstStyle/>
          <a:p>
            <a:r>
              <a:rPr lang="en-US" sz="4000" dirty="0">
                <a:solidFill>
                  <a:srgbClr val="C00000"/>
                </a:solidFill>
                <a:latin typeface="Arial" panose="020B0604020202020204" pitchFamily="34" charset="0"/>
                <a:cs typeface="Arial" panose="020B0604020202020204" pitchFamily="34" charset="0"/>
              </a:rPr>
              <a:t>Linear programming</a:t>
            </a:r>
          </a:p>
        </p:txBody>
      </p:sp>
      <p:sp>
        <p:nvSpPr>
          <p:cNvPr id="3" name="Content Placeholder 2"/>
          <p:cNvSpPr>
            <a:spLocks noGrp="1"/>
          </p:cNvSpPr>
          <p:nvPr>
            <p:ph idx="1"/>
          </p:nvPr>
        </p:nvSpPr>
        <p:spPr>
          <a:xfrm>
            <a:off x="918813" y="1379911"/>
            <a:ext cx="7429499" cy="4760912"/>
          </a:xfrm>
        </p:spPr>
        <p:txBody>
          <a:bodyPr>
            <a:normAutofit/>
          </a:bodyPr>
          <a:lstStyle/>
          <a:p>
            <a:pPr lvl="0" algn="just"/>
            <a:r>
              <a:rPr lang="en-US" sz="2800" dirty="0">
                <a:solidFill>
                  <a:prstClr val="white"/>
                </a:solidFill>
                <a:latin typeface="Arial" panose="020B0604020202020204" pitchFamily="34" charset="0"/>
                <a:ea typeface="ＭＳ Ｐゴシック" pitchFamily="34" charset="-128"/>
                <a:cs typeface="Arial" panose="020B0604020202020204" pitchFamily="34" charset="0"/>
                <a:sym typeface="Symbol" pitchFamily="18" charset="2"/>
              </a:rPr>
              <a:t>The term Linear programming is the combination of two terms “Linear” and “Programing”. The term linear </a:t>
            </a:r>
            <a:r>
              <a:rPr lang="en-US" sz="2800" dirty="0" smtClean="0">
                <a:solidFill>
                  <a:prstClr val="white"/>
                </a:solidFill>
                <a:latin typeface="Arial" panose="020B0604020202020204" pitchFamily="34" charset="0"/>
                <a:ea typeface="ＭＳ Ｐゴシック" pitchFamily="34" charset="-128"/>
                <a:cs typeface="Arial" panose="020B0604020202020204" pitchFamily="34" charset="0"/>
                <a:sym typeface="Symbol" pitchFamily="18" charset="2"/>
              </a:rPr>
              <a:t>stands for indicating the relationships between different variables of degree one </a:t>
            </a:r>
            <a:r>
              <a:rPr lang="en-US" sz="2800" dirty="0">
                <a:solidFill>
                  <a:prstClr val="white"/>
                </a:solidFill>
                <a:latin typeface="Arial" panose="020B0604020202020204" pitchFamily="34" charset="0"/>
                <a:ea typeface="ＭＳ Ｐゴシック" pitchFamily="34" charset="-128"/>
                <a:cs typeface="Arial" panose="020B0604020202020204" pitchFamily="34" charset="0"/>
                <a:sym typeface="Symbol" pitchFamily="18" charset="2"/>
              </a:rPr>
              <a:t>and the term programming refers to the process determining particular </a:t>
            </a:r>
            <a:r>
              <a:rPr lang="en-US" sz="2800" dirty="0" smtClean="0">
                <a:solidFill>
                  <a:prstClr val="white"/>
                </a:solidFill>
                <a:latin typeface="Arial" panose="020B0604020202020204" pitchFamily="34" charset="0"/>
                <a:ea typeface="ＭＳ Ｐゴシック" pitchFamily="34" charset="-128"/>
                <a:cs typeface="Arial" panose="020B0604020202020204" pitchFamily="34" charset="0"/>
                <a:sym typeface="Symbol" pitchFamily="18" charset="2"/>
              </a:rPr>
              <a:t>program </a:t>
            </a:r>
            <a:r>
              <a:rPr lang="en-US" sz="2800" dirty="0">
                <a:solidFill>
                  <a:prstClr val="white"/>
                </a:solidFill>
                <a:latin typeface="Arial" panose="020B0604020202020204" pitchFamily="34" charset="0"/>
                <a:ea typeface="ＭＳ Ｐゴシック" pitchFamily="34" charset="-128"/>
                <a:cs typeface="Arial" panose="020B0604020202020204" pitchFamily="34" charset="0"/>
                <a:sym typeface="Symbol" pitchFamily="18" charset="2"/>
              </a:rPr>
              <a:t>or </a:t>
            </a:r>
            <a:r>
              <a:rPr lang="en-US" sz="2800" dirty="0">
                <a:solidFill>
                  <a:srgbClr val="FF0000"/>
                </a:solidFill>
                <a:latin typeface="Arial" panose="020B0604020202020204" pitchFamily="34" charset="0"/>
                <a:ea typeface="ＭＳ Ｐゴシック" pitchFamily="34" charset="-128"/>
                <a:cs typeface="Arial" panose="020B0604020202020204" pitchFamily="34" charset="0"/>
                <a:sym typeface="Symbol" pitchFamily="18" charset="2"/>
              </a:rPr>
              <a:t>plan</a:t>
            </a:r>
            <a:r>
              <a:rPr lang="en-US" sz="2800" dirty="0">
                <a:solidFill>
                  <a:prstClr val="white"/>
                </a:solidFill>
                <a:latin typeface="Arial" panose="020B0604020202020204" pitchFamily="34" charset="0"/>
                <a:ea typeface="ＭＳ Ｐゴシック" pitchFamily="34" charset="-128"/>
                <a:cs typeface="Arial" panose="020B0604020202020204" pitchFamily="34" charset="0"/>
                <a:sym typeface="Symbol" pitchFamily="18" charset="2"/>
              </a:rPr>
              <a:t> of action.</a:t>
            </a:r>
            <a:endParaRPr lang="en-US" sz="2800" dirty="0">
              <a:latin typeface="Arial" panose="020B0604020202020204" pitchFamily="34" charset="0"/>
              <a:ea typeface="ＭＳ Ｐゴシック" pitchFamily="34" charset="-128"/>
              <a:cs typeface="Arial" panose="020B0604020202020204" pitchFamily="34" charset="0"/>
              <a:sym typeface="Symbol" pitchFamily="18" charset="2"/>
            </a:endParaRPr>
          </a:p>
          <a:p>
            <a:endParaRPr lang="en-US" dirty="0"/>
          </a:p>
        </p:txBody>
      </p:sp>
    </p:spTree>
    <p:extLst>
      <p:ext uri="{BB962C8B-B14F-4D97-AF65-F5344CB8AC3E}">
        <p14:creationId xmlns:p14="http://schemas.microsoft.com/office/powerpoint/2010/main" val="226594625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Linear programming</a:t>
            </a:r>
          </a:p>
        </p:txBody>
      </p:sp>
      <p:sp>
        <p:nvSpPr>
          <p:cNvPr id="3" name="Content Placeholder 2"/>
          <p:cNvSpPr>
            <a:spLocks noGrp="1"/>
          </p:cNvSpPr>
          <p:nvPr>
            <p:ph idx="1"/>
          </p:nvPr>
        </p:nvSpPr>
        <p:spPr>
          <a:xfrm>
            <a:off x="811236" y="1621958"/>
            <a:ext cx="7429499" cy="4760912"/>
          </a:xfrm>
        </p:spPr>
        <p:txBody>
          <a:bodyPr>
            <a:normAutofit fontScale="92500"/>
          </a:bodyPr>
          <a:lstStyle/>
          <a:p>
            <a:pPr lvl="0" algn="just"/>
            <a:r>
              <a:rPr lang="en-US" sz="2800" dirty="0">
                <a:solidFill>
                  <a:prstClr val="white"/>
                </a:solidFill>
                <a:latin typeface="Arial" panose="020B0604020202020204" pitchFamily="34" charset="0"/>
                <a:ea typeface="ＭＳ Ｐゴシック" pitchFamily="34" charset="-128"/>
                <a:cs typeface="Arial" panose="020B0604020202020204" pitchFamily="34" charset="0"/>
                <a:sym typeface="Symbol" pitchFamily="18" charset="2"/>
              </a:rPr>
              <a:t>Linear programming is a model of choosing the best alternatives from the set of feasible alternatives, in such a situation in which the objective function as well the constraints can be expressed as linear mathematical function. The linear function which is to be optimized is called the objective function</a:t>
            </a:r>
            <a:r>
              <a:rPr lang="en-US" sz="2800" dirty="0" smtClean="0">
                <a:solidFill>
                  <a:prstClr val="white"/>
                </a:solidFill>
                <a:latin typeface="Arial" panose="020B0604020202020204" pitchFamily="34" charset="0"/>
                <a:ea typeface="ＭＳ Ｐゴシック" pitchFamily="34" charset="-128"/>
                <a:cs typeface="Arial" panose="020B0604020202020204" pitchFamily="34" charset="0"/>
                <a:sym typeface="Symbol" pitchFamily="18" charset="2"/>
              </a:rPr>
              <a:t>. </a:t>
            </a:r>
            <a:r>
              <a:rPr lang="en-US" sz="2800" dirty="0" smtClean="0">
                <a:solidFill>
                  <a:srgbClr val="92D050"/>
                </a:solidFill>
                <a:latin typeface="Arial" panose="020B0604020202020204" pitchFamily="34" charset="0"/>
                <a:ea typeface="ＭＳ Ｐゴシック" pitchFamily="34" charset="-128"/>
                <a:cs typeface="Arial" panose="020B0604020202020204" pitchFamily="34" charset="0"/>
                <a:sym typeface="Symbol" pitchFamily="18" charset="2"/>
              </a:rPr>
              <a:t>Thus linear programming is a mathematical technique for allocating limited resources in optimum manner.</a:t>
            </a:r>
            <a:endParaRPr lang="en-US" sz="2800" dirty="0">
              <a:solidFill>
                <a:srgbClr val="92D050"/>
              </a:solidFill>
              <a:latin typeface="Arial" panose="020B0604020202020204" pitchFamily="34" charset="0"/>
              <a:ea typeface="ＭＳ Ｐゴシック" pitchFamily="34" charset="-128"/>
              <a:cs typeface="Arial" panose="020B0604020202020204" pitchFamily="34" charset="0"/>
              <a:sym typeface="Symbol" pitchFamily="18" charset="2"/>
            </a:endParaRPr>
          </a:p>
          <a:p>
            <a:endParaRPr lang="en-US" dirty="0"/>
          </a:p>
        </p:txBody>
      </p:sp>
    </p:spTree>
    <p:extLst>
      <p:ext uri="{BB962C8B-B14F-4D97-AF65-F5344CB8AC3E}">
        <p14:creationId xmlns:p14="http://schemas.microsoft.com/office/powerpoint/2010/main" val="183036153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Linear Function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56060" y="2097088"/>
                <a:ext cx="7429499" cy="4760912"/>
              </a:xfrm>
            </p:spPr>
            <p:txBody>
              <a:bodyPr>
                <a:normAutofit/>
              </a:bodyPr>
              <a:lstStyle/>
              <a:p>
                <a:pPr algn="just"/>
                <a:r>
                  <a:rPr lang="en-US" sz="2800" dirty="0">
                    <a:latin typeface="Arial" panose="020B0604020202020204" pitchFamily="34" charset="0"/>
                    <a:cs typeface="Arial" panose="020B0604020202020204" pitchFamily="34" charset="0"/>
                  </a:rPr>
                  <a:t>linear function contains terms of which is composed of a variable raised to the power one. Linear functions are those whose graph is a straight </a:t>
                </a:r>
                <a:r>
                  <a:rPr lang="en-US" sz="2800" dirty="0">
                    <a:latin typeface="TimesNewRoman"/>
                  </a:rPr>
                  <a:t>line. </a:t>
                </a:r>
              </a:p>
              <a:p>
                <a:pPr algn="just"/>
                <a:r>
                  <a:rPr lang="en-US" sz="2800" dirty="0">
                    <a:latin typeface="TimesNewRoman"/>
                  </a:rPr>
                  <a:t> e.g. 3x+2y = 7 (linear)</a:t>
                </a:r>
              </a:p>
              <a:p>
                <a:pPr algn="just"/>
                <a:r>
                  <a:rPr lang="en-US" dirty="0">
                    <a:latin typeface="TimesNewRoman"/>
                  </a:rPr>
                  <a:t> 3</a:t>
                </a:r>
                <a14:m>
                  <m:oMath xmlns:m="http://schemas.openxmlformats.org/officeDocument/2006/math">
                    <m:sSup>
                      <m:sSupPr>
                        <m:ctrlPr>
                          <a:rPr lang="en-US" i="1" smtClean="0">
                            <a:latin typeface="Cambria Math"/>
                          </a:rPr>
                        </m:ctrlPr>
                      </m:sSupPr>
                      <m:e>
                        <m:r>
                          <a:rPr lang="en-US" b="0" i="1" smtClean="0">
                            <a:latin typeface="Cambria Math" panose="02040503050406030204" pitchFamily="18" charset="0"/>
                          </a:rPr>
                          <m:t>𝑥</m:t>
                        </m:r>
                      </m:e>
                      <m:sup>
                        <m:f>
                          <m:fPr>
                            <m:type m:val="skw"/>
                            <m:ctrlPr>
                              <a:rPr lang="en-US" i="1" smtClean="0">
                                <a:latin typeface="Cambria Math"/>
                              </a:rPr>
                            </m:ctrlPr>
                          </m:fPr>
                          <m:num>
                            <m:r>
                              <a:rPr lang="en-US" b="0" i="1" smtClean="0">
                                <a:latin typeface="Cambria Math" panose="02040503050406030204" pitchFamily="18" charset="0"/>
                              </a:rPr>
                              <m:t>2</m:t>
                            </m:r>
                          </m:num>
                          <m:den>
                            <m:r>
                              <a:rPr lang="en-US" b="0" i="1" smtClean="0">
                                <a:latin typeface="Cambria Math" panose="02040503050406030204" pitchFamily="18" charset="0"/>
                              </a:rPr>
                              <m:t>3</m:t>
                            </m:r>
                          </m:den>
                        </m:f>
                      </m:sup>
                    </m:sSup>
                  </m:oMath>
                </a14:m>
                <a:r>
                  <a:rPr lang="en-US" dirty="0">
                    <a:latin typeface="TimesNewRoman"/>
                  </a:rPr>
                  <a:t>+2y = 7 (Non-linear)</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56060" y="2097088"/>
                <a:ext cx="7429499" cy="4760912"/>
              </a:xfrm>
              <a:blipFill>
                <a:blip r:embed="rId2"/>
                <a:stretch>
                  <a:fillRect l="-2133" t="-2049" r="-1723"/>
                </a:stretch>
              </a:blipFill>
            </p:spPr>
            <p:txBody>
              <a:bodyPr/>
              <a:lstStyle/>
              <a:p>
                <a:r>
                  <a:rPr lang="en-US">
                    <a:noFill/>
                  </a:rPr>
                  <a:t> </a:t>
                </a:r>
              </a:p>
            </p:txBody>
          </p:sp>
        </mc:Fallback>
      </mc:AlternateContent>
    </p:spTree>
    <p:extLst>
      <p:ext uri="{BB962C8B-B14F-4D97-AF65-F5344CB8AC3E}">
        <p14:creationId xmlns:p14="http://schemas.microsoft.com/office/powerpoint/2010/main" val="77870647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Objective Function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56060" y="2097088"/>
                <a:ext cx="7429499" cy="4760912"/>
              </a:xfrm>
            </p:spPr>
            <p:txBody>
              <a:bodyPr>
                <a:normAutofit/>
              </a:bodyPr>
              <a:lstStyle/>
              <a:p>
                <a:pPr algn="just"/>
                <a:r>
                  <a:rPr lang="en-US" sz="2800" dirty="0">
                    <a:latin typeface="Arial" panose="020B0604020202020204" pitchFamily="34" charset="0"/>
                    <a:cs typeface="Arial" panose="020B0604020202020204" pitchFamily="34" charset="0"/>
                  </a:rPr>
                  <a:t>z = </a:t>
                </a:r>
                <a14:m>
                  <m:oMath xmlns:m="http://schemas.openxmlformats.org/officeDocument/2006/math">
                    <m:sSub>
                      <m:sSubPr>
                        <m:ctrlPr>
                          <a:rPr lang="en-US" sz="2800" i="1" smtClean="0">
                            <a:latin typeface="Cambria Math"/>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1</m:t>
                        </m:r>
                      </m:sub>
                    </m:sSub>
                    <m:sSub>
                      <m:sSubPr>
                        <m:ctrlPr>
                          <a:rPr lang="en-US" sz="2800" i="1" smtClean="0">
                            <a:latin typeface="Cambria Math"/>
                          </a:rPr>
                        </m:ctrlPr>
                      </m:sSubPr>
                      <m:e>
                        <m:r>
                          <a:rPr lang="en-US" sz="2800" b="0" i="1" smtClean="0">
                            <a:latin typeface="Cambria Math" panose="02040503050406030204" pitchFamily="18" charset="0"/>
                          </a:rPr>
                          <m:t>+</m:t>
                        </m:r>
                        <m:r>
                          <a:rPr lang="en-US" sz="2800" b="0" i="1" smtClean="0">
                            <a:latin typeface="Cambria Math" panose="02040503050406030204" pitchFamily="18" charset="0"/>
                          </a:rPr>
                          <m:t>𝑥</m:t>
                        </m:r>
                      </m:e>
                      <m:sub>
                        <m:r>
                          <a:rPr lang="en-US" sz="2800" b="0" i="1" smtClean="0">
                            <a:latin typeface="Cambria Math" panose="02040503050406030204" pitchFamily="18" charset="0"/>
                          </a:rPr>
                          <m:t>2</m:t>
                        </m:r>
                      </m:sub>
                    </m:sSub>
                  </m:oMath>
                </a14:m>
                <a:r>
                  <a:rPr lang="en-US" sz="2800" dirty="0">
                    <a:latin typeface="Arial" panose="020B0604020202020204" pitchFamily="34" charset="0"/>
                    <a:cs typeface="Arial" panose="020B0604020202020204" pitchFamily="34" charset="0"/>
                  </a:rPr>
                  <a:t> is the most typical form of objective functions are maximize f(x) or minimize f(x).</a:t>
                </a:r>
              </a:p>
              <a:p>
                <a:pPr algn="just"/>
                <a:r>
                  <a:rPr lang="en-US" sz="2800" dirty="0">
                    <a:latin typeface="Arial" panose="020B0604020202020204" pitchFamily="34" charset="0"/>
                    <a:cs typeface="Arial" panose="020B0604020202020204" pitchFamily="34" charset="0"/>
                  </a:rPr>
                  <a:t>In other words that function whose work is to maximize or minimize the linear function is called objective function.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56060" y="2097088"/>
                <a:ext cx="7429499" cy="4760912"/>
              </a:xfrm>
              <a:blipFill>
                <a:blip r:embed="rId2"/>
                <a:stretch>
                  <a:fillRect l="-2133" t="-2049" r="-1723"/>
                </a:stretch>
              </a:blipFill>
            </p:spPr>
            <p:txBody>
              <a:bodyPr/>
              <a:lstStyle/>
              <a:p>
                <a:r>
                  <a:rPr lang="en-US">
                    <a:noFill/>
                  </a:rPr>
                  <a:t> </a:t>
                </a:r>
              </a:p>
            </p:txBody>
          </p:sp>
        </mc:Fallback>
      </mc:AlternateContent>
    </p:spTree>
    <p:extLst>
      <p:ext uri="{BB962C8B-B14F-4D97-AF65-F5344CB8AC3E}">
        <p14:creationId xmlns:p14="http://schemas.microsoft.com/office/powerpoint/2010/main" val="107222363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constraint</a:t>
            </a:r>
          </a:p>
        </p:txBody>
      </p:sp>
      <p:sp>
        <p:nvSpPr>
          <p:cNvPr id="3" name="Content Placeholder 2"/>
          <p:cNvSpPr>
            <a:spLocks noGrp="1"/>
          </p:cNvSpPr>
          <p:nvPr>
            <p:ph idx="1"/>
          </p:nvPr>
        </p:nvSpPr>
        <p:spPr>
          <a:xfrm>
            <a:off x="856060" y="2097088"/>
            <a:ext cx="7429499" cy="4760912"/>
          </a:xfrm>
        </p:spPr>
        <p:txBody>
          <a:bodyPr>
            <a:normAutofit/>
          </a:bodyPr>
          <a:lstStyle/>
          <a:p>
            <a:pPr algn="just"/>
            <a:r>
              <a:rPr lang="en-US" sz="3200" dirty="0">
                <a:latin typeface="Arial" panose="020B0604020202020204" pitchFamily="34" charset="0"/>
                <a:cs typeface="Arial" panose="020B0604020202020204" pitchFamily="34" charset="0"/>
              </a:rPr>
              <a:t>The restrictions or limitations on any linear function is called constraint.</a:t>
            </a:r>
          </a:p>
          <a:p>
            <a:r>
              <a:rPr lang="en-US" sz="3200" dirty="0">
                <a:latin typeface="TimesNewRoman"/>
              </a:rPr>
              <a:t>The mathematical forms of constraints are      f(x) ≤ b or f(x) </a:t>
            </a:r>
            <a:r>
              <a:rPr lang="en-US" sz="3200" dirty="0">
                <a:latin typeface="Symbol" panose="05050102010706020507" pitchFamily="18" charset="2"/>
              </a:rPr>
              <a:t> </a:t>
            </a:r>
            <a:r>
              <a:rPr lang="en-US" sz="3200" dirty="0">
                <a:latin typeface="TimesNewRoman"/>
              </a:rPr>
              <a:t>b or f(x) = b</a:t>
            </a:r>
            <a:endParaRPr lang="en-US"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4230818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Feasible solution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56060" y="2097088"/>
                <a:ext cx="7429499" cy="4760912"/>
              </a:xfrm>
            </p:spPr>
            <p:txBody>
              <a:bodyPr>
                <a:normAutofit/>
              </a:bodyPr>
              <a:lstStyle/>
              <a:p>
                <a:pPr algn="just"/>
                <a:r>
                  <a:rPr lang="en-US" sz="2800" dirty="0">
                    <a:latin typeface="Arial" panose="020B0604020202020204" pitchFamily="34" charset="0"/>
                    <a:cs typeface="Arial" panose="020B0604020202020204" pitchFamily="34" charset="0"/>
                  </a:rPr>
                  <a:t>A set of real values of X=(</a:t>
                </a:r>
                <a14:m>
                  <m:oMath xmlns:m="http://schemas.openxmlformats.org/officeDocument/2006/math">
                    <m:sSub>
                      <m:sSubPr>
                        <m:ctrlPr>
                          <a:rPr lang="en-US" sz="2800" i="1">
                            <a:solidFill>
                              <a:prstClr val="white"/>
                            </a:solidFill>
                            <a:latin typeface="Cambria Math"/>
                          </a:rPr>
                        </m:ctrlPr>
                      </m:sSubPr>
                      <m:e>
                        <m:r>
                          <a:rPr lang="en-US" sz="2800" i="1">
                            <a:solidFill>
                              <a:prstClr val="white"/>
                            </a:solidFill>
                            <a:latin typeface="Cambria Math" panose="02040503050406030204" pitchFamily="18" charset="0"/>
                          </a:rPr>
                          <m:t>𝑥</m:t>
                        </m:r>
                      </m:e>
                      <m:sub>
                        <m:r>
                          <a:rPr lang="en-US" sz="2800" i="1">
                            <a:solidFill>
                              <a:prstClr val="white"/>
                            </a:solidFill>
                            <a:latin typeface="Cambria Math" panose="02040503050406030204" pitchFamily="18" charset="0"/>
                          </a:rPr>
                          <m:t>1</m:t>
                        </m:r>
                      </m:sub>
                    </m:sSub>
                    <m:r>
                      <a:rPr lang="en-US" sz="2800" b="0" i="0" smtClean="0">
                        <a:solidFill>
                          <a:prstClr val="white"/>
                        </a:solidFill>
                        <a:latin typeface="Cambria Math" panose="02040503050406030204" pitchFamily="18" charset="0"/>
                      </a:rPr>
                      <m:t>, </m:t>
                    </m:r>
                    <m:sSub>
                      <m:sSubPr>
                        <m:ctrlPr>
                          <a:rPr lang="en-US" sz="2800" i="1">
                            <a:solidFill>
                              <a:prstClr val="white"/>
                            </a:solidFill>
                            <a:latin typeface="Cambria Math"/>
                          </a:rPr>
                        </m:ctrlPr>
                      </m:sSubPr>
                      <m:e>
                        <m:r>
                          <a:rPr lang="en-US" sz="2800" i="1">
                            <a:solidFill>
                              <a:prstClr val="white"/>
                            </a:solidFill>
                            <a:latin typeface="Cambria Math" panose="02040503050406030204" pitchFamily="18" charset="0"/>
                          </a:rPr>
                          <m:t>𝑥</m:t>
                        </m:r>
                      </m:e>
                      <m:sub>
                        <m:r>
                          <a:rPr lang="en-US" sz="2800" b="0" i="1" smtClean="0">
                            <a:solidFill>
                              <a:prstClr val="white"/>
                            </a:solidFill>
                            <a:latin typeface="Cambria Math" panose="02040503050406030204" pitchFamily="18" charset="0"/>
                          </a:rPr>
                          <m:t>2</m:t>
                        </m:r>
                      </m:sub>
                    </m:sSub>
                    <m:r>
                      <a:rPr lang="en-US" sz="2800" b="0" i="0" smtClean="0">
                        <a:solidFill>
                          <a:prstClr val="white"/>
                        </a:solidFill>
                        <a:latin typeface="Cambria Math" panose="02040503050406030204" pitchFamily="18" charset="0"/>
                      </a:rPr>
                      <m:t>, …. </m:t>
                    </m:r>
                    <m:sSub>
                      <m:sSubPr>
                        <m:ctrlPr>
                          <a:rPr lang="en-US" sz="2800" i="1">
                            <a:solidFill>
                              <a:prstClr val="white"/>
                            </a:solidFill>
                            <a:latin typeface="Cambria Math"/>
                          </a:rPr>
                        </m:ctrlPr>
                      </m:sSubPr>
                      <m:e>
                        <m:r>
                          <a:rPr lang="en-US" sz="2800" i="1">
                            <a:solidFill>
                              <a:prstClr val="white"/>
                            </a:solidFill>
                            <a:latin typeface="Cambria Math" panose="02040503050406030204" pitchFamily="18" charset="0"/>
                          </a:rPr>
                          <m:t>𝑥</m:t>
                        </m:r>
                      </m:e>
                      <m:sub>
                        <m:r>
                          <a:rPr lang="en-US" sz="2800" b="0" i="1" smtClean="0">
                            <a:solidFill>
                              <a:prstClr val="white"/>
                            </a:solidFill>
                            <a:latin typeface="Cambria Math" panose="02040503050406030204" pitchFamily="18" charset="0"/>
                          </a:rPr>
                          <m:t>𝑛</m:t>
                        </m:r>
                      </m:sub>
                    </m:sSub>
                  </m:oMath>
                </a14:m>
                <a:r>
                  <a:rPr lang="en-US" sz="2800" dirty="0">
                    <a:latin typeface="Arial" panose="020B0604020202020204" pitchFamily="34" charset="0"/>
                    <a:cs typeface="Arial" panose="020B0604020202020204" pitchFamily="34" charset="0"/>
                  </a:rPr>
                  <a:t>), which satisfies the constraint </a:t>
                </a:r>
                <a:r>
                  <a:rPr lang="en-US" sz="2800" dirty="0">
                    <a:latin typeface="TimesNewRoman"/>
                  </a:rPr>
                  <a:t>AX ≤ b or AX </a:t>
                </a:r>
                <a:r>
                  <a:rPr lang="en-US" sz="2800" dirty="0">
                    <a:latin typeface="Symbol" panose="05050102010706020507" pitchFamily="18" charset="2"/>
                  </a:rPr>
                  <a:t> </a:t>
                </a:r>
                <a:r>
                  <a:rPr lang="en-US" sz="2800" dirty="0">
                    <a:latin typeface="TimesNewRoman"/>
                  </a:rPr>
                  <a:t>b or AX = b and satisfies the non-negativity restriction X</a:t>
                </a:r>
                <a:r>
                  <a:rPr lang="en-US" sz="2800" dirty="0">
                    <a:latin typeface="Symbol" panose="05050102010706020507" pitchFamily="18" charset="2"/>
                  </a:rPr>
                  <a:t>  0 </a:t>
                </a:r>
                <a:r>
                  <a:rPr lang="en-US" sz="2800" dirty="0">
                    <a:latin typeface="Arial" panose="020B0604020202020204" pitchFamily="34" charset="0"/>
                    <a:cs typeface="Arial" panose="020B0604020202020204" pitchFamily="34" charset="0"/>
                  </a:rPr>
                  <a:t>is called feasible solution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56060" y="2097088"/>
                <a:ext cx="7429499" cy="4760912"/>
              </a:xfrm>
              <a:blipFill>
                <a:blip r:embed="rId2"/>
                <a:stretch>
                  <a:fillRect l="-2133" t="-2049" r="-1723"/>
                </a:stretch>
              </a:blipFill>
            </p:spPr>
            <p:txBody>
              <a:bodyPr/>
              <a:lstStyle/>
              <a:p>
                <a:r>
                  <a:rPr lang="en-US">
                    <a:noFill/>
                  </a:rPr>
                  <a:t> </a:t>
                </a:r>
              </a:p>
            </p:txBody>
          </p:sp>
        </mc:Fallback>
      </mc:AlternateContent>
    </p:spTree>
    <p:extLst>
      <p:ext uri="{BB962C8B-B14F-4D97-AF65-F5344CB8AC3E}">
        <p14:creationId xmlns:p14="http://schemas.microsoft.com/office/powerpoint/2010/main" val="235814154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optimal solution</a:t>
            </a:r>
          </a:p>
        </p:txBody>
      </p:sp>
      <p:sp>
        <p:nvSpPr>
          <p:cNvPr id="3" name="Content Placeholder 2"/>
          <p:cNvSpPr>
            <a:spLocks noGrp="1"/>
          </p:cNvSpPr>
          <p:nvPr>
            <p:ph idx="1"/>
          </p:nvPr>
        </p:nvSpPr>
        <p:spPr>
          <a:xfrm>
            <a:off x="856060" y="2097088"/>
            <a:ext cx="7429499" cy="4760912"/>
          </a:xfrm>
        </p:spPr>
        <p:txBody>
          <a:bodyPr>
            <a:normAutofit/>
          </a:bodyPr>
          <a:lstStyle/>
          <a:p>
            <a:pPr algn="just"/>
            <a:r>
              <a:rPr lang="en-US" sz="2800" dirty="0">
                <a:latin typeface="Arial" panose="020B0604020202020204" pitchFamily="34" charset="0"/>
                <a:cs typeface="Arial" panose="020B0604020202020204" pitchFamily="34" charset="0"/>
              </a:rPr>
              <a:t>The solution where the objective function is maximize or minimize is known as optimal solution</a:t>
            </a:r>
          </a:p>
        </p:txBody>
      </p:sp>
    </p:spTree>
    <p:extLst>
      <p:ext uri="{BB962C8B-B14F-4D97-AF65-F5344CB8AC3E}">
        <p14:creationId xmlns:p14="http://schemas.microsoft.com/office/powerpoint/2010/main" val="260833381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6060" y="268893"/>
            <a:ext cx="8287940" cy="1784024"/>
          </a:xfrm>
        </p:spPr>
        <p:txBody>
          <a:bodyPr>
            <a:normAutofit/>
          </a:bodyPr>
          <a:lstStyle/>
          <a:p>
            <a:r>
              <a:rPr lang="en-US" sz="4000" dirty="0">
                <a:solidFill>
                  <a:srgbClr val="C00000"/>
                </a:solidFill>
                <a:latin typeface="Arial" panose="020B0604020202020204" pitchFamily="34" charset="0"/>
                <a:cs typeface="Arial" panose="020B0604020202020204" pitchFamily="34" charset="0"/>
              </a:rPr>
              <a:t>General </a:t>
            </a:r>
            <a:r>
              <a:rPr lang="en-US" sz="4000" dirty="0" smtClean="0">
                <a:solidFill>
                  <a:srgbClr val="C00000"/>
                </a:solidFill>
                <a:latin typeface="Arial" panose="020B0604020202020204" pitchFamily="34" charset="0"/>
                <a:cs typeface="Arial" panose="020B0604020202020204" pitchFamily="34" charset="0"/>
              </a:rPr>
              <a:t>linear programming</a:t>
            </a:r>
            <a:endParaRPr lang="en-US" sz="4000" dirty="0">
              <a:solidFill>
                <a:srgbClr val="C00000"/>
              </a:solidFill>
              <a:latin typeface="Arial" panose="020B0604020202020204" pitchFamily="34" charset="0"/>
              <a:cs typeface="Arial" panose="020B0604020202020204" pitchFamily="34" charset="0"/>
            </a:endParaRPr>
          </a:p>
        </p:txBody>
      </p:sp>
      <p:pic>
        <p:nvPicPr>
          <p:cNvPr id="4" name="Content Placeholder 3">
            <a:extLst>
              <a:ext uri="{FF2B5EF4-FFF2-40B4-BE49-F238E27FC236}">
                <a16:creationId xmlns="" xmlns:a16="http://schemas.microsoft.com/office/drawing/2014/main" id="{3BE066CD-287C-4546-A665-B93B13383379}"/>
              </a:ext>
            </a:extLst>
          </p:cNvPr>
          <p:cNvPicPr>
            <a:picLocks noGrp="1" noChangeAspect="1"/>
          </p:cNvPicPr>
          <p:nvPr>
            <p:ph idx="1"/>
          </p:nvPr>
        </p:nvPicPr>
        <p:blipFill>
          <a:blip r:embed="rId2"/>
          <a:stretch>
            <a:fillRect/>
          </a:stretch>
        </p:blipFill>
        <p:spPr>
          <a:xfrm>
            <a:off x="856060" y="2201141"/>
            <a:ext cx="7429498" cy="3243055"/>
          </a:xfrm>
          <a:prstGeom prst="rect">
            <a:avLst/>
          </a:prstGeom>
        </p:spPr>
      </p:pic>
      <p:pic>
        <p:nvPicPr>
          <p:cNvPr id="5" name="Picture 4">
            <a:extLst>
              <a:ext uri="{FF2B5EF4-FFF2-40B4-BE49-F238E27FC236}">
                <a16:creationId xmlns="" xmlns:a16="http://schemas.microsoft.com/office/drawing/2014/main" id="{9494112F-D0BE-48BC-BEA1-B335B05EE9DF}"/>
              </a:ext>
            </a:extLst>
          </p:cNvPr>
          <p:cNvPicPr>
            <a:picLocks noChangeAspect="1"/>
          </p:cNvPicPr>
          <p:nvPr/>
        </p:nvPicPr>
        <p:blipFill>
          <a:blip r:embed="rId3"/>
          <a:stretch>
            <a:fillRect/>
          </a:stretch>
        </p:blipFill>
        <p:spPr>
          <a:xfrm>
            <a:off x="856060" y="5444196"/>
            <a:ext cx="7429498" cy="633047"/>
          </a:xfrm>
          <a:prstGeom prst="rect">
            <a:avLst/>
          </a:prstGeom>
        </p:spPr>
      </p:pic>
      <mc:AlternateContent xmlns:mc="http://schemas.openxmlformats.org/markup-compatibility/2006" xmlns:a14="http://schemas.microsoft.com/office/drawing/2010/main">
        <mc:Choice Requires="a14">
          <p:sp>
            <p:nvSpPr>
              <p:cNvPr id="3" name="TextBox 2"/>
              <p:cNvSpPr txBox="1"/>
              <p:nvPr/>
            </p:nvSpPr>
            <p:spPr>
              <a:xfrm>
                <a:off x="2142565" y="6077243"/>
                <a:ext cx="3585882"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solidFill>
                                <a:schemeClr val="tx1"/>
                              </a:solidFill>
                              <a:latin typeface="Cambria Math"/>
                            </a:rPr>
                          </m:ctrlPr>
                        </m:sSubPr>
                        <m:e>
                          <m:r>
                            <a:rPr lang="en-US" sz="2400" b="0" i="1" smtClean="0">
                              <a:solidFill>
                                <a:schemeClr val="tx1"/>
                              </a:solidFill>
                              <a:latin typeface="Cambria Math"/>
                            </a:rPr>
                            <m:t>𝑥</m:t>
                          </m:r>
                        </m:e>
                        <m:sub>
                          <m:r>
                            <a:rPr lang="en-US" sz="2400" b="0" i="1" smtClean="0">
                              <a:solidFill>
                                <a:schemeClr val="tx1"/>
                              </a:solidFill>
                              <a:latin typeface="Cambria Math"/>
                            </a:rPr>
                            <m:t>1</m:t>
                          </m:r>
                        </m:sub>
                      </m:sSub>
                      <m:r>
                        <a:rPr lang="en-US" sz="2400" b="0" i="1" smtClean="0">
                          <a:solidFill>
                            <a:schemeClr val="tx1"/>
                          </a:solidFill>
                          <a:latin typeface="Cambria Math"/>
                        </a:rPr>
                        <m:t>, </m:t>
                      </m:r>
                      <m:sSub>
                        <m:sSubPr>
                          <m:ctrlPr>
                            <a:rPr lang="en-US" sz="2400" b="0" i="1" smtClean="0">
                              <a:solidFill>
                                <a:schemeClr val="tx1"/>
                              </a:solidFill>
                              <a:latin typeface="Cambria Math"/>
                            </a:rPr>
                          </m:ctrlPr>
                        </m:sSubPr>
                        <m:e>
                          <m:r>
                            <a:rPr lang="en-US" sz="2400" b="0" i="1" smtClean="0">
                              <a:solidFill>
                                <a:schemeClr val="tx1"/>
                              </a:solidFill>
                              <a:latin typeface="Cambria Math"/>
                            </a:rPr>
                            <m:t>𝑥</m:t>
                          </m:r>
                        </m:e>
                        <m:sub>
                          <m:r>
                            <a:rPr lang="en-US" sz="2400" b="0" i="1" smtClean="0">
                              <a:solidFill>
                                <a:schemeClr val="tx1"/>
                              </a:solidFill>
                              <a:latin typeface="Cambria Math"/>
                            </a:rPr>
                            <m:t>2</m:t>
                          </m:r>
                        </m:sub>
                      </m:sSub>
                      <m:r>
                        <a:rPr lang="en-US" sz="2400" b="0" i="1" smtClean="0">
                          <a:solidFill>
                            <a:schemeClr val="tx1"/>
                          </a:solidFill>
                          <a:latin typeface="Cambria Math"/>
                        </a:rPr>
                        <m:t>, ….., </m:t>
                      </m:r>
                      <m:sSub>
                        <m:sSubPr>
                          <m:ctrlPr>
                            <a:rPr lang="en-US" sz="2400" b="0" i="1" smtClean="0">
                              <a:solidFill>
                                <a:schemeClr val="tx1"/>
                              </a:solidFill>
                              <a:latin typeface="Cambria Math"/>
                            </a:rPr>
                          </m:ctrlPr>
                        </m:sSubPr>
                        <m:e>
                          <m:r>
                            <a:rPr lang="en-US" sz="2400" b="0" i="1" smtClean="0">
                              <a:solidFill>
                                <a:schemeClr val="tx1"/>
                              </a:solidFill>
                              <a:latin typeface="Cambria Math"/>
                            </a:rPr>
                            <m:t>𝑥</m:t>
                          </m:r>
                        </m:e>
                        <m:sub>
                          <m:r>
                            <a:rPr lang="en-US" sz="2400" b="0" i="1" smtClean="0">
                              <a:solidFill>
                                <a:schemeClr val="tx1"/>
                              </a:solidFill>
                              <a:latin typeface="Cambria Math"/>
                            </a:rPr>
                            <m:t>𝑛</m:t>
                          </m:r>
                        </m:sub>
                      </m:sSub>
                      <m:r>
                        <a:rPr lang="en-US" sz="2400" b="0" i="1" smtClean="0">
                          <a:solidFill>
                            <a:schemeClr val="tx1"/>
                          </a:solidFill>
                          <a:latin typeface="Cambria Math"/>
                        </a:rPr>
                        <m:t> </m:t>
                      </m:r>
                      <m:r>
                        <a:rPr lang="en-US" sz="2400" b="0" i="1" smtClean="0">
                          <a:solidFill>
                            <a:schemeClr val="tx1"/>
                          </a:solidFill>
                          <a:latin typeface="Cambria Math"/>
                          <a:ea typeface="Cambria Math"/>
                        </a:rPr>
                        <m:t>≥0.</m:t>
                      </m:r>
                    </m:oMath>
                  </m:oMathPara>
                </a14:m>
                <a:endParaRPr lang="en-GB" sz="2400" dirty="0">
                  <a:solidFill>
                    <a:schemeClr val="tx1"/>
                  </a:solidFill>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2142565" y="6077243"/>
                <a:ext cx="3585882" cy="461665"/>
              </a:xfrm>
              <a:prstGeom prst="rect">
                <a:avLst/>
              </a:prstGeom>
              <a:blipFill rotWithShape="1">
                <a:blip r:embed="rId4"/>
                <a:stretch>
                  <a:fillRect t="-10526" b="-28947"/>
                </a:stretch>
              </a:blipFill>
            </p:spPr>
            <p:txBody>
              <a:bodyPr/>
              <a:lstStyle/>
              <a:p>
                <a:r>
                  <a:rPr lang="en-GB">
                    <a:noFill/>
                  </a:rPr>
                  <a:t> </a:t>
                </a:r>
              </a:p>
            </p:txBody>
          </p:sp>
        </mc:Fallback>
      </mc:AlternateContent>
    </p:spTree>
    <p:extLst>
      <p:ext uri="{BB962C8B-B14F-4D97-AF65-F5344CB8AC3E}">
        <p14:creationId xmlns:p14="http://schemas.microsoft.com/office/powerpoint/2010/main" val="38697381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6060" y="672307"/>
            <a:ext cx="7429499" cy="1478570"/>
          </a:xfrm>
        </p:spPr>
        <p:txBody>
          <a:bodyPr>
            <a:normAutofit fontScale="90000"/>
          </a:bodyPr>
          <a:lstStyle/>
          <a:p>
            <a:r>
              <a:rPr lang="en-US" sz="4000" dirty="0">
                <a:solidFill>
                  <a:srgbClr val="C00000"/>
                </a:solidFill>
                <a:latin typeface="Arial" panose="020B0604020202020204" pitchFamily="34" charset="0"/>
                <a:cs typeface="Arial" panose="020B0604020202020204" pitchFamily="34" charset="0"/>
              </a:rPr>
              <a:t>Formulation of linear programming in mathematical form</a:t>
            </a:r>
          </a:p>
        </p:txBody>
      </p:sp>
      <p:sp>
        <p:nvSpPr>
          <p:cNvPr id="6" name="Content Placeholder 5">
            <a:extLst>
              <a:ext uri="{FF2B5EF4-FFF2-40B4-BE49-F238E27FC236}">
                <a16:creationId xmlns="" xmlns:a16="http://schemas.microsoft.com/office/drawing/2014/main" id="{12C3F38F-06D5-4ADF-BB89-374D8DB47BD2}"/>
              </a:ext>
            </a:extLst>
          </p:cNvPr>
          <p:cNvSpPr>
            <a:spLocks noGrp="1"/>
          </p:cNvSpPr>
          <p:nvPr>
            <p:ph idx="1"/>
          </p:nvPr>
        </p:nvSpPr>
        <p:spPr>
          <a:xfrm>
            <a:off x="981566" y="2097085"/>
            <a:ext cx="7429499" cy="4608513"/>
          </a:xfrm>
        </p:spPr>
        <p:txBody>
          <a:bodyPr/>
          <a:lstStyle/>
          <a:p>
            <a:r>
              <a:rPr lang="en-US" dirty="0">
                <a:latin typeface="Arial" panose="020B0604020202020204" pitchFamily="34" charset="0"/>
                <a:cs typeface="Arial" panose="020B0604020202020204" pitchFamily="34" charset="0"/>
              </a:rPr>
              <a:t>A company manufactures two products A and B. Both products are processed on two machines M1 and M2.</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Profit per unit of A is Rs=100 and for B is Rs=80. Find out the monthly production of A and B to maximize profit.</a:t>
            </a:r>
          </a:p>
          <a:p>
            <a:endParaRPr lang="en-US" dirty="0">
              <a:latin typeface="Arial" panose="020B0604020202020204" pitchFamily="34" charset="0"/>
              <a:cs typeface="Arial" panose="020B0604020202020204" pitchFamily="34" charset="0"/>
            </a:endParaRPr>
          </a:p>
        </p:txBody>
      </p:sp>
      <p:graphicFrame>
        <p:nvGraphicFramePr>
          <p:cNvPr id="3" name="Table 3">
            <a:extLst>
              <a:ext uri="{FF2B5EF4-FFF2-40B4-BE49-F238E27FC236}">
                <a16:creationId xmlns="" xmlns:a16="http://schemas.microsoft.com/office/drawing/2014/main" id="{CE57C078-7687-4EEF-9BE0-8719F7C02C84}"/>
              </a:ext>
            </a:extLst>
          </p:cNvPr>
          <p:cNvGraphicFramePr>
            <a:graphicFrameLocks noGrp="1"/>
          </p:cNvGraphicFramePr>
          <p:nvPr>
            <p:extLst>
              <p:ext uri="{D42A27DB-BD31-4B8C-83A1-F6EECF244321}">
                <p14:modId xmlns:p14="http://schemas.microsoft.com/office/powerpoint/2010/main" val="756780998"/>
              </p:ext>
            </p:extLst>
          </p:nvPr>
        </p:nvGraphicFramePr>
        <p:xfrm>
          <a:off x="1325586" y="3572114"/>
          <a:ext cx="6096000" cy="1483360"/>
        </p:xfrm>
        <a:graphic>
          <a:graphicData uri="http://schemas.openxmlformats.org/drawingml/2006/table">
            <a:tbl>
              <a:tblPr firstRow="1" bandRow="1">
                <a:tableStyleId>{7DF18680-E054-41AD-8BC1-D1AEF772440D}</a:tableStyleId>
              </a:tblPr>
              <a:tblGrid>
                <a:gridCol w="2032000">
                  <a:extLst>
                    <a:ext uri="{9D8B030D-6E8A-4147-A177-3AD203B41FA5}">
                      <a16:colId xmlns="" xmlns:a16="http://schemas.microsoft.com/office/drawing/2014/main" val="2286705530"/>
                    </a:ext>
                  </a:extLst>
                </a:gridCol>
                <a:gridCol w="2032000">
                  <a:extLst>
                    <a:ext uri="{9D8B030D-6E8A-4147-A177-3AD203B41FA5}">
                      <a16:colId xmlns="" xmlns:a16="http://schemas.microsoft.com/office/drawing/2014/main" val="3105427535"/>
                    </a:ext>
                  </a:extLst>
                </a:gridCol>
                <a:gridCol w="2032000">
                  <a:extLst>
                    <a:ext uri="{9D8B030D-6E8A-4147-A177-3AD203B41FA5}">
                      <a16:colId xmlns="" xmlns:a16="http://schemas.microsoft.com/office/drawing/2014/main" val="3200546684"/>
                    </a:ext>
                  </a:extLst>
                </a:gridCol>
              </a:tblGrid>
              <a:tr h="370840">
                <a:tc>
                  <a:txBody>
                    <a:bodyPr/>
                    <a:lstStyle/>
                    <a:p>
                      <a:r>
                        <a:rPr lang="en-US" dirty="0"/>
                        <a:t>Products</a:t>
                      </a:r>
                    </a:p>
                  </a:txBody>
                  <a:tcPr/>
                </a:tc>
                <a:tc>
                  <a:txBody>
                    <a:bodyPr/>
                    <a:lstStyle/>
                    <a:p>
                      <a:r>
                        <a:rPr lang="en-US" dirty="0" smtClean="0"/>
                        <a:t>M1 (Resource)</a:t>
                      </a:r>
                      <a:endParaRPr lang="en-US" dirty="0"/>
                    </a:p>
                  </a:txBody>
                  <a:tcPr/>
                </a:tc>
                <a:tc>
                  <a:txBody>
                    <a:bodyPr/>
                    <a:lstStyle/>
                    <a:p>
                      <a:r>
                        <a:rPr lang="en-US" dirty="0" smtClean="0"/>
                        <a:t>M2 (Resource)</a:t>
                      </a:r>
                      <a:endParaRPr lang="en-US" dirty="0"/>
                    </a:p>
                  </a:txBody>
                  <a:tcPr/>
                </a:tc>
                <a:extLst>
                  <a:ext uri="{0D108BD9-81ED-4DB2-BD59-A6C34878D82A}">
                    <a16:rowId xmlns="" xmlns:a16="http://schemas.microsoft.com/office/drawing/2014/main" val="4002406442"/>
                  </a:ext>
                </a:extLst>
              </a:tr>
              <a:tr h="370840">
                <a:tc>
                  <a:txBody>
                    <a:bodyPr/>
                    <a:lstStyle/>
                    <a:p>
                      <a:r>
                        <a:rPr lang="en-US" dirty="0"/>
                        <a:t>A</a:t>
                      </a:r>
                    </a:p>
                  </a:txBody>
                  <a:tcPr/>
                </a:tc>
                <a:tc>
                  <a:txBody>
                    <a:bodyPr/>
                    <a:lstStyle/>
                    <a:p>
                      <a:r>
                        <a:rPr lang="en-US" dirty="0"/>
                        <a:t>6 </a:t>
                      </a:r>
                      <a:r>
                        <a:rPr lang="en-US" dirty="0" err="1"/>
                        <a:t>hrs</a:t>
                      </a:r>
                      <a:r>
                        <a:rPr lang="en-US" dirty="0"/>
                        <a:t>/Unit</a:t>
                      </a:r>
                    </a:p>
                  </a:txBody>
                  <a:tcPr/>
                </a:tc>
                <a:tc>
                  <a:txBody>
                    <a:bodyPr/>
                    <a:lstStyle/>
                    <a:p>
                      <a:r>
                        <a:rPr lang="en-US" dirty="0"/>
                        <a:t>2 </a:t>
                      </a:r>
                      <a:r>
                        <a:rPr lang="en-US" dirty="0" err="1"/>
                        <a:t>hrs</a:t>
                      </a:r>
                      <a:r>
                        <a:rPr lang="en-US" dirty="0"/>
                        <a:t>/Unit</a:t>
                      </a:r>
                    </a:p>
                  </a:txBody>
                  <a:tcPr/>
                </a:tc>
                <a:extLst>
                  <a:ext uri="{0D108BD9-81ED-4DB2-BD59-A6C34878D82A}">
                    <a16:rowId xmlns="" xmlns:a16="http://schemas.microsoft.com/office/drawing/2014/main" val="1448079993"/>
                  </a:ext>
                </a:extLst>
              </a:tr>
              <a:tr h="370840">
                <a:tc>
                  <a:txBody>
                    <a:bodyPr/>
                    <a:lstStyle/>
                    <a:p>
                      <a:r>
                        <a:rPr lang="en-US" dirty="0"/>
                        <a:t>B</a:t>
                      </a:r>
                    </a:p>
                  </a:txBody>
                  <a:tcPr/>
                </a:tc>
                <a:tc>
                  <a:txBody>
                    <a:bodyPr/>
                    <a:lstStyle/>
                    <a:p>
                      <a:r>
                        <a:rPr lang="en-US" dirty="0"/>
                        <a:t>4 </a:t>
                      </a:r>
                      <a:r>
                        <a:rPr lang="en-US" dirty="0" err="1"/>
                        <a:t>hrs</a:t>
                      </a:r>
                      <a:r>
                        <a:rPr lang="en-US" dirty="0"/>
                        <a:t>/Unit</a:t>
                      </a:r>
                    </a:p>
                  </a:txBody>
                  <a:tcPr/>
                </a:tc>
                <a:tc>
                  <a:txBody>
                    <a:bodyPr/>
                    <a:lstStyle/>
                    <a:p>
                      <a:r>
                        <a:rPr lang="en-US" dirty="0"/>
                        <a:t>4 </a:t>
                      </a:r>
                      <a:r>
                        <a:rPr lang="en-US" dirty="0" err="1"/>
                        <a:t>hrs</a:t>
                      </a:r>
                      <a:r>
                        <a:rPr lang="en-US" dirty="0"/>
                        <a:t>/Unit</a:t>
                      </a:r>
                    </a:p>
                  </a:txBody>
                  <a:tcPr/>
                </a:tc>
                <a:extLst>
                  <a:ext uri="{0D108BD9-81ED-4DB2-BD59-A6C34878D82A}">
                    <a16:rowId xmlns="" xmlns:a16="http://schemas.microsoft.com/office/drawing/2014/main" val="3207459695"/>
                  </a:ext>
                </a:extLst>
              </a:tr>
              <a:tr h="370840">
                <a:tc>
                  <a:txBody>
                    <a:bodyPr/>
                    <a:lstStyle/>
                    <a:p>
                      <a:r>
                        <a:rPr lang="en-US" dirty="0"/>
                        <a:t>Availability</a:t>
                      </a:r>
                    </a:p>
                  </a:txBody>
                  <a:tcPr/>
                </a:tc>
                <a:tc>
                  <a:txBody>
                    <a:bodyPr/>
                    <a:lstStyle/>
                    <a:p>
                      <a:r>
                        <a:rPr lang="en-US" dirty="0"/>
                        <a:t>7200 </a:t>
                      </a:r>
                      <a:r>
                        <a:rPr lang="en-US" dirty="0" err="1"/>
                        <a:t>hrs</a:t>
                      </a:r>
                      <a:r>
                        <a:rPr lang="en-US" dirty="0"/>
                        <a:t>/Unit</a:t>
                      </a:r>
                    </a:p>
                  </a:txBody>
                  <a:tcPr/>
                </a:tc>
                <a:tc>
                  <a:txBody>
                    <a:bodyPr/>
                    <a:lstStyle/>
                    <a:p>
                      <a:r>
                        <a:rPr lang="en-US" dirty="0"/>
                        <a:t>4000 </a:t>
                      </a:r>
                      <a:r>
                        <a:rPr lang="en-US" dirty="0" err="1"/>
                        <a:t>hrs</a:t>
                      </a:r>
                      <a:r>
                        <a:rPr lang="en-US" dirty="0"/>
                        <a:t>/Unit</a:t>
                      </a:r>
                    </a:p>
                  </a:txBody>
                  <a:tcPr/>
                </a:tc>
                <a:extLst>
                  <a:ext uri="{0D108BD9-81ED-4DB2-BD59-A6C34878D82A}">
                    <a16:rowId xmlns="" xmlns:a16="http://schemas.microsoft.com/office/drawing/2014/main" val="646128456"/>
                  </a:ext>
                </a:extLst>
              </a:tr>
            </a:tbl>
          </a:graphicData>
        </a:graphic>
      </p:graphicFrame>
    </p:spTree>
    <p:extLst>
      <p:ext uri="{BB962C8B-B14F-4D97-AF65-F5344CB8AC3E}">
        <p14:creationId xmlns:p14="http://schemas.microsoft.com/office/powerpoint/2010/main" val="165711953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6742" y="80636"/>
            <a:ext cx="7429499" cy="1478570"/>
          </a:xfrm>
        </p:spPr>
        <p:txBody>
          <a:bodyPr>
            <a:normAutofit fontScale="90000"/>
          </a:bodyPr>
          <a:lstStyle/>
          <a:p>
            <a:r>
              <a:rPr lang="en-US" sz="4000" dirty="0">
                <a:solidFill>
                  <a:srgbClr val="C00000"/>
                </a:solidFill>
                <a:latin typeface="Arial" panose="020B0604020202020204" pitchFamily="34" charset="0"/>
                <a:cs typeface="Arial" panose="020B0604020202020204" pitchFamily="34" charset="0"/>
              </a:rPr>
              <a:t>Formulation of linear programming in mathematical form</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 xmlns:a16="http://schemas.microsoft.com/office/drawing/2014/main" id="{12C3F38F-06D5-4ADF-BB89-374D8DB47BD2}"/>
                  </a:ext>
                </a:extLst>
              </p:cNvPr>
              <p:cNvSpPr>
                <a:spLocks noGrp="1"/>
              </p:cNvSpPr>
              <p:nvPr>
                <p:ph idx="1"/>
              </p:nvPr>
            </p:nvSpPr>
            <p:spPr>
              <a:xfrm>
                <a:off x="797860" y="1630922"/>
                <a:ext cx="7613206" cy="4608513"/>
              </a:xfrm>
            </p:spPr>
            <p:txBody>
              <a:bodyPr>
                <a:normAutofit/>
              </a:bodyPr>
              <a:lstStyle/>
              <a:p>
                <a:pPr marL="0" indent="0" algn="ctr">
                  <a:buNone/>
                </a:pPr>
                <a:r>
                  <a:rPr lang="en-US" sz="2000" dirty="0">
                    <a:solidFill>
                      <a:srgbClr val="FFFF00"/>
                    </a:solidFill>
                    <a:latin typeface="Arial" panose="020B0604020202020204" pitchFamily="34" charset="0"/>
                    <a:cs typeface="Arial" panose="020B0604020202020204" pitchFamily="34" charset="0"/>
                  </a:rPr>
                  <a:t>x</a:t>
                </a:r>
                <a:r>
                  <a:rPr lang="en-US" sz="2000" dirty="0" smtClean="0">
                    <a:solidFill>
                      <a:srgbClr val="FFFF00"/>
                    </a:solidFill>
                    <a:latin typeface="Arial" panose="020B0604020202020204" pitchFamily="34" charset="0"/>
                    <a:cs typeface="Arial" panose="020B0604020202020204" pitchFamily="34" charset="0"/>
                  </a:rPr>
                  <a:t>1= the no of product A to be produced</a:t>
                </a:r>
              </a:p>
              <a:p>
                <a:pPr marL="0" indent="0" algn="ctr">
                  <a:buNone/>
                </a:pPr>
                <a:r>
                  <a:rPr lang="en-US" sz="2000" dirty="0">
                    <a:solidFill>
                      <a:srgbClr val="FFFF00"/>
                    </a:solidFill>
                    <a:latin typeface="Arial" panose="020B0604020202020204" pitchFamily="34" charset="0"/>
                    <a:cs typeface="Arial" panose="020B0604020202020204" pitchFamily="34" charset="0"/>
                  </a:rPr>
                  <a:t>x</a:t>
                </a:r>
                <a:r>
                  <a:rPr lang="en-US" sz="2000" dirty="0" smtClean="0">
                    <a:solidFill>
                      <a:srgbClr val="FFFF00"/>
                    </a:solidFill>
                    <a:latin typeface="Arial" panose="020B0604020202020204" pitchFamily="34" charset="0"/>
                    <a:cs typeface="Arial" panose="020B0604020202020204" pitchFamily="34" charset="0"/>
                  </a:rPr>
                  <a:t>2= </a:t>
                </a:r>
                <a:r>
                  <a:rPr lang="en-US" sz="2000" dirty="0">
                    <a:solidFill>
                      <a:srgbClr val="FFFF00"/>
                    </a:solidFill>
                    <a:latin typeface="Arial" panose="020B0604020202020204" pitchFamily="34" charset="0"/>
                    <a:cs typeface="Arial" panose="020B0604020202020204" pitchFamily="34" charset="0"/>
                  </a:rPr>
                  <a:t>the no of product </a:t>
                </a:r>
                <a:r>
                  <a:rPr lang="en-US" sz="2000" dirty="0" smtClean="0">
                    <a:solidFill>
                      <a:srgbClr val="FFFF00"/>
                    </a:solidFill>
                    <a:latin typeface="Arial" panose="020B0604020202020204" pitchFamily="34" charset="0"/>
                    <a:cs typeface="Arial" panose="020B0604020202020204" pitchFamily="34" charset="0"/>
                  </a:rPr>
                  <a:t>B </a:t>
                </a:r>
                <a:r>
                  <a:rPr lang="en-US" sz="2000" dirty="0">
                    <a:solidFill>
                      <a:srgbClr val="FFFF00"/>
                    </a:solidFill>
                    <a:latin typeface="Arial" panose="020B0604020202020204" pitchFamily="34" charset="0"/>
                    <a:cs typeface="Arial" panose="020B0604020202020204" pitchFamily="34" charset="0"/>
                  </a:rPr>
                  <a:t>to be produced</a:t>
                </a:r>
                <a:endParaRPr lang="en-US" sz="2000" dirty="0" smtClean="0">
                  <a:solidFill>
                    <a:srgbClr val="FFFF00"/>
                  </a:solidFill>
                  <a:latin typeface="Arial" panose="020B0604020202020204" pitchFamily="34" charset="0"/>
                  <a:cs typeface="Arial" panose="020B0604020202020204" pitchFamily="34" charset="0"/>
                </a:endParaRPr>
              </a:p>
              <a:p>
                <a:pPr marL="0" indent="0" algn="ctr">
                  <a:buNone/>
                </a:pPr>
                <a:r>
                  <a:rPr lang="en-US" dirty="0" smtClean="0">
                    <a:latin typeface="Arial" panose="020B0604020202020204" pitchFamily="34" charset="0"/>
                    <a:cs typeface="Arial" panose="020B0604020202020204" pitchFamily="34" charset="0"/>
                  </a:rPr>
                  <a:t>Max Z=100x1+80x2</a:t>
                </a:r>
              </a:p>
              <a:p>
                <a:pPr marL="0" indent="0" algn="just">
                  <a:buNone/>
                </a:pPr>
                <a:r>
                  <a:rPr lang="en-US" dirty="0">
                    <a:latin typeface="Arial" panose="020B0604020202020204" pitchFamily="34" charset="0"/>
                    <a:cs typeface="Arial" panose="020B0604020202020204" pitchFamily="34" charset="0"/>
                  </a:rPr>
                  <a:t>Subject to Constraints</a:t>
                </a:r>
                <a:r>
                  <a:rPr lang="en-US" dirty="0" smtClean="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a:p>
                <a:pPr marL="0" indent="0" algn="just">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6</m:t>
                      </m:r>
                      <m:sSub>
                        <m:sSubPr>
                          <m:ctrlPr>
                            <a:rPr lang="en-US" i="1" smtClean="0">
                              <a:latin typeface="Cambria Math"/>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𝑥</m:t>
                          </m:r>
                        </m:e>
                        <m:sub>
                          <m:r>
                            <a:rPr lang="en-US" b="0" i="1" smtClean="0">
                              <a:latin typeface="Cambria Math" panose="02040503050406030204" pitchFamily="18" charset="0"/>
                              <a:cs typeface="Arial" panose="020B0604020202020204" pitchFamily="34" charset="0"/>
                            </a:rPr>
                            <m:t>1</m:t>
                          </m:r>
                        </m:sub>
                      </m:sSub>
                      <m:r>
                        <a:rPr lang="en-US" b="0" i="1" smtClean="0">
                          <a:latin typeface="Cambria Math" panose="02040503050406030204" pitchFamily="18" charset="0"/>
                          <a:cs typeface="Arial" panose="020B0604020202020204" pitchFamily="34" charset="0"/>
                        </a:rPr>
                        <m:t>+4</m:t>
                      </m:r>
                      <m:sSub>
                        <m:sSubPr>
                          <m:ctrlPr>
                            <a:rPr lang="en-US" i="1" smtClean="0">
                              <a:latin typeface="Cambria Math"/>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𝑥</m:t>
                          </m:r>
                        </m:e>
                        <m:sub>
                          <m:r>
                            <a:rPr lang="en-US" b="0" i="1" smtClean="0">
                              <a:latin typeface="Cambria Math" panose="02040503050406030204" pitchFamily="18" charset="0"/>
                              <a:cs typeface="Arial" panose="020B0604020202020204" pitchFamily="34" charset="0"/>
                            </a:rPr>
                            <m:t>2</m:t>
                          </m:r>
                        </m:sub>
                      </m:sSub>
                      <m:r>
                        <a:rPr lang="en-US"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7200</m:t>
                      </m:r>
                    </m:oMath>
                  </m:oMathPara>
                </a14:m>
                <a:endParaRPr lang="en-US" dirty="0">
                  <a:latin typeface="Arial" panose="020B0604020202020204" pitchFamily="34" charset="0"/>
                  <a:cs typeface="Arial" panose="020B0604020202020204" pitchFamily="34" charset="0"/>
                </a:endParaRPr>
              </a:p>
              <a:p>
                <a:pPr marL="0" lvl="0" indent="0" algn="just">
                  <a:buNone/>
                </a:pPr>
                <a14:m>
                  <m:oMathPara xmlns:m="http://schemas.openxmlformats.org/officeDocument/2006/math">
                    <m:oMathParaPr>
                      <m:jc m:val="centerGroup"/>
                    </m:oMathParaPr>
                    <m:oMath xmlns:m="http://schemas.openxmlformats.org/officeDocument/2006/math">
                      <m:r>
                        <a:rPr lang="en-US" i="1" smtClean="0">
                          <a:solidFill>
                            <a:prstClr val="white"/>
                          </a:solidFill>
                          <a:latin typeface="Cambria Math" panose="02040503050406030204" pitchFamily="18" charset="0"/>
                          <a:cs typeface="Arial" panose="020B0604020202020204" pitchFamily="34" charset="0"/>
                        </a:rPr>
                        <m:t>2</m:t>
                      </m:r>
                      <m:sSub>
                        <m:sSubPr>
                          <m:ctrlPr>
                            <a:rPr lang="en-US" i="1">
                              <a:solidFill>
                                <a:prstClr val="white"/>
                              </a:solidFill>
                              <a:latin typeface="Cambria Math"/>
                              <a:cs typeface="Arial" panose="020B0604020202020204" pitchFamily="34" charset="0"/>
                            </a:rPr>
                          </m:ctrlPr>
                        </m:sSubPr>
                        <m:e>
                          <m:r>
                            <a:rPr lang="en-US" i="1">
                              <a:solidFill>
                                <a:prstClr val="white"/>
                              </a:solidFill>
                              <a:latin typeface="Cambria Math" panose="02040503050406030204" pitchFamily="18" charset="0"/>
                              <a:cs typeface="Arial" panose="020B0604020202020204" pitchFamily="34" charset="0"/>
                            </a:rPr>
                            <m:t>𝑥</m:t>
                          </m:r>
                        </m:e>
                        <m:sub>
                          <m:r>
                            <a:rPr lang="en-US" i="1">
                              <a:solidFill>
                                <a:prstClr val="white"/>
                              </a:solidFill>
                              <a:latin typeface="Cambria Math" panose="02040503050406030204" pitchFamily="18" charset="0"/>
                              <a:cs typeface="Arial" panose="020B0604020202020204" pitchFamily="34" charset="0"/>
                            </a:rPr>
                            <m:t>1</m:t>
                          </m:r>
                        </m:sub>
                      </m:sSub>
                      <m:r>
                        <a:rPr lang="en-US" i="1">
                          <a:solidFill>
                            <a:prstClr val="white"/>
                          </a:solidFill>
                          <a:latin typeface="Cambria Math" panose="02040503050406030204" pitchFamily="18" charset="0"/>
                          <a:cs typeface="Arial" panose="020B0604020202020204" pitchFamily="34" charset="0"/>
                        </a:rPr>
                        <m:t>+4</m:t>
                      </m:r>
                      <m:sSub>
                        <m:sSubPr>
                          <m:ctrlPr>
                            <a:rPr lang="en-US" i="1">
                              <a:solidFill>
                                <a:prstClr val="white"/>
                              </a:solidFill>
                              <a:latin typeface="Cambria Math"/>
                              <a:cs typeface="Arial" panose="020B0604020202020204" pitchFamily="34" charset="0"/>
                            </a:rPr>
                          </m:ctrlPr>
                        </m:sSubPr>
                        <m:e>
                          <m:r>
                            <a:rPr lang="en-US" i="1">
                              <a:solidFill>
                                <a:prstClr val="white"/>
                              </a:solidFill>
                              <a:latin typeface="Cambria Math" panose="02040503050406030204" pitchFamily="18" charset="0"/>
                              <a:cs typeface="Arial" panose="020B0604020202020204" pitchFamily="34" charset="0"/>
                            </a:rPr>
                            <m:t>𝑥</m:t>
                          </m:r>
                        </m:e>
                        <m:sub>
                          <m:r>
                            <a:rPr lang="en-US" i="1">
                              <a:solidFill>
                                <a:prstClr val="white"/>
                              </a:solidFill>
                              <a:latin typeface="Cambria Math" panose="02040503050406030204" pitchFamily="18" charset="0"/>
                              <a:cs typeface="Arial" panose="020B0604020202020204" pitchFamily="34" charset="0"/>
                            </a:rPr>
                            <m:t>2</m:t>
                          </m:r>
                        </m:sub>
                      </m:sSub>
                      <m:r>
                        <a:rPr lang="en-US" i="1">
                          <a:solidFill>
                            <a:prstClr val="white"/>
                          </a:solidFill>
                          <a:latin typeface="Cambria Math" panose="02040503050406030204" pitchFamily="18" charset="0"/>
                          <a:ea typeface="Cambria Math" panose="02040503050406030204" pitchFamily="18" charset="0"/>
                          <a:cs typeface="Arial" panose="020B0604020202020204" pitchFamily="34" charset="0"/>
                        </a:rPr>
                        <m:t>≤</m:t>
                      </m:r>
                      <m:r>
                        <a:rPr lang="en-US" b="0" i="1" smtClean="0">
                          <a:solidFill>
                            <a:prstClr val="white"/>
                          </a:solidFill>
                          <a:latin typeface="Cambria Math"/>
                          <a:ea typeface="Cambria Math" panose="02040503050406030204" pitchFamily="18" charset="0"/>
                          <a:cs typeface="Arial" panose="020B0604020202020204" pitchFamily="34" charset="0"/>
                        </a:rPr>
                        <m:t>40</m:t>
                      </m:r>
                      <m:r>
                        <a:rPr lang="en-US" i="1">
                          <a:solidFill>
                            <a:prstClr val="white"/>
                          </a:solidFill>
                          <a:latin typeface="Cambria Math" panose="02040503050406030204" pitchFamily="18" charset="0"/>
                          <a:ea typeface="Cambria Math" panose="02040503050406030204" pitchFamily="18" charset="0"/>
                          <a:cs typeface="Arial" panose="020B0604020202020204" pitchFamily="34" charset="0"/>
                        </a:rPr>
                        <m:t>00</m:t>
                      </m:r>
                    </m:oMath>
                  </m:oMathPara>
                </a14:m>
                <a:endParaRPr lang="en-US" dirty="0">
                  <a:solidFill>
                    <a:prstClr val="white"/>
                  </a:solidFill>
                  <a:latin typeface="Arial" panose="020B0604020202020204" pitchFamily="34" charset="0"/>
                  <a:cs typeface="Arial" panose="020B0604020202020204" pitchFamily="34" charset="0"/>
                </a:endParaRPr>
              </a:p>
              <a:p>
                <a:pPr marL="0" lvl="0" indent="0" algn="just">
                  <a:buNone/>
                </a:pPr>
                <a14:m>
                  <m:oMathPara xmlns:m="http://schemas.openxmlformats.org/officeDocument/2006/math">
                    <m:oMathParaPr>
                      <m:jc m:val="centerGroup"/>
                    </m:oMathParaPr>
                    <m:oMath xmlns:m="http://schemas.openxmlformats.org/officeDocument/2006/math">
                      <m:sSub>
                        <m:sSubPr>
                          <m:ctrlPr>
                            <a:rPr lang="en-US" i="1">
                              <a:solidFill>
                                <a:prstClr val="white"/>
                              </a:solidFill>
                              <a:latin typeface="Cambria Math"/>
                              <a:cs typeface="Arial" panose="020B0604020202020204" pitchFamily="34" charset="0"/>
                            </a:rPr>
                          </m:ctrlPr>
                        </m:sSubPr>
                        <m:e>
                          <m:r>
                            <a:rPr lang="en-US" i="1">
                              <a:solidFill>
                                <a:prstClr val="white"/>
                              </a:solidFill>
                              <a:latin typeface="Cambria Math" panose="02040503050406030204" pitchFamily="18" charset="0"/>
                              <a:cs typeface="Arial" panose="020B0604020202020204" pitchFamily="34" charset="0"/>
                            </a:rPr>
                            <m:t>𝑥</m:t>
                          </m:r>
                        </m:e>
                        <m:sub>
                          <m:r>
                            <a:rPr lang="en-US" i="1">
                              <a:solidFill>
                                <a:prstClr val="white"/>
                              </a:solidFill>
                              <a:latin typeface="Cambria Math" panose="02040503050406030204" pitchFamily="18" charset="0"/>
                              <a:cs typeface="Arial" panose="020B0604020202020204" pitchFamily="34" charset="0"/>
                            </a:rPr>
                            <m:t>1</m:t>
                          </m:r>
                        </m:sub>
                      </m:sSub>
                      <m:r>
                        <a:rPr lang="en-US" i="1">
                          <a:solidFill>
                            <a:prstClr val="white"/>
                          </a:solidFill>
                          <a:latin typeface="Cambria Math" panose="02040503050406030204" pitchFamily="18" charset="0"/>
                          <a:cs typeface="Arial" panose="020B0604020202020204" pitchFamily="34" charset="0"/>
                        </a:rPr>
                        <m:t>,</m:t>
                      </m:r>
                      <m:sSub>
                        <m:sSubPr>
                          <m:ctrlPr>
                            <a:rPr lang="en-US" i="1">
                              <a:solidFill>
                                <a:prstClr val="white"/>
                              </a:solidFill>
                              <a:latin typeface="Cambria Math"/>
                              <a:cs typeface="Arial" panose="020B0604020202020204" pitchFamily="34" charset="0"/>
                            </a:rPr>
                          </m:ctrlPr>
                        </m:sSubPr>
                        <m:e>
                          <m:r>
                            <a:rPr lang="en-US" i="1">
                              <a:solidFill>
                                <a:prstClr val="white"/>
                              </a:solidFill>
                              <a:latin typeface="Cambria Math" panose="02040503050406030204" pitchFamily="18" charset="0"/>
                              <a:cs typeface="Arial" panose="020B0604020202020204" pitchFamily="34" charset="0"/>
                            </a:rPr>
                            <m:t>𝑥</m:t>
                          </m:r>
                        </m:e>
                        <m:sub>
                          <m:r>
                            <a:rPr lang="en-US" i="1">
                              <a:solidFill>
                                <a:prstClr val="white"/>
                              </a:solidFill>
                              <a:latin typeface="Cambria Math" panose="02040503050406030204" pitchFamily="18" charset="0"/>
                              <a:cs typeface="Arial" panose="020B0604020202020204" pitchFamily="34" charset="0"/>
                            </a:rPr>
                            <m:t>2</m:t>
                          </m:r>
                        </m:sub>
                      </m:sSub>
                      <m:r>
                        <a:rPr lang="en-US" i="1">
                          <a:solidFill>
                            <a:prstClr val="white"/>
                          </a:solidFill>
                          <a:latin typeface="Cambria Math" panose="02040503050406030204" pitchFamily="18" charset="0"/>
                          <a:cs typeface="Arial" panose="020B0604020202020204" pitchFamily="34" charset="0"/>
                        </a:rPr>
                        <m:t> </m:t>
                      </m:r>
                      <m:r>
                        <a:rPr lang="en-US" i="1">
                          <a:solidFill>
                            <a:prstClr val="white"/>
                          </a:solidFill>
                          <a:latin typeface="Cambria Math" panose="02040503050406030204" pitchFamily="18" charset="0"/>
                          <a:ea typeface="Cambria Math" panose="02040503050406030204" pitchFamily="18" charset="0"/>
                          <a:cs typeface="Arial" panose="020B0604020202020204" pitchFamily="34" charset="0"/>
                        </a:rPr>
                        <m:t>≥0</m:t>
                      </m:r>
                    </m:oMath>
                  </m:oMathPara>
                </a14:m>
                <a:endParaRPr lang="en-US" dirty="0" smtClean="0">
                  <a:solidFill>
                    <a:prstClr val="white"/>
                  </a:solidFill>
                  <a:latin typeface="Arial" panose="020B0604020202020204" pitchFamily="34" charset="0"/>
                  <a:cs typeface="Arial" panose="020B0604020202020204" pitchFamily="34" charset="0"/>
                </a:endParaRPr>
              </a:p>
              <a:p>
                <a:pPr marL="0" indent="0" algn="just">
                  <a:buNone/>
                </a:pPr>
                <a:r>
                  <a:rPr lang="en-US" dirty="0">
                    <a:solidFill>
                      <a:srgbClr val="FFFF00"/>
                    </a:solidFill>
                    <a:latin typeface="Arial" panose="020B0604020202020204" pitchFamily="34" charset="0"/>
                    <a:cs typeface="Arial" panose="020B0604020202020204" pitchFamily="34" charset="0"/>
                  </a:rPr>
                  <a:t>Can’t be negative as x1 and x2 are no of products</a:t>
                </a:r>
                <a:r>
                  <a:rPr lang="en-US" dirty="0" smtClean="0">
                    <a:solidFill>
                      <a:srgbClr val="FFFF00"/>
                    </a:solidFill>
                    <a:latin typeface="Arial" panose="020B0604020202020204" pitchFamily="34" charset="0"/>
                    <a:cs typeface="Arial" panose="020B0604020202020204" pitchFamily="34" charset="0"/>
                  </a:rPr>
                  <a:t>.</a:t>
                </a:r>
                <a:endParaRPr lang="en-US" dirty="0">
                  <a:solidFill>
                    <a:prstClr val="white"/>
                  </a:solidFill>
                  <a:latin typeface="Arial" panose="020B0604020202020204" pitchFamily="34" charset="0"/>
                  <a:cs typeface="Arial" panose="020B0604020202020204" pitchFamily="34" charset="0"/>
                </a:endParaRPr>
              </a:p>
              <a:p>
                <a:pPr marL="0" indent="0" algn="just">
                  <a:buNone/>
                </a:pPr>
                <a:r>
                  <a:rPr lang="en-US" dirty="0">
                    <a:solidFill>
                      <a:srgbClr val="FFFF00"/>
                    </a:solidFill>
                    <a:latin typeface="Arial" panose="020B0604020202020204" pitchFamily="34" charset="0"/>
                    <a:cs typeface="Arial" panose="020B0604020202020204" pitchFamily="34" charset="0"/>
                  </a:rPr>
                  <a:t>All (x1, x2) satisfying constraints are feasible </a:t>
                </a:r>
                <a:r>
                  <a:rPr lang="en-US" dirty="0" smtClean="0">
                    <a:solidFill>
                      <a:srgbClr val="FFFF00"/>
                    </a:solidFill>
                    <a:latin typeface="Arial" panose="020B0604020202020204" pitchFamily="34" charset="0"/>
                    <a:cs typeface="Arial" panose="020B0604020202020204" pitchFamily="34" charset="0"/>
                  </a:rPr>
                  <a:t>solutions.</a:t>
                </a:r>
                <a:endParaRPr lang="en-US" dirty="0">
                  <a:solidFill>
                    <a:srgbClr val="FFFF00"/>
                  </a:solidFill>
                  <a:latin typeface="Arial" panose="020B0604020202020204" pitchFamily="34" charset="0"/>
                  <a:cs typeface="Arial" panose="020B0604020202020204" pitchFamily="34" charset="0"/>
                </a:endParaRPr>
              </a:p>
              <a:p>
                <a:pPr marL="0" lvl="0" indent="0" algn="just">
                  <a:buNone/>
                </a:pPr>
                <a:endParaRPr lang="en-US" dirty="0">
                  <a:solidFill>
                    <a:prstClr val="white"/>
                  </a:solidFill>
                  <a:latin typeface="Arial" panose="020B0604020202020204" pitchFamily="34" charset="0"/>
                  <a:cs typeface="Arial" panose="020B0604020202020204" pitchFamily="34" charset="0"/>
                </a:endParaRPr>
              </a:p>
              <a:p>
                <a:pPr marL="0" indent="0" algn="just">
                  <a:buNone/>
                </a:pPr>
                <a:endParaRPr lang="en-US" dirty="0">
                  <a:latin typeface="Arial" panose="020B0604020202020204" pitchFamily="34" charset="0"/>
                  <a:cs typeface="Arial" panose="020B0604020202020204" pitchFamily="34" charset="0"/>
                </a:endParaRPr>
              </a:p>
            </p:txBody>
          </p:sp>
        </mc:Choice>
        <mc:Fallback xmlns="">
          <p:sp>
            <p:nvSpPr>
              <p:cNvPr id="6" name="Content Placeholder 5">
                <a:extLst>
                  <a:ext uri="{FF2B5EF4-FFF2-40B4-BE49-F238E27FC236}">
                    <a16:creationId xmlns:a16="http://schemas.microsoft.com/office/drawing/2014/main" xmlns="" xmlns:a14="http://schemas.microsoft.com/office/drawing/2010/main" id="{12C3F38F-06D5-4ADF-BB89-374D8DB47BD2}"/>
                  </a:ext>
                </a:extLst>
              </p:cNvPr>
              <p:cNvSpPr>
                <a:spLocks noGrp="1" noRot="1" noChangeAspect="1" noMove="1" noResize="1" noEditPoints="1" noAdjustHandles="1" noChangeArrowheads="1" noChangeShapeType="1" noTextEdit="1"/>
              </p:cNvSpPr>
              <p:nvPr>
                <p:ph idx="1"/>
              </p:nvPr>
            </p:nvSpPr>
            <p:spPr>
              <a:xfrm>
                <a:off x="797860" y="1630922"/>
                <a:ext cx="7613206" cy="4608513"/>
              </a:xfrm>
              <a:blipFill rotWithShape="1">
                <a:blip r:embed="rId2"/>
                <a:stretch>
                  <a:fillRect l="-1281" r="-2002" b="-25132"/>
                </a:stretch>
              </a:blipFill>
            </p:spPr>
            <p:txBody>
              <a:bodyPr/>
              <a:lstStyle/>
              <a:p>
                <a:r>
                  <a:rPr lang="en-GB">
                    <a:noFill/>
                  </a:rPr>
                  <a:t> </a:t>
                </a:r>
              </a:p>
            </p:txBody>
          </p:sp>
        </mc:Fallback>
      </mc:AlternateContent>
    </p:spTree>
    <p:extLst>
      <p:ext uri="{BB962C8B-B14F-4D97-AF65-F5344CB8AC3E}">
        <p14:creationId xmlns:p14="http://schemas.microsoft.com/office/powerpoint/2010/main" val="297694536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4672" y="546801"/>
            <a:ext cx="7429499" cy="1478570"/>
          </a:xfrm>
        </p:spPr>
        <p:txBody>
          <a:bodyPr>
            <a:normAutofit fontScale="90000"/>
          </a:bodyPr>
          <a:lstStyle/>
          <a:p>
            <a:r>
              <a:rPr lang="en-US" sz="4000" dirty="0">
                <a:solidFill>
                  <a:srgbClr val="C00000"/>
                </a:solidFill>
                <a:latin typeface="Arial" panose="020B0604020202020204" pitchFamily="34" charset="0"/>
                <a:cs typeface="Arial" panose="020B0604020202020204" pitchFamily="34" charset="0"/>
              </a:rPr>
              <a:t>Formulation of linear programming in mathematical form</a:t>
            </a:r>
          </a:p>
        </p:txBody>
      </p:sp>
      <p:sp>
        <p:nvSpPr>
          <p:cNvPr id="6" name="Content Placeholder 5">
            <a:extLst>
              <a:ext uri="{FF2B5EF4-FFF2-40B4-BE49-F238E27FC236}">
                <a16:creationId xmlns="" xmlns:a16="http://schemas.microsoft.com/office/drawing/2014/main" id="{12C3F38F-06D5-4ADF-BB89-374D8DB47BD2}"/>
              </a:ext>
            </a:extLst>
          </p:cNvPr>
          <p:cNvSpPr>
            <a:spLocks noGrp="1"/>
          </p:cNvSpPr>
          <p:nvPr>
            <p:ph idx="1"/>
          </p:nvPr>
        </p:nvSpPr>
        <p:spPr>
          <a:xfrm>
            <a:off x="909848" y="2115016"/>
            <a:ext cx="7429499" cy="4608513"/>
          </a:xfrm>
        </p:spPr>
        <p:txBody>
          <a:bodyPr>
            <a:normAutofit/>
          </a:bodyPr>
          <a:lstStyle/>
          <a:p>
            <a:pPr algn="just"/>
            <a:r>
              <a:rPr lang="en-US" dirty="0">
                <a:latin typeface="Arial" panose="020B0604020202020204" pitchFamily="34" charset="0"/>
                <a:cs typeface="Arial" panose="020B0604020202020204" pitchFamily="34" charset="0"/>
              </a:rPr>
              <a:t>A factory manufactures two products A and B. To manufacture one unit of A 1.5 machine hours and 2.5 </a:t>
            </a:r>
            <a:r>
              <a:rPr lang="en-US" dirty="0" smtClean="0">
                <a:latin typeface="Arial" panose="020B0604020202020204" pitchFamily="34" charset="0"/>
                <a:cs typeface="Arial" panose="020B0604020202020204" pitchFamily="34" charset="0"/>
              </a:rPr>
              <a:t>labor </a:t>
            </a:r>
            <a:r>
              <a:rPr lang="en-US" dirty="0">
                <a:latin typeface="Arial" panose="020B0604020202020204" pitchFamily="34" charset="0"/>
                <a:cs typeface="Arial" panose="020B0604020202020204" pitchFamily="34" charset="0"/>
              </a:rPr>
              <a:t>hours are required. To manufacture product B 2.5 machine hours and 1.5 </a:t>
            </a:r>
            <a:r>
              <a:rPr lang="en-US" dirty="0" smtClean="0">
                <a:latin typeface="Arial" panose="020B0604020202020204" pitchFamily="34" charset="0"/>
                <a:cs typeface="Arial" panose="020B0604020202020204" pitchFamily="34" charset="0"/>
              </a:rPr>
              <a:t>labor </a:t>
            </a:r>
            <a:r>
              <a:rPr lang="en-US" dirty="0">
                <a:latin typeface="Arial" panose="020B0604020202020204" pitchFamily="34" charset="0"/>
                <a:cs typeface="Arial" panose="020B0604020202020204" pitchFamily="34" charset="0"/>
              </a:rPr>
              <a:t>hours are required. In a month 300 machine hours and 240 </a:t>
            </a:r>
            <a:r>
              <a:rPr lang="en-US" dirty="0" smtClean="0">
                <a:latin typeface="Arial" panose="020B0604020202020204" pitchFamily="34" charset="0"/>
                <a:cs typeface="Arial" panose="020B0604020202020204" pitchFamily="34" charset="0"/>
              </a:rPr>
              <a:t>labor </a:t>
            </a:r>
            <a:r>
              <a:rPr lang="en-US" dirty="0">
                <a:latin typeface="Arial" panose="020B0604020202020204" pitchFamily="34" charset="0"/>
                <a:cs typeface="Arial" panose="020B0604020202020204" pitchFamily="34" charset="0"/>
              </a:rPr>
              <a:t>hour are available. </a:t>
            </a:r>
          </a:p>
          <a:p>
            <a:r>
              <a:rPr lang="en-US" dirty="0">
                <a:latin typeface="Arial" panose="020B0604020202020204" pitchFamily="34" charset="0"/>
                <a:cs typeface="Arial" panose="020B0604020202020204" pitchFamily="34" charset="0"/>
              </a:rPr>
              <a:t>Profit per unit of A is Rs=50 and for B is Rs=40. Formulate as linear Programming.</a:t>
            </a: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0593840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a:solidFill>
                  <a:srgbClr val="C00000"/>
                </a:solidFill>
                <a:latin typeface="Arial" panose="020B0604020202020204" pitchFamily="34" charset="0"/>
                <a:cs typeface="Arial" panose="020B0604020202020204" pitchFamily="34" charset="0"/>
              </a:rPr>
              <a:t>Formulation of linear programming in mathematical form</a:t>
            </a:r>
          </a:p>
        </p:txBody>
      </p:sp>
      <p:sp>
        <p:nvSpPr>
          <p:cNvPr id="6" name="Content Placeholder 5">
            <a:extLst>
              <a:ext uri="{FF2B5EF4-FFF2-40B4-BE49-F238E27FC236}">
                <a16:creationId xmlns="" xmlns:a16="http://schemas.microsoft.com/office/drawing/2014/main" id="{12C3F38F-06D5-4ADF-BB89-374D8DB47BD2}"/>
              </a:ext>
            </a:extLst>
          </p:cNvPr>
          <p:cNvSpPr>
            <a:spLocks noGrp="1"/>
          </p:cNvSpPr>
          <p:nvPr>
            <p:ph idx="1"/>
          </p:nvPr>
        </p:nvSpPr>
        <p:spPr>
          <a:xfrm>
            <a:off x="856060" y="2249486"/>
            <a:ext cx="7429499" cy="4608513"/>
          </a:xfrm>
        </p:spPr>
        <p:txBody>
          <a:bodyPr>
            <a:normAutofit/>
          </a:bodyPr>
          <a:lstStyle/>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graphicFrame>
        <p:nvGraphicFramePr>
          <p:cNvPr id="3" name="Table 3">
            <a:extLst>
              <a:ext uri="{FF2B5EF4-FFF2-40B4-BE49-F238E27FC236}">
                <a16:creationId xmlns="" xmlns:a16="http://schemas.microsoft.com/office/drawing/2014/main" id="{CE57C078-7687-4EEF-9BE0-8719F7C02C84}"/>
              </a:ext>
            </a:extLst>
          </p:cNvPr>
          <p:cNvGraphicFramePr>
            <a:graphicFrameLocks noGrp="1"/>
          </p:cNvGraphicFramePr>
          <p:nvPr>
            <p:extLst>
              <p:ext uri="{D42A27DB-BD31-4B8C-83A1-F6EECF244321}">
                <p14:modId xmlns:p14="http://schemas.microsoft.com/office/powerpoint/2010/main" val="565927373"/>
              </p:ext>
            </p:extLst>
          </p:nvPr>
        </p:nvGraphicFramePr>
        <p:xfrm>
          <a:off x="1522809" y="2550551"/>
          <a:ext cx="6096000" cy="2345004"/>
        </p:xfrm>
        <a:graphic>
          <a:graphicData uri="http://schemas.openxmlformats.org/drawingml/2006/table">
            <a:tbl>
              <a:tblPr firstRow="1" bandRow="1">
                <a:tableStyleId>{7DF18680-E054-41AD-8BC1-D1AEF772440D}</a:tableStyleId>
              </a:tblPr>
              <a:tblGrid>
                <a:gridCol w="2032000">
                  <a:extLst>
                    <a:ext uri="{9D8B030D-6E8A-4147-A177-3AD203B41FA5}">
                      <a16:colId xmlns="" xmlns:a16="http://schemas.microsoft.com/office/drawing/2014/main" val="2286705530"/>
                    </a:ext>
                  </a:extLst>
                </a:gridCol>
                <a:gridCol w="2032000">
                  <a:extLst>
                    <a:ext uri="{9D8B030D-6E8A-4147-A177-3AD203B41FA5}">
                      <a16:colId xmlns="" xmlns:a16="http://schemas.microsoft.com/office/drawing/2014/main" val="3105427535"/>
                    </a:ext>
                  </a:extLst>
                </a:gridCol>
                <a:gridCol w="2032000">
                  <a:extLst>
                    <a:ext uri="{9D8B030D-6E8A-4147-A177-3AD203B41FA5}">
                      <a16:colId xmlns="" xmlns:a16="http://schemas.microsoft.com/office/drawing/2014/main" val="3200546684"/>
                    </a:ext>
                  </a:extLst>
                </a:gridCol>
              </a:tblGrid>
              <a:tr h="586251">
                <a:tc>
                  <a:txBody>
                    <a:bodyPr/>
                    <a:lstStyle/>
                    <a:p>
                      <a:r>
                        <a:rPr lang="en-US" dirty="0"/>
                        <a:t>Products</a:t>
                      </a:r>
                    </a:p>
                  </a:txBody>
                  <a:tcPr/>
                </a:tc>
                <a:tc>
                  <a:txBody>
                    <a:bodyPr/>
                    <a:lstStyle/>
                    <a:p>
                      <a:r>
                        <a:rPr lang="en-US" dirty="0"/>
                        <a:t>Machine hours</a:t>
                      </a:r>
                    </a:p>
                  </a:txBody>
                  <a:tcPr/>
                </a:tc>
                <a:tc>
                  <a:txBody>
                    <a:bodyPr/>
                    <a:lstStyle/>
                    <a:p>
                      <a:r>
                        <a:rPr lang="en-US" dirty="0" err="1"/>
                        <a:t>Labour</a:t>
                      </a:r>
                      <a:r>
                        <a:rPr lang="en-US" dirty="0"/>
                        <a:t> Hours</a:t>
                      </a:r>
                    </a:p>
                  </a:txBody>
                  <a:tcPr/>
                </a:tc>
                <a:extLst>
                  <a:ext uri="{0D108BD9-81ED-4DB2-BD59-A6C34878D82A}">
                    <a16:rowId xmlns="" xmlns:a16="http://schemas.microsoft.com/office/drawing/2014/main" val="4002406442"/>
                  </a:ext>
                </a:extLst>
              </a:tr>
              <a:tr h="586251">
                <a:tc>
                  <a:txBody>
                    <a:bodyPr/>
                    <a:lstStyle/>
                    <a:p>
                      <a:r>
                        <a:rPr lang="en-US" dirty="0"/>
                        <a:t>A</a:t>
                      </a:r>
                    </a:p>
                  </a:txBody>
                  <a:tcPr/>
                </a:tc>
                <a:tc>
                  <a:txBody>
                    <a:bodyPr/>
                    <a:lstStyle/>
                    <a:p>
                      <a:r>
                        <a:rPr lang="en-US" dirty="0"/>
                        <a:t>1.5</a:t>
                      </a:r>
                    </a:p>
                  </a:txBody>
                  <a:tcPr/>
                </a:tc>
                <a:tc>
                  <a:txBody>
                    <a:bodyPr/>
                    <a:lstStyle/>
                    <a:p>
                      <a:r>
                        <a:rPr lang="en-US" dirty="0"/>
                        <a:t>2.5</a:t>
                      </a:r>
                    </a:p>
                  </a:txBody>
                  <a:tcPr/>
                </a:tc>
                <a:extLst>
                  <a:ext uri="{0D108BD9-81ED-4DB2-BD59-A6C34878D82A}">
                    <a16:rowId xmlns="" xmlns:a16="http://schemas.microsoft.com/office/drawing/2014/main" val="1448079993"/>
                  </a:ext>
                </a:extLst>
              </a:tr>
              <a:tr h="586251">
                <a:tc>
                  <a:txBody>
                    <a:bodyPr/>
                    <a:lstStyle/>
                    <a:p>
                      <a:r>
                        <a:rPr lang="en-US" dirty="0"/>
                        <a:t>B</a:t>
                      </a:r>
                    </a:p>
                  </a:txBody>
                  <a:tcPr/>
                </a:tc>
                <a:tc>
                  <a:txBody>
                    <a:bodyPr/>
                    <a:lstStyle/>
                    <a:p>
                      <a:r>
                        <a:rPr lang="en-US" dirty="0"/>
                        <a:t>2.5</a:t>
                      </a:r>
                    </a:p>
                  </a:txBody>
                  <a:tcPr/>
                </a:tc>
                <a:tc>
                  <a:txBody>
                    <a:bodyPr/>
                    <a:lstStyle/>
                    <a:p>
                      <a:r>
                        <a:rPr lang="en-US" dirty="0"/>
                        <a:t>1.5</a:t>
                      </a:r>
                    </a:p>
                  </a:txBody>
                  <a:tcPr/>
                </a:tc>
                <a:extLst>
                  <a:ext uri="{0D108BD9-81ED-4DB2-BD59-A6C34878D82A}">
                    <a16:rowId xmlns="" xmlns:a16="http://schemas.microsoft.com/office/drawing/2014/main" val="3207459695"/>
                  </a:ext>
                </a:extLst>
              </a:tr>
              <a:tr h="586251">
                <a:tc>
                  <a:txBody>
                    <a:bodyPr/>
                    <a:lstStyle/>
                    <a:p>
                      <a:r>
                        <a:rPr lang="en-US" dirty="0"/>
                        <a:t>Availability</a:t>
                      </a:r>
                    </a:p>
                  </a:txBody>
                  <a:tcPr/>
                </a:tc>
                <a:tc>
                  <a:txBody>
                    <a:bodyPr/>
                    <a:lstStyle/>
                    <a:p>
                      <a:r>
                        <a:rPr lang="en-US" dirty="0"/>
                        <a:t>300 hours</a:t>
                      </a:r>
                    </a:p>
                  </a:txBody>
                  <a:tcPr/>
                </a:tc>
                <a:tc>
                  <a:txBody>
                    <a:bodyPr/>
                    <a:lstStyle/>
                    <a:p>
                      <a:r>
                        <a:rPr lang="en-US" dirty="0"/>
                        <a:t>240 hours</a:t>
                      </a:r>
                    </a:p>
                  </a:txBody>
                  <a:tcPr/>
                </a:tc>
                <a:extLst>
                  <a:ext uri="{0D108BD9-81ED-4DB2-BD59-A6C34878D82A}">
                    <a16:rowId xmlns="" xmlns:a16="http://schemas.microsoft.com/office/drawing/2014/main" val="646128456"/>
                  </a:ext>
                </a:extLst>
              </a:tr>
            </a:tbl>
          </a:graphicData>
        </a:graphic>
      </p:graphicFrame>
    </p:spTree>
    <p:extLst>
      <p:ext uri="{BB962C8B-B14F-4D97-AF65-F5344CB8AC3E}">
        <p14:creationId xmlns:p14="http://schemas.microsoft.com/office/powerpoint/2010/main" val="306849474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a:solidFill>
                  <a:srgbClr val="C00000"/>
                </a:solidFill>
                <a:latin typeface="Arial" panose="020B0604020202020204" pitchFamily="34" charset="0"/>
                <a:cs typeface="Arial" panose="020B0604020202020204" pitchFamily="34" charset="0"/>
              </a:rPr>
              <a:t>Formulation of linear programming in mathematical form</a:t>
            </a:r>
          </a:p>
        </p:txBody>
      </p:sp>
      <mc:AlternateContent xmlns:mc="http://schemas.openxmlformats.org/markup-compatibility/2006">
        <mc:Choice xmlns:a14="http://schemas.microsoft.com/office/drawing/2010/main" Requires="a14">
          <p:sp>
            <p:nvSpPr>
              <p:cNvPr id="6" name="Content Placeholder 5">
                <a:extLst>
                  <a:ext uri="{FF2B5EF4-FFF2-40B4-BE49-F238E27FC236}">
                    <a16:creationId xmlns="" xmlns:a16="http://schemas.microsoft.com/office/drawing/2014/main" id="{12C3F38F-06D5-4ADF-BB89-374D8DB47BD2}"/>
                  </a:ext>
                </a:extLst>
              </p:cNvPr>
              <p:cNvSpPr>
                <a:spLocks noGrp="1"/>
              </p:cNvSpPr>
              <p:nvPr>
                <p:ph idx="1"/>
              </p:nvPr>
            </p:nvSpPr>
            <p:spPr>
              <a:xfrm>
                <a:off x="856060" y="2249486"/>
                <a:ext cx="7429499" cy="4608513"/>
              </a:xfrm>
            </p:spPr>
            <p:txBody>
              <a:bodyPr>
                <a:normAutofit lnSpcReduction="10000"/>
              </a:bodyPr>
              <a:lstStyle/>
              <a:p>
                <a:pPr marL="0" lvl="0" indent="0" algn="ctr">
                  <a:buNone/>
                </a:pPr>
                <a:r>
                  <a:rPr lang="en-US" dirty="0">
                    <a:solidFill>
                      <a:prstClr val="white"/>
                    </a:solidFill>
                    <a:latin typeface="Arial" panose="020B0604020202020204" pitchFamily="34" charset="0"/>
                    <a:cs typeface="Arial" panose="020B0604020202020204" pitchFamily="34" charset="0"/>
                  </a:rPr>
                  <a:t>Max Z=</a:t>
                </a:r>
                <a14:m>
                  <m:oMath xmlns:m="http://schemas.openxmlformats.org/officeDocument/2006/math">
                    <m:r>
                      <a:rPr lang="en-US" b="0" i="1" smtClean="0">
                        <a:solidFill>
                          <a:prstClr val="white"/>
                        </a:solidFill>
                        <a:latin typeface="Cambria Math" panose="02040503050406030204" pitchFamily="18" charset="0"/>
                        <a:cs typeface="Arial" panose="020B0604020202020204" pitchFamily="34" charset="0"/>
                      </a:rPr>
                      <m:t>50</m:t>
                    </m:r>
                    <m:sSub>
                      <m:sSubPr>
                        <m:ctrlPr>
                          <a:rPr lang="en-US" i="1">
                            <a:solidFill>
                              <a:prstClr val="white"/>
                            </a:solidFill>
                            <a:latin typeface="Cambria Math"/>
                            <a:cs typeface="Arial" panose="020B0604020202020204" pitchFamily="34" charset="0"/>
                          </a:rPr>
                        </m:ctrlPr>
                      </m:sSubPr>
                      <m:e>
                        <m:r>
                          <a:rPr lang="en-US" i="1">
                            <a:solidFill>
                              <a:prstClr val="white"/>
                            </a:solidFill>
                            <a:latin typeface="Cambria Math" panose="02040503050406030204" pitchFamily="18" charset="0"/>
                            <a:cs typeface="Arial" panose="020B0604020202020204" pitchFamily="34" charset="0"/>
                          </a:rPr>
                          <m:t>𝑥</m:t>
                        </m:r>
                      </m:e>
                      <m:sub>
                        <m:r>
                          <a:rPr lang="en-US" i="1">
                            <a:solidFill>
                              <a:prstClr val="white"/>
                            </a:solidFill>
                            <a:latin typeface="Cambria Math" panose="02040503050406030204" pitchFamily="18" charset="0"/>
                            <a:cs typeface="Arial" panose="020B0604020202020204" pitchFamily="34" charset="0"/>
                          </a:rPr>
                          <m:t>1</m:t>
                        </m:r>
                      </m:sub>
                    </m:sSub>
                    <m:r>
                      <a:rPr lang="en-US" i="1">
                        <a:solidFill>
                          <a:prstClr val="white"/>
                        </a:solidFill>
                        <a:latin typeface="Cambria Math" panose="02040503050406030204" pitchFamily="18" charset="0"/>
                        <a:cs typeface="Arial" panose="020B0604020202020204" pitchFamily="34" charset="0"/>
                      </a:rPr>
                      <m:t>+</m:t>
                    </m:r>
                    <m:r>
                      <a:rPr lang="en-US" b="0" i="1" smtClean="0">
                        <a:solidFill>
                          <a:prstClr val="white"/>
                        </a:solidFill>
                        <a:latin typeface="Cambria Math" panose="02040503050406030204" pitchFamily="18" charset="0"/>
                        <a:cs typeface="Arial" panose="020B0604020202020204" pitchFamily="34" charset="0"/>
                      </a:rPr>
                      <m:t>40</m:t>
                    </m:r>
                    <m:sSub>
                      <m:sSubPr>
                        <m:ctrlPr>
                          <a:rPr lang="en-US" i="1">
                            <a:solidFill>
                              <a:prstClr val="white"/>
                            </a:solidFill>
                            <a:latin typeface="Cambria Math"/>
                            <a:cs typeface="Arial" panose="020B0604020202020204" pitchFamily="34" charset="0"/>
                          </a:rPr>
                        </m:ctrlPr>
                      </m:sSubPr>
                      <m:e>
                        <m:r>
                          <a:rPr lang="en-US" i="1">
                            <a:solidFill>
                              <a:prstClr val="white"/>
                            </a:solidFill>
                            <a:latin typeface="Cambria Math" panose="02040503050406030204" pitchFamily="18" charset="0"/>
                            <a:cs typeface="Arial" panose="020B0604020202020204" pitchFamily="34" charset="0"/>
                          </a:rPr>
                          <m:t>𝑥</m:t>
                        </m:r>
                      </m:e>
                      <m:sub>
                        <m:r>
                          <a:rPr lang="en-US" i="1">
                            <a:solidFill>
                              <a:prstClr val="white"/>
                            </a:solidFill>
                            <a:latin typeface="Cambria Math" panose="02040503050406030204" pitchFamily="18" charset="0"/>
                            <a:cs typeface="Arial" panose="020B0604020202020204" pitchFamily="34" charset="0"/>
                          </a:rPr>
                          <m:t>2</m:t>
                        </m:r>
                      </m:sub>
                    </m:sSub>
                  </m:oMath>
                </a14:m>
                <a:endParaRPr lang="en-US" dirty="0">
                  <a:solidFill>
                    <a:prstClr val="white"/>
                  </a:solidFill>
                  <a:latin typeface="Arial" panose="020B0604020202020204" pitchFamily="34" charset="0"/>
                  <a:cs typeface="Arial" panose="020B0604020202020204" pitchFamily="34" charset="0"/>
                </a:endParaRPr>
              </a:p>
              <a:p>
                <a:pPr marL="0" indent="0" algn="ctr">
                  <a:buNone/>
                </a:pPr>
                <a:r>
                  <a:rPr lang="en-US" dirty="0">
                    <a:solidFill>
                      <a:srgbClr val="FFFF00"/>
                    </a:solidFill>
                    <a:latin typeface="Arial" panose="020B0604020202020204" pitchFamily="34" charset="0"/>
                    <a:cs typeface="Arial" panose="020B0604020202020204" pitchFamily="34" charset="0"/>
                  </a:rPr>
                  <a:t>x1= </a:t>
                </a:r>
                <a:r>
                  <a:rPr lang="en-US" dirty="0" smtClean="0">
                    <a:solidFill>
                      <a:srgbClr val="FFFF00"/>
                    </a:solidFill>
                    <a:latin typeface="Arial" panose="020B0604020202020204" pitchFamily="34" charset="0"/>
                    <a:cs typeface="Arial" panose="020B0604020202020204" pitchFamily="34" charset="0"/>
                  </a:rPr>
                  <a:t>No of p</a:t>
                </a:r>
                <a:r>
                  <a:rPr lang="en-US" dirty="0" smtClean="0">
                    <a:solidFill>
                      <a:srgbClr val="FFFF00"/>
                    </a:solidFill>
                    <a:latin typeface="Arial" panose="020B0604020202020204" pitchFamily="34" charset="0"/>
                    <a:cs typeface="Arial" panose="020B0604020202020204" pitchFamily="34" charset="0"/>
                  </a:rPr>
                  <a:t>roduct A</a:t>
                </a:r>
                <a:endParaRPr lang="en-US" dirty="0">
                  <a:solidFill>
                    <a:srgbClr val="FFFF00"/>
                  </a:solidFill>
                  <a:latin typeface="Arial" panose="020B0604020202020204" pitchFamily="34" charset="0"/>
                  <a:cs typeface="Arial" panose="020B0604020202020204" pitchFamily="34" charset="0"/>
                </a:endParaRPr>
              </a:p>
              <a:p>
                <a:pPr marL="0" indent="0" algn="ctr">
                  <a:buNone/>
                </a:pPr>
                <a:r>
                  <a:rPr lang="en-US" dirty="0">
                    <a:solidFill>
                      <a:srgbClr val="FFFF00"/>
                    </a:solidFill>
                    <a:latin typeface="Arial" panose="020B0604020202020204" pitchFamily="34" charset="0"/>
                    <a:cs typeface="Arial" panose="020B0604020202020204" pitchFamily="34" charset="0"/>
                  </a:rPr>
                  <a:t>x2</a:t>
                </a:r>
                <a:r>
                  <a:rPr lang="en-US" dirty="0" smtClean="0">
                    <a:solidFill>
                      <a:srgbClr val="FFFF00"/>
                    </a:solidFill>
                    <a:latin typeface="Arial" panose="020B0604020202020204" pitchFamily="34" charset="0"/>
                    <a:cs typeface="Arial" panose="020B0604020202020204" pitchFamily="34" charset="0"/>
                  </a:rPr>
                  <a:t>=</a:t>
                </a:r>
                <a:r>
                  <a:rPr lang="en-US" dirty="0">
                    <a:solidFill>
                      <a:srgbClr val="FFFF00"/>
                    </a:solidFill>
                    <a:latin typeface="Arial" panose="020B0604020202020204" pitchFamily="34" charset="0"/>
                    <a:cs typeface="Arial" panose="020B0604020202020204" pitchFamily="34" charset="0"/>
                  </a:rPr>
                  <a:t> </a:t>
                </a:r>
                <a:r>
                  <a:rPr lang="en-US" dirty="0" smtClean="0">
                    <a:solidFill>
                      <a:srgbClr val="FFFF00"/>
                    </a:solidFill>
                    <a:latin typeface="Arial" panose="020B0604020202020204" pitchFamily="34" charset="0"/>
                    <a:cs typeface="Arial" panose="020B0604020202020204" pitchFamily="34" charset="0"/>
                  </a:rPr>
                  <a:t>No </a:t>
                </a:r>
                <a:r>
                  <a:rPr lang="en-US" smtClean="0">
                    <a:solidFill>
                      <a:srgbClr val="FFFF00"/>
                    </a:solidFill>
                    <a:latin typeface="Arial" panose="020B0604020202020204" pitchFamily="34" charset="0"/>
                    <a:cs typeface="Arial" panose="020B0604020202020204" pitchFamily="34" charset="0"/>
                  </a:rPr>
                  <a:t>of product B</a:t>
                </a:r>
                <a:endParaRPr lang="en-US" dirty="0">
                  <a:solidFill>
                    <a:prstClr val="white"/>
                  </a:solidFill>
                  <a:latin typeface="Arial" panose="020B0604020202020204" pitchFamily="34" charset="0"/>
                  <a:cs typeface="Arial" panose="020B0604020202020204" pitchFamily="34" charset="0"/>
                </a:endParaRPr>
              </a:p>
              <a:p>
                <a:pPr marL="0" lvl="0" indent="0" algn="just">
                  <a:buNone/>
                </a:pPr>
                <a:r>
                  <a:rPr lang="en-US" dirty="0">
                    <a:solidFill>
                      <a:prstClr val="white"/>
                    </a:solidFill>
                    <a:latin typeface="Arial" panose="020B0604020202020204" pitchFamily="34" charset="0"/>
                    <a:cs typeface="Arial" panose="020B0604020202020204" pitchFamily="34" charset="0"/>
                  </a:rPr>
                  <a:t>Subject to Constraints:</a:t>
                </a:r>
              </a:p>
              <a:p>
                <a:pPr marL="0" lvl="0" indent="0" algn="just">
                  <a:buNone/>
                </a:pPr>
                <a:endParaRPr lang="en-US" dirty="0">
                  <a:solidFill>
                    <a:prstClr val="white"/>
                  </a:solidFill>
                  <a:latin typeface="Arial" panose="020B0604020202020204" pitchFamily="34" charset="0"/>
                  <a:cs typeface="Arial" panose="020B0604020202020204" pitchFamily="34" charset="0"/>
                </a:endParaRPr>
              </a:p>
              <a:p>
                <a:pPr marL="0" lvl="0" indent="0" algn="just">
                  <a:buNone/>
                </a:pPr>
                <a14:m>
                  <m:oMathPara xmlns:m="http://schemas.openxmlformats.org/officeDocument/2006/math">
                    <m:oMathParaPr>
                      <m:jc m:val="centerGroup"/>
                    </m:oMathParaPr>
                    <m:oMath xmlns:m="http://schemas.openxmlformats.org/officeDocument/2006/math">
                      <m:r>
                        <a:rPr lang="en-US" i="1" smtClean="0">
                          <a:solidFill>
                            <a:prstClr val="white"/>
                          </a:solidFill>
                          <a:latin typeface="Cambria Math" panose="02040503050406030204" pitchFamily="18" charset="0"/>
                          <a:cs typeface="Arial" panose="020B0604020202020204" pitchFamily="34" charset="0"/>
                        </a:rPr>
                        <m:t>1</m:t>
                      </m:r>
                      <m:r>
                        <a:rPr lang="en-US" b="0" i="1" smtClean="0">
                          <a:solidFill>
                            <a:prstClr val="white"/>
                          </a:solidFill>
                          <a:latin typeface="Cambria Math" panose="02040503050406030204" pitchFamily="18" charset="0"/>
                          <a:cs typeface="Arial" panose="020B0604020202020204" pitchFamily="34" charset="0"/>
                        </a:rPr>
                        <m:t>.5</m:t>
                      </m:r>
                      <m:sSub>
                        <m:sSubPr>
                          <m:ctrlPr>
                            <a:rPr lang="en-US" i="1">
                              <a:solidFill>
                                <a:prstClr val="white"/>
                              </a:solidFill>
                              <a:latin typeface="Cambria Math"/>
                              <a:cs typeface="Arial" panose="020B0604020202020204" pitchFamily="34" charset="0"/>
                            </a:rPr>
                          </m:ctrlPr>
                        </m:sSubPr>
                        <m:e>
                          <m:r>
                            <a:rPr lang="en-US" i="1">
                              <a:solidFill>
                                <a:prstClr val="white"/>
                              </a:solidFill>
                              <a:latin typeface="Cambria Math" panose="02040503050406030204" pitchFamily="18" charset="0"/>
                              <a:cs typeface="Arial" panose="020B0604020202020204" pitchFamily="34" charset="0"/>
                            </a:rPr>
                            <m:t>𝑥</m:t>
                          </m:r>
                        </m:e>
                        <m:sub>
                          <m:r>
                            <a:rPr lang="en-US" i="1">
                              <a:solidFill>
                                <a:prstClr val="white"/>
                              </a:solidFill>
                              <a:latin typeface="Cambria Math" panose="02040503050406030204" pitchFamily="18" charset="0"/>
                              <a:cs typeface="Arial" panose="020B0604020202020204" pitchFamily="34" charset="0"/>
                            </a:rPr>
                            <m:t>1</m:t>
                          </m:r>
                        </m:sub>
                      </m:sSub>
                      <m:r>
                        <a:rPr lang="en-US" i="1">
                          <a:solidFill>
                            <a:prstClr val="white"/>
                          </a:solidFill>
                          <a:latin typeface="Cambria Math" panose="02040503050406030204" pitchFamily="18" charset="0"/>
                          <a:cs typeface="Arial" panose="020B0604020202020204" pitchFamily="34" charset="0"/>
                        </a:rPr>
                        <m:t>+</m:t>
                      </m:r>
                      <m:r>
                        <a:rPr lang="en-US" b="0" i="1" smtClean="0">
                          <a:solidFill>
                            <a:prstClr val="white"/>
                          </a:solidFill>
                          <a:latin typeface="Cambria Math" panose="02040503050406030204" pitchFamily="18" charset="0"/>
                          <a:cs typeface="Arial" panose="020B0604020202020204" pitchFamily="34" charset="0"/>
                        </a:rPr>
                        <m:t>2.5</m:t>
                      </m:r>
                      <m:sSub>
                        <m:sSubPr>
                          <m:ctrlPr>
                            <a:rPr lang="en-US" i="1">
                              <a:solidFill>
                                <a:prstClr val="white"/>
                              </a:solidFill>
                              <a:latin typeface="Cambria Math"/>
                              <a:cs typeface="Arial" panose="020B0604020202020204" pitchFamily="34" charset="0"/>
                            </a:rPr>
                          </m:ctrlPr>
                        </m:sSubPr>
                        <m:e>
                          <m:r>
                            <a:rPr lang="en-US" i="1">
                              <a:solidFill>
                                <a:prstClr val="white"/>
                              </a:solidFill>
                              <a:latin typeface="Cambria Math" panose="02040503050406030204" pitchFamily="18" charset="0"/>
                              <a:cs typeface="Arial" panose="020B0604020202020204" pitchFamily="34" charset="0"/>
                            </a:rPr>
                            <m:t>𝑥</m:t>
                          </m:r>
                        </m:e>
                        <m:sub>
                          <m:r>
                            <a:rPr lang="en-US" i="1">
                              <a:solidFill>
                                <a:prstClr val="white"/>
                              </a:solidFill>
                              <a:latin typeface="Cambria Math" panose="02040503050406030204" pitchFamily="18" charset="0"/>
                              <a:cs typeface="Arial" panose="020B0604020202020204" pitchFamily="34" charset="0"/>
                            </a:rPr>
                            <m:t>2</m:t>
                          </m:r>
                        </m:sub>
                      </m:sSub>
                      <m:r>
                        <a:rPr lang="en-US" i="1">
                          <a:solidFill>
                            <a:prstClr val="white"/>
                          </a:solidFill>
                          <a:latin typeface="Cambria Math" panose="02040503050406030204" pitchFamily="18" charset="0"/>
                          <a:ea typeface="Cambria Math" panose="02040503050406030204" pitchFamily="18" charset="0"/>
                          <a:cs typeface="Arial" panose="020B0604020202020204" pitchFamily="34" charset="0"/>
                        </a:rPr>
                        <m:t>≤</m:t>
                      </m:r>
                      <m:r>
                        <a:rPr lang="en-US" b="0" i="1" smtClean="0">
                          <a:solidFill>
                            <a:prstClr val="white"/>
                          </a:solidFill>
                          <a:latin typeface="Cambria Math" panose="02040503050406030204" pitchFamily="18" charset="0"/>
                          <a:ea typeface="Cambria Math" panose="02040503050406030204" pitchFamily="18" charset="0"/>
                          <a:cs typeface="Arial" panose="020B0604020202020204" pitchFamily="34" charset="0"/>
                        </a:rPr>
                        <m:t>3</m:t>
                      </m:r>
                      <m:r>
                        <a:rPr lang="en-US" i="1">
                          <a:solidFill>
                            <a:prstClr val="white"/>
                          </a:solidFill>
                          <a:latin typeface="Cambria Math" panose="02040503050406030204" pitchFamily="18" charset="0"/>
                          <a:ea typeface="Cambria Math" panose="02040503050406030204" pitchFamily="18" charset="0"/>
                          <a:cs typeface="Arial" panose="020B0604020202020204" pitchFamily="34" charset="0"/>
                        </a:rPr>
                        <m:t>00</m:t>
                      </m:r>
                    </m:oMath>
                  </m:oMathPara>
                </a14:m>
                <a:endParaRPr lang="en-US" dirty="0">
                  <a:solidFill>
                    <a:prstClr val="white"/>
                  </a:solidFill>
                  <a:latin typeface="Arial" panose="020B0604020202020204" pitchFamily="34" charset="0"/>
                  <a:cs typeface="Arial" panose="020B0604020202020204" pitchFamily="34" charset="0"/>
                </a:endParaRPr>
              </a:p>
              <a:p>
                <a:pPr marL="0" lvl="0" indent="0" algn="just">
                  <a:buNone/>
                </a:pPr>
                <a14:m>
                  <m:oMathPara xmlns:m="http://schemas.openxmlformats.org/officeDocument/2006/math">
                    <m:oMathParaPr>
                      <m:jc m:val="centerGroup"/>
                    </m:oMathParaPr>
                    <m:oMath xmlns:m="http://schemas.openxmlformats.org/officeDocument/2006/math">
                      <m:r>
                        <a:rPr lang="en-US" i="1">
                          <a:solidFill>
                            <a:prstClr val="white"/>
                          </a:solidFill>
                          <a:latin typeface="Cambria Math" panose="02040503050406030204" pitchFamily="18" charset="0"/>
                          <a:cs typeface="Arial" panose="020B0604020202020204" pitchFamily="34" charset="0"/>
                        </a:rPr>
                        <m:t>2</m:t>
                      </m:r>
                      <m:r>
                        <a:rPr lang="en-US" b="0" i="1" smtClean="0">
                          <a:solidFill>
                            <a:prstClr val="white"/>
                          </a:solidFill>
                          <a:latin typeface="Cambria Math" panose="02040503050406030204" pitchFamily="18" charset="0"/>
                          <a:cs typeface="Arial" panose="020B0604020202020204" pitchFamily="34" charset="0"/>
                        </a:rPr>
                        <m:t>.5</m:t>
                      </m:r>
                      <m:sSub>
                        <m:sSubPr>
                          <m:ctrlPr>
                            <a:rPr lang="en-US" i="1">
                              <a:solidFill>
                                <a:prstClr val="white"/>
                              </a:solidFill>
                              <a:latin typeface="Cambria Math"/>
                              <a:cs typeface="Arial" panose="020B0604020202020204" pitchFamily="34" charset="0"/>
                            </a:rPr>
                          </m:ctrlPr>
                        </m:sSubPr>
                        <m:e>
                          <m:r>
                            <a:rPr lang="en-US" i="1">
                              <a:solidFill>
                                <a:prstClr val="white"/>
                              </a:solidFill>
                              <a:latin typeface="Cambria Math" panose="02040503050406030204" pitchFamily="18" charset="0"/>
                              <a:cs typeface="Arial" panose="020B0604020202020204" pitchFamily="34" charset="0"/>
                            </a:rPr>
                            <m:t>𝑥</m:t>
                          </m:r>
                        </m:e>
                        <m:sub>
                          <m:r>
                            <a:rPr lang="en-US" i="1">
                              <a:solidFill>
                                <a:prstClr val="white"/>
                              </a:solidFill>
                              <a:latin typeface="Cambria Math" panose="02040503050406030204" pitchFamily="18" charset="0"/>
                              <a:cs typeface="Arial" panose="020B0604020202020204" pitchFamily="34" charset="0"/>
                            </a:rPr>
                            <m:t>1</m:t>
                          </m:r>
                        </m:sub>
                      </m:sSub>
                      <m:r>
                        <a:rPr lang="en-US" i="1">
                          <a:solidFill>
                            <a:prstClr val="white"/>
                          </a:solidFill>
                          <a:latin typeface="Cambria Math" panose="02040503050406030204" pitchFamily="18" charset="0"/>
                          <a:cs typeface="Arial" panose="020B0604020202020204" pitchFamily="34" charset="0"/>
                        </a:rPr>
                        <m:t>+</m:t>
                      </m:r>
                      <m:r>
                        <a:rPr lang="en-US" b="0" i="1" smtClean="0">
                          <a:solidFill>
                            <a:prstClr val="white"/>
                          </a:solidFill>
                          <a:latin typeface="Cambria Math" panose="02040503050406030204" pitchFamily="18" charset="0"/>
                          <a:cs typeface="Arial" panose="020B0604020202020204" pitchFamily="34" charset="0"/>
                        </a:rPr>
                        <m:t>1.5</m:t>
                      </m:r>
                      <m:sSub>
                        <m:sSubPr>
                          <m:ctrlPr>
                            <a:rPr lang="en-US" i="1">
                              <a:solidFill>
                                <a:prstClr val="white"/>
                              </a:solidFill>
                              <a:latin typeface="Cambria Math"/>
                              <a:cs typeface="Arial" panose="020B0604020202020204" pitchFamily="34" charset="0"/>
                            </a:rPr>
                          </m:ctrlPr>
                        </m:sSubPr>
                        <m:e>
                          <m:r>
                            <a:rPr lang="en-US" i="1">
                              <a:solidFill>
                                <a:prstClr val="white"/>
                              </a:solidFill>
                              <a:latin typeface="Cambria Math" panose="02040503050406030204" pitchFamily="18" charset="0"/>
                              <a:cs typeface="Arial" panose="020B0604020202020204" pitchFamily="34" charset="0"/>
                            </a:rPr>
                            <m:t>𝑥</m:t>
                          </m:r>
                        </m:e>
                        <m:sub>
                          <m:r>
                            <a:rPr lang="en-US" i="1">
                              <a:solidFill>
                                <a:prstClr val="white"/>
                              </a:solidFill>
                              <a:latin typeface="Cambria Math" panose="02040503050406030204" pitchFamily="18" charset="0"/>
                              <a:cs typeface="Arial" panose="020B0604020202020204" pitchFamily="34" charset="0"/>
                            </a:rPr>
                            <m:t>2</m:t>
                          </m:r>
                        </m:sub>
                      </m:sSub>
                      <m:r>
                        <a:rPr lang="en-US" i="1">
                          <a:solidFill>
                            <a:prstClr val="white"/>
                          </a:solidFill>
                          <a:latin typeface="Cambria Math" panose="02040503050406030204" pitchFamily="18" charset="0"/>
                          <a:ea typeface="Cambria Math" panose="02040503050406030204" pitchFamily="18" charset="0"/>
                          <a:cs typeface="Arial" panose="020B0604020202020204" pitchFamily="34" charset="0"/>
                        </a:rPr>
                        <m:t>≤2</m:t>
                      </m:r>
                      <m:r>
                        <a:rPr lang="en-US" b="0" i="1" smtClean="0">
                          <a:solidFill>
                            <a:prstClr val="white"/>
                          </a:solidFill>
                          <a:latin typeface="Cambria Math" panose="02040503050406030204" pitchFamily="18" charset="0"/>
                          <a:ea typeface="Cambria Math" panose="02040503050406030204" pitchFamily="18" charset="0"/>
                          <a:cs typeface="Arial" panose="020B0604020202020204" pitchFamily="34" charset="0"/>
                        </a:rPr>
                        <m:t>4</m:t>
                      </m:r>
                      <m:r>
                        <a:rPr lang="en-US" i="1">
                          <a:solidFill>
                            <a:prstClr val="white"/>
                          </a:solidFill>
                          <a:latin typeface="Cambria Math" panose="02040503050406030204" pitchFamily="18" charset="0"/>
                          <a:ea typeface="Cambria Math" panose="02040503050406030204" pitchFamily="18" charset="0"/>
                          <a:cs typeface="Arial" panose="020B0604020202020204" pitchFamily="34" charset="0"/>
                        </a:rPr>
                        <m:t>0</m:t>
                      </m:r>
                    </m:oMath>
                  </m:oMathPara>
                </a14:m>
                <a:endParaRPr lang="en-US" dirty="0">
                  <a:solidFill>
                    <a:prstClr val="white"/>
                  </a:solidFill>
                  <a:latin typeface="Arial" panose="020B0604020202020204" pitchFamily="34" charset="0"/>
                  <a:cs typeface="Arial" panose="020B0604020202020204" pitchFamily="34" charset="0"/>
                </a:endParaRPr>
              </a:p>
              <a:p>
                <a:pPr marL="0" lvl="0" indent="0" algn="just">
                  <a:buNone/>
                </a:pPr>
                <a:endParaRPr lang="en-US" dirty="0">
                  <a:solidFill>
                    <a:prstClr val="white"/>
                  </a:solidFill>
                  <a:latin typeface="Arial" panose="020B0604020202020204" pitchFamily="34" charset="0"/>
                  <a:cs typeface="Arial" panose="020B0604020202020204" pitchFamily="34" charset="0"/>
                </a:endParaRPr>
              </a:p>
              <a:p>
                <a:pPr marL="0" lvl="0" indent="0" algn="just">
                  <a:buNone/>
                </a:pPr>
                <a14:m>
                  <m:oMathPara xmlns:m="http://schemas.openxmlformats.org/officeDocument/2006/math">
                    <m:oMathParaPr>
                      <m:jc m:val="centerGroup"/>
                    </m:oMathParaPr>
                    <m:oMath xmlns:m="http://schemas.openxmlformats.org/officeDocument/2006/math">
                      <m:sSub>
                        <m:sSubPr>
                          <m:ctrlPr>
                            <a:rPr lang="en-US" i="1">
                              <a:solidFill>
                                <a:prstClr val="white"/>
                              </a:solidFill>
                              <a:latin typeface="Cambria Math"/>
                              <a:cs typeface="Arial" panose="020B0604020202020204" pitchFamily="34" charset="0"/>
                            </a:rPr>
                          </m:ctrlPr>
                        </m:sSubPr>
                        <m:e>
                          <m:r>
                            <a:rPr lang="en-US" i="1">
                              <a:solidFill>
                                <a:prstClr val="white"/>
                              </a:solidFill>
                              <a:latin typeface="Cambria Math" panose="02040503050406030204" pitchFamily="18" charset="0"/>
                              <a:cs typeface="Arial" panose="020B0604020202020204" pitchFamily="34" charset="0"/>
                            </a:rPr>
                            <m:t>𝑥</m:t>
                          </m:r>
                        </m:e>
                        <m:sub>
                          <m:r>
                            <a:rPr lang="en-US" i="1">
                              <a:solidFill>
                                <a:prstClr val="white"/>
                              </a:solidFill>
                              <a:latin typeface="Cambria Math" panose="02040503050406030204" pitchFamily="18" charset="0"/>
                              <a:cs typeface="Arial" panose="020B0604020202020204" pitchFamily="34" charset="0"/>
                            </a:rPr>
                            <m:t>1</m:t>
                          </m:r>
                        </m:sub>
                      </m:sSub>
                      <m:r>
                        <a:rPr lang="en-US" i="1">
                          <a:solidFill>
                            <a:prstClr val="white"/>
                          </a:solidFill>
                          <a:latin typeface="Cambria Math" panose="02040503050406030204" pitchFamily="18" charset="0"/>
                          <a:cs typeface="Arial" panose="020B0604020202020204" pitchFamily="34" charset="0"/>
                        </a:rPr>
                        <m:t>,</m:t>
                      </m:r>
                      <m:sSub>
                        <m:sSubPr>
                          <m:ctrlPr>
                            <a:rPr lang="en-US" i="1">
                              <a:solidFill>
                                <a:prstClr val="white"/>
                              </a:solidFill>
                              <a:latin typeface="Cambria Math"/>
                              <a:cs typeface="Arial" panose="020B0604020202020204" pitchFamily="34" charset="0"/>
                            </a:rPr>
                          </m:ctrlPr>
                        </m:sSubPr>
                        <m:e>
                          <m:r>
                            <a:rPr lang="en-US" i="1">
                              <a:solidFill>
                                <a:prstClr val="white"/>
                              </a:solidFill>
                              <a:latin typeface="Cambria Math" panose="02040503050406030204" pitchFamily="18" charset="0"/>
                              <a:cs typeface="Arial" panose="020B0604020202020204" pitchFamily="34" charset="0"/>
                            </a:rPr>
                            <m:t>𝑥</m:t>
                          </m:r>
                        </m:e>
                        <m:sub>
                          <m:r>
                            <a:rPr lang="en-US" i="1">
                              <a:solidFill>
                                <a:prstClr val="white"/>
                              </a:solidFill>
                              <a:latin typeface="Cambria Math" panose="02040503050406030204" pitchFamily="18" charset="0"/>
                              <a:cs typeface="Arial" panose="020B0604020202020204" pitchFamily="34" charset="0"/>
                            </a:rPr>
                            <m:t>2</m:t>
                          </m:r>
                        </m:sub>
                      </m:sSub>
                      <m:r>
                        <a:rPr lang="en-US" i="1">
                          <a:solidFill>
                            <a:prstClr val="white"/>
                          </a:solidFill>
                          <a:latin typeface="Cambria Math" panose="02040503050406030204" pitchFamily="18" charset="0"/>
                          <a:cs typeface="Arial" panose="020B0604020202020204" pitchFamily="34" charset="0"/>
                        </a:rPr>
                        <m:t> </m:t>
                      </m:r>
                      <m:r>
                        <a:rPr lang="en-US" i="1" smtClean="0">
                          <a:solidFill>
                            <a:prstClr val="white"/>
                          </a:solidFill>
                          <a:latin typeface="Cambria Math" panose="02040503050406030204" pitchFamily="18" charset="0"/>
                          <a:ea typeface="Cambria Math" panose="02040503050406030204" pitchFamily="18" charset="0"/>
                          <a:cs typeface="Arial" panose="020B0604020202020204" pitchFamily="34" charset="0"/>
                        </a:rPr>
                        <m:t>≥</m:t>
                      </m:r>
                      <m:r>
                        <a:rPr lang="en-US" b="0" i="1" smtClean="0">
                          <a:solidFill>
                            <a:prstClr val="white"/>
                          </a:solidFill>
                          <a:latin typeface="Cambria Math" panose="02040503050406030204" pitchFamily="18" charset="0"/>
                          <a:ea typeface="Cambria Math" panose="02040503050406030204" pitchFamily="18" charset="0"/>
                          <a:cs typeface="Arial" panose="020B0604020202020204" pitchFamily="34" charset="0"/>
                        </a:rPr>
                        <m:t>0</m:t>
                      </m:r>
                    </m:oMath>
                  </m:oMathPara>
                </a14:m>
                <a:endParaRPr lang="en-US" dirty="0">
                  <a:solidFill>
                    <a:prstClr val="white"/>
                  </a:solidFill>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mc:Choice>
        <mc:Fallback>
          <p:sp>
            <p:nvSpPr>
              <p:cNvPr id="6" name="Content Placeholder 5">
                <a:extLst>
                  <a:ext uri="{FF2B5EF4-FFF2-40B4-BE49-F238E27FC236}">
                    <a16:creationId xmlns="" xmlns:a16="http://schemas.microsoft.com/office/drawing/2014/main" xmlns:a14="http://schemas.microsoft.com/office/drawing/2010/main" id="{12C3F38F-06D5-4ADF-BB89-374D8DB47BD2}"/>
                  </a:ext>
                </a:extLst>
              </p:cNvPr>
              <p:cNvSpPr>
                <a:spLocks noGrp="1" noRot="1" noChangeAspect="1" noMove="1" noResize="1" noEditPoints="1" noAdjustHandles="1" noChangeArrowheads="1" noChangeShapeType="1" noTextEdit="1"/>
              </p:cNvSpPr>
              <p:nvPr>
                <p:ph idx="1"/>
              </p:nvPr>
            </p:nvSpPr>
            <p:spPr>
              <a:xfrm>
                <a:off x="856060" y="2249486"/>
                <a:ext cx="7429499" cy="4608513"/>
              </a:xfrm>
              <a:blipFill rotWithShape="1">
                <a:blip r:embed="rId2"/>
                <a:stretch>
                  <a:fillRect l="-1231" t="-794" b="-10714"/>
                </a:stretch>
              </a:blipFill>
            </p:spPr>
            <p:txBody>
              <a:bodyPr/>
              <a:lstStyle/>
              <a:p>
                <a:r>
                  <a:rPr lang="en-GB">
                    <a:noFill/>
                  </a:rPr>
                  <a:t> </a:t>
                </a:r>
              </a:p>
            </p:txBody>
          </p:sp>
        </mc:Fallback>
      </mc:AlternateContent>
    </p:spTree>
    <p:extLst>
      <p:ext uri="{BB962C8B-B14F-4D97-AF65-F5344CB8AC3E}">
        <p14:creationId xmlns:p14="http://schemas.microsoft.com/office/powerpoint/2010/main" val="258834339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856060" y="618518"/>
            <a:ext cx="7429499" cy="1478570"/>
          </a:xfrm>
        </p:spPr>
        <p:txBody>
          <a:bodyPr>
            <a:normAutofit/>
          </a:bodyPr>
          <a:lstStyle/>
          <a:p>
            <a:r>
              <a:rPr lang="en-US" sz="4000" dirty="0" smtClean="0">
                <a:solidFill>
                  <a:srgbClr val="C00000"/>
                </a:solidFill>
                <a:latin typeface="Arial" panose="020B0604020202020204" pitchFamily="34" charset="0"/>
                <a:cs typeface="Arial" panose="020B0604020202020204" pitchFamily="34" charset="0"/>
              </a:rPr>
              <a:t>Solution of linear programming</a:t>
            </a:r>
            <a:endParaRPr lang="en-US" sz="4000" dirty="0">
              <a:solidFill>
                <a:srgbClr val="C00000"/>
              </a:solidFill>
              <a:latin typeface="Arial" panose="020B0604020202020204" pitchFamily="34" charset="0"/>
              <a:cs typeface="Arial" panose="020B0604020202020204" pitchFamily="34" charset="0"/>
            </a:endParaRPr>
          </a:p>
        </p:txBody>
      </p:sp>
      <p:sp>
        <p:nvSpPr>
          <p:cNvPr id="6" name="TextBox 5"/>
          <p:cNvSpPr txBox="1"/>
          <p:nvPr/>
        </p:nvSpPr>
        <p:spPr>
          <a:xfrm>
            <a:off x="1237127" y="2026023"/>
            <a:ext cx="3872753" cy="3970318"/>
          </a:xfrm>
          <a:prstGeom prst="rect">
            <a:avLst/>
          </a:prstGeom>
          <a:noFill/>
        </p:spPr>
        <p:txBody>
          <a:bodyPr wrap="square" rtlCol="0">
            <a:spAutoFit/>
          </a:bodyPr>
          <a:lstStyle/>
          <a:p>
            <a:pPr marL="285750" indent="-285750">
              <a:lnSpc>
                <a:spcPct val="150000"/>
              </a:lnSpc>
              <a:buFont typeface="Arial" pitchFamily="34" charset="0"/>
              <a:buChar char="•"/>
            </a:pPr>
            <a:r>
              <a:rPr lang="en-US" sz="2800" dirty="0" smtClean="0"/>
              <a:t>Graphical method</a:t>
            </a:r>
          </a:p>
          <a:p>
            <a:pPr marL="285750" indent="-285750">
              <a:lnSpc>
                <a:spcPct val="150000"/>
              </a:lnSpc>
              <a:buFont typeface="Arial" pitchFamily="34" charset="0"/>
              <a:buChar char="•"/>
            </a:pPr>
            <a:r>
              <a:rPr lang="en-US" sz="2800" dirty="0" smtClean="0"/>
              <a:t>Simplex method</a:t>
            </a:r>
          </a:p>
          <a:p>
            <a:pPr marL="285750" indent="-285750">
              <a:lnSpc>
                <a:spcPct val="150000"/>
              </a:lnSpc>
              <a:buFont typeface="Arial" pitchFamily="34" charset="0"/>
              <a:buChar char="•"/>
            </a:pPr>
            <a:r>
              <a:rPr lang="en-US" sz="2800" dirty="0" smtClean="0"/>
              <a:t>Two phase simplex method</a:t>
            </a:r>
          </a:p>
          <a:p>
            <a:pPr marL="285750" indent="-285750">
              <a:lnSpc>
                <a:spcPct val="150000"/>
              </a:lnSpc>
              <a:buFont typeface="Arial" pitchFamily="34" charset="0"/>
              <a:buChar char="•"/>
            </a:pPr>
            <a:r>
              <a:rPr lang="en-US" sz="2800" dirty="0"/>
              <a:t>Big M </a:t>
            </a:r>
            <a:r>
              <a:rPr lang="en-US" sz="2800" dirty="0" smtClean="0"/>
              <a:t>method</a:t>
            </a:r>
          </a:p>
          <a:p>
            <a:pPr marL="285750" indent="-285750">
              <a:lnSpc>
                <a:spcPct val="150000"/>
              </a:lnSpc>
              <a:buFont typeface="Arial" pitchFamily="34" charset="0"/>
              <a:buChar char="•"/>
            </a:pPr>
            <a:r>
              <a:rPr lang="en-US" sz="2800" smtClean="0"/>
              <a:t>Duality method</a:t>
            </a:r>
            <a:endParaRPr lang="en-US" sz="2800" dirty="0" smtClean="0"/>
          </a:p>
        </p:txBody>
      </p:sp>
    </p:spTree>
    <p:extLst>
      <p:ext uri="{BB962C8B-B14F-4D97-AF65-F5344CB8AC3E}">
        <p14:creationId xmlns:p14="http://schemas.microsoft.com/office/powerpoint/2010/main" val="189688808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7250" y="2689715"/>
            <a:ext cx="7429499" cy="1478570"/>
          </a:xfrm>
        </p:spPr>
        <p:txBody>
          <a:bodyPr>
            <a:normAutofit fontScale="90000"/>
          </a:bodyPr>
          <a:lstStyle/>
          <a:p>
            <a:pPr lvl="0" algn="ctr">
              <a:lnSpc>
                <a:spcPct val="100000"/>
              </a:lnSpc>
              <a:spcBef>
                <a:spcPts val="0"/>
              </a:spcBef>
            </a:pPr>
            <a:r>
              <a:rPr lang="en-GB" sz="5400" b="1" cap="none" dirty="0">
                <a:solidFill>
                  <a:prstClr val="black"/>
                </a:solidFill>
                <a:latin typeface="Arial" panose="020B0604020202020204" pitchFamily="34" charset="0"/>
                <a:ea typeface="+mn-ea"/>
                <a:cs typeface="Arial" panose="020B0604020202020204" pitchFamily="34" charset="0"/>
              </a:rPr>
              <a:t>Thank you!</a:t>
            </a:r>
            <a:r>
              <a:rPr lang="en-GB" sz="4800" b="1" cap="none" dirty="0">
                <a:solidFill>
                  <a:prstClr val="black"/>
                </a:solidFill>
                <a:latin typeface="Arial" panose="020B0604020202020204" pitchFamily="34" charset="0"/>
                <a:ea typeface="+mn-ea"/>
                <a:cs typeface="Arial" panose="020B0604020202020204" pitchFamily="34" charset="0"/>
              </a:rPr>
              <a:t/>
            </a:r>
            <a:br>
              <a:rPr lang="en-GB" sz="4800" b="1" cap="none" dirty="0">
                <a:solidFill>
                  <a:prstClr val="black"/>
                </a:solidFill>
                <a:latin typeface="Arial" panose="020B0604020202020204" pitchFamily="34" charset="0"/>
                <a:ea typeface="+mn-ea"/>
                <a:cs typeface="Arial" panose="020B0604020202020204" pitchFamily="34" charset="0"/>
              </a:rPr>
            </a:br>
            <a:endParaRPr lang="en-US" sz="4000"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10737575"/>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 xmlns:thm15="http://schemas.microsoft.com/office/thememl/2012/main" name="Circuit" id="{0AC2F7E7-15F5-431C-B2A2-456FE929F56C}" vid="{142578CA-DEC9-49C3-80AF-C113973CC9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2877</TotalTime>
  <Words>1419</Words>
  <Application>Microsoft Office PowerPoint</Application>
  <PresentationFormat>On-screen Show (4:3)</PresentationFormat>
  <Paragraphs>172</Paragraphs>
  <Slides>34</Slides>
  <Notes>0</Notes>
  <HiddenSlides>0</HiddenSlides>
  <MMClips>0</MMClip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Circuit</vt:lpstr>
      <vt:lpstr>PowerPoint Presentation</vt:lpstr>
      <vt:lpstr>PowerPoint Presentation</vt:lpstr>
      <vt:lpstr>Operation Research</vt:lpstr>
      <vt:lpstr>Operation Research</vt:lpstr>
      <vt:lpstr>Brief Introduction</vt:lpstr>
      <vt:lpstr>Brief Introduction</vt:lpstr>
      <vt:lpstr>Brief Introduction</vt:lpstr>
      <vt:lpstr>Background </vt:lpstr>
      <vt:lpstr>Application of O.R in real life/Scope </vt:lpstr>
      <vt:lpstr>Application of O.R in real life/Scope </vt:lpstr>
      <vt:lpstr>Application of O.R in real life/Scope </vt:lpstr>
      <vt:lpstr>When is oR USED?</vt:lpstr>
      <vt:lpstr>WHEN IS OR USEFUL</vt:lpstr>
      <vt:lpstr>Terminology</vt:lpstr>
      <vt:lpstr>O.r models</vt:lpstr>
      <vt:lpstr>PowerPoint Presentation</vt:lpstr>
      <vt:lpstr>PowerPoint Presentation</vt:lpstr>
      <vt:lpstr>PowerPoint Presentation</vt:lpstr>
      <vt:lpstr>PowerPoint Presentation</vt:lpstr>
      <vt:lpstr>Linear programming</vt:lpstr>
      <vt:lpstr>Linear programming</vt:lpstr>
      <vt:lpstr>Linear Function</vt:lpstr>
      <vt:lpstr>Objective Function</vt:lpstr>
      <vt:lpstr>constraint</vt:lpstr>
      <vt:lpstr>Feasible solution</vt:lpstr>
      <vt:lpstr>optimal solution</vt:lpstr>
      <vt:lpstr>General linear programming</vt:lpstr>
      <vt:lpstr>Formulation of linear programming in mathematical form</vt:lpstr>
      <vt:lpstr>Formulation of linear programming in mathematical form</vt:lpstr>
      <vt:lpstr>Formulation of linear programming in mathematical form</vt:lpstr>
      <vt:lpstr>Formulation of linear programming in mathematical form</vt:lpstr>
      <vt:lpstr>Formulation of linear programming in mathematical form</vt:lpstr>
      <vt:lpstr>Solution of linear programming</vt:lpstr>
      <vt:lpstr>Thank you!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Bakhtawar</dc:creator>
  <cp:lastModifiedBy>4G Traders</cp:lastModifiedBy>
  <cp:revision>230</cp:revision>
  <dcterms:created xsi:type="dcterms:W3CDTF">2022-09-10T13:48:09Z</dcterms:created>
  <dcterms:modified xsi:type="dcterms:W3CDTF">2025-09-16T04:37:08Z</dcterms:modified>
</cp:coreProperties>
</file>