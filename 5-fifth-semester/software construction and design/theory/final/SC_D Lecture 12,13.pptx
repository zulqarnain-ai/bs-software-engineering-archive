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59" r:id="rId4"/>
    <p:sldId id="260" r:id="rId5"/>
    <p:sldId id="379" r:id="rId6"/>
    <p:sldId id="261" r:id="rId7"/>
    <p:sldId id="262" r:id="rId8"/>
    <p:sldId id="380" r:id="rId9"/>
    <p:sldId id="263" r:id="rId10"/>
    <p:sldId id="264" r:id="rId11"/>
    <p:sldId id="265" r:id="rId12"/>
    <p:sldId id="364" r:id="rId13"/>
    <p:sldId id="381" r:id="rId14"/>
    <p:sldId id="388" r:id="rId15"/>
    <p:sldId id="389" r:id="rId16"/>
    <p:sldId id="266" r:id="rId17"/>
    <p:sldId id="365" r:id="rId18"/>
    <p:sldId id="382" r:id="rId19"/>
    <p:sldId id="276" r:id="rId20"/>
    <p:sldId id="267" r:id="rId21"/>
    <p:sldId id="368" r:id="rId22"/>
    <p:sldId id="375" r:id="rId23"/>
    <p:sldId id="383" r:id="rId24"/>
    <p:sldId id="277" r:id="rId25"/>
    <p:sldId id="384" r:id="rId26"/>
    <p:sldId id="385" r:id="rId27"/>
    <p:sldId id="386" r:id="rId28"/>
    <p:sldId id="387" r:id="rId29"/>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84" userDrawn="1">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47"/>
    <p:restoredTop sz="71498" autoAdjust="0"/>
  </p:normalViewPr>
  <p:slideViewPr>
    <p:cSldViewPr>
      <p:cViewPr varScale="1">
        <p:scale>
          <a:sx n="41" d="100"/>
          <a:sy n="41" d="100"/>
        </p:scale>
        <p:origin x="2064" y="40"/>
      </p:cViewPr>
      <p:guideLst>
        <p:guide orient="horz" pos="278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D98BB41-D5A7-42CE-A317-F6CB04FBFE11}" type="datetimeFigureOut">
              <a:rPr lang="en-US" smtClean="0"/>
              <a:pPr/>
              <a:t>12/29/2024</a:t>
            </a:fld>
            <a:endParaRPr lang="en-US"/>
          </a:p>
        </p:txBody>
      </p:sp>
      <p:sp>
        <p:nvSpPr>
          <p:cNvPr id="4" name="Slide Image Placeholder 3"/>
          <p:cNvSpPr>
            <a:spLocks noGrp="1" noRot="1" noChangeAspect="1"/>
          </p:cNvSpPr>
          <p:nvPr>
            <p:ph type="sldImg" idx="2"/>
          </p:nvPr>
        </p:nvSpPr>
        <p:spPr>
          <a:xfrm>
            <a:off x="3143250" y="582613"/>
            <a:ext cx="3771900" cy="2914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692525"/>
            <a:ext cx="8045450" cy="34972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1875"/>
            <a:ext cx="4359275" cy="3889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1875"/>
            <a:ext cx="4359275" cy="388938"/>
          </a:xfrm>
          <a:prstGeom prst="rect">
            <a:avLst/>
          </a:prstGeom>
        </p:spPr>
        <p:txBody>
          <a:bodyPr vert="horz" lIns="91440" tIns="45720" rIns="91440" bIns="45720" rtlCol="0" anchor="b"/>
          <a:lstStyle>
            <a:lvl1pPr algn="r">
              <a:defRPr sz="1200"/>
            </a:lvl1pPr>
          </a:lstStyle>
          <a:p>
            <a:fld id="{B1AAA2A9-782C-4D4F-BC65-96373F2BDFDA}" type="slidenum">
              <a:rPr lang="en-US" smtClean="0"/>
              <a:pPr/>
              <a:t>‹#›</a:t>
            </a:fld>
            <a:endParaRPr lang="en-US"/>
          </a:p>
        </p:txBody>
      </p:sp>
    </p:spTree>
    <p:extLst>
      <p:ext uri="{BB962C8B-B14F-4D97-AF65-F5344CB8AC3E}">
        <p14:creationId xmlns:p14="http://schemas.microsoft.com/office/powerpoint/2010/main" val="373200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refactoring.guru/refactoring/smells/bloaters" TargetMode="External"/><Relationship Id="rId7" Type="http://schemas.openxmlformats.org/officeDocument/2006/relationships/hyperlink" Target="https://refactoring.guru/refactoring/smells/couplers"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refactoring.guru/refactoring/smells/dispensables" TargetMode="External"/><Relationship Id="rId5" Type="http://schemas.openxmlformats.org/officeDocument/2006/relationships/hyperlink" Target="https://refactoring.guru/refactoring/smells/change-preventers" TargetMode="External"/><Relationship Id="rId4" Type="http://schemas.openxmlformats.org/officeDocument/2006/relationships/hyperlink" Target="https://refactoring.guru/refactoring/smells/oo-abusers"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refactoring.guru/refactoring/smells/dispensable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refactoring.guru/refactoring/smells/dispensable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refactoring.guru/refactoring/smells/dispensable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refactoring.guru/smells/shotgun-surgery"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Bugs in code behave just like those in real life: they live in the darkest, dirtiest places in the code. Clean your code and the errors will practically discover themselves.</a:t>
            </a:r>
          </a:p>
          <a:p>
            <a:r>
              <a:rPr lang="en-US" sz="1200" b="0" i="0" kern="1200" dirty="0">
                <a:solidFill>
                  <a:schemeClr val="tx1"/>
                </a:solidFill>
                <a:effectLst/>
                <a:latin typeface="+mn-lt"/>
                <a:ea typeface="+mn-ea"/>
                <a:cs typeface="+mn-cs"/>
              </a:rPr>
              <a:t>Managers appreciate proactive refactoring as it eliminates the need for special refactoring tasks later. Happy bosses make happy programmers!</a:t>
            </a:r>
          </a:p>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7</a:t>
            </a:fld>
            <a:endParaRPr lang="en-US"/>
          </a:p>
        </p:txBody>
      </p:sp>
    </p:spTree>
    <p:extLst>
      <p:ext uri="{BB962C8B-B14F-4D97-AF65-F5344CB8AC3E}">
        <p14:creationId xmlns:p14="http://schemas.microsoft.com/office/powerpoint/2010/main" val="2426212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Everyone does their best to write excellent code from scratch. There probably isn’t a programmer out there who intentionally writes unclean code to the detriment of the project. But at what point does clean code become unclean?</a:t>
            </a:r>
          </a:p>
          <a:p>
            <a:r>
              <a:rPr lang="en-US" sz="1200" b="0" i="0" kern="1200" dirty="0">
                <a:solidFill>
                  <a:schemeClr val="tx1"/>
                </a:solidFill>
                <a:effectLst/>
                <a:latin typeface="+mn-lt"/>
                <a:ea typeface="+mn-ea"/>
                <a:cs typeface="+mn-cs"/>
              </a:rPr>
              <a:t>The metaphor of “technical debt” in regards to unclean code was originally suggested by Ward Cunningham.</a:t>
            </a:r>
          </a:p>
          <a:p>
            <a:r>
              <a:rPr lang="en-US" sz="1200" b="0" i="0" kern="1200" dirty="0">
                <a:solidFill>
                  <a:schemeClr val="tx1"/>
                </a:solidFill>
                <a:effectLst/>
                <a:latin typeface="+mn-lt"/>
                <a:ea typeface="+mn-ea"/>
                <a:cs typeface="+mn-cs"/>
              </a:rPr>
              <a:t>If you get a loan from a bank, this allows you to make purchases faster. You pay extra for expediting the process - you don’t just pay off the principal, but also the additional interest on the loan. Needless to say, you can even rack up so much interest that the amount of interest exceeds your total income, making full repayment impossible.</a:t>
            </a:r>
          </a:p>
          <a:p>
            <a:r>
              <a:rPr lang="en-US" sz="1200" b="0" i="0" kern="1200" dirty="0">
                <a:solidFill>
                  <a:schemeClr val="tx1"/>
                </a:solidFill>
                <a:effectLst/>
                <a:latin typeface="+mn-lt"/>
                <a:ea typeface="+mn-ea"/>
                <a:cs typeface="+mn-cs"/>
              </a:rPr>
              <a:t>The same thing can happen with code. You can temporarily speed up without writing tests for new features, but this will gradually slow your progress every day until you eventually pay off the debt by writing tests.</a:t>
            </a:r>
          </a:p>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8</a:t>
            </a:fld>
            <a:endParaRPr lang="en-US"/>
          </a:p>
        </p:txBody>
      </p:sp>
    </p:spTree>
    <p:extLst>
      <p:ext uri="{BB962C8B-B14F-4D97-AF65-F5344CB8AC3E}">
        <p14:creationId xmlns:p14="http://schemas.microsoft.com/office/powerpoint/2010/main" val="3091391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Depr</a:t>
            </a:r>
            <a:endParaRPr lang="en-US" dirty="0"/>
          </a:p>
          <a:p>
            <a:pPr fontAlgn="base"/>
            <a:r>
              <a:rPr lang="en-US" sz="1200" b="1" i="1" dirty="0" err="1"/>
              <a:t>Resources:</a:t>
            </a:r>
            <a:r>
              <a:rPr lang="en-US" sz="1200" dirty="0" err="1"/>
              <a:t>Concern</a:t>
            </a:r>
            <a:r>
              <a:rPr lang="en-US" sz="1200" dirty="0"/>
              <a:t> over the resources required was a frequently cited reason for not refactoring. The resource mentioned most often was time, as in "Deadlines often don't allow </a:t>
            </a:r>
            <a:r>
              <a:rPr lang="en-US" sz="1200" dirty="0" err="1"/>
              <a:t>refactorings</a:t>
            </a:r>
            <a:r>
              <a:rPr lang="en-US" sz="1200" dirty="0"/>
              <a:t>"; "Sometimes there is just no time"; and "No time no time."</a:t>
            </a:r>
          </a:p>
          <a:p>
            <a:pPr fontAlgn="base"/>
            <a:r>
              <a:rPr lang="en-US" sz="1200" b="1" i="1" dirty="0" err="1"/>
              <a:t>Risk</a:t>
            </a:r>
            <a:r>
              <a:rPr lang="en-US" sz="1200" i="1" dirty="0" err="1"/>
              <a:t>:</a:t>
            </a:r>
            <a:r>
              <a:rPr lang="en-US" sz="1200" dirty="0" err="1"/>
              <a:t>Also</a:t>
            </a:r>
            <a:r>
              <a:rPr lang="en-US" sz="1200" dirty="0"/>
              <a:t> frequently cited was the risk involved in making a change, in particular introducing new faults or other problems, as in "That kind of refactoring is time consuming and there is a large risk of introducing bugs" and "If it's working I leave it alone."</a:t>
            </a:r>
          </a:p>
          <a:p>
            <a:pPr fontAlgn="base"/>
            <a:r>
              <a:rPr lang="en-US" sz="1200" b="1" i="1" dirty="0"/>
              <a:t>Difficulty:</a:t>
            </a:r>
            <a:r>
              <a:rPr lang="en-US" sz="1200" dirty="0"/>
              <a:t> Another concern was the difficulty in making the change, as in "Inheritance is tricky to refactor correctly" and "This kind of refactoring is usually difficult."</a:t>
            </a:r>
          </a:p>
          <a:p>
            <a:pPr fontAlgn="base"/>
            <a:r>
              <a:rPr lang="en-US" sz="1200" b="1" i="1" dirty="0"/>
              <a:t>ROI :</a:t>
            </a:r>
            <a:r>
              <a:rPr lang="en-US" sz="1200" b="1" dirty="0"/>
              <a:t> </a:t>
            </a:r>
            <a:r>
              <a:rPr lang="en-US" sz="1200" dirty="0"/>
              <a:t>Participants acknowledged that while there may be benefits from refactoring, there are also costs, and the return on investment, or ROI, has to be considered, as in "Again, I have to weigh the costs and benefits. The benefits have to be clear before taking on the costs of refactoring,</a:t>
            </a:r>
            <a:endParaRPr lang="en-US" sz="1200" dirty="0">
              <a:latin typeface="Arial"/>
              <a:cs typeface="Arial"/>
            </a:endParaRPr>
          </a:p>
          <a:p>
            <a:r>
              <a:rPr lang="en-US" dirty="0" err="1"/>
              <a:t>eciate</a:t>
            </a:r>
            <a:r>
              <a:rPr lang="en-US" dirty="0"/>
              <a:t> = diminish in value over a period of time.</a:t>
            </a:r>
          </a:p>
        </p:txBody>
      </p:sp>
      <p:sp>
        <p:nvSpPr>
          <p:cNvPr id="4" name="Slide Number Placeholder 3"/>
          <p:cNvSpPr>
            <a:spLocks noGrp="1"/>
          </p:cNvSpPr>
          <p:nvPr>
            <p:ph type="sldNum" sz="quarter" idx="10"/>
          </p:nvPr>
        </p:nvSpPr>
        <p:spPr/>
        <p:txBody>
          <a:bodyPr/>
          <a:lstStyle/>
          <a:p>
            <a:fld id="{B1AAA2A9-782C-4D4F-BC65-96373F2BDFDA}" type="slidenum">
              <a:rPr lang="en-US" smtClean="0"/>
              <a:pPr/>
              <a:t>9</a:t>
            </a:fld>
            <a:endParaRPr lang="en-US"/>
          </a:p>
        </p:txBody>
      </p:sp>
    </p:spTree>
    <p:extLst>
      <p:ext uri="{BB962C8B-B14F-4D97-AF65-F5344CB8AC3E}">
        <p14:creationId xmlns:p14="http://schemas.microsoft.com/office/powerpoint/2010/main" val="76418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12</a:t>
            </a:fld>
            <a:endParaRPr lang="en-US"/>
          </a:p>
        </p:txBody>
      </p:sp>
    </p:spTree>
    <p:extLst>
      <p:ext uri="{BB962C8B-B14F-4D97-AF65-F5344CB8AC3E}">
        <p14:creationId xmlns:p14="http://schemas.microsoft.com/office/powerpoint/2010/main" val="1634258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000" b="1" i="0" u="none" strike="noStrike" kern="1200" dirty="0">
                <a:solidFill>
                  <a:schemeClr val="tx1"/>
                </a:solidFill>
                <a:effectLst/>
                <a:latin typeface="+mn-lt"/>
                <a:ea typeface="+mn-ea"/>
                <a:cs typeface="+mn-cs"/>
                <a:hlinkClick r:id="rId3"/>
              </a:rPr>
            </a:br>
            <a:r>
              <a:rPr lang="en-US" sz="1000" b="1" i="0" u="none" strike="noStrike" kern="1200" dirty="0">
                <a:solidFill>
                  <a:schemeClr val="tx1"/>
                </a:solidFill>
                <a:effectLst/>
                <a:latin typeface="+mn-lt"/>
                <a:ea typeface="+mn-ea"/>
                <a:cs typeface="+mn-cs"/>
                <a:hlinkClick r:id="rId3"/>
              </a:rPr>
              <a:t>Bloaters</a:t>
            </a:r>
            <a:endParaRPr lang="en-US" sz="1000" b="1"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Bloaters are code, methods and classes that have increased to such gargantuan proportions that they are hard to work with</a:t>
            </a:r>
          </a:p>
          <a:p>
            <a:endParaRPr lang="en-US" sz="1000" dirty="0"/>
          </a:p>
          <a:p>
            <a:br>
              <a:rPr lang="en-US" sz="1000" b="1" i="0" u="none" strike="noStrike" kern="1200" dirty="0">
                <a:solidFill>
                  <a:schemeClr val="tx1"/>
                </a:solidFill>
                <a:effectLst/>
                <a:latin typeface="+mn-lt"/>
                <a:ea typeface="+mn-ea"/>
                <a:cs typeface="+mn-cs"/>
                <a:hlinkClick r:id="rId4"/>
              </a:rPr>
            </a:br>
            <a:r>
              <a:rPr lang="en-US" sz="1000" b="1" i="0" u="none" strike="noStrike" kern="1200" dirty="0">
                <a:solidFill>
                  <a:schemeClr val="tx1"/>
                </a:solidFill>
                <a:effectLst/>
                <a:latin typeface="+mn-lt"/>
                <a:ea typeface="+mn-ea"/>
                <a:cs typeface="+mn-cs"/>
                <a:hlinkClick r:id="rId4"/>
              </a:rPr>
              <a:t>Object-Orientation Abusers</a:t>
            </a:r>
            <a:endParaRPr lang="en-US" sz="1000" b="1"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All these smells are incomplete or incorrect application of object-oriented programming principles.</a:t>
            </a:r>
          </a:p>
          <a:p>
            <a:br>
              <a:rPr lang="en-US" sz="1000" b="1" i="0" u="none" strike="noStrike" kern="1200" dirty="0">
                <a:solidFill>
                  <a:schemeClr val="tx1"/>
                </a:solidFill>
                <a:effectLst/>
                <a:latin typeface="+mn-lt"/>
                <a:ea typeface="+mn-ea"/>
                <a:cs typeface="+mn-cs"/>
                <a:hlinkClick r:id="rId5"/>
              </a:rPr>
            </a:br>
            <a:r>
              <a:rPr lang="en-US" sz="1000" b="1" i="0" u="none" strike="noStrike" kern="1200" dirty="0">
                <a:solidFill>
                  <a:schemeClr val="tx1"/>
                </a:solidFill>
                <a:effectLst/>
                <a:latin typeface="+mn-lt"/>
                <a:ea typeface="+mn-ea"/>
                <a:cs typeface="+mn-cs"/>
                <a:hlinkClick r:id="rId5"/>
              </a:rPr>
              <a:t>Change Preventers</a:t>
            </a:r>
            <a:endParaRPr lang="en-US" sz="1000" b="1"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These smells mean that if you need to change something in one place in your code, you have to make many changes in other places too. Program development becomes much more complicated and expensive as a result</a:t>
            </a:r>
          </a:p>
          <a:p>
            <a:br>
              <a:rPr lang="en-US" sz="1000" b="1" i="0" u="none" strike="noStrike" kern="1200" dirty="0">
                <a:solidFill>
                  <a:schemeClr val="tx1"/>
                </a:solidFill>
                <a:effectLst/>
                <a:latin typeface="+mn-lt"/>
                <a:ea typeface="+mn-ea"/>
                <a:cs typeface="+mn-cs"/>
                <a:hlinkClick r:id="rId6"/>
              </a:rPr>
            </a:br>
            <a:r>
              <a:rPr lang="en-US" sz="1000" b="1" i="0" u="none" strike="noStrike" kern="1200" dirty="0" err="1">
                <a:solidFill>
                  <a:schemeClr val="tx1"/>
                </a:solidFill>
                <a:effectLst/>
                <a:latin typeface="+mn-lt"/>
                <a:ea typeface="+mn-ea"/>
                <a:cs typeface="+mn-cs"/>
                <a:hlinkClick r:id="rId6"/>
              </a:rPr>
              <a:t>Dispensables</a:t>
            </a:r>
            <a:endParaRPr lang="en-US" sz="1000" b="1"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A dispensable is something pointless and unneeded whose absence would make the code cleaner, more efficient and easier to understand.</a:t>
            </a:r>
          </a:p>
          <a:p>
            <a:r>
              <a:rPr lang="en-US" sz="1000" b="1" i="0" u="none" strike="noStrike" kern="1200" dirty="0">
                <a:solidFill>
                  <a:schemeClr val="tx1"/>
                </a:solidFill>
                <a:effectLst/>
                <a:latin typeface="+mn-lt"/>
                <a:ea typeface="+mn-ea"/>
                <a:cs typeface="+mn-cs"/>
                <a:hlinkClick r:id="rId7"/>
              </a:rPr>
              <a:t>Couplers</a:t>
            </a:r>
            <a:endParaRPr lang="en-US" sz="1000" b="1"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All the smells in this group contribute to excessive coupling between classes or show what happens if coupling is replaced by excessive delegation.</a:t>
            </a:r>
          </a:p>
          <a:p>
            <a:endParaRPr lang="en-US" sz="1000" b="0" i="0" kern="1200" dirty="0">
              <a:solidFill>
                <a:schemeClr val="tx1"/>
              </a:solidFill>
              <a:effectLst/>
              <a:latin typeface="+mn-lt"/>
              <a:ea typeface="+mn-ea"/>
              <a:cs typeface="+mn-cs"/>
            </a:endParaRPr>
          </a:p>
          <a:p>
            <a:endParaRPr lang="en-US" sz="1000"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13</a:t>
            </a:fld>
            <a:endParaRPr lang="en-US"/>
          </a:p>
        </p:txBody>
      </p:sp>
    </p:spTree>
    <p:extLst>
      <p:ext uri="{BB962C8B-B14F-4D97-AF65-F5344CB8AC3E}">
        <p14:creationId xmlns:p14="http://schemas.microsoft.com/office/powerpoint/2010/main" val="1811963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u="none" strike="noStrike" kern="1200" dirty="0" err="1">
                <a:solidFill>
                  <a:schemeClr val="tx1"/>
                </a:solidFill>
                <a:effectLst/>
                <a:latin typeface="+mn-lt"/>
                <a:ea typeface="+mn-ea"/>
                <a:cs typeface="+mn-cs"/>
                <a:hlinkClick r:id="rId3"/>
              </a:rPr>
              <a:t>Dispensables</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dispensable is something pointless and unneeded whose absence would make the code cleaner, more efficient and easier to understand.</a:t>
            </a:r>
          </a:p>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16</a:t>
            </a:fld>
            <a:endParaRPr lang="en-US"/>
          </a:p>
        </p:txBody>
      </p:sp>
    </p:spTree>
    <p:extLst>
      <p:ext uri="{BB962C8B-B14F-4D97-AF65-F5344CB8AC3E}">
        <p14:creationId xmlns:p14="http://schemas.microsoft.com/office/powerpoint/2010/main" val="696214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Reasons for the Problem</a:t>
            </a:r>
          </a:p>
          <a:p>
            <a:r>
              <a:rPr lang="en-US" sz="1200" b="0" i="0" kern="1200" dirty="0">
                <a:solidFill>
                  <a:schemeClr val="tx1"/>
                </a:solidFill>
                <a:effectLst/>
                <a:latin typeface="+mn-lt"/>
                <a:ea typeface="+mn-ea"/>
                <a:cs typeface="+mn-cs"/>
              </a:rPr>
              <a:t>Perhaps a class was designed to be fully functional but after some of the refactoring it has become ridiculously small.</a:t>
            </a:r>
          </a:p>
          <a:p>
            <a:r>
              <a:rPr lang="en-US" sz="1200" b="0" i="0" kern="1200" dirty="0">
                <a:solidFill>
                  <a:schemeClr val="tx1"/>
                </a:solidFill>
                <a:effectLst/>
                <a:latin typeface="+mn-lt"/>
                <a:ea typeface="+mn-ea"/>
                <a:cs typeface="+mn-cs"/>
              </a:rPr>
              <a:t>Or perhaps it was designed to support future development work that never got done.</a:t>
            </a:r>
          </a:p>
          <a:p>
            <a:r>
              <a:rPr lang="en-US" sz="1200" b="1" i="0" u="none" strike="noStrike" kern="1200" dirty="0" err="1">
                <a:solidFill>
                  <a:schemeClr val="tx1"/>
                </a:solidFill>
                <a:effectLst/>
                <a:latin typeface="+mn-lt"/>
                <a:ea typeface="+mn-ea"/>
                <a:cs typeface="+mn-cs"/>
                <a:hlinkClick r:id="rId3"/>
              </a:rPr>
              <a:t>Dispensables</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dispensable is something pointless and unneeded whose absence would make the code cleaner, more efficient and easier to understand.</a:t>
            </a:r>
          </a:p>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18</a:t>
            </a:fld>
            <a:endParaRPr lang="en-US"/>
          </a:p>
        </p:txBody>
      </p:sp>
    </p:spTree>
    <p:extLst>
      <p:ext uri="{BB962C8B-B14F-4D97-AF65-F5344CB8AC3E}">
        <p14:creationId xmlns:p14="http://schemas.microsoft.com/office/powerpoint/2010/main" val="3110000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err="1">
                <a:solidFill>
                  <a:schemeClr val="tx1"/>
                </a:solidFill>
                <a:effectLst/>
                <a:latin typeface="+mn-lt"/>
                <a:ea typeface="+mn-ea"/>
                <a:cs typeface="+mn-cs"/>
                <a:hlinkClick r:id="rId3"/>
              </a:rPr>
              <a:t>Dispensables</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dispensable is something pointless and unneeded whose absence would make the code cleaner, more efficient and easier to understand.</a:t>
            </a:r>
          </a:p>
          <a:p>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19</a:t>
            </a:fld>
            <a:endParaRPr lang="en-US"/>
          </a:p>
        </p:txBody>
      </p:sp>
    </p:spTree>
    <p:extLst>
      <p:ext uri="{BB962C8B-B14F-4D97-AF65-F5344CB8AC3E}">
        <p14:creationId xmlns:p14="http://schemas.microsoft.com/office/powerpoint/2010/main" val="1009984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Bloater</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20</a:t>
            </a:fld>
            <a:endParaRPr lang="en-US"/>
          </a:p>
        </p:txBody>
      </p:sp>
    </p:spTree>
    <p:extLst>
      <p:ext uri="{BB962C8B-B14F-4D97-AF65-F5344CB8AC3E}">
        <p14:creationId xmlns:p14="http://schemas.microsoft.com/office/powerpoint/2010/main" val="1963013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Bloater</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21</a:t>
            </a:fld>
            <a:endParaRPr lang="en-US"/>
          </a:p>
        </p:txBody>
      </p:sp>
    </p:spTree>
    <p:extLst>
      <p:ext uri="{BB962C8B-B14F-4D97-AF65-F5344CB8AC3E}">
        <p14:creationId xmlns:p14="http://schemas.microsoft.com/office/powerpoint/2010/main" val="1987385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long list of parameters might happen after several types of algorithms are merged in a single method. A long list may have been created to control which algorithm will be run and how.</a:t>
            </a:r>
          </a:p>
          <a:p>
            <a:r>
              <a:rPr lang="en-US" sz="1200" b="0" i="0" kern="1200" dirty="0">
                <a:solidFill>
                  <a:schemeClr val="tx1"/>
                </a:solidFill>
                <a:effectLst/>
                <a:latin typeface="+mn-lt"/>
                <a:ea typeface="+mn-ea"/>
                <a:cs typeface="+mn-cs"/>
              </a:rPr>
              <a:t>Long parameter lists may also be the byproduct of efforts to make classes more independent of each other. </a:t>
            </a:r>
          </a:p>
          <a:p>
            <a:r>
              <a:rPr lang="en-US" dirty="0"/>
              <a:t>Bloater</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23</a:t>
            </a:fld>
            <a:endParaRPr lang="en-US"/>
          </a:p>
        </p:txBody>
      </p:sp>
    </p:spTree>
    <p:extLst>
      <p:ext uri="{BB962C8B-B14F-4D97-AF65-F5344CB8AC3E}">
        <p14:creationId xmlns:p14="http://schemas.microsoft.com/office/powerpoint/2010/main" val="2287783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Couplers</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24</a:t>
            </a:fld>
            <a:endParaRPr lang="en-US"/>
          </a:p>
        </p:txBody>
      </p:sp>
    </p:spTree>
    <p:extLst>
      <p:ext uri="{BB962C8B-B14F-4D97-AF65-F5344CB8AC3E}">
        <p14:creationId xmlns:p14="http://schemas.microsoft.com/office/powerpoint/2010/main" val="2872481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Relatively rare use of switch and case operators is one of the hallmarks of object-oriented code. Often code for a single switch can be scattered in different places in the program. When a new condition is added, you have to find all the switch code and modify it.</a:t>
            </a:r>
          </a:p>
          <a:p>
            <a:r>
              <a:rPr lang="en-US" sz="1200" b="0" i="0" kern="1200" dirty="0">
                <a:solidFill>
                  <a:schemeClr val="tx1"/>
                </a:solidFill>
                <a:effectLst/>
                <a:latin typeface="+mn-lt"/>
                <a:ea typeface="+mn-ea"/>
                <a:cs typeface="+mn-cs"/>
              </a:rPr>
              <a:t>As a rule of thumb, when you see switch you should think of polymorphism</a:t>
            </a:r>
          </a:p>
          <a:p>
            <a:r>
              <a:rPr lang="en-US" dirty="0"/>
              <a:t>Object orientation abusers</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25</a:t>
            </a:fld>
            <a:endParaRPr lang="en-US"/>
          </a:p>
        </p:txBody>
      </p:sp>
    </p:spTree>
    <p:extLst>
      <p:ext uri="{BB962C8B-B14F-4D97-AF65-F5344CB8AC3E}">
        <p14:creationId xmlns:p14="http://schemas.microsoft.com/office/powerpoint/2010/main" val="1448089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orientation abusers</a:t>
            </a:r>
          </a:p>
        </p:txBody>
      </p:sp>
      <p:sp>
        <p:nvSpPr>
          <p:cNvPr id="4" name="Slide Number Placeholder 3"/>
          <p:cNvSpPr>
            <a:spLocks noGrp="1"/>
          </p:cNvSpPr>
          <p:nvPr>
            <p:ph type="sldNum" sz="quarter" idx="10"/>
          </p:nvPr>
        </p:nvSpPr>
        <p:spPr/>
        <p:txBody>
          <a:bodyPr/>
          <a:lstStyle/>
          <a:p>
            <a:fld id="{B1AAA2A9-782C-4D4F-BC65-96373F2BDFDA}" type="slidenum">
              <a:rPr lang="en-US" smtClean="0"/>
              <a:pPr/>
              <a:t>26</a:t>
            </a:fld>
            <a:endParaRPr lang="en-US"/>
          </a:p>
        </p:txBody>
      </p:sp>
    </p:spTree>
    <p:extLst>
      <p:ext uri="{BB962C8B-B14F-4D97-AF65-F5344CB8AC3E}">
        <p14:creationId xmlns:p14="http://schemas.microsoft.com/office/powerpoint/2010/main" val="3801762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Divergent Change</a:t>
            </a:r>
            <a:r>
              <a:rPr lang="en-US" sz="1200" b="0" i="0" kern="1200" dirty="0">
                <a:solidFill>
                  <a:schemeClr val="tx1"/>
                </a:solidFill>
                <a:effectLst/>
                <a:latin typeface="+mn-lt"/>
                <a:ea typeface="+mn-ea"/>
                <a:cs typeface="+mn-cs"/>
              </a:rPr>
              <a:t> resembles </a:t>
            </a:r>
            <a:r>
              <a:rPr lang="en-US" sz="1200" b="1" i="0" u="none" strike="noStrike" kern="1200" dirty="0">
                <a:solidFill>
                  <a:schemeClr val="tx1"/>
                </a:solidFill>
                <a:effectLst/>
                <a:latin typeface="+mn-lt"/>
                <a:ea typeface="+mn-ea"/>
                <a:cs typeface="+mn-cs"/>
                <a:hlinkClick r:id="rId3"/>
              </a:rPr>
              <a:t>Shotgun Surgery</a:t>
            </a:r>
            <a:r>
              <a:rPr lang="en-US" sz="1200" b="0" i="0" kern="1200" dirty="0">
                <a:solidFill>
                  <a:schemeClr val="tx1"/>
                </a:solidFill>
                <a:effectLst/>
                <a:latin typeface="+mn-lt"/>
                <a:ea typeface="+mn-ea"/>
                <a:cs typeface="+mn-cs"/>
              </a:rPr>
              <a:t> but is actually the opposite smell. </a:t>
            </a:r>
            <a:r>
              <a:rPr lang="en-US" sz="1200" b="0" i="1" kern="1200" dirty="0">
                <a:solidFill>
                  <a:schemeClr val="tx1"/>
                </a:solidFill>
                <a:effectLst/>
                <a:latin typeface="+mn-lt"/>
                <a:ea typeface="+mn-ea"/>
                <a:cs typeface="+mn-cs"/>
              </a:rPr>
              <a:t>Divergent Change</a:t>
            </a:r>
            <a:r>
              <a:rPr lang="en-US" sz="1200" b="0" i="0" kern="1200" dirty="0">
                <a:solidFill>
                  <a:schemeClr val="tx1"/>
                </a:solidFill>
                <a:effectLst/>
                <a:latin typeface="+mn-lt"/>
                <a:ea typeface="+mn-ea"/>
                <a:cs typeface="+mn-cs"/>
              </a:rPr>
              <a:t> is when many changes are made to a single class. </a:t>
            </a:r>
            <a:r>
              <a:rPr lang="en-US" sz="1200" b="0" i="1" kern="1200" dirty="0">
                <a:solidFill>
                  <a:schemeClr val="tx1"/>
                </a:solidFill>
                <a:effectLst/>
                <a:latin typeface="+mn-lt"/>
                <a:ea typeface="+mn-ea"/>
                <a:cs typeface="+mn-cs"/>
              </a:rPr>
              <a:t>Shotgun Surgery</a:t>
            </a:r>
            <a:r>
              <a:rPr lang="en-US" sz="1200" b="0" i="0" kern="1200" dirty="0">
                <a:solidFill>
                  <a:schemeClr val="tx1"/>
                </a:solidFill>
                <a:effectLst/>
                <a:latin typeface="+mn-lt"/>
                <a:ea typeface="+mn-ea"/>
                <a:cs typeface="+mn-cs"/>
              </a:rPr>
              <a:t> refers to when a single change is made to multiple classes simultaneously.</a:t>
            </a:r>
            <a:endParaRPr lang="en-US" dirty="0"/>
          </a:p>
        </p:txBody>
      </p:sp>
      <p:sp>
        <p:nvSpPr>
          <p:cNvPr id="4" name="Slide Number Placeholder 3"/>
          <p:cNvSpPr>
            <a:spLocks noGrp="1"/>
          </p:cNvSpPr>
          <p:nvPr>
            <p:ph type="sldNum" sz="quarter" idx="10"/>
          </p:nvPr>
        </p:nvSpPr>
        <p:spPr/>
        <p:txBody>
          <a:bodyPr/>
          <a:lstStyle/>
          <a:p>
            <a:fld id="{B1AAA2A9-782C-4D4F-BC65-96373F2BDFDA}" type="slidenum">
              <a:rPr lang="en-US" smtClean="0"/>
              <a:pPr/>
              <a:t>27</a:t>
            </a:fld>
            <a:endParaRPr lang="en-US"/>
          </a:p>
        </p:txBody>
      </p:sp>
    </p:spTree>
    <p:extLst>
      <p:ext uri="{BB962C8B-B14F-4D97-AF65-F5344CB8AC3E}">
        <p14:creationId xmlns:p14="http://schemas.microsoft.com/office/powerpoint/2010/main" val="3298775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72527" y="457200"/>
            <a:ext cx="7999730" cy="182880"/>
          </a:xfrm>
          <a:custGeom>
            <a:avLst/>
            <a:gdLst/>
            <a:ahLst/>
            <a:cxnLst/>
            <a:rect l="l" t="t" r="r" b="b"/>
            <a:pathLst>
              <a:path w="7999730" h="182879">
                <a:moveTo>
                  <a:pt x="7999412" y="0"/>
                </a:moveTo>
                <a:lnTo>
                  <a:pt x="0" y="0"/>
                </a:lnTo>
                <a:lnTo>
                  <a:pt x="0" y="182879"/>
                </a:lnTo>
                <a:lnTo>
                  <a:pt x="7999412" y="182879"/>
                </a:lnTo>
                <a:lnTo>
                  <a:pt x="7999412" y="0"/>
                </a:lnTo>
                <a:close/>
              </a:path>
            </a:pathLst>
          </a:custGeom>
          <a:solidFill>
            <a:srgbClr val="DEE0D6"/>
          </a:solidFill>
        </p:spPr>
        <p:txBody>
          <a:bodyPr wrap="square" lIns="0" tIns="0" rIns="0" bIns="0" rtlCol="0"/>
          <a:lstStyle/>
          <a:p>
            <a:endParaRPr/>
          </a:p>
        </p:txBody>
      </p:sp>
      <p:sp>
        <p:nvSpPr>
          <p:cNvPr id="17" name="bg object 17"/>
          <p:cNvSpPr/>
          <p:nvPr/>
        </p:nvSpPr>
        <p:spPr>
          <a:xfrm>
            <a:off x="458123" y="2475344"/>
            <a:ext cx="8915400" cy="1017269"/>
          </a:xfrm>
          <a:custGeom>
            <a:avLst/>
            <a:gdLst/>
            <a:ahLst/>
            <a:cxnLst/>
            <a:rect l="l" t="t" r="r" b="b"/>
            <a:pathLst>
              <a:path w="8915400" h="1017270">
                <a:moveTo>
                  <a:pt x="8915403" y="0"/>
                </a:moveTo>
                <a:lnTo>
                  <a:pt x="0" y="0"/>
                </a:lnTo>
                <a:lnTo>
                  <a:pt x="0" y="1017003"/>
                </a:lnTo>
                <a:lnTo>
                  <a:pt x="8915403" y="1017003"/>
                </a:lnTo>
                <a:lnTo>
                  <a:pt x="8915403" y="0"/>
                </a:lnTo>
                <a:close/>
              </a:path>
            </a:pathLst>
          </a:custGeom>
          <a:solidFill>
            <a:srgbClr val="595959"/>
          </a:solidFill>
        </p:spPr>
        <p:txBody>
          <a:bodyPr wrap="square" lIns="0" tIns="0" rIns="0" bIns="0" rtlCol="0"/>
          <a:lstStyle/>
          <a:p>
            <a:endParaRPr/>
          </a:p>
        </p:txBody>
      </p:sp>
      <p:sp>
        <p:nvSpPr>
          <p:cNvPr id="2" name="Holder 2"/>
          <p:cNvSpPr>
            <a:spLocks noGrp="1"/>
          </p:cNvSpPr>
          <p:nvPr>
            <p:ph type="ctrTitle"/>
          </p:nvPr>
        </p:nvSpPr>
        <p:spPr>
          <a:xfrm>
            <a:off x="1107782" y="2696819"/>
            <a:ext cx="7842834" cy="574039"/>
          </a:xfrm>
          <a:prstGeom prst="rect">
            <a:avLst/>
          </a:prstGeom>
        </p:spPr>
        <p:txBody>
          <a:bodyPr wrap="square" lIns="0" tIns="0" rIns="0" bIns="0">
            <a:spAutoFit/>
          </a:bodyPr>
          <a:lstStyle>
            <a:lvl1pPr>
              <a:defRPr sz="3600" b="0" i="0">
                <a:solidFill>
                  <a:schemeClr val="bg1"/>
                </a:solidFill>
                <a:latin typeface="Arial"/>
                <a:cs typeface="Arial"/>
              </a:defRPr>
            </a:lvl1pPr>
          </a:lstStyle>
          <a:p>
            <a:endParaRPr/>
          </a:p>
        </p:txBody>
      </p:sp>
      <p:sp>
        <p:nvSpPr>
          <p:cNvPr id="3" name="Holder 3"/>
          <p:cNvSpPr>
            <a:spLocks noGrp="1"/>
          </p:cNvSpPr>
          <p:nvPr>
            <p:ph type="subTitle" idx="4"/>
          </p:nvPr>
        </p:nvSpPr>
        <p:spPr>
          <a:xfrm>
            <a:off x="1362684" y="4231792"/>
            <a:ext cx="8001000" cy="97091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600" b="0" i="0">
                <a:solidFill>
                  <a:srgbClr val="2C9AE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Arial"/>
                <a:cs typeface="Arial"/>
              </a:defRPr>
            </a:lvl1pPr>
          </a:lstStyle>
          <a:p>
            <a:endParaRPr/>
          </a:p>
        </p:txBody>
      </p:sp>
      <p:sp>
        <p:nvSpPr>
          <p:cNvPr id="3" name="Holder 3"/>
          <p:cNvSpPr>
            <a:spLocks noGrp="1"/>
          </p:cNvSpPr>
          <p:nvPr>
            <p:ph sz="half" idx="2"/>
          </p:nvPr>
        </p:nvSpPr>
        <p:spPr>
          <a:xfrm>
            <a:off x="756227" y="2088578"/>
            <a:ext cx="4173220" cy="49149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sz="half" idx="3"/>
          </p:nvPr>
        </p:nvSpPr>
        <p:spPr>
          <a:xfrm>
            <a:off x="5120411" y="2022767"/>
            <a:ext cx="4159250" cy="4864100"/>
          </a:xfrm>
          <a:prstGeom prst="rect">
            <a:avLst/>
          </a:prstGeom>
        </p:spPr>
        <p:txBody>
          <a:bodyPr wrap="square" lIns="0" tIns="0" rIns="0" bIns="0">
            <a:spAutoFit/>
          </a:bodyPr>
          <a:lstStyle>
            <a:lvl1pPr>
              <a:defRPr sz="1600" b="0" i="0">
                <a:solidFill>
                  <a:srgbClr val="2B91AF"/>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72527" y="457200"/>
            <a:ext cx="7999730" cy="182880"/>
          </a:xfrm>
          <a:custGeom>
            <a:avLst/>
            <a:gdLst/>
            <a:ahLst/>
            <a:cxnLst/>
            <a:rect l="l" t="t" r="r" b="b"/>
            <a:pathLst>
              <a:path w="7999730" h="182879">
                <a:moveTo>
                  <a:pt x="7999412" y="0"/>
                </a:moveTo>
                <a:lnTo>
                  <a:pt x="0" y="0"/>
                </a:lnTo>
                <a:lnTo>
                  <a:pt x="0" y="182879"/>
                </a:lnTo>
                <a:lnTo>
                  <a:pt x="7999412" y="182879"/>
                </a:lnTo>
                <a:lnTo>
                  <a:pt x="7999412" y="0"/>
                </a:lnTo>
                <a:close/>
              </a:path>
            </a:pathLst>
          </a:custGeom>
          <a:solidFill>
            <a:srgbClr val="DEE0D6"/>
          </a:solidFill>
        </p:spPr>
        <p:txBody>
          <a:bodyPr wrap="square" lIns="0" tIns="0" rIns="0" bIns="0" rtlCol="0"/>
          <a:lstStyle/>
          <a:p>
            <a:endParaRPr/>
          </a:p>
        </p:txBody>
      </p:sp>
      <p:sp>
        <p:nvSpPr>
          <p:cNvPr id="17" name="bg object 17"/>
          <p:cNvSpPr/>
          <p:nvPr/>
        </p:nvSpPr>
        <p:spPr>
          <a:xfrm>
            <a:off x="1372527" y="7132319"/>
            <a:ext cx="7999730" cy="182880"/>
          </a:xfrm>
          <a:custGeom>
            <a:avLst/>
            <a:gdLst/>
            <a:ahLst/>
            <a:cxnLst/>
            <a:rect l="l" t="t" r="r" b="b"/>
            <a:pathLst>
              <a:path w="7999730" h="182879">
                <a:moveTo>
                  <a:pt x="7999412" y="0"/>
                </a:moveTo>
                <a:lnTo>
                  <a:pt x="0" y="0"/>
                </a:lnTo>
                <a:lnTo>
                  <a:pt x="0" y="182879"/>
                </a:lnTo>
                <a:lnTo>
                  <a:pt x="7999412" y="182879"/>
                </a:lnTo>
                <a:lnTo>
                  <a:pt x="7999412" y="0"/>
                </a:lnTo>
                <a:close/>
              </a:path>
            </a:pathLst>
          </a:custGeom>
          <a:solidFill>
            <a:srgbClr val="E9EBE4"/>
          </a:solidFill>
        </p:spPr>
        <p:txBody>
          <a:bodyPr wrap="square" lIns="0" tIns="0" rIns="0" bIns="0" rtlCol="0"/>
          <a:lstStyle/>
          <a:p>
            <a:endParaRPr/>
          </a:p>
        </p:txBody>
      </p:sp>
      <p:sp>
        <p:nvSpPr>
          <p:cNvPr id="2" name="Holder 2"/>
          <p:cNvSpPr>
            <a:spLocks noGrp="1"/>
          </p:cNvSpPr>
          <p:nvPr>
            <p:ph type="title"/>
          </p:nvPr>
        </p:nvSpPr>
        <p:spPr>
          <a:xfrm>
            <a:off x="458123" y="1010589"/>
            <a:ext cx="9142153" cy="914400"/>
          </a:xfrm>
          <a:prstGeom prst="rect">
            <a:avLst/>
          </a:prstGeom>
        </p:spPr>
        <p:txBody>
          <a:bodyPr wrap="square" lIns="0" tIns="0" rIns="0" bIns="0">
            <a:spAutoFit/>
          </a:bodyPr>
          <a:lstStyle>
            <a:lvl1pPr>
              <a:defRPr sz="3600" b="0" i="0">
                <a:solidFill>
                  <a:schemeClr val="bg1"/>
                </a:solidFill>
                <a:latin typeface="Arial"/>
                <a:cs typeface="Arial"/>
              </a:defRPr>
            </a:lvl1pPr>
          </a:lstStyle>
          <a:p>
            <a:endParaRPr/>
          </a:p>
        </p:txBody>
      </p:sp>
      <p:sp>
        <p:nvSpPr>
          <p:cNvPr id="3" name="Holder 3"/>
          <p:cNvSpPr>
            <a:spLocks noGrp="1"/>
          </p:cNvSpPr>
          <p:nvPr>
            <p:ph type="body" idx="1"/>
          </p:nvPr>
        </p:nvSpPr>
        <p:spPr>
          <a:xfrm>
            <a:off x="1279867" y="2210765"/>
            <a:ext cx="7498664" cy="3614420"/>
          </a:xfrm>
          <a:prstGeom prst="rect">
            <a:avLst/>
          </a:prstGeom>
        </p:spPr>
        <p:txBody>
          <a:bodyPr wrap="square" lIns="0" tIns="0" rIns="0" bIns="0">
            <a:spAutoFit/>
          </a:bodyPr>
          <a:lstStyle>
            <a:lvl1pPr>
              <a:defRPr sz="2600" b="0" i="0">
                <a:solidFill>
                  <a:srgbClr val="2C9AE5"/>
                </a:solidFill>
                <a:latin typeface="Arial"/>
                <a:cs typeface="Arial"/>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12/29/2024</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72527" y="457200"/>
            <a:ext cx="7999730" cy="182880"/>
          </a:xfrm>
          <a:custGeom>
            <a:avLst/>
            <a:gdLst/>
            <a:ahLst/>
            <a:cxnLst/>
            <a:rect l="l" t="t" r="r" b="b"/>
            <a:pathLst>
              <a:path w="7999730" h="182879">
                <a:moveTo>
                  <a:pt x="7999412" y="0"/>
                </a:moveTo>
                <a:lnTo>
                  <a:pt x="0" y="0"/>
                </a:lnTo>
                <a:lnTo>
                  <a:pt x="0" y="182879"/>
                </a:lnTo>
                <a:lnTo>
                  <a:pt x="7999412" y="182879"/>
                </a:lnTo>
                <a:lnTo>
                  <a:pt x="7999412" y="0"/>
                </a:lnTo>
                <a:close/>
              </a:path>
            </a:pathLst>
          </a:custGeom>
          <a:solidFill>
            <a:srgbClr val="DEE0D6"/>
          </a:solidFill>
        </p:spPr>
        <p:txBody>
          <a:bodyPr wrap="square" lIns="0" tIns="0" rIns="0" bIns="0" rtlCol="0"/>
          <a:lstStyle/>
          <a:p>
            <a:endParaRPr/>
          </a:p>
        </p:txBody>
      </p:sp>
      <p:sp>
        <p:nvSpPr>
          <p:cNvPr id="3" name="object 3"/>
          <p:cNvSpPr/>
          <p:nvPr/>
        </p:nvSpPr>
        <p:spPr>
          <a:xfrm>
            <a:off x="1372527" y="6377701"/>
            <a:ext cx="7999730" cy="1394699"/>
          </a:xfrm>
          <a:custGeom>
            <a:avLst/>
            <a:gdLst/>
            <a:ahLst/>
            <a:cxnLst/>
            <a:rect l="l" t="t" r="r" b="b"/>
            <a:pathLst>
              <a:path w="7999730" h="182879">
                <a:moveTo>
                  <a:pt x="7999412" y="0"/>
                </a:moveTo>
                <a:lnTo>
                  <a:pt x="0" y="0"/>
                </a:lnTo>
                <a:lnTo>
                  <a:pt x="0" y="182879"/>
                </a:lnTo>
                <a:lnTo>
                  <a:pt x="7999412" y="182879"/>
                </a:lnTo>
                <a:lnTo>
                  <a:pt x="7999412" y="0"/>
                </a:lnTo>
                <a:close/>
              </a:path>
            </a:pathLst>
          </a:custGeom>
          <a:solidFill>
            <a:srgbClr val="E9EBE4"/>
          </a:solidFill>
        </p:spPr>
        <p:txBody>
          <a:bodyPr wrap="square" lIns="0" tIns="0" rIns="0" bIns="0" rtlCol="0"/>
          <a:lstStyle/>
          <a:p>
            <a:r>
              <a:rPr lang="en-US" sz="3600" dirty="0">
                <a:latin typeface="Times New Roman" panose="02020603050405020304" pitchFamily="18" charset="0"/>
                <a:cs typeface="Times New Roman" panose="02020603050405020304" pitchFamily="18" charset="0"/>
              </a:rPr>
              <a:t>Chapter 16 &amp; 17-Clean Code</a:t>
            </a:r>
            <a:endParaRPr sz="36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458123" y="1934794"/>
            <a:ext cx="8905875" cy="3985706"/>
          </a:xfrm>
          <a:prstGeom prst="rect">
            <a:avLst/>
          </a:prstGeom>
          <a:solidFill>
            <a:srgbClr val="424242"/>
          </a:solidFill>
        </p:spPr>
        <p:txBody>
          <a:bodyPr vert="horz" wrap="square" lIns="0" tIns="0" rIns="0" bIns="0" rtlCol="0">
            <a:spAutoFit/>
          </a:bodyPr>
          <a:lstStyle/>
          <a:p>
            <a:pPr>
              <a:lnSpc>
                <a:spcPct val="100000"/>
              </a:lnSpc>
            </a:pPr>
            <a:endParaRPr sz="5400" dirty="0">
              <a:latin typeface="Times New Roman"/>
              <a:cs typeface="Times New Roman"/>
            </a:endParaRPr>
          </a:p>
          <a:p>
            <a:pPr>
              <a:lnSpc>
                <a:spcPct val="100000"/>
              </a:lnSpc>
              <a:spcBef>
                <a:spcPts val="5"/>
              </a:spcBef>
            </a:pPr>
            <a:endParaRPr sz="4300" dirty="0">
              <a:latin typeface="Times New Roman"/>
              <a:cs typeface="Times New Roman"/>
            </a:endParaRPr>
          </a:p>
          <a:p>
            <a:pPr marL="1188720">
              <a:lnSpc>
                <a:spcPct val="100000"/>
              </a:lnSpc>
            </a:pPr>
            <a:r>
              <a:rPr lang="en-US" sz="5400" spc="25" dirty="0">
                <a:solidFill>
                  <a:srgbClr val="FFFFFF"/>
                </a:solidFill>
                <a:latin typeface="Arial"/>
                <a:cs typeface="Arial"/>
              </a:rPr>
              <a:t> Code </a:t>
            </a:r>
            <a:r>
              <a:rPr sz="5400" spc="25" dirty="0">
                <a:solidFill>
                  <a:srgbClr val="FFFFFF"/>
                </a:solidFill>
                <a:latin typeface="Arial"/>
                <a:cs typeface="Arial"/>
              </a:rPr>
              <a:t>Refactoring</a:t>
            </a:r>
            <a:endParaRPr lang="en-US" sz="5400" spc="25" dirty="0">
              <a:solidFill>
                <a:srgbClr val="FFFFFF"/>
              </a:solidFill>
              <a:latin typeface="Arial"/>
              <a:cs typeface="Arial"/>
            </a:endParaRPr>
          </a:p>
          <a:p>
            <a:pPr marL="1188720">
              <a:lnSpc>
                <a:spcPct val="100000"/>
              </a:lnSpc>
            </a:pPr>
            <a:r>
              <a:rPr lang="en-US" sz="5400" spc="25" dirty="0">
                <a:solidFill>
                  <a:schemeClr val="bg1"/>
                </a:solidFill>
                <a:latin typeface="Arial"/>
                <a:cs typeface="Arial"/>
              </a:rPr>
              <a:t>&amp;</a:t>
            </a:r>
          </a:p>
          <a:p>
            <a:pPr marL="1188720">
              <a:lnSpc>
                <a:spcPct val="100000"/>
              </a:lnSpc>
            </a:pPr>
            <a:r>
              <a:rPr lang="en-US" sz="5400" spc="25" dirty="0">
                <a:solidFill>
                  <a:srgbClr val="FFFFFF"/>
                </a:solidFill>
                <a:latin typeface="Arial"/>
                <a:cs typeface="Arial"/>
              </a:rPr>
              <a:t>Code Smell</a:t>
            </a:r>
            <a:endParaRPr sz="5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50" dirty="0"/>
              <a:t>What </a:t>
            </a:r>
            <a:r>
              <a:rPr spc="-5" dirty="0"/>
              <a:t>is</a:t>
            </a:r>
            <a:r>
              <a:rPr spc="45" dirty="0"/>
              <a:t> </a:t>
            </a:r>
            <a:r>
              <a:rPr spc="-5" dirty="0"/>
              <a:t>Refactoring?</a:t>
            </a:r>
          </a:p>
        </p:txBody>
      </p:sp>
      <p:sp>
        <p:nvSpPr>
          <p:cNvPr id="3" name="object 3"/>
          <p:cNvSpPr txBox="1"/>
          <p:nvPr/>
        </p:nvSpPr>
        <p:spPr>
          <a:xfrm>
            <a:off x="990600" y="2496015"/>
            <a:ext cx="7597775" cy="3389005"/>
          </a:xfrm>
          <a:prstGeom prst="rect">
            <a:avLst/>
          </a:prstGeom>
        </p:spPr>
        <p:txBody>
          <a:bodyPr vert="horz" wrap="square" lIns="0" tIns="10160" rIns="0" bIns="0" rtlCol="0">
            <a:spAutoFit/>
          </a:bodyPr>
          <a:lstStyle/>
          <a:p>
            <a:pPr marL="12700" marR="5080">
              <a:lnSpc>
                <a:spcPct val="100699"/>
              </a:lnSpc>
              <a:spcBef>
                <a:spcPts val="80"/>
              </a:spcBef>
            </a:pPr>
            <a:r>
              <a:rPr sz="2400" i="1" spc="5" dirty="0">
                <a:cs typeface="Arial"/>
              </a:rPr>
              <a:t>“</a:t>
            </a:r>
            <a:r>
              <a:rPr sz="2400" b="1" i="1" spc="5" dirty="0">
                <a:cs typeface="Arial"/>
              </a:rPr>
              <a:t>Refactoring </a:t>
            </a:r>
            <a:r>
              <a:rPr sz="2400" i="1" spc="-5" dirty="0">
                <a:cs typeface="Arial"/>
              </a:rPr>
              <a:t>is a </a:t>
            </a:r>
            <a:r>
              <a:rPr sz="2400" i="1" spc="40" dirty="0">
                <a:cs typeface="Arial"/>
              </a:rPr>
              <a:t>change </a:t>
            </a:r>
            <a:r>
              <a:rPr sz="2400" i="1" spc="30" dirty="0">
                <a:cs typeface="Arial"/>
              </a:rPr>
              <a:t>made </a:t>
            </a:r>
            <a:r>
              <a:rPr sz="2400" i="1" dirty="0">
                <a:cs typeface="Arial"/>
              </a:rPr>
              <a:t>to the </a:t>
            </a:r>
            <a:r>
              <a:rPr sz="2400" i="1" spc="-5" dirty="0">
                <a:cs typeface="Arial"/>
              </a:rPr>
              <a:t>internal </a:t>
            </a:r>
            <a:r>
              <a:rPr sz="2400" i="1" spc="10" dirty="0">
                <a:cs typeface="Arial"/>
              </a:rPr>
              <a:t>structure  </a:t>
            </a:r>
            <a:r>
              <a:rPr sz="2400" i="1" dirty="0">
                <a:cs typeface="Arial"/>
              </a:rPr>
              <a:t>of software to </a:t>
            </a:r>
            <a:r>
              <a:rPr sz="2400" i="1" spc="-5" dirty="0">
                <a:cs typeface="Arial"/>
              </a:rPr>
              <a:t>make </a:t>
            </a:r>
            <a:r>
              <a:rPr sz="2400" i="1" dirty="0">
                <a:cs typeface="Arial"/>
              </a:rPr>
              <a:t>it </a:t>
            </a:r>
            <a:r>
              <a:rPr sz="2400" i="1" spc="-5" dirty="0">
                <a:cs typeface="Arial"/>
              </a:rPr>
              <a:t>easier </a:t>
            </a:r>
            <a:r>
              <a:rPr sz="2400" i="1" dirty="0">
                <a:cs typeface="Arial"/>
              </a:rPr>
              <a:t>to </a:t>
            </a:r>
            <a:r>
              <a:rPr sz="2400" i="1" spc="25" dirty="0">
                <a:cs typeface="Arial"/>
              </a:rPr>
              <a:t>understand </a:t>
            </a:r>
            <a:r>
              <a:rPr sz="2400" i="1" spc="40" dirty="0">
                <a:cs typeface="Arial"/>
              </a:rPr>
              <a:t>and  </a:t>
            </a:r>
            <a:r>
              <a:rPr sz="2400" i="1" spc="35" dirty="0">
                <a:cs typeface="Arial"/>
              </a:rPr>
              <a:t>cheaper </a:t>
            </a:r>
            <a:r>
              <a:rPr sz="2400" i="1" dirty="0">
                <a:cs typeface="Arial"/>
              </a:rPr>
              <a:t>to </a:t>
            </a:r>
            <a:r>
              <a:rPr sz="2400" i="1" spc="20" dirty="0">
                <a:cs typeface="Arial"/>
              </a:rPr>
              <a:t>modify </a:t>
            </a:r>
            <a:r>
              <a:rPr sz="2400" i="1" spc="-5" dirty="0">
                <a:cs typeface="Arial"/>
              </a:rPr>
              <a:t>without </a:t>
            </a:r>
            <a:r>
              <a:rPr sz="2400" i="1" spc="45" dirty="0">
                <a:cs typeface="Arial"/>
              </a:rPr>
              <a:t>changing </a:t>
            </a:r>
            <a:r>
              <a:rPr sz="2400" i="1" dirty="0">
                <a:cs typeface="Arial"/>
              </a:rPr>
              <a:t>its </a:t>
            </a:r>
            <a:r>
              <a:rPr sz="2400" i="1" spc="25" dirty="0">
                <a:cs typeface="Arial"/>
              </a:rPr>
              <a:t>observable  behavior.”</a:t>
            </a:r>
            <a:endParaRPr sz="2400" dirty="0">
              <a:cs typeface="Arial"/>
            </a:endParaRPr>
          </a:p>
          <a:p>
            <a:pPr marL="12700">
              <a:lnSpc>
                <a:spcPct val="100000"/>
              </a:lnSpc>
              <a:spcBef>
                <a:spcPts val="1420"/>
              </a:spcBef>
            </a:pPr>
            <a:r>
              <a:rPr sz="2400" dirty="0">
                <a:cs typeface="Arial"/>
              </a:rPr>
              <a:t>- Martin</a:t>
            </a:r>
            <a:r>
              <a:rPr sz="2400" spc="-5" dirty="0">
                <a:cs typeface="Arial"/>
              </a:rPr>
              <a:t> </a:t>
            </a:r>
            <a:r>
              <a:rPr sz="2400" spc="-20" dirty="0">
                <a:cs typeface="Arial"/>
              </a:rPr>
              <a:t>Fowler</a:t>
            </a:r>
            <a:endParaRPr lang="en-US" sz="2400" spc="-20" dirty="0">
              <a:cs typeface="Arial"/>
            </a:endParaRPr>
          </a:p>
          <a:p>
            <a:pPr marL="12700">
              <a:lnSpc>
                <a:spcPct val="100000"/>
              </a:lnSpc>
              <a:spcBef>
                <a:spcPts val="1420"/>
              </a:spcBef>
            </a:pPr>
            <a:r>
              <a:rPr lang="en-US" sz="2400" b="1" i="1" dirty="0"/>
              <a:t>Refactoring </a:t>
            </a:r>
            <a:r>
              <a:rPr lang="en-US" sz="2400" i="1" dirty="0"/>
              <a:t>is a systematic process of improving code without creating new functionality that can transform a mess into clean code and simple design</a:t>
            </a:r>
            <a:endParaRPr sz="2400" i="1" dirty="0">
              <a:cs typeface="Arial"/>
            </a:endParaRPr>
          </a:p>
          <a:p>
            <a:pPr>
              <a:lnSpc>
                <a:spcPct val="100000"/>
              </a:lnSpc>
              <a:spcBef>
                <a:spcPts val="35"/>
              </a:spcBef>
            </a:pPr>
            <a:endParaRPr sz="2750" dirty="0">
              <a:latin typeface="Arial"/>
              <a:cs typeface="Arial"/>
            </a:endParaRPr>
          </a:p>
        </p:txBody>
      </p:sp>
      <p:sp>
        <p:nvSpPr>
          <p:cNvPr id="4" name="object 4"/>
          <p:cNvSpPr/>
          <p:nvPr/>
        </p:nvSpPr>
        <p:spPr>
          <a:xfrm>
            <a:off x="7620000" y="5029200"/>
            <a:ext cx="1219200" cy="121919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70" dirty="0"/>
              <a:t>The Two</a:t>
            </a:r>
            <a:r>
              <a:rPr spc="65" dirty="0"/>
              <a:t> </a:t>
            </a:r>
            <a:r>
              <a:rPr dirty="0"/>
              <a:t>Hats</a:t>
            </a:r>
          </a:p>
        </p:txBody>
      </p:sp>
      <p:sp>
        <p:nvSpPr>
          <p:cNvPr id="3" name="object 3"/>
          <p:cNvSpPr txBox="1"/>
          <p:nvPr/>
        </p:nvSpPr>
        <p:spPr>
          <a:xfrm>
            <a:off x="1651292" y="2350465"/>
            <a:ext cx="6751320" cy="3220720"/>
          </a:xfrm>
          <a:prstGeom prst="rect">
            <a:avLst/>
          </a:prstGeom>
        </p:spPr>
        <p:txBody>
          <a:bodyPr vert="horz" wrap="square" lIns="0" tIns="12700" rIns="0" bIns="0" rtlCol="0">
            <a:spAutoFit/>
          </a:bodyPr>
          <a:lstStyle/>
          <a:p>
            <a:pPr marL="12700">
              <a:lnSpc>
                <a:spcPct val="100000"/>
              </a:lnSpc>
              <a:spcBef>
                <a:spcPts val="100"/>
              </a:spcBef>
            </a:pPr>
            <a:r>
              <a:rPr sz="2400" spc="-45" dirty="0">
                <a:solidFill>
                  <a:srgbClr val="262626"/>
                </a:solidFill>
                <a:latin typeface="Arial"/>
                <a:cs typeface="Arial"/>
              </a:rPr>
              <a:t>Two </a:t>
            </a:r>
            <a:r>
              <a:rPr sz="2400" spc="30" dirty="0">
                <a:solidFill>
                  <a:srgbClr val="262626"/>
                </a:solidFill>
                <a:latin typeface="Arial"/>
                <a:cs typeface="Arial"/>
              </a:rPr>
              <a:t>distinct</a:t>
            </a:r>
            <a:r>
              <a:rPr sz="2400" spc="40" dirty="0">
                <a:solidFill>
                  <a:srgbClr val="262626"/>
                </a:solidFill>
                <a:latin typeface="Arial"/>
                <a:cs typeface="Arial"/>
              </a:rPr>
              <a:t> </a:t>
            </a:r>
            <a:r>
              <a:rPr sz="2400" spc="10" dirty="0">
                <a:solidFill>
                  <a:srgbClr val="262626"/>
                </a:solidFill>
                <a:latin typeface="Arial"/>
                <a:cs typeface="Arial"/>
              </a:rPr>
              <a:t>activities</a:t>
            </a:r>
            <a:endParaRPr sz="2400">
              <a:latin typeface="Arial"/>
              <a:cs typeface="Arial"/>
            </a:endParaRPr>
          </a:p>
          <a:p>
            <a:pPr>
              <a:lnSpc>
                <a:spcPct val="100000"/>
              </a:lnSpc>
              <a:spcBef>
                <a:spcPts val="5"/>
              </a:spcBef>
            </a:pPr>
            <a:endParaRPr sz="2750">
              <a:latin typeface="Arial"/>
              <a:cs typeface="Arial"/>
            </a:endParaRPr>
          </a:p>
          <a:p>
            <a:pPr marL="469900" indent="-457200">
              <a:lnSpc>
                <a:spcPct val="100000"/>
              </a:lnSpc>
              <a:buClr>
                <a:srgbClr val="2C9AE5"/>
              </a:buClr>
              <a:buSzPct val="118750"/>
              <a:buAutoNum type="arabicPeriod"/>
              <a:tabLst>
                <a:tab pos="469265" algn="l"/>
                <a:tab pos="469900" algn="l"/>
              </a:tabLst>
            </a:pPr>
            <a:r>
              <a:rPr sz="2400" spc="65" dirty="0">
                <a:solidFill>
                  <a:srgbClr val="262626"/>
                </a:solidFill>
                <a:latin typeface="Arial"/>
                <a:cs typeface="Arial"/>
              </a:rPr>
              <a:t>adding</a:t>
            </a:r>
            <a:r>
              <a:rPr sz="2400" spc="-5" dirty="0">
                <a:solidFill>
                  <a:srgbClr val="262626"/>
                </a:solidFill>
                <a:latin typeface="Arial"/>
                <a:cs typeface="Arial"/>
              </a:rPr>
              <a:t> </a:t>
            </a:r>
            <a:r>
              <a:rPr sz="2400" spc="10" dirty="0">
                <a:solidFill>
                  <a:srgbClr val="262626"/>
                </a:solidFill>
                <a:latin typeface="Arial"/>
                <a:cs typeface="Arial"/>
              </a:rPr>
              <a:t>functions</a:t>
            </a:r>
            <a:endParaRPr sz="2400">
              <a:latin typeface="Arial"/>
              <a:cs typeface="Arial"/>
            </a:endParaRPr>
          </a:p>
          <a:p>
            <a:pPr marL="469900" indent="-457200">
              <a:lnSpc>
                <a:spcPct val="100000"/>
              </a:lnSpc>
              <a:spcBef>
                <a:spcPts val="1680"/>
              </a:spcBef>
              <a:buClr>
                <a:srgbClr val="2C9AE5"/>
              </a:buClr>
              <a:buSzPct val="118750"/>
              <a:buAutoNum type="arabicPeriod"/>
              <a:tabLst>
                <a:tab pos="469265" algn="l"/>
                <a:tab pos="469900" algn="l"/>
              </a:tabLst>
            </a:pPr>
            <a:r>
              <a:rPr sz="2400" spc="20" dirty="0">
                <a:solidFill>
                  <a:srgbClr val="262626"/>
                </a:solidFill>
                <a:latin typeface="Arial"/>
                <a:cs typeface="Arial"/>
              </a:rPr>
              <a:t>refactoring</a:t>
            </a:r>
            <a:endParaRPr sz="2400">
              <a:latin typeface="Arial"/>
              <a:cs typeface="Arial"/>
            </a:endParaRPr>
          </a:p>
          <a:p>
            <a:pPr>
              <a:lnSpc>
                <a:spcPct val="100000"/>
              </a:lnSpc>
              <a:spcBef>
                <a:spcPts val="25"/>
              </a:spcBef>
            </a:pPr>
            <a:endParaRPr sz="3100">
              <a:latin typeface="Arial"/>
              <a:cs typeface="Arial"/>
            </a:endParaRPr>
          </a:p>
          <a:p>
            <a:pPr marL="12700" marR="5080">
              <a:lnSpc>
                <a:spcPct val="121500"/>
              </a:lnSpc>
            </a:pPr>
            <a:r>
              <a:rPr sz="2400" spc="-30" dirty="0">
                <a:solidFill>
                  <a:srgbClr val="2C9AE5"/>
                </a:solidFill>
                <a:latin typeface="Arial"/>
                <a:cs typeface="Arial"/>
              </a:rPr>
              <a:t>These </a:t>
            </a:r>
            <a:r>
              <a:rPr sz="2400" dirty="0">
                <a:solidFill>
                  <a:srgbClr val="2C9AE5"/>
                </a:solidFill>
                <a:latin typeface="Arial"/>
                <a:cs typeface="Arial"/>
              </a:rPr>
              <a:t>two </a:t>
            </a:r>
            <a:r>
              <a:rPr sz="2400" spc="10" dirty="0">
                <a:solidFill>
                  <a:srgbClr val="2C9AE5"/>
                </a:solidFill>
                <a:latin typeface="Arial"/>
                <a:cs typeface="Arial"/>
              </a:rPr>
              <a:t>activities </a:t>
            </a:r>
            <a:r>
              <a:rPr sz="2400" spc="20" dirty="0">
                <a:solidFill>
                  <a:srgbClr val="2C9AE5"/>
                </a:solidFill>
                <a:latin typeface="Arial"/>
                <a:cs typeface="Arial"/>
              </a:rPr>
              <a:t>should </a:t>
            </a:r>
            <a:r>
              <a:rPr sz="2400" spc="-45" dirty="0">
                <a:solidFill>
                  <a:srgbClr val="2C9AE5"/>
                </a:solidFill>
                <a:latin typeface="Arial"/>
                <a:cs typeface="Arial"/>
              </a:rPr>
              <a:t>NOT </a:t>
            </a:r>
            <a:r>
              <a:rPr sz="2400" dirty="0">
                <a:solidFill>
                  <a:srgbClr val="2C9AE5"/>
                </a:solidFill>
                <a:latin typeface="Arial"/>
                <a:cs typeface="Arial"/>
              </a:rPr>
              <a:t>take </a:t>
            </a:r>
            <a:r>
              <a:rPr sz="2400" spc="50" dirty="0">
                <a:solidFill>
                  <a:srgbClr val="2C9AE5"/>
                </a:solidFill>
                <a:latin typeface="Arial"/>
                <a:cs typeface="Arial"/>
              </a:rPr>
              <a:t>place </a:t>
            </a:r>
            <a:r>
              <a:rPr sz="2400" dirty="0">
                <a:solidFill>
                  <a:srgbClr val="2C9AE5"/>
                </a:solidFill>
                <a:latin typeface="Arial"/>
                <a:cs typeface="Arial"/>
              </a:rPr>
              <a:t>at</a:t>
            </a:r>
            <a:r>
              <a:rPr sz="2400" spc="-30" dirty="0">
                <a:solidFill>
                  <a:srgbClr val="2C9AE5"/>
                </a:solidFill>
                <a:latin typeface="Arial"/>
                <a:cs typeface="Arial"/>
              </a:rPr>
              <a:t> </a:t>
            </a:r>
            <a:r>
              <a:rPr sz="2400" dirty="0">
                <a:solidFill>
                  <a:srgbClr val="2C9AE5"/>
                </a:solidFill>
                <a:latin typeface="Arial"/>
                <a:cs typeface="Arial"/>
              </a:rPr>
              <a:t>the  </a:t>
            </a:r>
            <a:r>
              <a:rPr sz="2400" spc="-5" dirty="0">
                <a:solidFill>
                  <a:srgbClr val="2C9AE5"/>
                </a:solidFill>
                <a:latin typeface="Arial"/>
                <a:cs typeface="Arial"/>
              </a:rPr>
              <a:t>same </a:t>
            </a:r>
            <a:r>
              <a:rPr sz="2400" dirty="0">
                <a:solidFill>
                  <a:srgbClr val="2C9AE5"/>
                </a:solidFill>
                <a:latin typeface="Arial"/>
                <a:cs typeface="Arial"/>
              </a:rPr>
              <a:t>time</a:t>
            </a:r>
            <a:endParaRPr sz="2400">
              <a:latin typeface="Arial"/>
              <a:cs typeface="Arial"/>
            </a:endParaRPr>
          </a:p>
        </p:txBody>
      </p:sp>
      <p:sp>
        <p:nvSpPr>
          <p:cNvPr id="4" name="object 4"/>
          <p:cNvSpPr/>
          <p:nvPr/>
        </p:nvSpPr>
        <p:spPr>
          <a:xfrm>
            <a:off x="5563514" y="2641600"/>
            <a:ext cx="1475511" cy="1475511"/>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166026" y="2560789"/>
            <a:ext cx="1510144" cy="1510144"/>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5" dirty="0"/>
              <a:t>Goals</a:t>
            </a:r>
          </a:p>
        </p:txBody>
      </p:sp>
      <p:sp>
        <p:nvSpPr>
          <p:cNvPr id="3" name="object 3"/>
          <p:cNvSpPr txBox="1"/>
          <p:nvPr/>
        </p:nvSpPr>
        <p:spPr>
          <a:xfrm>
            <a:off x="1651292" y="2502865"/>
            <a:ext cx="4535805" cy="3480440"/>
          </a:xfrm>
          <a:prstGeom prst="rect">
            <a:avLst/>
          </a:prstGeom>
        </p:spPr>
        <p:txBody>
          <a:bodyPr vert="horz" wrap="square" lIns="0" tIns="12700" rIns="0" bIns="0" rtlCol="0">
            <a:spAutoFit/>
          </a:bodyPr>
          <a:lstStyle/>
          <a:p>
            <a:pPr marL="355600" indent="-342900">
              <a:lnSpc>
                <a:spcPct val="100000"/>
              </a:lnSpc>
              <a:spcBef>
                <a:spcPts val="100"/>
              </a:spcBef>
              <a:buClr>
                <a:srgbClr val="2C9AE5"/>
              </a:buClr>
              <a:buSzPct val="118750"/>
              <a:buChar char="•"/>
              <a:tabLst>
                <a:tab pos="354965" algn="l"/>
                <a:tab pos="355600" algn="l"/>
              </a:tabLst>
            </a:pPr>
            <a:r>
              <a:rPr sz="2400" spc="-20" dirty="0">
                <a:solidFill>
                  <a:srgbClr val="262626"/>
                </a:solidFill>
                <a:latin typeface="Arial"/>
                <a:cs typeface="Arial"/>
              </a:rPr>
              <a:t>Prevent </a:t>
            </a:r>
            <a:r>
              <a:rPr sz="2400" spc="65" dirty="0">
                <a:solidFill>
                  <a:srgbClr val="262626"/>
                </a:solidFill>
                <a:latin typeface="Arial"/>
                <a:cs typeface="Arial"/>
              </a:rPr>
              <a:t>code </a:t>
            </a:r>
            <a:r>
              <a:rPr sz="2400" spc="15" dirty="0">
                <a:solidFill>
                  <a:srgbClr val="262626"/>
                </a:solidFill>
                <a:latin typeface="Arial"/>
                <a:cs typeface="Arial"/>
              </a:rPr>
              <a:t>quality</a:t>
            </a:r>
            <a:r>
              <a:rPr sz="2400" spc="-70" dirty="0">
                <a:solidFill>
                  <a:srgbClr val="262626"/>
                </a:solidFill>
                <a:latin typeface="Arial"/>
                <a:cs typeface="Arial"/>
              </a:rPr>
              <a:t> </a:t>
            </a:r>
            <a:r>
              <a:rPr sz="2400" spc="25" dirty="0">
                <a:solidFill>
                  <a:srgbClr val="262626"/>
                </a:solidFill>
                <a:latin typeface="Arial"/>
                <a:cs typeface="Arial"/>
              </a:rPr>
              <a:t>reduction</a:t>
            </a:r>
            <a:endParaRPr sz="2400" dirty="0">
              <a:latin typeface="Arial"/>
              <a:cs typeface="Arial"/>
            </a:endParaRPr>
          </a:p>
          <a:p>
            <a:pPr>
              <a:lnSpc>
                <a:spcPct val="100000"/>
              </a:lnSpc>
              <a:buClr>
                <a:srgbClr val="2C9AE5"/>
              </a:buClr>
              <a:buFont typeface="Arial"/>
              <a:buChar char="•"/>
            </a:pPr>
            <a:endParaRPr sz="4450" dirty="0">
              <a:latin typeface="Arial"/>
              <a:cs typeface="Arial"/>
            </a:endParaRPr>
          </a:p>
          <a:p>
            <a:pPr marL="355600" indent="-342900">
              <a:lnSpc>
                <a:spcPct val="100000"/>
              </a:lnSpc>
              <a:buClr>
                <a:srgbClr val="2C9AE5"/>
              </a:buClr>
              <a:buSzPct val="118750"/>
              <a:buChar char="•"/>
              <a:tabLst>
                <a:tab pos="354965" algn="l"/>
                <a:tab pos="355600" algn="l"/>
              </a:tabLst>
            </a:pPr>
            <a:r>
              <a:rPr sz="2400" spc="-5" dirty="0">
                <a:solidFill>
                  <a:srgbClr val="262626"/>
                </a:solidFill>
                <a:latin typeface="Arial"/>
                <a:cs typeface="Arial"/>
              </a:rPr>
              <a:t>Make </a:t>
            </a:r>
            <a:r>
              <a:rPr sz="2400" spc="65" dirty="0">
                <a:solidFill>
                  <a:srgbClr val="262626"/>
                </a:solidFill>
                <a:latin typeface="Arial"/>
                <a:cs typeface="Arial"/>
              </a:rPr>
              <a:t>code</a:t>
            </a:r>
            <a:r>
              <a:rPr sz="2400" spc="-5" dirty="0">
                <a:solidFill>
                  <a:srgbClr val="262626"/>
                </a:solidFill>
                <a:latin typeface="Arial"/>
                <a:cs typeface="Arial"/>
              </a:rPr>
              <a:t> </a:t>
            </a:r>
            <a:r>
              <a:rPr sz="2400" spc="25" dirty="0">
                <a:solidFill>
                  <a:srgbClr val="262626"/>
                </a:solidFill>
                <a:latin typeface="Arial"/>
                <a:cs typeface="Arial"/>
              </a:rPr>
              <a:t>clear</a:t>
            </a:r>
            <a:endParaRPr sz="2400" dirty="0">
              <a:latin typeface="Arial"/>
              <a:cs typeface="Arial"/>
            </a:endParaRPr>
          </a:p>
          <a:p>
            <a:pPr>
              <a:lnSpc>
                <a:spcPct val="100000"/>
              </a:lnSpc>
              <a:spcBef>
                <a:spcPts val="50"/>
              </a:spcBef>
              <a:buClr>
                <a:srgbClr val="2C9AE5"/>
              </a:buClr>
              <a:buFont typeface="Arial"/>
              <a:buChar char="•"/>
            </a:pPr>
            <a:endParaRPr sz="4150" dirty="0">
              <a:latin typeface="Arial"/>
              <a:cs typeface="Arial"/>
            </a:endParaRPr>
          </a:p>
          <a:p>
            <a:pPr marL="355600" indent="-342900">
              <a:lnSpc>
                <a:spcPct val="100000"/>
              </a:lnSpc>
              <a:buClr>
                <a:srgbClr val="2C9AE5"/>
              </a:buClr>
              <a:buSzPct val="118750"/>
              <a:buChar char="•"/>
              <a:tabLst>
                <a:tab pos="354965" algn="l"/>
                <a:tab pos="355600" algn="l"/>
              </a:tabLst>
            </a:pPr>
            <a:r>
              <a:rPr sz="2400" spc="30" dirty="0">
                <a:solidFill>
                  <a:srgbClr val="262626"/>
                </a:solidFill>
                <a:latin typeface="Arial"/>
                <a:cs typeface="Arial"/>
              </a:rPr>
              <a:t>Help </a:t>
            </a:r>
            <a:r>
              <a:rPr sz="2400" dirty="0">
                <a:solidFill>
                  <a:srgbClr val="262626"/>
                </a:solidFill>
                <a:latin typeface="Arial"/>
                <a:cs typeface="Arial"/>
              </a:rPr>
              <a:t>to </a:t>
            </a:r>
            <a:r>
              <a:rPr sz="2400" spc="30" dirty="0">
                <a:solidFill>
                  <a:srgbClr val="262626"/>
                </a:solidFill>
                <a:latin typeface="Arial"/>
                <a:cs typeface="Arial"/>
              </a:rPr>
              <a:t>find</a:t>
            </a:r>
            <a:r>
              <a:rPr sz="2400" spc="-40" dirty="0">
                <a:solidFill>
                  <a:srgbClr val="262626"/>
                </a:solidFill>
                <a:latin typeface="Arial"/>
                <a:cs typeface="Arial"/>
              </a:rPr>
              <a:t> </a:t>
            </a:r>
            <a:r>
              <a:rPr sz="2400" spc="65" dirty="0">
                <a:solidFill>
                  <a:srgbClr val="262626"/>
                </a:solidFill>
                <a:latin typeface="Arial"/>
                <a:cs typeface="Arial"/>
              </a:rPr>
              <a:t>bugs</a:t>
            </a:r>
            <a:endParaRPr sz="2400" dirty="0">
              <a:latin typeface="Arial"/>
              <a:cs typeface="Arial"/>
            </a:endParaRPr>
          </a:p>
          <a:p>
            <a:pPr>
              <a:lnSpc>
                <a:spcPct val="100000"/>
              </a:lnSpc>
              <a:spcBef>
                <a:spcPts val="30"/>
              </a:spcBef>
              <a:buClr>
                <a:srgbClr val="2C9AE5"/>
              </a:buClr>
              <a:buFont typeface="Arial"/>
              <a:buChar char="•"/>
            </a:pPr>
            <a:endParaRPr sz="4250" dirty="0">
              <a:latin typeface="Arial"/>
              <a:cs typeface="Arial"/>
            </a:endParaRPr>
          </a:p>
          <a:p>
            <a:pPr marL="355600" indent="-342900">
              <a:lnSpc>
                <a:spcPct val="100000"/>
              </a:lnSpc>
              <a:buClr>
                <a:srgbClr val="2C9AE5"/>
              </a:buClr>
              <a:buSzPct val="118750"/>
              <a:buFont typeface="Arial"/>
              <a:buChar char="•"/>
              <a:tabLst>
                <a:tab pos="354965" algn="l"/>
                <a:tab pos="355600" algn="l"/>
              </a:tabLst>
            </a:pPr>
            <a:r>
              <a:rPr sz="2400" spc="-5" dirty="0">
                <a:solidFill>
                  <a:srgbClr val="262626"/>
                </a:solidFill>
                <a:latin typeface="Arial"/>
                <a:cs typeface="Arial"/>
              </a:rPr>
              <a:t>Help </a:t>
            </a:r>
            <a:r>
              <a:rPr sz="2400" dirty="0">
                <a:solidFill>
                  <a:srgbClr val="262626"/>
                </a:solidFill>
                <a:latin typeface="Arial"/>
                <a:cs typeface="Arial"/>
              </a:rPr>
              <a:t>to </a:t>
            </a:r>
            <a:r>
              <a:rPr sz="2400" spc="-5" dirty="0">
                <a:solidFill>
                  <a:srgbClr val="262626"/>
                </a:solidFill>
                <a:latin typeface="Arial"/>
                <a:cs typeface="Arial"/>
              </a:rPr>
              <a:t>program</a:t>
            </a:r>
            <a:r>
              <a:rPr sz="2400" spc="-20" dirty="0">
                <a:solidFill>
                  <a:srgbClr val="262626"/>
                </a:solidFill>
                <a:latin typeface="Arial"/>
                <a:cs typeface="Arial"/>
              </a:rPr>
              <a:t> </a:t>
            </a:r>
            <a:r>
              <a:rPr sz="2400" dirty="0">
                <a:solidFill>
                  <a:srgbClr val="262626"/>
                </a:solidFill>
                <a:latin typeface="Arial"/>
                <a:cs typeface="Arial"/>
              </a:rPr>
              <a:t>faster</a:t>
            </a:r>
            <a:endParaRPr sz="24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Clean Code and Dirty Code</a:t>
            </a:r>
          </a:p>
        </p:txBody>
      </p:sp>
      <p:sp>
        <p:nvSpPr>
          <p:cNvPr id="3" name="Text Placeholder 2"/>
          <p:cNvSpPr>
            <a:spLocks noGrp="1"/>
          </p:cNvSpPr>
          <p:nvPr>
            <p:ph type="body" idx="1"/>
          </p:nvPr>
        </p:nvSpPr>
        <p:spPr>
          <a:xfrm>
            <a:off x="1279867" y="2210765"/>
            <a:ext cx="7498664" cy="4401205"/>
          </a:xfrm>
        </p:spPr>
        <p:txBody>
          <a:bodyPr/>
          <a:lstStyle/>
          <a:p>
            <a:r>
              <a:rPr lang="en-US" b="1" dirty="0">
                <a:solidFill>
                  <a:schemeClr val="tx1"/>
                </a:solidFill>
              </a:rPr>
              <a:t>Dirty Code</a:t>
            </a:r>
          </a:p>
          <a:p>
            <a:r>
              <a:rPr lang="en-US" dirty="0">
                <a:solidFill>
                  <a:schemeClr val="tx1"/>
                </a:solidFill>
              </a:rPr>
              <a:t>Dirty code is result of inexperience multiplied by tight deadlines, mismanagement, and nasty shortcuts taken during the development process.</a:t>
            </a:r>
          </a:p>
          <a:p>
            <a:endParaRPr lang="en-US" dirty="0">
              <a:solidFill>
                <a:schemeClr val="tx1"/>
              </a:solidFill>
            </a:endParaRPr>
          </a:p>
          <a:p>
            <a:r>
              <a:rPr lang="en-US" b="1" dirty="0">
                <a:solidFill>
                  <a:schemeClr val="tx1"/>
                </a:solidFill>
              </a:rPr>
              <a:t> Clean Code</a:t>
            </a:r>
          </a:p>
          <a:p>
            <a:r>
              <a:rPr lang="en-US" dirty="0">
                <a:solidFill>
                  <a:schemeClr val="tx1"/>
                </a:solidFill>
              </a:rPr>
              <a:t>Clean code is code that is easy to read, understand and maintain. Clean code makes software development predictable and increases the quality of a resulting product</a:t>
            </a:r>
          </a:p>
          <a:p>
            <a:endParaRPr lang="en-US" dirty="0"/>
          </a:p>
        </p:txBody>
      </p:sp>
    </p:spTree>
    <p:extLst>
      <p:ext uri="{BB962C8B-B14F-4D97-AF65-F5344CB8AC3E}">
        <p14:creationId xmlns:p14="http://schemas.microsoft.com/office/powerpoint/2010/main" val="1123228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50" dirty="0"/>
              <a:t>When </a:t>
            </a:r>
            <a:r>
              <a:rPr dirty="0"/>
              <a:t>to</a:t>
            </a:r>
            <a:r>
              <a:rPr spc="40" dirty="0"/>
              <a:t> </a:t>
            </a:r>
            <a:r>
              <a:rPr dirty="0"/>
              <a:t>Refactor</a:t>
            </a:r>
          </a:p>
        </p:txBody>
      </p:sp>
      <p:sp>
        <p:nvSpPr>
          <p:cNvPr id="3" name="object 3"/>
          <p:cNvSpPr txBox="1"/>
          <p:nvPr/>
        </p:nvSpPr>
        <p:spPr>
          <a:xfrm>
            <a:off x="458123" y="2198065"/>
            <a:ext cx="9143077" cy="4778231"/>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262626"/>
                </a:solidFill>
                <a:latin typeface="Arial"/>
                <a:cs typeface="Arial"/>
              </a:rPr>
              <a:t>The Rule of Three</a:t>
            </a:r>
            <a:endParaRPr sz="2400" dirty="0">
              <a:latin typeface="Arial"/>
              <a:cs typeface="Arial"/>
            </a:endParaRPr>
          </a:p>
          <a:p>
            <a:pPr>
              <a:lnSpc>
                <a:spcPct val="100000"/>
              </a:lnSpc>
              <a:spcBef>
                <a:spcPts val="25"/>
              </a:spcBef>
            </a:pPr>
            <a:endParaRPr sz="2950" dirty="0">
              <a:latin typeface="Arial"/>
              <a:cs typeface="Arial"/>
            </a:endParaRPr>
          </a:p>
          <a:p>
            <a:pPr marL="12700">
              <a:lnSpc>
                <a:spcPct val="100000"/>
              </a:lnSpc>
            </a:pPr>
            <a:r>
              <a:rPr sz="2400" spc="-30" dirty="0">
                <a:solidFill>
                  <a:srgbClr val="2C9AE5"/>
                </a:solidFill>
                <a:latin typeface="Arial"/>
                <a:cs typeface="Arial"/>
              </a:rPr>
              <a:t>Three </a:t>
            </a:r>
            <a:r>
              <a:rPr sz="2400" dirty="0">
                <a:solidFill>
                  <a:srgbClr val="2C9AE5"/>
                </a:solidFill>
                <a:latin typeface="Arial"/>
                <a:cs typeface="Arial"/>
              </a:rPr>
              <a:t>strikes </a:t>
            </a:r>
            <a:r>
              <a:rPr sz="2400" spc="40" dirty="0">
                <a:solidFill>
                  <a:srgbClr val="2C9AE5"/>
                </a:solidFill>
                <a:latin typeface="Arial"/>
                <a:cs typeface="Arial"/>
              </a:rPr>
              <a:t>and </a:t>
            </a:r>
            <a:r>
              <a:rPr sz="2400" spc="-5" dirty="0">
                <a:solidFill>
                  <a:srgbClr val="2C9AE5"/>
                </a:solidFill>
                <a:latin typeface="Arial"/>
                <a:cs typeface="Arial"/>
              </a:rPr>
              <a:t>you</a:t>
            </a:r>
            <a:r>
              <a:rPr sz="2400" spc="-20" dirty="0">
                <a:solidFill>
                  <a:srgbClr val="2C9AE5"/>
                </a:solidFill>
                <a:latin typeface="Arial"/>
                <a:cs typeface="Arial"/>
              </a:rPr>
              <a:t> </a:t>
            </a:r>
            <a:r>
              <a:rPr sz="2400" spc="15" dirty="0">
                <a:solidFill>
                  <a:srgbClr val="2C9AE5"/>
                </a:solidFill>
                <a:latin typeface="Arial"/>
                <a:cs typeface="Arial"/>
              </a:rPr>
              <a:t>refactor</a:t>
            </a:r>
            <a:endParaRPr sz="2400" dirty="0">
              <a:latin typeface="Arial"/>
              <a:cs typeface="Arial"/>
            </a:endParaRPr>
          </a:p>
          <a:p>
            <a:pPr>
              <a:lnSpc>
                <a:spcPct val="100000"/>
              </a:lnSpc>
            </a:pPr>
            <a:endParaRPr sz="2400" dirty="0">
              <a:latin typeface="Arial"/>
              <a:cs typeface="Arial"/>
            </a:endParaRPr>
          </a:p>
          <a:p>
            <a:pPr marL="469900" indent="-457200">
              <a:lnSpc>
                <a:spcPct val="100000"/>
              </a:lnSpc>
              <a:spcBef>
                <a:spcPts val="1410"/>
              </a:spcBef>
              <a:buClr>
                <a:srgbClr val="2C9AE5"/>
              </a:buClr>
              <a:buSzPct val="118750"/>
              <a:buAutoNum type="arabicPeriod"/>
              <a:tabLst>
                <a:tab pos="469265" algn="l"/>
                <a:tab pos="469900" algn="l"/>
              </a:tabLst>
            </a:pPr>
            <a:r>
              <a:rPr sz="2400" spc="-45" dirty="0">
                <a:solidFill>
                  <a:srgbClr val="262626"/>
                </a:solidFill>
                <a:latin typeface="Arial"/>
                <a:cs typeface="Arial"/>
              </a:rPr>
              <a:t>You </a:t>
            </a:r>
            <a:r>
              <a:rPr sz="2400" spc="65" dirty="0">
                <a:solidFill>
                  <a:srgbClr val="262626"/>
                </a:solidFill>
                <a:latin typeface="Arial"/>
                <a:cs typeface="Arial"/>
              </a:rPr>
              <a:t>do </a:t>
            </a:r>
            <a:r>
              <a:rPr sz="2400" spc="10" dirty="0">
                <a:solidFill>
                  <a:srgbClr val="262626"/>
                </a:solidFill>
                <a:latin typeface="Arial"/>
                <a:cs typeface="Arial"/>
              </a:rPr>
              <a:t>something </a:t>
            </a:r>
            <a:r>
              <a:rPr sz="2400" dirty="0">
                <a:solidFill>
                  <a:srgbClr val="262626"/>
                </a:solidFill>
                <a:latin typeface="Arial"/>
                <a:cs typeface="Arial"/>
              </a:rPr>
              <a:t>the first</a:t>
            </a:r>
            <a:r>
              <a:rPr sz="2400" spc="-50" dirty="0">
                <a:solidFill>
                  <a:srgbClr val="262626"/>
                </a:solidFill>
                <a:latin typeface="Arial"/>
                <a:cs typeface="Arial"/>
              </a:rPr>
              <a:t> </a:t>
            </a:r>
            <a:r>
              <a:rPr sz="2400" dirty="0">
                <a:solidFill>
                  <a:srgbClr val="262626"/>
                </a:solidFill>
                <a:latin typeface="Arial"/>
                <a:cs typeface="Arial"/>
              </a:rPr>
              <a:t>time</a:t>
            </a:r>
            <a:endParaRPr sz="2400" dirty="0">
              <a:latin typeface="Arial"/>
              <a:cs typeface="Arial"/>
            </a:endParaRPr>
          </a:p>
          <a:p>
            <a:pPr>
              <a:lnSpc>
                <a:spcPct val="100000"/>
              </a:lnSpc>
              <a:spcBef>
                <a:spcPts val="20"/>
              </a:spcBef>
              <a:buClr>
                <a:srgbClr val="2C9AE5"/>
              </a:buClr>
              <a:buFont typeface="Arial"/>
              <a:buAutoNum type="arabicPeriod"/>
            </a:pPr>
            <a:endParaRPr sz="2750" dirty="0">
              <a:latin typeface="Arial"/>
              <a:cs typeface="Arial"/>
            </a:endParaRPr>
          </a:p>
          <a:p>
            <a:pPr marL="469900" indent="-457200">
              <a:lnSpc>
                <a:spcPct val="100000"/>
              </a:lnSpc>
              <a:buClr>
                <a:srgbClr val="2C9AE5"/>
              </a:buClr>
              <a:buSzPct val="118750"/>
              <a:buAutoNum type="arabicPeriod"/>
              <a:tabLst>
                <a:tab pos="469265" algn="l"/>
                <a:tab pos="469900" algn="l"/>
              </a:tabLst>
            </a:pPr>
            <a:r>
              <a:rPr sz="2400" spc="-45" dirty="0">
                <a:solidFill>
                  <a:srgbClr val="262626"/>
                </a:solidFill>
                <a:latin typeface="Arial"/>
                <a:cs typeface="Arial"/>
              </a:rPr>
              <a:t>You </a:t>
            </a:r>
            <a:r>
              <a:rPr sz="2400" spc="65" dirty="0">
                <a:solidFill>
                  <a:srgbClr val="262626"/>
                </a:solidFill>
                <a:latin typeface="Arial"/>
                <a:cs typeface="Arial"/>
              </a:rPr>
              <a:t>do </a:t>
            </a:r>
            <a:r>
              <a:rPr sz="2400" spc="-5" dirty="0">
                <a:solidFill>
                  <a:srgbClr val="262626"/>
                </a:solidFill>
                <a:latin typeface="Arial"/>
                <a:cs typeface="Arial"/>
              </a:rPr>
              <a:t>similar </a:t>
            </a:r>
            <a:r>
              <a:rPr sz="2400" spc="25" dirty="0">
                <a:solidFill>
                  <a:srgbClr val="262626"/>
                </a:solidFill>
                <a:latin typeface="Arial"/>
                <a:cs typeface="Arial"/>
              </a:rPr>
              <a:t>thing again </a:t>
            </a:r>
            <a:r>
              <a:rPr sz="2400" spc="-5" dirty="0">
                <a:solidFill>
                  <a:srgbClr val="262626"/>
                </a:solidFill>
                <a:latin typeface="Arial"/>
                <a:cs typeface="Arial"/>
              </a:rPr>
              <a:t>with</a:t>
            </a:r>
            <a:r>
              <a:rPr sz="2400" spc="-90" dirty="0">
                <a:solidFill>
                  <a:srgbClr val="262626"/>
                </a:solidFill>
                <a:latin typeface="Arial"/>
                <a:cs typeface="Arial"/>
              </a:rPr>
              <a:t> </a:t>
            </a:r>
            <a:r>
              <a:rPr sz="2400" spc="20" dirty="0">
                <a:solidFill>
                  <a:srgbClr val="262626"/>
                </a:solidFill>
                <a:latin typeface="Arial"/>
                <a:cs typeface="Arial"/>
              </a:rPr>
              <a:t>regret</a:t>
            </a:r>
            <a:endParaRPr sz="2400" dirty="0">
              <a:latin typeface="Arial"/>
              <a:cs typeface="Arial"/>
            </a:endParaRPr>
          </a:p>
          <a:p>
            <a:pPr>
              <a:lnSpc>
                <a:spcPct val="100000"/>
              </a:lnSpc>
              <a:spcBef>
                <a:spcPts val="5"/>
              </a:spcBef>
              <a:buClr>
                <a:srgbClr val="2C9AE5"/>
              </a:buClr>
              <a:buFont typeface="Arial"/>
              <a:buAutoNum type="arabicPeriod"/>
            </a:pPr>
            <a:endParaRPr sz="2500" dirty="0">
              <a:latin typeface="Arial"/>
              <a:cs typeface="Arial"/>
            </a:endParaRPr>
          </a:p>
          <a:p>
            <a:pPr marL="469900" indent="-457200">
              <a:lnSpc>
                <a:spcPct val="100000"/>
              </a:lnSpc>
              <a:buClr>
                <a:srgbClr val="2C9AE5"/>
              </a:buClr>
              <a:buSzPct val="118750"/>
              <a:buAutoNum type="arabicPeriod"/>
              <a:tabLst>
                <a:tab pos="469265" algn="l"/>
                <a:tab pos="469900" algn="l"/>
              </a:tabLst>
            </a:pPr>
            <a:r>
              <a:rPr sz="2400" dirty="0">
                <a:solidFill>
                  <a:srgbClr val="262626"/>
                </a:solidFill>
                <a:latin typeface="Arial"/>
                <a:cs typeface="Arial"/>
              </a:rPr>
              <a:t>On the </a:t>
            </a:r>
            <a:r>
              <a:rPr sz="2400" spc="25" dirty="0">
                <a:solidFill>
                  <a:srgbClr val="262626"/>
                </a:solidFill>
                <a:latin typeface="Arial"/>
                <a:cs typeface="Arial"/>
              </a:rPr>
              <a:t>third </a:t>
            </a:r>
            <a:r>
              <a:rPr sz="2400" dirty="0">
                <a:solidFill>
                  <a:srgbClr val="262626"/>
                </a:solidFill>
                <a:latin typeface="Arial"/>
                <a:cs typeface="Arial"/>
              </a:rPr>
              <a:t>time </a:t>
            </a:r>
            <a:r>
              <a:rPr sz="2400" spc="-135" dirty="0">
                <a:solidFill>
                  <a:srgbClr val="262626"/>
                </a:solidFill>
                <a:latin typeface="Arial"/>
                <a:cs typeface="Arial"/>
              </a:rPr>
              <a:t>– </a:t>
            </a:r>
            <a:r>
              <a:rPr sz="2400" dirty="0">
                <a:solidFill>
                  <a:srgbClr val="262626"/>
                </a:solidFill>
                <a:latin typeface="Arial"/>
                <a:cs typeface="Arial"/>
              </a:rPr>
              <a:t>start</a:t>
            </a:r>
            <a:r>
              <a:rPr sz="2400" spc="80" dirty="0">
                <a:solidFill>
                  <a:srgbClr val="262626"/>
                </a:solidFill>
                <a:latin typeface="Arial"/>
                <a:cs typeface="Arial"/>
              </a:rPr>
              <a:t> </a:t>
            </a:r>
            <a:r>
              <a:rPr sz="2400" spc="20" dirty="0">
                <a:solidFill>
                  <a:srgbClr val="262626"/>
                </a:solidFill>
                <a:latin typeface="Arial"/>
                <a:cs typeface="Arial"/>
              </a:rPr>
              <a:t>refactoring</a:t>
            </a:r>
            <a:endParaRPr lang="en-US" sz="2400" spc="20" dirty="0">
              <a:solidFill>
                <a:srgbClr val="262626"/>
              </a:solidFill>
              <a:latin typeface="Arial"/>
              <a:cs typeface="Arial"/>
            </a:endParaRPr>
          </a:p>
          <a:p>
            <a:pPr marL="469900" indent="-457200">
              <a:lnSpc>
                <a:spcPct val="100000"/>
              </a:lnSpc>
              <a:buClr>
                <a:srgbClr val="2C9AE5"/>
              </a:buClr>
              <a:buSzPct val="118750"/>
              <a:buAutoNum type="arabicPeriod"/>
              <a:tabLst>
                <a:tab pos="469265" algn="l"/>
                <a:tab pos="469900" algn="l"/>
              </a:tabLst>
            </a:pPr>
            <a:endParaRPr lang="en-US" sz="2400" spc="20" dirty="0">
              <a:solidFill>
                <a:srgbClr val="262626"/>
              </a:solidFill>
              <a:latin typeface="Arial"/>
              <a:cs typeface="Arial"/>
            </a:endParaRPr>
          </a:p>
          <a:p>
            <a:pPr marL="12700">
              <a:lnSpc>
                <a:spcPct val="100000"/>
              </a:lnSpc>
              <a:buClr>
                <a:srgbClr val="2C9AE5"/>
              </a:buClr>
              <a:buSzPct val="118750"/>
              <a:tabLst>
                <a:tab pos="469265" algn="l"/>
                <a:tab pos="469900" algn="l"/>
              </a:tabLst>
            </a:pPr>
            <a:r>
              <a:rPr lang="en-US" sz="2400" dirty="0">
                <a:latin typeface="Arial"/>
                <a:cs typeface="Arial"/>
              </a:rPr>
              <a:t>It states that two instances of similar code don’t require refactoring, but when similar code is used three times, it should be extracted.</a:t>
            </a:r>
            <a:endParaRPr sz="2400" dirty="0">
              <a:latin typeface="Arial"/>
              <a:cs typeface="Arial"/>
            </a:endParaRPr>
          </a:p>
        </p:txBody>
      </p:sp>
      <p:sp>
        <p:nvSpPr>
          <p:cNvPr id="4" name="object 4"/>
          <p:cNvSpPr/>
          <p:nvPr/>
        </p:nvSpPr>
        <p:spPr>
          <a:xfrm>
            <a:off x="6925881" y="2122055"/>
            <a:ext cx="1590967" cy="159096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50" dirty="0"/>
              <a:t>When </a:t>
            </a:r>
            <a:r>
              <a:rPr dirty="0"/>
              <a:t>to</a:t>
            </a:r>
            <a:r>
              <a:rPr spc="40" dirty="0"/>
              <a:t> </a:t>
            </a:r>
            <a:r>
              <a:rPr dirty="0"/>
              <a:t>Refactor</a:t>
            </a:r>
          </a:p>
        </p:txBody>
      </p:sp>
      <p:sp>
        <p:nvSpPr>
          <p:cNvPr id="3" name="object 3"/>
          <p:cNvSpPr txBox="1"/>
          <p:nvPr/>
        </p:nvSpPr>
        <p:spPr>
          <a:xfrm>
            <a:off x="1651292" y="2271725"/>
            <a:ext cx="5462270" cy="3639458"/>
          </a:xfrm>
          <a:prstGeom prst="rect">
            <a:avLst/>
          </a:prstGeom>
        </p:spPr>
        <p:txBody>
          <a:bodyPr vert="horz" wrap="square" lIns="0" tIns="91440" rIns="0" bIns="0" rtlCol="0">
            <a:spAutoFit/>
          </a:bodyPr>
          <a:lstStyle/>
          <a:p>
            <a:pPr marL="355600" indent="-342900">
              <a:lnSpc>
                <a:spcPct val="100000"/>
              </a:lnSpc>
              <a:spcBef>
                <a:spcPts val="720"/>
              </a:spcBef>
              <a:buClr>
                <a:srgbClr val="2C9AE5"/>
              </a:buClr>
              <a:buSzPct val="118750"/>
              <a:buChar char="•"/>
              <a:tabLst>
                <a:tab pos="354965" algn="l"/>
                <a:tab pos="355600" algn="l"/>
              </a:tabLst>
            </a:pPr>
            <a:r>
              <a:rPr sz="2400" spc="-35" dirty="0">
                <a:latin typeface="Arial"/>
                <a:cs typeface="Arial"/>
              </a:rPr>
              <a:t>When </a:t>
            </a:r>
            <a:r>
              <a:rPr sz="2400" spc="65" dirty="0">
                <a:latin typeface="Arial"/>
                <a:cs typeface="Arial"/>
              </a:rPr>
              <a:t>adding </a:t>
            </a:r>
            <a:r>
              <a:rPr sz="2400" spc="-5" dirty="0">
                <a:latin typeface="Arial"/>
                <a:cs typeface="Arial"/>
              </a:rPr>
              <a:t>new</a:t>
            </a:r>
            <a:r>
              <a:rPr sz="2400" spc="-50" dirty="0">
                <a:latin typeface="Arial"/>
                <a:cs typeface="Arial"/>
              </a:rPr>
              <a:t> </a:t>
            </a:r>
            <a:r>
              <a:rPr sz="2400" spc="10" dirty="0">
                <a:latin typeface="Arial"/>
                <a:cs typeface="Arial"/>
              </a:rPr>
              <a:t>functionality</a:t>
            </a:r>
            <a:endParaRPr sz="2400" dirty="0">
              <a:latin typeface="Arial"/>
              <a:cs typeface="Arial"/>
            </a:endParaRPr>
          </a:p>
          <a:p>
            <a:pPr marL="692150" lvl="1" indent="-336550">
              <a:lnSpc>
                <a:spcPct val="100000"/>
              </a:lnSpc>
              <a:spcBef>
                <a:spcPts val="1020"/>
              </a:spcBef>
              <a:buClr>
                <a:srgbClr val="2C9AE5"/>
              </a:buClr>
              <a:buSzPct val="120000"/>
              <a:buChar char="•"/>
              <a:tabLst>
                <a:tab pos="691515" algn="l"/>
                <a:tab pos="692150" algn="l"/>
              </a:tabLst>
            </a:pPr>
            <a:r>
              <a:rPr sz="2000" spc="25" dirty="0">
                <a:latin typeface="Arial"/>
                <a:cs typeface="Arial"/>
              </a:rPr>
              <a:t>understanding </a:t>
            </a:r>
            <a:r>
              <a:rPr sz="2000" dirty="0">
                <a:latin typeface="Arial"/>
                <a:cs typeface="Arial"/>
              </a:rPr>
              <a:t>the</a:t>
            </a:r>
            <a:r>
              <a:rPr sz="2000" spc="-35" dirty="0">
                <a:latin typeface="Arial"/>
                <a:cs typeface="Arial"/>
              </a:rPr>
              <a:t> </a:t>
            </a:r>
            <a:r>
              <a:rPr sz="2000" spc="55" dirty="0">
                <a:latin typeface="Arial"/>
                <a:cs typeface="Arial"/>
              </a:rPr>
              <a:t>code</a:t>
            </a:r>
            <a:endParaRPr sz="2000" dirty="0">
              <a:latin typeface="Arial"/>
              <a:cs typeface="Arial"/>
            </a:endParaRPr>
          </a:p>
          <a:p>
            <a:pPr marL="692150" lvl="1" indent="-336550">
              <a:lnSpc>
                <a:spcPct val="100000"/>
              </a:lnSpc>
              <a:spcBef>
                <a:spcPts val="600"/>
              </a:spcBef>
              <a:buClr>
                <a:srgbClr val="2C9AE5"/>
              </a:buClr>
              <a:buSzPct val="120000"/>
              <a:buChar char="•"/>
              <a:tabLst>
                <a:tab pos="691515" algn="l"/>
                <a:tab pos="692150" algn="l"/>
              </a:tabLst>
            </a:pPr>
            <a:r>
              <a:rPr sz="2000" spc="30" dirty="0">
                <a:latin typeface="Arial"/>
                <a:cs typeface="Arial"/>
              </a:rPr>
              <a:t>prepare </a:t>
            </a:r>
            <a:r>
              <a:rPr sz="2000" spc="55" dirty="0">
                <a:latin typeface="Arial"/>
                <a:cs typeface="Arial"/>
              </a:rPr>
              <a:t>code </a:t>
            </a:r>
            <a:r>
              <a:rPr sz="2000" dirty="0">
                <a:latin typeface="Arial"/>
                <a:cs typeface="Arial"/>
              </a:rPr>
              <a:t>for </a:t>
            </a:r>
            <a:r>
              <a:rPr sz="2000" spc="50" dirty="0">
                <a:latin typeface="Arial"/>
                <a:cs typeface="Arial"/>
              </a:rPr>
              <a:t>adding </a:t>
            </a:r>
            <a:r>
              <a:rPr sz="2000" spc="-5" dirty="0">
                <a:latin typeface="Arial"/>
                <a:cs typeface="Arial"/>
              </a:rPr>
              <a:t>new</a:t>
            </a:r>
            <a:r>
              <a:rPr sz="2000" spc="-140" dirty="0">
                <a:latin typeface="Arial"/>
                <a:cs typeface="Arial"/>
              </a:rPr>
              <a:t> </a:t>
            </a:r>
            <a:r>
              <a:rPr sz="2000" spc="5" dirty="0">
                <a:latin typeface="Arial"/>
                <a:cs typeface="Arial"/>
              </a:rPr>
              <a:t>functionality</a:t>
            </a:r>
            <a:endParaRPr sz="2000" dirty="0">
              <a:latin typeface="Arial"/>
              <a:cs typeface="Arial"/>
            </a:endParaRPr>
          </a:p>
          <a:p>
            <a:pPr lvl="1">
              <a:lnSpc>
                <a:spcPct val="100000"/>
              </a:lnSpc>
              <a:spcBef>
                <a:spcPts val="30"/>
              </a:spcBef>
              <a:buClr>
                <a:srgbClr val="2C9AE5"/>
              </a:buClr>
              <a:buFont typeface="Arial"/>
              <a:buChar char="•"/>
            </a:pPr>
            <a:endParaRPr sz="3800" dirty="0">
              <a:latin typeface="Arial"/>
              <a:cs typeface="Arial"/>
            </a:endParaRPr>
          </a:p>
          <a:p>
            <a:pPr marL="355600" indent="-342900">
              <a:lnSpc>
                <a:spcPct val="100000"/>
              </a:lnSpc>
              <a:buClr>
                <a:srgbClr val="2C9AE5"/>
              </a:buClr>
              <a:buSzPct val="118750"/>
              <a:buChar char="•"/>
              <a:tabLst>
                <a:tab pos="354965" algn="l"/>
                <a:tab pos="355600" algn="l"/>
              </a:tabLst>
            </a:pPr>
            <a:r>
              <a:rPr sz="2400" spc="-35" dirty="0">
                <a:latin typeface="Arial"/>
                <a:cs typeface="Arial"/>
              </a:rPr>
              <a:t>When </a:t>
            </a:r>
            <a:r>
              <a:rPr sz="2400" spc="20" dirty="0">
                <a:latin typeface="Arial"/>
                <a:cs typeface="Arial"/>
              </a:rPr>
              <a:t>fixing </a:t>
            </a:r>
            <a:r>
              <a:rPr sz="2400" spc="-5" dirty="0">
                <a:latin typeface="Arial"/>
                <a:cs typeface="Arial"/>
              </a:rPr>
              <a:t>a</a:t>
            </a:r>
            <a:r>
              <a:rPr sz="2400" spc="5" dirty="0">
                <a:latin typeface="Arial"/>
                <a:cs typeface="Arial"/>
              </a:rPr>
              <a:t> </a:t>
            </a:r>
            <a:r>
              <a:rPr sz="2400" spc="85" dirty="0">
                <a:latin typeface="Arial"/>
                <a:cs typeface="Arial"/>
              </a:rPr>
              <a:t>bug</a:t>
            </a:r>
            <a:endParaRPr sz="2400" dirty="0">
              <a:latin typeface="Arial"/>
              <a:cs typeface="Arial"/>
            </a:endParaRPr>
          </a:p>
          <a:p>
            <a:pPr marL="692150" lvl="1" indent="-336550">
              <a:lnSpc>
                <a:spcPct val="100000"/>
              </a:lnSpc>
              <a:spcBef>
                <a:spcPts val="1120"/>
              </a:spcBef>
              <a:buClr>
                <a:srgbClr val="2C9AE5"/>
              </a:buClr>
              <a:buSzPct val="120000"/>
              <a:buChar char="•"/>
              <a:tabLst>
                <a:tab pos="691515" algn="l"/>
                <a:tab pos="692150" algn="l"/>
              </a:tabLst>
            </a:pPr>
            <a:r>
              <a:rPr sz="2000" spc="-5" dirty="0">
                <a:latin typeface="Arial"/>
                <a:cs typeface="Arial"/>
              </a:rPr>
              <a:t>error is a </a:t>
            </a:r>
            <a:r>
              <a:rPr sz="2000" spc="25" dirty="0">
                <a:latin typeface="Arial"/>
                <a:cs typeface="Arial"/>
              </a:rPr>
              <a:t>sign </a:t>
            </a:r>
            <a:r>
              <a:rPr sz="2000" dirty="0">
                <a:latin typeface="Arial"/>
                <a:cs typeface="Arial"/>
              </a:rPr>
              <a:t>for</a:t>
            </a:r>
            <a:r>
              <a:rPr sz="2000" spc="-20" dirty="0">
                <a:latin typeface="Arial"/>
                <a:cs typeface="Arial"/>
              </a:rPr>
              <a:t> </a:t>
            </a:r>
            <a:r>
              <a:rPr sz="2000" spc="20" dirty="0">
                <a:latin typeface="Arial"/>
                <a:cs typeface="Arial"/>
              </a:rPr>
              <a:t>refactoring</a:t>
            </a:r>
            <a:endParaRPr sz="2000" dirty="0">
              <a:latin typeface="Arial"/>
              <a:cs typeface="Arial"/>
            </a:endParaRPr>
          </a:p>
          <a:p>
            <a:pPr lvl="1">
              <a:lnSpc>
                <a:spcPct val="100000"/>
              </a:lnSpc>
              <a:spcBef>
                <a:spcPts val="30"/>
              </a:spcBef>
              <a:buClr>
                <a:srgbClr val="2C9AE5"/>
              </a:buClr>
              <a:buFont typeface="Arial"/>
              <a:buChar char="•"/>
            </a:pPr>
            <a:endParaRPr sz="3800" dirty="0">
              <a:latin typeface="Arial"/>
              <a:cs typeface="Arial"/>
            </a:endParaRPr>
          </a:p>
          <a:p>
            <a:pPr marL="355600" indent="-342900">
              <a:lnSpc>
                <a:spcPct val="100000"/>
              </a:lnSpc>
              <a:buClr>
                <a:srgbClr val="2C9AE5"/>
              </a:buClr>
              <a:buSzPct val="118750"/>
              <a:buChar char="•"/>
              <a:tabLst>
                <a:tab pos="354965" algn="l"/>
                <a:tab pos="355600" algn="l"/>
              </a:tabLst>
            </a:pPr>
            <a:r>
              <a:rPr sz="2400" spc="30" dirty="0">
                <a:latin typeface="Arial"/>
                <a:cs typeface="Arial"/>
              </a:rPr>
              <a:t>Code</a:t>
            </a:r>
            <a:r>
              <a:rPr sz="2400" spc="-5" dirty="0">
                <a:latin typeface="Arial"/>
                <a:cs typeface="Arial"/>
              </a:rPr>
              <a:t> reviews</a:t>
            </a:r>
            <a:endParaRPr sz="24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Purpose</a:t>
            </a:r>
          </a:p>
        </p:txBody>
      </p:sp>
      <p:sp>
        <p:nvSpPr>
          <p:cNvPr id="3" name="Text Placeholder 2"/>
          <p:cNvSpPr>
            <a:spLocks noGrp="1"/>
          </p:cNvSpPr>
          <p:nvPr>
            <p:ph type="body" idx="1"/>
          </p:nvPr>
        </p:nvSpPr>
        <p:spPr>
          <a:xfrm>
            <a:off x="1279867" y="2210765"/>
            <a:ext cx="7498664" cy="1200329"/>
          </a:xfrm>
        </p:spPr>
        <p:txBody>
          <a:bodyPr/>
          <a:lstStyle/>
          <a:p>
            <a:r>
              <a:rPr lang="en-US" dirty="0">
                <a:solidFill>
                  <a:schemeClr val="tx1"/>
                </a:solidFill>
              </a:rPr>
              <a:t>The main purpose of refactoring is to fight technical debt. It transforms a mess into clean code and simple design.</a:t>
            </a:r>
          </a:p>
        </p:txBody>
      </p:sp>
    </p:spTree>
    <p:extLst>
      <p:ext uri="{BB962C8B-B14F-4D97-AF65-F5344CB8AC3E}">
        <p14:creationId xmlns:p14="http://schemas.microsoft.com/office/powerpoint/2010/main" val="798167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28600"/>
            <a:ext cx="8914130" cy="738664"/>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lang="en-US" spc="-50" dirty="0"/>
              <a:t>When </a:t>
            </a:r>
            <a:r>
              <a:rPr lang="en-US" spc="-70" dirty="0"/>
              <a:t>You </a:t>
            </a:r>
            <a:r>
              <a:rPr lang="en-US" spc="-5" dirty="0"/>
              <a:t>Shouldn’t</a:t>
            </a:r>
            <a:r>
              <a:rPr lang="en-US" spc="105" dirty="0"/>
              <a:t> </a:t>
            </a:r>
            <a:r>
              <a:rPr lang="en-US" dirty="0"/>
              <a:t>Refactor</a:t>
            </a:r>
            <a:endParaRPr spc="15" dirty="0"/>
          </a:p>
        </p:txBody>
      </p:sp>
      <p:sp>
        <p:nvSpPr>
          <p:cNvPr id="3" name="object 3"/>
          <p:cNvSpPr txBox="1"/>
          <p:nvPr/>
        </p:nvSpPr>
        <p:spPr>
          <a:xfrm>
            <a:off x="392423" y="1143000"/>
            <a:ext cx="9219912" cy="6163226"/>
          </a:xfrm>
          <a:prstGeom prst="rect">
            <a:avLst/>
          </a:prstGeom>
        </p:spPr>
        <p:txBody>
          <a:bodyPr vert="horz" wrap="square" lIns="0" tIns="129540" rIns="0" bIns="0" rtlCol="0">
            <a:spAutoFit/>
          </a:bodyPr>
          <a:lstStyle/>
          <a:p>
            <a:pPr fontAlgn="base"/>
            <a:r>
              <a:rPr lang="en-US" sz="2800" b="1" i="1" dirty="0" err="1"/>
              <a:t>Resources:</a:t>
            </a:r>
            <a:r>
              <a:rPr lang="en-US" sz="2800" dirty="0" err="1"/>
              <a:t>The</a:t>
            </a:r>
            <a:r>
              <a:rPr lang="en-US" sz="2800" dirty="0"/>
              <a:t> resource mentioned most often was time, as in "Deadlines often don't allow </a:t>
            </a:r>
            <a:r>
              <a:rPr lang="en-US" sz="2800" dirty="0" err="1"/>
              <a:t>refactorings</a:t>
            </a:r>
            <a:r>
              <a:rPr lang="en-US" sz="2800" dirty="0"/>
              <a:t>"; "Sometimes there is just no time"; and "No time no time.“</a:t>
            </a:r>
          </a:p>
          <a:p>
            <a:pPr fontAlgn="base"/>
            <a:endParaRPr lang="en-US" sz="2800" dirty="0"/>
          </a:p>
          <a:p>
            <a:pPr fontAlgn="base"/>
            <a:r>
              <a:rPr lang="en-US" sz="2800" b="1" i="1" dirty="0" err="1"/>
              <a:t>Risk</a:t>
            </a:r>
            <a:r>
              <a:rPr lang="en-US" sz="2800" i="1" dirty="0" err="1"/>
              <a:t>:</a:t>
            </a:r>
            <a:r>
              <a:rPr lang="en-US" sz="2800" dirty="0" err="1"/>
              <a:t>"That</a:t>
            </a:r>
            <a:r>
              <a:rPr lang="en-US" sz="2800" dirty="0"/>
              <a:t> kind of refactoring is time consuming and there is a large risk of introducing bugs" and "If it's working I leave it alone.“</a:t>
            </a:r>
          </a:p>
          <a:p>
            <a:pPr fontAlgn="base"/>
            <a:r>
              <a:rPr lang="en-US" sz="2800" b="1" i="1" dirty="0"/>
              <a:t>Difficulty:</a:t>
            </a:r>
            <a:r>
              <a:rPr lang="en-US" sz="2800" dirty="0"/>
              <a:t> Another concern was the difficulty in making the change, as in "Inheritance is tricky to refactor correctly" and "This kind of refactoring is usually difficult.</a:t>
            </a:r>
          </a:p>
          <a:p>
            <a:pPr fontAlgn="base"/>
            <a:endParaRPr lang="en-US" sz="2800" dirty="0"/>
          </a:p>
          <a:p>
            <a:pPr fontAlgn="base"/>
            <a:r>
              <a:rPr lang="en-US" sz="2800" b="1" i="1" dirty="0"/>
              <a:t>ROI :</a:t>
            </a:r>
            <a:r>
              <a:rPr lang="en-US" sz="2800" b="1" dirty="0"/>
              <a:t> </a:t>
            </a:r>
            <a:r>
              <a:rPr lang="en-US" sz="2800" dirty="0"/>
              <a:t>"Again, I have to weigh the costs and benefits. The benefits have to be clear before taking on the costs of refactoring,</a:t>
            </a:r>
            <a:endParaRPr sz="2800" dirty="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R="556260" algn="ctr">
              <a:lnSpc>
                <a:spcPct val="100000"/>
              </a:lnSpc>
              <a:spcBef>
                <a:spcPts val="1440"/>
              </a:spcBef>
            </a:pPr>
            <a:r>
              <a:rPr spc="-50" dirty="0"/>
              <a:t>When </a:t>
            </a:r>
            <a:r>
              <a:rPr spc="-70" dirty="0"/>
              <a:t>You </a:t>
            </a:r>
            <a:r>
              <a:rPr spc="-5" dirty="0"/>
              <a:t>Shouldn’t</a:t>
            </a:r>
            <a:r>
              <a:rPr spc="105" dirty="0"/>
              <a:t> </a:t>
            </a:r>
            <a:r>
              <a:rPr dirty="0"/>
              <a:t>Refactor</a:t>
            </a:r>
          </a:p>
        </p:txBody>
      </p:sp>
      <p:sp>
        <p:nvSpPr>
          <p:cNvPr id="3" name="object 3"/>
          <p:cNvSpPr txBox="1"/>
          <p:nvPr/>
        </p:nvSpPr>
        <p:spPr>
          <a:xfrm>
            <a:off x="1990229" y="2386025"/>
            <a:ext cx="5546725" cy="2921000"/>
          </a:xfrm>
          <a:prstGeom prst="rect">
            <a:avLst/>
          </a:prstGeom>
        </p:spPr>
        <p:txBody>
          <a:bodyPr vert="horz" wrap="square" lIns="0" tIns="129540" rIns="0" bIns="0" rtlCol="0">
            <a:spAutoFit/>
          </a:bodyPr>
          <a:lstStyle/>
          <a:p>
            <a:pPr marL="12700">
              <a:lnSpc>
                <a:spcPct val="100000"/>
              </a:lnSpc>
              <a:spcBef>
                <a:spcPts val="1020"/>
              </a:spcBef>
            </a:pPr>
            <a:r>
              <a:rPr sz="2400" spc="-5" dirty="0">
                <a:latin typeface="Arial"/>
                <a:cs typeface="Arial"/>
              </a:rPr>
              <a:t>Low </a:t>
            </a:r>
            <a:r>
              <a:rPr sz="2400" spc="65" dirty="0">
                <a:latin typeface="Arial"/>
                <a:cs typeface="Arial"/>
              </a:rPr>
              <a:t>code</a:t>
            </a:r>
            <a:r>
              <a:rPr sz="2400" dirty="0">
                <a:latin typeface="Arial"/>
                <a:cs typeface="Arial"/>
              </a:rPr>
              <a:t> </a:t>
            </a:r>
            <a:r>
              <a:rPr sz="2400" spc="15" dirty="0">
                <a:latin typeface="Arial"/>
                <a:cs typeface="Arial"/>
              </a:rPr>
              <a:t>quality</a:t>
            </a:r>
            <a:endParaRPr sz="2400" dirty="0">
              <a:latin typeface="Arial"/>
              <a:cs typeface="Arial"/>
            </a:endParaRPr>
          </a:p>
          <a:p>
            <a:pPr marL="353060" indent="-337185">
              <a:lnSpc>
                <a:spcPct val="100000"/>
              </a:lnSpc>
              <a:spcBef>
                <a:spcPts val="1320"/>
              </a:spcBef>
              <a:buClr>
                <a:srgbClr val="2C9AE5"/>
              </a:buClr>
              <a:buSzPct val="120000"/>
              <a:buChar char="•"/>
              <a:tabLst>
                <a:tab pos="353060" algn="l"/>
                <a:tab pos="353695" algn="l"/>
              </a:tabLst>
            </a:pPr>
            <a:r>
              <a:rPr sz="2000" spc="-5" dirty="0">
                <a:latin typeface="Arial"/>
                <a:cs typeface="Arial"/>
              </a:rPr>
              <a:t>easier rewrite than</a:t>
            </a:r>
            <a:r>
              <a:rPr sz="2000" spc="10" dirty="0">
                <a:latin typeface="Arial"/>
                <a:cs typeface="Arial"/>
              </a:rPr>
              <a:t> refactor</a:t>
            </a:r>
            <a:endParaRPr sz="2000" dirty="0">
              <a:latin typeface="Arial"/>
              <a:cs typeface="Arial"/>
            </a:endParaRPr>
          </a:p>
          <a:p>
            <a:pPr marL="353060" indent="-337185">
              <a:lnSpc>
                <a:spcPct val="100000"/>
              </a:lnSpc>
              <a:spcBef>
                <a:spcPts val="600"/>
              </a:spcBef>
              <a:buClr>
                <a:srgbClr val="2C9AE5"/>
              </a:buClr>
              <a:buSzPct val="120000"/>
              <a:buChar char="•"/>
              <a:tabLst>
                <a:tab pos="353060" algn="l"/>
                <a:tab pos="353695" algn="l"/>
              </a:tabLst>
            </a:pPr>
            <a:r>
              <a:rPr sz="2000" spc="55" dirty="0">
                <a:latin typeface="Arial"/>
                <a:cs typeface="Arial"/>
              </a:rPr>
              <a:t>code </a:t>
            </a:r>
            <a:r>
              <a:rPr sz="2000" spc="15" dirty="0">
                <a:latin typeface="Arial"/>
                <a:cs typeface="Arial"/>
              </a:rPr>
              <a:t>should </a:t>
            </a:r>
            <a:r>
              <a:rPr sz="2000" spc="-5" dirty="0">
                <a:latin typeface="Arial"/>
                <a:cs typeface="Arial"/>
              </a:rPr>
              <a:t>work </a:t>
            </a:r>
            <a:r>
              <a:rPr sz="2000" spc="20" dirty="0">
                <a:latin typeface="Arial"/>
                <a:cs typeface="Arial"/>
              </a:rPr>
              <a:t>correctly </a:t>
            </a:r>
            <a:r>
              <a:rPr sz="2000" spc="15" dirty="0">
                <a:latin typeface="Arial"/>
                <a:cs typeface="Arial"/>
              </a:rPr>
              <a:t>before</a:t>
            </a:r>
            <a:r>
              <a:rPr sz="2000" spc="-85" dirty="0">
                <a:latin typeface="Arial"/>
                <a:cs typeface="Arial"/>
              </a:rPr>
              <a:t> </a:t>
            </a:r>
            <a:r>
              <a:rPr sz="2000" spc="20" dirty="0">
                <a:latin typeface="Arial"/>
                <a:cs typeface="Arial"/>
              </a:rPr>
              <a:t>refactoring</a:t>
            </a:r>
            <a:endParaRPr sz="2000" dirty="0">
              <a:latin typeface="Arial"/>
              <a:cs typeface="Arial"/>
            </a:endParaRPr>
          </a:p>
          <a:p>
            <a:pPr>
              <a:lnSpc>
                <a:spcPct val="100000"/>
              </a:lnSpc>
              <a:buClr>
                <a:srgbClr val="2C9AE5"/>
              </a:buClr>
              <a:buFont typeface="Arial"/>
              <a:buChar char="•"/>
            </a:pPr>
            <a:endParaRPr sz="2700" dirty="0">
              <a:latin typeface="Arial"/>
              <a:cs typeface="Arial"/>
            </a:endParaRPr>
          </a:p>
          <a:p>
            <a:pPr>
              <a:lnSpc>
                <a:spcPct val="100000"/>
              </a:lnSpc>
              <a:spcBef>
                <a:spcPts val="20"/>
              </a:spcBef>
              <a:buClr>
                <a:srgbClr val="2C9AE5"/>
              </a:buClr>
              <a:buFont typeface="Arial"/>
              <a:buChar char="•"/>
            </a:pPr>
            <a:endParaRPr sz="2150" dirty="0">
              <a:latin typeface="Arial"/>
              <a:cs typeface="Arial"/>
            </a:endParaRPr>
          </a:p>
          <a:p>
            <a:pPr marL="12700">
              <a:lnSpc>
                <a:spcPct val="100000"/>
              </a:lnSpc>
            </a:pPr>
            <a:r>
              <a:rPr sz="2400" spc="15" dirty="0">
                <a:latin typeface="Arial"/>
                <a:cs typeface="Arial"/>
              </a:rPr>
              <a:t>Deadline </a:t>
            </a:r>
            <a:r>
              <a:rPr sz="2400" spc="-5" dirty="0">
                <a:latin typeface="Arial"/>
                <a:cs typeface="Arial"/>
              </a:rPr>
              <a:t>is </a:t>
            </a:r>
            <a:r>
              <a:rPr sz="2400" dirty="0">
                <a:latin typeface="Arial"/>
                <a:cs typeface="Arial"/>
              </a:rPr>
              <a:t>too</a:t>
            </a:r>
            <a:r>
              <a:rPr sz="2400" spc="-20" dirty="0">
                <a:latin typeface="Arial"/>
                <a:cs typeface="Arial"/>
              </a:rPr>
              <a:t> </a:t>
            </a:r>
            <a:r>
              <a:rPr sz="2400" spc="25" dirty="0">
                <a:latin typeface="Arial"/>
                <a:cs typeface="Arial"/>
              </a:rPr>
              <a:t>close</a:t>
            </a:r>
            <a:endParaRPr sz="2400" dirty="0">
              <a:latin typeface="Arial"/>
              <a:cs typeface="Arial"/>
            </a:endParaRPr>
          </a:p>
          <a:p>
            <a:pPr marL="353060" indent="-337185">
              <a:lnSpc>
                <a:spcPct val="100000"/>
              </a:lnSpc>
              <a:spcBef>
                <a:spcPts val="1320"/>
              </a:spcBef>
              <a:buClr>
                <a:srgbClr val="2C9AE5"/>
              </a:buClr>
              <a:buSzPct val="120000"/>
              <a:buChar char="•"/>
              <a:tabLst>
                <a:tab pos="353060" algn="l"/>
                <a:tab pos="353695" algn="l"/>
              </a:tabLst>
            </a:pPr>
            <a:r>
              <a:rPr sz="2000" spc="25" dirty="0">
                <a:latin typeface="Arial"/>
                <a:cs typeface="Arial"/>
              </a:rPr>
              <a:t>postpone </a:t>
            </a:r>
            <a:r>
              <a:rPr sz="2000" spc="20" dirty="0">
                <a:latin typeface="Arial"/>
                <a:cs typeface="Arial"/>
              </a:rPr>
              <a:t>refactoring </a:t>
            </a:r>
            <a:r>
              <a:rPr sz="2000" spc="150" dirty="0">
                <a:latin typeface="Arial"/>
                <a:cs typeface="Arial"/>
              </a:rPr>
              <a:t>= </a:t>
            </a:r>
            <a:r>
              <a:rPr sz="2000" spc="20" dirty="0">
                <a:latin typeface="Arial"/>
                <a:cs typeface="Arial"/>
              </a:rPr>
              <a:t>technical</a:t>
            </a:r>
            <a:r>
              <a:rPr sz="2000" spc="-200" dirty="0">
                <a:latin typeface="Arial"/>
                <a:cs typeface="Arial"/>
              </a:rPr>
              <a:t> </a:t>
            </a:r>
            <a:r>
              <a:rPr sz="2000" spc="50" dirty="0">
                <a:latin typeface="Arial"/>
                <a:cs typeface="Arial"/>
              </a:rPr>
              <a:t>debt</a:t>
            </a:r>
            <a:endParaRPr sz="2000" dirty="0">
              <a:latin typeface="Arial"/>
              <a:cs typeface="Arial"/>
            </a:endParaRPr>
          </a:p>
        </p:txBody>
      </p:sp>
      <p:sp>
        <p:nvSpPr>
          <p:cNvPr id="4" name="object 4"/>
          <p:cNvSpPr/>
          <p:nvPr/>
        </p:nvSpPr>
        <p:spPr>
          <a:xfrm>
            <a:off x="963818" y="4292600"/>
            <a:ext cx="812797" cy="8128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946787" y="2279078"/>
            <a:ext cx="812797" cy="81280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34147" y="2666339"/>
            <a:ext cx="3355975"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FFFFFF"/>
                </a:solidFill>
                <a:latin typeface="Arial"/>
                <a:cs typeface="Arial"/>
              </a:rPr>
              <a:t>Smelling</a:t>
            </a:r>
            <a:r>
              <a:rPr sz="4000" spc="-50" dirty="0">
                <a:solidFill>
                  <a:srgbClr val="FFFFFF"/>
                </a:solidFill>
                <a:latin typeface="Arial"/>
                <a:cs typeface="Arial"/>
              </a:rPr>
              <a:t> </a:t>
            </a:r>
            <a:r>
              <a:rPr sz="4000" spc="50" dirty="0">
                <a:solidFill>
                  <a:srgbClr val="FFFFFF"/>
                </a:solidFill>
                <a:latin typeface="Arial"/>
                <a:cs typeface="Arial"/>
              </a:rPr>
              <a:t>Code</a:t>
            </a:r>
            <a:endParaRPr sz="4000" dirty="0">
              <a:latin typeface="Arial"/>
              <a:cs typeface="Arial"/>
            </a:endParaRPr>
          </a:p>
        </p:txBody>
      </p:sp>
      <p:sp>
        <p:nvSpPr>
          <p:cNvPr id="3" name="object 3"/>
          <p:cNvSpPr/>
          <p:nvPr/>
        </p:nvSpPr>
        <p:spPr>
          <a:xfrm>
            <a:off x="1372527" y="3491750"/>
            <a:ext cx="8001000" cy="3823970"/>
          </a:xfrm>
          <a:custGeom>
            <a:avLst/>
            <a:gdLst/>
            <a:ahLst/>
            <a:cxnLst/>
            <a:rect l="l" t="t" r="r" b="b"/>
            <a:pathLst>
              <a:path w="8001000" h="3823970">
                <a:moveTo>
                  <a:pt x="8001000" y="0"/>
                </a:moveTo>
                <a:lnTo>
                  <a:pt x="0" y="0"/>
                </a:lnTo>
                <a:lnTo>
                  <a:pt x="0" y="3823449"/>
                </a:lnTo>
                <a:lnTo>
                  <a:pt x="8001000" y="3823449"/>
                </a:lnTo>
                <a:lnTo>
                  <a:pt x="8001000" y="0"/>
                </a:lnTo>
                <a:close/>
              </a:path>
            </a:pathLst>
          </a:custGeom>
          <a:solidFill>
            <a:srgbClr val="E9EBE4"/>
          </a:solidFill>
        </p:spPr>
        <p:txBody>
          <a:bodyPr wrap="square" lIns="0" tIns="0" rIns="0" bIns="0" rtlCol="0"/>
          <a:lstStyle/>
          <a:p>
            <a:endParaRPr/>
          </a:p>
        </p:txBody>
      </p:sp>
      <p:sp>
        <p:nvSpPr>
          <p:cNvPr id="4" name="object 4"/>
          <p:cNvSpPr txBox="1"/>
          <p:nvPr/>
        </p:nvSpPr>
        <p:spPr>
          <a:xfrm>
            <a:off x="1652435" y="3570490"/>
            <a:ext cx="34302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a:cs typeface="Arial"/>
              </a:rPr>
              <a:t>Signs </a:t>
            </a:r>
            <a:r>
              <a:rPr sz="2400" dirty="0">
                <a:latin typeface="Arial"/>
                <a:cs typeface="Arial"/>
              </a:rPr>
              <a:t>of </a:t>
            </a:r>
            <a:r>
              <a:rPr sz="2400" spc="-5" dirty="0">
                <a:latin typeface="Arial"/>
                <a:cs typeface="Arial"/>
              </a:rPr>
              <a:t>low </a:t>
            </a:r>
            <a:r>
              <a:rPr sz="2400" spc="15" dirty="0">
                <a:latin typeface="Arial"/>
                <a:cs typeface="Arial"/>
              </a:rPr>
              <a:t>quality</a:t>
            </a:r>
            <a:r>
              <a:rPr sz="2400" spc="-25" dirty="0">
                <a:latin typeface="Arial"/>
                <a:cs typeface="Arial"/>
              </a:rPr>
              <a:t> </a:t>
            </a:r>
            <a:r>
              <a:rPr sz="2400" spc="65" dirty="0">
                <a:latin typeface="Arial"/>
                <a:cs typeface="Arial"/>
              </a:rPr>
              <a:t>code</a:t>
            </a:r>
            <a:endParaRPr sz="24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bject 26"/>
          <p:cNvSpPr txBox="1">
            <a:spLocks noGrp="1"/>
          </p:cNvSpPr>
          <p:nvPr>
            <p:ph type="title"/>
          </p:nvPr>
        </p:nvSpPr>
        <p:spPr>
          <a:xfrm>
            <a:off x="304800" y="1010589"/>
            <a:ext cx="9143999" cy="738664"/>
          </a:xfrm>
          <a:prstGeom prst="rect">
            <a:avLst/>
          </a:prstGeom>
          <a:solidFill>
            <a:srgbClr val="595959"/>
          </a:solidFill>
        </p:spPr>
        <p:txBody>
          <a:bodyPr vert="horz" wrap="square" lIns="0" tIns="182880" rIns="0" bIns="0" rtlCol="0">
            <a:spAutoFit/>
          </a:bodyPr>
          <a:lstStyle/>
          <a:p>
            <a:pPr marL="1188720" algn="l">
              <a:lnSpc>
                <a:spcPct val="100000"/>
              </a:lnSpc>
              <a:spcBef>
                <a:spcPts val="1440"/>
              </a:spcBef>
            </a:pPr>
            <a:r>
              <a:rPr spc="45" dirty="0"/>
              <a:t>Code</a:t>
            </a:r>
            <a:r>
              <a:rPr spc="-5" dirty="0"/>
              <a:t> </a:t>
            </a:r>
            <a:r>
              <a:rPr lang="en-US" spc="35" dirty="0"/>
              <a:t>Smell</a:t>
            </a:r>
            <a:endParaRPr spc="35" dirty="0"/>
          </a:p>
        </p:txBody>
      </p:sp>
      <p:sp>
        <p:nvSpPr>
          <p:cNvPr id="27" name="object 27"/>
          <p:cNvSpPr txBox="1"/>
          <p:nvPr/>
        </p:nvSpPr>
        <p:spPr>
          <a:xfrm>
            <a:off x="1219200" y="2057400"/>
            <a:ext cx="8091385" cy="5519909"/>
          </a:xfrm>
          <a:prstGeom prst="rect">
            <a:avLst/>
          </a:prstGeom>
        </p:spPr>
        <p:txBody>
          <a:bodyPr vert="horz" wrap="square" lIns="0" tIns="128270" rIns="0" bIns="0" rtlCol="0">
            <a:spAutoFit/>
          </a:bodyPr>
          <a:lstStyle/>
          <a:p>
            <a:pPr marL="342900" indent="-342900">
              <a:lnSpc>
                <a:spcPct val="250000"/>
              </a:lnSpc>
              <a:buFont typeface="Wingdings" charset="2"/>
              <a:buChar char="§"/>
            </a:pPr>
            <a:r>
              <a:rPr lang="en-US" sz="2400" dirty="0"/>
              <a:t>Code smells are indicators of problems that can be addressed during refactoring. </a:t>
            </a:r>
          </a:p>
          <a:p>
            <a:pPr marL="342900" indent="-342900">
              <a:lnSpc>
                <a:spcPct val="250000"/>
              </a:lnSpc>
              <a:buFont typeface="Wingdings" charset="2"/>
              <a:buChar char="§"/>
            </a:pPr>
            <a:r>
              <a:rPr lang="en-US" sz="2400" dirty="0"/>
              <a:t>Code smells are easy to spot and fix, but they may be just symptoms of a deeper problem with code.</a:t>
            </a:r>
          </a:p>
          <a:p>
            <a:pPr marL="342900" indent="-342900">
              <a:lnSpc>
                <a:spcPct val="250000"/>
              </a:lnSpc>
              <a:buFont typeface="Wingdings" charset="2"/>
              <a:buChar char="§"/>
            </a:pPr>
            <a:r>
              <a:rPr lang="en-US" sz="2400" b="1" dirty="0"/>
              <a:t>Code smell</a:t>
            </a:r>
            <a:r>
              <a:rPr lang="en-US" sz="2400" dirty="0"/>
              <a:t> refers to any symptom in the source code of a program that possibly indicates a deeper problem.</a:t>
            </a:r>
          </a:p>
        </p:txBody>
      </p:sp>
    </p:spTree>
    <p:extLst>
      <p:ext uri="{BB962C8B-B14F-4D97-AF65-F5344CB8AC3E}">
        <p14:creationId xmlns:p14="http://schemas.microsoft.com/office/powerpoint/2010/main" val="1584356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Types</a:t>
            </a:r>
          </a:p>
        </p:txBody>
      </p:sp>
      <p:sp>
        <p:nvSpPr>
          <p:cNvPr id="3" name="Text Placeholder 2"/>
          <p:cNvSpPr>
            <a:spLocks noGrp="1"/>
          </p:cNvSpPr>
          <p:nvPr>
            <p:ph type="body" idx="1"/>
          </p:nvPr>
        </p:nvSpPr>
        <p:spPr>
          <a:xfrm>
            <a:off x="1279867" y="2210764"/>
            <a:ext cx="7498664" cy="2000548"/>
          </a:xfrm>
        </p:spPr>
        <p:txBody>
          <a:bodyPr/>
          <a:lstStyle/>
          <a:p>
            <a:pPr marL="514350" indent="-514350">
              <a:buAutoNum type="arabicPeriod"/>
            </a:pPr>
            <a:r>
              <a:rPr lang="en-US" dirty="0">
                <a:solidFill>
                  <a:schemeClr val="tx1"/>
                </a:solidFill>
              </a:rPr>
              <a:t>Bloaters </a:t>
            </a:r>
          </a:p>
          <a:p>
            <a:pPr marL="514350" indent="-514350">
              <a:buAutoNum type="arabicPeriod"/>
            </a:pPr>
            <a:r>
              <a:rPr lang="en-US" dirty="0">
                <a:solidFill>
                  <a:schemeClr val="tx1"/>
                </a:solidFill>
              </a:rPr>
              <a:t>Object Orientation Abusers</a:t>
            </a:r>
          </a:p>
          <a:p>
            <a:pPr marL="514350" indent="-514350">
              <a:buAutoNum type="arabicPeriod"/>
            </a:pPr>
            <a:r>
              <a:rPr lang="en-US" dirty="0">
                <a:solidFill>
                  <a:schemeClr val="tx1"/>
                </a:solidFill>
              </a:rPr>
              <a:t>Change Preventers</a:t>
            </a:r>
          </a:p>
          <a:p>
            <a:pPr marL="514350" indent="-514350">
              <a:buAutoNum type="arabicPeriod"/>
            </a:pPr>
            <a:r>
              <a:rPr lang="en-US" dirty="0">
                <a:solidFill>
                  <a:schemeClr val="tx1"/>
                </a:solidFill>
              </a:rPr>
              <a:t>Dispensable</a:t>
            </a:r>
          </a:p>
          <a:p>
            <a:pPr marL="514350" indent="-514350">
              <a:buAutoNum type="arabicPeriod"/>
            </a:pPr>
            <a:r>
              <a:rPr lang="en-US" dirty="0">
                <a:solidFill>
                  <a:schemeClr val="tx1"/>
                </a:solidFill>
              </a:rPr>
              <a:t>Couplers</a:t>
            </a:r>
          </a:p>
        </p:txBody>
      </p:sp>
    </p:spTree>
    <p:extLst>
      <p:ext uri="{BB962C8B-B14F-4D97-AF65-F5344CB8AC3E}">
        <p14:creationId xmlns:p14="http://schemas.microsoft.com/office/powerpoint/2010/main" val="2035865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1101476"/>
            <a:ext cx="9142153" cy="894411"/>
          </a:xfrm>
        </p:spPr>
        <p:txBody>
          <a:bodyPr/>
          <a:lstStyle/>
          <a:p>
            <a:r>
              <a:rPr lang="en-US" dirty="0"/>
              <a:t>Types</a:t>
            </a:r>
          </a:p>
        </p:txBody>
      </p:sp>
      <p:sp>
        <p:nvSpPr>
          <p:cNvPr id="3" name="Text Placeholder 2"/>
          <p:cNvSpPr>
            <a:spLocks noGrp="1"/>
          </p:cNvSpPr>
          <p:nvPr>
            <p:ph type="body" idx="1"/>
          </p:nvPr>
        </p:nvSpPr>
        <p:spPr>
          <a:xfrm>
            <a:off x="304800" y="2210765"/>
            <a:ext cx="9601200" cy="6863417"/>
          </a:xfrm>
        </p:spPr>
        <p:txBody>
          <a:bodyPr/>
          <a:lstStyle/>
          <a:p>
            <a:r>
              <a:rPr lang="en-US" sz="2800" b="1" kern="1200" dirty="0">
                <a:solidFill>
                  <a:schemeClr val="tx1"/>
                </a:solidFill>
              </a:rPr>
              <a:t>Bloaters</a:t>
            </a:r>
            <a:r>
              <a:rPr lang="en-US" sz="2800" kern="1200" dirty="0">
                <a:solidFill>
                  <a:schemeClr val="tx1"/>
                </a:solidFill>
              </a:rPr>
              <a:t> are code, methods and classes that have increased to such huge proportions that they are hard to work with.</a:t>
            </a:r>
          </a:p>
          <a:p>
            <a:endParaRPr lang="en-US" sz="2800" kern="1200" dirty="0">
              <a:solidFill>
                <a:schemeClr val="tx1"/>
              </a:solidFill>
            </a:endParaRPr>
          </a:p>
          <a:p>
            <a:r>
              <a:rPr lang="en-US" sz="2800" b="1" kern="1200" dirty="0">
                <a:solidFill>
                  <a:schemeClr val="tx1"/>
                </a:solidFill>
              </a:rPr>
              <a:t>Object Orientation Abusers </a:t>
            </a:r>
            <a:r>
              <a:rPr lang="en-US" sz="2800" kern="1200" dirty="0">
                <a:solidFill>
                  <a:schemeClr val="tx1"/>
                </a:solidFill>
              </a:rPr>
              <a:t>are incomplete or incorrect application of object-oriented programming principles.</a:t>
            </a:r>
          </a:p>
          <a:p>
            <a:endParaRPr lang="en-US" sz="2800" kern="1200" dirty="0">
              <a:solidFill>
                <a:schemeClr val="tx1"/>
              </a:solidFill>
            </a:endParaRPr>
          </a:p>
          <a:p>
            <a:r>
              <a:rPr lang="en-US" sz="2800" b="1" kern="1200" dirty="0">
                <a:solidFill>
                  <a:schemeClr val="tx1"/>
                </a:solidFill>
              </a:rPr>
              <a:t>Change Preventers </a:t>
            </a:r>
            <a:r>
              <a:rPr lang="en-US" sz="2800" kern="1200" dirty="0">
                <a:solidFill>
                  <a:schemeClr val="tx1"/>
                </a:solidFill>
              </a:rPr>
              <a:t>smells mean that if you need to change something in one place in your code, you have to make many changes in other places too. Program development becomes much more complicated and expensive as a result</a:t>
            </a:r>
          </a:p>
          <a:p>
            <a:endParaRPr lang="en-US" sz="2800" kern="1200" dirty="0">
              <a:solidFill>
                <a:schemeClr val="tx1"/>
              </a:solidFill>
            </a:endParaRPr>
          </a:p>
          <a:p>
            <a:endParaRPr lang="en-US" sz="2800" kern="1200" dirty="0">
              <a:solidFill>
                <a:schemeClr val="tx1"/>
              </a:solidFill>
            </a:endParaRPr>
          </a:p>
          <a:p>
            <a:endParaRPr lang="en-US" sz="2800" kern="1200" dirty="0">
              <a:solidFill>
                <a:schemeClr val="tx1"/>
              </a:solidFill>
            </a:endParaRPr>
          </a:p>
          <a:p>
            <a:endParaRPr lang="en-US" sz="2800" dirty="0"/>
          </a:p>
          <a:p>
            <a:endParaRPr lang="en-US" dirty="0"/>
          </a:p>
        </p:txBody>
      </p:sp>
      <p:sp>
        <p:nvSpPr>
          <p:cNvPr id="4" name="Title 1"/>
          <p:cNvSpPr txBox="1">
            <a:spLocks/>
          </p:cNvSpPr>
          <p:nvPr/>
        </p:nvSpPr>
        <p:spPr>
          <a:xfrm>
            <a:off x="304800" y="1227012"/>
            <a:ext cx="9142153" cy="553998"/>
          </a:xfrm>
          <a:prstGeom prst="rect">
            <a:avLst/>
          </a:prstGeom>
        </p:spPr>
        <p:txBody>
          <a:bodyPr wrap="square" lIns="0" tIns="0" rIns="0" bIns="0">
            <a:spAutoFit/>
          </a:bodyPr>
          <a:lstStyle>
            <a:lvl1pPr>
              <a:defRPr sz="3600" b="0" i="0">
                <a:solidFill>
                  <a:schemeClr val="bg1"/>
                </a:solidFill>
                <a:latin typeface="Arial"/>
                <a:ea typeface="+mj-ea"/>
                <a:cs typeface="Arial"/>
              </a:defRPr>
            </a:lvl1pPr>
          </a:lstStyle>
          <a:p>
            <a:r>
              <a:rPr lang="en-US" b="1" kern="0" dirty="0">
                <a:solidFill>
                  <a:schemeClr val="tx1"/>
                </a:solidFill>
              </a:rPr>
              <a:t>Types</a:t>
            </a:r>
          </a:p>
        </p:txBody>
      </p:sp>
    </p:spTree>
    <p:extLst>
      <p:ext uri="{BB962C8B-B14F-4D97-AF65-F5344CB8AC3E}">
        <p14:creationId xmlns:p14="http://schemas.microsoft.com/office/powerpoint/2010/main" val="3355473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1061" y="1289185"/>
            <a:ext cx="4875877" cy="742011"/>
          </a:xfrm>
        </p:spPr>
        <p:txBody>
          <a:bodyPr/>
          <a:lstStyle/>
          <a:p>
            <a:endParaRPr lang="en-US" dirty="0"/>
          </a:p>
        </p:txBody>
      </p:sp>
      <p:sp>
        <p:nvSpPr>
          <p:cNvPr id="3" name="Text Placeholder 2"/>
          <p:cNvSpPr>
            <a:spLocks noGrp="1"/>
          </p:cNvSpPr>
          <p:nvPr>
            <p:ph type="body" idx="1"/>
          </p:nvPr>
        </p:nvSpPr>
        <p:spPr>
          <a:xfrm>
            <a:off x="1279867" y="2210765"/>
            <a:ext cx="7498664" cy="3847207"/>
          </a:xfrm>
        </p:spPr>
        <p:txBody>
          <a:bodyPr/>
          <a:lstStyle/>
          <a:p>
            <a:r>
              <a:rPr lang="en-US" sz="2800" kern="1200" dirty="0">
                <a:solidFill>
                  <a:schemeClr val="tx1"/>
                </a:solidFill>
              </a:rPr>
              <a:t>A </a:t>
            </a:r>
            <a:r>
              <a:rPr lang="en-US" sz="2800" b="1" kern="1200" dirty="0">
                <a:solidFill>
                  <a:schemeClr val="tx1"/>
                </a:solidFill>
              </a:rPr>
              <a:t>dispensable</a:t>
            </a:r>
            <a:r>
              <a:rPr lang="en-US" sz="2800" kern="1200" dirty="0">
                <a:solidFill>
                  <a:schemeClr val="tx1"/>
                </a:solidFill>
              </a:rPr>
              <a:t> is something pointless and unneeded whose absence would make the code cleaner, more efficient and easier to understand.</a:t>
            </a:r>
          </a:p>
          <a:p>
            <a:r>
              <a:rPr lang="en-US" sz="2800" b="1" kern="1200" dirty="0">
                <a:solidFill>
                  <a:schemeClr val="tx1"/>
                </a:solidFill>
              </a:rPr>
              <a:t>Coupler</a:t>
            </a:r>
            <a:r>
              <a:rPr lang="en-US" sz="2800" kern="1200" dirty="0">
                <a:solidFill>
                  <a:schemeClr val="tx1"/>
                </a:solidFill>
              </a:rPr>
              <a:t> smells in this group contribute to excessive coupling between classes or show what happens if coupling is replaced by excessive delegation.</a:t>
            </a:r>
          </a:p>
          <a:p>
            <a:endParaRPr lang="en-US" dirty="0"/>
          </a:p>
        </p:txBody>
      </p:sp>
      <p:sp>
        <p:nvSpPr>
          <p:cNvPr id="4" name="Title 1"/>
          <p:cNvSpPr txBox="1">
            <a:spLocks/>
          </p:cNvSpPr>
          <p:nvPr/>
        </p:nvSpPr>
        <p:spPr>
          <a:xfrm>
            <a:off x="2057400" y="1289185"/>
            <a:ext cx="9142153" cy="553998"/>
          </a:xfrm>
          <a:prstGeom prst="rect">
            <a:avLst/>
          </a:prstGeom>
        </p:spPr>
        <p:txBody>
          <a:bodyPr wrap="square" lIns="0" tIns="0" rIns="0" bIns="0">
            <a:spAutoFit/>
          </a:bodyPr>
          <a:lstStyle>
            <a:lvl1pPr>
              <a:defRPr sz="3600" b="0" i="0">
                <a:solidFill>
                  <a:schemeClr val="bg1"/>
                </a:solidFill>
                <a:latin typeface="Arial"/>
                <a:ea typeface="+mj-ea"/>
                <a:cs typeface="Arial"/>
              </a:defRPr>
            </a:lvl1pPr>
          </a:lstStyle>
          <a:p>
            <a:r>
              <a:rPr lang="en-US" kern="0" dirty="0">
                <a:solidFill>
                  <a:schemeClr val="tx1"/>
                </a:solidFill>
              </a:rPr>
              <a:t>Types</a:t>
            </a:r>
          </a:p>
        </p:txBody>
      </p:sp>
    </p:spTree>
    <p:extLst>
      <p:ext uri="{BB962C8B-B14F-4D97-AF65-F5344CB8AC3E}">
        <p14:creationId xmlns:p14="http://schemas.microsoft.com/office/powerpoint/2010/main" val="1206018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50707" y="2152345"/>
            <a:ext cx="3439160" cy="1284605"/>
            <a:chOff x="2050707" y="2152345"/>
            <a:chExt cx="3439160" cy="1284605"/>
          </a:xfrm>
        </p:grpSpPr>
        <p:sp>
          <p:nvSpPr>
            <p:cNvPr id="3" name="object 3"/>
            <p:cNvSpPr/>
            <p:nvPr/>
          </p:nvSpPr>
          <p:spPr>
            <a:xfrm>
              <a:off x="206340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4" name="object 4"/>
            <p:cNvSpPr/>
            <p:nvPr/>
          </p:nvSpPr>
          <p:spPr>
            <a:xfrm>
              <a:off x="206340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5" name="object 5"/>
            <p:cNvSpPr/>
            <p:nvPr/>
          </p:nvSpPr>
          <p:spPr>
            <a:xfrm>
              <a:off x="2154847" y="2651760"/>
              <a:ext cx="914400" cy="436880"/>
            </a:xfrm>
            <a:custGeom>
              <a:avLst/>
              <a:gdLst/>
              <a:ahLst/>
              <a:cxnLst/>
              <a:rect l="l" t="t" r="r" b="b"/>
              <a:pathLst>
                <a:path w="914400" h="436880">
                  <a:moveTo>
                    <a:pt x="914400" y="0"/>
                  </a:moveTo>
                  <a:lnTo>
                    <a:pt x="0" y="0"/>
                  </a:lnTo>
                  <a:lnTo>
                    <a:pt x="0" y="436879"/>
                  </a:lnTo>
                  <a:lnTo>
                    <a:pt x="914400" y="436879"/>
                  </a:lnTo>
                  <a:lnTo>
                    <a:pt x="914400" y="0"/>
                  </a:lnTo>
                  <a:close/>
                </a:path>
              </a:pathLst>
            </a:custGeom>
            <a:solidFill>
              <a:srgbClr val="FF7E79"/>
            </a:solidFill>
          </p:spPr>
          <p:txBody>
            <a:bodyPr wrap="square" lIns="0" tIns="0" rIns="0" bIns="0" rtlCol="0"/>
            <a:lstStyle/>
            <a:p>
              <a:endParaRPr/>
            </a:p>
          </p:txBody>
        </p:sp>
        <p:sp>
          <p:nvSpPr>
            <p:cNvPr id="6" name="object 6"/>
            <p:cNvSpPr/>
            <p:nvPr/>
          </p:nvSpPr>
          <p:spPr>
            <a:xfrm>
              <a:off x="2154847" y="22656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7" name="object 7"/>
            <p:cNvSpPr/>
            <p:nvPr/>
          </p:nvSpPr>
          <p:spPr>
            <a:xfrm>
              <a:off x="2154847" y="24180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8" name="object 8"/>
            <p:cNvSpPr/>
            <p:nvPr/>
          </p:nvSpPr>
          <p:spPr>
            <a:xfrm>
              <a:off x="2154847" y="25704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9" name="object 9"/>
            <p:cNvSpPr/>
            <p:nvPr/>
          </p:nvSpPr>
          <p:spPr>
            <a:xfrm>
              <a:off x="2154847" y="27228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0" name="object 10"/>
            <p:cNvSpPr/>
            <p:nvPr/>
          </p:nvSpPr>
          <p:spPr>
            <a:xfrm>
              <a:off x="2154847" y="28549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1" name="object 11"/>
            <p:cNvSpPr/>
            <p:nvPr/>
          </p:nvSpPr>
          <p:spPr>
            <a:xfrm>
              <a:off x="2154847" y="300736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2" name="object 12"/>
            <p:cNvSpPr/>
            <p:nvPr/>
          </p:nvSpPr>
          <p:spPr>
            <a:xfrm>
              <a:off x="2154847" y="31597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3" name="object 13"/>
            <p:cNvSpPr/>
            <p:nvPr/>
          </p:nvSpPr>
          <p:spPr>
            <a:xfrm>
              <a:off x="2154847" y="33121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4" name="object 14"/>
            <p:cNvSpPr/>
            <p:nvPr/>
          </p:nvSpPr>
          <p:spPr>
            <a:xfrm>
              <a:off x="439004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15" name="object 15"/>
            <p:cNvSpPr/>
            <p:nvPr/>
          </p:nvSpPr>
          <p:spPr>
            <a:xfrm>
              <a:off x="439004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16" name="object 16"/>
            <p:cNvSpPr/>
            <p:nvPr/>
          </p:nvSpPr>
          <p:spPr>
            <a:xfrm>
              <a:off x="4481487" y="2357120"/>
              <a:ext cx="914400" cy="436880"/>
            </a:xfrm>
            <a:custGeom>
              <a:avLst/>
              <a:gdLst/>
              <a:ahLst/>
              <a:cxnLst/>
              <a:rect l="l" t="t" r="r" b="b"/>
              <a:pathLst>
                <a:path w="914400" h="436880">
                  <a:moveTo>
                    <a:pt x="914400" y="0"/>
                  </a:moveTo>
                  <a:lnTo>
                    <a:pt x="0" y="0"/>
                  </a:lnTo>
                  <a:lnTo>
                    <a:pt x="0" y="436879"/>
                  </a:lnTo>
                  <a:lnTo>
                    <a:pt x="914400" y="436879"/>
                  </a:lnTo>
                  <a:lnTo>
                    <a:pt x="914400" y="0"/>
                  </a:lnTo>
                  <a:close/>
                </a:path>
              </a:pathLst>
            </a:custGeom>
            <a:solidFill>
              <a:srgbClr val="FF7E79"/>
            </a:solidFill>
          </p:spPr>
          <p:txBody>
            <a:bodyPr wrap="square" lIns="0" tIns="0" rIns="0" bIns="0" rtlCol="0"/>
            <a:lstStyle/>
            <a:p>
              <a:endParaRPr/>
            </a:p>
          </p:txBody>
        </p:sp>
        <p:sp>
          <p:nvSpPr>
            <p:cNvPr id="17" name="object 17"/>
            <p:cNvSpPr/>
            <p:nvPr/>
          </p:nvSpPr>
          <p:spPr>
            <a:xfrm>
              <a:off x="4481486" y="22656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8" name="object 18"/>
            <p:cNvSpPr/>
            <p:nvPr/>
          </p:nvSpPr>
          <p:spPr>
            <a:xfrm>
              <a:off x="4481486" y="24180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9" name="object 19"/>
            <p:cNvSpPr/>
            <p:nvPr/>
          </p:nvSpPr>
          <p:spPr>
            <a:xfrm>
              <a:off x="4481486" y="25704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0" name="object 20"/>
            <p:cNvSpPr/>
            <p:nvPr/>
          </p:nvSpPr>
          <p:spPr>
            <a:xfrm>
              <a:off x="4481486" y="27228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1" name="object 21"/>
            <p:cNvSpPr/>
            <p:nvPr/>
          </p:nvSpPr>
          <p:spPr>
            <a:xfrm>
              <a:off x="4481486" y="28549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2" name="object 22"/>
            <p:cNvSpPr/>
            <p:nvPr/>
          </p:nvSpPr>
          <p:spPr>
            <a:xfrm>
              <a:off x="4481486" y="300736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3" name="object 23"/>
            <p:cNvSpPr/>
            <p:nvPr/>
          </p:nvSpPr>
          <p:spPr>
            <a:xfrm>
              <a:off x="4481486" y="31597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4" name="object 24"/>
            <p:cNvSpPr/>
            <p:nvPr/>
          </p:nvSpPr>
          <p:spPr>
            <a:xfrm>
              <a:off x="4481486" y="33121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5" name="object 25"/>
            <p:cNvSpPr/>
            <p:nvPr/>
          </p:nvSpPr>
          <p:spPr>
            <a:xfrm>
              <a:off x="3090367" y="2435821"/>
              <a:ext cx="1370330" cy="548005"/>
            </a:xfrm>
            <a:custGeom>
              <a:avLst/>
              <a:gdLst/>
              <a:ahLst/>
              <a:cxnLst/>
              <a:rect l="l" t="t" r="r" b="b"/>
              <a:pathLst>
                <a:path w="1370329" h="548005">
                  <a:moveTo>
                    <a:pt x="1199324" y="0"/>
                  </a:moveTo>
                  <a:lnTo>
                    <a:pt x="1216405" y="68249"/>
                  </a:lnTo>
                  <a:lnTo>
                    <a:pt x="119430" y="342772"/>
                  </a:lnTo>
                  <a:lnTo>
                    <a:pt x="102349" y="274523"/>
                  </a:lnTo>
                  <a:lnTo>
                    <a:pt x="0" y="445185"/>
                  </a:lnTo>
                  <a:lnTo>
                    <a:pt x="170662" y="547535"/>
                  </a:lnTo>
                  <a:lnTo>
                    <a:pt x="153581" y="479285"/>
                  </a:lnTo>
                  <a:lnTo>
                    <a:pt x="1250568" y="204749"/>
                  </a:lnTo>
                  <a:lnTo>
                    <a:pt x="1267650" y="273011"/>
                  </a:lnTo>
                  <a:lnTo>
                    <a:pt x="1369987" y="102336"/>
                  </a:lnTo>
                  <a:lnTo>
                    <a:pt x="1199324" y="0"/>
                  </a:lnTo>
                  <a:close/>
                </a:path>
              </a:pathLst>
            </a:custGeom>
            <a:solidFill>
              <a:srgbClr val="FF7E79"/>
            </a:solidFill>
          </p:spPr>
          <p:txBody>
            <a:bodyPr wrap="square" lIns="0" tIns="0" rIns="0" bIns="0" rtlCol="0"/>
            <a:lstStyle/>
            <a:p>
              <a:endParaRPr/>
            </a:p>
          </p:txBody>
        </p:sp>
      </p:grpSp>
      <p:sp>
        <p:nvSpPr>
          <p:cNvPr id="26" name="object 26"/>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45" dirty="0"/>
              <a:t>Code</a:t>
            </a:r>
            <a:r>
              <a:rPr spc="-5" dirty="0"/>
              <a:t> </a:t>
            </a:r>
            <a:r>
              <a:rPr spc="35" dirty="0"/>
              <a:t>Duplication</a:t>
            </a:r>
          </a:p>
        </p:txBody>
      </p:sp>
      <p:sp>
        <p:nvSpPr>
          <p:cNvPr id="27" name="object 27"/>
          <p:cNvSpPr txBox="1"/>
          <p:nvPr/>
        </p:nvSpPr>
        <p:spPr>
          <a:xfrm>
            <a:off x="458123" y="3859276"/>
            <a:ext cx="9066877" cy="2976456"/>
          </a:xfrm>
          <a:prstGeom prst="rect">
            <a:avLst/>
          </a:prstGeom>
        </p:spPr>
        <p:txBody>
          <a:bodyPr vert="horz" wrap="square" lIns="0" tIns="128270" rIns="0" bIns="0" rtlCol="0">
            <a:spAutoFit/>
          </a:bodyPr>
          <a:lstStyle/>
          <a:p>
            <a:pPr marL="355600" indent="-342900">
              <a:lnSpc>
                <a:spcPct val="100000"/>
              </a:lnSpc>
              <a:spcBef>
                <a:spcPts val="1010"/>
              </a:spcBef>
              <a:buClr>
                <a:srgbClr val="2C9AE5"/>
              </a:buClr>
              <a:buSzPct val="118750"/>
              <a:buChar char="•"/>
              <a:tabLst>
                <a:tab pos="354965" algn="l"/>
                <a:tab pos="355600" algn="l"/>
              </a:tabLst>
            </a:pPr>
            <a:r>
              <a:rPr lang="en-US" sz="2400" dirty="0"/>
              <a:t>The same code structure appears in multiple places.</a:t>
            </a:r>
          </a:p>
          <a:p>
            <a:pPr marL="355600" indent="-342900">
              <a:lnSpc>
                <a:spcPct val="100000"/>
              </a:lnSpc>
              <a:spcBef>
                <a:spcPts val="1010"/>
              </a:spcBef>
              <a:buClr>
                <a:srgbClr val="2C9AE5"/>
              </a:buClr>
              <a:buSzPct val="118750"/>
              <a:buChar char="•"/>
              <a:tabLst>
                <a:tab pos="354965" algn="l"/>
                <a:tab pos="355600" algn="l"/>
              </a:tabLst>
            </a:pPr>
            <a:r>
              <a:rPr lang="en-US" sz="2400" dirty="0"/>
              <a:t>Two code fragments look almost identical.</a:t>
            </a:r>
            <a:endParaRPr lang="en-US" sz="2400" spc="-45" dirty="0">
              <a:latin typeface="Arial"/>
              <a:cs typeface="Arial"/>
            </a:endParaRPr>
          </a:p>
          <a:p>
            <a:pPr marL="355600" indent="-342900">
              <a:lnSpc>
                <a:spcPct val="100000"/>
              </a:lnSpc>
              <a:spcBef>
                <a:spcPts val="1010"/>
              </a:spcBef>
              <a:buClr>
                <a:srgbClr val="2C9AE5"/>
              </a:buClr>
              <a:buSzPct val="118750"/>
              <a:buChar char="•"/>
              <a:tabLst>
                <a:tab pos="354965" algn="l"/>
                <a:tab pos="355600" algn="l"/>
              </a:tabLst>
            </a:pPr>
            <a:r>
              <a:rPr lang="en-US" sz="2400" dirty="0"/>
              <a:t>Duplication usually occurs when multiple programmers are working on different parts of the same program at the same time. </a:t>
            </a:r>
          </a:p>
          <a:p>
            <a:pPr marL="355600" indent="-342900">
              <a:lnSpc>
                <a:spcPct val="100000"/>
              </a:lnSpc>
              <a:spcBef>
                <a:spcPts val="1010"/>
              </a:spcBef>
              <a:buClr>
                <a:srgbClr val="2C9AE5"/>
              </a:buClr>
              <a:buSzPct val="118750"/>
              <a:buChar char="•"/>
              <a:tabLst>
                <a:tab pos="354965" algn="l"/>
                <a:tab pos="355600" algn="l"/>
              </a:tabLst>
            </a:pPr>
            <a:r>
              <a:rPr lang="en-US" sz="2400" dirty="0"/>
              <a:t>Reason </a:t>
            </a:r>
            <a:r>
              <a:rPr lang="en-US" sz="2000" dirty="0"/>
              <a:t>Since they’re working on different tasks, they may be unaware their colleague has already written similar code that could be repurposed for their own needs.</a:t>
            </a:r>
            <a:endParaRPr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Code Duplication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4200" y="1981200"/>
            <a:ext cx="6350000" cy="3810000"/>
          </a:xfrm>
          <a:prstGeom prst="rect">
            <a:avLst/>
          </a:prstGeom>
        </p:spPr>
      </p:pic>
    </p:spTree>
    <p:extLst>
      <p:ext uri="{BB962C8B-B14F-4D97-AF65-F5344CB8AC3E}">
        <p14:creationId xmlns:p14="http://schemas.microsoft.com/office/powerpoint/2010/main" val="177519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t>L</a:t>
            </a:r>
            <a:r>
              <a:rPr lang="en-US" dirty="0">
                <a:solidFill>
                  <a:schemeClr val="tx1"/>
                </a:solidFill>
              </a:rPr>
              <a:t> Lazy Class</a:t>
            </a:r>
            <a:endParaRPr lang="en-US" dirty="0"/>
          </a:p>
        </p:txBody>
      </p:sp>
      <p:sp>
        <p:nvSpPr>
          <p:cNvPr id="3" name="Text Placeholder 2"/>
          <p:cNvSpPr>
            <a:spLocks noGrp="1"/>
          </p:cNvSpPr>
          <p:nvPr>
            <p:ph type="body" idx="1"/>
          </p:nvPr>
        </p:nvSpPr>
        <p:spPr>
          <a:xfrm>
            <a:off x="1279867" y="2210765"/>
            <a:ext cx="7498664" cy="1200329"/>
          </a:xfrm>
        </p:spPr>
        <p:txBody>
          <a:bodyPr/>
          <a:lstStyle/>
          <a:p>
            <a:r>
              <a:rPr lang="en-US" dirty="0">
                <a:solidFill>
                  <a:schemeClr val="tx1"/>
                </a:solidFill>
              </a:rPr>
              <a:t>Understanding and maintaining classes always costs time and money. So if a class doesn’t do enough to earn your attention, it should be deleted</a:t>
            </a:r>
            <a:r>
              <a:rPr lang="en-US" dirty="0"/>
              <a:t>.</a:t>
            </a:r>
          </a:p>
        </p:txBody>
      </p:sp>
      <p:pic>
        <p:nvPicPr>
          <p:cNvPr id="4" name="Picture 3"/>
          <p:cNvPicPr>
            <a:picLocks noChangeAspect="1"/>
          </p:cNvPicPr>
          <p:nvPr/>
        </p:nvPicPr>
        <p:blipFill>
          <a:blip r:embed="rId3"/>
          <a:stretch>
            <a:fillRect/>
          </a:stretch>
        </p:blipFill>
        <p:spPr>
          <a:xfrm>
            <a:off x="2047874" y="3959807"/>
            <a:ext cx="5962650" cy="2943225"/>
          </a:xfrm>
          <a:prstGeom prst="rect">
            <a:avLst/>
          </a:prstGeom>
        </p:spPr>
      </p:pic>
    </p:spTree>
    <p:extLst>
      <p:ext uri="{BB962C8B-B14F-4D97-AF65-F5344CB8AC3E}">
        <p14:creationId xmlns:p14="http://schemas.microsoft.com/office/powerpoint/2010/main" val="4045335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15" dirty="0"/>
              <a:t>Speculative</a:t>
            </a:r>
            <a:r>
              <a:rPr spc="-5" dirty="0"/>
              <a:t> Generality</a:t>
            </a:r>
          </a:p>
        </p:txBody>
      </p:sp>
      <p:sp>
        <p:nvSpPr>
          <p:cNvPr id="3" name="object 3"/>
          <p:cNvSpPr txBox="1"/>
          <p:nvPr/>
        </p:nvSpPr>
        <p:spPr>
          <a:xfrm>
            <a:off x="1008844" y="3599496"/>
            <a:ext cx="4853940" cy="3277820"/>
          </a:xfrm>
          <a:prstGeom prst="rect">
            <a:avLst/>
          </a:prstGeom>
        </p:spPr>
        <p:txBody>
          <a:bodyPr vert="horz" wrap="square" lIns="0" tIns="177800" rIns="0" bIns="0" rtlCol="0">
            <a:spAutoFit/>
          </a:bodyPr>
          <a:lstStyle/>
          <a:p>
            <a:pPr marL="12700">
              <a:lnSpc>
                <a:spcPct val="100000"/>
              </a:lnSpc>
              <a:spcBef>
                <a:spcPts val="1400"/>
              </a:spcBef>
            </a:pPr>
            <a:r>
              <a:rPr sz="2400" spc="-70" dirty="0">
                <a:solidFill>
                  <a:srgbClr val="262626"/>
                </a:solidFill>
                <a:latin typeface="Arial"/>
                <a:cs typeface="Arial"/>
              </a:rPr>
              <a:t>We </a:t>
            </a:r>
            <a:r>
              <a:rPr sz="2400" spc="30" dirty="0">
                <a:solidFill>
                  <a:srgbClr val="262626"/>
                </a:solidFill>
                <a:latin typeface="Arial"/>
                <a:cs typeface="Arial"/>
              </a:rPr>
              <a:t>need </a:t>
            </a:r>
            <a:r>
              <a:rPr sz="2400" dirty="0">
                <a:solidFill>
                  <a:srgbClr val="262626"/>
                </a:solidFill>
                <a:latin typeface="Arial"/>
                <a:cs typeface="Arial"/>
              </a:rPr>
              <a:t>this </a:t>
            </a:r>
            <a:r>
              <a:rPr sz="2400" spc="10" dirty="0">
                <a:solidFill>
                  <a:srgbClr val="262626"/>
                </a:solidFill>
                <a:latin typeface="Arial"/>
                <a:cs typeface="Arial"/>
              </a:rPr>
              <a:t>functionality</a:t>
            </a:r>
            <a:r>
              <a:rPr sz="2400" spc="-15" dirty="0">
                <a:solidFill>
                  <a:srgbClr val="262626"/>
                </a:solidFill>
                <a:latin typeface="Arial"/>
                <a:cs typeface="Arial"/>
              </a:rPr>
              <a:t> </a:t>
            </a:r>
            <a:r>
              <a:rPr sz="2400" spc="15" dirty="0">
                <a:solidFill>
                  <a:srgbClr val="262626"/>
                </a:solidFill>
                <a:latin typeface="Arial"/>
                <a:cs typeface="Arial"/>
              </a:rPr>
              <a:t>someday</a:t>
            </a:r>
            <a:endParaRPr sz="2400" dirty="0">
              <a:latin typeface="Arial"/>
              <a:cs typeface="Arial"/>
            </a:endParaRPr>
          </a:p>
          <a:p>
            <a:pPr marL="355600" indent="-342900">
              <a:lnSpc>
                <a:spcPct val="100000"/>
              </a:lnSpc>
              <a:spcBef>
                <a:spcPts val="2040"/>
              </a:spcBef>
              <a:buClr>
                <a:srgbClr val="2C9AE5"/>
              </a:buClr>
              <a:buSzPct val="118750"/>
              <a:buChar char="•"/>
              <a:tabLst>
                <a:tab pos="354965" algn="l"/>
                <a:tab pos="355600" algn="l"/>
              </a:tabLst>
            </a:pPr>
            <a:r>
              <a:rPr lang="en-US" sz="2400" dirty="0"/>
              <a:t>Sometimes code is created “just in case” to support anticipated future features that never get implemented. </a:t>
            </a:r>
          </a:p>
          <a:p>
            <a:pPr marL="355600" indent="-342900">
              <a:lnSpc>
                <a:spcPct val="100000"/>
              </a:lnSpc>
              <a:spcBef>
                <a:spcPts val="2040"/>
              </a:spcBef>
              <a:buClr>
                <a:srgbClr val="2C9AE5"/>
              </a:buClr>
              <a:buSzPct val="118750"/>
              <a:buChar char="•"/>
              <a:tabLst>
                <a:tab pos="354965" algn="l"/>
                <a:tab pos="355600" algn="l"/>
              </a:tabLst>
            </a:pPr>
            <a:r>
              <a:rPr lang="en-US" sz="2400" dirty="0"/>
              <a:t>As a result, code becomes hard to understand and support.</a:t>
            </a:r>
            <a:endParaRPr sz="2000" dirty="0">
              <a:latin typeface="Arial"/>
              <a:cs typeface="Arial"/>
            </a:endParaRPr>
          </a:p>
        </p:txBody>
      </p:sp>
      <p:grpSp>
        <p:nvGrpSpPr>
          <p:cNvPr id="4" name="object 4"/>
          <p:cNvGrpSpPr/>
          <p:nvPr/>
        </p:nvGrpSpPr>
        <p:grpSpPr>
          <a:xfrm>
            <a:off x="2050707" y="2152345"/>
            <a:ext cx="3439160" cy="1284605"/>
            <a:chOff x="2050707" y="2152345"/>
            <a:chExt cx="3439160" cy="1284605"/>
          </a:xfrm>
        </p:grpSpPr>
        <p:sp>
          <p:nvSpPr>
            <p:cNvPr id="5" name="object 5"/>
            <p:cNvSpPr/>
            <p:nvPr/>
          </p:nvSpPr>
          <p:spPr>
            <a:xfrm>
              <a:off x="206340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6" name="object 6"/>
            <p:cNvSpPr/>
            <p:nvPr/>
          </p:nvSpPr>
          <p:spPr>
            <a:xfrm>
              <a:off x="206340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7" name="object 7"/>
            <p:cNvSpPr/>
            <p:nvPr/>
          </p:nvSpPr>
          <p:spPr>
            <a:xfrm>
              <a:off x="3150527" y="2683624"/>
              <a:ext cx="1239520" cy="223520"/>
            </a:xfrm>
            <a:custGeom>
              <a:avLst/>
              <a:gdLst/>
              <a:ahLst/>
              <a:cxnLst/>
              <a:rect l="l" t="t" r="r" b="b"/>
              <a:pathLst>
                <a:path w="1239520" h="223519">
                  <a:moveTo>
                    <a:pt x="1127759" y="0"/>
                  </a:moveTo>
                  <a:lnTo>
                    <a:pt x="1127759" y="55879"/>
                  </a:lnTo>
                  <a:lnTo>
                    <a:pt x="0" y="55879"/>
                  </a:lnTo>
                  <a:lnTo>
                    <a:pt x="0" y="167639"/>
                  </a:lnTo>
                  <a:lnTo>
                    <a:pt x="1127759" y="167639"/>
                  </a:lnTo>
                  <a:lnTo>
                    <a:pt x="1127759" y="223519"/>
                  </a:lnTo>
                  <a:lnTo>
                    <a:pt x="1239520" y="111759"/>
                  </a:lnTo>
                  <a:lnTo>
                    <a:pt x="1127759" y="0"/>
                  </a:lnTo>
                  <a:close/>
                </a:path>
              </a:pathLst>
            </a:custGeom>
            <a:solidFill>
              <a:srgbClr val="B0CF1A"/>
            </a:solidFill>
          </p:spPr>
          <p:txBody>
            <a:bodyPr wrap="square" lIns="0" tIns="0" rIns="0" bIns="0" rtlCol="0"/>
            <a:lstStyle/>
            <a:p>
              <a:endParaRPr/>
            </a:p>
          </p:txBody>
        </p:sp>
        <p:sp>
          <p:nvSpPr>
            <p:cNvPr id="8" name="object 8"/>
            <p:cNvSpPr/>
            <p:nvPr/>
          </p:nvSpPr>
          <p:spPr>
            <a:xfrm>
              <a:off x="439004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9" name="object 9"/>
            <p:cNvSpPr/>
            <p:nvPr/>
          </p:nvSpPr>
          <p:spPr>
            <a:xfrm>
              <a:off x="439004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grpSp>
      <p:graphicFrame>
        <p:nvGraphicFramePr>
          <p:cNvPr id="10" name="object 10"/>
          <p:cNvGraphicFramePr>
            <a:graphicFrameLocks noGrp="1"/>
          </p:cNvGraphicFramePr>
          <p:nvPr/>
        </p:nvGraphicFramePr>
        <p:xfrm>
          <a:off x="2142146" y="2252979"/>
          <a:ext cx="914400" cy="104647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tblGrid>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0"/>
                  </a:ext>
                </a:extLst>
              </a:tr>
              <a:tr h="152399">
                <a:tc>
                  <a:txBody>
                    <a:bodyPr/>
                    <a:lstStyle/>
                    <a:p>
                      <a:pPr>
                        <a:lnSpc>
                          <a:spcPct val="100000"/>
                        </a:lnSpc>
                      </a:pPr>
                      <a:endParaRPr sz="800" dirty="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1"/>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2"/>
                  </a:ext>
                </a:extLst>
              </a:tr>
              <a:tr h="132079">
                <a:tc>
                  <a:txBody>
                    <a:bodyPr/>
                    <a:lstStyle/>
                    <a:p>
                      <a:pPr>
                        <a:lnSpc>
                          <a:spcPct val="100000"/>
                        </a:lnSpc>
                      </a:pPr>
                      <a:endParaRPr sz="7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3"/>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4"/>
                  </a:ext>
                </a:extLst>
              </a:tr>
              <a:tr h="152399">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5"/>
                  </a:ext>
                </a:extLst>
              </a:tr>
              <a:tr h="152400">
                <a:tc>
                  <a:txBody>
                    <a:bodyPr/>
                    <a:lstStyle/>
                    <a:p>
                      <a:pPr>
                        <a:lnSpc>
                          <a:spcPct val="100000"/>
                        </a:lnSpc>
                      </a:pPr>
                      <a:endParaRPr sz="800" dirty="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6"/>
                  </a:ext>
                </a:extLst>
              </a:tr>
            </a:tbl>
          </a:graphicData>
        </a:graphic>
      </p:graphicFrame>
      <p:graphicFrame>
        <p:nvGraphicFramePr>
          <p:cNvPr id="11" name="object 11"/>
          <p:cNvGraphicFramePr>
            <a:graphicFrameLocks noGrp="1"/>
          </p:cNvGraphicFramePr>
          <p:nvPr/>
        </p:nvGraphicFramePr>
        <p:xfrm>
          <a:off x="4481486" y="2479039"/>
          <a:ext cx="914400" cy="60959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tblGrid>
              <a:tr h="102984">
                <a:tc>
                  <a:txBody>
                    <a:bodyPr/>
                    <a:lstStyle/>
                    <a:p>
                      <a:pPr>
                        <a:lnSpc>
                          <a:spcPct val="100000"/>
                        </a:lnSpc>
                      </a:pPr>
                      <a:endParaRPr sz="500">
                        <a:latin typeface="Times New Roman"/>
                        <a:cs typeface="Times New Roman"/>
                      </a:endParaRPr>
                    </a:p>
                  </a:txBody>
                  <a:tcPr marL="0" marR="0" marT="0" marB="0">
                    <a:lnB w="28575">
                      <a:solidFill>
                        <a:srgbClr val="919191"/>
                      </a:solidFill>
                      <a:prstDash val="solid"/>
                    </a:lnB>
                    <a:solidFill>
                      <a:srgbClr val="B0CF1A"/>
                    </a:solidFill>
                  </a:tcPr>
                </a:tc>
                <a:extLst>
                  <a:ext uri="{0D108BD9-81ED-4DB2-BD59-A6C34878D82A}">
                    <a16:rowId xmlns:a16="http://schemas.microsoft.com/office/drawing/2014/main" val="10000"/>
                  </a:ext>
                </a:extLst>
              </a:tr>
              <a:tr h="140855">
                <a:tc>
                  <a:txBody>
                    <a:bodyPr/>
                    <a:lstStyle/>
                    <a:p>
                      <a:pPr>
                        <a:lnSpc>
                          <a:spcPct val="100000"/>
                        </a:lnSpc>
                      </a:pPr>
                      <a:endParaRPr sz="7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B0CF1A"/>
                    </a:solidFill>
                  </a:tcPr>
                </a:tc>
                <a:extLst>
                  <a:ext uri="{0D108BD9-81ED-4DB2-BD59-A6C34878D82A}">
                    <a16:rowId xmlns:a16="http://schemas.microsoft.com/office/drawing/2014/main" val="10001"/>
                  </a:ext>
                </a:extLst>
              </a:tr>
              <a:tr h="132079">
                <a:tc>
                  <a:txBody>
                    <a:bodyPr/>
                    <a:lstStyle/>
                    <a:p>
                      <a:pPr>
                        <a:lnSpc>
                          <a:spcPct val="100000"/>
                        </a:lnSpc>
                      </a:pPr>
                      <a:endParaRPr sz="7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B0CF1A"/>
                    </a:solidFill>
                  </a:tcPr>
                </a:tc>
                <a:extLst>
                  <a:ext uri="{0D108BD9-81ED-4DB2-BD59-A6C34878D82A}">
                    <a16:rowId xmlns:a16="http://schemas.microsoft.com/office/drawing/2014/main" val="10002"/>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B0CF1A"/>
                    </a:solidFill>
                  </a:tcPr>
                </a:tc>
                <a:extLst>
                  <a:ext uri="{0D108BD9-81ED-4DB2-BD59-A6C34878D82A}">
                    <a16:rowId xmlns:a16="http://schemas.microsoft.com/office/drawing/2014/main" val="10003"/>
                  </a:ext>
                </a:extLst>
              </a:tr>
              <a:tr h="81279">
                <a:tc>
                  <a:txBody>
                    <a:bodyPr/>
                    <a:lstStyle/>
                    <a:p>
                      <a:pPr>
                        <a:lnSpc>
                          <a:spcPct val="100000"/>
                        </a:lnSpc>
                      </a:pPr>
                      <a:endParaRPr sz="300" dirty="0">
                        <a:latin typeface="Times New Roman"/>
                        <a:cs typeface="Times New Roman"/>
                      </a:endParaRPr>
                    </a:p>
                  </a:txBody>
                  <a:tcPr marL="0" marR="0" marT="0" marB="0">
                    <a:lnT w="28575">
                      <a:solidFill>
                        <a:srgbClr val="919191"/>
                      </a:solidFill>
                      <a:prstDash val="solid"/>
                    </a:lnT>
                    <a:solidFill>
                      <a:srgbClr val="B0CF1A"/>
                    </a:solidFill>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3"/>
          <a:srcRect/>
          <a:stretch>
            <a:fillRect/>
          </a:stretch>
        </p:blipFill>
        <p:spPr bwMode="auto">
          <a:xfrm>
            <a:off x="5862784" y="2209800"/>
            <a:ext cx="3695554" cy="3552825"/>
          </a:xfrm>
          <a:prstGeom prst="rect">
            <a:avLst/>
          </a:prstGeom>
          <a:noFill/>
          <a:ln w="9525">
            <a:noFill/>
            <a:miter lim="800000"/>
            <a:headEnd/>
            <a:tailEnd/>
          </a:ln>
          <a:effectLst/>
        </p:spPr>
      </p:pic>
      <p:sp>
        <p:nvSpPr>
          <p:cNvPr id="12" name="TextBox 11"/>
          <p:cNvSpPr txBox="1"/>
          <p:nvPr/>
        </p:nvSpPr>
        <p:spPr>
          <a:xfrm>
            <a:off x="7597850" y="5736284"/>
            <a:ext cx="908326" cy="338554"/>
          </a:xfrm>
          <a:prstGeom prst="rect">
            <a:avLst/>
          </a:prstGeom>
          <a:noFill/>
        </p:spPr>
        <p:txBody>
          <a:bodyPr wrap="none" rtlCol="0">
            <a:spAutoFit/>
          </a:bodyPr>
          <a:lstStyle/>
          <a:p>
            <a:r>
              <a:rPr lang="en-US" sz="1600" b="1" i="1"/>
              <a:t>Example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50707" y="2152345"/>
            <a:ext cx="1800860" cy="1284605"/>
            <a:chOff x="2050707" y="2152345"/>
            <a:chExt cx="1800860" cy="1284605"/>
          </a:xfrm>
        </p:grpSpPr>
        <p:sp>
          <p:nvSpPr>
            <p:cNvPr id="3" name="object 3"/>
            <p:cNvSpPr/>
            <p:nvPr/>
          </p:nvSpPr>
          <p:spPr>
            <a:xfrm>
              <a:off x="206340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4" name="object 4"/>
            <p:cNvSpPr/>
            <p:nvPr/>
          </p:nvSpPr>
          <p:spPr>
            <a:xfrm>
              <a:off x="206340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5" name="object 5"/>
            <p:cNvSpPr/>
            <p:nvPr/>
          </p:nvSpPr>
          <p:spPr>
            <a:xfrm>
              <a:off x="3106648" y="2301150"/>
              <a:ext cx="745490" cy="948690"/>
            </a:xfrm>
            <a:custGeom>
              <a:avLst/>
              <a:gdLst/>
              <a:ahLst/>
              <a:cxnLst/>
              <a:rect l="l" t="t" r="r" b="b"/>
              <a:pathLst>
                <a:path w="745489" h="948689">
                  <a:moveTo>
                    <a:pt x="676465" y="65735"/>
                  </a:moveTo>
                  <a:lnTo>
                    <a:pt x="532726" y="0"/>
                  </a:lnTo>
                  <a:lnTo>
                    <a:pt x="552234" y="52362"/>
                  </a:lnTo>
                  <a:lnTo>
                    <a:pt x="0" y="258000"/>
                  </a:lnTo>
                  <a:lnTo>
                    <a:pt x="38989" y="362737"/>
                  </a:lnTo>
                  <a:lnTo>
                    <a:pt x="591235" y="157099"/>
                  </a:lnTo>
                  <a:lnTo>
                    <a:pt x="610730" y="209461"/>
                  </a:lnTo>
                  <a:lnTo>
                    <a:pt x="676465" y="65735"/>
                  </a:lnTo>
                  <a:close/>
                </a:path>
                <a:path w="745489" h="948689">
                  <a:moveTo>
                    <a:pt x="694613" y="873480"/>
                  </a:moveTo>
                  <a:lnTo>
                    <a:pt x="619683" y="734326"/>
                  </a:lnTo>
                  <a:lnTo>
                    <a:pt x="603631" y="787844"/>
                  </a:lnTo>
                  <a:lnTo>
                    <a:pt x="39204" y="618515"/>
                  </a:lnTo>
                  <a:lnTo>
                    <a:pt x="7086" y="725563"/>
                  </a:lnTo>
                  <a:lnTo>
                    <a:pt x="571512" y="894892"/>
                  </a:lnTo>
                  <a:lnTo>
                    <a:pt x="555459" y="948410"/>
                  </a:lnTo>
                  <a:lnTo>
                    <a:pt x="694613" y="873480"/>
                  </a:lnTo>
                  <a:close/>
                </a:path>
                <a:path w="745489" h="948689">
                  <a:moveTo>
                    <a:pt x="744918" y="482688"/>
                  </a:moveTo>
                  <a:lnTo>
                    <a:pt x="633158" y="370928"/>
                  </a:lnTo>
                  <a:lnTo>
                    <a:pt x="633158" y="426808"/>
                  </a:lnTo>
                  <a:lnTo>
                    <a:pt x="43878" y="426808"/>
                  </a:lnTo>
                  <a:lnTo>
                    <a:pt x="43878" y="538568"/>
                  </a:lnTo>
                  <a:lnTo>
                    <a:pt x="633158" y="538568"/>
                  </a:lnTo>
                  <a:lnTo>
                    <a:pt x="633158" y="594448"/>
                  </a:lnTo>
                  <a:lnTo>
                    <a:pt x="744918" y="482688"/>
                  </a:lnTo>
                  <a:close/>
                </a:path>
              </a:pathLst>
            </a:custGeom>
            <a:solidFill>
              <a:srgbClr val="B0CF1A"/>
            </a:solidFill>
          </p:spPr>
          <p:txBody>
            <a:bodyPr wrap="square" lIns="0" tIns="0" rIns="0" bIns="0" rtlCol="0"/>
            <a:lstStyle/>
            <a:p>
              <a:endParaRPr/>
            </a:p>
          </p:txBody>
        </p:sp>
      </p:grpSp>
      <p:sp>
        <p:nvSpPr>
          <p:cNvPr id="6" name="object 6"/>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45" dirty="0"/>
              <a:t>Long</a:t>
            </a:r>
            <a:r>
              <a:rPr spc="-5" dirty="0"/>
              <a:t> </a:t>
            </a:r>
            <a:r>
              <a:rPr spc="30" dirty="0"/>
              <a:t>Method</a:t>
            </a:r>
          </a:p>
        </p:txBody>
      </p:sp>
      <p:sp>
        <p:nvSpPr>
          <p:cNvPr id="7" name="object 7"/>
          <p:cNvSpPr txBox="1"/>
          <p:nvPr/>
        </p:nvSpPr>
        <p:spPr>
          <a:xfrm>
            <a:off x="1219200" y="3676181"/>
            <a:ext cx="7111708" cy="3080330"/>
          </a:xfrm>
          <a:prstGeom prst="rect">
            <a:avLst/>
          </a:prstGeom>
        </p:spPr>
        <p:txBody>
          <a:bodyPr vert="horz" wrap="square" lIns="0" tIns="12700" rIns="0" bIns="0" rtlCol="0">
            <a:spAutoFit/>
          </a:bodyPr>
          <a:lstStyle/>
          <a:p>
            <a:pPr marL="355600" indent="-342900">
              <a:lnSpc>
                <a:spcPct val="100000"/>
              </a:lnSpc>
              <a:spcBef>
                <a:spcPts val="100"/>
              </a:spcBef>
              <a:buClr>
                <a:srgbClr val="2C9AE5"/>
              </a:buClr>
              <a:buSzPct val="118750"/>
              <a:buChar char="•"/>
              <a:tabLst>
                <a:tab pos="354965" algn="l"/>
                <a:tab pos="355600" algn="l"/>
              </a:tabLst>
            </a:pPr>
            <a:r>
              <a:rPr lang="en-US" sz="2400" spc="-5" dirty="0">
                <a:solidFill>
                  <a:srgbClr val="262626"/>
                </a:solidFill>
                <a:latin typeface="Arial"/>
                <a:cs typeface="Arial"/>
              </a:rPr>
              <a:t>A method contains too many lines of code. </a:t>
            </a:r>
          </a:p>
          <a:p>
            <a:pPr marL="355600" indent="-342900">
              <a:lnSpc>
                <a:spcPct val="100000"/>
              </a:lnSpc>
              <a:spcBef>
                <a:spcPts val="100"/>
              </a:spcBef>
              <a:buClr>
                <a:srgbClr val="2C9AE5"/>
              </a:buClr>
              <a:buSzPct val="118750"/>
              <a:buChar char="•"/>
              <a:tabLst>
                <a:tab pos="354965" algn="l"/>
                <a:tab pos="355600" algn="l"/>
              </a:tabLst>
            </a:pPr>
            <a:r>
              <a:rPr lang="en-US" sz="2400" spc="-5" dirty="0">
                <a:solidFill>
                  <a:srgbClr val="262626"/>
                </a:solidFill>
                <a:latin typeface="Arial"/>
                <a:cs typeface="Arial"/>
              </a:rPr>
              <a:t>Generally, any method longer than ten lines should make you start asking questions.</a:t>
            </a:r>
          </a:p>
          <a:p>
            <a:pPr marL="355600" indent="-342900">
              <a:lnSpc>
                <a:spcPct val="100000"/>
              </a:lnSpc>
              <a:spcBef>
                <a:spcPts val="100"/>
              </a:spcBef>
              <a:buClr>
                <a:srgbClr val="2C9AE5"/>
              </a:buClr>
              <a:buSzPct val="118750"/>
              <a:buChar char="•"/>
              <a:tabLst>
                <a:tab pos="354965" algn="l"/>
                <a:tab pos="355600" algn="l"/>
              </a:tabLst>
            </a:pPr>
            <a:r>
              <a:rPr lang="en-US" sz="2400" spc="-5" dirty="0">
                <a:solidFill>
                  <a:srgbClr val="262626"/>
                </a:solidFill>
                <a:latin typeface="Arial"/>
                <a:cs typeface="Arial"/>
              </a:rPr>
              <a:t>Reason:</a:t>
            </a:r>
          </a:p>
          <a:p>
            <a:pPr marL="812800" lvl="1" indent="-342900">
              <a:spcBef>
                <a:spcPts val="100"/>
              </a:spcBef>
              <a:buClr>
                <a:srgbClr val="2C9AE5"/>
              </a:buClr>
              <a:buSzPct val="118750"/>
              <a:buChar char="•"/>
              <a:tabLst>
                <a:tab pos="354965" algn="l"/>
                <a:tab pos="355600" algn="l"/>
              </a:tabLst>
            </a:pPr>
            <a:r>
              <a:rPr lang="en-US" sz="2000" dirty="0"/>
              <a:t>Something is always being added to a method but nothing is ever taken out. </a:t>
            </a:r>
          </a:p>
          <a:p>
            <a:pPr marL="812800" lvl="1" indent="-342900">
              <a:spcBef>
                <a:spcPts val="100"/>
              </a:spcBef>
              <a:buClr>
                <a:srgbClr val="2C9AE5"/>
              </a:buClr>
              <a:buSzPct val="118750"/>
              <a:buChar char="•"/>
              <a:tabLst>
                <a:tab pos="354965" algn="l"/>
                <a:tab pos="355600" algn="l"/>
              </a:tabLst>
            </a:pPr>
            <a:r>
              <a:rPr lang="en-US" sz="2000" dirty="0"/>
              <a:t>Since it’s easier to write code than to read it, this “smell” remains unnoticed until the method turns into an ugly, oversized beast.</a:t>
            </a:r>
            <a:endParaRPr sz="2000" dirty="0">
              <a:latin typeface="Arial"/>
              <a:cs typeface="Arial"/>
            </a:endParaRPr>
          </a:p>
        </p:txBody>
      </p:sp>
      <p:graphicFrame>
        <p:nvGraphicFramePr>
          <p:cNvPr id="8" name="object 8"/>
          <p:cNvGraphicFramePr>
            <a:graphicFrameLocks noGrp="1"/>
          </p:cNvGraphicFramePr>
          <p:nvPr/>
        </p:nvGraphicFramePr>
        <p:xfrm>
          <a:off x="2142146" y="2252979"/>
          <a:ext cx="914400" cy="1046477"/>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tblGrid>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0"/>
                  </a:ext>
                </a:extLst>
              </a:tr>
              <a:tr h="152399">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1"/>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2"/>
                  </a:ext>
                </a:extLst>
              </a:tr>
              <a:tr h="132079">
                <a:tc>
                  <a:txBody>
                    <a:bodyPr/>
                    <a:lstStyle/>
                    <a:p>
                      <a:pPr>
                        <a:lnSpc>
                          <a:spcPct val="100000"/>
                        </a:lnSpc>
                      </a:pPr>
                      <a:endParaRPr sz="7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3"/>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4"/>
                  </a:ext>
                </a:extLst>
              </a:tr>
              <a:tr h="152399">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5"/>
                  </a:ext>
                </a:extLst>
              </a:tr>
              <a:tr h="152400">
                <a:tc>
                  <a:txBody>
                    <a:bodyPr/>
                    <a:lstStyle/>
                    <a:p>
                      <a:pPr>
                        <a:lnSpc>
                          <a:spcPct val="100000"/>
                        </a:lnSpc>
                      </a:pPr>
                      <a:endParaRPr sz="800">
                        <a:latin typeface="Times New Roman"/>
                        <a:cs typeface="Times New Roman"/>
                      </a:endParaRPr>
                    </a:p>
                  </a:txBody>
                  <a:tcPr marL="0" marR="0" marT="0" marB="0">
                    <a:lnT w="28575">
                      <a:solidFill>
                        <a:srgbClr val="919191"/>
                      </a:solidFill>
                      <a:prstDash val="solid"/>
                    </a:lnT>
                    <a:lnB w="28575">
                      <a:solidFill>
                        <a:srgbClr val="919191"/>
                      </a:solidFill>
                      <a:prstDash val="solid"/>
                    </a:lnB>
                    <a:solidFill>
                      <a:srgbClr val="FF7E7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45" dirty="0"/>
              <a:t>Long</a:t>
            </a:r>
            <a:r>
              <a:rPr spc="-5" dirty="0"/>
              <a:t> </a:t>
            </a:r>
            <a:r>
              <a:rPr spc="30" dirty="0"/>
              <a:t>Method</a:t>
            </a:r>
          </a:p>
        </p:txBody>
      </p:sp>
      <p:sp>
        <p:nvSpPr>
          <p:cNvPr id="7" name="object 7"/>
          <p:cNvSpPr txBox="1"/>
          <p:nvPr/>
        </p:nvSpPr>
        <p:spPr>
          <a:xfrm>
            <a:off x="762000" y="2590800"/>
            <a:ext cx="7111708" cy="3806170"/>
          </a:xfrm>
          <a:prstGeom prst="rect">
            <a:avLst/>
          </a:prstGeom>
        </p:spPr>
        <p:txBody>
          <a:bodyPr vert="horz" wrap="square" lIns="0" tIns="12700" rIns="0" bIns="0" rtlCol="0">
            <a:spAutoFit/>
          </a:bodyPr>
          <a:lstStyle/>
          <a:p>
            <a:pPr marL="355600" indent="-342900">
              <a:lnSpc>
                <a:spcPct val="100000"/>
              </a:lnSpc>
              <a:spcBef>
                <a:spcPts val="100"/>
              </a:spcBef>
              <a:buClr>
                <a:srgbClr val="2C9AE5"/>
              </a:buClr>
              <a:buSzPct val="118750"/>
              <a:buChar char="•"/>
              <a:tabLst>
                <a:tab pos="354965" algn="l"/>
                <a:tab pos="355600" algn="l"/>
              </a:tabLst>
            </a:pPr>
            <a:r>
              <a:rPr lang="en-US" sz="2400" spc="-5" dirty="0">
                <a:solidFill>
                  <a:srgbClr val="262626"/>
                </a:solidFill>
                <a:latin typeface="Arial"/>
                <a:cs typeface="Arial"/>
              </a:rPr>
              <a:t>Treatment:</a:t>
            </a:r>
          </a:p>
          <a:p>
            <a:pPr marL="812800" lvl="1" indent="-342900">
              <a:lnSpc>
                <a:spcPct val="200000"/>
              </a:lnSpc>
              <a:spcBef>
                <a:spcPts val="100"/>
              </a:spcBef>
              <a:buClr>
                <a:srgbClr val="2C9AE5"/>
              </a:buClr>
              <a:buSzPct val="118750"/>
              <a:buChar char="•"/>
              <a:tabLst>
                <a:tab pos="354965" algn="l"/>
                <a:tab pos="355600" algn="l"/>
              </a:tabLst>
            </a:pPr>
            <a:r>
              <a:rPr lang="en-US" sz="2000" dirty="0"/>
              <a:t>As a rule of thumb, if you feel the need to comment on something inside a method, you should take this code and put it in a new method. </a:t>
            </a:r>
          </a:p>
          <a:p>
            <a:pPr marL="812800" lvl="1" indent="-342900">
              <a:lnSpc>
                <a:spcPct val="200000"/>
              </a:lnSpc>
              <a:spcBef>
                <a:spcPts val="100"/>
              </a:spcBef>
              <a:buClr>
                <a:srgbClr val="2C9AE5"/>
              </a:buClr>
              <a:buSzPct val="118750"/>
              <a:buChar char="•"/>
              <a:tabLst>
                <a:tab pos="354965" algn="l"/>
                <a:tab pos="355600" algn="l"/>
              </a:tabLst>
            </a:pPr>
            <a:r>
              <a:rPr lang="en-US" sz="2000" dirty="0"/>
              <a:t>Even a single line can and should be split off into a separate method, if it requires explanations.</a:t>
            </a:r>
            <a:endParaRPr lang="en-US" sz="2000" spc="-5" dirty="0">
              <a:solidFill>
                <a:srgbClr val="262626"/>
              </a:solidFill>
              <a:latin typeface="Arial"/>
              <a:cs typeface="Arial"/>
            </a:endParaRPr>
          </a:p>
          <a:p>
            <a:pPr marL="355600" indent="-342900">
              <a:lnSpc>
                <a:spcPct val="100000"/>
              </a:lnSpc>
              <a:spcBef>
                <a:spcPts val="100"/>
              </a:spcBef>
              <a:buClr>
                <a:srgbClr val="2C9AE5"/>
              </a:buClr>
              <a:buSzPct val="118750"/>
              <a:buChar char="•"/>
              <a:tabLst>
                <a:tab pos="354965" algn="l"/>
                <a:tab pos="355600" algn="l"/>
              </a:tabLst>
            </a:pPr>
            <a:endParaRPr sz="2000" dirty="0">
              <a:latin typeface="Arial"/>
              <a:cs typeface="Arial"/>
            </a:endParaRPr>
          </a:p>
        </p:txBody>
      </p:sp>
    </p:spTree>
    <p:extLst>
      <p:ext uri="{BB962C8B-B14F-4D97-AF65-F5344CB8AC3E}">
        <p14:creationId xmlns:p14="http://schemas.microsoft.com/office/powerpoint/2010/main" val="1358985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0100"/>
            <a:ext cx="10058400" cy="3608599"/>
          </a:xfrm>
          <a:prstGeom prst="rect">
            <a:avLst/>
          </a:prstGeom>
        </p:spPr>
      </p:pic>
      <p:sp>
        <p:nvSpPr>
          <p:cNvPr id="5" name="object 6"/>
          <p:cNvSpPr txBox="1">
            <a:spLocks noGrp="1"/>
          </p:cNvSpPr>
          <p:nvPr>
            <p:ph type="title"/>
          </p:nvPr>
        </p:nvSpPr>
        <p:spPr>
          <a:xfrm>
            <a:off x="458123" y="1010589"/>
            <a:ext cx="8914130" cy="738664"/>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45" dirty="0"/>
              <a:t>Long</a:t>
            </a:r>
            <a:r>
              <a:rPr spc="-5" dirty="0"/>
              <a:t> </a:t>
            </a:r>
            <a:r>
              <a:rPr spc="30" dirty="0"/>
              <a:t>Method</a:t>
            </a:r>
            <a:r>
              <a:rPr lang="en-US" spc="30" dirty="0"/>
              <a:t> Example</a:t>
            </a:r>
            <a:endParaRPr spc="30" dirty="0"/>
          </a:p>
        </p:txBody>
      </p:sp>
    </p:spTree>
    <p:extLst>
      <p:ext uri="{BB962C8B-B14F-4D97-AF65-F5344CB8AC3E}">
        <p14:creationId xmlns:p14="http://schemas.microsoft.com/office/powerpoint/2010/main" val="1274816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Long Parameter List</a:t>
            </a:r>
          </a:p>
        </p:txBody>
      </p:sp>
      <p:pic>
        <p:nvPicPr>
          <p:cNvPr id="4" name="Picture 3"/>
          <p:cNvPicPr>
            <a:picLocks noChangeAspect="1"/>
          </p:cNvPicPr>
          <p:nvPr/>
        </p:nvPicPr>
        <p:blipFill>
          <a:blip r:embed="rId3"/>
          <a:stretch>
            <a:fillRect/>
          </a:stretch>
        </p:blipFill>
        <p:spPr>
          <a:xfrm>
            <a:off x="2290762" y="2490787"/>
            <a:ext cx="5476875" cy="2790825"/>
          </a:xfrm>
          <a:prstGeom prst="rect">
            <a:avLst/>
          </a:prstGeom>
        </p:spPr>
      </p:pic>
      <p:sp>
        <p:nvSpPr>
          <p:cNvPr id="3" name="Text Placeholder 2"/>
          <p:cNvSpPr>
            <a:spLocks noGrp="1"/>
          </p:cNvSpPr>
          <p:nvPr>
            <p:ph type="body" idx="1"/>
          </p:nvPr>
        </p:nvSpPr>
        <p:spPr>
          <a:xfrm>
            <a:off x="1279867" y="2210765"/>
            <a:ext cx="7498664" cy="400110"/>
          </a:xfrm>
        </p:spPr>
        <p:txBody>
          <a:bodyPr/>
          <a:lstStyle/>
          <a:p>
            <a:r>
              <a:rPr lang="en-US" dirty="0">
                <a:solidFill>
                  <a:schemeClr val="tx1"/>
                </a:solidFill>
              </a:rPr>
              <a:t>More than three or four parameters for a method</a:t>
            </a:r>
            <a:r>
              <a:rPr lang="en-US" dirty="0"/>
              <a:t>.</a:t>
            </a:r>
          </a:p>
        </p:txBody>
      </p:sp>
    </p:spTree>
    <p:extLst>
      <p:ext uri="{BB962C8B-B14F-4D97-AF65-F5344CB8AC3E}">
        <p14:creationId xmlns:p14="http://schemas.microsoft.com/office/powerpoint/2010/main" val="707894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123" y="1010589"/>
            <a:ext cx="8914130" cy="914400"/>
          </a:xfrm>
          <a:prstGeom prst="rect">
            <a:avLst/>
          </a:prstGeom>
          <a:solidFill>
            <a:srgbClr val="595959"/>
          </a:solidFill>
        </p:spPr>
        <p:txBody>
          <a:bodyPr vert="horz" wrap="square" lIns="0" tIns="182880" rIns="0" bIns="0" rtlCol="0">
            <a:spAutoFit/>
          </a:bodyPr>
          <a:lstStyle/>
          <a:p>
            <a:pPr marL="1188720">
              <a:lnSpc>
                <a:spcPct val="100000"/>
              </a:lnSpc>
              <a:spcBef>
                <a:spcPts val="1440"/>
              </a:spcBef>
            </a:pPr>
            <a:r>
              <a:rPr spc="45" dirty="0"/>
              <a:t>Inappropriate</a:t>
            </a:r>
            <a:r>
              <a:rPr spc="-5" dirty="0"/>
              <a:t> </a:t>
            </a:r>
            <a:r>
              <a:rPr spc="25" dirty="0"/>
              <a:t>Intimacy</a:t>
            </a:r>
          </a:p>
        </p:txBody>
      </p:sp>
      <p:sp>
        <p:nvSpPr>
          <p:cNvPr id="3" name="object 3"/>
          <p:cNvSpPr txBox="1"/>
          <p:nvPr/>
        </p:nvSpPr>
        <p:spPr>
          <a:xfrm>
            <a:off x="838200" y="3444240"/>
            <a:ext cx="7110387" cy="2934137"/>
          </a:xfrm>
          <a:prstGeom prst="rect">
            <a:avLst/>
          </a:prstGeom>
        </p:spPr>
        <p:txBody>
          <a:bodyPr vert="horz" wrap="square" lIns="0" tIns="177800" rIns="0" bIns="0" rtlCol="0">
            <a:spAutoFit/>
          </a:bodyPr>
          <a:lstStyle/>
          <a:p>
            <a:pPr marL="355600" indent="-342900">
              <a:lnSpc>
                <a:spcPct val="100000"/>
              </a:lnSpc>
              <a:spcBef>
                <a:spcPts val="1400"/>
              </a:spcBef>
              <a:buFont typeface="Arial" charset="0"/>
              <a:buChar char="•"/>
            </a:pPr>
            <a:r>
              <a:rPr lang="en-US" sz="2400" dirty="0"/>
              <a:t>Too closely coupled</a:t>
            </a:r>
          </a:p>
          <a:p>
            <a:pPr marL="355600" indent="-342900">
              <a:lnSpc>
                <a:spcPct val="100000"/>
              </a:lnSpc>
              <a:spcBef>
                <a:spcPts val="1400"/>
              </a:spcBef>
              <a:buFont typeface="Arial" charset="0"/>
              <a:buChar char="•"/>
            </a:pPr>
            <a:r>
              <a:rPr lang="en-US" sz="2400" dirty="0"/>
              <a:t>Keep a close eye on classes that spend too much time together. </a:t>
            </a:r>
          </a:p>
          <a:p>
            <a:pPr marL="355600" indent="-342900">
              <a:lnSpc>
                <a:spcPct val="100000"/>
              </a:lnSpc>
              <a:spcBef>
                <a:spcPts val="1400"/>
              </a:spcBef>
              <a:buFont typeface="Arial" charset="0"/>
              <a:buChar char="•"/>
            </a:pPr>
            <a:r>
              <a:rPr lang="en-US" sz="2400" dirty="0"/>
              <a:t>Good classes should know as little about each other as possible. </a:t>
            </a:r>
          </a:p>
          <a:p>
            <a:pPr marL="355600" indent="-342900">
              <a:lnSpc>
                <a:spcPct val="100000"/>
              </a:lnSpc>
              <a:spcBef>
                <a:spcPts val="1400"/>
              </a:spcBef>
              <a:buFont typeface="Arial" charset="0"/>
              <a:buChar char="•"/>
            </a:pPr>
            <a:r>
              <a:rPr lang="en-US" sz="2400" dirty="0"/>
              <a:t>Such classes are easier to maintain and reuse.</a:t>
            </a:r>
            <a:endParaRPr sz="2000" dirty="0">
              <a:latin typeface="Arial"/>
              <a:cs typeface="Arial"/>
            </a:endParaRPr>
          </a:p>
        </p:txBody>
      </p:sp>
      <p:grpSp>
        <p:nvGrpSpPr>
          <p:cNvPr id="4" name="object 4"/>
          <p:cNvGrpSpPr/>
          <p:nvPr/>
        </p:nvGrpSpPr>
        <p:grpSpPr>
          <a:xfrm>
            <a:off x="2050707" y="2152345"/>
            <a:ext cx="3439160" cy="1284605"/>
            <a:chOff x="2050707" y="2152345"/>
            <a:chExt cx="3439160" cy="1284605"/>
          </a:xfrm>
        </p:grpSpPr>
        <p:sp>
          <p:nvSpPr>
            <p:cNvPr id="5" name="object 5"/>
            <p:cNvSpPr/>
            <p:nvPr/>
          </p:nvSpPr>
          <p:spPr>
            <a:xfrm>
              <a:off x="206340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6" name="object 6"/>
            <p:cNvSpPr/>
            <p:nvPr/>
          </p:nvSpPr>
          <p:spPr>
            <a:xfrm>
              <a:off x="206340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7" name="object 7"/>
            <p:cNvSpPr/>
            <p:nvPr/>
          </p:nvSpPr>
          <p:spPr>
            <a:xfrm>
              <a:off x="2154847" y="22656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8" name="object 8"/>
            <p:cNvSpPr/>
            <p:nvPr/>
          </p:nvSpPr>
          <p:spPr>
            <a:xfrm>
              <a:off x="2154847" y="24180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9" name="object 9"/>
            <p:cNvSpPr/>
            <p:nvPr/>
          </p:nvSpPr>
          <p:spPr>
            <a:xfrm>
              <a:off x="2154847" y="25704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0" name="object 10"/>
            <p:cNvSpPr/>
            <p:nvPr/>
          </p:nvSpPr>
          <p:spPr>
            <a:xfrm>
              <a:off x="2154847" y="27228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1" name="object 11"/>
            <p:cNvSpPr/>
            <p:nvPr/>
          </p:nvSpPr>
          <p:spPr>
            <a:xfrm>
              <a:off x="2154847" y="28549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2" name="object 12"/>
            <p:cNvSpPr/>
            <p:nvPr/>
          </p:nvSpPr>
          <p:spPr>
            <a:xfrm>
              <a:off x="2154847" y="300736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3" name="object 13"/>
            <p:cNvSpPr/>
            <p:nvPr/>
          </p:nvSpPr>
          <p:spPr>
            <a:xfrm>
              <a:off x="2154847" y="31597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4" name="object 14"/>
            <p:cNvSpPr/>
            <p:nvPr/>
          </p:nvSpPr>
          <p:spPr>
            <a:xfrm>
              <a:off x="2154847" y="33121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5" name="object 15"/>
            <p:cNvSpPr/>
            <p:nvPr/>
          </p:nvSpPr>
          <p:spPr>
            <a:xfrm>
              <a:off x="3160687" y="2296160"/>
              <a:ext cx="701040" cy="121920"/>
            </a:xfrm>
            <a:custGeom>
              <a:avLst/>
              <a:gdLst/>
              <a:ahLst/>
              <a:cxnLst/>
              <a:rect l="l" t="t" r="r" b="b"/>
              <a:pathLst>
                <a:path w="701039" h="121919">
                  <a:moveTo>
                    <a:pt x="60960" y="0"/>
                  </a:moveTo>
                  <a:lnTo>
                    <a:pt x="0" y="60960"/>
                  </a:lnTo>
                  <a:lnTo>
                    <a:pt x="60960" y="121919"/>
                  </a:lnTo>
                  <a:lnTo>
                    <a:pt x="60960" y="91439"/>
                  </a:lnTo>
                  <a:lnTo>
                    <a:pt x="701039" y="91439"/>
                  </a:lnTo>
                  <a:lnTo>
                    <a:pt x="701039" y="30479"/>
                  </a:lnTo>
                  <a:lnTo>
                    <a:pt x="60960" y="30479"/>
                  </a:lnTo>
                  <a:lnTo>
                    <a:pt x="60960" y="0"/>
                  </a:lnTo>
                  <a:close/>
                </a:path>
              </a:pathLst>
            </a:custGeom>
            <a:solidFill>
              <a:srgbClr val="FF7E79"/>
            </a:solidFill>
          </p:spPr>
          <p:txBody>
            <a:bodyPr wrap="square" lIns="0" tIns="0" rIns="0" bIns="0" rtlCol="0"/>
            <a:lstStyle/>
            <a:p>
              <a:endParaRPr/>
            </a:p>
          </p:txBody>
        </p:sp>
        <p:sp>
          <p:nvSpPr>
            <p:cNvPr id="16" name="object 16"/>
            <p:cNvSpPr/>
            <p:nvPr/>
          </p:nvSpPr>
          <p:spPr>
            <a:xfrm>
              <a:off x="4390047" y="2165045"/>
              <a:ext cx="1087120" cy="1259205"/>
            </a:xfrm>
            <a:custGeom>
              <a:avLst/>
              <a:gdLst/>
              <a:ahLst/>
              <a:cxnLst/>
              <a:rect l="l" t="t" r="r" b="b"/>
              <a:pathLst>
                <a:path w="1087120" h="1259204">
                  <a:moveTo>
                    <a:pt x="1087120" y="0"/>
                  </a:moveTo>
                  <a:lnTo>
                    <a:pt x="0" y="0"/>
                  </a:lnTo>
                  <a:lnTo>
                    <a:pt x="0" y="1258874"/>
                  </a:lnTo>
                  <a:lnTo>
                    <a:pt x="1087120" y="1258874"/>
                  </a:lnTo>
                  <a:lnTo>
                    <a:pt x="1087120" y="0"/>
                  </a:lnTo>
                  <a:close/>
                </a:path>
              </a:pathLst>
            </a:custGeom>
            <a:solidFill>
              <a:srgbClr val="8ECDF2"/>
            </a:solidFill>
          </p:spPr>
          <p:txBody>
            <a:bodyPr wrap="square" lIns="0" tIns="0" rIns="0" bIns="0" rtlCol="0"/>
            <a:lstStyle/>
            <a:p>
              <a:endParaRPr/>
            </a:p>
          </p:txBody>
        </p:sp>
        <p:sp>
          <p:nvSpPr>
            <p:cNvPr id="17" name="object 17"/>
            <p:cNvSpPr/>
            <p:nvPr/>
          </p:nvSpPr>
          <p:spPr>
            <a:xfrm>
              <a:off x="4390047" y="2165045"/>
              <a:ext cx="1087120" cy="1259205"/>
            </a:xfrm>
            <a:custGeom>
              <a:avLst/>
              <a:gdLst/>
              <a:ahLst/>
              <a:cxnLst/>
              <a:rect l="l" t="t" r="r" b="b"/>
              <a:pathLst>
                <a:path w="1087120" h="1259204">
                  <a:moveTo>
                    <a:pt x="0" y="0"/>
                  </a:moveTo>
                  <a:lnTo>
                    <a:pt x="1087119" y="0"/>
                  </a:lnTo>
                  <a:lnTo>
                    <a:pt x="1087119" y="1258868"/>
                  </a:lnTo>
                  <a:lnTo>
                    <a:pt x="0" y="1258868"/>
                  </a:lnTo>
                  <a:lnTo>
                    <a:pt x="0" y="0"/>
                  </a:lnTo>
                  <a:close/>
                </a:path>
              </a:pathLst>
            </a:custGeom>
            <a:ln w="25399">
              <a:solidFill>
                <a:srgbClr val="919191"/>
              </a:solidFill>
            </a:ln>
          </p:spPr>
          <p:txBody>
            <a:bodyPr wrap="square" lIns="0" tIns="0" rIns="0" bIns="0" rtlCol="0"/>
            <a:lstStyle/>
            <a:p>
              <a:endParaRPr/>
            </a:p>
          </p:txBody>
        </p:sp>
        <p:sp>
          <p:nvSpPr>
            <p:cNvPr id="18" name="object 18"/>
            <p:cNvSpPr/>
            <p:nvPr/>
          </p:nvSpPr>
          <p:spPr>
            <a:xfrm>
              <a:off x="4481486" y="22656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19" name="object 19"/>
            <p:cNvSpPr/>
            <p:nvPr/>
          </p:nvSpPr>
          <p:spPr>
            <a:xfrm>
              <a:off x="4481486" y="24180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0" name="object 20"/>
            <p:cNvSpPr/>
            <p:nvPr/>
          </p:nvSpPr>
          <p:spPr>
            <a:xfrm>
              <a:off x="4481486" y="257047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1" name="object 21"/>
            <p:cNvSpPr/>
            <p:nvPr/>
          </p:nvSpPr>
          <p:spPr>
            <a:xfrm>
              <a:off x="4481486" y="272288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2" name="object 22"/>
            <p:cNvSpPr/>
            <p:nvPr/>
          </p:nvSpPr>
          <p:spPr>
            <a:xfrm>
              <a:off x="4481486" y="28549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3" name="object 23"/>
            <p:cNvSpPr/>
            <p:nvPr/>
          </p:nvSpPr>
          <p:spPr>
            <a:xfrm>
              <a:off x="4481486" y="3007360"/>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4" name="object 24"/>
            <p:cNvSpPr/>
            <p:nvPr/>
          </p:nvSpPr>
          <p:spPr>
            <a:xfrm>
              <a:off x="4481486" y="31597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5" name="object 25"/>
            <p:cNvSpPr/>
            <p:nvPr/>
          </p:nvSpPr>
          <p:spPr>
            <a:xfrm>
              <a:off x="4481486" y="3312159"/>
              <a:ext cx="914400" cy="0"/>
            </a:xfrm>
            <a:custGeom>
              <a:avLst/>
              <a:gdLst/>
              <a:ahLst/>
              <a:cxnLst/>
              <a:rect l="l" t="t" r="r" b="b"/>
              <a:pathLst>
                <a:path w="914400">
                  <a:moveTo>
                    <a:pt x="0" y="0"/>
                  </a:moveTo>
                  <a:lnTo>
                    <a:pt x="914399" y="1"/>
                  </a:lnTo>
                </a:path>
              </a:pathLst>
            </a:custGeom>
            <a:ln w="25399">
              <a:solidFill>
                <a:srgbClr val="919191"/>
              </a:solidFill>
            </a:ln>
          </p:spPr>
          <p:txBody>
            <a:bodyPr wrap="square" lIns="0" tIns="0" rIns="0" bIns="0" rtlCol="0"/>
            <a:lstStyle/>
            <a:p>
              <a:endParaRPr/>
            </a:p>
          </p:txBody>
        </p:sp>
        <p:sp>
          <p:nvSpPr>
            <p:cNvPr id="26" name="object 26"/>
            <p:cNvSpPr/>
            <p:nvPr/>
          </p:nvSpPr>
          <p:spPr>
            <a:xfrm>
              <a:off x="3150527" y="2296159"/>
              <a:ext cx="1229360" cy="965200"/>
            </a:xfrm>
            <a:custGeom>
              <a:avLst/>
              <a:gdLst/>
              <a:ahLst/>
              <a:cxnLst/>
              <a:rect l="l" t="t" r="r" b="b"/>
              <a:pathLst>
                <a:path w="1229360" h="965200">
                  <a:moveTo>
                    <a:pt x="1219200" y="619760"/>
                  </a:moveTo>
                  <a:lnTo>
                    <a:pt x="1158240" y="558800"/>
                  </a:lnTo>
                  <a:lnTo>
                    <a:pt x="1158240" y="589280"/>
                  </a:lnTo>
                  <a:lnTo>
                    <a:pt x="701040" y="589280"/>
                  </a:lnTo>
                  <a:lnTo>
                    <a:pt x="518160" y="589280"/>
                  </a:lnTo>
                  <a:lnTo>
                    <a:pt x="60960" y="589280"/>
                  </a:lnTo>
                  <a:lnTo>
                    <a:pt x="60960" y="558800"/>
                  </a:lnTo>
                  <a:lnTo>
                    <a:pt x="0" y="619760"/>
                  </a:lnTo>
                  <a:lnTo>
                    <a:pt x="60960" y="680720"/>
                  </a:lnTo>
                  <a:lnTo>
                    <a:pt x="60960" y="650240"/>
                  </a:lnTo>
                  <a:lnTo>
                    <a:pt x="518160" y="650240"/>
                  </a:lnTo>
                  <a:lnTo>
                    <a:pt x="701040" y="650240"/>
                  </a:lnTo>
                  <a:lnTo>
                    <a:pt x="1158240" y="650240"/>
                  </a:lnTo>
                  <a:lnTo>
                    <a:pt x="1158240" y="680720"/>
                  </a:lnTo>
                  <a:lnTo>
                    <a:pt x="1219200" y="619760"/>
                  </a:lnTo>
                  <a:close/>
                </a:path>
                <a:path w="1229360" h="965200">
                  <a:moveTo>
                    <a:pt x="1229360" y="904240"/>
                  </a:moveTo>
                  <a:lnTo>
                    <a:pt x="1168400" y="843280"/>
                  </a:lnTo>
                  <a:lnTo>
                    <a:pt x="1168400" y="873760"/>
                  </a:lnTo>
                  <a:lnTo>
                    <a:pt x="711200" y="873760"/>
                  </a:lnTo>
                  <a:lnTo>
                    <a:pt x="528320" y="873760"/>
                  </a:lnTo>
                  <a:lnTo>
                    <a:pt x="71120" y="873760"/>
                  </a:lnTo>
                  <a:lnTo>
                    <a:pt x="71120" y="843280"/>
                  </a:lnTo>
                  <a:lnTo>
                    <a:pt x="10160" y="904240"/>
                  </a:lnTo>
                  <a:lnTo>
                    <a:pt x="71120" y="965200"/>
                  </a:lnTo>
                  <a:lnTo>
                    <a:pt x="71120" y="934720"/>
                  </a:lnTo>
                  <a:lnTo>
                    <a:pt x="528320" y="934720"/>
                  </a:lnTo>
                  <a:lnTo>
                    <a:pt x="711200" y="934720"/>
                  </a:lnTo>
                  <a:lnTo>
                    <a:pt x="1168400" y="934720"/>
                  </a:lnTo>
                  <a:lnTo>
                    <a:pt x="1168400" y="965200"/>
                  </a:lnTo>
                  <a:lnTo>
                    <a:pt x="1229360" y="904240"/>
                  </a:lnTo>
                  <a:close/>
                </a:path>
                <a:path w="1229360" h="965200">
                  <a:moveTo>
                    <a:pt x="1229360" y="335280"/>
                  </a:moveTo>
                  <a:lnTo>
                    <a:pt x="1168400" y="274320"/>
                  </a:lnTo>
                  <a:lnTo>
                    <a:pt x="1168400" y="304800"/>
                  </a:lnTo>
                  <a:lnTo>
                    <a:pt x="711200" y="304800"/>
                  </a:lnTo>
                  <a:lnTo>
                    <a:pt x="528320" y="304800"/>
                  </a:lnTo>
                  <a:lnTo>
                    <a:pt x="71120" y="304800"/>
                  </a:lnTo>
                  <a:lnTo>
                    <a:pt x="71120" y="274320"/>
                  </a:lnTo>
                  <a:lnTo>
                    <a:pt x="10160" y="335280"/>
                  </a:lnTo>
                  <a:lnTo>
                    <a:pt x="71120" y="396240"/>
                  </a:lnTo>
                  <a:lnTo>
                    <a:pt x="71120" y="365760"/>
                  </a:lnTo>
                  <a:lnTo>
                    <a:pt x="528320" y="365760"/>
                  </a:lnTo>
                  <a:lnTo>
                    <a:pt x="711200" y="365760"/>
                  </a:lnTo>
                  <a:lnTo>
                    <a:pt x="1168400" y="365760"/>
                  </a:lnTo>
                  <a:lnTo>
                    <a:pt x="1168400" y="396240"/>
                  </a:lnTo>
                  <a:lnTo>
                    <a:pt x="1229360" y="335280"/>
                  </a:lnTo>
                  <a:close/>
                </a:path>
                <a:path w="1229360" h="965200">
                  <a:moveTo>
                    <a:pt x="1229360" y="60960"/>
                  </a:moveTo>
                  <a:lnTo>
                    <a:pt x="1168400" y="0"/>
                  </a:lnTo>
                  <a:lnTo>
                    <a:pt x="1168400" y="30480"/>
                  </a:lnTo>
                  <a:lnTo>
                    <a:pt x="528320" y="30480"/>
                  </a:lnTo>
                  <a:lnTo>
                    <a:pt x="528320" y="91440"/>
                  </a:lnTo>
                  <a:lnTo>
                    <a:pt x="1168400" y="91440"/>
                  </a:lnTo>
                  <a:lnTo>
                    <a:pt x="1168400" y="121920"/>
                  </a:lnTo>
                  <a:lnTo>
                    <a:pt x="1229360" y="60960"/>
                  </a:lnTo>
                  <a:close/>
                </a:path>
              </a:pathLst>
            </a:custGeom>
            <a:solidFill>
              <a:srgbClr val="FF7E79"/>
            </a:solidFill>
          </p:spPr>
          <p:txBody>
            <a:bodyPr wrap="square" lIns="0" tIns="0" rIns="0" bIns="0" rtlCol="0"/>
            <a:lstStyle/>
            <a:p>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Switch Statements</a:t>
            </a:r>
          </a:p>
        </p:txBody>
      </p:sp>
      <p:sp>
        <p:nvSpPr>
          <p:cNvPr id="4" name="Rectangle 1"/>
          <p:cNvSpPr>
            <a:spLocks noGrp="1" noChangeArrowheads="1"/>
          </p:cNvSpPr>
          <p:nvPr>
            <p:ph type="body" idx="1"/>
          </p:nvPr>
        </p:nvSpPr>
        <p:spPr bwMode="auto">
          <a:xfrm>
            <a:off x="762000" y="1828800"/>
            <a:ext cx="7645042" cy="40011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444444"/>
                </a:solidFill>
                <a:effectLst/>
                <a:latin typeface="PT Sans"/>
              </a:rPr>
              <a:t>You have a complex </a:t>
            </a:r>
            <a:r>
              <a:rPr kumimoji="0" lang="en-US" altLang="en-US" sz="2000" b="0" i="0" u="none" strike="noStrike" cap="none" normalizeH="0" baseline="0" dirty="0">
                <a:ln>
                  <a:noFill/>
                </a:ln>
                <a:solidFill>
                  <a:srgbClr val="444444"/>
                </a:solidFill>
                <a:effectLst/>
                <a:latin typeface="Menlo"/>
              </a:rPr>
              <a:t>switch</a:t>
            </a:r>
            <a:r>
              <a:rPr kumimoji="0" lang="en-US" altLang="en-US" sz="2000" b="0" i="0" u="none" strike="noStrike" cap="none" normalizeH="0" baseline="0" dirty="0">
                <a:ln>
                  <a:noFill/>
                </a:ln>
                <a:solidFill>
                  <a:srgbClr val="444444"/>
                </a:solidFill>
                <a:effectLst/>
                <a:latin typeface="PT Sans"/>
              </a:rPr>
              <a:t> operator or sequence of </a:t>
            </a:r>
            <a:r>
              <a:rPr kumimoji="0" lang="en-US" altLang="en-US" sz="2000" b="0" i="0" u="none" strike="noStrike" cap="none" normalizeH="0" baseline="0" dirty="0">
                <a:ln>
                  <a:noFill/>
                </a:ln>
                <a:solidFill>
                  <a:srgbClr val="444444"/>
                </a:solidFill>
                <a:effectLst/>
                <a:latin typeface="Menlo"/>
              </a:rPr>
              <a:t>if</a:t>
            </a:r>
            <a:r>
              <a:rPr kumimoji="0" lang="en-US" altLang="en-US" sz="2000" b="0" i="0" u="none" strike="noStrike" cap="none" normalizeH="0" baseline="0" dirty="0">
                <a:ln>
                  <a:noFill/>
                </a:ln>
                <a:solidFill>
                  <a:srgbClr val="444444"/>
                </a:solidFill>
                <a:effectLst/>
                <a:latin typeface="PT Sans"/>
              </a:rPr>
              <a:t> statements</a:t>
            </a:r>
            <a:r>
              <a:rPr kumimoji="0" lang="en-US" altLang="en-US" sz="1200" b="0" i="0" u="none" strike="noStrike" cap="none" normalizeH="0" baseline="0" dirty="0">
                <a:ln>
                  <a:noFill/>
                </a:ln>
                <a:solidFill>
                  <a:srgbClr val="444444"/>
                </a:solidFill>
                <a:effectLst/>
                <a:latin typeface="PT Sans"/>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3"/>
          <a:stretch>
            <a:fillRect/>
          </a:stretch>
        </p:blipFill>
        <p:spPr>
          <a:xfrm>
            <a:off x="1517471" y="2938462"/>
            <a:ext cx="6134100" cy="3114675"/>
          </a:xfrm>
          <a:prstGeom prst="rect">
            <a:avLst/>
          </a:prstGeom>
        </p:spPr>
      </p:pic>
    </p:spTree>
    <p:extLst>
      <p:ext uri="{BB962C8B-B14F-4D97-AF65-F5344CB8AC3E}">
        <p14:creationId xmlns:p14="http://schemas.microsoft.com/office/powerpoint/2010/main" val="861224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1661993"/>
          </a:xfrm>
        </p:spPr>
        <p:txBody>
          <a:bodyPr/>
          <a:lstStyle/>
          <a:p>
            <a:r>
              <a:rPr lang="en-US" b="1" dirty="0">
                <a:solidFill>
                  <a:schemeClr val="tx1"/>
                </a:solidFill>
              </a:rPr>
              <a:t>Alternative Classes with Different Interfaces</a:t>
            </a:r>
            <a:br>
              <a:rPr lang="en-US" b="1" dirty="0">
                <a:solidFill>
                  <a:schemeClr val="tx1"/>
                </a:solidFill>
              </a:rPr>
            </a:br>
            <a:endParaRPr lang="en-US" dirty="0"/>
          </a:p>
        </p:txBody>
      </p:sp>
      <p:sp>
        <p:nvSpPr>
          <p:cNvPr id="3" name="Text Placeholder 2"/>
          <p:cNvSpPr>
            <a:spLocks noGrp="1"/>
          </p:cNvSpPr>
          <p:nvPr>
            <p:ph type="body" idx="1"/>
          </p:nvPr>
        </p:nvSpPr>
        <p:spPr>
          <a:xfrm>
            <a:off x="1279867" y="2210765"/>
            <a:ext cx="7498664" cy="800219"/>
          </a:xfrm>
        </p:spPr>
        <p:txBody>
          <a:bodyPr/>
          <a:lstStyle/>
          <a:p>
            <a:r>
              <a:rPr lang="en-US" dirty="0">
                <a:solidFill>
                  <a:schemeClr val="tx1"/>
                </a:solidFill>
              </a:rPr>
              <a:t>Two classes perform identical functions but have different method names.</a:t>
            </a:r>
          </a:p>
        </p:txBody>
      </p:sp>
      <p:pic>
        <p:nvPicPr>
          <p:cNvPr id="4" name="Picture 3"/>
          <p:cNvPicPr>
            <a:picLocks noChangeAspect="1"/>
          </p:cNvPicPr>
          <p:nvPr/>
        </p:nvPicPr>
        <p:blipFill>
          <a:blip r:embed="rId3"/>
          <a:stretch>
            <a:fillRect/>
          </a:stretch>
        </p:blipFill>
        <p:spPr>
          <a:xfrm>
            <a:off x="2286000" y="3872758"/>
            <a:ext cx="5133975" cy="3200400"/>
          </a:xfrm>
          <a:prstGeom prst="rect">
            <a:avLst/>
          </a:prstGeom>
        </p:spPr>
      </p:pic>
    </p:spTree>
    <p:extLst>
      <p:ext uri="{BB962C8B-B14F-4D97-AF65-F5344CB8AC3E}">
        <p14:creationId xmlns:p14="http://schemas.microsoft.com/office/powerpoint/2010/main" val="1478112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1107996"/>
          </a:xfrm>
        </p:spPr>
        <p:txBody>
          <a:bodyPr/>
          <a:lstStyle/>
          <a:p>
            <a:r>
              <a:rPr lang="en-US" dirty="0">
                <a:solidFill>
                  <a:schemeClr val="tx1"/>
                </a:solidFill>
              </a:rPr>
              <a:t>Divergent Change</a:t>
            </a:r>
            <a:br>
              <a:rPr lang="en-US" dirty="0">
                <a:solidFill>
                  <a:schemeClr val="tx1"/>
                </a:solidFill>
              </a:rPr>
            </a:br>
            <a:endParaRPr lang="en-US" dirty="0"/>
          </a:p>
        </p:txBody>
      </p:sp>
      <p:sp>
        <p:nvSpPr>
          <p:cNvPr id="3" name="Text Placeholder 2"/>
          <p:cNvSpPr>
            <a:spLocks noGrp="1"/>
          </p:cNvSpPr>
          <p:nvPr>
            <p:ph type="body" idx="1"/>
          </p:nvPr>
        </p:nvSpPr>
        <p:spPr>
          <a:xfrm>
            <a:off x="458123" y="1828800"/>
            <a:ext cx="7498664" cy="2400657"/>
          </a:xfrm>
        </p:spPr>
        <p:txBody>
          <a:bodyPr/>
          <a:lstStyle/>
          <a:p>
            <a:endParaRPr lang="en-US" dirty="0">
              <a:solidFill>
                <a:schemeClr val="tx1"/>
              </a:solidFill>
            </a:endParaRPr>
          </a:p>
          <a:p>
            <a:r>
              <a:rPr lang="en-US" dirty="0">
                <a:solidFill>
                  <a:schemeClr val="tx1"/>
                </a:solidFill>
              </a:rPr>
              <a:t>You find yourself having to change many unrelated methods when you make changes to a class. For example, when adding a new product type you have to change the methods for finding, displaying, and ordering products.</a:t>
            </a:r>
          </a:p>
        </p:txBody>
      </p:sp>
      <p:pic>
        <p:nvPicPr>
          <p:cNvPr id="5" name="Picture 4"/>
          <p:cNvPicPr>
            <a:picLocks noChangeAspect="1"/>
          </p:cNvPicPr>
          <p:nvPr/>
        </p:nvPicPr>
        <p:blipFill>
          <a:blip r:embed="rId3"/>
          <a:stretch>
            <a:fillRect/>
          </a:stretch>
        </p:blipFill>
        <p:spPr>
          <a:xfrm>
            <a:off x="4724400" y="4038600"/>
            <a:ext cx="4638675" cy="3095625"/>
          </a:xfrm>
          <a:prstGeom prst="rect">
            <a:avLst/>
          </a:prstGeom>
        </p:spPr>
      </p:pic>
    </p:spTree>
    <p:extLst>
      <p:ext uri="{BB962C8B-B14F-4D97-AF65-F5344CB8AC3E}">
        <p14:creationId xmlns:p14="http://schemas.microsoft.com/office/powerpoint/2010/main" val="3069400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23" y="1010589"/>
            <a:ext cx="9142153" cy="553998"/>
          </a:xfrm>
        </p:spPr>
        <p:txBody>
          <a:bodyPr/>
          <a:lstStyle/>
          <a:p>
            <a:r>
              <a:rPr lang="en-US" dirty="0">
                <a:solidFill>
                  <a:schemeClr val="tx1"/>
                </a:solidFill>
              </a:rPr>
              <a:t>Shotgun Surgery</a:t>
            </a:r>
          </a:p>
        </p:txBody>
      </p:sp>
      <p:sp>
        <p:nvSpPr>
          <p:cNvPr id="3" name="Text Placeholder 2"/>
          <p:cNvSpPr>
            <a:spLocks noGrp="1"/>
          </p:cNvSpPr>
          <p:nvPr>
            <p:ph type="body" idx="1"/>
          </p:nvPr>
        </p:nvSpPr>
        <p:spPr>
          <a:xfrm>
            <a:off x="1279867" y="2210765"/>
            <a:ext cx="7498664" cy="800219"/>
          </a:xfrm>
        </p:spPr>
        <p:txBody>
          <a:bodyPr/>
          <a:lstStyle/>
          <a:p>
            <a:r>
              <a:rPr lang="en-US" i="1" dirty="0">
                <a:solidFill>
                  <a:schemeClr val="tx1"/>
                </a:solidFill>
              </a:rPr>
              <a:t>Shotgun Surgery</a:t>
            </a:r>
            <a:r>
              <a:rPr lang="en-US" dirty="0">
                <a:solidFill>
                  <a:schemeClr val="tx1"/>
                </a:solidFill>
              </a:rPr>
              <a:t> refers to when a single change is made to multiple classes simultaneously.</a:t>
            </a:r>
          </a:p>
        </p:txBody>
      </p:sp>
      <p:pic>
        <p:nvPicPr>
          <p:cNvPr id="4" name="Picture 3"/>
          <p:cNvPicPr>
            <a:picLocks noChangeAspect="1"/>
          </p:cNvPicPr>
          <p:nvPr/>
        </p:nvPicPr>
        <p:blipFill>
          <a:blip r:embed="rId2"/>
          <a:stretch>
            <a:fillRect/>
          </a:stretch>
        </p:blipFill>
        <p:spPr>
          <a:xfrm>
            <a:off x="1919286" y="3429000"/>
            <a:ext cx="6219825" cy="3267075"/>
          </a:xfrm>
          <a:prstGeom prst="rect">
            <a:avLst/>
          </a:prstGeom>
        </p:spPr>
      </p:pic>
    </p:spTree>
    <p:extLst>
      <p:ext uri="{BB962C8B-B14F-4D97-AF65-F5344CB8AC3E}">
        <p14:creationId xmlns:p14="http://schemas.microsoft.com/office/powerpoint/2010/main" val="1728194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TotalTime>
  <Words>1888</Words>
  <Application>Microsoft Office PowerPoint</Application>
  <PresentationFormat>Custom</PresentationFormat>
  <Paragraphs>192</Paragraphs>
  <Slides>28</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Menlo</vt:lpstr>
      <vt:lpstr>PT Sans</vt:lpstr>
      <vt:lpstr>Times New Roman</vt:lpstr>
      <vt:lpstr>Wingdings</vt:lpstr>
      <vt:lpstr>Office Theme</vt:lpstr>
      <vt:lpstr>PowerPoint Presentation</vt:lpstr>
      <vt:lpstr>What is Refactoring?</vt:lpstr>
      <vt:lpstr>The Two Hats</vt:lpstr>
      <vt:lpstr>Goals</vt:lpstr>
      <vt:lpstr>Clean Code and Dirty Code</vt:lpstr>
      <vt:lpstr>When to Refactor</vt:lpstr>
      <vt:lpstr>When to Refactor</vt:lpstr>
      <vt:lpstr>Purpose</vt:lpstr>
      <vt:lpstr>When You Shouldn’t Refactor</vt:lpstr>
      <vt:lpstr>When You Shouldn’t Refactor</vt:lpstr>
      <vt:lpstr>PowerPoint Presentation</vt:lpstr>
      <vt:lpstr>Code Smell</vt:lpstr>
      <vt:lpstr>Types</vt:lpstr>
      <vt:lpstr>Types</vt:lpstr>
      <vt:lpstr>PowerPoint Presentation</vt:lpstr>
      <vt:lpstr>Code Duplication</vt:lpstr>
      <vt:lpstr>Code Duplication</vt:lpstr>
      <vt:lpstr>L Lazy Class</vt:lpstr>
      <vt:lpstr>Speculative Generality</vt:lpstr>
      <vt:lpstr>Long Method</vt:lpstr>
      <vt:lpstr>Long Method</vt:lpstr>
      <vt:lpstr>Long Method Example</vt:lpstr>
      <vt:lpstr>Long Parameter List</vt:lpstr>
      <vt:lpstr>Inappropriate Intimacy</vt:lpstr>
      <vt:lpstr>Switch Statements</vt:lpstr>
      <vt:lpstr>Alternative Classes with Different Interfaces </vt:lpstr>
      <vt:lpstr>Divergent Change </vt:lpstr>
      <vt:lpstr>Shotgun Surgery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Fatima Junaid</dc:creator>
  <cp:lastModifiedBy>zulqarnain hassan</cp:lastModifiedBy>
  <cp:revision>93</cp:revision>
  <dcterms:created xsi:type="dcterms:W3CDTF">2021-03-16T01:22:46Z</dcterms:created>
  <dcterms:modified xsi:type="dcterms:W3CDTF">2024-12-29T17:24:51Z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2021-03-16T00:00:00Z</vt:filetime>
  </property>
</Properties>
</file>