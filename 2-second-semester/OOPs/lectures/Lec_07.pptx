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56"/>
  </p:notesMasterIdLst>
  <p:sldIdLst>
    <p:sldId id="313" r:id="rId2"/>
    <p:sldId id="315" r:id="rId3"/>
    <p:sldId id="319" r:id="rId4"/>
    <p:sldId id="320" r:id="rId5"/>
    <p:sldId id="321" r:id="rId6"/>
    <p:sldId id="322" r:id="rId7"/>
    <p:sldId id="323" r:id="rId8"/>
    <p:sldId id="329" r:id="rId9"/>
    <p:sldId id="325" r:id="rId10"/>
    <p:sldId id="324" r:id="rId11"/>
    <p:sldId id="326" r:id="rId12"/>
    <p:sldId id="327" r:id="rId13"/>
    <p:sldId id="328" r:id="rId14"/>
    <p:sldId id="331" r:id="rId15"/>
    <p:sldId id="330" r:id="rId16"/>
    <p:sldId id="332" r:id="rId17"/>
    <p:sldId id="352" r:id="rId18"/>
    <p:sldId id="333" r:id="rId19"/>
    <p:sldId id="334" r:id="rId20"/>
    <p:sldId id="335" r:id="rId21"/>
    <p:sldId id="336" r:id="rId22"/>
    <p:sldId id="337" r:id="rId23"/>
    <p:sldId id="338" r:id="rId24"/>
    <p:sldId id="339" r:id="rId25"/>
    <p:sldId id="340" r:id="rId26"/>
    <p:sldId id="341" r:id="rId27"/>
    <p:sldId id="342" r:id="rId28"/>
    <p:sldId id="343" r:id="rId29"/>
    <p:sldId id="344" r:id="rId30"/>
    <p:sldId id="345" r:id="rId31"/>
    <p:sldId id="346" r:id="rId32"/>
    <p:sldId id="347" r:id="rId33"/>
    <p:sldId id="348" r:id="rId34"/>
    <p:sldId id="350" r:id="rId35"/>
    <p:sldId id="353" r:id="rId36"/>
    <p:sldId id="354" r:id="rId37"/>
    <p:sldId id="355" r:id="rId38"/>
    <p:sldId id="265" r:id="rId39"/>
    <p:sldId id="356" r:id="rId40"/>
    <p:sldId id="357" r:id="rId41"/>
    <p:sldId id="358" r:id="rId42"/>
    <p:sldId id="359" r:id="rId43"/>
    <p:sldId id="360" r:id="rId44"/>
    <p:sldId id="362" r:id="rId45"/>
    <p:sldId id="278" r:id="rId46"/>
    <p:sldId id="279" r:id="rId47"/>
    <p:sldId id="281" r:id="rId48"/>
    <p:sldId id="365" r:id="rId49"/>
    <p:sldId id="366" r:id="rId50"/>
    <p:sldId id="367" r:id="rId51"/>
    <p:sldId id="370" r:id="rId52"/>
    <p:sldId id="286" r:id="rId53"/>
    <p:sldId id="287" r:id="rId54"/>
    <p:sldId id="314" r:id="rId5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0969" autoAdjust="0"/>
  </p:normalViewPr>
  <p:slideViewPr>
    <p:cSldViewPr>
      <p:cViewPr varScale="1">
        <p:scale>
          <a:sx n="57" d="100"/>
          <a:sy n="57" d="100"/>
        </p:scale>
        <p:origin x="8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6EF882D-CE8E-4143-82D6-5EF5CBA8B601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1693431-EC0E-4662-82B5-7D23B8832F4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33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43DABB1-AB3A-43BB-9D66-ACE989A7E947}" type="slidenum">
              <a:rPr lang="en-US" altLang="en-US" smtClean="0"/>
              <a:pPr/>
              <a:t>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43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9F5D6F3-B61E-4AED-B75C-C5E60DD6EC6E}" type="slidenum">
              <a:rPr lang="en-US" altLang="en-US" smtClean="0"/>
              <a:pPr/>
              <a:t>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4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475FF88-C745-467D-AAFF-C213D3B295F6}" type="slidenum">
              <a:rPr lang="en-US" altLang="en-US" smtClean="0"/>
              <a:pPr/>
              <a:t>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2355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44757482-49A7-4121-9D84-4A1C37B2F119}" type="slidenum">
              <a:rPr lang="en-US" altLang="en-US" smtClean="0"/>
              <a:pPr/>
              <a:t>10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5F774F8-DE3F-492E-A4FE-774FF9FEA61F}" type="slidenum">
              <a:rPr lang="en-US" altLang="en-US" smtClean="0"/>
              <a:pPr/>
              <a:t>11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B4370E9-2AE8-4632-AC46-3211764773F5}" type="slidenum">
              <a:rPr lang="en-US" altLang="en-US" smtClean="0"/>
              <a:pPr/>
              <a:t>13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0EC860C-49C8-443C-8B62-DA2D315942F3}" type="slidenum">
              <a:rPr lang="en-US" altLang="en-US" smtClean="0"/>
              <a:pPr/>
              <a:t>14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37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47DC098-D2ED-4996-9865-62F0A15AA01B}" type="slidenum">
              <a:rPr lang="en-US" altLang="en-US" smtClean="0"/>
              <a:pPr/>
              <a:t>16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58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86EB4F3-412D-490B-A91D-3F6A92182330}" type="slidenum">
              <a:rPr lang="en-US" altLang="en-US" smtClean="0"/>
              <a:pPr/>
              <a:t>17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37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1A47092-2699-4A0A-AEB0-5CD02E296C30}" type="slidenum">
              <a:rPr lang="en-US" altLang="en-US" smtClean="0"/>
              <a:pPr/>
              <a:t>18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399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39380CF1-5974-4936-BA65-BF2A44135274}" type="slidenum">
              <a:rPr lang="en-US" altLang="en-US" smtClean="0"/>
              <a:pPr/>
              <a:t>19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19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968C7FA-E512-451D-891B-D1CF0523CE99}" type="slidenum">
              <a:rPr lang="en-US" altLang="en-US" smtClean="0"/>
              <a:pPr/>
              <a:t>20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60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b="1" dirty="0" smtClean="0"/>
          </a:p>
        </p:txBody>
      </p:sp>
      <p:sp>
        <p:nvSpPr>
          <p:cNvPr id="460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4F24981-0817-4433-86FA-5245DA193A8F}" type="slidenum">
              <a:rPr lang="en-US" altLang="en-US" smtClean="0"/>
              <a:pPr/>
              <a:t>23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81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481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375727-BB98-4071-AC04-8F4C00873727}" type="slidenum">
              <a:rPr lang="en-US" altLang="en-US" smtClean="0"/>
              <a:pPr/>
              <a:t>24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01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01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DE8002B-B02B-4C22-969A-7DB8A75F1165}" type="slidenum">
              <a:rPr lang="en-US" altLang="en-US" smtClean="0"/>
              <a:pPr/>
              <a:t>25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22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22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76FE347-ACDA-4E48-8BF0-513B94DF6344}" type="slidenum">
              <a:rPr lang="en-US" altLang="en-US" smtClean="0"/>
              <a:pPr/>
              <a:t>26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529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530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77DC920-13E8-4AC6-9200-A91669170699}" type="slidenum">
              <a:rPr lang="en-US" altLang="en-US" smtClean="0"/>
              <a:pPr/>
              <a:t>28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73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5734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2D245D2-8309-4747-B91F-D9742DC852FA}" type="slidenum">
              <a:rPr lang="en-US" altLang="en-US" smtClean="0"/>
              <a:pPr/>
              <a:t>29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693431-EC0E-4662-82B5-7D23B8832F46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69409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04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04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CDFB9A7-4A2E-47E3-9600-D9EEC1BF5869}" type="slidenum">
              <a:rPr lang="en-US" altLang="en-US" smtClean="0"/>
              <a:pPr/>
              <a:t>31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246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6246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E6123D38-6263-42A6-8C42-A1579C0B27DE}" type="slidenum">
              <a:rPr lang="en-US" altLang="en-US" smtClean="0"/>
              <a:pPr/>
              <a:t>32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45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18E559FF-86A8-4B50-8017-EAD9BEABB065}" type="slidenum">
              <a:rPr lang="en-US" altLang="en-US" smtClean="0"/>
              <a:pPr/>
              <a:t>33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6861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7C420CDE-DD55-41CC-9F0E-AE88AD9E62E9}" type="slidenum">
              <a:rPr lang="en-US" altLang="en-US" smtClean="0"/>
              <a:pPr/>
              <a:t>34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6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716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03ED283-4659-4B94-83CB-92DF20D6A550}" type="slidenum">
              <a:rPr lang="en-US" altLang="en-US" smtClean="0"/>
              <a:pPr/>
              <a:t>35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37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37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FF27EAA-318C-4FEB-AC47-38595B028CAB}" type="slidenum">
              <a:rPr lang="en-US" altLang="en-US" smtClean="0"/>
              <a:pPr/>
              <a:t>36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57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57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725D13C-DB92-4A29-8539-41BF87B68E9A}" type="slidenum">
              <a:rPr lang="en-US" altLang="en-US" smtClean="0"/>
              <a:pPr/>
              <a:t>37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782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782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81490C63-41AC-49BD-B114-7535816698E3}" type="slidenum">
              <a:rPr lang="en-US" altLang="en-US" smtClean="0"/>
              <a:pPr/>
              <a:t>38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987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7987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CE14B70-2ABD-47C2-8FFE-DBF88C7ACEC3}" type="slidenum">
              <a:rPr lang="en-US" altLang="en-US" smtClean="0"/>
              <a:pPr/>
              <a:t>39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2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192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D47A3201-5BDE-4496-A644-30B2760026DB}" type="slidenum">
              <a:rPr lang="en-US" altLang="en-US" smtClean="0"/>
              <a:pPr/>
              <a:t>40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4995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smtClean="0"/>
          </a:p>
        </p:txBody>
      </p:sp>
      <p:sp>
        <p:nvSpPr>
          <p:cNvPr id="8499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A4E16CE0-227D-4796-8DC9-BEFE67B2D4F9}" type="slidenum">
              <a:rPr lang="en-US" altLang="en-US" smtClean="0"/>
              <a:pPr/>
              <a:t>42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704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 dirty="0" smtClean="0"/>
          </a:p>
        </p:txBody>
      </p:sp>
      <p:sp>
        <p:nvSpPr>
          <p:cNvPr id="8704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977C5CAA-411D-479A-826D-B3E4ADDF5E89}" type="slidenum">
              <a:rPr lang="en-US" altLang="en-US" smtClean="0"/>
              <a:pPr/>
              <a:t>43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113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9114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CCDA6DF6-FF28-4704-B3CF-729C177AA0CA}" type="slidenum">
              <a:rPr lang="en-US" altLang="en-US" smtClean="0"/>
              <a:pPr/>
              <a:t>45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318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93188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B3FF6B17-5AF4-417A-A306-6602D831570F}" type="slidenum">
              <a:rPr lang="en-US" altLang="en-US" smtClean="0"/>
              <a:pPr/>
              <a:t>46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7283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97284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0AF14790-EBCD-41A3-8AC7-4F2E72D6F147}" type="slidenum">
              <a:rPr lang="en-US" altLang="en-US" smtClean="0"/>
              <a:pPr/>
              <a:t>47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933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 altLang="en-US" b="1" i="1" dirty="0" smtClean="0"/>
              <a:t>Why </a:t>
            </a:r>
            <a:r>
              <a:rPr lang="en-US" altLang="en-US" b="1" i="1" dirty="0" smtClean="0"/>
              <a:t>There is only call by value in java, not call by reference?</a:t>
            </a:r>
          </a:p>
          <a:p>
            <a:endParaRPr lang="en-US" altLang="en-US" b="1" dirty="0" smtClean="0"/>
          </a:p>
        </p:txBody>
      </p:sp>
      <p:sp>
        <p:nvSpPr>
          <p:cNvPr id="9933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2D3AEAF1-46EE-4823-BD87-5C00F2E30CA2}" type="slidenum">
              <a:rPr lang="en-US" altLang="en-US" smtClean="0"/>
              <a:pPr/>
              <a:t>48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137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 dirty="0" smtClean="0"/>
          </a:p>
        </p:txBody>
      </p:sp>
      <p:sp>
        <p:nvSpPr>
          <p:cNvPr id="10138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fld id="{6E4D47A4-3479-4E78-B3CF-10BA88D754FD}" type="slidenum">
              <a:rPr lang="en-US" altLang="en-US" smtClean="0"/>
              <a:pPr/>
              <a:t>49</a:t>
            </a:fld>
            <a:endParaRPr lang="en-US" altLang="en-US" smtClean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693431-EC0E-4662-82B5-7D23B8832F46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695245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693431-EC0E-4662-82B5-7D23B8832F46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136350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A1693431-EC0E-4662-82B5-7D23B8832F46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1116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.jpe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Group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Freeform 5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Freeform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/>
              <a:gdLst>
                <a:gd name="T0" fmla="*/ 0 w 5760"/>
                <a:gd name="T1" fmla="*/ 0 h 528"/>
                <a:gd name="T2" fmla="*/ 2147483646 w 5760"/>
                <a:gd name="T3" fmla="*/ 0 h 528"/>
                <a:gd name="T4" fmla="*/ 2147483646 w 5760"/>
                <a:gd name="T5" fmla="*/ 2147483646 h 528"/>
                <a:gd name="T6" fmla="*/ 2147483646 w 5760"/>
                <a:gd name="T7" fmla="*/ 0 h 528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5760"/>
                <a:gd name="T13" fmla="*/ 0 h 528"/>
                <a:gd name="T14" fmla="*/ 5760 w 5760"/>
                <a:gd name="T15" fmla="*/ 528 h 528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 algn="ctr">
                  <a:solidFill>
                    <a:srgbClr val="000000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Straight Connector 9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  <a:latin typeface="Arial" pitchFamily="34" charset="0"/>
                <a:cs typeface="Arial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sp>
        <p:nvSpPr>
          <p:cNvPr id="11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911CD78D-229C-48B1-841B-7F7336255CBF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12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7BF4644E-AD0E-4DA0-AE54-7776068428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1654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lvl2pPr>
              <a:defRPr>
                <a:latin typeface="Arial" pitchFamily="34" charset="0"/>
                <a:cs typeface="Arial" pitchFamily="34" charset="0"/>
              </a:defRPr>
            </a:lvl2pPr>
            <a:lvl3pPr>
              <a:defRPr>
                <a:latin typeface="Arial" pitchFamily="34" charset="0"/>
                <a:cs typeface="Arial" pitchFamily="34" charset="0"/>
              </a:defRPr>
            </a:lvl3pPr>
            <a:lvl4pPr>
              <a:defRPr>
                <a:latin typeface="Arial" pitchFamily="34" charset="0"/>
                <a:cs typeface="Arial" pitchFamily="34" charset="0"/>
              </a:defRPr>
            </a:lvl4pPr>
            <a:lvl5pPr>
              <a:defRPr>
                <a:latin typeface="Arial" pitchFamily="34" charset="0"/>
                <a:cs typeface="Arial" pitchFamily="34" charset="0"/>
              </a:defRPr>
            </a:lvl5pPr>
            <a:extLst/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Arial" pitchFamily="34" charset="0"/>
                <a:cs typeface="Arial" pitchFamily="34" charset="0"/>
              </a:defRPr>
            </a:lvl1pPr>
            <a:extLst/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3909BB-969E-410E-9878-DA909101EB51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770AA-BF5C-4AB2-AD42-7B6BDF5B51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55482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hevron 3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Chevron 4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7F707D96-700B-47CE-BF37-1A1069E66DD0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43B3C8-4438-401E-8E1F-C2ED8BA54F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6554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4A5B5A-D6D3-4FF0-BC36-965A8E7ABEE0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BB4FAB-0910-43E9-AD27-EE055B4D5D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6135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D518A0F-F32E-45CC-876D-4F09F7437698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F2F658-3036-4ADA-A093-6ACD3E7BE6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623545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C81B8C-E2B9-42A4-B9EE-EECC983532E1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AF6DD4-F528-48B9-BA94-A9FD005EEF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5412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370729-1222-413C-B8B1-FAE6503424DB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3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A8E798-38C6-43A3-9DD9-9F6EF36CCFC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4548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29A4D9EC-41C1-465D-8E35-D7A3DC1D60B6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9492CF-2767-4725-9924-2528D072B8C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9842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4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Freeform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7" name="Right Triangle 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4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Chevron 8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Chevron 9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6AC24873-BF48-4F53-9CD4-148CBDFBE64F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1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D39FB98-52B7-40BE-94EC-EA39B8B895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5000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E28F50-7FD7-45F7-8C99-49186CB12431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632541-23AF-4777-AA9D-8E124B8D557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941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A91688-526D-4FCC-89DD-F3E4AFAB10B6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5" name="Footer Placeholder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332B5CF-45E2-47E6-946C-C0D19AB751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2000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027" name="Freeform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/>
            <a:gdLst>
              <a:gd name="T0" fmla="*/ 0 w 5591"/>
              <a:gd name="T1" fmla="*/ 0 h 588"/>
              <a:gd name="T2" fmla="*/ 2147483646 w 5591"/>
              <a:gd name="T3" fmla="*/ 0 h 588"/>
              <a:gd name="T4" fmla="*/ 2147483646 w 5591"/>
              <a:gd name="T5" fmla="*/ 2147483646 h 588"/>
              <a:gd name="T6" fmla="*/ 2147483646 w 5591"/>
              <a:gd name="T7" fmla="*/ 0 h 588"/>
              <a:gd name="T8" fmla="*/ 0 60000 65536"/>
              <a:gd name="T9" fmla="*/ 0 60000 65536"/>
              <a:gd name="T10" fmla="*/ 0 60000 65536"/>
              <a:gd name="T11" fmla="*/ 0 60000 65536"/>
              <a:gd name="T12" fmla="*/ 0 w 5591"/>
              <a:gd name="T13" fmla="*/ 0 h 588"/>
              <a:gd name="T14" fmla="*/ 5591 w 5591"/>
              <a:gd name="T15" fmla="*/ 588 h 588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33" name="Text Placeholder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215182AA-96AA-436F-9047-2F2E054F8DFD}" type="datetimeFigureOut">
              <a:rPr lang="en-US"/>
              <a:pPr>
                <a:defRPr/>
              </a:pPr>
              <a:t>11/13/2021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Lucida Sans Unicode" panose="020B0602030504020204" pitchFamily="34" charset="0"/>
              </a:defRPr>
            </a:lvl1pPr>
          </a:lstStyle>
          <a:p>
            <a:pPr>
              <a:defRPr/>
            </a:pPr>
            <a:fld id="{0A434A7F-9212-49D3-B4BC-B3CFD3FCEF4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25" r:id="rId1"/>
    <p:sldLayoutId id="2147484021" r:id="rId2"/>
    <p:sldLayoutId id="2147484026" r:id="rId3"/>
    <p:sldLayoutId id="2147484027" r:id="rId4"/>
    <p:sldLayoutId id="2147484028" r:id="rId5"/>
    <p:sldLayoutId id="2147484029" r:id="rId6"/>
    <p:sldLayoutId id="2147484022" r:id="rId7"/>
    <p:sldLayoutId id="2147484030" r:id="rId8"/>
    <p:sldLayoutId id="2147484031" r:id="rId9"/>
    <p:sldLayoutId id="2147484023" r:id="rId10"/>
    <p:sldLayoutId id="2147484024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Arial" pitchFamily="34" charset="0"/>
          <a:ea typeface="+mj-ea"/>
          <a:cs typeface="Arial" pitchFamily="34" charset="0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Arial" charset="0"/>
          <a:cs typeface="Arial" charset="0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anose="05040102010807070707" pitchFamily="18" charset="2"/>
        <a:buChar char=""/>
        <a:defRPr sz="27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anose="020B0604030504040204" pitchFamily="34" charset="0"/>
        <a:buChar char="◦"/>
        <a:defRPr sz="23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anose="05020102010507070707" pitchFamily="18" charset="2"/>
        <a:buChar char=""/>
        <a:defRPr sz="21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19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anose="05020102010507070707" pitchFamily="18" charset="2"/>
        <a:buChar char="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ctrTitle"/>
          </p:nvPr>
        </p:nvSpPr>
        <p:spPr>
          <a:xfrm>
            <a:off x="0" y="2514600"/>
            <a:ext cx="8839200" cy="1830388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Oriented </a:t>
            </a:r>
            <a:br>
              <a:rPr lang="en-US" dirty="0" smtClean="0"/>
            </a:br>
            <a:r>
              <a:rPr lang="en-US" dirty="0" smtClean="0"/>
              <a:t>Programming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Content Placeholder 1"/>
          <p:cNvSpPr>
            <a:spLocks noGrp="1"/>
          </p:cNvSpPr>
          <p:nvPr>
            <p:ph idx="1"/>
          </p:nvPr>
        </p:nvSpPr>
        <p:spPr>
          <a:xfrm>
            <a:off x="457200" y="1406525"/>
            <a:ext cx="8229600" cy="4525963"/>
          </a:xfrm>
        </p:spPr>
        <p:txBody>
          <a:bodyPr/>
          <a:lstStyle/>
          <a:p>
            <a:r>
              <a:rPr lang="en-CA" altLang="en-US" smtClean="0"/>
              <a:t>Constructor</a:t>
            </a:r>
          </a:p>
          <a:p>
            <a:r>
              <a:rPr lang="en-CA" altLang="en-US" smtClean="0"/>
              <a:t>Default Constructor</a:t>
            </a:r>
          </a:p>
          <a:p>
            <a:r>
              <a:rPr lang="en-CA" altLang="en-US" smtClean="0"/>
              <a:t>Parameterized Constructor</a:t>
            </a:r>
          </a:p>
          <a:p>
            <a:r>
              <a:rPr lang="en-CA" altLang="en-US" smtClean="0"/>
              <a:t>Constructor Overloading</a:t>
            </a:r>
          </a:p>
          <a:p>
            <a:r>
              <a:rPr lang="en-US" altLang="en-US" smtClean="0"/>
              <a:t>Java Copy Constructor</a:t>
            </a:r>
            <a:endParaRPr lang="en-CA" altLang="en-US" smtClean="0"/>
          </a:p>
          <a:p>
            <a:r>
              <a:rPr lang="en-CA" altLang="en-US" smtClean="0"/>
              <a:t>Static Keyword</a:t>
            </a:r>
          </a:p>
          <a:p>
            <a:r>
              <a:rPr lang="en-CA" altLang="en-US" smtClean="0"/>
              <a:t>this keyword</a:t>
            </a:r>
          </a:p>
          <a:p>
            <a:r>
              <a:rPr lang="en-CA" altLang="en-US" smtClean="0"/>
              <a:t>Object As an Argument</a:t>
            </a:r>
          </a:p>
          <a:p>
            <a:r>
              <a:rPr lang="en-CA" altLang="en-US" smtClean="0"/>
              <a:t>Argument Passing</a:t>
            </a:r>
          </a:p>
          <a:p>
            <a:r>
              <a:rPr lang="en-CA" altLang="en-US" smtClean="0"/>
              <a:t>Returning Objects</a:t>
            </a:r>
          </a:p>
          <a:p>
            <a:endParaRPr lang="en-CA" altLang="en-US" smtClean="0"/>
          </a:p>
          <a:p>
            <a:endParaRPr lang="en-CA" altLang="en-US" smtClean="0"/>
          </a:p>
          <a:p>
            <a:endParaRPr lang="en-GB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CA" dirty="0" smtClean="0"/>
              <a:t>Topics to be covered today</a:t>
            </a:r>
            <a:endParaRPr lang="en-GB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Special type of method which is used to initialize the object </a:t>
            </a:r>
          </a:p>
          <a:p>
            <a:r>
              <a:rPr lang="en-US" altLang="en-US" smtClean="0"/>
              <a:t>It is called when an instance of object is created and memory is allocated for the object.</a:t>
            </a:r>
          </a:p>
          <a:p>
            <a:r>
              <a:rPr lang="en-US" altLang="en-US" smtClean="0"/>
              <a:t>If no constructor defined for a class, java compiler creates a default constructor</a:t>
            </a:r>
          </a:p>
          <a:p>
            <a:endParaRPr lang="en-US" altLang="en-US" smtClean="0"/>
          </a:p>
          <a:p>
            <a:r>
              <a:rPr lang="en-US" altLang="en-US" smtClean="0">
                <a:solidFill>
                  <a:srgbClr val="FF0000"/>
                </a:solidFill>
              </a:rPr>
              <a:t>Why named constructer??</a:t>
            </a:r>
          </a:p>
          <a:p>
            <a:pPr lvl="1"/>
            <a:r>
              <a:rPr lang="en-US" altLang="en-US" smtClean="0"/>
              <a:t>Because it constructs the values at the time of object creation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Constructor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 are basically </a:t>
            </a:r>
            <a:r>
              <a:rPr lang="en-US" altLang="en-US" smtClean="0">
                <a:solidFill>
                  <a:srgbClr val="FF0000"/>
                </a:solidFill>
              </a:rPr>
              <a:t>two rules </a:t>
            </a:r>
            <a:r>
              <a:rPr lang="en-US" altLang="en-US" smtClean="0"/>
              <a:t>defined for the constructor.</a:t>
            </a:r>
          </a:p>
          <a:p>
            <a:pPr lvl="1"/>
            <a:r>
              <a:rPr lang="en-US" altLang="en-US" smtClean="0"/>
              <a:t>Constructor name must be same as its class name</a:t>
            </a:r>
          </a:p>
          <a:p>
            <a:pPr lvl="1"/>
            <a:r>
              <a:rPr lang="en-US" altLang="en-US" smtClean="0"/>
              <a:t>Constructor must have no explicit return type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Rules for creating java constructor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 are two types of constructors in java:</a:t>
            </a:r>
          </a:p>
          <a:p>
            <a:pPr lvl="1"/>
            <a:r>
              <a:rPr lang="en-US" altLang="en-US" smtClean="0"/>
              <a:t>Default constructor (no-arg constructor)</a:t>
            </a:r>
          </a:p>
          <a:p>
            <a:pPr lvl="1"/>
            <a:r>
              <a:rPr lang="en-US" altLang="en-US" smtClean="0"/>
              <a:t>Parameterized constructor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Types of java constructors</a:t>
            </a:r>
          </a:p>
        </p:txBody>
      </p:sp>
      <p:pic>
        <p:nvPicPr>
          <p:cNvPr id="1536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9200" y="3200400"/>
            <a:ext cx="6096000" cy="2590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A constructor is called "Default Constructor" when it doesn't have any parameter</a:t>
            </a:r>
            <a:r>
              <a:rPr lang="en-US" dirty="0" smtClean="0"/>
              <a:t>.</a:t>
            </a:r>
          </a:p>
          <a:p>
            <a:pPr>
              <a:defRPr/>
            </a:pPr>
            <a:r>
              <a:rPr lang="en-US" dirty="0" smtClean="0"/>
              <a:t>Syntax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>
                <a:solidFill>
                  <a:srgbClr val="FF0000"/>
                </a:solidFill>
              </a:rPr>
              <a:t>	&lt;</a:t>
            </a:r>
            <a:r>
              <a:rPr lang="en-US" dirty="0" err="1">
                <a:solidFill>
                  <a:srgbClr val="FF0000"/>
                </a:solidFill>
              </a:rPr>
              <a:t>class_name</a:t>
            </a:r>
            <a:r>
              <a:rPr lang="en-US" dirty="0">
                <a:solidFill>
                  <a:srgbClr val="FF0000"/>
                </a:solidFill>
              </a:rPr>
              <a:t>&gt;(){}</a:t>
            </a:r>
          </a:p>
          <a:p>
            <a:pPr>
              <a:defRPr/>
            </a:pPr>
            <a:r>
              <a:rPr lang="en-US" dirty="0" smtClean="0"/>
              <a:t>Called:</a:t>
            </a:r>
          </a:p>
          <a:p>
            <a:pPr lvl="1">
              <a:defRPr/>
            </a:pPr>
            <a:r>
              <a:rPr lang="en-US" dirty="0" smtClean="0"/>
              <a:t>Every time </a:t>
            </a:r>
            <a:r>
              <a:rPr lang="en-US" dirty="0"/>
              <a:t>an object is created using new() keyword, </a:t>
            </a:r>
            <a:r>
              <a:rPr lang="en-US" dirty="0" smtClean="0"/>
              <a:t>at least </a:t>
            </a:r>
            <a:r>
              <a:rPr lang="en-US" dirty="0"/>
              <a:t>one constructor is </a:t>
            </a:r>
            <a:r>
              <a:rPr lang="en-US" dirty="0" smtClean="0"/>
              <a:t>called(default constructor.)</a:t>
            </a:r>
          </a:p>
          <a:p>
            <a:pPr lvl="1">
              <a:defRPr/>
            </a:pPr>
            <a:r>
              <a:rPr lang="en-US" dirty="0"/>
              <a:t>If no constructor defined for a class, java compiler creates a default constructor which automatically initializes all its instance variables with zero</a:t>
            </a:r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dirty="0" smtClean="0"/>
          </a:p>
          <a:p>
            <a:pPr lvl="1">
              <a:defRPr/>
            </a:pPr>
            <a:endParaRPr lang="en-US" dirty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	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1. Java Default Constructor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“no-arg constructor” named “Bike1” is created in the Bike1 class. It will be invoked at the time of object creation.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Example</a:t>
            </a:r>
          </a:p>
        </p:txBody>
      </p:sp>
      <p:pic>
        <p:nvPicPr>
          <p:cNvPr id="17412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3006725"/>
            <a:ext cx="5943600" cy="297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Rectangle Example with constructor</a:t>
            </a:r>
            <a:endParaRPr lang="en-US" dirty="0"/>
          </a:p>
        </p:txBody>
      </p:sp>
      <p:pic>
        <p:nvPicPr>
          <p:cNvPr id="19459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773238"/>
            <a:ext cx="4078288" cy="4005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752600"/>
            <a:ext cx="4067175" cy="4005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smtClean="0"/>
              <a:t>If there is no constructor in a class, compiler automatically creates a default constructor.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solidFill>
                  <a:srgbClr val="FF0000"/>
                </a:solidFill>
              </a:rPr>
              <a:t>Rule</a:t>
            </a:r>
          </a:p>
        </p:txBody>
      </p:sp>
      <p:pic>
        <p:nvPicPr>
          <p:cNvPr id="21508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048000"/>
            <a:ext cx="66294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>
              <a:defRPr/>
            </a:pPr>
            <a:endParaRPr lang="en-US" dirty="0" smtClean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Q) What </a:t>
            </a:r>
            <a:r>
              <a:rPr lang="en-US" dirty="0"/>
              <a:t>is the purpose of default constructor?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Class Participation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Default constructor is used to provide the default values to the object like 0, null etc. depending on the type.</a:t>
            </a:r>
          </a:p>
          <a:p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Answer</a:t>
            </a:r>
            <a:endParaRPr lang="en-US" dirty="0"/>
          </a:p>
        </p:txBody>
      </p:sp>
      <p:pic>
        <p:nvPicPr>
          <p:cNvPr id="2458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2667000"/>
            <a:ext cx="5334000" cy="407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A constructor which has a specific number of parameters.</a:t>
            </a:r>
          </a:p>
          <a:p>
            <a:endParaRPr lang="en-US" altLang="en-US" dirty="0" smtClean="0"/>
          </a:p>
          <a:p>
            <a:r>
              <a:rPr lang="en-US" altLang="en-US" dirty="0" smtClean="0">
                <a:solidFill>
                  <a:srgbClr val="FF0000"/>
                </a:solidFill>
              </a:rPr>
              <a:t>Why parameterized constructor is used?</a:t>
            </a:r>
          </a:p>
          <a:p>
            <a:pPr lvl="1"/>
            <a:r>
              <a:rPr lang="en-US" altLang="en-US" dirty="0" smtClean="0"/>
              <a:t>Parameterized constructor is used to provide different values to the distinct objects.</a:t>
            </a:r>
            <a:endParaRPr lang="en-US" altLang="en-US" dirty="0" smtClean="0">
              <a:solidFill>
                <a:srgbClr val="FF0000"/>
              </a:solidFill>
            </a:endParaRPr>
          </a:p>
          <a:p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2. Java parameterized constructor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27651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4400" y="1219200"/>
            <a:ext cx="6096000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 far, all rectangles have the same dimensions.</a:t>
            </a:r>
          </a:p>
          <a:p>
            <a:pPr eaLnBrk="1" hangingPunct="1"/>
            <a:r>
              <a:rPr lang="en-US" altLang="en-US" smtClean="0"/>
              <a:t>We need a constructor able to create rectangles with different dimensions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Rectangle Example with </a:t>
            </a:r>
            <a:r>
              <a:rPr lang="en-US" dirty="0" smtClean="0"/>
              <a:t>Parameterized constructor</a:t>
            </a:r>
            <a:endParaRPr lang="en-US" dirty="0"/>
          </a:p>
        </p:txBody>
      </p:sp>
      <p:pic>
        <p:nvPicPr>
          <p:cNvPr id="297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124200"/>
            <a:ext cx="3705225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9701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33938" y="3124200"/>
            <a:ext cx="3700462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Constructor overloading in Java is a technique of having more than one constructor with different parameter lists.</a:t>
            </a:r>
          </a:p>
          <a:p>
            <a:r>
              <a:rPr lang="en-US" altLang="en-US" smtClean="0"/>
              <a:t>They are:</a:t>
            </a:r>
          </a:p>
          <a:p>
            <a:pPr lvl="1"/>
            <a:r>
              <a:rPr lang="en-US" altLang="en-US" smtClean="0"/>
              <a:t>arranged in a way that each constructor performs a different task.</a:t>
            </a:r>
          </a:p>
          <a:p>
            <a:pPr lvl="1"/>
            <a:r>
              <a:rPr lang="en-US" altLang="en-US" smtClean="0"/>
              <a:t>differentiated by the compiler by the number of parameters in the list and their types.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Constructor Overloading in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32771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84325"/>
            <a:ext cx="50958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772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1905000"/>
            <a:ext cx="4067175" cy="227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3820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Constructor </a:t>
            </a:r>
            <a:r>
              <a:rPr lang="en-US" dirty="0" smtClean="0"/>
              <a:t>Overloading(Rectangle)</a:t>
            </a:r>
            <a:endParaRPr lang="en-US" dirty="0"/>
          </a:p>
        </p:txBody>
      </p:sp>
      <p:pic>
        <p:nvPicPr>
          <p:cNvPr id="34819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388" y="1481138"/>
            <a:ext cx="4214812" cy="4995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820" name="Picture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1481138"/>
            <a:ext cx="3733800" cy="43100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There is no copy constructor in java. </a:t>
            </a:r>
          </a:p>
          <a:p>
            <a:r>
              <a:rPr lang="en-US" altLang="en-US" smtClean="0"/>
              <a:t>But, we can copy the values of one object to another like copy constructor in C++.</a:t>
            </a:r>
          </a:p>
          <a:p>
            <a:endParaRPr lang="en-US" altLang="en-US" smtClean="0"/>
          </a:p>
          <a:p>
            <a:r>
              <a:rPr lang="en-US" altLang="en-US" smtClean="0">
                <a:solidFill>
                  <a:srgbClr val="FF0000"/>
                </a:solidFill>
              </a:rPr>
              <a:t>Ways to copy the values of one object into another </a:t>
            </a:r>
            <a:r>
              <a:rPr lang="en-US" altLang="en-US" smtClean="0"/>
              <a:t>in java, are:</a:t>
            </a:r>
          </a:p>
          <a:p>
            <a:pPr lvl="1"/>
            <a:r>
              <a:rPr lang="en-US" altLang="en-US" smtClean="0"/>
              <a:t>By constructor</a:t>
            </a:r>
          </a:p>
          <a:p>
            <a:pPr lvl="1"/>
            <a:r>
              <a:rPr lang="en-US" altLang="en-US" smtClean="0"/>
              <a:t>By assigning the values of one object into another</a:t>
            </a:r>
          </a:p>
          <a:p>
            <a:pPr lvl="1"/>
            <a:r>
              <a:rPr lang="en-US" altLang="en-US" smtClean="0"/>
              <a:t>By clone() method of Object class</a:t>
            </a:r>
          </a:p>
          <a:p>
            <a:pPr lvl="2"/>
            <a:r>
              <a:rPr lang="en-US" altLang="en-US" i="1" smtClean="0"/>
              <a:t>Will be discussed after Exception Handling and interface section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Java Copy Constructor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14" name="Content Placeholder 3"/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2057400"/>
            <a:ext cx="4391025" cy="4105275"/>
          </a:xfr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1. C</a:t>
            </a:r>
            <a:r>
              <a:rPr lang="en-US" dirty="0" smtClean="0"/>
              <a:t>opying using </a:t>
            </a:r>
            <a:r>
              <a:rPr lang="en-US" dirty="0"/>
              <a:t>java constructor</a:t>
            </a:r>
          </a:p>
        </p:txBody>
      </p:sp>
      <p:pic>
        <p:nvPicPr>
          <p:cNvPr id="38916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48225" y="2513013"/>
            <a:ext cx="4219575" cy="2333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Content Placeholder 1"/>
          <p:cNvSpPr txBox="1">
            <a:spLocks/>
          </p:cNvSpPr>
          <p:nvPr/>
        </p:nvSpPr>
        <p:spPr bwMode="auto">
          <a:xfrm>
            <a:off x="304800" y="1417638"/>
            <a:ext cx="8229600" cy="452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620713" indent="-22860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58838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1430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3716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1828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286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743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2004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i="1"/>
              <a:t>Passing Object to constructor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We can also copy the values of one object into another by assigning the objects values to another object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2. Copying values </a:t>
            </a:r>
            <a:r>
              <a:rPr lang="en-US" dirty="0" smtClean="0"/>
              <a:t>w/o constructor</a:t>
            </a:r>
            <a:endParaRPr lang="en-US" dirty="0"/>
          </a:p>
        </p:txBody>
      </p:sp>
      <p:pic>
        <p:nvPicPr>
          <p:cNvPr id="4096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3090863"/>
            <a:ext cx="4352925" cy="286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096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9200" y="3352800"/>
            <a:ext cx="3933825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Constructor VS Method</a:t>
            </a:r>
            <a:endParaRPr lang="en-US" dirty="0"/>
          </a:p>
        </p:txBody>
      </p:sp>
      <p:pic>
        <p:nvPicPr>
          <p:cNvPr id="4301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288" y="1676400"/>
            <a:ext cx="8353425" cy="4529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smtClean="0"/>
              <a:t>Q) Can </a:t>
            </a:r>
            <a:r>
              <a:rPr lang="en-US" dirty="0"/>
              <a:t>constructor perform other tasks instead of initialization</a:t>
            </a:r>
            <a:r>
              <a:rPr lang="en-US" dirty="0" smtClean="0"/>
              <a:t>?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dirty="0"/>
          </a:p>
          <a:p>
            <a:pPr marL="109537" indent="0">
              <a:buFont typeface="Wingdings 3" panose="05040102010807070707" pitchFamily="18" charset="2"/>
              <a:buNone/>
              <a:defRPr/>
            </a:pPr>
            <a:r>
              <a:rPr lang="en-US" dirty="0" err="1" smtClean="0"/>
              <a:t>Ans</a:t>
            </a:r>
            <a:r>
              <a:rPr lang="en-US" dirty="0" smtClean="0"/>
              <a:t>: </a:t>
            </a:r>
            <a:r>
              <a:rPr lang="en-US" dirty="0"/>
              <a:t>Yes, like object creation, starting a thread, calling method etc. You can perform any operation in the constructor as you perform in the method.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>
                <a:solidFill>
                  <a:srgbClr val="FF0000"/>
                </a:solidFill>
              </a:rPr>
              <a:t>Question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smtClean="0"/>
              <a:t>static keyword</a:t>
            </a:r>
            <a:r>
              <a:rPr lang="en-US" altLang="en-US" smtClean="0"/>
              <a:t> in java is used for memory management mainly</a:t>
            </a:r>
          </a:p>
          <a:p>
            <a:endParaRPr lang="en-US" altLang="en-US" smtClean="0"/>
          </a:p>
          <a:p>
            <a:r>
              <a:rPr lang="en-US" altLang="en-US" smtClean="0"/>
              <a:t>The static can be:</a:t>
            </a:r>
          </a:p>
          <a:p>
            <a:pPr lvl="1"/>
            <a:r>
              <a:rPr lang="en-US" altLang="en-US" smtClean="0"/>
              <a:t>variable (also known as class variable)</a:t>
            </a:r>
          </a:p>
          <a:p>
            <a:pPr lvl="1"/>
            <a:r>
              <a:rPr lang="en-US" altLang="en-US" smtClean="0"/>
              <a:t>method (also known as class method)</a:t>
            </a:r>
          </a:p>
          <a:p>
            <a:pPr lvl="1"/>
            <a:r>
              <a:rPr lang="en-US" altLang="en-US" smtClean="0"/>
              <a:t>block</a:t>
            </a:r>
          </a:p>
          <a:p>
            <a:pPr lvl="1"/>
            <a:r>
              <a:rPr lang="en-US" altLang="en-US" smtClean="0"/>
              <a:t>nested class</a:t>
            </a:r>
          </a:p>
          <a:p>
            <a:pPr lvl="2"/>
            <a:r>
              <a:rPr lang="en-US" altLang="en-US" i="1" smtClean="0"/>
              <a:t>Will be discussed in next lecture in “Inner Classes”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Java static keyword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you declare any variable as static, it is known static variable.</a:t>
            </a:r>
          </a:p>
          <a:p>
            <a:r>
              <a:rPr lang="en-US" altLang="en-US" dirty="0" smtClean="0"/>
              <a:t>Use:</a:t>
            </a:r>
          </a:p>
          <a:p>
            <a:pPr lvl="1"/>
            <a:r>
              <a:rPr lang="en-US" altLang="en-US" dirty="0" smtClean="0"/>
              <a:t>Can be used to refer the common property of all objects (that is not unique for each object) e.g. company name of employees, college name of students etc.</a:t>
            </a:r>
          </a:p>
          <a:p>
            <a:r>
              <a:rPr lang="en-US" altLang="en-US" dirty="0" smtClean="0"/>
              <a:t>Advantage:</a:t>
            </a:r>
          </a:p>
          <a:p>
            <a:pPr lvl="1"/>
            <a:r>
              <a:rPr lang="en-US" altLang="en-US" dirty="0" smtClean="0"/>
              <a:t>Gets memory only once in class area at the time of class loading</a:t>
            </a:r>
          </a:p>
          <a:p>
            <a:pPr lvl="1"/>
            <a:r>
              <a:rPr lang="en-US" altLang="en-US" dirty="0" smtClean="0"/>
              <a:t>Makes a program </a:t>
            </a:r>
            <a:r>
              <a:rPr lang="en-US" altLang="en-US" b="1" dirty="0" smtClean="0"/>
              <a:t>memory efficient</a:t>
            </a:r>
            <a:r>
              <a:rPr lang="en-US" altLang="en-US" dirty="0" smtClean="0"/>
              <a:t> (i.e. saves memory).</a:t>
            </a:r>
          </a:p>
          <a:p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1. static </a:t>
            </a:r>
            <a:r>
              <a:rPr lang="en-US" dirty="0"/>
              <a:t>variable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smtClean="0"/>
              <a:t>Suppose there are 500 students, then what ??</a:t>
            </a:r>
          </a:p>
          <a:p>
            <a:endParaRPr lang="en-US" altLang="en-US" smtClean="0"/>
          </a:p>
          <a:p>
            <a:r>
              <a:rPr lang="en-US" altLang="en-US" smtClean="0"/>
              <a:t>Solution ?? </a:t>
            </a:r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problem without static variable</a:t>
            </a:r>
          </a:p>
        </p:txBody>
      </p:sp>
      <p:pic>
        <p:nvPicPr>
          <p:cNvPr id="491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62313" y="1417638"/>
            <a:ext cx="2619375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 (Solution)</a:t>
            </a:r>
            <a:endParaRPr lang="en-US" dirty="0"/>
          </a:p>
        </p:txBody>
      </p:sp>
      <p:pic>
        <p:nvPicPr>
          <p:cNvPr id="5120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1300163"/>
            <a:ext cx="6172200" cy="55578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Memory point of View</a:t>
            </a:r>
            <a:endParaRPr lang="en-US" dirty="0"/>
          </a:p>
        </p:txBody>
      </p:sp>
      <p:pic>
        <p:nvPicPr>
          <p:cNvPr id="53251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76400"/>
            <a:ext cx="6334125" cy="469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Program of counter without static variable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Another Example</a:t>
            </a:r>
            <a:endParaRPr lang="en-US" dirty="0"/>
          </a:p>
        </p:txBody>
      </p:sp>
      <p:pic>
        <p:nvPicPr>
          <p:cNvPr id="5427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133600"/>
            <a:ext cx="4067175" cy="4486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Program of counter by static variable</a:t>
            </a:r>
          </a:p>
        </p:txBody>
      </p:sp>
      <p:pic>
        <p:nvPicPr>
          <p:cNvPr id="56323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600200"/>
            <a:ext cx="5697538" cy="4729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you apply static keyword with any method, it is known as static method.</a:t>
            </a:r>
          </a:p>
          <a:p>
            <a:r>
              <a:rPr lang="en-US" altLang="en-US" dirty="0" smtClean="0"/>
              <a:t>A static method;</a:t>
            </a:r>
          </a:p>
          <a:p>
            <a:pPr lvl="1"/>
            <a:r>
              <a:rPr lang="en-US" altLang="en-US" dirty="0" smtClean="0"/>
              <a:t>belongs to the class rather than object of a class.</a:t>
            </a:r>
          </a:p>
          <a:p>
            <a:pPr lvl="1"/>
            <a:r>
              <a:rPr lang="en-US" altLang="en-US" dirty="0" smtClean="0"/>
              <a:t>can be invoked without the need for creating an instance of a class.</a:t>
            </a:r>
          </a:p>
          <a:p>
            <a:pPr lvl="1"/>
            <a:r>
              <a:rPr lang="en-US" altLang="en-US" dirty="0" smtClean="0"/>
              <a:t>can access static data member and can change it’s value</a:t>
            </a:r>
          </a:p>
          <a:p>
            <a:endParaRPr lang="en-US" alt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2. </a:t>
            </a:r>
            <a:r>
              <a:rPr lang="en-US" dirty="0"/>
              <a:t>Java static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675188"/>
          </a:xfrm>
        </p:spPr>
        <p:txBody>
          <a:bodyPr/>
          <a:lstStyle/>
          <a:p>
            <a:r>
              <a:rPr lang="en-US" altLang="en-US" smtClean="0"/>
              <a:t>Program of changing the common property of all  objects (static field).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939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362200"/>
            <a:ext cx="4957763" cy="4295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39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9225" y="2800350"/>
            <a:ext cx="3457575" cy="3419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Program to get cube of a given number by static  method 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Another Example</a:t>
            </a:r>
            <a:endParaRPr lang="en-US" dirty="0"/>
          </a:p>
        </p:txBody>
      </p:sp>
      <p:pic>
        <p:nvPicPr>
          <p:cNvPr id="6144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2590800"/>
            <a:ext cx="4572000" cy="341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The static method can not use non static data member or call non-static method </a:t>
            </a:r>
            <a:r>
              <a:rPr lang="en-US" i="1" dirty="0"/>
              <a:t>directly</a:t>
            </a:r>
            <a:r>
              <a:rPr lang="en-US" dirty="0" smtClean="0"/>
              <a:t>.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this and super cannot be used in static context.</a:t>
            </a:r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Restrictions for static method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Is used to initialize the static data member.</a:t>
            </a:r>
          </a:p>
          <a:p>
            <a:r>
              <a:rPr lang="en-US" altLang="en-US" smtClean="0"/>
              <a:t>It is executed before main method at the time of classloading.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3. Java static block</a:t>
            </a:r>
          </a:p>
        </p:txBody>
      </p:sp>
      <p:pic>
        <p:nvPicPr>
          <p:cNvPr id="67588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3124200"/>
            <a:ext cx="5029200" cy="220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382000" cy="4525962"/>
          </a:xfrm>
        </p:spPr>
        <p:txBody>
          <a:bodyPr/>
          <a:lstStyle/>
          <a:p>
            <a:pPr>
              <a:defRPr/>
            </a:pPr>
            <a:r>
              <a:rPr lang="en-US" b="1" i="1" dirty="0" smtClean="0"/>
              <a:t>this </a:t>
            </a:r>
            <a:r>
              <a:rPr lang="en-US" dirty="0" smtClean="0"/>
              <a:t>is </a:t>
            </a:r>
            <a:r>
              <a:rPr lang="en-US" dirty="0"/>
              <a:t>a </a:t>
            </a:r>
            <a:r>
              <a:rPr lang="en-US" b="1" dirty="0"/>
              <a:t>reference variable</a:t>
            </a:r>
            <a:r>
              <a:rPr lang="en-US" dirty="0"/>
              <a:t> that refers to the current object</a:t>
            </a:r>
            <a:r>
              <a:rPr lang="en-US" dirty="0" smtClean="0"/>
              <a:t>.</a:t>
            </a:r>
          </a:p>
          <a:p>
            <a:pPr marL="109537" indent="0">
              <a:buFont typeface="Wingdings 3" panose="05040102010807070707" pitchFamily="18" charset="2"/>
              <a:buNone/>
              <a:defRPr/>
            </a:pPr>
            <a:endParaRPr lang="en-US" dirty="0"/>
          </a:p>
          <a:p>
            <a:pPr>
              <a:defRPr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this keyword in java</a:t>
            </a:r>
          </a:p>
        </p:txBody>
      </p:sp>
      <p:pic>
        <p:nvPicPr>
          <p:cNvPr id="7066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2895600"/>
            <a:ext cx="5029200" cy="2362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smtClean="0"/>
              <a:t>this </a:t>
            </a:r>
            <a:r>
              <a:rPr lang="en-US" altLang="en-US" smtClean="0"/>
              <a:t>can be:</a:t>
            </a:r>
            <a:endParaRPr lang="en-US" altLang="en-US" b="1" i="1" smtClean="0"/>
          </a:p>
          <a:p>
            <a:pPr lvl="1"/>
            <a:r>
              <a:rPr lang="en-US" altLang="en-US" b="1" smtClean="0"/>
              <a:t>used to refer current class instance variable.</a:t>
            </a:r>
          </a:p>
          <a:p>
            <a:pPr lvl="1"/>
            <a:r>
              <a:rPr lang="en-US" altLang="en-US" b="1" smtClean="0"/>
              <a:t>used to invoke current class method (implicitly)</a:t>
            </a:r>
          </a:p>
          <a:p>
            <a:pPr lvl="1"/>
            <a:r>
              <a:rPr lang="en-US" altLang="en-US" b="1" smtClean="0"/>
              <a:t>used to invoke current class constructor.</a:t>
            </a:r>
          </a:p>
          <a:p>
            <a:pPr lvl="1"/>
            <a:r>
              <a:rPr lang="en-US" altLang="en-US" smtClean="0"/>
              <a:t>passed as an argument in the method call.</a:t>
            </a:r>
          </a:p>
          <a:p>
            <a:pPr lvl="1"/>
            <a:r>
              <a:rPr lang="en-US" altLang="en-US" smtClean="0"/>
              <a:t>passed as argument in the constructor call.</a:t>
            </a:r>
          </a:p>
          <a:p>
            <a:pPr lvl="1"/>
            <a:r>
              <a:rPr lang="en-US" altLang="en-US" smtClean="0"/>
              <a:t>used to return the current class instance from the method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Usage of java this </a:t>
            </a:r>
            <a:r>
              <a:rPr lang="en-US" dirty="0" smtClean="0"/>
              <a:t>keyword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smtClean="0"/>
              <a:t>If there is ambiguity between the instance variables and parameters, this keyword resolves the problem of ambiguity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1. this: to refer current class instance variable</a:t>
            </a:r>
          </a:p>
        </p:txBody>
      </p:sp>
      <p:pic>
        <p:nvPicPr>
          <p:cNvPr id="74756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30513"/>
            <a:ext cx="4486275" cy="379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4757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43500" y="2830513"/>
            <a:ext cx="3343275" cy="195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4758" name="TextBox 5"/>
          <p:cNvSpPr txBox="1">
            <a:spLocks noChangeArrowheads="1"/>
          </p:cNvSpPr>
          <p:nvPr/>
        </p:nvSpPr>
        <p:spPr bwMode="auto">
          <a:xfrm>
            <a:off x="5819775" y="4724400"/>
            <a:ext cx="2667000" cy="1477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 u="sng" dirty="0"/>
              <a:t>Output: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en-US" sz="1800" dirty="0"/>
              <a:t>0 null 0.0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en-US" sz="1800" dirty="0"/>
              <a:t>0 null 0.0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it-IT" altLang="en-US" sz="1800" dirty="0"/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it-IT" altLang="en-US" sz="1800" b="1" dirty="0">
                <a:solidFill>
                  <a:srgbClr val="FF0000"/>
                </a:solidFill>
              </a:rPr>
              <a:t>Problem???</a:t>
            </a:r>
            <a:endParaRPr lang="en-US" altLang="en-US" sz="1800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8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Variables with the same names:</a:t>
            </a:r>
          </a:p>
          <a:p>
            <a:pPr lvl="1" eaLnBrk="1" hangingPunct="1"/>
            <a:r>
              <a:rPr lang="en-US" altLang="en-US" smtClean="0"/>
              <a:t>it is illegal to declare two local variables with the same name inside the same or enclosing scopes</a:t>
            </a:r>
          </a:p>
          <a:p>
            <a:pPr eaLnBrk="1" hangingPunct="1"/>
            <a:endParaRPr lang="en-US" altLang="en-US" smtClean="0"/>
          </a:p>
          <a:p>
            <a:pPr eaLnBrk="1" hangingPunct="1"/>
            <a:r>
              <a:rPr lang="en-US" altLang="en-US" smtClean="0"/>
              <a:t>parameters and instance variables are same. So, </a:t>
            </a:r>
            <a:r>
              <a:rPr lang="en-US" altLang="en-US" b="1" i="1" smtClean="0"/>
              <a:t>this</a:t>
            </a:r>
            <a:r>
              <a:rPr lang="en-US" altLang="en-US" smtClean="0"/>
              <a:t> keyword is used to distinguish local variable and instance variable</a:t>
            </a:r>
          </a:p>
          <a:p>
            <a:pPr eaLnBrk="1" hangingPunct="1"/>
            <a:r>
              <a:rPr lang="en-US" altLang="en-US" smtClean="0"/>
              <a:t>Also that same-named local variables/parameters will hide the instance variables, using </a:t>
            </a:r>
            <a:r>
              <a:rPr lang="en-US" altLang="en-US" b="1" i="1" smtClean="0"/>
              <a:t>this</a:t>
            </a:r>
            <a:r>
              <a:rPr lang="en-US" altLang="en-US" smtClean="0"/>
              <a:t> is necessary to regain access to them.</a:t>
            </a:r>
          </a:p>
          <a:p>
            <a:pPr eaLnBrk="1" hangingPunct="1"/>
            <a:endParaRPr lang="en-US" altLang="en-US" smtClean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Instance Variables Hiding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Content Placeholder 1"/>
          <p:cNvSpPr>
            <a:spLocks noGrp="1"/>
          </p:cNvSpPr>
          <p:nvPr>
            <p:ph idx="1"/>
          </p:nvPr>
        </p:nvSpPr>
        <p:spPr>
          <a:xfrm>
            <a:off x="457200" y="1401763"/>
            <a:ext cx="8229600" cy="4525962"/>
          </a:xfrm>
        </p:spPr>
        <p:txBody>
          <a:bodyPr/>
          <a:lstStyle/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  <a:p>
            <a:r>
              <a:rPr lang="en-US" altLang="en-US" i="1" smtClean="0"/>
              <a:t>It is better approach to use meaningful names for variables. So, same names are used for instance variables and parameters in real time, and always used this keyword.</a:t>
            </a:r>
          </a:p>
          <a:p>
            <a:endParaRPr lang="en-US" altLang="en-US" smtClean="0"/>
          </a:p>
          <a:p>
            <a:endParaRPr lang="en-US" altLang="en-US" smtClean="0"/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62"/>
          </a:xfrm>
        </p:spPr>
        <p:txBody>
          <a:bodyPr/>
          <a:lstStyle/>
          <a:p>
            <a:pPr>
              <a:defRPr/>
            </a:pPr>
            <a:r>
              <a:rPr lang="en-US" dirty="0" smtClean="0"/>
              <a:t>Solution</a:t>
            </a:r>
            <a:endParaRPr lang="en-US" dirty="0"/>
          </a:p>
        </p:txBody>
      </p:sp>
      <p:pic>
        <p:nvPicPr>
          <p:cNvPr id="78852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63" y="1143000"/>
            <a:ext cx="4648200" cy="342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8853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5588" y="1143000"/>
            <a:ext cx="3324225" cy="2328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method of the current class can be invoked using </a:t>
            </a:r>
            <a:r>
              <a:rPr lang="en-US" altLang="en-US" b="1" i="1" smtClean="0"/>
              <a:t>this</a:t>
            </a:r>
            <a:r>
              <a:rPr lang="en-US" altLang="en-US" smtClean="0"/>
              <a:t> keyword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2. this: to invoke current class method</a:t>
            </a:r>
          </a:p>
        </p:txBody>
      </p:sp>
      <p:pic>
        <p:nvPicPr>
          <p:cNvPr id="80900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2422525"/>
            <a:ext cx="5410200" cy="405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If not used, the compiler automatically adds </a:t>
            </a:r>
            <a:r>
              <a:rPr lang="en-US" altLang="en-US" b="1" i="1" smtClean="0"/>
              <a:t>this</a:t>
            </a:r>
            <a:r>
              <a:rPr lang="en-US" altLang="en-US" smtClean="0"/>
              <a:t> keyword while invoking the method.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If </a:t>
            </a:r>
            <a:r>
              <a:rPr lang="en-US" i="1" dirty="0" smtClean="0"/>
              <a:t>this </a:t>
            </a:r>
            <a:r>
              <a:rPr lang="en-US" dirty="0" smtClean="0"/>
              <a:t>not used ??</a:t>
            </a:r>
            <a:endParaRPr lang="en-US" dirty="0"/>
          </a:p>
        </p:txBody>
      </p:sp>
      <p:pic>
        <p:nvPicPr>
          <p:cNvPr id="82948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0713" y="2743200"/>
            <a:ext cx="7902575" cy="358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z="2800" smtClean="0"/>
              <a:t>The this() constructor call can be used to invoke the current class constructor i.e. to reuse the constructor </a:t>
            </a:r>
            <a:endParaRPr lang="en-US" altLang="en-US" smtClean="0"/>
          </a:p>
          <a:p>
            <a:r>
              <a:rPr lang="en-US" altLang="en-US" smtClean="0"/>
              <a:t>It maintains the chain between the constructors i.e. it is used for </a:t>
            </a:r>
            <a:r>
              <a:rPr lang="en-US" altLang="en-US" b="1" smtClean="0"/>
              <a:t>constructor chaining</a:t>
            </a:r>
            <a:r>
              <a:rPr lang="en-US" altLang="en-US" smtClean="0"/>
              <a:t>. 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3. this</a:t>
            </a:r>
            <a:r>
              <a:rPr lang="en-US" dirty="0"/>
              <a:t>() : to invoke current class constructor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86019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600200"/>
            <a:ext cx="5638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0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53000" y="1600200"/>
            <a:ext cx="4029075" cy="243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6021" name="TextBox 9"/>
          <p:cNvSpPr txBox="1">
            <a:spLocks noChangeArrowheads="1"/>
          </p:cNvSpPr>
          <p:nvPr/>
        </p:nvSpPr>
        <p:spPr bwMode="auto">
          <a:xfrm>
            <a:off x="4851400" y="4543425"/>
            <a:ext cx="41148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400"/>
              </a:spcBef>
              <a:buClr>
                <a:schemeClr val="accent1"/>
              </a:buClr>
              <a:buSzPct val="68000"/>
              <a:buFont typeface="Wingdings 3" panose="05040102010807070707" pitchFamily="18" charset="2"/>
              <a:buChar char=""/>
              <a:defRPr sz="27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ts val="325"/>
              </a:spcBef>
              <a:buClr>
                <a:schemeClr val="accent1"/>
              </a:buClr>
              <a:buFont typeface="Verdana" panose="020B0604030504040204" pitchFamily="34" charset="0"/>
              <a:buChar char="◦"/>
              <a:defRPr sz="23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ts val="350"/>
              </a:spcBef>
              <a:buClr>
                <a:schemeClr val="accent2"/>
              </a:buClr>
              <a:buSzPct val="100000"/>
              <a:buFont typeface="Wingdings 2" panose="05020102010507070707" pitchFamily="18" charset="2"/>
              <a:buChar char=""/>
              <a:defRPr sz="21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19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ts val="350"/>
              </a:spcBef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ts val="350"/>
              </a:spcBef>
              <a:spcAft>
                <a:spcPct val="0"/>
              </a:spcAft>
              <a:buClr>
                <a:schemeClr val="accent2"/>
              </a:buClr>
              <a:buFont typeface="Wingdings 2" panose="05020102010507070707" pitchFamily="18" charset="2"/>
              <a:buChar char=""/>
              <a:defRPr sz="200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 b="1">
                <a:solidFill>
                  <a:srgbClr val="FF0000"/>
                </a:solidFill>
              </a:rPr>
              <a:t>Rule: </a:t>
            </a:r>
            <a:r>
              <a:rPr lang="en-US" altLang="en-US" sz="1800" b="1"/>
              <a:t>Call to this() must be the first statement in constructor. Otherwise </a:t>
            </a:r>
            <a:r>
              <a:rPr lang="en-US" altLang="en-US" sz="1800" b="1">
                <a:solidFill>
                  <a:srgbClr val="FF0000"/>
                </a:solidFill>
              </a:rPr>
              <a:t>C.T Error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smtClean="0"/>
              <a:t>Object can be passed as an argument in both:</a:t>
            </a:r>
          </a:p>
          <a:p>
            <a:pPr lvl="1"/>
            <a:r>
              <a:rPr lang="en-US" altLang="en-US" smtClean="0"/>
              <a:t>Method </a:t>
            </a:r>
          </a:p>
          <a:p>
            <a:pPr lvl="1"/>
            <a:r>
              <a:rPr lang="en-US" altLang="en-US" smtClean="0"/>
              <a:t>Constructor </a:t>
            </a:r>
            <a:r>
              <a:rPr lang="en-US" altLang="en-US" i="1" smtClean="0"/>
              <a:t>(already discussed in copy constructors)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Object Argument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 far, all methods received arguments of simple types.</a:t>
            </a:r>
          </a:p>
          <a:p>
            <a:pPr eaLnBrk="1" hangingPunct="1"/>
            <a:r>
              <a:rPr lang="en-US" altLang="en-US" smtClean="0"/>
              <a:t>They may also receive an object as an argument. Here is a method to check if a parameter object is equal to the invoking object: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/>
              <a:t>Object Argument in method</a:t>
            </a:r>
            <a:endParaRPr lang="en-US" dirty="0"/>
          </a:p>
        </p:txBody>
      </p:sp>
      <p:pic>
        <p:nvPicPr>
          <p:cNvPr id="90116" name="Picture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3744913"/>
            <a:ext cx="7010400" cy="3113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Object Argument</a:t>
            </a:r>
            <a:endParaRPr lang="en-US" dirty="0"/>
          </a:p>
        </p:txBody>
      </p:sp>
      <p:pic>
        <p:nvPicPr>
          <p:cNvPr id="92163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1676400"/>
            <a:ext cx="7620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dirty="0" smtClean="0"/>
              <a:t>Two types of variables:</a:t>
            </a:r>
          </a:p>
          <a:p>
            <a:pPr lvl="1" eaLnBrk="1" hangingPunct="1"/>
            <a:r>
              <a:rPr lang="en-US" altLang="en-US" dirty="0" smtClean="0"/>
              <a:t>simple types</a:t>
            </a:r>
          </a:p>
          <a:p>
            <a:pPr lvl="1" eaLnBrk="1" hangingPunct="1"/>
            <a:r>
              <a:rPr lang="en-US" altLang="en-US" dirty="0" smtClean="0"/>
              <a:t>class types</a:t>
            </a:r>
          </a:p>
          <a:p>
            <a:pPr eaLnBrk="1" hangingPunct="1"/>
            <a:r>
              <a:rPr lang="en-US" altLang="en-US" dirty="0" smtClean="0"/>
              <a:t>Two corresponding ways of how the </a:t>
            </a:r>
            <a:r>
              <a:rPr lang="en-US" altLang="en-US" b="1" dirty="0" smtClean="0"/>
              <a:t>arguments are passed to methods</a:t>
            </a:r>
            <a:r>
              <a:rPr lang="en-US" altLang="en-US" dirty="0" smtClean="0"/>
              <a:t>:</a:t>
            </a:r>
          </a:p>
          <a:p>
            <a:pPr lvl="1" eaLnBrk="1" hangingPunct="1"/>
            <a:r>
              <a:rPr lang="en-US" altLang="en-US" b="1" dirty="0" smtClean="0"/>
              <a:t>by value</a:t>
            </a:r>
            <a:r>
              <a:rPr lang="en-US" altLang="en-US" dirty="0" smtClean="0"/>
              <a:t>: a method receives a copy of the original value; parameters of simple types</a:t>
            </a:r>
          </a:p>
          <a:p>
            <a:pPr lvl="1" eaLnBrk="1" hangingPunct="1"/>
            <a:r>
              <a:rPr lang="en-US" altLang="en-US" b="1" dirty="0" smtClean="0"/>
              <a:t>by reference</a:t>
            </a:r>
            <a:r>
              <a:rPr lang="en-US" altLang="en-US" dirty="0" smtClean="0"/>
              <a:t>: a method receives the memory address of the original value, not the value itself; parameters of class types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Argument Passing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i="1" smtClean="0"/>
              <a:t>There is only call by value in java, not call by reference</a:t>
            </a:r>
          </a:p>
          <a:p>
            <a:r>
              <a:rPr lang="en-US" altLang="en-US" smtClean="0"/>
              <a:t>If we call a method passing a value, it is known as call by value</a:t>
            </a:r>
          </a:p>
          <a:p>
            <a:r>
              <a:rPr lang="en-US" altLang="en-US" smtClean="0"/>
              <a:t>The changes being done in the called method, is not affected in the calling method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Call by Value and Call by Reference in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534400" cy="4787900"/>
          </a:xfrm>
        </p:spPr>
        <p:txBody>
          <a:bodyPr/>
          <a:lstStyle/>
          <a:p>
            <a:r>
              <a:rPr lang="en-US" altLang="en-US" smtClean="0"/>
              <a:t>In case of call by value original value is not changed</a:t>
            </a:r>
          </a:p>
          <a:p>
            <a:r>
              <a:rPr lang="en-US" altLang="en-US" smtClean="0"/>
              <a:t>the parameter that receives the argument has no effect outside the method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57200" y="274638"/>
            <a:ext cx="8534400" cy="11430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en-US" dirty="0" smtClean="0"/>
              <a:t>Call by Value/</a:t>
            </a:r>
            <a:r>
              <a:rPr lang="en-US" sz="3100" dirty="0" smtClean="0"/>
              <a:t>Simple Type </a:t>
            </a:r>
            <a:r>
              <a:rPr lang="en-US" sz="3100" dirty="0"/>
              <a:t>Argument Passing </a:t>
            </a:r>
          </a:p>
        </p:txBody>
      </p:sp>
      <p:pic>
        <p:nvPicPr>
          <p:cNvPr id="100356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82863"/>
            <a:ext cx="7848600" cy="4275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Content Placeholder 1"/>
          <p:cNvSpPr>
            <a:spLocks noGrp="1"/>
          </p:cNvSpPr>
          <p:nvPr>
            <p:ph idx="1"/>
          </p:nvPr>
        </p:nvSpPr>
        <p:spPr>
          <a:xfrm>
            <a:off x="457200" y="1481138"/>
            <a:ext cx="8686800" cy="4525962"/>
          </a:xfrm>
        </p:spPr>
        <p:txBody>
          <a:bodyPr/>
          <a:lstStyle/>
          <a:p>
            <a:r>
              <a:rPr lang="en-US" altLang="en-US" smtClean="0"/>
              <a:t>In case of call by reference original value is changed if we made changes in the called method</a:t>
            </a:r>
          </a:p>
          <a:p>
            <a:r>
              <a:rPr lang="en-US" altLang="en-US" b="1" i="1" smtClean="0"/>
              <a:t>Objects are passed to the methods by reference</a:t>
            </a:r>
            <a:endParaRPr lang="en-US" altLang="en-US" i="1" smtClean="0"/>
          </a:p>
          <a:p>
            <a:r>
              <a:rPr lang="en-US" altLang="en-US" smtClean="0"/>
              <a:t>a parameter obtains the same address as the corresponding argument</a:t>
            </a:r>
          </a:p>
          <a:p>
            <a:r>
              <a:rPr lang="en-US" altLang="en-US" smtClean="0"/>
              <a:t>As the parameter hold the same address as the argument, changes to the object inside the method do affect the object used by the argument</a:t>
            </a:r>
          </a:p>
          <a:p>
            <a:endParaRPr lang="en-US" altLang="en-US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>
              <a:defRPr/>
            </a:pPr>
            <a:r>
              <a:rPr lang="en-US" dirty="0"/>
              <a:t>Class Type Argument </a:t>
            </a:r>
            <a:r>
              <a:rPr lang="en-US" dirty="0" smtClean="0"/>
              <a:t>Passing (pass Object as reference) 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62226" y="1600200"/>
            <a:ext cx="8619547" cy="434340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3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So far, all methods returned no values or values of simple types.</a:t>
            </a:r>
          </a:p>
          <a:p>
            <a:pPr eaLnBrk="1" hangingPunct="1"/>
            <a:r>
              <a:rPr lang="en-US" altLang="en-US" smtClean="0"/>
              <a:t>Methods may also return objects: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Returning Objects</a:t>
            </a:r>
            <a:endParaRPr lang="en-US" dirty="0"/>
          </a:p>
        </p:txBody>
      </p:sp>
      <p:pic>
        <p:nvPicPr>
          <p:cNvPr id="10547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182938"/>
            <a:ext cx="51816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en-US" smtClean="0"/>
              <a:t>Each time a method </a:t>
            </a:r>
            <a:r>
              <a:rPr lang="en-US" altLang="en-US" b="1" smtClean="0"/>
              <a:t>incrByTen</a:t>
            </a:r>
            <a:r>
              <a:rPr lang="en-US" altLang="en-US" smtClean="0"/>
              <a:t> is invoked a new object is created and a reference to it is returned: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dirty="0" smtClean="0"/>
              <a:t>Returning Objects</a:t>
            </a:r>
            <a:endParaRPr lang="en-US" dirty="0"/>
          </a:p>
        </p:txBody>
      </p:sp>
      <p:pic>
        <p:nvPicPr>
          <p:cNvPr id="106500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2557463"/>
            <a:ext cx="7162800" cy="3995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>
              <a:buFont typeface="Wingdings 3" panose="05040102010807070707" pitchFamily="18" charset="2"/>
              <a:buNone/>
            </a:pPr>
            <a:endParaRPr lang="en-US" altLang="en-US" sz="4000" b="1" smtClean="0"/>
          </a:p>
          <a:p>
            <a:pPr algn="ctr">
              <a:buFont typeface="Wingdings 3" panose="05040102010807070707" pitchFamily="18" charset="2"/>
              <a:buNone/>
            </a:pPr>
            <a:endParaRPr lang="en-US" altLang="en-US" sz="4000" b="1" smtClean="0"/>
          </a:p>
          <a:p>
            <a:pPr algn="ctr">
              <a:buFont typeface="Wingdings 3" panose="05040102010807070707" pitchFamily="18" charset="2"/>
              <a:buNone/>
            </a:pPr>
            <a:r>
              <a:rPr lang="en-US" altLang="en-US" sz="4000" b="1" smtClean="0"/>
              <a:t>Questions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Concourse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8869</TotalTime>
  <Words>1442</Words>
  <Application>Microsoft Office PowerPoint</Application>
  <PresentationFormat>On-screen Show (4:3)</PresentationFormat>
  <Paragraphs>252</Paragraphs>
  <Slides>54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1" baseType="lpstr">
      <vt:lpstr>Arial</vt:lpstr>
      <vt:lpstr>Calibri</vt:lpstr>
      <vt:lpstr>Lucida Sans Unicode</vt:lpstr>
      <vt:lpstr>Verdana</vt:lpstr>
      <vt:lpstr>Wingdings 2</vt:lpstr>
      <vt:lpstr>Wingdings 3</vt:lpstr>
      <vt:lpstr>Concourse</vt:lpstr>
      <vt:lpstr>Object Oriented  Programming</vt:lpstr>
      <vt:lpstr>Topics to be covered today</vt:lpstr>
      <vt:lpstr>Constructor</vt:lpstr>
      <vt:lpstr>Rules for creating java constructor</vt:lpstr>
      <vt:lpstr>Types of java constructors</vt:lpstr>
      <vt:lpstr>1. Java Default Constructor</vt:lpstr>
      <vt:lpstr>Example</vt:lpstr>
      <vt:lpstr>Rectangle Example with constructor</vt:lpstr>
      <vt:lpstr>Rule</vt:lpstr>
      <vt:lpstr>Class Participation</vt:lpstr>
      <vt:lpstr>Answer</vt:lpstr>
      <vt:lpstr>2. Java parameterized constructor</vt:lpstr>
      <vt:lpstr>Example</vt:lpstr>
      <vt:lpstr>Rectangle Example with Parameterized constructor</vt:lpstr>
      <vt:lpstr>Constructor Overloading in Java</vt:lpstr>
      <vt:lpstr>Example</vt:lpstr>
      <vt:lpstr>Constructor Overloading(Rectangle)</vt:lpstr>
      <vt:lpstr>Java Copy Constructor</vt:lpstr>
      <vt:lpstr>1. Copying using java constructor</vt:lpstr>
      <vt:lpstr>2. Copying values w/o constructor</vt:lpstr>
      <vt:lpstr>Constructor VS Method</vt:lpstr>
      <vt:lpstr>Question</vt:lpstr>
      <vt:lpstr>Java static keyword</vt:lpstr>
      <vt:lpstr>1. static variable</vt:lpstr>
      <vt:lpstr>problem without static variable</vt:lpstr>
      <vt:lpstr>Example (Solution)</vt:lpstr>
      <vt:lpstr>Memory point of View</vt:lpstr>
      <vt:lpstr>Another Example</vt:lpstr>
      <vt:lpstr>Program of counter by static variable</vt:lpstr>
      <vt:lpstr>2. Java static method</vt:lpstr>
      <vt:lpstr>Example</vt:lpstr>
      <vt:lpstr>Another Example</vt:lpstr>
      <vt:lpstr>Restrictions for static method</vt:lpstr>
      <vt:lpstr>3. Java static block</vt:lpstr>
      <vt:lpstr>this keyword in java</vt:lpstr>
      <vt:lpstr>Usage of java this keyword</vt:lpstr>
      <vt:lpstr>1. this: to refer current class instance variable</vt:lpstr>
      <vt:lpstr>Instance Variables Hiding </vt:lpstr>
      <vt:lpstr>Solution</vt:lpstr>
      <vt:lpstr>2. this: to invoke current class method</vt:lpstr>
      <vt:lpstr>If this not used ??</vt:lpstr>
      <vt:lpstr>3. this() : to invoke current class constructor</vt:lpstr>
      <vt:lpstr>Example</vt:lpstr>
      <vt:lpstr>Object Argument</vt:lpstr>
      <vt:lpstr>Object Argument in method</vt:lpstr>
      <vt:lpstr>Object Argument</vt:lpstr>
      <vt:lpstr>Argument Passing</vt:lpstr>
      <vt:lpstr>Call by Value and Call by Reference in Java</vt:lpstr>
      <vt:lpstr>Call by Value/Simple Type Argument Passing </vt:lpstr>
      <vt:lpstr>Class Type Argument Passing (pass Object as reference) </vt:lpstr>
      <vt:lpstr>Example</vt:lpstr>
      <vt:lpstr>Returning Objects</vt:lpstr>
      <vt:lpstr>Returning Objects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WinDows7</dc:creator>
  <cp:lastModifiedBy>Admin</cp:lastModifiedBy>
  <cp:revision>122</cp:revision>
  <dcterms:created xsi:type="dcterms:W3CDTF">2010-10-21T15:04:36Z</dcterms:created>
  <dcterms:modified xsi:type="dcterms:W3CDTF">2021-11-13T13:43:56Z</dcterms:modified>
</cp:coreProperties>
</file>