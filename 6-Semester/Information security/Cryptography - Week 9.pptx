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37"/>
  </p:notesMasterIdLst>
  <p:sldIdLst>
    <p:sldId id="256" r:id="rId2"/>
    <p:sldId id="257" r:id="rId3"/>
    <p:sldId id="287" r:id="rId4"/>
    <p:sldId id="288" r:id="rId5"/>
    <p:sldId id="289" r:id="rId6"/>
    <p:sldId id="290" r:id="rId7"/>
    <p:sldId id="291"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92" r:id="rId25"/>
    <p:sldId id="274" r:id="rId26"/>
    <p:sldId id="275" r:id="rId27"/>
    <p:sldId id="281" r:id="rId28"/>
    <p:sldId id="276" r:id="rId29"/>
    <p:sldId id="282" r:id="rId30"/>
    <p:sldId id="284" r:id="rId31"/>
    <p:sldId id="277" r:id="rId32"/>
    <p:sldId id="283" r:id="rId33"/>
    <p:sldId id="285" r:id="rId34"/>
    <p:sldId id="278" r:id="rId35"/>
    <p:sldId id="28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142" autoAdjust="0"/>
  </p:normalViewPr>
  <p:slideViewPr>
    <p:cSldViewPr snapToGrid="0">
      <p:cViewPr>
        <p:scale>
          <a:sx n="61" d="100"/>
          <a:sy n="61" d="100"/>
        </p:scale>
        <p:origin x="1495"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12B92-C48D-467E-8B62-354397C46F36}" type="datetimeFigureOut">
              <a:rPr lang="en-US" smtClean="0"/>
              <a:t>28-Nov-23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0589B-B399-4D23-8DBC-517C918E0E2D}" type="slidenum">
              <a:rPr lang="en-US" smtClean="0"/>
              <a:t>‹#›</a:t>
            </a:fld>
            <a:endParaRPr lang="en-US"/>
          </a:p>
        </p:txBody>
      </p:sp>
    </p:spTree>
    <p:extLst>
      <p:ext uri="{BB962C8B-B14F-4D97-AF65-F5344CB8AC3E}">
        <p14:creationId xmlns:p14="http://schemas.microsoft.com/office/powerpoint/2010/main" val="3815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digicert.com/tls-ssl/digital-certificate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digicert.com/trust-lifecycle-manag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8565E"/>
                </a:solidFill>
                <a:effectLst/>
                <a:latin typeface="roboto" panose="02000000000000000000" pitchFamily="2" charset="0"/>
              </a:rPr>
              <a:t>A </a:t>
            </a:r>
            <a:r>
              <a:rPr lang="en-US" b="0" i="0" u="none" strike="noStrike" dirty="0">
                <a:solidFill>
                  <a:srgbClr val="0F9DFF"/>
                </a:solidFill>
                <a:effectLst/>
                <a:latin typeface="roboto" panose="02000000000000000000" pitchFamily="2" charset="0"/>
                <a:hlinkClick r:id="rId3"/>
              </a:rPr>
              <a:t>Digital Certificate</a:t>
            </a:r>
            <a:r>
              <a:rPr lang="en-US" b="0" i="0" dirty="0">
                <a:solidFill>
                  <a:srgbClr val="48565E"/>
                </a:solidFill>
                <a:effectLst/>
                <a:latin typeface="roboto" panose="02000000000000000000" pitchFamily="2" charset="0"/>
              </a:rPr>
              <a:t> is an electronic file that is tied to a cryptographic key pair and authenticates the identity of a website, individual, organization, user, device or server. It is also known as a public key certificate or identity certificate. The certificate contains the subject, which is the identity piece, as well as a digital signature.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8565E"/>
                </a:solidFill>
                <a:effectLst/>
                <a:latin typeface="roboto" panose="02000000000000000000" pitchFamily="2" charset="0"/>
              </a:rPr>
              <a:t>They are the foundation to implementing </a:t>
            </a:r>
            <a:r>
              <a:rPr lang="en-US" b="0" i="0" u="none" strike="noStrike" dirty="0">
                <a:solidFill>
                  <a:srgbClr val="0F9DFF"/>
                </a:solidFill>
                <a:effectLst/>
                <a:latin typeface="roboto" panose="02000000000000000000" pitchFamily="2" charset="0"/>
                <a:hlinkClick r:id="rId4"/>
              </a:rPr>
              <a:t>Public Key Infrastructure (PKI)</a:t>
            </a:r>
            <a:r>
              <a:rPr lang="en-US" b="0" i="0" dirty="0">
                <a:solidFill>
                  <a:srgbClr val="48565E"/>
                </a:solidFill>
                <a:effectLst/>
                <a:latin typeface="roboto" panose="02000000000000000000" pitchFamily="2" charset="0"/>
              </a:rPr>
              <a:t> security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b="1" i="0" dirty="0">
                <a:solidFill>
                  <a:srgbClr val="00297A"/>
                </a:solidFill>
                <a:effectLst/>
                <a:latin typeface="ABCWhyte Book"/>
              </a:rPr>
            </a:br>
            <a:r>
              <a:rPr lang="en-US" b="1" i="0" dirty="0">
                <a:solidFill>
                  <a:srgbClr val="00297A"/>
                </a:solidFill>
                <a:effectLst/>
                <a:latin typeface="inherit"/>
              </a:rPr>
              <a:t>TLS/SSL certificates: </a:t>
            </a:r>
            <a:r>
              <a:rPr lang="en-US" b="0" i="0" dirty="0">
                <a:solidFill>
                  <a:srgbClr val="00297A"/>
                </a:solidFill>
                <a:effectLst/>
                <a:latin typeface="ABCWhyte Book"/>
              </a:rPr>
              <a:t>The TLS/SSL certificate is used to secure communications between a computer and the server, and it is hosted by the server. When a client computer seeks to access the server, the server will present the digital certificate to prove that it is authentic and the desired destination.</a:t>
            </a:r>
          </a:p>
          <a:p>
            <a:endParaRPr lang="en-US" b="1" i="0" dirty="0">
              <a:solidFill>
                <a:srgbClr val="00297A"/>
              </a:solidFill>
              <a:effectLst/>
              <a:latin typeface="ABCWhyte Book"/>
            </a:endParaRPr>
          </a:p>
          <a:p>
            <a:r>
              <a:rPr lang="en-US" b="1" i="0" dirty="0">
                <a:solidFill>
                  <a:srgbClr val="00297A"/>
                </a:solidFill>
                <a:effectLst/>
                <a:latin typeface="ABCWhyte Book"/>
              </a:rPr>
              <a:t>Client certificates: </a:t>
            </a:r>
            <a:r>
              <a:rPr lang="en-US" b="0" i="0" dirty="0">
                <a:solidFill>
                  <a:srgbClr val="00297A"/>
                </a:solidFill>
                <a:effectLst/>
                <a:latin typeface="ABCWhyte Book"/>
              </a:rPr>
              <a:t>This is a form of a digital ID that can identify one machine to another — a specific user to another user. This can be used to allow a user to access a protected and secure database and also for email.</a:t>
            </a:r>
          </a:p>
          <a:p>
            <a:endParaRPr lang="en-US" b="0" i="0" dirty="0">
              <a:solidFill>
                <a:srgbClr val="00297A"/>
              </a:solidFill>
              <a:effectLst/>
              <a:latin typeface="ABCWhyte Boo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297A"/>
                </a:solidFill>
                <a:effectLst/>
                <a:latin typeface="inherit"/>
              </a:rPr>
              <a:t>Code signing certificates: </a:t>
            </a:r>
            <a:r>
              <a:rPr lang="en-US" b="0" i="0" dirty="0">
                <a:solidFill>
                  <a:srgbClr val="00297A"/>
                </a:solidFill>
                <a:effectLst/>
                <a:latin typeface="ABCWhyte Book"/>
              </a:rPr>
              <a:t>This type of digital certificate involves software or files. The publisher or developer of software will sign it to validate its authenticity to users downloading it.</a:t>
            </a:r>
          </a:p>
          <a:p>
            <a:endParaRPr lang="en-US" dirty="0"/>
          </a:p>
        </p:txBody>
      </p:sp>
      <p:sp>
        <p:nvSpPr>
          <p:cNvPr id="4" name="Slide Number Placeholder 3"/>
          <p:cNvSpPr>
            <a:spLocks noGrp="1"/>
          </p:cNvSpPr>
          <p:nvPr>
            <p:ph type="sldNum" sz="quarter" idx="5"/>
          </p:nvPr>
        </p:nvSpPr>
        <p:spPr/>
        <p:txBody>
          <a:bodyPr/>
          <a:lstStyle/>
          <a:p>
            <a:fld id="{2F70589B-B399-4D23-8DBC-517C918E0E2D}" type="slidenum">
              <a:rPr lang="en-US" smtClean="0"/>
              <a:t>23</a:t>
            </a:fld>
            <a:endParaRPr lang="en-US"/>
          </a:p>
        </p:txBody>
      </p:sp>
    </p:spTree>
    <p:extLst>
      <p:ext uri="{BB962C8B-B14F-4D97-AF65-F5344CB8AC3E}">
        <p14:creationId xmlns:p14="http://schemas.microsoft.com/office/powerpoint/2010/main" val="4001669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70589B-B399-4D23-8DBC-517C918E0E2D}" type="slidenum">
              <a:rPr lang="en-US" smtClean="0"/>
              <a:t>25</a:t>
            </a:fld>
            <a:endParaRPr lang="en-US"/>
          </a:p>
        </p:txBody>
      </p:sp>
    </p:spTree>
    <p:extLst>
      <p:ext uri="{BB962C8B-B14F-4D97-AF65-F5344CB8AC3E}">
        <p14:creationId xmlns:p14="http://schemas.microsoft.com/office/powerpoint/2010/main" val="34024571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0458356-736D-4F05-A710-B2759CE89DF0}" type="datetime1">
              <a:rPr lang="en-US" smtClean="0"/>
              <a:t>28-Nov-23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abid.rauf@numl.edu.pk</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87521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42D3F-057B-403C-9441-95DEFD7D836F}"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05182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66B0D3-10D7-452F-8EB6-DE673B7CE14C}"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77218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A031E8-1E90-43C3-8C33-8B13F08C6A7E}" type="datetime1">
              <a:rPr lang="en-US" smtClean="0"/>
              <a:t>28-Nov-23</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665953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F56BEB-C4ED-4555-B978-D2FD23FE4B34}" type="datetime1">
              <a:rPr lang="en-US" smtClean="0"/>
              <a:t>28-Nov-23</a:t>
            </a:fld>
            <a:endParaRPr lang="en-US"/>
          </a:p>
        </p:txBody>
      </p:sp>
      <p:sp>
        <p:nvSpPr>
          <p:cNvPr id="8" name="Footer Placeholder 7"/>
          <p:cNvSpPr>
            <a:spLocks noGrp="1"/>
          </p:cNvSpPr>
          <p:nvPr>
            <p:ph type="ftr" sz="quarter" idx="11"/>
          </p:nvPr>
        </p:nvSpPr>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999115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FC5291-8254-478E-B020-9A1562FE86F8}" type="datetime1">
              <a:rPr lang="en-US" smtClean="0"/>
              <a:t>28-Nov-23</a:t>
            </a:fld>
            <a:endParaRPr lang="en-US"/>
          </a:p>
        </p:txBody>
      </p:sp>
      <p:sp>
        <p:nvSpPr>
          <p:cNvPr id="4" name="Footer Placeholder 3"/>
          <p:cNvSpPr>
            <a:spLocks noGrp="1"/>
          </p:cNvSpPr>
          <p:nvPr>
            <p:ph type="ftr" sz="quarter" idx="11"/>
          </p:nvPr>
        </p:nvSpPr>
        <p:spPr/>
        <p:txBody>
          <a:bodyPr/>
          <a:lstStyle/>
          <a:p>
            <a:r>
              <a:rPr lang="en-US"/>
              <a:t>abid.rauf@numl.edu.pk</a:t>
            </a:r>
          </a:p>
        </p:txBody>
      </p:sp>
      <p:sp>
        <p:nvSpPr>
          <p:cNvPr id="5" name="Slide Number Placeholder 4"/>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855419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D00D7C-37E1-4B0B-993A-2D77F89D2ED4}" type="datetime1">
              <a:rPr lang="en-US" smtClean="0"/>
              <a:t>28-Nov-23</a:t>
            </a:fld>
            <a:endParaRPr lang="en-US"/>
          </a:p>
        </p:txBody>
      </p:sp>
      <p:sp>
        <p:nvSpPr>
          <p:cNvPr id="3" name="Footer Placeholder 2"/>
          <p:cNvSpPr>
            <a:spLocks noGrp="1"/>
          </p:cNvSpPr>
          <p:nvPr>
            <p:ph type="ftr" sz="quarter" idx="11"/>
          </p:nvPr>
        </p:nvSpPr>
        <p:spPr/>
        <p:txBody>
          <a:bodyPr/>
          <a:lstStyle/>
          <a:p>
            <a:r>
              <a:rPr lang="en-US"/>
              <a:t>abid.rauf@numl.edu.pk</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4271045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69EE36-2ABB-44C0-BFA7-CD15234300F7}" type="datetime1">
              <a:rPr lang="en-US" smtClean="0"/>
              <a:t>28-Nov-23</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036749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B64BB9-06C3-487B-8765-3FC50FA411D3}" type="datetime1">
              <a:rPr lang="en-US" smtClean="0"/>
              <a:t>28-Nov-23</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52441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A1BCD8-C6DD-4280-9BE0-9EC3946C9B30}" type="datetime1">
              <a:rPr lang="en-US" smtClean="0"/>
              <a:t>28-Nov-23</a:t>
            </a:fld>
            <a:endParaRPr lang="en-US"/>
          </a:p>
        </p:txBody>
      </p:sp>
      <p:sp>
        <p:nvSpPr>
          <p:cNvPr id="6" name="Footer Placeholder 5"/>
          <p:cNvSpPr>
            <a:spLocks noGrp="1"/>
          </p:cNvSpPr>
          <p:nvPr>
            <p:ph type="ftr" sz="quarter" idx="11"/>
          </p:nvPr>
        </p:nvSpPr>
        <p:spPr/>
        <p:txBody>
          <a:bodyPr/>
          <a:lstStyle/>
          <a:p>
            <a:r>
              <a:rPr lang="en-US"/>
              <a:t>abid.rauf@numl.edu.pk</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356206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C8D4005-A146-4EFC-8CC1-D2A2C73AC5B6}"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44913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12F2D6-4B9F-4091-A954-2CEF3B5D2A0C}"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36941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CCA306-9E88-4DA1-87C5-0F083AB5449C}"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388370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01AAE5-1A02-4B57-B938-D0A3B79F889A}" type="datetime1">
              <a:rPr lang="en-US" smtClean="0"/>
              <a:t>28-Nov-23</a:t>
            </a:fld>
            <a:endParaRPr lang="en-US"/>
          </a:p>
        </p:txBody>
      </p:sp>
      <p:sp>
        <p:nvSpPr>
          <p:cNvPr id="8" name="Footer Placeholder 7"/>
          <p:cNvSpPr>
            <a:spLocks noGrp="1"/>
          </p:cNvSpPr>
          <p:nvPr>
            <p:ph type="ftr" sz="quarter" idx="11"/>
          </p:nvPr>
        </p:nvSpPr>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89662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09AA175-D23B-4F84-BFB9-BBA849BCDA8D}" type="datetime1">
              <a:rPr lang="en-US" smtClean="0"/>
              <a:t>28-Nov-23</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abid.rauf@numl.edu.pk</a:t>
            </a:r>
          </a:p>
        </p:txBody>
      </p:sp>
      <p:sp>
        <p:nvSpPr>
          <p:cNvPr id="9" name="Slide Number Placeholder 8"/>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963103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50A47AC-6F4F-42D5-AF63-A53CC2FBC6E5}"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2527253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035C9EC-6822-4001-9D57-AC1A557F2612}" type="datetime1">
              <a:rPr lang="en-US" smtClean="0"/>
              <a:t>28-Nov-23</a:t>
            </a:fld>
            <a:endParaRPr lang="en-US"/>
          </a:p>
        </p:txBody>
      </p:sp>
      <p:sp>
        <p:nvSpPr>
          <p:cNvPr id="5" name="Footer Placeholder 4"/>
          <p:cNvSpPr>
            <a:spLocks noGrp="1"/>
          </p:cNvSpPr>
          <p:nvPr>
            <p:ph type="ftr" sz="quarter" idx="11"/>
          </p:nvPr>
        </p:nvSpPr>
        <p:spPr/>
        <p:txBody>
          <a:bodyPr/>
          <a:lstStyle/>
          <a:p>
            <a:r>
              <a:rPr lang="en-US"/>
              <a:t>abid.rauf@numl.edu.pk</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6E90A38-B1BF-454F-A0C4-5401CDA122E6}" type="slidenum">
              <a:rPr lang="en-US" smtClean="0"/>
              <a:t>‹#›</a:t>
            </a:fld>
            <a:endParaRPr lang="en-US"/>
          </a:p>
        </p:txBody>
      </p:sp>
    </p:spTree>
    <p:extLst>
      <p:ext uri="{BB962C8B-B14F-4D97-AF65-F5344CB8AC3E}">
        <p14:creationId xmlns:p14="http://schemas.microsoft.com/office/powerpoint/2010/main" val="1140436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56DACCB-A943-4348-9228-1E363A838D21}" type="datetime1">
              <a:rPr lang="en-US" smtClean="0"/>
              <a:t>28-Nov-23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abid.rauf@numl.edu.pk</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6E90A38-B1BF-454F-A0C4-5401CDA122E6}" type="slidenum">
              <a:rPr lang="en-US" smtClean="0"/>
              <a:t>‹#›</a:t>
            </a:fld>
            <a:endParaRPr lang="en-US"/>
          </a:p>
        </p:txBody>
      </p:sp>
    </p:spTree>
    <p:extLst>
      <p:ext uri="{BB962C8B-B14F-4D97-AF65-F5344CB8AC3E}">
        <p14:creationId xmlns:p14="http://schemas.microsoft.com/office/powerpoint/2010/main" val="7236606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blog.signaturit.com/en/what-is-the-advanced-electronic-signatur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Hash_func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Signatures and Certificates </a:t>
            </a:r>
          </a:p>
        </p:txBody>
      </p:sp>
      <p:sp>
        <p:nvSpPr>
          <p:cNvPr id="3" name="Subtitle 2"/>
          <p:cNvSpPr>
            <a:spLocks noGrp="1"/>
          </p:cNvSpPr>
          <p:nvPr>
            <p:ph type="subTitle" idx="1"/>
          </p:nvPr>
        </p:nvSpPr>
        <p:spPr/>
        <p:txBody>
          <a:bodyPr/>
          <a:lstStyle/>
          <a:p>
            <a:r>
              <a:rPr lang="en-US" dirty="0"/>
              <a:t>Information SECURITY</a:t>
            </a:r>
          </a:p>
        </p:txBody>
      </p:sp>
    </p:spTree>
    <p:extLst>
      <p:ext uri="{BB962C8B-B14F-4D97-AF65-F5344CB8AC3E}">
        <p14:creationId xmlns:p14="http://schemas.microsoft.com/office/powerpoint/2010/main" val="153055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a:t>
            </a:r>
          </a:p>
        </p:txBody>
      </p:sp>
      <p:sp>
        <p:nvSpPr>
          <p:cNvPr id="6" name="Text Placeholder 5"/>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347110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871AE-8D58-29AB-84AA-794653AF452D}"/>
              </a:ext>
            </a:extLst>
          </p:cNvPr>
          <p:cNvSpPr>
            <a:spLocks noGrp="1"/>
          </p:cNvSpPr>
          <p:nvPr>
            <p:ph type="title"/>
          </p:nvPr>
        </p:nvSpPr>
        <p:spPr/>
        <p:txBody>
          <a:bodyPr/>
          <a:lstStyle/>
          <a:p>
            <a:r>
              <a:rPr lang="en-US" dirty="0"/>
              <a:t>What is digital signature</a:t>
            </a:r>
          </a:p>
        </p:txBody>
      </p:sp>
      <p:sp>
        <p:nvSpPr>
          <p:cNvPr id="3" name="Content Placeholder 2">
            <a:extLst>
              <a:ext uri="{FF2B5EF4-FFF2-40B4-BE49-F238E27FC236}">
                <a16:creationId xmlns:a16="http://schemas.microsoft.com/office/drawing/2014/main" id="{2F72EC13-FE93-9849-5711-2452E0F1A312}"/>
              </a:ext>
            </a:extLst>
          </p:cNvPr>
          <p:cNvSpPr>
            <a:spLocks noGrp="1"/>
          </p:cNvSpPr>
          <p:nvPr>
            <p:ph idx="1"/>
          </p:nvPr>
        </p:nvSpPr>
        <p:spPr>
          <a:xfrm>
            <a:off x="1154954" y="2286000"/>
            <a:ext cx="8825659" cy="3733800"/>
          </a:xfrm>
        </p:spPr>
        <p:txBody>
          <a:bodyPr/>
          <a:lstStyle/>
          <a:p>
            <a:pPr algn="l"/>
            <a:r>
              <a:rPr lang="en-US" b="0" i="0" dirty="0">
                <a:solidFill>
                  <a:srgbClr val="1D3D3F"/>
                </a:solidFill>
                <a:effectLst/>
                <a:latin typeface="Moderat"/>
              </a:rPr>
              <a:t>A digital signature, which should not be confused with a digital certificate, is a mathematical technique used to validate the </a:t>
            </a:r>
            <a:r>
              <a:rPr lang="en-US" b="1" i="0" dirty="0">
                <a:solidFill>
                  <a:srgbClr val="1D3D3F"/>
                </a:solidFill>
                <a:effectLst/>
                <a:latin typeface="Moderat"/>
              </a:rPr>
              <a:t>authenticity and integrity</a:t>
            </a:r>
            <a:r>
              <a:rPr lang="en-US" b="0" i="0" dirty="0">
                <a:solidFill>
                  <a:srgbClr val="1D3D3F"/>
                </a:solidFill>
                <a:effectLst/>
                <a:latin typeface="Moderat"/>
              </a:rPr>
              <a:t> of a message, software or a digital document.</a:t>
            </a:r>
          </a:p>
          <a:p>
            <a:pPr algn="l"/>
            <a:r>
              <a:rPr lang="en-US" b="0" i="0" dirty="0">
                <a:solidFill>
                  <a:srgbClr val="1D3D3F"/>
                </a:solidFill>
                <a:effectLst/>
                <a:latin typeface="Moderat"/>
              </a:rPr>
              <a:t>A digital signature, as opposed to a traditional signature, is not a name but </a:t>
            </a:r>
            <a:r>
              <a:rPr lang="en-US" b="1" i="0" dirty="0">
                <a:solidFill>
                  <a:srgbClr val="1D3D3F"/>
                </a:solidFill>
                <a:effectLst/>
                <a:latin typeface="Moderat"/>
              </a:rPr>
              <a:t>two “keys”</a:t>
            </a:r>
            <a:r>
              <a:rPr lang="en-US" b="0" i="0" dirty="0">
                <a:solidFill>
                  <a:srgbClr val="1D3D3F"/>
                </a:solidFill>
                <a:effectLst/>
                <a:latin typeface="Moderat"/>
              </a:rPr>
              <a:t> or sequences of separated characters. It applies cryptographic measures to the content of a message or document in order to show the following to the message’s recipient:</a:t>
            </a:r>
          </a:p>
          <a:p>
            <a:pPr algn="l">
              <a:buFont typeface="Arial" panose="020B0604020202020204" pitchFamily="34" charset="0"/>
              <a:buChar char="•"/>
            </a:pPr>
            <a:r>
              <a:rPr lang="en-US" b="0" i="0" dirty="0">
                <a:solidFill>
                  <a:srgbClr val="1D3D3F"/>
                </a:solidFill>
                <a:effectLst/>
                <a:latin typeface="Moderat"/>
              </a:rPr>
              <a:t>that the sender of the message is real (</a:t>
            </a:r>
            <a:r>
              <a:rPr lang="en-US" b="1" i="0" dirty="0">
                <a:solidFill>
                  <a:srgbClr val="1D3D3F"/>
                </a:solidFill>
                <a:effectLst/>
                <a:latin typeface="Moderat"/>
              </a:rPr>
              <a:t>authentication</a:t>
            </a:r>
            <a:r>
              <a:rPr lang="en-US" b="0" i="0" dirty="0">
                <a:solidFill>
                  <a:srgbClr val="1D3D3F"/>
                </a:solidFill>
                <a:effectLst/>
                <a:latin typeface="Moderat"/>
              </a:rPr>
              <a:t>);</a:t>
            </a:r>
          </a:p>
          <a:p>
            <a:pPr algn="l">
              <a:buFont typeface="Arial" panose="020B0604020202020204" pitchFamily="34" charset="0"/>
              <a:buChar char="•"/>
            </a:pPr>
            <a:r>
              <a:rPr lang="en-US" b="0" i="0" dirty="0">
                <a:solidFill>
                  <a:srgbClr val="1D3D3F"/>
                </a:solidFill>
                <a:effectLst/>
                <a:latin typeface="Moderat"/>
              </a:rPr>
              <a:t>that the sender cannot deny that they sent the message (</a:t>
            </a:r>
            <a:r>
              <a:rPr lang="en-US" b="1" i="0" dirty="0">
                <a:solidFill>
                  <a:srgbClr val="1D3D3F"/>
                </a:solidFill>
                <a:effectLst/>
                <a:latin typeface="Moderat"/>
              </a:rPr>
              <a:t>non-repudiation</a:t>
            </a:r>
            <a:r>
              <a:rPr lang="en-US" b="0" i="0" dirty="0">
                <a:solidFill>
                  <a:srgbClr val="1D3D3F"/>
                </a:solidFill>
                <a:effectLst/>
                <a:latin typeface="Moderat"/>
              </a:rPr>
              <a:t>);</a:t>
            </a:r>
          </a:p>
          <a:p>
            <a:pPr algn="l">
              <a:buFont typeface="Arial" panose="020B0604020202020204" pitchFamily="34" charset="0"/>
              <a:buChar char="•"/>
            </a:pPr>
            <a:r>
              <a:rPr lang="en-US" b="0" i="0" dirty="0">
                <a:solidFill>
                  <a:srgbClr val="1D3D3F"/>
                </a:solidFill>
                <a:effectLst/>
                <a:latin typeface="Moderat"/>
              </a:rPr>
              <a:t>that the message has not been altered since it was sent (</a:t>
            </a:r>
            <a:r>
              <a:rPr lang="en-US" b="1" i="0" dirty="0">
                <a:solidFill>
                  <a:srgbClr val="1D3D3F"/>
                </a:solidFill>
                <a:effectLst/>
                <a:latin typeface="Moderat"/>
              </a:rPr>
              <a:t>integrity</a:t>
            </a:r>
            <a:r>
              <a:rPr lang="en-US" b="0" i="0" dirty="0">
                <a:solidFill>
                  <a:srgbClr val="1D3D3F"/>
                </a:solidFill>
                <a:effectLst/>
                <a:latin typeface="Moderat"/>
              </a:rPr>
              <a:t>).</a:t>
            </a:r>
          </a:p>
          <a:p>
            <a:endParaRPr lang="en-US" dirty="0"/>
          </a:p>
        </p:txBody>
      </p:sp>
      <p:sp>
        <p:nvSpPr>
          <p:cNvPr id="4" name="Footer Placeholder 3">
            <a:extLst>
              <a:ext uri="{FF2B5EF4-FFF2-40B4-BE49-F238E27FC236}">
                <a16:creationId xmlns:a16="http://schemas.microsoft.com/office/drawing/2014/main" id="{B8ADD696-EAB1-5119-AD7A-63193D97FE5C}"/>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2142458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E2749-DDDE-8EAA-D611-4A8EFD5AA9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84B18F-4D0C-295D-FF94-DC3A24A0C812}"/>
              </a:ext>
            </a:extLst>
          </p:cNvPr>
          <p:cNvSpPr>
            <a:spLocks noGrp="1"/>
          </p:cNvSpPr>
          <p:nvPr>
            <p:ph idx="1"/>
          </p:nvPr>
        </p:nvSpPr>
        <p:spPr>
          <a:xfrm>
            <a:off x="1154954" y="2192055"/>
            <a:ext cx="8825659" cy="4199783"/>
          </a:xfrm>
        </p:spPr>
        <p:txBody>
          <a:bodyPr>
            <a:normAutofit/>
          </a:bodyPr>
          <a:lstStyle/>
          <a:p>
            <a:r>
              <a:rPr lang="en-US" b="0" i="0" dirty="0">
                <a:solidFill>
                  <a:srgbClr val="1D3D3F"/>
                </a:solidFill>
                <a:effectLst/>
                <a:latin typeface="Moderat"/>
              </a:rPr>
              <a:t>A digital signature is therefore a key part of the </a:t>
            </a:r>
            <a:r>
              <a:rPr lang="en-US" b="1" i="0" u="sng" dirty="0">
                <a:solidFill>
                  <a:srgbClr val="39DC73"/>
                </a:solidFill>
                <a:effectLst/>
                <a:latin typeface="Moderat"/>
                <a:hlinkClick r:id="rId2"/>
              </a:rPr>
              <a:t>advanced electronic signature</a:t>
            </a:r>
            <a:r>
              <a:rPr lang="en-US" b="0" i="0" dirty="0">
                <a:solidFill>
                  <a:srgbClr val="1D3D3F"/>
                </a:solidFill>
                <a:effectLst/>
                <a:latin typeface="Moderat"/>
              </a:rPr>
              <a:t> and qualified electronic signature, but </a:t>
            </a:r>
            <a:r>
              <a:rPr lang="en-US" b="1" i="0" dirty="0">
                <a:solidFill>
                  <a:srgbClr val="1D3D3F"/>
                </a:solidFill>
                <a:effectLst/>
                <a:latin typeface="Moderat"/>
              </a:rPr>
              <a:t>not of the simple electronic signature</a:t>
            </a:r>
            <a:r>
              <a:rPr lang="en-US" b="0" i="0" dirty="0">
                <a:solidFill>
                  <a:srgbClr val="1D3D3F"/>
                </a:solidFill>
                <a:effectLst/>
                <a:latin typeface="Moderat"/>
              </a:rPr>
              <a:t>. A simple electronic signature would be, for example, a personal identification number (PIN) entered at a cash machine or clicking on “accept” or “do not agree” on a “terms and agreements” electronic contract.</a:t>
            </a:r>
            <a:br>
              <a:rPr lang="en-US" dirty="0"/>
            </a:br>
            <a:br>
              <a:rPr lang="en-US" dirty="0"/>
            </a:br>
            <a:r>
              <a:rPr lang="en-US" b="0" i="0" dirty="0">
                <a:solidFill>
                  <a:srgbClr val="1D3D3F"/>
                </a:solidFill>
                <a:effectLst/>
                <a:latin typeface="Moderat"/>
              </a:rPr>
              <a:t>This type of electronic signature cannot attribute the electronic signature of a signatory to a specific signatory, therefore, it is does not have the same features as a digital signature.</a:t>
            </a:r>
          </a:p>
          <a:p>
            <a:pPr algn="l"/>
            <a:r>
              <a:rPr lang="en-US" b="1" i="0" dirty="0">
                <a:solidFill>
                  <a:srgbClr val="1D3D3F"/>
                </a:solidFill>
                <a:effectLst/>
                <a:latin typeface="Moderat"/>
              </a:rPr>
              <a:t>A digital signature is legal</a:t>
            </a:r>
            <a:r>
              <a:rPr lang="en-US" b="0" i="0" dirty="0">
                <a:solidFill>
                  <a:srgbClr val="1D3D3F"/>
                </a:solidFill>
                <a:effectLst/>
                <a:latin typeface="Moderat"/>
              </a:rPr>
              <a:t>, but its aim is not to attest to the signatory’s willingness like an electronic signature, but just to encrypt the data of a document to give it greater security.</a:t>
            </a:r>
          </a:p>
          <a:p>
            <a:pPr algn="l"/>
            <a:r>
              <a:rPr lang="en-US" b="0" i="0" dirty="0">
                <a:solidFill>
                  <a:srgbClr val="1D3D3F"/>
                </a:solidFill>
                <a:effectLst/>
                <a:latin typeface="Moderat"/>
              </a:rPr>
              <a:t>Also a digital signature </a:t>
            </a:r>
            <a:r>
              <a:rPr lang="en-US" b="1" i="0" dirty="0">
                <a:solidFill>
                  <a:srgbClr val="1D3D3F"/>
                </a:solidFill>
                <a:effectLst/>
                <a:latin typeface="Moderat"/>
              </a:rPr>
              <a:t>can be used for a wider range of file types</a:t>
            </a:r>
            <a:r>
              <a:rPr lang="en-US" b="0" i="0" dirty="0">
                <a:solidFill>
                  <a:srgbClr val="1D3D3F"/>
                </a:solidFill>
                <a:effectLst/>
                <a:latin typeface="Moderat"/>
              </a:rPr>
              <a:t>, such as videos, sound, music, etc., making it more versatile than the traditional paper signature.</a:t>
            </a:r>
          </a:p>
          <a:p>
            <a:endParaRPr lang="en-US" dirty="0"/>
          </a:p>
        </p:txBody>
      </p:sp>
      <p:sp>
        <p:nvSpPr>
          <p:cNvPr id="4" name="Footer Placeholder 3">
            <a:extLst>
              <a:ext uri="{FF2B5EF4-FFF2-40B4-BE49-F238E27FC236}">
                <a16:creationId xmlns:a16="http://schemas.microsoft.com/office/drawing/2014/main" id="{0121789C-51EB-A2A9-6658-83ED62565655}"/>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1309739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E24A-18FA-A5DE-D51F-4ADE7D71499D}"/>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FB82210E-FDF9-9102-44A2-952941BBA7CA}"/>
              </a:ext>
            </a:extLst>
          </p:cNvPr>
          <p:cNvSpPr>
            <a:spLocks noGrp="1"/>
          </p:cNvSpPr>
          <p:nvPr>
            <p:ph idx="1"/>
          </p:nvPr>
        </p:nvSpPr>
        <p:spPr>
          <a:xfrm>
            <a:off x="1176303" y="2323579"/>
            <a:ext cx="8825659" cy="3959268"/>
          </a:xfrm>
        </p:spPr>
        <p:txBody>
          <a:bodyPr/>
          <a:lstStyle/>
          <a:p>
            <a:r>
              <a:rPr lang="en-US" b="0" i="0" dirty="0">
                <a:solidFill>
                  <a:srgbClr val="1D3D3F"/>
                </a:solidFill>
                <a:effectLst/>
                <a:latin typeface="Moderat"/>
              </a:rPr>
              <a:t>The first thing we should know if we want to understand what a digital signature is, is the term </a:t>
            </a:r>
            <a:r>
              <a:rPr lang="en-US" b="1" i="0" u="sng" dirty="0">
                <a:solidFill>
                  <a:srgbClr val="39DC73"/>
                </a:solidFill>
                <a:effectLst/>
                <a:latin typeface="Moderat"/>
                <a:hlinkClick r:id="rId2"/>
              </a:rPr>
              <a:t>hash</a:t>
            </a:r>
            <a:r>
              <a:rPr lang="en-US" b="0" i="0" dirty="0">
                <a:solidFill>
                  <a:srgbClr val="1D3D3F"/>
                </a:solidFill>
                <a:effectLst/>
                <a:latin typeface="Moderat"/>
              </a:rPr>
              <a:t>. The hash functions are </a:t>
            </a:r>
            <a:r>
              <a:rPr lang="en-US" b="1" i="0" dirty="0">
                <a:solidFill>
                  <a:srgbClr val="1D3D3F"/>
                </a:solidFill>
                <a:effectLst/>
                <a:latin typeface="Moderat"/>
              </a:rPr>
              <a:t>algorithms</a:t>
            </a:r>
            <a:r>
              <a:rPr lang="en-US" b="0" i="0" dirty="0">
                <a:solidFill>
                  <a:srgbClr val="1D3D3F"/>
                </a:solidFill>
                <a:effectLst/>
                <a:latin typeface="Moderat"/>
              </a:rPr>
              <a:t> that are created from an input (be it text, a password or a file for example) an alphanumerical output of usually a fixed length that represents an overview of all the information that it has been given. Meaning, the data input creates a chain that can only be created again with the same data.</a:t>
            </a:r>
            <a:br>
              <a:rPr lang="en-US" dirty="0"/>
            </a:br>
            <a:br>
              <a:rPr lang="en-US" dirty="0"/>
            </a:br>
            <a:r>
              <a:rPr lang="en-US" b="0" i="0" dirty="0">
                <a:solidFill>
                  <a:srgbClr val="1D3D3F"/>
                </a:solidFill>
                <a:effectLst/>
                <a:latin typeface="Moderat"/>
              </a:rPr>
              <a:t>To create a digital signature, the signature software creates</a:t>
            </a:r>
            <a:r>
              <a:rPr lang="en-US" b="1" i="0" dirty="0">
                <a:solidFill>
                  <a:srgbClr val="1D3D3F"/>
                </a:solidFill>
                <a:effectLst/>
                <a:latin typeface="Moderat"/>
              </a:rPr>
              <a:t> a one-way hash of the electronic data</a:t>
            </a:r>
            <a:r>
              <a:rPr lang="en-US" b="0" i="0" dirty="0">
                <a:solidFill>
                  <a:srgbClr val="1D3D3F"/>
                </a:solidFill>
                <a:effectLst/>
                <a:latin typeface="Moderat"/>
              </a:rPr>
              <a:t> that needs to be signed. The private key is used to encrypt the hash. The encrypted hash together with other information is the digital signature.</a:t>
            </a:r>
          </a:p>
          <a:p>
            <a:r>
              <a:rPr lang="en-US" b="0" i="0" dirty="0">
                <a:solidFill>
                  <a:srgbClr val="1D3D3F"/>
                </a:solidFill>
                <a:effectLst/>
                <a:latin typeface="Moderat"/>
              </a:rPr>
              <a:t>Any change to the data, even changing or removing just one character will result in a different value. This allows others to </a:t>
            </a:r>
            <a:r>
              <a:rPr lang="en-US" b="1" i="0" dirty="0">
                <a:solidFill>
                  <a:srgbClr val="1D3D3F"/>
                </a:solidFill>
                <a:effectLst/>
                <a:latin typeface="Moderat"/>
              </a:rPr>
              <a:t>validate the integrity</a:t>
            </a:r>
            <a:r>
              <a:rPr lang="en-US" b="0" i="0" dirty="0">
                <a:solidFill>
                  <a:srgbClr val="1D3D3F"/>
                </a:solidFill>
                <a:effectLst/>
                <a:latin typeface="Moderat"/>
              </a:rPr>
              <a:t> of the data by using the signatory’s public key to decrypt the hash.</a:t>
            </a:r>
            <a:endParaRPr lang="en-US" dirty="0"/>
          </a:p>
        </p:txBody>
      </p:sp>
      <p:sp>
        <p:nvSpPr>
          <p:cNvPr id="4" name="Footer Placeholder 3">
            <a:extLst>
              <a:ext uri="{FF2B5EF4-FFF2-40B4-BE49-F238E27FC236}">
                <a16:creationId xmlns:a16="http://schemas.microsoft.com/office/drawing/2014/main" id="{E69F507B-ADF5-5448-7DCA-10B9F36B4450}"/>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664646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E24A-18FA-A5DE-D51F-4ADE7D71499D}"/>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FB82210E-FDF9-9102-44A2-952941BBA7CA}"/>
              </a:ext>
            </a:extLst>
          </p:cNvPr>
          <p:cNvSpPr>
            <a:spLocks noGrp="1"/>
          </p:cNvSpPr>
          <p:nvPr>
            <p:ph idx="1"/>
          </p:nvPr>
        </p:nvSpPr>
        <p:spPr>
          <a:xfrm>
            <a:off x="1242636" y="2242160"/>
            <a:ext cx="8825659" cy="3959268"/>
          </a:xfrm>
        </p:spPr>
        <p:txBody>
          <a:bodyPr>
            <a:normAutofit lnSpcReduction="10000"/>
          </a:bodyPr>
          <a:lstStyle/>
          <a:p>
            <a:pPr algn="l"/>
            <a:r>
              <a:rPr lang="en-US" b="0" i="0" dirty="0">
                <a:solidFill>
                  <a:srgbClr val="1D3D3F"/>
                </a:solidFill>
                <a:effectLst/>
                <a:latin typeface="Moderat"/>
              </a:rPr>
              <a:t>If the </a:t>
            </a:r>
            <a:r>
              <a:rPr lang="en-US" b="1" i="0" dirty="0">
                <a:solidFill>
                  <a:srgbClr val="1D3D3F"/>
                </a:solidFill>
                <a:effectLst/>
                <a:latin typeface="Moderat"/>
              </a:rPr>
              <a:t>decrypted hash coincides with a second hash calculated from the same data</a:t>
            </a:r>
            <a:r>
              <a:rPr lang="en-US" b="0" i="0" dirty="0">
                <a:solidFill>
                  <a:srgbClr val="1D3D3F"/>
                </a:solidFill>
                <a:effectLst/>
                <a:latin typeface="Moderat"/>
              </a:rPr>
              <a:t>, it proves that the data has not changed since it was signed. If the two hashes do not coincide, the data has been altered in some way (integrity) or the signature was created with a private key that does not correspond to the public key presented by the signatory (authentication).</a:t>
            </a:r>
          </a:p>
          <a:p>
            <a:pPr algn="l"/>
            <a:r>
              <a:rPr lang="en-US" b="0" i="0" dirty="0">
                <a:solidFill>
                  <a:srgbClr val="1D3D3F"/>
                </a:solidFill>
                <a:effectLst/>
                <a:latin typeface="Moderat"/>
              </a:rPr>
              <a:t>The digital signatures make it difficult for the signatory to deny having signed something (non-repudiation), assuming that their private key has not been compromised, as the digital signature is unique both for the document and the signatory, and they go together.</a:t>
            </a:r>
          </a:p>
          <a:p>
            <a:pPr algn="l"/>
            <a:r>
              <a:rPr lang="en-US" b="0" i="0" dirty="0">
                <a:solidFill>
                  <a:srgbClr val="1D3D3F"/>
                </a:solidFill>
                <a:effectLst/>
                <a:latin typeface="Moderat"/>
              </a:rPr>
              <a:t>A </a:t>
            </a:r>
            <a:r>
              <a:rPr lang="en-US" b="1" i="0" dirty="0">
                <a:solidFill>
                  <a:srgbClr val="1D3D3F"/>
                </a:solidFill>
                <a:effectLst/>
                <a:latin typeface="Moderat"/>
              </a:rPr>
              <a:t>digital certificate</a:t>
            </a:r>
            <a:r>
              <a:rPr lang="en-US" b="0" i="0" dirty="0">
                <a:solidFill>
                  <a:srgbClr val="1D3D3F"/>
                </a:solidFill>
                <a:effectLst/>
                <a:latin typeface="Moderat"/>
              </a:rPr>
              <a:t>, an electronic document that contains the digital signature of the certificate authority, links a public key with an identity and can be used to verify that a public key belongs to a specific person or entity.</a:t>
            </a:r>
          </a:p>
          <a:p>
            <a:pPr algn="l"/>
            <a:r>
              <a:rPr lang="en-US" b="0" i="0" dirty="0">
                <a:solidFill>
                  <a:srgbClr val="1D3D3F"/>
                </a:solidFill>
                <a:effectLst/>
                <a:latin typeface="Moderat"/>
              </a:rPr>
              <a:t>Digital signatures are widely used to test the </a:t>
            </a:r>
            <a:r>
              <a:rPr lang="en-US" b="1" i="0" dirty="0">
                <a:solidFill>
                  <a:srgbClr val="1D3D3F"/>
                </a:solidFill>
                <a:effectLst/>
                <a:latin typeface="Moderat"/>
              </a:rPr>
              <a:t>data’s authenticity and integrity and non-repudiation</a:t>
            </a:r>
            <a:r>
              <a:rPr lang="en-US" b="0" i="0" dirty="0">
                <a:solidFill>
                  <a:srgbClr val="1D3D3F"/>
                </a:solidFill>
                <a:effectLst/>
                <a:latin typeface="Moderat"/>
              </a:rPr>
              <a:t> of communications and transactions made online.</a:t>
            </a:r>
          </a:p>
          <a:p>
            <a:endParaRPr lang="en-US" dirty="0"/>
          </a:p>
        </p:txBody>
      </p:sp>
      <p:sp>
        <p:nvSpPr>
          <p:cNvPr id="4" name="Footer Placeholder 3">
            <a:extLst>
              <a:ext uri="{FF2B5EF4-FFF2-40B4-BE49-F238E27FC236}">
                <a16:creationId xmlns:a16="http://schemas.microsoft.com/office/drawing/2014/main" id="{E69F507B-ADF5-5448-7DCA-10B9F36B4450}"/>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265054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4B80-9F6D-FAB5-3B87-50F0901DD4F6}"/>
              </a:ext>
            </a:extLst>
          </p:cNvPr>
          <p:cNvSpPr>
            <a:spLocks noGrp="1"/>
          </p:cNvSpPr>
          <p:nvPr>
            <p:ph type="title"/>
          </p:nvPr>
        </p:nvSpPr>
        <p:spPr/>
        <p:txBody>
          <a:bodyPr/>
          <a:lstStyle/>
          <a:p>
            <a:r>
              <a:rPr lang="en-US" b="1" i="0" dirty="0">
                <a:solidFill>
                  <a:schemeClr val="bg1"/>
                </a:solidFill>
                <a:effectLst/>
                <a:latin typeface="Moderat"/>
              </a:rPr>
              <a:t>Reasons to consider using the digital signature process</a:t>
            </a:r>
            <a:br>
              <a:rPr lang="en-US" b="1" i="0" dirty="0">
                <a:solidFill>
                  <a:schemeClr val="bg1"/>
                </a:solidFill>
                <a:effectLst/>
                <a:latin typeface="Moderat"/>
              </a:rPr>
            </a:br>
            <a:endParaRPr lang="en-US" dirty="0">
              <a:solidFill>
                <a:schemeClr val="bg1"/>
              </a:solidFill>
            </a:endParaRPr>
          </a:p>
        </p:txBody>
      </p:sp>
      <p:sp>
        <p:nvSpPr>
          <p:cNvPr id="3" name="Content Placeholder 2">
            <a:extLst>
              <a:ext uri="{FF2B5EF4-FFF2-40B4-BE49-F238E27FC236}">
                <a16:creationId xmlns:a16="http://schemas.microsoft.com/office/drawing/2014/main" id="{4154AABC-A731-79C9-D0A3-312C180B7B65}"/>
              </a:ext>
            </a:extLst>
          </p:cNvPr>
          <p:cNvSpPr>
            <a:spLocks noGrp="1"/>
          </p:cNvSpPr>
          <p:nvPr>
            <p:ph idx="1"/>
          </p:nvPr>
        </p:nvSpPr>
        <p:spPr>
          <a:xfrm>
            <a:off x="1154954" y="2329841"/>
            <a:ext cx="8825659" cy="4061997"/>
          </a:xfrm>
        </p:spPr>
        <p:txBody>
          <a:bodyPr>
            <a:normAutofit fontScale="85000" lnSpcReduction="10000"/>
          </a:bodyPr>
          <a:lstStyle/>
          <a:p>
            <a:pPr algn="l"/>
            <a:r>
              <a:rPr lang="en-US" b="0" i="0" dirty="0">
                <a:solidFill>
                  <a:srgbClr val="1D3D3F"/>
                </a:solidFill>
                <a:effectLst/>
                <a:latin typeface="Moderat"/>
              </a:rPr>
              <a:t>The most common concerns that people and </a:t>
            </a:r>
            <a:r>
              <a:rPr lang="en-US" b="0" i="0" dirty="0" err="1">
                <a:solidFill>
                  <a:srgbClr val="1D3D3F"/>
                </a:solidFill>
                <a:effectLst/>
                <a:latin typeface="Moderat"/>
              </a:rPr>
              <a:t>organisations</a:t>
            </a:r>
            <a:r>
              <a:rPr lang="en-US" b="0" i="0" dirty="0">
                <a:solidFill>
                  <a:srgbClr val="1D3D3F"/>
                </a:solidFill>
                <a:effectLst/>
                <a:latin typeface="Moderat"/>
              </a:rPr>
              <a:t> have with paper documents are: is the person that signed the document the person they say they are? How can I check that the signature is valid and has not been forged? How can I check if the document has been changed?</a:t>
            </a:r>
          </a:p>
          <a:p>
            <a:pPr algn="l"/>
            <a:r>
              <a:rPr lang="en-US" b="0" i="0" dirty="0">
                <a:solidFill>
                  <a:srgbClr val="1D3D3F"/>
                </a:solidFill>
                <a:effectLst/>
                <a:latin typeface="Moderat"/>
              </a:rPr>
              <a:t>As well as making business processes easier and preventing the falsification of messages and key documents, using a digital signature provides additional validation benefits. When you need a </a:t>
            </a:r>
            <a:r>
              <a:rPr lang="en-US" b="1" i="0" dirty="0">
                <a:solidFill>
                  <a:srgbClr val="1D3D3F"/>
                </a:solidFill>
                <a:effectLst/>
                <a:latin typeface="Moderat"/>
              </a:rPr>
              <a:t>guarantee that a message or attached document has not been altered during the transfer</a:t>
            </a:r>
            <a:r>
              <a:rPr lang="en-US" b="0" i="0" dirty="0">
                <a:solidFill>
                  <a:srgbClr val="1D3D3F"/>
                </a:solidFill>
                <a:effectLst/>
                <a:latin typeface="Moderat"/>
              </a:rPr>
              <a:t>, a digital signature helps to avoid unknown alterations going unnoticed.</a:t>
            </a:r>
          </a:p>
          <a:p>
            <a:pPr algn="l"/>
            <a:r>
              <a:rPr lang="en-US" b="0" i="0" dirty="0">
                <a:solidFill>
                  <a:srgbClr val="1D3D3F"/>
                </a:solidFill>
                <a:effectLst/>
                <a:latin typeface="Moderat"/>
              </a:rPr>
              <a:t>If the digitally signed content is altered the signature will be invalid, which will notify the sender and the recipient of an infringement. The cryptographic features will avoid a new and valid signature being produced for this message.</a:t>
            </a:r>
          </a:p>
          <a:p>
            <a:pPr algn="l"/>
            <a:r>
              <a:rPr lang="en-US" b="0" i="0" dirty="0">
                <a:solidFill>
                  <a:srgbClr val="1D3D3F"/>
                </a:solidFill>
                <a:effectLst/>
                <a:latin typeface="Moderat"/>
              </a:rPr>
              <a:t>When non-repudiation is provided, the message’s sender cannot deny the message’s digital signature at a later date. The recipient or someone who obtains </a:t>
            </a:r>
            <a:r>
              <a:rPr lang="en-US" b="0" i="0" dirty="0" err="1">
                <a:solidFill>
                  <a:srgbClr val="1D3D3F"/>
                </a:solidFill>
                <a:effectLst/>
                <a:latin typeface="Moderat"/>
              </a:rPr>
              <a:t>unauthorised</a:t>
            </a:r>
            <a:r>
              <a:rPr lang="en-US" b="0" i="0" dirty="0">
                <a:solidFill>
                  <a:srgbClr val="1D3D3F"/>
                </a:solidFill>
                <a:effectLst/>
                <a:latin typeface="Moderat"/>
              </a:rPr>
              <a:t> access to the message cannot create a false signature.</a:t>
            </a:r>
          </a:p>
          <a:p>
            <a:pPr algn="l"/>
            <a:r>
              <a:rPr lang="en-US" b="0" i="0" dirty="0">
                <a:solidFill>
                  <a:srgbClr val="1D3D3F"/>
                </a:solidFill>
                <a:effectLst/>
                <a:latin typeface="Moderat"/>
              </a:rPr>
              <a:t>Most of the non-repudiation methods provide a </a:t>
            </a:r>
            <a:r>
              <a:rPr lang="en-US" b="1" i="0" u="none" strike="noStrike" dirty="0">
                <a:solidFill>
                  <a:srgbClr val="1D3D3F"/>
                </a:solidFill>
                <a:effectLst/>
                <a:latin typeface="Moderat"/>
              </a:rPr>
              <a:t>time stamp</a:t>
            </a:r>
            <a:r>
              <a:rPr lang="en-US" b="0" i="0" dirty="0">
                <a:solidFill>
                  <a:srgbClr val="1D3D3F"/>
                </a:solidFill>
                <a:effectLst/>
                <a:latin typeface="Moderat"/>
              </a:rPr>
              <a:t> that cannot be altered and provide evidence of the digital signature in case the private key has been compromised or revoked.</a:t>
            </a:r>
          </a:p>
          <a:p>
            <a:endParaRPr lang="en-US" dirty="0"/>
          </a:p>
        </p:txBody>
      </p:sp>
      <p:sp>
        <p:nvSpPr>
          <p:cNvPr id="4" name="Footer Placeholder 3">
            <a:extLst>
              <a:ext uri="{FF2B5EF4-FFF2-40B4-BE49-F238E27FC236}">
                <a16:creationId xmlns:a16="http://schemas.microsoft.com/office/drawing/2014/main" id="{F10AFDA0-1DE9-18B8-3870-2D21D3FCFE0C}"/>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2824094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Digital Signature</a:t>
            </a:r>
          </a:p>
        </p:txBody>
      </p:sp>
      <p:sp>
        <p:nvSpPr>
          <p:cNvPr id="7" name="Content Placeholder 6"/>
          <p:cNvSpPr>
            <a:spLocks noGrp="1"/>
          </p:cNvSpPr>
          <p:nvPr>
            <p:ph idx="1"/>
          </p:nvPr>
        </p:nvSpPr>
        <p:spPr/>
        <p:txBody>
          <a:bodyPr/>
          <a:lstStyle/>
          <a:p>
            <a:r>
              <a:rPr lang="en-US" dirty="0"/>
              <a:t>Message Authentication protects two parties, who exchange messages, from any third party</a:t>
            </a:r>
          </a:p>
          <a:p>
            <a:r>
              <a:rPr lang="en-US" dirty="0"/>
              <a:t>Integrity protects from data alteration</a:t>
            </a:r>
          </a:p>
          <a:p>
            <a:r>
              <a:rPr lang="en-US" dirty="0"/>
              <a:t>Confidentially protects message from opponents</a:t>
            </a:r>
          </a:p>
        </p:txBody>
      </p:sp>
    </p:spTree>
    <p:extLst>
      <p:ext uri="{BB962C8B-B14F-4D97-AF65-F5344CB8AC3E}">
        <p14:creationId xmlns:p14="http://schemas.microsoft.com/office/powerpoint/2010/main" val="2208603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a:t>
            </a:r>
          </a:p>
        </p:txBody>
      </p:sp>
      <p:sp>
        <p:nvSpPr>
          <p:cNvPr id="3" name="Content Placeholder 2"/>
          <p:cNvSpPr>
            <a:spLocks noGrp="1"/>
          </p:cNvSpPr>
          <p:nvPr>
            <p:ph idx="1"/>
          </p:nvPr>
        </p:nvSpPr>
        <p:spPr/>
        <p:txBody>
          <a:bodyPr/>
          <a:lstStyle/>
          <a:p>
            <a:r>
              <a:rPr lang="en-US" dirty="0"/>
              <a:t>Suppose</a:t>
            </a:r>
          </a:p>
          <a:p>
            <a:pPr lvl="1"/>
            <a:r>
              <a:rPr lang="en-US" dirty="0"/>
              <a:t>J sends an authenticated message to M</a:t>
            </a:r>
          </a:p>
          <a:p>
            <a:pPr lvl="1"/>
            <a:r>
              <a:rPr lang="en-US" dirty="0"/>
              <a:t>M may forge a different message and claim that it is from J. Example: electronics funds transfer</a:t>
            </a:r>
          </a:p>
          <a:p>
            <a:pPr lvl="1"/>
            <a:r>
              <a:rPr lang="en-US" dirty="0"/>
              <a:t>J can deny sending the message. Example: Electronics email message</a:t>
            </a:r>
          </a:p>
          <a:p>
            <a:pPr marL="0" indent="0">
              <a:buNone/>
            </a:pPr>
            <a:endParaRPr lang="en-US" dirty="0"/>
          </a:p>
        </p:txBody>
      </p:sp>
      <p:pic>
        <p:nvPicPr>
          <p:cNvPr id="6" name="Picture 5"/>
          <p:cNvPicPr>
            <a:picLocks noChangeAspect="1"/>
          </p:cNvPicPr>
          <p:nvPr/>
        </p:nvPicPr>
        <p:blipFill>
          <a:blip r:embed="rId2"/>
          <a:stretch>
            <a:fillRect/>
          </a:stretch>
        </p:blipFill>
        <p:spPr>
          <a:xfrm>
            <a:off x="1507495" y="4696165"/>
            <a:ext cx="8120576" cy="859611"/>
          </a:xfrm>
          <a:prstGeom prst="rect">
            <a:avLst/>
          </a:prstGeom>
        </p:spPr>
      </p:pic>
    </p:spTree>
    <p:extLst>
      <p:ext uri="{BB962C8B-B14F-4D97-AF65-F5344CB8AC3E}">
        <p14:creationId xmlns:p14="http://schemas.microsoft.com/office/powerpoint/2010/main" val="2195224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a:t>
            </a:r>
          </a:p>
        </p:txBody>
      </p:sp>
      <p:sp>
        <p:nvSpPr>
          <p:cNvPr id="3" name="Content Placeholder 2"/>
          <p:cNvSpPr>
            <a:spLocks noGrp="1"/>
          </p:cNvSpPr>
          <p:nvPr>
            <p:ph idx="1"/>
          </p:nvPr>
        </p:nvSpPr>
        <p:spPr/>
        <p:txBody>
          <a:bodyPr/>
          <a:lstStyle/>
          <a:p>
            <a:r>
              <a:rPr lang="en-US" dirty="0"/>
              <a:t>Digital signature is analogous to the handwritten signature</a:t>
            </a:r>
          </a:p>
          <a:p>
            <a:r>
              <a:rPr lang="en-US" dirty="0"/>
              <a:t>Properties</a:t>
            </a:r>
          </a:p>
          <a:p>
            <a:pPr lvl="1"/>
            <a:r>
              <a:rPr lang="en-US" dirty="0"/>
              <a:t>Verify the author and the date and time of the signature</a:t>
            </a:r>
          </a:p>
          <a:p>
            <a:pPr lvl="1"/>
            <a:r>
              <a:rPr lang="en-US" dirty="0"/>
              <a:t>Authenticate the contents at the time of the signature</a:t>
            </a:r>
          </a:p>
          <a:p>
            <a:pPr lvl="1"/>
            <a:r>
              <a:rPr lang="en-US" dirty="0"/>
              <a:t>Be verifiable by third parties</a:t>
            </a:r>
          </a:p>
          <a:p>
            <a:endParaRPr lang="en-US" dirty="0"/>
          </a:p>
        </p:txBody>
      </p:sp>
    </p:spTree>
    <p:extLst>
      <p:ext uri="{BB962C8B-B14F-4D97-AF65-F5344CB8AC3E}">
        <p14:creationId xmlns:p14="http://schemas.microsoft.com/office/powerpoint/2010/main" val="194462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of DS</a:t>
            </a:r>
          </a:p>
        </p:txBody>
      </p:sp>
      <p:sp>
        <p:nvSpPr>
          <p:cNvPr id="3" name="Content Placeholder 2"/>
          <p:cNvSpPr>
            <a:spLocks noGrp="1"/>
          </p:cNvSpPr>
          <p:nvPr>
            <p:ph idx="1"/>
          </p:nvPr>
        </p:nvSpPr>
        <p:spPr/>
        <p:txBody>
          <a:bodyPr/>
          <a:lstStyle/>
          <a:p>
            <a:r>
              <a:rPr lang="en-US" dirty="0"/>
              <a:t>Must be bit-pattern and depends on message</a:t>
            </a:r>
          </a:p>
          <a:p>
            <a:r>
              <a:rPr lang="en-US" dirty="0"/>
              <a:t>Must send some unique info to avoid forgery &amp; denial</a:t>
            </a:r>
          </a:p>
          <a:p>
            <a:r>
              <a:rPr lang="en-US" dirty="0"/>
              <a:t>Must be easy to produce</a:t>
            </a:r>
          </a:p>
          <a:p>
            <a:r>
              <a:rPr lang="en-US" dirty="0"/>
              <a:t>Recognition and verification should be easy</a:t>
            </a:r>
          </a:p>
          <a:p>
            <a:r>
              <a:rPr lang="en-US" dirty="0"/>
              <a:t>Should be computationally infeasible to reproduce</a:t>
            </a:r>
          </a:p>
          <a:p>
            <a:r>
              <a:rPr lang="en-US" dirty="0"/>
              <a:t>A copy should be retained in DS storage</a:t>
            </a:r>
          </a:p>
        </p:txBody>
      </p:sp>
    </p:spTree>
    <p:extLst>
      <p:ext uri="{BB962C8B-B14F-4D97-AF65-F5344CB8AC3E}">
        <p14:creationId xmlns:p14="http://schemas.microsoft.com/office/powerpoint/2010/main" val="926058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DS Functions </a:t>
            </a:r>
          </a:p>
        </p:txBody>
      </p:sp>
      <p:sp>
        <p:nvSpPr>
          <p:cNvPr id="3" name="Content Placeholder 2"/>
          <p:cNvSpPr>
            <a:spLocks noGrp="1"/>
          </p:cNvSpPr>
          <p:nvPr>
            <p:ph idx="1"/>
          </p:nvPr>
        </p:nvSpPr>
        <p:spPr/>
        <p:txBody>
          <a:bodyPr/>
          <a:lstStyle/>
          <a:p>
            <a:r>
              <a:rPr lang="en-US" dirty="0"/>
              <a:t>There are two types of Digital Signatures</a:t>
            </a:r>
          </a:p>
          <a:p>
            <a:pPr lvl="1"/>
            <a:r>
              <a:rPr lang="en-US" dirty="0"/>
              <a:t>Direct Digital Signature</a:t>
            </a:r>
          </a:p>
          <a:p>
            <a:pPr lvl="2"/>
            <a:r>
              <a:rPr lang="en-US" dirty="0"/>
              <a:t>It only involves the communicating parties like sender and receiver </a:t>
            </a:r>
          </a:p>
          <a:p>
            <a:pPr lvl="1"/>
            <a:r>
              <a:rPr lang="en-US" dirty="0"/>
              <a:t>Arbitrated Digital Signature</a:t>
            </a:r>
          </a:p>
          <a:p>
            <a:pPr lvl="2"/>
            <a:r>
              <a:rPr lang="en-US" dirty="0"/>
              <a:t>It involves an arbitrator to authenticate the sender and receiver</a:t>
            </a:r>
          </a:p>
        </p:txBody>
      </p:sp>
    </p:spTree>
    <p:extLst>
      <p:ext uri="{BB962C8B-B14F-4D97-AF65-F5344CB8AC3E}">
        <p14:creationId xmlns:p14="http://schemas.microsoft.com/office/powerpoint/2010/main" val="3247684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Digital Signatures</a:t>
            </a:r>
          </a:p>
        </p:txBody>
      </p:sp>
      <p:sp>
        <p:nvSpPr>
          <p:cNvPr id="3" name="Content Placeholder 2"/>
          <p:cNvSpPr>
            <a:spLocks noGrp="1"/>
          </p:cNvSpPr>
          <p:nvPr>
            <p:ph idx="1"/>
          </p:nvPr>
        </p:nvSpPr>
        <p:spPr/>
        <p:txBody>
          <a:bodyPr/>
          <a:lstStyle/>
          <a:p>
            <a:r>
              <a:rPr lang="en-US" dirty="0"/>
              <a:t>In this scheme the concept of Public Key Encryption is used</a:t>
            </a:r>
          </a:p>
          <a:p>
            <a:r>
              <a:rPr lang="en-US" dirty="0"/>
              <a:t>The message may be encrypted with the sender’s private key</a:t>
            </a:r>
          </a:p>
          <a:p>
            <a:r>
              <a:rPr lang="en-US" dirty="0"/>
              <a:t>The hash code of a message is encrypted by the sender’s private key</a:t>
            </a:r>
          </a:p>
          <a:p>
            <a:endParaRPr lang="en-US" dirty="0"/>
          </a:p>
        </p:txBody>
      </p:sp>
      <p:pic>
        <p:nvPicPr>
          <p:cNvPr id="6" name="Picture 5"/>
          <p:cNvPicPr>
            <a:picLocks noChangeAspect="1"/>
          </p:cNvPicPr>
          <p:nvPr/>
        </p:nvPicPr>
        <p:blipFill>
          <a:blip r:embed="rId2"/>
          <a:stretch>
            <a:fillRect/>
          </a:stretch>
        </p:blipFill>
        <p:spPr>
          <a:xfrm>
            <a:off x="2808684" y="3838689"/>
            <a:ext cx="5941050" cy="2705549"/>
          </a:xfrm>
          <a:prstGeom prst="rect">
            <a:avLst/>
          </a:prstGeom>
        </p:spPr>
      </p:pic>
    </p:spTree>
    <p:extLst>
      <p:ext uri="{BB962C8B-B14F-4D97-AF65-F5344CB8AC3E}">
        <p14:creationId xmlns:p14="http://schemas.microsoft.com/office/powerpoint/2010/main" val="653752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digital Signatures </a:t>
            </a:r>
          </a:p>
        </p:txBody>
      </p:sp>
      <p:sp>
        <p:nvSpPr>
          <p:cNvPr id="3" name="Content Placeholder 2"/>
          <p:cNvSpPr>
            <a:spLocks noGrp="1"/>
          </p:cNvSpPr>
          <p:nvPr>
            <p:ph idx="1"/>
          </p:nvPr>
        </p:nvSpPr>
        <p:spPr/>
        <p:txBody>
          <a:bodyPr/>
          <a:lstStyle/>
          <a:p>
            <a:r>
              <a:rPr lang="en-US" dirty="0"/>
              <a:t>Confidentiality can be provided by further encrypting with the entire message and signature with receiver’s public key or symmetric key </a:t>
            </a:r>
          </a:p>
        </p:txBody>
      </p:sp>
      <p:pic>
        <p:nvPicPr>
          <p:cNvPr id="6" name="Picture 5"/>
          <p:cNvPicPr>
            <a:picLocks noChangeAspect="1"/>
          </p:cNvPicPr>
          <p:nvPr/>
        </p:nvPicPr>
        <p:blipFill>
          <a:blip r:embed="rId2"/>
          <a:stretch>
            <a:fillRect/>
          </a:stretch>
        </p:blipFill>
        <p:spPr>
          <a:xfrm>
            <a:off x="595943" y="3389694"/>
            <a:ext cx="10866238" cy="2816125"/>
          </a:xfrm>
          <a:prstGeom prst="rect">
            <a:avLst/>
          </a:prstGeom>
        </p:spPr>
      </p:pic>
    </p:spTree>
    <p:extLst>
      <p:ext uri="{BB962C8B-B14F-4D97-AF65-F5344CB8AC3E}">
        <p14:creationId xmlns:p14="http://schemas.microsoft.com/office/powerpoint/2010/main" val="3116283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Digital Signatures</a:t>
            </a:r>
          </a:p>
        </p:txBody>
      </p:sp>
      <p:sp>
        <p:nvSpPr>
          <p:cNvPr id="3" name="Content Placeholder 2"/>
          <p:cNvSpPr>
            <a:spLocks noGrp="1"/>
          </p:cNvSpPr>
          <p:nvPr>
            <p:ph idx="1"/>
          </p:nvPr>
        </p:nvSpPr>
        <p:spPr/>
        <p:txBody>
          <a:bodyPr/>
          <a:lstStyle/>
          <a:p>
            <a:r>
              <a:rPr lang="en-US" dirty="0"/>
              <a:t>Weaknesses of DDS</a:t>
            </a:r>
          </a:p>
          <a:p>
            <a:pPr lvl="1"/>
            <a:r>
              <a:rPr lang="en-US" dirty="0"/>
              <a:t>The validity depends on security of sender’s private key</a:t>
            </a:r>
          </a:p>
          <a:p>
            <a:pPr lvl="1"/>
            <a:r>
              <a:rPr lang="en-US" dirty="0"/>
              <a:t>Sender can deny sending a message and claim that the private key was stolen</a:t>
            </a:r>
          </a:p>
          <a:p>
            <a:pPr lvl="1"/>
            <a:r>
              <a:rPr lang="en-US" dirty="0"/>
              <a:t>The key actually is stolen</a:t>
            </a:r>
          </a:p>
        </p:txBody>
      </p:sp>
    </p:spTree>
    <p:extLst>
      <p:ext uri="{BB962C8B-B14F-4D97-AF65-F5344CB8AC3E}">
        <p14:creationId xmlns:p14="http://schemas.microsoft.com/office/powerpoint/2010/main" val="10147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Arbitrated Digital Signature</a:t>
            </a:r>
          </a:p>
        </p:txBody>
      </p:sp>
      <p:sp>
        <p:nvSpPr>
          <p:cNvPr id="3" name="Content Placeholder 2"/>
          <p:cNvSpPr>
            <a:spLocks noGrp="1"/>
          </p:cNvSpPr>
          <p:nvPr>
            <p:ph idx="1"/>
          </p:nvPr>
        </p:nvSpPr>
        <p:spPr/>
        <p:txBody>
          <a:bodyPr>
            <a:normAutofit/>
          </a:bodyPr>
          <a:lstStyle/>
          <a:p>
            <a:r>
              <a:rPr lang="en-US" dirty="0"/>
              <a:t>The arbiter can be used as a mean to over come the weaknesses of DDS</a:t>
            </a:r>
          </a:p>
          <a:p>
            <a:pPr marL="0" indent="0">
              <a:buNone/>
            </a:pPr>
            <a:endParaRPr lang="en-US" dirty="0"/>
          </a:p>
          <a:p>
            <a:pPr marL="0" indent="0">
              <a:buNone/>
            </a:pPr>
            <a:endParaRPr lang="en-US" dirty="0"/>
          </a:p>
          <a:p>
            <a:r>
              <a:rPr lang="en-US" dirty="0"/>
              <a:t>Sender sends message to Arbiter</a:t>
            </a:r>
          </a:p>
          <a:p>
            <a:r>
              <a:rPr lang="en-US" dirty="0"/>
              <a:t>Arbiter verifies it through multiple tests</a:t>
            </a:r>
          </a:p>
          <a:p>
            <a:r>
              <a:rPr lang="en-US" dirty="0"/>
              <a:t>Then Arbiter sends the message to receiver with the indication that it has been verified</a:t>
            </a:r>
          </a:p>
          <a:p>
            <a:r>
              <a:rPr lang="en-US" dirty="0"/>
              <a:t>Arbiter plays a sensitive and crucial role </a:t>
            </a:r>
          </a:p>
          <a:p>
            <a:endParaRPr lang="en-US" dirty="0"/>
          </a:p>
          <a:p>
            <a:endParaRPr lang="en-US" dirty="0"/>
          </a:p>
          <a:p>
            <a:endParaRPr lang="en-US" dirty="0"/>
          </a:p>
          <a:p>
            <a:endParaRPr lang="en-US" dirty="0"/>
          </a:p>
        </p:txBody>
      </p:sp>
      <p:pic>
        <p:nvPicPr>
          <p:cNvPr id="6" name="Picture 5"/>
          <p:cNvPicPr>
            <a:picLocks noChangeAspect="1"/>
          </p:cNvPicPr>
          <p:nvPr/>
        </p:nvPicPr>
        <p:blipFill>
          <a:blip r:embed="rId2"/>
          <a:stretch>
            <a:fillRect/>
          </a:stretch>
        </p:blipFill>
        <p:spPr>
          <a:xfrm>
            <a:off x="1761909" y="2984584"/>
            <a:ext cx="7547502" cy="701101"/>
          </a:xfrm>
          <a:prstGeom prst="rect">
            <a:avLst/>
          </a:prstGeom>
        </p:spPr>
      </p:pic>
    </p:spTree>
    <p:extLst>
      <p:ext uri="{BB962C8B-B14F-4D97-AF65-F5344CB8AC3E}">
        <p14:creationId xmlns:p14="http://schemas.microsoft.com/office/powerpoint/2010/main" val="345869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Arbitrated Digital Signature</a:t>
            </a:r>
          </a:p>
        </p:txBody>
      </p:sp>
      <p:sp>
        <p:nvSpPr>
          <p:cNvPr id="3" name="Content Placeholder 2"/>
          <p:cNvSpPr>
            <a:spLocks noGrp="1"/>
          </p:cNvSpPr>
          <p:nvPr>
            <p:ph idx="1"/>
          </p:nvPr>
        </p:nvSpPr>
        <p:spPr/>
        <p:txBody>
          <a:bodyPr/>
          <a:lstStyle/>
          <a:p>
            <a:r>
              <a:rPr lang="en-US" dirty="0"/>
              <a:t>Conventional Encryption, Arbiter sees the message</a:t>
            </a:r>
          </a:p>
          <a:p>
            <a:endParaRPr lang="en-US" dirty="0"/>
          </a:p>
          <a:p>
            <a:pPr marL="0" indent="0">
              <a:buNone/>
            </a:pPr>
            <a:endParaRPr lang="en-US" dirty="0"/>
          </a:p>
        </p:txBody>
      </p:sp>
      <p:sp>
        <p:nvSpPr>
          <p:cNvPr id="6" name="Rectangle 5"/>
          <p:cNvSpPr>
            <a:spLocks noChangeArrowheads="1"/>
          </p:cNvSpPr>
          <p:nvPr/>
        </p:nvSpPr>
        <p:spPr bwMode="auto">
          <a:xfrm>
            <a:off x="1517176" y="3388535"/>
            <a:ext cx="7239000" cy="129540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800" dirty="0">
                <a:solidFill>
                  <a:schemeClr val="accent2"/>
                </a:solidFill>
                <a:effectLst/>
                <a:latin typeface="Arial" panose="020B0604020202020204" pitchFamily="34" charset="0"/>
              </a:rPr>
              <a:t>X-&gt;A: M || </a:t>
            </a:r>
            <a:r>
              <a:rPr lang="en-US" sz="2800" dirty="0">
                <a:solidFill>
                  <a:srgbClr val="006600"/>
                </a:solidFill>
                <a:effectLst/>
                <a:latin typeface="Arial" panose="020B0604020202020204" pitchFamily="34" charset="0"/>
              </a:rPr>
              <a:t>E</a:t>
            </a:r>
            <a:r>
              <a:rPr lang="en-US" sz="2800" baseline="-25000" dirty="0">
                <a:solidFill>
                  <a:srgbClr val="006600"/>
                </a:solidFill>
                <a:effectLst/>
                <a:latin typeface="Arial" panose="020B0604020202020204" pitchFamily="34" charset="0"/>
              </a:rPr>
              <a:t>KXA</a:t>
            </a:r>
            <a:r>
              <a:rPr lang="en-US" sz="2800" dirty="0">
                <a:solidFill>
                  <a:srgbClr val="006600"/>
                </a:solidFill>
                <a:effectLst/>
                <a:latin typeface="Arial" panose="020B0604020202020204" pitchFamily="34" charset="0"/>
              </a:rPr>
              <a:t> [</a:t>
            </a:r>
            <a:r>
              <a:rPr lang="en-US" sz="2800" dirty="0" err="1">
                <a:solidFill>
                  <a:srgbClr val="006600"/>
                </a:solidFill>
                <a:effectLst/>
                <a:latin typeface="Arial" panose="020B0604020202020204" pitchFamily="34" charset="0"/>
              </a:rPr>
              <a:t>ID</a:t>
            </a:r>
            <a:r>
              <a:rPr lang="en-US" sz="2800" baseline="-25000" dirty="0" err="1">
                <a:solidFill>
                  <a:srgbClr val="006600"/>
                </a:solidFill>
                <a:effectLst/>
                <a:latin typeface="Arial" panose="020B0604020202020204" pitchFamily="34" charset="0"/>
              </a:rPr>
              <a:t>x</a:t>
            </a:r>
            <a:r>
              <a:rPr lang="en-US" sz="2800" baseline="-25000" dirty="0">
                <a:solidFill>
                  <a:srgbClr val="006600"/>
                </a:solidFill>
                <a:effectLst/>
                <a:latin typeface="Arial" panose="020B0604020202020204" pitchFamily="34" charset="0"/>
              </a:rPr>
              <a:t> </a:t>
            </a:r>
            <a:r>
              <a:rPr lang="en-US" sz="2800" dirty="0">
                <a:solidFill>
                  <a:srgbClr val="006600"/>
                </a:solidFill>
                <a:effectLst/>
                <a:latin typeface="Arial" panose="020B0604020202020204" pitchFamily="34" charset="0"/>
              </a:rPr>
              <a:t>|| H(M) ]</a:t>
            </a:r>
          </a:p>
          <a:p>
            <a:r>
              <a:rPr lang="en-US" sz="2800" dirty="0">
                <a:solidFill>
                  <a:schemeClr val="accent2"/>
                </a:solidFill>
                <a:effectLst/>
                <a:latin typeface="Arial" panose="020B0604020202020204" pitchFamily="34" charset="0"/>
              </a:rPr>
              <a:t>A-&gt;Y: E</a:t>
            </a:r>
            <a:r>
              <a:rPr lang="en-US" sz="2800" baseline="-25000" dirty="0">
                <a:solidFill>
                  <a:schemeClr val="accent2"/>
                </a:solidFill>
                <a:effectLst/>
                <a:latin typeface="Arial" panose="020B0604020202020204" pitchFamily="34" charset="0"/>
              </a:rPr>
              <a:t>KAY</a:t>
            </a:r>
            <a:r>
              <a:rPr lang="en-US" sz="2800" dirty="0">
                <a:solidFill>
                  <a:schemeClr val="accent2"/>
                </a:solidFill>
                <a:effectLst/>
                <a:latin typeface="Arial" panose="020B0604020202020204" pitchFamily="34" charset="0"/>
              </a:rPr>
              <a:t>[ ID</a:t>
            </a:r>
            <a:r>
              <a:rPr lang="en-US" sz="2800" baseline="-25000" dirty="0">
                <a:solidFill>
                  <a:schemeClr val="accent2"/>
                </a:solidFill>
                <a:effectLst/>
                <a:latin typeface="Arial" panose="020B0604020202020204" pitchFamily="34" charset="0"/>
              </a:rPr>
              <a:t>X </a:t>
            </a:r>
            <a:r>
              <a:rPr lang="en-US" sz="2800" dirty="0">
                <a:solidFill>
                  <a:schemeClr val="accent2"/>
                </a:solidFill>
                <a:effectLst/>
                <a:latin typeface="Arial" panose="020B0604020202020204" pitchFamily="34" charset="0"/>
              </a:rPr>
              <a:t>|| M || </a:t>
            </a:r>
            <a:r>
              <a:rPr lang="en-US" sz="2800" dirty="0">
                <a:solidFill>
                  <a:srgbClr val="006600"/>
                </a:solidFill>
                <a:effectLst/>
                <a:latin typeface="Arial" panose="020B0604020202020204" pitchFamily="34" charset="0"/>
              </a:rPr>
              <a:t>E</a:t>
            </a:r>
            <a:r>
              <a:rPr lang="en-US" sz="2800" baseline="-25000" dirty="0">
                <a:solidFill>
                  <a:srgbClr val="006600"/>
                </a:solidFill>
                <a:effectLst/>
                <a:latin typeface="Arial" panose="020B0604020202020204" pitchFamily="34" charset="0"/>
              </a:rPr>
              <a:t>KXA</a:t>
            </a:r>
            <a:r>
              <a:rPr lang="en-US" sz="2800" dirty="0">
                <a:solidFill>
                  <a:srgbClr val="006600"/>
                </a:solidFill>
                <a:effectLst/>
                <a:latin typeface="Arial" panose="020B0604020202020204" pitchFamily="34" charset="0"/>
              </a:rPr>
              <a:t>[ID</a:t>
            </a:r>
            <a:r>
              <a:rPr lang="en-US" sz="2800" baseline="-25000" dirty="0">
                <a:solidFill>
                  <a:srgbClr val="006600"/>
                </a:solidFill>
                <a:effectLst/>
                <a:latin typeface="Arial" panose="020B0604020202020204" pitchFamily="34" charset="0"/>
              </a:rPr>
              <a:t>X </a:t>
            </a:r>
            <a:r>
              <a:rPr lang="en-US" sz="2800" dirty="0">
                <a:solidFill>
                  <a:srgbClr val="006600"/>
                </a:solidFill>
                <a:effectLst/>
                <a:latin typeface="Arial" panose="020B0604020202020204" pitchFamily="34" charset="0"/>
              </a:rPr>
              <a:t>|| H(M)] </a:t>
            </a:r>
            <a:r>
              <a:rPr lang="en-US" sz="2800" dirty="0">
                <a:solidFill>
                  <a:schemeClr val="accent2"/>
                </a:solidFill>
                <a:effectLst/>
                <a:latin typeface="Arial" panose="020B0604020202020204" pitchFamily="34" charset="0"/>
              </a:rPr>
              <a:t>|| T ]</a:t>
            </a:r>
          </a:p>
        </p:txBody>
      </p:sp>
    </p:spTree>
    <p:extLst>
      <p:ext uri="{BB962C8B-B14F-4D97-AF65-F5344CB8AC3E}">
        <p14:creationId xmlns:p14="http://schemas.microsoft.com/office/powerpoint/2010/main" val="2725086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Arbitrated Digital Signature</a:t>
            </a:r>
          </a:p>
        </p:txBody>
      </p:sp>
      <p:sp>
        <p:nvSpPr>
          <p:cNvPr id="3" name="Content Placeholder 2"/>
          <p:cNvSpPr>
            <a:spLocks noGrp="1"/>
          </p:cNvSpPr>
          <p:nvPr>
            <p:ph idx="1"/>
          </p:nvPr>
        </p:nvSpPr>
        <p:spPr/>
        <p:txBody>
          <a:bodyPr/>
          <a:lstStyle/>
          <a:p>
            <a:r>
              <a:rPr lang="en-US" dirty="0"/>
              <a:t>Conventional Encryption, Arbiter can not see the message</a:t>
            </a:r>
          </a:p>
          <a:p>
            <a:pPr marL="0" indent="0">
              <a:buNone/>
            </a:pPr>
            <a:endParaRPr lang="en-US" dirty="0"/>
          </a:p>
          <a:p>
            <a:pPr marL="0" indent="0">
              <a:buNone/>
            </a:pPr>
            <a:endParaRPr lang="en-US" dirty="0"/>
          </a:p>
        </p:txBody>
      </p:sp>
      <p:sp>
        <p:nvSpPr>
          <p:cNvPr id="6" name="Rectangle 4"/>
          <p:cNvSpPr>
            <a:spLocks noChangeArrowheads="1"/>
          </p:cNvSpPr>
          <p:nvPr/>
        </p:nvSpPr>
        <p:spPr bwMode="auto">
          <a:xfrm>
            <a:off x="1610567" y="3549650"/>
            <a:ext cx="8305800" cy="152400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400" dirty="0">
                <a:solidFill>
                  <a:schemeClr val="accent2"/>
                </a:solidFill>
                <a:effectLst/>
                <a:latin typeface="Arial" panose="020B0604020202020204" pitchFamily="34" charset="0"/>
              </a:rPr>
              <a:t>X-&gt;A: </a:t>
            </a:r>
            <a:r>
              <a:rPr lang="en-US" sz="2400" dirty="0" err="1">
                <a:solidFill>
                  <a:schemeClr val="accent2"/>
                </a:solidFill>
                <a:effectLst/>
                <a:latin typeface="Arial" panose="020B0604020202020204" pitchFamily="34" charset="0"/>
              </a:rPr>
              <a:t>ID</a:t>
            </a:r>
            <a:r>
              <a:rPr lang="en-US" sz="2400" baseline="-25000" dirty="0" err="1">
                <a:solidFill>
                  <a:schemeClr val="accent2"/>
                </a:solidFill>
                <a:effectLst/>
                <a:latin typeface="Arial" panose="020B0604020202020204" pitchFamily="34" charset="0"/>
              </a:rPr>
              <a:t>x</a:t>
            </a:r>
            <a:r>
              <a:rPr lang="en-US" sz="2400" dirty="0">
                <a:solidFill>
                  <a:schemeClr val="accent2"/>
                </a:solidFill>
                <a:effectLst/>
                <a:latin typeface="Arial" panose="020B0604020202020204" pitchFamily="34" charset="0"/>
              </a:rPr>
              <a:t> || </a:t>
            </a:r>
            <a:r>
              <a:rPr lang="en-US" sz="2400" dirty="0" err="1">
                <a:solidFill>
                  <a:srgbClr val="006600"/>
                </a:solidFill>
                <a:effectLst/>
                <a:latin typeface="Arial" panose="020B0604020202020204" pitchFamily="34" charset="0"/>
              </a:rPr>
              <a:t>E</a:t>
            </a:r>
            <a:r>
              <a:rPr lang="en-US" sz="2400" baseline="-25000" dirty="0" err="1">
                <a:solidFill>
                  <a:srgbClr val="006600"/>
                </a:solidFill>
                <a:effectLst/>
                <a:latin typeface="Arial" panose="020B0604020202020204" pitchFamily="34" charset="0"/>
              </a:rPr>
              <a:t>Kxy</a:t>
            </a:r>
            <a:r>
              <a:rPr lang="en-US" sz="2400" dirty="0">
                <a:solidFill>
                  <a:srgbClr val="006600"/>
                </a:solidFill>
                <a:effectLst/>
                <a:latin typeface="Arial" panose="020B0604020202020204" pitchFamily="34" charset="0"/>
              </a:rPr>
              <a:t> [M]</a:t>
            </a:r>
            <a:r>
              <a:rPr lang="en-US" sz="2400" dirty="0">
                <a:solidFill>
                  <a:schemeClr val="accent2"/>
                </a:solidFill>
                <a:effectLst/>
                <a:latin typeface="Arial" panose="020B0604020202020204" pitchFamily="34" charset="0"/>
              </a:rPr>
              <a:t> || </a:t>
            </a:r>
            <a:r>
              <a:rPr lang="en-US" sz="2400" dirty="0" err="1">
                <a:solidFill>
                  <a:schemeClr val="accent2"/>
                </a:solidFill>
                <a:effectLst/>
                <a:latin typeface="Arial" panose="020B0604020202020204" pitchFamily="34" charset="0"/>
              </a:rPr>
              <a:t>E</a:t>
            </a:r>
            <a:r>
              <a:rPr lang="en-US" sz="2400" baseline="-25000" dirty="0" err="1">
                <a:solidFill>
                  <a:schemeClr val="accent2"/>
                </a:solidFill>
                <a:effectLst/>
                <a:latin typeface="Arial" panose="020B0604020202020204" pitchFamily="34" charset="0"/>
              </a:rPr>
              <a:t>Kxa</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ID</a:t>
            </a:r>
            <a:r>
              <a:rPr lang="en-US" sz="2400" baseline="-25000" dirty="0" err="1">
                <a:solidFill>
                  <a:schemeClr val="accent2"/>
                </a:solidFill>
                <a:effectLst/>
                <a:latin typeface="Arial" panose="020B0604020202020204" pitchFamily="34" charset="0"/>
              </a:rPr>
              <a:t>x</a:t>
            </a:r>
            <a:r>
              <a:rPr lang="en-US" sz="2400" baseline="-25000" dirty="0">
                <a:solidFill>
                  <a:schemeClr val="accent2"/>
                </a:solidFill>
                <a:effectLst/>
                <a:latin typeface="Arial" panose="020B0604020202020204" pitchFamily="34" charset="0"/>
              </a:rPr>
              <a:t> </a:t>
            </a:r>
            <a:r>
              <a:rPr lang="en-US" sz="2400" dirty="0">
                <a:solidFill>
                  <a:schemeClr val="accent2"/>
                </a:solidFill>
                <a:effectLst/>
                <a:latin typeface="Arial" panose="020B0604020202020204" pitchFamily="34" charset="0"/>
              </a:rPr>
              <a:t>|| H (</a:t>
            </a:r>
            <a:r>
              <a:rPr lang="en-US" sz="2400" dirty="0" err="1">
                <a:solidFill>
                  <a:srgbClr val="006600"/>
                </a:solidFill>
                <a:effectLst/>
                <a:latin typeface="Arial" panose="020B0604020202020204" pitchFamily="34" charset="0"/>
              </a:rPr>
              <a:t>E</a:t>
            </a:r>
            <a:r>
              <a:rPr lang="en-US" sz="2400" baseline="-25000" dirty="0" err="1">
                <a:solidFill>
                  <a:srgbClr val="006600"/>
                </a:solidFill>
                <a:effectLst/>
                <a:latin typeface="Arial" panose="020B0604020202020204" pitchFamily="34" charset="0"/>
              </a:rPr>
              <a:t>kxy</a:t>
            </a:r>
            <a:r>
              <a:rPr lang="en-US" sz="2400" dirty="0">
                <a:solidFill>
                  <a:srgbClr val="006600"/>
                </a:solidFill>
                <a:effectLst/>
                <a:latin typeface="Arial" panose="020B0604020202020204" pitchFamily="34" charset="0"/>
              </a:rPr>
              <a:t>[M]</a:t>
            </a:r>
            <a:r>
              <a:rPr lang="en-US" sz="2400" dirty="0">
                <a:solidFill>
                  <a:schemeClr val="accent2"/>
                </a:solidFill>
                <a:effectLst/>
                <a:latin typeface="Arial" panose="020B0604020202020204" pitchFamily="34" charset="0"/>
              </a:rPr>
              <a:t>)]</a:t>
            </a:r>
          </a:p>
          <a:p>
            <a:endParaRPr lang="en-US" sz="2400" dirty="0">
              <a:solidFill>
                <a:schemeClr val="accent2"/>
              </a:solidFill>
              <a:effectLst/>
              <a:latin typeface="Arial" panose="020B0604020202020204" pitchFamily="34" charset="0"/>
            </a:endParaRPr>
          </a:p>
          <a:p>
            <a:r>
              <a:rPr lang="en-US" sz="2400" dirty="0">
                <a:solidFill>
                  <a:schemeClr val="accent2"/>
                </a:solidFill>
                <a:effectLst/>
                <a:latin typeface="Arial" panose="020B0604020202020204" pitchFamily="34" charset="0"/>
              </a:rPr>
              <a:t>A-&gt;Y: </a:t>
            </a:r>
            <a:r>
              <a:rPr lang="en-US" sz="2400" dirty="0" err="1">
                <a:solidFill>
                  <a:srgbClr val="8A0057"/>
                </a:solidFill>
                <a:effectLst/>
                <a:latin typeface="Arial" panose="020B0604020202020204" pitchFamily="34" charset="0"/>
              </a:rPr>
              <a:t>E</a:t>
            </a:r>
            <a:r>
              <a:rPr lang="en-US" sz="2400" baseline="-25000" dirty="0" err="1">
                <a:solidFill>
                  <a:srgbClr val="8A0057"/>
                </a:solidFill>
                <a:effectLst/>
                <a:latin typeface="Arial" panose="020B0604020202020204" pitchFamily="34" charset="0"/>
              </a:rPr>
              <a:t>Kay</a:t>
            </a:r>
            <a:r>
              <a:rPr lang="en-US" sz="2400" dirty="0">
                <a:solidFill>
                  <a:srgbClr val="8A0057"/>
                </a:solidFill>
                <a:effectLst/>
                <a:latin typeface="Arial" panose="020B0604020202020204" pitchFamily="34" charset="0"/>
              </a:rPr>
              <a:t>[</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ID</a:t>
            </a:r>
            <a:r>
              <a:rPr lang="en-US" sz="2400" baseline="-25000" dirty="0" err="1">
                <a:solidFill>
                  <a:schemeClr val="accent2"/>
                </a:solidFill>
                <a:effectLst/>
                <a:latin typeface="Arial" panose="020B0604020202020204" pitchFamily="34" charset="0"/>
              </a:rPr>
              <a:t>x</a:t>
            </a:r>
            <a:r>
              <a:rPr lang="en-US" sz="2400" baseline="-25000" dirty="0">
                <a:solidFill>
                  <a:schemeClr val="accent2"/>
                </a:solidFill>
                <a:effectLst/>
                <a:latin typeface="Arial" panose="020B0604020202020204" pitchFamily="34" charset="0"/>
              </a:rPr>
              <a:t> </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E</a:t>
            </a:r>
            <a:r>
              <a:rPr lang="en-US" sz="2400" baseline="-25000" dirty="0" err="1">
                <a:solidFill>
                  <a:schemeClr val="accent2"/>
                </a:solidFill>
                <a:effectLst/>
                <a:latin typeface="Arial" panose="020B0604020202020204" pitchFamily="34" charset="0"/>
              </a:rPr>
              <a:t>Kxy</a:t>
            </a:r>
            <a:r>
              <a:rPr lang="en-US" sz="2400" dirty="0">
                <a:solidFill>
                  <a:schemeClr val="accent2"/>
                </a:solidFill>
                <a:effectLst/>
                <a:latin typeface="Arial" panose="020B0604020202020204" pitchFamily="34" charset="0"/>
              </a:rPr>
              <a:t>[M] || </a:t>
            </a:r>
            <a:r>
              <a:rPr lang="en-US" sz="2400" dirty="0" err="1">
                <a:solidFill>
                  <a:srgbClr val="006600"/>
                </a:solidFill>
                <a:effectLst/>
                <a:latin typeface="Arial" panose="020B0604020202020204" pitchFamily="34" charset="0"/>
              </a:rPr>
              <a:t>E</a:t>
            </a:r>
            <a:r>
              <a:rPr lang="en-US" sz="2400" baseline="-25000" dirty="0" err="1">
                <a:solidFill>
                  <a:srgbClr val="006600"/>
                </a:solidFill>
                <a:effectLst/>
                <a:latin typeface="Arial" panose="020B0604020202020204" pitchFamily="34" charset="0"/>
              </a:rPr>
              <a:t>Kxa</a:t>
            </a:r>
            <a:r>
              <a:rPr lang="en-US" sz="2400" dirty="0">
                <a:solidFill>
                  <a:srgbClr val="006600"/>
                </a:solidFill>
                <a:effectLst/>
                <a:latin typeface="Arial" panose="020B0604020202020204" pitchFamily="34" charset="0"/>
              </a:rPr>
              <a:t>[</a:t>
            </a:r>
            <a:r>
              <a:rPr lang="en-US" sz="2400" dirty="0" err="1">
                <a:solidFill>
                  <a:srgbClr val="006600"/>
                </a:solidFill>
                <a:effectLst/>
                <a:latin typeface="Arial" panose="020B0604020202020204" pitchFamily="34" charset="0"/>
              </a:rPr>
              <a:t>ID</a:t>
            </a:r>
            <a:r>
              <a:rPr lang="en-US" sz="2400" baseline="-25000" dirty="0" err="1">
                <a:solidFill>
                  <a:srgbClr val="006600"/>
                </a:solidFill>
                <a:effectLst/>
                <a:latin typeface="Arial" panose="020B0604020202020204" pitchFamily="34" charset="0"/>
              </a:rPr>
              <a:t>x</a:t>
            </a:r>
            <a:r>
              <a:rPr lang="en-US" sz="2400" baseline="-25000" dirty="0">
                <a:solidFill>
                  <a:srgbClr val="006600"/>
                </a:solidFill>
                <a:effectLst/>
                <a:latin typeface="Arial" panose="020B0604020202020204" pitchFamily="34" charset="0"/>
              </a:rPr>
              <a:t> </a:t>
            </a:r>
            <a:r>
              <a:rPr lang="en-US" sz="2400" dirty="0">
                <a:solidFill>
                  <a:srgbClr val="006600"/>
                </a:solidFill>
                <a:effectLst/>
                <a:latin typeface="Arial" panose="020B0604020202020204" pitchFamily="34" charset="0"/>
              </a:rPr>
              <a:t>|| H(</a:t>
            </a:r>
            <a:r>
              <a:rPr lang="en-US" sz="2400" dirty="0" err="1">
                <a:solidFill>
                  <a:srgbClr val="006600"/>
                </a:solidFill>
                <a:effectLst/>
                <a:latin typeface="Arial" panose="020B0604020202020204" pitchFamily="34" charset="0"/>
              </a:rPr>
              <a:t>E</a:t>
            </a:r>
            <a:r>
              <a:rPr lang="en-US" sz="2400" baseline="-25000" dirty="0" err="1">
                <a:solidFill>
                  <a:srgbClr val="006600"/>
                </a:solidFill>
                <a:effectLst/>
                <a:latin typeface="Arial" panose="020B0604020202020204" pitchFamily="34" charset="0"/>
              </a:rPr>
              <a:t>kxy</a:t>
            </a:r>
            <a:r>
              <a:rPr lang="en-US" sz="2400" dirty="0">
                <a:solidFill>
                  <a:srgbClr val="006600"/>
                </a:solidFill>
                <a:effectLst/>
                <a:latin typeface="Arial" panose="020B0604020202020204" pitchFamily="34" charset="0"/>
              </a:rPr>
              <a:t>[M])]</a:t>
            </a:r>
            <a:r>
              <a:rPr lang="en-US" sz="2400" dirty="0">
                <a:solidFill>
                  <a:schemeClr val="accent2"/>
                </a:solidFill>
                <a:effectLst/>
                <a:latin typeface="Arial" panose="020B0604020202020204" pitchFamily="34" charset="0"/>
              </a:rPr>
              <a:t> || T </a:t>
            </a:r>
            <a:r>
              <a:rPr lang="en-US" sz="2400" dirty="0">
                <a:solidFill>
                  <a:srgbClr val="8A0057"/>
                </a:solidFill>
                <a:effectLst/>
                <a:latin typeface="Arial" panose="020B0604020202020204" pitchFamily="34" charset="0"/>
              </a:rPr>
              <a:t>]</a:t>
            </a:r>
          </a:p>
        </p:txBody>
      </p:sp>
    </p:spTree>
    <p:extLst>
      <p:ext uri="{BB962C8B-B14F-4D97-AF65-F5344CB8AC3E}">
        <p14:creationId xmlns:p14="http://schemas.microsoft.com/office/powerpoint/2010/main" val="2210887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Arbitrated Digital Signature</a:t>
            </a:r>
          </a:p>
        </p:txBody>
      </p:sp>
      <p:sp>
        <p:nvSpPr>
          <p:cNvPr id="3" name="Content Placeholder 2"/>
          <p:cNvSpPr>
            <a:spLocks noGrp="1"/>
          </p:cNvSpPr>
          <p:nvPr>
            <p:ph idx="1"/>
          </p:nvPr>
        </p:nvSpPr>
        <p:spPr/>
        <p:txBody>
          <a:bodyPr/>
          <a:lstStyle/>
          <a:p>
            <a:r>
              <a:rPr lang="en-US" dirty="0"/>
              <a:t>Public Key Encryption, Arbiter cannot see the message</a:t>
            </a:r>
          </a:p>
          <a:p>
            <a:endParaRPr lang="en-US" dirty="0"/>
          </a:p>
          <a:p>
            <a:endParaRPr lang="en-US" dirty="0"/>
          </a:p>
        </p:txBody>
      </p:sp>
      <p:sp>
        <p:nvSpPr>
          <p:cNvPr id="6" name="Rectangle 4"/>
          <p:cNvSpPr>
            <a:spLocks noChangeArrowheads="1"/>
          </p:cNvSpPr>
          <p:nvPr/>
        </p:nvSpPr>
        <p:spPr bwMode="auto">
          <a:xfrm>
            <a:off x="1766532" y="3684896"/>
            <a:ext cx="6504012" cy="1198254"/>
          </a:xfrm>
          <a:prstGeom prst="rect">
            <a:avLst/>
          </a:prstGeom>
          <a:solidFill>
            <a:srgbClr val="C0C0C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15000"/>
              </a:lnSpc>
            </a:pPr>
            <a:r>
              <a:rPr lang="en-US" sz="2400" dirty="0">
                <a:solidFill>
                  <a:schemeClr val="accent2"/>
                </a:solidFill>
                <a:effectLst/>
                <a:latin typeface="Arial" panose="020B0604020202020204" pitchFamily="34" charset="0"/>
              </a:rPr>
              <a:t>X-&gt;A: </a:t>
            </a:r>
            <a:r>
              <a:rPr lang="en-US" sz="2400" dirty="0" err="1">
                <a:solidFill>
                  <a:schemeClr val="accent2"/>
                </a:solidFill>
                <a:effectLst/>
                <a:latin typeface="Arial" panose="020B0604020202020204" pitchFamily="34" charset="0"/>
              </a:rPr>
              <a:t>IDx</a:t>
            </a:r>
            <a:r>
              <a:rPr lang="en-US" sz="2400" dirty="0">
                <a:solidFill>
                  <a:schemeClr val="accent2"/>
                </a:solidFill>
                <a:effectLst/>
                <a:latin typeface="Arial" panose="020B0604020202020204" pitchFamily="34" charset="0"/>
              </a:rPr>
              <a:t> || </a:t>
            </a:r>
            <a:r>
              <a:rPr lang="en-US" sz="2400" dirty="0" err="1">
                <a:solidFill>
                  <a:schemeClr val="accent2"/>
                </a:solidFill>
                <a:effectLst/>
                <a:latin typeface="Arial" panose="020B0604020202020204" pitchFamily="34" charset="0"/>
              </a:rPr>
              <a:t>EKrx</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IDx</a:t>
            </a:r>
            <a:r>
              <a:rPr lang="en-US" sz="2400" dirty="0">
                <a:solidFill>
                  <a:schemeClr val="accent2"/>
                </a:solidFill>
                <a:effectLst/>
                <a:latin typeface="Arial" panose="020B0604020202020204" pitchFamily="34" charset="0"/>
              </a:rPr>
              <a:t> || </a:t>
            </a:r>
            <a:r>
              <a:rPr lang="en-US" sz="2400" dirty="0" err="1">
                <a:solidFill>
                  <a:srgbClr val="003300"/>
                </a:solidFill>
                <a:effectLst/>
                <a:latin typeface="Arial" panose="020B0604020202020204" pitchFamily="34" charset="0"/>
              </a:rPr>
              <a:t>EKuy</a:t>
            </a:r>
            <a:r>
              <a:rPr lang="en-US" sz="2400" dirty="0">
                <a:solidFill>
                  <a:srgbClr val="003300"/>
                </a:solidFill>
                <a:effectLst/>
                <a:latin typeface="Arial" panose="020B0604020202020204" pitchFamily="34" charset="0"/>
              </a:rPr>
              <a:t> (</a:t>
            </a:r>
            <a:r>
              <a:rPr lang="en-US" sz="2400" dirty="0" err="1">
                <a:solidFill>
                  <a:srgbClr val="003300"/>
                </a:solidFill>
                <a:effectLst/>
                <a:latin typeface="Arial" panose="020B0604020202020204" pitchFamily="34" charset="0"/>
              </a:rPr>
              <a:t>Ekrx</a:t>
            </a:r>
            <a:r>
              <a:rPr lang="en-US" sz="2400" dirty="0">
                <a:solidFill>
                  <a:srgbClr val="003300"/>
                </a:solidFill>
                <a:effectLst/>
                <a:latin typeface="Arial" panose="020B0604020202020204" pitchFamily="34" charset="0"/>
              </a:rPr>
              <a:t> [M])</a:t>
            </a:r>
            <a:r>
              <a:rPr lang="en-US" sz="2400" dirty="0">
                <a:solidFill>
                  <a:schemeClr val="accent2"/>
                </a:solidFill>
                <a:effectLst/>
                <a:latin typeface="Arial" panose="020B0604020202020204" pitchFamily="34" charset="0"/>
              </a:rPr>
              <a:t>]</a:t>
            </a:r>
          </a:p>
          <a:p>
            <a:pPr>
              <a:lnSpc>
                <a:spcPct val="115000"/>
              </a:lnSpc>
            </a:pPr>
            <a:r>
              <a:rPr lang="en-US" sz="2400" dirty="0">
                <a:solidFill>
                  <a:schemeClr val="accent2"/>
                </a:solidFill>
                <a:effectLst/>
                <a:latin typeface="Arial" panose="020B0604020202020204" pitchFamily="34" charset="0"/>
              </a:rPr>
              <a:t>A-&gt;Y: </a:t>
            </a:r>
            <a:r>
              <a:rPr lang="en-US" sz="2400" dirty="0" err="1">
                <a:solidFill>
                  <a:schemeClr val="accent2"/>
                </a:solidFill>
                <a:effectLst/>
                <a:latin typeface="Arial" panose="020B0604020202020204" pitchFamily="34" charset="0"/>
              </a:rPr>
              <a:t>Ekra</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IDx</a:t>
            </a:r>
            <a:r>
              <a:rPr lang="en-US" sz="2400" dirty="0">
                <a:solidFill>
                  <a:schemeClr val="accent2"/>
                </a:solidFill>
                <a:effectLst/>
                <a:latin typeface="Arial" panose="020B0604020202020204" pitchFamily="34" charset="0"/>
              </a:rPr>
              <a:t>|| </a:t>
            </a:r>
            <a:r>
              <a:rPr lang="en-US" sz="2400" dirty="0" err="1">
                <a:solidFill>
                  <a:schemeClr val="accent2"/>
                </a:solidFill>
                <a:effectLst/>
                <a:latin typeface="Arial" panose="020B0604020202020204" pitchFamily="34" charset="0"/>
              </a:rPr>
              <a:t>Ekuy</a:t>
            </a:r>
            <a:r>
              <a:rPr lang="en-US" sz="2400" dirty="0">
                <a:solidFill>
                  <a:schemeClr val="accent2"/>
                </a:solidFill>
                <a:effectLst/>
                <a:latin typeface="Arial" panose="020B0604020202020204" pitchFamily="34" charset="0"/>
              </a:rPr>
              <a:t> [ </a:t>
            </a:r>
            <a:r>
              <a:rPr lang="en-US" sz="2400" dirty="0" err="1">
                <a:solidFill>
                  <a:schemeClr val="accent2"/>
                </a:solidFill>
                <a:effectLst/>
                <a:latin typeface="Arial" panose="020B0604020202020204" pitchFamily="34" charset="0"/>
              </a:rPr>
              <a:t>Ekrx</a:t>
            </a:r>
            <a:r>
              <a:rPr lang="en-US" sz="2400" dirty="0">
                <a:solidFill>
                  <a:schemeClr val="accent2"/>
                </a:solidFill>
                <a:effectLst/>
                <a:latin typeface="Arial" panose="020B0604020202020204" pitchFamily="34" charset="0"/>
              </a:rPr>
              <a:t>[M] ] II T ]</a:t>
            </a:r>
          </a:p>
        </p:txBody>
      </p:sp>
    </p:spTree>
    <p:extLst>
      <p:ext uri="{BB962C8B-B14F-4D97-AF65-F5344CB8AC3E}">
        <p14:creationId xmlns:p14="http://schemas.microsoft.com/office/powerpoint/2010/main" val="2180076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Arbitrated Digital Signature</a:t>
            </a:r>
          </a:p>
        </p:txBody>
      </p:sp>
      <p:sp>
        <p:nvSpPr>
          <p:cNvPr id="3" name="Content Placeholder 2"/>
          <p:cNvSpPr>
            <a:spLocks noGrp="1"/>
          </p:cNvSpPr>
          <p:nvPr>
            <p:ph idx="1"/>
          </p:nvPr>
        </p:nvSpPr>
        <p:spPr/>
        <p:txBody>
          <a:bodyPr/>
          <a:lstStyle/>
          <a:p>
            <a:r>
              <a:rPr lang="en-US" dirty="0"/>
              <a:t>Advantages: </a:t>
            </a:r>
          </a:p>
          <a:p>
            <a:pPr lvl="1"/>
            <a:r>
              <a:rPr lang="en-US" dirty="0"/>
              <a:t>No information is shared among the parties</a:t>
            </a:r>
          </a:p>
          <a:p>
            <a:pPr lvl="1"/>
            <a:r>
              <a:rPr lang="en-US" dirty="0"/>
              <a:t>No incorrectly dated message can be sent</a:t>
            </a:r>
          </a:p>
          <a:p>
            <a:pPr lvl="1"/>
            <a:r>
              <a:rPr lang="en-US" dirty="0"/>
              <a:t>Contents of the message from X-&gt;Y is secret</a:t>
            </a:r>
          </a:p>
          <a:p>
            <a:endParaRPr lang="en-US" dirty="0"/>
          </a:p>
        </p:txBody>
      </p:sp>
    </p:spTree>
    <p:extLst>
      <p:ext uri="{BB962C8B-B14F-4D97-AF65-F5344CB8AC3E}">
        <p14:creationId xmlns:p14="http://schemas.microsoft.com/office/powerpoint/2010/main" val="1649335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 Standard</a:t>
            </a:r>
          </a:p>
        </p:txBody>
      </p:sp>
      <p:sp>
        <p:nvSpPr>
          <p:cNvPr id="3" name="Content Placeholder 2"/>
          <p:cNvSpPr>
            <a:spLocks noGrp="1"/>
          </p:cNvSpPr>
          <p:nvPr>
            <p:ph idx="1"/>
          </p:nvPr>
        </p:nvSpPr>
        <p:spPr/>
        <p:txBody>
          <a:bodyPr/>
          <a:lstStyle/>
          <a:p>
            <a:r>
              <a:rPr lang="en-US" dirty="0"/>
              <a:t>Originally proposed in 1991</a:t>
            </a:r>
          </a:p>
          <a:p>
            <a:r>
              <a:rPr lang="en-US" dirty="0"/>
              <a:t>Revised in 1993 </a:t>
            </a:r>
          </a:p>
          <a:p>
            <a:r>
              <a:rPr lang="en-US" dirty="0"/>
              <a:t>NIST has published FIPS 186</a:t>
            </a:r>
          </a:p>
          <a:p>
            <a:r>
              <a:rPr lang="en-US"/>
              <a:t>DSS </a:t>
            </a:r>
            <a:r>
              <a:rPr lang="en-US" dirty="0"/>
              <a:t>used Secure Hash Algorithm </a:t>
            </a:r>
          </a:p>
          <a:p>
            <a:r>
              <a:rPr lang="en-US" dirty="0"/>
              <a:t>In 2000, FIPS 186-2 was published</a:t>
            </a:r>
          </a:p>
        </p:txBody>
      </p:sp>
    </p:spTree>
    <p:extLst>
      <p:ext uri="{BB962C8B-B14F-4D97-AF65-F5344CB8AC3E}">
        <p14:creationId xmlns:p14="http://schemas.microsoft.com/office/powerpoint/2010/main" val="2739296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DSS</a:t>
            </a:r>
          </a:p>
        </p:txBody>
      </p:sp>
      <p:pic>
        <p:nvPicPr>
          <p:cNvPr id="65" name="Picture 64"/>
          <p:cNvPicPr>
            <a:picLocks noChangeAspect="1"/>
          </p:cNvPicPr>
          <p:nvPr/>
        </p:nvPicPr>
        <p:blipFill>
          <a:blip r:embed="rId2"/>
          <a:stretch>
            <a:fillRect/>
          </a:stretch>
        </p:blipFill>
        <p:spPr>
          <a:xfrm>
            <a:off x="561110" y="2247884"/>
            <a:ext cx="11216908" cy="4143954"/>
          </a:xfrm>
          <a:prstGeom prst="rect">
            <a:avLst/>
          </a:prstGeom>
        </p:spPr>
      </p:pic>
    </p:spTree>
    <p:extLst>
      <p:ext uri="{BB962C8B-B14F-4D97-AF65-F5344CB8AC3E}">
        <p14:creationId xmlns:p14="http://schemas.microsoft.com/office/powerpoint/2010/main" val="14590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Certificates</a:t>
            </a:r>
          </a:p>
        </p:txBody>
      </p:sp>
      <p:sp>
        <p:nvSpPr>
          <p:cNvPr id="7" name="Text Placeholder 6"/>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p:txBody>
          <a:bodyPr/>
          <a:lstStyle/>
          <a:p>
            <a:r>
              <a:rPr lang="en-US"/>
              <a:t>abid.rauf@numl.edu.pk</a:t>
            </a:r>
          </a:p>
        </p:txBody>
      </p:sp>
      <p:pic>
        <p:nvPicPr>
          <p:cNvPr id="3" name="Picture 2">
            <a:extLst>
              <a:ext uri="{FF2B5EF4-FFF2-40B4-BE49-F238E27FC236}">
                <a16:creationId xmlns:a16="http://schemas.microsoft.com/office/drawing/2014/main" id="{592AA7C9-4392-FA13-4C88-907E3148BEC5}"/>
              </a:ext>
            </a:extLst>
          </p:cNvPr>
          <p:cNvPicPr>
            <a:picLocks noChangeAspect="1"/>
          </p:cNvPicPr>
          <p:nvPr/>
        </p:nvPicPr>
        <p:blipFill>
          <a:blip r:embed="rId3"/>
          <a:stretch>
            <a:fillRect/>
          </a:stretch>
        </p:blipFill>
        <p:spPr>
          <a:xfrm>
            <a:off x="6515980" y="2543944"/>
            <a:ext cx="5553599" cy="2417524"/>
          </a:xfrm>
          <a:prstGeom prst="rect">
            <a:avLst/>
          </a:prstGeom>
        </p:spPr>
      </p:pic>
    </p:spTree>
    <p:extLst>
      <p:ext uri="{BB962C8B-B14F-4D97-AF65-F5344CB8AC3E}">
        <p14:creationId xmlns:p14="http://schemas.microsoft.com/office/powerpoint/2010/main" val="3880232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C2F5-2AF9-334A-5054-C1A6224FA49A}"/>
              </a:ext>
            </a:extLst>
          </p:cNvPr>
          <p:cNvSpPr>
            <a:spLocks noGrp="1"/>
          </p:cNvSpPr>
          <p:nvPr>
            <p:ph type="title"/>
          </p:nvPr>
        </p:nvSpPr>
        <p:spPr/>
        <p:txBody>
          <a:bodyPr/>
          <a:lstStyle/>
          <a:p>
            <a:r>
              <a:rPr lang="en-US" b="1" i="0" dirty="0">
                <a:effectLst/>
                <a:latin typeface="Inter"/>
              </a:rPr>
              <a:t>What Is a Digital Certificate? </a:t>
            </a:r>
            <a:endParaRPr lang="en-US" dirty="0"/>
          </a:p>
        </p:txBody>
      </p:sp>
      <p:sp>
        <p:nvSpPr>
          <p:cNvPr id="3" name="Content Placeholder 2">
            <a:extLst>
              <a:ext uri="{FF2B5EF4-FFF2-40B4-BE49-F238E27FC236}">
                <a16:creationId xmlns:a16="http://schemas.microsoft.com/office/drawing/2014/main" id="{ECABA0D1-AA47-EE9A-F105-87A092507A56}"/>
              </a:ext>
            </a:extLst>
          </p:cNvPr>
          <p:cNvSpPr>
            <a:spLocks noGrp="1"/>
          </p:cNvSpPr>
          <p:nvPr>
            <p:ph idx="1"/>
          </p:nvPr>
        </p:nvSpPr>
        <p:spPr>
          <a:xfrm>
            <a:off x="561110" y="2411260"/>
            <a:ext cx="10774945" cy="3980578"/>
          </a:xfrm>
        </p:spPr>
        <p:txBody>
          <a:bodyPr>
            <a:normAutofit fontScale="85000" lnSpcReduction="20000"/>
          </a:bodyPr>
          <a:lstStyle/>
          <a:p>
            <a:pPr algn="l"/>
            <a:r>
              <a:rPr lang="en-US" dirty="0">
                <a:latin typeface="Inter"/>
              </a:rPr>
              <a:t>A </a:t>
            </a:r>
            <a:r>
              <a:rPr lang="en-US" b="0" i="0" dirty="0">
                <a:effectLst/>
                <a:latin typeface="Inter"/>
              </a:rPr>
              <a:t>digital certificate, also called public key infrastructure (PKI) certificate, is an electronic form of authentication and identification that comes in the form of a small file. It uses mathematical formulas to handle a variety of functions:</a:t>
            </a:r>
          </a:p>
          <a:p>
            <a:pPr lvl="1">
              <a:buFont typeface="Arial" panose="020B0604020202020204" pitchFamily="34" charset="0"/>
              <a:buChar char="•"/>
            </a:pPr>
            <a:r>
              <a:rPr lang="en-US" b="0" i="0" dirty="0">
                <a:solidFill>
                  <a:srgbClr val="000000"/>
                </a:solidFill>
                <a:effectLst/>
                <a:latin typeface="Inter"/>
              </a:rPr>
              <a:t>Assert the identity of the certificate holder (organization, individual, device, etc.).</a:t>
            </a:r>
          </a:p>
          <a:p>
            <a:pPr lvl="1">
              <a:buFont typeface="Arial" panose="020B0604020202020204" pitchFamily="34" charset="0"/>
              <a:buChar char="•"/>
            </a:pPr>
            <a:r>
              <a:rPr lang="en-US" b="0" i="0" dirty="0">
                <a:solidFill>
                  <a:srgbClr val="000000"/>
                </a:solidFill>
                <a:effectLst/>
                <a:latin typeface="Inter"/>
              </a:rPr>
              <a:t>Encrypt and decrypt data in transit.</a:t>
            </a:r>
          </a:p>
          <a:p>
            <a:pPr lvl="1">
              <a:buFont typeface="Arial" panose="020B0604020202020204" pitchFamily="34" charset="0"/>
              <a:buChar char="•"/>
            </a:pPr>
            <a:r>
              <a:rPr lang="en-US" b="0" i="0" dirty="0">
                <a:solidFill>
                  <a:srgbClr val="000000"/>
                </a:solidFill>
                <a:effectLst/>
                <a:latin typeface="Inter"/>
              </a:rPr>
              <a:t>Secure data transfers and email communications, and/or</a:t>
            </a:r>
          </a:p>
          <a:p>
            <a:pPr lvl="1">
              <a:buFont typeface="Arial" panose="020B0604020202020204" pitchFamily="34" charset="0"/>
              <a:buChar char="•"/>
            </a:pPr>
            <a:r>
              <a:rPr lang="en-US" b="0" i="0" dirty="0">
                <a:solidFill>
                  <a:srgbClr val="000000"/>
                </a:solidFill>
                <a:effectLst/>
                <a:latin typeface="Inter"/>
              </a:rPr>
              <a:t>Attach a digital signature to software, documents, and emails.</a:t>
            </a:r>
          </a:p>
          <a:p>
            <a:r>
              <a:rPr lang="en-US" b="0" i="0" dirty="0">
                <a:effectLst/>
                <a:latin typeface="Inter"/>
              </a:rPr>
              <a:t>All of this is done through the use of asymmetric encryption, which involves the use of cryptographic key pairs (or what are commonly known as public and private keys). A public key (which is available to everyone) encrypts information, whereas a private key (which you keep secure) decrypts it.</a:t>
            </a:r>
          </a:p>
          <a:p>
            <a:pPr algn="l"/>
            <a:r>
              <a:rPr lang="en-US" b="0" i="0" dirty="0">
                <a:effectLst/>
                <a:latin typeface="Inter"/>
              </a:rPr>
              <a:t>Many digital certificates are issued by publicly trusted certificate authorities (CAs). Each certificate typically includes information about the key holder (i.e., name, public key and its expiration date), a digital signature, and the name of the CA that issued the certificate.</a:t>
            </a:r>
          </a:p>
          <a:p>
            <a:pPr algn="l"/>
            <a:r>
              <a:rPr lang="en-US" b="0" i="0" dirty="0">
                <a:effectLst/>
                <a:latin typeface="Inter"/>
              </a:rPr>
              <a:t>Digital certificates can also be created and managed locally by a private entity, or what’s known as a private CA. A typical example is when a company creates its own private digital certificates restricted to use internally within its organization and internal network(s).</a:t>
            </a:r>
          </a:p>
          <a:p>
            <a:endParaRPr lang="en-US" dirty="0"/>
          </a:p>
        </p:txBody>
      </p:sp>
      <p:sp>
        <p:nvSpPr>
          <p:cNvPr id="4" name="Footer Placeholder 3">
            <a:extLst>
              <a:ext uri="{FF2B5EF4-FFF2-40B4-BE49-F238E27FC236}">
                <a16:creationId xmlns:a16="http://schemas.microsoft.com/office/drawing/2014/main" id="{588B23BE-913C-FA79-CA35-6058B054A05D}"/>
              </a:ext>
            </a:extLst>
          </p:cNvPr>
          <p:cNvSpPr>
            <a:spLocks noGrp="1"/>
          </p:cNvSpPr>
          <p:nvPr>
            <p:ph type="ftr" sz="quarter" idx="11"/>
          </p:nvPr>
        </p:nvSpPr>
        <p:spPr/>
        <p:txBody>
          <a:bodyPr/>
          <a:lstStyle/>
          <a:p>
            <a:r>
              <a:rPr lang="en-US"/>
              <a:t>abid.rauf@numl.edu.pk</a:t>
            </a:r>
          </a:p>
        </p:txBody>
      </p:sp>
    </p:spTree>
    <p:extLst>
      <p:ext uri="{BB962C8B-B14F-4D97-AF65-F5344CB8AC3E}">
        <p14:creationId xmlns:p14="http://schemas.microsoft.com/office/powerpoint/2010/main" val="2284300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Distribution Of Public Keys</a:t>
            </a:r>
          </a:p>
        </p:txBody>
      </p:sp>
      <p:sp>
        <p:nvSpPr>
          <p:cNvPr id="7" name="Content Placeholder 6"/>
          <p:cNvSpPr>
            <a:spLocks noGrp="1"/>
          </p:cNvSpPr>
          <p:nvPr>
            <p:ph idx="1"/>
          </p:nvPr>
        </p:nvSpPr>
        <p:spPr/>
        <p:txBody>
          <a:bodyPr/>
          <a:lstStyle/>
          <a:p>
            <a:r>
              <a:rPr lang="en-US" dirty="0"/>
              <a:t>Several techniques have been proposed for the distribution of public keys.</a:t>
            </a:r>
          </a:p>
          <a:p>
            <a:pPr lvl="1"/>
            <a:r>
              <a:rPr lang="en-US" dirty="0"/>
              <a:t>Public announcement</a:t>
            </a:r>
          </a:p>
          <a:p>
            <a:pPr lvl="1"/>
            <a:r>
              <a:rPr lang="en-US" dirty="0"/>
              <a:t>Publicly available directory</a:t>
            </a:r>
          </a:p>
          <a:p>
            <a:pPr lvl="1"/>
            <a:r>
              <a:rPr lang="en-US" dirty="0"/>
              <a:t>Public-key authority</a:t>
            </a:r>
          </a:p>
          <a:p>
            <a:pPr lvl="1"/>
            <a:r>
              <a:rPr lang="en-US" dirty="0"/>
              <a:t>Public-key certificates</a:t>
            </a:r>
          </a:p>
        </p:txBody>
      </p:sp>
    </p:spTree>
    <p:extLst>
      <p:ext uri="{BB962C8B-B14F-4D97-AF65-F5344CB8AC3E}">
        <p14:creationId xmlns:p14="http://schemas.microsoft.com/office/powerpoint/2010/main" val="309601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announcement </a:t>
            </a:r>
          </a:p>
        </p:txBody>
      </p:sp>
      <p:pic>
        <p:nvPicPr>
          <p:cNvPr id="6" name="Content Placeholder 5"/>
          <p:cNvPicPr>
            <a:picLocks noGrp="1" noChangeAspect="1"/>
          </p:cNvPicPr>
          <p:nvPr>
            <p:ph idx="1"/>
          </p:nvPr>
        </p:nvPicPr>
        <p:blipFill>
          <a:blip r:embed="rId2"/>
          <a:stretch>
            <a:fillRect/>
          </a:stretch>
        </p:blipFill>
        <p:spPr>
          <a:xfrm>
            <a:off x="2491007" y="2504831"/>
            <a:ext cx="7681116" cy="3090104"/>
          </a:xfrm>
          <a:prstGeom prst="rect">
            <a:avLst/>
          </a:prstGeom>
        </p:spPr>
      </p:pic>
    </p:spTree>
    <p:extLst>
      <p:ext uri="{BB962C8B-B14F-4D97-AF65-F5344CB8AC3E}">
        <p14:creationId xmlns:p14="http://schemas.microsoft.com/office/powerpoint/2010/main" val="3701268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announcement</a:t>
            </a:r>
          </a:p>
        </p:txBody>
      </p:sp>
      <p:sp>
        <p:nvSpPr>
          <p:cNvPr id="3" name="Content Placeholder 2"/>
          <p:cNvSpPr>
            <a:spLocks noGrp="1"/>
          </p:cNvSpPr>
          <p:nvPr>
            <p:ph idx="1"/>
          </p:nvPr>
        </p:nvSpPr>
        <p:spPr/>
        <p:txBody>
          <a:bodyPr/>
          <a:lstStyle/>
          <a:p>
            <a:r>
              <a:rPr lang="en-US" dirty="0"/>
              <a:t>Although this approach is convenient, it has a major weakness. </a:t>
            </a:r>
          </a:p>
          <a:p>
            <a:r>
              <a:rPr lang="en-US" dirty="0"/>
              <a:t>Anyone can forge such a public announcement. </a:t>
            </a:r>
          </a:p>
          <a:p>
            <a:pPr lvl="1"/>
            <a:r>
              <a:rPr lang="en-US" dirty="0"/>
              <a:t>That is, some user could pretend to be user A and send a public key to another participant or broadcast such a public key. </a:t>
            </a:r>
          </a:p>
          <a:p>
            <a:pPr lvl="1"/>
            <a:r>
              <a:rPr lang="en-US" dirty="0"/>
              <a:t>Until such time as user A discovers the forgery and alerts other participants.</a:t>
            </a:r>
          </a:p>
          <a:p>
            <a:pPr lvl="1"/>
            <a:r>
              <a:rPr lang="en-US" dirty="0"/>
              <a:t>the forger is able to read all encrypted messages intended for A and can use the forged keys for authentication.</a:t>
            </a:r>
          </a:p>
        </p:txBody>
      </p:sp>
    </p:spTree>
    <p:extLst>
      <p:ext uri="{BB962C8B-B14F-4D97-AF65-F5344CB8AC3E}">
        <p14:creationId xmlns:p14="http://schemas.microsoft.com/office/powerpoint/2010/main" val="742449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Available Directory </a:t>
            </a:r>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2"/>
          <a:stretch>
            <a:fillRect/>
          </a:stretch>
        </p:blipFill>
        <p:spPr>
          <a:xfrm>
            <a:off x="2197290" y="2603500"/>
            <a:ext cx="6886388" cy="3135995"/>
          </a:xfrm>
          <a:prstGeom prst="rect">
            <a:avLst/>
          </a:prstGeom>
        </p:spPr>
      </p:pic>
    </p:spTree>
    <p:extLst>
      <p:ext uri="{BB962C8B-B14F-4D97-AF65-F5344CB8AC3E}">
        <p14:creationId xmlns:p14="http://schemas.microsoft.com/office/powerpoint/2010/main" val="4089103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Available Directory</a:t>
            </a:r>
          </a:p>
        </p:txBody>
      </p:sp>
      <p:sp>
        <p:nvSpPr>
          <p:cNvPr id="3" name="Content Placeholder 2"/>
          <p:cNvSpPr>
            <a:spLocks noGrp="1"/>
          </p:cNvSpPr>
          <p:nvPr>
            <p:ph idx="1"/>
          </p:nvPr>
        </p:nvSpPr>
        <p:spPr/>
        <p:txBody>
          <a:bodyPr/>
          <a:lstStyle/>
          <a:p>
            <a:r>
              <a:rPr lang="en-US" dirty="0"/>
              <a:t>Maintenance and distribution of the public directory would have to be the responsibility of some trusted entity or organization</a:t>
            </a:r>
          </a:p>
          <a:p>
            <a:r>
              <a:rPr lang="en-US" dirty="0"/>
              <a:t>Scheme would include the following elements:</a:t>
            </a:r>
          </a:p>
          <a:p>
            <a:pPr lvl="1"/>
            <a:r>
              <a:rPr lang="en-US" dirty="0"/>
              <a:t>The authority maintains a directory with a {name, public key} entry for each participant.</a:t>
            </a:r>
          </a:p>
          <a:p>
            <a:pPr lvl="1"/>
            <a:r>
              <a:rPr lang="en-US" dirty="0"/>
              <a:t>Each participant registers a public key with the directory authority. Registration would have to be in person or by some form of secure authenticated communication.</a:t>
            </a:r>
          </a:p>
          <a:p>
            <a:pPr lvl="1"/>
            <a:r>
              <a:rPr lang="en-US" dirty="0"/>
              <a:t>A participant may replace the existing key with a new one at any time</a:t>
            </a:r>
          </a:p>
          <a:p>
            <a:pPr lvl="1"/>
            <a:r>
              <a:rPr lang="en-US" dirty="0"/>
              <a:t>Participants could also access the directory electronically</a:t>
            </a:r>
          </a:p>
        </p:txBody>
      </p:sp>
    </p:spTree>
    <p:extLst>
      <p:ext uri="{BB962C8B-B14F-4D97-AF65-F5344CB8AC3E}">
        <p14:creationId xmlns:p14="http://schemas.microsoft.com/office/powerpoint/2010/main" val="2348973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Available Directory</a:t>
            </a:r>
          </a:p>
        </p:txBody>
      </p:sp>
      <p:sp>
        <p:nvSpPr>
          <p:cNvPr id="3" name="Content Placeholder 2"/>
          <p:cNvSpPr>
            <a:spLocks noGrp="1"/>
          </p:cNvSpPr>
          <p:nvPr>
            <p:ph idx="1"/>
          </p:nvPr>
        </p:nvSpPr>
        <p:spPr/>
        <p:txBody>
          <a:bodyPr>
            <a:normAutofit/>
          </a:bodyPr>
          <a:lstStyle/>
          <a:p>
            <a:pPr algn="just"/>
            <a:r>
              <a:rPr lang="en-US" dirty="0"/>
              <a:t>This scheme is clearly more secure than individual public announcements but still has vulnerabilities. </a:t>
            </a:r>
          </a:p>
          <a:p>
            <a:pPr algn="just"/>
            <a:r>
              <a:rPr lang="en-US" dirty="0"/>
              <a:t>If an adversary succeeds in obtaining or computing the private key of the directory authority, the adversary could authoritatively pass out counterfeit public keys and subsequently impersonate any participant and eavesdrop on messages sent to any participant. </a:t>
            </a:r>
          </a:p>
          <a:p>
            <a:pPr algn="just"/>
            <a:r>
              <a:rPr lang="en-US" dirty="0"/>
              <a:t>Another way to achieve the same end is for the adversary	to tamper with the records kept by the authority.</a:t>
            </a:r>
          </a:p>
        </p:txBody>
      </p:sp>
    </p:spTree>
    <p:extLst>
      <p:ext uri="{BB962C8B-B14F-4D97-AF65-F5344CB8AC3E}">
        <p14:creationId xmlns:p14="http://schemas.microsoft.com/office/powerpoint/2010/main" val="1870199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Authority</a:t>
            </a:r>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561110" y="2231462"/>
            <a:ext cx="9791430" cy="3923678"/>
          </a:xfrm>
          <a:prstGeom prst="rect">
            <a:avLst/>
          </a:prstGeom>
        </p:spPr>
      </p:pic>
    </p:spTree>
    <p:extLst>
      <p:ext uri="{BB962C8B-B14F-4D97-AF65-F5344CB8AC3E}">
        <p14:creationId xmlns:p14="http://schemas.microsoft.com/office/powerpoint/2010/main" val="3805009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Authority (Scheme)  </a:t>
            </a:r>
          </a:p>
        </p:txBody>
      </p:sp>
      <p:sp>
        <p:nvSpPr>
          <p:cNvPr id="3" name="Content Placeholder 2"/>
          <p:cNvSpPr>
            <a:spLocks noGrp="1"/>
          </p:cNvSpPr>
          <p:nvPr>
            <p:ph idx="1"/>
          </p:nvPr>
        </p:nvSpPr>
        <p:spPr/>
        <p:txBody>
          <a:bodyPr>
            <a:normAutofit fontScale="92500" lnSpcReduction="10000"/>
          </a:bodyPr>
          <a:lstStyle/>
          <a:p>
            <a:r>
              <a:rPr lang="en-US" dirty="0"/>
              <a:t>A sends a time-stamped message to the public-key authority containing a request for the current public key of B.</a:t>
            </a:r>
          </a:p>
          <a:p>
            <a:r>
              <a:rPr lang="en-US" dirty="0"/>
              <a:t>The authority responds with a message that is encrypted using the authority’s private key, PR </a:t>
            </a:r>
            <a:r>
              <a:rPr lang="en-US" dirty="0" err="1"/>
              <a:t>auth</a:t>
            </a:r>
            <a:r>
              <a:rPr lang="en-US" dirty="0"/>
              <a:t> thus, A is able to decrypt the message using the authority’s public key. Therefore, A is assured that the message originated with the authority. The message includes the following:</a:t>
            </a:r>
          </a:p>
          <a:p>
            <a:pPr lvl="1"/>
            <a:r>
              <a:rPr lang="en-US" dirty="0"/>
              <a:t>B’s public key, PU b , which A can use to encrypt messages destined for B</a:t>
            </a:r>
          </a:p>
          <a:p>
            <a:pPr lvl="1"/>
            <a:r>
              <a:rPr lang="en-US" dirty="0"/>
              <a:t>The original request used to enable A to match this response with the corresponding earlier request and to verify that the original request was not altered before reception by the authority</a:t>
            </a:r>
          </a:p>
          <a:p>
            <a:pPr lvl="1"/>
            <a:r>
              <a:rPr lang="en-US" dirty="0"/>
              <a:t>The original timestamp given so A can determine that this is not an old message from the authority containing a key other than B’s current public key</a:t>
            </a:r>
          </a:p>
        </p:txBody>
      </p:sp>
    </p:spTree>
    <p:extLst>
      <p:ext uri="{BB962C8B-B14F-4D97-AF65-F5344CB8AC3E}">
        <p14:creationId xmlns:p14="http://schemas.microsoft.com/office/powerpoint/2010/main" val="3368996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Authority (Scheme)</a:t>
            </a:r>
          </a:p>
        </p:txBody>
      </p:sp>
      <p:sp>
        <p:nvSpPr>
          <p:cNvPr id="3" name="Content Placeholder 2"/>
          <p:cNvSpPr>
            <a:spLocks noGrp="1"/>
          </p:cNvSpPr>
          <p:nvPr>
            <p:ph idx="1"/>
          </p:nvPr>
        </p:nvSpPr>
        <p:spPr/>
        <p:txBody>
          <a:bodyPr>
            <a:normAutofit fontScale="92500" lnSpcReduction="10000"/>
          </a:bodyPr>
          <a:lstStyle/>
          <a:p>
            <a:r>
              <a:rPr lang="en-US" dirty="0"/>
              <a:t>A stores B’s public key and also uses it to encrypt a message to B containing an identifier of A (ID A ) and a nonce (N 1 ) , which is used to identify this transaction uniquely.</a:t>
            </a:r>
          </a:p>
          <a:p>
            <a:r>
              <a:rPr lang="en-US" dirty="0"/>
              <a:t>B retrieves A’s public key from the authority in the same manner as A retrieved B’s public key. At this point, public keys have been securely delivered to A and B, and they may begin their protected exchange. However, two additional steps are desirable:</a:t>
            </a:r>
          </a:p>
          <a:p>
            <a:r>
              <a:rPr lang="en-US" dirty="0"/>
              <a:t>B sends a message to A encrypted with PU a and containing A’s nonce (N 1 ) as well as a new nonce generated by B (N2 ) . Because only B could have decrypted message (3), the presence of N1 in message (5) assures A that the correspondent is B. A returns N2 , which is encrypted using B’s public key, to assure B that its correspondent is A.</a:t>
            </a:r>
          </a:p>
        </p:txBody>
      </p:sp>
    </p:spTree>
    <p:extLst>
      <p:ext uri="{BB962C8B-B14F-4D97-AF65-F5344CB8AC3E}">
        <p14:creationId xmlns:p14="http://schemas.microsoft.com/office/powerpoint/2010/main" val="3077585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Certificate Authority</a:t>
            </a:r>
          </a:p>
        </p:txBody>
      </p:sp>
      <p:pic>
        <p:nvPicPr>
          <p:cNvPr id="6" name="Content Placeholder 5"/>
          <p:cNvPicPr>
            <a:picLocks noGrp="1" noChangeAspect="1"/>
          </p:cNvPicPr>
          <p:nvPr>
            <p:ph idx="1"/>
          </p:nvPr>
        </p:nvPicPr>
        <p:blipFill>
          <a:blip r:embed="rId2"/>
          <a:stretch>
            <a:fillRect/>
          </a:stretch>
        </p:blipFill>
        <p:spPr>
          <a:xfrm>
            <a:off x="1149066" y="2314101"/>
            <a:ext cx="9203473" cy="3800096"/>
          </a:xfrm>
          <a:prstGeom prst="rect">
            <a:avLst/>
          </a:prstGeom>
        </p:spPr>
      </p:pic>
    </p:spTree>
    <p:extLst>
      <p:ext uri="{BB962C8B-B14F-4D97-AF65-F5344CB8AC3E}">
        <p14:creationId xmlns:p14="http://schemas.microsoft.com/office/powerpoint/2010/main" val="1640163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Certificate Authority</a:t>
            </a:r>
          </a:p>
        </p:txBody>
      </p:sp>
      <p:sp>
        <p:nvSpPr>
          <p:cNvPr id="3" name="Content Placeholder 2"/>
          <p:cNvSpPr>
            <a:spLocks noGrp="1"/>
          </p:cNvSpPr>
          <p:nvPr>
            <p:ph idx="1"/>
          </p:nvPr>
        </p:nvSpPr>
        <p:spPr/>
        <p:txBody>
          <a:bodyPr/>
          <a:lstStyle/>
          <a:p>
            <a:r>
              <a:rPr lang="en-US" dirty="0"/>
              <a:t>We can place the following requirements on this scheme:</a:t>
            </a:r>
          </a:p>
          <a:p>
            <a:pPr lvl="1"/>
            <a:r>
              <a:rPr lang="en-US" dirty="0"/>
              <a:t>Any participant can read a certificate to determine the name and public key of the certificate’s owner.</a:t>
            </a:r>
          </a:p>
          <a:p>
            <a:pPr lvl="1"/>
            <a:r>
              <a:rPr lang="en-US" dirty="0"/>
              <a:t>Any participant can verify that the certificate originated from the certificate authority and is not counterfeit.</a:t>
            </a:r>
          </a:p>
          <a:p>
            <a:pPr lvl="1"/>
            <a:r>
              <a:rPr lang="en-US" dirty="0"/>
              <a:t>Only the certificate authority can create and update certificates.</a:t>
            </a:r>
          </a:p>
          <a:p>
            <a:pPr lvl="1"/>
            <a:r>
              <a:rPr lang="en-US" dirty="0"/>
              <a:t>Any participant can verify the currency of the certificate.</a:t>
            </a:r>
          </a:p>
        </p:txBody>
      </p:sp>
    </p:spTree>
    <p:extLst>
      <p:ext uri="{BB962C8B-B14F-4D97-AF65-F5344CB8AC3E}">
        <p14:creationId xmlns:p14="http://schemas.microsoft.com/office/powerpoint/2010/main" val="3728075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1762</TotalTime>
  <Words>2665</Words>
  <Application>Microsoft Office PowerPoint</Application>
  <PresentationFormat>Widescreen</PresentationFormat>
  <Paragraphs>170</Paragraphs>
  <Slides>35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ABCWhyte Book</vt:lpstr>
      <vt:lpstr>Arial</vt:lpstr>
      <vt:lpstr>Calibri</vt:lpstr>
      <vt:lpstr>Century Gothic</vt:lpstr>
      <vt:lpstr>inherit</vt:lpstr>
      <vt:lpstr>Inter</vt:lpstr>
      <vt:lpstr>Moderat</vt:lpstr>
      <vt:lpstr>roboto</vt:lpstr>
      <vt:lpstr>Wingdings 3</vt:lpstr>
      <vt:lpstr>Ion Boardroom</vt:lpstr>
      <vt:lpstr>Digital Signatures and Certificates </vt:lpstr>
      <vt:lpstr>Digital Signature</vt:lpstr>
      <vt:lpstr>What is digital signature</vt:lpstr>
      <vt:lpstr>PowerPoint Presentation</vt:lpstr>
      <vt:lpstr>How it works</vt:lpstr>
      <vt:lpstr>How it works</vt:lpstr>
      <vt:lpstr>Reasons to consider using the digital signature process </vt:lpstr>
      <vt:lpstr>Digital Signature</vt:lpstr>
      <vt:lpstr>Digital Signature</vt:lpstr>
      <vt:lpstr>Digital Signature</vt:lpstr>
      <vt:lpstr>Requirements of DS</vt:lpstr>
      <vt:lpstr>Types of DS Functions </vt:lpstr>
      <vt:lpstr>Direct Digital Signatures</vt:lpstr>
      <vt:lpstr>Direct digital Signatures </vt:lpstr>
      <vt:lpstr>Direct Digital Signatures</vt:lpstr>
      <vt:lpstr>Arbitrated Digital Signature</vt:lpstr>
      <vt:lpstr>Arbitrated Digital Signature</vt:lpstr>
      <vt:lpstr>Arbitrated Digital Signature</vt:lpstr>
      <vt:lpstr>Arbitrated Digital Signature</vt:lpstr>
      <vt:lpstr>Arbitrated Digital Signature</vt:lpstr>
      <vt:lpstr>Digital Signature Standard</vt:lpstr>
      <vt:lpstr>DSS</vt:lpstr>
      <vt:lpstr>Certificates</vt:lpstr>
      <vt:lpstr>What Is a Digital Certificate? </vt:lpstr>
      <vt:lpstr>Distribution Of Public Keys</vt:lpstr>
      <vt:lpstr>Public announcement </vt:lpstr>
      <vt:lpstr>Public announcement</vt:lpstr>
      <vt:lpstr>Public Available Directory </vt:lpstr>
      <vt:lpstr>Public Available Directory</vt:lpstr>
      <vt:lpstr>Public Available Directory</vt:lpstr>
      <vt:lpstr>Public Key Authority</vt:lpstr>
      <vt:lpstr>Public Key Authority (Scheme)  </vt:lpstr>
      <vt:lpstr>Public Key Authority (Scheme)</vt:lpstr>
      <vt:lpstr>Certificate Authority</vt:lpstr>
      <vt:lpstr>Certificate Authority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Asymmetric Ciphers</dc:title>
  <dc:creator>Abdullah</dc:creator>
  <cp:lastModifiedBy>Hasan Shah</cp:lastModifiedBy>
  <cp:revision>43</cp:revision>
  <dcterms:created xsi:type="dcterms:W3CDTF">2022-09-27T08:12:57Z</dcterms:created>
  <dcterms:modified xsi:type="dcterms:W3CDTF">2023-11-28T19:16:18Z</dcterms:modified>
</cp:coreProperties>
</file>