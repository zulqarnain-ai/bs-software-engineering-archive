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2" r:id="rId7"/>
    <p:sldId id="263" r:id="rId8"/>
    <p:sldId id="264" r:id="rId9"/>
    <p:sldId id="259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8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4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2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1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6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2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2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3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1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2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38380-B19B-436D-BB3C-15927AE45521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4A711-EEC3-4718-A825-709E35131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6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Thinking</a:t>
            </a:r>
            <a:r>
              <a:rPr lang="en-US" dirty="0"/>
              <a:t> </a:t>
            </a:r>
            <a:r>
              <a:rPr lang="en-US" dirty="0" smtClean="0"/>
              <a:t>and Intelligence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86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Thinking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hinking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brain activity</a:t>
            </a:r>
            <a:r>
              <a:rPr lang="en-US" dirty="0" smtClean="0"/>
              <a:t> in which we </a:t>
            </a:r>
            <a:r>
              <a:rPr lang="en-US" dirty="0" smtClean="0">
                <a:solidFill>
                  <a:srgbClr val="FF0000"/>
                </a:solidFill>
              </a:rPr>
              <a:t>mentally manipulate information</a:t>
            </a:r>
            <a:r>
              <a:rPr lang="en-US" dirty="0" smtClean="0"/>
              <a:t>, including </a:t>
            </a:r>
            <a:r>
              <a:rPr lang="en-US" u="sng" dirty="0" smtClean="0"/>
              <a:t>words, visual images, sounds, or other data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Thinking </a:t>
            </a:r>
            <a:r>
              <a:rPr lang="en-US" dirty="0" smtClean="0">
                <a:solidFill>
                  <a:srgbClr val="FF0000"/>
                </a:solidFill>
              </a:rPr>
              <a:t>transforms information </a:t>
            </a:r>
            <a:r>
              <a:rPr lang="en-US" dirty="0" smtClean="0"/>
              <a:t>into new and different forms, allowing us to </a:t>
            </a:r>
            <a:r>
              <a:rPr lang="en-US" u="sng" dirty="0" smtClean="0"/>
              <a:t>answer questions</a:t>
            </a:r>
            <a:r>
              <a:rPr lang="en-US" dirty="0" smtClean="0"/>
              <a:t>, </a:t>
            </a:r>
            <a:r>
              <a:rPr lang="en-US" u="sng" dirty="0" smtClean="0"/>
              <a:t>make decisions</a:t>
            </a:r>
            <a:r>
              <a:rPr lang="en-US" dirty="0" smtClean="0"/>
              <a:t>, </a:t>
            </a:r>
            <a:r>
              <a:rPr lang="en-US" u="sng" dirty="0" smtClean="0"/>
              <a:t>solve problems</a:t>
            </a:r>
            <a:r>
              <a:rPr lang="en-US" dirty="0" smtClean="0"/>
              <a:t>, or make plans.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9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make mental images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Mental images are </a:t>
            </a:r>
            <a:r>
              <a:rPr lang="en-US" u="sng" dirty="0" smtClean="0"/>
              <a:t>representations in the mind </a:t>
            </a:r>
            <a:r>
              <a:rPr lang="en-US" dirty="0" smtClean="0"/>
              <a:t>of an object or event. </a:t>
            </a:r>
          </a:p>
          <a:p>
            <a:r>
              <a:rPr lang="en-US" dirty="0" smtClean="0"/>
              <a:t>They are not just visual; our ability to “hear” a tune in our heads also</a:t>
            </a:r>
          </a:p>
          <a:p>
            <a:r>
              <a:rPr lang="en-US" dirty="0" smtClean="0"/>
              <a:t>relies on a mental image.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5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create “concepts” &amp; “prototypes”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Concepts are </a:t>
            </a:r>
            <a:r>
              <a:rPr lang="en-US" dirty="0" smtClean="0">
                <a:solidFill>
                  <a:srgbClr val="FF0000"/>
                </a:solidFill>
              </a:rPr>
              <a:t>mental groupings of similar objects</a:t>
            </a:r>
            <a:r>
              <a:rPr lang="en-US" dirty="0" smtClean="0"/>
              <a:t>, events, or people.</a:t>
            </a:r>
          </a:p>
          <a:p>
            <a:r>
              <a:rPr lang="en-US" u="sng" dirty="0" smtClean="0"/>
              <a:t>For example</a:t>
            </a:r>
            <a:r>
              <a:rPr lang="en-US" dirty="0" smtClean="0"/>
              <a:t>, an equilateral triangle is a closed shape that has three sides of equal length. If an object has these characteristics, it is an equilateral triangle; if it does not, it is not an equilateral triangle.</a:t>
            </a:r>
          </a:p>
          <a:p>
            <a:r>
              <a:rPr lang="en-US" dirty="0" smtClean="0"/>
              <a:t>Sometimes we create </a:t>
            </a:r>
            <a:r>
              <a:rPr lang="en-US" dirty="0" smtClean="0">
                <a:solidFill>
                  <a:srgbClr val="FF0000"/>
                </a:solidFill>
              </a:rPr>
              <a:t>prototypes </a:t>
            </a:r>
            <a:r>
              <a:rPr lang="en-US" dirty="0" smtClean="0"/>
              <a:t>which fit a broad range of object or things </a:t>
            </a:r>
          </a:p>
          <a:p>
            <a:r>
              <a:rPr lang="en-US" dirty="0" smtClean="0"/>
              <a:t>For instance, broader concepts such as “table” and “bird” contain many similar objects/animals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63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Reasoning</a:t>
            </a:r>
            <a:r>
              <a:rPr lang="en-US" dirty="0"/>
              <a:t> </a:t>
            </a:r>
            <a:r>
              <a:rPr lang="en-US" dirty="0" smtClean="0"/>
              <a:t>is the process by which information is used to draw conclusions and make decisions.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602" y="2717998"/>
            <a:ext cx="5629708" cy="39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2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7855"/>
            <a:ext cx="10952273" cy="6160654"/>
          </a:xfrm>
        </p:spPr>
      </p:pic>
    </p:spTree>
    <p:extLst>
      <p:ext uri="{BB962C8B-B14F-4D97-AF65-F5344CB8AC3E}">
        <p14:creationId xmlns:p14="http://schemas.microsoft.com/office/powerpoint/2010/main" val="237407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73" y="263525"/>
            <a:ext cx="10861450" cy="6109566"/>
          </a:xfrm>
        </p:spPr>
      </p:pic>
    </p:spTree>
    <p:extLst>
      <p:ext uri="{BB962C8B-B14F-4D97-AF65-F5344CB8AC3E}">
        <p14:creationId xmlns:p14="http://schemas.microsoft.com/office/powerpoint/2010/main" val="3163667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 heuristic </a:t>
            </a:r>
            <a:r>
              <a:rPr lang="en-US" dirty="0" smtClean="0"/>
              <a:t>is a thinking strategy that may lead us to a solution to a problem or decision, but—unlike algorithms— may sometimes lead to errors.</a:t>
            </a:r>
          </a:p>
          <a:p>
            <a:r>
              <a:rPr lang="en-US" u="sng" dirty="0" smtClean="0"/>
              <a:t>Mental </a:t>
            </a:r>
            <a:r>
              <a:rPr lang="en-US" u="sng" dirty="0" smtClean="0"/>
              <a:t>shortcuts- easier to process </a:t>
            </a:r>
            <a:endParaRPr lang="en-US" u="sng" dirty="0" smtClean="0"/>
          </a:p>
          <a:p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 smtClean="0">
                <a:solidFill>
                  <a:srgbClr val="FF0000"/>
                </a:solidFill>
              </a:rPr>
              <a:t>amiliarity heuristic</a:t>
            </a:r>
            <a:r>
              <a:rPr lang="en-US" dirty="0" smtClean="0"/>
              <a:t>, in which familiar items are seen as superior to those that are unfamiliar.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 smtClean="0">
                <a:solidFill>
                  <a:srgbClr val="FF0000"/>
                </a:solidFill>
              </a:rPr>
              <a:t>availability heuristic </a:t>
            </a:r>
            <a:r>
              <a:rPr lang="en-US" dirty="0" smtClean="0"/>
              <a:t>involves judging the likelihood of an event occurring on the basis of how easy it is to think of examples.</a:t>
            </a:r>
          </a:p>
          <a:p>
            <a:r>
              <a:rPr lang="en-US" u="sng" dirty="0" smtClean="0"/>
              <a:t>For instance</a:t>
            </a:r>
            <a:r>
              <a:rPr lang="en-US" dirty="0" smtClean="0"/>
              <a:t>, the availability heuristic makes us more afraid of dying in a plane crash than in an auto accident, despite statistics clearly showing that airplane travel is much safer than auto travel.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08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Solving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Understanding and Diagnosing Problem</a:t>
            </a:r>
          </a:p>
          <a:p>
            <a:r>
              <a:rPr lang="en-US" dirty="0" smtClean="0"/>
              <a:t>Problem identification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Ill defined problem: </a:t>
            </a:r>
            <a:r>
              <a:rPr lang="en-US" dirty="0" smtClean="0"/>
              <a:t>where information required to solve the problem is less clear &amp; less obvious </a:t>
            </a:r>
            <a:r>
              <a:rPr lang="en-US" dirty="0" err="1" smtClean="0"/>
              <a:t>E.g</a:t>
            </a:r>
            <a:r>
              <a:rPr lang="en-US" dirty="0" smtClean="0"/>
              <a:t>: jigsaw puzzle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Well defined problem: </a:t>
            </a:r>
            <a:r>
              <a:rPr lang="en-US" dirty="0" smtClean="0"/>
              <a:t>where information required to solve the problem is well defines and obvious </a:t>
            </a:r>
            <a:r>
              <a:rPr lang="en-US" dirty="0" err="1" smtClean="0"/>
              <a:t>E.g</a:t>
            </a:r>
            <a:r>
              <a:rPr lang="en-US" dirty="0" smtClean="0"/>
              <a:t>: bring peace to the world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6338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213008" cy="4351338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Kinds of Problems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602" y="512375"/>
            <a:ext cx="7561621" cy="602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8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2501766" cy="4351338"/>
          </a:xfrm>
        </p:spPr>
        <p:txBody>
          <a:bodyPr/>
          <a:lstStyle/>
          <a:p>
            <a:r>
              <a:rPr lang="en-US" dirty="0" smtClean="0"/>
              <a:t>2. Problem organization</a:t>
            </a:r>
          </a:p>
          <a:p>
            <a:r>
              <a:rPr lang="en-US" dirty="0" smtClean="0"/>
              <a:t>Organize the information presented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213" y="1302919"/>
            <a:ext cx="8330618" cy="469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2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Generating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At the most basic level, we can solve problems through trial and error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place of trial and error, </a:t>
            </a:r>
            <a:r>
              <a:rPr lang="en-US" u="sng" dirty="0" smtClean="0"/>
              <a:t>complex problem solving often involves the use of heuristics</a:t>
            </a:r>
          </a:p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 smtClean="0">
                <a:solidFill>
                  <a:srgbClr val="FF0000"/>
                </a:solidFill>
              </a:rPr>
              <a:t>eans-ends analysis </a:t>
            </a:r>
            <a:r>
              <a:rPr lang="en-US" dirty="0" smtClean="0"/>
              <a:t>involves repeated tests for differences between the desired outcome and what currently exists.</a:t>
            </a:r>
          </a:p>
          <a:p>
            <a:r>
              <a:rPr lang="en-US" dirty="0" smtClean="0"/>
              <a:t>1. Forming Sub-goals : Dividing Problems Into Their Parts</a:t>
            </a:r>
          </a:p>
          <a:p>
            <a:r>
              <a:rPr lang="en-US" dirty="0" smtClean="0"/>
              <a:t>2. Insight &amp; </a:t>
            </a:r>
            <a:r>
              <a:rPr lang="en-US" dirty="0" smtClean="0"/>
              <a:t>Awareness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hink </a:t>
            </a:r>
            <a:r>
              <a:rPr lang="en-US" dirty="0"/>
              <a:t>from large to </a:t>
            </a:r>
            <a:r>
              <a:rPr lang="en-US" dirty="0" smtClean="0"/>
              <a:t>small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end goal is split into a few smaller </a:t>
            </a:r>
            <a:r>
              <a:rPr lang="en-US" dirty="0" smtClean="0"/>
              <a:t>goals- that can be achieved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6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Intelligence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69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</a:t>
            </a:r>
            <a:r>
              <a:rPr lang="en-US" b="1" dirty="0" smtClean="0"/>
              <a:t>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Intelligence </a:t>
            </a:r>
            <a:r>
              <a:rPr lang="en-US" sz="3600" dirty="0"/>
              <a:t>is </a:t>
            </a:r>
            <a:r>
              <a:rPr lang="en-US" sz="3600" dirty="0" smtClean="0"/>
              <a:t>the </a:t>
            </a:r>
            <a:r>
              <a:rPr lang="en-US" sz="3600" dirty="0" smtClean="0">
                <a:solidFill>
                  <a:srgbClr val="FF0000"/>
                </a:solidFill>
              </a:rPr>
              <a:t>capacity </a:t>
            </a:r>
            <a:r>
              <a:rPr lang="en-US" sz="3600" dirty="0">
                <a:solidFill>
                  <a:srgbClr val="FF0000"/>
                </a:solidFill>
              </a:rPr>
              <a:t>to understand </a:t>
            </a:r>
            <a:r>
              <a:rPr lang="en-US" sz="3600" dirty="0"/>
              <a:t>the world, </a:t>
            </a:r>
            <a:r>
              <a:rPr lang="en-US" sz="3600" dirty="0">
                <a:solidFill>
                  <a:srgbClr val="FF0000"/>
                </a:solidFill>
              </a:rPr>
              <a:t>think rationally</a:t>
            </a:r>
            <a:r>
              <a:rPr lang="en-US" sz="3600" dirty="0"/>
              <a:t>, and </a:t>
            </a:r>
            <a:r>
              <a:rPr lang="en-US" sz="3600" dirty="0">
                <a:solidFill>
                  <a:srgbClr val="FF0000"/>
                </a:solidFill>
              </a:rPr>
              <a:t>use resources effectively</a:t>
            </a:r>
            <a:r>
              <a:rPr lang="en-US" sz="3600" dirty="0"/>
              <a:t> </a:t>
            </a:r>
            <a:r>
              <a:rPr lang="en-US" sz="3600" dirty="0" smtClean="0"/>
              <a:t>when faced </a:t>
            </a:r>
            <a:r>
              <a:rPr lang="en-US" sz="3600" dirty="0"/>
              <a:t>with challenges.</a:t>
            </a:r>
          </a:p>
        </p:txBody>
      </p:sp>
    </p:spTree>
    <p:extLst>
      <p:ext uri="{BB962C8B-B14F-4D97-AF65-F5344CB8AC3E}">
        <p14:creationId xmlns:p14="http://schemas.microsoft.com/office/powerpoint/2010/main" val="2221819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Fluid vs Crystalline Intelligence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Fluid intelligence </a:t>
            </a:r>
            <a:r>
              <a:rPr lang="en-US" dirty="0" smtClean="0"/>
              <a:t>is the ability to reason</a:t>
            </a:r>
          </a:p>
          <a:p>
            <a:r>
              <a:rPr lang="en-US" dirty="0" smtClean="0"/>
              <a:t>abstractly.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reflects our ability to reason effectively, identify patterns, and recognize relationships between concepts. </a:t>
            </a:r>
          </a:p>
          <a:p>
            <a:r>
              <a:rPr lang="en-US" dirty="0" smtClean="0"/>
              <a:t>If we were asked to solve an analogy or group a series of letters according to some principle, we would be using fluid</a:t>
            </a:r>
            <a:r>
              <a:rPr lang="en-US" dirty="0"/>
              <a:t> </a:t>
            </a:r>
            <a:r>
              <a:rPr lang="en-US" dirty="0" smtClean="0"/>
              <a:t>intelligence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reflects our ability to call up information from long-term memory.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contrast, </a:t>
            </a:r>
            <a:r>
              <a:rPr lang="en-US" dirty="0" smtClean="0">
                <a:solidFill>
                  <a:srgbClr val="FF0000"/>
                </a:solidFill>
              </a:rPr>
              <a:t>crystallized intelligence </a:t>
            </a:r>
            <a:r>
              <a:rPr lang="en-US" dirty="0" smtClean="0"/>
              <a:t>is the accumulation of information, knowledge, and skills that people have learned through experience and education. </a:t>
            </a:r>
          </a:p>
          <a:p>
            <a:r>
              <a:rPr lang="en-US" dirty="0"/>
              <a:t>F</a:t>
            </a:r>
            <a:r>
              <a:rPr lang="en-US" dirty="0" smtClean="0"/>
              <a:t>or instance, if we were asked to participate in a discussion about the solution to the causes of poverty, a task that allows us to draw on our own past experiences, education, and knowledge of the world.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30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Gardner's Theory of Multiple Intelligence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Gardner argues that we have a minimum eight different forms of intelligence, each relatively independent of the others: </a:t>
            </a:r>
          </a:p>
          <a:p>
            <a:r>
              <a:rPr lang="en-US" dirty="0" smtClean="0"/>
              <a:t>musical, </a:t>
            </a:r>
          </a:p>
          <a:p>
            <a:r>
              <a:rPr lang="en-US" dirty="0" smtClean="0"/>
              <a:t>bodily kinesthetic, </a:t>
            </a:r>
          </a:p>
          <a:p>
            <a:r>
              <a:rPr lang="en-US" dirty="0" smtClean="0"/>
              <a:t>logical-mathematical, </a:t>
            </a:r>
          </a:p>
          <a:p>
            <a:r>
              <a:rPr lang="en-US" dirty="0" smtClean="0"/>
              <a:t>linguistic, </a:t>
            </a:r>
          </a:p>
          <a:p>
            <a:r>
              <a:rPr lang="en-US" dirty="0" smtClean="0"/>
              <a:t>spatial, </a:t>
            </a:r>
          </a:p>
          <a:p>
            <a:r>
              <a:rPr lang="en-US" dirty="0" smtClean="0"/>
              <a:t>interpersonal, </a:t>
            </a:r>
          </a:p>
          <a:p>
            <a:r>
              <a:rPr lang="en-US" dirty="0" smtClean="0"/>
              <a:t>intrapersonal, and </a:t>
            </a:r>
          </a:p>
          <a:p>
            <a:r>
              <a:rPr lang="en-US" dirty="0" smtClean="0"/>
              <a:t>naturalist.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52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Emotional Intelligence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the set of skills that underlie the accurate assessment, evaluation, expression, and regulation of emotions.</a:t>
            </a:r>
          </a:p>
          <a:p>
            <a:r>
              <a:rPr lang="en-US" dirty="0" smtClean="0"/>
              <a:t>Emotional intelligence is the basis of empathy for others, self-awareness, and social skills. </a:t>
            </a:r>
          </a:p>
          <a:p>
            <a:r>
              <a:rPr lang="en-US" dirty="0" smtClean="0"/>
              <a:t>It encompasses the ability to get along well with others. </a:t>
            </a:r>
          </a:p>
          <a:p>
            <a:r>
              <a:rPr lang="en-US" dirty="0" smtClean="0"/>
              <a:t>It provides us with an understanding of what other people are feeling and experiencing, which permits us to respond appropriately to others’ needs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744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Thinking and Intelligence</vt:lpstr>
      <vt:lpstr>Thinking </vt:lpstr>
      <vt:lpstr>We make mental images </vt:lpstr>
      <vt:lpstr>We create “concepts” &amp; “prototypes”</vt:lpstr>
      <vt:lpstr>Reasoning </vt:lpstr>
      <vt:lpstr>PowerPoint Presentation</vt:lpstr>
      <vt:lpstr>PowerPoint Presentation</vt:lpstr>
      <vt:lpstr>Heuristic</vt:lpstr>
      <vt:lpstr>Problem Solving </vt:lpstr>
      <vt:lpstr>Cont.</vt:lpstr>
      <vt:lpstr>Cont.</vt:lpstr>
      <vt:lpstr>Generating Solution</vt:lpstr>
      <vt:lpstr>Intelligence </vt:lpstr>
      <vt:lpstr>Intelligence</vt:lpstr>
      <vt:lpstr>Fluid vs Crystalline Intelligence </vt:lpstr>
      <vt:lpstr> Gardner's Theory of Multiple Intelligence </vt:lpstr>
      <vt:lpstr>Emotional Intelligence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and Intelligence</dc:title>
  <dc:creator>Summayyah Shafique</dc:creator>
  <cp:lastModifiedBy>Summayyah Shafique</cp:lastModifiedBy>
  <cp:revision>12</cp:revision>
  <dcterms:created xsi:type="dcterms:W3CDTF">2023-05-16T17:14:06Z</dcterms:created>
  <dcterms:modified xsi:type="dcterms:W3CDTF">2023-05-17T09:51:24Z</dcterms:modified>
</cp:coreProperties>
</file>