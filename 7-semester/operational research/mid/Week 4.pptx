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3"/>
  </p:notesMasterIdLst>
  <p:sldIdLst>
    <p:sldId id="368" r:id="rId4"/>
    <p:sldId id="463" r:id="rId5"/>
    <p:sldId id="464" r:id="rId6"/>
    <p:sldId id="465" r:id="rId7"/>
    <p:sldId id="466" r:id="rId8"/>
    <p:sldId id="467" r:id="rId9"/>
    <p:sldId id="468" r:id="rId10"/>
    <p:sldId id="471" r:id="rId11"/>
    <p:sldId id="472" r:id="rId12"/>
    <p:sldId id="495" r:id="rId13"/>
    <p:sldId id="445" r:id="rId14"/>
    <p:sldId id="429" r:id="rId15"/>
    <p:sldId id="473" r:id="rId16"/>
    <p:sldId id="474" r:id="rId17"/>
    <p:sldId id="475" r:id="rId18"/>
    <p:sldId id="476" r:id="rId19"/>
    <p:sldId id="477" r:id="rId20"/>
    <p:sldId id="478" r:id="rId21"/>
    <p:sldId id="479" r:id="rId22"/>
    <p:sldId id="485" r:id="rId23"/>
    <p:sldId id="480" r:id="rId24"/>
    <p:sldId id="486" r:id="rId25"/>
    <p:sldId id="487" r:id="rId26"/>
    <p:sldId id="488" r:id="rId27"/>
    <p:sldId id="490" r:id="rId28"/>
    <p:sldId id="491" r:id="rId29"/>
    <p:sldId id="492" r:id="rId30"/>
    <p:sldId id="493" r:id="rId31"/>
    <p:sldId id="41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 showGuides="1">
      <p:cViewPr>
        <p:scale>
          <a:sx n="71" d="100"/>
          <a:sy n="71" d="100"/>
        </p:scale>
        <p:origin x="-1160" y="220"/>
      </p:cViewPr>
      <p:guideLst>
        <p:guide orient="horz" pos="216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194E4-79C8-41B0-9AF4-53058728BAB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FD4BB-E70E-4D5C-83E2-D95045F6F6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B0FE-4AC0-4D7B-83B1-A18CD9CB8AE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image" Target="../media/image2.png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FB69-46B3-4750-912C-E29F4B8DA29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2237" y="4391464"/>
            <a:ext cx="6400800" cy="2206283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/>
              <a:t>Operations Research</a:t>
            </a:r>
            <a:endParaRPr lang="en-US" sz="3900" b="1" dirty="0"/>
          </a:p>
          <a:p>
            <a:pPr algn="ctr"/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(Software </a:t>
            </a:r>
            <a:r>
              <a:rPr lang="en-US" sz="2800" b="1">
                <a:solidFill>
                  <a:srgbClr val="000000">
                    <a:lumMod val="75000"/>
                    <a:lumOff val="25000"/>
                  </a:srgbClr>
                </a:solidFill>
              </a:rPr>
              <a:t>Engineering</a:t>
            </a:r>
            <a:r>
              <a:rPr lang="en-US" sz="2800" b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26617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713463" y="637061"/>
            <a:ext cx="1717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# 4</a:t>
            </a:r>
            <a:endParaRPr lang="en-GB" sz="2800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b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04850" y="1491615"/>
            <a:ext cx="8158480" cy="5196205"/>
          </a:xfrm>
        </p:spPr>
        <p:txBody>
          <a:bodyPr>
            <a:normAutofit fontScale="82500"/>
          </a:bodyPr>
          <a:lstStyle/>
          <a:p>
            <a:pPr marL="0" indent="0">
              <a:buNone/>
            </a:pPr>
            <a:r>
              <a:rPr lang="en-US" altLang="en-US" sz="192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simplex, an important term in mathematics, represents an object in an n-dimensional space,connecting n + 1 points. In one dimension, the simplex represents a line segment connecting two points; in two dimensions, it represents a triangle formed by joining three points; in three dimensions, it represents a four-sided pyramid.</a:t>
            </a:r>
            <a:endParaRPr lang="en-US" altLang="en-US" sz="192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 1:</a:t>
            </a:r>
            <a:endParaRPr lang="en-US" sz="28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company manufactures two products A and B. Both products are processed on two machines M1 and M2.</a:t>
            </a:r>
            <a:endParaRPr lang="en-US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Profit per unit of A is Rs=100 and for B is Rs=80. Find out the monthly production of A and B to maximize profit.</a:t>
            </a: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522809" y="4196472"/>
          <a:ext cx="609600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/Unit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/Unit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Availability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7200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/month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/month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 lnSpcReduction="10000"/>
              </a:bodyPr>
              <a:lstStyle/>
              <a:p>
                <a:pPr marL="0" lvl="0" indent="0" algn="just">
                  <a:buNone/>
                </a:pPr>
                <a:r>
                  <a:rPr lang="en-US" sz="2800" b="1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Solution:</a:t>
                </a:r>
                <a:endParaRPr lang="en-US" sz="2800" b="1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ctr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Max Z=100x1+80x2</a:t>
                </a: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6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7200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4000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 rotWithShape="1">
                <a:blip r:embed="rId1"/>
                <a:stretch>
                  <a:fillRect l="-1" t="-7" r="1" b="-393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Max</m:t>
                    </m:r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6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7200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4000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 rotWithShape="1">
                <a:blip r:embed="rId1"/>
                <a:stretch>
                  <a:fillRect l="-1" t="-7" r="1" b="-3610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0" y="2249170"/>
                <a:ext cx="8285480" cy="4608830"/>
              </a:xfrm>
            </p:spPr>
            <p:txBody>
              <a:bodyPr>
                <a:normAutofit/>
              </a:bodyPr>
              <a:lstStyle/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</a:t>
                </a:r>
                <a:r>
                  <a:rPr lang="en-US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Key column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key row</a:t>
                </a:r>
                <a:endParaRPr lang="en-US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249170"/>
                <a:ext cx="8285480" cy="460883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/>
              <p:cNvGraphicFramePr>
                <a:graphicFrameLocks noGrp="1"/>
              </p:cNvGraphicFramePr>
              <p:nvPr/>
            </p:nvGraphicFramePr>
            <p:xfrm>
              <a:off x="1161425" y="3429000"/>
              <a:ext cx="7124134" cy="212623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38216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-80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7200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7200</m:t>
                                    </m:r>
                                  </m:num>
                                  <m:den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1200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4000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2000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/>
              <p:cNvGraphicFramePr>
                <a:graphicFrameLocks noGrp="1"/>
              </p:cNvGraphicFramePr>
              <p:nvPr/>
            </p:nvGraphicFramePr>
            <p:xfrm>
              <a:off x="1161425" y="3429000"/>
              <a:ext cx="7124134" cy="212623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38216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-80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6019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7200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dirty="0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Entering variable = Less negative value in z-row</a:t>
            </a:r>
            <a:endParaRPr lang="en-US" dirty="0">
              <a:solidFill>
                <a:prstClr val="black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just">
              <a:buNone/>
            </a:pPr>
            <a:r>
              <a:rPr lang="en-US" dirty="0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Leaving variable= Minimum ratio value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3"/>
              <p:cNvGraphicFramePr>
                <a:graphicFrameLocks noGrp="1"/>
              </p:cNvGraphicFramePr>
              <p:nvPr/>
            </p:nvGraphicFramePr>
            <p:xfrm>
              <a:off x="856060" y="36393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38216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-80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7200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3"/>
              <p:cNvGraphicFramePr>
                <a:graphicFrameLocks noGrp="1"/>
              </p:cNvGraphicFramePr>
              <p:nvPr/>
            </p:nvGraphicFramePr>
            <p:xfrm>
              <a:off x="856060" y="36393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38216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-80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7200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856060" y="1846153"/>
                <a:ext cx="4572000" cy="5018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(1/6)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1846153"/>
                <a:ext cx="4572000" cy="501869"/>
              </a:xfrm>
              <a:prstGeom prst="rect">
                <a:avLst/>
              </a:prstGeom>
              <a:blipFill rotWithShape="1">
                <a:blip r:embed="rId1"/>
                <a:stretch>
                  <a:fillRect l="-2" t="-41" r="2" b="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3"/>
              <p:cNvGraphicFramePr>
                <a:graphicFrameLocks noGrp="1"/>
              </p:cNvGraphicFramePr>
              <p:nvPr/>
            </p:nvGraphicFramePr>
            <p:xfrm>
              <a:off x="856060" y="231805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38216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-80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3"/>
              <p:cNvGraphicFramePr>
                <a:graphicFrameLocks noGrp="1"/>
              </p:cNvGraphicFramePr>
              <p:nvPr/>
            </p:nvGraphicFramePr>
            <p:xfrm>
              <a:off x="856060" y="231805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38216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-80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856060" y="4091988"/>
                <a:ext cx="4572000" cy="5018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z+(100)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-2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   </a:t>
                </a:r>
                <a:endParaRPr lang="en-US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4091988"/>
                <a:ext cx="4572000" cy="501869"/>
              </a:xfrm>
              <a:prstGeom prst="rect">
                <a:avLst/>
              </a:prstGeom>
              <a:blipFill rotWithShape="1">
                <a:blip r:embed="rId3"/>
                <a:stretch>
                  <a:fillRect l="-2" t="-10" r="2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3"/>
              <p:cNvGraphicFramePr>
                <a:graphicFrameLocks noGrp="1"/>
              </p:cNvGraphicFramePr>
              <p:nvPr/>
            </p:nvGraphicFramePr>
            <p:xfrm>
              <a:off x="856060" y="4593857"/>
              <a:ext cx="7124134" cy="2220468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1014272"/>
                    <a:gridCol w="1621597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1200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/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1800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1600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1600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/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3"/>
              <p:cNvGraphicFramePr>
                <a:graphicFrameLocks noGrp="1"/>
              </p:cNvGraphicFramePr>
              <p:nvPr/>
            </p:nvGraphicFramePr>
            <p:xfrm>
              <a:off x="856060" y="4593857"/>
              <a:ext cx="7124134" cy="2220468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1014272"/>
                    <a:gridCol w="1621597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6483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</a:tr>
                  <a:tr h="6483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1600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3"/>
              <p:cNvGraphicFramePr>
                <a:graphicFrameLocks noGrp="1"/>
              </p:cNvGraphicFramePr>
              <p:nvPr/>
            </p:nvGraphicFramePr>
            <p:xfrm>
              <a:off x="856060" y="1979354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1014272"/>
                    <a:gridCol w="1621597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1600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3"/>
              <p:cNvGraphicFramePr>
                <a:graphicFrameLocks noGrp="1"/>
              </p:cNvGraphicFramePr>
              <p:nvPr/>
            </p:nvGraphicFramePr>
            <p:xfrm>
              <a:off x="856060" y="1979354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1014272"/>
                    <a:gridCol w="1621597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1600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3"/>
              <p:cNvGraphicFramePr>
                <a:graphicFrameLocks noGrp="1"/>
              </p:cNvGraphicFramePr>
              <p:nvPr/>
            </p:nvGraphicFramePr>
            <p:xfrm>
              <a:off x="856060" y="45537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1014272"/>
                    <a:gridCol w="1621597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3"/>
              <p:cNvGraphicFramePr>
                <a:graphicFrameLocks noGrp="1"/>
              </p:cNvGraphicFramePr>
              <p:nvPr/>
            </p:nvGraphicFramePr>
            <p:xfrm>
              <a:off x="856060" y="45537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1014272"/>
                    <a:gridCol w="1621597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856060" y="3941456"/>
                <a:ext cx="4572000" cy="5018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(3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   </a:t>
                </a:r>
                <a:endParaRPr lang="en-US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3941456"/>
                <a:ext cx="4572000" cy="501869"/>
              </a:xfrm>
              <a:prstGeom prst="rect">
                <a:avLst/>
              </a:prstGeom>
              <a:blipFill rotWithShape="1">
                <a:blip r:embed="rId3"/>
                <a:stretch>
                  <a:fillRect l="-2" t="-2" r="2" b="4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856060" y="1908892"/>
                <a:ext cx="4572000" cy="5018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z+(40/3)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-(2/3)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   </a:t>
                </a:r>
                <a:endParaRPr lang="en-US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1908892"/>
                <a:ext cx="4572000" cy="501869"/>
              </a:xfrm>
              <a:prstGeom prst="rect">
                <a:avLst/>
              </a:prstGeom>
              <a:blipFill rotWithShape="1">
                <a:blip r:embed="rId1"/>
                <a:stretch>
                  <a:fillRect l="-2" t="-16" r="2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3"/>
              <p:cNvGraphicFramePr>
                <a:graphicFrameLocks noGrp="1"/>
              </p:cNvGraphicFramePr>
              <p:nvPr/>
            </p:nvGraphicFramePr>
            <p:xfrm>
              <a:off x="757586" y="2514600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1014272"/>
                    <a:gridCol w="1621597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128000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3"/>
              <p:cNvGraphicFramePr>
                <a:graphicFrameLocks noGrp="1"/>
              </p:cNvGraphicFramePr>
              <p:nvPr/>
            </p:nvGraphicFramePr>
            <p:xfrm>
              <a:off x="757586" y="2514600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1014272"/>
                    <a:gridCol w="1621597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128000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20320" y="4760595"/>
                <a:ext cx="8865235" cy="174561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𝑙𝑙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𝑡ℎ𝑒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𝑣𝑎𝑙𝑢𝑒𝑠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𝑖𝑛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𝑡ℎ𝑒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𝑧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𝑟𝑜𝑤𝑠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𝑎𝑟𝑒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𝑛𝑜𝑛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𝑛𝑒𝑔𝑎𝑡𝑖𝑣𝑒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 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𝑎𝑛𝑑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 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 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 , 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 </m:t>
                      </m:r>
                    </m:oMath>
                  </m:oMathPara>
                </a14:m>
                <a:endParaRPr lang="en-US" sz="2400" b="0" i="1" smtClean="0">
                  <a:solidFill>
                    <a:prstClr val="black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𝑠𝑎𝑡𝑖𝑠𝑓𝑦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highlight>
                            <a:srgbClr val="FF00FF"/>
                          </a:highlight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𝑎𝑙𝑙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highlight>
                            <a:srgbClr val="FF00FF"/>
                          </a:highlight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 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highlight>
                            <a:srgbClr val="FF00FF"/>
                          </a:highlight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𝑡ℎ𝑒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highlight>
                            <a:srgbClr val="FF00FF"/>
                          </a:highlight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 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highlight>
                            <a:srgbClr val="FF00FF"/>
                          </a:highlight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𝑐𝑜𝑛𝑠𝑡𝑟𝑎𝑖𝑛𝑡𝑠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 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ℎ𝑒𝑛𝑐𝑒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𝑡ℎ𝑒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𝑜𝑝𝑡𝑖𝑚𝑎𝑙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𝑠𝑜𝑙𝑢𝑡𝑖𝑜𝑛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 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𝑜𝑏𝑡𝑎𝑖𝑛𝑒𝑑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" y="4760595"/>
                <a:ext cx="8865235" cy="1745615"/>
              </a:xfrm>
              <a:prstGeom prst="rect">
                <a:avLst/>
              </a:prstGeom>
              <a:blipFill rotWithShape="1">
                <a:blip r:embed="rId3"/>
                <a:stretch>
                  <a:fillRect r="-187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2284809" y="6101750"/>
                <a:ext cx="4572000" cy="5018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800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600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128000</m:t>
                    </m:r>
                  </m:oMath>
                </a14:m>
                <a:r>
                  <a:rPr lang="en-US" sz="2400" dirty="0"/>
                  <a:t>    </a:t>
                </a:r>
                <a:endParaRPr lang="en-US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809" y="6101750"/>
                <a:ext cx="4572000" cy="501869"/>
              </a:xfrm>
              <a:prstGeom prst="rect">
                <a:avLst/>
              </a:prstGeom>
              <a:blipFill rotWithShape="1">
                <a:blip r:embed="rId4"/>
                <a:stretch>
                  <a:fillRect l="-2" t="-7" r="2" b="5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Unbounded Solution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if all values of key column are zero, then stop the procedure the solution is unbounded.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8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 2:</a:t>
            </a:r>
            <a:endParaRPr lang="en-US" sz="28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and B are two products to be manufactured. Unit profits are 40 dollars and 35 dollars respectively. Maximum availability for product A is 60 and for B is 96. Each unit of A needs 2 Kg of material and 3 Man-Hours, Whereas each unit of B need 4 Kg of material and 3 Man-Hours. Find the Optimal Solution by using simplex method.  </a:t>
            </a:r>
            <a:endParaRPr lang="en-US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/>
          <a:lstStyle/>
          <a:p>
            <a:pPr marL="0" lvl="0" indent="0" defTabSz="45720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en-US" dirty="0" err="1">
                <a:solidFill>
                  <a:prstClr val="white"/>
                </a:solidFill>
              </a:rPr>
              <a:t>oduct</a:t>
            </a:r>
            <a:r>
              <a:rPr lang="en-US" dirty="0">
                <a:solidFill>
                  <a:prstClr val="white"/>
                </a:solidFill>
              </a:rPr>
              <a:t> A to be manufactured</a:t>
            </a:r>
            <a:endParaRPr lang="en-US" sz="1800" dirty="0">
              <a:solidFill>
                <a:prstClr val="white"/>
              </a:solidFill>
            </a:endParaRPr>
          </a:p>
          <a:p>
            <a:pPr marL="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9993" y="1626703"/>
          <a:ext cx="7455566" cy="181607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83441"/>
                <a:gridCol w="1857375"/>
                <a:gridCol w="1857375"/>
                <a:gridCol w="1857375"/>
              </a:tblGrid>
              <a:tr h="6053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Man-Hours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Availability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6053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Kg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6053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Kg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271776" y="3429000"/>
                <a:ext cx="4572000" cy="345120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ctr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8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Max Z=40x1+35x2</a:t>
                </a:r>
                <a:endParaRPr lang="en-US" sz="28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8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  <a:endParaRPr lang="en-US" sz="28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60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96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endParaRPr lang="en-US" sz="28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6" y="3429000"/>
                <a:ext cx="4572000" cy="3451201"/>
              </a:xfrm>
              <a:prstGeom prst="rect">
                <a:avLst/>
              </a:prstGeom>
              <a:blipFill rotWithShape="1">
                <a:blip r:embed="rId1"/>
                <a:stretch>
                  <a:fillRect l="-8" r="8"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Max</m:t>
                    </m:r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35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6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96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 rotWithShape="1">
                <a:blip r:embed="rId1"/>
                <a:stretch>
                  <a:fillRect l="-1" t="-7" r="1" b="-3610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35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 rotWithShape="1">
                <a:blip r:embed="rId1"/>
                <a:stretch>
                  <a:fillRect l="-1" t="-7" r="1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/>
              <p:cNvGraphicFramePr>
                <a:graphicFrameLocks noGrp="1"/>
              </p:cNvGraphicFramePr>
              <p:nvPr/>
            </p:nvGraphicFramePr>
            <p:xfrm>
              <a:off x="1429023" y="3862042"/>
              <a:ext cx="7124134" cy="2124456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38216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96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/>
              <p:cNvGraphicFramePr>
                <a:graphicFrameLocks noGrp="1"/>
              </p:cNvGraphicFramePr>
              <p:nvPr/>
            </p:nvGraphicFramePr>
            <p:xfrm>
              <a:off x="1429023" y="3862042"/>
              <a:ext cx="7124134" cy="2124456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38216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dirty="0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Entering variable = Less negative value in z-row</a:t>
            </a:r>
            <a:endParaRPr lang="en-US" dirty="0">
              <a:solidFill>
                <a:prstClr val="black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just">
              <a:buNone/>
            </a:pPr>
            <a:r>
              <a:rPr lang="en-US" dirty="0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Leaving variable= Minimum ratio value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3"/>
              <p:cNvGraphicFramePr>
                <a:graphicFrameLocks noGrp="1"/>
              </p:cNvGraphicFramePr>
              <p:nvPr/>
            </p:nvGraphicFramePr>
            <p:xfrm>
              <a:off x="856060" y="36393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38216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3"/>
              <p:cNvGraphicFramePr>
                <a:graphicFrameLocks noGrp="1"/>
              </p:cNvGraphicFramePr>
              <p:nvPr/>
            </p:nvGraphicFramePr>
            <p:xfrm>
              <a:off x="856060" y="36393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38216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856060" y="1846153"/>
                <a:ext cx="4572000" cy="5018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(1/4)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1846153"/>
                <a:ext cx="4572000" cy="501869"/>
              </a:xfrm>
              <a:prstGeom prst="rect">
                <a:avLst/>
              </a:prstGeom>
              <a:blipFill rotWithShape="1">
                <a:blip r:embed="rId1"/>
                <a:stretch>
                  <a:fillRect l="-2" t="-41" r="2" b="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856060" y="4008110"/>
                <a:ext cx="4572000" cy="5018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z+(40)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-2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   </a:t>
                </a:r>
                <a:endParaRPr lang="en-US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4008110"/>
                <a:ext cx="4572000" cy="501869"/>
              </a:xfrm>
              <a:prstGeom prst="rect">
                <a:avLst/>
              </a:prstGeom>
              <a:blipFill rotWithShape="1">
                <a:blip r:embed="rId2"/>
                <a:stretch>
                  <a:fillRect l="-2" t="-125" r="2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3"/>
              <p:cNvGraphicFramePr>
                <a:graphicFrameLocks noGrp="1"/>
              </p:cNvGraphicFramePr>
              <p:nvPr/>
            </p:nvGraphicFramePr>
            <p:xfrm>
              <a:off x="856060" y="2249485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38216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16132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3"/>
              <p:cNvGraphicFramePr>
                <a:graphicFrameLocks noGrp="1"/>
              </p:cNvGraphicFramePr>
              <p:nvPr/>
            </p:nvGraphicFramePr>
            <p:xfrm>
              <a:off x="856060" y="2249485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38216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3"/>
              <p:cNvGraphicFramePr>
                <a:graphicFrameLocks noGrp="1"/>
              </p:cNvGraphicFramePr>
              <p:nvPr/>
            </p:nvGraphicFramePr>
            <p:xfrm>
              <a:off x="856060" y="4509979"/>
              <a:ext cx="7148457" cy="2220468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62539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960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12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/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¾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¼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/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3"/>
              <p:cNvGraphicFramePr>
                <a:graphicFrameLocks noGrp="1"/>
              </p:cNvGraphicFramePr>
              <p:nvPr/>
            </p:nvGraphicFramePr>
            <p:xfrm>
              <a:off x="856060" y="4509979"/>
              <a:ext cx="7148457" cy="2220468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62539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960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¾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¼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3"/>
              <p:cNvGraphicFramePr>
                <a:graphicFrameLocks noGrp="1"/>
              </p:cNvGraphicFramePr>
              <p:nvPr/>
            </p:nvGraphicFramePr>
            <p:xfrm>
              <a:off x="856060" y="45537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1014272"/>
                    <a:gridCol w="1621597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960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3"/>
              <p:cNvGraphicFramePr>
                <a:graphicFrameLocks noGrp="1"/>
              </p:cNvGraphicFramePr>
              <p:nvPr/>
            </p:nvGraphicFramePr>
            <p:xfrm>
              <a:off x="856060" y="45537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1014272"/>
                    <a:gridCol w="1621597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960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856060" y="3941456"/>
                <a:ext cx="4572000" cy="5018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(2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   </a:t>
                </a:r>
                <a:endParaRPr lang="en-US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3941456"/>
                <a:ext cx="4572000" cy="501869"/>
              </a:xfrm>
              <a:prstGeom prst="rect">
                <a:avLst/>
              </a:prstGeom>
              <a:blipFill rotWithShape="1">
                <a:blip r:embed="rId2"/>
                <a:stretch>
                  <a:fillRect l="-2" t="-2" r="2" b="4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3"/>
              <p:cNvGraphicFramePr>
                <a:graphicFrameLocks noGrp="1"/>
              </p:cNvGraphicFramePr>
              <p:nvPr/>
            </p:nvGraphicFramePr>
            <p:xfrm>
              <a:off x="856060" y="1937854"/>
              <a:ext cx="7148457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62539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960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¾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¼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3"/>
              <p:cNvGraphicFramePr>
                <a:graphicFrameLocks noGrp="1"/>
              </p:cNvGraphicFramePr>
              <p:nvPr/>
            </p:nvGraphicFramePr>
            <p:xfrm>
              <a:off x="856060" y="1937854"/>
              <a:ext cx="7148457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897653"/>
                    <a:gridCol w="1762539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960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¾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¼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856060" y="1908892"/>
                <a:ext cx="4572000" cy="5018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z+(5)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- (3/4)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   </a:t>
                </a:r>
                <a:endParaRPr lang="en-US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1908892"/>
                <a:ext cx="4572000" cy="501869"/>
              </a:xfrm>
              <a:prstGeom prst="rect">
                <a:avLst/>
              </a:prstGeom>
              <a:blipFill rotWithShape="1">
                <a:blip r:embed="rId1"/>
                <a:stretch>
                  <a:fillRect l="-2" t="-16" r="2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757586" y="4760912"/>
                <a:ext cx="7950316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𝑙𝑙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𝑡ℎ𝑒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𝑣𝑎𝑙𝑢𝑒𝑠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𝑖𝑛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𝑡ℎ𝑒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𝑧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𝑟𝑜𝑤𝑠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𝑛𝑜𝑛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𝑛𝑒𝑔𝑎𝑡𝑖𝑣𝑒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ℎ𝑒𝑛𝑐𝑒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en-US" sz="2400" b="0" i="1" dirty="0">
                  <a:solidFill>
                    <a:prstClr val="black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𝑡ℎ𝑒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𝑜𝑝𝑡𝑖𝑚𝑎𝑙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𝑠𝑜𝑙𝑢𝑡𝑖𝑜𝑛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𝑜𝑏𝑡𝑎𝑖𝑛𝑒𝑑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86" y="4760912"/>
                <a:ext cx="7950316" cy="978729"/>
              </a:xfrm>
              <a:prstGeom prst="rect">
                <a:avLst/>
              </a:prstGeom>
              <a:blipFill rotWithShape="1">
                <a:blip r:embed="rId2"/>
                <a:stretch>
                  <a:fillRect t="-32" r="2" b="5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2284809" y="5796950"/>
                <a:ext cx="4572000" cy="50327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18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1000</m:t>
                    </m:r>
                  </m:oMath>
                </a14:m>
                <a:r>
                  <a:rPr lang="en-US" sz="2400" dirty="0"/>
                  <a:t>    </a:t>
                </a:r>
                <a:endParaRPr lang="en-US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809" y="5796950"/>
                <a:ext cx="4572000" cy="503279"/>
              </a:xfrm>
              <a:prstGeom prst="rect">
                <a:avLst/>
              </a:prstGeom>
              <a:blipFill rotWithShape="1">
                <a:blip r:embed="rId3"/>
                <a:stretch>
                  <a:fillRect l="-2" t="-7" r="2" b="7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3"/>
              <p:cNvGraphicFramePr>
                <a:graphicFrameLocks noGrp="1"/>
              </p:cNvGraphicFramePr>
              <p:nvPr/>
            </p:nvGraphicFramePr>
            <p:xfrm>
              <a:off x="856060" y="2468070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1014272"/>
                    <a:gridCol w="1621597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25/3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3"/>
              <p:cNvGraphicFramePr>
                <a:graphicFrameLocks noGrp="1"/>
              </p:cNvGraphicFramePr>
              <p:nvPr/>
            </p:nvGraphicFramePr>
            <p:xfrm>
              <a:off x="856060" y="2468070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/>
                    <a:gridCol w="897653"/>
                    <a:gridCol w="897653"/>
                    <a:gridCol w="897653"/>
                    <a:gridCol w="897653"/>
                    <a:gridCol w="1014272"/>
                    <a:gridCol w="1621597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25/3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1000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just">
                  <a:buNone/>
                </a:pPr>
                <a:r>
                  <a:rPr lang="en-US" sz="2800" b="1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Example 3:</a:t>
                </a:r>
                <a:endParaRPr lang="en-US" sz="2800" b="1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Max</m:t>
                      </m:r>
                      <m: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Z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6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72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780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32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 rotWithShape="1">
                <a:blip r:embed="rId1"/>
                <a:stretch>
                  <a:fillRect l="-1" t="-7" r="1" b="-333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just">
                  <a:buNone/>
                </a:pPr>
                <a:r>
                  <a:rPr lang="en-US" sz="2800" b="1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Solution:</a:t>
                </a:r>
                <a:endParaRPr lang="en-US" sz="2800" b="1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Max</m:t>
                    </m:r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+ 0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72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780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32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 rotWithShape="1">
                <a:blip r:embed="rId1"/>
                <a:stretch>
                  <a:fillRect l="-1" t="-7" r="1" b="-4720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 rotWithShape="1">
                <a:blip r:embed="rId1"/>
                <a:stretch>
                  <a:fillRect l="-1" t="-7" r="1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60" y="3017746"/>
              <a:ext cx="7705160" cy="336956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72</m:t>
                                    </m:r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720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780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390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320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320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60" y="3017746"/>
              <a:ext cx="7705160" cy="336956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109728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just">
                  <a:buNone/>
                </a:pPr>
                <a:r>
                  <a:rPr lang="en-US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Entering variable = Less negative value in z-row</a:t>
                </a:r>
                <a:endParaRPr lang="en-US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Leaving variable= Minimum ratio value</a:t>
                </a:r>
                <a:endParaRPr lang="en-US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 rotWithShape="1">
                <a:blip r:embed="rId1"/>
                <a:stretch>
                  <a:fillRect l="-1" t="-7" r="1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60" y="3429000"/>
              <a:ext cx="7705160" cy="336956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72</m:t>
                                    </m:r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720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780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390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320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320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60" y="3429000"/>
              <a:ext cx="7705160" cy="336956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109728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59" y="3232052"/>
              <a:ext cx="7705160" cy="3371342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140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140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320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𝑢𝑛𝑑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59" y="3232052"/>
              <a:ext cx="7705160" cy="3371342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109728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</a:tr>
                  <a:tr h="6019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856059" y="2261175"/>
                <a:ext cx="5207115" cy="501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z+(6)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-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and</m:t>
                    </m:r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 (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59" y="2261175"/>
                <a:ext cx="5207115" cy="501869"/>
              </a:xfrm>
              <a:prstGeom prst="rect">
                <a:avLst/>
              </a:prstGeom>
              <a:blipFill rotWithShape="1">
                <a:blip r:embed="rId2"/>
                <a:stretch>
                  <a:fillRect l="-2" t="-115" r="4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59" y="3232052"/>
              <a:ext cx="7705160" cy="29260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59" y="3232052"/>
              <a:ext cx="7705160" cy="29260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109728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856058" y="1999376"/>
            <a:ext cx="7705160" cy="1066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Entering variable = Less negative value in z-row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Leaving variable= Minimum ratio value</a:t>
            </a:r>
            <a:endParaRPr lang="en-US" sz="2400" dirty="0">
              <a:solidFill>
                <a:prstClr val="black"/>
              </a:solidFill>
              <a:effectLst>
                <a:outerShdw blurRad="127000" dist="38100" dir="2700000" algn="tl">
                  <a:srgbClr val="000000">
                    <a:alpha val="3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59" y="3232052"/>
              <a:ext cx="7705160" cy="3371342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140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=−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320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320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59" y="3232052"/>
              <a:ext cx="7705160" cy="3371342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109728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6019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</a:tr>
                  <a:tr h="600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856059" y="2261175"/>
                <a:ext cx="5207115" cy="501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z+(4)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and</m:t>
                    </m:r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400" dirty="0"/>
                  <a:t>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-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59" y="2261175"/>
                <a:ext cx="5207115" cy="501869"/>
              </a:xfrm>
              <a:prstGeom prst="rect">
                <a:avLst/>
              </a:prstGeom>
              <a:blipFill rotWithShape="1">
                <a:blip r:embed="rId2"/>
                <a:stretch>
                  <a:fillRect l="-2" t="-115" r="4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59" y="3232052"/>
              <a:ext cx="7705160" cy="29260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59" y="3232052"/>
              <a:ext cx="7705160" cy="29260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109728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856059" y="1911258"/>
            <a:ext cx="7705160" cy="1066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Entering variable = Less negative value in z-row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Leaving variable= Minimum ratio value</a:t>
            </a:r>
            <a:endParaRPr lang="en-US" sz="2400" dirty="0">
              <a:solidFill>
                <a:prstClr val="black"/>
              </a:solidFill>
              <a:effectLst>
                <a:outerShdw blurRad="127000" dist="38100" dir="2700000" algn="tl">
                  <a:srgbClr val="000000">
                    <a:alpha val="3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59" y="3232052"/>
              <a:ext cx="7705160" cy="29260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856059" y="3232052"/>
              <a:ext cx="7705160" cy="29260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109728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856059" y="2261175"/>
                <a:ext cx="5207115" cy="501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(1/3)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59" y="2261175"/>
                <a:ext cx="5207115" cy="501869"/>
              </a:xfrm>
              <a:prstGeom prst="rect">
                <a:avLst/>
              </a:prstGeom>
              <a:blipFill rotWithShape="1">
                <a:blip r:embed="rId2"/>
                <a:stretch>
                  <a:fillRect l="-2" t="-115" r="4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718229" y="2500420"/>
              <a:ext cx="7705160" cy="29260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2560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/>
              <p:cNvGraphicFramePr>
                <a:graphicFrameLocks noGrp="1"/>
              </p:cNvGraphicFramePr>
              <p:nvPr/>
            </p:nvGraphicFramePr>
            <p:xfrm>
              <a:off x="718229" y="2500420"/>
              <a:ext cx="7705160" cy="29260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63145"/>
                    <a:gridCol w="783318"/>
                    <a:gridCol w="858129"/>
                    <a:gridCol w="1069145"/>
                    <a:gridCol w="956603"/>
                    <a:gridCol w="928468"/>
                    <a:gridCol w="829994"/>
                    <a:gridCol w="1316358"/>
                  </a:tblGrid>
                  <a:tr h="109728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SOL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  <a:endParaRPr kumimoji="0" lang="en-US" sz="2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2560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856059" y="1998551"/>
                <a:ext cx="5432199" cy="501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 z +(2)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𝑎𝑛𝑑</m:t>
                    </m:r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 (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59" y="1998551"/>
                <a:ext cx="5432199" cy="501869"/>
              </a:xfrm>
              <a:prstGeom prst="rect">
                <a:avLst/>
              </a:prstGeom>
              <a:blipFill rotWithShape="1">
                <a:blip r:embed="rId2"/>
                <a:stretch>
                  <a:fillRect l="-1" t="-41" r="9" b="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2284809" y="5796950"/>
                <a:ext cx="4572000" cy="50327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280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220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2560</m:t>
                    </m:r>
                  </m:oMath>
                </a14:m>
                <a:r>
                  <a:rPr lang="en-US" sz="2400" dirty="0"/>
                  <a:t>    </a:t>
                </a:r>
                <a:endParaRPr lang="en-US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809" y="5796950"/>
                <a:ext cx="4572000" cy="503279"/>
              </a:xfrm>
              <a:prstGeom prst="rect">
                <a:avLst/>
              </a:prstGeom>
              <a:blipFill rotWithShape="1">
                <a:blip r:embed="rId3"/>
                <a:stretch>
                  <a:fillRect l="-2" t="-7" r="2" b="7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689715"/>
            <a:ext cx="7429499" cy="147857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GB" sz="54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  <a:b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Clarity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6167</Words>
  <Application>WPS Presentation</Application>
  <PresentationFormat>On-screen Show (4:3)</PresentationFormat>
  <Paragraphs>1656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Arial</vt:lpstr>
      <vt:lpstr>SimSun</vt:lpstr>
      <vt:lpstr>Wingdings</vt:lpstr>
      <vt:lpstr>Trebuchet MS</vt:lpstr>
      <vt:lpstr>Cambria Math</vt:lpstr>
      <vt:lpstr>Cambria Math</vt:lpstr>
      <vt:lpstr>Microsoft YaHei</vt:lpstr>
      <vt:lpstr>Arial Unicode MS</vt:lpstr>
      <vt:lpstr>Calibri</vt:lpstr>
      <vt:lpstr>Tw Cen MT</vt:lpstr>
      <vt:lpstr>Clarity</vt:lpstr>
      <vt:lpstr>Circuit</vt:lpstr>
      <vt:lpstr>PowerPoint 演示文稿</vt:lpstr>
      <vt:lpstr>Simplex Method 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Unbounded Solution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Thank you!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Bakhtawar</dc:creator>
  <cp:lastModifiedBy>Dell</cp:lastModifiedBy>
  <cp:revision>255</cp:revision>
  <dcterms:created xsi:type="dcterms:W3CDTF">2022-09-10T13:48:00Z</dcterms:created>
  <dcterms:modified xsi:type="dcterms:W3CDTF">2025-02-12T03:07:17Z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FA8CDCD2D2C6432CB1E03E674A7F8528_12</vt:lpwstr>
  </property>
  <property fmtid="{D5CDD505-2E9C-101B-9397-08002B2CF9AE}" pid="3" name="KSOProductBuildVer">
    <vt:lpwstr>1033-12.2.0.19805</vt:lpwstr>
  </property>
</Properties>
</file>