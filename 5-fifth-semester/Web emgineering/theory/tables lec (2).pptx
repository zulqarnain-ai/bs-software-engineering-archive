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306" r:id="rId9"/>
    <p:sldId id="264" r:id="rId10"/>
    <p:sldId id="266" r:id="rId11"/>
    <p:sldId id="267" r:id="rId12"/>
    <p:sldId id="268" r:id="rId13"/>
    <p:sldId id="319" r:id="rId14"/>
    <p:sldId id="309" r:id="rId15"/>
    <p:sldId id="315" r:id="rId16"/>
    <p:sldId id="311" r:id="rId17"/>
    <p:sldId id="312" r:id="rId18"/>
    <p:sldId id="313" r:id="rId19"/>
    <p:sldId id="314" r:id="rId20"/>
    <p:sldId id="271" r:id="rId21"/>
    <p:sldId id="272" r:id="rId22"/>
    <p:sldId id="273" r:id="rId23"/>
    <p:sldId id="310" r:id="rId24"/>
    <p:sldId id="316" r:id="rId25"/>
    <p:sldId id="279" r:id="rId26"/>
    <p:sldId id="283" r:id="rId27"/>
    <p:sldId id="284" r:id="rId28"/>
    <p:sldId id="287" r:id="rId29"/>
    <p:sldId id="288" r:id="rId30"/>
    <p:sldId id="317" r:id="rId31"/>
    <p:sldId id="318" r:id="rId32"/>
    <p:sldId id="320" r:id="rId33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682" autoAdjust="0"/>
  </p:normalViewPr>
  <p:slideViewPr>
    <p:cSldViewPr>
      <p:cViewPr varScale="1">
        <p:scale>
          <a:sx n="68" d="100"/>
          <a:sy n="68" d="100"/>
        </p:scale>
        <p:origin x="-1446" y="-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679448" y="417017"/>
            <a:ext cx="5785103" cy="512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20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20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20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20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20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37160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24384">
            <a:solidFill>
              <a:srgbClr val="77777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56992" y="173177"/>
            <a:ext cx="4430014" cy="1000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017520" y="2051304"/>
            <a:ext cx="4732020" cy="4051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383523" y="6297621"/>
            <a:ext cx="253365" cy="2216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20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jp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62504" y="2598166"/>
            <a:ext cx="3618865" cy="5124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5" dirty="0"/>
              <a:t>Using</a:t>
            </a:r>
            <a:r>
              <a:rPr spc="-20" dirty="0"/>
              <a:t> </a:t>
            </a:r>
            <a:r>
              <a:rPr spc="-10" dirty="0"/>
              <a:t>HTML</a:t>
            </a:r>
            <a:r>
              <a:rPr spc="15" dirty="0"/>
              <a:t> </a:t>
            </a:r>
            <a:r>
              <a:rPr spc="-5" dirty="0"/>
              <a:t>Tables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71916" y="6297621"/>
            <a:ext cx="165100" cy="2216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0"/>
              </a:lnSpc>
            </a:pPr>
            <a:fld id="{81D60167-4931-47E6-BA6A-407CBD079E47}" type="slidenum">
              <a:rPr sz="1400" spc="-5" dirty="0">
                <a:latin typeface="Times New Roman"/>
                <a:cs typeface="Times New Roman"/>
              </a:rPr>
              <a:t>1</a:t>
            </a:fld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71064" y="145745"/>
            <a:ext cx="3881120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764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Using the</a:t>
            </a:r>
            <a:r>
              <a:rPr spc="-20" dirty="0"/>
              <a:t> </a:t>
            </a:r>
            <a:r>
              <a:rPr spc="-5" dirty="0">
                <a:latin typeface="Courier New"/>
                <a:cs typeface="Courier New"/>
              </a:rPr>
              <a:t>&lt;table&gt;</a:t>
            </a:r>
            <a:r>
              <a:rPr spc="-5" dirty="0"/>
              <a:t>,</a:t>
            </a:r>
          </a:p>
          <a:p>
            <a:pPr marL="12700">
              <a:lnSpc>
                <a:spcPct val="100000"/>
              </a:lnSpc>
            </a:pPr>
            <a:r>
              <a:rPr dirty="0">
                <a:latin typeface="Courier New"/>
                <a:cs typeface="Courier New"/>
              </a:rPr>
              <a:t>&lt;tr</a:t>
            </a:r>
            <a:r>
              <a:rPr spc="-10" dirty="0">
                <a:latin typeface="Courier New"/>
                <a:cs typeface="Courier New"/>
              </a:rPr>
              <a:t>&gt;</a:t>
            </a:r>
            <a:r>
              <a:rPr spc="-5" dirty="0"/>
              <a:t>,</a:t>
            </a:r>
            <a:r>
              <a:rPr spc="25" dirty="0"/>
              <a:t> </a:t>
            </a:r>
            <a:r>
              <a:rPr spc="5" dirty="0"/>
              <a:t>a</a:t>
            </a:r>
            <a:r>
              <a:rPr spc="-5" dirty="0"/>
              <a:t>nd</a:t>
            </a:r>
            <a:r>
              <a:rPr spc="-25" dirty="0"/>
              <a:t> </a:t>
            </a:r>
            <a:r>
              <a:rPr dirty="0">
                <a:latin typeface="Courier New"/>
                <a:cs typeface="Courier New"/>
              </a:rPr>
              <a:t>&lt;td</a:t>
            </a:r>
            <a:r>
              <a:rPr spc="-5" dirty="0">
                <a:latin typeface="Courier New"/>
                <a:cs typeface="Courier New"/>
              </a:rPr>
              <a:t>&gt;</a:t>
            </a:r>
            <a:r>
              <a:rPr spc="-1080" dirty="0">
                <a:latin typeface="Courier New"/>
                <a:cs typeface="Courier New"/>
              </a:rPr>
              <a:t> </a:t>
            </a:r>
            <a:r>
              <a:rPr spc="-10" dirty="0"/>
              <a:t>T</a:t>
            </a:r>
            <a:r>
              <a:rPr spc="10" dirty="0"/>
              <a:t>a</a:t>
            </a:r>
            <a:r>
              <a:rPr dirty="0"/>
              <a:t>g</a:t>
            </a:r>
            <a:r>
              <a:rPr spc="-5" dirty="0"/>
              <a:t>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471916" y="6297621"/>
            <a:ext cx="165100" cy="2216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0"/>
              </a:lnSpc>
            </a:pPr>
            <a:fld id="{81D60167-4931-47E6-BA6A-407CBD079E47}" type="slidenum">
              <a:rPr sz="1400" spc="-5" dirty="0">
                <a:latin typeface="Times New Roman"/>
                <a:cs typeface="Times New Roman"/>
              </a:rPr>
              <a:t>2</a:t>
            </a:fld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6244" y="1621612"/>
            <a:ext cx="7731125" cy="361315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56870" indent="-344805">
              <a:lnSpc>
                <a:spcPts val="3265"/>
              </a:lnSpc>
              <a:spcBef>
                <a:spcPts val="110"/>
              </a:spcBef>
              <a:buChar char="•"/>
              <a:tabLst>
                <a:tab pos="356870" algn="l"/>
                <a:tab pos="357505" algn="l"/>
              </a:tabLst>
            </a:pPr>
            <a:r>
              <a:rPr sz="2800" dirty="0">
                <a:latin typeface="Times New Roman"/>
                <a:cs typeface="Times New Roman"/>
              </a:rPr>
              <a:t>Graphical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tables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are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enclosed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within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5" dirty="0">
                <a:latin typeface="Times New Roman"/>
                <a:cs typeface="Times New Roman"/>
              </a:rPr>
              <a:t> two-sided</a:t>
            </a:r>
            <a:endParaRPr sz="2800">
              <a:latin typeface="Times New Roman"/>
              <a:cs typeface="Times New Roman"/>
            </a:endParaRPr>
          </a:p>
          <a:p>
            <a:pPr marL="356870">
              <a:lnSpc>
                <a:spcPts val="3265"/>
              </a:lnSpc>
            </a:pPr>
            <a:r>
              <a:rPr sz="2800" b="1" spc="-5" dirty="0">
                <a:latin typeface="Courier New"/>
                <a:cs typeface="Courier New"/>
              </a:rPr>
              <a:t>&lt;table&gt;</a:t>
            </a:r>
            <a:r>
              <a:rPr sz="2800" b="1" spc="-1010" dirty="0">
                <a:latin typeface="Courier New"/>
                <a:cs typeface="Courier New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tag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that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identifies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the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start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and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ending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of</a:t>
            </a:r>
            <a:endParaRPr sz="2800">
              <a:latin typeface="Times New Roman"/>
              <a:cs typeface="Times New Roman"/>
            </a:endParaRPr>
          </a:p>
          <a:p>
            <a:pPr marL="356870">
              <a:lnSpc>
                <a:spcPct val="100000"/>
              </a:lnSpc>
              <a:spcBef>
                <a:spcPts val="190"/>
              </a:spcBef>
            </a:pPr>
            <a:r>
              <a:rPr sz="2800" spc="5" dirty="0">
                <a:latin typeface="Times New Roman"/>
                <a:cs typeface="Times New Roman"/>
              </a:rPr>
              <a:t>the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table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structure.</a:t>
            </a:r>
            <a:endParaRPr sz="2800">
              <a:latin typeface="Times New Roman"/>
              <a:cs typeface="Times New Roman"/>
            </a:endParaRPr>
          </a:p>
          <a:p>
            <a:pPr marL="356870" indent="-344805">
              <a:lnSpc>
                <a:spcPts val="3265"/>
              </a:lnSpc>
              <a:spcBef>
                <a:spcPts val="675"/>
              </a:spcBef>
              <a:buChar char="•"/>
              <a:tabLst>
                <a:tab pos="356870" algn="l"/>
                <a:tab pos="357505" algn="l"/>
              </a:tabLst>
            </a:pPr>
            <a:r>
              <a:rPr sz="2800" dirty="0">
                <a:latin typeface="Times New Roman"/>
                <a:cs typeface="Times New Roman"/>
              </a:rPr>
              <a:t>Each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row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the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table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is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indicated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using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10" dirty="0">
                <a:latin typeface="Times New Roman"/>
                <a:cs typeface="Times New Roman"/>
              </a:rPr>
              <a:t>two-sided</a:t>
            </a:r>
            <a:endParaRPr sz="2800">
              <a:latin typeface="Times New Roman"/>
              <a:cs typeface="Times New Roman"/>
            </a:endParaRPr>
          </a:p>
          <a:p>
            <a:pPr marL="356870">
              <a:lnSpc>
                <a:spcPts val="3265"/>
              </a:lnSpc>
            </a:pPr>
            <a:r>
              <a:rPr sz="2800" b="1" spc="-10" dirty="0">
                <a:latin typeface="Courier New"/>
                <a:cs typeface="Courier New"/>
              </a:rPr>
              <a:t>&lt;tr</a:t>
            </a:r>
            <a:r>
              <a:rPr sz="2800" b="1" dirty="0">
                <a:latin typeface="Courier New"/>
                <a:cs typeface="Courier New"/>
              </a:rPr>
              <a:t>&gt;</a:t>
            </a:r>
            <a:r>
              <a:rPr sz="2800" b="1" spc="-1015" dirty="0">
                <a:latin typeface="Courier New"/>
                <a:cs typeface="Courier New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(f</a:t>
            </a:r>
            <a:r>
              <a:rPr sz="2800" spc="10" dirty="0">
                <a:latin typeface="Times New Roman"/>
                <a:cs typeface="Times New Roman"/>
              </a:rPr>
              <a:t>o</a:t>
            </a:r>
            <a:r>
              <a:rPr sz="2800" dirty="0">
                <a:latin typeface="Times New Roman"/>
                <a:cs typeface="Times New Roman"/>
              </a:rPr>
              <a:t>r ta</a:t>
            </a:r>
            <a:r>
              <a:rPr sz="2800" spc="15" dirty="0">
                <a:latin typeface="Times New Roman"/>
                <a:cs typeface="Times New Roman"/>
              </a:rPr>
              <a:t>b</a:t>
            </a:r>
            <a:r>
              <a:rPr sz="2800" spc="5" dirty="0">
                <a:latin typeface="Times New Roman"/>
                <a:cs typeface="Times New Roman"/>
              </a:rPr>
              <a:t>l</a:t>
            </a:r>
            <a:r>
              <a:rPr sz="2800" dirty="0">
                <a:latin typeface="Times New Roman"/>
                <a:cs typeface="Times New Roman"/>
              </a:rPr>
              <a:t>e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</a:t>
            </a:r>
            <a:r>
              <a:rPr sz="2800" spc="10" dirty="0">
                <a:latin typeface="Times New Roman"/>
                <a:cs typeface="Times New Roman"/>
              </a:rPr>
              <a:t>o</a:t>
            </a:r>
            <a:r>
              <a:rPr sz="2800" spc="-10" dirty="0">
                <a:latin typeface="Times New Roman"/>
                <a:cs typeface="Times New Roman"/>
              </a:rPr>
              <a:t>w</a:t>
            </a:r>
            <a:r>
              <a:rPr sz="2800" dirty="0">
                <a:latin typeface="Times New Roman"/>
                <a:cs typeface="Times New Roman"/>
              </a:rPr>
              <a:t>).</a:t>
            </a:r>
            <a:endParaRPr sz="2800">
              <a:latin typeface="Times New Roman"/>
              <a:cs typeface="Times New Roman"/>
            </a:endParaRPr>
          </a:p>
          <a:p>
            <a:pPr marL="356870" marR="43815" indent="-344805">
              <a:lnSpc>
                <a:spcPct val="102899"/>
              </a:lnSpc>
              <a:spcBef>
                <a:spcPts val="575"/>
              </a:spcBef>
              <a:buChar char="•"/>
              <a:tabLst>
                <a:tab pos="356870" algn="l"/>
                <a:tab pos="357505" algn="l"/>
              </a:tabLst>
            </a:pPr>
            <a:r>
              <a:rPr sz="2800" spc="-35" dirty="0">
                <a:latin typeface="Times New Roman"/>
                <a:cs typeface="Times New Roman"/>
              </a:rPr>
              <a:t>W</a:t>
            </a:r>
            <a:r>
              <a:rPr sz="2800" spc="5" dirty="0">
                <a:latin typeface="Times New Roman"/>
                <a:cs typeface="Times New Roman"/>
              </a:rPr>
              <a:t>ithin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each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t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5" dirty="0">
                <a:latin typeface="Times New Roman"/>
                <a:cs typeface="Times New Roman"/>
              </a:rPr>
              <a:t>bl</a:t>
            </a:r>
            <a:r>
              <a:rPr sz="2800" dirty="0">
                <a:latin typeface="Times New Roman"/>
                <a:cs typeface="Times New Roman"/>
              </a:rPr>
              <a:t>e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</a:t>
            </a:r>
            <a:r>
              <a:rPr sz="2800" spc="10" dirty="0">
                <a:latin typeface="Times New Roman"/>
                <a:cs typeface="Times New Roman"/>
              </a:rPr>
              <a:t>o</a:t>
            </a:r>
            <a:r>
              <a:rPr sz="2800" spc="-10" dirty="0">
                <a:latin typeface="Times New Roman"/>
                <a:cs typeface="Times New Roman"/>
              </a:rPr>
              <a:t>w</a:t>
            </a:r>
            <a:r>
              <a:rPr sz="2800" dirty="0">
                <a:latin typeface="Times New Roman"/>
                <a:cs typeface="Times New Roman"/>
              </a:rPr>
              <a:t>,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 t</a:t>
            </a:r>
            <a:r>
              <a:rPr sz="2800" spc="-5" dirty="0">
                <a:latin typeface="Times New Roman"/>
                <a:cs typeface="Times New Roman"/>
              </a:rPr>
              <a:t>w</a:t>
            </a:r>
            <a:r>
              <a:rPr sz="2800" spc="50" dirty="0">
                <a:latin typeface="Times New Roman"/>
                <a:cs typeface="Times New Roman"/>
              </a:rPr>
              <a:t>o</a:t>
            </a:r>
            <a:r>
              <a:rPr sz="2800" dirty="0">
                <a:latin typeface="Times New Roman"/>
                <a:cs typeface="Times New Roman"/>
              </a:rPr>
              <a:t>-</a:t>
            </a:r>
            <a:r>
              <a:rPr sz="2800" spc="5" dirty="0">
                <a:latin typeface="Times New Roman"/>
                <a:cs typeface="Times New Roman"/>
              </a:rPr>
              <a:t>sid</a:t>
            </a:r>
            <a:r>
              <a:rPr sz="2800" spc="-25" dirty="0">
                <a:latin typeface="Times New Roman"/>
                <a:cs typeface="Times New Roman"/>
              </a:rPr>
              <a:t>e</a:t>
            </a:r>
            <a:r>
              <a:rPr sz="2800" spc="5" dirty="0">
                <a:latin typeface="Times New Roman"/>
                <a:cs typeface="Times New Roman"/>
              </a:rPr>
              <a:t>d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Courier New"/>
                <a:cs typeface="Courier New"/>
              </a:rPr>
              <a:t>&lt;td</a:t>
            </a:r>
            <a:r>
              <a:rPr sz="2800" b="1" spc="5" dirty="0">
                <a:latin typeface="Courier New"/>
                <a:cs typeface="Courier New"/>
              </a:rPr>
              <a:t>&gt;</a:t>
            </a:r>
            <a:r>
              <a:rPr sz="2800" b="1" spc="-1015" dirty="0">
                <a:latin typeface="Courier New"/>
                <a:cs typeface="Courier New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(f</a:t>
            </a:r>
            <a:r>
              <a:rPr sz="2800" spc="10" dirty="0">
                <a:latin typeface="Times New Roman"/>
                <a:cs typeface="Times New Roman"/>
              </a:rPr>
              <a:t>o</a:t>
            </a:r>
            <a:r>
              <a:rPr sz="2800" dirty="0">
                <a:latin typeface="Times New Roman"/>
                <a:cs typeface="Times New Roman"/>
              </a:rPr>
              <a:t>r ta</a:t>
            </a:r>
            <a:r>
              <a:rPr sz="2800" spc="15" dirty="0">
                <a:latin typeface="Times New Roman"/>
                <a:cs typeface="Times New Roman"/>
              </a:rPr>
              <a:t>b</a:t>
            </a:r>
            <a:r>
              <a:rPr sz="2800" spc="5" dirty="0">
                <a:latin typeface="Times New Roman"/>
                <a:cs typeface="Times New Roman"/>
              </a:rPr>
              <a:t>l</a:t>
            </a:r>
            <a:r>
              <a:rPr sz="2800" dirty="0">
                <a:latin typeface="Times New Roman"/>
                <a:cs typeface="Times New Roman"/>
              </a:rPr>
              <a:t>e  </a:t>
            </a:r>
            <a:r>
              <a:rPr sz="2800" spc="5" dirty="0">
                <a:latin typeface="Times New Roman"/>
                <a:cs typeface="Times New Roman"/>
              </a:rPr>
              <a:t>data) tag </a:t>
            </a:r>
            <a:r>
              <a:rPr sz="2800" dirty="0">
                <a:latin typeface="Times New Roman"/>
                <a:cs typeface="Times New Roman"/>
              </a:rPr>
              <a:t>indicates </a:t>
            </a:r>
            <a:r>
              <a:rPr sz="2800" spc="5" dirty="0">
                <a:latin typeface="Times New Roman"/>
                <a:cs typeface="Times New Roman"/>
              </a:rPr>
              <a:t>the presence of </a:t>
            </a:r>
            <a:r>
              <a:rPr sz="2800" dirty="0">
                <a:latin typeface="Times New Roman"/>
                <a:cs typeface="Times New Roman"/>
              </a:rPr>
              <a:t>individual </a:t>
            </a:r>
            <a:r>
              <a:rPr sz="2800" spc="5" dirty="0">
                <a:latin typeface="Times New Roman"/>
                <a:cs typeface="Times New Roman"/>
              </a:rPr>
              <a:t>table 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cells.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97316" y="6278372"/>
            <a:ext cx="11430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spc="-5" dirty="0">
                <a:latin typeface="Times New Roman"/>
                <a:cs typeface="Times New Roman"/>
              </a:rPr>
              <a:t>4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11400" y="417017"/>
            <a:ext cx="4596765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The</a:t>
            </a:r>
            <a:r>
              <a:rPr spc="-10" dirty="0"/>
              <a:t> </a:t>
            </a:r>
            <a:r>
              <a:rPr spc="-5" dirty="0"/>
              <a:t>General Table Syntax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01551" y="5294223"/>
            <a:ext cx="5572722" cy="65562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964435" y="5326379"/>
            <a:ext cx="247015" cy="591820"/>
          </a:xfrm>
          <a:custGeom>
            <a:avLst/>
            <a:gdLst/>
            <a:ahLst/>
            <a:cxnLst/>
            <a:rect l="l" t="t" r="r" b="b"/>
            <a:pathLst>
              <a:path w="247014" h="591820">
                <a:moveTo>
                  <a:pt x="246887" y="591312"/>
                </a:moveTo>
                <a:lnTo>
                  <a:pt x="198828" y="586231"/>
                </a:lnTo>
                <a:lnTo>
                  <a:pt x="159591" y="572376"/>
                </a:lnTo>
                <a:lnTo>
                  <a:pt x="133141" y="551824"/>
                </a:lnTo>
                <a:lnTo>
                  <a:pt x="123443" y="526656"/>
                </a:lnTo>
                <a:lnTo>
                  <a:pt x="123443" y="360311"/>
                </a:lnTo>
                <a:lnTo>
                  <a:pt x="113746" y="335143"/>
                </a:lnTo>
                <a:lnTo>
                  <a:pt x="87296" y="314591"/>
                </a:lnTo>
                <a:lnTo>
                  <a:pt x="48059" y="300736"/>
                </a:lnTo>
                <a:lnTo>
                  <a:pt x="0" y="295656"/>
                </a:lnTo>
                <a:lnTo>
                  <a:pt x="48059" y="290575"/>
                </a:lnTo>
                <a:lnTo>
                  <a:pt x="87296" y="276721"/>
                </a:lnTo>
                <a:lnTo>
                  <a:pt x="113746" y="256174"/>
                </a:lnTo>
                <a:lnTo>
                  <a:pt x="123443" y="231013"/>
                </a:lnTo>
                <a:lnTo>
                  <a:pt x="123443" y="64643"/>
                </a:lnTo>
                <a:lnTo>
                  <a:pt x="133141" y="39487"/>
                </a:lnTo>
                <a:lnTo>
                  <a:pt x="159591" y="18938"/>
                </a:lnTo>
                <a:lnTo>
                  <a:pt x="198828" y="5081"/>
                </a:lnTo>
                <a:lnTo>
                  <a:pt x="246887" y="0"/>
                </a:lnTo>
              </a:path>
            </a:pathLst>
          </a:custGeom>
          <a:ln w="9144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17244" y="1550936"/>
            <a:ext cx="3835400" cy="4232910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2000" b="1" spc="-5" dirty="0">
                <a:latin typeface="Courier New"/>
                <a:cs typeface="Courier New"/>
              </a:rPr>
              <a:t>&lt;table&gt;</a:t>
            </a:r>
            <a:endParaRPr sz="2000" dirty="0">
              <a:latin typeface="Courier New"/>
              <a:cs typeface="Courier New"/>
            </a:endParaRPr>
          </a:p>
          <a:p>
            <a:pPr marL="317500">
              <a:lnSpc>
                <a:spcPct val="100000"/>
              </a:lnSpc>
              <a:spcBef>
                <a:spcPts val="240"/>
              </a:spcBef>
            </a:pPr>
            <a:r>
              <a:rPr sz="2000" b="1" dirty="0">
                <a:latin typeface="Courier New"/>
                <a:cs typeface="Courier New"/>
              </a:rPr>
              <a:t>&lt;tr&gt;</a:t>
            </a:r>
            <a:endParaRPr sz="2000" dirty="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245"/>
              </a:spcBef>
            </a:pPr>
            <a:r>
              <a:rPr sz="2000" b="1" spc="-5" dirty="0">
                <a:latin typeface="Courier New"/>
                <a:cs typeface="Courier New"/>
              </a:rPr>
              <a:t>&lt;td&gt;</a:t>
            </a:r>
            <a:r>
              <a:rPr sz="2000" b="1" spc="-30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First</a:t>
            </a:r>
            <a:r>
              <a:rPr sz="2000" b="1" spc="-25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Cell</a:t>
            </a:r>
            <a:r>
              <a:rPr sz="2000" b="1" spc="-30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&lt;/td&gt;</a:t>
            </a:r>
            <a:endParaRPr sz="2000" dirty="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240"/>
              </a:spcBef>
            </a:pPr>
            <a:r>
              <a:rPr sz="2000" b="1" spc="-5" dirty="0">
                <a:latin typeface="Courier New"/>
                <a:cs typeface="Courier New"/>
              </a:rPr>
              <a:t>&lt;td&gt;</a:t>
            </a:r>
            <a:r>
              <a:rPr sz="2000" b="1" spc="-25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Second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Cell</a:t>
            </a:r>
            <a:r>
              <a:rPr sz="2000" b="1" spc="-25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&lt;/td&gt;</a:t>
            </a:r>
            <a:endParaRPr sz="2000" dirty="0">
              <a:latin typeface="Courier New"/>
              <a:cs typeface="Courier New"/>
            </a:endParaRPr>
          </a:p>
          <a:p>
            <a:pPr marL="317500">
              <a:lnSpc>
                <a:spcPct val="100000"/>
              </a:lnSpc>
              <a:spcBef>
                <a:spcPts val="240"/>
              </a:spcBef>
            </a:pPr>
            <a:r>
              <a:rPr sz="2000" b="1" dirty="0">
                <a:latin typeface="Courier New"/>
                <a:cs typeface="Courier New"/>
              </a:rPr>
              <a:t>&lt;/tr&gt;</a:t>
            </a:r>
            <a:endParaRPr sz="2000" dirty="0">
              <a:latin typeface="Courier New"/>
              <a:cs typeface="Courier New"/>
            </a:endParaRPr>
          </a:p>
          <a:p>
            <a:pPr marL="317500">
              <a:lnSpc>
                <a:spcPct val="100000"/>
              </a:lnSpc>
              <a:spcBef>
                <a:spcPts val="240"/>
              </a:spcBef>
            </a:pPr>
            <a:r>
              <a:rPr sz="2000" b="1" dirty="0">
                <a:latin typeface="Courier New"/>
                <a:cs typeface="Courier New"/>
              </a:rPr>
              <a:t>&lt;tr&gt;</a:t>
            </a:r>
            <a:endParaRPr sz="2000" dirty="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245"/>
              </a:spcBef>
            </a:pPr>
            <a:r>
              <a:rPr sz="2000" b="1" spc="-5" dirty="0">
                <a:latin typeface="Courier New"/>
                <a:cs typeface="Courier New"/>
              </a:rPr>
              <a:t>&lt;td&gt;</a:t>
            </a:r>
            <a:r>
              <a:rPr sz="2000" b="1" spc="-30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Third</a:t>
            </a:r>
            <a:r>
              <a:rPr sz="2000" b="1" spc="-25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Cell</a:t>
            </a:r>
            <a:r>
              <a:rPr sz="2000" b="1" spc="-30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&lt;/td&gt;</a:t>
            </a:r>
            <a:endParaRPr sz="2000" dirty="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240"/>
              </a:spcBef>
            </a:pPr>
            <a:r>
              <a:rPr sz="2000" b="1" spc="-5" dirty="0">
                <a:latin typeface="Courier New"/>
                <a:cs typeface="Courier New"/>
              </a:rPr>
              <a:t>&lt;td&gt;</a:t>
            </a:r>
            <a:r>
              <a:rPr sz="2000" b="1" spc="-25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Fourth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Cell</a:t>
            </a:r>
            <a:r>
              <a:rPr sz="2000" b="1" spc="-25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&lt;/td&gt;</a:t>
            </a:r>
            <a:endParaRPr sz="2000" dirty="0">
              <a:latin typeface="Courier New"/>
              <a:cs typeface="Courier New"/>
            </a:endParaRPr>
          </a:p>
          <a:p>
            <a:pPr marL="317500">
              <a:lnSpc>
                <a:spcPct val="100000"/>
              </a:lnSpc>
              <a:spcBef>
                <a:spcPts val="240"/>
              </a:spcBef>
            </a:pPr>
            <a:r>
              <a:rPr sz="2000" b="1" dirty="0">
                <a:latin typeface="Courier New"/>
                <a:cs typeface="Courier New"/>
              </a:rPr>
              <a:t>&lt;/tr&gt;</a:t>
            </a:r>
            <a:endParaRPr sz="20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2000" b="1" spc="-5" dirty="0">
                <a:latin typeface="Courier New"/>
                <a:cs typeface="Courier New"/>
              </a:rPr>
              <a:t>&lt;/table&gt;</a:t>
            </a:r>
            <a:endParaRPr sz="20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22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950" dirty="0">
              <a:latin typeface="Courier New"/>
              <a:cs typeface="Courier New"/>
            </a:endParaRPr>
          </a:p>
          <a:p>
            <a:pPr marL="165100">
              <a:lnSpc>
                <a:spcPct val="100000"/>
              </a:lnSpc>
            </a:pPr>
            <a:r>
              <a:rPr sz="1600" b="1" dirty="0">
                <a:latin typeface="Times New Roman"/>
                <a:cs typeface="Times New Roman"/>
              </a:rPr>
              <a:t>two</a:t>
            </a:r>
            <a:r>
              <a:rPr sz="1600" b="1" spc="-7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rows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312289" y="5964085"/>
            <a:ext cx="5532120" cy="208915"/>
          </a:xfrm>
          <a:custGeom>
            <a:avLst/>
            <a:gdLst/>
            <a:ahLst/>
            <a:cxnLst/>
            <a:rect l="l" t="t" r="r" b="b"/>
            <a:pathLst>
              <a:path w="5532120" h="208914">
                <a:moveTo>
                  <a:pt x="5532120" y="38138"/>
                </a:moveTo>
                <a:lnTo>
                  <a:pt x="5504330" y="74852"/>
                </a:lnTo>
                <a:lnTo>
                  <a:pt x="5429059" y="104470"/>
                </a:lnTo>
                <a:lnTo>
                  <a:pt x="5377145" y="115689"/>
                </a:lnTo>
                <a:lnTo>
                  <a:pt x="5317593" y="124020"/>
                </a:lnTo>
                <a:lnTo>
                  <a:pt x="5251814" y="129091"/>
                </a:lnTo>
                <a:lnTo>
                  <a:pt x="5181219" y="130530"/>
                </a:lnTo>
                <a:lnTo>
                  <a:pt x="3115564" y="116281"/>
                </a:lnTo>
                <a:lnTo>
                  <a:pt x="3044969" y="117720"/>
                </a:lnTo>
                <a:lnTo>
                  <a:pt x="2979191" y="122791"/>
                </a:lnTo>
                <a:lnTo>
                  <a:pt x="2919644" y="131122"/>
                </a:lnTo>
                <a:lnTo>
                  <a:pt x="2867739" y="142341"/>
                </a:lnTo>
                <a:lnTo>
                  <a:pt x="2824889" y="156077"/>
                </a:lnTo>
                <a:lnTo>
                  <a:pt x="2772001" y="189615"/>
                </a:lnTo>
                <a:lnTo>
                  <a:pt x="2764790" y="208673"/>
                </a:lnTo>
                <a:lnTo>
                  <a:pt x="2757773" y="189517"/>
                </a:lnTo>
                <a:lnTo>
                  <a:pt x="2705275" y="155254"/>
                </a:lnTo>
                <a:lnTo>
                  <a:pt x="2662602" y="140928"/>
                </a:lnTo>
                <a:lnTo>
                  <a:pt x="2610850" y="128995"/>
                </a:lnTo>
                <a:lnTo>
                  <a:pt x="2551424" y="119844"/>
                </a:lnTo>
                <a:lnTo>
                  <a:pt x="2485725" y="113867"/>
                </a:lnTo>
                <a:lnTo>
                  <a:pt x="2415159" y="111455"/>
                </a:lnTo>
                <a:lnTo>
                  <a:pt x="349631" y="97218"/>
                </a:lnTo>
                <a:lnTo>
                  <a:pt x="279059" y="94805"/>
                </a:lnTo>
                <a:lnTo>
                  <a:pt x="213348" y="88827"/>
                </a:lnTo>
                <a:lnTo>
                  <a:pt x="153905" y="79675"/>
                </a:lnTo>
                <a:lnTo>
                  <a:pt x="102139" y="67740"/>
                </a:lnTo>
                <a:lnTo>
                  <a:pt x="59458" y="53414"/>
                </a:lnTo>
                <a:lnTo>
                  <a:pt x="6980" y="19152"/>
                </a:lnTo>
                <a:lnTo>
                  <a:pt x="0" y="0"/>
                </a:lnTo>
              </a:path>
            </a:pathLst>
          </a:custGeom>
          <a:ln w="9525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502911" y="6275323"/>
            <a:ext cx="111252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dirty="0">
                <a:latin typeface="Times New Roman"/>
                <a:cs typeface="Times New Roman"/>
              </a:rPr>
              <a:t>two</a:t>
            </a:r>
            <a:r>
              <a:rPr sz="1600" b="1" spc="-9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columns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15616" y="417017"/>
            <a:ext cx="4187190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Columns</a:t>
            </a:r>
            <a:r>
              <a:rPr spc="20" dirty="0"/>
              <a:t> </a:t>
            </a:r>
            <a:r>
              <a:rPr dirty="0"/>
              <a:t>within</a:t>
            </a:r>
            <a:r>
              <a:rPr spc="-60" dirty="0"/>
              <a:t> </a:t>
            </a:r>
            <a:r>
              <a:rPr spc="-5" dirty="0"/>
              <a:t>a</a:t>
            </a:r>
            <a:r>
              <a:rPr spc="-15" dirty="0"/>
              <a:t> </a:t>
            </a:r>
            <a:r>
              <a:rPr spc="-5" dirty="0"/>
              <a:t>Table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0"/>
              </a:lnSpc>
            </a:pPr>
            <a:fld id="{81D60167-4931-47E6-BA6A-407CBD079E47}" type="slidenum">
              <a:rPr spc="-5" dirty="0"/>
              <a:t>4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536244" y="1537095"/>
            <a:ext cx="8141334" cy="364871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775"/>
              </a:spcBef>
              <a:buChar char="•"/>
              <a:tabLst>
                <a:tab pos="356870" algn="l"/>
                <a:tab pos="357505" algn="l"/>
              </a:tabLst>
            </a:pPr>
            <a:r>
              <a:rPr sz="2800" spc="-5" dirty="0">
                <a:latin typeface="Times New Roman"/>
                <a:cs typeface="Times New Roman"/>
              </a:rPr>
              <a:t>HTML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does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not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provide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 tag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for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table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columns.</a:t>
            </a:r>
            <a:endParaRPr sz="2800">
              <a:latin typeface="Times New Roman"/>
              <a:cs typeface="Times New Roman"/>
            </a:endParaRPr>
          </a:p>
          <a:p>
            <a:pPr marL="356870" marR="62230" indent="-344805">
              <a:lnSpc>
                <a:spcPct val="100000"/>
              </a:lnSpc>
              <a:spcBef>
                <a:spcPts val="675"/>
              </a:spcBef>
              <a:buChar char="•"/>
              <a:tabLst>
                <a:tab pos="356870" algn="l"/>
                <a:tab pos="357505" algn="l"/>
              </a:tabLst>
            </a:pPr>
            <a:r>
              <a:rPr sz="2800" dirty="0">
                <a:latin typeface="Times New Roman"/>
                <a:cs typeface="Times New Roman"/>
              </a:rPr>
              <a:t>In </a:t>
            </a:r>
            <a:r>
              <a:rPr sz="2800" spc="5" dirty="0">
                <a:latin typeface="Times New Roman"/>
                <a:cs typeface="Times New Roman"/>
              </a:rPr>
              <a:t>the </a:t>
            </a:r>
            <a:r>
              <a:rPr sz="2800" dirty="0">
                <a:latin typeface="Times New Roman"/>
                <a:cs typeface="Times New Roman"/>
              </a:rPr>
              <a:t>original </a:t>
            </a:r>
            <a:r>
              <a:rPr sz="2800" spc="-5" dirty="0">
                <a:latin typeface="Times New Roman"/>
                <a:cs typeface="Times New Roman"/>
              </a:rPr>
              <a:t>HTML </a:t>
            </a:r>
            <a:r>
              <a:rPr sz="2800" dirty="0">
                <a:latin typeface="Times New Roman"/>
                <a:cs typeface="Times New Roman"/>
              </a:rPr>
              <a:t>specifications, </a:t>
            </a:r>
            <a:r>
              <a:rPr sz="2800" spc="5" dirty="0">
                <a:latin typeface="Times New Roman"/>
                <a:cs typeface="Times New Roman"/>
              </a:rPr>
              <a:t>the </a:t>
            </a:r>
            <a:r>
              <a:rPr sz="2800" spc="-5" dirty="0">
                <a:latin typeface="Times New Roman"/>
                <a:cs typeface="Times New Roman"/>
              </a:rPr>
              <a:t>number </a:t>
            </a:r>
            <a:r>
              <a:rPr sz="2800" dirty="0">
                <a:latin typeface="Times New Roman"/>
                <a:cs typeface="Times New Roman"/>
              </a:rPr>
              <a:t>of 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columns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is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determined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by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how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many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cells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are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inserted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within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each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row.</a:t>
            </a:r>
            <a:endParaRPr sz="2800">
              <a:latin typeface="Times New Roman"/>
              <a:cs typeface="Times New Roman"/>
            </a:endParaRPr>
          </a:p>
          <a:p>
            <a:pPr marL="756285" marR="194310" indent="-287020">
              <a:lnSpc>
                <a:spcPct val="105800"/>
              </a:lnSpc>
              <a:spcBef>
                <a:spcPts val="260"/>
              </a:spcBef>
              <a:tabLst>
                <a:tab pos="756285" algn="l"/>
              </a:tabLst>
            </a:pPr>
            <a:r>
              <a:rPr sz="2400" dirty="0">
                <a:latin typeface="Times New Roman"/>
                <a:cs typeface="Times New Roman"/>
              </a:rPr>
              <a:t>–	for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</a:t>
            </a:r>
            <a:r>
              <a:rPr sz="2400" spc="20" dirty="0">
                <a:latin typeface="Times New Roman"/>
                <a:cs typeface="Times New Roman"/>
              </a:rPr>
              <a:t>x</a:t>
            </a:r>
            <a:r>
              <a:rPr sz="2400" spc="-10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m</a:t>
            </a:r>
            <a:r>
              <a:rPr sz="2400" spc="5" dirty="0">
                <a:latin typeface="Times New Roman"/>
                <a:cs typeface="Times New Roman"/>
              </a:rPr>
              <a:t>p</a:t>
            </a:r>
            <a:r>
              <a:rPr sz="2400" dirty="0">
                <a:latin typeface="Times New Roman"/>
                <a:cs typeface="Times New Roman"/>
              </a:rPr>
              <a:t>le,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if </a:t>
            </a:r>
            <a:r>
              <a:rPr sz="2400" spc="-65" dirty="0">
                <a:latin typeface="Times New Roman"/>
                <a:cs typeface="Times New Roman"/>
              </a:rPr>
              <a:t>y</a:t>
            </a:r>
            <a:r>
              <a:rPr sz="2400" dirty="0">
                <a:latin typeface="Times New Roman"/>
                <a:cs typeface="Times New Roman"/>
              </a:rPr>
              <a:t>ou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have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four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&lt;td</a:t>
            </a:r>
            <a:r>
              <a:rPr sz="2400" b="1" dirty="0">
                <a:latin typeface="Courier New"/>
                <a:cs typeface="Courier New"/>
              </a:rPr>
              <a:t>&gt;</a:t>
            </a:r>
            <a:r>
              <a:rPr sz="2400" b="1" spc="-865" dirty="0">
                <a:latin typeface="Courier New"/>
                <a:cs typeface="Courier New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</a:t>
            </a:r>
            <a:r>
              <a:rPr sz="2400" spc="-30" dirty="0">
                <a:latin typeface="Times New Roman"/>
                <a:cs typeface="Times New Roman"/>
              </a:rPr>
              <a:t>g</a:t>
            </a:r>
            <a:r>
              <a:rPr sz="2400" spc="-5" dirty="0">
                <a:latin typeface="Times New Roman"/>
                <a:cs typeface="Times New Roman"/>
              </a:rPr>
              <a:t>s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 e</a:t>
            </a:r>
            <a:r>
              <a:rPr sz="2400" spc="-15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c</a:t>
            </a:r>
            <a:r>
              <a:rPr sz="2400" dirty="0">
                <a:latin typeface="Times New Roman"/>
                <a:cs typeface="Times New Roman"/>
              </a:rPr>
              <a:t>h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table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ro</a:t>
            </a:r>
            <a:r>
              <a:rPr sz="2400" spc="-20" dirty="0">
                <a:latin typeface="Times New Roman"/>
                <a:cs typeface="Times New Roman"/>
              </a:rPr>
              <a:t>w</a:t>
            </a:r>
            <a:r>
              <a:rPr sz="2400" dirty="0">
                <a:latin typeface="Times New Roman"/>
                <a:cs typeface="Times New Roman"/>
              </a:rPr>
              <a:t>,  </a:t>
            </a:r>
            <a:r>
              <a:rPr sz="2400" spc="-5" dirty="0">
                <a:latin typeface="Times New Roman"/>
                <a:cs typeface="Times New Roman"/>
              </a:rPr>
              <a:t>that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table </a:t>
            </a:r>
            <a:r>
              <a:rPr sz="2400" spc="-5" dirty="0">
                <a:latin typeface="Times New Roman"/>
                <a:cs typeface="Times New Roman"/>
              </a:rPr>
              <a:t>has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four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columns</a:t>
            </a:r>
            <a:endParaRPr sz="2400">
              <a:latin typeface="Times New Roman"/>
              <a:cs typeface="Times New Roman"/>
            </a:endParaRPr>
          </a:p>
          <a:p>
            <a:pPr marL="356870" marR="5080" indent="-344805">
              <a:lnSpc>
                <a:spcPct val="100000"/>
              </a:lnSpc>
              <a:spcBef>
                <a:spcPts val="660"/>
              </a:spcBef>
              <a:buChar char="•"/>
              <a:tabLst>
                <a:tab pos="356870" algn="l"/>
                <a:tab pos="357505" algn="l"/>
              </a:tabLst>
            </a:pPr>
            <a:r>
              <a:rPr sz="2800" dirty="0">
                <a:latin typeface="Times New Roman"/>
                <a:cs typeface="Times New Roman"/>
              </a:rPr>
              <a:t>Later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versions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of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HTML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provide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increased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support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controlling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appearance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table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columns.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71192" y="417017"/>
            <a:ext cx="4876800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HTML</a:t>
            </a:r>
            <a:r>
              <a:rPr spc="-5" dirty="0"/>
              <a:t> Structure</a:t>
            </a:r>
            <a:r>
              <a:rPr spc="1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spc="-5" dirty="0"/>
              <a:t>a</a:t>
            </a:r>
            <a:r>
              <a:rPr spc="-15" dirty="0"/>
              <a:t> </a:t>
            </a:r>
            <a:r>
              <a:rPr spc="-5" dirty="0"/>
              <a:t>Table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69781" y="2044107"/>
            <a:ext cx="1727693" cy="4082923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2897123" y="2202179"/>
            <a:ext cx="363220" cy="1143000"/>
          </a:xfrm>
          <a:custGeom>
            <a:avLst/>
            <a:gdLst/>
            <a:ahLst/>
            <a:cxnLst/>
            <a:rect l="l" t="t" r="r" b="b"/>
            <a:pathLst>
              <a:path w="363220" h="1143000">
                <a:moveTo>
                  <a:pt x="362712" y="1143000"/>
                </a:moveTo>
                <a:lnTo>
                  <a:pt x="305373" y="1138155"/>
                </a:lnTo>
                <a:lnTo>
                  <a:pt x="255586" y="1124667"/>
                </a:lnTo>
                <a:lnTo>
                  <a:pt x="216334" y="1104101"/>
                </a:lnTo>
                <a:lnTo>
                  <a:pt x="181356" y="1048004"/>
                </a:lnTo>
                <a:lnTo>
                  <a:pt x="181356" y="666496"/>
                </a:lnTo>
                <a:lnTo>
                  <a:pt x="172114" y="636475"/>
                </a:lnTo>
                <a:lnTo>
                  <a:pt x="146377" y="610398"/>
                </a:lnTo>
                <a:lnTo>
                  <a:pt x="107125" y="589832"/>
                </a:lnTo>
                <a:lnTo>
                  <a:pt x="57338" y="576344"/>
                </a:lnTo>
                <a:lnTo>
                  <a:pt x="0" y="571500"/>
                </a:lnTo>
                <a:lnTo>
                  <a:pt x="57338" y="566655"/>
                </a:lnTo>
                <a:lnTo>
                  <a:pt x="107125" y="553167"/>
                </a:lnTo>
                <a:lnTo>
                  <a:pt x="146377" y="532601"/>
                </a:lnTo>
                <a:lnTo>
                  <a:pt x="172114" y="506524"/>
                </a:lnTo>
                <a:lnTo>
                  <a:pt x="181356" y="476504"/>
                </a:lnTo>
                <a:lnTo>
                  <a:pt x="181356" y="94996"/>
                </a:lnTo>
                <a:lnTo>
                  <a:pt x="190597" y="64975"/>
                </a:lnTo>
                <a:lnTo>
                  <a:pt x="216334" y="38898"/>
                </a:lnTo>
                <a:lnTo>
                  <a:pt x="255586" y="18332"/>
                </a:lnTo>
                <a:lnTo>
                  <a:pt x="305373" y="4844"/>
                </a:lnTo>
                <a:lnTo>
                  <a:pt x="362712" y="0"/>
                </a:lnTo>
              </a:path>
            </a:pathLst>
          </a:custGeom>
          <a:ln w="9144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86004" y="1860295"/>
            <a:ext cx="3122930" cy="4514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109595" algn="l"/>
              </a:tabLst>
            </a:pPr>
            <a:r>
              <a:rPr sz="1400" b="1" spc="-20" dirty="0">
                <a:latin typeface="Times New Roman"/>
                <a:cs typeface="Times New Roman"/>
              </a:rPr>
              <a:t>beginning</a:t>
            </a:r>
            <a:r>
              <a:rPr sz="1400" b="1" spc="80" dirty="0">
                <a:latin typeface="Times New Roman"/>
                <a:cs typeface="Times New Roman"/>
              </a:rPr>
              <a:t> </a:t>
            </a:r>
            <a:r>
              <a:rPr sz="1400" b="1" spc="-20" dirty="0">
                <a:latin typeface="Times New Roman"/>
                <a:cs typeface="Times New Roman"/>
              </a:rPr>
              <a:t>of</a:t>
            </a:r>
            <a:r>
              <a:rPr sz="1400" b="1" spc="5" dirty="0">
                <a:latin typeface="Times New Roman"/>
                <a:cs typeface="Times New Roman"/>
              </a:rPr>
              <a:t> </a:t>
            </a:r>
            <a:r>
              <a:rPr sz="1400" b="1" spc="-20" dirty="0">
                <a:latin typeface="Times New Roman"/>
                <a:cs typeface="Times New Roman"/>
              </a:rPr>
              <a:t>the </a:t>
            </a:r>
            <a:r>
              <a:rPr sz="1400" b="1" spc="-114" dirty="0">
                <a:latin typeface="Times New Roman"/>
                <a:cs typeface="Times New Roman"/>
              </a:rPr>
              <a:t> </a:t>
            </a:r>
            <a:r>
              <a:rPr sz="1400" b="1" u="heavy" spc="-5" dirty="0">
                <a:uFill>
                  <a:solidFill>
                    <a:srgbClr val="CC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400" b="1" u="heavy" dirty="0">
                <a:uFill>
                  <a:solidFill>
                    <a:srgbClr val="CC0000"/>
                  </a:solidFill>
                </a:uFill>
                <a:latin typeface="Times New Roman"/>
                <a:cs typeface="Times New Roman"/>
              </a:rPr>
              <a:t>	</a:t>
            </a:r>
            <a:endParaRPr sz="1400">
              <a:latin typeface="Times New Roman"/>
              <a:cs typeface="Times New Roman"/>
            </a:endParaRPr>
          </a:p>
          <a:p>
            <a:pPr marL="119380">
              <a:lnSpc>
                <a:spcPct val="100000"/>
              </a:lnSpc>
            </a:pPr>
            <a:r>
              <a:rPr sz="1400" b="1" spc="-10" dirty="0">
                <a:latin typeface="Times New Roman"/>
                <a:cs typeface="Times New Roman"/>
              </a:rPr>
              <a:t>table</a:t>
            </a:r>
            <a:r>
              <a:rPr sz="1400" b="1" spc="15" dirty="0">
                <a:latin typeface="Times New Roman"/>
                <a:cs typeface="Times New Roman"/>
              </a:rPr>
              <a:t> </a:t>
            </a:r>
            <a:r>
              <a:rPr sz="1400" b="1" spc="-15" dirty="0">
                <a:latin typeface="Times New Roman"/>
                <a:cs typeface="Times New Roman"/>
              </a:rPr>
              <a:t>structure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891283" y="2764282"/>
            <a:ext cx="1003935" cy="671830"/>
          </a:xfrm>
          <a:custGeom>
            <a:avLst/>
            <a:gdLst/>
            <a:ahLst/>
            <a:cxnLst/>
            <a:rect l="l" t="t" r="r" b="b"/>
            <a:pathLst>
              <a:path w="1003935" h="671829">
                <a:moveTo>
                  <a:pt x="0" y="671321"/>
                </a:moveTo>
                <a:lnTo>
                  <a:pt x="498602" y="671321"/>
                </a:lnTo>
                <a:lnTo>
                  <a:pt x="1003554" y="0"/>
                </a:lnTo>
              </a:path>
            </a:pathLst>
          </a:custGeom>
          <a:ln w="9144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08151" y="3208781"/>
            <a:ext cx="1122680" cy="4514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latin typeface="Times New Roman"/>
                <a:cs typeface="Times New Roman"/>
              </a:rPr>
              <a:t>first</a:t>
            </a:r>
            <a:r>
              <a:rPr sz="1400" b="1" spc="-50" dirty="0">
                <a:latin typeface="Times New Roman"/>
                <a:cs typeface="Times New Roman"/>
              </a:rPr>
              <a:t> </a:t>
            </a:r>
            <a:r>
              <a:rPr sz="1400" b="1" spc="-20" dirty="0">
                <a:latin typeface="Times New Roman"/>
                <a:cs typeface="Times New Roman"/>
              </a:rPr>
              <a:t>row</a:t>
            </a:r>
            <a:r>
              <a:rPr sz="1400" b="1" spc="10" dirty="0">
                <a:latin typeface="Times New Roman"/>
                <a:cs typeface="Times New Roman"/>
              </a:rPr>
              <a:t> </a:t>
            </a:r>
            <a:r>
              <a:rPr sz="1400" b="1" spc="-20" dirty="0">
                <a:latin typeface="Times New Roman"/>
                <a:cs typeface="Times New Roman"/>
              </a:rPr>
              <a:t>of</a:t>
            </a:r>
            <a:r>
              <a:rPr sz="1400" b="1" dirty="0">
                <a:latin typeface="Times New Roman"/>
                <a:cs typeface="Times New Roman"/>
              </a:rPr>
              <a:t> </a:t>
            </a:r>
            <a:r>
              <a:rPr sz="1400" b="1" spc="-5" dirty="0">
                <a:latin typeface="Times New Roman"/>
                <a:cs typeface="Times New Roman"/>
              </a:rPr>
              <a:t>six</a:t>
            </a:r>
            <a:endParaRPr sz="1400">
              <a:latin typeface="Times New Roman"/>
              <a:cs typeface="Times New Roman"/>
            </a:endParaRPr>
          </a:p>
          <a:p>
            <a:pPr marR="7620" algn="r">
              <a:lnSpc>
                <a:spcPct val="100000"/>
              </a:lnSpc>
            </a:pPr>
            <a:r>
              <a:rPr sz="1400" b="1" spc="-5" dirty="0">
                <a:latin typeface="Times New Roman"/>
                <a:cs typeface="Times New Roman"/>
              </a:rPr>
              <a:t>in</a:t>
            </a:r>
            <a:r>
              <a:rPr sz="1400" b="1" spc="-40" dirty="0">
                <a:latin typeface="Times New Roman"/>
                <a:cs typeface="Times New Roman"/>
              </a:rPr>
              <a:t> </a:t>
            </a:r>
            <a:r>
              <a:rPr sz="1400" b="1" spc="-20" dirty="0">
                <a:latin typeface="Times New Roman"/>
                <a:cs typeface="Times New Roman"/>
              </a:rPr>
              <a:t>the</a:t>
            </a:r>
            <a:r>
              <a:rPr sz="1400" b="1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table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71524" y="5823305"/>
            <a:ext cx="25044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490470" algn="l"/>
              </a:tabLst>
            </a:pPr>
            <a:r>
              <a:rPr sz="1400" b="1" spc="-15" dirty="0">
                <a:latin typeface="Times New Roman"/>
                <a:cs typeface="Times New Roman"/>
              </a:rPr>
              <a:t>end</a:t>
            </a:r>
            <a:r>
              <a:rPr sz="1400" b="1" spc="5" dirty="0">
                <a:latin typeface="Times New Roman"/>
                <a:cs typeface="Times New Roman"/>
              </a:rPr>
              <a:t> </a:t>
            </a:r>
            <a:r>
              <a:rPr sz="1400" b="1" spc="-20" dirty="0">
                <a:latin typeface="Times New Roman"/>
                <a:cs typeface="Times New Roman"/>
              </a:rPr>
              <a:t>of</a:t>
            </a:r>
            <a:r>
              <a:rPr sz="1400" b="1" spc="5" dirty="0">
                <a:latin typeface="Times New Roman"/>
                <a:cs typeface="Times New Roman"/>
              </a:rPr>
              <a:t> </a:t>
            </a:r>
            <a:r>
              <a:rPr sz="1400" b="1" spc="-20" dirty="0">
                <a:latin typeface="Times New Roman"/>
                <a:cs typeface="Times New Roman"/>
              </a:rPr>
              <a:t>the</a:t>
            </a:r>
            <a:r>
              <a:rPr sz="1400" b="1" spc="2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table </a:t>
            </a:r>
            <a:r>
              <a:rPr sz="1400" b="1" spc="-120" dirty="0">
                <a:latin typeface="Times New Roman"/>
                <a:cs typeface="Times New Roman"/>
              </a:rPr>
              <a:t> </a:t>
            </a:r>
            <a:r>
              <a:rPr sz="1400" b="1" u="heavy" spc="-5" dirty="0">
                <a:uFill>
                  <a:solidFill>
                    <a:srgbClr val="CC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400" b="1" u="heavy" dirty="0">
                <a:uFill>
                  <a:solidFill>
                    <a:srgbClr val="CC0000"/>
                  </a:solidFill>
                </a:uFill>
                <a:latin typeface="Times New Roman"/>
                <a:cs typeface="Times New Roman"/>
              </a:rPr>
              <a:t>	</a:t>
            </a:r>
            <a:endParaRPr sz="1400">
              <a:latin typeface="Times New Roman"/>
              <a:cs typeface="Times New Roman"/>
            </a:endParaRPr>
          </a:p>
          <a:p>
            <a:pPr marL="488315">
              <a:lnSpc>
                <a:spcPct val="100000"/>
              </a:lnSpc>
            </a:pPr>
            <a:r>
              <a:rPr sz="1400" b="1" spc="-20" dirty="0">
                <a:latin typeface="Times New Roman"/>
                <a:cs typeface="Times New Roman"/>
              </a:rPr>
              <a:t>structure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178552" y="2388616"/>
            <a:ext cx="1304925" cy="808990"/>
            <a:chOff x="5178552" y="2388616"/>
            <a:chExt cx="1304925" cy="808990"/>
          </a:xfrm>
        </p:grpSpPr>
        <p:sp>
          <p:nvSpPr>
            <p:cNvPr id="10" name="object 10"/>
            <p:cNvSpPr/>
            <p:nvPr/>
          </p:nvSpPr>
          <p:spPr>
            <a:xfrm>
              <a:off x="5495544" y="2393188"/>
              <a:ext cx="982980" cy="408305"/>
            </a:xfrm>
            <a:custGeom>
              <a:avLst/>
              <a:gdLst/>
              <a:ahLst/>
              <a:cxnLst/>
              <a:rect l="l" t="t" r="r" b="b"/>
              <a:pathLst>
                <a:path w="982979" h="408305">
                  <a:moveTo>
                    <a:pt x="982979" y="0"/>
                  </a:moveTo>
                  <a:lnTo>
                    <a:pt x="512952" y="0"/>
                  </a:lnTo>
                  <a:lnTo>
                    <a:pt x="0" y="408177"/>
                  </a:lnTo>
                </a:path>
              </a:pathLst>
            </a:custGeom>
            <a:ln w="9144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183124" y="2430780"/>
              <a:ext cx="304800" cy="762000"/>
            </a:xfrm>
            <a:custGeom>
              <a:avLst/>
              <a:gdLst/>
              <a:ahLst/>
              <a:cxnLst/>
              <a:rect l="l" t="t" r="r" b="b"/>
              <a:pathLst>
                <a:path w="304800" h="762000">
                  <a:moveTo>
                    <a:pt x="0" y="762000"/>
                  </a:moveTo>
                  <a:lnTo>
                    <a:pt x="59334" y="757007"/>
                  </a:lnTo>
                  <a:lnTo>
                    <a:pt x="107775" y="743394"/>
                  </a:lnTo>
                  <a:lnTo>
                    <a:pt x="140428" y="723209"/>
                  </a:lnTo>
                  <a:lnTo>
                    <a:pt x="152400" y="698500"/>
                  </a:lnTo>
                  <a:lnTo>
                    <a:pt x="152400" y="444500"/>
                  </a:lnTo>
                  <a:lnTo>
                    <a:pt x="164371" y="419790"/>
                  </a:lnTo>
                  <a:lnTo>
                    <a:pt x="197024" y="399605"/>
                  </a:lnTo>
                  <a:lnTo>
                    <a:pt x="245465" y="385992"/>
                  </a:lnTo>
                  <a:lnTo>
                    <a:pt x="304800" y="381000"/>
                  </a:lnTo>
                  <a:lnTo>
                    <a:pt x="245465" y="376007"/>
                  </a:lnTo>
                  <a:lnTo>
                    <a:pt x="197024" y="362394"/>
                  </a:lnTo>
                  <a:lnTo>
                    <a:pt x="164371" y="342209"/>
                  </a:lnTo>
                  <a:lnTo>
                    <a:pt x="152400" y="317500"/>
                  </a:lnTo>
                  <a:lnTo>
                    <a:pt x="152400" y="63500"/>
                  </a:lnTo>
                  <a:lnTo>
                    <a:pt x="140428" y="38790"/>
                  </a:lnTo>
                  <a:lnTo>
                    <a:pt x="107775" y="18605"/>
                  </a:lnTo>
                  <a:lnTo>
                    <a:pt x="59334" y="4992"/>
                  </a:lnTo>
                  <a:lnTo>
                    <a:pt x="0" y="0"/>
                  </a:lnTo>
                </a:path>
              </a:pathLst>
            </a:custGeom>
            <a:ln w="9144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542658" y="2272030"/>
            <a:ext cx="77343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10" dirty="0">
                <a:latin typeface="Times New Roman"/>
                <a:cs typeface="Times New Roman"/>
              </a:rPr>
              <a:t>table</a:t>
            </a:r>
            <a:r>
              <a:rPr sz="1400" b="1" spc="-5" dirty="0">
                <a:latin typeface="Times New Roman"/>
                <a:cs typeface="Times New Roman"/>
              </a:rPr>
              <a:t> cells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0"/>
              </a:lnSpc>
            </a:pPr>
            <a:fld id="{81D60167-4931-47E6-BA6A-407CBD079E47}" type="slidenum">
              <a:rPr spc="-5" dirty="0"/>
              <a:t>5</a:t>
            </a:fld>
            <a:endParaRPr spc="-5" dirty="0"/>
          </a:p>
        </p:txBody>
      </p:sp>
      <p:sp>
        <p:nvSpPr>
          <p:cNvPr id="13" name="object 13"/>
          <p:cNvSpPr txBox="1"/>
          <p:nvPr/>
        </p:nvSpPr>
        <p:spPr>
          <a:xfrm>
            <a:off x="6400800" y="2743200"/>
            <a:ext cx="2438400" cy="312420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38100" rIns="0" bIns="0" rtlCol="0">
            <a:spAutoFit/>
          </a:bodyPr>
          <a:lstStyle/>
          <a:p>
            <a:pPr marL="93345" marR="149860">
              <a:lnSpc>
                <a:spcPct val="90000"/>
              </a:lnSpc>
              <a:spcBef>
                <a:spcPts val="300"/>
              </a:spcBef>
            </a:pPr>
            <a:r>
              <a:rPr sz="1800" b="1" spc="-70" dirty="0">
                <a:latin typeface="Times New Roman"/>
                <a:cs typeface="Times New Roman"/>
              </a:rPr>
              <a:t>You</a:t>
            </a:r>
            <a:r>
              <a:rPr sz="1800" b="1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do</a:t>
            </a:r>
            <a:r>
              <a:rPr sz="1800" b="1" spc="1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not</a:t>
            </a:r>
            <a:r>
              <a:rPr sz="1800" b="1" spc="1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need</a:t>
            </a:r>
            <a:r>
              <a:rPr sz="1800" b="1" spc="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to </a:t>
            </a:r>
            <a:r>
              <a:rPr sz="1800" b="1" spc="5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i</a:t>
            </a:r>
            <a:r>
              <a:rPr sz="1800" b="1" spc="-20" dirty="0">
                <a:latin typeface="Times New Roman"/>
                <a:cs typeface="Times New Roman"/>
              </a:rPr>
              <a:t>nd</a:t>
            </a:r>
            <a:r>
              <a:rPr sz="1800" b="1" spc="-5" dirty="0">
                <a:latin typeface="Times New Roman"/>
                <a:cs typeface="Times New Roman"/>
              </a:rPr>
              <a:t>e</a:t>
            </a:r>
            <a:r>
              <a:rPr sz="1800" b="1" spc="-25" dirty="0">
                <a:latin typeface="Times New Roman"/>
                <a:cs typeface="Times New Roman"/>
              </a:rPr>
              <a:t>n</a:t>
            </a:r>
            <a:r>
              <a:rPr sz="1800" b="1" dirty="0">
                <a:latin typeface="Times New Roman"/>
                <a:cs typeface="Times New Roman"/>
              </a:rPr>
              <a:t>t</a:t>
            </a:r>
            <a:r>
              <a:rPr sz="1800" b="1" spc="5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t</a:t>
            </a:r>
            <a:r>
              <a:rPr sz="1800" b="1" spc="-20" dirty="0">
                <a:latin typeface="Times New Roman"/>
                <a:cs typeface="Times New Roman"/>
              </a:rPr>
              <a:t>h</a:t>
            </a:r>
            <a:r>
              <a:rPr sz="1800" b="1" dirty="0">
                <a:latin typeface="Times New Roman"/>
                <a:cs typeface="Times New Roman"/>
              </a:rPr>
              <a:t>e</a:t>
            </a:r>
            <a:r>
              <a:rPr sz="1800" b="1" spc="15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Courier New"/>
                <a:cs typeface="Courier New"/>
              </a:rPr>
              <a:t>&lt;td</a:t>
            </a:r>
            <a:r>
              <a:rPr sz="1800" b="1" dirty="0">
                <a:latin typeface="Courier New"/>
                <a:cs typeface="Courier New"/>
              </a:rPr>
              <a:t>&gt;</a:t>
            </a:r>
            <a:r>
              <a:rPr sz="1800" b="1" spc="-65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</a:t>
            </a:r>
            <a:r>
              <a:rPr sz="1800" b="1" spc="-15" dirty="0">
                <a:latin typeface="Times New Roman"/>
                <a:cs typeface="Times New Roman"/>
              </a:rPr>
              <a:t>a</a:t>
            </a:r>
            <a:r>
              <a:rPr sz="1800" b="1" spc="10" dirty="0">
                <a:latin typeface="Times New Roman"/>
                <a:cs typeface="Times New Roman"/>
              </a:rPr>
              <a:t>g</a:t>
            </a:r>
            <a:r>
              <a:rPr sz="1800" b="1" spc="-5" dirty="0">
                <a:latin typeface="Times New Roman"/>
                <a:cs typeface="Times New Roman"/>
              </a:rPr>
              <a:t>s  </a:t>
            </a:r>
            <a:r>
              <a:rPr sz="1800" b="1" spc="-10" dirty="0">
                <a:latin typeface="Times New Roman"/>
                <a:cs typeface="Times New Roman"/>
              </a:rPr>
              <a:t>or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place</a:t>
            </a:r>
            <a:r>
              <a:rPr sz="1800" b="1" spc="4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them</a:t>
            </a:r>
            <a:r>
              <a:rPr sz="1800" b="1" spc="1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on 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separate</a:t>
            </a:r>
            <a:r>
              <a:rPr sz="1800" b="1" spc="55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lines, </a:t>
            </a:r>
            <a:r>
              <a:rPr sz="1800" b="1" spc="-15" dirty="0">
                <a:latin typeface="Times New Roman"/>
                <a:cs typeface="Times New Roman"/>
              </a:rPr>
              <a:t>but</a:t>
            </a:r>
            <a:r>
              <a:rPr sz="1800" b="1" spc="15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you </a:t>
            </a:r>
            <a:r>
              <a:rPr sz="1800" b="1" spc="-434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latin typeface="Times New Roman"/>
                <a:cs typeface="Times New Roman"/>
              </a:rPr>
              <a:t>may</a:t>
            </a:r>
            <a:r>
              <a:rPr sz="1800" b="1" spc="45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find</a:t>
            </a:r>
            <a:r>
              <a:rPr sz="1800" b="1" spc="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it</a:t>
            </a:r>
            <a:r>
              <a:rPr sz="1800" b="1" spc="-5" dirty="0">
                <a:latin typeface="Times New Roman"/>
                <a:cs typeface="Times New Roman"/>
              </a:rPr>
              <a:t> easier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to </a:t>
            </a:r>
            <a:r>
              <a:rPr sz="1800" b="1" spc="5" dirty="0">
                <a:latin typeface="Times New Roman"/>
                <a:cs typeface="Times New Roman"/>
              </a:rPr>
              <a:t> </a:t>
            </a:r>
            <a:r>
              <a:rPr sz="1800" b="1" spc="-15" dirty="0">
                <a:latin typeface="Times New Roman"/>
                <a:cs typeface="Times New Roman"/>
              </a:rPr>
              <a:t>interpret</a:t>
            </a:r>
            <a:r>
              <a:rPr sz="1800" b="1" spc="4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your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code</a:t>
            </a:r>
            <a:r>
              <a:rPr sz="1800" b="1" spc="4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if </a:t>
            </a:r>
            <a:r>
              <a:rPr sz="1800" b="1" spc="5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you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do</a:t>
            </a:r>
            <a:r>
              <a:rPr sz="1800" b="1" spc="1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so.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650">
              <a:latin typeface="Times New Roman"/>
              <a:cs typeface="Times New Roman"/>
            </a:endParaRPr>
          </a:p>
          <a:p>
            <a:pPr marL="93345" marR="314325">
              <a:lnSpc>
                <a:spcPct val="90100"/>
              </a:lnSpc>
              <a:spcBef>
                <a:spcPts val="5"/>
              </a:spcBef>
            </a:pPr>
            <a:r>
              <a:rPr sz="1800" b="1" spc="-5" dirty="0">
                <a:latin typeface="Times New Roman"/>
                <a:cs typeface="Times New Roman"/>
              </a:rPr>
              <a:t>After the </a:t>
            </a:r>
            <a:r>
              <a:rPr sz="1800" b="1" spc="-10" dirty="0">
                <a:latin typeface="Times New Roman"/>
                <a:cs typeface="Times New Roman"/>
              </a:rPr>
              <a:t>table 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structure</a:t>
            </a:r>
            <a:r>
              <a:rPr sz="1800" b="1" spc="3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is in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place, </a:t>
            </a:r>
            <a:r>
              <a:rPr sz="1800" b="1" spc="-434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you’re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b="1" spc="-15" dirty="0">
                <a:latin typeface="Times New Roman"/>
                <a:cs typeface="Times New Roman"/>
              </a:rPr>
              <a:t>ready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to</a:t>
            </a:r>
            <a:r>
              <a:rPr sz="1800" b="1" spc="5" dirty="0">
                <a:latin typeface="Times New Roman"/>
                <a:cs typeface="Times New Roman"/>
              </a:rPr>
              <a:t> </a:t>
            </a:r>
            <a:r>
              <a:rPr sz="1800" b="1" spc="-15" dirty="0">
                <a:latin typeface="Times New Roman"/>
                <a:cs typeface="Times New Roman"/>
              </a:rPr>
              <a:t>add </a:t>
            </a:r>
            <a:r>
              <a:rPr sz="1800" b="1" spc="-10" dirty="0">
                <a:latin typeface="Times New Roman"/>
                <a:cs typeface="Times New Roman"/>
              </a:rPr>
              <a:t> the</a:t>
            </a:r>
            <a:r>
              <a:rPr sz="1800" b="1" spc="5" dirty="0">
                <a:latin typeface="Times New Roman"/>
                <a:cs typeface="Times New Roman"/>
              </a:rPr>
              <a:t> text</a:t>
            </a:r>
            <a:r>
              <a:rPr sz="1800" b="1" spc="-55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for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each cell.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0922" y="389585"/>
            <a:ext cx="6661784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Creating</a:t>
            </a:r>
            <a:r>
              <a:rPr spc="20" dirty="0"/>
              <a:t> </a:t>
            </a:r>
            <a:r>
              <a:rPr spc="-20" dirty="0"/>
              <a:t>H</a:t>
            </a:r>
            <a:r>
              <a:rPr spc="-5" dirty="0"/>
              <a:t>eadin</a:t>
            </a:r>
            <a:r>
              <a:rPr spc="10" dirty="0"/>
              <a:t>g</a:t>
            </a:r>
            <a:r>
              <a:rPr spc="-5" dirty="0"/>
              <a:t>s</a:t>
            </a:r>
            <a:r>
              <a:rPr spc="15" dirty="0"/>
              <a:t> </a:t>
            </a:r>
            <a:r>
              <a:rPr spc="35" dirty="0"/>
              <a:t>w</a:t>
            </a:r>
            <a:r>
              <a:rPr spc="-5" dirty="0"/>
              <a:t>ith</a:t>
            </a:r>
            <a:r>
              <a:rPr spc="-40" dirty="0"/>
              <a:t> </a:t>
            </a:r>
            <a:r>
              <a:rPr spc="-5" dirty="0"/>
              <a:t>the</a:t>
            </a:r>
            <a:r>
              <a:rPr spc="5" dirty="0"/>
              <a:t> </a:t>
            </a:r>
            <a:r>
              <a:rPr spc="-5" dirty="0">
                <a:latin typeface="Courier New"/>
                <a:cs typeface="Courier New"/>
              </a:rPr>
              <a:t>&lt;th&gt;</a:t>
            </a:r>
            <a:r>
              <a:rPr spc="-1080" dirty="0">
                <a:latin typeface="Courier New"/>
                <a:cs typeface="Courier New"/>
              </a:rPr>
              <a:t> </a:t>
            </a:r>
            <a:r>
              <a:rPr spc="-5" dirty="0"/>
              <a:t>T</a:t>
            </a:r>
            <a:r>
              <a:rPr spc="10" dirty="0"/>
              <a:t>a</a:t>
            </a:r>
            <a:r>
              <a:rPr spc="-5" dirty="0"/>
              <a:t>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0"/>
              </a:lnSpc>
            </a:pPr>
            <a:fld id="{81D60167-4931-47E6-BA6A-407CBD079E47}" type="slidenum">
              <a:rPr spc="-5" dirty="0"/>
              <a:t>6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536244" y="1512711"/>
            <a:ext cx="8143875" cy="286829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356870" indent="-344805" algn="just">
              <a:lnSpc>
                <a:spcPct val="100000"/>
              </a:lnSpc>
              <a:spcBef>
                <a:spcPts val="775"/>
              </a:spcBef>
              <a:buChar char="•"/>
              <a:tabLst>
                <a:tab pos="357505" algn="l"/>
              </a:tabLst>
            </a:pPr>
            <a:r>
              <a:rPr sz="2800" spc="-10" dirty="0">
                <a:latin typeface="Times New Roman"/>
                <a:cs typeface="Times New Roman"/>
              </a:rPr>
              <a:t>HT</a:t>
            </a:r>
            <a:r>
              <a:rPr sz="2800" spc="5" dirty="0">
                <a:latin typeface="Times New Roman"/>
                <a:cs typeface="Times New Roman"/>
              </a:rPr>
              <a:t>ML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10" dirty="0">
                <a:latin typeface="Times New Roman"/>
                <a:cs typeface="Times New Roman"/>
              </a:rPr>
              <a:t>p</a:t>
            </a:r>
            <a:r>
              <a:rPr sz="2800" dirty="0">
                <a:latin typeface="Times New Roman"/>
                <a:cs typeface="Times New Roman"/>
              </a:rPr>
              <a:t>r</a:t>
            </a:r>
            <a:r>
              <a:rPr sz="2800" spc="5" dirty="0">
                <a:latin typeface="Times New Roman"/>
                <a:cs typeface="Times New Roman"/>
              </a:rPr>
              <a:t>ovid</a:t>
            </a:r>
            <a:r>
              <a:rPr sz="2800" spc="-25" dirty="0">
                <a:latin typeface="Times New Roman"/>
                <a:cs typeface="Times New Roman"/>
              </a:rPr>
              <a:t>e</a:t>
            </a:r>
            <a:r>
              <a:rPr sz="2800" dirty="0">
                <a:latin typeface="Times New Roman"/>
                <a:cs typeface="Times New Roman"/>
              </a:rPr>
              <a:t>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</a:t>
            </a:r>
            <a:r>
              <a:rPr sz="2800" spc="-5" dirty="0">
                <a:latin typeface="Times New Roman"/>
                <a:cs typeface="Times New Roman"/>
              </a:rPr>
              <a:t>h</a:t>
            </a:r>
            <a:r>
              <a:rPr sz="2800" dirty="0">
                <a:latin typeface="Times New Roman"/>
                <a:cs typeface="Times New Roman"/>
              </a:rPr>
              <a:t>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Courier New"/>
                <a:cs typeface="Courier New"/>
              </a:rPr>
              <a:t>&lt;th</a:t>
            </a:r>
            <a:r>
              <a:rPr sz="2800" b="1" spc="5" dirty="0">
                <a:latin typeface="Courier New"/>
                <a:cs typeface="Courier New"/>
              </a:rPr>
              <a:t>&gt;</a:t>
            </a:r>
            <a:r>
              <a:rPr sz="2800" b="1" spc="-1019" dirty="0">
                <a:latin typeface="Courier New"/>
                <a:cs typeface="Courier New"/>
              </a:rPr>
              <a:t> </a:t>
            </a:r>
            <a:r>
              <a:rPr sz="2800" spc="10" dirty="0">
                <a:latin typeface="Times New Roman"/>
                <a:cs typeface="Times New Roman"/>
              </a:rPr>
              <a:t>t</a:t>
            </a:r>
            <a:r>
              <a:rPr sz="2800" dirty="0">
                <a:latin typeface="Times New Roman"/>
                <a:cs typeface="Times New Roman"/>
              </a:rPr>
              <a:t>ag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</a:t>
            </a:r>
            <a:r>
              <a:rPr sz="2800" spc="15" dirty="0">
                <a:latin typeface="Times New Roman"/>
                <a:cs typeface="Times New Roman"/>
              </a:rPr>
              <a:t>o</a:t>
            </a:r>
            <a:r>
              <a:rPr sz="2800" dirty="0">
                <a:latin typeface="Times New Roman"/>
                <a:cs typeface="Times New Roman"/>
              </a:rPr>
              <a:t>r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10" dirty="0">
                <a:latin typeface="Times New Roman"/>
                <a:cs typeface="Times New Roman"/>
              </a:rPr>
              <a:t>t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10" dirty="0">
                <a:latin typeface="Times New Roman"/>
                <a:cs typeface="Times New Roman"/>
              </a:rPr>
              <a:t>bl</a:t>
            </a:r>
            <a:r>
              <a:rPr sz="2800" dirty="0">
                <a:latin typeface="Times New Roman"/>
                <a:cs typeface="Times New Roman"/>
              </a:rPr>
              <a:t>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15" dirty="0">
                <a:latin typeface="Times New Roman"/>
                <a:cs typeface="Times New Roman"/>
              </a:rPr>
              <a:t>h</a:t>
            </a:r>
            <a:r>
              <a:rPr sz="2800" dirty="0">
                <a:latin typeface="Times New Roman"/>
                <a:cs typeface="Times New Roman"/>
              </a:rPr>
              <a:t>ea</a:t>
            </a:r>
            <a:r>
              <a:rPr sz="2800" spc="20" dirty="0">
                <a:latin typeface="Times New Roman"/>
                <a:cs typeface="Times New Roman"/>
              </a:rPr>
              <a:t>d</a:t>
            </a:r>
            <a:r>
              <a:rPr sz="2800" spc="10" dirty="0">
                <a:latin typeface="Times New Roman"/>
                <a:cs typeface="Times New Roman"/>
              </a:rPr>
              <a:t>i</a:t>
            </a:r>
            <a:r>
              <a:rPr sz="2800" spc="-10" dirty="0">
                <a:latin typeface="Times New Roman"/>
                <a:cs typeface="Times New Roman"/>
              </a:rPr>
              <a:t>ng</a:t>
            </a:r>
            <a:r>
              <a:rPr sz="2800" spc="10" dirty="0">
                <a:latin typeface="Times New Roman"/>
                <a:cs typeface="Times New Roman"/>
              </a:rPr>
              <a:t>s</a:t>
            </a:r>
            <a:r>
              <a:rPr sz="2800" dirty="0"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  <a:p>
            <a:pPr marL="356870" marR="334010" indent="-344805" algn="just">
              <a:lnSpc>
                <a:spcPct val="105700"/>
              </a:lnSpc>
              <a:spcBef>
                <a:spcPts val="484"/>
              </a:spcBef>
              <a:buChar char="•"/>
              <a:tabLst>
                <a:tab pos="357505" algn="l"/>
              </a:tabLst>
            </a:pPr>
            <a:r>
              <a:rPr sz="2800" spc="-15" dirty="0">
                <a:latin typeface="Times New Roman"/>
                <a:cs typeface="Times New Roman"/>
              </a:rPr>
              <a:t>T</a:t>
            </a:r>
            <a:r>
              <a:rPr sz="2800" dirty="0">
                <a:latin typeface="Times New Roman"/>
                <a:cs typeface="Times New Roman"/>
              </a:rPr>
              <a:t>e</a:t>
            </a:r>
            <a:r>
              <a:rPr sz="2800" spc="10" dirty="0">
                <a:latin typeface="Times New Roman"/>
                <a:cs typeface="Times New Roman"/>
              </a:rPr>
              <a:t>x</a:t>
            </a:r>
            <a:r>
              <a:rPr sz="2800" dirty="0">
                <a:latin typeface="Times New Roman"/>
                <a:cs typeface="Times New Roman"/>
              </a:rPr>
              <a:t>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</a:t>
            </a:r>
            <a:r>
              <a:rPr sz="2800" spc="10" dirty="0">
                <a:latin typeface="Times New Roman"/>
                <a:cs typeface="Times New Roman"/>
              </a:rPr>
              <a:t>o</a:t>
            </a:r>
            <a:r>
              <a:rPr sz="2800" dirty="0">
                <a:latin typeface="Times New Roman"/>
                <a:cs typeface="Times New Roman"/>
              </a:rPr>
              <a:t>r</a:t>
            </a:r>
            <a:r>
              <a:rPr sz="2800" spc="-45" dirty="0">
                <a:latin typeface="Times New Roman"/>
                <a:cs typeface="Times New Roman"/>
              </a:rPr>
              <a:t>m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5" dirty="0">
                <a:latin typeface="Times New Roman"/>
                <a:cs typeface="Times New Roman"/>
              </a:rPr>
              <a:t>tt</a:t>
            </a:r>
            <a:r>
              <a:rPr sz="2800" dirty="0">
                <a:latin typeface="Times New Roman"/>
                <a:cs typeface="Times New Roman"/>
              </a:rPr>
              <a:t>ed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w</a:t>
            </a:r>
            <a:r>
              <a:rPr sz="2800" spc="5" dirty="0">
                <a:latin typeface="Times New Roman"/>
                <a:cs typeface="Times New Roman"/>
              </a:rPr>
              <a:t>it</a:t>
            </a:r>
            <a:r>
              <a:rPr sz="2800" dirty="0">
                <a:latin typeface="Times New Roman"/>
                <a:cs typeface="Times New Roman"/>
              </a:rPr>
              <a:t>h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th</a:t>
            </a:r>
            <a:r>
              <a:rPr sz="2800" dirty="0">
                <a:latin typeface="Times New Roman"/>
                <a:cs typeface="Times New Roman"/>
              </a:rPr>
              <a:t>e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Courier New"/>
                <a:cs typeface="Courier New"/>
              </a:rPr>
              <a:t>&lt;th</a:t>
            </a:r>
            <a:r>
              <a:rPr sz="2800" b="1" dirty="0">
                <a:latin typeface="Courier New"/>
                <a:cs typeface="Courier New"/>
              </a:rPr>
              <a:t>&gt;</a:t>
            </a:r>
            <a:r>
              <a:rPr sz="2800" b="1" spc="-1015" dirty="0">
                <a:latin typeface="Courier New"/>
                <a:cs typeface="Courier New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t</a:t>
            </a:r>
            <a:r>
              <a:rPr sz="2800" dirty="0">
                <a:latin typeface="Times New Roman"/>
                <a:cs typeface="Times New Roman"/>
              </a:rPr>
              <a:t>ag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i</a:t>
            </a:r>
            <a:r>
              <a:rPr sz="2800" dirty="0">
                <a:latin typeface="Times New Roman"/>
                <a:cs typeface="Times New Roman"/>
              </a:rPr>
              <a:t>s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ce</a:t>
            </a:r>
            <a:r>
              <a:rPr sz="2800" spc="10" dirty="0">
                <a:latin typeface="Times New Roman"/>
                <a:cs typeface="Times New Roman"/>
              </a:rPr>
              <a:t>n</a:t>
            </a:r>
            <a:r>
              <a:rPr sz="2800" spc="5" dirty="0">
                <a:latin typeface="Times New Roman"/>
                <a:cs typeface="Times New Roman"/>
              </a:rPr>
              <a:t>t</a:t>
            </a:r>
            <a:r>
              <a:rPr sz="2800" dirty="0">
                <a:latin typeface="Times New Roman"/>
                <a:cs typeface="Times New Roman"/>
              </a:rPr>
              <a:t>ered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w</a:t>
            </a:r>
            <a:r>
              <a:rPr sz="2800" spc="5" dirty="0">
                <a:latin typeface="Times New Roman"/>
                <a:cs typeface="Times New Roman"/>
              </a:rPr>
              <a:t>ithi</a:t>
            </a:r>
            <a:r>
              <a:rPr sz="2800" dirty="0">
                <a:latin typeface="Times New Roman"/>
                <a:cs typeface="Times New Roman"/>
              </a:rPr>
              <a:t>n  </a:t>
            </a:r>
            <a:r>
              <a:rPr sz="2800" spc="5" dirty="0">
                <a:latin typeface="Times New Roman"/>
                <a:cs typeface="Times New Roman"/>
              </a:rPr>
              <a:t>the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cell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and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displayed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in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 boldface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font.</a:t>
            </a:r>
            <a:endParaRPr sz="2800">
              <a:latin typeface="Times New Roman"/>
              <a:cs typeface="Times New Roman"/>
            </a:endParaRPr>
          </a:p>
          <a:p>
            <a:pPr marL="356870" marR="5080" indent="-344805" algn="just">
              <a:lnSpc>
                <a:spcPct val="102899"/>
              </a:lnSpc>
              <a:spcBef>
                <a:spcPts val="380"/>
              </a:spcBef>
              <a:buChar char="•"/>
              <a:tabLst>
                <a:tab pos="357505" algn="l"/>
              </a:tabLst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Courier New"/>
                <a:cs typeface="Courier New"/>
              </a:rPr>
              <a:t>&lt;th&gt;</a:t>
            </a:r>
            <a:r>
              <a:rPr sz="2800" b="1" spc="-990" dirty="0">
                <a:latin typeface="Courier New"/>
                <a:cs typeface="Courier New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tag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is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most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often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used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for </a:t>
            </a:r>
            <a:r>
              <a:rPr sz="2800" spc="-5" dirty="0">
                <a:latin typeface="Times New Roman"/>
                <a:cs typeface="Times New Roman"/>
              </a:rPr>
              <a:t>column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headings, </a:t>
            </a:r>
            <a:r>
              <a:rPr sz="2800" spc="-69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but </a:t>
            </a:r>
            <a:r>
              <a:rPr sz="2800" spc="-10" dirty="0">
                <a:latin typeface="Times New Roman"/>
                <a:cs typeface="Times New Roman"/>
              </a:rPr>
              <a:t>you </a:t>
            </a:r>
            <a:r>
              <a:rPr sz="2800" dirty="0">
                <a:latin typeface="Times New Roman"/>
                <a:cs typeface="Times New Roman"/>
              </a:rPr>
              <a:t>can </a:t>
            </a:r>
            <a:r>
              <a:rPr sz="2800" spc="5" dirty="0">
                <a:latin typeface="Times New Roman"/>
                <a:cs typeface="Times New Roman"/>
              </a:rPr>
              <a:t>use </a:t>
            </a:r>
            <a:r>
              <a:rPr sz="2800" dirty="0">
                <a:latin typeface="Times New Roman"/>
                <a:cs typeface="Times New Roman"/>
              </a:rPr>
              <a:t>it </a:t>
            </a:r>
            <a:r>
              <a:rPr sz="2800" spc="5" dirty="0">
                <a:latin typeface="Times New Roman"/>
                <a:cs typeface="Times New Roman"/>
              </a:rPr>
              <a:t>for </a:t>
            </a:r>
            <a:r>
              <a:rPr sz="2800" dirty="0">
                <a:latin typeface="Times New Roman"/>
                <a:cs typeface="Times New Roman"/>
              </a:rPr>
              <a:t>any cell </a:t>
            </a:r>
            <a:r>
              <a:rPr sz="2800" spc="5" dirty="0">
                <a:latin typeface="Times New Roman"/>
                <a:cs typeface="Times New Roman"/>
              </a:rPr>
              <a:t>that </a:t>
            </a:r>
            <a:r>
              <a:rPr sz="2800" spc="-10" dirty="0">
                <a:latin typeface="Times New Roman"/>
                <a:cs typeface="Times New Roman"/>
              </a:rPr>
              <a:t>you </a:t>
            </a:r>
            <a:r>
              <a:rPr sz="2800" dirty="0">
                <a:latin typeface="Times New Roman"/>
                <a:cs typeface="Times New Roman"/>
              </a:rPr>
              <a:t>want </a:t>
            </a:r>
            <a:r>
              <a:rPr sz="2800" spc="5" dirty="0">
                <a:latin typeface="Times New Roman"/>
                <a:cs typeface="Times New Roman"/>
              </a:rPr>
              <a:t>to contain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centered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boldfaced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text.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04773" y="2590800"/>
            <a:ext cx="8310880" cy="3810000"/>
            <a:chOff x="604773" y="2590800"/>
            <a:chExt cx="8310880" cy="3810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10246" y="4191000"/>
              <a:ext cx="3595153" cy="22098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60804" y="4530851"/>
              <a:ext cx="262255" cy="634365"/>
            </a:xfrm>
            <a:custGeom>
              <a:avLst/>
              <a:gdLst/>
              <a:ahLst/>
              <a:cxnLst/>
              <a:rect l="l" t="t" r="r" b="b"/>
              <a:pathLst>
                <a:path w="262255" h="634364">
                  <a:moveTo>
                    <a:pt x="262127" y="633984"/>
                  </a:moveTo>
                  <a:lnTo>
                    <a:pt x="211109" y="629860"/>
                  </a:lnTo>
                  <a:lnTo>
                    <a:pt x="169449" y="618617"/>
                  </a:lnTo>
                  <a:lnTo>
                    <a:pt x="141362" y="601944"/>
                  </a:lnTo>
                  <a:lnTo>
                    <a:pt x="131063" y="581533"/>
                  </a:lnTo>
                  <a:lnTo>
                    <a:pt x="131063" y="369443"/>
                  </a:lnTo>
                  <a:lnTo>
                    <a:pt x="120765" y="349031"/>
                  </a:lnTo>
                  <a:lnTo>
                    <a:pt x="92678" y="332358"/>
                  </a:lnTo>
                  <a:lnTo>
                    <a:pt x="51018" y="321115"/>
                  </a:lnTo>
                  <a:lnTo>
                    <a:pt x="0" y="316992"/>
                  </a:lnTo>
                  <a:lnTo>
                    <a:pt x="51018" y="312868"/>
                  </a:lnTo>
                  <a:lnTo>
                    <a:pt x="92678" y="301625"/>
                  </a:lnTo>
                  <a:lnTo>
                    <a:pt x="120765" y="284952"/>
                  </a:lnTo>
                  <a:lnTo>
                    <a:pt x="131063" y="264541"/>
                  </a:lnTo>
                  <a:lnTo>
                    <a:pt x="131063" y="52450"/>
                  </a:lnTo>
                  <a:lnTo>
                    <a:pt x="141362" y="32039"/>
                  </a:lnTo>
                  <a:lnTo>
                    <a:pt x="169449" y="15367"/>
                  </a:lnTo>
                  <a:lnTo>
                    <a:pt x="211109" y="4123"/>
                  </a:lnTo>
                  <a:lnTo>
                    <a:pt x="262127" y="0"/>
                  </a:lnTo>
                </a:path>
              </a:pathLst>
            </a:custGeom>
            <a:ln w="9144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27683" y="4857750"/>
              <a:ext cx="805180" cy="696595"/>
            </a:xfrm>
            <a:custGeom>
              <a:avLst/>
              <a:gdLst/>
              <a:ahLst/>
              <a:cxnLst/>
              <a:rect l="l" t="t" r="r" b="b"/>
              <a:pathLst>
                <a:path w="805180" h="696595">
                  <a:moveTo>
                    <a:pt x="0" y="696087"/>
                  </a:moveTo>
                  <a:lnTo>
                    <a:pt x="400303" y="696087"/>
                  </a:lnTo>
                  <a:lnTo>
                    <a:pt x="804926" y="0"/>
                  </a:lnTo>
                </a:path>
              </a:pathLst>
            </a:custGeom>
            <a:ln w="9144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62400" y="2590800"/>
              <a:ext cx="4953000" cy="229209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04773" y="2822447"/>
              <a:ext cx="3282950" cy="2438400"/>
            </a:xfrm>
            <a:custGeom>
              <a:avLst/>
              <a:gdLst/>
              <a:ahLst/>
              <a:cxnLst/>
              <a:rect l="l" t="t" r="r" b="b"/>
              <a:pathLst>
                <a:path w="3282950" h="2438400">
                  <a:moveTo>
                    <a:pt x="3206750" y="31750"/>
                  </a:moveTo>
                  <a:lnTo>
                    <a:pt x="0" y="31750"/>
                  </a:lnTo>
                  <a:lnTo>
                    <a:pt x="0" y="2438400"/>
                  </a:lnTo>
                  <a:lnTo>
                    <a:pt x="12700" y="2438400"/>
                  </a:lnTo>
                  <a:lnTo>
                    <a:pt x="12700" y="44450"/>
                  </a:lnTo>
                  <a:lnTo>
                    <a:pt x="6350" y="44450"/>
                  </a:lnTo>
                  <a:lnTo>
                    <a:pt x="12700" y="38100"/>
                  </a:lnTo>
                  <a:lnTo>
                    <a:pt x="3206750" y="38100"/>
                  </a:lnTo>
                  <a:lnTo>
                    <a:pt x="3206750" y="31750"/>
                  </a:lnTo>
                  <a:close/>
                </a:path>
                <a:path w="3282950" h="2438400">
                  <a:moveTo>
                    <a:pt x="3206750" y="0"/>
                  </a:moveTo>
                  <a:lnTo>
                    <a:pt x="3206750" y="76200"/>
                  </a:lnTo>
                  <a:lnTo>
                    <a:pt x="3270250" y="44450"/>
                  </a:lnTo>
                  <a:lnTo>
                    <a:pt x="3219450" y="44450"/>
                  </a:lnTo>
                  <a:lnTo>
                    <a:pt x="3219450" y="31750"/>
                  </a:lnTo>
                  <a:lnTo>
                    <a:pt x="3270250" y="31750"/>
                  </a:lnTo>
                  <a:lnTo>
                    <a:pt x="3206750" y="0"/>
                  </a:lnTo>
                  <a:close/>
                </a:path>
                <a:path w="3282950" h="2438400">
                  <a:moveTo>
                    <a:pt x="12700" y="38100"/>
                  </a:moveTo>
                  <a:lnTo>
                    <a:pt x="6350" y="44450"/>
                  </a:lnTo>
                  <a:lnTo>
                    <a:pt x="12700" y="44450"/>
                  </a:lnTo>
                  <a:lnTo>
                    <a:pt x="12700" y="38100"/>
                  </a:lnTo>
                  <a:close/>
                </a:path>
                <a:path w="3282950" h="2438400">
                  <a:moveTo>
                    <a:pt x="3206750" y="38100"/>
                  </a:moveTo>
                  <a:lnTo>
                    <a:pt x="12700" y="38100"/>
                  </a:lnTo>
                  <a:lnTo>
                    <a:pt x="12700" y="44450"/>
                  </a:lnTo>
                  <a:lnTo>
                    <a:pt x="3206750" y="44450"/>
                  </a:lnTo>
                  <a:lnTo>
                    <a:pt x="3206750" y="38100"/>
                  </a:lnTo>
                  <a:close/>
                </a:path>
                <a:path w="3282950" h="2438400">
                  <a:moveTo>
                    <a:pt x="3270250" y="31750"/>
                  </a:moveTo>
                  <a:lnTo>
                    <a:pt x="3219450" y="31750"/>
                  </a:lnTo>
                  <a:lnTo>
                    <a:pt x="3219450" y="44450"/>
                  </a:lnTo>
                  <a:lnTo>
                    <a:pt x="3270250" y="44450"/>
                  </a:lnTo>
                  <a:lnTo>
                    <a:pt x="3282950" y="38100"/>
                  </a:lnTo>
                  <a:lnTo>
                    <a:pt x="3270250" y="3175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73228" y="5321249"/>
            <a:ext cx="798830" cy="51498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10"/>
              </a:spcBef>
            </a:pPr>
            <a:r>
              <a:rPr sz="1600" b="1" dirty="0">
                <a:latin typeface="Times New Roman"/>
                <a:cs typeface="Times New Roman"/>
              </a:rPr>
              <a:t>table</a:t>
            </a:r>
            <a:endParaRPr sz="160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</a:pPr>
            <a:r>
              <a:rPr sz="1600" b="1" dirty="0">
                <a:latin typeface="Times New Roman"/>
                <a:cs typeface="Times New Roman"/>
              </a:rPr>
              <a:t>headings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0"/>
              </a:lnSpc>
            </a:pPr>
            <a:fld id="{81D60167-4931-47E6-BA6A-407CBD079E47}" type="slidenum">
              <a:rPr spc="-5" dirty="0"/>
              <a:t>7</a:t>
            </a:fld>
            <a:endParaRPr spc="-5" dirty="0"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454658" y="417017"/>
            <a:ext cx="6308090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Adding</a:t>
            </a:r>
            <a:r>
              <a:rPr spc="-15" dirty="0"/>
              <a:t> </a:t>
            </a:r>
            <a:r>
              <a:rPr dirty="0"/>
              <a:t>Table </a:t>
            </a:r>
            <a:r>
              <a:rPr spc="-5" dirty="0"/>
              <a:t>Headings</a:t>
            </a:r>
            <a:r>
              <a:rPr spc="-15" dirty="0"/>
              <a:t> </a:t>
            </a:r>
            <a:r>
              <a:rPr spc="-5" dirty="0"/>
              <a:t>to</a:t>
            </a:r>
            <a:r>
              <a:rPr dirty="0"/>
              <a:t> </a:t>
            </a:r>
            <a:r>
              <a:rPr spc="-5" dirty="0"/>
              <a:t>the</a:t>
            </a:r>
            <a:r>
              <a:rPr spc="-25" dirty="0"/>
              <a:t> </a:t>
            </a:r>
            <a:r>
              <a:rPr spc="-5" dirty="0"/>
              <a:t>Table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85800" y="1524000"/>
            <a:ext cx="2743200" cy="114300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37465" rIns="0" bIns="0" rtlCol="0">
            <a:spAutoFit/>
          </a:bodyPr>
          <a:lstStyle/>
          <a:p>
            <a:pPr marL="91440" marR="187960">
              <a:lnSpc>
                <a:spcPct val="90000"/>
              </a:lnSpc>
              <a:spcBef>
                <a:spcPts val="295"/>
              </a:spcBef>
            </a:pPr>
            <a:r>
              <a:rPr sz="1800" b="1" spc="-40" dirty="0">
                <a:latin typeface="Times New Roman"/>
                <a:cs typeface="Times New Roman"/>
              </a:rPr>
              <a:t>Text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in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cells </a:t>
            </a:r>
            <a:r>
              <a:rPr sz="1800" b="1" spc="-15" dirty="0">
                <a:latin typeface="Times New Roman"/>
                <a:cs typeface="Times New Roman"/>
              </a:rPr>
              <a:t>formatted 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spc="35" dirty="0">
                <a:latin typeface="Times New Roman"/>
                <a:cs typeface="Times New Roman"/>
              </a:rPr>
              <a:t>w</a:t>
            </a:r>
            <a:r>
              <a:rPr sz="1800" b="1" spc="-5" dirty="0">
                <a:latin typeface="Times New Roman"/>
                <a:cs typeface="Times New Roman"/>
              </a:rPr>
              <a:t>ith</a:t>
            </a:r>
            <a:r>
              <a:rPr sz="1800" b="1" spc="-55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t</a:t>
            </a:r>
            <a:r>
              <a:rPr sz="1800" b="1" spc="-25" dirty="0">
                <a:latin typeface="Times New Roman"/>
                <a:cs typeface="Times New Roman"/>
              </a:rPr>
              <a:t>h</a:t>
            </a:r>
            <a:r>
              <a:rPr sz="1800" b="1" dirty="0">
                <a:latin typeface="Times New Roman"/>
                <a:cs typeface="Times New Roman"/>
              </a:rPr>
              <a:t>e</a:t>
            </a:r>
            <a:r>
              <a:rPr sz="1800" b="1" spc="25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Courier New"/>
                <a:cs typeface="Courier New"/>
              </a:rPr>
              <a:t>&lt;th</a:t>
            </a:r>
            <a:r>
              <a:rPr sz="1800" b="1" dirty="0">
                <a:latin typeface="Courier New"/>
                <a:cs typeface="Courier New"/>
              </a:rPr>
              <a:t>&gt;</a:t>
            </a:r>
            <a:r>
              <a:rPr sz="1800" b="1" spc="-65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</a:t>
            </a:r>
            <a:r>
              <a:rPr sz="1800" b="1" spc="-15" dirty="0">
                <a:latin typeface="Times New Roman"/>
                <a:cs typeface="Times New Roman"/>
              </a:rPr>
              <a:t>a</a:t>
            </a:r>
            <a:r>
              <a:rPr sz="1800" b="1" dirty="0">
                <a:latin typeface="Times New Roman"/>
                <a:cs typeface="Times New Roman"/>
              </a:rPr>
              <a:t>g</a:t>
            </a:r>
            <a:r>
              <a:rPr sz="1800" b="1" spc="1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is</a:t>
            </a:r>
            <a:r>
              <a:rPr sz="1800" b="1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Times New Roman"/>
                <a:cs typeface="Times New Roman"/>
              </a:rPr>
              <a:t>b</a:t>
            </a:r>
            <a:r>
              <a:rPr sz="1800" b="1" spc="-15" dirty="0">
                <a:latin typeface="Times New Roman"/>
                <a:cs typeface="Times New Roman"/>
              </a:rPr>
              <a:t>o</a:t>
            </a:r>
            <a:r>
              <a:rPr sz="1800" b="1" spc="-5" dirty="0">
                <a:latin typeface="Times New Roman"/>
                <a:cs typeface="Times New Roman"/>
              </a:rPr>
              <a:t>ld  </a:t>
            </a:r>
            <a:r>
              <a:rPr sz="1800" b="1" spc="-15" dirty="0">
                <a:latin typeface="Times New Roman"/>
                <a:cs typeface="Times New Roman"/>
              </a:rPr>
              <a:t>and</a:t>
            </a:r>
            <a:r>
              <a:rPr sz="1800" b="1" spc="20" dirty="0">
                <a:latin typeface="Times New Roman"/>
                <a:cs typeface="Times New Roman"/>
              </a:rPr>
              <a:t> </a:t>
            </a:r>
            <a:r>
              <a:rPr sz="1800" b="1" spc="-15" dirty="0">
                <a:latin typeface="Times New Roman"/>
                <a:cs typeface="Times New Roman"/>
              </a:rPr>
              <a:t>centered</a:t>
            </a:r>
            <a:r>
              <a:rPr sz="1800" b="1" spc="25" dirty="0">
                <a:latin typeface="Times New Roman"/>
                <a:cs typeface="Times New Roman"/>
              </a:rPr>
              <a:t> </a:t>
            </a:r>
            <a:r>
              <a:rPr sz="1800" b="1" spc="-15" dirty="0">
                <a:latin typeface="Times New Roman"/>
                <a:cs typeface="Times New Roman"/>
              </a:rPr>
              <a:t>above</a:t>
            </a:r>
            <a:r>
              <a:rPr sz="1800" b="1" spc="3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each 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table</a:t>
            </a:r>
            <a:r>
              <a:rPr sz="1800" b="1" spc="20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Times New Roman"/>
                <a:cs typeface="Times New Roman"/>
              </a:rPr>
              <a:t>column.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304800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Vertical Table Headers</a:t>
            </a:r>
          </a:p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990600"/>
            <a:ext cx="86106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To </a:t>
            </a:r>
            <a:r>
              <a:rPr lang="en-US" dirty="0"/>
              <a:t>use the first column as table headers, define the first cell in each row as a </a:t>
            </a:r>
            <a:r>
              <a:rPr lang="en-US" dirty="0" smtClean="0"/>
              <a:t> &lt;</a:t>
            </a:r>
            <a:r>
              <a:rPr lang="en-US" dirty="0" err="1"/>
              <a:t>th</a:t>
            </a:r>
            <a:r>
              <a:rPr lang="en-US" dirty="0"/>
              <a:t>&gt; element:</a:t>
            </a:r>
          </a:p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&lt;</a:t>
            </a:r>
            <a:r>
              <a:rPr lang="en-US" dirty="0" err="1"/>
              <a:t>tr</a:t>
            </a:r>
            <a:r>
              <a:rPr lang="en-US" dirty="0"/>
              <a:t>&gt;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    &lt;</a:t>
            </a:r>
            <a:r>
              <a:rPr lang="en-US" dirty="0" err="1"/>
              <a:t>th</a:t>
            </a:r>
            <a:r>
              <a:rPr lang="en-US" dirty="0"/>
              <a:t>&gt;</a:t>
            </a:r>
            <a:r>
              <a:rPr lang="en-US" dirty="0" err="1"/>
              <a:t>Firstname</a:t>
            </a:r>
            <a:r>
              <a:rPr lang="en-US" dirty="0"/>
              <a:t>&lt;/</a:t>
            </a:r>
            <a:r>
              <a:rPr lang="en-US" dirty="0" err="1"/>
              <a:t>th</a:t>
            </a:r>
            <a:r>
              <a:rPr lang="en-US" dirty="0"/>
              <a:t>&gt;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    &lt;td&gt;Jill&lt;/td&gt;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    &lt;td&gt;Eve&lt;/td&gt;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  &lt;/</a:t>
            </a:r>
            <a:r>
              <a:rPr lang="en-US" dirty="0" err="1"/>
              <a:t>tr</a:t>
            </a:r>
            <a:r>
              <a:rPr lang="en-US" dirty="0" smtClean="0"/>
              <a:t>&gt;</a:t>
            </a:r>
          </a:p>
          <a:p>
            <a:endParaRPr lang="en-US" dirty="0"/>
          </a:p>
          <a:p>
            <a:r>
              <a:rPr lang="en-US" dirty="0"/>
              <a:t>By default, table headers are bold and centered:</a:t>
            </a:r>
          </a:p>
          <a:p>
            <a:r>
              <a:rPr lang="en-US" dirty="0"/>
              <a:t>To left-align the table headers, use the CSS text-align property:</a:t>
            </a:r>
          </a:p>
          <a:p>
            <a:r>
              <a:rPr lang="en-US" dirty="0"/>
              <a:t>Example</a:t>
            </a:r>
          </a:p>
          <a:p>
            <a:r>
              <a:rPr lang="en-US" dirty="0" err="1"/>
              <a:t>th</a:t>
            </a:r>
            <a:r>
              <a:rPr lang="en-US" dirty="0"/>
              <a:t> {</a:t>
            </a:r>
            <a:br>
              <a:rPr lang="en-US" dirty="0"/>
            </a:br>
            <a:r>
              <a:rPr lang="en-US" dirty="0"/>
              <a:t>  text-align: left;</a:t>
            </a:r>
            <a:br>
              <a:rPr lang="en-US" dirty="0"/>
            </a:br>
            <a:r>
              <a:rPr lang="en-US" dirty="0"/>
              <a:t>}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9555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81504" y="417017"/>
            <a:ext cx="4458970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Creating</a:t>
            </a:r>
            <a:r>
              <a:rPr dirty="0"/>
              <a:t> </a:t>
            </a:r>
            <a:r>
              <a:rPr spc="-5" dirty="0"/>
              <a:t>a</a:t>
            </a:r>
            <a:r>
              <a:rPr spc="-10" dirty="0"/>
              <a:t> </a:t>
            </a:r>
            <a:r>
              <a:rPr spc="-5" dirty="0"/>
              <a:t>Table</a:t>
            </a:r>
            <a:r>
              <a:rPr spc="-20" dirty="0"/>
              <a:t> </a:t>
            </a:r>
            <a:r>
              <a:rPr spc="-5" dirty="0"/>
              <a:t>Caption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0"/>
              </a:lnSpc>
            </a:pPr>
            <a:fld id="{81D60167-4931-47E6-BA6A-407CBD079E47}" type="slidenum">
              <a:rPr spc="-5" dirty="0"/>
              <a:t>9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612444" y="1732999"/>
            <a:ext cx="7872095" cy="3195320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509"/>
              </a:spcBef>
              <a:buChar char="•"/>
              <a:tabLst>
                <a:tab pos="356870" algn="l"/>
                <a:tab pos="357505" algn="l"/>
              </a:tabLst>
            </a:pPr>
            <a:r>
              <a:rPr sz="2400" spc="-5" dirty="0">
                <a:latin typeface="Times New Roman"/>
                <a:cs typeface="Times New Roman"/>
              </a:rPr>
              <a:t>HTML allows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you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 </a:t>
            </a:r>
            <a:r>
              <a:rPr sz="2400" spc="-5" dirty="0">
                <a:latin typeface="Times New Roman"/>
                <a:cs typeface="Times New Roman"/>
              </a:rPr>
              <a:t>specify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caption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for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table.</a:t>
            </a:r>
            <a:endParaRPr sz="2400">
              <a:latin typeface="Times New Roman"/>
              <a:cs typeface="Times New Roman"/>
            </a:endParaRPr>
          </a:p>
          <a:p>
            <a:pPr marL="356870" marR="202565" indent="-344805">
              <a:lnSpc>
                <a:spcPts val="2830"/>
              </a:lnSpc>
              <a:spcBef>
                <a:spcPts val="545"/>
              </a:spcBef>
              <a:buChar char="•"/>
              <a:tabLst>
                <a:tab pos="356870" algn="l"/>
                <a:tab pos="357505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syntax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creating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caption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is: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&lt;caption </a:t>
            </a:r>
            <a:r>
              <a:rPr sz="2400" b="1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align=“alignment”&gt;caption</a:t>
            </a:r>
            <a:r>
              <a:rPr sz="2400" b="1" spc="-5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text&lt;/caption&gt;</a:t>
            </a:r>
            <a:endParaRPr sz="2400">
              <a:latin typeface="Courier New"/>
              <a:cs typeface="Courier New"/>
            </a:endParaRPr>
          </a:p>
          <a:p>
            <a:pPr marL="756285" lvl="1" indent="-287020">
              <a:lnSpc>
                <a:spcPct val="100000"/>
              </a:lnSpc>
              <a:spcBef>
                <a:spcPts val="670"/>
              </a:spcBef>
              <a:buFont typeface="Times New Roman"/>
              <a:buChar char="–"/>
              <a:tabLst>
                <a:tab pos="756285" algn="l"/>
                <a:tab pos="756920" algn="l"/>
              </a:tabLst>
            </a:pPr>
            <a:r>
              <a:rPr sz="2200" b="1" i="1" spc="5" dirty="0">
                <a:latin typeface="Times New Roman"/>
                <a:cs typeface="Times New Roman"/>
              </a:rPr>
              <a:t>alignment</a:t>
            </a:r>
            <a:r>
              <a:rPr sz="2200" b="1" i="1" spc="-90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indicates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the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caption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placement</a:t>
            </a:r>
            <a:endParaRPr sz="220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535"/>
              </a:spcBef>
              <a:buChar char="–"/>
              <a:tabLst>
                <a:tab pos="756285" algn="l"/>
                <a:tab pos="756920" algn="l"/>
              </a:tabLst>
            </a:pP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value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b="1" i="1" spc="10" dirty="0">
                <a:latin typeface="Times New Roman"/>
                <a:cs typeface="Times New Roman"/>
              </a:rPr>
              <a:t>“bottom”</a:t>
            </a:r>
            <a:r>
              <a:rPr sz="2200" b="1" i="1" spc="-70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centers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caption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below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table</a:t>
            </a:r>
            <a:endParaRPr sz="220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525"/>
              </a:spcBef>
              <a:buChar char="–"/>
              <a:tabLst>
                <a:tab pos="756285" algn="l"/>
                <a:tab pos="756920" algn="l"/>
              </a:tabLst>
            </a:pP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value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b="1" i="1" dirty="0">
                <a:latin typeface="Times New Roman"/>
                <a:cs typeface="Times New Roman"/>
              </a:rPr>
              <a:t>“top”</a:t>
            </a:r>
            <a:r>
              <a:rPr sz="2200" b="1" i="1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or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b="1" i="1" spc="5" dirty="0">
                <a:latin typeface="Times New Roman"/>
                <a:cs typeface="Times New Roman"/>
              </a:rPr>
              <a:t>“center”</a:t>
            </a:r>
            <a:r>
              <a:rPr sz="2200" b="1" i="1" spc="-75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centers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the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caption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above </a:t>
            </a:r>
            <a:r>
              <a:rPr sz="2200" spc="5" dirty="0">
                <a:latin typeface="Times New Roman"/>
                <a:cs typeface="Times New Roman"/>
              </a:rPr>
              <a:t>the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table</a:t>
            </a:r>
            <a:endParaRPr sz="220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530"/>
              </a:spcBef>
              <a:buChar char="–"/>
              <a:tabLst>
                <a:tab pos="756285" algn="l"/>
                <a:tab pos="756920" algn="l"/>
              </a:tabLst>
            </a:pPr>
            <a:r>
              <a:rPr sz="2200" dirty="0">
                <a:latin typeface="Times New Roman"/>
                <a:cs typeface="Times New Roman"/>
              </a:rPr>
              <a:t>a value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b="1" i="1" spc="5" dirty="0">
                <a:latin typeface="Times New Roman"/>
                <a:cs typeface="Times New Roman"/>
              </a:rPr>
              <a:t>“left”</a:t>
            </a:r>
            <a:r>
              <a:rPr sz="2200" b="1" i="1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or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b="1" i="1" spc="5" dirty="0">
                <a:latin typeface="Times New Roman"/>
                <a:cs typeface="Times New Roman"/>
              </a:rPr>
              <a:t>“right”</a:t>
            </a:r>
            <a:r>
              <a:rPr sz="2200" b="1" i="1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place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caption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above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table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to</a:t>
            </a:r>
            <a:endParaRPr sz="2200">
              <a:latin typeface="Times New Roman"/>
              <a:cs typeface="Times New Roman"/>
            </a:endParaRPr>
          </a:p>
          <a:p>
            <a:pPr marL="756285">
              <a:lnSpc>
                <a:spcPct val="100000"/>
              </a:lnSpc>
            </a:pPr>
            <a:r>
              <a:rPr sz="2200" spc="5" dirty="0">
                <a:latin typeface="Times New Roman"/>
                <a:cs typeface="Times New Roman"/>
              </a:rPr>
              <a:t>the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left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or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right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75407" y="417017"/>
            <a:ext cx="4470400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Result</a:t>
            </a:r>
            <a:r>
              <a:rPr spc="-1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spc="-5" dirty="0"/>
              <a:t>a Table</a:t>
            </a:r>
            <a:r>
              <a:rPr spc="-20" dirty="0"/>
              <a:t> </a:t>
            </a:r>
            <a:r>
              <a:rPr spc="-5" dirty="0"/>
              <a:t>Caption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0" y="3962400"/>
            <a:ext cx="4776215" cy="2554224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399309" y="2026729"/>
            <a:ext cx="5429250" cy="1589405"/>
            <a:chOff x="1399309" y="2026729"/>
            <a:chExt cx="5429250" cy="158940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99309" y="2157984"/>
              <a:ext cx="5429002" cy="145757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149852" y="2031492"/>
              <a:ext cx="1234440" cy="314325"/>
            </a:xfrm>
            <a:custGeom>
              <a:avLst/>
              <a:gdLst/>
              <a:ahLst/>
              <a:cxnLst/>
              <a:rect l="l" t="t" r="r" b="b"/>
              <a:pathLst>
                <a:path w="1234439" h="314325">
                  <a:moveTo>
                    <a:pt x="0" y="313944"/>
                  </a:moveTo>
                  <a:lnTo>
                    <a:pt x="5669" y="264310"/>
                  </a:lnTo>
                  <a:lnTo>
                    <a:pt x="21457" y="221217"/>
                  </a:lnTo>
                  <a:lnTo>
                    <a:pt x="45537" y="187244"/>
                  </a:lnTo>
                  <a:lnTo>
                    <a:pt x="111251" y="156972"/>
                  </a:lnTo>
                  <a:lnTo>
                    <a:pt x="505968" y="156972"/>
                  </a:lnTo>
                  <a:lnTo>
                    <a:pt x="541141" y="148974"/>
                  </a:lnTo>
                  <a:lnTo>
                    <a:pt x="571682" y="126699"/>
                  </a:lnTo>
                  <a:lnTo>
                    <a:pt x="595762" y="92726"/>
                  </a:lnTo>
                  <a:lnTo>
                    <a:pt x="611550" y="49633"/>
                  </a:lnTo>
                  <a:lnTo>
                    <a:pt x="617220" y="0"/>
                  </a:lnTo>
                  <a:lnTo>
                    <a:pt x="622889" y="49633"/>
                  </a:lnTo>
                  <a:lnTo>
                    <a:pt x="638677" y="92726"/>
                  </a:lnTo>
                  <a:lnTo>
                    <a:pt x="662757" y="126699"/>
                  </a:lnTo>
                  <a:lnTo>
                    <a:pt x="693298" y="148974"/>
                  </a:lnTo>
                  <a:lnTo>
                    <a:pt x="728472" y="156972"/>
                  </a:lnTo>
                  <a:lnTo>
                    <a:pt x="1123188" y="156972"/>
                  </a:lnTo>
                  <a:lnTo>
                    <a:pt x="1158361" y="164969"/>
                  </a:lnTo>
                  <a:lnTo>
                    <a:pt x="1188902" y="187244"/>
                  </a:lnTo>
                  <a:lnTo>
                    <a:pt x="1212982" y="221217"/>
                  </a:lnTo>
                  <a:lnTo>
                    <a:pt x="1228770" y="264310"/>
                  </a:lnTo>
                  <a:lnTo>
                    <a:pt x="1234439" y="313944"/>
                  </a:lnTo>
                </a:path>
              </a:pathLst>
            </a:custGeom>
            <a:ln w="9143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577208" y="2539111"/>
              <a:ext cx="1780539" cy="610235"/>
            </a:xfrm>
            <a:custGeom>
              <a:avLst/>
              <a:gdLst/>
              <a:ahLst/>
              <a:cxnLst/>
              <a:rect l="l" t="t" r="r" b="b"/>
              <a:pathLst>
                <a:path w="1780539" h="610235">
                  <a:moveTo>
                    <a:pt x="1780031" y="609853"/>
                  </a:moveTo>
                  <a:lnTo>
                    <a:pt x="895350" y="609853"/>
                  </a:lnTo>
                  <a:lnTo>
                    <a:pt x="0" y="0"/>
                  </a:lnTo>
                </a:path>
              </a:pathLst>
            </a:custGeom>
            <a:ln w="9144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418835" y="2800044"/>
            <a:ext cx="1327785" cy="7588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10"/>
              </a:spcBef>
            </a:pPr>
            <a:r>
              <a:rPr sz="1600" b="1" dirty="0">
                <a:latin typeface="Times New Roman"/>
                <a:cs typeface="Times New Roman"/>
              </a:rPr>
              <a:t>caption </a:t>
            </a:r>
            <a:r>
              <a:rPr sz="1600" b="1" spc="5" dirty="0">
                <a:latin typeface="Times New Roman"/>
                <a:cs typeface="Times New Roman"/>
              </a:rPr>
              <a:t>will </a:t>
            </a:r>
            <a:r>
              <a:rPr sz="1600" b="1" dirty="0">
                <a:latin typeface="Times New Roman"/>
                <a:cs typeface="Times New Roman"/>
              </a:rPr>
              <a:t>be </a:t>
            </a:r>
            <a:r>
              <a:rPr sz="1600" b="1" spc="-38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ce</a:t>
            </a:r>
            <a:r>
              <a:rPr sz="1600" b="1" spc="-10" dirty="0">
                <a:latin typeface="Times New Roman"/>
                <a:cs typeface="Times New Roman"/>
              </a:rPr>
              <a:t>nt</a:t>
            </a:r>
            <a:r>
              <a:rPr sz="1600" b="1" dirty="0">
                <a:latin typeface="Times New Roman"/>
                <a:cs typeface="Times New Roman"/>
              </a:rPr>
              <a:t>e</a:t>
            </a:r>
            <a:r>
              <a:rPr sz="1600" b="1" spc="-20" dirty="0">
                <a:latin typeface="Times New Roman"/>
                <a:cs typeface="Times New Roman"/>
              </a:rPr>
              <a:t>r</a:t>
            </a:r>
            <a:r>
              <a:rPr sz="1600" b="1" dirty="0">
                <a:latin typeface="Times New Roman"/>
                <a:cs typeface="Times New Roman"/>
              </a:rPr>
              <a:t>ed</a:t>
            </a:r>
            <a:r>
              <a:rPr sz="1600" b="1" spc="-50" dirty="0">
                <a:latin typeface="Times New Roman"/>
                <a:cs typeface="Times New Roman"/>
              </a:rPr>
              <a:t> </a:t>
            </a:r>
            <a:r>
              <a:rPr sz="1600" b="1" spc="5" dirty="0">
                <a:latin typeface="Times New Roman"/>
                <a:cs typeface="Times New Roman"/>
              </a:rPr>
              <a:t>a</a:t>
            </a:r>
            <a:r>
              <a:rPr sz="1600" b="1" spc="-10" dirty="0">
                <a:latin typeface="Times New Roman"/>
                <a:cs typeface="Times New Roman"/>
              </a:rPr>
              <a:t>b</a:t>
            </a:r>
            <a:r>
              <a:rPr sz="1600" b="1" spc="5" dirty="0">
                <a:latin typeface="Times New Roman"/>
                <a:cs typeface="Times New Roman"/>
              </a:rPr>
              <a:t>o</a:t>
            </a:r>
            <a:r>
              <a:rPr sz="1600" b="1" spc="-15" dirty="0">
                <a:latin typeface="Times New Roman"/>
                <a:cs typeface="Times New Roman"/>
              </a:rPr>
              <a:t>v</a:t>
            </a:r>
            <a:r>
              <a:rPr sz="1600" b="1" dirty="0">
                <a:latin typeface="Times New Roman"/>
                <a:cs typeface="Times New Roman"/>
              </a:rPr>
              <a:t>e  </a:t>
            </a:r>
            <a:r>
              <a:rPr sz="1600" b="1" spc="-5" dirty="0">
                <a:latin typeface="Times New Roman"/>
                <a:cs typeface="Times New Roman"/>
              </a:rPr>
              <a:t>the </a:t>
            </a:r>
            <a:r>
              <a:rPr sz="1600" b="1" dirty="0">
                <a:latin typeface="Times New Roman"/>
                <a:cs typeface="Times New Roman"/>
              </a:rPr>
              <a:t>table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795392" y="1568196"/>
            <a:ext cx="708660" cy="416559"/>
          </a:xfrm>
          <a:custGeom>
            <a:avLst/>
            <a:gdLst/>
            <a:ahLst/>
            <a:cxnLst/>
            <a:rect l="l" t="t" r="r" b="b"/>
            <a:pathLst>
              <a:path w="708660" h="416560">
                <a:moveTo>
                  <a:pt x="708279" y="0"/>
                </a:moveTo>
                <a:lnTo>
                  <a:pt x="355600" y="0"/>
                </a:lnTo>
                <a:lnTo>
                  <a:pt x="0" y="416051"/>
                </a:lnTo>
              </a:path>
            </a:pathLst>
          </a:custGeom>
          <a:ln w="9144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563870" y="1462481"/>
            <a:ext cx="1049020" cy="2711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00" b="1" spc="5" dirty="0">
                <a:latin typeface="Times New Roman"/>
                <a:cs typeface="Times New Roman"/>
              </a:rPr>
              <a:t>caption</a:t>
            </a:r>
            <a:r>
              <a:rPr sz="1600" b="1" spc="-10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text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802123" y="1595374"/>
            <a:ext cx="2584450" cy="2597150"/>
          </a:xfrm>
          <a:custGeom>
            <a:avLst/>
            <a:gdLst/>
            <a:ahLst/>
            <a:cxnLst/>
            <a:rect l="l" t="t" r="r" b="b"/>
            <a:pathLst>
              <a:path w="2584450" h="2597150">
                <a:moveTo>
                  <a:pt x="76200" y="2520950"/>
                </a:moveTo>
                <a:lnTo>
                  <a:pt x="0" y="2559050"/>
                </a:lnTo>
                <a:lnTo>
                  <a:pt x="76200" y="2597150"/>
                </a:lnTo>
                <a:lnTo>
                  <a:pt x="76200" y="2565400"/>
                </a:lnTo>
                <a:lnTo>
                  <a:pt x="63500" y="2565400"/>
                </a:lnTo>
                <a:lnTo>
                  <a:pt x="63500" y="2552700"/>
                </a:lnTo>
                <a:lnTo>
                  <a:pt x="76200" y="2552700"/>
                </a:lnTo>
                <a:lnTo>
                  <a:pt x="76200" y="2520950"/>
                </a:lnTo>
                <a:close/>
              </a:path>
              <a:path w="2584450" h="2597150">
                <a:moveTo>
                  <a:pt x="76200" y="2552700"/>
                </a:moveTo>
                <a:lnTo>
                  <a:pt x="63500" y="2552700"/>
                </a:lnTo>
                <a:lnTo>
                  <a:pt x="63500" y="2565400"/>
                </a:lnTo>
                <a:lnTo>
                  <a:pt x="76200" y="2565400"/>
                </a:lnTo>
                <a:lnTo>
                  <a:pt x="76200" y="2552700"/>
                </a:lnTo>
                <a:close/>
              </a:path>
              <a:path w="2584450" h="2597150">
                <a:moveTo>
                  <a:pt x="2571750" y="2552700"/>
                </a:moveTo>
                <a:lnTo>
                  <a:pt x="76200" y="2552700"/>
                </a:lnTo>
                <a:lnTo>
                  <a:pt x="76200" y="2565400"/>
                </a:lnTo>
                <a:lnTo>
                  <a:pt x="2584450" y="2565400"/>
                </a:lnTo>
                <a:lnTo>
                  <a:pt x="2584450" y="2559050"/>
                </a:lnTo>
                <a:lnTo>
                  <a:pt x="2571750" y="2559050"/>
                </a:lnTo>
                <a:lnTo>
                  <a:pt x="2571750" y="2552700"/>
                </a:lnTo>
                <a:close/>
              </a:path>
              <a:path w="2584450" h="2597150">
                <a:moveTo>
                  <a:pt x="2571750" y="6350"/>
                </a:moveTo>
                <a:lnTo>
                  <a:pt x="2571750" y="2559050"/>
                </a:lnTo>
                <a:lnTo>
                  <a:pt x="2578100" y="2552700"/>
                </a:lnTo>
                <a:lnTo>
                  <a:pt x="2584450" y="2552700"/>
                </a:lnTo>
                <a:lnTo>
                  <a:pt x="2584450" y="12700"/>
                </a:lnTo>
                <a:lnTo>
                  <a:pt x="2578100" y="12700"/>
                </a:lnTo>
                <a:lnTo>
                  <a:pt x="2571750" y="6350"/>
                </a:lnTo>
                <a:close/>
              </a:path>
              <a:path w="2584450" h="2597150">
                <a:moveTo>
                  <a:pt x="2584450" y="2552700"/>
                </a:moveTo>
                <a:lnTo>
                  <a:pt x="2578100" y="2552700"/>
                </a:lnTo>
                <a:lnTo>
                  <a:pt x="2571750" y="2559050"/>
                </a:lnTo>
                <a:lnTo>
                  <a:pt x="2584450" y="2559050"/>
                </a:lnTo>
                <a:lnTo>
                  <a:pt x="2584450" y="2552700"/>
                </a:lnTo>
                <a:close/>
              </a:path>
              <a:path w="2584450" h="2597150">
                <a:moveTo>
                  <a:pt x="2584450" y="0"/>
                </a:moveTo>
                <a:lnTo>
                  <a:pt x="1905000" y="0"/>
                </a:lnTo>
                <a:lnTo>
                  <a:pt x="1905000" y="12700"/>
                </a:lnTo>
                <a:lnTo>
                  <a:pt x="2571750" y="12700"/>
                </a:lnTo>
                <a:lnTo>
                  <a:pt x="2571750" y="6350"/>
                </a:lnTo>
                <a:lnTo>
                  <a:pt x="2584450" y="6350"/>
                </a:lnTo>
                <a:lnTo>
                  <a:pt x="2584450" y="0"/>
                </a:lnTo>
                <a:close/>
              </a:path>
              <a:path w="2584450" h="2597150">
                <a:moveTo>
                  <a:pt x="2584450" y="6350"/>
                </a:moveTo>
                <a:lnTo>
                  <a:pt x="2571750" y="6350"/>
                </a:lnTo>
                <a:lnTo>
                  <a:pt x="2578100" y="12700"/>
                </a:lnTo>
                <a:lnTo>
                  <a:pt x="2584450" y="12700"/>
                </a:lnTo>
                <a:lnTo>
                  <a:pt x="2584450" y="6350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0"/>
              </a:lnSpc>
            </a:pPr>
            <a:fld id="{81D60167-4931-47E6-BA6A-407CBD079E47}" type="slidenum">
              <a:rPr spc="-5" dirty="0"/>
              <a:t>10</a:t>
            </a:fld>
            <a:endParaRPr spc="-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54074" y="417017"/>
            <a:ext cx="6510655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Modifying </a:t>
            </a:r>
            <a:r>
              <a:rPr spc="-10" dirty="0"/>
              <a:t>the </a:t>
            </a:r>
            <a:r>
              <a:rPr spc="-5" dirty="0"/>
              <a:t>Appearance</a:t>
            </a:r>
            <a:r>
              <a:rPr spc="2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spc="-5" dirty="0"/>
              <a:t>a Table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0"/>
              </a:lnSpc>
            </a:pPr>
            <a:fld id="{81D60167-4931-47E6-BA6A-407CBD079E47}" type="slidenum">
              <a:rPr spc="-5" dirty="0"/>
              <a:t>11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536244" y="1533435"/>
            <a:ext cx="8000365" cy="2798445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805"/>
              </a:spcBef>
              <a:buChar char="•"/>
              <a:tabLst>
                <a:tab pos="356870" algn="l"/>
                <a:tab pos="357505" algn="l"/>
              </a:tabLst>
            </a:pPr>
            <a:r>
              <a:rPr sz="2800" dirty="0">
                <a:latin typeface="Times New Roman"/>
                <a:cs typeface="Times New Roman"/>
              </a:rPr>
              <a:t>You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can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modify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the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appearance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of</a:t>
            </a:r>
            <a:r>
              <a:rPr sz="2800" dirty="0">
                <a:latin typeface="Times New Roman"/>
                <a:cs typeface="Times New Roman"/>
              </a:rPr>
              <a:t> a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table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by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adding:</a:t>
            </a:r>
            <a:endParaRPr sz="280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595"/>
              </a:spcBef>
              <a:buChar char="–"/>
              <a:tabLst>
                <a:tab pos="756285" algn="l"/>
                <a:tab pos="756920" algn="l"/>
              </a:tabLst>
            </a:pPr>
            <a:r>
              <a:rPr sz="2400" spc="-5" dirty="0">
                <a:latin typeface="Times New Roman"/>
                <a:cs typeface="Times New Roman"/>
              </a:rPr>
              <a:t>gridlines</a:t>
            </a:r>
            <a:endParaRPr sz="240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Char char="–"/>
              <a:tabLst>
                <a:tab pos="756285" algn="l"/>
                <a:tab pos="756920" algn="l"/>
              </a:tabLst>
            </a:pPr>
            <a:r>
              <a:rPr sz="2400" spc="-5" dirty="0">
                <a:latin typeface="Times New Roman"/>
                <a:cs typeface="Times New Roman"/>
              </a:rPr>
              <a:t>borders</a:t>
            </a:r>
            <a:endParaRPr sz="240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Char char="–"/>
              <a:tabLst>
                <a:tab pos="756285" algn="l"/>
                <a:tab pos="756920" algn="l"/>
              </a:tabLst>
            </a:pPr>
            <a:r>
              <a:rPr sz="2400" spc="-5" dirty="0">
                <a:latin typeface="Times New Roman"/>
                <a:cs typeface="Times New Roman"/>
              </a:rPr>
              <a:t>background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color</a:t>
            </a:r>
            <a:endParaRPr sz="2400">
              <a:latin typeface="Times New Roman"/>
              <a:cs typeface="Times New Roman"/>
            </a:endParaRPr>
          </a:p>
          <a:p>
            <a:pPr marL="356870" marR="5080" indent="-344805">
              <a:lnSpc>
                <a:spcPct val="100000"/>
              </a:lnSpc>
              <a:spcBef>
                <a:spcPts val="660"/>
              </a:spcBef>
              <a:buChar char="•"/>
              <a:tabLst>
                <a:tab pos="356870" algn="l"/>
                <a:tab pos="357505" algn="l"/>
              </a:tabLst>
            </a:pPr>
            <a:r>
              <a:rPr sz="2800" spc="-5" dirty="0">
                <a:latin typeface="Times New Roman"/>
                <a:cs typeface="Times New Roman"/>
              </a:rPr>
              <a:t>HTML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also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provides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tags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and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attributes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to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control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the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placement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and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size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of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5" dirty="0">
                <a:latin typeface="Times New Roman"/>
                <a:cs typeface="Times New Roman"/>
              </a:rPr>
              <a:t>table.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2672" y="417017"/>
            <a:ext cx="4054475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Adding</a:t>
            </a:r>
            <a:r>
              <a:rPr spc="-25" dirty="0"/>
              <a:t> </a:t>
            </a:r>
            <a:r>
              <a:rPr spc="-5" dirty="0"/>
              <a:t>a</a:t>
            </a:r>
            <a:r>
              <a:rPr spc="-10" dirty="0"/>
              <a:t> </a:t>
            </a:r>
            <a:r>
              <a:rPr spc="-5" dirty="0"/>
              <a:t>Table</a:t>
            </a:r>
            <a:r>
              <a:rPr dirty="0"/>
              <a:t> </a:t>
            </a:r>
            <a:r>
              <a:rPr spc="-5" dirty="0"/>
              <a:t>Border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0"/>
              </a:lnSpc>
            </a:pPr>
            <a:fld id="{81D60167-4931-47E6-BA6A-407CBD079E47}" type="slidenum">
              <a:rPr spc="-5" dirty="0"/>
              <a:t>12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536244" y="1621612"/>
            <a:ext cx="8037830" cy="4406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marR="233045" indent="-344805">
              <a:lnSpc>
                <a:spcPct val="100000"/>
              </a:lnSpc>
              <a:spcBef>
                <a:spcPts val="100"/>
              </a:spcBef>
              <a:buChar char="•"/>
              <a:tabLst>
                <a:tab pos="356870" algn="l"/>
                <a:tab pos="357505" algn="l"/>
              </a:tabLst>
            </a:pPr>
            <a:r>
              <a:rPr sz="3000" spc="-10" dirty="0">
                <a:latin typeface="Times New Roman"/>
                <a:cs typeface="Times New Roman"/>
              </a:rPr>
              <a:t>By</a:t>
            </a:r>
            <a:r>
              <a:rPr sz="3000" spc="-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default,</a:t>
            </a:r>
            <a:r>
              <a:rPr sz="3000" spc="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browsers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display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tables </a:t>
            </a:r>
            <a:r>
              <a:rPr sz="3000" dirty="0">
                <a:latin typeface="Times New Roman"/>
                <a:cs typeface="Times New Roman"/>
              </a:rPr>
              <a:t>without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table </a:t>
            </a:r>
            <a:r>
              <a:rPr sz="3000" spc="-7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borders.</a:t>
            </a:r>
            <a:endParaRPr sz="3000">
              <a:latin typeface="Times New Roman"/>
              <a:cs typeface="Times New Roman"/>
            </a:endParaRPr>
          </a:p>
          <a:p>
            <a:pPr marL="356870" marR="811530" indent="-344805">
              <a:lnSpc>
                <a:spcPts val="3410"/>
              </a:lnSpc>
              <a:spcBef>
                <a:spcPts val="1000"/>
              </a:spcBef>
              <a:buChar char="•"/>
              <a:tabLst>
                <a:tab pos="356870" algn="l"/>
                <a:tab pos="357505" algn="l"/>
              </a:tabLst>
            </a:pPr>
            <a:r>
              <a:rPr sz="3000" spc="-5" dirty="0">
                <a:latin typeface="Times New Roman"/>
                <a:cs typeface="Times New Roman"/>
              </a:rPr>
              <a:t>A </a:t>
            </a:r>
            <a:r>
              <a:rPr sz="3000" dirty="0">
                <a:latin typeface="Times New Roman"/>
                <a:cs typeface="Times New Roman"/>
              </a:rPr>
              <a:t>table border </a:t>
            </a:r>
            <a:r>
              <a:rPr sz="3000" spc="-10" dirty="0">
                <a:latin typeface="Times New Roman"/>
                <a:cs typeface="Times New Roman"/>
              </a:rPr>
              <a:t>can </a:t>
            </a:r>
            <a:r>
              <a:rPr sz="3000" dirty="0">
                <a:latin typeface="Times New Roman"/>
                <a:cs typeface="Times New Roman"/>
              </a:rPr>
              <a:t>be </a:t>
            </a:r>
            <a:r>
              <a:rPr sz="3000" spc="-5" dirty="0">
                <a:latin typeface="Times New Roman"/>
                <a:cs typeface="Times New Roman"/>
              </a:rPr>
              <a:t>added </a:t>
            </a:r>
            <a:r>
              <a:rPr sz="3000" dirty="0">
                <a:latin typeface="Times New Roman"/>
                <a:cs typeface="Times New Roman"/>
              </a:rPr>
              <a:t>using </a:t>
            </a:r>
            <a:r>
              <a:rPr sz="3000" spc="5" dirty="0">
                <a:latin typeface="Times New Roman"/>
                <a:cs typeface="Times New Roman"/>
              </a:rPr>
              <a:t>the </a:t>
            </a:r>
            <a:r>
              <a:rPr sz="3000" dirty="0">
                <a:latin typeface="Times New Roman"/>
                <a:cs typeface="Times New Roman"/>
              </a:rPr>
              <a:t>border </a:t>
            </a:r>
            <a:r>
              <a:rPr sz="3000" spc="-735" dirty="0">
                <a:latin typeface="Times New Roman"/>
                <a:cs typeface="Times New Roman"/>
              </a:rPr>
              <a:t> </a:t>
            </a:r>
            <a:r>
              <a:rPr sz="3000" spc="-15" dirty="0">
                <a:latin typeface="Times New Roman"/>
                <a:cs typeface="Times New Roman"/>
              </a:rPr>
              <a:t>a</a:t>
            </a:r>
            <a:r>
              <a:rPr sz="3000" dirty="0">
                <a:latin typeface="Times New Roman"/>
                <a:cs typeface="Times New Roman"/>
              </a:rPr>
              <a:t>t</a:t>
            </a:r>
            <a:r>
              <a:rPr sz="3000" spc="5" dirty="0">
                <a:latin typeface="Times New Roman"/>
                <a:cs typeface="Times New Roman"/>
              </a:rPr>
              <a:t>t</a:t>
            </a:r>
            <a:r>
              <a:rPr sz="3000" dirty="0">
                <a:latin typeface="Times New Roman"/>
                <a:cs typeface="Times New Roman"/>
              </a:rPr>
              <a:t>r</a:t>
            </a:r>
            <a:r>
              <a:rPr sz="3000" spc="10" dirty="0">
                <a:latin typeface="Times New Roman"/>
                <a:cs typeface="Times New Roman"/>
              </a:rPr>
              <a:t>i</a:t>
            </a:r>
            <a:r>
              <a:rPr sz="3000" spc="5" dirty="0">
                <a:latin typeface="Times New Roman"/>
                <a:cs typeface="Times New Roman"/>
              </a:rPr>
              <a:t>bu</a:t>
            </a:r>
            <a:r>
              <a:rPr sz="3000" dirty="0">
                <a:latin typeface="Times New Roman"/>
                <a:cs typeface="Times New Roman"/>
              </a:rPr>
              <a:t>te</a:t>
            </a:r>
            <a:r>
              <a:rPr sz="3000" spc="-1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</a:t>
            </a:r>
            <a:r>
              <a:rPr sz="3000" spc="5" dirty="0">
                <a:latin typeface="Times New Roman"/>
                <a:cs typeface="Times New Roman"/>
              </a:rPr>
              <a:t>h</a:t>
            </a:r>
            <a:r>
              <a:rPr sz="3000" dirty="0">
                <a:latin typeface="Times New Roman"/>
                <a:cs typeface="Times New Roman"/>
              </a:rPr>
              <a:t>e </a:t>
            </a:r>
            <a:r>
              <a:rPr sz="3000" b="1" spc="-5" dirty="0">
                <a:latin typeface="Courier New"/>
                <a:cs typeface="Courier New"/>
              </a:rPr>
              <a:t>&lt;table</a:t>
            </a:r>
            <a:r>
              <a:rPr sz="3000" b="1" dirty="0">
                <a:latin typeface="Courier New"/>
                <a:cs typeface="Courier New"/>
              </a:rPr>
              <a:t>&gt;</a:t>
            </a:r>
            <a:r>
              <a:rPr sz="3000" b="1" spc="-1055" dirty="0">
                <a:latin typeface="Courier New"/>
                <a:cs typeface="Courier New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tag.</a:t>
            </a:r>
            <a:endParaRPr sz="3000">
              <a:latin typeface="Times New Roman"/>
              <a:cs typeface="Times New Roman"/>
            </a:endParaRPr>
          </a:p>
          <a:p>
            <a:pPr marL="356870" marR="5080" indent="-344805">
              <a:lnSpc>
                <a:spcPts val="3529"/>
              </a:lnSpc>
              <a:spcBef>
                <a:spcPts val="810"/>
              </a:spcBef>
              <a:buChar char="•"/>
              <a:tabLst>
                <a:tab pos="356870" algn="l"/>
                <a:tab pos="357505" algn="l"/>
              </a:tabLst>
            </a:pPr>
            <a:r>
              <a:rPr sz="3000" spc="-5" dirty="0">
                <a:latin typeface="Times New Roman"/>
                <a:cs typeface="Times New Roman"/>
              </a:rPr>
              <a:t>The</a:t>
            </a:r>
            <a:r>
              <a:rPr sz="300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syntax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for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creating</a:t>
            </a:r>
            <a:r>
              <a:rPr sz="3000" spc="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 table</a:t>
            </a:r>
            <a:r>
              <a:rPr sz="3000" spc="1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border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is:</a:t>
            </a:r>
            <a:r>
              <a:rPr sz="3000" spc="20" dirty="0">
                <a:latin typeface="Times New Roman"/>
                <a:cs typeface="Times New Roman"/>
              </a:rPr>
              <a:t> </a:t>
            </a:r>
            <a:r>
              <a:rPr sz="3000" b="1" spc="-5" dirty="0">
                <a:latin typeface="Courier New"/>
                <a:cs typeface="Courier New"/>
              </a:rPr>
              <a:t>&lt;table </a:t>
            </a:r>
            <a:r>
              <a:rPr sz="3000" b="1" spc="-1785" dirty="0">
                <a:latin typeface="Courier New"/>
                <a:cs typeface="Courier New"/>
              </a:rPr>
              <a:t> </a:t>
            </a:r>
            <a:r>
              <a:rPr sz="3000" b="1" spc="-5" dirty="0">
                <a:latin typeface="Courier New"/>
                <a:cs typeface="Courier New"/>
              </a:rPr>
              <a:t>border=“value”&gt;</a:t>
            </a:r>
            <a:endParaRPr sz="30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845"/>
              </a:spcBef>
            </a:pPr>
            <a:r>
              <a:rPr sz="2800" dirty="0">
                <a:latin typeface="Times New Roman"/>
                <a:cs typeface="Times New Roman"/>
              </a:rPr>
              <a:t>–</a:t>
            </a:r>
            <a:r>
              <a:rPr sz="2800" spc="150" dirty="0">
                <a:latin typeface="Times New Roman"/>
                <a:cs typeface="Times New Roman"/>
              </a:rPr>
              <a:t> </a:t>
            </a:r>
            <a:r>
              <a:rPr sz="2800" b="1" i="1" spc="5" dirty="0">
                <a:latin typeface="Times New Roman"/>
                <a:cs typeface="Times New Roman"/>
              </a:rPr>
              <a:t>value</a:t>
            </a:r>
            <a:r>
              <a:rPr sz="2800" b="1" i="1" spc="-5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is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the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width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of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the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border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in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pixels</a:t>
            </a:r>
            <a:endParaRPr sz="2800">
              <a:latin typeface="Times New Roman"/>
              <a:cs typeface="Times New Roman"/>
            </a:endParaRPr>
          </a:p>
          <a:p>
            <a:pPr marL="356870" marR="222250" indent="-344805">
              <a:lnSpc>
                <a:spcPct val="100000"/>
              </a:lnSpc>
              <a:spcBef>
                <a:spcPts val="670"/>
              </a:spcBef>
              <a:buChar char="•"/>
              <a:tabLst>
                <a:tab pos="356870" algn="l"/>
                <a:tab pos="357505" algn="l"/>
              </a:tabLst>
            </a:pP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b="1" spc="5" dirty="0">
                <a:latin typeface="Times New Roman"/>
                <a:cs typeface="Times New Roman"/>
              </a:rPr>
              <a:t>size </a:t>
            </a:r>
            <a:r>
              <a:rPr sz="2800" spc="5" dirty="0">
                <a:latin typeface="Times New Roman"/>
                <a:cs typeface="Times New Roman"/>
              </a:rPr>
              <a:t>attribute is optional; if </a:t>
            </a:r>
            <a:r>
              <a:rPr sz="2800" spc="-5" dirty="0">
                <a:latin typeface="Times New Roman"/>
                <a:cs typeface="Times New Roman"/>
              </a:rPr>
              <a:t>you don’t </a:t>
            </a:r>
            <a:r>
              <a:rPr sz="2800" spc="5" dirty="0">
                <a:latin typeface="Times New Roman"/>
                <a:cs typeface="Times New Roman"/>
              </a:rPr>
              <a:t>specify </a:t>
            </a: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5" dirty="0">
                <a:latin typeface="Times New Roman"/>
                <a:cs typeface="Times New Roman"/>
              </a:rPr>
              <a:t> size,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the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browser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creates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table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border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1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pixel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wide.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57122" y="417017"/>
            <a:ext cx="6501765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latin typeface="Times New Roman"/>
                <a:cs typeface="Times New Roman"/>
              </a:rPr>
              <a:t>Tables</a:t>
            </a:r>
            <a:r>
              <a:rPr sz="3200" b="1" spc="-15" dirty="0">
                <a:latin typeface="Times New Roman"/>
                <a:cs typeface="Times New Roman"/>
              </a:rPr>
              <a:t> </a:t>
            </a:r>
            <a:r>
              <a:rPr sz="3200" b="1" spc="5" dirty="0">
                <a:latin typeface="Times New Roman"/>
                <a:cs typeface="Times New Roman"/>
              </a:rPr>
              <a:t>with</a:t>
            </a:r>
            <a:r>
              <a:rPr sz="3200" b="1" spc="-50" dirty="0">
                <a:latin typeface="Times New Roman"/>
                <a:cs typeface="Times New Roman"/>
              </a:rPr>
              <a:t> </a:t>
            </a:r>
            <a:r>
              <a:rPr sz="3200" b="1" spc="-5" dirty="0">
                <a:latin typeface="Times New Roman"/>
                <a:cs typeface="Times New Roman"/>
              </a:rPr>
              <a:t>Different</a:t>
            </a:r>
            <a:r>
              <a:rPr sz="3200" b="1" spc="40" dirty="0">
                <a:latin typeface="Times New Roman"/>
                <a:cs typeface="Times New Roman"/>
              </a:rPr>
              <a:t> </a:t>
            </a:r>
            <a:r>
              <a:rPr sz="3200" b="1" spc="-5" dirty="0">
                <a:latin typeface="Times New Roman"/>
                <a:cs typeface="Times New Roman"/>
              </a:rPr>
              <a:t>Borders</a:t>
            </a:r>
            <a:r>
              <a:rPr sz="3200" b="1" dirty="0">
                <a:latin typeface="Times New Roman"/>
                <a:cs typeface="Times New Roman"/>
              </a:rPr>
              <a:t> </a:t>
            </a:r>
            <a:r>
              <a:rPr sz="3200" b="1" spc="-5" dirty="0">
                <a:latin typeface="Times New Roman"/>
                <a:cs typeface="Times New Roman"/>
              </a:rPr>
              <a:t>Values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52400" y="1911095"/>
            <a:ext cx="8915400" cy="375285"/>
          </a:xfrm>
          <a:custGeom>
            <a:avLst/>
            <a:gdLst/>
            <a:ahLst/>
            <a:cxnLst/>
            <a:rect l="l" t="t" r="r" b="b"/>
            <a:pathLst>
              <a:path w="8915400" h="375285">
                <a:moveTo>
                  <a:pt x="8915400" y="0"/>
                </a:moveTo>
                <a:lnTo>
                  <a:pt x="0" y="0"/>
                </a:lnTo>
                <a:lnTo>
                  <a:pt x="0" y="374903"/>
                </a:lnTo>
                <a:lnTo>
                  <a:pt x="8915400" y="374903"/>
                </a:lnTo>
                <a:lnTo>
                  <a:pt x="891540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11174" y="1907285"/>
            <a:ext cx="7606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Times New Roman"/>
                <a:cs typeface="Times New Roman"/>
              </a:rPr>
              <a:t>This</a:t>
            </a:r>
            <a:r>
              <a:rPr sz="1800" b="1" spc="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figure</a:t>
            </a:r>
            <a:r>
              <a:rPr sz="1800" b="1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shows</a:t>
            </a:r>
            <a:r>
              <a:rPr sz="1800" b="1" spc="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the</a:t>
            </a:r>
            <a:r>
              <a:rPr sz="1800" b="1" spc="3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effect</a:t>
            </a:r>
            <a:r>
              <a:rPr sz="1800" b="1" spc="1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on</a:t>
            </a:r>
            <a:r>
              <a:rPr sz="1800" b="1" spc="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a</a:t>
            </a:r>
            <a:r>
              <a:rPr sz="1800" b="1" spc="25" dirty="0">
                <a:latin typeface="Times New Roman"/>
                <a:cs typeface="Times New Roman"/>
              </a:rPr>
              <a:t> </a:t>
            </a:r>
            <a:r>
              <a:rPr sz="1800" b="1" spc="-15" dirty="0">
                <a:latin typeface="Times New Roman"/>
                <a:cs typeface="Times New Roman"/>
              </a:rPr>
              <a:t>table’s</a:t>
            </a:r>
            <a:r>
              <a:rPr sz="1800" b="1" spc="3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border</a:t>
            </a:r>
            <a:r>
              <a:rPr sz="1800" b="1" spc="20" dirty="0">
                <a:latin typeface="Times New Roman"/>
                <a:cs typeface="Times New Roman"/>
              </a:rPr>
              <a:t> </a:t>
            </a:r>
            <a:r>
              <a:rPr sz="1800" b="1" spc="5" dirty="0">
                <a:latin typeface="Times New Roman"/>
                <a:cs typeface="Times New Roman"/>
              </a:rPr>
              <a:t>when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the</a:t>
            </a:r>
            <a:r>
              <a:rPr sz="1800" b="1" spc="3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border</a:t>
            </a:r>
            <a:r>
              <a:rPr sz="1800" b="1" spc="2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size</a:t>
            </a:r>
            <a:r>
              <a:rPr sz="1800" b="1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is</a:t>
            </a:r>
            <a:r>
              <a:rPr sz="1800" b="1" spc="1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varied.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1604" y="2799944"/>
            <a:ext cx="7254278" cy="1777981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0"/>
              </a:lnSpc>
            </a:pPr>
            <a:fld id="{81D60167-4931-47E6-BA6A-407CBD079E47}" type="slidenum">
              <a:rPr spc="-5" dirty="0"/>
              <a:t>13</a:t>
            </a:fld>
            <a:endParaRPr spc="-5" dirty="0"/>
          </a:p>
        </p:txBody>
      </p:sp>
    </p:spTree>
    <p:extLst>
      <p:ext uri="{BB962C8B-B14F-4D97-AF65-F5344CB8AC3E}">
        <p14:creationId xmlns:p14="http://schemas.microsoft.com/office/powerpoint/2010/main" val="3093309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276999"/>
          </a:xfrm>
        </p:spPr>
        <p:txBody>
          <a:bodyPr/>
          <a:lstStyle/>
          <a:p>
            <a:r>
              <a:rPr lang="en-US" dirty="0" smtClean="0"/>
              <a:t>HTML TABLE ATTRIBUTES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685800"/>
            <a:ext cx="8229600" cy="4154984"/>
          </a:xfrm>
        </p:spPr>
        <p:txBody>
          <a:bodyPr/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To add a border, use the CSS border property on table, </a:t>
            </a:r>
            <a:r>
              <a:rPr lang="en-US" dirty="0" err="1" smtClean="0"/>
              <a:t>th</a:t>
            </a:r>
            <a:r>
              <a:rPr lang="en-US" dirty="0" smtClean="0"/>
              <a:t>, and td elements</a:t>
            </a:r>
          </a:p>
          <a:p>
            <a:endParaRPr lang="en-US" dirty="0"/>
          </a:p>
          <a:p>
            <a:r>
              <a:rPr lang="en-US" dirty="0"/>
              <a:t>table, </a:t>
            </a:r>
            <a:r>
              <a:rPr lang="en-US" dirty="0" err="1"/>
              <a:t>th</a:t>
            </a:r>
            <a:r>
              <a:rPr lang="en-US" dirty="0"/>
              <a:t>, td {</a:t>
            </a:r>
            <a:br>
              <a:rPr lang="en-US" dirty="0"/>
            </a:br>
            <a:r>
              <a:rPr lang="en-US" dirty="0"/>
              <a:t>  border: 1px solid black;</a:t>
            </a:r>
            <a:br>
              <a:rPr lang="en-US" dirty="0"/>
            </a:br>
            <a:r>
              <a:rPr lang="en-US" dirty="0"/>
              <a:t>  border-collapse: collapse</a:t>
            </a:r>
            <a:r>
              <a:rPr lang="en-US" dirty="0" smtClean="0"/>
              <a:t>;</a:t>
            </a:r>
          </a:p>
          <a:p>
            <a:r>
              <a:rPr lang="en-US" dirty="0"/>
              <a:t>background-color: #96D4D4;</a:t>
            </a:r>
            <a:br>
              <a:rPr lang="en-US" dirty="0"/>
            </a:br>
            <a:r>
              <a:rPr lang="en-US" dirty="0" smtClean="0"/>
              <a:t>}</a:t>
            </a:r>
          </a:p>
          <a:p>
            <a:endParaRPr lang="en-US" dirty="0" smtClean="0"/>
          </a:p>
          <a:p>
            <a:r>
              <a:rPr lang="en-US" dirty="0" smtClean="0"/>
              <a:t>Round table border can be set using border-radius property on table </a:t>
            </a:r>
            <a:r>
              <a:rPr lang="en-US" dirty="0" err="1" smtClean="0"/>
              <a:t>th</a:t>
            </a:r>
            <a:r>
              <a:rPr lang="en-US" dirty="0" smtClean="0"/>
              <a:t> and td elements</a:t>
            </a:r>
          </a:p>
          <a:p>
            <a:endParaRPr lang="en-US" dirty="0"/>
          </a:p>
          <a:p>
            <a:endParaRPr lang="en-US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211"/>
          <a:stretch/>
        </p:blipFill>
        <p:spPr bwMode="auto">
          <a:xfrm>
            <a:off x="304800" y="4233228"/>
            <a:ext cx="2768600" cy="1308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4038600" y="4800600"/>
            <a:ext cx="4953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table, th, td {</a:t>
            </a:r>
            <a:br>
              <a:rPr lang="en-US" dirty="0"/>
            </a:br>
            <a:r>
              <a:rPr lang="en-US" dirty="0"/>
              <a:t>  border: 1px solid black;</a:t>
            </a:r>
            <a:br>
              <a:rPr lang="en-US" dirty="0"/>
            </a:br>
            <a:r>
              <a:rPr lang="en-US" dirty="0"/>
              <a:t>  border-radius: 10px;</a:t>
            </a:r>
            <a:br>
              <a:rPr lang="en-US" dirty="0"/>
            </a:br>
            <a:r>
              <a:rPr lang="en-US" dirty="0" smtClean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5558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276999"/>
          </a:xfrm>
        </p:spPr>
        <p:txBody>
          <a:bodyPr/>
          <a:lstStyle/>
          <a:p>
            <a:r>
              <a:rPr lang="en-US" dirty="0" smtClean="0"/>
              <a:t>HTML TABLE ATTRIBUTES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81000" y="838200"/>
            <a:ext cx="807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With the </a:t>
            </a:r>
            <a:r>
              <a:rPr lang="en-US" dirty="0" smtClean="0"/>
              <a:t>border-style</a:t>
            </a:r>
            <a:r>
              <a:rPr lang="en-US" dirty="0"/>
              <a:t> property, you can set the appearance of the border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484531"/>
            <a:ext cx="3047999" cy="22492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7"/>
          <p:cNvSpPr/>
          <p:nvPr/>
        </p:nvSpPr>
        <p:spPr>
          <a:xfrm>
            <a:off x="533400" y="3886200"/>
            <a:ext cx="76962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 smtClean="0"/>
              <a:t>th</a:t>
            </a:r>
            <a:r>
              <a:rPr lang="en-US" dirty="0" smtClean="0"/>
              <a:t>, td {</a:t>
            </a:r>
          </a:p>
          <a:p>
            <a:r>
              <a:rPr lang="en-US" dirty="0" smtClean="0"/>
              <a:t>  border-style: dotted;</a:t>
            </a:r>
          </a:p>
          <a:p>
            <a:r>
              <a:rPr lang="en-US" dirty="0" smtClean="0"/>
              <a:t>}</a:t>
            </a:r>
          </a:p>
          <a:p>
            <a:endParaRPr lang="en-US" dirty="0"/>
          </a:p>
          <a:p>
            <a:r>
              <a:rPr lang="en-US" dirty="0"/>
              <a:t>With the </a:t>
            </a:r>
            <a:r>
              <a:rPr lang="en-US" dirty="0" smtClean="0"/>
              <a:t>border-color</a:t>
            </a:r>
            <a:r>
              <a:rPr lang="en-US" dirty="0"/>
              <a:t> property, you can set the color of the border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Use the </a:t>
            </a:r>
            <a:r>
              <a:rPr lang="en-US" dirty="0" smtClean="0"/>
              <a:t>style</a:t>
            </a:r>
            <a:r>
              <a:rPr lang="en-US" dirty="0"/>
              <a:t> attribute with the </a:t>
            </a:r>
            <a:r>
              <a:rPr lang="en-US" dirty="0" smtClean="0"/>
              <a:t>width</a:t>
            </a:r>
            <a:r>
              <a:rPr lang="en-US" dirty="0"/>
              <a:t> or </a:t>
            </a:r>
            <a:r>
              <a:rPr lang="en-US" dirty="0" smtClean="0"/>
              <a:t>height</a:t>
            </a:r>
            <a:r>
              <a:rPr lang="en-US" dirty="0"/>
              <a:t> properties to specify the size of a table, row or column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0556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72817" y="417017"/>
            <a:ext cx="5277485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Applying</a:t>
            </a:r>
            <a:r>
              <a:rPr dirty="0"/>
              <a:t> </a:t>
            </a:r>
            <a:r>
              <a:rPr spc="-5" dirty="0"/>
              <a:t>a</a:t>
            </a:r>
            <a:r>
              <a:rPr spc="-15" dirty="0"/>
              <a:t> </a:t>
            </a:r>
            <a:r>
              <a:rPr spc="-5" dirty="0"/>
              <a:t>Background</a:t>
            </a:r>
            <a:r>
              <a:rPr spc="10" dirty="0"/>
              <a:t> </a:t>
            </a:r>
            <a:r>
              <a:rPr spc="-5" dirty="0"/>
              <a:t>Color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0"/>
              </a:lnSpc>
            </a:pPr>
            <a:fld id="{81D60167-4931-47E6-BA6A-407CBD079E47}" type="slidenum">
              <a:rPr spc="-5" dirty="0"/>
              <a:t>16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536244" y="1558747"/>
            <a:ext cx="8049259" cy="3329304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356870" indent="-344805" algn="just">
              <a:lnSpc>
                <a:spcPct val="100000"/>
              </a:lnSpc>
              <a:spcBef>
                <a:spcPts val="630"/>
              </a:spcBef>
              <a:buChar char="•"/>
              <a:tabLst>
                <a:tab pos="357505" algn="l"/>
              </a:tabLst>
            </a:pPr>
            <a:r>
              <a:rPr sz="2200" spc="5" dirty="0">
                <a:latin typeface="Times New Roman"/>
                <a:cs typeface="Times New Roman"/>
              </a:rPr>
              <a:t>Table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elements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support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bgcolor</a:t>
            </a:r>
            <a:r>
              <a:rPr sz="2200" b="1" spc="-40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attribute.</a:t>
            </a:r>
            <a:endParaRPr sz="2200">
              <a:latin typeface="Times New Roman"/>
              <a:cs typeface="Times New Roman"/>
            </a:endParaRPr>
          </a:p>
          <a:p>
            <a:pPr marL="356870" marR="5080" indent="-344805" algn="just">
              <a:lnSpc>
                <a:spcPct val="97300"/>
              </a:lnSpc>
              <a:spcBef>
                <a:spcPts val="600"/>
              </a:spcBef>
              <a:buChar char="•"/>
              <a:tabLst>
                <a:tab pos="357505" algn="l"/>
              </a:tabLst>
            </a:pPr>
            <a:r>
              <a:rPr sz="2200" spc="10" dirty="0">
                <a:latin typeface="Times New Roman"/>
                <a:cs typeface="Times New Roman"/>
              </a:rPr>
              <a:t>To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specify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background</a:t>
            </a:r>
            <a:r>
              <a:rPr sz="2200" spc="5" dirty="0">
                <a:latin typeface="Times New Roman"/>
                <a:cs typeface="Times New Roman"/>
              </a:rPr>
              <a:t> color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all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cells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in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5" dirty="0">
                <a:latin typeface="Times New Roman"/>
                <a:cs typeface="Times New Roman"/>
              </a:rPr>
              <a:t> table,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all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cells </a:t>
            </a:r>
            <a:r>
              <a:rPr sz="2200" spc="5" dirty="0">
                <a:latin typeface="Times New Roman"/>
                <a:cs typeface="Times New Roman"/>
              </a:rPr>
              <a:t>in </a:t>
            </a:r>
            <a:r>
              <a:rPr sz="2200" dirty="0">
                <a:latin typeface="Times New Roman"/>
                <a:cs typeface="Times New Roman"/>
              </a:rPr>
              <a:t>a row, or for individual cells, by </a:t>
            </a:r>
            <a:r>
              <a:rPr sz="2200" spc="5" dirty="0">
                <a:latin typeface="Times New Roman"/>
                <a:cs typeface="Times New Roman"/>
              </a:rPr>
              <a:t>adding </a:t>
            </a:r>
            <a:r>
              <a:rPr sz="2200" dirty="0">
                <a:latin typeface="Times New Roman"/>
                <a:cs typeface="Times New Roman"/>
              </a:rPr>
              <a:t>the bgcolor </a:t>
            </a:r>
            <a:r>
              <a:rPr sz="2200" spc="5" dirty="0">
                <a:latin typeface="Times New Roman"/>
                <a:cs typeface="Times New Roman"/>
              </a:rPr>
              <a:t>attribute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t</a:t>
            </a:r>
            <a:r>
              <a:rPr sz="2200" dirty="0">
                <a:latin typeface="Times New Roman"/>
                <a:cs typeface="Times New Roman"/>
              </a:rPr>
              <a:t>o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</a:t>
            </a:r>
            <a:r>
              <a:rPr sz="2200" spc="10" dirty="0">
                <a:latin typeface="Times New Roman"/>
                <a:cs typeface="Times New Roman"/>
              </a:rPr>
              <a:t>i</a:t>
            </a:r>
            <a:r>
              <a:rPr sz="2200" spc="5" dirty="0">
                <a:latin typeface="Times New Roman"/>
                <a:cs typeface="Times New Roman"/>
              </a:rPr>
              <a:t>t</a:t>
            </a:r>
            <a:r>
              <a:rPr sz="2200" dirty="0">
                <a:latin typeface="Times New Roman"/>
                <a:cs typeface="Times New Roman"/>
              </a:rPr>
              <a:t>her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t</a:t>
            </a:r>
            <a:r>
              <a:rPr sz="2200" dirty="0">
                <a:latin typeface="Times New Roman"/>
                <a:cs typeface="Times New Roman"/>
              </a:rPr>
              <a:t>he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b="1" spc="-5" dirty="0">
                <a:latin typeface="Courier New"/>
                <a:cs typeface="Courier New"/>
              </a:rPr>
              <a:t>&lt;table&gt;</a:t>
            </a:r>
            <a:r>
              <a:rPr sz="2200" dirty="0">
                <a:latin typeface="Times New Roman"/>
                <a:cs typeface="Times New Roman"/>
              </a:rPr>
              <a:t>,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b="1" spc="-5" dirty="0">
                <a:latin typeface="Courier New"/>
                <a:cs typeface="Courier New"/>
              </a:rPr>
              <a:t>&lt;tr&gt;</a:t>
            </a:r>
            <a:r>
              <a:rPr sz="2200" dirty="0">
                <a:latin typeface="Times New Roman"/>
                <a:cs typeface="Times New Roman"/>
              </a:rPr>
              <a:t>,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b="1" spc="-5" dirty="0">
                <a:latin typeface="Courier New"/>
                <a:cs typeface="Courier New"/>
              </a:rPr>
              <a:t>&lt;td&gt;</a:t>
            </a:r>
            <a:r>
              <a:rPr sz="2200" dirty="0">
                <a:latin typeface="Times New Roman"/>
                <a:cs typeface="Times New Roman"/>
              </a:rPr>
              <a:t>,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or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b="1" spc="-5" dirty="0">
                <a:latin typeface="Courier New"/>
                <a:cs typeface="Courier New"/>
              </a:rPr>
              <a:t>&lt;th</a:t>
            </a:r>
            <a:r>
              <a:rPr sz="2200" b="1" dirty="0">
                <a:latin typeface="Courier New"/>
                <a:cs typeface="Courier New"/>
              </a:rPr>
              <a:t>&gt;</a:t>
            </a:r>
            <a:r>
              <a:rPr sz="2200" b="1" spc="-750" dirty="0">
                <a:latin typeface="Courier New"/>
                <a:cs typeface="Courier New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t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20" dirty="0">
                <a:latin typeface="Times New Roman"/>
                <a:cs typeface="Times New Roman"/>
              </a:rPr>
              <a:t>g</a:t>
            </a:r>
            <a:r>
              <a:rPr sz="2200" dirty="0">
                <a:latin typeface="Times New Roman"/>
                <a:cs typeface="Times New Roman"/>
              </a:rPr>
              <a:t>s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as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f</a:t>
            </a:r>
            <a:r>
              <a:rPr sz="2200" dirty="0">
                <a:latin typeface="Times New Roman"/>
                <a:cs typeface="Times New Roman"/>
              </a:rPr>
              <a:t>o</a:t>
            </a:r>
            <a:r>
              <a:rPr sz="2200" spc="5" dirty="0">
                <a:latin typeface="Times New Roman"/>
                <a:cs typeface="Times New Roman"/>
              </a:rPr>
              <a:t>ll</a:t>
            </a:r>
            <a:r>
              <a:rPr sz="2200" dirty="0">
                <a:latin typeface="Times New Roman"/>
                <a:cs typeface="Times New Roman"/>
              </a:rPr>
              <a:t>o</a:t>
            </a:r>
            <a:r>
              <a:rPr sz="2200" spc="-10" dirty="0">
                <a:latin typeface="Times New Roman"/>
                <a:cs typeface="Times New Roman"/>
              </a:rPr>
              <a:t>w</a:t>
            </a:r>
            <a:r>
              <a:rPr sz="2200" dirty="0">
                <a:latin typeface="Times New Roman"/>
                <a:cs typeface="Times New Roman"/>
              </a:rPr>
              <a:t>s:</a:t>
            </a:r>
            <a:endParaRPr sz="22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465"/>
              </a:spcBef>
            </a:pPr>
            <a:r>
              <a:rPr sz="2000" b="1" spc="-5" dirty="0">
                <a:latin typeface="Courier New"/>
                <a:cs typeface="Courier New"/>
              </a:rPr>
              <a:t>&lt;table</a:t>
            </a:r>
            <a:r>
              <a:rPr sz="2000" b="1" spc="-55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bgcolor=“color”&gt;</a:t>
            </a:r>
            <a:endParaRPr sz="20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480"/>
              </a:spcBef>
            </a:pPr>
            <a:r>
              <a:rPr sz="2000" b="1" spc="-5" dirty="0">
                <a:latin typeface="Courier New"/>
                <a:cs typeface="Courier New"/>
              </a:rPr>
              <a:t>&lt;tr</a:t>
            </a:r>
            <a:r>
              <a:rPr sz="2000" b="1" spc="-80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bgcolor=“color”&gt;</a:t>
            </a:r>
            <a:endParaRPr sz="20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480"/>
              </a:spcBef>
            </a:pPr>
            <a:r>
              <a:rPr sz="2000" b="1" spc="-5" dirty="0">
                <a:latin typeface="Courier New"/>
                <a:cs typeface="Courier New"/>
              </a:rPr>
              <a:t>&lt;td</a:t>
            </a:r>
            <a:r>
              <a:rPr sz="2000" b="1" spc="-50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bgcolor=“color”&gt;</a:t>
            </a:r>
            <a:endParaRPr sz="20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484"/>
              </a:spcBef>
            </a:pPr>
            <a:r>
              <a:rPr sz="2000" b="1" spc="-5" dirty="0">
                <a:latin typeface="Courier New"/>
                <a:cs typeface="Courier New"/>
              </a:rPr>
              <a:t>&lt;th</a:t>
            </a:r>
            <a:r>
              <a:rPr sz="2000" b="1" spc="-80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bgcolor=“color”&gt;</a:t>
            </a:r>
            <a:endParaRPr sz="20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625"/>
              </a:spcBef>
              <a:tabLst>
                <a:tab pos="756285" algn="l"/>
              </a:tabLst>
            </a:pPr>
            <a:r>
              <a:rPr sz="2000" spc="-5" dirty="0">
                <a:latin typeface="Times New Roman"/>
                <a:cs typeface="Times New Roman"/>
              </a:rPr>
              <a:t>–	</a:t>
            </a:r>
            <a:r>
              <a:rPr sz="2000" b="1" i="1" dirty="0">
                <a:latin typeface="Times New Roman"/>
                <a:cs typeface="Times New Roman"/>
              </a:rPr>
              <a:t>color</a:t>
            </a:r>
            <a:r>
              <a:rPr sz="2000" b="1" i="1" spc="-4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either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 color</a:t>
            </a:r>
            <a:r>
              <a:rPr sz="2000" spc="-20" dirty="0">
                <a:latin typeface="Times New Roman"/>
                <a:cs typeface="Times New Roman"/>
              </a:rPr>
              <a:t> name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hexadecimal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color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value</a:t>
            </a:r>
            <a:endParaRPr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97926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2822" y="74421"/>
            <a:ext cx="6833234" cy="5124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5" dirty="0"/>
              <a:t>Specifying</a:t>
            </a:r>
            <a:r>
              <a:rPr spc="25" dirty="0"/>
              <a:t> </a:t>
            </a:r>
            <a:r>
              <a:rPr spc="-5" dirty="0"/>
              <a:t>Table, </a:t>
            </a:r>
            <a:r>
              <a:rPr spc="5" dirty="0"/>
              <a:t>Row,</a:t>
            </a:r>
            <a:r>
              <a:rPr spc="-40" dirty="0"/>
              <a:t> </a:t>
            </a:r>
            <a:r>
              <a:rPr spc="-5" dirty="0"/>
              <a:t>and Cell</a:t>
            </a:r>
            <a:r>
              <a:rPr spc="15" dirty="0"/>
              <a:t> </a:t>
            </a:r>
            <a:r>
              <a:rPr spc="-5" dirty="0"/>
              <a:t>Colors</a:t>
            </a:r>
          </a:p>
        </p:txBody>
      </p:sp>
      <p:pic>
        <p:nvPicPr>
          <p:cNvPr id="3" name="object 3"/>
          <p:cNvPicPr/>
          <p:nvPr/>
        </p:nvPicPr>
        <p:blipFill rotWithShape="1">
          <a:blip r:embed="rId2" cstate="print"/>
          <a:srcRect b="66562"/>
          <a:stretch/>
        </p:blipFill>
        <p:spPr>
          <a:xfrm>
            <a:off x="762000" y="1524000"/>
            <a:ext cx="7520781" cy="2819400"/>
          </a:xfrm>
          <a:prstGeom prst="rect">
            <a:avLst/>
          </a:prstGeom>
        </p:spPr>
      </p:pic>
      <p:pic>
        <p:nvPicPr>
          <p:cNvPr id="5" name="object 3"/>
          <p:cNvPicPr/>
          <p:nvPr/>
        </p:nvPicPr>
        <p:blipFill rotWithShape="1">
          <a:blip r:embed="rId3" cstate="print"/>
          <a:srcRect b="50000"/>
          <a:stretch/>
        </p:blipFill>
        <p:spPr>
          <a:xfrm>
            <a:off x="897560" y="4953000"/>
            <a:ext cx="6553200" cy="1594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318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03298" y="389585"/>
            <a:ext cx="5217160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T</a:t>
            </a:r>
            <a:r>
              <a:rPr dirty="0"/>
              <a:t>h</a:t>
            </a:r>
            <a:r>
              <a:rPr spc="-5" dirty="0"/>
              <a:t>e</a:t>
            </a:r>
            <a:r>
              <a:rPr spc="15" dirty="0"/>
              <a:t> </a:t>
            </a:r>
            <a:r>
              <a:rPr dirty="0">
                <a:latin typeface="Courier New"/>
                <a:cs typeface="Courier New"/>
              </a:rPr>
              <a:t>bordercolo</a:t>
            </a:r>
            <a:r>
              <a:rPr spc="-5" dirty="0">
                <a:latin typeface="Courier New"/>
                <a:cs typeface="Courier New"/>
              </a:rPr>
              <a:t>r</a:t>
            </a:r>
            <a:r>
              <a:rPr spc="-1095" dirty="0">
                <a:latin typeface="Courier New"/>
                <a:cs typeface="Courier New"/>
              </a:rPr>
              <a:t> </a:t>
            </a:r>
            <a:r>
              <a:rPr spc="-5" dirty="0"/>
              <a:t>At</a:t>
            </a:r>
            <a:r>
              <a:rPr spc="-15" dirty="0"/>
              <a:t>t</a:t>
            </a:r>
            <a:r>
              <a:rPr spc="-5" dirty="0"/>
              <a:t>ribute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1548765"/>
            <a:ext cx="7947659" cy="3086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marR="205740" indent="-344805">
              <a:lnSpc>
                <a:spcPct val="100000"/>
              </a:lnSpc>
              <a:spcBef>
                <a:spcPts val="100"/>
              </a:spcBef>
              <a:buChar char="•"/>
              <a:tabLst>
                <a:tab pos="356870" algn="l"/>
                <a:tab pos="357505" algn="l"/>
              </a:tabLst>
            </a:pPr>
            <a:r>
              <a:rPr sz="2400" spc="-10" dirty="0">
                <a:latin typeface="Times New Roman"/>
                <a:cs typeface="Times New Roman"/>
              </a:rPr>
              <a:t>By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default, </a:t>
            </a:r>
            <a:r>
              <a:rPr sz="2400" dirty="0">
                <a:latin typeface="Times New Roman"/>
                <a:cs typeface="Times New Roman"/>
              </a:rPr>
              <a:t>table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borders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are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displayed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two</a:t>
            </a:r>
            <a:r>
              <a:rPr sz="2400" spc="-5" dirty="0">
                <a:latin typeface="Times New Roman"/>
                <a:cs typeface="Times New Roman"/>
              </a:rPr>
              <a:t> shades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gray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that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create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three-dimensional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effect.</a:t>
            </a:r>
            <a:endParaRPr sz="2400">
              <a:latin typeface="Times New Roman"/>
              <a:cs typeface="Times New Roman"/>
            </a:endParaRPr>
          </a:p>
          <a:p>
            <a:pPr marL="356870" indent="-344805">
              <a:lnSpc>
                <a:spcPct val="100000"/>
              </a:lnSpc>
              <a:spcBef>
                <a:spcPts val="575"/>
              </a:spcBef>
              <a:buChar char="•"/>
              <a:tabLst>
                <a:tab pos="356870" algn="l"/>
                <a:tab pos="357505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syntax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 the </a:t>
            </a:r>
            <a:r>
              <a:rPr sz="2400" spc="-5" dirty="0">
                <a:latin typeface="Times New Roman"/>
                <a:cs typeface="Times New Roman"/>
              </a:rPr>
              <a:t>bordercolor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attribute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is:</a:t>
            </a:r>
            <a:endParaRPr sz="2400">
              <a:latin typeface="Times New Roman"/>
              <a:cs typeface="Times New Roman"/>
            </a:endParaRPr>
          </a:p>
          <a:p>
            <a:pPr marL="927735">
              <a:lnSpc>
                <a:spcPct val="100000"/>
              </a:lnSpc>
              <a:spcBef>
                <a:spcPts val="365"/>
              </a:spcBef>
            </a:pPr>
            <a:r>
              <a:rPr sz="2400" b="1" spc="-5" dirty="0">
                <a:latin typeface="Courier New"/>
                <a:cs typeface="Courier New"/>
              </a:rPr>
              <a:t>&lt;table</a:t>
            </a:r>
            <a:r>
              <a:rPr sz="2400" b="1" spc="-1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bordercolor=“color”&gt;</a:t>
            </a:r>
            <a:endParaRPr sz="24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685"/>
              </a:spcBef>
              <a:tabLst>
                <a:tab pos="756285" algn="l"/>
              </a:tabLst>
            </a:pPr>
            <a:r>
              <a:rPr sz="2000" spc="-5" dirty="0">
                <a:latin typeface="Times New Roman"/>
                <a:cs typeface="Times New Roman"/>
              </a:rPr>
              <a:t>–	</a:t>
            </a:r>
            <a:r>
              <a:rPr sz="2000" b="1" i="1" dirty="0">
                <a:latin typeface="Times New Roman"/>
                <a:cs typeface="Times New Roman"/>
              </a:rPr>
              <a:t>color</a:t>
            </a:r>
            <a:r>
              <a:rPr sz="2000" b="1" i="1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an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HTML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color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name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hexadecimal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color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value</a:t>
            </a:r>
            <a:endParaRPr sz="2000">
              <a:latin typeface="Times New Roman"/>
              <a:cs typeface="Times New Roman"/>
            </a:endParaRPr>
          </a:p>
          <a:p>
            <a:pPr marL="356870" indent="-344805">
              <a:lnSpc>
                <a:spcPct val="100000"/>
              </a:lnSpc>
              <a:spcBef>
                <a:spcPts val="590"/>
              </a:spcBef>
              <a:buChar char="•"/>
              <a:tabLst>
                <a:tab pos="356870" algn="l"/>
                <a:tab pos="357505" algn="l"/>
              </a:tabLst>
            </a:pPr>
            <a:r>
              <a:rPr sz="2400" spc="-15" dirty="0">
                <a:latin typeface="Times New Roman"/>
                <a:cs typeface="Times New Roman"/>
              </a:rPr>
              <a:t>Internet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Explorer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and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Netscape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apply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this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attribute </a:t>
            </a:r>
            <a:r>
              <a:rPr sz="2400" spc="-10" dirty="0">
                <a:latin typeface="Times New Roman"/>
                <a:cs typeface="Times New Roman"/>
              </a:rPr>
              <a:t>differently.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300">
              <a:latin typeface="Times New Roman"/>
              <a:cs typeface="Times New Roman"/>
            </a:endParaRPr>
          </a:p>
          <a:p>
            <a:pPr marL="1445895">
              <a:lnSpc>
                <a:spcPct val="100000"/>
              </a:lnSpc>
              <a:tabLst>
                <a:tab pos="4494530" algn="l"/>
              </a:tabLst>
            </a:pPr>
            <a:r>
              <a:rPr sz="2000" b="1" spc="-5" dirty="0">
                <a:latin typeface="Courier New"/>
                <a:cs typeface="Courier New"/>
              </a:rPr>
              <a:t>&lt;table</a:t>
            </a:r>
            <a:r>
              <a:rPr sz="2000" b="1" spc="5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border=“10”	bordercolor=“blue”&gt;</a:t>
            </a:r>
            <a:endParaRPr sz="2000">
              <a:latin typeface="Courier New"/>
              <a:cs typeface="Courier New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0" y="4800600"/>
            <a:ext cx="3429000" cy="113385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12206" y="4800600"/>
            <a:ext cx="3493593" cy="114909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514983" y="6000394"/>
            <a:ext cx="193802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latin typeface="Times New Roman"/>
                <a:cs typeface="Times New Roman"/>
              </a:rPr>
              <a:t>Internet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spc="-15" dirty="0">
                <a:latin typeface="Times New Roman"/>
                <a:cs typeface="Times New Roman"/>
              </a:rPr>
              <a:t>Explorer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0"/>
              </a:lnSpc>
            </a:pPr>
            <a:fld id="{81D60167-4931-47E6-BA6A-407CBD079E47}" type="slidenum">
              <a:rPr spc="-5" dirty="0"/>
              <a:t>18</a:t>
            </a:fld>
            <a:endParaRPr spc="-5" dirty="0"/>
          </a:p>
        </p:txBody>
      </p:sp>
      <p:sp>
        <p:nvSpPr>
          <p:cNvPr id="7" name="object 7"/>
          <p:cNvSpPr txBox="1"/>
          <p:nvPr/>
        </p:nvSpPr>
        <p:spPr>
          <a:xfrm>
            <a:off x="6314059" y="6000394"/>
            <a:ext cx="99758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latin typeface="Times New Roman"/>
                <a:cs typeface="Times New Roman"/>
              </a:rPr>
              <a:t>Ne</a:t>
            </a:r>
            <a:r>
              <a:rPr sz="2000" b="1" dirty="0">
                <a:latin typeface="Times New Roman"/>
                <a:cs typeface="Times New Roman"/>
              </a:rPr>
              <a:t>t</a:t>
            </a:r>
            <a:r>
              <a:rPr sz="2000" b="1" spc="-15" dirty="0">
                <a:latin typeface="Times New Roman"/>
                <a:cs typeface="Times New Roman"/>
              </a:rPr>
              <a:t>s</a:t>
            </a:r>
            <a:r>
              <a:rPr sz="2000" b="1" spc="-5" dirty="0">
                <a:latin typeface="Times New Roman"/>
                <a:cs typeface="Times New Roman"/>
              </a:rPr>
              <a:t>c</a:t>
            </a:r>
            <a:r>
              <a:rPr sz="2000" b="1" spc="5" dirty="0">
                <a:latin typeface="Times New Roman"/>
                <a:cs typeface="Times New Roman"/>
              </a:rPr>
              <a:t>a</a:t>
            </a:r>
            <a:r>
              <a:rPr sz="2000" b="1" spc="-5" dirty="0">
                <a:latin typeface="Times New Roman"/>
                <a:cs typeface="Times New Roman"/>
              </a:rPr>
              <a:t>pe</a:t>
            </a:r>
            <a:endParaRPr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25891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75866" y="417017"/>
            <a:ext cx="5274310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Applying</a:t>
            </a:r>
            <a:r>
              <a:rPr spc="-10" dirty="0"/>
              <a:t> </a:t>
            </a:r>
            <a:r>
              <a:rPr spc="-5" dirty="0"/>
              <a:t>a</a:t>
            </a:r>
            <a:r>
              <a:rPr spc="-20" dirty="0"/>
              <a:t> </a:t>
            </a:r>
            <a:r>
              <a:rPr dirty="0"/>
              <a:t>Table</a:t>
            </a:r>
            <a:r>
              <a:rPr spc="-25" dirty="0"/>
              <a:t> </a:t>
            </a:r>
            <a:r>
              <a:rPr spc="-5" dirty="0"/>
              <a:t>Background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548765"/>
            <a:ext cx="7576820" cy="1196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indent="-344805">
              <a:lnSpc>
                <a:spcPts val="2795"/>
              </a:lnSpc>
              <a:spcBef>
                <a:spcPts val="100"/>
              </a:spcBef>
              <a:buChar char="•"/>
              <a:tabLst>
                <a:tab pos="356870" algn="l"/>
                <a:tab pos="357505" algn="l"/>
              </a:tabLst>
            </a:pPr>
            <a:r>
              <a:rPr sz="2400" dirty="0">
                <a:latin typeface="Times New Roman"/>
                <a:cs typeface="Times New Roman"/>
              </a:rPr>
              <a:t>Add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" dirty="0">
                <a:latin typeface="Times New Roman"/>
                <a:cs typeface="Times New Roman"/>
              </a:rPr>
              <a:t>background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image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your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tables </a:t>
            </a:r>
            <a:r>
              <a:rPr sz="2400" dirty="0">
                <a:latin typeface="Times New Roman"/>
                <a:cs typeface="Times New Roman"/>
              </a:rPr>
              <a:t>using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endParaRPr sz="2400">
              <a:latin typeface="Times New Roman"/>
              <a:cs typeface="Times New Roman"/>
            </a:endParaRPr>
          </a:p>
          <a:p>
            <a:pPr marL="356870">
              <a:lnSpc>
                <a:spcPts val="2795"/>
              </a:lnSpc>
            </a:pPr>
            <a:r>
              <a:rPr sz="2400" b="1" spc="-5" dirty="0">
                <a:latin typeface="Courier New"/>
                <a:cs typeface="Courier New"/>
              </a:rPr>
              <a:t>backgroun</a:t>
            </a:r>
            <a:r>
              <a:rPr sz="2400" b="1" dirty="0">
                <a:latin typeface="Courier New"/>
                <a:cs typeface="Courier New"/>
              </a:rPr>
              <a:t>d</a:t>
            </a:r>
            <a:r>
              <a:rPr sz="2400" b="1" spc="-8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t</a:t>
            </a:r>
            <a:r>
              <a:rPr sz="2400" spc="5" dirty="0">
                <a:latin typeface="Times New Roman"/>
                <a:cs typeface="Times New Roman"/>
              </a:rPr>
              <a:t>t</a:t>
            </a:r>
            <a:r>
              <a:rPr sz="2400" spc="-10" dirty="0">
                <a:latin typeface="Times New Roman"/>
                <a:cs typeface="Times New Roman"/>
              </a:rPr>
              <a:t>r</a:t>
            </a:r>
            <a:r>
              <a:rPr sz="2400" dirty="0">
                <a:latin typeface="Times New Roman"/>
                <a:cs typeface="Times New Roman"/>
              </a:rPr>
              <a:t>ibute.</a:t>
            </a:r>
            <a:endParaRPr sz="2400">
              <a:latin typeface="Times New Roman"/>
              <a:cs typeface="Times New Roman"/>
            </a:endParaRPr>
          </a:p>
          <a:p>
            <a:pPr marL="356870" indent="-344805">
              <a:lnSpc>
                <a:spcPct val="100000"/>
              </a:lnSpc>
              <a:spcBef>
                <a:spcPts val="745"/>
              </a:spcBef>
              <a:buChar char="•"/>
              <a:tabLst>
                <a:tab pos="356870" algn="l"/>
                <a:tab pos="357505" algn="l"/>
              </a:tabLst>
            </a:pPr>
            <a:r>
              <a:rPr sz="2400" spc="-5" dirty="0">
                <a:latin typeface="Times New Roman"/>
                <a:cs typeface="Times New Roman"/>
              </a:rPr>
              <a:t>A background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can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applied</a:t>
            </a:r>
            <a:r>
              <a:rPr sz="2400" dirty="0">
                <a:latin typeface="Times New Roman"/>
                <a:cs typeface="Times New Roman"/>
              </a:rPr>
              <a:t> to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entire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table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 to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cell.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62400" y="2971800"/>
            <a:ext cx="990600" cy="94488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018278" y="3335223"/>
            <a:ext cx="751205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15" dirty="0">
                <a:latin typeface="Times New Roman"/>
                <a:cs typeface="Times New Roman"/>
              </a:rPr>
              <a:t>parch.jpg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38848" y="4343400"/>
            <a:ext cx="2542111" cy="153314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47800" y="4343400"/>
            <a:ext cx="2539102" cy="153314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359535" y="5998260"/>
            <a:ext cx="321754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5" dirty="0">
                <a:latin typeface="Courier New"/>
                <a:cs typeface="Courier New"/>
              </a:rPr>
              <a:t>&lt;table</a:t>
            </a:r>
            <a:r>
              <a:rPr sz="1400" b="1" spc="-10" dirty="0">
                <a:latin typeface="Courier New"/>
                <a:cs typeface="Courier New"/>
              </a:rPr>
              <a:t> background=“parch.jpg”&gt;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149977" y="6014110"/>
            <a:ext cx="290004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5" dirty="0">
                <a:latin typeface="Courier New"/>
                <a:cs typeface="Courier New"/>
              </a:rPr>
              <a:t>&lt;td</a:t>
            </a:r>
            <a:r>
              <a:rPr sz="1400" b="1" spc="-10" dirty="0">
                <a:latin typeface="Courier New"/>
                <a:cs typeface="Courier New"/>
              </a:rPr>
              <a:t> background=“parch.jpg”&gt;</a:t>
            </a:r>
            <a:endParaRPr sz="1400">
              <a:latin typeface="Courier New"/>
              <a:cs typeface="Courier New"/>
            </a:endParaRPr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630423" y="5878067"/>
            <a:ext cx="76200" cy="15240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342888" y="5878067"/>
            <a:ext cx="76200" cy="152400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0"/>
              </a:lnSpc>
            </a:pPr>
            <a:fld id="{81D60167-4931-47E6-BA6A-407CBD079E47}" type="slidenum">
              <a:rPr spc="-5" dirty="0"/>
              <a:t>19</a:t>
            </a:fld>
            <a:endParaRPr spc="-5" dirty="0"/>
          </a:p>
        </p:txBody>
      </p:sp>
    </p:spTree>
    <p:extLst>
      <p:ext uri="{BB962C8B-B14F-4D97-AF65-F5344CB8AC3E}">
        <p14:creationId xmlns:p14="http://schemas.microsoft.com/office/powerpoint/2010/main" val="3344497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54655" y="417017"/>
            <a:ext cx="4311015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Controlling</a:t>
            </a:r>
            <a:r>
              <a:rPr spc="-10" dirty="0"/>
              <a:t> Cell </a:t>
            </a:r>
            <a:r>
              <a:rPr spc="-5" dirty="0"/>
              <a:t>Spacing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0"/>
              </a:lnSpc>
            </a:pPr>
            <a:fld id="{81D60167-4931-47E6-BA6A-407CBD079E47}" type="slidenum">
              <a:rPr spc="-5" dirty="0"/>
              <a:t>20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536244" y="1621612"/>
            <a:ext cx="8116570" cy="406463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56870" marR="5080" indent="-344805">
              <a:lnSpc>
                <a:spcPct val="100000"/>
              </a:lnSpc>
              <a:spcBef>
                <a:spcPts val="110"/>
              </a:spcBef>
              <a:buChar char="•"/>
              <a:tabLst>
                <a:tab pos="356870" algn="l"/>
                <a:tab pos="357505" algn="l"/>
              </a:tabLst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cellspacing</a:t>
            </a:r>
            <a:r>
              <a:rPr sz="2800" b="1" spc="-7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attribute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controls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the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amount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of space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inserted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between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table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cells.</a:t>
            </a:r>
            <a:endParaRPr sz="2800">
              <a:latin typeface="Times New Roman"/>
              <a:cs typeface="Times New Roman"/>
            </a:endParaRPr>
          </a:p>
          <a:p>
            <a:pPr marL="356870" indent="-344805">
              <a:lnSpc>
                <a:spcPct val="100000"/>
              </a:lnSpc>
              <a:spcBef>
                <a:spcPts val="675"/>
              </a:spcBef>
              <a:buChar char="•"/>
              <a:tabLst>
                <a:tab pos="356870" algn="l"/>
                <a:tab pos="357505" algn="l"/>
              </a:tabLst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syntax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for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specifying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the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cell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space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is:</a:t>
            </a:r>
            <a:endParaRPr sz="28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  <a:spcBef>
                <a:spcPts val="2105"/>
              </a:spcBef>
            </a:pPr>
            <a:r>
              <a:rPr sz="2400" b="1" spc="-5" dirty="0">
                <a:latin typeface="Courier New"/>
                <a:cs typeface="Courier New"/>
              </a:rPr>
              <a:t>&lt;table</a:t>
            </a:r>
            <a:r>
              <a:rPr sz="2400" b="1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cellspacing=“value”&gt;</a:t>
            </a:r>
            <a:endParaRPr sz="2400">
              <a:latin typeface="Courier New"/>
              <a:cs typeface="Courier New"/>
            </a:endParaRPr>
          </a:p>
          <a:p>
            <a:pPr marL="756285" lvl="1" indent="-287020">
              <a:lnSpc>
                <a:spcPct val="100000"/>
              </a:lnSpc>
              <a:spcBef>
                <a:spcPts val="2235"/>
              </a:spcBef>
              <a:buFont typeface="Times New Roman"/>
              <a:buChar char="–"/>
              <a:tabLst>
                <a:tab pos="756285" algn="l"/>
                <a:tab pos="756920" algn="l"/>
              </a:tabLst>
            </a:pPr>
            <a:r>
              <a:rPr sz="2400" b="1" i="1" dirty="0">
                <a:latin typeface="Times New Roman"/>
                <a:cs typeface="Times New Roman"/>
              </a:rPr>
              <a:t>value</a:t>
            </a:r>
            <a:r>
              <a:rPr sz="2400" b="1" i="1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 the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width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 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interior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borders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 pixels</a:t>
            </a:r>
            <a:endParaRPr sz="240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Char char="–"/>
              <a:tabLst>
                <a:tab pos="756285" algn="l"/>
                <a:tab pos="756920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default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cell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spacing is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pixels</a:t>
            </a:r>
            <a:endParaRPr sz="24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30"/>
              </a:spcBef>
              <a:buFont typeface="Times New Roman"/>
              <a:buChar char="–"/>
            </a:pPr>
            <a:endParaRPr sz="3550">
              <a:latin typeface="Times New Roman"/>
              <a:cs typeface="Times New Roman"/>
            </a:endParaRPr>
          </a:p>
          <a:p>
            <a:pPr marL="356870" indent="-344805">
              <a:lnSpc>
                <a:spcPct val="100000"/>
              </a:lnSpc>
              <a:buChar char="•"/>
              <a:tabLst>
                <a:tab pos="356870" algn="l"/>
                <a:tab pos="357505" algn="l"/>
              </a:tabLst>
            </a:pPr>
            <a:r>
              <a:rPr sz="2800" dirty="0">
                <a:latin typeface="Times New Roman"/>
                <a:cs typeface="Times New Roman"/>
              </a:rPr>
              <a:t>Cell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spacing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refers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to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the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space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between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the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cells.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80207" y="417017"/>
            <a:ext cx="3859529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Defining</a:t>
            </a:r>
            <a:r>
              <a:rPr spc="-20" dirty="0"/>
              <a:t> </a:t>
            </a:r>
            <a:r>
              <a:rPr spc="-5" dirty="0"/>
              <a:t>Cell</a:t>
            </a:r>
            <a:r>
              <a:rPr spc="-30" dirty="0"/>
              <a:t> </a:t>
            </a:r>
            <a:r>
              <a:rPr spc="-5" dirty="0"/>
              <a:t>Padding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0"/>
              </a:lnSpc>
            </a:pPr>
            <a:fld id="{81D60167-4931-47E6-BA6A-407CBD079E47}" type="slidenum">
              <a:rPr spc="-5" dirty="0"/>
              <a:t>21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383540" y="1621612"/>
            <a:ext cx="8172450" cy="41376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56870" marR="5080" indent="-344805">
              <a:lnSpc>
                <a:spcPct val="100000"/>
              </a:lnSpc>
              <a:spcBef>
                <a:spcPts val="110"/>
              </a:spcBef>
              <a:buChar char="•"/>
              <a:tabLst>
                <a:tab pos="356870" algn="l"/>
                <a:tab pos="357505" algn="l"/>
              </a:tabLst>
            </a:pPr>
            <a:r>
              <a:rPr sz="2800" spc="-5" dirty="0">
                <a:latin typeface="Times New Roman"/>
                <a:cs typeface="Times New Roman"/>
              </a:rPr>
              <a:t>To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control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the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space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between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the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table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text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and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the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cell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borders,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add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b="1" spc="5" dirty="0">
                <a:latin typeface="Times New Roman"/>
                <a:cs typeface="Times New Roman"/>
              </a:rPr>
              <a:t>cellpadding</a:t>
            </a:r>
            <a:r>
              <a:rPr sz="2800" b="1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attribute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the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table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tag.</a:t>
            </a:r>
            <a:endParaRPr sz="2800">
              <a:latin typeface="Times New Roman"/>
              <a:cs typeface="Times New Roman"/>
            </a:endParaRPr>
          </a:p>
          <a:p>
            <a:pPr marL="356870" indent="-344805">
              <a:lnSpc>
                <a:spcPct val="100000"/>
              </a:lnSpc>
              <a:spcBef>
                <a:spcPts val="675"/>
              </a:spcBef>
              <a:buChar char="•"/>
              <a:tabLst>
                <a:tab pos="356870" algn="l"/>
                <a:tab pos="357505" algn="l"/>
              </a:tabLst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syntax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for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this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attribute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is:</a:t>
            </a:r>
            <a:endParaRPr sz="2800">
              <a:latin typeface="Times New Roman"/>
              <a:cs typeface="Times New Roman"/>
            </a:endParaRPr>
          </a:p>
          <a:p>
            <a:pPr marR="560705" algn="ctr">
              <a:lnSpc>
                <a:spcPct val="100000"/>
              </a:lnSpc>
              <a:spcBef>
                <a:spcPts val="1585"/>
              </a:spcBef>
            </a:pPr>
            <a:r>
              <a:rPr sz="2800" b="1" spc="-5" dirty="0">
                <a:latin typeface="Courier New"/>
                <a:cs typeface="Courier New"/>
              </a:rPr>
              <a:t>&lt;table</a:t>
            </a:r>
            <a:r>
              <a:rPr sz="2800" b="1" spc="-65" dirty="0">
                <a:latin typeface="Courier New"/>
                <a:cs typeface="Courier New"/>
              </a:rPr>
              <a:t> </a:t>
            </a:r>
            <a:r>
              <a:rPr sz="2800" b="1" spc="-10" dirty="0">
                <a:latin typeface="Courier New"/>
                <a:cs typeface="Courier New"/>
              </a:rPr>
              <a:t>cellpadding=“value”&gt;</a:t>
            </a:r>
            <a:endParaRPr sz="2800">
              <a:latin typeface="Courier New"/>
              <a:cs typeface="Courier New"/>
            </a:endParaRPr>
          </a:p>
          <a:p>
            <a:pPr marL="756285" lvl="1" indent="-287020">
              <a:lnSpc>
                <a:spcPct val="100000"/>
              </a:lnSpc>
              <a:spcBef>
                <a:spcPts val="1985"/>
              </a:spcBef>
              <a:buFont typeface="Times New Roman"/>
              <a:buChar char="–"/>
              <a:tabLst>
                <a:tab pos="756285" algn="l"/>
                <a:tab pos="756920" algn="l"/>
              </a:tabLst>
            </a:pPr>
            <a:r>
              <a:rPr sz="2400" b="1" i="1" dirty="0">
                <a:latin typeface="Times New Roman"/>
                <a:cs typeface="Times New Roman"/>
              </a:rPr>
              <a:t>value</a:t>
            </a:r>
            <a:r>
              <a:rPr sz="2400" b="1" i="1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 the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distance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from</a:t>
            </a:r>
            <a:r>
              <a:rPr sz="2400" dirty="0">
                <a:latin typeface="Times New Roman"/>
                <a:cs typeface="Times New Roman"/>
              </a:rPr>
              <a:t> the </a:t>
            </a:r>
            <a:r>
              <a:rPr sz="2400" spc="-5" dirty="0">
                <a:latin typeface="Times New Roman"/>
                <a:cs typeface="Times New Roman"/>
              </a:rPr>
              <a:t>table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text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cell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border,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as</a:t>
            </a:r>
            <a:endParaRPr sz="2400">
              <a:latin typeface="Times New Roman"/>
              <a:cs typeface="Times New Roman"/>
            </a:endParaRPr>
          </a:p>
          <a:p>
            <a:pPr marL="756285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latin typeface="Times New Roman"/>
                <a:cs typeface="Times New Roman"/>
              </a:rPr>
              <a:t>measured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pixels</a:t>
            </a:r>
            <a:endParaRPr sz="240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Char char="–"/>
              <a:tabLst>
                <a:tab pos="756285" algn="l"/>
                <a:tab pos="756920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default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cell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padding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value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 pixel</a:t>
            </a:r>
            <a:endParaRPr sz="2400">
              <a:latin typeface="Times New Roman"/>
              <a:cs typeface="Times New Roman"/>
            </a:endParaRPr>
          </a:p>
          <a:p>
            <a:pPr marL="356870" indent="-344805">
              <a:lnSpc>
                <a:spcPct val="100000"/>
              </a:lnSpc>
              <a:spcBef>
                <a:spcPts val="2100"/>
              </a:spcBef>
              <a:buChar char="•"/>
              <a:tabLst>
                <a:tab pos="356870" algn="l"/>
                <a:tab pos="357505" algn="l"/>
              </a:tabLst>
            </a:pPr>
            <a:r>
              <a:rPr sz="2800" dirty="0">
                <a:latin typeface="Times New Roman"/>
                <a:cs typeface="Times New Roman"/>
              </a:rPr>
              <a:t>Cell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padding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refers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to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the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space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within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the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cells.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27050" marR="5080" indent="-12192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Tables</a:t>
            </a:r>
            <a:r>
              <a:rPr spc="-40" dirty="0"/>
              <a:t> </a:t>
            </a:r>
            <a:r>
              <a:rPr spc="5" dirty="0"/>
              <a:t>with</a:t>
            </a:r>
            <a:r>
              <a:rPr spc="-70" dirty="0"/>
              <a:t> </a:t>
            </a:r>
            <a:r>
              <a:rPr spc="-5" dirty="0"/>
              <a:t>Different </a:t>
            </a:r>
            <a:r>
              <a:rPr spc="-785" dirty="0"/>
              <a:t> </a:t>
            </a:r>
            <a:r>
              <a:rPr spc="-5" dirty="0"/>
              <a:t>Cell</a:t>
            </a:r>
            <a:r>
              <a:rPr dirty="0"/>
              <a:t> </a:t>
            </a:r>
            <a:r>
              <a:rPr spc="-5" dirty="0"/>
              <a:t>Spacing Values</a:t>
            </a:r>
          </a:p>
        </p:txBody>
      </p:sp>
      <p:sp>
        <p:nvSpPr>
          <p:cNvPr id="3" name="object 3"/>
          <p:cNvSpPr/>
          <p:nvPr/>
        </p:nvSpPr>
        <p:spPr>
          <a:xfrm>
            <a:off x="1752600" y="1600200"/>
            <a:ext cx="5562600" cy="375285"/>
          </a:xfrm>
          <a:custGeom>
            <a:avLst/>
            <a:gdLst/>
            <a:ahLst/>
            <a:cxnLst/>
            <a:rect l="l" t="t" r="r" b="b"/>
            <a:pathLst>
              <a:path w="5562600" h="375285">
                <a:moveTo>
                  <a:pt x="5562600" y="0"/>
                </a:moveTo>
                <a:lnTo>
                  <a:pt x="0" y="0"/>
                </a:lnTo>
                <a:lnTo>
                  <a:pt x="0" y="374903"/>
                </a:lnTo>
                <a:lnTo>
                  <a:pt x="5562600" y="374903"/>
                </a:lnTo>
                <a:lnTo>
                  <a:pt x="556260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177285" y="1597533"/>
            <a:ext cx="27133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Times New Roman"/>
                <a:cs typeface="Times New Roman"/>
              </a:rPr>
              <a:t>different</a:t>
            </a:r>
            <a:r>
              <a:rPr sz="1800" b="1" spc="2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cell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spacing</a:t>
            </a:r>
            <a:r>
              <a:rPr sz="1800" b="1" spc="1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values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800" y="1905000"/>
            <a:ext cx="6934200" cy="214579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828800" y="4038600"/>
            <a:ext cx="5562600" cy="30480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10795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85"/>
              </a:spcBef>
            </a:pPr>
            <a:r>
              <a:rPr sz="1800" b="1" spc="-10" dirty="0">
                <a:latin typeface="Times New Roman"/>
                <a:cs typeface="Times New Roman"/>
              </a:rPr>
              <a:t>different</a:t>
            </a:r>
            <a:r>
              <a:rPr sz="1800" b="1" spc="35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cell</a:t>
            </a:r>
            <a:r>
              <a:rPr sz="1800" b="1" spc="-15" dirty="0">
                <a:latin typeface="Times New Roman"/>
                <a:cs typeface="Times New Roman"/>
              </a:rPr>
              <a:t> padding</a:t>
            </a:r>
            <a:r>
              <a:rPr sz="1800" b="1" spc="5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values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14569" y="4483509"/>
            <a:ext cx="6005842" cy="1789470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0"/>
              </a:lnSpc>
            </a:pPr>
            <a:fld id="{81D60167-4931-47E6-BA6A-407CBD079E47}" type="slidenum">
              <a:rPr spc="-5" dirty="0"/>
              <a:t>22</a:t>
            </a:fld>
            <a:endParaRPr spc="-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406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76200"/>
            <a:ext cx="9144000" cy="6858000"/>
          </a:xfrm>
          <a:prstGeom prst="rect">
            <a:avLst/>
          </a:prstGeom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4800600"/>
            <a:ext cx="2238375" cy="143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6249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5720" y="417017"/>
            <a:ext cx="4046854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Defining the</a:t>
            </a:r>
            <a:r>
              <a:rPr spc="-20" dirty="0"/>
              <a:t> </a:t>
            </a:r>
            <a:r>
              <a:rPr spc="-5" dirty="0"/>
              <a:t>Table</a:t>
            </a:r>
            <a:r>
              <a:rPr spc="-25" dirty="0"/>
              <a:t> </a:t>
            </a:r>
            <a:r>
              <a:rPr spc="-15" dirty="0"/>
              <a:t>Size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0"/>
              </a:lnSpc>
            </a:pPr>
            <a:fld id="{81D60167-4931-47E6-BA6A-407CBD079E47}" type="slidenum">
              <a:rPr spc="-5" dirty="0"/>
              <a:t>25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536244" y="1583861"/>
            <a:ext cx="7934325" cy="147604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430"/>
              </a:spcBef>
              <a:buChar char="•"/>
              <a:tabLst>
                <a:tab pos="356870" algn="l"/>
                <a:tab pos="357505" algn="l"/>
              </a:tabLst>
            </a:pPr>
            <a:r>
              <a:rPr sz="2200" spc="5" dirty="0">
                <a:latin typeface="Times New Roman"/>
                <a:cs typeface="Times New Roman"/>
              </a:rPr>
              <a:t>The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syntax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specifying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table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size </a:t>
            </a:r>
            <a:r>
              <a:rPr sz="2200" spc="5" dirty="0">
                <a:latin typeface="Times New Roman"/>
                <a:cs typeface="Times New Roman"/>
              </a:rPr>
              <a:t>is:</a:t>
            </a:r>
            <a:endParaRPr sz="2200" dirty="0">
              <a:latin typeface="Times New Roman"/>
              <a:cs typeface="Times New Roman"/>
            </a:endParaRPr>
          </a:p>
          <a:p>
            <a:pPr marR="351155" algn="ctr">
              <a:lnSpc>
                <a:spcPct val="100000"/>
              </a:lnSpc>
              <a:spcBef>
                <a:spcPts val="335"/>
              </a:spcBef>
            </a:pPr>
            <a:r>
              <a:rPr sz="2200" b="1" spc="-5" dirty="0">
                <a:latin typeface="Courier New"/>
                <a:cs typeface="Courier New"/>
              </a:rPr>
              <a:t>&lt;table</a:t>
            </a:r>
            <a:r>
              <a:rPr sz="2200" b="1" dirty="0">
                <a:latin typeface="Courier New"/>
                <a:cs typeface="Courier New"/>
              </a:rPr>
              <a:t> width=“size”</a:t>
            </a:r>
            <a:r>
              <a:rPr sz="2200" b="1" spc="-15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height=“size”&gt;</a:t>
            </a:r>
            <a:endParaRPr sz="2200" dirty="0">
              <a:latin typeface="Courier New"/>
              <a:cs typeface="Courier New"/>
            </a:endParaRPr>
          </a:p>
          <a:p>
            <a:pPr marL="756285" marR="256540" indent="-287020">
              <a:lnSpc>
                <a:spcPct val="100000"/>
              </a:lnSpc>
              <a:spcBef>
                <a:spcPts val="660"/>
              </a:spcBef>
              <a:tabLst>
                <a:tab pos="756285" algn="l"/>
              </a:tabLst>
            </a:pPr>
            <a:r>
              <a:rPr sz="2000" spc="-5" dirty="0">
                <a:latin typeface="Times New Roman"/>
                <a:cs typeface="Times New Roman"/>
              </a:rPr>
              <a:t>–	</a:t>
            </a:r>
            <a:r>
              <a:rPr sz="2000" b="1" i="1" spc="-10" dirty="0">
                <a:latin typeface="Times New Roman"/>
                <a:cs typeface="Times New Roman"/>
              </a:rPr>
              <a:t>size</a:t>
            </a:r>
            <a:r>
              <a:rPr sz="2000" b="1" i="1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is</a:t>
            </a:r>
            <a:r>
              <a:rPr sz="2000" spc="-10" dirty="0">
                <a:latin typeface="Times New Roman"/>
                <a:cs typeface="Times New Roman"/>
              </a:rPr>
              <a:t> the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spc="-15" dirty="0">
                <a:latin typeface="Times New Roman"/>
                <a:cs typeface="Times New Roman"/>
              </a:rPr>
              <a:t>width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and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height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the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table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as </a:t>
            </a:r>
            <a:r>
              <a:rPr sz="2000" spc="-15" dirty="0">
                <a:latin typeface="Times New Roman"/>
                <a:cs typeface="Times New Roman"/>
              </a:rPr>
              <a:t>measured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in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pixels</a:t>
            </a:r>
            <a:r>
              <a:rPr sz="2000" dirty="0">
                <a:latin typeface="Times New Roman"/>
                <a:cs typeface="Times New Roman"/>
              </a:rPr>
              <a:t> or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as a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percentage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0" dirty="0">
                <a:latin typeface="Times New Roman"/>
                <a:cs typeface="Times New Roman"/>
              </a:rPr>
              <a:t> the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display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 smtClean="0">
                <a:latin typeface="Times New Roman"/>
                <a:cs typeface="Times New Roman"/>
              </a:rPr>
              <a:t>area</a:t>
            </a: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40585" y="417017"/>
            <a:ext cx="5936615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Aligning</a:t>
            </a:r>
            <a:r>
              <a:rPr dirty="0"/>
              <a:t> </a:t>
            </a:r>
            <a:r>
              <a:rPr spc="-5" dirty="0"/>
              <a:t>a</a:t>
            </a:r>
            <a:r>
              <a:rPr spc="-10" dirty="0"/>
              <a:t> </a:t>
            </a:r>
            <a:r>
              <a:rPr spc="-5" dirty="0"/>
              <a:t>Table</a:t>
            </a:r>
            <a:r>
              <a:rPr spc="-10" dirty="0"/>
              <a:t> </a:t>
            </a:r>
            <a:r>
              <a:rPr spc="-5" dirty="0"/>
              <a:t>on</a:t>
            </a:r>
            <a:r>
              <a:rPr spc="-10" dirty="0"/>
              <a:t> the</a:t>
            </a:r>
            <a:r>
              <a:rPr spc="5" dirty="0"/>
              <a:t> </a:t>
            </a:r>
            <a:r>
              <a:rPr spc="-5" dirty="0"/>
              <a:t>Web</a:t>
            </a:r>
            <a:r>
              <a:rPr dirty="0"/>
              <a:t> </a:t>
            </a:r>
            <a:r>
              <a:rPr spc="-5" dirty="0"/>
              <a:t>Page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0"/>
              </a:lnSpc>
            </a:pPr>
            <a:fld id="{81D60167-4931-47E6-BA6A-407CBD079E47}" type="slidenum">
              <a:rPr spc="-5" dirty="0"/>
              <a:t>26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536244" y="1588389"/>
            <a:ext cx="8146415" cy="296555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56870" marR="5080" indent="-344805">
              <a:lnSpc>
                <a:spcPts val="2590"/>
              </a:lnSpc>
              <a:spcBef>
                <a:spcPts val="425"/>
              </a:spcBef>
              <a:buChar char="•"/>
              <a:tabLst>
                <a:tab pos="356870" algn="l"/>
                <a:tab pos="357505" algn="l"/>
              </a:tabLst>
            </a:pPr>
            <a:r>
              <a:rPr sz="2400" spc="-10" dirty="0">
                <a:latin typeface="Times New Roman"/>
                <a:cs typeface="Times New Roman"/>
              </a:rPr>
              <a:t>By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default,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browser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places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table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left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margin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Web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page,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surrounding</a:t>
            </a:r>
            <a:r>
              <a:rPr sz="2400" dirty="0">
                <a:latin typeface="Times New Roman"/>
                <a:cs typeface="Times New Roman"/>
              </a:rPr>
              <a:t> text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placed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above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and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below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table.</a:t>
            </a:r>
            <a:endParaRPr sz="2400" dirty="0">
              <a:latin typeface="Times New Roman"/>
              <a:cs typeface="Times New Roman"/>
            </a:endParaRPr>
          </a:p>
          <a:p>
            <a:pPr marL="356870" indent="-344805">
              <a:lnSpc>
                <a:spcPts val="2460"/>
              </a:lnSpc>
              <a:spcBef>
                <a:spcPts val="240"/>
              </a:spcBef>
              <a:buChar char="•"/>
              <a:tabLst>
                <a:tab pos="356870" algn="l"/>
                <a:tab pos="357505" algn="l"/>
                <a:tab pos="2807970" algn="l"/>
              </a:tabLst>
            </a:pPr>
            <a:r>
              <a:rPr sz="2200" spc="10" dirty="0">
                <a:latin typeface="Times New Roman"/>
                <a:cs typeface="Times New Roman"/>
              </a:rPr>
              <a:t>To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align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5" dirty="0">
                <a:latin typeface="Times New Roman"/>
                <a:cs typeface="Times New Roman"/>
              </a:rPr>
              <a:t> table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with	the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surrounding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text,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use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b="1" spc="5" dirty="0">
                <a:latin typeface="Times New Roman"/>
                <a:cs typeface="Times New Roman"/>
              </a:rPr>
              <a:t>align</a:t>
            </a:r>
            <a:r>
              <a:rPr sz="2200" b="1" spc="-60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attribute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as</a:t>
            </a:r>
          </a:p>
          <a:p>
            <a:pPr marL="356870">
              <a:lnSpc>
                <a:spcPts val="2460"/>
              </a:lnSpc>
            </a:pPr>
            <a:r>
              <a:rPr sz="2200" dirty="0">
                <a:latin typeface="Times New Roman"/>
                <a:cs typeface="Times New Roman"/>
              </a:rPr>
              <a:t>follows: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b="1" spc="-5" dirty="0">
                <a:latin typeface="Courier New"/>
                <a:cs typeface="Courier New"/>
              </a:rPr>
              <a:t>align=“alignment”</a:t>
            </a:r>
            <a:endParaRPr sz="2200" dirty="0">
              <a:latin typeface="Courier New"/>
              <a:cs typeface="Courier New"/>
            </a:endParaRPr>
          </a:p>
          <a:p>
            <a:pPr marL="756285" lvl="1" indent="-287020">
              <a:lnSpc>
                <a:spcPct val="100000"/>
              </a:lnSpc>
              <a:spcBef>
                <a:spcPts val="320"/>
              </a:spcBef>
              <a:buFont typeface="Times New Roman"/>
              <a:buChar char="–"/>
              <a:tabLst>
                <a:tab pos="756285" algn="l"/>
                <a:tab pos="756920" algn="l"/>
              </a:tabLst>
            </a:pPr>
            <a:r>
              <a:rPr sz="2000" b="1" i="1" dirty="0">
                <a:latin typeface="Times New Roman"/>
                <a:cs typeface="Times New Roman"/>
              </a:rPr>
              <a:t>alignment</a:t>
            </a:r>
            <a:r>
              <a:rPr sz="2000" b="1" i="1" spc="-5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equals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“left”</a:t>
            </a:r>
            <a:r>
              <a:rPr sz="2000" dirty="0">
                <a:latin typeface="Times New Roman"/>
                <a:cs typeface="Times New Roman"/>
              </a:rPr>
              <a:t>,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b="1" i="1" spc="-5" dirty="0">
                <a:latin typeface="Times New Roman"/>
                <a:cs typeface="Times New Roman"/>
              </a:rPr>
              <a:t>“right”</a:t>
            </a:r>
            <a:r>
              <a:rPr sz="2000" spc="-5" dirty="0">
                <a:latin typeface="Times New Roman"/>
                <a:cs typeface="Times New Roman"/>
              </a:rPr>
              <a:t>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b="1" i="1" spc="-5" dirty="0">
                <a:latin typeface="Times New Roman"/>
                <a:cs typeface="Times New Roman"/>
              </a:rPr>
              <a:t>“center”</a:t>
            </a:r>
            <a:endParaRPr sz="2000" dirty="0">
              <a:latin typeface="Times New Roman"/>
              <a:cs typeface="Times New Roman"/>
            </a:endParaRPr>
          </a:p>
          <a:p>
            <a:pPr marL="756285" lvl="1" indent="-287020">
              <a:lnSpc>
                <a:spcPts val="2280"/>
              </a:lnSpc>
              <a:spcBef>
                <a:spcPts val="240"/>
              </a:spcBef>
              <a:buFont typeface="Times New Roman"/>
              <a:buChar char="–"/>
              <a:tabLst>
                <a:tab pos="756285" algn="l"/>
                <a:tab pos="756920" algn="l"/>
              </a:tabLst>
            </a:pPr>
            <a:r>
              <a:rPr sz="2000" b="1" i="1" dirty="0">
                <a:latin typeface="Times New Roman"/>
                <a:cs typeface="Times New Roman"/>
              </a:rPr>
              <a:t>left</a:t>
            </a:r>
            <a:r>
              <a:rPr sz="2000" b="1" i="1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b="1" i="1" spc="-5" dirty="0">
                <a:latin typeface="Times New Roman"/>
                <a:cs typeface="Times New Roman"/>
              </a:rPr>
              <a:t>right</a:t>
            </a:r>
            <a:r>
              <a:rPr sz="2000" b="1" i="1" spc="5" dirty="0">
                <a:latin typeface="Times New Roman"/>
                <a:cs typeface="Times New Roman"/>
              </a:rPr>
              <a:t> </a:t>
            </a:r>
            <a:r>
              <a:rPr sz="2000" spc="-15" dirty="0">
                <a:latin typeface="Times New Roman"/>
                <a:cs typeface="Times New Roman"/>
              </a:rPr>
              <a:t>alignment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places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the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table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the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15" dirty="0">
                <a:latin typeface="Times New Roman"/>
                <a:cs typeface="Times New Roman"/>
              </a:rPr>
              <a:t>margin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the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Web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page</a:t>
            </a:r>
            <a:endParaRPr sz="2000" dirty="0">
              <a:latin typeface="Times New Roman"/>
              <a:cs typeface="Times New Roman"/>
            </a:endParaRPr>
          </a:p>
          <a:p>
            <a:pPr marL="756285">
              <a:lnSpc>
                <a:spcPts val="2280"/>
              </a:lnSpc>
            </a:pPr>
            <a:r>
              <a:rPr sz="2000" spc="-5" dirty="0">
                <a:latin typeface="Times New Roman"/>
                <a:cs typeface="Times New Roman"/>
              </a:rPr>
              <a:t>and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wraps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surrounding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text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to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the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side</a:t>
            </a:r>
            <a:endParaRPr sz="2000" dirty="0">
              <a:latin typeface="Times New Roman"/>
              <a:cs typeface="Times New Roman"/>
            </a:endParaRPr>
          </a:p>
          <a:p>
            <a:pPr marL="756285" lvl="1" indent="-287020">
              <a:lnSpc>
                <a:spcPts val="2280"/>
              </a:lnSpc>
              <a:spcBef>
                <a:spcPts val="240"/>
              </a:spcBef>
              <a:buFont typeface="Times New Roman"/>
              <a:buChar char="–"/>
              <a:tabLst>
                <a:tab pos="756285" algn="l"/>
                <a:tab pos="756920" algn="l"/>
              </a:tabLst>
            </a:pPr>
            <a:r>
              <a:rPr sz="2000" b="1" i="1" spc="-5" dirty="0">
                <a:latin typeface="Times New Roman"/>
                <a:cs typeface="Times New Roman"/>
              </a:rPr>
              <a:t>center</a:t>
            </a:r>
            <a:r>
              <a:rPr sz="2000" b="1" i="1" spc="-10" dirty="0">
                <a:latin typeface="Times New Roman"/>
                <a:cs typeface="Times New Roman"/>
              </a:rPr>
              <a:t> </a:t>
            </a:r>
            <a:r>
              <a:rPr sz="2000" spc="-15" dirty="0">
                <a:latin typeface="Times New Roman"/>
                <a:cs typeface="Times New Roman"/>
              </a:rPr>
              <a:t>alignment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places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the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table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the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horizontal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center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the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page,</a:t>
            </a:r>
            <a:endParaRPr sz="2000" dirty="0">
              <a:latin typeface="Times New Roman"/>
              <a:cs typeface="Times New Roman"/>
            </a:endParaRPr>
          </a:p>
          <a:p>
            <a:pPr marL="756285">
              <a:lnSpc>
                <a:spcPts val="2280"/>
              </a:lnSpc>
            </a:pPr>
            <a:r>
              <a:rPr sz="2000" spc="-5" dirty="0">
                <a:latin typeface="Times New Roman"/>
                <a:cs typeface="Times New Roman"/>
              </a:rPr>
              <a:t>but</a:t>
            </a:r>
            <a:r>
              <a:rPr sz="2000" dirty="0">
                <a:latin typeface="Times New Roman"/>
                <a:cs typeface="Times New Roman"/>
              </a:rPr>
              <a:t> does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not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allow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text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to </a:t>
            </a:r>
            <a:r>
              <a:rPr sz="2000" spc="-15" dirty="0">
                <a:latin typeface="Times New Roman"/>
                <a:cs typeface="Times New Roman"/>
              </a:rPr>
              <a:t>wrap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around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5" dirty="0" smtClean="0">
                <a:latin typeface="Times New Roman"/>
                <a:cs typeface="Times New Roman"/>
              </a:rPr>
              <a:t>it</a:t>
            </a: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65554" y="417017"/>
            <a:ext cx="5692140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Results</a:t>
            </a:r>
            <a:r>
              <a:rPr dirty="0"/>
              <a:t> of </a:t>
            </a:r>
            <a:r>
              <a:rPr spc="-5" dirty="0"/>
              <a:t>a</a:t>
            </a:r>
            <a:r>
              <a:rPr dirty="0"/>
              <a:t> </a:t>
            </a:r>
            <a:r>
              <a:rPr spc="-5" dirty="0"/>
              <a:t>Right-Aligned</a:t>
            </a:r>
            <a:r>
              <a:rPr spc="5" dirty="0"/>
              <a:t> </a:t>
            </a:r>
            <a:r>
              <a:rPr spc="-5" dirty="0"/>
              <a:t>Table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04565" y="1447800"/>
            <a:ext cx="8839434" cy="4242816"/>
            <a:chOff x="304565" y="1447800"/>
            <a:chExt cx="8839434" cy="4242816"/>
          </a:xfrm>
        </p:grpSpPr>
        <p:pic>
          <p:nvPicPr>
            <p:cNvPr id="4" name="object 4"/>
            <p:cNvPicPr/>
            <p:nvPr/>
          </p:nvPicPr>
          <p:blipFill rotWithShape="1">
            <a:blip r:embed="rId2" cstate="print"/>
            <a:srcRect b="70607"/>
            <a:stretch/>
          </p:blipFill>
          <p:spPr>
            <a:xfrm>
              <a:off x="304565" y="1447800"/>
              <a:ext cx="8839434" cy="53574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71600" y="2209800"/>
              <a:ext cx="5638800" cy="3480816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0"/>
              </a:lnSpc>
            </a:pPr>
            <a:fld id="{81D60167-4931-47E6-BA6A-407CBD079E47}" type="slidenum">
              <a:rPr spc="-5" dirty="0"/>
              <a:t>27</a:t>
            </a:fld>
            <a:endParaRPr spc="-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45970" y="417017"/>
            <a:ext cx="5134610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Spanning</a:t>
            </a:r>
            <a:r>
              <a:rPr spc="-30" dirty="0"/>
              <a:t> </a:t>
            </a:r>
            <a:r>
              <a:rPr spc="5" dirty="0"/>
              <a:t>Rows</a:t>
            </a:r>
            <a:r>
              <a:rPr spc="-35" dirty="0"/>
              <a:t> </a:t>
            </a:r>
            <a:r>
              <a:rPr spc="-5" dirty="0"/>
              <a:t>and</a:t>
            </a:r>
            <a:r>
              <a:rPr spc="-20" dirty="0"/>
              <a:t> </a:t>
            </a:r>
            <a:r>
              <a:rPr spc="-10" dirty="0"/>
              <a:t>Columns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0"/>
              </a:lnSpc>
            </a:pPr>
            <a:fld id="{81D60167-4931-47E6-BA6A-407CBD079E47}" type="slidenum">
              <a:rPr spc="-5" dirty="0"/>
              <a:t>28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536244" y="1578940"/>
            <a:ext cx="7838440" cy="41935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56870" indent="-344805">
              <a:lnSpc>
                <a:spcPts val="3195"/>
              </a:lnSpc>
              <a:spcBef>
                <a:spcPts val="110"/>
              </a:spcBef>
              <a:buChar char="•"/>
              <a:tabLst>
                <a:tab pos="356870" algn="l"/>
                <a:tab pos="357505" algn="l"/>
              </a:tabLst>
            </a:pPr>
            <a:r>
              <a:rPr sz="2800" spc="-5" dirty="0">
                <a:latin typeface="Times New Roman"/>
                <a:cs typeface="Times New Roman"/>
              </a:rPr>
              <a:t>To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merge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several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cells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into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one,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you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need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to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create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  <a:p>
            <a:pPr marL="356870">
              <a:lnSpc>
                <a:spcPts val="3195"/>
              </a:lnSpc>
            </a:pPr>
            <a:r>
              <a:rPr sz="2800" b="1" spc="5" dirty="0">
                <a:latin typeface="Times New Roman"/>
                <a:cs typeface="Times New Roman"/>
              </a:rPr>
              <a:t>spanning</a:t>
            </a:r>
            <a:r>
              <a:rPr sz="2800" b="1" spc="-85" dirty="0">
                <a:latin typeface="Times New Roman"/>
                <a:cs typeface="Times New Roman"/>
              </a:rPr>
              <a:t> </a:t>
            </a:r>
            <a:r>
              <a:rPr sz="2800" b="1" spc="10" dirty="0">
                <a:latin typeface="Times New Roman"/>
                <a:cs typeface="Times New Roman"/>
              </a:rPr>
              <a:t>cell</a:t>
            </a:r>
            <a:r>
              <a:rPr sz="2800" spc="10" dirty="0"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  <a:p>
            <a:pPr marL="356870" marR="5080" indent="-344805">
              <a:lnSpc>
                <a:spcPts val="3030"/>
              </a:lnSpc>
              <a:spcBef>
                <a:spcPts val="710"/>
              </a:spcBef>
              <a:buChar char="•"/>
              <a:tabLst>
                <a:tab pos="356870" algn="l"/>
                <a:tab pos="357505" algn="l"/>
              </a:tabLst>
            </a:pPr>
            <a:r>
              <a:rPr sz="2800" spc="5" dirty="0">
                <a:latin typeface="Times New Roman"/>
                <a:cs typeface="Times New Roman"/>
              </a:rPr>
              <a:t>A</a:t>
            </a:r>
            <a:r>
              <a:rPr sz="2800" dirty="0">
                <a:latin typeface="Times New Roman"/>
                <a:cs typeface="Times New Roman"/>
              </a:rPr>
              <a:t> spanning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cell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is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cell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that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occupies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more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than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one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row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or </a:t>
            </a:r>
            <a:r>
              <a:rPr sz="2800" spc="-5" dirty="0">
                <a:latin typeface="Times New Roman"/>
                <a:cs typeface="Times New Roman"/>
              </a:rPr>
              <a:t>column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in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5" dirty="0">
                <a:latin typeface="Times New Roman"/>
                <a:cs typeface="Times New Roman"/>
              </a:rPr>
              <a:t>table.</a:t>
            </a:r>
            <a:endParaRPr sz="2800">
              <a:latin typeface="Times New Roman"/>
              <a:cs typeface="Times New Roman"/>
            </a:endParaRPr>
          </a:p>
          <a:p>
            <a:pPr marL="356870" indent="-344805">
              <a:lnSpc>
                <a:spcPts val="3145"/>
              </a:lnSpc>
              <a:spcBef>
                <a:spcPts val="290"/>
              </a:spcBef>
              <a:buChar char="•"/>
              <a:tabLst>
                <a:tab pos="356870" algn="l"/>
                <a:tab pos="357505" algn="l"/>
              </a:tabLst>
            </a:pPr>
            <a:r>
              <a:rPr sz="2800" spc="5" dirty="0">
                <a:latin typeface="Times New Roman"/>
                <a:cs typeface="Times New Roman"/>
              </a:rPr>
              <a:t>Spanning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cells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are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created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by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inserting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the</a:t>
            </a:r>
            <a:r>
              <a:rPr sz="2800" spc="50" dirty="0">
                <a:latin typeface="Times New Roman"/>
                <a:cs typeface="Times New Roman"/>
              </a:rPr>
              <a:t> </a:t>
            </a:r>
            <a:r>
              <a:rPr sz="2800" b="1" spc="5" dirty="0">
                <a:latin typeface="Times New Roman"/>
                <a:cs typeface="Times New Roman"/>
              </a:rPr>
              <a:t>rowspan</a:t>
            </a:r>
            <a:endParaRPr sz="2800">
              <a:latin typeface="Times New Roman"/>
              <a:cs typeface="Times New Roman"/>
            </a:endParaRPr>
          </a:p>
          <a:p>
            <a:pPr marL="356870">
              <a:lnSpc>
                <a:spcPts val="3145"/>
              </a:lnSpc>
            </a:pP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10" dirty="0">
                <a:latin typeface="Times New Roman"/>
                <a:cs typeface="Times New Roman"/>
              </a:rPr>
              <a:t>n</a:t>
            </a:r>
            <a:r>
              <a:rPr sz="2800" spc="5" dirty="0">
                <a:latin typeface="Times New Roman"/>
                <a:cs typeface="Times New Roman"/>
              </a:rPr>
              <a:t>d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</a:t>
            </a:r>
            <a:r>
              <a:rPr sz="2800" b="1" spc="5" dirty="0">
                <a:latin typeface="Times New Roman"/>
                <a:cs typeface="Times New Roman"/>
              </a:rPr>
              <a:t>olspan</a:t>
            </a:r>
            <a:r>
              <a:rPr sz="2800" b="1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5" dirty="0">
                <a:latin typeface="Times New Roman"/>
                <a:cs typeface="Times New Roman"/>
              </a:rPr>
              <a:t>tt</a:t>
            </a:r>
            <a:r>
              <a:rPr sz="2800" dirty="0">
                <a:latin typeface="Times New Roman"/>
                <a:cs typeface="Times New Roman"/>
              </a:rPr>
              <a:t>r</a:t>
            </a:r>
            <a:r>
              <a:rPr sz="2800" spc="5" dirty="0">
                <a:latin typeface="Times New Roman"/>
                <a:cs typeface="Times New Roman"/>
              </a:rPr>
              <a:t>i</a:t>
            </a:r>
            <a:r>
              <a:rPr sz="2800" spc="-10" dirty="0">
                <a:latin typeface="Times New Roman"/>
                <a:cs typeface="Times New Roman"/>
              </a:rPr>
              <a:t>b</a:t>
            </a:r>
            <a:r>
              <a:rPr sz="2800" spc="10" dirty="0">
                <a:latin typeface="Times New Roman"/>
                <a:cs typeface="Times New Roman"/>
              </a:rPr>
              <a:t>u</a:t>
            </a:r>
            <a:r>
              <a:rPr sz="2800" spc="-15" dirty="0">
                <a:latin typeface="Times New Roman"/>
                <a:cs typeface="Times New Roman"/>
              </a:rPr>
              <a:t>t</a:t>
            </a:r>
            <a:r>
              <a:rPr sz="2800" dirty="0">
                <a:latin typeface="Times New Roman"/>
                <a:cs typeface="Times New Roman"/>
              </a:rPr>
              <a:t>e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in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Courier New"/>
                <a:cs typeface="Courier New"/>
              </a:rPr>
              <a:t>&lt;td</a:t>
            </a:r>
            <a:r>
              <a:rPr sz="2800" b="1" spc="5" dirty="0">
                <a:latin typeface="Courier New"/>
                <a:cs typeface="Courier New"/>
              </a:rPr>
              <a:t>&gt;</a:t>
            </a:r>
            <a:r>
              <a:rPr sz="2800" b="1" spc="-1000" dirty="0">
                <a:latin typeface="Courier New"/>
                <a:cs typeface="Courier New"/>
              </a:rPr>
              <a:t> </a:t>
            </a:r>
            <a:r>
              <a:rPr sz="2800" spc="15" dirty="0">
                <a:latin typeface="Times New Roman"/>
                <a:cs typeface="Times New Roman"/>
              </a:rPr>
              <a:t>o</a:t>
            </a:r>
            <a:r>
              <a:rPr sz="2800" dirty="0">
                <a:latin typeface="Times New Roman"/>
                <a:cs typeface="Times New Roman"/>
              </a:rPr>
              <a:t>r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Courier New"/>
                <a:cs typeface="Courier New"/>
              </a:rPr>
              <a:t>&lt;th</a:t>
            </a:r>
            <a:r>
              <a:rPr sz="2800" b="1" spc="5" dirty="0">
                <a:latin typeface="Courier New"/>
                <a:cs typeface="Courier New"/>
              </a:rPr>
              <a:t>&gt;</a:t>
            </a:r>
            <a:r>
              <a:rPr sz="2800" b="1" spc="-990" dirty="0">
                <a:latin typeface="Courier New"/>
                <a:cs typeface="Courier New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t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10" dirty="0">
                <a:latin typeface="Times New Roman"/>
                <a:cs typeface="Times New Roman"/>
              </a:rPr>
              <a:t>g</a:t>
            </a:r>
            <a:r>
              <a:rPr sz="2800" dirty="0"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  <a:p>
            <a:pPr marL="356870" indent="-344805">
              <a:lnSpc>
                <a:spcPts val="3110"/>
              </a:lnSpc>
              <a:spcBef>
                <a:spcPts val="434"/>
              </a:spcBef>
              <a:buChar char="•"/>
              <a:tabLst>
                <a:tab pos="356870" algn="l"/>
                <a:tab pos="357505" algn="l"/>
              </a:tabLst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syntax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for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these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attributes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is:</a:t>
            </a:r>
            <a:endParaRPr sz="2800">
              <a:latin typeface="Times New Roman"/>
              <a:cs typeface="Times New Roman"/>
            </a:endParaRPr>
          </a:p>
          <a:p>
            <a:pPr marL="356870">
              <a:lnSpc>
                <a:spcPts val="3110"/>
              </a:lnSpc>
            </a:pPr>
            <a:r>
              <a:rPr sz="2800" b="1" spc="-10" dirty="0">
                <a:latin typeface="Courier New"/>
                <a:cs typeface="Courier New"/>
              </a:rPr>
              <a:t>rowspan=“value”</a:t>
            </a:r>
            <a:r>
              <a:rPr sz="2800" b="1" spc="-20" dirty="0">
                <a:latin typeface="Courier New"/>
                <a:cs typeface="Courier New"/>
              </a:rPr>
              <a:t> </a:t>
            </a:r>
            <a:r>
              <a:rPr sz="2800" b="1" spc="-10" dirty="0">
                <a:latin typeface="Courier New"/>
                <a:cs typeface="Courier New"/>
              </a:rPr>
              <a:t>colspan=“value”</a:t>
            </a:r>
            <a:endParaRPr sz="2800">
              <a:latin typeface="Courier New"/>
              <a:cs typeface="Courier New"/>
            </a:endParaRPr>
          </a:p>
          <a:p>
            <a:pPr marL="756285" marR="191135" indent="-287020">
              <a:lnSpc>
                <a:spcPts val="2810"/>
              </a:lnSpc>
              <a:spcBef>
                <a:spcPts val="840"/>
              </a:spcBef>
            </a:pPr>
            <a:r>
              <a:rPr sz="2600" spc="-5" dirty="0">
                <a:latin typeface="Times New Roman"/>
                <a:cs typeface="Times New Roman"/>
              </a:rPr>
              <a:t>–</a:t>
            </a:r>
            <a:r>
              <a:rPr sz="2600" spc="305" dirty="0">
                <a:latin typeface="Times New Roman"/>
                <a:cs typeface="Times New Roman"/>
              </a:rPr>
              <a:t> </a:t>
            </a:r>
            <a:r>
              <a:rPr sz="2600" b="1" i="1" spc="-5" dirty="0">
                <a:latin typeface="Times New Roman"/>
                <a:cs typeface="Times New Roman"/>
              </a:rPr>
              <a:t>value</a:t>
            </a:r>
            <a:r>
              <a:rPr sz="2600" b="1" i="1" spc="2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is the</a:t>
            </a:r>
            <a:r>
              <a:rPr sz="2600" spc="3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number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of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rows or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columns</a:t>
            </a:r>
            <a:r>
              <a:rPr sz="2600" spc="7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that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the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cell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spans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in the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table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56535" y="417017"/>
            <a:ext cx="4703445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Example</a:t>
            </a:r>
            <a:r>
              <a:rPr spc="15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spc="-5" dirty="0"/>
              <a:t>Spanning</a:t>
            </a:r>
            <a:r>
              <a:rPr spc="-10" dirty="0"/>
              <a:t> Cells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449324" y="2374855"/>
            <a:ext cx="5994400" cy="2780030"/>
            <a:chOff x="1449324" y="2374855"/>
            <a:chExt cx="5994400" cy="278003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63973" y="2374855"/>
              <a:ext cx="5679743" cy="277989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449324" y="2897124"/>
              <a:ext cx="304800" cy="1371600"/>
            </a:xfrm>
            <a:custGeom>
              <a:avLst/>
              <a:gdLst/>
              <a:ahLst/>
              <a:cxnLst/>
              <a:rect l="l" t="t" r="r" b="b"/>
              <a:pathLst>
                <a:path w="304800" h="1371600">
                  <a:moveTo>
                    <a:pt x="0" y="0"/>
                  </a:moveTo>
                  <a:lnTo>
                    <a:pt x="304800" y="0"/>
                  </a:lnTo>
                </a:path>
                <a:path w="304800" h="1371600">
                  <a:moveTo>
                    <a:pt x="0" y="1371600"/>
                  </a:moveTo>
                  <a:lnTo>
                    <a:pt x="304800" y="1371600"/>
                  </a:lnTo>
                </a:path>
              </a:pathLst>
            </a:custGeom>
            <a:ln w="9144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456423" y="2463545"/>
            <a:ext cx="1393825" cy="758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65125" algn="l"/>
              </a:tabLst>
            </a:pPr>
            <a:r>
              <a:rPr sz="1600" b="1" u="sng" dirty="0">
                <a:uFill>
                  <a:solidFill>
                    <a:srgbClr val="CC0000"/>
                  </a:solidFill>
                </a:uFill>
                <a:latin typeface="Times New Roman"/>
                <a:cs typeface="Times New Roman"/>
              </a:rPr>
              <a:t> 	</a:t>
            </a:r>
            <a:r>
              <a:rPr sz="1600" b="1" spc="-17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this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spc="5" dirty="0">
                <a:latin typeface="Times New Roman"/>
                <a:cs typeface="Times New Roman"/>
              </a:rPr>
              <a:t>cell</a:t>
            </a:r>
            <a:endParaRPr sz="1600">
              <a:latin typeface="Times New Roman"/>
              <a:cs typeface="Times New Roman"/>
            </a:endParaRPr>
          </a:p>
          <a:p>
            <a:pPr marL="393700">
              <a:lnSpc>
                <a:spcPct val="100000"/>
              </a:lnSpc>
            </a:pPr>
            <a:r>
              <a:rPr sz="1600" b="1" dirty="0">
                <a:latin typeface="Times New Roman"/>
                <a:cs typeface="Times New Roman"/>
              </a:rPr>
              <a:t>spans</a:t>
            </a:r>
            <a:r>
              <a:rPr sz="1600" b="1" spc="-8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three</a:t>
            </a:r>
            <a:endParaRPr sz="1600">
              <a:latin typeface="Times New Roman"/>
              <a:cs typeface="Times New Roman"/>
            </a:endParaRPr>
          </a:p>
          <a:p>
            <a:pPr marL="393700">
              <a:lnSpc>
                <a:spcPct val="100000"/>
              </a:lnSpc>
              <a:spcBef>
                <a:spcPts val="5"/>
              </a:spcBef>
            </a:pPr>
            <a:r>
              <a:rPr sz="1600" b="1" spc="-5" dirty="0">
                <a:latin typeface="Times New Roman"/>
                <a:cs typeface="Times New Roman"/>
              </a:rPr>
              <a:t>columns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0"/>
              </a:lnSpc>
            </a:pPr>
            <a:fld id="{81D60167-4931-47E6-BA6A-407CBD079E47}" type="slidenum">
              <a:rPr spc="-5" dirty="0"/>
              <a:t>29</a:t>
            </a:fld>
            <a:endParaRPr spc="-5" dirty="0"/>
          </a:p>
        </p:txBody>
      </p:sp>
      <p:sp>
        <p:nvSpPr>
          <p:cNvPr id="7" name="object 7"/>
          <p:cNvSpPr txBox="1"/>
          <p:nvPr/>
        </p:nvSpPr>
        <p:spPr>
          <a:xfrm>
            <a:off x="179323" y="2311145"/>
            <a:ext cx="1129030" cy="10026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368935" algn="r">
              <a:lnSpc>
                <a:spcPct val="100000"/>
              </a:lnSpc>
              <a:spcBef>
                <a:spcPts val="105"/>
              </a:spcBef>
            </a:pPr>
            <a:r>
              <a:rPr sz="1600" b="1" dirty="0">
                <a:latin typeface="Times New Roman"/>
                <a:cs typeface="Times New Roman"/>
              </a:rPr>
              <a:t>This</a:t>
            </a:r>
            <a:r>
              <a:rPr sz="1600" b="1" spc="-8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cell </a:t>
            </a:r>
            <a:r>
              <a:rPr sz="1600" b="1" spc="-38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spans </a:t>
            </a:r>
            <a:r>
              <a:rPr sz="1600" b="1" spc="5" dirty="0">
                <a:latin typeface="Times New Roman"/>
                <a:cs typeface="Times New Roman"/>
              </a:rPr>
              <a:t>two </a:t>
            </a:r>
            <a:r>
              <a:rPr sz="1600" b="1" spc="1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columns</a:t>
            </a:r>
            <a:r>
              <a:rPr sz="1600" b="1" spc="-7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and </a:t>
            </a:r>
            <a:r>
              <a:rPr sz="1600" b="1" spc="-38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two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rows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5147" y="3987749"/>
            <a:ext cx="1014094" cy="7588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R="7620" algn="r">
              <a:lnSpc>
                <a:spcPct val="100000"/>
              </a:lnSpc>
              <a:spcBef>
                <a:spcPts val="110"/>
              </a:spcBef>
            </a:pPr>
            <a:r>
              <a:rPr sz="1600" b="1" spc="5" dirty="0">
                <a:latin typeface="Times New Roman"/>
                <a:cs typeface="Times New Roman"/>
              </a:rPr>
              <a:t>T</a:t>
            </a:r>
            <a:r>
              <a:rPr sz="1600" b="1" spc="-5" dirty="0">
                <a:latin typeface="Times New Roman"/>
                <a:cs typeface="Times New Roman"/>
              </a:rPr>
              <a:t>h</a:t>
            </a:r>
            <a:r>
              <a:rPr sz="1600" b="1" spc="5" dirty="0">
                <a:latin typeface="Times New Roman"/>
                <a:cs typeface="Times New Roman"/>
              </a:rPr>
              <a:t>i</a:t>
            </a:r>
            <a:r>
              <a:rPr sz="1600" b="1" dirty="0">
                <a:latin typeface="Times New Roman"/>
                <a:cs typeface="Times New Roman"/>
              </a:rPr>
              <a:t>s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ce</a:t>
            </a:r>
            <a:r>
              <a:rPr sz="1600" b="1" spc="5" dirty="0">
                <a:latin typeface="Times New Roman"/>
                <a:cs typeface="Times New Roman"/>
              </a:rPr>
              <a:t>l</a:t>
            </a:r>
            <a:r>
              <a:rPr sz="1600" b="1" dirty="0">
                <a:latin typeface="Times New Roman"/>
                <a:cs typeface="Times New Roman"/>
              </a:rPr>
              <a:t>l</a:t>
            </a:r>
            <a:endParaRPr sz="160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</a:pPr>
            <a:r>
              <a:rPr sz="1600" b="1" dirty="0">
                <a:latin typeface="Times New Roman"/>
                <a:cs typeface="Times New Roman"/>
              </a:rPr>
              <a:t>spans</a:t>
            </a:r>
            <a:r>
              <a:rPr sz="1600" b="1" spc="-8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three</a:t>
            </a:r>
            <a:endParaRPr sz="1600">
              <a:latin typeface="Times New Roman"/>
              <a:cs typeface="Times New Roman"/>
            </a:endParaRPr>
          </a:p>
          <a:p>
            <a:pPr marR="6350" algn="r">
              <a:lnSpc>
                <a:spcPct val="100000"/>
              </a:lnSpc>
            </a:pPr>
            <a:r>
              <a:rPr sz="1600" b="1" dirty="0">
                <a:latin typeface="Times New Roman"/>
                <a:cs typeface="Times New Roman"/>
              </a:rPr>
              <a:t>rows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56992" y="173177"/>
            <a:ext cx="4430014" cy="492443"/>
          </a:xfrm>
        </p:spPr>
        <p:txBody>
          <a:bodyPr/>
          <a:lstStyle/>
          <a:p>
            <a:r>
              <a:rPr lang="en-US" dirty="0" smtClean="0"/>
              <a:t>Row span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1987" y="1371600"/>
            <a:ext cx="8305800" cy="276999"/>
          </a:xfrm>
        </p:spPr>
        <p:txBody>
          <a:bodyPr/>
          <a:lstStyle/>
          <a:p>
            <a:r>
              <a:rPr lang="en-US" dirty="0" smtClean="0"/>
              <a:t>Example 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714500"/>
            <a:ext cx="434008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917825"/>
            <a:ext cx="3962400" cy="3314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36311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56992" y="173177"/>
            <a:ext cx="4430014" cy="492443"/>
          </a:xfrm>
        </p:spPr>
        <p:txBody>
          <a:bodyPr/>
          <a:lstStyle/>
          <a:p>
            <a:r>
              <a:rPr lang="en-US" dirty="0" smtClean="0"/>
              <a:t>Col span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1987" y="1371600"/>
            <a:ext cx="8305800" cy="276999"/>
          </a:xfrm>
        </p:spPr>
        <p:txBody>
          <a:bodyPr/>
          <a:lstStyle/>
          <a:p>
            <a:r>
              <a:rPr lang="en-US" dirty="0" smtClean="0"/>
              <a:t>Example 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765301"/>
            <a:ext cx="3854607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447800"/>
            <a:ext cx="4371975" cy="4914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64572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56992" y="173177"/>
            <a:ext cx="4430014" cy="492443"/>
          </a:xfrm>
        </p:spPr>
        <p:txBody>
          <a:bodyPr/>
          <a:lstStyle/>
          <a:p>
            <a:r>
              <a:rPr lang="en-US" dirty="0" smtClean="0"/>
              <a:t>Example  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1600200"/>
            <a:ext cx="7216140" cy="830997"/>
          </a:xfrm>
        </p:spPr>
        <p:txBody>
          <a:bodyPr/>
          <a:lstStyle/>
          <a:p>
            <a:r>
              <a:rPr lang="en-US" dirty="0" smtClean="0"/>
              <a:t>Create following </a:t>
            </a:r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981200"/>
            <a:ext cx="7772399" cy="15227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95161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CCCC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8088</TotalTime>
  <Words>1167</Words>
  <Application>Microsoft Office PowerPoint</Application>
  <PresentationFormat>On-screen Show (4:3)</PresentationFormat>
  <Paragraphs>210</Paragraphs>
  <Slides>32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Office Theme</vt:lpstr>
      <vt:lpstr>Using HTML Tables</vt:lpstr>
      <vt:lpstr>Using the &lt;table&gt;, &lt;tr&gt;, and &lt;td&gt; Tags</vt:lpstr>
      <vt:lpstr>The General Table Syntax</vt:lpstr>
      <vt:lpstr>Columns within a Table</vt:lpstr>
      <vt:lpstr>HTML Structure of a Table</vt:lpstr>
      <vt:lpstr>Creating Headings with the &lt;th&gt; Tag</vt:lpstr>
      <vt:lpstr>Adding Table Headings to the Table</vt:lpstr>
      <vt:lpstr>PowerPoint Presentation</vt:lpstr>
      <vt:lpstr>Creating a Table Caption</vt:lpstr>
      <vt:lpstr>Result of a Table Caption</vt:lpstr>
      <vt:lpstr>Modifying the Appearance of a Table</vt:lpstr>
      <vt:lpstr>Adding a Table Border</vt:lpstr>
      <vt:lpstr>PowerPoint Presentation</vt:lpstr>
      <vt:lpstr>HTML TABLE ATTRIBUTES</vt:lpstr>
      <vt:lpstr>HTML TABLE ATTRIBUTES</vt:lpstr>
      <vt:lpstr>Applying a Background Color</vt:lpstr>
      <vt:lpstr>Specifying Table, Row, and Cell Colors</vt:lpstr>
      <vt:lpstr>The bordercolor Attribute</vt:lpstr>
      <vt:lpstr>Applying a Table Background</vt:lpstr>
      <vt:lpstr>Controlling Cell Spacing</vt:lpstr>
      <vt:lpstr>Defining Cell Padding</vt:lpstr>
      <vt:lpstr>Tables with Different  Cell Spacing Values</vt:lpstr>
      <vt:lpstr>PowerPoint Presentation</vt:lpstr>
      <vt:lpstr>PowerPoint Presentation</vt:lpstr>
      <vt:lpstr>Defining the Table Size</vt:lpstr>
      <vt:lpstr>Aligning a Table on the Web Page</vt:lpstr>
      <vt:lpstr>Results of a Right-Aligned Table</vt:lpstr>
      <vt:lpstr>Spanning Rows and Columns</vt:lpstr>
      <vt:lpstr>Example of Spanning Cells</vt:lpstr>
      <vt:lpstr>Row span</vt:lpstr>
      <vt:lpstr>Col span</vt:lpstr>
      <vt:lpstr>Example 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HTML Tables</dc:title>
  <dc:creator>Saadia Sh</dc:creator>
  <cp:lastModifiedBy>Sadi Shabbit</cp:lastModifiedBy>
  <cp:revision>15</cp:revision>
  <dcterms:created xsi:type="dcterms:W3CDTF">2024-02-27T17:41:15Z</dcterms:created>
  <dcterms:modified xsi:type="dcterms:W3CDTF">2024-10-09T09:43:32Z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2020-10-03T00:00:00Z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2024-02-27T00:00:00Z</vt:filetime>
  </property>
</Properties>
</file>