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792" r:id="rId2"/>
  </p:sldMasterIdLst>
  <p:notesMasterIdLst>
    <p:notesMasterId r:id="rId27"/>
  </p:notesMasterIdLst>
  <p:sldIdLst>
    <p:sldId id="368" r:id="rId3"/>
    <p:sldId id="464" r:id="rId4"/>
    <p:sldId id="465" r:id="rId5"/>
    <p:sldId id="466" r:id="rId6"/>
    <p:sldId id="467" r:id="rId7"/>
    <p:sldId id="468" r:id="rId8"/>
    <p:sldId id="495" r:id="rId9"/>
    <p:sldId id="445" r:id="rId10"/>
    <p:sldId id="494" r:id="rId11"/>
    <p:sldId id="473" r:id="rId12"/>
    <p:sldId id="474" r:id="rId13"/>
    <p:sldId id="475" r:id="rId14"/>
    <p:sldId id="476" r:id="rId15"/>
    <p:sldId id="479" r:id="rId16"/>
    <p:sldId id="497" r:id="rId17"/>
    <p:sldId id="498" r:id="rId18"/>
    <p:sldId id="499" r:id="rId19"/>
    <p:sldId id="500" r:id="rId20"/>
    <p:sldId id="501" r:id="rId21"/>
    <p:sldId id="502" r:id="rId22"/>
    <p:sldId id="503" r:id="rId23"/>
    <p:sldId id="504" r:id="rId24"/>
    <p:sldId id="505" r:id="rId25"/>
    <p:sldId id="506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291" autoAdjust="0"/>
  </p:normalViewPr>
  <p:slideViewPr>
    <p:cSldViewPr snapToGrid="0">
      <p:cViewPr>
        <p:scale>
          <a:sx n="71" d="100"/>
          <a:sy n="71" d="100"/>
        </p:scale>
        <p:origin x="-1160" y="-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9194E4-79C8-41B0-9AF4-53058728BAB5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BFD4BB-E70E-4D5C-83E2-D95045F6F6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167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D63FB-4DD9-4903-83FE-F80270576417}" type="datetime1">
              <a:rPr lang="en-US" smtClean="0"/>
              <a:pPr/>
              <a:t>9/8/2024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1980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DFA81-FF35-40E2-AA6F-C4E4697E2C73}" type="datetime1">
              <a:rPr lang="en-US" smtClean="0"/>
              <a:pPr/>
              <a:t>9/8/2024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502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08B4E-9E6D-47DB-A8C9-443A66B04FA1}" type="datetime1">
              <a:rPr lang="en-US" smtClean="0"/>
              <a:pPr/>
              <a:t>9/8/2024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19426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AD187-3CAF-4EEB-B511-D277A7E40C82}" type="datetime1">
              <a:rPr lang="en-US" smtClean="0"/>
              <a:pPr/>
              <a:t>9/8/2024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662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FEB82-3297-42CA-9AC7-D3ECF198E013}" type="datetime1">
              <a:rPr lang="en-US" smtClean="0"/>
              <a:pPr/>
              <a:t>9/8/2024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9286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48733-E273-4EF3-8143-57B6AA49A592}" type="datetime1">
              <a:rPr lang="en-US" smtClean="0"/>
              <a:pPr/>
              <a:t>9/8/2024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993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16BD8-1159-4CEE-BF69-08E8DE6F04D4}" type="datetime1">
              <a:rPr lang="en-US" smtClean="0"/>
              <a:pPr/>
              <a:t>9/8/2024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5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5B0FE-4AC0-4D7B-83B1-A18CD9CB8AEE}" type="datetime1">
              <a:rPr lang="en-US" smtClean="0"/>
              <a:pPr/>
              <a:t>9/8/2024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2614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2F497-D16F-472A-8AB2-6923D245D09D}" type="datetime1">
              <a:rPr lang="en-US" smtClean="0"/>
              <a:pPr/>
              <a:t>9/8/2024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874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E3EED-3DA2-4ED4-9C83-CEA1A9E43AAB}" type="datetime1">
              <a:rPr lang="en-US" smtClean="0"/>
              <a:pPr/>
              <a:t>9/8/2024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173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7ADCE-E054-4FA0-B715-AC4537BA8B51}" type="datetime1">
              <a:rPr lang="en-US" smtClean="0"/>
              <a:pPr/>
              <a:t>9/8/2024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7042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3B539F5C-786E-4BDB-B868-73CB6082799F}" type="datetimeFigureOut">
              <a:rPr lang="en-US" smtClean="0"/>
              <a:pPr/>
              <a:t>9/8/2024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0299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3B539F5C-786E-4BDB-B868-73CB6082799F}" type="datetimeFigureOut">
              <a:rPr lang="en-US" smtClean="0"/>
              <a:pPr/>
              <a:t>9/8/2024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0973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pPr/>
              <a:t>9/8/2024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7377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pPr/>
              <a:t>9/8/2024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4747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pPr/>
              <a:t>9/8/2024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3846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pPr/>
              <a:t>9/8/2024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2502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pPr/>
              <a:t>9/8/2024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1409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pPr/>
              <a:t>9/8/2024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3419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pPr/>
              <a:t>9/8/2024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2194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pPr/>
              <a:t>9/8/2024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58791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pPr/>
              <a:t>9/8/2024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4556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pPr/>
              <a:t>9/8/2024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291915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pPr/>
              <a:t>9/8/2024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56044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pPr/>
              <a:t>9/8/2024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3268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pPr/>
              <a:t>9/8/2024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03324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pPr/>
              <a:t>9/8/2024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57804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pPr/>
              <a:t>9/8/2024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389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E9BFFB69-46B3-4750-912C-E29F4B8DA29C}" type="datetime1">
              <a:rPr lang="en-US" smtClean="0"/>
              <a:pPr/>
              <a:t>9/8/2024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446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BFFB69-46B3-4750-912C-E29F4B8DA29C}" type="datetime1">
              <a:rPr lang="en-US" smtClean="0"/>
              <a:pPr/>
              <a:t>9/8/2024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502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>
            <a:outerShdw blurRad="114300" dist="38100" dir="2700000" algn="tl">
              <a:srgbClr val="000000">
                <a:alpha val="26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outerShdw blurRad="127000" dist="38100" dir="2700000" algn="tl">
              <a:srgbClr val="000000">
                <a:alpha val="33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127000" dist="38100" dir="2700000" algn="tl">
              <a:srgbClr val="000000">
                <a:alpha val="33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127000" dist="38100" dir="2700000" algn="tl">
              <a:srgbClr val="000000">
                <a:alpha val="33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127000" dist="38100" dir="2700000" algn="tl">
              <a:srgbClr val="000000">
                <a:alpha val="33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127000" dist="38100" dir="2700000" algn="tl">
              <a:srgbClr val="000000">
                <a:alpha val="33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6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07C545C-EAC2-4814-AE8B-2D0C943C30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39211BDA-D7DF-4130-A3B3-EE01676363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2237" y="4391464"/>
            <a:ext cx="6400800" cy="2206283"/>
          </a:xfrm>
        </p:spPr>
        <p:txBody>
          <a:bodyPr>
            <a:normAutofit/>
          </a:bodyPr>
          <a:lstStyle/>
          <a:p>
            <a:pPr algn="ctr"/>
            <a:r>
              <a:rPr lang="en-US" sz="3900" b="1" dirty="0"/>
              <a:t>Operations Research</a:t>
            </a:r>
          </a:p>
          <a:p>
            <a:pPr algn="ctr"/>
            <a:r>
              <a:rPr lang="en-US" sz="2800" b="1" dirty="0">
                <a:solidFill>
                  <a:srgbClr val="000000">
                    <a:lumMod val="75000"/>
                    <a:lumOff val="25000"/>
                  </a:srgbClr>
                </a:solidFill>
              </a:rPr>
              <a:t>(</a:t>
            </a:r>
            <a:r>
              <a:rPr lang="en-US" sz="2800" b="1">
                <a:solidFill>
                  <a:srgbClr val="000000">
                    <a:lumMod val="75000"/>
                    <a:lumOff val="25000"/>
                  </a:srgbClr>
                </a:solidFill>
              </a:rPr>
              <a:t>Mathematics</a:t>
            </a:r>
            <a:r>
              <a:rPr lang="en-US" sz="2800" b="1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)</a:t>
            </a:r>
            <a:endParaRPr lang="en-US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667F458A-708A-4E75-9D30-9C4DBEA489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71600"/>
            <a:ext cx="9144000" cy="266176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CA972A36-04A5-41D7-9B19-15A743E4476F}"/>
              </a:ext>
            </a:extLst>
          </p:cNvPr>
          <p:cNvSpPr/>
          <p:nvPr/>
        </p:nvSpPr>
        <p:spPr>
          <a:xfrm>
            <a:off x="3713463" y="637061"/>
            <a:ext cx="171707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b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Week # 5</a:t>
            </a:r>
            <a:endParaRPr lang="en-GB" sz="2800" u="sn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5315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Simplex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xmlns="" id="{12C3F38F-06D5-4ADF-BB89-374D8DB47B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56060" y="2249486"/>
                <a:ext cx="7429499" cy="4608513"/>
              </a:xfrm>
            </p:spPr>
            <p:txBody>
              <a:bodyPr>
                <a:normAutofit lnSpcReduction="10000"/>
              </a:bodyPr>
              <a:lstStyle/>
              <a:p>
                <a:pPr marL="0" lvl="0" indent="0" algn="just">
                  <a:buNone/>
                </a:pPr>
                <a:r>
                  <a:rPr lang="en-US" sz="2800" b="1" dirty="0">
                    <a:solidFill>
                      <a:prstClr val="black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Example 1 :</a:t>
                </a:r>
              </a:p>
              <a:p>
                <a:pPr marL="0" lvl="0" indent="0" algn="ctr">
                  <a:buNone/>
                </a:pPr>
                <a:r>
                  <a:rPr lang="en-US" sz="2800" dirty="0">
                    <a:solidFill>
                      <a:prstClr val="black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Max Z=5x1+4x2</a:t>
                </a:r>
              </a:p>
              <a:p>
                <a:pPr marL="0" lvl="0" indent="0" algn="just">
                  <a:buNone/>
                </a:pPr>
                <a:r>
                  <a:rPr lang="en-US" sz="2800" dirty="0">
                    <a:solidFill>
                      <a:prstClr val="black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Subject to Constraints:</a:t>
                </a:r>
              </a:p>
              <a:p>
                <a:pPr marL="0" lvl="0" indent="0" algn="just">
                  <a:buNone/>
                </a:pPr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≤7</m:t>
                      </m:r>
                    </m:oMath>
                  </m:oMathPara>
                </a14:m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8</m:t>
                      </m:r>
                    </m:oMath>
                  </m:oMathPara>
                </a14:m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≥0</m:t>
                      </m:r>
                    </m:oMath>
                  </m:oMathPara>
                </a14:m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12C3F38F-06D5-4ADF-BB89-374D8DB47B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6060" y="2249486"/>
                <a:ext cx="7429499" cy="4608513"/>
              </a:xfrm>
              <a:blipFill>
                <a:blip r:embed="rId2"/>
                <a:stretch>
                  <a:fillRect l="-1641" t="-11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24389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Simplex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xmlns="" id="{12C3F38F-06D5-4ADF-BB89-374D8DB47B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56060" y="2249486"/>
                <a:ext cx="7429499" cy="4608513"/>
              </a:xfrm>
            </p:spPr>
            <p:txBody>
              <a:bodyPr>
                <a:normAutofit lnSpcReduction="10000"/>
              </a:bodyPr>
              <a:lstStyle/>
              <a:p>
                <a:pPr marL="0" lvl="0" indent="0" algn="just">
                  <a:buNone/>
                </a:pPr>
                <a:r>
                  <a:rPr lang="en-US" sz="2800" b="1" dirty="0">
                    <a:solidFill>
                      <a:prstClr val="black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Solution:</a:t>
                </a:r>
              </a:p>
              <a:p>
                <a:pPr marL="0" lvl="0" indent="0" algn="ctr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Max</m:t>
                    </m:r>
                    <m:r>
                      <a:rPr lang="en-US" sz="2800" b="0" i="0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800" b="0" i="0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Z</m:t>
                    </m:r>
                    <m:r>
                      <a:rPr lang="en-US" sz="2800" b="0" i="1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=5</m:t>
                    </m:r>
                    <m:sSub>
                      <m:sSubPr>
                        <m:ctrlP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n-US" sz="2800" b="0" i="1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4</m:t>
                    </m:r>
                    <m:sSub>
                      <m:sSubPr>
                        <m:ctrlP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prstClr val="black"/>
                    </a:solidFill>
                    <a:effectLst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n-US" sz="2800" b="0" i="1" dirty="0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</m:t>
                    </m:r>
                    <m:sSub>
                      <m:sSubPr>
                        <m:ctrlP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prstClr val="black"/>
                    </a:solidFill>
                    <a:effectLst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n-US" sz="2800" b="0" i="1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</m:t>
                    </m:r>
                    <m:sSub>
                      <m:sSubPr>
                        <m:ctrlP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</m:e>
                      <m:sub>
                        <m: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:r>
                  <a:rPr lang="en-US" sz="2800" dirty="0">
                    <a:solidFill>
                      <a:prstClr val="black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Subject to Constraints:</a:t>
                </a:r>
              </a:p>
              <a:p>
                <a:pPr marL="0" lvl="0" indent="0" algn="just">
                  <a:buNone/>
                </a:pPr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=7</m:t>
                      </m:r>
                    </m:oMath>
                  </m:oMathPara>
                </a14:m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=8</m:t>
                      </m:r>
                    </m:oMath>
                  </m:oMathPara>
                </a14:m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≥0</m:t>
                      </m:r>
                    </m:oMath>
                  </m:oMathPara>
                </a14:m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12C3F38F-06D5-4ADF-BB89-374D8DB47B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6060" y="2249486"/>
                <a:ext cx="7429499" cy="4608513"/>
              </a:xfrm>
              <a:blipFill>
                <a:blip r:embed="rId2"/>
                <a:stretch>
                  <a:fillRect l="-1641" t="-11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89358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Simplex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xmlns="" id="{12C3F38F-06D5-4ADF-BB89-374D8DB47B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56060" y="2249486"/>
                <a:ext cx="7429499" cy="4608513"/>
              </a:xfrm>
            </p:spPr>
            <p:txBody>
              <a:bodyPr>
                <a:normAutofit/>
              </a:bodyPr>
              <a:lstStyle/>
              <a:p>
                <a:pPr marL="0" lvl="0" indent="0" algn="ctr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Z</m:t>
                    </m:r>
                    <m:r>
                      <a:rPr lang="en-US" sz="2800" b="0" i="1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−5</m:t>
                    </m:r>
                    <m:sSub>
                      <m:sSubPr>
                        <m:ctrlP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−4</m:t>
                    </m:r>
                    <m:sSub>
                      <m:sSubPr>
                        <m:ctrlP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prstClr val="black"/>
                    </a:solidFill>
                    <a:effectLst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</m:t>
                    </m:r>
                  </m:oMath>
                </a14:m>
                <a:r>
                  <a:rPr lang="en-US" sz="2800" dirty="0">
                    <a:solidFill>
                      <a:prstClr val="black"/>
                    </a:solidFill>
                    <a:effectLst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</m:t>
                    </m:r>
                    <m:sSub>
                      <m:sSubPr>
                        <m:ctrlP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</m:t>
                    </m:r>
                    <m:r>
                      <a:rPr lang="en-US" sz="2800" b="0" i="1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</m:t>
                    </m:r>
                    <m:sSub>
                      <m:sSubPr>
                        <m:ctrlP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</m:e>
                      <m:sub>
                        <m: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  <m:r>
                      <a:rPr lang="en-US" sz="2800" b="0" i="1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=0</m:t>
                    </m:r>
                  </m:oMath>
                </a14:m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12C3F38F-06D5-4ADF-BB89-374D8DB47B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6060" y="2249486"/>
                <a:ext cx="7429499" cy="460851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3">
                <a:extLst>
                  <a:ext uri="{FF2B5EF4-FFF2-40B4-BE49-F238E27FC236}">
                    <a16:creationId xmlns:a16="http://schemas.microsoft.com/office/drawing/2014/main" xmlns="" id="{D8C8DA31-4EFD-45DF-9DE6-6D7BC95C97E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37681437"/>
                  </p:ext>
                </p:extLst>
              </p:nvPr>
            </p:nvGraphicFramePr>
            <p:xfrm>
              <a:off x="1161425" y="3429000"/>
              <a:ext cx="7124134" cy="2122615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97653">
                      <a:extLst>
                        <a:ext uri="{9D8B030D-6E8A-4147-A177-3AD203B41FA5}">
                          <a16:colId xmlns:a16="http://schemas.microsoft.com/office/drawing/2014/main" xmlns="" val="3900973489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xmlns="" val="2403358881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xmlns="" val="2710614908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xmlns="" val="3261079531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xmlns="" val="1580563782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xmlns="" val="3172534196"/>
                        </a:ext>
                      </a:extLst>
                    </a:gridCol>
                    <a:gridCol w="1738216">
                      <a:extLst>
                        <a:ext uri="{9D8B030D-6E8A-4147-A177-3AD203B41FA5}">
                          <a16:colId xmlns:a16="http://schemas.microsoft.com/office/drawing/2014/main" xmlns="" val="312180775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SOL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Min Ratio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23414207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5988916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den>
                                </m:f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=7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43467389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8</m:t>
                                    </m:r>
                                  </m:num>
                                  <m:den>
                                    <m: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den>
                                </m:f>
                                <m:r>
                                  <a:rPr kumimoji="0" lang="en-US" sz="1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=8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286089560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3">
                <a:extLst>
                  <a:ext uri="{FF2B5EF4-FFF2-40B4-BE49-F238E27FC236}">
                    <a16:creationId xmlns:a16="http://schemas.microsoft.com/office/drawing/2014/main" id="{D8C8DA31-4EFD-45DF-9DE6-6D7BC95C97E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37681437"/>
                  </p:ext>
                </p:extLst>
              </p:nvPr>
            </p:nvGraphicFramePr>
            <p:xfrm>
              <a:off x="1161425" y="3429000"/>
              <a:ext cx="7124134" cy="2122615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97653">
                      <a:extLst>
                        <a:ext uri="{9D8B030D-6E8A-4147-A177-3AD203B41FA5}">
                          <a16:colId xmlns:a16="http://schemas.microsoft.com/office/drawing/2014/main" val="3900973489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val="2403358881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val="2710614908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val="3261079531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val="1580563782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val="3172534196"/>
                        </a:ext>
                      </a:extLst>
                    </a:gridCol>
                    <a:gridCol w="1738216">
                      <a:extLst>
                        <a:ext uri="{9D8B030D-6E8A-4147-A177-3AD203B41FA5}">
                          <a16:colId xmlns:a16="http://schemas.microsoft.com/office/drawing/2014/main" val="3121807758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000" t="-9333" r="-593919" b="-36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1361" t="-9333" r="-497959" b="-36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99324" t="-9333" r="-394595" b="-36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2041" t="-9333" r="-297279" b="-36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SOL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Min Ratio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4142074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98891676"/>
                      </a:ext>
                    </a:extLst>
                  </a:tr>
                  <a:tr h="60318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80" t="-157000" r="-698639" b="-101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10877" t="-157000" r="-1404" b="-101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34673895"/>
                      </a:ext>
                    </a:extLst>
                  </a:tr>
                  <a:tr h="6050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80" t="-259596" r="-698639" b="-20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10877" t="-259596" r="-1404" b="-202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6089560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903147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Simplex Method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12C3F38F-06D5-4ADF-BB89-374D8DB47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608513"/>
          </a:xfrm>
        </p:spPr>
        <p:txBody>
          <a:bodyPr>
            <a:normAutofit/>
          </a:bodyPr>
          <a:lstStyle/>
          <a:p>
            <a:pPr marL="0" lvl="0" indent="0" algn="just">
              <a:buNone/>
            </a:pPr>
            <a:r>
              <a:rPr lang="en-US" dirty="0">
                <a:solidFill>
                  <a:prstClr val="black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Entering variable = Less negative value in z-row</a:t>
            </a:r>
          </a:p>
          <a:p>
            <a:pPr marL="0" lvl="0" indent="0" algn="just">
              <a:buNone/>
            </a:pPr>
            <a:r>
              <a:rPr lang="en-US" dirty="0">
                <a:solidFill>
                  <a:prstClr val="black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Leaving variable = Minimum +</a:t>
            </a:r>
            <a:r>
              <a:rPr lang="en-US" dirty="0" err="1">
                <a:solidFill>
                  <a:prstClr val="black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ve</a:t>
            </a:r>
            <a:r>
              <a:rPr lang="en-US" dirty="0">
                <a:solidFill>
                  <a:prstClr val="black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ratio value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3">
                <a:extLst>
                  <a:ext uri="{FF2B5EF4-FFF2-40B4-BE49-F238E27FC236}">
                    <a16:creationId xmlns:a16="http://schemas.microsoft.com/office/drawing/2014/main" xmlns="" id="{4F74CF97-A582-4DFA-AF06-3DAACE4A6A2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78531712"/>
                  </p:ext>
                </p:extLst>
              </p:nvPr>
            </p:nvGraphicFramePr>
            <p:xfrm>
              <a:off x="856060" y="3639342"/>
              <a:ext cx="7124134" cy="182880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97653">
                      <a:extLst>
                        <a:ext uri="{9D8B030D-6E8A-4147-A177-3AD203B41FA5}">
                          <a16:colId xmlns:a16="http://schemas.microsoft.com/office/drawing/2014/main" xmlns="" val="3900973489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xmlns="" val="2403358881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xmlns="" val="2710614908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xmlns="" val="3261079531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xmlns="" val="1580563782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xmlns="" val="3172534196"/>
                        </a:ext>
                      </a:extLst>
                    </a:gridCol>
                    <a:gridCol w="1738216">
                      <a:extLst>
                        <a:ext uri="{9D8B030D-6E8A-4147-A177-3AD203B41FA5}">
                          <a16:colId xmlns:a16="http://schemas.microsoft.com/office/drawing/2014/main" xmlns="" val="312180775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SOL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Min Ratio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23414207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5988916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43467389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286089560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3">
                <a:extLst>
                  <a:ext uri="{FF2B5EF4-FFF2-40B4-BE49-F238E27FC236}">
                    <a16:creationId xmlns:a16="http://schemas.microsoft.com/office/drawing/2014/main" id="{4F74CF97-A582-4DFA-AF06-3DAACE4A6A2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78531712"/>
                  </p:ext>
                </p:extLst>
              </p:nvPr>
            </p:nvGraphicFramePr>
            <p:xfrm>
              <a:off x="856060" y="3639342"/>
              <a:ext cx="7124134" cy="182880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97653">
                      <a:extLst>
                        <a:ext uri="{9D8B030D-6E8A-4147-A177-3AD203B41FA5}">
                          <a16:colId xmlns:a16="http://schemas.microsoft.com/office/drawing/2014/main" val="3900973489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val="2403358881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val="2710614908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val="3261079531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val="1580563782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val="3172534196"/>
                        </a:ext>
                      </a:extLst>
                    </a:gridCol>
                    <a:gridCol w="1738216">
                      <a:extLst>
                        <a:ext uri="{9D8B030D-6E8A-4147-A177-3AD203B41FA5}">
                          <a16:colId xmlns:a16="http://schemas.microsoft.com/office/drawing/2014/main" val="3121807758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10667" r="-593919" b="-305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1361" t="-10667" r="-497959" b="-305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99324" t="-10667" r="-394595" b="-305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2041" t="-10667" r="-297279" b="-305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SOL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Min Ratio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4142074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9889167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80" t="-212000" r="-698639" b="-1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3467389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80" t="-312000" r="-698639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089560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3616881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Simplex method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12C3F38F-06D5-4ADF-BB89-374D8DB47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60851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xmlns="" id="{BDBA63ED-1CEE-4BEA-B1CD-48EB4E252C73}"/>
                  </a:ext>
                </a:extLst>
              </p:cNvPr>
              <p:cNvSpPr/>
              <p:nvPr/>
            </p:nvSpPr>
            <p:spPr>
              <a:xfrm>
                <a:off x="856060" y="1846153"/>
                <a:ext cx="4572000" cy="501869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lvl="0" algn="just" defTabSz="914400">
                  <a:lnSpc>
                    <a:spcPct val="120000"/>
                  </a:lnSpc>
                  <a:spcBef>
                    <a:spcPts val="1000"/>
                  </a:spcBef>
                  <a:buSzPct val="125000"/>
                </a:pPr>
                <a:r>
                  <a:rPr lang="en-US" sz="24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By z+(5)</a:t>
                </a:r>
                <a:r>
                  <a:rPr lang="en-US" sz="2400" dirty="0">
                    <a:solidFill>
                      <a:prstClr val="black"/>
                    </a:solidFill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    </a:t>
                </a:r>
                <a:endParaRPr lang="en-US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DBA63ED-1CEE-4BEA-B1CD-48EB4E252C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060" y="1846153"/>
                <a:ext cx="4572000" cy="501869"/>
              </a:xfrm>
              <a:prstGeom prst="rect">
                <a:avLst/>
              </a:prstGeom>
              <a:blipFill>
                <a:blip r:embed="rId2"/>
                <a:stretch>
                  <a:fillRect l="-2000" t="-2439" b="-280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3">
                <a:extLst>
                  <a:ext uri="{FF2B5EF4-FFF2-40B4-BE49-F238E27FC236}">
                    <a16:creationId xmlns:a16="http://schemas.microsoft.com/office/drawing/2014/main" xmlns="" id="{A06989DD-7B4A-4FB0-ACE1-0020ACF5750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76900010"/>
                  </p:ext>
                </p:extLst>
              </p:nvPr>
            </p:nvGraphicFramePr>
            <p:xfrm>
              <a:off x="856060" y="2500420"/>
              <a:ext cx="7124134" cy="2124393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97653">
                      <a:extLst>
                        <a:ext uri="{9D8B030D-6E8A-4147-A177-3AD203B41FA5}">
                          <a16:colId xmlns:a16="http://schemas.microsoft.com/office/drawing/2014/main" xmlns="" val="3900973489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xmlns="" val="2403358881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xmlns="" val="2710614908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xmlns="" val="3261079531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xmlns="" val="1580563782"/>
                        </a:ext>
                      </a:extLst>
                    </a:gridCol>
                    <a:gridCol w="1014272">
                      <a:extLst>
                        <a:ext uri="{9D8B030D-6E8A-4147-A177-3AD203B41FA5}">
                          <a16:colId xmlns:a16="http://schemas.microsoft.com/office/drawing/2014/main" xmlns="" val="3172534196"/>
                        </a:ext>
                      </a:extLst>
                    </a:gridCol>
                    <a:gridCol w="1621597">
                      <a:extLst>
                        <a:ext uri="{9D8B030D-6E8A-4147-A177-3AD203B41FA5}">
                          <a16:colId xmlns:a16="http://schemas.microsoft.com/office/drawing/2014/main" xmlns="" val="312180775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SOL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Min Ratio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23414207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5988916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den>
                                </m:f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𝑢𝑛𝑑𝑒𝑓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43467389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den>
                                </m:f>
                                <m:r>
                                  <a:rPr kumimoji="0" lang="en-US" sz="1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286089560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3">
                <a:extLst>
                  <a:ext uri="{FF2B5EF4-FFF2-40B4-BE49-F238E27FC236}">
                    <a16:creationId xmlns:a16="http://schemas.microsoft.com/office/drawing/2014/main" id="{A06989DD-7B4A-4FB0-ACE1-0020ACF5750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76900010"/>
                  </p:ext>
                </p:extLst>
              </p:nvPr>
            </p:nvGraphicFramePr>
            <p:xfrm>
              <a:off x="856060" y="2500420"/>
              <a:ext cx="7124134" cy="2124393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97653">
                      <a:extLst>
                        <a:ext uri="{9D8B030D-6E8A-4147-A177-3AD203B41FA5}">
                          <a16:colId xmlns:a16="http://schemas.microsoft.com/office/drawing/2014/main" val="3900973489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val="2403358881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val="2710614908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val="3261079531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val="1580563782"/>
                        </a:ext>
                      </a:extLst>
                    </a:gridCol>
                    <a:gridCol w="1014272">
                      <a:extLst>
                        <a:ext uri="{9D8B030D-6E8A-4147-A177-3AD203B41FA5}">
                          <a16:colId xmlns:a16="http://schemas.microsoft.com/office/drawing/2014/main" val="3172534196"/>
                        </a:ext>
                      </a:extLst>
                    </a:gridCol>
                    <a:gridCol w="1621597">
                      <a:extLst>
                        <a:ext uri="{9D8B030D-6E8A-4147-A177-3AD203B41FA5}">
                          <a16:colId xmlns:a16="http://schemas.microsoft.com/office/drawing/2014/main" val="3121807758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000" t="-10667" r="-593919" b="-36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1361" t="-10667" r="-497959" b="-36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99324" t="-10667" r="-394595" b="-36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2041" t="-10667" r="-297279" b="-36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SOL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Min Ratio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4142074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98891676"/>
                      </a:ext>
                    </a:extLst>
                  </a:tr>
                  <a:tr h="60496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80" t="-158000" r="-698639" b="-101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40226" t="-158000" r="-1504" b="-101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34673895"/>
                      </a:ext>
                    </a:extLst>
                  </a:tr>
                  <a:tr h="6050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80" t="-260606" r="-698639" b="-20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40226" t="-260606" r="-1504" b="-202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6089560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924479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Simplex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xmlns="" id="{12C3F38F-06D5-4ADF-BB89-374D8DB47B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56060" y="2249486"/>
                <a:ext cx="7429499" cy="460851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:r>
                  <a:rPr lang="en-US" dirty="0">
                    <a:solidFill>
                      <a:prstClr val="black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By z+(4)</a:t>
                </a:r>
                <a:r>
                  <a:rPr lang="en-US" dirty="0">
                    <a:solidFill>
                      <a:prstClr val="black"/>
                    </a:solidFill>
                    <a:effectLst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prstClr val="black"/>
                            </a:solidFill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1800" dirty="0">
                  <a:solidFill>
                    <a:prstClr val="black"/>
                  </a:solidFill>
                  <a:effectLst/>
                </a:endParaRPr>
              </a:p>
              <a:p>
                <a:pPr marL="0" indent="0">
                  <a:buNone/>
                </a:pP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12C3F38F-06D5-4ADF-BB89-374D8DB47B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6060" y="2249486"/>
                <a:ext cx="7429499" cy="4608513"/>
              </a:xfrm>
              <a:blipFill>
                <a:blip r:embed="rId2"/>
                <a:stretch>
                  <a:fillRect l="-1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3">
                <a:extLst>
                  <a:ext uri="{FF2B5EF4-FFF2-40B4-BE49-F238E27FC236}">
                    <a16:creationId xmlns:a16="http://schemas.microsoft.com/office/drawing/2014/main" xmlns="" id="{A06989DD-7B4A-4FB0-ACE1-0020ACF5750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56825526"/>
                  </p:ext>
                </p:extLst>
              </p:nvPr>
            </p:nvGraphicFramePr>
            <p:xfrm>
              <a:off x="856060" y="1846153"/>
              <a:ext cx="7124134" cy="182880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97653">
                      <a:extLst>
                        <a:ext uri="{9D8B030D-6E8A-4147-A177-3AD203B41FA5}">
                          <a16:colId xmlns:a16="http://schemas.microsoft.com/office/drawing/2014/main" xmlns="" val="3900973489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xmlns="" val="2403358881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xmlns="" val="2710614908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xmlns="" val="3261079531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xmlns="" val="1580563782"/>
                        </a:ext>
                      </a:extLst>
                    </a:gridCol>
                    <a:gridCol w="1014272">
                      <a:extLst>
                        <a:ext uri="{9D8B030D-6E8A-4147-A177-3AD203B41FA5}">
                          <a16:colId xmlns:a16="http://schemas.microsoft.com/office/drawing/2014/main" xmlns="" val="3172534196"/>
                        </a:ext>
                      </a:extLst>
                    </a:gridCol>
                    <a:gridCol w="1621597">
                      <a:extLst>
                        <a:ext uri="{9D8B030D-6E8A-4147-A177-3AD203B41FA5}">
                          <a16:colId xmlns:a16="http://schemas.microsoft.com/office/drawing/2014/main" xmlns="" val="312180775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SOL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Min Ratio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23414207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5988916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43467389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286089560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3">
                <a:extLst>
                  <a:ext uri="{FF2B5EF4-FFF2-40B4-BE49-F238E27FC236}">
                    <a16:creationId xmlns:a16="http://schemas.microsoft.com/office/drawing/2014/main" id="{A06989DD-7B4A-4FB0-ACE1-0020ACF5750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56825526"/>
                  </p:ext>
                </p:extLst>
              </p:nvPr>
            </p:nvGraphicFramePr>
            <p:xfrm>
              <a:off x="856060" y="1846153"/>
              <a:ext cx="7124134" cy="182880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97653">
                      <a:extLst>
                        <a:ext uri="{9D8B030D-6E8A-4147-A177-3AD203B41FA5}">
                          <a16:colId xmlns:a16="http://schemas.microsoft.com/office/drawing/2014/main" val="3900973489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val="2403358881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val="2710614908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val="3261079531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val="1580563782"/>
                        </a:ext>
                      </a:extLst>
                    </a:gridCol>
                    <a:gridCol w="1014272">
                      <a:extLst>
                        <a:ext uri="{9D8B030D-6E8A-4147-A177-3AD203B41FA5}">
                          <a16:colId xmlns:a16="http://schemas.microsoft.com/office/drawing/2014/main" val="3172534196"/>
                        </a:ext>
                      </a:extLst>
                    </a:gridCol>
                    <a:gridCol w="1621597">
                      <a:extLst>
                        <a:ext uri="{9D8B030D-6E8A-4147-A177-3AD203B41FA5}">
                          <a16:colId xmlns:a16="http://schemas.microsoft.com/office/drawing/2014/main" val="3121807758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000" t="-9333" r="-593919" b="-305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1361" t="-9333" r="-497959" b="-305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99324" t="-9333" r="-394595" b="-305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2041" t="-9333" r="-297279" b="-305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SOL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Min Ratio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4142074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9889167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80" t="-210667" r="-698639" b="-1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3467389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80" t="-310667" r="-698639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089560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3">
                <a:extLst>
                  <a:ext uri="{FF2B5EF4-FFF2-40B4-BE49-F238E27FC236}">
                    <a16:creationId xmlns:a16="http://schemas.microsoft.com/office/drawing/2014/main" xmlns="" id="{3B4BD19A-C021-4B83-AAB3-DB4EA9846E2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17686851"/>
                  </p:ext>
                </p:extLst>
              </p:nvPr>
            </p:nvGraphicFramePr>
            <p:xfrm>
              <a:off x="856060" y="4553742"/>
              <a:ext cx="7124134" cy="182880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97653">
                      <a:extLst>
                        <a:ext uri="{9D8B030D-6E8A-4147-A177-3AD203B41FA5}">
                          <a16:colId xmlns:a16="http://schemas.microsoft.com/office/drawing/2014/main" xmlns="" val="3900973489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xmlns="" val="2403358881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xmlns="" val="2710614908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xmlns="" val="3261079531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xmlns="" val="1580563782"/>
                        </a:ext>
                      </a:extLst>
                    </a:gridCol>
                    <a:gridCol w="1014272">
                      <a:extLst>
                        <a:ext uri="{9D8B030D-6E8A-4147-A177-3AD203B41FA5}">
                          <a16:colId xmlns:a16="http://schemas.microsoft.com/office/drawing/2014/main" xmlns="" val="3172534196"/>
                        </a:ext>
                      </a:extLst>
                    </a:gridCol>
                    <a:gridCol w="1621597">
                      <a:extLst>
                        <a:ext uri="{9D8B030D-6E8A-4147-A177-3AD203B41FA5}">
                          <a16:colId xmlns:a16="http://schemas.microsoft.com/office/drawing/2014/main" xmlns="" val="312180775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SOL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Min Ratio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23414207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5988916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43467389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286089560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3">
                <a:extLst>
                  <a:ext uri="{FF2B5EF4-FFF2-40B4-BE49-F238E27FC236}">
                    <a16:creationId xmlns:a16="http://schemas.microsoft.com/office/drawing/2014/main" id="{3B4BD19A-C021-4B83-AAB3-DB4EA9846E2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17686851"/>
                  </p:ext>
                </p:extLst>
              </p:nvPr>
            </p:nvGraphicFramePr>
            <p:xfrm>
              <a:off x="856060" y="4553742"/>
              <a:ext cx="7124134" cy="182880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97653">
                      <a:extLst>
                        <a:ext uri="{9D8B030D-6E8A-4147-A177-3AD203B41FA5}">
                          <a16:colId xmlns:a16="http://schemas.microsoft.com/office/drawing/2014/main" val="3900973489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val="2403358881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val="2710614908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val="3261079531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val="1580563782"/>
                        </a:ext>
                      </a:extLst>
                    </a:gridCol>
                    <a:gridCol w="1014272">
                      <a:extLst>
                        <a:ext uri="{9D8B030D-6E8A-4147-A177-3AD203B41FA5}">
                          <a16:colId xmlns:a16="http://schemas.microsoft.com/office/drawing/2014/main" val="3172534196"/>
                        </a:ext>
                      </a:extLst>
                    </a:gridCol>
                    <a:gridCol w="1621597">
                      <a:extLst>
                        <a:ext uri="{9D8B030D-6E8A-4147-A177-3AD203B41FA5}">
                          <a16:colId xmlns:a16="http://schemas.microsoft.com/office/drawing/2014/main" val="3121807758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000" t="-10667" r="-593919" b="-305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1361" t="-10667" r="-497959" b="-305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99324" t="-10667" r="-394595" b="-305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02041" t="-10667" r="-297279" b="-305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SOL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Min Ratio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4142074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9889167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680" t="-212000" r="-698639" b="-1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3467389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680" t="-312000" r="-698639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089560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6844335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xmlns="" id="{42C736D9-7A0B-4FB8-8DB2-13424C09B2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56060" y="2249486"/>
                <a:ext cx="7429499" cy="4608513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en-US" sz="2800" b="1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Example 2:</a:t>
                </a:r>
              </a:p>
              <a:p>
                <a:pPr marL="0" lvl="0" indent="0" algn="ctr">
                  <a:buNone/>
                </a:pPr>
                <a:r>
                  <a:rPr lang="en-US" sz="2800" dirty="0">
                    <a:solidFill>
                      <a:prstClr val="black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Max Z=2x1+x2</a:t>
                </a:r>
              </a:p>
              <a:p>
                <a:pPr marL="0" lvl="0" indent="0" algn="just">
                  <a:buNone/>
                </a:pPr>
                <a:r>
                  <a:rPr lang="en-US" sz="2800" dirty="0">
                    <a:solidFill>
                      <a:prstClr val="black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Subject to Constraints:</a:t>
                </a:r>
              </a:p>
              <a:p>
                <a:pPr marL="0" lv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0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1</m:t>
                      </m:r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0</m:t>
                      </m:r>
                    </m:oMath>
                  </m:oMathPara>
                </a14:m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2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+3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40</m:t>
                      </m:r>
                    </m:oMath>
                  </m:oMathPara>
                </a14:m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≥0</m:t>
                      </m:r>
                    </m:oMath>
                  </m:oMathPara>
                </a14:m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just">
                  <a:buNone/>
                </a:pPr>
                <a:endParaRPr lang="en-US" sz="2800" b="1" dirty="0"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2C736D9-7A0B-4FB8-8DB2-13424C09B2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6060" y="2249486"/>
                <a:ext cx="7429499" cy="4608513"/>
              </a:xfrm>
              <a:blipFill>
                <a:blip r:embed="rId2"/>
                <a:stretch>
                  <a:fillRect l="-1641" t="-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26153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Infeasible 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xmlns="" id="{42C736D9-7A0B-4FB8-8DB2-13424C09B2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56060" y="2249486"/>
                <a:ext cx="7429499" cy="4608513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en-US" sz="2800" b="1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Example 1:</a:t>
                </a:r>
              </a:p>
              <a:p>
                <a:pPr marL="0" lvl="0" indent="0" algn="ctr">
                  <a:buNone/>
                </a:pPr>
                <a:r>
                  <a:rPr lang="en-US" sz="2800" dirty="0">
                    <a:solidFill>
                      <a:prstClr val="black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Max Z=3x1+2x2</a:t>
                </a:r>
              </a:p>
              <a:p>
                <a:pPr marL="0" lvl="0" indent="0" algn="just">
                  <a:buNone/>
                </a:pPr>
                <a:r>
                  <a:rPr lang="en-US" sz="2800" dirty="0">
                    <a:solidFill>
                      <a:prstClr val="black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Subject to Constraints:</a:t>
                </a:r>
              </a:p>
              <a:p>
                <a:pPr marL="0" lv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4</m:t>
                      </m:r>
                    </m:oMath>
                  </m:oMathPara>
                </a14:m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2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800" i="1" dirty="0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≥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10</m:t>
                      </m:r>
                    </m:oMath>
                  </m:oMathPara>
                </a14:m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≥0</m:t>
                      </m:r>
                    </m:oMath>
                  </m:oMathPara>
                </a14:m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just">
                  <a:buNone/>
                </a:pPr>
                <a:endParaRPr lang="en-US" sz="2800" b="1" dirty="0"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2C736D9-7A0B-4FB8-8DB2-13424C09B2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6060" y="2249486"/>
                <a:ext cx="7429499" cy="4608513"/>
              </a:xfrm>
              <a:blipFill>
                <a:blip r:embed="rId2"/>
                <a:stretch>
                  <a:fillRect l="-1641" t="-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67785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Infeasible 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xmlns="" id="{12C3F38F-06D5-4ADF-BB89-374D8DB47B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56060" y="2249486"/>
                <a:ext cx="7429499" cy="4608513"/>
              </a:xfrm>
            </p:spPr>
            <p:txBody>
              <a:bodyPr>
                <a:normAutofit/>
              </a:bodyPr>
              <a:lstStyle/>
              <a:p>
                <a:pPr marL="0" lvl="0" indent="0" algn="ctr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Max</m:t>
                    </m:r>
                    <m:r>
                      <a:rPr lang="en-US" sz="2800" b="0" i="0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800" b="0" i="0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Z</m:t>
                    </m:r>
                    <m:r>
                      <a:rPr lang="en-US" sz="2800" b="0" i="1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=3</m:t>
                    </m:r>
                    <m:sSub>
                      <m:sSubPr>
                        <m:ctrlP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n-US" sz="2800" b="0" i="1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2</m:t>
                    </m:r>
                    <m:sSub>
                      <m:sSubPr>
                        <m:ctrlP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prstClr val="black"/>
                    </a:solidFill>
                    <a:effectLst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n-US" sz="2800" b="0" i="1" dirty="0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</m:t>
                    </m:r>
                    <m:sSub>
                      <m:sSubPr>
                        <m:ctrlP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prstClr val="black"/>
                    </a:solidFill>
                    <a:effectLst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n-US" sz="2800" b="0" i="1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</m:t>
                    </m:r>
                    <m:sSub>
                      <m:sSubPr>
                        <m:ctrlP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</m:e>
                      <m:sub>
                        <m: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:r>
                  <a:rPr lang="en-US" sz="2800" dirty="0">
                    <a:solidFill>
                      <a:prstClr val="black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Subject to Constraints:</a:t>
                </a:r>
              </a:p>
              <a:p>
                <a:pPr marL="0" lvl="0" indent="0" algn="just">
                  <a:buNone/>
                </a:pPr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4</m:t>
                      </m:r>
                    </m:oMath>
                  </m:oMathPara>
                </a14:m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2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=10</m:t>
                      </m:r>
                    </m:oMath>
                  </m:oMathPara>
                </a14:m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≥0</m:t>
                      </m:r>
                    </m:oMath>
                  </m:oMathPara>
                </a14:m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12C3F38F-06D5-4ADF-BB89-374D8DB47B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6060" y="2249486"/>
                <a:ext cx="7429499" cy="4608513"/>
              </a:xfrm>
              <a:blipFill>
                <a:blip r:embed="rId2"/>
                <a:stretch>
                  <a:fillRect l="-16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45213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Infeasible 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xmlns="" id="{12C3F38F-06D5-4ADF-BB89-374D8DB47B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56060" y="2249486"/>
                <a:ext cx="7429499" cy="4608513"/>
              </a:xfrm>
            </p:spPr>
            <p:txBody>
              <a:bodyPr>
                <a:normAutofit/>
              </a:bodyPr>
              <a:lstStyle/>
              <a:p>
                <a:pPr marL="0" lvl="0" indent="0" algn="ctr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Z</m:t>
                    </m:r>
                    <m:r>
                      <a:rPr lang="en-US" sz="2800" b="0" i="1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−3</m:t>
                    </m:r>
                    <m:sSub>
                      <m:sSubPr>
                        <m:ctrlPr>
                          <a:rPr lang="en-US" sz="2800" i="1" smtClean="0">
                            <a:solidFill>
                              <a:prstClr val="black"/>
                            </a:solidFill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−2</m:t>
                    </m:r>
                    <m:sSub>
                      <m:sSubPr>
                        <m:ctrlP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prstClr val="black"/>
                    </a:solidFill>
                    <a:effectLst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</m:t>
                    </m:r>
                  </m:oMath>
                </a14:m>
                <a:r>
                  <a:rPr lang="en-US" sz="2800" dirty="0">
                    <a:solidFill>
                      <a:prstClr val="black"/>
                    </a:solidFill>
                    <a:effectLst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</m:t>
                    </m:r>
                    <m:sSub>
                      <m:sSubPr>
                        <m:ctrlP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</m:t>
                    </m:r>
                    <m:r>
                      <a:rPr lang="en-US" sz="2800" b="0" i="1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</m:t>
                    </m:r>
                    <m:sSub>
                      <m:sSubPr>
                        <m:ctrlP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</m:e>
                      <m:sub>
                        <m: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  <m:r>
                      <a:rPr lang="en-US" sz="2800" b="0" i="1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=0</m:t>
                    </m:r>
                  </m:oMath>
                </a14:m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12C3F38F-06D5-4ADF-BB89-374D8DB47B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6060" y="2249486"/>
                <a:ext cx="7429499" cy="460851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3">
                <a:extLst>
                  <a:ext uri="{FF2B5EF4-FFF2-40B4-BE49-F238E27FC236}">
                    <a16:creationId xmlns:a16="http://schemas.microsoft.com/office/drawing/2014/main" xmlns="" id="{D8C8DA31-4EFD-45DF-9DE6-6D7BC95C97E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25122970"/>
                  </p:ext>
                </p:extLst>
              </p:nvPr>
            </p:nvGraphicFramePr>
            <p:xfrm>
              <a:off x="1429023" y="3862042"/>
              <a:ext cx="7124134" cy="212344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97653">
                      <a:extLst>
                        <a:ext uri="{9D8B030D-6E8A-4147-A177-3AD203B41FA5}">
                          <a16:colId xmlns:a16="http://schemas.microsoft.com/office/drawing/2014/main" xmlns="" val="3900973489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xmlns="" val="2403358881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xmlns="" val="2710614908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xmlns="" val="3261079531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xmlns="" val="1580563782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xmlns="" val="3172534196"/>
                        </a:ext>
                      </a:extLst>
                    </a:gridCol>
                    <a:gridCol w="1738216">
                      <a:extLst>
                        <a:ext uri="{9D8B030D-6E8A-4147-A177-3AD203B41FA5}">
                          <a16:colId xmlns:a16="http://schemas.microsoft.com/office/drawing/2014/main" xmlns="" val="312180775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SOL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Min Ratio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23414207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5988916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den>
                                </m:f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=4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43467389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num>
                                  <m:den>
                                    <m: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kumimoji="0" lang="en-US" sz="1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=5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286089560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3">
                <a:extLst>
                  <a:ext uri="{FF2B5EF4-FFF2-40B4-BE49-F238E27FC236}">
                    <a16:creationId xmlns:a16="http://schemas.microsoft.com/office/drawing/2014/main" id="{D8C8DA31-4EFD-45DF-9DE6-6D7BC95C97E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25122970"/>
                  </p:ext>
                </p:extLst>
              </p:nvPr>
            </p:nvGraphicFramePr>
            <p:xfrm>
              <a:off x="1429023" y="3862042"/>
              <a:ext cx="7124134" cy="212344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97653">
                      <a:extLst>
                        <a:ext uri="{9D8B030D-6E8A-4147-A177-3AD203B41FA5}">
                          <a16:colId xmlns:a16="http://schemas.microsoft.com/office/drawing/2014/main" val="3900973489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val="2403358881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val="2710614908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val="3261079531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val="1580563782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val="3172534196"/>
                        </a:ext>
                      </a:extLst>
                    </a:gridCol>
                    <a:gridCol w="1738216">
                      <a:extLst>
                        <a:ext uri="{9D8B030D-6E8A-4147-A177-3AD203B41FA5}">
                          <a16:colId xmlns:a16="http://schemas.microsoft.com/office/drawing/2014/main" val="3121807758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000" t="-9333" r="-593919" b="-36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1361" t="-9333" r="-497959" b="-36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99324" t="-9333" r="-394595" b="-36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2041" t="-9333" r="-297279" b="-36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SOL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Min Ratio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4142074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98891676"/>
                      </a:ext>
                    </a:extLst>
                  </a:tr>
                  <a:tr h="60401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80" t="-157000" r="-698639" b="-101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10877" t="-157000" r="-1404" b="-101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34673895"/>
                      </a:ext>
                    </a:extLst>
                  </a:tr>
                  <a:tr h="6050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80" t="-259596" r="-698639" b="-20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10877" t="-259596" r="-1404" b="-202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6089560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172210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Infeasible solution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12C3F38F-06D5-4ADF-BB89-374D8DB47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608513"/>
          </a:xfrm>
        </p:spPr>
        <p:txBody>
          <a:bodyPr>
            <a:normAutofit/>
          </a:bodyPr>
          <a:lstStyle/>
          <a:p>
            <a:pPr marL="0" lvl="0" indent="0" algn="just">
              <a:buNone/>
            </a:pPr>
            <a:r>
              <a:rPr lang="en-US" dirty="0">
                <a:solidFill>
                  <a:prstClr val="black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Entering variable = Less negative value in z-row</a:t>
            </a:r>
          </a:p>
          <a:p>
            <a:pPr marL="0" lvl="0" indent="0" algn="just">
              <a:buNone/>
            </a:pPr>
            <a:r>
              <a:rPr lang="en-US" dirty="0">
                <a:solidFill>
                  <a:prstClr val="black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Leaving variable = Minimum +</a:t>
            </a:r>
            <a:r>
              <a:rPr lang="en-US" dirty="0" err="1">
                <a:solidFill>
                  <a:prstClr val="black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ve</a:t>
            </a:r>
            <a:r>
              <a:rPr lang="en-US" dirty="0">
                <a:solidFill>
                  <a:prstClr val="black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ratio value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3">
                <a:extLst>
                  <a:ext uri="{FF2B5EF4-FFF2-40B4-BE49-F238E27FC236}">
                    <a16:creationId xmlns:a16="http://schemas.microsoft.com/office/drawing/2014/main" xmlns="" id="{4F74CF97-A582-4DFA-AF06-3DAACE4A6A2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58771066"/>
                  </p:ext>
                </p:extLst>
              </p:nvPr>
            </p:nvGraphicFramePr>
            <p:xfrm>
              <a:off x="856060" y="3639342"/>
              <a:ext cx="7124134" cy="182880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97653">
                      <a:extLst>
                        <a:ext uri="{9D8B030D-6E8A-4147-A177-3AD203B41FA5}">
                          <a16:colId xmlns:a16="http://schemas.microsoft.com/office/drawing/2014/main" xmlns="" val="3900973489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xmlns="" val="2403358881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xmlns="" val="2710614908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xmlns="" val="3261079531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xmlns="" val="1580563782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xmlns="" val="3172534196"/>
                        </a:ext>
                      </a:extLst>
                    </a:gridCol>
                    <a:gridCol w="1738216">
                      <a:extLst>
                        <a:ext uri="{9D8B030D-6E8A-4147-A177-3AD203B41FA5}">
                          <a16:colId xmlns:a16="http://schemas.microsoft.com/office/drawing/2014/main" xmlns="" val="312180775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SOL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Min Ratio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23414207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5988916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43467389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286089560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3">
                <a:extLst>
                  <a:ext uri="{FF2B5EF4-FFF2-40B4-BE49-F238E27FC236}">
                    <a16:creationId xmlns:a16="http://schemas.microsoft.com/office/drawing/2014/main" id="{4F74CF97-A582-4DFA-AF06-3DAACE4A6A2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58771066"/>
                  </p:ext>
                </p:extLst>
              </p:nvPr>
            </p:nvGraphicFramePr>
            <p:xfrm>
              <a:off x="856060" y="3639342"/>
              <a:ext cx="7124134" cy="182880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97653">
                      <a:extLst>
                        <a:ext uri="{9D8B030D-6E8A-4147-A177-3AD203B41FA5}">
                          <a16:colId xmlns:a16="http://schemas.microsoft.com/office/drawing/2014/main" val="3900973489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val="2403358881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val="2710614908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val="3261079531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val="1580563782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val="3172534196"/>
                        </a:ext>
                      </a:extLst>
                    </a:gridCol>
                    <a:gridCol w="1738216">
                      <a:extLst>
                        <a:ext uri="{9D8B030D-6E8A-4147-A177-3AD203B41FA5}">
                          <a16:colId xmlns:a16="http://schemas.microsoft.com/office/drawing/2014/main" val="3121807758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10667" r="-593919" b="-305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1361" t="-10667" r="-497959" b="-305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99324" t="-10667" r="-394595" b="-305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2041" t="-10667" r="-297279" b="-305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SOL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Min Ratio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4142074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9889167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80" t="-212000" r="-698639" b="-1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3467389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80" t="-312000" r="-698639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089560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5103637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Infeasible solution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12C3F38F-06D5-4ADF-BB89-374D8DB47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60851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xmlns="" id="{BDBA63ED-1CEE-4BEA-B1CD-48EB4E252C73}"/>
                  </a:ext>
                </a:extLst>
              </p:cNvPr>
              <p:cNvSpPr/>
              <p:nvPr/>
            </p:nvSpPr>
            <p:spPr>
              <a:xfrm>
                <a:off x="856060" y="1846152"/>
                <a:ext cx="4572000" cy="501869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lvl="0" algn="just" defTabSz="914400">
                  <a:lnSpc>
                    <a:spcPct val="120000"/>
                  </a:lnSpc>
                  <a:spcBef>
                    <a:spcPts val="1000"/>
                  </a:spcBef>
                  <a:buSzPct val="125000"/>
                </a:pPr>
                <a:r>
                  <a:rPr lang="en-US" sz="24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By z+(3)</a:t>
                </a:r>
                <a:r>
                  <a:rPr lang="en-US" sz="2400" dirty="0">
                    <a:solidFill>
                      <a:prstClr val="black"/>
                    </a:solidFill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 -2</a:t>
                </a:r>
                <a:r>
                  <a:rPr lang="en-US" sz="2400" dirty="0">
                    <a:solidFill>
                      <a:prstClr val="black"/>
                    </a:solidFill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    </a:t>
                </a:r>
                <a:endParaRPr lang="en-US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DBA63ED-1CEE-4BEA-B1CD-48EB4E252C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060" y="1846152"/>
                <a:ext cx="4572000" cy="501869"/>
              </a:xfrm>
              <a:prstGeom prst="rect">
                <a:avLst/>
              </a:prstGeom>
              <a:blipFill>
                <a:blip r:embed="rId2"/>
                <a:stretch>
                  <a:fillRect l="-2000" t="-2439" b="-280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3">
                <a:extLst>
                  <a:ext uri="{FF2B5EF4-FFF2-40B4-BE49-F238E27FC236}">
                    <a16:creationId xmlns:a16="http://schemas.microsoft.com/office/drawing/2014/main" xmlns="" id="{C9E40200-FBA3-486C-9FBB-D899C92EFD2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6284789"/>
                  </p:ext>
                </p:extLst>
              </p:nvPr>
            </p:nvGraphicFramePr>
            <p:xfrm>
              <a:off x="856060" y="2500419"/>
              <a:ext cx="7148457" cy="182880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97653">
                      <a:extLst>
                        <a:ext uri="{9D8B030D-6E8A-4147-A177-3AD203B41FA5}">
                          <a16:colId xmlns:a16="http://schemas.microsoft.com/office/drawing/2014/main" xmlns="" val="3900973489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xmlns="" val="2403358881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xmlns="" val="2710614908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xmlns="" val="3261079531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xmlns="" val="1580563782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xmlns="" val="3172534196"/>
                        </a:ext>
                      </a:extLst>
                    </a:gridCol>
                    <a:gridCol w="1762539">
                      <a:extLst>
                        <a:ext uri="{9D8B030D-6E8A-4147-A177-3AD203B41FA5}">
                          <a16:colId xmlns:a16="http://schemas.microsoft.com/office/drawing/2014/main" xmlns="" val="312180775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SOL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Min Ratio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23414207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5988916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43467389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286089560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3">
                <a:extLst>
                  <a:ext uri="{FF2B5EF4-FFF2-40B4-BE49-F238E27FC236}">
                    <a16:creationId xmlns:a16="http://schemas.microsoft.com/office/drawing/2014/main" id="{C9E40200-FBA3-486C-9FBB-D899C92EFD2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6284789"/>
                  </p:ext>
                </p:extLst>
              </p:nvPr>
            </p:nvGraphicFramePr>
            <p:xfrm>
              <a:off x="856060" y="2500419"/>
              <a:ext cx="7148457" cy="182880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97653">
                      <a:extLst>
                        <a:ext uri="{9D8B030D-6E8A-4147-A177-3AD203B41FA5}">
                          <a16:colId xmlns:a16="http://schemas.microsoft.com/office/drawing/2014/main" val="3900973489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val="2403358881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val="2710614908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val="3261079531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val="1580563782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val="3172534196"/>
                        </a:ext>
                      </a:extLst>
                    </a:gridCol>
                    <a:gridCol w="1762539">
                      <a:extLst>
                        <a:ext uri="{9D8B030D-6E8A-4147-A177-3AD203B41FA5}">
                          <a16:colId xmlns:a16="http://schemas.microsoft.com/office/drawing/2014/main" val="3121807758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000" t="-10667" r="-596622" b="-305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1361" t="-10667" r="-500680" b="-305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99324" t="-10667" r="-397297" b="-305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2041" t="-10667" r="-300000" b="-305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SOL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Min Ratio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4142074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9889167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80" t="-212000" r="-701361" b="-1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3467389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80" t="-312000" r="-701361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089560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xmlns="" id="{212F965C-DACC-4401-92D4-166859110105}"/>
                  </a:ext>
                </a:extLst>
              </p:cNvPr>
              <p:cNvSpPr/>
              <p:nvPr/>
            </p:nvSpPr>
            <p:spPr>
              <a:xfrm>
                <a:off x="856060" y="4586535"/>
                <a:ext cx="7260998" cy="5355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just" defTabSz="914400">
                  <a:lnSpc>
                    <a:spcPct val="120000"/>
                  </a:lnSpc>
                  <a:spcBef>
                    <a:spcPts val="1000"/>
                  </a:spcBef>
                  <a:buSzPct val="125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𝐴𝑙𝑙</m:t>
                      </m:r>
                      <m:r>
                        <a:rPr lang="en-US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𝑡h𝑒</m:t>
                      </m:r>
                      <m:r>
                        <a:rPr lang="en-US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𝑣𝑎𝑙𝑢𝑒𝑠</m:t>
                      </m:r>
                      <m:r>
                        <a:rPr lang="en-US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𝑖𝑛</m:t>
                      </m:r>
                      <m:r>
                        <a:rPr lang="en-US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𝑡h𝑒</m:t>
                      </m:r>
                      <m:r>
                        <a:rPr lang="en-US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𝑧</m:t>
                      </m:r>
                      <m:r>
                        <a:rPr lang="en-US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𝑟𝑜𝑤𝑠</m:t>
                      </m:r>
                      <m:r>
                        <a:rPr lang="en-US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𝑖𝑠</m:t>
                      </m:r>
                      <m:r>
                        <a:rPr lang="en-US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𝑛𝑜𝑛</m:t>
                      </m:r>
                      <m:r>
                        <a:rPr lang="en-US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𝑛𝑒𝑔𝑎𝑡𝑖𝑣𝑒</m:t>
                      </m:r>
                      <m:r>
                        <a:rPr lang="en-US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</m:t>
                      </m:r>
                    </m:oMath>
                  </m:oMathPara>
                </a14:m>
                <a:endParaRPr lang="en-US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212F965C-DACC-4401-92D4-1668591101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060" y="4586535"/>
                <a:ext cx="7260998" cy="5355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xmlns="" id="{F8BCFD50-98B0-4EEC-8D7F-A22AD569BD59}"/>
                  </a:ext>
                </a:extLst>
              </p:cNvPr>
              <p:cNvSpPr/>
              <p:nvPr/>
            </p:nvSpPr>
            <p:spPr>
              <a:xfrm>
                <a:off x="2750721" y="5148550"/>
                <a:ext cx="324659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prstClr val="black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4</m:t>
                    </m:r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</m:e>
                      <m:sub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</m:t>
                    </m:r>
                    <m:r>
                      <a:rPr 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 </m:t>
                    </m:r>
                    <m:r>
                      <a:rPr 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𝑧</m:t>
                    </m:r>
                    <m:r>
                      <a:rPr 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=12</m:t>
                    </m:r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8BCFD50-98B0-4EEC-8D7F-A22AD569BD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0721" y="5148550"/>
                <a:ext cx="3246594" cy="461665"/>
              </a:xfrm>
              <a:prstGeom prst="rect">
                <a:avLst/>
              </a:prstGeom>
              <a:blipFill>
                <a:blip r:embed="rId5"/>
                <a:stretch>
                  <a:fillRect t="-10667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xmlns="" id="{48AFBF1E-645B-4A59-B3B0-7A4D5A22FC70}"/>
                  </a:ext>
                </a:extLst>
              </p:cNvPr>
              <p:cNvSpPr/>
              <p:nvPr/>
            </p:nvSpPr>
            <p:spPr>
              <a:xfrm>
                <a:off x="743519" y="5562871"/>
                <a:ext cx="7260998" cy="9787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just" defTabSz="914400">
                  <a:lnSpc>
                    <a:spcPct val="120000"/>
                  </a:lnSpc>
                  <a:spcBef>
                    <a:spcPts val="1000"/>
                  </a:spcBef>
                  <a:buSzPct val="125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𝐻𝑒𝑛𝑐𝑒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𝑖𝑡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𝑖𝑠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𝑖𝑛𝑓𝑒𝑎𝑠𝑖𝑏𝑙𝑒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𝑠𝑜𝑙𝑢𝑡𝑖𝑜𝑛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𝑏𝑒𝑐𝑎𝑢𝑠𝑒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𝑡h𝑖𝑠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𝑠𝑜𝑙𝑢𝑡𝑖𝑜𝑛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𝑖𝑠</m:t>
                      </m:r>
                    </m:oMath>
                  </m:oMathPara>
                </a14:m>
                <a:endParaRPr lang="en-US" sz="2400" b="0" i="1" dirty="0">
                  <a:solidFill>
                    <a:prstClr val="black"/>
                  </a:solidFill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lvl="0" algn="just" defTabSz="914400">
                  <a:lnSpc>
                    <a:spcPct val="120000"/>
                  </a:lnSpc>
                  <a:spcBef>
                    <a:spcPts val="1000"/>
                  </a:spcBef>
                  <a:buSzPct val="125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𝑛𝑜𝑡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𝑠𝑎𝑡𝑖𝑠𝑓𝑦𝑖𝑛𝑔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𝑐𝑜𝑛𝑠𝑡𝑟𝑎𝑖𝑛𝑡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2</m:t>
                      </m:r>
                    </m:oMath>
                  </m:oMathPara>
                </a14:m>
                <a:endParaRPr lang="en-US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8AFBF1E-645B-4A59-B3B0-7A4D5A22FC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519" y="5562871"/>
                <a:ext cx="7260998" cy="978729"/>
              </a:xfrm>
              <a:prstGeom prst="rect">
                <a:avLst/>
              </a:prstGeom>
              <a:blipFill>
                <a:blip r:embed="rId6"/>
                <a:stretch>
                  <a:fillRect r="-31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71309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xmlns="" id="{12C3F38F-06D5-4ADF-BB89-374D8DB47B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56060" y="2249486"/>
                <a:ext cx="7429499" cy="4608513"/>
              </a:xfrm>
            </p:spPr>
            <p:txBody>
              <a:bodyPr>
                <a:normAutofit/>
              </a:bodyPr>
              <a:lstStyle/>
              <a:p>
                <a:pPr marL="0" lvl="0" indent="0" algn="just">
                  <a:buNone/>
                </a:pPr>
                <a:r>
                  <a:rPr lang="en-US" sz="2800" b="1" dirty="0">
                    <a:solidFill>
                      <a:prstClr val="black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Example 2:</a:t>
                </a:r>
              </a:p>
              <a:p>
                <a:pPr marL="0" lv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Max</m:t>
                      </m:r>
                      <m:r>
                        <a:rPr lang="en-US" sz="2800" b="0" i="0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Z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=3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2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:r>
                  <a:rPr lang="en-US" sz="2800" dirty="0">
                    <a:solidFill>
                      <a:prstClr val="black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Subject to Constraints:</a:t>
                </a:r>
              </a:p>
              <a:p>
                <a:pPr marL="0" lvl="0" indent="0" algn="just">
                  <a:buNone/>
                </a:pPr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2</m:t>
                      </m:r>
                    </m:oMath>
                  </m:oMathPara>
                </a14:m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3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4</m:t>
                          </m:r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800" i="1" dirty="0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≥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12</m:t>
                      </m:r>
                    </m:oMath>
                  </m:oMathPara>
                </a14:m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            </m:t>
                      </m:r>
                    </m:oMath>
                  </m:oMathPara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12C3F38F-06D5-4ADF-BB89-374D8DB47B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6060" y="2249486"/>
                <a:ext cx="7429499" cy="4608513"/>
              </a:xfrm>
              <a:blipFill>
                <a:blip r:embed="rId2"/>
                <a:stretch>
                  <a:fillRect l="-1641" t="-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00074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degeneracy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12C3F38F-06D5-4ADF-BB89-374D8DB47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60851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 some cases, there may be doubt in selecting the variables that should be introduced into the basic i.e. there is a tie between the ratio of two variables in the minimum ratio section, such cases are called as Degeneracy.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60366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degeneracy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xmlns="" id="{12C3F38F-06D5-4ADF-BB89-374D8DB47B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56060" y="2249486"/>
                <a:ext cx="7429499" cy="4608513"/>
              </a:xfrm>
            </p:spPr>
            <p:txBody>
              <a:bodyPr>
                <a:normAutofit lnSpcReduction="10000"/>
              </a:bodyPr>
              <a:lstStyle/>
              <a:p>
                <a:pPr marL="0" lvl="0" indent="0" algn="just">
                  <a:buNone/>
                </a:pPr>
                <a:r>
                  <a:rPr lang="en-US" sz="2800" b="1" dirty="0">
                    <a:solidFill>
                      <a:prstClr val="black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Example 1 :</a:t>
                </a:r>
              </a:p>
              <a:p>
                <a:pPr marL="0" lvl="0" indent="0" algn="ctr">
                  <a:buNone/>
                </a:pPr>
                <a:r>
                  <a:rPr lang="en-US" sz="2800" dirty="0">
                    <a:solidFill>
                      <a:prstClr val="black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Max Z=</a:t>
                </a:r>
                <a:r>
                  <a:rPr lang="en-US" sz="2800" dirty="0">
                    <a:solidFill>
                      <a:prstClr val="black"/>
                    </a:solidFill>
                    <a:effectLst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2</m:t>
                    </m:r>
                    <m:sSub>
                      <m:sSubPr>
                        <m:ctrlP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prstClr val="black"/>
                    </a:solidFill>
                    <a:effectLst/>
                    <a:cs typeface="Arial" panose="020B0604020202020204" pitchFamily="34" charset="0"/>
                  </a:rPr>
                  <a:t> </a:t>
                </a:r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:r>
                  <a:rPr lang="en-US" sz="2800" dirty="0">
                    <a:solidFill>
                      <a:prstClr val="black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Subject to Constraints:</a:t>
                </a:r>
              </a:p>
              <a:p>
                <a:pPr marL="0" lvl="0" indent="0" algn="just">
                  <a:buNone/>
                </a:pPr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4</m:t>
                          </m:r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+3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12</m:t>
                      </m:r>
                    </m:oMath>
                  </m:oMathPara>
                </a14:m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3</m:t>
                          </m:r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9</m:t>
                      </m:r>
                    </m:oMath>
                  </m:oMathPara>
                </a14:m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≥0</m:t>
                      </m:r>
                    </m:oMath>
                  </m:oMathPara>
                </a14:m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12C3F38F-06D5-4ADF-BB89-374D8DB47B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6060" y="2249486"/>
                <a:ext cx="7429499" cy="4608513"/>
              </a:xfrm>
              <a:blipFill>
                <a:blip r:embed="rId2"/>
                <a:stretch>
                  <a:fillRect l="-1641" t="-11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60684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degeneracy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xmlns="" id="{12C3F38F-06D5-4ADF-BB89-374D8DB47B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56060" y="2249486"/>
                <a:ext cx="7429499" cy="4608513"/>
              </a:xfrm>
            </p:spPr>
            <p:txBody>
              <a:bodyPr>
                <a:normAutofit lnSpcReduction="10000"/>
              </a:bodyPr>
              <a:lstStyle/>
              <a:p>
                <a:pPr marL="0" lvl="0" indent="0" algn="just">
                  <a:buNone/>
                </a:pPr>
                <a:r>
                  <a:rPr lang="en-US" sz="2800" b="1" dirty="0">
                    <a:solidFill>
                      <a:prstClr val="black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Solution:</a:t>
                </a:r>
              </a:p>
              <a:p>
                <a:pPr marL="0" lvl="0" indent="0" algn="ctr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Max</m:t>
                    </m:r>
                    <m:r>
                      <a:rPr lang="en-US" sz="2800" b="0" i="0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800" b="0" i="0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Z</m:t>
                    </m:r>
                    <m:r>
                      <a:rPr lang="en-US" sz="2800" b="0" i="1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=2</m:t>
                    </m:r>
                    <m:sSub>
                      <m:sSubPr>
                        <m:ctrlP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prstClr val="black"/>
                    </a:solidFill>
                    <a:effectLst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n-US" sz="2800" b="0" i="1" dirty="0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</m:t>
                    </m:r>
                    <m:sSub>
                      <m:sSubPr>
                        <m:ctrlP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prstClr val="black"/>
                    </a:solidFill>
                    <a:effectLst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n-US" sz="2800" b="0" i="1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</m:t>
                    </m:r>
                    <m:sSub>
                      <m:sSubPr>
                        <m:ctrlP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</m:e>
                      <m:sub>
                        <m: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:r>
                  <a:rPr lang="en-US" sz="2800" dirty="0">
                    <a:solidFill>
                      <a:prstClr val="black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Subject to Constraints:</a:t>
                </a:r>
              </a:p>
              <a:p>
                <a:pPr marL="0" lvl="0" indent="0" algn="just">
                  <a:buNone/>
                </a:pPr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4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+3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=12</m:t>
                      </m:r>
                    </m:oMath>
                  </m:oMathPara>
                </a14:m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3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=9</m:t>
                      </m:r>
                    </m:oMath>
                  </m:oMathPara>
                </a14:m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≥0</m:t>
                      </m:r>
                    </m:oMath>
                  </m:oMathPara>
                </a14:m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12C3F38F-06D5-4ADF-BB89-374D8DB47B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6060" y="2249486"/>
                <a:ext cx="7429499" cy="4608513"/>
              </a:xfrm>
              <a:blipFill>
                <a:blip r:embed="rId2"/>
                <a:stretch>
                  <a:fillRect l="-1641" t="-11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59167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degeneracy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xmlns="" id="{12C3F38F-06D5-4ADF-BB89-374D8DB47B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56060" y="2249486"/>
                <a:ext cx="7429499" cy="4608513"/>
              </a:xfrm>
            </p:spPr>
            <p:txBody>
              <a:bodyPr>
                <a:normAutofit/>
              </a:bodyPr>
              <a:lstStyle/>
              <a:p>
                <a:pPr marL="0" lvl="0" indent="0" algn="ctr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Z</m:t>
                    </m:r>
                    <m:r>
                      <a:rPr lang="en-US" sz="2800" b="0" i="1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−2</m:t>
                    </m:r>
                    <m:sSub>
                      <m:sSubPr>
                        <m:ctrlP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</m:t>
                    </m:r>
                    <m:sSub>
                      <m:sSubPr>
                        <m:ctrlP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prstClr val="black"/>
                    </a:solidFill>
                    <a:effectLst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</m:t>
                    </m:r>
                  </m:oMath>
                </a14:m>
                <a:r>
                  <a:rPr lang="en-US" sz="2800" dirty="0">
                    <a:solidFill>
                      <a:prstClr val="black"/>
                    </a:solidFill>
                    <a:effectLst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</m:t>
                    </m:r>
                    <m:sSub>
                      <m:sSubPr>
                        <m:ctrlP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</m:t>
                    </m:r>
                    <m:r>
                      <a:rPr lang="en-US" sz="2800" b="0" i="1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</m:t>
                    </m:r>
                    <m:sSub>
                      <m:sSubPr>
                        <m:ctrlP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</m:e>
                      <m:sub>
                        <m: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  <m:r>
                      <a:rPr lang="en-US" sz="2800" b="0" i="1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=0</m:t>
                    </m:r>
                  </m:oMath>
                </a14:m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12C3F38F-06D5-4ADF-BB89-374D8DB47B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6060" y="2249486"/>
                <a:ext cx="7429499" cy="460851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3">
                <a:extLst>
                  <a:ext uri="{FF2B5EF4-FFF2-40B4-BE49-F238E27FC236}">
                    <a16:creationId xmlns:a16="http://schemas.microsoft.com/office/drawing/2014/main" xmlns="" id="{D8C8DA31-4EFD-45DF-9DE6-6D7BC95C97E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161425" y="3429000"/>
              <a:ext cx="7124134" cy="2126234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97653">
                      <a:extLst>
                        <a:ext uri="{9D8B030D-6E8A-4147-A177-3AD203B41FA5}">
                          <a16:colId xmlns:a16="http://schemas.microsoft.com/office/drawing/2014/main" xmlns="" val="3900973489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xmlns="" val="2403358881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xmlns="" val="2710614908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xmlns="" val="3261079531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xmlns="" val="1580563782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xmlns="" val="3172534196"/>
                        </a:ext>
                      </a:extLst>
                    </a:gridCol>
                    <a:gridCol w="1738216">
                      <a:extLst>
                        <a:ext uri="{9D8B030D-6E8A-4147-A177-3AD203B41FA5}">
                          <a16:colId xmlns:a16="http://schemas.microsoft.com/office/drawing/2014/main" xmlns="" val="312180775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SOL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Min Ratio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23414207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5988916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num>
                                  <m:den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=3  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𝑇𝑖𝑒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43467389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den>
                                </m:f>
                                <m:r>
                                  <a:rPr kumimoji="0" lang="en-US" sz="1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=3   </m:t>
                                </m:r>
                                <m:r>
                                  <a:rPr kumimoji="0" lang="en-US" sz="1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𝑇𝑖𝑒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286089560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3">
                <a:extLst>
                  <a:ext uri="{FF2B5EF4-FFF2-40B4-BE49-F238E27FC236}">
                    <a16:creationId xmlns:a16="http://schemas.microsoft.com/office/drawing/2014/main" id="{D8C8DA31-4EFD-45DF-9DE6-6D7BC95C97E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22618560"/>
                  </p:ext>
                </p:extLst>
              </p:nvPr>
            </p:nvGraphicFramePr>
            <p:xfrm>
              <a:off x="1161425" y="3429000"/>
              <a:ext cx="7124134" cy="2126234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97653">
                      <a:extLst>
                        <a:ext uri="{9D8B030D-6E8A-4147-A177-3AD203B41FA5}">
                          <a16:colId xmlns:a16="http://schemas.microsoft.com/office/drawing/2014/main" val="3900973489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val="2403358881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val="2710614908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val="3261079531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val="1580563782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val="3172534196"/>
                        </a:ext>
                      </a:extLst>
                    </a:gridCol>
                    <a:gridCol w="1738216">
                      <a:extLst>
                        <a:ext uri="{9D8B030D-6E8A-4147-A177-3AD203B41FA5}">
                          <a16:colId xmlns:a16="http://schemas.microsoft.com/office/drawing/2014/main" val="3121807758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000" t="-9333" r="-593919" b="-36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1361" t="-9333" r="-497959" b="-36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99324" t="-9333" r="-394595" b="-36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2041" t="-9333" r="-297279" b="-36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SOL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Min Ratio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4142074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98891676"/>
                      </a:ext>
                    </a:extLst>
                  </a:tr>
                  <a:tr h="6050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80" t="-159596" r="-698639" b="-10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10877" t="-159596" r="-1404" b="-1030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34673895"/>
                      </a:ext>
                    </a:extLst>
                  </a:tr>
                  <a:tr h="6068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80" t="-257000" r="-698639" b="-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10877" t="-257000" r="-1404" b="-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6089560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1890727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degeneracy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12C3F38F-06D5-4ADF-BB89-374D8DB47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60851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3">
                <a:extLst>
                  <a:ext uri="{FF2B5EF4-FFF2-40B4-BE49-F238E27FC236}">
                    <a16:creationId xmlns:a16="http://schemas.microsoft.com/office/drawing/2014/main" xmlns="" id="{4F74CF97-A582-4DFA-AF06-3DAACE4A6A2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56060" y="1797122"/>
              <a:ext cx="7124134" cy="2126234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97653">
                      <a:extLst>
                        <a:ext uri="{9D8B030D-6E8A-4147-A177-3AD203B41FA5}">
                          <a16:colId xmlns:a16="http://schemas.microsoft.com/office/drawing/2014/main" xmlns="" val="3900973489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xmlns="" val="2403358881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xmlns="" val="2710614908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xmlns="" val="3261079531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xmlns="" val="1580563782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xmlns="" val="3172534196"/>
                        </a:ext>
                      </a:extLst>
                    </a:gridCol>
                    <a:gridCol w="1738216">
                      <a:extLst>
                        <a:ext uri="{9D8B030D-6E8A-4147-A177-3AD203B41FA5}">
                          <a16:colId xmlns:a16="http://schemas.microsoft.com/office/drawing/2014/main" xmlns="" val="312180775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SOL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Min Ratio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23414207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5988916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den>
                                </m:f>
                                <m:r>
                                  <a:rPr kumimoji="0" lang="en-US" sz="1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43467389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0</m:t>
                                    </m:r>
                                  </m:num>
                                  <m:den>
                                    <m: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den>
                                </m:f>
                                <m:r>
                                  <a:rPr kumimoji="0" lang="en-US" sz="1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286089560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3">
                <a:extLst>
                  <a:ext uri="{FF2B5EF4-FFF2-40B4-BE49-F238E27FC236}">
                    <a16:creationId xmlns:a16="http://schemas.microsoft.com/office/drawing/2014/main" id="{4F74CF97-A582-4DFA-AF06-3DAACE4A6A2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95758246"/>
                  </p:ext>
                </p:extLst>
              </p:nvPr>
            </p:nvGraphicFramePr>
            <p:xfrm>
              <a:off x="856060" y="1797122"/>
              <a:ext cx="7124134" cy="2126234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97653">
                      <a:extLst>
                        <a:ext uri="{9D8B030D-6E8A-4147-A177-3AD203B41FA5}">
                          <a16:colId xmlns:a16="http://schemas.microsoft.com/office/drawing/2014/main" val="3900973489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val="2403358881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val="2710614908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val="3261079531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val="1580563782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val="3172534196"/>
                        </a:ext>
                      </a:extLst>
                    </a:gridCol>
                    <a:gridCol w="1738216">
                      <a:extLst>
                        <a:ext uri="{9D8B030D-6E8A-4147-A177-3AD203B41FA5}">
                          <a16:colId xmlns:a16="http://schemas.microsoft.com/office/drawing/2014/main" val="3121807758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9333" r="-593919" b="-36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1361" t="-9333" r="-497959" b="-36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99324" t="-9333" r="-394595" b="-36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2041" t="-9333" r="-297279" b="-36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SOL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Min Ratio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4142074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98891676"/>
                      </a:ext>
                    </a:extLst>
                  </a:tr>
                  <a:tr h="6050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80" t="-159596" r="-698639" b="-10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10877" t="-159596" r="-1404" b="-1030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34673895"/>
                      </a:ext>
                    </a:extLst>
                  </a:tr>
                  <a:tr h="6068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80" t="-257000" r="-698639" b="-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10877" t="-257000" r="-1404" b="-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6089560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3">
                <a:extLst>
                  <a:ext uri="{FF2B5EF4-FFF2-40B4-BE49-F238E27FC236}">
                    <a16:creationId xmlns:a16="http://schemas.microsoft.com/office/drawing/2014/main" xmlns="" id="{427A1A22-1193-4691-ADB7-6CECDC86F06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56060" y="4563162"/>
              <a:ext cx="7124134" cy="1962904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97653">
                      <a:extLst>
                        <a:ext uri="{9D8B030D-6E8A-4147-A177-3AD203B41FA5}">
                          <a16:colId xmlns:a16="http://schemas.microsoft.com/office/drawing/2014/main" xmlns="" val="3900973489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xmlns="" val="2403358881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xmlns="" val="2710614908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xmlns="" val="3261079531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xmlns="" val="1580563782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xmlns="" val="3172534196"/>
                        </a:ext>
                      </a:extLst>
                    </a:gridCol>
                    <a:gridCol w="1738216">
                      <a:extLst>
                        <a:ext uri="{9D8B030D-6E8A-4147-A177-3AD203B41FA5}">
                          <a16:colId xmlns:a16="http://schemas.microsoft.com/office/drawing/2014/main" xmlns="" val="3121807758"/>
                        </a:ext>
                      </a:extLst>
                    </a:gridCol>
                  </a:tblGrid>
                  <a:tr h="490726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SOL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Min Ratio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2341420748"/>
                      </a:ext>
                    </a:extLst>
                  </a:tr>
                  <a:tr h="4907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598891676"/>
                      </a:ext>
                    </a:extLst>
                  </a:tr>
                  <a:tr h="49072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434673895"/>
                      </a:ext>
                    </a:extLst>
                  </a:tr>
                  <a:tr h="49072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286089560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3">
                <a:extLst>
                  <a:ext uri="{FF2B5EF4-FFF2-40B4-BE49-F238E27FC236}">
                    <a16:creationId xmlns:a16="http://schemas.microsoft.com/office/drawing/2014/main" id="{427A1A22-1193-4691-ADB7-6CECDC86F06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28961707"/>
                  </p:ext>
                </p:extLst>
              </p:nvPr>
            </p:nvGraphicFramePr>
            <p:xfrm>
              <a:off x="856060" y="4563162"/>
              <a:ext cx="7124134" cy="1962904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97653">
                      <a:extLst>
                        <a:ext uri="{9D8B030D-6E8A-4147-A177-3AD203B41FA5}">
                          <a16:colId xmlns:a16="http://schemas.microsoft.com/office/drawing/2014/main" val="3900973489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val="2403358881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val="2710614908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val="3261079531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val="1580563782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val="3172534196"/>
                        </a:ext>
                      </a:extLst>
                    </a:gridCol>
                    <a:gridCol w="1738216">
                      <a:extLst>
                        <a:ext uri="{9D8B030D-6E8A-4147-A177-3AD203B41FA5}">
                          <a16:colId xmlns:a16="http://schemas.microsoft.com/office/drawing/2014/main" val="3121807758"/>
                        </a:ext>
                      </a:extLst>
                    </a:gridCol>
                  </a:tblGrid>
                  <a:tr h="490726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000" t="-8642" r="-593919" b="-301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1361" t="-8642" r="-497959" b="-301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99324" t="-8642" r="-394595" b="-301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2041" t="-8642" r="-297279" b="-301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SOL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Min Ratio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41420748"/>
                      </a:ext>
                    </a:extLst>
                  </a:tr>
                  <a:tr h="4907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98891676"/>
                      </a:ext>
                    </a:extLst>
                  </a:tr>
                  <a:tr h="49072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80" t="-211250" r="-698639" b="-10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34673895"/>
                      </a:ext>
                    </a:extLst>
                  </a:tr>
                  <a:tr h="49072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80" t="-307407" r="-698639" b="-2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089560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xmlns="" id="{AF17AE5C-0B39-40AC-A081-2C9CFA28380B}"/>
                  </a:ext>
                </a:extLst>
              </p:cNvPr>
              <p:cNvSpPr/>
              <p:nvPr/>
            </p:nvSpPr>
            <p:spPr>
              <a:xfrm>
                <a:off x="856060" y="3923356"/>
                <a:ext cx="1190775" cy="6157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By</a:t>
                </a:r>
                <a:r>
                  <a:rPr lang="en-US" sz="2400" dirty="0">
                    <a:solidFill>
                      <a:prstClr val="black"/>
                    </a:solidFill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2400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num>
                      <m:den>
                        <m:r>
                          <a:rPr lang="en-US" sz="2400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3</m:t>
                        </m:r>
                      </m:den>
                    </m:f>
                    <m:sSub>
                      <m:sSubPr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AF17AE5C-0B39-40AC-A081-2C9CFA2838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060" y="3923356"/>
                <a:ext cx="1190775" cy="615746"/>
              </a:xfrm>
              <a:prstGeom prst="rect">
                <a:avLst/>
              </a:prstGeom>
              <a:blipFill>
                <a:blip r:embed="rId4"/>
                <a:stretch>
                  <a:fillRect l="-7653" b="-89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06073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degeneracy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12C3F38F-06D5-4ADF-BB89-374D8DB47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60851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xmlns="" id="{BDBA63ED-1CEE-4BEA-B1CD-48EB4E252C73}"/>
                  </a:ext>
                </a:extLst>
              </p:cNvPr>
              <p:cNvSpPr/>
              <p:nvPr/>
            </p:nvSpPr>
            <p:spPr>
              <a:xfrm>
                <a:off x="856060" y="1846153"/>
                <a:ext cx="4572000" cy="501869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lvl="0" algn="just" defTabSz="914400">
                  <a:lnSpc>
                    <a:spcPct val="120000"/>
                  </a:lnSpc>
                  <a:spcBef>
                    <a:spcPts val="1000"/>
                  </a:spcBef>
                  <a:buSzPct val="125000"/>
                </a:pPr>
                <a:r>
                  <a:rPr lang="en-US" sz="24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</m:e>
                      <m:sub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sz="24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 </m:t>
                    </m:r>
                  </m:oMath>
                </a14:m>
                <a:r>
                  <a:rPr lang="en-US" sz="24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𝑧</m:t>
                    </m:r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 +2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    </a:t>
                </a:r>
                <a:endParaRPr lang="en-US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DBA63ED-1CEE-4BEA-B1CD-48EB4E252C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060" y="1846153"/>
                <a:ext cx="4572000" cy="501869"/>
              </a:xfrm>
              <a:prstGeom prst="rect">
                <a:avLst/>
              </a:prstGeom>
              <a:blipFill>
                <a:blip r:embed="rId2"/>
                <a:stretch>
                  <a:fillRect l="-2000" t="-2439" b="-280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3">
                <a:extLst>
                  <a:ext uri="{FF2B5EF4-FFF2-40B4-BE49-F238E27FC236}">
                    <a16:creationId xmlns:a16="http://schemas.microsoft.com/office/drawing/2014/main" xmlns="" id="{76D7A142-3FDB-44E0-A98E-27CDC9A769D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56060" y="2499122"/>
              <a:ext cx="7124134" cy="228752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97653">
                      <a:extLst>
                        <a:ext uri="{9D8B030D-6E8A-4147-A177-3AD203B41FA5}">
                          <a16:colId xmlns:a16="http://schemas.microsoft.com/office/drawing/2014/main" xmlns="" val="3900973489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xmlns="" val="2403358881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xmlns="" val="2710614908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xmlns="" val="3261079531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xmlns="" val="1580563782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xmlns="" val="3172534196"/>
                        </a:ext>
                      </a:extLst>
                    </a:gridCol>
                    <a:gridCol w="1738216">
                      <a:extLst>
                        <a:ext uri="{9D8B030D-6E8A-4147-A177-3AD203B41FA5}">
                          <a16:colId xmlns:a16="http://schemas.microsoft.com/office/drawing/2014/main" xmlns="" val="3121807758"/>
                        </a:ext>
                      </a:extLst>
                    </a:gridCol>
                  </a:tblGrid>
                  <a:tr h="490726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SOL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Min Ratio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2341420748"/>
                      </a:ext>
                    </a:extLst>
                  </a:tr>
                  <a:tr h="4907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598891676"/>
                      </a:ext>
                    </a:extLst>
                  </a:tr>
                  <a:tr h="49072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-4/3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5/3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0</m:t>
                                    </m:r>
                                  </m:num>
                                  <m:den>
                                    <m: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5/3</m:t>
                                    </m:r>
                                  </m:den>
                                </m:f>
                                <m:r>
                                  <a:rPr kumimoji="0" lang="en-US" sz="1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434673895"/>
                      </a:ext>
                    </a:extLst>
                  </a:tr>
                  <a:tr h="49072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1/3</m:t>
                                    </m:r>
                                  </m:den>
                                </m:f>
                                <m:r>
                                  <a:rPr kumimoji="0" lang="en-US" sz="1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=9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286089560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3">
                <a:extLst>
                  <a:ext uri="{FF2B5EF4-FFF2-40B4-BE49-F238E27FC236}">
                    <a16:creationId xmlns:a16="http://schemas.microsoft.com/office/drawing/2014/main" id="{76D7A142-3FDB-44E0-A98E-27CDC9A769D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4113718"/>
                  </p:ext>
                </p:extLst>
              </p:nvPr>
            </p:nvGraphicFramePr>
            <p:xfrm>
              <a:off x="856060" y="2499122"/>
              <a:ext cx="7124134" cy="228752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97653">
                      <a:extLst>
                        <a:ext uri="{9D8B030D-6E8A-4147-A177-3AD203B41FA5}">
                          <a16:colId xmlns:a16="http://schemas.microsoft.com/office/drawing/2014/main" val="3900973489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val="2403358881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val="2710614908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val="3261079531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val="1580563782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val="3172534196"/>
                        </a:ext>
                      </a:extLst>
                    </a:gridCol>
                    <a:gridCol w="1738216">
                      <a:extLst>
                        <a:ext uri="{9D8B030D-6E8A-4147-A177-3AD203B41FA5}">
                          <a16:colId xmlns:a16="http://schemas.microsoft.com/office/drawing/2014/main" val="3121807758"/>
                        </a:ext>
                      </a:extLst>
                    </a:gridCol>
                  </a:tblGrid>
                  <a:tr h="490726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000" t="-8642" r="-593919" b="-3679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1361" t="-8642" r="-497959" b="-3679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99324" t="-8642" r="-394595" b="-3679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2041" t="-8642" r="-297279" b="-3679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SOL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Min Ratio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41420748"/>
                      </a:ext>
                    </a:extLst>
                  </a:tr>
                  <a:tr h="4907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98891676"/>
                      </a:ext>
                    </a:extLst>
                  </a:tr>
                  <a:tr h="65303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80" t="-157944" r="-698639" b="-1028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-4/3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5/3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10877" t="-157944" r="-1404" b="-1028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34673895"/>
                      </a:ext>
                    </a:extLst>
                  </a:tr>
                  <a:tr h="65303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80" t="-255556" r="-698639" b="-18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10877" t="-255556" r="-1404" b="-18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6089560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9952145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degeneracy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xmlns="" id="{12C3F38F-06D5-4ADF-BB89-374D8DB47B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56060" y="2249486"/>
                <a:ext cx="7429499" cy="460851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:r>
                  <a:rPr lang="en-US" dirty="0">
                    <a:solidFill>
                      <a:prstClr val="black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prstClr val="black"/>
                            </a:solidFill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f>
                          <m:fPr>
                            <m:ctrlPr>
                              <a:rPr lang="en-US" b="0" i="1" smtClean="0">
                                <a:solidFill>
                                  <a:prstClr val="black"/>
                                </a:solidFill>
                                <a:effectLst/>
                                <a:latin typeface="Cambria Math"/>
                                <a:cs typeface="Arial" panose="020B0604020202020204" pitchFamily="34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prstClr val="black"/>
                                </a:solidFill>
                                <a:effectLst/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b="0" i="1" smtClean="0">
                                <a:solidFill>
                                  <a:prstClr val="black"/>
                                </a:solidFill>
                                <a:effectLst/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5</m:t>
                            </m:r>
                          </m:den>
                        </m:f>
                        <m:r>
                          <a:rPr lang="en-US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1800" dirty="0">
                  <a:solidFill>
                    <a:prstClr val="black"/>
                  </a:solidFill>
                  <a:effectLst/>
                </a:endParaRPr>
              </a:p>
              <a:p>
                <a:pPr marL="0" indent="0">
                  <a:buNone/>
                </a:pP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12C3F38F-06D5-4ADF-BB89-374D8DB47B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6060" y="2249486"/>
                <a:ext cx="7429499" cy="4608513"/>
              </a:xfrm>
              <a:blipFill>
                <a:blip r:embed="rId2"/>
                <a:stretch>
                  <a:fillRect l="-1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3">
                <a:extLst>
                  <a:ext uri="{FF2B5EF4-FFF2-40B4-BE49-F238E27FC236}">
                    <a16:creationId xmlns:a16="http://schemas.microsoft.com/office/drawing/2014/main" xmlns="" id="{1A43F8F6-6401-4D4D-B777-C18A88E08EC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56060" y="1790765"/>
              <a:ext cx="7124134" cy="1962904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97653">
                      <a:extLst>
                        <a:ext uri="{9D8B030D-6E8A-4147-A177-3AD203B41FA5}">
                          <a16:colId xmlns:a16="http://schemas.microsoft.com/office/drawing/2014/main" xmlns="" val="3900973489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xmlns="" val="2403358881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xmlns="" val="2710614908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xmlns="" val="3261079531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xmlns="" val="1580563782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xmlns="" val="3172534196"/>
                        </a:ext>
                      </a:extLst>
                    </a:gridCol>
                    <a:gridCol w="1738216">
                      <a:extLst>
                        <a:ext uri="{9D8B030D-6E8A-4147-A177-3AD203B41FA5}">
                          <a16:colId xmlns:a16="http://schemas.microsoft.com/office/drawing/2014/main" xmlns="" val="3121807758"/>
                        </a:ext>
                      </a:extLst>
                    </a:gridCol>
                  </a:tblGrid>
                  <a:tr h="490726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SOL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Min Ratio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2341420748"/>
                      </a:ext>
                    </a:extLst>
                  </a:tr>
                  <a:tr h="4907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598891676"/>
                      </a:ext>
                    </a:extLst>
                  </a:tr>
                  <a:tr h="49072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-4/3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5/3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434673895"/>
                      </a:ext>
                    </a:extLst>
                  </a:tr>
                  <a:tr h="49072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286089560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3">
                <a:extLst>
                  <a:ext uri="{FF2B5EF4-FFF2-40B4-BE49-F238E27FC236}">
                    <a16:creationId xmlns:a16="http://schemas.microsoft.com/office/drawing/2014/main" id="{1A43F8F6-6401-4D4D-B777-C18A88E08EC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67787260"/>
                  </p:ext>
                </p:extLst>
              </p:nvPr>
            </p:nvGraphicFramePr>
            <p:xfrm>
              <a:off x="856060" y="1790765"/>
              <a:ext cx="7124134" cy="1962904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97653">
                      <a:extLst>
                        <a:ext uri="{9D8B030D-6E8A-4147-A177-3AD203B41FA5}">
                          <a16:colId xmlns:a16="http://schemas.microsoft.com/office/drawing/2014/main" val="3900973489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val="2403358881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val="2710614908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val="3261079531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val="1580563782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val="3172534196"/>
                        </a:ext>
                      </a:extLst>
                    </a:gridCol>
                    <a:gridCol w="1738216">
                      <a:extLst>
                        <a:ext uri="{9D8B030D-6E8A-4147-A177-3AD203B41FA5}">
                          <a16:colId xmlns:a16="http://schemas.microsoft.com/office/drawing/2014/main" val="3121807758"/>
                        </a:ext>
                      </a:extLst>
                    </a:gridCol>
                  </a:tblGrid>
                  <a:tr h="490726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000" t="-8642" r="-593919" b="-301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1361" t="-8642" r="-497959" b="-301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99324" t="-8642" r="-394595" b="-301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2041" t="-8642" r="-297279" b="-301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SOL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Min Ratio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41420748"/>
                      </a:ext>
                    </a:extLst>
                  </a:tr>
                  <a:tr h="4907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98891676"/>
                      </a:ext>
                    </a:extLst>
                  </a:tr>
                  <a:tr h="49072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80" t="-211250" r="-698639" b="-10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-4/3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5/3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34673895"/>
                      </a:ext>
                    </a:extLst>
                  </a:tr>
                  <a:tr h="49072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80" t="-307407" r="-698639" b="-2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089560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3">
                <a:extLst>
                  <a:ext uri="{FF2B5EF4-FFF2-40B4-BE49-F238E27FC236}">
                    <a16:creationId xmlns:a16="http://schemas.microsoft.com/office/drawing/2014/main" xmlns="" id="{71990EE4-3C87-41B3-970C-DC296456259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56060" y="4714501"/>
              <a:ext cx="7124134" cy="1962904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97653">
                      <a:extLst>
                        <a:ext uri="{9D8B030D-6E8A-4147-A177-3AD203B41FA5}">
                          <a16:colId xmlns:a16="http://schemas.microsoft.com/office/drawing/2014/main" xmlns="" val="3900973489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xmlns="" val="2403358881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xmlns="" val="2710614908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xmlns="" val="3261079531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xmlns="" val="1580563782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xmlns="" val="3172534196"/>
                        </a:ext>
                      </a:extLst>
                    </a:gridCol>
                    <a:gridCol w="1738216">
                      <a:extLst>
                        <a:ext uri="{9D8B030D-6E8A-4147-A177-3AD203B41FA5}">
                          <a16:colId xmlns:a16="http://schemas.microsoft.com/office/drawing/2014/main" xmlns="" val="3121807758"/>
                        </a:ext>
                      </a:extLst>
                    </a:gridCol>
                  </a:tblGrid>
                  <a:tr h="490726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SOL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Min Ratio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2341420748"/>
                      </a:ext>
                    </a:extLst>
                  </a:tr>
                  <a:tr h="4907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598891676"/>
                      </a:ext>
                    </a:extLst>
                  </a:tr>
                  <a:tr h="49072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3/5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-4/5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434673895"/>
                      </a:ext>
                    </a:extLst>
                  </a:tr>
                  <a:tr h="49072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286089560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3">
                <a:extLst>
                  <a:ext uri="{FF2B5EF4-FFF2-40B4-BE49-F238E27FC236}">
                    <a16:creationId xmlns:a16="http://schemas.microsoft.com/office/drawing/2014/main" id="{71990EE4-3C87-41B3-970C-DC296456259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69434507"/>
                  </p:ext>
                </p:extLst>
              </p:nvPr>
            </p:nvGraphicFramePr>
            <p:xfrm>
              <a:off x="856060" y="4714501"/>
              <a:ext cx="7124134" cy="1962904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97653">
                      <a:extLst>
                        <a:ext uri="{9D8B030D-6E8A-4147-A177-3AD203B41FA5}">
                          <a16:colId xmlns:a16="http://schemas.microsoft.com/office/drawing/2014/main" val="3900973489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val="2403358881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val="2710614908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val="3261079531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val="1580563782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val="3172534196"/>
                        </a:ext>
                      </a:extLst>
                    </a:gridCol>
                    <a:gridCol w="1738216">
                      <a:extLst>
                        <a:ext uri="{9D8B030D-6E8A-4147-A177-3AD203B41FA5}">
                          <a16:colId xmlns:a16="http://schemas.microsoft.com/office/drawing/2014/main" val="3121807758"/>
                        </a:ext>
                      </a:extLst>
                    </a:gridCol>
                  </a:tblGrid>
                  <a:tr h="490726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000" t="-9877" r="-593919" b="-301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1361" t="-9877" r="-497959" b="-301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99324" t="-9877" r="-394595" b="-301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02041" t="-9877" r="-297279" b="-301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SOL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Min Ratio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41420748"/>
                      </a:ext>
                    </a:extLst>
                  </a:tr>
                  <a:tr h="4907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98891676"/>
                      </a:ext>
                    </a:extLst>
                  </a:tr>
                  <a:tr h="49072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680" t="-212500" r="-698639" b="-10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3/5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-4/5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34673895"/>
                      </a:ext>
                    </a:extLst>
                  </a:tr>
                  <a:tr h="49072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680" t="-308642" r="-698639" b="-2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089560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1528145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degeneracy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xmlns="" id="{12C3F38F-06D5-4ADF-BB89-374D8DB47B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56060" y="2249486"/>
                <a:ext cx="7429499" cy="460851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solidFill>
                      <a:prstClr val="black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prstClr val="black"/>
                            </a:solidFill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</m:t>
                    </m:r>
                    <m:r>
                      <a:rPr lang="en-US" i="1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solidFill>
                              <a:prstClr val="black"/>
                            </a:solidFill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f>
                          <m:fPr>
                            <m:ctrlPr>
                              <a:rPr lang="en-US" i="1">
                                <a:solidFill>
                                  <a:prstClr val="black"/>
                                </a:solidFill>
                                <a:effectLst/>
                                <a:latin typeface="Cambria Math"/>
                                <a:cs typeface="Arial" panose="020B0604020202020204" pitchFamily="34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prstClr val="black"/>
                                </a:solidFill>
                                <a:effectLst/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solidFill>
                                  <a:prstClr val="black"/>
                                </a:solidFill>
                                <a:effectLst/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3</m:t>
                            </m:r>
                          </m:den>
                        </m:f>
                        <m:r>
                          <a:rPr lang="en-US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n-US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z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solidFill>
                              <a:prstClr val="black"/>
                            </a:solidFill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f>
                          <m:fPr>
                            <m:ctrlPr>
                              <a:rPr lang="en-US" i="1">
                                <a:solidFill>
                                  <a:prstClr val="black"/>
                                </a:solidFill>
                                <a:effectLst/>
                                <a:latin typeface="Cambria Math"/>
                                <a:cs typeface="Arial" panose="020B0604020202020204" pitchFamily="34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effectLst/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effectLst/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3</m:t>
                            </m:r>
                          </m:den>
                        </m:f>
                        <m:r>
                          <a:rPr lang="en-US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:endParaRPr lang="en-US" sz="1800" dirty="0">
                  <a:solidFill>
                    <a:prstClr val="black"/>
                  </a:solidFill>
                  <a:effectLst/>
                </a:endParaRPr>
              </a:p>
              <a:p>
                <a:pPr marL="0" indent="0">
                  <a:buNone/>
                </a:pP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12C3F38F-06D5-4ADF-BB89-374D8DB47B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6060" y="2249486"/>
                <a:ext cx="7429499" cy="4608513"/>
              </a:xfrm>
              <a:blipFill>
                <a:blip r:embed="rId2"/>
                <a:stretch>
                  <a:fillRect l="-1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3">
                <a:extLst>
                  <a:ext uri="{FF2B5EF4-FFF2-40B4-BE49-F238E27FC236}">
                    <a16:creationId xmlns:a16="http://schemas.microsoft.com/office/drawing/2014/main" xmlns="" id="{71990EE4-3C87-41B3-970C-DC296456259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56060" y="3026378"/>
              <a:ext cx="7124134" cy="1962904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97653">
                      <a:extLst>
                        <a:ext uri="{9D8B030D-6E8A-4147-A177-3AD203B41FA5}">
                          <a16:colId xmlns:a16="http://schemas.microsoft.com/office/drawing/2014/main" xmlns="" val="3900973489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xmlns="" val="2403358881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xmlns="" val="2710614908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xmlns="" val="3261079531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xmlns="" val="1580563782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xmlns="" val="3172534196"/>
                        </a:ext>
                      </a:extLst>
                    </a:gridCol>
                    <a:gridCol w="1738216">
                      <a:extLst>
                        <a:ext uri="{9D8B030D-6E8A-4147-A177-3AD203B41FA5}">
                          <a16:colId xmlns:a16="http://schemas.microsoft.com/office/drawing/2014/main" xmlns="" val="3121807758"/>
                        </a:ext>
                      </a:extLst>
                    </a:gridCol>
                  </a:tblGrid>
                  <a:tr h="490726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SOL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Min Ratio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2341420748"/>
                      </a:ext>
                    </a:extLst>
                  </a:tr>
                  <a:tr h="4907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1/5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2/5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598891676"/>
                      </a:ext>
                    </a:extLst>
                  </a:tr>
                  <a:tr h="49072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3/5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-4/5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434673895"/>
                      </a:ext>
                    </a:extLst>
                  </a:tr>
                  <a:tr h="49072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-1/5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9/15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286089560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3">
                <a:extLst>
                  <a:ext uri="{FF2B5EF4-FFF2-40B4-BE49-F238E27FC236}">
                    <a16:creationId xmlns:a16="http://schemas.microsoft.com/office/drawing/2014/main" id="{71990EE4-3C87-41B3-970C-DC296456259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86903034"/>
                  </p:ext>
                </p:extLst>
              </p:nvPr>
            </p:nvGraphicFramePr>
            <p:xfrm>
              <a:off x="856060" y="3026378"/>
              <a:ext cx="7124134" cy="1962904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97653">
                      <a:extLst>
                        <a:ext uri="{9D8B030D-6E8A-4147-A177-3AD203B41FA5}">
                          <a16:colId xmlns:a16="http://schemas.microsoft.com/office/drawing/2014/main" val="3900973489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val="2403358881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val="2710614908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val="3261079531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val="1580563782"/>
                        </a:ext>
                      </a:extLst>
                    </a:gridCol>
                    <a:gridCol w="897653">
                      <a:extLst>
                        <a:ext uri="{9D8B030D-6E8A-4147-A177-3AD203B41FA5}">
                          <a16:colId xmlns:a16="http://schemas.microsoft.com/office/drawing/2014/main" val="3172534196"/>
                        </a:ext>
                      </a:extLst>
                    </a:gridCol>
                    <a:gridCol w="1738216">
                      <a:extLst>
                        <a:ext uri="{9D8B030D-6E8A-4147-A177-3AD203B41FA5}">
                          <a16:colId xmlns:a16="http://schemas.microsoft.com/office/drawing/2014/main" val="3121807758"/>
                        </a:ext>
                      </a:extLst>
                    </a:gridCol>
                  </a:tblGrid>
                  <a:tr h="490726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000" t="-9877" r="-593919" b="-301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1361" t="-9877" r="-497959" b="-301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99324" t="-9877" r="-394595" b="-301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2041" t="-9877" r="-297279" b="-301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SOL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Min Ratio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41420748"/>
                      </a:ext>
                    </a:extLst>
                  </a:tr>
                  <a:tr h="4907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1/5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2/5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98891676"/>
                      </a:ext>
                    </a:extLst>
                  </a:tr>
                  <a:tr h="49072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80" t="-212500" r="-698639" b="-10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3/5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-4/5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34673895"/>
                      </a:ext>
                    </a:extLst>
                  </a:tr>
                  <a:tr h="49072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80" t="-308642" r="-698639" b="-2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-1/5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9/15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089560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xmlns="" id="{5C7E7A67-368F-49C8-94F1-DC584B4EC35A}"/>
                  </a:ext>
                </a:extLst>
              </p:cNvPr>
              <p:cNvSpPr/>
              <p:nvPr/>
            </p:nvSpPr>
            <p:spPr>
              <a:xfrm>
                <a:off x="3171503" y="5396842"/>
                <a:ext cx="310200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prstClr val="black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3</m:t>
                    </m:r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=0,  </m:t>
                    </m:r>
                    <m:r>
                      <a:rPr 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𝑧</m:t>
                    </m:r>
                    <m:r>
                      <a:rPr 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=6</m:t>
                    </m:r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5C7E7A67-368F-49C8-94F1-DC584B4EC3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1503" y="5396842"/>
                <a:ext cx="3102003" cy="461665"/>
              </a:xfrm>
              <a:prstGeom prst="rect">
                <a:avLst/>
              </a:prstGeom>
              <a:blipFill>
                <a:blip r:embed="rId4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8924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xmlns="" id="{42C736D9-7A0B-4FB8-8DB2-13424C09B2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56060" y="2249486"/>
                <a:ext cx="7429499" cy="4608513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en-US" sz="2800" b="1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Example 2:</a:t>
                </a:r>
              </a:p>
              <a:p>
                <a:pPr marL="0" lvl="0" indent="0" algn="ctr">
                  <a:buNone/>
                </a:pPr>
                <a:r>
                  <a:rPr lang="en-US" sz="2800" dirty="0">
                    <a:solidFill>
                      <a:prstClr val="black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Max Z=3x1+9x2</a:t>
                </a:r>
              </a:p>
              <a:p>
                <a:pPr marL="0" lvl="0" indent="0" algn="just">
                  <a:buNone/>
                </a:pPr>
                <a:r>
                  <a:rPr lang="en-US" sz="2800" dirty="0">
                    <a:solidFill>
                      <a:prstClr val="black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Subject to Constraints:</a:t>
                </a:r>
              </a:p>
              <a:p>
                <a:pPr marL="0" lv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4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8</m:t>
                      </m:r>
                    </m:oMath>
                  </m:oMathPara>
                </a14:m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2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4</m:t>
                      </m:r>
                    </m:oMath>
                  </m:oMathPara>
                </a14:m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≥0</m:t>
                      </m:r>
                    </m:oMath>
                  </m:oMathPara>
                </a14:m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just">
                  <a:buNone/>
                </a:pPr>
                <a:endParaRPr lang="en-US" sz="2800" b="1" dirty="0"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2C736D9-7A0B-4FB8-8DB2-13424C09B2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6060" y="2249486"/>
                <a:ext cx="7429499" cy="4608513"/>
              </a:xfrm>
              <a:blipFill>
                <a:blip r:embed="rId2"/>
                <a:stretch>
                  <a:fillRect l="-1641" t="-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99625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2689715"/>
            <a:ext cx="7429499" cy="1478570"/>
          </a:xfrm>
        </p:spPr>
        <p:txBody>
          <a:bodyPr>
            <a:normAutofit fontScale="90000"/>
          </a:bodyPr>
          <a:lstStyle/>
          <a:p>
            <a:pPr lvl="0" algn="ctr">
              <a:lnSpc>
                <a:spcPct val="100000"/>
              </a:lnSpc>
              <a:spcBef>
                <a:spcPts val="0"/>
              </a:spcBef>
            </a:pPr>
            <a:r>
              <a:rPr lang="en-GB" sz="5400" b="1" cap="none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Thank you!</a:t>
            </a:r>
            <a:r>
              <a:rPr lang="en-GB" sz="4800" b="1" cap="none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/>
            </a:r>
            <a:br>
              <a:rPr lang="en-GB" sz="4800" b="1" cap="none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endParaRPr lang="en-US" sz="4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44681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Clarity">
  <a:themeElements>
    <a:clrScheme name="Angles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ircuit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ircuit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88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Circuit" id="{0AC2F7E7-15F5-431C-B2A2-456FE929F56C}" vid="{97ECCC31-8429-4523-BE8D-8F09B7A4D46D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3021</TotalTime>
  <Words>1768</Words>
  <Application>Microsoft Office PowerPoint</Application>
  <PresentationFormat>On-screen Show (4:3)</PresentationFormat>
  <Paragraphs>535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26" baseType="lpstr">
      <vt:lpstr>Clarity</vt:lpstr>
      <vt:lpstr>Circuit</vt:lpstr>
      <vt:lpstr>PowerPoint Presentation</vt:lpstr>
      <vt:lpstr>Simplex Method</vt:lpstr>
      <vt:lpstr>Simplex Method</vt:lpstr>
      <vt:lpstr>Simplex Method</vt:lpstr>
      <vt:lpstr>Simplex Method</vt:lpstr>
      <vt:lpstr>Simplex method</vt:lpstr>
      <vt:lpstr>Simplex method</vt:lpstr>
      <vt:lpstr>task</vt:lpstr>
      <vt:lpstr>Infeasible solution</vt:lpstr>
      <vt:lpstr>Infeasible solution</vt:lpstr>
      <vt:lpstr>Infeasible solution</vt:lpstr>
      <vt:lpstr>Infeasible solution</vt:lpstr>
      <vt:lpstr>Infeasible solution</vt:lpstr>
      <vt:lpstr>task</vt:lpstr>
      <vt:lpstr>degeneracy</vt:lpstr>
      <vt:lpstr>degeneracy</vt:lpstr>
      <vt:lpstr>degeneracy</vt:lpstr>
      <vt:lpstr>degeneracy</vt:lpstr>
      <vt:lpstr>degeneracy</vt:lpstr>
      <vt:lpstr>degeneracy</vt:lpstr>
      <vt:lpstr>degeneracy</vt:lpstr>
      <vt:lpstr>degeneracy</vt:lpstr>
      <vt:lpstr>task</vt:lpstr>
      <vt:lpstr>Thank you!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 Bakhtawar</dc:creator>
  <cp:lastModifiedBy>4G Traders</cp:lastModifiedBy>
  <cp:revision>249</cp:revision>
  <dcterms:created xsi:type="dcterms:W3CDTF">2022-09-10T13:48:09Z</dcterms:created>
  <dcterms:modified xsi:type="dcterms:W3CDTF">2024-09-08T07:35:35Z</dcterms:modified>
</cp:coreProperties>
</file>