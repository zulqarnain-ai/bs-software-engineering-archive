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8" r:id="rId1"/>
  </p:sldMasterIdLst>
  <p:notesMasterIdLst>
    <p:notesMasterId r:id="rId20"/>
  </p:notesMasterIdLst>
  <p:handoutMasterIdLst>
    <p:handoutMasterId r:id="rId21"/>
  </p:handoutMasterIdLst>
  <p:sldIdLst>
    <p:sldId id="256" r:id="rId2"/>
    <p:sldId id="379" r:id="rId3"/>
    <p:sldId id="276" r:id="rId4"/>
    <p:sldId id="277" r:id="rId5"/>
    <p:sldId id="278" r:id="rId6"/>
    <p:sldId id="280" r:id="rId7"/>
    <p:sldId id="257" r:id="rId8"/>
    <p:sldId id="378" r:id="rId9"/>
    <p:sldId id="351" r:id="rId10"/>
    <p:sldId id="281" r:id="rId11"/>
    <p:sldId id="282" r:id="rId12"/>
    <p:sldId id="286" r:id="rId13"/>
    <p:sldId id="287" r:id="rId14"/>
    <p:sldId id="259" r:id="rId15"/>
    <p:sldId id="310" r:id="rId16"/>
    <p:sldId id="289" r:id="rId17"/>
    <p:sldId id="311" r:id="rId18"/>
    <p:sldId id="261" r:id="rId19"/>
  </p:sldIdLst>
  <p:sldSz cx="9144000" cy="6858000" type="screen4x3"/>
  <p:notesSz cx="6858000" cy="9144000"/>
  <p:defaultTextStyle>
    <a:defPPr>
      <a:defRPr lang="en-US"/>
    </a:defPPr>
    <a:lvl1pPr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sz="2400" kern="1200">
        <a:solidFill>
          <a:schemeClr val="tx1"/>
        </a:solidFill>
        <a:latin typeface="Arial" charset="0"/>
        <a:ea typeface="ＭＳ Ｐゴシック" charset="-128"/>
        <a:cs typeface="ＭＳ Ｐゴシック" charset="-128"/>
      </a:defRPr>
    </a:lvl5pPr>
    <a:lvl6pPr marL="2286000" algn="l" defTabSz="457200" rtl="0" eaLnBrk="1" latinLnBrk="0" hangingPunct="1">
      <a:defRPr sz="2400" kern="1200">
        <a:solidFill>
          <a:schemeClr val="tx1"/>
        </a:solidFill>
        <a:latin typeface="Arial" charset="0"/>
        <a:ea typeface="ＭＳ Ｐゴシック" charset="-128"/>
        <a:cs typeface="ＭＳ Ｐゴシック" charset="-128"/>
      </a:defRPr>
    </a:lvl6pPr>
    <a:lvl7pPr marL="2743200" algn="l" defTabSz="457200" rtl="0" eaLnBrk="1" latinLnBrk="0" hangingPunct="1">
      <a:defRPr sz="2400" kern="1200">
        <a:solidFill>
          <a:schemeClr val="tx1"/>
        </a:solidFill>
        <a:latin typeface="Arial" charset="0"/>
        <a:ea typeface="ＭＳ Ｐゴシック" charset="-128"/>
        <a:cs typeface="ＭＳ Ｐゴシック" charset="-128"/>
      </a:defRPr>
    </a:lvl7pPr>
    <a:lvl8pPr marL="3200400" algn="l" defTabSz="457200" rtl="0" eaLnBrk="1" latinLnBrk="0" hangingPunct="1">
      <a:defRPr sz="2400" kern="1200">
        <a:solidFill>
          <a:schemeClr val="tx1"/>
        </a:solidFill>
        <a:latin typeface="Arial" charset="0"/>
        <a:ea typeface="ＭＳ Ｐゴシック" charset="-128"/>
        <a:cs typeface="ＭＳ Ｐゴシック" charset="-128"/>
      </a:defRPr>
    </a:lvl8pPr>
    <a:lvl9pPr marL="3657600" algn="l" defTabSz="457200" rtl="0" eaLnBrk="1" latinLnBrk="0" hangingPunct="1">
      <a:defRPr sz="2400"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6" clrMode="bw" scaleToFitPaper="1" frameSlides="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Objects="1">
      <p:cViewPr varScale="1">
        <p:scale>
          <a:sx n="70" d="100"/>
          <a:sy n="70" d="100"/>
        </p:scale>
        <p:origin x="1386" y="72"/>
      </p:cViewPr>
      <p:guideLst>
        <p:guide orient="horz" pos="2160"/>
        <p:guide pos="2880"/>
      </p:guideLst>
    </p:cSldViewPr>
  </p:slideViewPr>
  <p:notesTextViewPr>
    <p:cViewPr>
      <p:scale>
        <a:sx n="100" d="100"/>
        <a:sy n="100" d="100"/>
      </p:scale>
      <p:origin x="0" y="0"/>
    </p:cViewPr>
  </p:notesTextViewPr>
  <p:sorterViewPr>
    <p:cViewPr>
      <p:scale>
        <a:sx n="150" d="100"/>
        <a:sy n="15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F13E72A6-F1CE-9A44-92E1-BCD7317752E8}" type="datetime1">
              <a:rPr lang="en-US"/>
              <a:pPr>
                <a:defRPr/>
              </a:pPr>
              <a:t>10/17/2022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03440264-03AB-7A44-911E-26A2AEFC15F4}" type="slidenum">
              <a:rPr lang="en-US"/>
              <a:pPr>
                <a:defRPr/>
              </a:pPr>
              <a:t>‹#›</a:t>
            </a:fld>
            <a:endParaRPr lang="en-US"/>
          </a:p>
        </p:txBody>
      </p:sp>
    </p:spTree>
    <p:extLst>
      <p:ext uri="{BB962C8B-B14F-4D97-AF65-F5344CB8AC3E}">
        <p14:creationId xmlns:p14="http://schemas.microsoft.com/office/powerpoint/2010/main" val="25121048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smtClean="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smtClean="0"/>
            </a:lvl1pPr>
          </a:lstStyle>
          <a:p>
            <a:pPr>
              <a:defRPr/>
            </a:pPr>
            <a:fld id="{EB352ED9-E653-9A47-B7A3-C5AB53D5C0B6}" type="datetime1">
              <a:rPr lang="en-US"/>
              <a:pPr>
                <a:defRPr/>
              </a:pPr>
              <a:t>10/17/2022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noProof="0" smtClean="0"/>
              <a:t>Click to edit Master text styles</a:t>
            </a:r>
          </a:p>
          <a:p>
            <a:pPr lvl="1"/>
            <a:r>
              <a:rPr lang="en-GB" noProof="0" smtClean="0"/>
              <a:t>Second level</a:t>
            </a:r>
          </a:p>
          <a:p>
            <a:pPr lvl="2"/>
            <a:r>
              <a:rPr lang="en-GB" noProof="0" smtClean="0"/>
              <a:t>Third level</a:t>
            </a:r>
          </a:p>
          <a:p>
            <a:pPr lvl="3"/>
            <a:r>
              <a:rPr lang="en-GB" noProof="0" smtClean="0"/>
              <a:t>Fourth level</a:t>
            </a:r>
          </a:p>
          <a:p>
            <a:pPr lvl="4"/>
            <a:r>
              <a:rPr lang="en-GB" noProof="0" smtClean="0"/>
              <a:t>Fifth level</a:t>
            </a:r>
            <a:endParaRPr lang="en-US" noProof="0" smtClean="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smtClean="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smtClean="0"/>
            </a:lvl1pPr>
          </a:lstStyle>
          <a:p>
            <a:pPr>
              <a:defRPr/>
            </a:pPr>
            <a:fld id="{460DBBD1-181E-744E-89E7-45F0EE4D9123}" type="slidenum">
              <a:rPr lang="en-US"/>
              <a:pPr>
                <a:defRPr/>
              </a:pPr>
              <a:t>‹#›</a:t>
            </a:fld>
            <a:endParaRPr lang="en-US"/>
          </a:p>
        </p:txBody>
      </p:sp>
    </p:spTree>
    <p:extLst>
      <p:ext uri="{BB962C8B-B14F-4D97-AF65-F5344CB8AC3E}">
        <p14:creationId xmlns:p14="http://schemas.microsoft.com/office/powerpoint/2010/main" val="557350352"/>
      </p:ext>
    </p:extLst>
  </p:cSld>
  <p:clrMap bg1="lt1" tx1="dk1" bg2="lt2" tx2="dk2" accent1="accent1" accent2="accent2" accent3="accent3" accent4="accent4" accent5="accent5" accent6="accent6" hlink="hlink" folHlink="folHlink"/>
  <p:hf hdr="0" ftr="0" dt="0"/>
  <p:notesStyle>
    <a:lvl1pPr algn="l" defTabSz="457200" rtl="0" fontAlgn="base">
      <a:spcBef>
        <a:spcPct val="30000"/>
      </a:spcBef>
      <a:spcAft>
        <a:spcPct val="0"/>
      </a:spcAft>
      <a:defRPr sz="1200" kern="1200">
        <a:solidFill>
          <a:schemeClr val="tx1"/>
        </a:solidFill>
        <a:latin typeface="+mn-lt"/>
        <a:ea typeface="ＭＳ Ｐゴシック" charset="-128"/>
        <a:cs typeface="ＭＳ Ｐゴシック" charset="-128"/>
      </a:defRPr>
    </a:lvl1pPr>
    <a:lvl2pPr marL="457200" algn="l" defTabSz="457200" rtl="0" fontAlgn="base">
      <a:spcBef>
        <a:spcPct val="30000"/>
      </a:spcBef>
      <a:spcAft>
        <a:spcPct val="0"/>
      </a:spcAft>
      <a:defRPr sz="1200" kern="1200">
        <a:solidFill>
          <a:schemeClr val="tx1"/>
        </a:solidFill>
        <a:latin typeface="+mn-lt"/>
        <a:ea typeface="ＭＳ Ｐゴシック" charset="-128"/>
        <a:cs typeface="+mn-cs"/>
      </a:defRPr>
    </a:lvl2pPr>
    <a:lvl3pPr marL="914400" algn="l" defTabSz="457200" rtl="0" fontAlgn="base">
      <a:spcBef>
        <a:spcPct val="30000"/>
      </a:spcBef>
      <a:spcAft>
        <a:spcPct val="0"/>
      </a:spcAft>
      <a:defRPr sz="1200" kern="1200">
        <a:solidFill>
          <a:schemeClr val="tx1"/>
        </a:solidFill>
        <a:latin typeface="+mn-lt"/>
        <a:ea typeface="ＭＳ Ｐゴシック" charset="-128"/>
        <a:cs typeface="+mn-cs"/>
      </a:defRPr>
    </a:lvl3pPr>
    <a:lvl4pPr marL="1371600" algn="l" defTabSz="457200" rtl="0" fontAlgn="base">
      <a:spcBef>
        <a:spcPct val="30000"/>
      </a:spcBef>
      <a:spcAft>
        <a:spcPct val="0"/>
      </a:spcAft>
      <a:defRPr sz="1200" kern="1200">
        <a:solidFill>
          <a:schemeClr val="tx1"/>
        </a:solidFill>
        <a:latin typeface="+mn-lt"/>
        <a:ea typeface="ＭＳ Ｐゴシック" charset="-128"/>
        <a:cs typeface="+mn-cs"/>
      </a:defRPr>
    </a:lvl4pPr>
    <a:lvl5pPr marL="1828800" algn="l" defTabSz="457200" rtl="0" fontAlgn="base">
      <a:spcBef>
        <a:spcPct val="30000"/>
      </a:spcBef>
      <a:spcAft>
        <a:spcPct val="0"/>
      </a:spcAft>
      <a:defRPr sz="1200" kern="1200">
        <a:solidFill>
          <a:schemeClr val="tx1"/>
        </a:solidFill>
        <a:latin typeface="+mn-lt"/>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460DBBD1-181E-744E-89E7-45F0EE4D9123}" type="slidenum">
              <a:rPr lang="en-US" smtClean="0"/>
              <a:pPr>
                <a:defRPr/>
              </a:pPr>
              <a:t>6</a:t>
            </a:fld>
            <a:endParaRPr lang="en-US"/>
          </a:p>
        </p:txBody>
      </p:sp>
    </p:spTree>
    <p:extLst>
      <p:ext uri="{BB962C8B-B14F-4D97-AF65-F5344CB8AC3E}">
        <p14:creationId xmlns:p14="http://schemas.microsoft.com/office/powerpoint/2010/main" val="41439010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B0C4763A-EFD4-7742-8F31-9C2F9300C28A}"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825F70CE-84E9-D04C-9B15-10C693AA0F2A}"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87BA459C-C1F9-AB4D-8E61-68C53B56A064}"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7" name="Slide Number Placeholder 5"/>
          <p:cNvSpPr>
            <a:spLocks noGrp="1"/>
          </p:cNvSpPr>
          <p:nvPr>
            <p:ph type="sldNum" sz="quarter" idx="12"/>
          </p:nvPr>
        </p:nvSpPr>
        <p:spPr/>
        <p:txBody>
          <a:bodyPr/>
          <a:lstStyle>
            <a:lvl1pPr>
              <a:defRPr/>
            </a:lvl1pPr>
          </a:lstStyle>
          <a:p>
            <a:pPr>
              <a:defRPr/>
            </a:pPr>
            <a:fld id="{9AFB4A4D-A64F-7740-9E0E-188E9BA474F0}"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8"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9" name="Slide Number Placeholder 5"/>
          <p:cNvSpPr>
            <a:spLocks noGrp="1"/>
          </p:cNvSpPr>
          <p:nvPr>
            <p:ph type="sldNum" sz="quarter" idx="12"/>
          </p:nvPr>
        </p:nvSpPr>
        <p:spPr/>
        <p:txBody>
          <a:bodyPr/>
          <a:lstStyle>
            <a:lvl1pPr>
              <a:defRPr/>
            </a:lvl1pPr>
          </a:lstStyle>
          <a:p>
            <a:pPr>
              <a:defRPr/>
            </a:pPr>
            <a:fld id="{8DAA6009-9928-FF4C-9FC0-9A5BA7AB80BB}"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4"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5" name="Slide Number Placeholder 5"/>
          <p:cNvSpPr>
            <a:spLocks noGrp="1"/>
          </p:cNvSpPr>
          <p:nvPr>
            <p:ph type="sldNum" sz="quarter" idx="12"/>
          </p:nvPr>
        </p:nvSpPr>
        <p:spPr/>
        <p:txBody>
          <a:bodyPr/>
          <a:lstStyle>
            <a:lvl1pPr>
              <a:defRPr/>
            </a:lvl1pPr>
          </a:lstStyle>
          <a:p>
            <a:pPr>
              <a:defRPr/>
            </a:pPr>
            <a:fld id="{7DCDB1BE-A08E-2A4A-80F9-ED5208CC2745}"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3"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4" name="Slide Number Placeholder 5"/>
          <p:cNvSpPr>
            <a:spLocks noGrp="1"/>
          </p:cNvSpPr>
          <p:nvPr>
            <p:ph type="sldNum" sz="quarter" idx="12"/>
          </p:nvPr>
        </p:nvSpPr>
        <p:spPr/>
        <p:txBody>
          <a:bodyPr/>
          <a:lstStyle>
            <a:lvl1pPr>
              <a:defRPr/>
            </a:lvl1pPr>
          </a:lstStyle>
          <a:p>
            <a:pPr>
              <a:defRPr/>
            </a:pPr>
            <a:fld id="{2CA09BA1-70B4-4A48-A4C4-6DB291E465CB}"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7" name="Slide Number Placeholder 5"/>
          <p:cNvSpPr>
            <a:spLocks noGrp="1"/>
          </p:cNvSpPr>
          <p:nvPr>
            <p:ph type="sldNum" sz="quarter" idx="12"/>
          </p:nvPr>
        </p:nvSpPr>
        <p:spPr/>
        <p:txBody>
          <a:bodyPr/>
          <a:lstStyle>
            <a:lvl1pPr>
              <a:defRPr/>
            </a:lvl1pPr>
          </a:lstStyle>
          <a:p>
            <a:pPr>
              <a:defRPr/>
            </a:pPr>
            <a:fld id="{AC48FB37-48D1-0F43-9835-C4ADFC9E29C1}"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smtClean="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6"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7" name="Slide Number Placeholder 5"/>
          <p:cNvSpPr>
            <a:spLocks noGrp="1"/>
          </p:cNvSpPr>
          <p:nvPr>
            <p:ph type="sldNum" sz="quarter" idx="12"/>
          </p:nvPr>
        </p:nvSpPr>
        <p:spPr/>
        <p:txBody>
          <a:bodyPr/>
          <a:lstStyle>
            <a:lvl1pPr>
              <a:defRPr/>
            </a:lvl1pPr>
          </a:lstStyle>
          <a:p>
            <a:pPr>
              <a:defRPr/>
            </a:pPr>
            <a:fld id="{32B5C7A3-6224-2444-BEEE-16F152F7EB8A}"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44887004-E5E5-6642-9C91-F2E102A03E8F}"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r>
              <a:rPr lang="en-GB" smtClean="0"/>
              <a:t>30/10/2014</a:t>
            </a:r>
            <a:endParaRPr lang="en-US"/>
          </a:p>
        </p:txBody>
      </p:sp>
      <p:sp>
        <p:nvSpPr>
          <p:cNvPr id="5" name="Footer Placeholder 4"/>
          <p:cNvSpPr>
            <a:spLocks noGrp="1"/>
          </p:cNvSpPr>
          <p:nvPr>
            <p:ph type="ftr" sz="quarter" idx="11"/>
          </p:nvPr>
        </p:nvSpPr>
        <p:spPr/>
        <p:txBody>
          <a:bodyPr/>
          <a:lstStyle>
            <a:lvl1pPr>
              <a:defRPr/>
            </a:lvl1p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lvl1pPr>
              <a:defRPr/>
            </a:lvl1pPr>
          </a:lstStyle>
          <a:p>
            <a:pPr>
              <a:defRPr/>
            </a:pPr>
            <a:fld id="{76C17DF0-9E2E-E045-840A-782E3E137E64}" type="slidenum">
              <a:rPr lang="en-US" smtClean="0"/>
              <a:pPr>
                <a:defRPr/>
              </a:pPr>
              <a:t>‹#›</a:t>
            </a:fld>
            <a:endParaRPr lang="en-US"/>
          </a:p>
        </p:txBody>
      </p:sp>
    </p:spTree>
  </p:cSld>
  <p:clrMapOvr>
    <a:masterClrMapping/>
  </p:clrMapOvr>
  <p:transition spd="med">
    <p:wipe dir="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endParaRPr lang="en-US"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cs typeface="+mn-cs"/>
              </a:defRPr>
            </a:lvl1pPr>
          </a:lstStyle>
          <a:p>
            <a:pPr>
              <a:defRPr/>
            </a:pPr>
            <a:r>
              <a:rPr lang="en-GB" smtClean="0"/>
              <a:t>30/10/2014</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cs typeface="+mn-cs"/>
              </a:defRPr>
            </a:lvl1pPr>
          </a:lstStyle>
          <a:p>
            <a:pPr>
              <a:defRPr/>
            </a:pPr>
            <a:r>
              <a:rPr lang="en-US" smtClean="0"/>
              <a:t>Chapter 4 Requirements Engineering</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ea typeface="+mn-ea"/>
                <a:cs typeface="+mn-cs"/>
              </a:defRPr>
            </a:lvl1pPr>
          </a:lstStyle>
          <a:p>
            <a:pPr>
              <a:defRPr/>
            </a:pPr>
            <a:fld id="{4606AE16-8D53-A649-9482-7C8DBD7175B3}" type="slidenum">
              <a:rPr lang="en-US" smtClean="0"/>
              <a:pPr>
                <a:defRPr/>
              </a:pPr>
              <a:t>‹#›</a:t>
            </a:fld>
            <a:endParaRPr lang="en-US"/>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50432" y="213186"/>
            <a:ext cx="923794" cy="1219356"/>
          </a:xfrm>
          <a:prstGeom prst="rect">
            <a:avLst/>
          </a:prstGeom>
        </p:spPr>
      </p:pic>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ransition spd="med">
    <p:wipe dir="r"/>
  </p:transition>
  <p:timing>
    <p:tnLst>
      <p:par>
        <p:cTn id="1" dur="indefinite" restart="never" nodeType="tmRoot"/>
      </p:par>
    </p:tnLst>
  </p:timing>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ctrTitle"/>
          </p:nvPr>
        </p:nvSpPr>
        <p:spPr/>
        <p:txBody>
          <a:bodyPr/>
          <a:lstStyle/>
          <a:p>
            <a:pPr eaLnBrk="1" hangingPunct="1"/>
            <a:r>
              <a:rPr lang="en-US" dirty="0" smtClean="0"/>
              <a:t>Chapter 4 – Requirements Engineering</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B0C4763A-EFD4-7742-8F31-9C2F9300C28A}" type="slidenum">
              <a:rPr lang="en-US" smtClean="0"/>
              <a:pPr>
                <a:defRPr/>
              </a:pPr>
              <a:t>1</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
        <p:nvSpPr>
          <p:cNvPr id="7" name="Subtitle 2"/>
          <p:cNvSpPr>
            <a:spLocks noGrp="1"/>
          </p:cNvSpPr>
          <p:nvPr>
            <p:ph type="subTitle" idx="1"/>
          </p:nvPr>
        </p:nvSpPr>
        <p:spPr/>
        <p:txBody>
          <a:bodyPr/>
          <a:lstStyle/>
          <a:p>
            <a:pPr fontAlgn="auto">
              <a:spcAft>
                <a:spcPts val="0"/>
              </a:spcAft>
              <a:defRPr/>
            </a:pPr>
            <a:r>
              <a:rPr lang="en-US" dirty="0"/>
              <a:t>SOMMERVILLE, IAN. "SOFTWARE ENGINEERING 10</a:t>
            </a:r>
            <a:r>
              <a:rPr lang="en-US" baseline="30000" dirty="0"/>
              <a:t>TH</a:t>
            </a:r>
            <a:r>
              <a:rPr lang="en-US" dirty="0"/>
              <a:t> EDITION."</a:t>
            </a:r>
          </a:p>
          <a:p>
            <a:pPr eaLnBrk="1" fontAlgn="auto" hangingPunct="1">
              <a:spcAft>
                <a:spcPts val="0"/>
              </a:spcAft>
              <a:buFont typeface="Arial"/>
              <a:buNone/>
              <a:defRPr/>
            </a:pPr>
            <a:endParaRPr lang="en-US" dirty="0">
              <a:ea typeface="+mn-ea"/>
              <a:cs typeface="+mn-cs"/>
            </a:endParaRPr>
          </a:p>
        </p:txBody>
      </p:sp>
      <p:sp>
        <p:nvSpPr>
          <p:cNvPr id="8" name="TextBox 7"/>
          <p:cNvSpPr txBox="1"/>
          <p:nvPr/>
        </p:nvSpPr>
        <p:spPr>
          <a:xfrm>
            <a:off x="1883121" y="5301208"/>
            <a:ext cx="5558828" cy="523220"/>
          </a:xfrm>
          <a:prstGeom prst="rect">
            <a:avLst/>
          </a:prstGeom>
          <a:noFill/>
        </p:spPr>
        <p:txBody>
          <a:bodyPr wrap="square" rtlCol="0">
            <a:spAutoFit/>
          </a:bodyPr>
          <a:lstStyle/>
          <a:p>
            <a:r>
              <a:rPr lang="en-US" sz="1400" dirty="0" smtClean="0"/>
              <a:t>Copyrights: IAN </a:t>
            </a:r>
            <a:r>
              <a:rPr lang="en-US" sz="1400" dirty="0" err="1" smtClean="0"/>
              <a:t>Sommerville</a:t>
            </a:r>
            <a:endParaRPr lang="en-US" sz="1400" dirty="0" smtClean="0"/>
          </a:p>
          <a:p>
            <a:r>
              <a:rPr lang="en-US" sz="1400" dirty="0" smtClean="0"/>
              <a:t>Note: these slides are prepared by IAN </a:t>
            </a:r>
            <a:r>
              <a:rPr lang="en-US" sz="1400" dirty="0" err="1" smtClean="0"/>
              <a:t>Sommerville</a:t>
            </a:r>
            <a:endParaRPr lang="en-US" sz="1400" dirty="0"/>
          </a:p>
        </p:txBody>
      </p:sp>
    </p:spTree>
  </p:cSld>
  <p:clrMapOvr>
    <a:masterClrMapping/>
  </p:clrMapOvr>
  <p:transition spd="med">
    <p:wipe dir="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sz="4800" dirty="0" smtClean="0"/>
              <a:t>Requirements</a:t>
            </a:r>
            <a:endParaRPr lang="en-GB" sz="4800" dirty="0"/>
          </a:p>
        </p:txBody>
      </p:sp>
      <p:sp>
        <p:nvSpPr>
          <p:cNvPr id="3" name="Content Placeholder 2"/>
          <p:cNvSpPr>
            <a:spLocks noGrp="1"/>
          </p:cNvSpPr>
          <p:nvPr>
            <p:ph idx="1"/>
          </p:nvPr>
        </p:nvSpPr>
        <p:spPr/>
        <p:txBody>
          <a:bodyPr/>
          <a:lstStyle/>
          <a:p>
            <a:r>
              <a:rPr lang="en-GB" sz="2800" dirty="0">
                <a:latin typeface="+mn-lt"/>
              </a:rPr>
              <a:t>The software requirements are description of features and functionalities of the target system. Requirements convey the expectations of users from the software product.</a:t>
            </a:r>
            <a:endParaRPr lang="en-GB" sz="2800" dirty="0">
              <a:latin typeface="+mn-lt"/>
            </a:endParaRPr>
          </a:p>
        </p:txBody>
      </p:sp>
      <p:sp>
        <p:nvSpPr>
          <p:cNvPr id="4" name="Date Placeholder 3"/>
          <p:cNvSpPr>
            <a:spLocks noGrp="1"/>
          </p:cNvSpPr>
          <p:nvPr>
            <p:ph type="dt" sz="half" idx="10"/>
          </p:nvPr>
        </p:nvSpPr>
        <p:spPr/>
        <p:txBody>
          <a:bodyPr/>
          <a:lstStyle/>
          <a:p>
            <a:pPr>
              <a:defRPr/>
            </a:pPr>
            <a:r>
              <a:rPr lang="en-GB" smtClean="0"/>
              <a:t>30/10/2014</a:t>
            </a:r>
            <a:endParaRPr lang="en-US"/>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6" name="Slide Number Placeholder 5"/>
          <p:cNvSpPr>
            <a:spLocks noGrp="1"/>
          </p:cNvSpPr>
          <p:nvPr>
            <p:ph type="sldNum" sz="quarter" idx="12"/>
          </p:nvPr>
        </p:nvSpPr>
        <p:spPr/>
        <p:txBody>
          <a:bodyPr/>
          <a:lstStyle/>
          <a:p>
            <a:pPr>
              <a:defRPr/>
            </a:pPr>
            <a:fld id="{825F70CE-84E9-D04C-9B15-10C693AA0F2A}" type="slidenum">
              <a:rPr lang="en-US" smtClean="0"/>
              <a:pPr>
                <a:defRPr/>
              </a:pPr>
              <a:t>2</a:t>
            </a:fld>
            <a:endParaRPr lang="en-US"/>
          </a:p>
        </p:txBody>
      </p:sp>
    </p:spTree>
    <p:extLst>
      <p:ext uri="{BB962C8B-B14F-4D97-AF65-F5344CB8AC3E}">
        <p14:creationId xmlns:p14="http://schemas.microsoft.com/office/powerpoint/2010/main" val="1212434541"/>
      </p:ext>
    </p:extLst>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Topics covered</a:t>
            </a:r>
            <a:endParaRPr lang="en-US" dirty="0"/>
          </a:p>
        </p:txBody>
      </p:sp>
      <p:sp>
        <p:nvSpPr>
          <p:cNvPr id="3" name="Content Placeholder 2"/>
          <p:cNvSpPr>
            <a:spLocks noGrp="1"/>
          </p:cNvSpPr>
          <p:nvPr>
            <p:ph idx="1"/>
          </p:nvPr>
        </p:nvSpPr>
        <p:spPr/>
        <p:txBody>
          <a:bodyPr/>
          <a:lstStyle/>
          <a:p>
            <a:r>
              <a:rPr lang="en-US" dirty="0" smtClean="0"/>
              <a:t>Functional and non-functional requirements</a:t>
            </a:r>
            <a:endParaRPr lang="en-GB" dirty="0" smtClean="0"/>
          </a:p>
          <a:p>
            <a:r>
              <a:rPr lang="en-US" dirty="0" smtClean="0"/>
              <a:t>Requirements engineering processes</a:t>
            </a:r>
          </a:p>
          <a:p>
            <a:r>
              <a:rPr lang="en-US" dirty="0" smtClean="0"/>
              <a:t>Requirements elicitation</a:t>
            </a:r>
            <a:endParaRPr lang="en-GB" dirty="0" smtClean="0"/>
          </a:p>
          <a:p>
            <a:r>
              <a:rPr lang="en-US" dirty="0" smtClean="0"/>
              <a:t>Requirements </a:t>
            </a:r>
            <a:r>
              <a:rPr lang="en-GB" dirty="0" smtClean="0"/>
              <a:t>specification</a:t>
            </a:r>
          </a:p>
          <a:p>
            <a:r>
              <a:rPr lang="en-US" dirty="0" smtClean="0"/>
              <a:t>Requirements validation</a:t>
            </a:r>
            <a:endParaRPr lang="en-GB" dirty="0" smtClean="0"/>
          </a:p>
          <a:p>
            <a:r>
              <a:rPr lang="en-US" dirty="0" smtClean="0"/>
              <a:t>Requirements change</a:t>
            </a:r>
            <a:endParaRPr lang="en-GB" dirty="0" smtClean="0"/>
          </a:p>
          <a:p>
            <a:endParaRPr lang="en-US"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3</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lIns="90487" tIns="44450" rIns="90487" bIns="44450"/>
          <a:lstStyle/>
          <a:p>
            <a:r>
              <a:rPr lang="en-GB"/>
              <a:t>Requirements engineering</a:t>
            </a:r>
          </a:p>
        </p:txBody>
      </p:sp>
      <p:sp>
        <p:nvSpPr>
          <p:cNvPr id="7171" name="Rectangle 3"/>
          <p:cNvSpPr>
            <a:spLocks noGrp="1" noChangeArrowheads="1"/>
          </p:cNvSpPr>
          <p:nvPr>
            <p:ph idx="1"/>
          </p:nvPr>
        </p:nvSpPr>
        <p:spPr>
          <a:noFill/>
          <a:ln/>
        </p:spPr>
        <p:txBody>
          <a:bodyPr lIns="90487" tIns="44450" rIns="90487" bIns="44450"/>
          <a:lstStyle/>
          <a:p>
            <a:r>
              <a:rPr lang="en-GB" dirty="0"/>
              <a:t>The process of establishing the services that </a:t>
            </a:r>
            <a:r>
              <a:rPr lang="en-GB" dirty="0" smtClean="0"/>
              <a:t>a customer </a:t>
            </a:r>
            <a:r>
              <a:rPr lang="en-GB" dirty="0"/>
              <a:t>requires from a system and the constraints under which it operates and is developed.</a:t>
            </a:r>
          </a:p>
          <a:p>
            <a:r>
              <a:rPr lang="en-GB" dirty="0"/>
              <a:t>The </a:t>
            </a:r>
            <a:r>
              <a:rPr lang="en-GB" dirty="0" smtClean="0"/>
              <a:t>system requirements are </a:t>
            </a:r>
            <a:r>
              <a:rPr lang="en-GB" dirty="0"/>
              <a:t>the descriptions of the system services and constraints that are generated during the requirements engineering process.</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4</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noFill/>
          <a:ln/>
        </p:spPr>
        <p:txBody>
          <a:bodyPr lIns="90487" tIns="44450" rIns="90487" bIns="44450"/>
          <a:lstStyle/>
          <a:p>
            <a:r>
              <a:rPr lang="en-GB"/>
              <a:t>What is a requirement?</a:t>
            </a:r>
          </a:p>
        </p:txBody>
      </p:sp>
      <p:sp>
        <p:nvSpPr>
          <p:cNvPr id="8195" name="Rectangle 3"/>
          <p:cNvSpPr>
            <a:spLocks noGrp="1" noChangeArrowheads="1"/>
          </p:cNvSpPr>
          <p:nvPr>
            <p:ph idx="1"/>
          </p:nvPr>
        </p:nvSpPr>
        <p:spPr>
          <a:noFill/>
          <a:ln/>
        </p:spPr>
        <p:txBody>
          <a:bodyPr lIns="90487" tIns="44450" rIns="90487" bIns="44450"/>
          <a:lstStyle/>
          <a:p>
            <a:pPr>
              <a:lnSpc>
                <a:spcPct val="90000"/>
              </a:lnSpc>
            </a:pPr>
            <a:r>
              <a:rPr lang="en-GB" dirty="0"/>
              <a:t>It may range from a high-level abstract statement of a service or of a system constraint to a detailed mathematical functional specification.</a:t>
            </a:r>
          </a:p>
          <a:p>
            <a:pPr>
              <a:lnSpc>
                <a:spcPct val="90000"/>
              </a:lnSpc>
            </a:pPr>
            <a:r>
              <a:rPr lang="en-GB" dirty="0"/>
              <a:t>This is inevitable as requirements may serve a dual function</a:t>
            </a:r>
          </a:p>
          <a:p>
            <a:pPr lvl="1">
              <a:lnSpc>
                <a:spcPct val="90000"/>
              </a:lnSpc>
            </a:pPr>
            <a:r>
              <a:rPr lang="en-GB" dirty="0"/>
              <a:t>May be the basis for a bid for a contract - therefore must be open to interpretation;</a:t>
            </a:r>
          </a:p>
          <a:p>
            <a:pPr lvl="1">
              <a:lnSpc>
                <a:spcPct val="90000"/>
              </a:lnSpc>
            </a:pPr>
            <a:r>
              <a:rPr lang="en-GB" dirty="0"/>
              <a:t>May be the basis for the contract itself - therefore must be defined in detail;</a:t>
            </a:r>
          </a:p>
          <a:p>
            <a:pPr lvl="1">
              <a:lnSpc>
                <a:spcPct val="90000"/>
              </a:lnSpc>
            </a:pPr>
            <a:r>
              <a:rPr lang="en-GB" dirty="0"/>
              <a:t>Both these statements may be called requirements.</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5</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533400" y="304800"/>
            <a:ext cx="8915400" cy="1104900"/>
          </a:xfrm>
          <a:noFill/>
          <a:ln/>
        </p:spPr>
        <p:txBody>
          <a:bodyPr lIns="90487" tIns="44450" rIns="90487" bIns="44450"/>
          <a:lstStyle/>
          <a:p>
            <a:r>
              <a:rPr lang="en-GB"/>
              <a:t>Types of requirement</a:t>
            </a:r>
          </a:p>
        </p:txBody>
      </p:sp>
      <p:sp>
        <p:nvSpPr>
          <p:cNvPr id="9219" name="Rectangle 3"/>
          <p:cNvSpPr>
            <a:spLocks noGrp="1" noChangeArrowheads="1"/>
          </p:cNvSpPr>
          <p:nvPr>
            <p:ph idx="1"/>
          </p:nvPr>
        </p:nvSpPr>
        <p:spPr>
          <a:noFill/>
          <a:ln/>
        </p:spPr>
        <p:txBody>
          <a:bodyPr lIns="90487" tIns="44450" rIns="90487" bIns="44450"/>
          <a:lstStyle/>
          <a:p>
            <a:r>
              <a:rPr lang="en-GB" dirty="0"/>
              <a:t>User requirements</a:t>
            </a:r>
          </a:p>
          <a:p>
            <a:pPr lvl="1"/>
            <a:r>
              <a:rPr lang="en-GB" dirty="0"/>
              <a:t>Statements in natural language plus diagrams of the services the system provides and its operational constraints. Written for customers.</a:t>
            </a:r>
          </a:p>
          <a:p>
            <a:r>
              <a:rPr lang="en-GB" dirty="0"/>
              <a:t>System requirements</a:t>
            </a:r>
          </a:p>
          <a:p>
            <a:pPr lvl="1"/>
            <a:r>
              <a:rPr lang="en-GB" dirty="0"/>
              <a:t>are more detailed descriptions of the software system’s functions, services, and operational constraints. </a:t>
            </a:r>
            <a:r>
              <a:rPr lang="en-GB" dirty="0" smtClean="0"/>
              <a:t>Defines </a:t>
            </a:r>
            <a:r>
              <a:rPr lang="en-GB" dirty="0"/>
              <a:t>what should be implemented so may be part of a contract between client and contractor.</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6</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p:txBody>
          <a:bodyPr/>
          <a:lstStyle/>
          <a:p>
            <a:pPr eaLnBrk="1" hangingPunct="1"/>
            <a:r>
              <a:rPr lang="en-US" dirty="0" smtClean="0"/>
              <a:t>User and system requirements</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7</a:t>
            </a:fld>
            <a:endParaRPr lang="en-US"/>
          </a:p>
        </p:txBody>
      </p:sp>
      <p:pic>
        <p:nvPicPr>
          <p:cNvPr id="2" name="Picture 1" descr="4.1 UserSysReq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2120" y="1556791"/>
            <a:ext cx="6262207" cy="4830845"/>
          </a:xfrm>
          <a:prstGeom prst="rect">
            <a:avLst/>
          </a:prstGeom>
        </p:spPr>
      </p:pic>
      <p:sp>
        <p:nvSpPr>
          <p:cNvPr id="3" name="Date Placeholder 2"/>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System stakeholders</a:t>
            </a:r>
            <a:endParaRPr lang="en-US" dirty="0"/>
          </a:p>
        </p:txBody>
      </p:sp>
      <p:sp>
        <p:nvSpPr>
          <p:cNvPr id="3" name="Content Placeholder 2"/>
          <p:cNvSpPr>
            <a:spLocks noGrp="1"/>
          </p:cNvSpPr>
          <p:nvPr>
            <p:ph idx="1"/>
          </p:nvPr>
        </p:nvSpPr>
        <p:spPr/>
        <p:txBody>
          <a:bodyPr/>
          <a:lstStyle/>
          <a:p>
            <a:r>
              <a:rPr lang="en-US" dirty="0" smtClean="0"/>
              <a:t>Any person or organization who is affected by the system in some way and so who has a legitimate interest</a:t>
            </a:r>
          </a:p>
          <a:p>
            <a:r>
              <a:rPr lang="en-US" dirty="0" smtClean="0"/>
              <a:t>Stakeholder types</a:t>
            </a:r>
          </a:p>
          <a:p>
            <a:pPr lvl="1"/>
            <a:r>
              <a:rPr lang="en-US" dirty="0" smtClean="0"/>
              <a:t>End users</a:t>
            </a:r>
          </a:p>
          <a:p>
            <a:pPr lvl="1"/>
            <a:r>
              <a:rPr lang="en-US" dirty="0" smtClean="0"/>
              <a:t>System managers</a:t>
            </a:r>
          </a:p>
          <a:p>
            <a:pPr lvl="1"/>
            <a:r>
              <a:rPr lang="en-US" dirty="0" smtClean="0"/>
              <a:t>System owners</a:t>
            </a:r>
          </a:p>
          <a:p>
            <a:pPr lvl="1"/>
            <a:r>
              <a:rPr lang="en-US" dirty="0" smtClean="0"/>
              <a:t>External stakeholders</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8</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1670292469"/>
      </p:ext>
    </p:extLst>
  </p:cSld>
  <p:clrMapOvr>
    <a:masterClrMapping/>
  </p:clrMapOvr>
  <p:transition spd="med">
    <p:wipe dir="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76872"/>
            <a:ext cx="8229600" cy="1143000"/>
          </a:xfrm>
        </p:spPr>
        <p:txBody>
          <a:bodyPr/>
          <a:lstStyle/>
          <a:p>
            <a:pPr algn="ctr"/>
            <a:r>
              <a:rPr lang="en-US" dirty="0" smtClean="0"/>
              <a:t>Functional and non-functional requirements</a:t>
            </a:r>
            <a:endParaRPr lang="en-US" dirty="0"/>
          </a:p>
        </p:txBody>
      </p:sp>
      <p:sp>
        <p:nvSpPr>
          <p:cNvPr id="4" name="Footer Placeholder 3"/>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9</a:t>
            </a:fld>
            <a:endParaRPr lang="en-US"/>
          </a:p>
        </p:txBody>
      </p:sp>
      <p:sp>
        <p:nvSpPr>
          <p:cNvPr id="3" name="Date Placeholder 2"/>
          <p:cNvSpPr>
            <a:spLocks noGrp="1"/>
          </p:cNvSpPr>
          <p:nvPr>
            <p:ph type="dt" sz="half" idx="10"/>
          </p:nvPr>
        </p:nvSpPr>
        <p:spPr/>
        <p:txBody>
          <a:bodyPr/>
          <a:lstStyle/>
          <a:p>
            <a:pPr>
              <a:defRPr/>
            </a:pPr>
            <a:r>
              <a:rPr lang="en-GB" smtClean="0"/>
              <a:t>30/10/2014</a:t>
            </a:r>
            <a:endParaRPr lang="en-US"/>
          </a:p>
        </p:txBody>
      </p:sp>
    </p:spTree>
    <p:extLst>
      <p:ext uri="{BB962C8B-B14F-4D97-AF65-F5344CB8AC3E}">
        <p14:creationId xmlns:p14="http://schemas.microsoft.com/office/powerpoint/2010/main" val="2304085576"/>
      </p:ext>
    </p:extLst>
  </p:cSld>
  <p:clrMapOvr>
    <a:masterClrMapping/>
  </p:clrMapOvr>
  <p:transition spd="med">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381000" y="266700"/>
            <a:ext cx="8382000" cy="1104900"/>
          </a:xfrm>
        </p:spPr>
        <p:txBody>
          <a:bodyPr/>
          <a:lstStyle/>
          <a:p>
            <a:r>
              <a:rPr lang="en-GB" dirty="0"/>
              <a:t>Functional and non-functional requirements</a:t>
            </a:r>
          </a:p>
        </p:txBody>
      </p:sp>
      <p:sp>
        <p:nvSpPr>
          <p:cNvPr id="34819" name="Rectangle 3"/>
          <p:cNvSpPr>
            <a:spLocks noGrp="1" noChangeArrowheads="1"/>
          </p:cNvSpPr>
          <p:nvPr>
            <p:ph idx="1"/>
          </p:nvPr>
        </p:nvSpPr>
        <p:spPr>
          <a:xfrm>
            <a:off x="457200" y="1798637"/>
            <a:ext cx="8229600" cy="4525963"/>
          </a:xfrm>
        </p:spPr>
        <p:txBody>
          <a:bodyPr/>
          <a:lstStyle/>
          <a:p>
            <a:pPr>
              <a:lnSpc>
                <a:spcPct val="90000"/>
              </a:lnSpc>
            </a:pPr>
            <a:r>
              <a:rPr lang="en-GB" sz="2400" dirty="0"/>
              <a:t>Functional requirements</a:t>
            </a:r>
          </a:p>
          <a:p>
            <a:pPr lvl="1">
              <a:lnSpc>
                <a:spcPct val="90000"/>
              </a:lnSpc>
            </a:pPr>
            <a:r>
              <a:rPr lang="en-GB" sz="2000" dirty="0"/>
              <a:t>Statements of services the system should provide, how the system should react to particular inputs and how the system should behave in particular situations</a:t>
            </a:r>
            <a:r>
              <a:rPr lang="en-GB" sz="2000" dirty="0" smtClean="0"/>
              <a:t>.</a:t>
            </a:r>
          </a:p>
          <a:p>
            <a:pPr lvl="1">
              <a:lnSpc>
                <a:spcPct val="90000"/>
              </a:lnSpc>
            </a:pPr>
            <a:r>
              <a:rPr lang="en-GB" dirty="0" smtClean="0"/>
              <a:t>May state what the system should not do.</a:t>
            </a:r>
            <a:endParaRPr lang="en-GB" sz="2000" dirty="0" smtClean="0"/>
          </a:p>
          <a:p>
            <a:pPr>
              <a:lnSpc>
                <a:spcPct val="90000"/>
              </a:lnSpc>
            </a:pPr>
            <a:r>
              <a:rPr lang="en-GB" sz="2400" dirty="0"/>
              <a:t>Non-functional requirements</a:t>
            </a:r>
            <a:endParaRPr lang="en-GB" sz="2400" dirty="0" smtClean="0"/>
          </a:p>
          <a:p>
            <a:pPr lvl="1">
              <a:lnSpc>
                <a:spcPct val="90000"/>
              </a:lnSpc>
            </a:pPr>
            <a:r>
              <a:rPr lang="en-GB" dirty="0"/>
              <a:t>C</a:t>
            </a:r>
            <a:r>
              <a:rPr lang="en-GB" sz="2000" dirty="0" smtClean="0"/>
              <a:t>onstraints </a:t>
            </a:r>
            <a:r>
              <a:rPr lang="en-GB" sz="2000" dirty="0"/>
              <a:t>on the services or functions offered by the system such as timing constraints, constraints on the development process, standards, etc</a:t>
            </a:r>
            <a:r>
              <a:rPr lang="en-GB" sz="2000" dirty="0" smtClean="0"/>
              <a:t>.</a:t>
            </a:r>
          </a:p>
          <a:p>
            <a:pPr lvl="1">
              <a:lnSpc>
                <a:spcPct val="90000"/>
              </a:lnSpc>
            </a:pPr>
            <a:r>
              <a:rPr lang="en-GB" dirty="0" smtClean="0"/>
              <a:t>Often apply to the system as a whole rather than individual features or services.</a:t>
            </a:r>
          </a:p>
          <a:p>
            <a:pPr>
              <a:lnSpc>
                <a:spcPct val="90000"/>
              </a:lnSpc>
            </a:pPr>
            <a:r>
              <a:rPr lang="en-GB" sz="2400" dirty="0" smtClean="0"/>
              <a:t>Domain requirements</a:t>
            </a:r>
          </a:p>
          <a:p>
            <a:pPr lvl="1">
              <a:lnSpc>
                <a:spcPct val="90000"/>
              </a:lnSpc>
            </a:pPr>
            <a:r>
              <a:rPr lang="en-GB" sz="2000" dirty="0" smtClean="0"/>
              <a:t>Constraints on the system from the domain </a:t>
            </a:r>
            <a:r>
              <a:rPr lang="en-GB" dirty="0" smtClean="0"/>
              <a:t>of operation</a:t>
            </a:r>
            <a:endParaRPr lang="en-GB" sz="2000" dirty="0" smtClean="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10</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r>
              <a:rPr lang="en-GB"/>
              <a:t>Functional requirements</a:t>
            </a:r>
          </a:p>
        </p:txBody>
      </p:sp>
      <p:sp>
        <p:nvSpPr>
          <p:cNvPr id="39939" name="Rectangle 3"/>
          <p:cNvSpPr>
            <a:spLocks noGrp="1" noChangeArrowheads="1"/>
          </p:cNvSpPr>
          <p:nvPr>
            <p:ph idx="1"/>
          </p:nvPr>
        </p:nvSpPr>
        <p:spPr/>
        <p:txBody>
          <a:bodyPr/>
          <a:lstStyle/>
          <a:p>
            <a:r>
              <a:rPr lang="en-GB" dirty="0"/>
              <a:t>Describe functionality or system services.</a:t>
            </a:r>
          </a:p>
          <a:p>
            <a:r>
              <a:rPr lang="en-GB" dirty="0"/>
              <a:t>Depend on the type of software, expected users and the type of system where the software is used.</a:t>
            </a:r>
          </a:p>
          <a:p>
            <a:r>
              <a:rPr lang="en-GB" dirty="0"/>
              <a:t>Functional user requirements may be high-level statements of what the system should </a:t>
            </a:r>
            <a:r>
              <a:rPr lang="en-GB" dirty="0" smtClean="0"/>
              <a:t>do.</a:t>
            </a:r>
          </a:p>
          <a:p>
            <a:r>
              <a:rPr lang="en-GB" dirty="0" smtClean="0"/>
              <a:t>Functional </a:t>
            </a:r>
            <a:r>
              <a:rPr lang="en-GB" dirty="0"/>
              <a:t>system requirements should describe the system services in detail.</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11</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r>
              <a:rPr lang="en-GB" dirty="0"/>
              <a:t>Requirements completeness and consistency</a:t>
            </a:r>
          </a:p>
        </p:txBody>
      </p:sp>
      <p:sp>
        <p:nvSpPr>
          <p:cNvPr id="43011" name="Rectangle 3"/>
          <p:cNvSpPr>
            <a:spLocks noGrp="1" noChangeArrowheads="1"/>
          </p:cNvSpPr>
          <p:nvPr>
            <p:ph idx="1"/>
          </p:nvPr>
        </p:nvSpPr>
        <p:spPr/>
        <p:txBody>
          <a:bodyPr/>
          <a:lstStyle/>
          <a:p>
            <a:r>
              <a:rPr lang="en-GB" sz="2400" dirty="0"/>
              <a:t>In principle, requirements should be both complete and consistent.</a:t>
            </a:r>
          </a:p>
          <a:p>
            <a:r>
              <a:rPr lang="en-GB" sz="2400" dirty="0"/>
              <a:t>Complete</a:t>
            </a:r>
          </a:p>
          <a:p>
            <a:pPr lvl="1"/>
            <a:r>
              <a:rPr lang="en-GB" dirty="0"/>
              <a:t>They should include descriptions of all facilities required.</a:t>
            </a:r>
          </a:p>
          <a:p>
            <a:r>
              <a:rPr lang="en-GB" sz="2400" dirty="0"/>
              <a:t>Consistent</a:t>
            </a:r>
          </a:p>
          <a:p>
            <a:pPr lvl="1"/>
            <a:r>
              <a:rPr lang="en-GB" dirty="0"/>
              <a:t>There should be no conflicts or contradictions in the descriptions of the system facilities.</a:t>
            </a:r>
          </a:p>
          <a:p>
            <a:r>
              <a:rPr lang="en-GB" sz="2400" dirty="0"/>
              <a:t>In practice, </a:t>
            </a:r>
            <a:r>
              <a:rPr lang="en-GB" sz="2400" dirty="0" smtClean="0"/>
              <a:t>because of system and environmental complexity, it </a:t>
            </a:r>
            <a:r>
              <a:rPr lang="en-GB" sz="2400" dirty="0"/>
              <a:t>is impossible to produce a complete and consistent requirements document.</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12</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noFill/>
          <a:ln/>
        </p:spPr>
        <p:txBody>
          <a:bodyPr lIns="90487" tIns="44450" rIns="90487" bIns="44450"/>
          <a:lstStyle/>
          <a:p>
            <a:r>
              <a:rPr lang="en-GB"/>
              <a:t>Non-functional requirements</a:t>
            </a:r>
          </a:p>
        </p:txBody>
      </p:sp>
      <p:sp>
        <p:nvSpPr>
          <p:cNvPr id="35843" name="Rectangle 3"/>
          <p:cNvSpPr>
            <a:spLocks noGrp="1" noChangeArrowheads="1"/>
          </p:cNvSpPr>
          <p:nvPr>
            <p:ph idx="1"/>
          </p:nvPr>
        </p:nvSpPr>
        <p:spPr>
          <a:noFill/>
          <a:ln/>
        </p:spPr>
        <p:txBody>
          <a:bodyPr lIns="90487" tIns="44450" rIns="90487" bIns="44450"/>
          <a:lstStyle/>
          <a:p>
            <a:pPr>
              <a:lnSpc>
                <a:spcPct val="90000"/>
              </a:lnSpc>
            </a:pPr>
            <a:r>
              <a:rPr lang="en-GB" dirty="0"/>
              <a:t>These define system properties and constraints e.g. reliability, response time and storage requirements. Constraints are I/O device capability, system representations, etc.</a:t>
            </a:r>
          </a:p>
          <a:p>
            <a:pPr>
              <a:lnSpc>
                <a:spcPct val="90000"/>
              </a:lnSpc>
            </a:pPr>
            <a:r>
              <a:rPr lang="en-GB" dirty="0"/>
              <a:t>Process requirements may also be specified mandating a particular</a:t>
            </a:r>
            <a:r>
              <a:rPr lang="en-GB" dirty="0" smtClean="0"/>
              <a:t> IDE, </a:t>
            </a:r>
            <a:r>
              <a:rPr lang="en-GB" dirty="0"/>
              <a:t>programming language or development method.</a:t>
            </a:r>
          </a:p>
          <a:p>
            <a:pPr>
              <a:lnSpc>
                <a:spcPct val="90000"/>
              </a:lnSpc>
            </a:pPr>
            <a:r>
              <a:rPr lang="en-GB" dirty="0"/>
              <a:t>Non-functional requirements may be more critical than functional requirements. If these are not met, the system</a:t>
            </a:r>
            <a:r>
              <a:rPr lang="en-GB" dirty="0" smtClean="0"/>
              <a:t> may be useless</a:t>
            </a:r>
            <a:r>
              <a:rPr lang="en-GB" dirty="0"/>
              <a:t>.</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13</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US" dirty="0" smtClean="0"/>
              <a:t>Types of nonfunctional requirement</a:t>
            </a:r>
            <a:r>
              <a:rPr lang="en-GB" dirty="0" smtClean="0"/>
              <a:t> </a:t>
            </a:r>
            <a:endParaRPr lang="en-US" dirty="0" smtClean="0"/>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14</a:t>
            </a:fld>
            <a:endParaRPr lang="en-US"/>
          </a:p>
        </p:txBody>
      </p:sp>
      <p:pic>
        <p:nvPicPr>
          <p:cNvPr id="4" name="Picture 3" descr="4.3 Non-functionalReq.eps"/>
          <p:cNvPicPr>
            <a:picLocks noChangeAspect="1"/>
          </p:cNvPicPr>
          <p:nvPr/>
        </p:nvPicPr>
        <p:blipFill>
          <a:blip r:embed="rId2"/>
          <a:stretch>
            <a:fillRect/>
          </a:stretch>
        </p:blipFill>
        <p:spPr>
          <a:xfrm>
            <a:off x="990600" y="1911350"/>
            <a:ext cx="6915549" cy="3879850"/>
          </a:xfrm>
          <a:prstGeom prst="rect">
            <a:avLst/>
          </a:prstGeom>
        </p:spPr>
      </p:pic>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Non-functional requirements implementation</a:t>
            </a:r>
            <a:endParaRPr lang="en-US" dirty="0"/>
          </a:p>
        </p:txBody>
      </p:sp>
      <p:sp>
        <p:nvSpPr>
          <p:cNvPr id="3" name="Content Placeholder 2"/>
          <p:cNvSpPr>
            <a:spLocks noGrp="1"/>
          </p:cNvSpPr>
          <p:nvPr>
            <p:ph idx="1"/>
          </p:nvPr>
        </p:nvSpPr>
        <p:spPr/>
        <p:txBody>
          <a:bodyPr/>
          <a:lstStyle/>
          <a:p>
            <a:r>
              <a:rPr lang="en-US" dirty="0" smtClean="0"/>
              <a:t>Non-functional requirements may affect the overall architecture of a system rather than the individual components. </a:t>
            </a:r>
          </a:p>
          <a:p>
            <a:pPr lvl="1"/>
            <a:r>
              <a:rPr lang="en-US" dirty="0" smtClean="0"/>
              <a:t>For example, to ensure that performance requirements are met, you may have to organize the system to minimize communications between components.</a:t>
            </a:r>
            <a:endParaRPr lang="en-GB" dirty="0" smtClean="0"/>
          </a:p>
          <a:p>
            <a:r>
              <a:rPr lang="en-US" dirty="0" smtClean="0"/>
              <a:t>A single non-functional requirement, such as a security requirement, may generate a number of related functional requirements that define system services that are required. </a:t>
            </a:r>
          </a:p>
          <a:p>
            <a:pPr lvl="1"/>
            <a:r>
              <a:rPr lang="en-US" dirty="0" smtClean="0"/>
              <a:t>It may also generate requirements that restrict existing requirements. </a:t>
            </a:r>
            <a:endParaRPr lang="en-US"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15</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GB"/>
              <a:t>Goals and requirements</a:t>
            </a:r>
          </a:p>
        </p:txBody>
      </p:sp>
      <p:sp>
        <p:nvSpPr>
          <p:cNvPr id="44035" name="Rectangle 3"/>
          <p:cNvSpPr>
            <a:spLocks noGrp="1" noChangeArrowheads="1"/>
          </p:cNvSpPr>
          <p:nvPr>
            <p:ph idx="1"/>
          </p:nvPr>
        </p:nvSpPr>
        <p:spPr/>
        <p:txBody>
          <a:bodyPr/>
          <a:lstStyle/>
          <a:p>
            <a:r>
              <a:rPr lang="en-GB" sz="2400"/>
              <a:t>Non-functional requirements may be very difficult to state precisely and imprecise requirements may be difficult to verify. </a:t>
            </a:r>
          </a:p>
          <a:p>
            <a:r>
              <a:rPr lang="en-GB" sz="2400"/>
              <a:t>Goal</a:t>
            </a:r>
          </a:p>
          <a:p>
            <a:pPr lvl="1"/>
            <a:r>
              <a:rPr lang="en-GB" sz="2000"/>
              <a:t>A general intention of the user such as ease of use.</a:t>
            </a:r>
          </a:p>
          <a:p>
            <a:r>
              <a:rPr lang="en-GB" sz="2400"/>
              <a:t>Verifiable non-functional requirement</a:t>
            </a:r>
          </a:p>
          <a:p>
            <a:pPr lvl="1"/>
            <a:r>
              <a:rPr lang="en-GB" sz="2000"/>
              <a:t>A statement using some measure that can be objectively tested.</a:t>
            </a:r>
          </a:p>
          <a:p>
            <a:r>
              <a:rPr lang="en-GB" sz="2400"/>
              <a:t>Goals are helpful to developers as they convey the intentions of the system users.</a:t>
            </a:r>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16</a:t>
            </a:fld>
            <a:endParaRPr lang="en-US"/>
          </a:p>
        </p:txBody>
      </p:sp>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Usability requirements</a:t>
            </a:r>
            <a:endParaRPr lang="en-US" dirty="0"/>
          </a:p>
        </p:txBody>
      </p:sp>
      <p:sp>
        <p:nvSpPr>
          <p:cNvPr id="3" name="Content Placeholder 2"/>
          <p:cNvSpPr>
            <a:spLocks noGrp="1"/>
          </p:cNvSpPr>
          <p:nvPr>
            <p:ph idx="1"/>
          </p:nvPr>
        </p:nvSpPr>
        <p:spPr/>
        <p:txBody>
          <a:bodyPr/>
          <a:lstStyle/>
          <a:p>
            <a:r>
              <a:rPr lang="en-US" dirty="0" smtClean="0"/>
              <a:t>The system should be easy to use by medical staff and should be organized in such a way that user errors are minimized. (Goal)</a:t>
            </a:r>
          </a:p>
          <a:p>
            <a:r>
              <a:rPr lang="en-US" dirty="0" smtClean="0"/>
              <a:t>Medical staff shall be able to use all the system functions after four hours of training. After this training, the average number of errors made by experienced users shall not exceed two per hour of system use. (Testable non-functional requirement)</a:t>
            </a:r>
            <a:endParaRPr lang="en-GB" dirty="0" smtClean="0"/>
          </a:p>
          <a:p>
            <a:endParaRPr lang="en-GB" dirty="0" smtClean="0"/>
          </a:p>
          <a:p>
            <a:endParaRPr lang="en-US" dirty="0"/>
          </a:p>
        </p:txBody>
      </p:sp>
      <p:sp>
        <p:nvSpPr>
          <p:cNvPr id="5" name="Footer Placeholder 4"/>
          <p:cNvSpPr>
            <a:spLocks noGrp="1"/>
          </p:cNvSpPr>
          <p:nvPr>
            <p:ph type="ftr" sz="quarter" idx="11"/>
          </p:nvPr>
        </p:nvSpPr>
        <p:spPr/>
        <p:txBody>
          <a:bodyPr/>
          <a:lstStyle/>
          <a:p>
            <a:pPr>
              <a:defRPr/>
            </a:pPr>
            <a:r>
              <a:rPr lang="en-US" smtClean="0"/>
              <a:t>Chapter 4 Requirements Engineering</a:t>
            </a:r>
            <a:endParaRPr lang="en-US"/>
          </a:p>
        </p:txBody>
      </p:sp>
      <p:sp>
        <p:nvSpPr>
          <p:cNvPr id="4" name="Slide Number Placeholder 3"/>
          <p:cNvSpPr>
            <a:spLocks noGrp="1"/>
          </p:cNvSpPr>
          <p:nvPr>
            <p:ph type="sldNum" sz="quarter" idx="12"/>
          </p:nvPr>
        </p:nvSpPr>
        <p:spPr/>
        <p:txBody>
          <a:bodyPr/>
          <a:lstStyle/>
          <a:p>
            <a:pPr>
              <a:defRPr/>
            </a:pPr>
            <a:fld id="{825F70CE-84E9-D04C-9B15-10C693AA0F2A}" type="slidenum">
              <a:rPr lang="en-US" smtClean="0"/>
              <a:pPr>
                <a:defRPr/>
              </a:pPr>
              <a:t>17</a:t>
            </a:fld>
            <a:endParaRPr lang="en-US"/>
          </a:p>
        </p:txBody>
      </p:sp>
      <p:sp>
        <p:nvSpPr>
          <p:cNvPr id="6" name="Date Placeholder 5"/>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pPr eaLnBrk="1" hangingPunct="1"/>
            <a:r>
              <a:rPr lang="en-US" dirty="0" smtClean="0"/>
              <a:t>Metrics for specifying nonfunctional requirements</a:t>
            </a:r>
          </a:p>
        </p:txBody>
      </p:sp>
      <p:sp>
        <p:nvSpPr>
          <p:cNvPr id="6" name="Footer Placeholder 5"/>
          <p:cNvSpPr>
            <a:spLocks noGrp="1"/>
          </p:cNvSpPr>
          <p:nvPr>
            <p:ph type="ftr" sz="quarter" idx="11"/>
          </p:nvPr>
        </p:nvSpPr>
        <p:spPr/>
        <p:txBody>
          <a:bodyPr/>
          <a:lstStyle/>
          <a:p>
            <a:pPr>
              <a:defRPr/>
            </a:pPr>
            <a:r>
              <a:rPr lang="en-US" smtClean="0"/>
              <a:t>Chapter 4 Requirements Engineering</a:t>
            </a:r>
            <a:endParaRPr lang="en-US"/>
          </a:p>
        </p:txBody>
      </p:sp>
      <p:sp>
        <p:nvSpPr>
          <p:cNvPr id="5" name="Slide Number Placeholder 4"/>
          <p:cNvSpPr>
            <a:spLocks noGrp="1"/>
          </p:cNvSpPr>
          <p:nvPr>
            <p:ph type="sldNum" sz="quarter" idx="12"/>
          </p:nvPr>
        </p:nvSpPr>
        <p:spPr/>
        <p:txBody>
          <a:bodyPr/>
          <a:lstStyle/>
          <a:p>
            <a:pPr>
              <a:defRPr/>
            </a:pPr>
            <a:fld id="{825F70CE-84E9-D04C-9B15-10C693AA0F2A}" type="slidenum">
              <a:rPr lang="en-US" smtClean="0"/>
              <a:pPr>
                <a:defRPr/>
              </a:pPr>
              <a:t>18</a:t>
            </a:fld>
            <a:endParaRPr lang="en-US"/>
          </a:p>
        </p:txBody>
      </p:sp>
      <p:graphicFrame>
        <p:nvGraphicFramePr>
          <p:cNvPr id="4" name="Table 3"/>
          <p:cNvGraphicFramePr>
            <a:graphicFrameLocks noGrp="1"/>
          </p:cNvGraphicFramePr>
          <p:nvPr/>
        </p:nvGraphicFramePr>
        <p:xfrm>
          <a:off x="990600" y="1600200"/>
          <a:ext cx="7620000" cy="4876800"/>
        </p:xfrm>
        <a:graphic>
          <a:graphicData uri="http://schemas.openxmlformats.org/drawingml/2006/table">
            <a:tbl>
              <a:tblPr/>
              <a:tblGrid>
                <a:gridCol w="2952750"/>
                <a:gridCol w="4667250"/>
              </a:tblGrid>
              <a:tr h="397418">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Property</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1" i="0" u="none" strike="noStrike" cap="none" normalizeH="0" baseline="0" dirty="0" smtClean="0">
                          <a:ln>
                            <a:noFill/>
                          </a:ln>
                          <a:solidFill>
                            <a:srgbClr val="000000"/>
                          </a:solidFill>
                          <a:effectLst/>
                          <a:latin typeface="Arial"/>
                          <a:ea typeface="Times New Roman" charset="0"/>
                          <a:cs typeface="Arial"/>
                        </a:rPr>
                        <a:t>Measure</a:t>
                      </a:r>
                    </a:p>
                  </a:txBody>
                  <a:tcPr marL="73025" marR="73025" marT="9144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smtClean="0">
                          <a:ln>
                            <a:noFill/>
                          </a:ln>
                          <a:solidFill>
                            <a:srgbClr val="000000"/>
                          </a:solidFill>
                          <a:effectLst/>
                          <a:latin typeface="Arial"/>
                          <a:ea typeface="Times New Roman" charset="0"/>
                          <a:cs typeface="Arial"/>
                        </a:rPr>
                        <a:t>Speed</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Processed transactions/second</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User/event response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Screen refresh time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Size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Mbytes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ROM chips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Ease of use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Training time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help frames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880433">
                <a:tc>
                  <a:txBody>
                    <a:bodyPr/>
                    <a:lstStyle/>
                    <a:p>
                      <a:pPr marL="0" marR="0" lvl="0" indent="0" algn="l"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Reliability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Mean time to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unavailability</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Rate of failure occurrence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Availability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684781">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Robustness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Time to restart after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events causing failure</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Probability of data corruption on failure</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489129">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a:ln>
                            <a:noFill/>
                          </a:ln>
                          <a:solidFill>
                            <a:srgbClr val="000000"/>
                          </a:solidFill>
                          <a:effectLst/>
                          <a:latin typeface="Arial"/>
                          <a:ea typeface="Times New Roman" charset="0"/>
                          <a:cs typeface="Arial"/>
                        </a:rPr>
                        <a:t>Portability</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Percentage of target dependent statements</a:t>
                      </a:r>
                    </a:p>
                    <a:p>
                      <a:pPr marL="0" marR="0" lvl="0" indent="0" algn="just" defTabSz="457200" rtl="0" eaLnBrk="1" fontAlgn="base" latinLnBrk="0" hangingPunct="1">
                        <a:lnSpc>
                          <a:spcPct val="100000"/>
                        </a:lnSpc>
                        <a:spcBef>
                          <a:spcPct val="0"/>
                        </a:spcBef>
                        <a:spcAft>
                          <a:spcPct val="0"/>
                        </a:spcAft>
                        <a:buClrTx/>
                        <a:buSzTx/>
                        <a:buFontTx/>
                        <a:buNone/>
                        <a:tabLst/>
                      </a:pPr>
                      <a:r>
                        <a:rPr kumimoji="0" lang="en-GB" sz="1600" b="0" i="0" u="none" strike="noStrike" cap="none" normalizeH="0" baseline="0" dirty="0">
                          <a:ln>
                            <a:noFill/>
                          </a:ln>
                          <a:solidFill>
                            <a:srgbClr val="000000"/>
                          </a:solidFill>
                          <a:effectLst/>
                          <a:latin typeface="Arial"/>
                          <a:ea typeface="Times New Roman" charset="0"/>
                          <a:cs typeface="Arial"/>
                        </a:rPr>
                        <a:t>Number of target systems</a:t>
                      </a:r>
                    </a:p>
                  </a:txBody>
                  <a:tcPr marL="73025" marR="73025" marT="0" marB="9144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bl>
          </a:graphicData>
        </a:graphic>
      </p:graphicFrame>
      <p:sp>
        <p:nvSpPr>
          <p:cNvPr id="2" name="Date Placeholder 1"/>
          <p:cNvSpPr>
            <a:spLocks noGrp="1"/>
          </p:cNvSpPr>
          <p:nvPr>
            <p:ph type="dt" sz="half" idx="10"/>
          </p:nvPr>
        </p:nvSpPr>
        <p:spPr/>
        <p:txBody>
          <a:bodyPr/>
          <a:lstStyle/>
          <a:p>
            <a:pPr>
              <a:defRPr/>
            </a:pPr>
            <a:r>
              <a:rPr lang="en-GB" smtClean="0"/>
              <a:t>30/10/2014</a:t>
            </a:r>
            <a:endParaRPr lang="en-US"/>
          </a:p>
        </p:txBody>
      </p:sp>
    </p:spTree>
  </p:cSld>
  <p:clrMapOvr>
    <a:masterClrMapping/>
  </p:clrMapOvr>
  <p:transition spd="med">
    <p:wipe dir="r"/>
  </p:transition>
  <p:timing>
    <p:tnLst>
      <p:par>
        <p:cTn id="1" dur="indefinite" restart="never" nodeType="tmRoot"/>
      </p:par>
    </p:tnLst>
  </p:timing>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4887</TotalTime>
  <Words>957</Words>
  <Application>Microsoft Office PowerPoint</Application>
  <PresentationFormat>On-screen Show (4:3)</PresentationFormat>
  <Paragraphs>157</Paragraphs>
  <Slides>18</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ＭＳ Ｐゴシック</vt:lpstr>
      <vt:lpstr>Arial</vt:lpstr>
      <vt:lpstr>Calibri</vt:lpstr>
      <vt:lpstr>Times New Roman</vt:lpstr>
      <vt:lpstr>Wingdings</vt:lpstr>
      <vt:lpstr>SE10 slides</vt:lpstr>
      <vt:lpstr>Chapter 4 – Requirements Engineering</vt:lpstr>
      <vt:lpstr>Requirements</vt:lpstr>
      <vt:lpstr>Topics covered</vt:lpstr>
      <vt:lpstr>Requirements engineering</vt:lpstr>
      <vt:lpstr>What is a requirement?</vt:lpstr>
      <vt:lpstr>Types of requirement</vt:lpstr>
      <vt:lpstr>User and system requirements </vt:lpstr>
      <vt:lpstr>System stakeholders</vt:lpstr>
      <vt:lpstr>Functional and non-functional requirements</vt:lpstr>
      <vt:lpstr>Functional and non-functional requirements</vt:lpstr>
      <vt:lpstr>Functional requirements</vt:lpstr>
      <vt:lpstr>Requirements completeness and consistency</vt:lpstr>
      <vt:lpstr>Non-functional requirements</vt:lpstr>
      <vt:lpstr>Types of nonfunctional requirement </vt:lpstr>
      <vt:lpstr>Non-functional requirements implementation</vt:lpstr>
      <vt:lpstr>Goals and requirements</vt:lpstr>
      <vt:lpstr>Usability requirements</vt:lpstr>
      <vt:lpstr>Metrics for specifying nonfunctional requirements</vt:lpstr>
    </vt:vector>
  </TitlesOfParts>
  <Company>St Andrews University</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4</dc:title>
  <dc:creator>Ian Sommerville</dc:creator>
  <cp:lastModifiedBy>Microsoft account</cp:lastModifiedBy>
  <cp:revision>38</cp:revision>
  <cp:lastPrinted>2010-01-11T10:54:43Z</cp:lastPrinted>
  <dcterms:created xsi:type="dcterms:W3CDTF">2010-01-08T19:43:52Z</dcterms:created>
  <dcterms:modified xsi:type="dcterms:W3CDTF">2022-10-17T07:13:05Z</dcterms:modified>
</cp:coreProperties>
</file>