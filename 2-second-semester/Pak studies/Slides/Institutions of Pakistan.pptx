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AADB-F8A0-4935-B8FB-BE3AC18BBD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326878-45B2-4D3A-9A6A-456ABCD265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837CBF-4B49-4ABA-B0DA-4153A5BC9524}"/>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5" name="Footer Placeholder 4">
            <a:extLst>
              <a:ext uri="{FF2B5EF4-FFF2-40B4-BE49-F238E27FC236}">
                <a16:creationId xmlns:a16="http://schemas.microsoft.com/office/drawing/2014/main" id="{684EFBD2-FC50-4D7A-9988-708AFD64EA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2E2BB-4029-453A-B1E8-AE8F949B4E47}"/>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3442442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195A-40E0-4C23-8810-13ABC78435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306CB1-45E5-48E1-A78F-050402E29C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53E3CC-013B-4006-BAFD-EEFB396FE4EE}"/>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5" name="Footer Placeholder 4">
            <a:extLst>
              <a:ext uri="{FF2B5EF4-FFF2-40B4-BE49-F238E27FC236}">
                <a16:creationId xmlns:a16="http://schemas.microsoft.com/office/drawing/2014/main" id="{A59DEEB0-99AC-45A5-9662-332E6B604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2827F9-1603-4F92-897D-1E8934048184}"/>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16306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A2B1-1AB7-4952-968A-91BEC8F6F9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9F8C95-5B6A-4B66-9DB1-B3724B8D09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2C50B8-6367-4CEC-8E9D-BB7B2A5236A7}"/>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5" name="Footer Placeholder 4">
            <a:extLst>
              <a:ext uri="{FF2B5EF4-FFF2-40B4-BE49-F238E27FC236}">
                <a16:creationId xmlns:a16="http://schemas.microsoft.com/office/drawing/2014/main" id="{BFB0ED47-09D5-42F3-B30E-AB56D1482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DADD89-B044-4B78-92C1-70268BB07888}"/>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56124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12A9-6B90-4108-B0EE-AFDDB00402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92BCFC-A182-4A19-91C9-A0EF640758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91B83C-05CD-4EC6-AC37-02A82E0B83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8925C7-377A-4F55-81AB-AE897EF2C991}"/>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6" name="Footer Placeholder 5">
            <a:extLst>
              <a:ext uri="{FF2B5EF4-FFF2-40B4-BE49-F238E27FC236}">
                <a16:creationId xmlns:a16="http://schemas.microsoft.com/office/drawing/2014/main" id="{39CE2ACE-617D-466F-8D1C-C305848AD3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B6A8E2-A4F8-4A3A-98C4-DDA158451B1B}"/>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34162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D40E-F805-46DC-B729-D153C007D2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E62D1A-BB5E-4E3D-9C40-7B4118387F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3C689D-CEF5-44BB-825C-55B706E0CC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4ECC4E-F59F-4478-BD55-F31B81C414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B7EF8-A5DE-4BFF-8993-A1CF0D6C60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637E80-4AD2-423D-91F5-E448E1B88522}"/>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8" name="Footer Placeholder 7">
            <a:extLst>
              <a:ext uri="{FF2B5EF4-FFF2-40B4-BE49-F238E27FC236}">
                <a16:creationId xmlns:a16="http://schemas.microsoft.com/office/drawing/2014/main" id="{6F82B588-6DEC-4925-8A8A-6917BA028D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96ADBF-6449-4D3D-B486-BA4E278F902D}"/>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1661230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CCE7-5111-4695-92E7-CF8A46CA85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CC72FE-7A13-40AC-97CA-69418408617C}"/>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4" name="Footer Placeholder 3">
            <a:extLst>
              <a:ext uri="{FF2B5EF4-FFF2-40B4-BE49-F238E27FC236}">
                <a16:creationId xmlns:a16="http://schemas.microsoft.com/office/drawing/2014/main" id="{1FB0A243-5480-456E-87EA-2C72E88E71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B65F29-B937-49BC-B077-699A1C49233E}"/>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1711368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651178-D54F-4F38-9AE2-D6A57C007F04}"/>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3" name="Footer Placeholder 2">
            <a:extLst>
              <a:ext uri="{FF2B5EF4-FFF2-40B4-BE49-F238E27FC236}">
                <a16:creationId xmlns:a16="http://schemas.microsoft.com/office/drawing/2014/main" id="{1C602F11-046A-439C-9BF5-9E61494D34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2C299F-BB1E-4BC9-966A-574D08F89EC2}"/>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3063259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36A5F-8473-4BB9-9D01-BAE8F0D5A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98D3D5-1014-480A-A617-3A9673C76D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BE6338-9FBD-49C7-BFDA-3E813963F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DDD0E-0E49-42A2-8F24-FA75973FADCB}"/>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6" name="Footer Placeholder 5">
            <a:extLst>
              <a:ext uri="{FF2B5EF4-FFF2-40B4-BE49-F238E27FC236}">
                <a16:creationId xmlns:a16="http://schemas.microsoft.com/office/drawing/2014/main" id="{D61A53CB-206F-42A3-AC78-28FA0E0473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792DCE-C281-42D7-91E3-1B604397B6DB}"/>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2987825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E68FD-0B4C-4A1C-86CC-797C2C4129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42B658-442F-450D-999D-07AD33D6CB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4D8405-DD51-42F5-89C5-9388BE6D53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9C5D43-A30A-4DD1-AD07-6E2F0C7F4DE1}"/>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6" name="Footer Placeholder 5">
            <a:extLst>
              <a:ext uri="{FF2B5EF4-FFF2-40B4-BE49-F238E27FC236}">
                <a16:creationId xmlns:a16="http://schemas.microsoft.com/office/drawing/2014/main" id="{927183E2-7541-465A-8A63-0306F04B86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F5443C-E1E8-4724-891A-2E6381D8D8FA}"/>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3294894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24CEC-BA68-4DC5-89C2-6B9053ED31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543BAD-A173-4047-81F4-D8AF32E9A6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F6C260-73BA-445F-A5A2-391E656FABFB}"/>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5" name="Footer Placeholder 4">
            <a:extLst>
              <a:ext uri="{FF2B5EF4-FFF2-40B4-BE49-F238E27FC236}">
                <a16:creationId xmlns:a16="http://schemas.microsoft.com/office/drawing/2014/main" id="{C9714546-DBBA-478B-A039-75E44B259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61E711-DE4B-4D45-A7FE-A155A444FC3D}"/>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2328570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CDBCC2-1671-4B5D-B435-2C68DD9C67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93A864-C90E-4952-B39C-3359924FB6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5F6564-C925-41E5-9A1B-1374D5F382DD}"/>
              </a:ext>
            </a:extLst>
          </p:cNvPr>
          <p:cNvSpPr>
            <a:spLocks noGrp="1"/>
          </p:cNvSpPr>
          <p:nvPr>
            <p:ph type="dt" sz="half" idx="10"/>
          </p:nvPr>
        </p:nvSpPr>
        <p:spPr/>
        <p:txBody>
          <a:bodyPr/>
          <a:lstStyle/>
          <a:p>
            <a:fld id="{1F7AD788-0793-4ED0-9339-A6AB6D48710F}" type="datetimeFigureOut">
              <a:rPr lang="en-US" smtClean="0"/>
              <a:t>9/30/2020</a:t>
            </a:fld>
            <a:endParaRPr lang="en-US"/>
          </a:p>
        </p:txBody>
      </p:sp>
      <p:sp>
        <p:nvSpPr>
          <p:cNvPr id="5" name="Footer Placeholder 4">
            <a:extLst>
              <a:ext uri="{FF2B5EF4-FFF2-40B4-BE49-F238E27FC236}">
                <a16:creationId xmlns:a16="http://schemas.microsoft.com/office/drawing/2014/main" id="{375059A1-A4F0-4C6E-845F-EF7E57230D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7A538B-71D5-49A9-9AD4-A4B526ADAD8D}"/>
              </a:ext>
            </a:extLst>
          </p:cNvPr>
          <p:cNvSpPr>
            <a:spLocks noGrp="1"/>
          </p:cNvSpPr>
          <p:nvPr>
            <p:ph type="sldNum" sz="quarter" idx="12"/>
          </p:nvPr>
        </p:nvSpPr>
        <p:spPr/>
        <p:txBody>
          <a:bodyPr/>
          <a:lstStyle/>
          <a:p>
            <a:fld id="{E224F900-8964-46EE-B041-B3652887B207}" type="slidenum">
              <a:rPr lang="en-US" smtClean="0"/>
              <a:t>‹#›</a:t>
            </a:fld>
            <a:endParaRPr lang="en-US"/>
          </a:p>
        </p:txBody>
      </p:sp>
    </p:spTree>
    <p:extLst>
      <p:ext uri="{BB962C8B-B14F-4D97-AF65-F5344CB8AC3E}">
        <p14:creationId xmlns:p14="http://schemas.microsoft.com/office/powerpoint/2010/main" val="297674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0">
          <a:fgClr>
            <a:srgbClr val="92D050"/>
          </a:fgClr>
          <a:bgClr>
            <a:srgbClr val="92D050"/>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3BE423-EDB8-49D3-A327-97094D874B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168D60-A1C9-4B9E-BA3A-FB6AC2B73E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D9A51-AC32-482C-9994-7C2FBFAB7B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7AD788-0793-4ED0-9339-A6AB6D48710F}" type="datetimeFigureOut">
              <a:rPr lang="en-US" smtClean="0"/>
              <a:t>9/30/2020</a:t>
            </a:fld>
            <a:endParaRPr lang="en-US"/>
          </a:p>
        </p:txBody>
      </p:sp>
      <p:sp>
        <p:nvSpPr>
          <p:cNvPr id="5" name="Footer Placeholder 4">
            <a:extLst>
              <a:ext uri="{FF2B5EF4-FFF2-40B4-BE49-F238E27FC236}">
                <a16:creationId xmlns:a16="http://schemas.microsoft.com/office/drawing/2014/main" id="{84A54060-3E84-4DFB-857B-6DA4311A92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7FD2F9-D681-4292-BE66-D2A4045C82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4F900-8964-46EE-B041-B3652887B207}" type="slidenum">
              <a:rPr lang="en-US" smtClean="0"/>
              <a:t>‹#›</a:t>
            </a:fld>
            <a:endParaRPr lang="en-US"/>
          </a:p>
        </p:txBody>
      </p:sp>
    </p:spTree>
    <p:extLst>
      <p:ext uri="{BB962C8B-B14F-4D97-AF65-F5344CB8AC3E}">
        <p14:creationId xmlns:p14="http://schemas.microsoft.com/office/powerpoint/2010/main" val="4167119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CB724-26C4-4B7C-8581-0197D3D020DE}"/>
              </a:ext>
            </a:extLst>
          </p:cNvPr>
          <p:cNvSpPr>
            <a:spLocks noGrp="1"/>
          </p:cNvSpPr>
          <p:nvPr>
            <p:ph type="ctrTitle"/>
          </p:nvPr>
        </p:nvSpPr>
        <p:spPr/>
        <p:txBody>
          <a:bodyPr>
            <a:normAutofit/>
          </a:bodyPr>
          <a:lstStyle/>
          <a:p>
            <a:r>
              <a:rPr lang="en-US" sz="5400" dirty="0">
                <a:latin typeface="Times New Roman" panose="02020603050405020304" pitchFamily="18" charset="0"/>
                <a:cs typeface="Times New Roman" panose="02020603050405020304" pitchFamily="18" charset="0"/>
              </a:rPr>
              <a:t>Institutions of Pakistan</a:t>
            </a:r>
          </a:p>
        </p:txBody>
      </p:sp>
      <p:sp>
        <p:nvSpPr>
          <p:cNvPr id="3" name="Subtitle 2">
            <a:extLst>
              <a:ext uri="{FF2B5EF4-FFF2-40B4-BE49-F238E27FC236}">
                <a16:creationId xmlns:a16="http://schemas.microsoft.com/office/drawing/2014/main" id="{BF89D42F-2CBD-4713-A818-01B8581D8DD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63417688"/>
      </p:ext>
    </p:extLst>
  </p:cSld>
  <p:clrMapOvr>
    <a:masterClrMapping/>
  </p:clrMapOvr>
  <mc:AlternateContent xmlns:mc="http://schemas.openxmlformats.org/markup-compatibility/2006" xmlns:p14="http://schemas.microsoft.com/office/powerpoint/2010/main">
    <mc:Choice Requires="p14">
      <p:transition spd="slow" p14:dur="2000" advTm="202795"/>
    </mc:Choice>
    <mc:Fallback xmlns="">
      <p:transition spd="slow" advTm="20279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8BE3-EC26-4C59-95E5-AF75935F8B0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Bureaucracy of Pakistan </a:t>
            </a:r>
          </a:p>
        </p:txBody>
      </p:sp>
      <p:sp>
        <p:nvSpPr>
          <p:cNvPr id="3" name="Content Placeholder 2">
            <a:extLst>
              <a:ext uri="{FF2B5EF4-FFF2-40B4-BE49-F238E27FC236}">
                <a16:creationId xmlns:a16="http://schemas.microsoft.com/office/drawing/2014/main" id="{C6B04ED8-9349-49DB-A409-9037D1C16010}"/>
              </a:ext>
            </a:extLst>
          </p:cNvPr>
          <p:cNvSpPr>
            <a:spLocks noGrp="1"/>
          </p:cNvSpPr>
          <p:nvPr>
            <p:ph idx="1"/>
          </p:nvPr>
        </p:nvSpPr>
        <p:spPr/>
        <p:txBody>
          <a:bodyPr>
            <a:normAutofit lnSpcReduction="10000"/>
          </a:bodyPr>
          <a:lstStyle/>
          <a:p>
            <a:pPr algn="just">
              <a:lnSpc>
                <a:spcPct val="150000"/>
              </a:lnSpc>
            </a:pPr>
            <a:r>
              <a:rPr lang="en-US" sz="2200" dirty="0">
                <a:latin typeface="Times New Roman" panose="02020603050405020304" pitchFamily="18" charset="0"/>
                <a:cs typeface="Times New Roman" panose="02020603050405020304" pitchFamily="18" charset="0"/>
              </a:rPr>
              <a:t>“Bureaucrat is a French word. Bureau means desk( it also mean office) in French, and people who worked at desks were called bureaucrats”. (M. R. Kazmi, p-277)</a:t>
            </a:r>
          </a:p>
          <a:p>
            <a:pPr algn="just">
              <a:lnSpc>
                <a:spcPct val="150000"/>
              </a:lnSpc>
            </a:pPr>
            <a:r>
              <a:rPr lang="en-US" sz="2200" dirty="0">
                <a:latin typeface="Times New Roman" panose="02020603050405020304" pitchFamily="18" charset="0"/>
                <a:cs typeface="Times New Roman" panose="02020603050405020304" pitchFamily="18" charset="0"/>
              </a:rPr>
              <a:t>Bureaucrats became associated with certain characteristic such as devising and following certain set of rules which slow down the process of implementation.</a:t>
            </a:r>
          </a:p>
          <a:p>
            <a:pPr algn="just">
              <a:lnSpc>
                <a:spcPct val="150000"/>
              </a:lnSpc>
            </a:pPr>
            <a:r>
              <a:rPr lang="en-US" sz="2200" dirty="0">
                <a:latin typeface="Times New Roman" panose="02020603050405020304" pitchFamily="18" charset="0"/>
                <a:cs typeface="Times New Roman" panose="02020603050405020304" pitchFamily="18" charset="0"/>
              </a:rPr>
              <a:t>Bureaucrats could implement, reject, delay or accelerate decisions or verdict and these traits make open to corruption.</a:t>
            </a:r>
          </a:p>
          <a:p>
            <a:pPr algn="just">
              <a:lnSpc>
                <a:spcPct val="150000"/>
              </a:lnSpc>
            </a:pPr>
            <a:r>
              <a:rPr lang="en-US" sz="2200">
                <a:latin typeface="Times New Roman" panose="02020603050405020304" pitchFamily="18" charset="0"/>
                <a:cs typeface="Times New Roman" panose="02020603050405020304" pitchFamily="18" charset="0"/>
              </a:rPr>
              <a:t>These characteristic </a:t>
            </a:r>
            <a:r>
              <a:rPr lang="en-US" sz="2200" dirty="0">
                <a:latin typeface="Times New Roman" panose="02020603050405020304" pitchFamily="18" charset="0"/>
                <a:cs typeface="Times New Roman" panose="02020603050405020304" pitchFamily="18" charset="0"/>
              </a:rPr>
              <a:t>introduced them as clerks in sub-continent or the lower part of bureaucracy. </a:t>
            </a:r>
          </a:p>
        </p:txBody>
      </p:sp>
    </p:spTree>
    <p:extLst>
      <p:ext uri="{BB962C8B-B14F-4D97-AF65-F5344CB8AC3E}">
        <p14:creationId xmlns:p14="http://schemas.microsoft.com/office/powerpoint/2010/main" val="194222395"/>
      </p:ext>
    </p:extLst>
  </p:cSld>
  <p:clrMapOvr>
    <a:masterClrMapping/>
  </p:clrMapOvr>
  <mc:AlternateContent xmlns:mc="http://schemas.openxmlformats.org/markup-compatibility/2006" xmlns:p14="http://schemas.microsoft.com/office/powerpoint/2010/main">
    <mc:Choice Requires="p14">
      <p:transition spd="slow" p14:dur="2000" advTm="133473"/>
    </mc:Choice>
    <mc:Fallback xmlns="">
      <p:transition spd="slow" advTm="13347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8BE3-EC26-4C59-95E5-AF75935F8B0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Bureaucracy of Pakistan </a:t>
            </a:r>
          </a:p>
        </p:txBody>
      </p:sp>
      <p:sp>
        <p:nvSpPr>
          <p:cNvPr id="3" name="Content Placeholder 2">
            <a:extLst>
              <a:ext uri="{FF2B5EF4-FFF2-40B4-BE49-F238E27FC236}">
                <a16:creationId xmlns:a16="http://schemas.microsoft.com/office/drawing/2014/main" id="{C6B04ED8-9349-49DB-A409-9037D1C16010}"/>
              </a:ext>
            </a:extLst>
          </p:cNvPr>
          <p:cNvSpPr>
            <a:spLocks noGrp="1"/>
          </p:cNvSpPr>
          <p:nvPr>
            <p:ph idx="1"/>
          </p:nvPr>
        </p:nvSpPr>
        <p:spPr/>
        <p:txBody>
          <a:bodyPr>
            <a:normAutofit lnSpcReduction="10000"/>
          </a:bodyPr>
          <a:lstStyle/>
          <a:p>
            <a:pPr algn="just">
              <a:lnSpc>
                <a:spcPct val="150000"/>
              </a:lnSpc>
            </a:pPr>
            <a:r>
              <a:rPr lang="en-US" sz="2200" dirty="0">
                <a:latin typeface="Times New Roman" panose="02020603050405020304" pitchFamily="18" charset="0"/>
                <a:cs typeface="Times New Roman" panose="02020603050405020304" pitchFamily="18" charset="0"/>
              </a:rPr>
              <a:t>Pakistan inherited the same colonel bureaucratic system of Indian Civil Servant (ICS) cadre after independence.</a:t>
            </a:r>
          </a:p>
          <a:p>
            <a:pPr algn="just">
              <a:lnSpc>
                <a:spcPct val="150000"/>
              </a:lnSpc>
            </a:pPr>
            <a:r>
              <a:rPr lang="en-US" sz="2200" dirty="0">
                <a:latin typeface="Times New Roman" panose="02020603050405020304" pitchFamily="18" charset="0"/>
                <a:cs typeface="Times New Roman" panose="02020603050405020304" pitchFamily="18" charset="0"/>
              </a:rPr>
              <a:t>Initially when this system was brought to India no native Indian were allowed to appear and the test usually held in England.</a:t>
            </a:r>
          </a:p>
          <a:p>
            <a:pPr algn="just">
              <a:lnSpc>
                <a:spcPct val="150000"/>
              </a:lnSpc>
            </a:pPr>
            <a:r>
              <a:rPr lang="en-US" sz="2200" dirty="0">
                <a:latin typeface="Times New Roman" panose="02020603050405020304" pitchFamily="18" charset="0"/>
                <a:cs typeface="Times New Roman" panose="02020603050405020304" pitchFamily="18" charset="0"/>
              </a:rPr>
              <a:t>When Indian were allowed to appear in ICS exam (1922) they started to form  their own distinct class with western and sub-continental values. </a:t>
            </a:r>
          </a:p>
          <a:p>
            <a:pPr algn="just">
              <a:lnSpc>
                <a:spcPct val="150000"/>
              </a:lnSpc>
            </a:pPr>
            <a:r>
              <a:rPr lang="en-US" sz="2200" dirty="0">
                <a:latin typeface="Times New Roman" panose="02020603050405020304" pitchFamily="18" charset="0"/>
                <a:cs typeface="Times New Roman" panose="02020603050405020304" pitchFamily="18" charset="0"/>
              </a:rPr>
              <a:t>Bachelor of arts (BA) was the requirement to be appointed as Honorary magistrate and to appear in ICS, this make this new class distinct from the people they rule.</a:t>
            </a:r>
          </a:p>
          <a:p>
            <a:pPr algn="just">
              <a:lnSpc>
                <a:spcPct val="150000"/>
              </a:lnSpc>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3384123"/>
      </p:ext>
    </p:extLst>
  </p:cSld>
  <p:clrMapOvr>
    <a:masterClrMapping/>
  </p:clrMapOvr>
  <mc:AlternateContent xmlns:mc="http://schemas.openxmlformats.org/markup-compatibility/2006" xmlns:p14="http://schemas.microsoft.com/office/powerpoint/2010/main">
    <mc:Choice Requires="p14">
      <p:transition spd="slow" p14:dur="2000" advTm="184305"/>
    </mc:Choice>
    <mc:Fallback xmlns="">
      <p:transition spd="slow" advTm="18430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8BE3-EC26-4C59-95E5-AF75935F8B0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Bureaucracy of Pakistan </a:t>
            </a:r>
          </a:p>
        </p:txBody>
      </p:sp>
      <p:sp>
        <p:nvSpPr>
          <p:cNvPr id="3" name="Content Placeholder 2">
            <a:extLst>
              <a:ext uri="{FF2B5EF4-FFF2-40B4-BE49-F238E27FC236}">
                <a16:creationId xmlns:a16="http://schemas.microsoft.com/office/drawing/2014/main" id="{C6B04ED8-9349-49DB-A409-9037D1C16010}"/>
              </a:ext>
            </a:extLst>
          </p:cNvPr>
          <p:cNvSpPr>
            <a:spLocks noGrp="1"/>
          </p:cNvSpPr>
          <p:nvPr>
            <p:ph idx="1"/>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Those candidates passing ICS were sent to these four institutions in UK, (Cambridge, Oxford, London and Trinity college, Dublin).</a:t>
            </a:r>
          </a:p>
          <a:p>
            <a:pPr algn="just"/>
            <a:r>
              <a:rPr lang="en-US" sz="2200" dirty="0">
                <a:latin typeface="Times New Roman" panose="02020603050405020304" pitchFamily="18" charset="0"/>
                <a:cs typeface="Times New Roman" panose="02020603050405020304" pitchFamily="18" charset="0"/>
              </a:rPr>
              <a:t>Once coming back to India they were appointed as an assistant district officer serving under a senior officer.</a:t>
            </a:r>
          </a:p>
          <a:p>
            <a:pPr algn="just"/>
            <a:r>
              <a:rPr lang="en-US" sz="2200" dirty="0">
                <a:latin typeface="Times New Roman" panose="02020603050405020304" pitchFamily="18" charset="0"/>
                <a:cs typeface="Times New Roman" panose="02020603050405020304" pitchFamily="18" charset="0"/>
              </a:rPr>
              <a:t>The Pakistani successor to ICS are the member of Central Superior Services (CSS), having a number of cadres.</a:t>
            </a:r>
          </a:p>
          <a:p>
            <a:pPr algn="just"/>
            <a:r>
              <a:rPr lang="en-US" sz="2200" dirty="0">
                <a:latin typeface="Times New Roman" panose="02020603050405020304" pitchFamily="18" charset="0"/>
                <a:cs typeface="Times New Roman" panose="02020603050405020304" pitchFamily="18" charset="0"/>
              </a:rPr>
              <a:t>The CSS includes Cadres Information Service, Military Account service, Foreign Office Service, Income Tax Service, Office of the controller of imports and exports (which is now abolished) Police Service, Railway, Pakistan Post Services, Inland Revenue, Pakistan Customs Service, Office management and Pakistan administrative service or Civil Services of Pakistan/District Management Group.</a:t>
            </a: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809797"/>
      </p:ext>
    </p:extLst>
  </p:cSld>
  <p:clrMapOvr>
    <a:masterClrMapping/>
  </p:clrMapOvr>
  <mc:AlternateContent xmlns:mc="http://schemas.openxmlformats.org/markup-compatibility/2006" xmlns:p14="http://schemas.microsoft.com/office/powerpoint/2010/main">
    <mc:Choice Requires="p14">
      <p:transition spd="slow" p14:dur="2000" advTm="129053"/>
    </mc:Choice>
    <mc:Fallback xmlns="">
      <p:transition spd="slow" advTm="12905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8BE3-EC26-4C59-95E5-AF75935F8B0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The Armed Forces</a:t>
            </a:r>
          </a:p>
        </p:txBody>
      </p:sp>
      <p:sp>
        <p:nvSpPr>
          <p:cNvPr id="3" name="Content Placeholder 2">
            <a:extLst>
              <a:ext uri="{FF2B5EF4-FFF2-40B4-BE49-F238E27FC236}">
                <a16:creationId xmlns:a16="http://schemas.microsoft.com/office/drawing/2014/main" id="{C6B04ED8-9349-49DB-A409-9037D1C16010}"/>
              </a:ext>
            </a:extLst>
          </p:cNvPr>
          <p:cNvSpPr>
            <a:spLocks noGrp="1"/>
          </p:cNvSpPr>
          <p:nvPr>
            <p:ph idx="1"/>
          </p:nvPr>
        </p:nvSpPr>
        <p:spPr/>
        <p:txBody>
          <a:bodyPr>
            <a:normAutofit fontScale="77500" lnSpcReduction="20000"/>
          </a:bodyPr>
          <a:lstStyle/>
          <a:p>
            <a:pPr algn="just">
              <a:lnSpc>
                <a:spcPct val="150000"/>
              </a:lnSpc>
            </a:pPr>
            <a:r>
              <a:rPr lang="en-US" sz="2200" dirty="0">
                <a:latin typeface="Times New Roman" panose="02020603050405020304" pitchFamily="18" charset="0"/>
                <a:cs typeface="Times New Roman" panose="02020603050405020304" pitchFamily="18" charset="0"/>
              </a:rPr>
              <a:t>At the time the of independence Pakistan army consisted of one Major General, two brigadiers and fifty three colonels and rest of the required officers were British. </a:t>
            </a:r>
          </a:p>
          <a:p>
            <a:pPr algn="just">
              <a:lnSpc>
                <a:spcPct val="150000"/>
              </a:lnSpc>
            </a:pPr>
            <a:r>
              <a:rPr lang="en-US" sz="2200" dirty="0">
                <a:latin typeface="Times New Roman" panose="02020603050405020304" pitchFamily="18" charset="0"/>
                <a:cs typeface="Times New Roman" panose="02020603050405020304" pitchFamily="18" charset="0"/>
              </a:rPr>
              <a:t>The present strength of Pakistan army is 653,000 which headed by Chief of Army Staff, below him are lieutenant generals each of whom heads a corps made up of two or more divisions. </a:t>
            </a:r>
          </a:p>
          <a:p>
            <a:pPr algn="just">
              <a:lnSpc>
                <a:spcPct val="150000"/>
              </a:lnSpc>
            </a:pPr>
            <a:r>
              <a:rPr lang="en-US" sz="2200" dirty="0">
                <a:latin typeface="Times New Roman" panose="02020603050405020304" pitchFamily="18" charset="0"/>
                <a:cs typeface="Times New Roman" panose="02020603050405020304" pitchFamily="18" charset="0"/>
              </a:rPr>
              <a:t>The divisions are headed by major generals and consisted of three or more brigadiers. A brigade is headed by Brigadier.</a:t>
            </a:r>
          </a:p>
          <a:p>
            <a:pPr algn="just">
              <a:lnSpc>
                <a:spcPct val="150000"/>
              </a:lnSpc>
            </a:pPr>
            <a:r>
              <a:rPr lang="en-US" sz="2200" dirty="0">
                <a:latin typeface="Times New Roman" panose="02020603050405020304" pitchFamily="18" charset="0"/>
                <a:cs typeface="Times New Roman" panose="02020603050405020304" pitchFamily="18" charset="0"/>
              </a:rPr>
              <a:t>Below Chief of Army staff are four central command officers, 1- Chief of general staff, 2- adjutant general, 3- quartermaster general and 4- master general staff.</a:t>
            </a:r>
          </a:p>
          <a:p>
            <a:pPr algn="just">
              <a:lnSpc>
                <a:spcPct val="150000"/>
              </a:lnSpc>
            </a:pPr>
            <a:r>
              <a:rPr lang="en-US" sz="2200" dirty="0">
                <a:latin typeface="Times New Roman" panose="02020603050405020304" pitchFamily="18" charset="0"/>
                <a:cs typeface="Times New Roman" panose="02020603050405020304" pitchFamily="18" charset="0"/>
              </a:rPr>
              <a:t>Pakistan army  is having 2,596 tanks, 1,605 armored 4,472 artillery guns and 375 self propelled howitzers.</a:t>
            </a:r>
          </a:p>
          <a:p>
            <a:pPr algn="just">
              <a:lnSpc>
                <a:spcPct val="150000"/>
              </a:lnSpc>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3208999"/>
      </p:ext>
    </p:extLst>
  </p:cSld>
  <p:clrMapOvr>
    <a:masterClrMapping/>
  </p:clrMapOvr>
  <mc:AlternateContent xmlns:mc="http://schemas.openxmlformats.org/markup-compatibility/2006" xmlns:p14="http://schemas.microsoft.com/office/powerpoint/2010/main">
    <mc:Choice Requires="p14">
      <p:transition spd="slow" p14:dur="2000" advTm="168742"/>
    </mc:Choice>
    <mc:Fallback xmlns="">
      <p:transition spd="slow" advTm="16874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A8BE3-EC26-4C59-95E5-AF75935F8B0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The Armed Forces</a:t>
            </a:r>
          </a:p>
        </p:txBody>
      </p:sp>
      <p:sp>
        <p:nvSpPr>
          <p:cNvPr id="3" name="Content Placeholder 2">
            <a:extLst>
              <a:ext uri="{FF2B5EF4-FFF2-40B4-BE49-F238E27FC236}">
                <a16:creationId xmlns:a16="http://schemas.microsoft.com/office/drawing/2014/main" id="{C6B04ED8-9349-49DB-A409-9037D1C16010}"/>
              </a:ext>
            </a:extLst>
          </p:cNvPr>
          <p:cNvSpPr>
            <a:spLocks noGrp="1"/>
          </p:cNvSpPr>
          <p:nvPr>
            <p:ph idx="1"/>
          </p:nvPr>
        </p:nvSpPr>
        <p:spPr/>
        <p:txBody>
          <a:bodyPr>
            <a:normAutofit fontScale="92500"/>
          </a:bodyPr>
          <a:lstStyle/>
          <a:p>
            <a:pPr algn="just">
              <a:lnSpc>
                <a:spcPct val="150000"/>
              </a:lnSpc>
            </a:pPr>
            <a:r>
              <a:rPr lang="en-US" sz="2200" dirty="0">
                <a:latin typeface="Times New Roman" panose="02020603050405020304" pitchFamily="18" charset="0"/>
                <a:cs typeface="Times New Roman" panose="02020603050405020304" pitchFamily="18" charset="0"/>
              </a:rPr>
              <a:t>Pakistan Airforce strength at the current is around 45,000 divided into five principle staff officers, 1- Operations, 2- engineering, 3- administrations, 4- training, 5- Personnel headed by Chief of Airstaff, with 425 combat aircraft including JF-17 Thunder, F-16 fighting falcons and F-7PG.</a:t>
            </a:r>
          </a:p>
          <a:p>
            <a:pPr algn="just">
              <a:lnSpc>
                <a:spcPct val="150000"/>
              </a:lnSpc>
            </a:pPr>
            <a:r>
              <a:rPr lang="en-US" sz="2200" dirty="0">
                <a:latin typeface="Times New Roman" panose="02020603050405020304" pitchFamily="18" charset="0"/>
                <a:cs typeface="Times New Roman" panose="02020603050405020304" pitchFamily="18" charset="0"/>
              </a:rPr>
              <a:t>Pakistan navy is having 24,000 personnel's, with 9 frigates, 8 submarines, 17 patrol and costal vessels and 8 combat capable aircraft head by Chief of Naval staff who is supported by vice-chief of naval staff. The deputy chief of naval staff is responsible for recruitment. </a:t>
            </a:r>
          </a:p>
          <a:p>
            <a:pPr algn="just">
              <a:lnSpc>
                <a:spcPct val="150000"/>
              </a:lnSpc>
            </a:pPr>
            <a:r>
              <a:rPr lang="en-US" sz="2200" dirty="0">
                <a:latin typeface="Times New Roman" panose="02020603050405020304" pitchFamily="18" charset="0"/>
                <a:cs typeface="Times New Roman" panose="02020603050405020304" pitchFamily="18" charset="0"/>
              </a:rPr>
              <a:t>There are at the present three principal staff officers responsible respectively for operations, personnel and material.</a:t>
            </a:r>
          </a:p>
          <a:p>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3761473"/>
      </p:ext>
    </p:extLst>
  </p:cSld>
  <p:clrMapOvr>
    <a:masterClrMapping/>
  </p:clrMapOvr>
  <mc:AlternateContent xmlns:mc="http://schemas.openxmlformats.org/markup-compatibility/2006" xmlns:p14="http://schemas.microsoft.com/office/powerpoint/2010/main">
    <mc:Choice Requires="p14">
      <p:transition spd="slow" p14:dur="2000" advTm="284928"/>
    </mc:Choice>
    <mc:Fallback xmlns="">
      <p:transition spd="slow" advTm="284928"/>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TotalTime>
  <Words>596</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Institutions of Pakistan</vt:lpstr>
      <vt:lpstr>Bureaucracy of Pakistan </vt:lpstr>
      <vt:lpstr>Bureaucracy of Pakistan </vt:lpstr>
      <vt:lpstr>Bureaucracy of Pakistan </vt:lpstr>
      <vt:lpstr>The Armed Forces</vt:lpstr>
      <vt:lpstr>The Armed Forces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Khan</dc:creator>
  <cp:lastModifiedBy>Ahmed Khan</cp:lastModifiedBy>
  <cp:revision>60</cp:revision>
  <dcterms:created xsi:type="dcterms:W3CDTF">2020-06-29T05:29:59Z</dcterms:created>
  <dcterms:modified xsi:type="dcterms:W3CDTF">2020-09-30T04:38:17Z</dcterms:modified>
</cp:coreProperties>
</file>