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332" r:id="rId2"/>
    <p:sldId id="257" r:id="rId3"/>
    <p:sldId id="258" r:id="rId4"/>
    <p:sldId id="259" r:id="rId5"/>
    <p:sldId id="281" r:id="rId6"/>
    <p:sldId id="282" r:id="rId7"/>
    <p:sldId id="283" r:id="rId8"/>
    <p:sldId id="284" r:id="rId9"/>
    <p:sldId id="285" r:id="rId10"/>
    <p:sldId id="260" r:id="rId11"/>
    <p:sldId id="261" r:id="rId12"/>
    <p:sldId id="262" r:id="rId13"/>
    <p:sldId id="288" r:id="rId14"/>
    <p:sldId id="278" r:id="rId15"/>
    <p:sldId id="279" r:id="rId16"/>
    <p:sldId id="280" r:id="rId17"/>
    <p:sldId id="268" r:id="rId18"/>
    <p:sldId id="290" r:id="rId19"/>
    <p:sldId id="269" r:id="rId20"/>
    <p:sldId id="270" r:id="rId21"/>
    <p:sldId id="300" r:id="rId22"/>
    <p:sldId id="271" r:id="rId23"/>
    <p:sldId id="276" r:id="rId24"/>
    <p:sldId id="277" r:id="rId25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-3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8A6BF-F4F2-4730-B260-F3AFEC51FC2F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E77D9-BE78-4290-A4E4-D78B4473F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8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32598D-DBC3-4AAE-8C8D-E46C9B1D34C2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8691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448119"/>
            <a:ext cx="8374549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45E6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176350"/>
            <a:ext cx="8374549" cy="3140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E686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9050" y="748799"/>
            <a:ext cx="3646170" cy="3646170"/>
          </a:xfrm>
          <a:custGeom>
            <a:avLst/>
            <a:gdLst/>
            <a:ahLst/>
            <a:cxnLst/>
            <a:rect l="l" t="t" r="r" b="b"/>
            <a:pathLst>
              <a:path w="3646170" h="3646170">
                <a:moveTo>
                  <a:pt x="3645899" y="3645899"/>
                </a:moveTo>
                <a:lnTo>
                  <a:pt x="0" y="3645899"/>
                </a:lnTo>
                <a:lnTo>
                  <a:pt x="0" y="0"/>
                </a:lnTo>
                <a:lnTo>
                  <a:pt x="3645899" y="0"/>
                </a:lnTo>
                <a:lnTo>
                  <a:pt x="3645899" y="3645899"/>
                </a:lnTo>
                <a:close/>
              </a:path>
            </a:pathLst>
          </a:custGeom>
          <a:solidFill>
            <a:srgbClr val="F45E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92950" y="992699"/>
            <a:ext cx="3158490" cy="3158490"/>
          </a:xfrm>
          <a:prstGeom prst="rect">
            <a:avLst/>
          </a:prstGeom>
          <a:solidFill>
            <a:srgbClr val="F45E61"/>
          </a:solidFill>
          <a:ln w="28574">
            <a:solidFill>
              <a:srgbClr val="FFFFFF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4750">
              <a:latin typeface="Times New Roman"/>
              <a:cs typeface="Times New Roman"/>
            </a:endParaRPr>
          </a:p>
          <a:p>
            <a:pPr marL="384810" marR="376555" indent="-2540" algn="ctr">
              <a:lnSpc>
                <a:spcPts val="3829"/>
              </a:lnSpc>
            </a:pPr>
            <a:r>
              <a:rPr spc="-170" dirty="0">
                <a:solidFill>
                  <a:srgbClr val="FFFFFF"/>
                </a:solidFill>
                <a:latin typeface="Tahoma"/>
                <a:cs typeface="Tahoma"/>
              </a:rPr>
              <a:t>Form </a:t>
            </a:r>
            <a:r>
              <a:rPr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190" dirty="0">
                <a:solidFill>
                  <a:srgbClr val="FFFFFF"/>
                </a:solidFill>
                <a:latin typeface="Tahoma"/>
                <a:cs typeface="Tahoma"/>
              </a:rPr>
              <a:t>Processing</a:t>
            </a:r>
            <a:r>
              <a:rPr spc="-3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pc="-135" dirty="0">
                <a:solidFill>
                  <a:srgbClr val="FFFFFF"/>
                </a:solidFill>
                <a:latin typeface="Tahoma"/>
                <a:cs typeface="Tahoma"/>
              </a:rPr>
              <a:t>in  </a:t>
            </a:r>
            <a:r>
              <a:rPr spc="-80" dirty="0">
                <a:solidFill>
                  <a:srgbClr val="FFFFFF"/>
                </a:solidFill>
                <a:latin typeface="Tahoma"/>
                <a:cs typeface="Tahoma"/>
              </a:rPr>
              <a:t>PHP</a:t>
            </a:r>
          </a:p>
        </p:txBody>
      </p:sp>
    </p:spTree>
    <p:extLst>
      <p:ext uri="{BB962C8B-B14F-4D97-AF65-F5344CB8AC3E}">
        <p14:creationId xmlns:p14="http://schemas.microsoft.com/office/powerpoint/2010/main" val="2482738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12414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7790180" cy="2711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6045">
              <a:lnSpc>
                <a:spcPct val="114599"/>
              </a:lnSpc>
              <a:spcBef>
                <a:spcPts val="100"/>
              </a:spcBef>
            </a:pP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Forms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special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components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which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allow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your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site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visitors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supply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various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information</a:t>
            </a:r>
            <a:r>
              <a:rPr sz="1800" spc="-2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5E686C"/>
                </a:solidFill>
                <a:latin typeface="Tahoma"/>
                <a:cs typeface="Tahoma"/>
              </a:rPr>
              <a:t>page.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have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previously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talked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about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creating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10" dirty="0">
                <a:solidFill>
                  <a:srgbClr val="5E686C"/>
                </a:solidFill>
                <a:latin typeface="Tahoma"/>
                <a:cs typeface="Tahoma"/>
              </a:rPr>
              <a:t>HTML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forms.</a:t>
            </a:r>
            <a:endParaRPr sz="1800">
              <a:latin typeface="Tahoma"/>
              <a:cs typeface="Tahoma"/>
            </a:endParaRPr>
          </a:p>
          <a:p>
            <a:pPr marL="12700" marR="860425">
              <a:lnSpc>
                <a:spcPct val="187500"/>
              </a:lnSpc>
            </a:pP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Forms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typically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include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some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input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elements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gather information. </a:t>
            </a:r>
            <a:r>
              <a:rPr sz="1800" spc="-5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0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have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also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talked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about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client-side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validation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using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javascript.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time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are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going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talk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about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processing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forms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at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server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side</a:t>
            </a:r>
            <a:r>
              <a:rPr sz="1800" spc="-21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using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PHP.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12414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699" y="1633099"/>
            <a:ext cx="5211445" cy="22098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85725">
              <a:lnSpc>
                <a:spcPts val="1664"/>
              </a:lnSpc>
              <a:spcBef>
                <a:spcPts val="615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&lt;form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name="myForm"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id="myForm"&gt;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&lt;br&gt;&lt;br&gt;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&lt;span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id="firstname"&gt;Firstname: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&lt;/span&gt;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type="text"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name="firstname"&gt;&lt;br&gt;&lt;br&gt;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&lt;span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id="lastname"&gt;Lastname: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&lt;/span&gt;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type="text"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name="lastname"&gt;&lt;br&gt;&lt;br&gt;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type="submit"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name="submitBtn"&gt;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type="reset"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name="resetBtn"&gt;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64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&lt;/form&gt;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3275" y="1834350"/>
            <a:ext cx="3328774" cy="17096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4725" y="1330512"/>
            <a:ext cx="8356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index.html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12414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Forms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7505">
              <a:lnSpc>
                <a:spcPct val="114599"/>
              </a:lnSpc>
              <a:spcBef>
                <a:spcPts val="100"/>
              </a:spcBef>
            </a:pPr>
            <a:r>
              <a:rPr spc="110" dirty="0"/>
              <a:t>HTML</a:t>
            </a:r>
            <a:r>
              <a:rPr spc="-215" dirty="0"/>
              <a:t> </a:t>
            </a:r>
            <a:r>
              <a:rPr spc="15" dirty="0"/>
              <a:t>forms</a:t>
            </a:r>
            <a:r>
              <a:rPr spc="-215" dirty="0"/>
              <a:t> </a:t>
            </a:r>
            <a:r>
              <a:rPr spc="-10" dirty="0"/>
              <a:t>can</a:t>
            </a:r>
            <a:r>
              <a:rPr spc="-215" dirty="0"/>
              <a:t> </a:t>
            </a:r>
            <a:r>
              <a:rPr spc="-5" dirty="0"/>
              <a:t>have</a:t>
            </a:r>
            <a:r>
              <a:rPr spc="-215" dirty="0"/>
              <a:t> </a:t>
            </a:r>
            <a:r>
              <a:rPr spc="-15" dirty="0"/>
              <a:t>many</a:t>
            </a:r>
            <a:r>
              <a:rPr spc="-215" dirty="0"/>
              <a:t> </a:t>
            </a:r>
            <a:r>
              <a:rPr spc="10" dirty="0"/>
              <a:t>attributes.</a:t>
            </a:r>
            <a:r>
              <a:rPr spc="-215" dirty="0"/>
              <a:t> </a:t>
            </a:r>
            <a:r>
              <a:rPr spc="25" dirty="0"/>
              <a:t>Two</a:t>
            </a:r>
            <a:r>
              <a:rPr spc="-215" dirty="0"/>
              <a:t> </a:t>
            </a:r>
            <a:r>
              <a:rPr spc="25" dirty="0"/>
              <a:t>of</a:t>
            </a:r>
            <a:r>
              <a:rPr spc="-210" dirty="0"/>
              <a:t> </a:t>
            </a:r>
            <a:r>
              <a:rPr spc="20" dirty="0"/>
              <a:t>the</a:t>
            </a:r>
            <a:r>
              <a:rPr spc="-215" dirty="0"/>
              <a:t> </a:t>
            </a:r>
            <a:r>
              <a:rPr spc="5" dirty="0"/>
              <a:t>most</a:t>
            </a:r>
            <a:r>
              <a:rPr spc="-215" dirty="0"/>
              <a:t> </a:t>
            </a:r>
            <a:r>
              <a:rPr spc="20" dirty="0"/>
              <a:t>important</a:t>
            </a:r>
            <a:r>
              <a:rPr spc="-215" dirty="0"/>
              <a:t> </a:t>
            </a:r>
            <a:r>
              <a:rPr spc="25" dirty="0"/>
              <a:t>attributes</a:t>
            </a:r>
            <a:r>
              <a:rPr spc="-215" dirty="0"/>
              <a:t> </a:t>
            </a:r>
            <a:r>
              <a:rPr spc="40" dirty="0"/>
              <a:t>for </a:t>
            </a:r>
            <a:r>
              <a:rPr spc="-545" dirty="0"/>
              <a:t> </a:t>
            </a:r>
            <a:r>
              <a:rPr spc="110" dirty="0"/>
              <a:t>HTML</a:t>
            </a:r>
            <a:r>
              <a:rPr spc="-220" dirty="0"/>
              <a:t> </a:t>
            </a:r>
            <a:r>
              <a:rPr spc="15" dirty="0"/>
              <a:t>forms</a:t>
            </a:r>
            <a:r>
              <a:rPr spc="-220" dirty="0"/>
              <a:t> </a:t>
            </a:r>
            <a:r>
              <a:rPr spc="25" dirty="0"/>
              <a:t>that</a:t>
            </a:r>
            <a:r>
              <a:rPr spc="-220" dirty="0"/>
              <a:t> </a:t>
            </a:r>
            <a:r>
              <a:rPr spc="15" dirty="0"/>
              <a:t>we</a:t>
            </a:r>
            <a:r>
              <a:rPr spc="-220" dirty="0"/>
              <a:t> </a:t>
            </a:r>
            <a:r>
              <a:rPr spc="10" dirty="0"/>
              <a:t>haven't</a:t>
            </a:r>
            <a:r>
              <a:rPr spc="-220" dirty="0"/>
              <a:t> </a:t>
            </a:r>
            <a:r>
              <a:rPr spc="20" dirty="0"/>
              <a:t>talked</a:t>
            </a:r>
            <a:r>
              <a:rPr spc="-220" dirty="0"/>
              <a:t> </a:t>
            </a:r>
            <a:r>
              <a:rPr spc="10" dirty="0"/>
              <a:t>about</a:t>
            </a:r>
            <a:r>
              <a:rPr spc="-220" dirty="0"/>
              <a:t> </a:t>
            </a:r>
            <a:r>
              <a:rPr dirty="0"/>
              <a:t>so</a:t>
            </a:r>
            <a:r>
              <a:rPr spc="-220" dirty="0"/>
              <a:t> </a:t>
            </a:r>
            <a:r>
              <a:rPr spc="25" dirty="0"/>
              <a:t>far</a:t>
            </a:r>
            <a:r>
              <a:rPr spc="-220" dirty="0"/>
              <a:t> </a:t>
            </a:r>
            <a:r>
              <a:rPr spc="-40" dirty="0"/>
              <a:t>are:</a:t>
            </a:r>
          </a:p>
          <a:p>
            <a:pPr marL="12700" marR="25400">
              <a:lnSpc>
                <a:spcPct val="114599"/>
              </a:lnSpc>
              <a:spcBef>
                <a:spcPts val="1575"/>
              </a:spcBef>
            </a:pPr>
            <a:r>
              <a:rPr b="1" spc="-110" dirty="0">
                <a:solidFill>
                  <a:srgbClr val="F45E61"/>
                </a:solidFill>
                <a:latin typeface="Tahoma"/>
                <a:cs typeface="Tahoma"/>
              </a:rPr>
              <a:t>action</a:t>
            </a:r>
            <a:r>
              <a:rPr spc="-110" dirty="0"/>
              <a:t>:</a:t>
            </a:r>
            <a:r>
              <a:rPr spc="-210" dirty="0"/>
              <a:t> </a:t>
            </a:r>
            <a:r>
              <a:rPr dirty="0"/>
              <a:t>The</a:t>
            </a:r>
            <a:r>
              <a:rPr spc="-210" dirty="0"/>
              <a:t> </a:t>
            </a:r>
            <a:r>
              <a:rPr spc="15" dirty="0"/>
              <a:t>action</a:t>
            </a:r>
            <a:r>
              <a:rPr spc="-210" dirty="0"/>
              <a:t> </a:t>
            </a:r>
            <a:r>
              <a:rPr spc="10" dirty="0"/>
              <a:t>parameter</a:t>
            </a:r>
            <a:r>
              <a:rPr spc="-210" dirty="0"/>
              <a:t> </a:t>
            </a:r>
            <a:r>
              <a:rPr spc="25" dirty="0"/>
              <a:t>tells</a:t>
            </a:r>
            <a:r>
              <a:rPr spc="-210" dirty="0"/>
              <a:t> </a:t>
            </a:r>
            <a:r>
              <a:rPr spc="20" dirty="0"/>
              <a:t>the</a:t>
            </a:r>
            <a:r>
              <a:rPr spc="-210" dirty="0"/>
              <a:t> </a:t>
            </a:r>
            <a:r>
              <a:rPr spc="25" dirty="0"/>
              <a:t>browser</a:t>
            </a:r>
            <a:r>
              <a:rPr spc="-210" dirty="0"/>
              <a:t> </a:t>
            </a:r>
            <a:r>
              <a:rPr spc="15" dirty="0"/>
              <a:t>what</a:t>
            </a:r>
            <a:r>
              <a:rPr spc="-210" dirty="0"/>
              <a:t> </a:t>
            </a:r>
            <a:r>
              <a:rPr spc="20" dirty="0"/>
              <a:t>script/site</a:t>
            </a:r>
            <a:r>
              <a:rPr spc="-210" dirty="0"/>
              <a:t> </a:t>
            </a:r>
            <a:r>
              <a:rPr dirty="0"/>
              <a:t>must</a:t>
            </a:r>
            <a:r>
              <a:rPr spc="-210" dirty="0"/>
              <a:t> </a:t>
            </a:r>
            <a:r>
              <a:rPr dirty="0"/>
              <a:t>be</a:t>
            </a:r>
            <a:r>
              <a:rPr spc="-210" dirty="0"/>
              <a:t> </a:t>
            </a:r>
            <a:r>
              <a:rPr spc="10" dirty="0"/>
              <a:t>called</a:t>
            </a:r>
            <a:r>
              <a:rPr spc="-210" dirty="0"/>
              <a:t> </a:t>
            </a:r>
            <a:r>
              <a:rPr spc="5" dirty="0"/>
              <a:t>when </a:t>
            </a:r>
            <a:r>
              <a:rPr spc="-545" dirty="0"/>
              <a:t> </a:t>
            </a:r>
            <a:r>
              <a:rPr spc="20" dirty="0"/>
              <a:t>the</a:t>
            </a:r>
            <a:r>
              <a:rPr spc="-225" dirty="0"/>
              <a:t> </a:t>
            </a:r>
            <a:r>
              <a:rPr spc="35" dirty="0"/>
              <a:t>visitor</a:t>
            </a:r>
            <a:r>
              <a:rPr spc="-220" dirty="0"/>
              <a:t> </a:t>
            </a:r>
            <a:r>
              <a:rPr dirty="0"/>
              <a:t>presses</a:t>
            </a:r>
            <a:r>
              <a:rPr spc="-220" dirty="0"/>
              <a:t> </a:t>
            </a:r>
            <a:r>
              <a:rPr spc="20" dirty="0"/>
              <a:t>the</a:t>
            </a:r>
            <a:r>
              <a:rPr spc="-220" dirty="0"/>
              <a:t> </a:t>
            </a:r>
            <a:r>
              <a:rPr spc="10" dirty="0"/>
              <a:t>submit</a:t>
            </a:r>
            <a:r>
              <a:rPr spc="-220" dirty="0"/>
              <a:t> </a:t>
            </a:r>
            <a:r>
              <a:rPr dirty="0"/>
              <a:t>button.</a:t>
            </a:r>
          </a:p>
          <a:p>
            <a:pPr marL="12700" marR="5080">
              <a:lnSpc>
                <a:spcPct val="114599"/>
              </a:lnSpc>
              <a:spcBef>
                <a:spcPts val="1570"/>
              </a:spcBef>
            </a:pPr>
            <a:r>
              <a:rPr b="1" spc="-125" dirty="0">
                <a:solidFill>
                  <a:srgbClr val="F45E61"/>
                </a:solidFill>
                <a:latin typeface="Tahoma"/>
                <a:cs typeface="Tahoma"/>
              </a:rPr>
              <a:t>method</a:t>
            </a:r>
            <a:r>
              <a:rPr spc="-125" dirty="0"/>
              <a:t>:</a:t>
            </a:r>
            <a:r>
              <a:rPr spc="-220" dirty="0"/>
              <a:t> </a:t>
            </a:r>
            <a:r>
              <a:rPr dirty="0"/>
              <a:t>The</a:t>
            </a:r>
            <a:r>
              <a:rPr spc="-215" dirty="0"/>
              <a:t> </a:t>
            </a:r>
            <a:r>
              <a:rPr spc="10" dirty="0"/>
              <a:t>method</a:t>
            </a:r>
            <a:r>
              <a:rPr spc="-220" dirty="0"/>
              <a:t> </a:t>
            </a:r>
            <a:r>
              <a:rPr spc="10" dirty="0"/>
              <a:t>parameter</a:t>
            </a:r>
            <a:r>
              <a:rPr spc="-215" dirty="0"/>
              <a:t> </a:t>
            </a:r>
            <a:r>
              <a:rPr spc="25" dirty="0"/>
              <a:t>tells</a:t>
            </a:r>
            <a:r>
              <a:rPr spc="-220" dirty="0"/>
              <a:t> </a:t>
            </a:r>
            <a:r>
              <a:rPr spc="20" dirty="0"/>
              <a:t>the</a:t>
            </a:r>
            <a:r>
              <a:rPr spc="-215" dirty="0"/>
              <a:t> </a:t>
            </a:r>
            <a:r>
              <a:rPr spc="25" dirty="0"/>
              <a:t>browser</a:t>
            </a:r>
            <a:r>
              <a:rPr spc="-220" dirty="0"/>
              <a:t> </a:t>
            </a:r>
            <a:r>
              <a:rPr spc="15" dirty="0"/>
              <a:t>by</a:t>
            </a:r>
            <a:r>
              <a:rPr spc="-215" dirty="0"/>
              <a:t> </a:t>
            </a:r>
            <a:r>
              <a:rPr spc="15" dirty="0"/>
              <a:t>which</a:t>
            </a:r>
            <a:r>
              <a:rPr spc="-220" dirty="0"/>
              <a:t> </a:t>
            </a:r>
            <a:r>
              <a:rPr spc="10" dirty="0"/>
              <a:t>method</a:t>
            </a:r>
            <a:r>
              <a:rPr spc="-215" dirty="0"/>
              <a:t> </a:t>
            </a:r>
            <a:r>
              <a:rPr spc="45" dirty="0"/>
              <a:t>to</a:t>
            </a:r>
            <a:r>
              <a:rPr spc="-220" dirty="0"/>
              <a:t> </a:t>
            </a:r>
            <a:r>
              <a:rPr spc="-5" dirty="0"/>
              <a:t>send</a:t>
            </a:r>
            <a:r>
              <a:rPr spc="-215" dirty="0"/>
              <a:t> </a:t>
            </a:r>
            <a:r>
              <a:rPr spc="20" dirty="0"/>
              <a:t>the</a:t>
            </a:r>
            <a:r>
              <a:rPr spc="-220" dirty="0"/>
              <a:t> </a:t>
            </a:r>
            <a:r>
              <a:rPr spc="10" dirty="0"/>
              <a:t>user </a:t>
            </a:r>
            <a:r>
              <a:rPr spc="-545" dirty="0"/>
              <a:t> </a:t>
            </a:r>
            <a:r>
              <a:rPr spc="15" dirty="0"/>
              <a:t>submitted</a:t>
            </a:r>
            <a:r>
              <a:rPr spc="-220" dirty="0"/>
              <a:t> </a:t>
            </a:r>
            <a:r>
              <a:rPr dirty="0"/>
              <a:t>data</a:t>
            </a:r>
            <a:r>
              <a:rPr spc="-220" dirty="0"/>
              <a:t> </a:t>
            </a:r>
            <a:r>
              <a:rPr spc="45" dirty="0"/>
              <a:t>to</a:t>
            </a:r>
            <a:r>
              <a:rPr spc="-220" dirty="0"/>
              <a:t> </a:t>
            </a:r>
            <a:r>
              <a:rPr spc="20" dirty="0"/>
              <a:t>the</a:t>
            </a:r>
            <a:r>
              <a:rPr spc="-220" dirty="0"/>
              <a:t> </a:t>
            </a:r>
            <a:r>
              <a:rPr dirty="0"/>
              <a:t>web-server.</a:t>
            </a:r>
            <a:r>
              <a:rPr spc="-220" dirty="0"/>
              <a:t> </a:t>
            </a:r>
            <a:r>
              <a:rPr dirty="0"/>
              <a:t>The</a:t>
            </a:r>
            <a:r>
              <a:rPr spc="-220" dirty="0"/>
              <a:t> </a:t>
            </a:r>
            <a:r>
              <a:rPr spc="10" dirty="0"/>
              <a:t>parameter</a:t>
            </a:r>
            <a:r>
              <a:rPr spc="-220" dirty="0"/>
              <a:t> </a:t>
            </a:r>
            <a:r>
              <a:rPr dirty="0"/>
              <a:t>values</a:t>
            </a:r>
            <a:r>
              <a:rPr spc="-220" dirty="0"/>
              <a:t> </a:t>
            </a:r>
            <a:r>
              <a:rPr spc="10" dirty="0"/>
              <a:t>are</a:t>
            </a:r>
            <a:r>
              <a:rPr spc="-215" dirty="0"/>
              <a:t> </a:t>
            </a:r>
            <a:r>
              <a:rPr spc="30" dirty="0"/>
              <a:t>either</a:t>
            </a:r>
            <a:r>
              <a:rPr spc="-215" dirty="0"/>
              <a:t> </a:t>
            </a:r>
            <a:r>
              <a:rPr spc="55" dirty="0">
                <a:solidFill>
                  <a:srgbClr val="F45E61"/>
                </a:solidFill>
              </a:rPr>
              <a:t>POST</a:t>
            </a:r>
            <a:r>
              <a:rPr spc="-220" dirty="0">
                <a:solidFill>
                  <a:srgbClr val="F45E61"/>
                </a:solidFill>
              </a:rPr>
              <a:t> </a:t>
            </a:r>
            <a:r>
              <a:rPr spc="50" dirty="0"/>
              <a:t>or</a:t>
            </a:r>
            <a:r>
              <a:rPr spc="-220" dirty="0"/>
              <a:t> </a:t>
            </a:r>
            <a:r>
              <a:rPr dirty="0">
                <a:solidFill>
                  <a:srgbClr val="F45E61"/>
                </a:solidFill>
              </a:rPr>
              <a:t>GET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idx="1"/>
          </p:nvPr>
        </p:nvSpPr>
        <p:spPr>
          <a:xfrm>
            <a:off x="649288" y="1465264"/>
            <a:ext cx="8323262" cy="2782887"/>
          </a:xfrm>
        </p:spPr>
        <p:txBody>
          <a:bodyPr/>
          <a:lstStyle/>
          <a:p>
            <a:pPr marL="0" indent="0">
              <a:spcBef>
                <a:spcPts val="1294"/>
              </a:spcBef>
              <a:buFont typeface="Gill Sans" charset="0"/>
              <a:buNone/>
              <a:defRPr/>
            </a:pPr>
            <a:r>
              <a:rPr lang="en-US" sz="2138" dirty="0">
                <a:sym typeface="Gill Sans" charset="0"/>
              </a:rPr>
              <a:t>Two ways the browser can send parameters to the web server</a:t>
            </a:r>
          </a:p>
          <a:p>
            <a:pPr marL="735012" lvl="2" indent="-342900">
              <a:spcBef>
                <a:spcPts val="1294"/>
              </a:spcBef>
              <a:buFont typeface="Gill Sans" charset="0"/>
              <a:buChar char="•"/>
              <a:defRPr/>
            </a:pPr>
            <a:r>
              <a:rPr lang="en-US" sz="2138" dirty="0">
                <a:solidFill>
                  <a:srgbClr val="00FF00"/>
                </a:solidFill>
                <a:sym typeface="Gill Sans" charset="0"/>
              </a:rPr>
              <a:t>GET</a:t>
            </a:r>
            <a:r>
              <a:rPr lang="en-US" sz="2138" dirty="0">
                <a:sym typeface="Gill Sans" charset="0"/>
              </a:rPr>
              <a:t> - Parameters are placed on the URL which is retrieved.</a:t>
            </a:r>
          </a:p>
          <a:p>
            <a:pPr marL="735012" lvl="2" indent="-342900">
              <a:spcBef>
                <a:spcPts val="1294"/>
              </a:spcBef>
              <a:buFont typeface="Gill Sans" charset="0"/>
              <a:buChar char="•"/>
              <a:defRPr/>
            </a:pPr>
            <a:r>
              <a:rPr lang="en-US" sz="2138" dirty="0">
                <a:solidFill>
                  <a:srgbClr val="00FF00"/>
                </a:solidFill>
                <a:sym typeface="Gill Sans" charset="0"/>
              </a:rPr>
              <a:t>POST</a:t>
            </a:r>
            <a:r>
              <a:rPr lang="en-US" sz="2138" dirty="0">
                <a:sym typeface="Gill Sans" charset="0"/>
              </a:rPr>
              <a:t> - The URL is retrieved and parameters are appended to the request in the HTTP connection.</a:t>
            </a:r>
          </a:p>
        </p:txBody>
      </p:sp>
      <p:sp>
        <p:nvSpPr>
          <p:cNvPr id="16386" name="Rectangle 1"/>
          <p:cNvSpPr>
            <a:spLocks noGrp="1" noChangeArrowheads="1"/>
          </p:cNvSpPr>
          <p:nvPr>
            <p:ph type="title"/>
          </p:nvPr>
        </p:nvSpPr>
        <p:spPr>
          <a:xfrm>
            <a:off x="849315" y="361951"/>
            <a:ext cx="7445375" cy="1058863"/>
          </a:xfrm>
        </p:spPr>
        <p:txBody>
          <a:bodyPr/>
          <a:lstStyle/>
          <a:p>
            <a:r>
              <a:rPr lang="en-US" altLang="en-US" sz="4200">
                <a:solidFill>
                  <a:srgbClr val="FFCC66"/>
                </a:solidFill>
              </a:rPr>
              <a:t>Forms GET vs. POST</a:t>
            </a:r>
          </a:p>
        </p:txBody>
      </p:sp>
    </p:spTree>
    <p:extLst>
      <p:ext uri="{BB962C8B-B14F-4D97-AF65-F5344CB8AC3E}">
        <p14:creationId xmlns:p14="http://schemas.microsoft.com/office/powerpoint/2010/main" val="300420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4754" name="Picture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0"/>
            <a:ext cx="9067800" cy="462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0424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5778" name="Picture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" y="133350"/>
            <a:ext cx="8836152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118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3970" name="Picture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61950"/>
            <a:ext cx="8382000" cy="414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2577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6802" name="Picture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-762"/>
            <a:ext cx="8991600" cy="432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706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12414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699" y="1633099"/>
            <a:ext cx="5211445" cy="22098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85725" marR="1491615">
              <a:lnSpc>
                <a:spcPts val="1650"/>
              </a:lnSpc>
              <a:spcBef>
                <a:spcPts val="695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&lt;form name="myForm" id="myForm"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F45E61"/>
                </a:solidFill>
                <a:latin typeface="Courier New"/>
                <a:cs typeface="Courier New"/>
              </a:rPr>
              <a:t>action="process.php"</a:t>
            </a:r>
            <a:r>
              <a:rPr sz="1400" spc="-8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F45E61"/>
                </a:solidFill>
                <a:latin typeface="Courier New"/>
                <a:cs typeface="Courier New"/>
              </a:rPr>
              <a:t>method="GET"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&gt;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585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&lt;br&gt;&lt;br&gt;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&lt;span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id="firstname"&gt;Firstname: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&lt;/span&gt;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type="text"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name="firstname"&gt;&lt;br&gt;&lt;br&gt;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&lt;span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id="lastname"&gt;Lastname: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&lt;/span&gt;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type="text"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name="lastname"&gt;&lt;br&gt;&lt;br&gt;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type="submit"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name="submitBtn"&gt;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type="reset"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name="resetBtn"&gt;</a:t>
            </a:r>
            <a:endParaRPr sz="1400" dirty="0">
              <a:latin typeface="Courier New"/>
              <a:cs typeface="Courier New"/>
            </a:endParaRPr>
          </a:p>
          <a:p>
            <a:pPr marL="85725">
              <a:lnSpc>
                <a:spcPts val="1664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&lt;/form&gt;</a:t>
            </a:r>
            <a:endParaRPr sz="1400" dirty="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3275" y="1834350"/>
            <a:ext cx="3328774" cy="17096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4725" y="1330512"/>
            <a:ext cx="8356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index.html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4550" y="4081588"/>
            <a:ext cx="3516629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 MT"/>
                <a:cs typeface="Arial MT"/>
              </a:rPr>
              <a:t>We are telling the browser to </a:t>
            </a:r>
            <a:r>
              <a:rPr sz="1400" dirty="0">
                <a:latin typeface="Arial MT"/>
                <a:cs typeface="Arial MT"/>
              </a:rPr>
              <a:t>send </a:t>
            </a:r>
            <a:r>
              <a:rPr sz="1400" spc="-5" dirty="0">
                <a:latin typeface="Arial MT"/>
                <a:cs typeface="Arial MT"/>
              </a:rPr>
              <a:t>form data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to "process.php" file by using "get" </a:t>
            </a:r>
            <a:r>
              <a:rPr sz="1400" dirty="0">
                <a:latin typeface="Arial MT"/>
                <a:cs typeface="Arial MT"/>
              </a:rPr>
              <a:t>method,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upon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form </a:t>
            </a:r>
            <a:r>
              <a:rPr sz="1400" dirty="0">
                <a:latin typeface="Arial MT"/>
                <a:cs typeface="Arial MT"/>
              </a:rPr>
              <a:t>submission.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744600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0" dirty="0"/>
              <a:t>Accessing</a:t>
            </a:r>
            <a:r>
              <a:rPr spc="-60" dirty="0"/>
              <a:t> </a:t>
            </a:r>
            <a:r>
              <a:rPr spc="110" dirty="0"/>
              <a:t>Form</a:t>
            </a:r>
            <a:r>
              <a:rPr spc="-60" dirty="0"/>
              <a:t> </a:t>
            </a:r>
            <a:r>
              <a:rPr spc="85" dirty="0"/>
              <a:t>Data</a:t>
            </a:r>
            <a:r>
              <a:rPr spc="-55" dirty="0"/>
              <a:t> </a:t>
            </a:r>
            <a:r>
              <a:rPr spc="150" dirty="0"/>
              <a:t>in</a:t>
            </a:r>
            <a:r>
              <a:rPr spc="-60" dirty="0"/>
              <a:t> </a:t>
            </a:r>
            <a:r>
              <a:rPr spc="85" dirty="0"/>
              <a:t>PHP</a:t>
            </a:r>
            <a:r>
              <a:rPr spc="-60" dirty="0"/>
              <a:t> </a:t>
            </a:r>
            <a:r>
              <a:rPr spc="170" dirty="0"/>
              <a:t>using</a:t>
            </a:r>
            <a:r>
              <a:rPr spc="-55" dirty="0"/>
              <a:t> </a:t>
            </a:r>
            <a:r>
              <a:rPr spc="-80" dirty="0"/>
              <a:t>GET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3390088"/>
            <a:ext cx="19462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$_GET['firstname']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3837763"/>
            <a:ext cx="18389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$_GET['lastname']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72338" y="3393494"/>
            <a:ext cx="1355725" cy="247650"/>
            <a:chOff x="2672338" y="3393494"/>
            <a:chExt cx="1355725" cy="247650"/>
          </a:xfrm>
        </p:grpSpPr>
        <p:sp>
          <p:nvSpPr>
            <p:cNvPr id="6" name="object 6"/>
            <p:cNvSpPr/>
            <p:nvPr/>
          </p:nvSpPr>
          <p:spPr>
            <a:xfrm>
              <a:off x="2677100" y="3398256"/>
              <a:ext cx="1346200" cy="238125"/>
            </a:xfrm>
            <a:custGeom>
              <a:avLst/>
              <a:gdLst/>
              <a:ahLst/>
              <a:cxnLst/>
              <a:rect l="l" t="t" r="r" b="b"/>
              <a:pathLst>
                <a:path w="1346200" h="238125">
                  <a:moveTo>
                    <a:pt x="117298" y="238109"/>
                  </a:moveTo>
                  <a:lnTo>
                    <a:pt x="0" y="133724"/>
                  </a:lnTo>
                  <a:lnTo>
                    <a:pt x="104398" y="16409"/>
                  </a:lnTo>
                  <a:lnTo>
                    <a:pt x="107623" y="71834"/>
                  </a:lnTo>
                  <a:lnTo>
                    <a:pt x="1339274" y="0"/>
                  </a:lnTo>
                  <a:lnTo>
                    <a:pt x="1345724" y="110849"/>
                  </a:lnTo>
                  <a:lnTo>
                    <a:pt x="114073" y="182684"/>
                  </a:lnTo>
                  <a:lnTo>
                    <a:pt x="117298" y="238109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77100" y="3398256"/>
              <a:ext cx="1346200" cy="238125"/>
            </a:xfrm>
            <a:custGeom>
              <a:avLst/>
              <a:gdLst/>
              <a:ahLst/>
              <a:cxnLst/>
              <a:rect l="l" t="t" r="r" b="b"/>
              <a:pathLst>
                <a:path w="1346200" h="238125">
                  <a:moveTo>
                    <a:pt x="0" y="133724"/>
                  </a:moveTo>
                  <a:lnTo>
                    <a:pt x="104398" y="16409"/>
                  </a:lnTo>
                  <a:lnTo>
                    <a:pt x="107623" y="71834"/>
                  </a:lnTo>
                  <a:lnTo>
                    <a:pt x="1339274" y="0"/>
                  </a:lnTo>
                  <a:lnTo>
                    <a:pt x="1345724" y="110849"/>
                  </a:lnTo>
                  <a:lnTo>
                    <a:pt x="114073" y="182684"/>
                  </a:lnTo>
                  <a:lnTo>
                    <a:pt x="117298" y="238109"/>
                  </a:lnTo>
                  <a:lnTo>
                    <a:pt x="0" y="133724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84725" y="1176350"/>
            <a:ext cx="8273415" cy="230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when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user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enters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information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clicks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submit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button,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 </a:t>
            </a:r>
            <a:r>
              <a:rPr sz="1800" spc="-5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data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sent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20" dirty="0">
                <a:solidFill>
                  <a:srgbClr val="5E686C"/>
                </a:solidFill>
                <a:latin typeface="Tahoma"/>
                <a:cs typeface="Tahoma"/>
              </a:rPr>
              <a:t>PHP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file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specified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by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action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attribute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spc="50" dirty="0">
                <a:solidFill>
                  <a:srgbClr val="5E686C"/>
                </a:solidFill>
                <a:latin typeface="Tahoma"/>
                <a:cs typeface="Tahoma"/>
              </a:rPr>
              <a:t>When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GET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method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5E686C"/>
                </a:solidFill>
                <a:latin typeface="Tahoma"/>
                <a:cs typeface="Tahoma"/>
              </a:rPr>
              <a:t>used,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data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saved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array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called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$_GET</a:t>
            </a:r>
            <a:endParaRPr sz="1800">
              <a:latin typeface="Tahoma"/>
              <a:cs typeface="Tahoma"/>
            </a:endParaRPr>
          </a:p>
          <a:p>
            <a:pPr marL="12700" marR="113030">
              <a:lnSpc>
                <a:spcPct val="114599"/>
              </a:lnSpc>
              <a:spcBef>
                <a:spcPts val="1575"/>
              </a:spcBef>
            </a:pP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$_GET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associative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array,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field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names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used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as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array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keys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 </a:t>
            </a:r>
            <a:r>
              <a:rPr sz="1800" spc="-5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field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stored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as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values</a:t>
            </a:r>
            <a:endParaRPr sz="1800">
              <a:latin typeface="Tahoma"/>
              <a:cs typeface="Tahoma"/>
            </a:endParaRPr>
          </a:p>
          <a:p>
            <a:pPr marL="3963670">
              <a:lnSpc>
                <a:spcPct val="100000"/>
              </a:lnSpc>
              <a:spcBef>
                <a:spcPts val="715"/>
              </a:spcBef>
            </a:pPr>
            <a:r>
              <a:rPr sz="1400" spc="5" dirty="0">
                <a:latin typeface="Tahoma"/>
                <a:cs typeface="Tahoma"/>
              </a:rPr>
              <a:t>This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array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element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holds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value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35750" y="3448963"/>
            <a:ext cx="22993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30" dirty="0">
                <a:latin typeface="Tahoma"/>
                <a:cs typeface="Tahoma"/>
              </a:rPr>
              <a:t>for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firstname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field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form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11500" y="4031206"/>
            <a:ext cx="1337310" cy="425450"/>
            <a:chOff x="2611500" y="4031206"/>
            <a:chExt cx="1337310" cy="425450"/>
          </a:xfrm>
        </p:grpSpPr>
        <p:sp>
          <p:nvSpPr>
            <p:cNvPr id="11" name="object 11"/>
            <p:cNvSpPr/>
            <p:nvPr/>
          </p:nvSpPr>
          <p:spPr>
            <a:xfrm>
              <a:off x="2616262" y="4035969"/>
              <a:ext cx="1327785" cy="415925"/>
            </a:xfrm>
            <a:custGeom>
              <a:avLst/>
              <a:gdLst/>
              <a:ahLst/>
              <a:cxnLst/>
              <a:rect l="l" t="t" r="r" b="b"/>
              <a:pathLst>
                <a:path w="1327785" h="415925">
                  <a:moveTo>
                    <a:pt x="1304774" y="415301"/>
                  </a:moveTo>
                  <a:lnTo>
                    <a:pt x="97264" y="162899"/>
                  </a:lnTo>
                  <a:lnTo>
                    <a:pt x="85939" y="217199"/>
                  </a:lnTo>
                  <a:lnTo>
                    <a:pt x="0" y="85901"/>
                  </a:lnTo>
                  <a:lnTo>
                    <a:pt x="131239" y="0"/>
                  </a:lnTo>
                  <a:lnTo>
                    <a:pt x="119914" y="54299"/>
                  </a:lnTo>
                  <a:lnTo>
                    <a:pt x="1327424" y="306701"/>
                  </a:lnTo>
                  <a:lnTo>
                    <a:pt x="1304774" y="415301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16262" y="4035969"/>
              <a:ext cx="1327785" cy="415925"/>
            </a:xfrm>
            <a:custGeom>
              <a:avLst/>
              <a:gdLst/>
              <a:ahLst/>
              <a:cxnLst/>
              <a:rect l="l" t="t" r="r" b="b"/>
              <a:pathLst>
                <a:path w="1327785" h="415925">
                  <a:moveTo>
                    <a:pt x="0" y="85901"/>
                  </a:moveTo>
                  <a:lnTo>
                    <a:pt x="131239" y="0"/>
                  </a:lnTo>
                  <a:lnTo>
                    <a:pt x="119914" y="54299"/>
                  </a:lnTo>
                  <a:lnTo>
                    <a:pt x="1327424" y="306701"/>
                  </a:lnTo>
                  <a:lnTo>
                    <a:pt x="1304774" y="415301"/>
                  </a:lnTo>
                  <a:lnTo>
                    <a:pt x="97264" y="162899"/>
                  </a:lnTo>
                  <a:lnTo>
                    <a:pt x="85939" y="217199"/>
                  </a:lnTo>
                  <a:lnTo>
                    <a:pt x="0" y="85901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82800" y="4053088"/>
            <a:ext cx="267144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5" dirty="0">
                <a:latin typeface="Tahoma"/>
                <a:cs typeface="Tahoma"/>
              </a:rPr>
              <a:t>This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array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element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holds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value  </a:t>
            </a:r>
            <a:r>
              <a:rPr sz="1400" spc="30" dirty="0">
                <a:latin typeface="Tahoma"/>
                <a:cs typeface="Tahoma"/>
              </a:rPr>
              <a:t>for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lastname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field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form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46056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Using</a:t>
            </a:r>
            <a:r>
              <a:rPr spc="-75" dirty="0"/>
              <a:t> </a:t>
            </a:r>
            <a:r>
              <a:rPr spc="110" dirty="0"/>
              <a:t>Form</a:t>
            </a:r>
            <a:r>
              <a:rPr spc="-70" dirty="0"/>
              <a:t> </a:t>
            </a:r>
            <a:r>
              <a:rPr spc="85" dirty="0"/>
              <a:t>Data</a:t>
            </a:r>
            <a:r>
              <a:rPr spc="-70" dirty="0"/>
              <a:t> </a:t>
            </a:r>
            <a:r>
              <a:rPr spc="150" dirty="0"/>
              <a:t>in</a:t>
            </a:r>
            <a:r>
              <a:rPr spc="-70" dirty="0"/>
              <a:t> </a:t>
            </a:r>
            <a:r>
              <a:rPr spc="85" dirty="0"/>
              <a:t>PHP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7985125" cy="156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40" dirty="0">
                <a:solidFill>
                  <a:srgbClr val="5E686C"/>
                </a:solidFill>
                <a:latin typeface="Tahoma"/>
                <a:cs typeface="Tahoma"/>
              </a:rPr>
              <a:t>Once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know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how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access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data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PHP,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just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like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any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other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variable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spc="-65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example,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write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20" dirty="0">
                <a:solidFill>
                  <a:srgbClr val="5E686C"/>
                </a:solidFill>
                <a:latin typeface="Tahoma"/>
                <a:cs typeface="Tahoma"/>
              </a:rPr>
              <a:t>PHP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function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welcomes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user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our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web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site.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400" spc="-5" dirty="0">
                <a:latin typeface="Arial MT"/>
                <a:cs typeface="Arial MT"/>
              </a:rPr>
              <a:t>process.php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699" y="2809700"/>
            <a:ext cx="7447280" cy="22098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ts val="1664"/>
              </a:lnSpc>
              <a:spcBef>
                <a:spcPts val="620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&lt;?php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function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welcome($fname,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$lname)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{</a:t>
            </a:r>
            <a:endParaRPr sz="1400" dirty="0">
              <a:latin typeface="Courier New"/>
              <a:cs typeface="Courier New"/>
            </a:endParaRPr>
          </a:p>
          <a:p>
            <a:pPr marL="61912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echo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'&lt;h1&gt;Welcome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'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.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$fname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'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'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$lname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'!&lt;/h1&gt;';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664"/>
              </a:lnSpc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}</a:t>
            </a:r>
            <a:endParaRPr sz="1400" dirty="0">
              <a:latin typeface="Courier New"/>
              <a:cs typeface="Courier New"/>
            </a:endParaRPr>
          </a:p>
          <a:p>
            <a:pPr marL="299085">
              <a:lnSpc>
                <a:spcPts val="1664"/>
              </a:lnSpc>
              <a:spcBef>
                <a:spcPts val="1620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welcome($_GET['firstname'],</a:t>
            </a:r>
            <a:r>
              <a:rPr sz="1400" spc="-7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$_GET['lastname'])</a:t>
            </a:r>
            <a:endParaRPr sz="1400" dirty="0">
              <a:latin typeface="Courier New"/>
              <a:cs typeface="Courier New"/>
            </a:endParaRPr>
          </a:p>
          <a:p>
            <a:pPr marL="85725">
              <a:lnSpc>
                <a:spcPts val="1664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?&gt;</a:t>
            </a:r>
            <a:endParaRPr sz="14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4994" name="Picture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5146"/>
            <a:ext cx="8991600" cy="3728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460750"/>
            <a:ext cx="4286250" cy="130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8636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8374549" cy="492443"/>
          </a:xfrm>
        </p:spPr>
        <p:txBody>
          <a:bodyPr/>
          <a:lstStyle/>
          <a:p>
            <a:r>
              <a:rPr lang="en-IE" altLang="en-US" dirty="0" smtClean="0"/>
              <a:t>Example - $_GET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384725" y="1176350"/>
            <a:ext cx="8374549" cy="2049792"/>
          </a:xfrm>
        </p:spPr>
        <p:txBody>
          <a:bodyPr/>
          <a:lstStyle/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en-US" sz="1600" dirty="0" smtClean="0">
                <a:latin typeface="+mj-lt"/>
              </a:rPr>
              <a:t>&lt;html&gt;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en-US" sz="1600" dirty="0" smtClean="0">
                <a:latin typeface="+mj-lt"/>
              </a:rPr>
              <a:t>&lt;body&gt;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en-US" sz="1600" dirty="0" smtClean="0">
                <a:latin typeface="+mj-lt"/>
              </a:rPr>
              <a:t>&lt;form action="</a:t>
            </a:r>
            <a:r>
              <a:rPr lang="en-IE" altLang="en-US" sz="1600" dirty="0" err="1" smtClean="0">
                <a:latin typeface="+mj-lt"/>
              </a:rPr>
              <a:t>newpage.php</a:t>
            </a:r>
            <a:r>
              <a:rPr lang="en-IE" altLang="en-US" sz="1600" dirty="0" smtClean="0">
                <a:latin typeface="+mj-lt"/>
              </a:rPr>
              <a:t>" method="post"&gt;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en-US" sz="1600" dirty="0" smtClean="0">
                <a:latin typeface="+mj-lt"/>
              </a:rPr>
              <a:t>Name: &lt;input type="text" name="name"&gt;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en-US" sz="1600" dirty="0" smtClean="0">
                <a:latin typeface="+mj-lt"/>
              </a:rPr>
              <a:t>Age: &lt;input type="text" name="age"&gt;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en-US" sz="1600" dirty="0" smtClean="0">
                <a:latin typeface="+mj-lt"/>
              </a:rPr>
              <a:t>&lt;input type="submit"&gt;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en-US" sz="1600" dirty="0" smtClean="0">
                <a:latin typeface="+mj-lt"/>
              </a:rPr>
              <a:t>&lt;/form&gt;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en-US" sz="1600" dirty="0" smtClean="0">
                <a:latin typeface="+mj-lt"/>
              </a:rPr>
              <a:t>&lt;/body&gt;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en-US" sz="1600" dirty="0" smtClean="0">
                <a:latin typeface="+mj-lt"/>
              </a:rPr>
              <a:t>&lt;/html&gt;</a:t>
            </a:r>
          </a:p>
          <a:p>
            <a:endParaRPr lang="en-IE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73317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8374549" cy="492443"/>
          </a:xfrm>
        </p:spPr>
        <p:txBody>
          <a:bodyPr/>
          <a:lstStyle/>
          <a:p>
            <a:r>
              <a:rPr lang="en-IE" altLang="en-US" dirty="0" smtClean="0"/>
              <a:t>Example - $_GET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IE" dirty="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&lt;body&gt;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Welcome &lt;?php echo $_GET["name"];?&gt;.&lt;</a:t>
            </a:r>
            <a:r>
              <a:rPr lang="en-IE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br</a:t>
            </a: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/&gt;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IE" dirty="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You are &lt;?php echo $_GET["age"];?&gt; years old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IE" dirty="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&lt;/body&gt;</a:t>
            </a:r>
          </a:p>
        </p:txBody>
      </p:sp>
    </p:spTree>
    <p:extLst>
      <p:ext uri="{BB962C8B-B14F-4D97-AF65-F5344CB8AC3E}">
        <p14:creationId xmlns:p14="http://schemas.microsoft.com/office/powerpoint/2010/main" val="82047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8374549" cy="492443"/>
          </a:xfrm>
        </p:spPr>
        <p:txBody>
          <a:bodyPr/>
          <a:lstStyle/>
          <a:p>
            <a:r>
              <a:rPr lang="en-US" dirty="0" err="1" smtClean="0"/>
              <a:t>Isset</a:t>
            </a:r>
            <a:r>
              <a:rPr lang="en-US" dirty="0" smtClean="0"/>
              <a:t> function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725" y="1176350"/>
            <a:ext cx="8374549" cy="1384995"/>
          </a:xfrm>
        </p:spPr>
        <p:txBody>
          <a:bodyPr/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The </a:t>
            </a:r>
            <a:r>
              <a:rPr lang="en-US" dirty="0" err="1"/>
              <a:t>isset</a:t>
            </a:r>
            <a:r>
              <a:rPr lang="en-US" dirty="0"/>
              <a:t>() function checks whether a variable is set, which means that it has to be declared and is not </a:t>
            </a:r>
            <a:r>
              <a:rPr lang="en-US" dirty="0" smtClean="0"/>
              <a:t>null.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dirty="0" smtClean="0"/>
              <a:t>This </a:t>
            </a:r>
            <a:r>
              <a:rPr lang="en-US" dirty="0"/>
              <a:t>function returns true if the variable exists and is not null, otherwise it returns false.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571750"/>
            <a:ext cx="7078663" cy="187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657600" y="2724150"/>
            <a:ext cx="2057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USE $_GET HERE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70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31108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method="POST"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341995" cy="14827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built-in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b="1" spc="-125" dirty="0">
                <a:solidFill>
                  <a:srgbClr val="F45E61"/>
                </a:solidFill>
                <a:latin typeface="Tahoma"/>
                <a:cs typeface="Tahoma"/>
              </a:rPr>
              <a:t>$_POST</a:t>
            </a:r>
            <a:r>
              <a:rPr sz="1800" b="1" spc="-175" dirty="0">
                <a:solidFill>
                  <a:srgbClr val="F45E61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array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used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collect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from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sent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b="1" spc="-140" dirty="0">
                <a:solidFill>
                  <a:srgbClr val="F45E61"/>
                </a:solidFill>
                <a:latin typeface="Tahoma"/>
                <a:cs typeface="Tahoma"/>
              </a:rPr>
              <a:t>method="post"</a:t>
            </a:r>
            <a:r>
              <a:rPr sz="1800" spc="-140" dirty="0">
                <a:solidFill>
                  <a:srgbClr val="5E686C"/>
                </a:solidFill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  <a:spcBef>
                <a:spcPts val="1575"/>
              </a:spcBef>
            </a:pP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Information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sent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from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POST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method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invisible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others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has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no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limits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amount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of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information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5E686C"/>
                </a:solidFill>
                <a:latin typeface="Tahoma"/>
                <a:cs typeface="Tahoma"/>
              </a:rPr>
              <a:t>send.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7826" name="Picture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3350"/>
            <a:ext cx="91440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676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51657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Form</a:t>
            </a:r>
            <a:r>
              <a:rPr spc="-70" dirty="0"/>
              <a:t> </a:t>
            </a:r>
            <a:r>
              <a:rPr spc="135" dirty="0"/>
              <a:t>with</a:t>
            </a:r>
            <a:r>
              <a:rPr spc="-65" dirty="0"/>
              <a:t> </a:t>
            </a:r>
            <a:r>
              <a:rPr spc="15" dirty="0"/>
              <a:t>method="POST"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699" y="1633099"/>
            <a:ext cx="5211445" cy="22098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85725" marR="1278890">
              <a:lnSpc>
                <a:spcPts val="1650"/>
              </a:lnSpc>
              <a:spcBef>
                <a:spcPts val="695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&lt;form name="myForm" id="myForm"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F45E61"/>
                </a:solidFill>
                <a:latin typeface="Courier New"/>
                <a:cs typeface="Courier New"/>
              </a:rPr>
              <a:t>action="process2.php"</a:t>
            </a:r>
            <a:r>
              <a:rPr sz="1400" spc="-85" dirty="0">
                <a:solidFill>
                  <a:srgbClr val="F45E61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F45E61"/>
                </a:solidFill>
                <a:latin typeface="Courier New"/>
                <a:cs typeface="Courier New"/>
              </a:rPr>
              <a:t>method="POST"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585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&lt;br&gt;&lt;br&gt;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&lt;span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id="firstname"&gt;Firstname: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&lt;/span&gt;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type="text"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name="firstname"&gt;&lt;br&gt;&lt;br&gt;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&lt;span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id="lastname"&gt;Lastname: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&lt;/span&gt;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type="text"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name="lastname"&gt;&lt;br&gt;&lt;br&gt;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type="submit"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name="submitBtn"&gt;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&lt;input</a:t>
            </a:r>
            <a:r>
              <a:rPr sz="1400" spc="-4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type="reset"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name="resetBtn"&gt;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64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&lt;/form&gt;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3275" y="1834350"/>
            <a:ext cx="3328774" cy="17096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4725" y="1330512"/>
            <a:ext cx="93471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MT"/>
                <a:cs typeface="Arial MT"/>
              </a:rPr>
              <a:t>index3.html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4550" y="4081588"/>
            <a:ext cx="3516629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just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latin typeface="Arial MT"/>
                <a:cs typeface="Arial MT"/>
              </a:rPr>
              <a:t>We are telling the browser to </a:t>
            </a:r>
            <a:r>
              <a:rPr sz="1400" dirty="0">
                <a:latin typeface="Arial MT"/>
                <a:cs typeface="Arial MT"/>
              </a:rPr>
              <a:t>send </a:t>
            </a:r>
            <a:r>
              <a:rPr sz="1400" spc="-5" dirty="0">
                <a:latin typeface="Arial MT"/>
                <a:cs typeface="Arial MT"/>
              </a:rPr>
              <a:t>form data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to "process.php" file by using "post" </a:t>
            </a:r>
            <a:r>
              <a:rPr sz="1400" dirty="0">
                <a:latin typeface="Arial MT"/>
                <a:cs typeface="Arial MT"/>
              </a:rPr>
              <a:t>method,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upon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form </a:t>
            </a:r>
            <a:r>
              <a:rPr sz="1400" dirty="0">
                <a:latin typeface="Arial MT"/>
                <a:cs typeface="Arial MT"/>
              </a:rPr>
              <a:t>submission.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770953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0" dirty="0"/>
              <a:t>Accessing</a:t>
            </a:r>
            <a:r>
              <a:rPr spc="-60" dirty="0"/>
              <a:t> </a:t>
            </a:r>
            <a:r>
              <a:rPr spc="110" dirty="0"/>
              <a:t>Form</a:t>
            </a:r>
            <a:r>
              <a:rPr spc="-55" dirty="0"/>
              <a:t> </a:t>
            </a:r>
            <a:r>
              <a:rPr spc="85" dirty="0"/>
              <a:t>Data</a:t>
            </a:r>
            <a:r>
              <a:rPr spc="-55" dirty="0"/>
              <a:t> </a:t>
            </a:r>
            <a:r>
              <a:rPr spc="150" dirty="0"/>
              <a:t>in</a:t>
            </a:r>
            <a:r>
              <a:rPr spc="-55" dirty="0"/>
              <a:t> </a:t>
            </a:r>
            <a:r>
              <a:rPr spc="85" dirty="0"/>
              <a:t>PHP</a:t>
            </a:r>
            <a:r>
              <a:rPr spc="-55" dirty="0"/>
              <a:t> </a:t>
            </a:r>
            <a:r>
              <a:rPr spc="170" dirty="0"/>
              <a:t>using</a:t>
            </a:r>
            <a:r>
              <a:rPr spc="-55" dirty="0"/>
              <a:t> </a:t>
            </a:r>
            <a:r>
              <a:rPr spc="55" dirty="0"/>
              <a:t>POST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3390088"/>
            <a:ext cx="20529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$_POST['firstname']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3837763"/>
            <a:ext cx="194563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$_POST['lastname']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72338" y="3393494"/>
            <a:ext cx="1355725" cy="247650"/>
            <a:chOff x="2672338" y="3393494"/>
            <a:chExt cx="1355725" cy="247650"/>
          </a:xfrm>
        </p:grpSpPr>
        <p:sp>
          <p:nvSpPr>
            <p:cNvPr id="6" name="object 6"/>
            <p:cNvSpPr/>
            <p:nvPr/>
          </p:nvSpPr>
          <p:spPr>
            <a:xfrm>
              <a:off x="2677100" y="3398256"/>
              <a:ext cx="1346200" cy="238125"/>
            </a:xfrm>
            <a:custGeom>
              <a:avLst/>
              <a:gdLst/>
              <a:ahLst/>
              <a:cxnLst/>
              <a:rect l="l" t="t" r="r" b="b"/>
              <a:pathLst>
                <a:path w="1346200" h="238125">
                  <a:moveTo>
                    <a:pt x="117298" y="238109"/>
                  </a:moveTo>
                  <a:lnTo>
                    <a:pt x="0" y="133724"/>
                  </a:lnTo>
                  <a:lnTo>
                    <a:pt x="104398" y="16409"/>
                  </a:lnTo>
                  <a:lnTo>
                    <a:pt x="107623" y="71834"/>
                  </a:lnTo>
                  <a:lnTo>
                    <a:pt x="1339274" y="0"/>
                  </a:lnTo>
                  <a:lnTo>
                    <a:pt x="1345724" y="110849"/>
                  </a:lnTo>
                  <a:lnTo>
                    <a:pt x="114073" y="182684"/>
                  </a:lnTo>
                  <a:lnTo>
                    <a:pt x="117298" y="238109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77100" y="3398256"/>
              <a:ext cx="1346200" cy="238125"/>
            </a:xfrm>
            <a:custGeom>
              <a:avLst/>
              <a:gdLst/>
              <a:ahLst/>
              <a:cxnLst/>
              <a:rect l="l" t="t" r="r" b="b"/>
              <a:pathLst>
                <a:path w="1346200" h="238125">
                  <a:moveTo>
                    <a:pt x="0" y="133724"/>
                  </a:moveTo>
                  <a:lnTo>
                    <a:pt x="104398" y="16409"/>
                  </a:lnTo>
                  <a:lnTo>
                    <a:pt x="107623" y="71834"/>
                  </a:lnTo>
                  <a:lnTo>
                    <a:pt x="1339274" y="0"/>
                  </a:lnTo>
                  <a:lnTo>
                    <a:pt x="1345724" y="110849"/>
                  </a:lnTo>
                  <a:lnTo>
                    <a:pt x="114073" y="182684"/>
                  </a:lnTo>
                  <a:lnTo>
                    <a:pt x="117298" y="238109"/>
                  </a:lnTo>
                  <a:lnTo>
                    <a:pt x="0" y="133724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84725" y="1176350"/>
            <a:ext cx="8308340" cy="230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370">
              <a:lnSpc>
                <a:spcPct val="114599"/>
              </a:lnSpc>
              <a:spcBef>
                <a:spcPts val="100"/>
              </a:spcBef>
            </a:pP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when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user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enters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information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clicks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submit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button,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 </a:t>
            </a:r>
            <a:r>
              <a:rPr sz="1800" spc="-55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data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sent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20" dirty="0">
                <a:solidFill>
                  <a:srgbClr val="5E686C"/>
                </a:solidFill>
                <a:latin typeface="Tahoma"/>
                <a:cs typeface="Tahoma"/>
              </a:rPr>
              <a:t>PHP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file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specified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by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action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attribute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spc="50" dirty="0">
                <a:solidFill>
                  <a:srgbClr val="5E686C"/>
                </a:solidFill>
                <a:latin typeface="Tahoma"/>
                <a:cs typeface="Tahoma"/>
              </a:rPr>
              <a:t>When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POST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method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40" dirty="0">
                <a:solidFill>
                  <a:srgbClr val="5E686C"/>
                </a:solidFill>
                <a:latin typeface="Tahoma"/>
                <a:cs typeface="Tahoma"/>
              </a:rPr>
              <a:t>used,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data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will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be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saved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array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called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$_POST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14599"/>
              </a:lnSpc>
              <a:spcBef>
                <a:spcPts val="1575"/>
              </a:spcBef>
            </a:pP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$_POST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is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an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associative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array,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with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field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5E686C"/>
                </a:solidFill>
                <a:latin typeface="Tahoma"/>
                <a:cs typeface="Tahoma"/>
              </a:rPr>
              <a:t>names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used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as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array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keys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and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field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stored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0" dirty="0">
                <a:solidFill>
                  <a:srgbClr val="5E686C"/>
                </a:solidFill>
                <a:latin typeface="Tahoma"/>
                <a:cs typeface="Tahoma"/>
              </a:rPr>
              <a:t>as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values</a:t>
            </a:r>
            <a:endParaRPr sz="1800">
              <a:latin typeface="Tahoma"/>
              <a:cs typeface="Tahoma"/>
            </a:endParaRPr>
          </a:p>
          <a:p>
            <a:pPr marL="3963670">
              <a:lnSpc>
                <a:spcPct val="100000"/>
              </a:lnSpc>
              <a:spcBef>
                <a:spcPts val="715"/>
              </a:spcBef>
            </a:pPr>
            <a:r>
              <a:rPr sz="1400" spc="5" dirty="0">
                <a:latin typeface="Tahoma"/>
                <a:cs typeface="Tahoma"/>
              </a:rPr>
              <a:t>This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array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element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holds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value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35750" y="3448963"/>
            <a:ext cx="22993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30" dirty="0">
                <a:latin typeface="Tahoma"/>
                <a:cs typeface="Tahoma"/>
              </a:rPr>
              <a:t>for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firstname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field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form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11500" y="4031206"/>
            <a:ext cx="1337310" cy="425450"/>
            <a:chOff x="2611500" y="4031206"/>
            <a:chExt cx="1337310" cy="425450"/>
          </a:xfrm>
        </p:grpSpPr>
        <p:sp>
          <p:nvSpPr>
            <p:cNvPr id="11" name="object 11"/>
            <p:cNvSpPr/>
            <p:nvPr/>
          </p:nvSpPr>
          <p:spPr>
            <a:xfrm>
              <a:off x="2616262" y="4035969"/>
              <a:ext cx="1327785" cy="415925"/>
            </a:xfrm>
            <a:custGeom>
              <a:avLst/>
              <a:gdLst/>
              <a:ahLst/>
              <a:cxnLst/>
              <a:rect l="l" t="t" r="r" b="b"/>
              <a:pathLst>
                <a:path w="1327785" h="415925">
                  <a:moveTo>
                    <a:pt x="1304774" y="415301"/>
                  </a:moveTo>
                  <a:lnTo>
                    <a:pt x="97264" y="162899"/>
                  </a:lnTo>
                  <a:lnTo>
                    <a:pt x="85939" y="217199"/>
                  </a:lnTo>
                  <a:lnTo>
                    <a:pt x="0" y="85901"/>
                  </a:lnTo>
                  <a:lnTo>
                    <a:pt x="131239" y="0"/>
                  </a:lnTo>
                  <a:lnTo>
                    <a:pt x="119914" y="54299"/>
                  </a:lnTo>
                  <a:lnTo>
                    <a:pt x="1327424" y="306701"/>
                  </a:lnTo>
                  <a:lnTo>
                    <a:pt x="1304774" y="415301"/>
                  </a:lnTo>
                  <a:close/>
                </a:path>
              </a:pathLst>
            </a:custGeom>
            <a:solidFill>
              <a:srgbClr val="BEC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16262" y="4035969"/>
              <a:ext cx="1327785" cy="415925"/>
            </a:xfrm>
            <a:custGeom>
              <a:avLst/>
              <a:gdLst/>
              <a:ahLst/>
              <a:cxnLst/>
              <a:rect l="l" t="t" r="r" b="b"/>
              <a:pathLst>
                <a:path w="1327785" h="415925">
                  <a:moveTo>
                    <a:pt x="0" y="85901"/>
                  </a:moveTo>
                  <a:lnTo>
                    <a:pt x="131239" y="0"/>
                  </a:lnTo>
                  <a:lnTo>
                    <a:pt x="119914" y="54299"/>
                  </a:lnTo>
                  <a:lnTo>
                    <a:pt x="1327424" y="306701"/>
                  </a:lnTo>
                  <a:lnTo>
                    <a:pt x="1304774" y="415301"/>
                  </a:lnTo>
                  <a:lnTo>
                    <a:pt x="97264" y="162899"/>
                  </a:lnTo>
                  <a:lnTo>
                    <a:pt x="85939" y="217199"/>
                  </a:lnTo>
                  <a:lnTo>
                    <a:pt x="0" y="85901"/>
                  </a:lnTo>
                  <a:close/>
                </a:path>
              </a:pathLst>
            </a:custGeom>
            <a:ln w="9524">
              <a:solidFill>
                <a:srgbClr val="5E68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82800" y="4053088"/>
            <a:ext cx="267144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5" dirty="0">
                <a:latin typeface="Tahoma"/>
                <a:cs typeface="Tahoma"/>
              </a:rPr>
              <a:t>This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array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element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holds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value  </a:t>
            </a:r>
            <a:r>
              <a:rPr sz="1400" spc="30" dirty="0">
                <a:latin typeface="Tahoma"/>
                <a:cs typeface="Tahoma"/>
              </a:rPr>
              <a:t>for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lastname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20" dirty="0">
                <a:latin typeface="Tahoma"/>
                <a:cs typeface="Tahoma"/>
              </a:rPr>
              <a:t>field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in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the</a:t>
            </a:r>
            <a:r>
              <a:rPr sz="1400" spc="-17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form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7042" name="Picture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936736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04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170237"/>
            <a:ext cx="3898900" cy="1382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0867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448119"/>
            <a:ext cx="46056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Using</a:t>
            </a:r>
            <a:r>
              <a:rPr spc="-75" dirty="0"/>
              <a:t> </a:t>
            </a:r>
            <a:r>
              <a:rPr spc="110" dirty="0"/>
              <a:t>Form</a:t>
            </a:r>
            <a:r>
              <a:rPr spc="-70" dirty="0"/>
              <a:t> </a:t>
            </a:r>
            <a:r>
              <a:rPr spc="85" dirty="0"/>
              <a:t>Data</a:t>
            </a:r>
            <a:r>
              <a:rPr spc="-70" dirty="0"/>
              <a:t> </a:t>
            </a:r>
            <a:r>
              <a:rPr spc="150" dirty="0"/>
              <a:t>in</a:t>
            </a:r>
            <a:r>
              <a:rPr spc="-70" dirty="0"/>
              <a:t> </a:t>
            </a:r>
            <a:r>
              <a:rPr spc="85" dirty="0"/>
              <a:t>PHP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193405" cy="156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sz="1800" spc="40" dirty="0">
                <a:solidFill>
                  <a:srgbClr val="5E686C"/>
                </a:solidFill>
                <a:latin typeface="Tahoma"/>
                <a:cs typeface="Tahoma"/>
              </a:rPr>
              <a:t>Once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know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how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access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"POST"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form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5E686C"/>
                </a:solidFill>
                <a:latin typeface="Tahoma"/>
                <a:cs typeface="Tahoma"/>
              </a:rPr>
              <a:t>data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PHP,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you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can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5E686C"/>
                </a:solidFill>
                <a:latin typeface="Tahoma"/>
                <a:cs typeface="Tahoma"/>
              </a:rPr>
              <a:t>use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5" dirty="0">
                <a:solidFill>
                  <a:srgbClr val="5E686C"/>
                </a:solidFill>
                <a:latin typeface="Tahoma"/>
                <a:cs typeface="Tahoma"/>
              </a:rPr>
              <a:t>it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just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5" dirty="0">
                <a:solidFill>
                  <a:srgbClr val="5E686C"/>
                </a:solidFill>
                <a:latin typeface="Tahoma"/>
                <a:cs typeface="Tahoma"/>
              </a:rPr>
              <a:t>like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5E686C"/>
                </a:solidFill>
                <a:latin typeface="Tahoma"/>
                <a:cs typeface="Tahoma"/>
              </a:rPr>
              <a:t>any </a:t>
            </a:r>
            <a:r>
              <a:rPr sz="1800" spc="-54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other</a:t>
            </a:r>
            <a:r>
              <a:rPr sz="1800" spc="-22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variable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90"/>
              </a:spcBef>
            </a:pPr>
            <a:r>
              <a:rPr sz="1800" spc="-65" dirty="0">
                <a:solidFill>
                  <a:srgbClr val="5E686C"/>
                </a:solidFill>
                <a:latin typeface="Tahoma"/>
                <a:cs typeface="Tahoma"/>
              </a:rPr>
              <a:t>In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this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5E686C"/>
                </a:solidFill>
                <a:latin typeface="Tahoma"/>
                <a:cs typeface="Tahoma"/>
              </a:rPr>
              <a:t>example,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we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write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5E686C"/>
                </a:solidFill>
                <a:latin typeface="Tahoma"/>
                <a:cs typeface="Tahoma"/>
              </a:rPr>
              <a:t>a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20" dirty="0">
                <a:solidFill>
                  <a:srgbClr val="5E686C"/>
                </a:solidFill>
                <a:latin typeface="Tahoma"/>
                <a:cs typeface="Tahoma"/>
              </a:rPr>
              <a:t>PHP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function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5" dirty="0">
                <a:solidFill>
                  <a:srgbClr val="5E686C"/>
                </a:solidFill>
                <a:latin typeface="Tahoma"/>
                <a:cs typeface="Tahoma"/>
              </a:rPr>
              <a:t>that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5" dirty="0">
                <a:solidFill>
                  <a:srgbClr val="5E686C"/>
                </a:solidFill>
                <a:latin typeface="Tahoma"/>
                <a:cs typeface="Tahoma"/>
              </a:rPr>
              <a:t>welcomes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20" dirty="0">
                <a:solidFill>
                  <a:srgbClr val="5E686C"/>
                </a:solidFill>
                <a:latin typeface="Tahoma"/>
                <a:cs typeface="Tahoma"/>
              </a:rPr>
              <a:t>the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0" dirty="0">
                <a:solidFill>
                  <a:srgbClr val="5E686C"/>
                </a:solidFill>
                <a:latin typeface="Tahoma"/>
                <a:cs typeface="Tahoma"/>
              </a:rPr>
              <a:t>user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45" dirty="0">
                <a:solidFill>
                  <a:srgbClr val="5E686C"/>
                </a:solidFill>
                <a:latin typeface="Tahoma"/>
                <a:cs typeface="Tahoma"/>
              </a:rPr>
              <a:t>to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30" dirty="0">
                <a:solidFill>
                  <a:srgbClr val="5E686C"/>
                </a:solidFill>
                <a:latin typeface="Tahoma"/>
                <a:cs typeface="Tahoma"/>
              </a:rPr>
              <a:t>our</a:t>
            </a:r>
            <a:r>
              <a:rPr sz="1800" spc="-220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15" dirty="0">
                <a:solidFill>
                  <a:srgbClr val="5E686C"/>
                </a:solidFill>
                <a:latin typeface="Tahoma"/>
                <a:cs typeface="Tahoma"/>
              </a:rPr>
              <a:t>web</a:t>
            </a:r>
            <a:r>
              <a:rPr sz="1800" spc="-215" dirty="0">
                <a:solidFill>
                  <a:srgbClr val="5E686C"/>
                </a:solidFill>
                <a:latin typeface="Tahoma"/>
                <a:cs typeface="Tahoma"/>
              </a:rPr>
              <a:t> </a:t>
            </a:r>
            <a:r>
              <a:rPr sz="1800" spc="-15" dirty="0">
                <a:solidFill>
                  <a:srgbClr val="5E686C"/>
                </a:solidFill>
                <a:latin typeface="Tahoma"/>
                <a:cs typeface="Tahoma"/>
              </a:rPr>
              <a:t>site.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1400" spc="-5" dirty="0">
                <a:latin typeface="Arial MT"/>
                <a:cs typeface="Arial MT"/>
              </a:rPr>
              <a:t>process2.php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699" y="2809700"/>
            <a:ext cx="7447280" cy="22098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740" rIns="0" bIns="0" rtlCol="0">
            <a:spAutoFit/>
          </a:bodyPr>
          <a:lstStyle/>
          <a:p>
            <a:pPr marL="85725">
              <a:lnSpc>
                <a:spcPts val="1664"/>
              </a:lnSpc>
              <a:spcBef>
                <a:spcPts val="620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&lt;?php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function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welcome($fname,</a:t>
            </a:r>
            <a:r>
              <a:rPr sz="1400" spc="-4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$lname)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50"/>
              </a:lnSpc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619125">
              <a:lnSpc>
                <a:spcPts val="1650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echo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'&lt;h1&gt;Welcome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'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.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$fname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'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'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$lname</a:t>
            </a:r>
            <a:r>
              <a:rPr sz="1400" spc="-1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.</a:t>
            </a:r>
            <a:r>
              <a:rPr sz="1400" spc="-15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'!&lt;/h1&gt;';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64"/>
              </a:lnSpc>
            </a:pPr>
            <a:r>
              <a:rPr sz="1400" dirty="0">
                <a:solidFill>
                  <a:srgbClr val="0B5394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299085">
              <a:lnSpc>
                <a:spcPts val="1664"/>
              </a:lnSpc>
              <a:spcBef>
                <a:spcPts val="1620"/>
              </a:spcBef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welcome($_POST['firstname'],</a:t>
            </a:r>
            <a:r>
              <a:rPr sz="1400" spc="-70" dirty="0">
                <a:solidFill>
                  <a:srgbClr val="0B539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$_POST['lastname'])</a:t>
            </a:r>
            <a:endParaRPr sz="1400">
              <a:latin typeface="Courier New"/>
              <a:cs typeface="Courier New"/>
            </a:endParaRPr>
          </a:p>
          <a:p>
            <a:pPr marL="85725">
              <a:lnSpc>
                <a:spcPts val="1664"/>
              </a:lnSpc>
            </a:pPr>
            <a:r>
              <a:rPr sz="1400" spc="-5" dirty="0">
                <a:solidFill>
                  <a:srgbClr val="0B5394"/>
                </a:solidFill>
                <a:latin typeface="Courier New"/>
                <a:cs typeface="Courier New"/>
              </a:rPr>
              <a:t>?&gt;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8374549" cy="492443"/>
          </a:xfrm>
        </p:spPr>
        <p:txBody>
          <a:bodyPr/>
          <a:lstStyle/>
          <a:p>
            <a:r>
              <a:rPr lang="en-IE" altLang="en-US" smtClean="0"/>
              <a:t>Example - $_POST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&lt;html&gt;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IE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&lt;head&gt;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IE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&lt;title&gt;Grab form values&lt;/title&gt;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&lt;/head&gt;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IE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&lt;body&gt;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Welcome &lt;?</a:t>
            </a:r>
            <a:r>
              <a:rPr lang="en-IE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php</a:t>
            </a: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echo $_POST["name"];?&gt;.&lt;</a:t>
            </a:r>
            <a:r>
              <a:rPr lang="en-IE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br</a:t>
            </a: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/&gt;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IE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You are &lt;?</a:t>
            </a:r>
            <a:r>
              <a:rPr lang="en-IE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php</a:t>
            </a: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echo $_POST["age"];?&gt; years old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IE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&lt;/body&gt;</a:t>
            </a: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IE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IE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663164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25" y="448119"/>
            <a:ext cx="8374549" cy="492443"/>
          </a:xfrm>
        </p:spPr>
        <p:txBody>
          <a:bodyPr/>
          <a:lstStyle/>
          <a:p>
            <a:r>
              <a:rPr lang="en-US" dirty="0" err="1" smtClean="0"/>
              <a:t>Isset</a:t>
            </a:r>
            <a:r>
              <a:rPr lang="en-US" dirty="0" smtClean="0"/>
              <a:t> function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725" y="1176350"/>
            <a:ext cx="8374549" cy="1384995"/>
          </a:xfrm>
        </p:spPr>
        <p:txBody>
          <a:bodyPr/>
          <a:lstStyle/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The </a:t>
            </a:r>
            <a:r>
              <a:rPr lang="en-US" dirty="0" err="1"/>
              <a:t>isset</a:t>
            </a:r>
            <a:r>
              <a:rPr lang="en-US" dirty="0"/>
              <a:t>() function checks whether a variable is set, which means that it has to be declared and is not </a:t>
            </a:r>
            <a:r>
              <a:rPr lang="en-US" dirty="0" smtClean="0"/>
              <a:t>null.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dirty="0" smtClean="0"/>
              <a:t>This </a:t>
            </a:r>
            <a:r>
              <a:rPr lang="en-US" dirty="0"/>
              <a:t>function returns true if the variable exists and is not null, otherwise it returns false.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571750"/>
            <a:ext cx="7078663" cy="187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3215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E434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15017</TotalTime>
  <Words>1215</Words>
  <Application>Microsoft Office PowerPoint</Application>
  <PresentationFormat>On-screen Show (16:9)</PresentationFormat>
  <Paragraphs>138</Paragraphs>
  <Slides>24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 Form  Processing in  PHP</vt:lpstr>
      <vt:lpstr>Forms</vt:lpstr>
      <vt:lpstr>Forms</vt:lpstr>
      <vt:lpstr>Forms</vt:lpstr>
      <vt:lpstr>Forms GET vs. POST</vt:lpstr>
      <vt:lpstr>PowerPoint Presentation</vt:lpstr>
      <vt:lpstr>PowerPoint Presentation</vt:lpstr>
      <vt:lpstr>PowerPoint Presentation</vt:lpstr>
      <vt:lpstr>PowerPoint Presentation</vt:lpstr>
      <vt:lpstr>Forms</vt:lpstr>
      <vt:lpstr>Accessing Form Data in PHP using GET</vt:lpstr>
      <vt:lpstr>Using Form Data in PHP</vt:lpstr>
      <vt:lpstr>PowerPoint Presentation</vt:lpstr>
      <vt:lpstr>Example - $_GET</vt:lpstr>
      <vt:lpstr>Example - $_GET continued</vt:lpstr>
      <vt:lpstr>Isset function</vt:lpstr>
      <vt:lpstr>method="POST"</vt:lpstr>
      <vt:lpstr>PowerPoint Presentation</vt:lpstr>
      <vt:lpstr>Form with method="POST"</vt:lpstr>
      <vt:lpstr>Accessing Form Data in PHP using POST</vt:lpstr>
      <vt:lpstr>PowerPoint Presentation</vt:lpstr>
      <vt:lpstr>Using Form Data in PHP</vt:lpstr>
      <vt:lpstr>Example - $_POST continued</vt:lpstr>
      <vt:lpstr>Isset function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  Processing in  PHP</dc:title>
  <dc:creator>Saadia Sh</dc:creator>
  <cp:lastModifiedBy>Sadi Shabbit</cp:lastModifiedBy>
  <cp:revision>15</cp:revision>
  <dcterms:created xsi:type="dcterms:W3CDTF">2024-05-05T08:52:22Z</dcterms:created>
  <dcterms:modified xsi:type="dcterms:W3CDTF">2024-12-21T15:38:59Z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