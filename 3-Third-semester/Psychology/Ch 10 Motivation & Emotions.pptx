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5" r:id="rId9"/>
    <p:sldId id="266" r:id="rId10"/>
    <p:sldId id="267" r:id="rId11"/>
    <p:sldId id="268" r:id="rId12"/>
    <p:sldId id="260" r:id="rId13"/>
    <p:sldId id="269" r:id="rId14"/>
    <p:sldId id="270" r:id="rId15"/>
    <p:sldId id="271" r:id="rId16"/>
    <p:sldId id="26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12618C-940A-4DE6-869E-08FEE7AC40EB}"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2771362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12618C-940A-4DE6-869E-08FEE7AC40EB}"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3334110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912618C-940A-4DE6-869E-08FEE7AC40EB}"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1313922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12618C-940A-4DE6-869E-08FEE7AC40EB}" type="datetimeFigureOut">
              <a:rPr lang="en-US" smtClean="0"/>
              <a:t>5/17/2023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345110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12618C-940A-4DE6-869E-08FEE7AC40EB}" type="datetimeFigureOut">
              <a:rPr lang="en-US" smtClean="0"/>
              <a:t>5/17/2023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1026875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12618C-940A-4DE6-869E-08FEE7AC40EB}" type="datetimeFigureOut">
              <a:rPr lang="en-US" smtClean="0"/>
              <a:t>5/17/2023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4245286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12618C-940A-4DE6-869E-08FEE7AC40EB}" type="datetimeFigureOut">
              <a:rPr lang="en-US" smtClean="0"/>
              <a:t>5/17/2023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1017755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12618C-940A-4DE6-869E-08FEE7AC40EB}" type="datetimeFigureOut">
              <a:rPr lang="en-US" smtClean="0"/>
              <a:t>5/17/2023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2816084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12618C-940A-4DE6-869E-08FEE7AC40EB}" type="datetimeFigureOut">
              <a:rPr lang="en-US" smtClean="0"/>
              <a:t>5/17/2023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3598803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12618C-940A-4DE6-869E-08FEE7AC40EB}"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281756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12618C-940A-4DE6-869E-08FEE7AC40EB}"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9415B-EBB3-46DF-BE01-A691DD9FE37F}" type="slidenum">
              <a:rPr lang="en-US" smtClean="0"/>
              <a:t>‹#›</a:t>
            </a:fld>
            <a:endParaRPr lang="en-US"/>
          </a:p>
        </p:txBody>
      </p:sp>
    </p:spTree>
    <p:extLst>
      <p:ext uri="{BB962C8B-B14F-4D97-AF65-F5344CB8AC3E}">
        <p14:creationId xmlns:p14="http://schemas.microsoft.com/office/powerpoint/2010/main" val="3818003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12618C-940A-4DE6-869E-08FEE7AC40EB}" type="datetimeFigureOut">
              <a:rPr lang="en-US" smtClean="0"/>
              <a:t>5/17/2023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9415B-EBB3-46DF-BE01-A691DD9FE37F}" type="slidenum">
              <a:rPr lang="en-US" smtClean="0"/>
              <a:t>‹#›</a:t>
            </a:fld>
            <a:endParaRPr lang="en-US"/>
          </a:p>
        </p:txBody>
      </p:sp>
    </p:spTree>
    <p:extLst>
      <p:ext uri="{BB962C8B-B14F-4D97-AF65-F5344CB8AC3E}">
        <p14:creationId xmlns:p14="http://schemas.microsoft.com/office/powerpoint/2010/main" val="1679245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Motivation &amp; Emotions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733590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en-US" dirty="0"/>
          </a:p>
        </p:txBody>
      </p:sp>
      <p:sp>
        <p:nvSpPr>
          <p:cNvPr id="3" name="Content Placeholder 2"/>
          <p:cNvSpPr>
            <a:spLocks noGrp="1"/>
          </p:cNvSpPr>
          <p:nvPr>
            <p:ph idx="1"/>
          </p:nvPr>
        </p:nvSpPr>
        <p:spPr/>
        <p:txBody>
          <a:bodyPr/>
          <a:lstStyle/>
          <a:p>
            <a:r>
              <a:rPr lang="en-US" dirty="0" smtClean="0"/>
              <a:t>Motivation: </a:t>
            </a:r>
            <a:r>
              <a:rPr lang="en-US" dirty="0" smtClean="0"/>
              <a:t>the </a:t>
            </a:r>
            <a:r>
              <a:rPr lang="en-US" dirty="0" smtClean="0">
                <a:solidFill>
                  <a:srgbClr val="FF0000"/>
                </a:solidFill>
              </a:rPr>
              <a:t>factors that direct and energize the behavior</a:t>
            </a:r>
            <a:r>
              <a:rPr lang="en-US" dirty="0" smtClean="0"/>
              <a:t> of humans and other organisms</a:t>
            </a:r>
          </a:p>
          <a:p>
            <a:r>
              <a:rPr lang="en-US" dirty="0"/>
              <a:t>A </a:t>
            </a:r>
            <a:r>
              <a:rPr lang="en-US" b="1" dirty="0">
                <a:solidFill>
                  <a:srgbClr val="FF0000"/>
                </a:solidFill>
              </a:rPr>
              <a:t>motivation</a:t>
            </a:r>
            <a:r>
              <a:rPr lang="en-US" dirty="0">
                <a:solidFill>
                  <a:srgbClr val="FF0000"/>
                </a:solidFill>
              </a:rPr>
              <a:t> is </a:t>
            </a:r>
            <a:r>
              <a:rPr lang="en-US" i="1" dirty="0">
                <a:solidFill>
                  <a:srgbClr val="FF0000"/>
                </a:solidFill>
              </a:rPr>
              <a:t>a driving force </a:t>
            </a:r>
            <a:r>
              <a:rPr lang="en-US" i="1" dirty="0"/>
              <a:t>that initiates and directs </a:t>
            </a:r>
            <a:r>
              <a:rPr lang="en-US" i="1" dirty="0" smtClean="0"/>
              <a:t>behavior</a:t>
            </a:r>
            <a:r>
              <a:rPr lang="en-US" dirty="0" smtClean="0"/>
              <a:t>. </a:t>
            </a:r>
            <a:endParaRPr lang="en-US" dirty="0" smtClean="0"/>
          </a:p>
          <a:p>
            <a:r>
              <a:rPr lang="en-US" dirty="0" smtClean="0"/>
              <a:t>Some </a:t>
            </a:r>
            <a:r>
              <a:rPr lang="en-US" b="1" u="sng" dirty="0"/>
              <a:t>motivations are biological</a:t>
            </a:r>
            <a:r>
              <a:rPr lang="en-US" dirty="0"/>
              <a:t>, such as the motivation for food, water, and sex. </a:t>
            </a:r>
            <a:endParaRPr lang="en-US" dirty="0" smtClean="0"/>
          </a:p>
          <a:p>
            <a:r>
              <a:rPr lang="en-US" dirty="0" smtClean="0"/>
              <a:t>But </a:t>
            </a:r>
            <a:r>
              <a:rPr lang="en-US" dirty="0"/>
              <a:t>there are a variety of other </a:t>
            </a:r>
            <a:r>
              <a:rPr lang="en-US" b="1" u="sng" dirty="0"/>
              <a:t>personal and social motivations </a:t>
            </a:r>
            <a:r>
              <a:rPr lang="en-US" dirty="0"/>
              <a:t>that can influence </a:t>
            </a:r>
            <a:r>
              <a:rPr lang="en-US" dirty="0" smtClean="0"/>
              <a:t>behavior, </a:t>
            </a:r>
            <a:r>
              <a:rPr lang="en-US" dirty="0"/>
              <a:t>including the motivations for social approval and acceptance, the motivation to achieve, and the motivation to take, or to avoid taking, </a:t>
            </a:r>
            <a:r>
              <a:rPr lang="en-US" dirty="0" smtClean="0"/>
              <a:t>risks.</a:t>
            </a:r>
            <a:endParaRPr lang="en-US" dirty="0" smtClean="0"/>
          </a:p>
          <a:p>
            <a:endParaRPr lang="en-US" dirty="0"/>
          </a:p>
        </p:txBody>
      </p:sp>
    </p:spTree>
    <p:extLst>
      <p:ext uri="{BB962C8B-B14F-4D97-AF65-F5344CB8AC3E}">
        <p14:creationId xmlns:p14="http://schemas.microsoft.com/office/powerpoint/2010/main" val="485586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Motivations are often considered in psychology in terms of drives, which are </a:t>
            </a:r>
            <a:r>
              <a:rPr lang="en-US" dirty="0" smtClean="0">
                <a:solidFill>
                  <a:srgbClr val="FF0000"/>
                </a:solidFill>
              </a:rPr>
              <a:t>internal states </a:t>
            </a:r>
            <a:r>
              <a:rPr lang="en-US" dirty="0" smtClean="0"/>
              <a:t>that are activated when the physiological characteristics of the body are out of balance, </a:t>
            </a:r>
            <a:r>
              <a:rPr lang="en-US" dirty="0" smtClean="0">
                <a:solidFill>
                  <a:srgbClr val="FF0000"/>
                </a:solidFill>
              </a:rPr>
              <a:t>and goals</a:t>
            </a:r>
            <a:r>
              <a:rPr lang="en-US" dirty="0" smtClean="0"/>
              <a:t>, which are desired end states that we strive to attain. </a:t>
            </a:r>
          </a:p>
          <a:p>
            <a:r>
              <a:rPr lang="en-US" dirty="0" smtClean="0"/>
              <a:t>Motivation can thus be conceptualized as a </a:t>
            </a:r>
            <a:r>
              <a:rPr lang="en-US" dirty="0" smtClean="0">
                <a:solidFill>
                  <a:srgbClr val="FF0000"/>
                </a:solidFill>
              </a:rPr>
              <a:t>series of </a:t>
            </a:r>
            <a:r>
              <a:rPr lang="en-US" dirty="0" err="1" smtClean="0">
                <a:solidFill>
                  <a:srgbClr val="FF0000"/>
                </a:solidFill>
              </a:rPr>
              <a:t>behavioural</a:t>
            </a:r>
            <a:r>
              <a:rPr lang="en-US" dirty="0" smtClean="0">
                <a:solidFill>
                  <a:srgbClr val="FF0000"/>
                </a:solidFill>
              </a:rPr>
              <a:t> responses</a:t>
            </a:r>
            <a:r>
              <a:rPr lang="en-US" dirty="0" smtClean="0"/>
              <a:t> that lead us to </a:t>
            </a:r>
            <a:r>
              <a:rPr lang="en-US" u="sng" dirty="0" smtClean="0"/>
              <a:t>attempt to reduce drives and to attain goals </a:t>
            </a:r>
            <a:r>
              <a:rPr lang="en-US" dirty="0" smtClean="0"/>
              <a:t>by comparing our current state with a desired end state</a:t>
            </a:r>
            <a:endParaRPr lang="en-US" dirty="0"/>
          </a:p>
        </p:txBody>
      </p:sp>
    </p:spTree>
    <p:extLst>
      <p:ext uri="{BB962C8B-B14F-4D97-AF65-F5344CB8AC3E}">
        <p14:creationId xmlns:p14="http://schemas.microsoft.com/office/powerpoint/2010/main" val="1443448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internal thermostat</a:t>
            </a:r>
            <a:endParaRPr lang="en-US" dirty="0"/>
          </a:p>
        </p:txBody>
      </p:sp>
      <p:sp>
        <p:nvSpPr>
          <p:cNvPr id="3" name="Content Placeholder 2"/>
          <p:cNvSpPr>
            <a:spLocks noGrp="1"/>
          </p:cNvSpPr>
          <p:nvPr>
            <p:ph idx="1"/>
          </p:nvPr>
        </p:nvSpPr>
        <p:spPr/>
        <p:txBody>
          <a:bodyPr/>
          <a:lstStyle/>
          <a:p>
            <a:r>
              <a:rPr lang="en-US" dirty="0" smtClean="0"/>
              <a:t>Like a thermostat on an air conditioner, </a:t>
            </a:r>
            <a:r>
              <a:rPr lang="en-US" b="1" dirty="0" smtClean="0"/>
              <a:t>the body tries to maintain </a:t>
            </a:r>
            <a:r>
              <a:rPr lang="en-US" b="1" dirty="0" smtClean="0">
                <a:solidFill>
                  <a:srgbClr val="FF0000"/>
                </a:solidFill>
              </a:rPr>
              <a:t>homeostasis</a:t>
            </a:r>
            <a:r>
              <a:rPr lang="en-US" b="1" dirty="0" smtClean="0"/>
              <a:t>, the natural state of the body’s systems</a:t>
            </a:r>
            <a:r>
              <a:rPr lang="en-US" dirty="0" smtClean="0"/>
              <a:t>, with goals, drives, and arousal in balance. </a:t>
            </a:r>
          </a:p>
          <a:p>
            <a:r>
              <a:rPr lang="en-US" dirty="0" smtClean="0"/>
              <a:t>When a drive or goal is aroused—for instance, when we are hungry—the thermostat turns on and we start to behave in a way that attempts to reduce the drive or meet the goal (in this case to seek food). </a:t>
            </a:r>
          </a:p>
          <a:p>
            <a:r>
              <a:rPr lang="en-US" dirty="0" smtClean="0"/>
              <a:t>As the body works toward the desired end state, the thermostat continues to check whether or not the end state has been reached.</a:t>
            </a:r>
            <a:endParaRPr lang="en-US" dirty="0"/>
          </a:p>
        </p:txBody>
      </p:sp>
    </p:spTree>
    <p:extLst>
      <p:ext uri="{BB962C8B-B14F-4D97-AF65-F5344CB8AC3E}">
        <p14:creationId xmlns:p14="http://schemas.microsoft.com/office/powerpoint/2010/main" val="3095321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Intrinsic vs Extrinsic Motivation</a:t>
            </a:r>
            <a:endParaRPr lang="en-US" dirty="0"/>
          </a:p>
        </p:txBody>
      </p:sp>
      <p:sp>
        <p:nvSpPr>
          <p:cNvPr id="4" name="Text Placeholder 3"/>
          <p:cNvSpPr>
            <a:spLocks noGrp="1"/>
          </p:cNvSpPr>
          <p:nvPr>
            <p:ph type="body" idx="1"/>
          </p:nvPr>
        </p:nvSpPr>
        <p:spPr/>
        <p:txBody>
          <a:bodyPr/>
          <a:lstStyle/>
          <a:p>
            <a:r>
              <a:rPr lang="en-US" dirty="0"/>
              <a:t>I</a:t>
            </a:r>
            <a:r>
              <a:rPr lang="en-US" dirty="0" smtClean="0"/>
              <a:t>ntrinsic (arising from internal factors)</a:t>
            </a:r>
            <a:endParaRPr lang="en-US" dirty="0"/>
          </a:p>
        </p:txBody>
      </p:sp>
      <p:sp>
        <p:nvSpPr>
          <p:cNvPr id="5" name="Content Placeholder 4"/>
          <p:cNvSpPr>
            <a:spLocks noGrp="1"/>
          </p:cNvSpPr>
          <p:nvPr>
            <p:ph sz="half" idx="2"/>
          </p:nvPr>
        </p:nvSpPr>
        <p:spPr/>
        <p:txBody>
          <a:bodyPr>
            <a:normAutofit fontScale="92500" lnSpcReduction="20000"/>
          </a:bodyPr>
          <a:lstStyle/>
          <a:p>
            <a:r>
              <a:rPr lang="en-US" dirty="0"/>
              <a:t>Intrinsically motivated behaviors are performed because of the sense of personal satisfaction that they </a:t>
            </a:r>
            <a:r>
              <a:rPr lang="en-US" dirty="0" smtClean="0"/>
              <a:t>bring</a:t>
            </a:r>
          </a:p>
          <a:p>
            <a:r>
              <a:rPr lang="en-US" dirty="0" smtClean="0">
                <a:solidFill>
                  <a:srgbClr val="FF0000"/>
                </a:solidFill>
              </a:rPr>
              <a:t>Example: </a:t>
            </a:r>
            <a:r>
              <a:rPr lang="en-US" dirty="0" smtClean="0"/>
              <a:t>You are in university because </a:t>
            </a:r>
            <a:r>
              <a:rPr lang="en-US" dirty="0"/>
              <a:t>you enjoy learning and want to pursue an education to make yourself a more well-rounded </a:t>
            </a:r>
            <a:r>
              <a:rPr lang="en-US" dirty="0" smtClean="0"/>
              <a:t>individual. </a:t>
            </a:r>
          </a:p>
          <a:p>
            <a:r>
              <a:rPr lang="en-US" dirty="0" smtClean="0"/>
              <a:t>If </a:t>
            </a:r>
            <a:r>
              <a:rPr lang="en-US" dirty="0"/>
              <a:t>so, then you are intrinsically motivated.</a:t>
            </a:r>
          </a:p>
        </p:txBody>
      </p:sp>
      <p:sp>
        <p:nvSpPr>
          <p:cNvPr id="6" name="Text Placeholder 5"/>
          <p:cNvSpPr>
            <a:spLocks noGrp="1"/>
          </p:cNvSpPr>
          <p:nvPr>
            <p:ph type="body" sz="quarter" idx="3"/>
          </p:nvPr>
        </p:nvSpPr>
        <p:spPr/>
        <p:txBody>
          <a:bodyPr/>
          <a:lstStyle/>
          <a:p>
            <a:r>
              <a:rPr lang="en-US" dirty="0" smtClean="0"/>
              <a:t>Extrinsic</a:t>
            </a:r>
            <a:r>
              <a:rPr lang="en-US" dirty="0"/>
              <a:t> (arising from external factors)</a:t>
            </a:r>
          </a:p>
        </p:txBody>
      </p:sp>
      <p:sp>
        <p:nvSpPr>
          <p:cNvPr id="7" name="Content Placeholder 6"/>
          <p:cNvSpPr>
            <a:spLocks noGrp="1"/>
          </p:cNvSpPr>
          <p:nvPr>
            <p:ph sz="quarter" idx="4"/>
          </p:nvPr>
        </p:nvSpPr>
        <p:spPr/>
        <p:txBody>
          <a:bodyPr>
            <a:normAutofit fontScale="92500" lnSpcReduction="10000"/>
          </a:bodyPr>
          <a:lstStyle/>
          <a:p>
            <a:r>
              <a:rPr lang="en-US" dirty="0"/>
              <a:t>while extrinsically motivated behaviors are performed in order to receive something from others</a:t>
            </a:r>
            <a:r>
              <a:rPr lang="en-US" dirty="0" smtClean="0"/>
              <a:t>.</a:t>
            </a:r>
          </a:p>
          <a:p>
            <a:r>
              <a:rPr lang="en-US" dirty="0" smtClean="0">
                <a:solidFill>
                  <a:srgbClr val="FF0000"/>
                </a:solidFill>
              </a:rPr>
              <a:t>Example: </a:t>
            </a:r>
            <a:r>
              <a:rPr lang="en-US" dirty="0"/>
              <a:t>However, if you are here because you want to get a college degree to make yourself more marketable for a high-paying career or to satisfy the demands of your parents, then your motivation is more extrinsic in nature.</a:t>
            </a:r>
          </a:p>
        </p:txBody>
      </p:sp>
    </p:spTree>
    <p:extLst>
      <p:ext uri="{BB962C8B-B14F-4D97-AF65-F5344CB8AC3E}">
        <p14:creationId xmlns:p14="http://schemas.microsoft.com/office/powerpoint/2010/main" val="694456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2036330"/>
          </a:xfrm>
        </p:spPr>
        <p:txBody>
          <a:bodyPr>
            <a:normAutofit fontScale="90000"/>
          </a:bodyPr>
          <a:lstStyle/>
          <a:p>
            <a:r>
              <a:rPr lang="en-US" dirty="0"/>
              <a:t>In reality, our motivations are often a mix of both intrinsic and extrinsic factors, but the nature of the mix of these factors might change over </a:t>
            </a:r>
            <a:r>
              <a:rPr lang="en-US" dirty="0" smtClean="0"/>
              <a:t>time.</a:t>
            </a:r>
            <a:r>
              <a:rPr lang="en-US" dirty="0"/>
              <a:t> </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9824" y="2807855"/>
            <a:ext cx="10992352" cy="3380509"/>
          </a:xfrm>
        </p:spPr>
      </p:pic>
    </p:spTree>
    <p:extLst>
      <p:ext uri="{BB962C8B-B14F-4D97-AF65-F5344CB8AC3E}">
        <p14:creationId xmlns:p14="http://schemas.microsoft.com/office/powerpoint/2010/main" val="212815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 Efficacy &amp; Motivation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solidFill>
                  <a:srgbClr val="FF0000"/>
                </a:solidFill>
              </a:rPr>
              <a:t>Self-efficacy is an individual’s belief in her own capability </a:t>
            </a:r>
            <a:r>
              <a:rPr lang="en-US" dirty="0" smtClean="0"/>
              <a:t>to complete a task, which may include a previous successful completion of the exact task or a similar task.</a:t>
            </a:r>
          </a:p>
          <a:p>
            <a:r>
              <a:rPr lang="en-US" dirty="0" smtClean="0"/>
              <a:t>An </a:t>
            </a:r>
            <a:r>
              <a:rPr lang="en-US" dirty="0"/>
              <a:t>individual’s sense of self-efficacy plays a pivotal role in motivating </a:t>
            </a:r>
            <a:r>
              <a:rPr lang="en-US" dirty="0" smtClean="0"/>
              <a:t>behavior</a:t>
            </a:r>
            <a:r>
              <a:rPr lang="en-US" dirty="0"/>
              <a:t> </a:t>
            </a:r>
            <a:r>
              <a:rPr lang="en-US" dirty="0" smtClean="0"/>
              <a:t>(Bandura, 1994)</a:t>
            </a:r>
          </a:p>
          <a:p>
            <a:r>
              <a:rPr lang="en-US" dirty="0"/>
              <a:t>M</a:t>
            </a:r>
            <a:r>
              <a:rPr lang="en-US" dirty="0" smtClean="0"/>
              <a:t>otivation derives from </a:t>
            </a:r>
            <a:r>
              <a:rPr lang="en-US" b="1" dirty="0" smtClean="0"/>
              <a:t>expectations that we have </a:t>
            </a:r>
            <a:r>
              <a:rPr lang="en-US" dirty="0" smtClean="0"/>
              <a:t>about the consequences of our behaviors, and ultimately, it is the </a:t>
            </a:r>
            <a:r>
              <a:rPr lang="en-US" b="1" dirty="0" smtClean="0"/>
              <a:t>appreciation of our capacity</a:t>
            </a:r>
            <a:r>
              <a:rPr lang="en-US" dirty="0" smtClean="0"/>
              <a:t> to engage in a given behavior that will </a:t>
            </a:r>
            <a:r>
              <a:rPr lang="en-US" b="1" dirty="0" smtClean="0"/>
              <a:t>determine what we do </a:t>
            </a:r>
            <a:r>
              <a:rPr lang="en-US" dirty="0" smtClean="0"/>
              <a:t>and the future goals that we set for ourselves. </a:t>
            </a:r>
          </a:p>
          <a:p>
            <a:r>
              <a:rPr lang="en-US" b="1" dirty="0" smtClean="0">
                <a:solidFill>
                  <a:srgbClr val="FF0000"/>
                </a:solidFill>
              </a:rPr>
              <a:t>For example</a:t>
            </a:r>
            <a:r>
              <a:rPr lang="en-US" dirty="0" smtClean="0"/>
              <a:t>, if you have a sincere belief in your ability to achieve at the highest level, you are more likely to take on challenging tasks and to not let setbacks dissuade you from seeing the task through to the end.</a:t>
            </a:r>
            <a:endParaRPr lang="en-US" dirty="0"/>
          </a:p>
        </p:txBody>
      </p:sp>
    </p:spTree>
    <p:extLst>
      <p:ext uri="{BB962C8B-B14F-4D97-AF65-F5344CB8AC3E}">
        <p14:creationId xmlns:p14="http://schemas.microsoft.com/office/powerpoint/2010/main" val="5420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Maslow’s Hierarchy of Needs</a:t>
            </a:r>
            <a:endParaRPr lang="en-US" dirty="0"/>
          </a:p>
        </p:txBody>
      </p:sp>
      <p:sp>
        <p:nvSpPr>
          <p:cNvPr id="3" name="Content Placeholder 2"/>
          <p:cNvSpPr>
            <a:spLocks noGrp="1"/>
          </p:cNvSpPr>
          <p:nvPr>
            <p:ph idx="1"/>
          </p:nvPr>
        </p:nvSpPr>
        <p:spPr>
          <a:xfrm>
            <a:off x="838200" y="1825625"/>
            <a:ext cx="4214091" cy="4351338"/>
          </a:xfrm>
        </p:spPr>
        <p:txBody>
          <a:bodyPr/>
          <a:lstStyle/>
          <a:p>
            <a:r>
              <a:rPr lang="en-US" dirty="0" smtClean="0"/>
              <a:t>Abraham Maslow (1943) proposed a hierarchy of needs that spans the spectrum of motives ranging from the biological to the individual to the social. </a:t>
            </a:r>
          </a:p>
          <a:p>
            <a:r>
              <a:rPr lang="en-US" dirty="0" smtClean="0"/>
              <a:t>These needs are often depicted as a pyramid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876" y="1690688"/>
            <a:ext cx="5327924" cy="4254719"/>
          </a:xfrm>
          <a:prstGeom prst="rect">
            <a:avLst/>
          </a:prstGeom>
        </p:spPr>
      </p:pic>
    </p:spTree>
    <p:extLst>
      <p:ext uri="{BB962C8B-B14F-4D97-AF65-F5344CB8AC3E}">
        <p14:creationId xmlns:p14="http://schemas.microsoft.com/office/powerpoint/2010/main" val="3014428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 </a:t>
            </a:r>
            <a:endParaRPr lang="en-US" dirty="0"/>
          </a:p>
        </p:txBody>
      </p:sp>
      <p:sp>
        <p:nvSpPr>
          <p:cNvPr id="3" name="Content Placeholder 2"/>
          <p:cNvSpPr>
            <a:spLocks noGrp="1"/>
          </p:cNvSpPr>
          <p:nvPr>
            <p:ph idx="1"/>
          </p:nvPr>
        </p:nvSpPr>
        <p:spPr/>
        <p:txBody>
          <a:bodyPr/>
          <a:lstStyle/>
          <a:p>
            <a:r>
              <a:rPr lang="en-US" dirty="0" smtClean="0"/>
              <a:t>At the base of the pyramid are all of the physiological needs that are necessary for survival. </a:t>
            </a:r>
          </a:p>
          <a:p>
            <a:r>
              <a:rPr lang="en-US" dirty="0" smtClean="0"/>
              <a:t>These are followed by basic needs for security and safety, the need to be loved and to have a sense of belonging, and the need to have self-worth and confidence. </a:t>
            </a:r>
          </a:p>
          <a:p>
            <a:r>
              <a:rPr lang="en-US" dirty="0" smtClean="0"/>
              <a:t>The top tier of the pyramid is self-actualization, which is a need that essentially equates to achieving one’s full potential, and it can only be realized when needs lower on the pyramid have been met.</a:t>
            </a:r>
            <a:endParaRPr lang="en-US" dirty="0"/>
          </a:p>
        </p:txBody>
      </p:sp>
    </p:spTree>
    <p:extLst>
      <p:ext uri="{BB962C8B-B14F-4D97-AF65-F5344CB8AC3E}">
        <p14:creationId xmlns:p14="http://schemas.microsoft.com/office/powerpoint/2010/main" val="2894067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Emotion</a:t>
            </a:r>
            <a:endParaRPr lang="en-US" dirty="0"/>
          </a:p>
        </p:txBody>
      </p:sp>
      <p:sp>
        <p:nvSpPr>
          <p:cNvPr id="3" name="Content Placeholder 2"/>
          <p:cNvSpPr>
            <a:spLocks noGrp="1"/>
          </p:cNvSpPr>
          <p:nvPr>
            <p:ph idx="1"/>
          </p:nvPr>
        </p:nvSpPr>
        <p:spPr>
          <a:xfrm>
            <a:off x="838200" y="1825625"/>
            <a:ext cx="6698673" cy="4351338"/>
          </a:xfrm>
        </p:spPr>
        <p:txBody>
          <a:bodyPr/>
          <a:lstStyle/>
          <a:p>
            <a:r>
              <a:rPr lang="en-US" dirty="0" smtClean="0"/>
              <a:t>An </a:t>
            </a:r>
            <a:r>
              <a:rPr lang="en-US" dirty="0" smtClean="0">
                <a:solidFill>
                  <a:srgbClr val="FF0000"/>
                </a:solidFill>
              </a:rPr>
              <a:t>emotion is a subjective state</a:t>
            </a:r>
            <a:r>
              <a:rPr lang="en-US" dirty="0" smtClean="0"/>
              <a:t> of being that we often describe as our</a:t>
            </a:r>
            <a:r>
              <a:rPr lang="en-US" dirty="0" smtClean="0">
                <a:solidFill>
                  <a:srgbClr val="FF0000"/>
                </a:solidFill>
              </a:rPr>
              <a:t> feelings</a:t>
            </a:r>
            <a:r>
              <a:rPr lang="en-US" dirty="0" smtClean="0"/>
              <a:t>. </a:t>
            </a:r>
          </a:p>
          <a:p>
            <a:r>
              <a:rPr lang="en-US" dirty="0" smtClean="0"/>
              <a:t>Typically</a:t>
            </a:r>
            <a:r>
              <a:rPr lang="en-US" dirty="0"/>
              <a:t>, the word emotion indicates a subjective, </a:t>
            </a:r>
            <a:r>
              <a:rPr lang="en-US" dirty="0">
                <a:solidFill>
                  <a:srgbClr val="FF0000"/>
                </a:solidFill>
              </a:rPr>
              <a:t>affective</a:t>
            </a:r>
            <a:r>
              <a:rPr lang="en-US" dirty="0"/>
              <a:t> state that is relatively intense and that occurs in response to something we </a:t>
            </a:r>
            <a:r>
              <a:rPr lang="en-US" dirty="0" smtClean="0"/>
              <a:t>experience</a:t>
            </a:r>
          </a:p>
          <a:p>
            <a:r>
              <a:rPr lang="en-US" dirty="0"/>
              <a:t>Emotions are often thought to be consciously experienced and intentional.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0904" y="2238887"/>
            <a:ext cx="3822896" cy="2546481"/>
          </a:xfrm>
          <a:prstGeom prst="rect">
            <a:avLst/>
          </a:prstGeom>
        </p:spPr>
      </p:pic>
    </p:spTree>
    <p:extLst>
      <p:ext uri="{BB962C8B-B14F-4D97-AF65-F5344CB8AC3E}">
        <p14:creationId xmlns:p14="http://schemas.microsoft.com/office/powerpoint/2010/main" val="2436580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Emotions </a:t>
            </a:r>
            <a:endParaRPr lang="en-US" dirty="0"/>
          </a:p>
        </p:txBody>
      </p:sp>
      <p:sp>
        <p:nvSpPr>
          <p:cNvPr id="3" name="Content Placeholder 2"/>
          <p:cNvSpPr>
            <a:spLocks noGrp="1"/>
          </p:cNvSpPr>
          <p:nvPr>
            <p:ph idx="1"/>
          </p:nvPr>
        </p:nvSpPr>
        <p:spPr/>
        <p:txBody>
          <a:bodyPr/>
          <a:lstStyle/>
          <a:p>
            <a:r>
              <a:rPr lang="en-US" dirty="0"/>
              <a:t>Our emotional states are combinations </a:t>
            </a:r>
            <a:r>
              <a:rPr lang="en-US" dirty="0" smtClean="0"/>
              <a:t>of: </a:t>
            </a:r>
          </a:p>
          <a:p>
            <a:r>
              <a:rPr lang="en-US" dirty="0" smtClean="0"/>
              <a:t>physiological </a:t>
            </a:r>
            <a:r>
              <a:rPr lang="en-US" dirty="0"/>
              <a:t>arousal, </a:t>
            </a:r>
            <a:endParaRPr lang="en-US" dirty="0" smtClean="0"/>
          </a:p>
          <a:p>
            <a:r>
              <a:rPr lang="en-US" dirty="0" smtClean="0"/>
              <a:t>psychological </a:t>
            </a:r>
            <a:r>
              <a:rPr lang="en-US" dirty="0"/>
              <a:t>appraisal, and </a:t>
            </a:r>
            <a:endParaRPr lang="en-US" dirty="0" smtClean="0"/>
          </a:p>
          <a:p>
            <a:r>
              <a:rPr lang="en-US" dirty="0" smtClean="0"/>
              <a:t>subjective </a:t>
            </a:r>
            <a:r>
              <a:rPr lang="en-US" dirty="0"/>
              <a:t>experiences. </a:t>
            </a:r>
            <a:endParaRPr lang="en-US" dirty="0" smtClean="0"/>
          </a:p>
          <a:p>
            <a:r>
              <a:rPr lang="en-US" dirty="0" smtClean="0"/>
              <a:t>Together</a:t>
            </a:r>
            <a:r>
              <a:rPr lang="en-US" dirty="0"/>
              <a:t>, these are known as the </a:t>
            </a:r>
            <a:r>
              <a:rPr lang="en-US" b="1" dirty="0"/>
              <a:t>components of emotion</a:t>
            </a:r>
            <a:r>
              <a:rPr lang="en-US" dirty="0"/>
              <a:t>. </a:t>
            </a:r>
            <a:endParaRPr lang="en-US" dirty="0" smtClean="0"/>
          </a:p>
          <a:p>
            <a:r>
              <a:rPr lang="en-US" dirty="0" smtClean="0"/>
              <a:t>Effected by our culture, experience, &amp; expectations </a:t>
            </a:r>
          </a:p>
          <a:p>
            <a:r>
              <a:rPr lang="en-US" dirty="0" smtClean="0"/>
              <a:t>Everyone experiences differently</a:t>
            </a:r>
            <a:endParaRPr lang="en-US" dirty="0"/>
          </a:p>
        </p:txBody>
      </p:sp>
    </p:spTree>
    <p:extLst>
      <p:ext uri="{BB962C8B-B14F-4D97-AF65-F5344CB8AC3E}">
        <p14:creationId xmlns:p14="http://schemas.microsoft.com/office/powerpoint/2010/main" val="3250347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Affect -  Emotions</a:t>
            </a:r>
            <a:endParaRPr lang="en-US" dirty="0"/>
          </a:p>
        </p:txBody>
      </p:sp>
      <p:sp>
        <p:nvSpPr>
          <p:cNvPr id="3" name="Content Placeholder 2"/>
          <p:cNvSpPr>
            <a:spLocks noGrp="1"/>
          </p:cNvSpPr>
          <p:nvPr>
            <p:ph idx="1"/>
          </p:nvPr>
        </p:nvSpPr>
        <p:spPr/>
        <p:txBody>
          <a:bodyPr/>
          <a:lstStyle/>
          <a:p>
            <a:r>
              <a:rPr lang="en-US" dirty="0"/>
              <a:t>A</a:t>
            </a:r>
            <a:r>
              <a:rPr lang="en-US" dirty="0" smtClean="0"/>
              <a:t>ffect, </a:t>
            </a:r>
            <a:r>
              <a:rPr lang="en-US" dirty="0" smtClean="0">
                <a:solidFill>
                  <a:srgbClr val="FF0000"/>
                </a:solidFill>
              </a:rPr>
              <a:t>defined as the experience of feeling or emotion</a:t>
            </a:r>
            <a:r>
              <a:rPr lang="en-US" dirty="0" smtClean="0"/>
              <a:t>. </a:t>
            </a:r>
          </a:p>
          <a:p>
            <a:r>
              <a:rPr lang="en-US" dirty="0" smtClean="0"/>
              <a:t>Affect is an essential part of the study of psychology because it plays such an important role in everyday life. </a:t>
            </a:r>
          </a:p>
          <a:p>
            <a:r>
              <a:rPr lang="en-US" dirty="0" smtClean="0"/>
              <a:t>Importance: </a:t>
            </a:r>
          </a:p>
          <a:p>
            <a:pPr lvl="1"/>
            <a:r>
              <a:rPr lang="en-US" dirty="0" smtClean="0"/>
              <a:t>affect guides </a:t>
            </a:r>
            <a:r>
              <a:rPr lang="en-US" dirty="0" err="1" smtClean="0"/>
              <a:t>behaviour</a:t>
            </a:r>
            <a:r>
              <a:rPr lang="en-US" dirty="0" smtClean="0"/>
              <a:t>, </a:t>
            </a:r>
          </a:p>
          <a:p>
            <a:pPr lvl="1"/>
            <a:r>
              <a:rPr lang="en-US" dirty="0" smtClean="0"/>
              <a:t>helps us make decisions, and </a:t>
            </a:r>
          </a:p>
          <a:p>
            <a:pPr lvl="1"/>
            <a:r>
              <a:rPr lang="en-US" dirty="0" smtClean="0"/>
              <a:t>has a major impact on our mental and physical health.</a:t>
            </a:r>
            <a:endParaRPr lang="en-US" dirty="0"/>
          </a:p>
        </p:txBody>
      </p:sp>
    </p:spTree>
    <p:extLst>
      <p:ext uri="{BB962C8B-B14F-4D97-AF65-F5344CB8AC3E}">
        <p14:creationId xmlns:p14="http://schemas.microsoft.com/office/powerpoint/2010/main" val="2464277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James-Lange theory</a:t>
            </a:r>
            <a:endParaRPr lang="en-US" dirty="0"/>
          </a:p>
        </p:txBody>
      </p:sp>
      <p:sp>
        <p:nvSpPr>
          <p:cNvPr id="3" name="Content Placeholder 2"/>
          <p:cNvSpPr>
            <a:spLocks noGrp="1"/>
          </p:cNvSpPr>
          <p:nvPr>
            <p:ph idx="1"/>
          </p:nvPr>
        </p:nvSpPr>
        <p:spPr/>
        <p:txBody>
          <a:bodyPr/>
          <a:lstStyle/>
          <a:p>
            <a:r>
              <a:rPr lang="en-US" dirty="0" smtClean="0"/>
              <a:t>The James-Lange theory of emotion asserts that emotions arise from physiological arousal.</a:t>
            </a:r>
          </a:p>
          <a:p>
            <a:r>
              <a:rPr lang="en-US" dirty="0"/>
              <a:t>According to the James-Lange theory of emotion, you would only experience a feeling of fear after this physiological arousal had taken place. </a:t>
            </a:r>
            <a:endParaRPr lang="en-US" dirty="0" smtClean="0"/>
          </a:p>
          <a:p>
            <a:r>
              <a:rPr lang="en-US" dirty="0" smtClean="0"/>
              <a:t>Furthermore</a:t>
            </a:r>
            <a:r>
              <a:rPr lang="en-US" dirty="0"/>
              <a:t>, different arousal patterns would be associated with different feelings.</a:t>
            </a:r>
          </a:p>
        </p:txBody>
      </p:sp>
    </p:spTree>
    <p:extLst>
      <p:ext uri="{BB962C8B-B14F-4D97-AF65-F5344CB8AC3E}">
        <p14:creationId xmlns:p14="http://schemas.microsoft.com/office/powerpoint/2010/main" val="961940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Cannon- Bard theory</a:t>
            </a:r>
            <a:endParaRPr lang="en-US" dirty="0"/>
          </a:p>
        </p:txBody>
      </p:sp>
      <p:sp>
        <p:nvSpPr>
          <p:cNvPr id="3" name="Content Placeholder 2"/>
          <p:cNvSpPr>
            <a:spLocks noGrp="1"/>
          </p:cNvSpPr>
          <p:nvPr>
            <p:ph idx="1"/>
          </p:nvPr>
        </p:nvSpPr>
        <p:spPr/>
        <p:txBody>
          <a:bodyPr/>
          <a:lstStyle/>
          <a:p>
            <a:r>
              <a:rPr lang="en-US" dirty="0" smtClean="0"/>
              <a:t>According to this view, physiological arousal and emotional experience occur simultaneously, yet independently.</a:t>
            </a:r>
          </a:p>
          <a:p>
            <a:r>
              <a:rPr lang="en-US" dirty="0" smtClean="0"/>
              <a:t>So, when you see the venomous snake, you feel fear at exactly the same time that your body mounts its fight or flight response. </a:t>
            </a:r>
          </a:p>
          <a:p>
            <a:r>
              <a:rPr lang="en-US" dirty="0" smtClean="0"/>
              <a:t>This emotional reaction would be separate and independent of the physiological arousal, even though they co-occur.</a:t>
            </a:r>
            <a:endParaRPr lang="en-US" dirty="0"/>
          </a:p>
        </p:txBody>
      </p:sp>
    </p:spTree>
    <p:extLst>
      <p:ext uri="{BB962C8B-B14F-4D97-AF65-F5344CB8AC3E}">
        <p14:creationId xmlns:p14="http://schemas.microsoft.com/office/powerpoint/2010/main" val="4028674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39512"/>
          <a:stretch/>
        </p:blipFill>
        <p:spPr>
          <a:xfrm>
            <a:off x="1634837" y="538669"/>
            <a:ext cx="9243679" cy="6009912"/>
          </a:xfrm>
        </p:spPr>
      </p:pic>
    </p:spTree>
    <p:extLst>
      <p:ext uri="{BB962C8B-B14F-4D97-AF65-F5344CB8AC3E}">
        <p14:creationId xmlns:p14="http://schemas.microsoft.com/office/powerpoint/2010/main" val="3976000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FACIAL </a:t>
            </a:r>
            <a:r>
              <a:rPr lang="en-US" b="1" dirty="0"/>
              <a:t>EXPRESSION AND RECOGNITION OF </a:t>
            </a:r>
            <a:r>
              <a:rPr lang="en-US" b="1" dirty="0" smtClean="0"/>
              <a:t>EMOTIONS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Culture impacts display of emotions </a:t>
            </a:r>
          </a:p>
          <a:p>
            <a:r>
              <a:rPr lang="en-US" dirty="0" smtClean="0"/>
              <a:t>What expression will be called happiness or what expression will be called sadness </a:t>
            </a:r>
            <a:r>
              <a:rPr lang="en-US" dirty="0" err="1" smtClean="0"/>
              <a:t>etc</a:t>
            </a:r>
            <a:r>
              <a:rPr lang="en-US" dirty="0" smtClean="0"/>
              <a:t> </a:t>
            </a:r>
          </a:p>
          <a:p>
            <a:r>
              <a:rPr lang="en-US" dirty="0" smtClean="0"/>
              <a:t>Therefore, people from varying cultural backgrounds can have very different cultural display rules of emotion. </a:t>
            </a:r>
          </a:p>
          <a:p>
            <a:r>
              <a:rPr lang="en-US" dirty="0" smtClean="0"/>
              <a:t>For example, research has shown that individuals from the United States express negative emotions like fear, anger, and disgust both alone and in the presence of others, while Japanese individuals only do so while alone</a:t>
            </a:r>
          </a:p>
          <a:p>
            <a:r>
              <a:rPr lang="en-US" dirty="0" smtClean="0"/>
              <a:t>Furthermore, individuals from cultures that tend to emphasize social cohesion are more likely to engage in suppression of emotional reaction so they can evaluate which response is most appropriate in a given context</a:t>
            </a:r>
          </a:p>
        </p:txBody>
      </p:sp>
    </p:spTree>
    <p:extLst>
      <p:ext uri="{BB962C8B-B14F-4D97-AF65-F5344CB8AC3E}">
        <p14:creationId xmlns:p14="http://schemas.microsoft.com/office/powerpoint/2010/main" val="750629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Cultures and gender differences </a:t>
            </a:r>
            <a:endParaRPr lang="en-US" dirty="0"/>
          </a:p>
        </p:txBody>
      </p:sp>
      <p:sp>
        <p:nvSpPr>
          <p:cNvPr id="3" name="Content Placeholder 2"/>
          <p:cNvSpPr>
            <a:spLocks noGrp="1"/>
          </p:cNvSpPr>
          <p:nvPr>
            <p:ph idx="1"/>
          </p:nvPr>
        </p:nvSpPr>
        <p:spPr>
          <a:xfrm>
            <a:off x="838200" y="1825625"/>
            <a:ext cx="4324927" cy="4351338"/>
          </a:xfrm>
        </p:spPr>
        <p:txBody>
          <a:bodyPr/>
          <a:lstStyle/>
          <a:p>
            <a:r>
              <a:rPr lang="en-US" dirty="0" smtClean="0"/>
              <a:t>Difference in expression </a:t>
            </a:r>
          </a:p>
          <a:p>
            <a:r>
              <a:rPr lang="en-US" dirty="0" smtClean="0"/>
              <a:t>Difference in emotional regulation </a:t>
            </a:r>
          </a:p>
          <a:p>
            <a:endParaRPr lang="en-US" dirty="0"/>
          </a:p>
          <a:p>
            <a:r>
              <a:rPr lang="en-US" dirty="0" smtClean="0"/>
              <a:t>Some emotional expressions are universal.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3127" y="1825625"/>
            <a:ext cx="6248721" cy="3346622"/>
          </a:xfrm>
          <a:prstGeom prst="rect">
            <a:avLst/>
          </a:prstGeom>
        </p:spPr>
      </p:pic>
    </p:spTree>
    <p:extLst>
      <p:ext uri="{BB962C8B-B14F-4D97-AF65-F5344CB8AC3E}">
        <p14:creationId xmlns:p14="http://schemas.microsoft.com/office/powerpoint/2010/main" val="2666532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Emotions influence motivations </a:t>
            </a:r>
            <a:r>
              <a:rPr lang="en-US" smtClean="0"/>
              <a:t>&amp; behaviors </a:t>
            </a:r>
            <a:endParaRPr lang="en-US" dirty="0"/>
          </a:p>
        </p:txBody>
      </p:sp>
      <p:sp>
        <p:nvSpPr>
          <p:cNvPr id="3" name="Content Placeholder 2"/>
          <p:cNvSpPr>
            <a:spLocks noGrp="1"/>
          </p:cNvSpPr>
          <p:nvPr>
            <p:ph idx="1"/>
          </p:nvPr>
        </p:nvSpPr>
        <p:spPr/>
        <p:txBody>
          <a:bodyPr/>
          <a:lstStyle/>
          <a:p>
            <a:r>
              <a:rPr lang="en-US" dirty="0" smtClean="0">
                <a:solidFill>
                  <a:srgbClr val="FF0000"/>
                </a:solidFill>
              </a:rPr>
              <a:t>Emotions normally serve an adaptive role: </a:t>
            </a:r>
          </a:p>
          <a:p>
            <a:r>
              <a:rPr lang="en-US" dirty="0" smtClean="0"/>
              <a:t>We care for infants because of the love we feel for them, </a:t>
            </a:r>
          </a:p>
          <a:p>
            <a:r>
              <a:rPr lang="en-US" dirty="0" smtClean="0"/>
              <a:t>we avoid making a left turn onto a crowded highway because we fear that a speeding truck may hit us, </a:t>
            </a:r>
          </a:p>
          <a:p>
            <a:r>
              <a:rPr lang="en-US" dirty="0" smtClean="0"/>
              <a:t>and we are particularly nice to Mandy because we are feeling guilty that we did not go to her party. </a:t>
            </a:r>
          </a:p>
          <a:p>
            <a:r>
              <a:rPr lang="en-US" dirty="0" smtClean="0"/>
              <a:t>But </a:t>
            </a:r>
            <a:r>
              <a:rPr lang="en-US" dirty="0" smtClean="0">
                <a:solidFill>
                  <a:srgbClr val="FF0000"/>
                </a:solidFill>
              </a:rPr>
              <a:t>emotions may also be destructive</a:t>
            </a:r>
            <a:r>
              <a:rPr lang="en-US" dirty="0" smtClean="0"/>
              <a:t>, such as when a frustrating experience leads us to lash out at others who do not deserve it.</a:t>
            </a:r>
            <a:endParaRPr lang="en-US" dirty="0"/>
          </a:p>
        </p:txBody>
      </p:sp>
    </p:spTree>
    <p:extLst>
      <p:ext uri="{BB962C8B-B14F-4D97-AF65-F5344CB8AC3E}">
        <p14:creationId xmlns:p14="http://schemas.microsoft.com/office/powerpoint/2010/main" val="2612531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1198</Words>
  <Application>Microsoft Office PowerPoint</Application>
  <PresentationFormat>Widescreen</PresentationFormat>
  <Paragraphs>78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Motivation &amp; Emotions</vt:lpstr>
      <vt:lpstr>Motivation</vt:lpstr>
      <vt:lpstr>Cont.</vt:lpstr>
      <vt:lpstr>The internal thermostat</vt:lpstr>
      <vt:lpstr>Intrinsic vs Extrinsic Motivation</vt:lpstr>
      <vt:lpstr>In reality, our motivations are often a mix of both intrinsic and extrinsic factors, but the nature of the mix of these factors might change over time. </vt:lpstr>
      <vt:lpstr>Self Efficacy &amp; Motivation </vt:lpstr>
      <vt:lpstr>Maslow’s Hierarchy of Needs</vt:lpstr>
      <vt:lpstr>Cont. </vt:lpstr>
      <vt:lpstr>Emotion</vt:lpstr>
      <vt:lpstr>Components of Emotions </vt:lpstr>
      <vt:lpstr>Affect -  Emotions</vt:lpstr>
      <vt:lpstr>James-Lange theory</vt:lpstr>
      <vt:lpstr>Cannon- Bard theory</vt:lpstr>
      <vt:lpstr>PowerPoint Presentation</vt:lpstr>
      <vt:lpstr>FACIAL EXPRESSION AND RECOGNITION OF EMOTIONS</vt:lpstr>
      <vt:lpstr>Cultures and gender differences </vt:lpstr>
      <vt:lpstr>Emotions influence motivations &amp; behaviors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 &amp; Emotions</dc:title>
  <dc:creator>Summayyah Shafique</dc:creator>
  <cp:lastModifiedBy>Summayyah Shafique</cp:lastModifiedBy>
  <cp:revision>7</cp:revision>
  <dcterms:created xsi:type="dcterms:W3CDTF">2023-05-17T06:32:34Z</dcterms:created>
  <dcterms:modified xsi:type="dcterms:W3CDTF">2023-05-17T10:19:40Z</dcterms:modified>
</cp:coreProperties>
</file>