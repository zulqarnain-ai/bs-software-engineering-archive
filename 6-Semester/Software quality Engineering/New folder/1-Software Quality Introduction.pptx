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13"/>
  </p:notesMasterIdLst>
  <p:handoutMasterIdLst>
    <p:handoutMasterId r:id="rId14"/>
  </p:handoutMasterIdLst>
  <p:sldIdLst>
    <p:sldId id="267" r:id="rId5"/>
    <p:sldId id="304" r:id="rId6"/>
    <p:sldId id="305" r:id="rId7"/>
    <p:sldId id="329" r:id="rId8"/>
    <p:sldId id="306" r:id="rId9"/>
    <p:sldId id="307" r:id="rId10"/>
    <p:sldId id="308" r:id="rId11"/>
    <p:sldId id="30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CIqTsI8bey8h01d5Wq2jw==" hashData="n4CggD64EzAeBZsdFaXHU/v7NpHVfYt+1A+wDRWiqHhIbmGvZTJW33n1n/3FyL5PIub5APTBdBaEonY0TjDQ5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44E13-67E5-4E7F-A8CF-255C59A6950E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851E7-1DC5-4351-9DA8-DDCF3E23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0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L-Shape 17">
            <a:extLst>
              <a:ext uri="{FF2B5EF4-FFF2-40B4-BE49-F238E27FC236}">
                <a16:creationId xmlns=""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L-Shape 21">
            <a:extLst>
              <a:ext uri="{FF2B5EF4-FFF2-40B4-BE49-F238E27FC236}">
                <a16:creationId xmlns=""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40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02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L-Shape 6">
            <a:extLst>
              <a:ext uri="{FF2B5EF4-FFF2-40B4-BE49-F238E27FC236}">
                <a16:creationId xmlns=""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=""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96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651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711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34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070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2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162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3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85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936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918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6719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57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 smtClean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 smtClean="0"/>
              <a:t>Second level</a:t>
            </a:r>
          </a:p>
          <a:p>
            <a:pPr marL="0" lvl="2" indent="0" algn="ctr">
              <a:buNone/>
            </a:pPr>
            <a:r>
              <a:rPr lang="en-US" noProof="0" smtClean="0"/>
              <a:t>Third level</a:t>
            </a:r>
          </a:p>
          <a:p>
            <a:pPr marL="0" lvl="3" indent="0" algn="ctr">
              <a:buNone/>
            </a:pPr>
            <a:r>
              <a:rPr lang="en-US" noProof="0" smtClean="0"/>
              <a:t>Fourth level</a:t>
            </a:r>
          </a:p>
          <a:p>
            <a:pPr marL="0" lvl="4" indent="0" algn="ctr">
              <a:buNone/>
            </a:pPr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Rectangle 17" title="Side bar">
            <a:extLst>
              <a:ext uri="{FF2B5EF4-FFF2-40B4-BE49-F238E27FC236}">
                <a16:creationId xmlns=""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736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71" r:id="rId17"/>
    <p:sldLayoutId id="214748367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000"/>
            <a:ext cx="7766936" cy="1169831"/>
          </a:xfrm>
        </p:spPr>
        <p:txBody>
          <a:bodyPr/>
          <a:lstStyle/>
          <a:p>
            <a:pPr algn="l"/>
            <a:r>
              <a:rPr lang="en-US" sz="3600" dirty="0" smtClean="0">
                <a:solidFill>
                  <a:schemeClr val="tx1"/>
                </a:solidFill>
              </a:rPr>
              <a:t>Software Quality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190" y="3863719"/>
            <a:ext cx="7766936" cy="1096899"/>
          </a:xfrm>
        </p:spPr>
        <p:txBody>
          <a:bodyPr>
            <a:noAutofit/>
          </a:bodyPr>
          <a:lstStyle/>
          <a:p>
            <a:pPr>
              <a:defRPr/>
            </a:pP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By: </a:t>
            </a:r>
            <a:r>
              <a:rPr lang="en-US" sz="1600" smtClean="0">
                <a:solidFill>
                  <a:schemeClr val="tx1"/>
                </a:solidFill>
              </a:rPr>
              <a:t>Engr. Dr</a:t>
            </a:r>
            <a:r>
              <a:rPr lang="en-US" sz="1600" dirty="0" smtClean="0">
                <a:solidFill>
                  <a:schemeClr val="tx1"/>
                </a:solidFill>
              </a:rPr>
              <a:t>. Sumaira </a:t>
            </a:r>
            <a:r>
              <a:rPr lang="en-US" sz="1600" dirty="0" err="1" smtClean="0">
                <a:solidFill>
                  <a:schemeClr val="tx1"/>
                </a:solidFill>
              </a:rPr>
              <a:t>Nazir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Assistant Professor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Department of Software Engineering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National University of Modern Languages Islamabad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824" y="53232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</a:t>
            </a:r>
            <a:r>
              <a:rPr lang="en-US" dirty="0" smtClean="0">
                <a:solidFill>
                  <a:schemeClr val="tx1"/>
                </a:solidFill>
              </a:rPr>
              <a:t>Engineering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824" y="1606798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 smtClean="0">
                <a:solidFill>
                  <a:schemeClr val="tx1"/>
                </a:solidFill>
              </a:rPr>
              <a:t>COURSE BREAKDOWN</a:t>
            </a:r>
            <a:endParaRPr lang="en-US" sz="1400" b="1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Assignments </a:t>
            </a:r>
            <a:r>
              <a:rPr lang="en-US" sz="1400" dirty="0" smtClean="0">
                <a:solidFill>
                  <a:schemeClr val="tx1"/>
                </a:solidFill>
              </a:rPr>
              <a:t>10%</a:t>
            </a:r>
          </a:p>
          <a:p>
            <a:pPr algn="just"/>
            <a:r>
              <a:rPr lang="en-US" sz="1400" dirty="0" smtClean="0">
                <a:solidFill>
                  <a:schemeClr val="tx1"/>
                </a:solidFill>
              </a:rPr>
              <a:t>Quizzes 10%</a:t>
            </a:r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 smtClean="0">
                <a:solidFill>
                  <a:schemeClr val="tx1"/>
                </a:solidFill>
              </a:rPr>
              <a:t>Presentation 05%</a:t>
            </a:r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Midterm exam </a:t>
            </a:r>
            <a:r>
              <a:rPr lang="en-US" sz="1400" dirty="0" smtClean="0">
                <a:solidFill>
                  <a:schemeClr val="tx1"/>
                </a:solidFill>
              </a:rPr>
              <a:t>25% </a:t>
            </a:r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Final </a:t>
            </a:r>
            <a:r>
              <a:rPr lang="en-US" sz="1400" dirty="0" smtClean="0">
                <a:solidFill>
                  <a:schemeClr val="tx1"/>
                </a:solidFill>
              </a:rPr>
              <a:t>exam 50% </a:t>
            </a:r>
          </a:p>
          <a:p>
            <a:pPr algn="just"/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RECOMMENDED READINGS / BOOKS: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1.Software Quality Assurance: Principles and Practice (Hardcover). by Nina S. </a:t>
            </a:r>
            <a:r>
              <a:rPr lang="en-US" sz="1400" dirty="0" err="1">
                <a:solidFill>
                  <a:schemeClr val="tx1"/>
                </a:solidFill>
              </a:rPr>
              <a:t>Godbole</a:t>
            </a:r>
            <a:r>
              <a:rPr lang="en-US" sz="1400" dirty="0">
                <a:solidFill>
                  <a:schemeClr val="tx1"/>
                </a:solidFill>
              </a:rPr>
              <a:t>, published by Alpha Science, 2004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2.Software Quality Engineering: Testing, Quality Assurance, and Quantifiable Improvement by Jeff </a:t>
            </a:r>
            <a:r>
              <a:rPr lang="en-US" sz="1400" dirty="0" err="1">
                <a:solidFill>
                  <a:schemeClr val="tx1"/>
                </a:solidFill>
              </a:rPr>
              <a:t>Tian</a:t>
            </a:r>
            <a:r>
              <a:rPr lang="en-US" sz="1400" dirty="0">
                <a:solidFill>
                  <a:schemeClr val="tx1"/>
                </a:solidFill>
              </a:rPr>
              <a:t>, published by John Wiley &amp; sons, 2005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Software quality assurance: from theory to implementation. Daniel </a:t>
            </a:r>
            <a:r>
              <a:rPr lang="en-US" sz="1400" dirty="0" err="1">
                <a:solidFill>
                  <a:schemeClr val="tx1"/>
                </a:solidFill>
              </a:rPr>
              <a:t>Galin</a:t>
            </a:r>
            <a:r>
              <a:rPr lang="en-US" sz="1400" dirty="0">
                <a:solidFill>
                  <a:schemeClr val="tx1"/>
                </a:solidFill>
              </a:rPr>
              <a:t>,. Pearson Education, </a:t>
            </a:r>
            <a:r>
              <a:rPr lang="en-US" sz="1400" dirty="0" smtClean="0">
                <a:solidFill>
                  <a:schemeClr val="tx1"/>
                </a:solidFill>
              </a:rPr>
              <a:t>2004</a:t>
            </a:r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4.Perfect Software: And other illusions about testing by Gerald M. Weinberg, published </a:t>
            </a:r>
            <a:r>
              <a:rPr lang="en-US" sz="1400" dirty="0" err="1">
                <a:solidFill>
                  <a:schemeClr val="tx1"/>
                </a:solidFill>
              </a:rPr>
              <a:t>DorestHouse</a:t>
            </a:r>
            <a:r>
              <a:rPr lang="en-US" sz="1400" dirty="0">
                <a:solidFill>
                  <a:schemeClr val="tx1"/>
                </a:solidFill>
              </a:rPr>
              <a:t>, 2008</a:t>
            </a:r>
          </a:p>
          <a:p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4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1278" y="622479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Quality by Software Quality Specialists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066" y="1838617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No </a:t>
            </a:r>
            <a:r>
              <a:rPr lang="en-US" sz="2400" dirty="0" smtClean="0">
                <a:solidFill>
                  <a:schemeClr val="tx1"/>
                </a:solidFill>
              </a:rPr>
              <a:t>common </a:t>
            </a:r>
            <a:r>
              <a:rPr lang="en-US" sz="2400" dirty="0">
                <a:solidFill>
                  <a:schemeClr val="tx1"/>
                </a:solidFill>
              </a:rPr>
              <a:t>agreed definition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Achieving </a:t>
            </a:r>
            <a:r>
              <a:rPr lang="en-US" sz="2400" dirty="0">
                <a:solidFill>
                  <a:schemeClr val="tx1"/>
                </a:solidFill>
              </a:rPr>
              <a:t>high level of user satisfaction, portability, maintainability, </a:t>
            </a:r>
            <a:r>
              <a:rPr lang="en-US" sz="2400" dirty="0" smtClean="0">
                <a:solidFill>
                  <a:schemeClr val="tx1"/>
                </a:solidFill>
              </a:rPr>
              <a:t>robustness, </a:t>
            </a:r>
            <a:r>
              <a:rPr lang="en-US" sz="2400" dirty="0">
                <a:solidFill>
                  <a:schemeClr val="tx1"/>
                </a:solidFill>
              </a:rPr>
              <a:t>and fitness for use –</a:t>
            </a:r>
            <a:r>
              <a:rPr lang="en-US" sz="2400" i="1" dirty="0">
                <a:solidFill>
                  <a:schemeClr val="tx1"/>
                </a:solidFill>
              </a:rPr>
              <a:t>Dr. Barry </a:t>
            </a:r>
            <a:r>
              <a:rPr lang="en-US" sz="2400" i="1" dirty="0" smtClean="0">
                <a:solidFill>
                  <a:schemeClr val="tx1"/>
                </a:solidFill>
              </a:rPr>
              <a:t>Boehm</a:t>
            </a:r>
          </a:p>
          <a:p>
            <a:pPr marL="0" indent="0" algn="just">
              <a:buNone/>
            </a:pPr>
            <a:endParaRPr lang="en-US" sz="2400" i="1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Conformance </a:t>
            </a:r>
            <a:r>
              <a:rPr lang="en-US" sz="2400" dirty="0">
                <a:solidFill>
                  <a:schemeClr val="tx1"/>
                </a:solidFill>
              </a:rPr>
              <a:t>to user requirements –</a:t>
            </a:r>
            <a:r>
              <a:rPr lang="en-US" sz="2400" i="1" dirty="0">
                <a:solidFill>
                  <a:schemeClr val="tx1"/>
                </a:solidFill>
              </a:rPr>
              <a:t>Phil </a:t>
            </a:r>
            <a:r>
              <a:rPr lang="en-US" sz="2400" i="1" dirty="0" smtClean="0">
                <a:solidFill>
                  <a:schemeClr val="tx1"/>
                </a:solidFill>
              </a:rPr>
              <a:t>Crosby</a:t>
            </a:r>
          </a:p>
          <a:p>
            <a:pPr marL="0" indent="0" algn="just">
              <a:buNone/>
            </a:pPr>
            <a:endParaRPr lang="en-US" sz="2400" i="1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Striving </a:t>
            </a:r>
            <a:r>
              <a:rPr lang="en-US" sz="2400" dirty="0">
                <a:solidFill>
                  <a:schemeClr val="tx1"/>
                </a:solidFill>
              </a:rPr>
              <a:t>for excellence –</a:t>
            </a:r>
            <a:r>
              <a:rPr lang="en-US" sz="2400" i="1" dirty="0">
                <a:solidFill>
                  <a:schemeClr val="tx1"/>
                </a:solidFill>
              </a:rPr>
              <a:t>Edward Deming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87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551" y="455053"/>
            <a:ext cx="9445460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Quality by Software Quality Specialists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1941" y="1980285"/>
            <a:ext cx="8596668" cy="388077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Achieving excellent levels of fitness for use, conformance to requirements, reliability, and maintainability –</a:t>
            </a:r>
            <a:r>
              <a:rPr lang="en-US" sz="2400" i="1" dirty="0">
                <a:solidFill>
                  <a:schemeClr val="tx1"/>
                </a:solidFill>
              </a:rPr>
              <a:t>Watts </a:t>
            </a:r>
            <a:r>
              <a:rPr lang="en-US" sz="2400" i="1" dirty="0" smtClean="0">
                <a:solidFill>
                  <a:schemeClr val="tx1"/>
                </a:solidFill>
              </a:rPr>
              <a:t>Humphrey</a:t>
            </a:r>
          </a:p>
          <a:p>
            <a:pPr marL="0" indent="0" algn="just">
              <a:buNone/>
            </a:pPr>
            <a:endParaRPr lang="en-US" sz="2400" i="1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Being on time, within budget and meeting user needs –</a:t>
            </a:r>
            <a:r>
              <a:rPr lang="en-US" sz="2400" i="1" dirty="0">
                <a:solidFill>
                  <a:schemeClr val="tx1"/>
                </a:solidFill>
              </a:rPr>
              <a:t>James </a:t>
            </a:r>
            <a:r>
              <a:rPr lang="en-US" sz="2400" i="1" dirty="0" smtClean="0">
                <a:solidFill>
                  <a:schemeClr val="tx1"/>
                </a:solidFill>
              </a:rPr>
              <a:t>Martin</a:t>
            </a:r>
          </a:p>
          <a:p>
            <a:pPr marL="0" indent="0" algn="just">
              <a:buNone/>
            </a:pPr>
            <a:endParaRPr lang="en-US" sz="2400" i="1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High levels of user satisfaction and low defect levels –</a:t>
            </a:r>
            <a:r>
              <a:rPr lang="en-US" sz="2400" i="1" dirty="0">
                <a:solidFill>
                  <a:schemeClr val="tx1"/>
                </a:solidFill>
              </a:rPr>
              <a:t>Tom McCabe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822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035" y="609600"/>
            <a:ext cx="9574249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Quality by Software Quality </a:t>
            </a:r>
            <a:r>
              <a:rPr lang="en-US" dirty="0">
                <a:solidFill>
                  <a:schemeClr val="tx1"/>
                </a:solidFill>
              </a:rPr>
              <a:t>Specialists </a:t>
            </a:r>
            <a:r>
              <a:rPr lang="en-US" dirty="0" smtClean="0">
                <a:solidFill>
                  <a:schemeClr val="tx1"/>
                </a:solidFill>
              </a:rPr>
              <a:t>Cont.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3098" y="1930400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Conformance to explicitly stated functional and performance requirements, explicitly documented standards (e.g. IEEE std.), and implicit characteristics that are expected of all professionally developed software </a:t>
            </a:r>
            <a:r>
              <a:rPr lang="en-US" sz="2800" i="1" dirty="0" smtClean="0">
                <a:solidFill>
                  <a:schemeClr val="tx1"/>
                </a:solidFill>
              </a:rPr>
              <a:t>–Roger S. Pressman</a:t>
            </a:r>
            <a:endParaRPr lang="en-US" sz="2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66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188" y="558085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Quality by IEEE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184" y="1878885"/>
            <a:ext cx="8596668" cy="3880773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The </a:t>
            </a:r>
            <a:r>
              <a:rPr lang="en-US" sz="2800" dirty="0">
                <a:solidFill>
                  <a:schemeClr val="tx1"/>
                </a:solidFill>
              </a:rPr>
              <a:t>degree to which a system, component, or process meets specified </a:t>
            </a:r>
            <a:r>
              <a:rPr lang="en-US" sz="2800" dirty="0" smtClean="0">
                <a:solidFill>
                  <a:schemeClr val="tx1"/>
                </a:solidFill>
              </a:rPr>
              <a:t>requirements</a:t>
            </a:r>
            <a:endParaRPr lang="en-US" sz="2800" dirty="0">
              <a:solidFill>
                <a:schemeClr val="tx1"/>
              </a:solidFill>
            </a:endParaRPr>
          </a:p>
          <a:p>
            <a:pPr marL="457200" lvl="1" indent="0" algn="ctr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AND</a:t>
            </a:r>
            <a:endParaRPr lang="en-US" sz="2800" dirty="0">
              <a:solidFill>
                <a:schemeClr val="tx1"/>
              </a:solidFill>
            </a:endParaRPr>
          </a:p>
          <a:p>
            <a:pPr marL="457200" lvl="1" indent="0" algn="ctr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The </a:t>
            </a:r>
            <a:r>
              <a:rPr lang="en-US" sz="2800" dirty="0">
                <a:solidFill>
                  <a:schemeClr val="tx1"/>
                </a:solidFill>
              </a:rPr>
              <a:t>degree to which a system, component, or process meets </a:t>
            </a:r>
            <a:r>
              <a:rPr lang="en-US" sz="2800" dirty="0" smtClean="0">
                <a:solidFill>
                  <a:schemeClr val="tx1"/>
                </a:solidFill>
              </a:rPr>
              <a:t>customer </a:t>
            </a:r>
            <a:r>
              <a:rPr lang="en-US" sz="2800" dirty="0">
                <a:solidFill>
                  <a:schemeClr val="tx1"/>
                </a:solidFill>
              </a:rPr>
              <a:t>or user needs or </a:t>
            </a:r>
            <a:r>
              <a:rPr lang="en-US" sz="2800" dirty="0" smtClean="0">
                <a:solidFill>
                  <a:schemeClr val="tx1"/>
                </a:solidFill>
              </a:rPr>
              <a:t>expectations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71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72" y="635357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Quality by End Users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824" y="1956157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An end user’s definition of quality would be:</a:t>
            </a:r>
          </a:p>
          <a:p>
            <a:pPr lvl="1" algn="just"/>
            <a:r>
              <a:rPr lang="en-US" sz="2800" dirty="0" smtClean="0">
                <a:solidFill>
                  <a:schemeClr val="tx1"/>
                </a:solidFill>
              </a:rPr>
              <a:t>“Absence of defects that would make software either stop completely or produce unacceptable results”.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7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551" y="609600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Quality by End </a:t>
            </a:r>
            <a:r>
              <a:rPr lang="en-US" dirty="0">
                <a:solidFill>
                  <a:schemeClr val="tx1"/>
                </a:solidFill>
              </a:rPr>
              <a:t>Users </a:t>
            </a:r>
            <a:r>
              <a:rPr lang="en-US" dirty="0" smtClean="0">
                <a:solidFill>
                  <a:schemeClr val="tx1"/>
                </a:solidFill>
              </a:rPr>
              <a:t>Cont.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551" y="1838617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End user </a:t>
            </a:r>
            <a:r>
              <a:rPr lang="en-US" sz="2400" dirty="0">
                <a:solidFill>
                  <a:schemeClr val="tx1"/>
                </a:solidFill>
              </a:rPr>
              <a:t>quality expectations for software </a:t>
            </a:r>
            <a:r>
              <a:rPr lang="en-US" sz="2400" dirty="0" smtClean="0">
                <a:solidFill>
                  <a:schemeClr val="tx1"/>
                </a:solidFill>
              </a:rPr>
              <a:t>systems</a:t>
            </a:r>
            <a:endParaRPr lang="en-US" sz="2400" dirty="0">
              <a:solidFill>
                <a:schemeClr val="tx1"/>
              </a:solidFill>
            </a:endParaRPr>
          </a:p>
          <a:p>
            <a:pPr lvl="1" algn="just"/>
            <a:r>
              <a:rPr lang="en-US" sz="2400" dirty="0">
                <a:solidFill>
                  <a:srgbClr val="006600"/>
                </a:solidFill>
              </a:rPr>
              <a:t>The software systems must do what they are supposed to do. </a:t>
            </a:r>
            <a:r>
              <a:rPr lang="en-US" sz="2400" b="1" i="1" dirty="0" smtClean="0">
                <a:solidFill>
                  <a:srgbClr val="006600"/>
                </a:solidFill>
              </a:rPr>
              <a:t>(Do </a:t>
            </a:r>
            <a:r>
              <a:rPr lang="en-US" sz="2400" b="1" i="1" dirty="0">
                <a:solidFill>
                  <a:srgbClr val="006600"/>
                </a:solidFill>
              </a:rPr>
              <a:t>the right </a:t>
            </a:r>
            <a:r>
              <a:rPr lang="en-US" sz="2400" b="1" i="1" dirty="0" smtClean="0">
                <a:solidFill>
                  <a:srgbClr val="006600"/>
                </a:solidFill>
              </a:rPr>
              <a:t>things).</a:t>
            </a:r>
            <a:endParaRPr lang="en-US" sz="2400" b="1" i="1" dirty="0">
              <a:solidFill>
                <a:srgbClr val="006600"/>
              </a:solidFill>
            </a:endParaRPr>
          </a:p>
          <a:p>
            <a:pPr lvl="2" algn="just"/>
            <a:r>
              <a:rPr lang="en-US" sz="2400" dirty="0">
                <a:solidFill>
                  <a:srgbClr val="0070C0"/>
                </a:solidFill>
              </a:rPr>
              <a:t>For example, an airline reservation system is supposed to handle reservations, not intended to fly airplanes automatically</a:t>
            </a:r>
          </a:p>
          <a:p>
            <a:pPr lvl="1" algn="just"/>
            <a:r>
              <a:rPr lang="en-US" sz="2400" dirty="0">
                <a:solidFill>
                  <a:srgbClr val="006600"/>
                </a:solidFill>
              </a:rPr>
              <a:t>They must perform these specific tasks correctly or satisfactorily. </a:t>
            </a:r>
            <a:r>
              <a:rPr lang="en-US" sz="2400" b="1" i="1" dirty="0" smtClean="0">
                <a:solidFill>
                  <a:srgbClr val="006600"/>
                </a:solidFill>
              </a:rPr>
              <a:t>(Do </a:t>
            </a:r>
            <a:r>
              <a:rPr lang="en-US" sz="2400" b="1" i="1" dirty="0">
                <a:solidFill>
                  <a:srgbClr val="006600"/>
                </a:solidFill>
              </a:rPr>
              <a:t>the things </a:t>
            </a:r>
            <a:r>
              <a:rPr lang="en-US" sz="2400" b="1" i="1" dirty="0" smtClean="0">
                <a:solidFill>
                  <a:srgbClr val="006600"/>
                </a:solidFill>
              </a:rPr>
              <a:t>right).</a:t>
            </a:r>
            <a:endParaRPr lang="en-US" sz="2400" b="1" i="1" dirty="0">
              <a:solidFill>
                <a:srgbClr val="006600"/>
              </a:solidFill>
            </a:endParaRPr>
          </a:p>
          <a:p>
            <a:pPr lvl="2" algn="just"/>
            <a:r>
              <a:rPr lang="en-US" sz="2400" dirty="0">
                <a:solidFill>
                  <a:srgbClr val="0070C0"/>
                </a:solidFill>
              </a:rPr>
              <a:t>the system should help travel agents or individual travelers make valid reservations within a pre-specified time limit, instead of making invalid ones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4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0FA373-FC71-43C5-B962-D433940CC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F44E19-6F9C-40C6-8F6B-82886B901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05DA89-9689-4EB7-83A3-32913C232C3C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  <ds:schemaRef ds:uri="16c05727-aa75-4e4a-9b5f-8a80a1165891"/>
    <ds:schemaRef ds:uri="http://purl.org/dc/terms/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419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Software Quality</vt:lpstr>
      <vt:lpstr>Software Quality Engineering</vt:lpstr>
      <vt:lpstr>Quality by Software Quality Specialists</vt:lpstr>
      <vt:lpstr>Quality by Software Quality Specialists Cont.</vt:lpstr>
      <vt:lpstr>Quality by Software Quality Specialists Cont.</vt:lpstr>
      <vt:lpstr>Quality by IEEE</vt:lpstr>
      <vt:lpstr>Quality by End Users</vt:lpstr>
      <vt:lpstr>Quality by End Users Cont.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2020-10-12T15:52:37Z</dcterms:created>
  <dcterms:modified xsi:type="dcterms:W3CDTF">2023-10-24T08:11:01Z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