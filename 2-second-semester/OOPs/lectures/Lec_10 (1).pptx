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8" r:id="rId2"/>
    <p:sldId id="295" r:id="rId3"/>
    <p:sldId id="368" r:id="rId4"/>
    <p:sldId id="371" r:id="rId5"/>
    <p:sldId id="372" r:id="rId6"/>
    <p:sldId id="369" r:id="rId7"/>
    <p:sldId id="373" r:id="rId8"/>
    <p:sldId id="370" r:id="rId9"/>
    <p:sldId id="374" r:id="rId10"/>
    <p:sldId id="375" r:id="rId11"/>
    <p:sldId id="378" r:id="rId12"/>
    <p:sldId id="379" r:id="rId13"/>
    <p:sldId id="376" r:id="rId14"/>
    <p:sldId id="381" r:id="rId15"/>
    <p:sldId id="383" r:id="rId16"/>
    <p:sldId id="382" r:id="rId17"/>
    <p:sldId id="384" r:id="rId18"/>
    <p:sldId id="385" r:id="rId19"/>
    <p:sldId id="386" r:id="rId20"/>
    <p:sldId id="387" r:id="rId21"/>
    <p:sldId id="400" r:id="rId22"/>
    <p:sldId id="401" r:id="rId23"/>
    <p:sldId id="388" r:id="rId24"/>
    <p:sldId id="389" r:id="rId25"/>
    <p:sldId id="391" r:id="rId26"/>
    <p:sldId id="392" r:id="rId27"/>
    <p:sldId id="395" r:id="rId28"/>
    <p:sldId id="397" r:id="rId29"/>
    <p:sldId id="296" r:id="rId3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6" autoAdjust="0"/>
    <p:restoredTop sz="84022" autoAdjust="0"/>
  </p:normalViewPr>
  <p:slideViewPr>
    <p:cSldViewPr>
      <p:cViewPr varScale="1">
        <p:scale>
          <a:sx n="57" d="100"/>
          <a:sy n="57" d="100"/>
        </p:scale>
        <p:origin x="1758"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DBBD7DBD-BE1D-42F3-BFF3-520A6795C176}" type="datetimeFigureOut">
              <a:rPr lang="en-US"/>
              <a:pPr>
                <a:defRPr/>
              </a:pPr>
              <a:t>12/12/2022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0206A4E-B090-4F61-A79D-1650D25DF5C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673A1D0-E780-4F82-93ED-62184870BEF9}" type="slidenum">
              <a:rPr lang="en-US" altLang="en-US" smtClean="0"/>
              <a:pPr/>
              <a:t>2</a:t>
            </a:fld>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B826D5E-E703-4400-9C90-C97F64418E8B}" type="slidenum">
              <a:rPr lang="en-US" altLang="en-US" smtClean="0"/>
              <a:pPr/>
              <a:t>3</a:t>
            </a:fld>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348406-10DE-42CE-B321-D2D761872962}" type="slidenum">
              <a:rPr lang="en-US" altLang="en-US" smtClean="0"/>
              <a:pPr/>
              <a:t>4</a:t>
            </a:fld>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A class cannot extend multiple classes. (</a:t>
            </a:r>
            <a:r>
              <a:rPr lang="en-US" altLang="en-US" b="1" smtClean="0"/>
              <a:t>Multiple Inheritance)</a:t>
            </a:r>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F9742D6-E3AD-4B6D-B0B7-A1B94FCEF52B}" type="slidenum">
              <a:rPr lang="en-US" altLang="en-US" smtClean="0"/>
              <a:pPr/>
              <a:t>6</a:t>
            </a:fld>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0D9638-D28B-4F5C-97A3-438C96966BA6}" type="slidenum">
              <a:rPr lang="en-US" altLang="en-US" smtClean="0"/>
              <a:pPr/>
              <a:t>7</a:t>
            </a:fld>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Since Java 8, interface can have default and static methods which is discussed later.</a:t>
            </a:r>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B8C9DE7-77D1-4B45-8385-55E3A0FF4032}" type="slidenum">
              <a:rPr lang="en-US" altLang="en-US" smtClean="0"/>
              <a:pPr/>
              <a:t>9</a:t>
            </a:fld>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Printable </a:t>
            </a:r>
            <a:r>
              <a:rPr lang="en-US" altLang="en-US" dirty="0" err="1" smtClean="0"/>
              <a:t>obj</a:t>
            </a:r>
            <a:r>
              <a:rPr lang="en-US" altLang="en-US" dirty="0" smtClean="0"/>
              <a:t>= </a:t>
            </a:r>
            <a:r>
              <a:rPr lang="en-US" altLang="en-US" b="1" dirty="0" smtClean="0"/>
              <a:t>new </a:t>
            </a:r>
            <a:r>
              <a:rPr lang="en-US" altLang="en-US" b="1" dirty="0" err="1" smtClean="0"/>
              <a:t>InterfaceExp</a:t>
            </a:r>
            <a:r>
              <a:rPr lang="en-US" altLang="en-US" b="1" dirty="0" smtClean="0"/>
              <a:t>();</a:t>
            </a:r>
            <a:endParaRPr lang="en-US" altLang="en-US" dirty="0" smtClean="0"/>
          </a:p>
          <a:p>
            <a:r>
              <a:rPr lang="en-US" altLang="en-US" dirty="0" smtClean="0"/>
              <a:t>Hello</a:t>
            </a:r>
          </a:p>
          <a:p>
            <a:endParaRPr lang="en-US" altLang="en-US" dirty="0" smtClean="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2354676-4DC2-45D9-9F9B-8DEEDCE5E267}" type="slidenum">
              <a:rPr lang="en-US" altLang="en-US" smtClean="0"/>
              <a:pPr/>
              <a:t>10</a:t>
            </a:fld>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38B17E-AF0D-4442-8433-EB9935A4C2A0}" type="slidenum">
              <a:rPr lang="en-US" altLang="en-US" smtClean="0"/>
              <a:pPr/>
              <a:t>12</a:t>
            </a:fld>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TestInterface used to access methods of both interface, if reference variable of any implemented interface is created, this reference variable can access only corresponding method defined in that interface, cant access other’s.</a:t>
            </a:r>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5ADF14-3AC8-46FB-BB0D-197A1EA4C0F7}" type="slidenum">
              <a:rPr lang="en-US" altLang="en-US" smtClean="0"/>
              <a:pPr/>
              <a:t>15</a:t>
            </a:fld>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CDB76C1-ACAC-40DE-A096-F801D8B73950}" type="slidenum">
              <a:rPr lang="en-US" altLang="en-US" smtClean="0"/>
              <a:pPr/>
              <a:t>17</a:t>
            </a:fld>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F3CC6DE-47CB-4F98-A2D1-5C3E93E30E05}" type="slidenum">
              <a:rPr lang="en-US" altLang="en-US" smtClean="0"/>
              <a:pPr/>
              <a:t>18</a:t>
            </a:fld>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It </a:t>
            </a:r>
            <a:r>
              <a:rPr lang="en-US" altLang="en-US" smtClean="0"/>
              <a:t>will be </a:t>
            </a:r>
            <a:r>
              <a:rPr lang="en-US" altLang="en-US" dirty="0" smtClean="0"/>
              <a:t>written as:</a:t>
            </a:r>
          </a:p>
          <a:p>
            <a:r>
              <a:rPr lang="en-US" altLang="en-US" dirty="0" smtClean="0"/>
              <a:t>Showable </a:t>
            </a:r>
            <a:r>
              <a:rPr lang="en-US" altLang="en-US" dirty="0" err="1" smtClean="0"/>
              <a:t>obj</a:t>
            </a:r>
            <a:r>
              <a:rPr lang="en-US" altLang="en-US" dirty="0" smtClean="0"/>
              <a:t>=new TestInterface2();</a:t>
            </a:r>
          </a:p>
          <a:p>
            <a:endParaRPr lang="en-US" altLang="en-US" dirty="0" smtClean="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1BFACEF-EFA6-40E7-A54F-023E0B01DADD}" type="slidenum">
              <a:rPr lang="en-US" altLang="en-US" smtClean="0"/>
              <a:pPr/>
              <a:t>19</a:t>
            </a:fld>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FB6D935-C82D-4052-B870-E1B57E801EA2}" type="slidenum">
              <a:rPr lang="en-US" altLang="en-US" smtClean="0"/>
              <a:pPr/>
              <a:t>20</a:t>
            </a:fld>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 A simple Java program to demonstrate multiple inheritance through default methods. */</a:t>
            </a:r>
          </a:p>
          <a:p>
            <a:r>
              <a:rPr lang="en-US" altLang="en-US" u="sng" smtClean="0"/>
              <a:t>https://www.geeksforgeeks.org/default-methods-java/ </a:t>
            </a:r>
          </a:p>
          <a:p>
            <a:endParaRPr lang="en-US" altLang="en-US" smtClean="0"/>
          </a:p>
        </p:txBody>
      </p:sp>
      <p:sp>
        <p:nvSpPr>
          <p:cNvPr id="501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293AE9E-0095-4A01-9F8F-0A3FCA7FAC25}" type="slidenum">
              <a:rPr lang="en-US" altLang="en-US" smtClean="0"/>
              <a:pPr/>
              <a:t>21</a:t>
            </a:fld>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B55F2F2-3C90-4057-BF22-52F05C647B2C}" type="slidenum">
              <a:rPr lang="en-US" altLang="en-US" smtClean="0"/>
              <a:pPr/>
              <a:t>24</a:t>
            </a:fld>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Simply, abstract class achieves partial abstraction (0 to 100%) whereas interface achieves fully abstraction (100%).</a:t>
            </a:r>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1ECED4C-78CC-412E-B1B0-6EF8ADC2B05E}" type="slidenum">
              <a:rPr lang="en-US" altLang="en-US" smtClean="0"/>
              <a:pPr/>
              <a:t>25</a:t>
            </a:fld>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F186F3-417F-4C40-B747-996CCB71DD0B}" type="slidenum">
              <a:rPr lang="en-US" altLang="en-US" smtClean="0"/>
              <a:pPr/>
              <a:t>26</a:t>
            </a:fld>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7" name="Freeform 18"/>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latin typeface="Arial" pitchFamily="34" charset="0"/>
                <a:cs typeface="Arial" pitchFamily="34" charset="0"/>
              </a:defRPr>
            </a:lvl1pPr>
            <a:extLst/>
          </a:lstStyle>
          <a:p>
            <a:r>
              <a:rPr lang="en-US" dirty="0" smtClean="0"/>
              <a:t>Click to edit Master title style</a:t>
            </a:r>
            <a:endParaRPr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latin typeface="Arial" pitchFamily="34" charset="0"/>
                <a:cs typeface="Arial"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smtClean="0"/>
              <a:t>Click to edit Master subtitle style</a:t>
            </a:r>
            <a:endParaRPr lang="en-US" dirty="0"/>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fld id="{70E149FE-F49B-4AD3-A7BD-C39AF82B581D}" type="datetimeFigureOut">
              <a:rPr lang="en-US"/>
              <a:pPr>
                <a:defRPr/>
              </a:pPr>
              <a:t>12/12/2022</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lstStyle>
          <a:p>
            <a:pPr>
              <a:defRPr/>
            </a:pPr>
            <a:fld id="{79DADF31-F438-4AC8-8D64-DE08846D9A5A}" type="slidenum">
              <a:rPr lang="en-US"/>
              <a:pPr>
                <a:defRPr/>
              </a:pPr>
              <a:t>‹#›</a:t>
            </a:fld>
            <a:endParaRPr lang="en-US"/>
          </a:p>
        </p:txBody>
      </p:sp>
    </p:spTree>
    <p:extLst>
      <p:ext uri="{BB962C8B-B14F-4D97-AF65-F5344CB8AC3E}">
        <p14:creationId xmlns:p14="http://schemas.microsoft.com/office/powerpoint/2010/main" val="2297520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lang="en-US" dirty="0" smtClean="0"/>
              <a:t>Click to edit Master title style</a:t>
            </a:r>
            <a:endParaRPr lang="en-US" dirty="0"/>
          </a:p>
        </p:txBody>
      </p:sp>
      <p:sp>
        <p:nvSpPr>
          <p:cNvPr id="4" name="Date Placeholder 9"/>
          <p:cNvSpPr>
            <a:spLocks noGrp="1"/>
          </p:cNvSpPr>
          <p:nvPr>
            <p:ph type="dt" sz="half" idx="10"/>
          </p:nvPr>
        </p:nvSpPr>
        <p:spPr/>
        <p:txBody>
          <a:bodyPr/>
          <a:lstStyle>
            <a:lvl1pPr>
              <a:defRPr/>
            </a:lvl1pPr>
          </a:lstStyle>
          <a:p>
            <a:pPr>
              <a:defRPr/>
            </a:pPr>
            <a:fld id="{4EBB7FB6-1143-40DF-AC31-8ED630017C51}" type="datetimeFigureOut">
              <a:rPr lang="en-US"/>
              <a:pPr>
                <a:defRPr/>
              </a:pPr>
              <a:t>12/12/2022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E9C537DD-F024-4F1F-9FFD-07FBD6390C4B}" type="slidenum">
              <a:rPr lang="en-US"/>
              <a:pPr>
                <a:defRPr/>
              </a:pPr>
              <a:t>‹#›</a:t>
            </a:fld>
            <a:endParaRPr lang="en-US"/>
          </a:p>
        </p:txBody>
      </p:sp>
    </p:spTree>
    <p:extLst>
      <p:ext uri="{BB962C8B-B14F-4D97-AF65-F5344CB8AC3E}">
        <p14:creationId xmlns:p14="http://schemas.microsoft.com/office/powerpoint/2010/main" val="1610719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D5FFFBEA-B1BC-47A8-9318-7C9876AB1698}" type="datetimeFigureOut">
              <a:rPr lang="en-US"/>
              <a:pPr>
                <a:defRPr/>
              </a:pPr>
              <a:t>12/12/2022</a:t>
            </a:fld>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EEF55EC0-975F-40BA-84AD-CAA00AAC1294}" type="slidenum">
              <a:rPr lang="en-US"/>
              <a:pPr>
                <a:defRPr/>
              </a:pPr>
              <a:t>‹#›</a:t>
            </a:fld>
            <a:endParaRPr lang="en-US"/>
          </a:p>
        </p:txBody>
      </p:sp>
    </p:spTree>
    <p:extLst>
      <p:ext uri="{BB962C8B-B14F-4D97-AF65-F5344CB8AC3E}">
        <p14:creationId xmlns:p14="http://schemas.microsoft.com/office/powerpoint/2010/main" val="19770787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fld id="{162F7742-B762-4822-9FD4-B38C0251FF8F}" type="datetimeFigureOut">
              <a:rPr lang="en-US"/>
              <a:pPr>
                <a:defRPr/>
              </a:pPr>
              <a:t>12/12/2022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00350AAA-9ED9-4337-9D63-8D32551719D1}" type="slidenum">
              <a:rPr lang="en-US"/>
              <a:pPr>
                <a:defRPr/>
              </a:pPr>
              <a:t>‹#›</a:t>
            </a:fld>
            <a:endParaRPr lang="en-US"/>
          </a:p>
        </p:txBody>
      </p:sp>
    </p:spTree>
    <p:extLst>
      <p:ext uri="{BB962C8B-B14F-4D97-AF65-F5344CB8AC3E}">
        <p14:creationId xmlns:p14="http://schemas.microsoft.com/office/powerpoint/2010/main" val="400376176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BFE1C08B-05E0-497B-9818-B86E002A8983}" type="datetimeFigureOut">
              <a:rPr lang="en-US"/>
              <a:pPr>
                <a:defRPr/>
              </a:pPr>
              <a:t>12/12/2022</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6327CDE3-1E0E-42BE-98B3-03BC86F86912}" type="slidenum">
              <a:rPr lang="en-US"/>
              <a:pPr>
                <a:defRPr/>
              </a:pPr>
              <a:t>‹#›</a:t>
            </a:fld>
            <a:endParaRPr lang="en-US"/>
          </a:p>
        </p:txBody>
      </p:sp>
    </p:spTree>
    <p:extLst>
      <p:ext uri="{BB962C8B-B14F-4D97-AF65-F5344CB8AC3E}">
        <p14:creationId xmlns:p14="http://schemas.microsoft.com/office/powerpoint/2010/main" val="211930842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fld id="{AAFC1257-243F-4C31-AC2D-3C46ED67FDF7}" type="datetimeFigureOut">
              <a:rPr lang="en-US"/>
              <a:pPr>
                <a:defRPr/>
              </a:pPr>
              <a:t>12/12/2022</a:t>
            </a:fld>
            <a:endParaRPr lang="en-US"/>
          </a:p>
        </p:txBody>
      </p:sp>
      <p:sp>
        <p:nvSpPr>
          <p:cNvPr id="4" name="Footer Placeholder 3"/>
          <p:cNvSpPr>
            <a:spLocks noGrp="1"/>
          </p:cNvSpPr>
          <p:nvPr>
            <p:ph type="ftr" sz="quarter" idx="11"/>
          </p:nvPr>
        </p:nvSpPr>
        <p:spPr/>
        <p:txBody>
          <a:bodyPr/>
          <a:lstStyle>
            <a:lvl1pPr>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A67BD332-7E65-4FC8-B230-20C67F6E925C}" type="slidenum">
              <a:rPr lang="en-US"/>
              <a:pPr>
                <a:defRPr/>
              </a:pPr>
              <a:t>‹#›</a:t>
            </a:fld>
            <a:endParaRPr lang="en-US"/>
          </a:p>
        </p:txBody>
      </p:sp>
    </p:spTree>
    <p:extLst>
      <p:ext uri="{BB962C8B-B14F-4D97-AF65-F5344CB8AC3E}">
        <p14:creationId xmlns:p14="http://schemas.microsoft.com/office/powerpoint/2010/main" val="124461976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F93DA961-7836-47C5-AADD-D0F43EE2D916}" type="datetimeFigureOut">
              <a:rPr lang="en-US"/>
              <a:pPr>
                <a:defRPr/>
              </a:pPr>
              <a:t>12/12/2022</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2604BC0D-D907-4EA1-BC8D-A271A4B7AB3D}" type="slidenum">
              <a:rPr lang="en-US"/>
              <a:pPr>
                <a:defRPr/>
              </a:pPr>
              <a:t>‹#›</a:t>
            </a:fld>
            <a:endParaRPr lang="en-US"/>
          </a:p>
        </p:txBody>
      </p:sp>
    </p:spTree>
    <p:extLst>
      <p:ext uri="{BB962C8B-B14F-4D97-AF65-F5344CB8AC3E}">
        <p14:creationId xmlns:p14="http://schemas.microsoft.com/office/powerpoint/2010/main" val="1142776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DC33F502-3881-4266-9D79-13216A6B9A08}" type="datetimeFigureOut">
              <a:rPr lang="en-US"/>
              <a:pPr>
                <a:defRPr/>
              </a:pPr>
              <a:t>12/12/2022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AFADACE4-602A-4954-8947-2AFD9AC98E7C}" type="slidenum">
              <a:rPr lang="en-US"/>
              <a:pPr>
                <a:defRPr/>
              </a:pPr>
              <a:t>‹#›</a:t>
            </a:fld>
            <a:endParaRPr lang="en-US"/>
          </a:p>
        </p:txBody>
      </p:sp>
    </p:spTree>
    <p:extLst>
      <p:ext uri="{BB962C8B-B14F-4D97-AF65-F5344CB8AC3E}">
        <p14:creationId xmlns:p14="http://schemas.microsoft.com/office/powerpoint/2010/main" val="20722009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Freeform 15"/>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C4A8DF4D-E81C-45BB-BF46-7CAF052520BF}" type="datetimeFigureOut">
              <a:rPr lang="en-US"/>
              <a:pPr>
                <a:defRPr/>
              </a:pPr>
              <a:t>12/12/2022</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pPr>
              <a:defRPr/>
            </a:pPr>
            <a:fld id="{D6918612-B4A8-4217-B209-A251E125ACFD}" type="slidenum">
              <a:rPr lang="en-US"/>
              <a:pPr>
                <a:defRPr/>
              </a:pPr>
              <a:t>‹#›</a:t>
            </a:fld>
            <a:endParaRPr lang="en-US"/>
          </a:p>
        </p:txBody>
      </p:sp>
    </p:spTree>
    <p:extLst>
      <p:ext uri="{BB962C8B-B14F-4D97-AF65-F5344CB8AC3E}">
        <p14:creationId xmlns:p14="http://schemas.microsoft.com/office/powerpoint/2010/main" val="328079106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58145A58-DE46-42F2-B4B1-5E684127DAD3}" type="datetimeFigureOut">
              <a:rPr lang="en-US"/>
              <a:pPr>
                <a:defRPr/>
              </a:pPr>
              <a:t>12/12/2022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D45B79E0-3372-42E9-BB93-592DB767983D}" type="slidenum">
              <a:rPr lang="en-US"/>
              <a:pPr>
                <a:defRPr/>
              </a:pPr>
              <a:t>‹#›</a:t>
            </a:fld>
            <a:endParaRPr lang="en-US"/>
          </a:p>
        </p:txBody>
      </p:sp>
    </p:spTree>
    <p:extLst>
      <p:ext uri="{BB962C8B-B14F-4D97-AF65-F5344CB8AC3E}">
        <p14:creationId xmlns:p14="http://schemas.microsoft.com/office/powerpoint/2010/main" val="2597772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B65EDD75-7E53-4E0D-B618-3481C9EA56CF}" type="datetimeFigureOut">
              <a:rPr lang="en-US"/>
              <a:pPr>
                <a:defRPr/>
              </a:pPr>
              <a:t>12/12/2022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260982B9-4F4A-40AE-A745-0C5654FD6692}" type="slidenum">
              <a:rPr lang="en-US"/>
              <a:pPr>
                <a:defRPr/>
              </a:pPr>
              <a:t>‹#›</a:t>
            </a:fld>
            <a:endParaRPr lang="en-US"/>
          </a:p>
        </p:txBody>
      </p:sp>
    </p:spTree>
    <p:extLst>
      <p:ext uri="{BB962C8B-B14F-4D97-AF65-F5344CB8AC3E}">
        <p14:creationId xmlns:p14="http://schemas.microsoft.com/office/powerpoint/2010/main" val="357339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smtClean="0"/>
              <a:t>Click to edit Master title style</a:t>
            </a:r>
            <a:endParaRPr lang="en-US" dirty="0"/>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cs typeface="+mn-cs"/>
              </a:defRPr>
            </a:lvl1pPr>
            <a:extLst/>
          </a:lstStyle>
          <a:p>
            <a:pPr>
              <a:defRPr/>
            </a:pPr>
            <a:fld id="{F8FF043F-8AEF-400A-B4D4-9C879F6CA733}" type="datetimeFigureOut">
              <a:rPr lang="en-US"/>
              <a:pPr>
                <a:defRPr/>
              </a:pPr>
              <a:t>12/12/2022</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cs typeface="+mn-cs"/>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Lucida Sans Unicode" panose="020B0602030504020204" pitchFamily="34" charset="0"/>
              </a:defRPr>
            </a:lvl1pPr>
          </a:lstStyle>
          <a:p>
            <a:pPr>
              <a:defRPr/>
            </a:pPr>
            <a:fld id="{76FC7356-929B-420B-939E-82DC235D687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71" r:id="rId1"/>
    <p:sldLayoutId id="2147483967" r:id="rId2"/>
    <p:sldLayoutId id="2147483972" r:id="rId3"/>
    <p:sldLayoutId id="2147483973" r:id="rId4"/>
    <p:sldLayoutId id="2147483974" r:id="rId5"/>
    <p:sldLayoutId id="2147483975" r:id="rId6"/>
    <p:sldLayoutId id="2147483968" r:id="rId7"/>
    <p:sldLayoutId id="2147483976" r:id="rId8"/>
    <p:sldLayoutId id="2147483977" r:id="rId9"/>
    <p:sldLayoutId id="2147483969" r:id="rId10"/>
    <p:sldLayoutId id="2147483970"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Arial" pitchFamily="34" charset="0"/>
          <a:ea typeface="+mj-ea"/>
          <a:cs typeface="Arial" pitchFamily="34" charset="0"/>
        </a:defRPr>
      </a:lvl1pPr>
      <a:lvl2pPr algn="l" rtl="0" eaLnBrk="0" fontAlgn="base" hangingPunct="0">
        <a:spcBef>
          <a:spcPct val="0"/>
        </a:spcBef>
        <a:spcAft>
          <a:spcPct val="0"/>
        </a:spcAft>
        <a:defRPr sz="4100" b="1">
          <a:solidFill>
            <a:schemeClr val="tx2"/>
          </a:solidFill>
          <a:latin typeface="Arial" pitchFamily="34" charset="0"/>
          <a:cs typeface="Arial" pitchFamily="34" charset="0"/>
        </a:defRPr>
      </a:lvl2pPr>
      <a:lvl3pPr algn="l" rtl="0" eaLnBrk="0" fontAlgn="base" hangingPunct="0">
        <a:spcBef>
          <a:spcPct val="0"/>
        </a:spcBef>
        <a:spcAft>
          <a:spcPct val="0"/>
        </a:spcAft>
        <a:defRPr sz="4100" b="1">
          <a:solidFill>
            <a:schemeClr val="tx2"/>
          </a:solidFill>
          <a:latin typeface="Arial" pitchFamily="34" charset="0"/>
          <a:cs typeface="Arial" pitchFamily="34" charset="0"/>
        </a:defRPr>
      </a:lvl3pPr>
      <a:lvl4pPr algn="l" rtl="0" eaLnBrk="0" fontAlgn="base" hangingPunct="0">
        <a:spcBef>
          <a:spcPct val="0"/>
        </a:spcBef>
        <a:spcAft>
          <a:spcPct val="0"/>
        </a:spcAft>
        <a:defRPr sz="4100" b="1">
          <a:solidFill>
            <a:schemeClr val="tx2"/>
          </a:solidFill>
          <a:latin typeface="Arial" pitchFamily="34" charset="0"/>
          <a:cs typeface="Arial" pitchFamily="34" charset="0"/>
        </a:defRPr>
      </a:lvl4pPr>
      <a:lvl5pPr algn="l" rtl="0" eaLnBrk="0" fontAlgn="base" hangingPunct="0">
        <a:spcBef>
          <a:spcPct val="0"/>
        </a:spcBef>
        <a:spcAft>
          <a:spcPct val="0"/>
        </a:spcAft>
        <a:defRPr sz="4100" b="1">
          <a:solidFill>
            <a:schemeClr val="tx2"/>
          </a:solidFill>
          <a:latin typeface="Arial" pitchFamily="34" charset="0"/>
          <a:cs typeface="Arial" pitchFamily="34" charset="0"/>
        </a:defRPr>
      </a:lvl5pPr>
      <a:lvl6pPr marL="457200" algn="l" rtl="0" fontAlgn="base">
        <a:spcBef>
          <a:spcPct val="0"/>
        </a:spcBef>
        <a:spcAft>
          <a:spcPct val="0"/>
        </a:spcAft>
        <a:defRPr sz="4100" b="1">
          <a:solidFill>
            <a:schemeClr val="tx2"/>
          </a:solidFill>
          <a:latin typeface="Arial" pitchFamily="34" charset="0"/>
          <a:cs typeface="Arial" pitchFamily="34" charset="0"/>
        </a:defRPr>
      </a:lvl6pPr>
      <a:lvl7pPr marL="914400" algn="l" rtl="0" fontAlgn="base">
        <a:spcBef>
          <a:spcPct val="0"/>
        </a:spcBef>
        <a:spcAft>
          <a:spcPct val="0"/>
        </a:spcAft>
        <a:defRPr sz="4100" b="1">
          <a:solidFill>
            <a:schemeClr val="tx2"/>
          </a:solidFill>
          <a:latin typeface="Arial" pitchFamily="34" charset="0"/>
          <a:cs typeface="Arial" pitchFamily="34" charset="0"/>
        </a:defRPr>
      </a:lvl7pPr>
      <a:lvl8pPr marL="1371600" algn="l" rtl="0" fontAlgn="base">
        <a:spcBef>
          <a:spcPct val="0"/>
        </a:spcBef>
        <a:spcAft>
          <a:spcPct val="0"/>
        </a:spcAft>
        <a:defRPr sz="4100" b="1">
          <a:solidFill>
            <a:schemeClr val="tx2"/>
          </a:solidFill>
          <a:latin typeface="Arial" pitchFamily="34" charset="0"/>
          <a:cs typeface="Arial" pitchFamily="34" charset="0"/>
        </a:defRPr>
      </a:lvl8pPr>
      <a:lvl9pPr marL="1828800" algn="l" rtl="0" fontAlgn="base">
        <a:spcBef>
          <a:spcPct val="0"/>
        </a:spcBef>
        <a:spcAft>
          <a:spcPct val="0"/>
        </a:spcAft>
        <a:defRPr sz="4100" b="1">
          <a:solidFill>
            <a:schemeClr val="tx2"/>
          </a:solidFill>
          <a:latin typeface="Arial" pitchFamily="34" charset="0"/>
          <a:cs typeface="Arial"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Arial" pitchFamily="34" charset="0"/>
          <a:ea typeface="+mn-ea"/>
          <a:cs typeface="Arial" pitchFamily="34" charset="0"/>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Arial" pitchFamily="34" charset="0"/>
          <a:ea typeface="+mn-ea"/>
          <a:cs typeface="Arial" pitchFamily="34" charset="0"/>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Arial" pitchFamily="34" charset="0"/>
          <a:ea typeface="+mn-ea"/>
          <a:cs typeface="Arial" pitchFamily="34" charset="0"/>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Arial" pitchFamily="34" charset="0"/>
          <a:ea typeface="+mn-ea"/>
          <a:cs typeface="Arial" pitchFamily="34" charset="0"/>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Arial" pitchFamily="34" charset="0"/>
          <a:ea typeface="+mn-ea"/>
          <a:cs typeface="Arial" pitchFamily="34" charset="0"/>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stackoverflow.com/questions/19483626/how-is-loose-coupling-achieved-using-interfaces-in-java-when-an-implementation-c"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idx="4294967295"/>
          </p:nvPr>
        </p:nvSpPr>
        <p:spPr>
          <a:xfrm>
            <a:off x="0" y="2436812"/>
            <a:ext cx="8839200" cy="1830388"/>
          </a:xfrm>
        </p:spPr>
        <p:txBody>
          <a:bodyPr anchor="b"/>
          <a:lstStyle/>
          <a:p>
            <a:pPr algn="r" eaLnBrk="1" fontAlgn="auto" hangingPunct="1">
              <a:spcAft>
                <a:spcPts val="0"/>
              </a:spcAft>
              <a:defRPr/>
            </a:pPr>
            <a:r>
              <a:rPr lang="en-US" sz="4800" dirty="0" smtClean="0"/>
              <a:t>Object Oriented </a:t>
            </a:r>
            <a:br>
              <a:rPr lang="en-US" sz="4800" dirty="0" smtClean="0"/>
            </a:br>
            <a:r>
              <a:rPr lang="en-US" sz="4800" dirty="0" smtClean="0"/>
              <a:t>Programming</a:t>
            </a:r>
            <a:endParaRPr lang="en-US"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a:xfrm>
            <a:off x="457200" y="1481138"/>
            <a:ext cx="7696200" cy="4525962"/>
          </a:xfrm>
        </p:spPr>
        <p:txBody>
          <a:bodyPr/>
          <a:lstStyle/>
          <a:p>
            <a:pPr eaLnBrk="1" hangingPunct="1"/>
            <a:r>
              <a:rPr lang="en-US" altLang="en-US" smtClean="0"/>
              <a:t>Interface</a:t>
            </a:r>
          </a:p>
          <a:p>
            <a:pPr lvl="1" eaLnBrk="1" hangingPunct="1"/>
            <a:r>
              <a:rPr lang="en-US" altLang="en-US" smtClean="0"/>
              <a:t>Interface vs. Class</a:t>
            </a:r>
          </a:p>
          <a:p>
            <a:pPr eaLnBrk="1" hangingPunct="1"/>
            <a:r>
              <a:rPr lang="en-US" altLang="en-US" sz="2800" smtClean="0"/>
              <a:t>Interface inheritance</a:t>
            </a:r>
            <a:endParaRPr lang="en-US" altLang="en-US" smtClean="0"/>
          </a:p>
          <a:p>
            <a:pPr lvl="1" eaLnBrk="1" hangingPunct="1"/>
            <a:r>
              <a:rPr lang="en-US" altLang="en-US" smtClean="0"/>
              <a:t>Multiple Inheritance with Interface</a:t>
            </a:r>
          </a:p>
          <a:p>
            <a:pPr lvl="1" eaLnBrk="1" hangingPunct="1"/>
            <a:r>
              <a:rPr lang="en-US" altLang="en-US" smtClean="0"/>
              <a:t>Java 8 Default Method in Interface</a:t>
            </a:r>
          </a:p>
          <a:p>
            <a:pPr lvl="1" eaLnBrk="1" hangingPunct="1"/>
            <a:r>
              <a:rPr lang="en-US" altLang="en-US" smtClean="0"/>
              <a:t>Default Methods and Multiple Inheritance</a:t>
            </a:r>
          </a:p>
          <a:p>
            <a:pPr lvl="1" eaLnBrk="1" hangingPunct="1"/>
            <a:r>
              <a:rPr lang="en-US" altLang="en-US" smtClean="0"/>
              <a:t>Java 8 Static Method in Interface</a:t>
            </a:r>
          </a:p>
          <a:p>
            <a:pPr eaLnBrk="1" hangingPunct="1"/>
            <a:r>
              <a:rPr lang="en-US" altLang="en-US" smtClean="0"/>
              <a:t>Abstract Class vs. Interface</a:t>
            </a:r>
          </a:p>
          <a:p>
            <a:pPr eaLnBrk="1" hangingPunct="1"/>
            <a:endParaRPr lang="en-US" altLang="en-US" smtClean="0"/>
          </a:p>
        </p:txBody>
      </p:sp>
      <p:sp>
        <p:nvSpPr>
          <p:cNvPr id="3" name="Title 2"/>
          <p:cNvSpPr>
            <a:spLocks noGrp="1"/>
          </p:cNvSpPr>
          <p:nvPr>
            <p:ph type="title"/>
          </p:nvPr>
        </p:nvSpPr>
        <p:spPr/>
        <p:txBody>
          <a:bodyPr/>
          <a:lstStyle/>
          <a:p>
            <a:pPr eaLnBrk="1" fontAlgn="auto" hangingPunct="1">
              <a:spcAft>
                <a:spcPts val="0"/>
              </a:spcAft>
              <a:defRPr/>
            </a:pPr>
            <a:r>
              <a:rPr lang="en-US" dirty="0" smtClean="0"/>
              <a:t>Topics To Be Covered Today</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1"/>
          <p:cNvSpPr>
            <a:spLocks noGrp="1"/>
          </p:cNvSpPr>
          <p:nvPr>
            <p:ph idx="1"/>
          </p:nvPr>
        </p:nvSpPr>
        <p:spPr/>
        <p:txBody>
          <a:bodyPr/>
          <a:lstStyle/>
          <a:p>
            <a:r>
              <a:rPr lang="en-US" altLang="en-US" smtClean="0"/>
              <a:t>A blueprint of a class which has static constants and abstract methods.</a:t>
            </a:r>
          </a:p>
          <a:p>
            <a:r>
              <a:rPr lang="en-US" altLang="en-US" b="1" smtClean="0"/>
              <a:t>A mechanism to achieve abstraction</a:t>
            </a:r>
          </a:p>
          <a:p>
            <a:pPr lvl="1"/>
            <a:r>
              <a:rPr lang="en-US" altLang="en-US" smtClean="0"/>
              <a:t>There can be only abstract methods in interface</a:t>
            </a:r>
          </a:p>
          <a:p>
            <a:r>
              <a:rPr lang="en-US" altLang="en-US" smtClean="0"/>
              <a:t>A class implements an interface, thereby inheriting the abstract methods of the interface.</a:t>
            </a:r>
          </a:p>
          <a:p>
            <a:pPr lvl="1"/>
            <a:r>
              <a:rPr lang="en-US" altLang="en-US" smtClean="0"/>
              <a:t>A class that implements interface must implement all the methods declared in the interface.</a:t>
            </a:r>
          </a:p>
          <a:p>
            <a:pPr lvl="1"/>
            <a:r>
              <a:rPr lang="en-US" altLang="en-US" smtClean="0"/>
              <a:t>Java Interface also </a:t>
            </a:r>
            <a:r>
              <a:rPr lang="en-US" altLang="en-US" b="1" smtClean="0"/>
              <a:t>represents IS-A relationship</a:t>
            </a:r>
            <a:r>
              <a:rPr lang="en-US" altLang="en-US" smtClean="0"/>
              <a:t>.</a:t>
            </a:r>
          </a:p>
          <a:p>
            <a:r>
              <a:rPr lang="en-US" altLang="en-US" smtClean="0"/>
              <a:t>It cannot be instantiated just like abstract class.</a:t>
            </a:r>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Interface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p:cNvSpPr>
            <a:spLocks noGrp="1"/>
          </p:cNvSpPr>
          <p:nvPr>
            <p:ph idx="1"/>
          </p:nvPr>
        </p:nvSpPr>
        <p:spPr>
          <a:xfrm>
            <a:off x="457200" y="1417638"/>
            <a:ext cx="8229600" cy="4589462"/>
          </a:xfrm>
        </p:spPr>
        <p:txBody>
          <a:bodyPr/>
          <a:lstStyle/>
          <a:p>
            <a:r>
              <a:rPr lang="en-US" altLang="en-US" smtClean="0"/>
              <a:t>Writing an interface is similar to writing a class. But:</a:t>
            </a:r>
          </a:p>
          <a:p>
            <a:pPr lvl="1"/>
            <a:r>
              <a:rPr lang="en-US" altLang="en-US" smtClean="0"/>
              <a:t>A class describes the attributes and behaviors of an object. </a:t>
            </a:r>
          </a:p>
          <a:p>
            <a:pPr lvl="1"/>
            <a:r>
              <a:rPr lang="en-US" altLang="en-US" smtClean="0"/>
              <a:t>While an interface contains behaviors that a class implements.</a:t>
            </a:r>
          </a:p>
          <a:p>
            <a:r>
              <a:rPr lang="en-US" altLang="en-US" smtClean="0"/>
              <a:t>a class extends another class, an interface extends another interface but a </a:t>
            </a:r>
            <a:r>
              <a:rPr lang="en-US" altLang="en-US" b="1" smtClean="0"/>
              <a:t>class implements an interface</a:t>
            </a:r>
            <a:r>
              <a:rPr lang="en-US" altLang="en-US" smtClean="0"/>
              <a:t>.</a:t>
            </a:r>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Interface VS Class</a:t>
            </a:r>
            <a:endParaRPr lang="en-US" dirty="0"/>
          </a:p>
        </p:txBody>
      </p:sp>
      <p:pic>
        <p:nvPicPr>
          <p:cNvPr id="1536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5029200"/>
            <a:ext cx="624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p:txBody>
          <a:bodyPr/>
          <a:lstStyle/>
          <a:p>
            <a:r>
              <a:rPr lang="en-US" altLang="en-US" smtClean="0"/>
              <a:t>An interface is similar to a class in the following ways:</a:t>
            </a:r>
          </a:p>
          <a:p>
            <a:pPr lvl="1"/>
            <a:r>
              <a:rPr lang="en-US" altLang="en-US" smtClean="0"/>
              <a:t>An interface can contain any number of methods.</a:t>
            </a:r>
          </a:p>
          <a:p>
            <a:pPr lvl="1"/>
            <a:r>
              <a:rPr lang="en-US" altLang="en-US" smtClean="0"/>
              <a:t>An interface is written in a file with a </a:t>
            </a:r>
            <a:r>
              <a:rPr lang="en-US" altLang="en-US" b="1" smtClean="0"/>
              <a:t>.java</a:t>
            </a:r>
            <a:r>
              <a:rPr lang="en-US" altLang="en-US" smtClean="0"/>
              <a:t> extension, with the name of the interface matching the name of the file.</a:t>
            </a:r>
          </a:p>
          <a:p>
            <a:pPr lvl="1"/>
            <a:r>
              <a:rPr lang="en-US" altLang="en-US" smtClean="0"/>
              <a:t>The byte code of an interface appears in a </a:t>
            </a:r>
            <a:r>
              <a:rPr lang="en-US" altLang="en-US" b="1" smtClean="0"/>
              <a:t>.class</a:t>
            </a:r>
            <a:r>
              <a:rPr lang="en-US" altLang="en-US" smtClean="0"/>
              <a:t> file.</a:t>
            </a:r>
          </a:p>
          <a:p>
            <a:pPr lvl="1"/>
            <a:r>
              <a:rPr lang="en-US" altLang="en-US" smtClean="0"/>
              <a:t>Interfaces appear in packages, and their corresponding bytecode file must be in a directory structure that matches the package name.</a:t>
            </a:r>
          </a:p>
          <a:p>
            <a:endParaRPr lang="en-US" altLang="en-US" smtClean="0"/>
          </a:p>
        </p:txBody>
      </p:sp>
      <p:sp>
        <p:nvSpPr>
          <p:cNvPr id="3" name="Title 2"/>
          <p:cNvSpPr>
            <a:spLocks noGrp="1"/>
          </p:cNvSpPr>
          <p:nvPr>
            <p:ph type="title"/>
          </p:nvPr>
        </p:nvSpPr>
        <p:spPr/>
        <p:txBody>
          <a:bodyPr/>
          <a:lstStyle/>
          <a:p>
            <a:pPr>
              <a:defRPr/>
            </a:pPr>
            <a:r>
              <a:rPr lang="en-US" dirty="0"/>
              <a:t>Interface is similar to class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lstStyle/>
          <a:p>
            <a:r>
              <a:rPr lang="en-US" altLang="en-US" smtClean="0"/>
              <a:t>An interface is different from a class in several ways:</a:t>
            </a:r>
          </a:p>
          <a:p>
            <a:pPr lvl="1"/>
            <a:r>
              <a:rPr lang="en-US" altLang="en-US" smtClean="0"/>
              <a:t>An interface cannot be instantiated.</a:t>
            </a:r>
          </a:p>
          <a:p>
            <a:pPr lvl="1"/>
            <a:r>
              <a:rPr lang="en-US" altLang="en-US" smtClean="0"/>
              <a:t>An interface does not contain any constructors.</a:t>
            </a:r>
          </a:p>
          <a:p>
            <a:pPr lvl="1"/>
            <a:r>
              <a:rPr lang="en-US" altLang="en-US" smtClean="0"/>
              <a:t>All of the methods in an interface are abstract.</a:t>
            </a:r>
          </a:p>
          <a:p>
            <a:pPr lvl="1"/>
            <a:r>
              <a:rPr lang="en-US" altLang="en-US" smtClean="0"/>
              <a:t>An interface cannot contain instance fields. The only fields that can appear in an interface must be declared both static and final.</a:t>
            </a:r>
          </a:p>
          <a:p>
            <a:pPr lvl="1"/>
            <a:r>
              <a:rPr lang="en-US" altLang="en-US" smtClean="0"/>
              <a:t>An interface is not extended by a class.</a:t>
            </a:r>
          </a:p>
          <a:p>
            <a:pPr lvl="2"/>
            <a:r>
              <a:rPr lang="en-US" altLang="en-US" smtClean="0"/>
              <a:t>it is implemented by a class.</a:t>
            </a:r>
          </a:p>
          <a:p>
            <a:pPr lvl="1"/>
            <a:r>
              <a:rPr lang="en-US" altLang="en-US" smtClean="0">
                <a:solidFill>
                  <a:srgbClr val="FF0000"/>
                </a:solidFill>
              </a:rPr>
              <a:t>An interface can extend multiple interfaces</a:t>
            </a:r>
            <a:r>
              <a:rPr lang="en-US" altLang="en-US" smtClean="0"/>
              <a:t>.</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Interface is </a:t>
            </a:r>
            <a:r>
              <a:rPr lang="en-US" dirty="0" smtClean="0"/>
              <a:t>different from a class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p:cNvSpPr>
            <a:spLocks noGrp="1"/>
          </p:cNvSpPr>
          <p:nvPr>
            <p:ph idx="1"/>
          </p:nvPr>
        </p:nvSpPr>
        <p:spPr/>
        <p:txBody>
          <a:bodyPr/>
          <a:lstStyle/>
          <a:p>
            <a:r>
              <a:rPr lang="en-US" altLang="en-US" dirty="0" smtClean="0"/>
              <a:t>There are mainly three reasons to use interface</a:t>
            </a:r>
          </a:p>
          <a:p>
            <a:pPr lvl="1"/>
            <a:r>
              <a:rPr lang="en-US" altLang="en-US" dirty="0" smtClean="0"/>
              <a:t>It is used to achieve abstraction.</a:t>
            </a:r>
          </a:p>
          <a:p>
            <a:pPr lvl="1"/>
            <a:r>
              <a:rPr lang="en-US" altLang="en-US" dirty="0" smtClean="0"/>
              <a:t>By interface, we can support the functionality of multiple inheritance.</a:t>
            </a:r>
          </a:p>
          <a:p>
            <a:pPr lvl="1"/>
            <a:r>
              <a:rPr lang="en-US" altLang="en-US" dirty="0" smtClean="0"/>
              <a:t>It can be used to achieve loose coupling.</a:t>
            </a:r>
          </a:p>
          <a:p>
            <a:pPr lvl="2"/>
            <a:r>
              <a:rPr lang="en-US" dirty="0" smtClean="0"/>
              <a:t>Loose </a:t>
            </a:r>
            <a:r>
              <a:rPr lang="en-US" dirty="0"/>
              <a:t>coupling just means that components are able to work together without assuming anything about the internal workings of each other. </a:t>
            </a:r>
            <a:endParaRPr lang="en-US" dirty="0" smtClean="0"/>
          </a:p>
          <a:p>
            <a:pPr lvl="2"/>
            <a:r>
              <a:rPr lang="en-US" dirty="0">
                <a:hlinkClick r:id="rId3"/>
              </a:rPr>
              <a:t>https://</a:t>
            </a:r>
            <a:r>
              <a:rPr lang="en-US" dirty="0" smtClean="0">
                <a:hlinkClick r:id="rId3"/>
              </a:rPr>
              <a:t>stackoverflow.com/questions/19483626/how-is-loose-coupling-achieved-using-interfaces-in-java-when-an-implementation-c</a:t>
            </a:r>
            <a:r>
              <a:rPr lang="en-US" dirty="0" smtClean="0"/>
              <a:t> </a:t>
            </a:r>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p:txBody>
      </p:sp>
      <p:sp>
        <p:nvSpPr>
          <p:cNvPr id="3" name="Title 2"/>
          <p:cNvSpPr>
            <a:spLocks noGrp="1"/>
          </p:cNvSpPr>
          <p:nvPr>
            <p:ph type="title"/>
          </p:nvPr>
        </p:nvSpPr>
        <p:spPr/>
        <p:txBody>
          <a:bodyPr/>
          <a:lstStyle/>
          <a:p>
            <a:pPr>
              <a:defRPr/>
            </a:pPr>
            <a:r>
              <a:rPr lang="en-US" dirty="0"/>
              <a:t>Why use Java interface?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711700"/>
          </a:xfrm>
        </p:spPr>
        <p:txBody>
          <a:bodyPr/>
          <a:lstStyle/>
          <a:p>
            <a:pPr>
              <a:defRPr/>
            </a:pPr>
            <a:r>
              <a:rPr lang="en-US" dirty="0"/>
              <a:t>Interface is declared by using </a:t>
            </a:r>
            <a:r>
              <a:rPr lang="en-US" b="1" dirty="0"/>
              <a:t>interface</a:t>
            </a:r>
            <a:r>
              <a:rPr lang="en-US" dirty="0"/>
              <a:t> keyword</a:t>
            </a:r>
            <a:endParaRPr lang="en-US" dirty="0" smtClean="0"/>
          </a:p>
          <a:p>
            <a:pPr marL="603250" lvl="2" indent="0">
              <a:buFont typeface="Wingdings 2" panose="05020102010507070707" pitchFamily="18" charset="2"/>
              <a:buNone/>
              <a:defRPr/>
            </a:pPr>
            <a:r>
              <a:rPr lang="en-US" dirty="0" smtClean="0"/>
              <a:t>/* </a:t>
            </a:r>
            <a:r>
              <a:rPr lang="en-US" dirty="0"/>
              <a:t>File name : NameOfInterface.java */</a:t>
            </a:r>
          </a:p>
          <a:p>
            <a:pPr marL="887412" lvl="3" indent="0">
              <a:buFont typeface="Wingdings 2" panose="05020102010507070707" pitchFamily="18" charset="2"/>
              <a:buNone/>
              <a:defRPr/>
            </a:pPr>
            <a:r>
              <a:rPr lang="en-US" dirty="0" smtClean="0">
                <a:solidFill>
                  <a:srgbClr val="0070C0"/>
                </a:solidFill>
              </a:rPr>
              <a:t>public </a:t>
            </a:r>
            <a:r>
              <a:rPr lang="en-US" dirty="0">
                <a:solidFill>
                  <a:srgbClr val="0070C0"/>
                </a:solidFill>
              </a:rPr>
              <a:t>interface </a:t>
            </a:r>
            <a:r>
              <a:rPr lang="en-US" dirty="0" err="1"/>
              <a:t>NameOfInterface</a:t>
            </a:r>
            <a:r>
              <a:rPr lang="en-US" dirty="0"/>
              <a:t> {</a:t>
            </a:r>
          </a:p>
          <a:p>
            <a:pPr marL="887412" lvl="3" indent="0">
              <a:buFont typeface="Wingdings 2" panose="05020102010507070707" pitchFamily="18" charset="2"/>
              <a:buNone/>
              <a:defRPr/>
            </a:pPr>
            <a:r>
              <a:rPr lang="en-US" dirty="0">
                <a:solidFill>
                  <a:srgbClr val="00B050"/>
                </a:solidFill>
              </a:rPr>
              <a:t>   // Any number of final, static fields</a:t>
            </a:r>
          </a:p>
          <a:p>
            <a:pPr marL="887412" lvl="3" indent="0">
              <a:buFont typeface="Wingdings 2" panose="05020102010507070707" pitchFamily="18" charset="2"/>
              <a:buNone/>
              <a:defRPr/>
            </a:pPr>
            <a:r>
              <a:rPr lang="en-US" dirty="0">
                <a:solidFill>
                  <a:srgbClr val="00B050"/>
                </a:solidFill>
              </a:rPr>
              <a:t>   // Any number of abstract method </a:t>
            </a:r>
            <a:r>
              <a:rPr lang="en-US" dirty="0" smtClean="0">
                <a:solidFill>
                  <a:srgbClr val="00B050"/>
                </a:solidFill>
              </a:rPr>
              <a:t>declarations</a:t>
            </a:r>
            <a:endParaRPr lang="en-US" dirty="0">
              <a:solidFill>
                <a:srgbClr val="00B050"/>
              </a:solidFill>
            </a:endParaRPr>
          </a:p>
          <a:p>
            <a:pPr marL="887412" lvl="3" indent="0">
              <a:buFont typeface="Wingdings 2" panose="05020102010507070707" pitchFamily="18" charset="2"/>
              <a:buNone/>
              <a:defRPr/>
            </a:pPr>
            <a:r>
              <a:rPr lang="en-US" dirty="0"/>
              <a:t>}</a:t>
            </a:r>
          </a:p>
          <a:p>
            <a:pPr>
              <a:defRPr/>
            </a:pPr>
            <a:r>
              <a:rPr lang="en-US" dirty="0"/>
              <a:t>Interfaces have the following </a:t>
            </a:r>
            <a:r>
              <a:rPr lang="en-US" dirty="0" smtClean="0"/>
              <a:t>properties:</a:t>
            </a:r>
          </a:p>
          <a:p>
            <a:pPr lvl="1">
              <a:defRPr/>
            </a:pPr>
            <a:r>
              <a:rPr lang="en-US" dirty="0"/>
              <a:t>An interface is implicitly abstract. </a:t>
            </a:r>
          </a:p>
          <a:p>
            <a:pPr lvl="2">
              <a:defRPr/>
            </a:pPr>
            <a:r>
              <a:rPr lang="en-US" dirty="0"/>
              <a:t>You do not need to use the </a:t>
            </a:r>
            <a:r>
              <a:rPr lang="en-US" b="1" dirty="0"/>
              <a:t>abstract </a:t>
            </a:r>
            <a:r>
              <a:rPr lang="en-US" dirty="0"/>
              <a:t>keyword while declaring an interface.</a:t>
            </a:r>
          </a:p>
          <a:p>
            <a:pPr lvl="1">
              <a:defRPr/>
            </a:pPr>
            <a:r>
              <a:rPr lang="en-US" dirty="0"/>
              <a:t>Each method in an interface is also implicitly abstract, so the abstract keyword is not needed.</a:t>
            </a:r>
          </a:p>
          <a:p>
            <a:pPr lvl="1">
              <a:defRPr/>
            </a:pPr>
            <a:r>
              <a:rPr lang="en-US" dirty="0"/>
              <a:t>Methods in an interface are implicitly public and abstract while  all fields are public, static and final by default.</a:t>
            </a:r>
          </a:p>
          <a:p>
            <a:pPr>
              <a:defRPr/>
            </a:pPr>
            <a:endParaRPr lang="en-US" dirty="0"/>
          </a:p>
          <a:p>
            <a:pPr>
              <a:defRPr/>
            </a:pPr>
            <a:endParaRPr lang="en-US" dirty="0" smtClean="0"/>
          </a:p>
          <a:p>
            <a:pPr>
              <a:defRPr/>
            </a:pPr>
            <a:endParaRPr lang="en-US" dirty="0"/>
          </a:p>
          <a:p>
            <a:pPr>
              <a:defRPr/>
            </a:pPr>
            <a:endParaRPr lang="en-US" dirty="0" smtClean="0"/>
          </a:p>
          <a:p>
            <a:pPr>
              <a:defRPr/>
            </a:pPr>
            <a:endParaRPr lang="en-US" dirty="0"/>
          </a:p>
          <a:p>
            <a:pPr>
              <a:defRPr/>
            </a:pPr>
            <a:endParaRPr lang="en-US" dirty="0"/>
          </a:p>
        </p:txBody>
      </p:sp>
      <p:sp>
        <p:nvSpPr>
          <p:cNvPr id="3" name="Title 2"/>
          <p:cNvSpPr>
            <a:spLocks noGrp="1"/>
          </p:cNvSpPr>
          <p:nvPr>
            <p:ph type="title"/>
          </p:nvPr>
        </p:nvSpPr>
        <p:spPr/>
        <p:txBody>
          <a:bodyPr/>
          <a:lstStyle/>
          <a:p>
            <a:pPr>
              <a:defRPr/>
            </a:pPr>
            <a:r>
              <a:rPr lang="en-US" dirty="0"/>
              <a:t>How to declare interface?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 calcmode="lin" valueType="num">
                                      <p:cBhvr additive="base">
                                        <p:cTn id="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 calcmode="lin" valueType="num">
                                      <p:cBhvr additive="base">
                                        <p:cTn id="1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anim calcmode="lin" valueType="num">
                                      <p:cBhvr additive="base">
                                        <p:cTn id="19"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 calcmode="lin" valueType="num">
                                      <p:cBhvr additive="base">
                                        <p:cTn id="25"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anim calcmode="lin" valueType="num">
                                      <p:cBhvr additive="base">
                                        <p:cTn id="31"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p:cNvSpPr>
            <a:spLocks noGrp="1"/>
          </p:cNvSpPr>
          <p:nvPr>
            <p:ph idx="1"/>
          </p:nvPr>
        </p:nvSpPr>
        <p:spPr/>
        <p:txBody>
          <a:bodyPr/>
          <a:lstStyle/>
          <a:p>
            <a:r>
              <a:rPr lang="en-US" altLang="en-US" smtClean="0"/>
              <a:t>Interface fields are public, static and final by default, and methods are public and abstract.</a:t>
            </a:r>
          </a:p>
          <a:p>
            <a:r>
              <a:rPr lang="en-US" altLang="en-US" smtClean="0"/>
              <a:t>The java compiler adds internally: </a:t>
            </a:r>
          </a:p>
          <a:p>
            <a:pPr lvl="1"/>
            <a:r>
              <a:rPr lang="en-US" altLang="en-US" smtClean="0"/>
              <a:t>public and abstract keywords before the interface method. </a:t>
            </a:r>
          </a:p>
          <a:p>
            <a:pPr lvl="1"/>
            <a:r>
              <a:rPr lang="en-US" altLang="en-US" smtClean="0"/>
              <a:t>public, static and final keywords before data members.</a:t>
            </a:r>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Internal addition by compiler</a:t>
            </a:r>
          </a:p>
        </p:txBody>
      </p:sp>
      <p:pic>
        <p:nvPicPr>
          <p:cNvPr id="2355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114800"/>
            <a:ext cx="80772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Printable interface having only one method</a:t>
            </a:r>
          </a:p>
          <a:p>
            <a:r>
              <a:rPr lang="en-US" altLang="en-US" smtClean="0"/>
              <a:t>Implementation is provided in the InterfaceExp class.</a:t>
            </a:r>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947988"/>
            <a:ext cx="4267200"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4051300"/>
            <a:ext cx="586740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4457700" y="4286250"/>
            <a:ext cx="3200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600">
                <a:solidFill>
                  <a:srgbClr val="00B050"/>
                </a:solidFill>
              </a:rPr>
              <a:t>//What if I remove public??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additive="base">
                                        <p:cTn id="14"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 calcmode="lin" valueType="num">
                                      <p:cBhvr additive="base">
                                        <p:cTn id="20"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1+#ppt_w/2"/>
                                          </p:val>
                                        </p:tav>
                                        <p:tav tm="100000">
                                          <p:val>
                                            <p:strVal val="#ppt_x"/>
                                          </p:val>
                                        </p:tav>
                                      </p:tavLst>
                                    </p:anim>
                                    <p:anim calcmode="lin" valueType="num">
                                      <p:cBhvr additive="base">
                                        <p:cTn id="3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p:cNvSpPr>
            <a:spLocks noGrp="1"/>
          </p:cNvSpPr>
          <p:nvPr>
            <p:ph idx="1"/>
          </p:nvPr>
        </p:nvSpPr>
        <p:spPr/>
        <p:txBody>
          <a:bodyPr/>
          <a:lstStyle/>
          <a:p>
            <a:r>
              <a:rPr lang="en-US" altLang="en-US" smtClean="0"/>
              <a:t>When a class implements an interface, there are several rules:</a:t>
            </a:r>
          </a:p>
          <a:p>
            <a:pPr lvl="1"/>
            <a:r>
              <a:rPr lang="en-US" altLang="en-US" smtClean="0"/>
              <a:t>Sign a contract, agreeing to perform the specific behaviors of the interface.</a:t>
            </a:r>
          </a:p>
          <a:p>
            <a:pPr lvl="2"/>
            <a:r>
              <a:rPr lang="en-US" altLang="en-US" smtClean="0"/>
              <a:t>If a class does not perform all the behaviors of the interface, the class must declare itself as abstract</a:t>
            </a:r>
          </a:p>
          <a:p>
            <a:pPr lvl="1"/>
            <a:r>
              <a:rPr lang="en-US" altLang="en-US" smtClean="0"/>
              <a:t>An interface can extend another interface, in a similar way as a class can extend another class.</a:t>
            </a:r>
          </a:p>
          <a:p>
            <a:pPr lvl="1"/>
            <a:r>
              <a:rPr lang="en-US" altLang="en-US" smtClean="0"/>
              <a:t>A class can extend only one class, but can implement more than one interface at a time.</a:t>
            </a:r>
          </a:p>
          <a:p>
            <a:endParaRPr lang="en-US" altLang="en-US" smtClean="0"/>
          </a:p>
        </p:txBody>
      </p:sp>
      <p:sp>
        <p:nvSpPr>
          <p:cNvPr id="3" name="Title 2"/>
          <p:cNvSpPr>
            <a:spLocks noGrp="1"/>
          </p:cNvSpPr>
          <p:nvPr>
            <p:ph type="title"/>
          </p:nvPr>
        </p:nvSpPr>
        <p:spPr/>
        <p:txBody>
          <a:bodyPr/>
          <a:lstStyle/>
          <a:p>
            <a:pPr>
              <a:defRPr/>
            </a:pPr>
            <a:r>
              <a:rPr lang="en-US" dirty="0"/>
              <a:t>Implementing Interfaces</a:t>
            </a: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Interface Example: </a:t>
            </a:r>
            <a:r>
              <a:rPr lang="en-US" dirty="0" err="1"/>
              <a:t>Drawable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135063"/>
            <a:ext cx="413385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27113" y="2222500"/>
            <a:ext cx="5221287"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27113" y="5356225"/>
            <a:ext cx="5602287"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p:cNvSpPr>
            <a:spLocks noGrp="1"/>
          </p:cNvSpPr>
          <p:nvPr>
            <p:ph idx="1"/>
          </p:nvPr>
        </p:nvSpPr>
        <p:spPr/>
        <p:txBody>
          <a:bodyPr/>
          <a:lstStyle/>
          <a:p>
            <a:r>
              <a:rPr lang="en-US" altLang="en-US" smtClean="0"/>
              <a:t>In this example:</a:t>
            </a:r>
          </a:p>
          <a:p>
            <a:pPr lvl="1"/>
            <a:r>
              <a:rPr lang="en-US" altLang="en-US" smtClean="0"/>
              <a:t>Drawable interface has only one method. </a:t>
            </a:r>
          </a:p>
          <a:p>
            <a:pPr lvl="1"/>
            <a:r>
              <a:rPr lang="en-US" altLang="en-US" smtClean="0"/>
              <a:t>Its implementation is provided by Rectangle and Circle classes. </a:t>
            </a:r>
          </a:p>
          <a:p>
            <a:pPr lvl="1"/>
            <a:r>
              <a:rPr lang="en-US" altLang="en-US" smtClean="0"/>
              <a:t>In real scenario, interface is defined by someone but implementation is provided by different implementation providers. </a:t>
            </a:r>
          </a:p>
          <a:p>
            <a:pPr lvl="1"/>
            <a:r>
              <a:rPr lang="en-US" altLang="en-US" smtClean="0"/>
              <a:t>And, it is used by someone else. </a:t>
            </a:r>
          </a:p>
          <a:p>
            <a:r>
              <a:rPr lang="en-US" altLang="en-US" smtClean="0"/>
              <a:t>The implementation part is hidden by the user which uses the interface.</a:t>
            </a:r>
          </a:p>
        </p:txBody>
      </p:sp>
      <p:sp>
        <p:nvSpPr>
          <p:cNvPr id="3" name="Title 2"/>
          <p:cNvSpPr>
            <a:spLocks noGrp="1"/>
          </p:cNvSpPr>
          <p:nvPr>
            <p:ph type="title"/>
          </p:nvPr>
        </p:nvSpPr>
        <p:spPr/>
        <p:txBody>
          <a:bodyPr/>
          <a:lstStyle/>
          <a:p>
            <a:pPr>
              <a:defRPr/>
            </a:pPr>
            <a:r>
              <a:rPr lang="en-US" dirty="0" smtClean="0"/>
              <a:t>Explanation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p:cNvSpPr>
            <a:spLocks noGrp="1"/>
          </p:cNvSpPr>
          <p:nvPr>
            <p:ph idx="1"/>
          </p:nvPr>
        </p:nvSpPr>
        <p:spPr/>
        <p:txBody>
          <a:bodyPr/>
          <a:lstStyle/>
          <a:p>
            <a:r>
              <a:rPr lang="en-US" altLang="en-US" smtClean="0"/>
              <a:t>If a class implements multiple interfaces, or an interface extends multiple interfaces i.e. known as multiple inheritance</a:t>
            </a:r>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Multiple inheritance </a:t>
            </a:r>
            <a:r>
              <a:rPr lang="en-US" dirty="0" smtClean="0"/>
              <a:t>by </a:t>
            </a:r>
            <a:r>
              <a:rPr lang="en-US" dirty="0"/>
              <a:t>interface</a:t>
            </a:r>
          </a:p>
        </p:txBody>
      </p:sp>
      <p:pic>
        <p:nvPicPr>
          <p:cNvPr id="3277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1525" y="3505200"/>
            <a:ext cx="7600950"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17638"/>
            <a:ext cx="27432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349500"/>
            <a:ext cx="274320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182938"/>
            <a:ext cx="6248400" cy="367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Q)Multiple inheritance is not supported through class in java but it is possible by interface, why?</a:t>
            </a:r>
          </a:p>
          <a:p>
            <a:r>
              <a:rPr lang="en-US" altLang="en-US" smtClean="0"/>
              <a:t>Answer:</a:t>
            </a:r>
          </a:p>
          <a:p>
            <a:r>
              <a:rPr lang="en-US" altLang="en-US" smtClean="0"/>
              <a:t>multiple inheritance is not supported in case of class </a:t>
            </a:r>
            <a:r>
              <a:rPr lang="en-US" altLang="en-US" smtClean="0">
                <a:solidFill>
                  <a:srgbClr val="FF0000"/>
                </a:solidFill>
              </a:rPr>
              <a:t>because of ambiguity</a:t>
            </a:r>
          </a:p>
          <a:p>
            <a:r>
              <a:rPr lang="en-US" altLang="en-US" smtClean="0"/>
              <a:t>But it is supported in case of interface because there is no ambiguity </a:t>
            </a:r>
          </a:p>
          <a:p>
            <a:pPr lvl="1"/>
            <a:r>
              <a:rPr lang="en-US" altLang="en-US" smtClean="0"/>
              <a:t>As implementation is provided by the implementation class not the implemented interface</a:t>
            </a:r>
            <a:endParaRPr lang="en-US" altLang="en-US" smtClean="0">
              <a:solidFill>
                <a:srgbClr val="FF0000"/>
              </a:solidFill>
            </a:endParaRPr>
          </a:p>
          <a:p>
            <a:endParaRPr lang="en-US" altLang="en-US" smtClean="0"/>
          </a:p>
        </p:txBody>
      </p:sp>
      <p:sp>
        <p:nvSpPr>
          <p:cNvPr id="3" name="Title 2"/>
          <p:cNvSpPr>
            <a:spLocks noGrp="1"/>
          </p:cNvSpPr>
          <p:nvPr>
            <p:ph type="title"/>
          </p:nvPr>
        </p:nvSpPr>
        <p:spPr/>
        <p:txBody>
          <a:bodyPr/>
          <a:lstStyle/>
          <a:p>
            <a:pPr>
              <a:defRPr/>
            </a:pPr>
            <a:r>
              <a:rPr lang="en-US" dirty="0" smtClean="0">
                <a:solidFill>
                  <a:srgbClr val="FF0000"/>
                </a:solidFill>
              </a:rPr>
              <a:t>Question</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3686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17638"/>
            <a:ext cx="27432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376488"/>
            <a:ext cx="2743200"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444875"/>
            <a:ext cx="54864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Autofit/>
          </a:bodyPr>
          <a:lstStyle/>
          <a:p>
            <a:pPr>
              <a:defRPr/>
            </a:pPr>
            <a:r>
              <a:rPr lang="en-US" sz="3400" dirty="0" smtClean="0"/>
              <a:t>Interface inheritance: </a:t>
            </a:r>
            <a:r>
              <a:rPr lang="en-US" sz="3400" dirty="0">
                <a:solidFill>
                  <a:srgbClr val="FF0000"/>
                </a:solidFill>
              </a:rPr>
              <a:t>Extend Interface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400"/>
            <a:ext cx="2743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209800"/>
            <a:ext cx="44196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213100"/>
            <a:ext cx="594360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endParaRPr lang="en-US" dirty="0" smtClean="0"/>
          </a:p>
          <a:p>
            <a:pPr>
              <a:defRPr/>
            </a:pPr>
            <a:endParaRPr lang="en-US" dirty="0"/>
          </a:p>
          <a:p>
            <a:pPr marL="109537" indent="0">
              <a:buFont typeface="Wingdings 3" panose="05040102010807070707" pitchFamily="18" charset="2"/>
              <a:buNone/>
              <a:defRPr/>
            </a:pPr>
            <a:r>
              <a:rPr lang="en-US" dirty="0" smtClean="0"/>
              <a:t>                                                 </a:t>
            </a:r>
          </a:p>
          <a:p>
            <a:pPr>
              <a:defRPr/>
            </a:pPr>
            <a:endParaRPr lang="en-US" dirty="0"/>
          </a:p>
          <a:p>
            <a:pPr>
              <a:defRPr/>
            </a:pPr>
            <a:endParaRPr lang="en-US" dirty="0" smtClean="0"/>
          </a:p>
          <a:p>
            <a:pPr>
              <a:defRPr/>
            </a:pPr>
            <a:endParaRPr lang="en-US" dirty="0"/>
          </a:p>
          <a:p>
            <a:pPr>
              <a:defRPr/>
            </a:pPr>
            <a:endParaRPr lang="en-US" dirty="0"/>
          </a:p>
        </p:txBody>
      </p:sp>
      <p:sp>
        <p:nvSpPr>
          <p:cNvPr id="3" name="Title 2"/>
          <p:cNvSpPr>
            <a:spLocks noGrp="1"/>
          </p:cNvSpPr>
          <p:nvPr>
            <p:ph type="title"/>
          </p:nvPr>
        </p:nvSpPr>
        <p:spPr>
          <a:xfrm>
            <a:off x="457200" y="274638"/>
            <a:ext cx="8229600" cy="714541"/>
          </a:xfrm>
        </p:spPr>
        <p:txBody>
          <a:bodyPr>
            <a:normAutofit fontScale="90000"/>
          </a:bodyPr>
          <a:lstStyle/>
          <a:p>
            <a:pPr>
              <a:defRPr/>
            </a:pPr>
            <a:r>
              <a:rPr lang="en-US" dirty="0"/>
              <a:t>Extending Multiple Interfaces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008063"/>
            <a:ext cx="27432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631950"/>
            <a:ext cx="27432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274888"/>
            <a:ext cx="4800600"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66750" y="2971800"/>
            <a:ext cx="57340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5505450" y="2178050"/>
            <a:ext cx="29114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800">
                <a:solidFill>
                  <a:srgbClr val="00B050"/>
                </a:solidFill>
              </a:rPr>
              <a:t>//Multiple Inheritance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1+#ppt_w/2"/>
                                          </p:val>
                                        </p:tav>
                                        <p:tav tm="100000">
                                          <p:val>
                                            <p:strVal val="#ppt_x"/>
                                          </p:val>
                                        </p:tav>
                                      </p:tavLst>
                                    </p:anim>
                                    <p:anim calcmode="lin" valueType="num">
                                      <p:cBhvr additive="base">
                                        <p:cTn id="3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p:cNvSpPr>
            <a:spLocks noGrp="1"/>
          </p:cNvSpPr>
          <p:nvPr>
            <p:ph idx="1"/>
          </p:nvPr>
        </p:nvSpPr>
        <p:spPr/>
        <p:txBody>
          <a:bodyPr/>
          <a:lstStyle/>
          <a:p>
            <a:r>
              <a:rPr lang="en-US" altLang="en-US" smtClean="0"/>
              <a:t>Since Java 8, we can have method body in interface. But we need to make it default method</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Java 8 Default Method in Interface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438400"/>
            <a:ext cx="6400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Suppose, both the implemented interfaces contain default methods with same method signature, then which method will be called ???</a:t>
            </a:r>
          </a:p>
          <a:p>
            <a:r>
              <a:rPr lang="en-US" altLang="en-US" smtClean="0"/>
              <a:t>The implementing class should explicitly specify which default method is to be used or it should override the default method.</a:t>
            </a:r>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effectLst/>
              </a:rPr>
              <a:t>Default Methods and Multiple Inheritance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191000"/>
            <a:ext cx="5486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Contd.</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17638"/>
            <a:ext cx="5715000"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3725" y="3124200"/>
            <a:ext cx="6019800" cy="364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55725" y="4141788"/>
            <a:ext cx="33528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55725" y="4767263"/>
            <a:ext cx="3352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p:cNvSpPr>
            <a:spLocks noGrp="1"/>
          </p:cNvSpPr>
          <p:nvPr>
            <p:ph idx="1"/>
          </p:nvPr>
        </p:nvSpPr>
        <p:spPr/>
        <p:txBody>
          <a:bodyPr/>
          <a:lstStyle/>
          <a:p>
            <a:r>
              <a:rPr lang="en-US" altLang="en-US" smtClean="0"/>
              <a:t>Since Java 8, we can have static method in interface</a:t>
            </a:r>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smtClean="0"/>
              <a:t>Java 8 Static Method in Interface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362200"/>
            <a:ext cx="6553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7950" indent="0">
              <a:buFont typeface="Wingdings 3" panose="05040102010807070707" pitchFamily="18" charset="2"/>
              <a:buNone/>
            </a:pPr>
            <a:r>
              <a:rPr lang="en-US" altLang="en-US" smtClean="0"/>
              <a:t>Q) Can an Interface be final?</a:t>
            </a:r>
          </a:p>
          <a:p>
            <a:pPr lvl="1"/>
            <a:r>
              <a:rPr lang="en-US" altLang="en-US" smtClean="0"/>
              <a:t>No, because its implementation is provided by another class.</a:t>
            </a:r>
          </a:p>
          <a:p>
            <a:pPr marL="107950" indent="0">
              <a:buFont typeface="Wingdings 3" panose="05040102010807070707" pitchFamily="18" charset="2"/>
              <a:buNone/>
            </a:pPr>
            <a:r>
              <a:rPr lang="en-US" altLang="en-US" smtClean="0"/>
              <a:t>Q)Can we define private and protected modifiers for variables in interfaces?</a:t>
            </a:r>
          </a:p>
          <a:p>
            <a:pPr lvl="1"/>
            <a:r>
              <a:rPr lang="en-US" altLang="en-US" smtClean="0"/>
              <a:t>No, they are implicitly public.</a:t>
            </a:r>
          </a:p>
          <a:p>
            <a:pPr marL="107950" indent="0">
              <a:buFont typeface="Wingdings 3" panose="05040102010807070707" pitchFamily="18" charset="2"/>
              <a:buNone/>
            </a:pPr>
            <a:r>
              <a:rPr lang="en-US" altLang="en-US" smtClean="0"/>
              <a:t>Q) What is similarity between abstract class and interface?</a:t>
            </a:r>
          </a:p>
          <a:p>
            <a:pPr lvl="1"/>
            <a:r>
              <a:rPr lang="en-US" altLang="en-US" smtClean="0"/>
              <a:t>both are used to achieve abstraction where we can declare the abstract methods. </a:t>
            </a:r>
          </a:p>
          <a:p>
            <a:pPr lvl="1"/>
            <a:r>
              <a:rPr lang="en-US" altLang="en-US" smtClean="0"/>
              <a:t>both can't be instantiated.</a:t>
            </a:r>
          </a:p>
          <a:p>
            <a:pPr lvl="1"/>
            <a:endParaRPr lang="en-US" altLang="en-US" smtClean="0"/>
          </a:p>
        </p:txBody>
      </p:sp>
      <p:sp>
        <p:nvSpPr>
          <p:cNvPr id="3" name="Title 2"/>
          <p:cNvSpPr>
            <a:spLocks noGrp="1"/>
          </p:cNvSpPr>
          <p:nvPr>
            <p:ph type="title"/>
          </p:nvPr>
        </p:nvSpPr>
        <p:spPr/>
        <p:txBody>
          <a:bodyPr/>
          <a:lstStyle/>
          <a:p>
            <a:pPr>
              <a:defRPr/>
            </a:pPr>
            <a:r>
              <a:rPr lang="en-US" dirty="0" smtClean="0">
                <a:solidFill>
                  <a:srgbClr val="FF0000"/>
                </a:solidFill>
              </a:rPr>
              <a:t>Question</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 calcmode="lin" valueType="num">
                                      <p:cBhvr additive="base">
                                        <p:cTn id="3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Abstract Class VS Interface</a:t>
            </a:r>
            <a:endParaRPr lang="en-US" dirty="0"/>
          </a:p>
        </p:txBody>
      </p:sp>
      <p:sp>
        <p:nvSpPr>
          <p:cNvPr id="56323" name="Text Placeholder 2"/>
          <p:cNvSpPr>
            <a:spLocks noGrp="1"/>
          </p:cNvSpPr>
          <p:nvPr>
            <p:ph type="body" idx="1"/>
          </p:nvPr>
        </p:nvSpPr>
        <p:spPr>
          <a:xfrm>
            <a:off x="457200" y="6172200"/>
            <a:ext cx="4040188" cy="649288"/>
          </a:xfrm>
          <a:ln>
            <a:headEnd/>
            <a:tailEnd/>
          </a:ln>
        </p:spPr>
        <p:txBody>
          <a:bodyPr/>
          <a:lstStyle/>
          <a:p>
            <a:pPr algn="ctr"/>
            <a:r>
              <a:rPr lang="en-US" altLang="en-US" smtClean="0"/>
              <a:t>Abstract class</a:t>
            </a:r>
          </a:p>
        </p:txBody>
      </p:sp>
      <p:sp>
        <p:nvSpPr>
          <p:cNvPr id="56324" name="Text Placeholder 3"/>
          <p:cNvSpPr>
            <a:spLocks noGrp="1"/>
          </p:cNvSpPr>
          <p:nvPr>
            <p:ph type="body" sz="half" idx="3"/>
          </p:nvPr>
        </p:nvSpPr>
        <p:spPr>
          <a:xfrm>
            <a:off x="4681538" y="6172200"/>
            <a:ext cx="4041775" cy="649288"/>
          </a:xfrm>
          <a:ln>
            <a:headEnd/>
            <a:tailEnd/>
          </a:ln>
        </p:spPr>
        <p:txBody>
          <a:bodyPr/>
          <a:lstStyle/>
          <a:p>
            <a:pPr algn="ctr"/>
            <a:r>
              <a:rPr lang="en-US" altLang="en-US" smtClean="0"/>
              <a:t>Interface</a:t>
            </a:r>
          </a:p>
        </p:txBody>
      </p:sp>
      <p:sp>
        <p:nvSpPr>
          <p:cNvPr id="5" name="Content Placeholder 4"/>
          <p:cNvSpPr>
            <a:spLocks noGrp="1"/>
          </p:cNvSpPr>
          <p:nvPr>
            <p:ph sz="quarter" idx="2"/>
          </p:nvPr>
        </p:nvSpPr>
        <p:spPr>
          <a:xfrm>
            <a:off x="304800" y="1416050"/>
            <a:ext cx="4192588" cy="4603750"/>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r>
              <a:rPr lang="en-US" altLang="en-US" sz="2200" smtClean="0"/>
              <a:t>Abstract class can have abstract and non-abstract methods.</a:t>
            </a:r>
          </a:p>
          <a:p>
            <a:r>
              <a:rPr lang="en-US" altLang="en-US" sz="2200" smtClean="0"/>
              <a:t>Abstract class doesn't support multiple inheritance.</a:t>
            </a:r>
          </a:p>
          <a:p>
            <a:r>
              <a:rPr lang="en-US" altLang="en-US" sz="2200" smtClean="0"/>
              <a:t>Abstract class can have final, non-final, static and non-static variables.</a:t>
            </a:r>
          </a:p>
          <a:p>
            <a:r>
              <a:rPr lang="en-US" altLang="en-US" sz="2200" smtClean="0"/>
              <a:t>Abstract class can provide the implementation of interface.</a:t>
            </a:r>
          </a:p>
          <a:p>
            <a:r>
              <a:rPr lang="en-US" altLang="en-US" sz="2200" smtClean="0"/>
              <a:t>The abstract keyword is used to declare abstract class.</a:t>
            </a:r>
          </a:p>
        </p:txBody>
      </p:sp>
      <p:sp>
        <p:nvSpPr>
          <p:cNvPr id="6" name="Content Placeholder 5"/>
          <p:cNvSpPr>
            <a:spLocks noGrp="1"/>
          </p:cNvSpPr>
          <p:nvPr>
            <p:ph sz="quarter" idx="4"/>
          </p:nvPr>
        </p:nvSpPr>
        <p:spPr>
          <a:xfrm>
            <a:off x="4645025" y="1444625"/>
            <a:ext cx="4041775" cy="4727575"/>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altLang="en-US" sz="2200" smtClean="0"/>
              <a:t>Interface can have only abstract methods. </a:t>
            </a:r>
          </a:p>
          <a:p>
            <a:pPr lvl="1"/>
            <a:r>
              <a:rPr lang="en-US" altLang="en-US" smtClean="0"/>
              <a:t>Since Java 8, it can have default and static methods also.</a:t>
            </a:r>
          </a:p>
          <a:p>
            <a:pPr>
              <a:spcBef>
                <a:spcPct val="0"/>
              </a:spcBef>
            </a:pPr>
            <a:r>
              <a:rPr lang="en-US" altLang="en-US" sz="2200" smtClean="0"/>
              <a:t>Interface supports multiple inheritance.</a:t>
            </a:r>
          </a:p>
          <a:p>
            <a:pPr>
              <a:spcBef>
                <a:spcPct val="0"/>
              </a:spcBef>
            </a:pPr>
            <a:r>
              <a:rPr lang="en-US" altLang="en-US" sz="2200" smtClean="0"/>
              <a:t>Interface has only static and final variables.</a:t>
            </a:r>
          </a:p>
          <a:p>
            <a:pPr>
              <a:spcBef>
                <a:spcPct val="0"/>
              </a:spcBef>
            </a:pPr>
            <a:r>
              <a:rPr lang="en-US" altLang="en-US" sz="2200" smtClean="0"/>
              <a:t>Interface can't provide the implementation of abstract class.</a:t>
            </a:r>
          </a:p>
          <a:p>
            <a:pPr>
              <a:spcBef>
                <a:spcPct val="0"/>
              </a:spcBef>
            </a:pPr>
            <a:r>
              <a:rPr lang="en-US" altLang="en-US" sz="2200" smtClean="0"/>
              <a:t>The interface keyword is used to declare interface.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 calcmode="lin" valueType="num">
                                      <p:cBhvr additive="base">
                                        <p:cTn id="1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 calcmode="lin" valueType="num">
                                      <p:cBhvr additive="base">
                                        <p:cTn id="2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additive="base">
                                        <p:cTn id="2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 calcmode="lin" valueType="num">
                                      <p:cBhvr additive="base">
                                        <p:cTn id="3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anim calcmode="lin" valueType="num">
                                      <p:cBhvr additive="base">
                                        <p:cTn id="4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 calcmode="lin" valueType="num">
                                      <p:cBhvr additive="base">
                                        <p:cTn id="4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anim calcmode="lin" valueType="num">
                                      <p:cBhvr additive="base">
                                        <p:cTn id="5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5">
                                            <p:txEl>
                                              <p:pRg st="4" end="4"/>
                                            </p:txEl>
                                          </p:spTgt>
                                        </p:tgtEl>
                                        <p:attrNameLst>
                                          <p:attrName>style.visibility</p:attrName>
                                        </p:attrNameLst>
                                      </p:cBhvr>
                                      <p:to>
                                        <p:strVal val="visible"/>
                                      </p:to>
                                    </p:set>
                                    <p:anim calcmode="lin" valueType="num">
                                      <p:cBhvr additive="base">
                                        <p:cTn id="5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6">
                                            <p:txEl>
                                              <p:pRg st="5" end="5"/>
                                            </p:txEl>
                                          </p:spTgt>
                                        </p:tgtEl>
                                        <p:attrNameLst>
                                          <p:attrName>style.visibility</p:attrName>
                                        </p:attrNameLst>
                                      </p:cBhvr>
                                      <p:to>
                                        <p:strVal val="visible"/>
                                      </p:to>
                                    </p:set>
                                    <p:anim calcmode="lin" valueType="num">
                                      <p:cBhvr additive="base">
                                        <p:cTn id="6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smtClean="0"/>
              <a:t>Abstract Class VS Interface(Contd.)</a:t>
            </a:r>
            <a:endParaRPr lang="en-US" dirty="0"/>
          </a:p>
        </p:txBody>
      </p:sp>
      <p:sp>
        <p:nvSpPr>
          <p:cNvPr id="58371" name="Text Placeholder 2"/>
          <p:cNvSpPr>
            <a:spLocks noGrp="1"/>
          </p:cNvSpPr>
          <p:nvPr>
            <p:ph type="body" idx="1"/>
          </p:nvPr>
        </p:nvSpPr>
        <p:spPr>
          <a:xfrm>
            <a:off x="446088" y="6088063"/>
            <a:ext cx="4040187" cy="762000"/>
          </a:xfrm>
          <a:ln>
            <a:headEnd/>
            <a:tailEnd/>
          </a:ln>
        </p:spPr>
        <p:txBody>
          <a:bodyPr/>
          <a:lstStyle/>
          <a:p>
            <a:pPr algn="ctr"/>
            <a:r>
              <a:rPr lang="en-US" altLang="en-US" smtClean="0"/>
              <a:t>Abstract Class</a:t>
            </a:r>
          </a:p>
        </p:txBody>
      </p:sp>
      <p:sp>
        <p:nvSpPr>
          <p:cNvPr id="58372" name="Text Placeholder 3"/>
          <p:cNvSpPr>
            <a:spLocks noGrp="1"/>
          </p:cNvSpPr>
          <p:nvPr>
            <p:ph type="body" sz="half" idx="3"/>
          </p:nvPr>
        </p:nvSpPr>
        <p:spPr>
          <a:xfrm>
            <a:off x="4645025" y="6096000"/>
            <a:ext cx="4041775" cy="762000"/>
          </a:xfrm>
          <a:ln>
            <a:headEnd/>
            <a:tailEnd/>
          </a:ln>
        </p:spPr>
        <p:txBody>
          <a:bodyPr/>
          <a:lstStyle/>
          <a:p>
            <a:pPr algn="ctr"/>
            <a:r>
              <a:rPr lang="en-US" altLang="en-US" smtClean="0"/>
              <a:t>Interface</a:t>
            </a:r>
          </a:p>
        </p:txBody>
      </p:sp>
      <p:sp>
        <p:nvSpPr>
          <p:cNvPr id="5" name="Content Placeholder 4"/>
          <p:cNvSpPr>
            <a:spLocks noGrp="1"/>
          </p:cNvSpPr>
          <p:nvPr>
            <p:ph sz="quarter" idx="2"/>
          </p:nvPr>
        </p:nvSpPr>
        <p:spPr>
          <a:xfrm>
            <a:off x="457200" y="1444625"/>
            <a:ext cx="4040188" cy="3941763"/>
          </a:xfrm>
        </p:spPr>
        <p:txBody>
          <a:bodyPr/>
          <a:lstStyle/>
          <a:p>
            <a:pPr>
              <a:defRPr/>
            </a:pPr>
            <a:r>
              <a:rPr lang="en-US" sz="2200" dirty="0"/>
              <a:t>An abstract </a:t>
            </a:r>
            <a:r>
              <a:rPr lang="en-US" sz="2200" dirty="0" smtClean="0"/>
              <a:t>class can </a:t>
            </a:r>
            <a:r>
              <a:rPr lang="en-US" sz="2200" dirty="0"/>
              <a:t>extend another </a:t>
            </a:r>
            <a:r>
              <a:rPr lang="en-US" sz="2200" dirty="0" smtClean="0"/>
              <a:t>class </a:t>
            </a:r>
            <a:r>
              <a:rPr lang="en-US" sz="2200" dirty="0"/>
              <a:t>and implement multiple </a:t>
            </a:r>
            <a:r>
              <a:rPr lang="en-US" sz="2200" dirty="0" smtClean="0"/>
              <a:t>interfaces.</a:t>
            </a:r>
          </a:p>
          <a:p>
            <a:pPr>
              <a:defRPr/>
            </a:pPr>
            <a:r>
              <a:rPr lang="en-US" sz="2200" dirty="0"/>
              <a:t>An abstract </a:t>
            </a:r>
            <a:r>
              <a:rPr lang="en-US" sz="2200" dirty="0" smtClean="0"/>
              <a:t>class can </a:t>
            </a:r>
            <a:r>
              <a:rPr lang="en-US" sz="2200" dirty="0"/>
              <a:t>be extended using keyword </a:t>
            </a:r>
            <a:r>
              <a:rPr lang="en-US" sz="2200" dirty="0" smtClean="0"/>
              <a:t>“extends”.</a:t>
            </a:r>
          </a:p>
          <a:p>
            <a:pPr>
              <a:defRPr/>
            </a:pPr>
            <a:r>
              <a:rPr lang="en-US" sz="2200" dirty="0" smtClean="0"/>
              <a:t>An abstract class can </a:t>
            </a:r>
            <a:r>
              <a:rPr lang="en-US" sz="2200" dirty="0"/>
              <a:t>have class members like private, protected, etc</a:t>
            </a:r>
            <a:r>
              <a:rPr lang="en-US" sz="2200" dirty="0" smtClean="0"/>
              <a:t>.</a:t>
            </a:r>
            <a:endParaRPr lang="en-US" dirty="0" smtClean="0"/>
          </a:p>
          <a:p>
            <a:pPr marL="109537" indent="0">
              <a:buFont typeface="Wingdings 3" panose="05040102010807070707" pitchFamily="18" charset="2"/>
              <a:buNone/>
              <a:defRPr/>
            </a:pPr>
            <a:r>
              <a:rPr lang="en-US" sz="2000" dirty="0" smtClean="0"/>
              <a:t>  public </a:t>
            </a:r>
            <a:r>
              <a:rPr lang="en-US" sz="2000" dirty="0"/>
              <a:t>abstract class Shape{</a:t>
            </a:r>
          </a:p>
          <a:p>
            <a:pPr marL="109537" indent="0">
              <a:buFont typeface="Wingdings 3" panose="05040102010807070707" pitchFamily="18" charset="2"/>
              <a:buNone/>
              <a:defRPr/>
            </a:pPr>
            <a:r>
              <a:rPr lang="en-US" sz="2000" dirty="0"/>
              <a:t> </a:t>
            </a:r>
            <a:r>
              <a:rPr lang="en-US" sz="2000" dirty="0" smtClean="0"/>
              <a:t>     public </a:t>
            </a:r>
            <a:r>
              <a:rPr lang="en-US" sz="2000" dirty="0"/>
              <a:t>abstract void draw();</a:t>
            </a:r>
          </a:p>
          <a:p>
            <a:pPr marL="109537" indent="0">
              <a:buFont typeface="Wingdings 3" panose="05040102010807070707" pitchFamily="18" charset="2"/>
              <a:buNone/>
              <a:defRPr/>
            </a:pPr>
            <a:r>
              <a:rPr lang="en-US" sz="2000" dirty="0" smtClean="0"/>
              <a:t>    }</a:t>
            </a:r>
            <a:endParaRPr lang="en-US" sz="2000" dirty="0"/>
          </a:p>
        </p:txBody>
      </p:sp>
      <p:sp>
        <p:nvSpPr>
          <p:cNvPr id="6" name="Content Placeholder 5"/>
          <p:cNvSpPr>
            <a:spLocks noGrp="1"/>
          </p:cNvSpPr>
          <p:nvPr>
            <p:ph sz="quarter" idx="4"/>
          </p:nvPr>
        </p:nvSpPr>
        <p:spPr>
          <a:xfrm>
            <a:off x="4645025" y="1444625"/>
            <a:ext cx="4041775" cy="3941763"/>
          </a:xfrm>
        </p:spPr>
        <p:txBody>
          <a:bodyPr/>
          <a:lstStyle/>
          <a:p>
            <a:pPr>
              <a:defRPr/>
            </a:pPr>
            <a:r>
              <a:rPr lang="en-US" sz="2200" dirty="0"/>
              <a:t>An interface can extend another </a:t>
            </a:r>
            <a:r>
              <a:rPr lang="en-US" sz="2200" dirty="0" smtClean="0"/>
              <a:t>interface only.</a:t>
            </a:r>
          </a:p>
          <a:p>
            <a:pPr>
              <a:defRPr/>
            </a:pPr>
            <a:r>
              <a:rPr lang="en-US" sz="2200" dirty="0"/>
              <a:t>An interface </a:t>
            </a:r>
            <a:r>
              <a:rPr lang="en-US" sz="2200" dirty="0" smtClean="0"/>
              <a:t>class can </a:t>
            </a:r>
            <a:r>
              <a:rPr lang="en-US" sz="2200" dirty="0"/>
              <a:t>be implemented using keyword </a:t>
            </a:r>
            <a:r>
              <a:rPr lang="en-US" sz="2200" dirty="0" smtClean="0"/>
              <a:t>“implements”</a:t>
            </a:r>
          </a:p>
          <a:p>
            <a:pPr lvl="1">
              <a:defRPr/>
            </a:pPr>
            <a:r>
              <a:rPr lang="en-US" sz="1800" dirty="0" smtClean="0"/>
              <a:t>Interface can also be extended using extend keyword</a:t>
            </a:r>
            <a:endParaRPr lang="en-US" sz="1800" dirty="0"/>
          </a:p>
          <a:p>
            <a:pPr>
              <a:defRPr/>
            </a:pPr>
            <a:r>
              <a:rPr lang="en-US" sz="2200" dirty="0"/>
              <a:t>Members of a Java interface are public by default</a:t>
            </a:r>
            <a:r>
              <a:rPr lang="en-US" sz="2200" dirty="0" smtClean="0"/>
              <a:t>.</a:t>
            </a:r>
          </a:p>
          <a:p>
            <a:pPr>
              <a:defRPr/>
            </a:pPr>
            <a:endParaRPr lang="en-US" sz="2200" dirty="0" smtClean="0"/>
          </a:p>
          <a:p>
            <a:pPr marL="109537" indent="0">
              <a:buFont typeface="Wingdings 3" panose="05040102010807070707" pitchFamily="18" charset="2"/>
              <a:buNone/>
              <a:defRPr/>
            </a:pPr>
            <a:r>
              <a:rPr lang="en-US" sz="2000" dirty="0"/>
              <a:t>public interface </a:t>
            </a:r>
            <a:r>
              <a:rPr lang="en-US" sz="2000" dirty="0" err="1" smtClean="0"/>
              <a:t>Drawable</a:t>
            </a:r>
            <a:r>
              <a:rPr lang="en-US" sz="2000" dirty="0" smtClean="0"/>
              <a:t> {</a:t>
            </a:r>
          </a:p>
          <a:p>
            <a:pPr marL="109537" indent="0">
              <a:buFont typeface="Wingdings 3" panose="05040102010807070707" pitchFamily="18" charset="2"/>
              <a:buNone/>
              <a:defRPr/>
            </a:pPr>
            <a:r>
              <a:rPr lang="en-US" sz="2000" dirty="0" smtClean="0"/>
              <a:t>    void </a:t>
            </a:r>
            <a:r>
              <a:rPr lang="en-US" sz="2000" dirty="0"/>
              <a:t>draw();</a:t>
            </a:r>
          </a:p>
          <a:p>
            <a:pPr marL="109537" indent="0">
              <a:buFont typeface="Wingdings 3" panose="05040102010807070707" pitchFamily="18" charset="2"/>
              <a:buNone/>
              <a:defRPr/>
            </a:pPr>
            <a:r>
              <a:rPr lang="en-US" sz="2000" dirty="0" smtClean="0"/>
              <a:t>}</a:t>
            </a:r>
            <a:endParaRPr lang="en-US" dirty="0"/>
          </a:p>
          <a:p>
            <a:pP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 calcmode="lin" valueType="num">
                                      <p:cBhvr additive="base">
                                        <p:cTn id="3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 calcmode="lin" valueType="num">
                                      <p:cBhvr additive="base">
                                        <p:cTn id="3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anim calcmode="lin" valueType="num">
                                      <p:cBhvr additive="base">
                                        <p:cTn id="4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anim calcmode="lin" valueType="num">
                                      <p:cBhvr additive="base">
                                        <p:cTn id="4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anim calcmode="lin" valueType="num">
                                      <p:cBhvr additive="base">
                                        <p:cTn id="5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4" end="4"/>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
                                            <p:txEl>
                                              <p:pRg st="5" end="5"/>
                                            </p:txEl>
                                          </p:spTgt>
                                        </p:tgtEl>
                                        <p:attrNameLst>
                                          <p:attrName>style.visibility</p:attrName>
                                        </p:attrNameLst>
                                      </p:cBhvr>
                                      <p:to>
                                        <p:strVal val="visible"/>
                                      </p:to>
                                    </p:set>
                                    <p:anim calcmode="lin" valueType="num">
                                      <p:cBhvr additive="base">
                                        <p:cTn id="5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 calcmode="lin" valueType="num">
                                      <p:cBhvr additive="base">
                                        <p:cTn id="63"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txEl>
                                              <p:pRg st="5" end="5"/>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6">
                                            <p:txEl>
                                              <p:pRg st="6" end="6"/>
                                            </p:txEl>
                                          </p:spTgt>
                                        </p:tgtEl>
                                        <p:attrNameLst>
                                          <p:attrName>style.visibility</p:attrName>
                                        </p:attrNameLst>
                                      </p:cBhvr>
                                      <p:to>
                                        <p:strVal val="visible"/>
                                      </p:to>
                                    </p:set>
                                    <p:anim calcmode="lin" valueType="num">
                                      <p:cBhvr additive="base">
                                        <p:cTn id="6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txEl>
                                              <p:pRg st="6" end="6"/>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6">
                                            <p:txEl>
                                              <p:pRg st="7" end="7"/>
                                            </p:txEl>
                                          </p:spTgt>
                                        </p:tgtEl>
                                        <p:attrNameLst>
                                          <p:attrName>style.visibility</p:attrName>
                                        </p:attrNameLst>
                                      </p:cBhvr>
                                      <p:to>
                                        <p:strVal val="visible"/>
                                      </p:to>
                                    </p:set>
                                    <p:anim calcmode="lin" valueType="num">
                                      <p:cBhvr additive="base">
                                        <p:cTn id="71"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Example of abstract class and interface in Java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5105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900488"/>
            <a:ext cx="5105400" cy="210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a:xfrm>
            <a:off x="457200" y="274638"/>
            <a:ext cx="8229600" cy="639762"/>
          </a:xfrm>
        </p:spPr>
        <p:txBody>
          <a:bodyPr>
            <a:normAutofit fontScale="90000"/>
          </a:bodyPr>
          <a:lstStyle/>
          <a:p>
            <a:pPr>
              <a:defRPr/>
            </a:pPr>
            <a:r>
              <a:rPr lang="en-US" dirty="0" smtClean="0"/>
              <a:t>Contd..</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14400"/>
            <a:ext cx="5943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287838"/>
            <a:ext cx="4953000" cy="257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381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1800">
                <a:solidFill>
                  <a:schemeClr val="tx2"/>
                </a:solidFill>
                <a:latin typeface="Lucida Sans Unicode" panose="020B0602030504020204" pitchFamily="34" charset="0"/>
              </a:rPr>
              <a:t/>
            </a:r>
            <a:br>
              <a:rPr lang="en-US" altLang="en-US" sz="1800">
                <a:solidFill>
                  <a:schemeClr val="tx2"/>
                </a:solidFill>
                <a:latin typeface="Lucida Sans Unicode" panose="020B0602030504020204" pitchFamily="34" charset="0"/>
              </a:rPr>
            </a:br>
            <a:endParaRPr lang="en-US" altLang="en-US" sz="1800">
              <a:solidFill>
                <a:schemeClr val="tx2"/>
              </a:solidFill>
              <a:latin typeface="Lucida Sans Unicode" panose="020B0602030504020204" pitchFamily="34" charset="0"/>
            </a:endParaRPr>
          </a:p>
        </p:txBody>
      </p:sp>
      <p:sp>
        <p:nvSpPr>
          <p:cNvPr id="65539" name="Title 1"/>
          <p:cNvSpPr txBox="1">
            <a:spLocks/>
          </p:cNvSpPr>
          <p:nvPr/>
        </p:nvSpPr>
        <p:spPr bwMode="auto">
          <a:xfrm>
            <a:off x="685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4400">
                <a:latin typeface="Calibri" panose="020F0502020204030204" pitchFamily="34" charset="0"/>
              </a:rPr>
              <a:t>Questions?</a:t>
            </a:r>
          </a:p>
        </p:txBody>
      </p:sp>
      <p:sp>
        <p:nvSpPr>
          <p:cNvPr id="65540" name="Slide Number Placeholder 2"/>
          <p:cNvSpPr>
            <a:spLocks noGrp="1"/>
          </p:cNvSpPr>
          <p:nvPr>
            <p:ph type="sldNum" sz="quarter" idx="12"/>
          </p:nvPr>
        </p:nvSpPr>
        <p:spPr bwMode="auto">
          <a:xfrm>
            <a:off x="9926638" y="8534400"/>
            <a:ext cx="312737" cy="257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l">
              <a:spcBef>
                <a:spcPct val="0"/>
              </a:spcBef>
              <a:buClrTx/>
              <a:buSzTx/>
              <a:buFontTx/>
              <a:buNone/>
            </a:pPr>
            <a:fld id="{32E2D1F3-5BD8-401B-935D-78A80FB6AAD5}" type="slidenum">
              <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rPr>
              <a:pPr algn="l">
                <a:spcBef>
                  <a:spcPct val="0"/>
                </a:spcBef>
                <a:buClrTx/>
                <a:buSzTx/>
                <a:buFontTx/>
                <a:buNone/>
              </a:pPr>
              <a:t>29</a:t>
            </a:fld>
            <a:endPar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11761</TotalTime>
  <Words>1095</Words>
  <Application>Microsoft Office PowerPoint</Application>
  <PresentationFormat>On-screen Show (4:3)</PresentationFormat>
  <Paragraphs>248</Paragraphs>
  <Slides>29</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Lucida Sans Unicode</vt:lpstr>
      <vt:lpstr>Verdana</vt:lpstr>
      <vt:lpstr>Wingdings 2</vt:lpstr>
      <vt:lpstr>Wingdings 3</vt:lpstr>
      <vt:lpstr>ヒラギノ角ゴ ProN W3</vt:lpstr>
      <vt:lpstr>Concourse</vt:lpstr>
      <vt:lpstr>Object Oriented  Programming</vt:lpstr>
      <vt:lpstr>Topics To Be Covered Today</vt:lpstr>
      <vt:lpstr>Interface</vt:lpstr>
      <vt:lpstr>Interface VS Class</vt:lpstr>
      <vt:lpstr>Interface is similar to class</vt:lpstr>
      <vt:lpstr>Interface is different from a class</vt:lpstr>
      <vt:lpstr>Why use Java interface?</vt:lpstr>
      <vt:lpstr>How to declare interface?</vt:lpstr>
      <vt:lpstr>Internal addition by compiler</vt:lpstr>
      <vt:lpstr>Example</vt:lpstr>
      <vt:lpstr>Implementing Interfaces</vt:lpstr>
      <vt:lpstr>Interface Example: Drawable</vt:lpstr>
      <vt:lpstr>Explanation </vt:lpstr>
      <vt:lpstr>Multiple inheritance by interface</vt:lpstr>
      <vt:lpstr>Example</vt:lpstr>
      <vt:lpstr>Question</vt:lpstr>
      <vt:lpstr>Example</vt:lpstr>
      <vt:lpstr>Interface inheritance: Extend Interface</vt:lpstr>
      <vt:lpstr>Extending Multiple Interfaces</vt:lpstr>
      <vt:lpstr>Java 8 Default Method in Interface</vt:lpstr>
      <vt:lpstr>Default Methods and Multiple Inheritance</vt:lpstr>
      <vt:lpstr>Contd.</vt:lpstr>
      <vt:lpstr>Java 8 Static Method in Interface</vt:lpstr>
      <vt:lpstr>Question</vt:lpstr>
      <vt:lpstr>Abstract Class VS Interface</vt:lpstr>
      <vt:lpstr>Abstract Class VS Interface(Contd.)</vt:lpstr>
      <vt:lpstr>Example of abstract class and interface in Java</vt:lpstr>
      <vt:lpstr>Contd..</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WinDows7</dc:creator>
  <cp:lastModifiedBy>Admin</cp:lastModifiedBy>
  <cp:revision>162</cp:revision>
  <dcterms:created xsi:type="dcterms:W3CDTF">2010-12-04T04:33:58Z</dcterms:created>
  <dcterms:modified xsi:type="dcterms:W3CDTF">2022-12-12T04:26:01Z</dcterms:modified>
</cp:coreProperties>
</file>