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92" r:id="rId2"/>
  </p:sldMasterIdLst>
  <p:notesMasterIdLst>
    <p:notesMasterId r:id="rId38"/>
  </p:notesMasterIdLst>
  <p:sldIdLst>
    <p:sldId id="368" r:id="rId3"/>
    <p:sldId id="463" r:id="rId4"/>
    <p:sldId id="508" r:id="rId5"/>
    <p:sldId id="509" r:id="rId6"/>
    <p:sldId id="510" r:id="rId7"/>
    <p:sldId id="511" r:id="rId8"/>
    <p:sldId id="522" r:id="rId9"/>
    <p:sldId id="523" r:id="rId10"/>
    <p:sldId id="524" r:id="rId11"/>
    <p:sldId id="538" r:id="rId12"/>
    <p:sldId id="518" r:id="rId13"/>
    <p:sldId id="525" r:id="rId14"/>
    <p:sldId id="526" r:id="rId15"/>
    <p:sldId id="539" r:id="rId16"/>
    <p:sldId id="527" r:id="rId17"/>
    <p:sldId id="534" r:id="rId18"/>
    <p:sldId id="535" r:id="rId19"/>
    <p:sldId id="536" r:id="rId20"/>
    <p:sldId id="479" r:id="rId21"/>
    <p:sldId id="494" r:id="rId22"/>
    <p:sldId id="495" r:id="rId23"/>
    <p:sldId id="480" r:id="rId24"/>
    <p:sldId id="496" r:id="rId25"/>
    <p:sldId id="497" r:id="rId26"/>
    <p:sldId id="499" r:id="rId27"/>
    <p:sldId id="537" r:id="rId28"/>
    <p:sldId id="502" r:id="rId29"/>
    <p:sldId id="500" r:id="rId30"/>
    <p:sldId id="503" r:id="rId31"/>
    <p:sldId id="504" r:id="rId32"/>
    <p:sldId id="506" r:id="rId33"/>
    <p:sldId id="505" r:id="rId34"/>
    <p:sldId id="507" r:id="rId35"/>
    <p:sldId id="533" r:id="rId36"/>
    <p:sldId id="410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>
        <p:scale>
          <a:sx n="71" d="100"/>
          <a:sy n="71" d="100"/>
        </p:scale>
        <p:origin x="-1160" y="-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194E4-79C8-41B0-9AF4-53058728BAB5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FD4BB-E70E-4D5C-83E2-D95045F6F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6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98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0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94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6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28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9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B0FE-4AC0-4D7B-83B1-A18CD9CB8AEE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61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7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7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04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29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97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37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74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84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50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40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41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19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87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556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9191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604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268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33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780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89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4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0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4.png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7C545C-EAC2-4814-AE8B-2D0C943C3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9211BDA-D7DF-4130-A3B3-EE0167636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237" y="4391464"/>
            <a:ext cx="6400800" cy="2206283"/>
          </a:xfrm>
        </p:spPr>
        <p:txBody>
          <a:bodyPr>
            <a:normAutofit/>
          </a:bodyPr>
          <a:lstStyle/>
          <a:p>
            <a:pPr algn="ctr"/>
            <a:r>
              <a:rPr lang="en-US" sz="3900" b="1" dirty="0"/>
              <a:t>Operations Research</a:t>
            </a:r>
          </a:p>
          <a:p>
            <a:pPr algn="ctr"/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(Software </a:t>
            </a:r>
            <a:r>
              <a:rPr lang="en-US" sz="2800" b="1">
                <a:solidFill>
                  <a:srgbClr val="000000">
                    <a:lumMod val="75000"/>
                    <a:lumOff val="25000"/>
                  </a:srgbClr>
                </a:solidFill>
              </a:rPr>
              <a:t>Engineering</a:t>
            </a:r>
            <a:r>
              <a:rPr lang="en-US" sz="2800" b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67F458A-708A-4E75-9D30-9C4DBEA48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26617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A972A36-04A5-41D7-9B19-15A743E4476F}"/>
              </a:ext>
            </a:extLst>
          </p:cNvPr>
          <p:cNvSpPr/>
          <p:nvPr/>
        </p:nvSpPr>
        <p:spPr>
          <a:xfrm>
            <a:off x="3713463" y="637061"/>
            <a:ext cx="1717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</a:t>
            </a:r>
            <a:r>
              <a:rPr lang="en-US" sz="2800" b="1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8</a:t>
            </a:r>
            <a:endParaRPr lang="en-GB" sz="28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315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xmlns="" id="{5870081A-CB5D-472D-B85C-BEF833BDD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1855591"/>
            <a:ext cx="7964384" cy="4608513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Big-M method is a modified form of two phase method. Here M is a very large positive value.</a:t>
            </a:r>
          </a:p>
          <a:p>
            <a:pPr algn="just"/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M-technique is modified form of “Two phase”. In Two phase method we use a new function along with the original objective function. But in M technique we use the main objective function and multiply artificial function with ‘M’ and subtract it for maximization case and for minimization case we add it.</a:t>
            </a:r>
          </a:p>
        </p:txBody>
      </p:sp>
    </p:spTree>
    <p:extLst>
      <p:ext uri="{BB962C8B-B14F-4D97-AF65-F5344CB8AC3E}">
        <p14:creationId xmlns:p14="http://schemas.microsoft.com/office/powerpoint/2010/main" val="1099496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just">
                  <a:buNone/>
                </a:pPr>
                <a:r>
                  <a:rPr lang="en-US" sz="2800" b="1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Example 1:</a:t>
                </a:r>
              </a:p>
              <a:p>
                <a:pPr marL="0" lv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Max</m:t>
                      </m:r>
                      <m: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Z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9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9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895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just">
                  <a:buNone/>
                </a:pPr>
                <a:r>
                  <a:rPr lang="en-US" sz="2800" b="0" i="0" dirty="0">
                    <a:solidFill>
                      <a:prstClr val="black"/>
                    </a:solidFill>
                    <a:effectLst/>
                    <a:latin typeface="Cambria Math" panose="02040503050406030204" pitchFamily="18" charset="0"/>
                    <a:cs typeface="Arial" panose="020B0604020202020204" pitchFamily="34" charset="0"/>
                  </a:rPr>
                  <a:t>Let MA1 be the artificial variables and putting in the original function</a:t>
                </a: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As this is a case of maximization so we will multiply by (-1)</a:t>
                </a: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z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𝑀𝐴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=9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=9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 t="-529" r="-1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369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just">
                  <a:buNone/>
                </a:pPr>
                <a:endParaRPr lang="en-US" sz="2800" b="0" i="0" dirty="0">
                  <a:solidFill>
                    <a:prstClr val="black"/>
                  </a:solidFill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z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+2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−9</m:t>
                          </m:r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</m:t>
                          </m:r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+2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𝑀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z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effectLst/>
                                  <a:latin typeface="Cambria Math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3+</m:t>
                              </m:r>
                              <m: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𝑀</m:t>
                              </m:r>
                            </m:e>
                          </m:d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2+2</m:t>
                          </m:r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</m:t>
                          </m:r>
                        </m:e>
                      </m:d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𝑀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−9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𝑀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𝑧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effectLst/>
                                  <a:latin typeface="Cambria Math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3+</m:t>
                              </m:r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𝑀</m:t>
                              </m:r>
                            </m:e>
                          </m:d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d>
                        <m:d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2+2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</m:t>
                          </m:r>
                        </m:e>
                      </m:d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𝑀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−9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𝑀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constraint:</a:t>
                </a: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=9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=9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900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xmlns="" id="{363C6AA0-D659-4938-81F4-B7B5A22D8D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1983486"/>
              <a:ext cx="7189083" cy="3038856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81697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-2-2M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-9M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1063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=9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=4.5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363C6AA0-D659-4938-81F4-B7B5A22D8D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547058"/>
                  </p:ext>
                </p:extLst>
              </p:nvPr>
            </p:nvGraphicFramePr>
            <p:xfrm>
              <a:off x="856060" y="1983486"/>
              <a:ext cx="7189083" cy="3038856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81697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8462" t="-3556" r="-703077" b="-12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7810" t="-3556" r="-567153" b="-12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190" t="-3556" r="-542149" b="-12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333" t="-3556" r="-375362" b="-12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7761" t="-3556" r="-286567" b="-12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-2-2M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-9M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063999"/>
                      </a:ext>
                    </a:extLst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308000" r="-745714" b="-1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1579" t="-308000" r="-102105" b="-1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579" t="-308000" r="-2105" b="-10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412121" r="-745714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1579" t="-412121" r="-102105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579" t="-412121" r="-2105" b="-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1231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="" id="{BA6D7963-22EE-485D-9FDB-8F0F074B87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1983486"/>
              <a:ext cx="7189083" cy="3038856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81697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-2-2M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-9M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1063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=9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=4.5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A6D7963-22EE-485D-9FDB-8F0F074B87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895106"/>
                  </p:ext>
                </p:extLst>
              </p:nvPr>
            </p:nvGraphicFramePr>
            <p:xfrm>
              <a:off x="856060" y="1983486"/>
              <a:ext cx="7189083" cy="3038856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81697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8462" t="-3556" r="-703077" b="-12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7810" t="-3556" r="-567153" b="-12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190" t="-3556" r="-542149" b="-12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333" t="-3556" r="-375362" b="-12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7761" t="-3556" r="-286567" b="-12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-2-2M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-9M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063999"/>
                      </a:ext>
                    </a:extLst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308000" r="-745714" b="-1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1579" t="-308000" r="-102105" b="-1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579" t="-308000" r="-2105" b="-10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412121" r="-745714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1579" t="-412121" r="-102105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579" t="-412121" r="-2105" b="-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3701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3F6B009F-A312-4E3E-92B9-733B3CC90176}"/>
                  </a:ext>
                </a:extLst>
              </p:cNvPr>
              <p:cNvSpPr/>
              <p:nvPr/>
            </p:nvSpPr>
            <p:spPr>
              <a:xfrm>
                <a:off x="3287667" y="5267005"/>
                <a:ext cx="2566284" cy="790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B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f>
                      <m:fPr>
                        <m:ctrlPr>
                          <a:rPr kumimoji="0" lang="en-US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kumimoji="0" lang="en-US" sz="4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4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kumimoji="0" lang="en-US" sz="4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F6B009F-A312-4E3E-92B9-733B3CC901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667" y="5267005"/>
                <a:ext cx="2566284" cy="790216"/>
              </a:xfrm>
              <a:prstGeom prst="rect">
                <a:avLst/>
              </a:prstGeom>
              <a:blipFill>
                <a:blip r:embed="rId2"/>
                <a:stretch>
                  <a:fillRect l="-5938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xmlns="" id="{0C95E095-9B3F-4402-9030-BDC80D13273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1983486"/>
              <a:ext cx="7189083" cy="2743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81697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-2-2M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-9M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1063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9/2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C95E095-9B3F-4402-9030-BDC80D1327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7987301"/>
                  </p:ext>
                </p:extLst>
              </p:nvPr>
            </p:nvGraphicFramePr>
            <p:xfrm>
              <a:off x="856060" y="1983486"/>
              <a:ext cx="7189083" cy="2743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81697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8462" t="-3540" r="-703077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7810" t="-3540" r="-567153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7190" t="-3540" r="-542149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3333" t="-3540" r="-375362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7761" t="-3540" r="-286567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-2-2M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-9M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0639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4" t="-412000" r="-745714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1579" t="-412000" r="-102105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4" t="-512000" r="-745714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1579" t="-512000" r="-10210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28536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xmlns="" id="{7EBB6DE1-0349-41D2-9AB8-27F5AFBAAB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5745958"/>
                  </p:ext>
                </p:extLst>
              </p:nvPr>
            </p:nvGraphicFramePr>
            <p:xfrm>
              <a:off x="856060" y="2168428"/>
              <a:ext cx="7189083" cy="2743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81697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1+M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1063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9/2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9/2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EBB6DE1-0349-41D2-9AB8-27F5AFBAAB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5745958"/>
                  </p:ext>
                </p:extLst>
              </p:nvPr>
            </p:nvGraphicFramePr>
            <p:xfrm>
              <a:off x="856060" y="2168428"/>
              <a:ext cx="7189083" cy="2743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81697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8462" t="-3097" r="-703077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7810" t="-3097" r="-567153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190" t="-3097" r="-542149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333" t="-3097" r="-375362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7761" t="-3097" r="-286567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1+M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0639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410667" r="-745714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1579" t="-410667" r="-102105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510667" r="-745714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1579" t="-510667" r="-10210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xmlns="" id="{9C8FA998-71A8-43E0-9064-F20CFBBF71CA}"/>
                  </a:ext>
                </a:extLst>
              </p:cNvPr>
              <p:cNvSpPr/>
              <p:nvPr/>
            </p:nvSpPr>
            <p:spPr>
              <a:xfrm>
                <a:off x="1603717" y="5474606"/>
                <a:ext cx="129986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,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C8FA998-71A8-43E0-9064-F20CFBBF7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717" y="5474606"/>
                <a:ext cx="1299861" cy="400110"/>
              </a:xfrm>
              <a:prstGeom prst="rect">
                <a:avLst/>
              </a:prstGeom>
              <a:blipFill>
                <a:blip r:embed="rId3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id="{7D9B4169-878B-494F-BABA-9D69DA9F68F4}"/>
                  </a:ext>
                </a:extLst>
              </p:cNvPr>
              <p:cNvSpPr/>
              <p:nvPr/>
            </p:nvSpPr>
            <p:spPr>
              <a:xfrm>
                <a:off x="2903578" y="5474606"/>
                <a:ext cx="204825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z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(2+2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,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D9B4169-878B-494F-BABA-9D69DA9F6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578" y="5474606"/>
                <a:ext cx="2048250" cy="400110"/>
              </a:xfrm>
              <a:prstGeom prst="rect">
                <a:avLst/>
              </a:prstGeom>
              <a:blipFill>
                <a:blip r:embed="rId4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5974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xmlns="" id="{7EBB6DE1-0349-41D2-9AB8-27F5AFBAAB7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2168428"/>
              <a:ext cx="7189083" cy="2743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81697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1+M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1063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9/2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9/2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EBB6DE1-0349-41D2-9AB8-27F5AFBAAB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5600268"/>
                  </p:ext>
                </p:extLst>
              </p:nvPr>
            </p:nvGraphicFramePr>
            <p:xfrm>
              <a:off x="856060" y="2168428"/>
              <a:ext cx="7189083" cy="2743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81697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8462" t="-3097" r="-703077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810" t="-3097" r="-567153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37190" t="-3097" r="-542149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83333" t="-3097" r="-375362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97761" t="-3097" r="-286567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1+M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0639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14" t="-410667" r="-745714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1579" t="-410667" r="-102105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14" t="-510667" r="-745714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1579" t="-510667" r="-10210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19854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xmlns="" id="{819E0CC7-AE89-4A7E-B8BF-DA36167E34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603749"/>
                  </p:ext>
                </p:extLst>
              </p:nvPr>
            </p:nvGraphicFramePr>
            <p:xfrm>
              <a:off x="856060" y="2152014"/>
              <a:ext cx="7189083" cy="2743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81697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1+M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1063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9/2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9/2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19E0CC7-AE89-4A7E-B8BF-DA36167E34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603749"/>
                  </p:ext>
                </p:extLst>
              </p:nvPr>
            </p:nvGraphicFramePr>
            <p:xfrm>
              <a:off x="856060" y="2152014"/>
              <a:ext cx="7189083" cy="2743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81697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8462" t="-3540" r="-703077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7810" t="-3540" r="-567153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190" t="-3540" r="-542149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333" t="-3540" r="-375362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7761" t="-3540" r="-286567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1+M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0639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412000" r="-745714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1579" t="-412000" r="-102105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512000" r="-745714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1579" t="-512000" r="-10210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251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xmlns="" id="{ABF22EC3-6A20-4929-9A21-03CF0596B5B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2152014"/>
              <a:ext cx="7189083" cy="2743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81697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1+M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1063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9/2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ABF22EC3-6A20-4929-9A21-03CF0596B5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5283550"/>
                  </p:ext>
                </p:extLst>
              </p:nvPr>
            </p:nvGraphicFramePr>
            <p:xfrm>
              <a:off x="856060" y="2152014"/>
              <a:ext cx="7189083" cy="2743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81697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8462" t="-3540" r="-703077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7810" t="-3540" r="-567153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190" t="-3540" r="-542149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333" t="-3540" r="-375362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7761" t="-3540" r="-286567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1+M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0639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412000" r="-745714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1579" t="-412000" r="-102105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512000" r="-745714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1579" t="-512000" r="-10210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9DCC6F6A-4BCF-4DA4-8DC9-85E1E3C0E42E}"/>
                  </a:ext>
                </a:extLst>
              </p:cNvPr>
              <p:cNvSpPr/>
              <p:nvPr/>
            </p:nvSpPr>
            <p:spPr>
              <a:xfrm>
                <a:off x="1536197" y="5493855"/>
                <a:ext cx="2430892" cy="7022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𝐵𝑦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</m:t>
                    </m:r>
                    <m:f>
                      <m:f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</m:num>
                      <m:den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DCC6F6A-4BCF-4DA4-8DC9-85E1E3C0E4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197" y="5493855"/>
                <a:ext cx="2430892" cy="7022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854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xmlns="" id="{62FCAEBA-A88D-49DF-BC74-3521378400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066296"/>
                  </p:ext>
                </p:extLst>
              </p:nvPr>
            </p:nvGraphicFramePr>
            <p:xfrm>
              <a:off x="856060" y="2152014"/>
              <a:ext cx="7189083" cy="2766187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6716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90809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+M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1063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2FCAEBA-A88D-49DF-BC74-3521378400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066296"/>
                  </p:ext>
                </p:extLst>
              </p:nvPr>
            </p:nvGraphicFramePr>
            <p:xfrm>
              <a:off x="856060" y="2152014"/>
              <a:ext cx="7189083" cy="2766187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6716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90809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8462" t="-3556" r="-703077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7810" t="-3556" r="-567153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190" t="-3556" r="-542149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333" t="-3556" r="-375362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1143" t="-3556" r="-196000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801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1143" t="-294937" r="-196000" b="-1936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0639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416000" r="-745714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65101" t="-416000" r="-130201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516000" r="-745714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65101" t="-516000" r="-130201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xmlns="" id="{F7FF33BF-CE5D-45D0-BAAD-1C7F1B515A3E}"/>
                  </a:ext>
                </a:extLst>
              </p:cNvPr>
              <p:cNvSpPr/>
              <p:nvPr/>
            </p:nvSpPr>
            <p:spPr>
              <a:xfrm>
                <a:off x="1722387" y="5324172"/>
                <a:ext cx="1716367" cy="700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,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7FF33BF-CE5D-45D0-BAAD-1C7F1B515A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387" y="5324172"/>
                <a:ext cx="1716367" cy="7007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="" id="{9621C508-AFCB-409E-9E42-295556D58478}"/>
                  </a:ext>
                </a:extLst>
              </p:cNvPr>
              <p:cNvSpPr/>
              <p:nvPr/>
            </p:nvSpPr>
            <p:spPr>
              <a:xfrm>
                <a:off x="3543466" y="5412914"/>
                <a:ext cx="130664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Arial" panose="020B0604020202020204" pitchFamily="34" charset="0"/>
                  </a:rPr>
                  <a:t>z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+2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,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621C508-AFCB-409E-9E42-295556D58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466" y="5412914"/>
                <a:ext cx="1306640" cy="523220"/>
              </a:xfrm>
              <a:prstGeom prst="rect">
                <a:avLst/>
              </a:prstGeom>
              <a:blipFill>
                <a:blip r:embed="rId4"/>
                <a:stretch>
                  <a:fillRect l="-9302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0956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xmlns="" id="{62FCAEBA-A88D-49DF-BC74-35213784007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2152014"/>
              <a:ext cx="7189083" cy="2766187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6716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90809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+M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1063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ve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2FCAEBA-A88D-49DF-BC74-3521378400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1060660"/>
                  </p:ext>
                </p:extLst>
              </p:nvPr>
            </p:nvGraphicFramePr>
            <p:xfrm>
              <a:off x="856060" y="2152014"/>
              <a:ext cx="7189083" cy="2766187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6716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90809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8462" t="-3556" r="-703077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7810" t="-3556" r="-567153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190" t="-3556" r="-542149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333" t="-3556" r="-375362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1143" t="-3556" r="-196000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801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1143" t="-294937" r="-196000" b="-1936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0639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416000" r="-745714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65101" t="-416000" r="-130201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516000" r="-745714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65101" t="-516000" r="-130201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ve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3337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xmlns="" id="{2EE6E580-3112-4A30-A607-35F7F04FD26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2152014"/>
              <a:ext cx="7189083" cy="2766187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6716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90809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+M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1063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ve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2EE6E580-3112-4A30-A607-35F7F04FD2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863501"/>
                  </p:ext>
                </p:extLst>
              </p:nvPr>
            </p:nvGraphicFramePr>
            <p:xfrm>
              <a:off x="856060" y="2152014"/>
              <a:ext cx="7189083" cy="2766187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6716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90809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8462" t="-3556" r="-703077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7810" t="-3556" r="-567153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190" t="-3556" r="-542149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333" t="-3556" r="-375362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1143" t="-3556" r="-196000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801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1143" t="-294937" r="-196000" b="-1936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0639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416000" r="-745714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65101" t="-416000" r="-130201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516000" r="-745714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65101" t="-516000" r="-130201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ve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19620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B1CE7AB4-84DD-4F68-B296-32FBCF1BED58}"/>
                  </a:ext>
                </a:extLst>
              </p:cNvPr>
              <p:cNvSpPr/>
              <p:nvPr/>
            </p:nvSpPr>
            <p:spPr>
              <a:xfrm>
                <a:off x="1722387" y="5324172"/>
                <a:ext cx="85921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Arial" panose="020B0604020202020204" pitchFamily="34" charset="0"/>
                  </a:rPr>
                  <a:t>3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,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1CE7AB4-84DD-4F68-B296-32FBCF1BED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387" y="5324172"/>
                <a:ext cx="859210" cy="523220"/>
              </a:xfrm>
              <a:prstGeom prst="rect">
                <a:avLst/>
              </a:prstGeom>
              <a:blipFill>
                <a:blip r:embed="rId2"/>
                <a:stretch>
                  <a:fillRect l="-15000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xmlns="" id="{AED88A5F-1716-4062-B9F1-EEB554055D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2152014"/>
              <a:ext cx="7189083" cy="2766187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6716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90809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+M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1063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AED88A5F-1716-4062-B9F1-EEB554055D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6022006"/>
                  </p:ext>
                </p:extLst>
              </p:nvPr>
            </p:nvGraphicFramePr>
            <p:xfrm>
              <a:off x="856060" y="2152014"/>
              <a:ext cx="7189083" cy="2766187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6716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90809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8462" t="-3556" r="-703077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7810" t="-3556" r="-567153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7190" t="-3556" r="-542149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3333" t="-3556" r="-375362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1143" t="-3556" r="-196000" b="-103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801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1143" t="-294937" r="-196000" b="-1936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0639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4" t="-416000" r="-745714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5101" t="-416000" r="-130201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4" t="-516000" r="-745714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5101" t="-516000" r="-130201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36210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B1CE7AB4-84DD-4F68-B296-32FBCF1BED58}"/>
                  </a:ext>
                </a:extLst>
              </p:cNvPr>
              <p:cNvSpPr/>
              <p:nvPr/>
            </p:nvSpPr>
            <p:spPr>
              <a:xfrm>
                <a:off x="1722387" y="5324172"/>
                <a:ext cx="1371081" cy="702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Arial" panose="020B0604020202020204" pitchFamily="34" charset="0"/>
                  </a:rPr>
                  <a:t>Z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95000"/>
                                    <a:lumOff val="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95000"/>
                                    <a:lumOff val="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sz="2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95000"/>
                                    <a:lumOff val="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den>
                        </m:f>
                        <m:r>
                          <a:rPr kumimoji="0" lang="en-US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,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1CE7AB4-84DD-4F68-B296-32FBCF1BED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387" y="5324172"/>
                <a:ext cx="1371081" cy="702885"/>
              </a:xfrm>
              <a:prstGeom prst="rect">
                <a:avLst/>
              </a:prstGeom>
              <a:blipFill>
                <a:blip r:embed="rId2"/>
                <a:stretch>
                  <a:fillRect l="-9375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xmlns="" id="{AED88A5F-1716-4062-B9F1-EEB554055D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5381582"/>
                  </p:ext>
                </p:extLst>
              </p:nvPr>
            </p:nvGraphicFramePr>
            <p:xfrm>
              <a:off x="856060" y="2152014"/>
              <a:ext cx="7189083" cy="2743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6716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90809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1063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AED88A5F-1716-4062-B9F1-EEB554055D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5381582"/>
                  </p:ext>
                </p:extLst>
              </p:nvPr>
            </p:nvGraphicFramePr>
            <p:xfrm>
              <a:off x="856060" y="2152014"/>
              <a:ext cx="7189083" cy="2743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6716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90809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8462" t="-3540" r="-703077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7810" t="-3540" r="-567153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7190" t="-3540" r="-542149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3333" t="-3540" r="-375362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1143" t="-3540" r="-196000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0639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4" t="-412000" r="-745714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5101" t="-412000" r="-130201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4" t="-512000" r="-745714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5101" t="-512000" r="-130201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C3F3B865-5A46-433F-91F5-EF6B7FED805D}"/>
                  </a:ext>
                </a:extLst>
              </p:cNvPr>
              <p:cNvSpPr/>
              <p:nvPr/>
            </p:nvSpPr>
            <p:spPr>
              <a:xfrm>
                <a:off x="3079520" y="5324172"/>
                <a:ext cx="1664558" cy="7037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95000"/>
                                    <a:lumOff val="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95000"/>
                                    <a:lumOff val="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num>
                          <m:den>
                            <m:r>
                              <a:rPr kumimoji="0" lang="en-US" sz="2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95000"/>
                                    <a:lumOff val="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den>
                        </m:f>
                        <m:r>
                          <a:rPr kumimoji="0" lang="en-US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,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3F3B865-5A46-433F-91F5-EF6B7FED80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520" y="5324172"/>
                <a:ext cx="1664558" cy="703782"/>
              </a:xfrm>
              <a:prstGeom prst="rect">
                <a:avLst/>
              </a:prstGeom>
              <a:blipFill>
                <a:blip r:embed="rId4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622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xmlns="" id="{AED88A5F-1716-4062-B9F1-EEB554055D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6060" y="2152014"/>
              <a:ext cx="7189083" cy="2743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6716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90809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1063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AED88A5F-1716-4062-B9F1-EEB554055D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590976"/>
                  </p:ext>
                </p:extLst>
              </p:nvPr>
            </p:nvGraphicFramePr>
            <p:xfrm>
              <a:off x="856060" y="2152014"/>
              <a:ext cx="7189083" cy="27432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50029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97960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29994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735835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4172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6716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90809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58282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8462" t="-3540" r="-703077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7810" t="-3540" r="-567153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190" t="-3540" r="-542149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333" t="-3540" r="-375362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1143" t="-3540" r="-196000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0639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412000" r="-745714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65101" t="-412000" r="-130201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" t="-512000" r="-745714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65101" t="-512000" r="-130201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474DD31A-5DD4-4757-9B20-2A41B3DFE9B9}"/>
                  </a:ext>
                </a:extLst>
              </p:cNvPr>
              <p:cNvSpPr/>
              <p:nvPr/>
            </p:nvSpPr>
            <p:spPr>
              <a:xfrm>
                <a:off x="856060" y="5230275"/>
                <a:ext cx="754235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𝐴𝑠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𝑡h𝑒𝑟𝑒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𝑖𝑠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𝑛𝑜</m:t>
                      </m:r>
                    </m:oMath>
                  </m:oMathPara>
                </a14:m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𝑣𝑒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𝑣𝑎𝑙𝑢𝑒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𝑖𝑛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𝑡h𝑒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𝑜𝑏𝑗𝑒𝑐𝑡𝑖𝑣𝑒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𝑓𝑢𝑛𝑐𝑡𝑖𝑜𝑛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𝑠𝑜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𝑡h𝑒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𝑜𝑝𝑡𝑖𝑚𝑎𝑙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𝑠𝑜𝑙𝑢𝑡𝑖𝑜𝑛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𝑖𝑠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𝑜𝑏𝑡𝑎𝑖𝑛𝑒𝑑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74DD31A-5DD4-4757-9B20-2A41B3DFE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5230275"/>
                <a:ext cx="7542352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130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just">
                  <a:buNone/>
                </a:pPr>
                <a:r>
                  <a:rPr lang="en-US" sz="2800" b="1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Example 2:</a:t>
                </a:r>
              </a:p>
              <a:p>
                <a:pPr marL="0" lv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Min</m:t>
                      </m:r>
                      <m: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Z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6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0007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just">
                  <a:buNone/>
                </a:pPr>
                <a:r>
                  <a:rPr lang="en-US" sz="2800" b="0" i="0" dirty="0">
                    <a:solidFill>
                      <a:prstClr val="black"/>
                    </a:solidFill>
                    <a:effectLst/>
                    <a:latin typeface="Cambria Math" panose="02040503050406030204" pitchFamily="18" charset="0"/>
                    <a:cs typeface="Arial" panose="020B0604020202020204" pitchFamily="34" charset="0"/>
                  </a:rPr>
                  <a:t>Let MA1 and MA2 be the artificial variables and putting in main objective function</a:t>
                </a: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Mi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n</m:t>
                      </m:r>
                      <m: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Z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𝑀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𝑀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6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=4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 t="-529" r="-1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683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z</m:t>
                      </m:r>
                      <m:r>
                        <a:rPr lang="en-US" sz="22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=4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2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𝑀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(3−</m:t>
                          </m:r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  <m:r>
                        <a:rPr lang="en-US" sz="22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</m:t>
                          </m:r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</m:t>
                          </m:r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sz="22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22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z</m:t>
                    </m:r>
                    <m:r>
                      <a:rPr lang="en-US" sz="2800" b="0" i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−4+7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</m:t>
                        </m:r>
                      </m:e>
                    </m:d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−1+4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</m:d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=9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constraint:</a:t>
                </a: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6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=4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1662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xmlns="" id="{363C6AA0-D659-4938-81F4-B7B5A22D8D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4786636"/>
                  </p:ext>
                </p:extLst>
              </p:nvPr>
            </p:nvGraphicFramePr>
            <p:xfrm>
              <a:off x="718229" y="1872004"/>
              <a:ext cx="7705160" cy="4193286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928467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493742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17022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79299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708887">
                      <a:extLst>
                        <a:ext uri="{9D8B030D-6E8A-4147-A177-3AD203B41FA5}">
                          <a16:colId xmlns:a16="http://schemas.microsoft.com/office/drawing/2014/main" xmlns="" val="2791127480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-4+7M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-1+4M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=1.5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10143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1488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363C6AA0-D659-4938-81F4-B7B5A22D8D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4786636"/>
                  </p:ext>
                </p:extLst>
              </p:nvPr>
            </p:nvGraphicFramePr>
            <p:xfrm>
              <a:off x="718229" y="1872004"/>
              <a:ext cx="7705160" cy="4193286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928467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493742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17022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79299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708887">
                      <a:extLst>
                        <a:ext uri="{9D8B030D-6E8A-4147-A177-3AD203B41FA5}">
                          <a16:colId xmlns:a16="http://schemas.microsoft.com/office/drawing/2014/main" val="2791127480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528" t="-3556" r="-685417" b="-207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6184" t="-3556" r="-549342" b="-207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37037" t="-3556" r="-930864" b="-207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5075" t="-3556" r="-462687" b="-207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3556" r="-376923" b="-207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66667" t="-3556" r="-318803" b="-207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-4+7M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-1+4M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7500" t="-310667" r="-102717" b="-5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308000" r="-819565" b="-29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7500" t="-308000" r="-102717" b="-29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84324" t="-308000" r="-2162" b="-29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  <a:tr h="8793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283333" r="-819565" b="-10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84324" t="-283333" r="-2162" b="-102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143584"/>
                      </a:ext>
                    </a:extLst>
                  </a:tr>
                  <a:tr h="8783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383333" r="-819565" b="-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84324" t="-383333" r="-2162" b="-2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48848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42699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="" id="{19416755-1598-4132-BB75-92E5422CE1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9979297"/>
                  </p:ext>
                </p:extLst>
              </p:nvPr>
            </p:nvGraphicFramePr>
            <p:xfrm>
              <a:off x="718229" y="2046196"/>
              <a:ext cx="7705160" cy="32004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928467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493742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17022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79299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708887">
                      <a:extLst>
                        <a:ext uri="{9D8B030D-6E8A-4147-A177-3AD203B41FA5}">
                          <a16:colId xmlns:a16="http://schemas.microsoft.com/office/drawing/2014/main" xmlns="" val="2791127480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-4+7M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-1+4M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10143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1488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9416755-1598-4132-BB75-92E5422CE1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9979297"/>
                  </p:ext>
                </p:extLst>
              </p:nvPr>
            </p:nvGraphicFramePr>
            <p:xfrm>
              <a:off x="718229" y="2046196"/>
              <a:ext cx="7705160" cy="32004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928467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493742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17022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79299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708887">
                      <a:extLst>
                        <a:ext uri="{9D8B030D-6E8A-4147-A177-3AD203B41FA5}">
                          <a16:colId xmlns:a16="http://schemas.microsoft.com/office/drawing/2014/main" val="2791127480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528" t="-3111" r="-685417" b="-1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6184" t="-3111" r="-549342" b="-1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37037" t="-3111" r="-930864" b="-1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5075" t="-3111" r="-462687" b="-1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3111" r="-376923" b="-1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66667" t="-3111" r="-318803" b="-1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-4+7M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-1+4M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7500" t="-305263" r="-102717" b="-298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410667" r="-819565" b="-2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7500" t="-410667" r="-102717" b="-2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510667" r="-819565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1435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610667" r="-81956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48848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52495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3BFFAC40-A98C-4008-8927-4508C18FB47C}"/>
                  </a:ext>
                </a:extLst>
              </p:cNvPr>
              <p:cNvSpPr/>
              <p:nvPr/>
            </p:nvSpPr>
            <p:spPr>
              <a:xfrm>
                <a:off x="3764178" y="5682002"/>
                <a:ext cx="2566284" cy="790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defTabSz="914400">
                  <a:defRPr/>
                </a:pPr>
                <a:r>
                  <a:rPr lang="en-US" sz="3200" b="0" dirty="0">
                    <a:solidFill>
                      <a:prstClr val="black"/>
                    </a:solidFill>
                  </a:rPr>
                  <a:t>B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3200" b="0" i="1" dirty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4000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3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FFAC40-A98C-4008-8927-4508C18FB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178" y="5682002"/>
                <a:ext cx="2566284" cy="790216"/>
              </a:xfrm>
              <a:prstGeom prst="rect">
                <a:avLst/>
              </a:prstGeom>
              <a:blipFill>
                <a:blip r:embed="rId3"/>
                <a:stretch>
                  <a:fillRect l="-5938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xmlns="" id="{417A1110-7254-483F-8900-D380D7493A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2566199"/>
                  </p:ext>
                </p:extLst>
              </p:nvPr>
            </p:nvGraphicFramePr>
            <p:xfrm>
              <a:off x="718229" y="2046196"/>
              <a:ext cx="7705160" cy="32004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928467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493742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817022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792992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708887">
                      <a:extLst>
                        <a:ext uri="{9D8B030D-6E8A-4147-A177-3AD203B41FA5}">
                          <a16:colId xmlns:a16="http://schemas.microsoft.com/office/drawing/2014/main" xmlns="" val="2791127480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-4+7M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-1+4M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10143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1488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17A1110-7254-483F-8900-D380D7493A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2566199"/>
                  </p:ext>
                </p:extLst>
              </p:nvPr>
            </p:nvGraphicFramePr>
            <p:xfrm>
              <a:off x="718229" y="2046196"/>
              <a:ext cx="7705160" cy="32004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928467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493742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817022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792992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708887">
                      <a:extLst>
                        <a:ext uri="{9D8B030D-6E8A-4147-A177-3AD203B41FA5}">
                          <a16:colId xmlns:a16="http://schemas.microsoft.com/office/drawing/2014/main" val="2791127480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6528" t="-3111" r="-685417" b="-1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6184" t="-3111" r="-549342" b="-1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37037" t="-3111" r="-930864" b="-1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85075" t="-3111" r="-462687" b="-1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3111" r="-376923" b="-1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66667" t="-3111" r="-318803" b="-1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-4+7M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-1+4M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87500" t="-305263" r="-102717" b="-298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410667" r="-819565" b="-2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87500" t="-410667" r="-102717" b="-2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510667" r="-819565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1435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610667" r="-81956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48848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1211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229" y="513825"/>
            <a:ext cx="7429499" cy="14785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94D4203F-24AA-43F3-A0A6-8655BA618112}"/>
                  </a:ext>
                </a:extLst>
              </p:cNvPr>
              <p:cNvSpPr/>
              <p:nvPr/>
            </p:nvSpPr>
            <p:spPr>
              <a:xfrm>
                <a:off x="1252025" y="5915909"/>
                <a:ext cx="235494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914400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−(−4+7</m:t>
                    </m:r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black"/>
                    </a:solidFill>
                  </a:rPr>
                  <a:t>,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4D4203F-24AA-43F3-A0A6-8655BA6181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025" y="5915909"/>
                <a:ext cx="2354945" cy="400110"/>
              </a:xfrm>
              <a:prstGeom prst="rect">
                <a:avLst/>
              </a:prstGeom>
              <a:blipFill>
                <a:blip r:embed="rId2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xmlns="" id="{84D4869B-0125-4CD3-BCB8-E87AECE75DE9}"/>
                  </a:ext>
                </a:extLst>
              </p:cNvPr>
              <p:cNvSpPr/>
              <p:nvPr/>
            </p:nvSpPr>
            <p:spPr>
              <a:xfrm>
                <a:off x="3606970" y="5944933"/>
                <a:ext cx="129986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914400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2−4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black"/>
                    </a:solidFill>
                  </a:rPr>
                  <a:t>,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4D4869B-0125-4CD3-BCB8-E87AECE75D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970" y="5944933"/>
                <a:ext cx="1299861" cy="400110"/>
              </a:xfrm>
              <a:prstGeom prst="rect">
                <a:avLst/>
              </a:prstGeom>
              <a:blipFill>
                <a:blip r:embed="rId3"/>
                <a:stretch>
                  <a:fillRect t="-7576" r="-4225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="" id="{81AA053B-8D5E-4A81-A835-FC49C942326B}"/>
                  </a:ext>
                </a:extLst>
              </p:cNvPr>
              <p:cNvSpPr/>
              <p:nvPr/>
            </p:nvSpPr>
            <p:spPr>
              <a:xfrm>
                <a:off x="4906831" y="5973957"/>
                <a:ext cx="129986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914400"/>
                <a:r>
                  <a:rPr lang="en-US" sz="2000" dirty="0">
                    <a:solidFill>
                      <a:prstClr val="black"/>
                    </a:solidFill>
                  </a:rPr>
                  <a:t>S</a:t>
                </a:r>
                <a:r>
                  <a:rPr lang="en-US" sz="2000" b="0" dirty="0">
                    <a:solidFill>
                      <a:prstClr val="black"/>
                    </a:solidFill>
                  </a:rPr>
                  <a:t>2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1AA053B-8D5E-4A81-A835-FC49C94232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831" y="5973957"/>
                <a:ext cx="1299861" cy="400110"/>
              </a:xfrm>
              <a:prstGeom prst="rect">
                <a:avLst/>
              </a:prstGeom>
              <a:blipFill>
                <a:blip r:embed="rId4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xmlns="" id="{F2CF0285-8420-4585-BBAC-B954DBEA43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2180541"/>
                  </p:ext>
                </p:extLst>
              </p:nvPr>
            </p:nvGraphicFramePr>
            <p:xfrm>
              <a:off x="718229" y="2046196"/>
              <a:ext cx="7705160" cy="3355531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493742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603538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708887">
                      <a:extLst>
                        <a:ext uri="{9D8B030D-6E8A-4147-A177-3AD203B41FA5}">
                          <a16:colId xmlns:a16="http://schemas.microsoft.com/office/drawing/2014/main" xmlns="" val="2791127480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4+2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10143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1488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F2CF0285-8420-4585-BBAC-B954DBEA43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2180541"/>
                  </p:ext>
                </p:extLst>
              </p:nvPr>
            </p:nvGraphicFramePr>
            <p:xfrm>
              <a:off x="718229" y="2046196"/>
              <a:ext cx="7705160" cy="3355531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493742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603538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708887">
                      <a:extLst>
                        <a:ext uri="{9D8B030D-6E8A-4147-A177-3AD203B41FA5}">
                          <a16:colId xmlns:a16="http://schemas.microsoft.com/office/drawing/2014/main" val="2791127480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9828" t="-3097" r="-875000" b="-145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1667" t="-3097" r="-463889" b="-145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37037" t="-3097" r="-930864" b="-145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21212" t="-3097" r="-661616" b="-145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72727" t="-3097" r="-296970" b="-145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66667" t="-3097" r="-318803" b="-145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1667" t="-233000" r="-463889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72727" t="-233000" r="-296970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87500" t="-233000" r="-102717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25" t="-438158" r="-81956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87500" t="-438158" r="-10271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25" t="-545333" r="-819565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1435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25" t="-645333" r="-81956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48848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7825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xmlns="" id="{F2CF0285-8420-4585-BBAC-B954DBEA431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8229" y="2046196"/>
              <a:ext cx="7705160" cy="3654871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493742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603538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708887">
                      <a:extLst>
                        <a:ext uri="{9D8B030D-6E8A-4147-A177-3AD203B41FA5}">
                          <a16:colId xmlns:a16="http://schemas.microsoft.com/office/drawing/2014/main" xmlns="" val="2791127480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4+2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=1.2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10143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=1.8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1488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F2CF0285-8420-4585-BBAC-B954DBEA431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8229" y="2046196"/>
              <a:ext cx="7705160" cy="3654871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493742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603538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708887">
                      <a:extLst>
                        <a:ext uri="{9D8B030D-6E8A-4147-A177-3AD203B41FA5}">
                          <a16:colId xmlns:a16="http://schemas.microsoft.com/office/drawing/2014/main" val="2791127480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9828" t="-3097" r="-875000" b="-166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1667" t="-3097" r="-463889" b="-166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37037" t="-3097" r="-930864" b="-166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212" t="-3097" r="-661616" b="-166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2727" t="-3097" r="-296970" b="-166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66667" t="-3097" r="-318803" b="-166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1667" t="-233000" r="-463889" b="-27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2727" t="-233000" r="-296970" b="-27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7500" t="-233000" r="-102717" b="-27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444000" r="-819565" b="-26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7500" t="-444000" r="-102717" b="-26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408000" r="-819565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84324" t="-408000" r="-2162" b="-1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143584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508000" r="-819565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84324" t="-508000" r="-2162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48848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63232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="" id="{623E8889-F596-4DA3-9034-D5412F9FBA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5457226"/>
                  </p:ext>
                </p:extLst>
              </p:nvPr>
            </p:nvGraphicFramePr>
            <p:xfrm>
              <a:off x="718229" y="2046196"/>
              <a:ext cx="7705160" cy="3654871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493742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603538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708887">
                      <a:extLst>
                        <a:ext uri="{9D8B030D-6E8A-4147-A177-3AD203B41FA5}">
                          <a16:colId xmlns:a16="http://schemas.microsoft.com/office/drawing/2014/main" xmlns="" val="2791127480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4+2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=1.2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10143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=1.8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1488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23E8889-F596-4DA3-9034-D5412F9FBA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5457226"/>
                  </p:ext>
                </p:extLst>
              </p:nvPr>
            </p:nvGraphicFramePr>
            <p:xfrm>
              <a:off x="718229" y="2046196"/>
              <a:ext cx="7705160" cy="3654871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493742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603538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708887">
                      <a:extLst>
                        <a:ext uri="{9D8B030D-6E8A-4147-A177-3AD203B41FA5}">
                          <a16:colId xmlns:a16="http://schemas.microsoft.com/office/drawing/2014/main" val="2791127480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9828" t="-3097" r="-875000" b="-166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1667" t="-3097" r="-463889" b="-166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37037" t="-3097" r="-930864" b="-166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1212" t="-3097" r="-661616" b="-166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2727" t="-3097" r="-296970" b="-166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66667" t="-3097" r="-318803" b="-166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1667" t="-233000" r="-463889" b="-27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2727" t="-233000" r="-296970" b="-27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7500" t="-233000" r="-102717" b="-27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444000" r="-819565" b="-26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7500" t="-444000" r="-102717" b="-26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408000" r="-819565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84324" t="-408000" r="-2162" b="-1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143584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508000" r="-819565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84324" t="-508000" r="-2162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48848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7418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DF4787B8-E811-45A5-A520-E09AF09BA383}"/>
                  </a:ext>
                </a:extLst>
              </p:cNvPr>
              <p:cNvSpPr/>
              <p:nvPr/>
            </p:nvSpPr>
            <p:spPr>
              <a:xfrm>
                <a:off x="3670185" y="5844374"/>
                <a:ext cx="1531766" cy="7918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defTabSz="914400">
                  <a:defRPr/>
                </a:pPr>
                <a:r>
                  <a:rPr lang="en-US" sz="3200" dirty="0">
                    <a:solidFill>
                      <a:prstClr val="black"/>
                    </a:solidFill>
                  </a:rPr>
                  <a:t>B</a:t>
                </a:r>
                <a14:m>
                  <m:oMath xmlns:m="http://schemas.openxmlformats.org/officeDocument/2006/math">
                    <m:r>
                      <a:rPr lang="en-US" sz="3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3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sz="4000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3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F4787B8-E811-45A5-A520-E09AF09BA3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185" y="5844374"/>
                <a:ext cx="1531766" cy="791820"/>
              </a:xfrm>
              <a:prstGeom prst="rect">
                <a:avLst/>
              </a:prstGeom>
              <a:blipFill>
                <a:blip r:embed="rId4"/>
                <a:stretch>
                  <a:fillRect l="-9960"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xmlns="" id="{F1CC6E13-0B5C-4CFB-AF66-8684D34CF8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9576057"/>
                  </p:ext>
                </p:extLst>
              </p:nvPr>
            </p:nvGraphicFramePr>
            <p:xfrm>
              <a:off x="718229" y="2046196"/>
              <a:ext cx="7705160" cy="3355531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633047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464233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708887">
                      <a:extLst>
                        <a:ext uri="{9D8B030D-6E8A-4147-A177-3AD203B41FA5}">
                          <a16:colId xmlns:a16="http://schemas.microsoft.com/office/drawing/2014/main" xmlns="" val="2791127480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4+2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-4/5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6/5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10143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1488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1CC6E13-0B5C-4CFB-AF66-8684D34CF8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9576057"/>
                  </p:ext>
                </p:extLst>
              </p:nvPr>
            </p:nvGraphicFramePr>
            <p:xfrm>
              <a:off x="718229" y="2046196"/>
              <a:ext cx="7705160" cy="3355531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633047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464233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708887">
                      <a:extLst>
                        <a:ext uri="{9D8B030D-6E8A-4147-A177-3AD203B41FA5}">
                          <a16:colId xmlns:a16="http://schemas.microsoft.com/office/drawing/2014/main" val="2791127480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9828" t="-3097" r="-875000" b="-145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1667" t="-3097" r="-463889" b="-145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18269" t="-3097" r="-702885" b="-145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09211" t="-3097" r="-861842" b="-145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72727" t="-3097" r="-296970" b="-145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66667" t="-3097" r="-318803" b="-145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1667" t="-233000" r="-463889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72727" t="-233000" r="-296970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87500" t="-233000" r="-102717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25" t="-438158" r="-81956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87500" t="-438158" r="-10271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25" t="-545333" r="-819565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-4/5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6/5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1435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25" t="-645333" r="-81956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48848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3515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DF4787B8-E811-45A5-A520-E09AF09BA383}"/>
                  </a:ext>
                </a:extLst>
              </p:cNvPr>
              <p:cNvSpPr/>
              <p:nvPr/>
            </p:nvSpPr>
            <p:spPr>
              <a:xfrm>
                <a:off x="1292745" y="5930272"/>
                <a:ext cx="1541448" cy="7099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defTabSz="91440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5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3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F4787B8-E811-45A5-A520-E09AF09BA3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745" y="5930272"/>
                <a:ext cx="1541448" cy="7099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798E6F8C-5347-4F42-93D0-317BB4AA3BF4}"/>
                  </a:ext>
                </a:extLst>
              </p:cNvPr>
              <p:cNvSpPr/>
              <p:nvPr/>
            </p:nvSpPr>
            <p:spPr>
              <a:xfrm>
                <a:off x="2834193" y="5930272"/>
                <a:ext cx="1564083" cy="702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defTabSz="91440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3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8E6F8C-5347-4F42-93D0-317BB4AA3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193" y="5930272"/>
                <a:ext cx="1564083" cy="7028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CC9AB0DF-5A7C-4BE8-B7D6-EEB139CE6C15}"/>
                  </a:ext>
                </a:extLst>
              </p:cNvPr>
              <p:cNvSpPr/>
              <p:nvPr/>
            </p:nvSpPr>
            <p:spPr>
              <a:xfrm>
                <a:off x="4536107" y="5926745"/>
                <a:ext cx="2467983" cy="7099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defTabSz="914400">
                  <a:defRPr/>
                </a:pPr>
                <a:r>
                  <a:rPr lang="en-US" sz="2800" b="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z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−(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5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3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C9AB0DF-5A7C-4BE8-B7D6-EEB139CE6C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107" y="5926745"/>
                <a:ext cx="2467983" cy="709938"/>
              </a:xfrm>
              <a:prstGeom prst="rect">
                <a:avLst/>
              </a:prstGeom>
              <a:blipFill>
                <a:blip r:embed="rId6"/>
                <a:stretch>
                  <a:fillRect l="-4938"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xmlns="" id="{30141760-A91C-4C20-858E-B0855E198F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4616277"/>
                  </p:ext>
                </p:extLst>
              </p:nvPr>
            </p:nvGraphicFramePr>
            <p:xfrm>
              <a:off x="718229" y="1830111"/>
              <a:ext cx="7705160" cy="377406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633047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464233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1089611">
                      <a:extLst>
                        <a:ext uri="{9D8B030D-6E8A-4147-A177-3AD203B41FA5}">
                          <a16:colId xmlns:a16="http://schemas.microsoft.com/office/drawing/2014/main" xmlns="" val="2791127480"/>
                        </a:ext>
                      </a:extLst>
                    </a:gridCol>
                    <a:gridCol w="743560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18/5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10143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1488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30141760-A91C-4C20-858E-B0855E198F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4616277"/>
                  </p:ext>
                </p:extLst>
              </p:nvPr>
            </p:nvGraphicFramePr>
            <p:xfrm>
              <a:off x="718229" y="1830111"/>
              <a:ext cx="7705160" cy="377406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633047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464233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1089611">
                      <a:extLst>
                        <a:ext uri="{9D8B030D-6E8A-4147-A177-3AD203B41FA5}">
                          <a16:colId xmlns:a16="http://schemas.microsoft.com/office/drawing/2014/main" val="2791127480"/>
                        </a:ext>
                      </a:extLst>
                    </a:gridCol>
                    <a:gridCol w="743560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19828" t="-3556" r="-875000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41667" t="-3556" r="-463889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18269" t="-3556" r="-702885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709211" t="-3556" r="-861842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72727" t="-3556" r="-296970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35754" t="-3556" r="-173743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881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41667" t="-160690" r="-463889" b="-17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72727" t="-160690" r="-296970" b="-17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35754" t="-160690" r="-173743" b="-17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18/5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725" t="-378000" r="-819565" b="-1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786066" t="-378000" r="-154918" b="-1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725" t="-637333" r="-819565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1435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725" t="-737333" r="-81956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48848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518280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="" id="{018A6E80-2C10-4C2F-BFA6-458DDA5731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406467"/>
                  </p:ext>
                </p:extLst>
              </p:nvPr>
            </p:nvGraphicFramePr>
            <p:xfrm>
              <a:off x="718229" y="2055887"/>
              <a:ext cx="7705160" cy="40483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633047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464233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977069">
                      <a:extLst>
                        <a:ext uri="{9D8B030D-6E8A-4147-A177-3AD203B41FA5}">
                          <a16:colId xmlns:a16="http://schemas.microsoft.com/office/drawing/2014/main" xmlns="" val="2791127480"/>
                        </a:ext>
                      </a:extLst>
                    </a:gridCol>
                    <a:gridCol w="85610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18/5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  <a:r>
                            <a:rPr lang="en-US" dirty="0" err="1">
                              <a:solidFill>
                                <a:srgbClr val="FF0000"/>
                              </a:solidFill>
                            </a:rPr>
                            <a:t>ve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10143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1488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18A6E80-2C10-4C2F-BFA6-458DDA5731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406467"/>
                  </p:ext>
                </p:extLst>
              </p:nvPr>
            </p:nvGraphicFramePr>
            <p:xfrm>
              <a:off x="718229" y="2055887"/>
              <a:ext cx="7705160" cy="377406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633047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464233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977069">
                      <a:extLst>
                        <a:ext uri="{9D8B030D-6E8A-4147-A177-3AD203B41FA5}">
                          <a16:colId xmlns:a16="http://schemas.microsoft.com/office/drawing/2014/main" val="2791127480"/>
                        </a:ext>
                      </a:extLst>
                    </a:gridCol>
                    <a:gridCol w="85610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9828" t="-3556" r="-875000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1667" t="-3556" r="-463889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18269" t="-3556" r="-702885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09211" t="-3556" r="-861842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2727" t="-3556" r="-296970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4472" t="-3556" r="-204348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881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1667" t="-160690" r="-463889" b="-17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2727" t="-160690" r="-296970" b="-17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4472" t="-160690" r="-204348" b="-17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18/5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378000" r="-819565" b="-1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72143" t="-378000" r="-135000" b="-1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637333" r="-819565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  <a:r>
                            <a:rPr lang="en-US" dirty="0" err="1">
                              <a:solidFill>
                                <a:srgbClr val="FF0000"/>
                              </a:solidFill>
                            </a:rPr>
                            <a:t>ve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1435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737333" r="-81956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48848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14194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="" id="{EFD25553-CACE-4911-B7E3-991BE9E403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5920330"/>
                  </p:ext>
                </p:extLst>
              </p:nvPr>
            </p:nvGraphicFramePr>
            <p:xfrm>
              <a:off x="718229" y="1887074"/>
              <a:ext cx="7705160" cy="40483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633047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464233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977069">
                      <a:extLst>
                        <a:ext uri="{9D8B030D-6E8A-4147-A177-3AD203B41FA5}">
                          <a16:colId xmlns:a16="http://schemas.microsoft.com/office/drawing/2014/main" xmlns="" val="2791127480"/>
                        </a:ext>
                      </a:extLst>
                    </a:gridCol>
                    <a:gridCol w="85610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18/5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10143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1488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FD25553-CACE-4911-B7E3-991BE9E403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5920330"/>
                  </p:ext>
                </p:extLst>
              </p:nvPr>
            </p:nvGraphicFramePr>
            <p:xfrm>
              <a:off x="718229" y="1887074"/>
              <a:ext cx="7705160" cy="377406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633047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464233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977069">
                      <a:extLst>
                        <a:ext uri="{9D8B030D-6E8A-4147-A177-3AD203B41FA5}">
                          <a16:colId xmlns:a16="http://schemas.microsoft.com/office/drawing/2014/main" val="2791127480"/>
                        </a:ext>
                      </a:extLst>
                    </a:gridCol>
                    <a:gridCol w="85610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9828" t="-3111" r="-875000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1667" t="-3111" r="-463889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18269" t="-3111" r="-702885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09211" t="-3111" r="-861842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2727" t="-3111" r="-296970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4472" t="-3111" r="-204348" b="-176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881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1667" t="-160000" r="-463889" b="-17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2727" t="-160000" r="-296970" b="-17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4472" t="-160000" r="-204348" b="-17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18/5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377000" r="-819565" b="-1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72143" t="-377000" r="-135000" b="-1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636000" r="-819565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-4/5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1435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5" t="-736000" r="-81956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48848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25667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32D67A62-6C55-4685-AE4E-0F77B74EE737}"/>
                  </a:ext>
                </a:extLst>
              </p:cNvPr>
              <p:cNvSpPr/>
              <p:nvPr/>
            </p:nvSpPr>
            <p:spPr>
              <a:xfrm>
                <a:off x="1469168" y="5743875"/>
                <a:ext cx="1606915" cy="7042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defTabSz="91440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endParaRPr lang="en-US" sz="3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2D67A62-6C55-4685-AE4E-0F77B74EE7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168" y="5743875"/>
                <a:ext cx="1606915" cy="704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0E19F692-CCD6-4B40-B5C2-425E2D3F4A69}"/>
                  </a:ext>
                </a:extLst>
              </p:cNvPr>
              <p:cNvSpPr/>
              <p:nvPr/>
            </p:nvSpPr>
            <p:spPr>
              <a:xfrm>
                <a:off x="3029360" y="5743875"/>
                <a:ext cx="1598643" cy="7033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defTabSz="91440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endParaRPr lang="en-US" sz="3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E19F692-CCD6-4B40-B5C2-425E2D3F4A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360" y="5743875"/>
                <a:ext cx="1598643" cy="7033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0176A60C-FCD4-4B02-8282-1AF41830D338}"/>
                  </a:ext>
                </a:extLst>
              </p:cNvPr>
              <p:cNvSpPr/>
              <p:nvPr/>
            </p:nvSpPr>
            <p:spPr>
              <a:xfrm>
                <a:off x="4570808" y="5743875"/>
                <a:ext cx="1358064" cy="7033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defTabSz="914400">
                  <a:defRPr/>
                </a:pP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3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176A60C-FCD4-4B02-8282-1AF41830D3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808" y="5743875"/>
                <a:ext cx="1358064" cy="7033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xmlns="" id="{095C4591-8C9E-485E-860E-AE2FCC91F3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9151804"/>
                  </p:ext>
                </p:extLst>
              </p:nvPr>
            </p:nvGraphicFramePr>
            <p:xfrm>
              <a:off x="718228" y="1969815"/>
              <a:ext cx="7705160" cy="353295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15928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647113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73151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977069">
                      <a:extLst>
                        <a:ext uri="{9D8B030D-6E8A-4147-A177-3AD203B41FA5}">
                          <a16:colId xmlns:a16="http://schemas.microsoft.com/office/drawing/2014/main" xmlns="" val="2791127480"/>
                        </a:ext>
                      </a:extLst>
                    </a:gridCol>
                    <a:gridCol w="85610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17/5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10143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1488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95C4591-8C9E-485E-860E-AE2FCC91F3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9151804"/>
                  </p:ext>
                </p:extLst>
              </p:nvPr>
            </p:nvGraphicFramePr>
            <p:xfrm>
              <a:off x="718228" y="1969815"/>
              <a:ext cx="7705160" cy="353295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15928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647113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73151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977069">
                      <a:extLst>
                        <a:ext uri="{9D8B030D-6E8A-4147-A177-3AD203B41FA5}">
                          <a16:colId xmlns:a16="http://schemas.microsoft.com/office/drawing/2014/main" val="2791127480"/>
                        </a:ext>
                      </a:extLst>
                    </a:gridCol>
                    <a:gridCol w="85610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19828" t="-3556" r="-875000" b="-15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90299" t="-3556" r="-657463" b="-15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66981" t="-3556" r="-731132" b="-15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12500" t="-3556" r="-545833" b="-15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72727" t="-3556" r="-296970" b="-15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84472" t="-3556" r="-204348" b="-15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90299" t="-221905" r="-657463" b="-2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72727" t="-221905" r="-296970" b="-2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84472" t="-221905" r="-204348" b="-2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17/5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725" t="-338000" r="-819565" b="-1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72143" t="-338000" r="-135000" b="-1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725" t="-584000" r="-819565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1435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725" t="-684000" r="-81956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48848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420818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m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0E19F692-CCD6-4B40-B5C2-425E2D3F4A69}"/>
                  </a:ext>
                </a:extLst>
              </p:cNvPr>
              <p:cNvSpPr/>
              <p:nvPr/>
            </p:nvSpPr>
            <p:spPr>
              <a:xfrm>
                <a:off x="505902" y="5492088"/>
                <a:ext cx="7779657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defTabSz="9144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𝐴𝑠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𝑡h𝑒𝑟𝑒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𝑛𝑜</m:t>
                      </m:r>
                    </m:oMath>
                  </m:oMathPara>
                </a14:m>
                <a:endParaRPr lang="en-US" sz="2400" b="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defTabSz="9144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𝑣𝑒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𝑜𝑏𝑗𝑒𝑐𝑡𝑖𝑣𝑒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𝑓𝑢𝑛𝑐𝑡𝑖𝑜𝑛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𝑠𝑜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𝑜𝑝𝑡𝑖𝑚𝑎𝑙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defTabSz="9144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𝑠𝑜𝑙𝑢𝑡𝑖𝑜𝑛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𝑜𝑏𝑡𝑎𝑖𝑛𝑒𝑑</m:t>
                      </m:r>
                    </m:oMath>
                  </m:oMathPara>
                </a14:m>
                <a:endParaRPr 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E19F692-CCD6-4B40-B5C2-425E2D3F4A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02" y="5492088"/>
                <a:ext cx="7779657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xmlns="" id="{6E774340-563C-4740-A4AD-3EB5D2138B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661056"/>
                  </p:ext>
                </p:extLst>
              </p:nvPr>
            </p:nvGraphicFramePr>
            <p:xfrm>
              <a:off x="580399" y="1809468"/>
              <a:ext cx="7705160" cy="36826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xmlns="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xmlns="" val="2853653774"/>
                        </a:ext>
                      </a:extLst>
                    </a:gridCol>
                    <a:gridCol w="815928">
                      <a:extLst>
                        <a:ext uri="{9D8B030D-6E8A-4147-A177-3AD203B41FA5}">
                          <a16:colId xmlns:a16="http://schemas.microsoft.com/office/drawing/2014/main" xmlns="" val="1852071440"/>
                        </a:ext>
                      </a:extLst>
                    </a:gridCol>
                    <a:gridCol w="647113">
                      <a:extLst>
                        <a:ext uri="{9D8B030D-6E8A-4147-A177-3AD203B41FA5}">
                          <a16:colId xmlns:a16="http://schemas.microsoft.com/office/drawing/2014/main" xmlns="" val="3733485545"/>
                        </a:ext>
                      </a:extLst>
                    </a:gridCol>
                    <a:gridCol w="731519">
                      <a:extLst>
                        <a:ext uri="{9D8B030D-6E8A-4147-A177-3AD203B41FA5}">
                          <a16:colId xmlns:a16="http://schemas.microsoft.com/office/drawing/2014/main" xmlns="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xmlns="" val="457432290"/>
                        </a:ext>
                      </a:extLst>
                    </a:gridCol>
                    <a:gridCol w="977069">
                      <a:extLst>
                        <a:ext uri="{9D8B030D-6E8A-4147-A177-3AD203B41FA5}">
                          <a16:colId xmlns:a16="http://schemas.microsoft.com/office/drawing/2014/main" xmlns="" val="2791127480"/>
                        </a:ext>
                      </a:extLst>
                    </a:gridCol>
                    <a:gridCol w="856102">
                      <a:extLst>
                        <a:ext uri="{9D8B030D-6E8A-4147-A177-3AD203B41FA5}">
                          <a16:colId xmlns:a16="http://schemas.microsoft.com/office/drawing/2014/main" xmlns="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xmlns="" val="230820330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70999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17/5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6541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97728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10143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41488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E774340-563C-4740-A4AD-3EB5D2138B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661056"/>
                  </p:ext>
                </p:extLst>
              </p:nvPr>
            </p:nvGraphicFramePr>
            <p:xfrm>
              <a:off x="580399" y="1809468"/>
              <a:ext cx="7705160" cy="36826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843285">
                      <a:extLst>
                        <a:ext uri="{9D8B030D-6E8A-4147-A177-3AD203B41FA5}">
                          <a16:colId xmlns:a16="http://schemas.microsoft.com/office/drawing/2014/main" val="1700886628"/>
                        </a:ext>
                      </a:extLst>
                    </a:gridCol>
                    <a:gridCol w="703384">
                      <a:extLst>
                        <a:ext uri="{9D8B030D-6E8A-4147-A177-3AD203B41FA5}">
                          <a16:colId xmlns:a16="http://schemas.microsoft.com/office/drawing/2014/main" val="2853653774"/>
                        </a:ext>
                      </a:extLst>
                    </a:gridCol>
                    <a:gridCol w="815928">
                      <a:extLst>
                        <a:ext uri="{9D8B030D-6E8A-4147-A177-3AD203B41FA5}">
                          <a16:colId xmlns:a16="http://schemas.microsoft.com/office/drawing/2014/main" val="1852071440"/>
                        </a:ext>
                      </a:extLst>
                    </a:gridCol>
                    <a:gridCol w="647113">
                      <a:extLst>
                        <a:ext uri="{9D8B030D-6E8A-4147-A177-3AD203B41FA5}">
                          <a16:colId xmlns:a16="http://schemas.microsoft.com/office/drawing/2014/main" val="3733485545"/>
                        </a:ext>
                      </a:extLst>
                    </a:gridCol>
                    <a:gridCol w="731519">
                      <a:extLst>
                        <a:ext uri="{9D8B030D-6E8A-4147-A177-3AD203B41FA5}">
                          <a16:colId xmlns:a16="http://schemas.microsoft.com/office/drawing/2014/main" val="3456232338"/>
                        </a:ext>
                      </a:extLst>
                    </a:gridCol>
                    <a:gridCol w="1006476">
                      <a:extLst>
                        <a:ext uri="{9D8B030D-6E8A-4147-A177-3AD203B41FA5}">
                          <a16:colId xmlns:a16="http://schemas.microsoft.com/office/drawing/2014/main" val="457432290"/>
                        </a:ext>
                      </a:extLst>
                    </a:gridCol>
                    <a:gridCol w="977069">
                      <a:extLst>
                        <a:ext uri="{9D8B030D-6E8A-4147-A177-3AD203B41FA5}">
                          <a16:colId xmlns:a16="http://schemas.microsoft.com/office/drawing/2014/main" val="2791127480"/>
                        </a:ext>
                      </a:extLst>
                    </a:gridCol>
                    <a:gridCol w="856102">
                      <a:extLst>
                        <a:ext uri="{9D8B030D-6E8A-4147-A177-3AD203B41FA5}">
                          <a16:colId xmlns:a16="http://schemas.microsoft.com/office/drawing/2014/main" val="1798884083"/>
                        </a:ext>
                      </a:extLst>
                    </a:gridCol>
                    <a:gridCol w="1124284">
                      <a:extLst>
                        <a:ext uri="{9D8B030D-6E8A-4147-A177-3AD203B41FA5}">
                          <a16:colId xmlns:a16="http://schemas.microsoft.com/office/drawing/2014/main" val="2308203304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9828" t="-3111" r="-875000" b="-170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0299" t="-3111" r="-657463" b="-170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66981" t="-3111" r="-731132" b="-170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2500" t="-3111" r="-545833" b="-170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2727" t="-3111" r="-296970" b="-170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4472" t="-3111" r="-204348" b="-170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Sol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Min Ratio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99932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0299" t="-220952" r="-657463" b="-26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2727" t="-220952" r="-296970" b="-26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4472" t="-220952" r="-204348" b="-26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17/5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5417494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25" t="-337000" r="-819565" b="-17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72143" t="-337000" r="-135000" b="-17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7728900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25" t="-437000" r="-819565" b="-7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-1/5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72143" t="-437000" r="-135000" b="-7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1435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25" t="-716000" r="-81956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48848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45293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lv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Max</m:t>
                      </m:r>
                      <m: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Z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prstClr val="black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9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647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689715"/>
            <a:ext cx="7429499" cy="1478570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en-GB" sz="54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you!</a:t>
            </a:r>
            <a: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/>
            </a:r>
            <a:b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7375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larity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97ECCC31-8429-4523-BE8D-8F09B7A4D46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3213</TotalTime>
  <Words>3097</Words>
  <Application>Microsoft Office PowerPoint</Application>
  <PresentationFormat>On-screen Show (4:3)</PresentationFormat>
  <Paragraphs>1043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Clarity</vt:lpstr>
      <vt:lpstr>Circuit</vt:lpstr>
      <vt:lpstr>PowerPoint Presentation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Big m method</vt:lpstr>
      <vt:lpstr>task</vt:lpstr>
      <vt:lpstr>Thank you!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Bakhtawar</dc:creator>
  <cp:lastModifiedBy>4G Traders</cp:lastModifiedBy>
  <cp:revision>273</cp:revision>
  <dcterms:created xsi:type="dcterms:W3CDTF">2022-09-10T13:48:09Z</dcterms:created>
  <dcterms:modified xsi:type="dcterms:W3CDTF">2024-09-08T07:36:36Z</dcterms:modified>
</cp:coreProperties>
</file>