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81" r:id="rId34"/>
    <p:sldId id="282" r:id="rId35"/>
    <p:sldId id="284" r:id="rId3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7" autoAdjust="0"/>
    <p:restoredTop sz="94660"/>
  </p:normalViewPr>
  <p:slideViewPr>
    <p:cSldViewPr>
      <p:cViewPr varScale="1">
        <p:scale>
          <a:sx n="76" d="100"/>
          <a:sy n="76" d="100"/>
        </p:scale>
        <p:origin x="162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501"/>
            <a:ext cx="10058400" cy="1939399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495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404" y="5370309"/>
            <a:ext cx="4278412" cy="521911"/>
          </a:xfrm>
        </p:spPr>
        <p:txBody>
          <a:bodyPr>
            <a:normAutofit/>
          </a:bodyPr>
          <a:lstStyle>
            <a:lvl1pPr marL="0" indent="0" algn="ctr">
              <a:buNone/>
              <a:defRPr sz="2310" b="1">
                <a:solidFill>
                  <a:srgbClr val="001050"/>
                </a:solidFill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4"/>
            <a:ext cx="2263140" cy="41380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3745" y="7203864"/>
            <a:ext cx="2263140" cy="41380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/>
        </p:nvSpPr>
        <p:spPr>
          <a:xfrm>
            <a:off x="-10777" y="676211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769" y="784642"/>
            <a:ext cx="3631801" cy="118436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/>
        </p:nvSpPr>
        <p:spPr>
          <a:xfrm>
            <a:off x="6236210" y="686080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3685" y="784642"/>
            <a:ext cx="3685685" cy="119917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201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6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  <a:solidFill>
            <a:srgbClr val="002060"/>
          </a:solidFill>
        </p:spPr>
        <p:txBody>
          <a:bodyPr anchor="b"/>
          <a:lstStyle>
            <a:lvl1pPr>
              <a:defRPr sz="495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>
            <a:normAutofit/>
          </a:bodyPr>
          <a:lstStyle>
            <a:lvl1pPr marL="0" indent="0">
              <a:buNone/>
              <a:defRPr sz="2640" b="0">
                <a:solidFill>
                  <a:srgbClr val="001050"/>
                </a:solidFill>
                <a:latin typeface="+mj-lt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1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399004"/>
            <a:ext cx="8675370" cy="1502305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396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1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1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3004" y="1102838"/>
            <a:ext cx="5552391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A1A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29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9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96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Wingdings" panose="05000000000000000000" pitchFamily="2" charset="2"/>
        <a:buChar char="q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Wingdings" panose="05000000000000000000" pitchFamily="2" charset="2"/>
        <a:buChar char="§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Courier New" panose="02070309020205020404" pitchFamily="49" charset="0"/>
        <a:buChar char="o"/>
        <a:defRPr sz="1650" kern="1200">
          <a:solidFill>
            <a:schemeClr val="tx1"/>
          </a:solidFill>
          <a:latin typeface="+mj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netbeans.org/Refactoring)" TargetMode="External"/><Relationship Id="rId2" Type="http://schemas.openxmlformats.org/officeDocument/2006/relationships/hyperlink" Target="http://www.refactoring.com/catalog/index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factoring.com/catalog/index.html" TargetMode="External"/><Relationship Id="rId2" Type="http://schemas.openxmlformats.org/officeDocument/2006/relationships/hyperlink" Target="http://www.irregularwebcomic.net/cgi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odeproject.com/KB/architecture/practic" TargetMode="External"/><Relationship Id="rId4" Type="http://schemas.openxmlformats.org/officeDocument/2006/relationships/hyperlink" Target="http://www.cs.colorado.edu/~kena/classes/6448/s05/l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4779347"/>
            <a:ext cx="1370965" cy="780415"/>
          </a:xfrm>
          <a:custGeom>
            <a:avLst/>
            <a:gdLst/>
            <a:ahLst/>
            <a:cxnLst/>
            <a:rect l="l" t="t" r="r" b="b"/>
            <a:pathLst>
              <a:path w="1370964" h="780414">
                <a:moveTo>
                  <a:pt x="975360" y="780204"/>
                </a:moveTo>
                <a:lnTo>
                  <a:pt x="0" y="780204"/>
                </a:lnTo>
                <a:lnTo>
                  <a:pt x="0" y="0"/>
                </a:lnTo>
                <a:lnTo>
                  <a:pt x="975360" y="2964"/>
                </a:lnTo>
                <a:lnTo>
                  <a:pt x="1002792" y="12108"/>
                </a:lnTo>
                <a:lnTo>
                  <a:pt x="1007364" y="12108"/>
                </a:lnTo>
                <a:lnTo>
                  <a:pt x="1007364" y="16680"/>
                </a:lnTo>
                <a:lnTo>
                  <a:pt x="1363980" y="368724"/>
                </a:lnTo>
                <a:lnTo>
                  <a:pt x="1369123" y="379654"/>
                </a:lnTo>
                <a:lnTo>
                  <a:pt x="1370838" y="391013"/>
                </a:lnTo>
                <a:lnTo>
                  <a:pt x="1369123" y="401514"/>
                </a:lnTo>
                <a:lnTo>
                  <a:pt x="1363980" y="409872"/>
                </a:lnTo>
                <a:lnTo>
                  <a:pt x="1007364" y="766488"/>
                </a:lnTo>
                <a:lnTo>
                  <a:pt x="1002792" y="766488"/>
                </a:lnTo>
                <a:lnTo>
                  <a:pt x="1002792" y="771060"/>
                </a:lnTo>
                <a:lnTo>
                  <a:pt x="998505" y="774418"/>
                </a:lnTo>
                <a:lnTo>
                  <a:pt x="992505" y="777347"/>
                </a:lnTo>
                <a:lnTo>
                  <a:pt x="984789" y="779418"/>
                </a:lnTo>
                <a:lnTo>
                  <a:pt x="975360" y="78020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48934" y="3689213"/>
            <a:ext cx="4864735" cy="1518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00">
              <a:lnSpc>
                <a:spcPct val="100000"/>
              </a:lnSpc>
              <a:spcBef>
                <a:spcPts val="95"/>
              </a:spcBef>
            </a:pPr>
            <a:r>
              <a:rPr sz="4900" spc="-33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SOFTWARE </a:t>
            </a:r>
            <a:r>
              <a:rPr sz="4900" spc="-33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4900" spc="-4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R</a:t>
            </a:r>
            <a:r>
              <a:rPr sz="4900" spc="-50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59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sz="4900" spc="45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G</a:t>
            </a:r>
            <a:r>
              <a:rPr sz="4900" spc="-944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sz="4900" spc="-459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50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R</a:t>
            </a:r>
            <a:r>
              <a:rPr sz="4900" spc="-944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sz="4900" spc="4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G</a:t>
            </a:r>
            <a:endParaRPr sz="490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8962" y="5022601"/>
            <a:ext cx="116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orbel"/>
                <a:cs typeface="Corbel"/>
              </a:rPr>
              <a:t>1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3281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75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z="3600" spc="15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3600" spc="235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sz="3600" spc="28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3600" spc="-195" dirty="0">
                <a:solidFill>
                  <a:schemeClr val="accent1">
                    <a:lumMod val="50000"/>
                  </a:schemeClr>
                </a:solidFill>
              </a:rPr>
              <a:t>y</a:t>
            </a:r>
            <a:r>
              <a:rPr sz="3600" spc="290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sz="3600" spc="-480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z="3600" spc="-29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3600" spc="295" dirty="0">
                <a:solidFill>
                  <a:schemeClr val="accent1">
                    <a:lumMod val="50000"/>
                  </a:schemeClr>
                </a:solidFill>
              </a:rPr>
              <a:t>Q</a:t>
            </a:r>
            <a:r>
              <a:rPr sz="3600" spc="-85" dirty="0">
                <a:solidFill>
                  <a:schemeClr val="accent1">
                    <a:lumMod val="50000"/>
                  </a:schemeClr>
                </a:solidFill>
              </a:rPr>
              <a:t>u</a:t>
            </a:r>
            <a:r>
              <a:rPr sz="3600" spc="15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3600" spc="-20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z="3600"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endParaRPr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3136392"/>
            <a:ext cx="6591300" cy="26883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0278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" dirty="0"/>
              <a:t>Code Refactoring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2134616"/>
            <a:ext cx="1732914" cy="12280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Definition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Motivation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7342" y="1279651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F3F3F"/>
                </a:solidFill>
                <a:latin typeface="Corbel"/>
                <a:cs typeface="Corbel"/>
              </a:rPr>
              <a:t>3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3423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W</a:t>
            </a:r>
            <a:r>
              <a:rPr sz="3600" spc="-85" dirty="0"/>
              <a:t>h</a:t>
            </a:r>
            <a:r>
              <a:rPr sz="3600" spc="195" dirty="0"/>
              <a:t>e</a:t>
            </a:r>
            <a:r>
              <a:rPr sz="3600" spc="-459" dirty="0"/>
              <a:t>r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280" dirty="0"/>
              <a:t>a</a:t>
            </a:r>
            <a:r>
              <a:rPr sz="3600" spc="-459" dirty="0"/>
              <a:t>r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40" dirty="0"/>
              <a:t>w</a:t>
            </a:r>
            <a:r>
              <a:rPr sz="3600" spc="195" dirty="0"/>
              <a:t>e</a:t>
            </a:r>
            <a:r>
              <a:rPr sz="3600" spc="160" dirty="0"/>
              <a:t>?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31890" cy="245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6860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e 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ReEngineering.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A52F0F"/>
              </a:buClr>
              <a:buFont typeface="Georgia"/>
              <a:buChar char="&gt;"/>
            </a:pPr>
            <a:endParaRPr sz="22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6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go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i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75" dirty="0">
                <a:solidFill>
                  <a:srgbClr val="3F3F3F"/>
                </a:solidFill>
                <a:latin typeface="Verdana"/>
                <a:cs typeface="Verdana"/>
              </a:rPr>
              <a:t>..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A52F0F"/>
              </a:buClr>
              <a:buFont typeface="Georgia"/>
              <a:buChar char="&gt;"/>
            </a:pPr>
            <a:endParaRPr sz="220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49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There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always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pressures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reasons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software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40" dirty="0">
                <a:solidFill>
                  <a:srgbClr val="3F3F3F"/>
                </a:solidFill>
                <a:latin typeface="Verdana"/>
                <a:cs typeface="Verdana"/>
              </a:rPr>
              <a:t>’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9048" y="6666977"/>
            <a:ext cx="388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Why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developers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write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bad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software?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2983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3600" spc="195" dirty="0">
                <a:solidFill>
                  <a:schemeClr val="accent1">
                    <a:lumMod val="50000"/>
                  </a:schemeClr>
                </a:solidFill>
              </a:rPr>
              <a:t>ee</a:t>
            </a:r>
            <a:r>
              <a:rPr sz="3600"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3600" spc="160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sz="3600"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3600"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3600" spc="195" dirty="0">
                <a:solidFill>
                  <a:schemeClr val="accent1">
                    <a:lumMod val="50000"/>
                  </a:schemeClr>
                </a:solidFill>
              </a:rPr>
              <a:t>ee</a:t>
            </a:r>
            <a:r>
              <a:rPr sz="3600" spc="-459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3600"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3600"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3600" spc="175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sz="3600" spc="-23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3600" spc="28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3600"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3600" spc="155" dirty="0">
                <a:solidFill>
                  <a:schemeClr val="accent1">
                    <a:lumMod val="50000"/>
                  </a:schemeClr>
                </a:solidFill>
              </a:rPr>
              <a:t>d  </a:t>
            </a:r>
            <a:r>
              <a:rPr sz="3600" spc="-5" dirty="0">
                <a:solidFill>
                  <a:schemeClr val="accent1">
                    <a:lumMod val="50000"/>
                  </a:schemeClr>
                </a:solidFill>
              </a:rPr>
              <a:t>Refactoring?</a:t>
            </a:r>
            <a:endParaRPr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 MT"/>
                <a:cs typeface="Arial MT"/>
              </a:rPr>
              <a:t>5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6756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W</a:t>
            </a:r>
            <a:r>
              <a:rPr sz="3600" spc="-85" dirty="0"/>
              <a:t>h</a:t>
            </a:r>
            <a:r>
              <a:rPr sz="3600" spc="-204" dirty="0"/>
              <a:t>y</a:t>
            </a:r>
            <a:r>
              <a:rPr sz="3600" spc="-280" dirty="0"/>
              <a:t> </a:t>
            </a:r>
            <a:r>
              <a:rPr sz="3600" spc="235" dirty="0"/>
              <a:t>d</a:t>
            </a:r>
            <a:r>
              <a:rPr sz="3600" spc="170" dirty="0"/>
              <a:t>o</a:t>
            </a:r>
            <a:r>
              <a:rPr sz="3600" spc="-275" dirty="0"/>
              <a:t> </a:t>
            </a:r>
            <a:r>
              <a:rPr sz="3600" spc="160" dirty="0"/>
              <a:t>g</a:t>
            </a:r>
            <a:r>
              <a:rPr sz="3600" spc="185" dirty="0"/>
              <a:t>o</a:t>
            </a:r>
            <a:r>
              <a:rPr sz="3600" spc="150" dirty="0"/>
              <a:t>o</a:t>
            </a:r>
            <a:r>
              <a:rPr sz="3600" spc="220" dirty="0"/>
              <a:t>d</a:t>
            </a:r>
            <a:r>
              <a:rPr sz="3600" spc="-240" dirty="0"/>
              <a:t> </a:t>
            </a:r>
            <a:r>
              <a:rPr sz="3600" spc="200" dirty="0"/>
              <a:t>d</a:t>
            </a:r>
            <a:r>
              <a:rPr sz="3600" spc="195" dirty="0"/>
              <a:t>e</a:t>
            </a:r>
            <a:r>
              <a:rPr sz="3600" spc="-120" dirty="0"/>
              <a:t>v</a:t>
            </a:r>
            <a:r>
              <a:rPr sz="3600" spc="195" dirty="0"/>
              <a:t>e</a:t>
            </a:r>
            <a:r>
              <a:rPr sz="3600" spc="-275" dirty="0"/>
              <a:t>l</a:t>
            </a:r>
            <a:r>
              <a:rPr sz="3600" spc="150" dirty="0"/>
              <a:t>o</a:t>
            </a:r>
            <a:r>
              <a:rPr sz="3600" spc="200" dirty="0"/>
              <a:t>p</a:t>
            </a:r>
            <a:r>
              <a:rPr sz="3600" spc="195" dirty="0"/>
              <a:t>e</a:t>
            </a:r>
            <a:r>
              <a:rPr sz="3600" spc="-459" dirty="0"/>
              <a:t>r</a:t>
            </a:r>
            <a:r>
              <a:rPr sz="3600" spc="-375" dirty="0"/>
              <a:t>s  </a:t>
            </a:r>
            <a:r>
              <a:rPr sz="3600" spc="40" dirty="0"/>
              <a:t>w</a:t>
            </a:r>
            <a:r>
              <a:rPr sz="3600" spc="-459" dirty="0"/>
              <a:t>r</a:t>
            </a:r>
            <a:r>
              <a:rPr sz="3600" spc="-275" dirty="0"/>
              <a:t>i</a:t>
            </a:r>
            <a:r>
              <a:rPr sz="3600" spc="-200" dirty="0"/>
              <a:t>t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200" dirty="0"/>
              <a:t>b</a:t>
            </a:r>
            <a:r>
              <a:rPr sz="3600" spc="315" dirty="0"/>
              <a:t>a</a:t>
            </a:r>
            <a:r>
              <a:rPr sz="3600" spc="220" dirty="0"/>
              <a:t>d</a:t>
            </a:r>
            <a:r>
              <a:rPr sz="3600" spc="-280" dirty="0"/>
              <a:t> </a:t>
            </a:r>
            <a:r>
              <a:rPr sz="3600" spc="-509" dirty="0"/>
              <a:t>s</a:t>
            </a:r>
            <a:r>
              <a:rPr sz="3600" spc="185" dirty="0"/>
              <a:t>o</a:t>
            </a:r>
            <a:r>
              <a:rPr sz="3600" spc="-155" dirty="0"/>
              <a:t>f</a:t>
            </a:r>
            <a:r>
              <a:rPr sz="3600" spc="-200" dirty="0"/>
              <a:t>t</a:t>
            </a:r>
            <a:r>
              <a:rPr sz="3600" spc="40" dirty="0"/>
              <a:t>w</a:t>
            </a:r>
            <a:r>
              <a:rPr sz="3600" spc="280" dirty="0"/>
              <a:t>a</a:t>
            </a:r>
            <a:r>
              <a:rPr sz="3600" spc="-459" dirty="0"/>
              <a:t>r</a:t>
            </a:r>
            <a:r>
              <a:rPr sz="3600" spc="195" dirty="0"/>
              <a:t>e</a:t>
            </a:r>
            <a:r>
              <a:rPr sz="3600" spc="160" dirty="0"/>
              <a:t>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40780" cy="192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31140" indent="-342900" algn="just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Requirements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change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over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time,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making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hard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pd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1800" dirty="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114" dirty="0">
                <a:solidFill>
                  <a:srgbClr val="FF0000"/>
                </a:solidFill>
                <a:latin typeface="Verdana"/>
                <a:cs typeface="Verdana"/>
              </a:rPr>
              <a:t>Time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Verdana"/>
                <a:cs typeface="Verdana"/>
              </a:rPr>
              <a:t>money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cause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take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shortcuts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d 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time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paint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room,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it’s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always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better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than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first </a:t>
            </a:r>
            <a:r>
              <a:rPr sz="1800" spc="-6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7027" y="5710428"/>
            <a:ext cx="7402195" cy="1077595"/>
            <a:chOff x="1367027" y="5710428"/>
            <a:chExt cx="7402195" cy="1077595"/>
          </a:xfrm>
        </p:grpSpPr>
        <p:sp>
          <p:nvSpPr>
            <p:cNvPr id="5" name="object 5"/>
            <p:cNvSpPr/>
            <p:nvPr/>
          </p:nvSpPr>
          <p:spPr>
            <a:xfrm>
              <a:off x="1371599" y="5715000"/>
              <a:ext cx="7391400" cy="1066800"/>
            </a:xfrm>
            <a:custGeom>
              <a:avLst/>
              <a:gdLst/>
              <a:ahLst/>
              <a:cxnLst/>
              <a:rect l="l" t="t" r="r" b="b"/>
              <a:pathLst>
                <a:path w="7391400" h="1066800">
                  <a:moveTo>
                    <a:pt x="7391400" y="1066800"/>
                  </a:moveTo>
                  <a:lnTo>
                    <a:pt x="0" y="1066800"/>
                  </a:lnTo>
                  <a:lnTo>
                    <a:pt x="0" y="0"/>
                  </a:lnTo>
                  <a:lnTo>
                    <a:pt x="7391400" y="0"/>
                  </a:lnTo>
                  <a:lnTo>
                    <a:pt x="7391400" y="1066800"/>
                  </a:lnTo>
                  <a:close/>
                </a:path>
              </a:pathLst>
            </a:custGeom>
            <a:solidFill>
              <a:srgbClr val="B3BC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7027" y="5710428"/>
              <a:ext cx="7402195" cy="1077595"/>
            </a:xfrm>
            <a:custGeom>
              <a:avLst/>
              <a:gdLst/>
              <a:ahLst/>
              <a:cxnLst/>
              <a:rect l="l" t="t" r="r" b="b"/>
              <a:pathLst>
                <a:path w="7402195" h="1077595">
                  <a:moveTo>
                    <a:pt x="7399020" y="1077468"/>
                  </a:moveTo>
                  <a:lnTo>
                    <a:pt x="3048" y="1077468"/>
                  </a:lnTo>
                  <a:lnTo>
                    <a:pt x="0" y="10744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7399020" y="0"/>
                  </a:lnTo>
                  <a:lnTo>
                    <a:pt x="7402068" y="3048"/>
                  </a:lnTo>
                  <a:lnTo>
                    <a:pt x="74020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1066800"/>
                  </a:lnTo>
                  <a:lnTo>
                    <a:pt x="4572" y="1066800"/>
                  </a:lnTo>
                  <a:lnTo>
                    <a:pt x="10668" y="1071372"/>
                  </a:lnTo>
                  <a:lnTo>
                    <a:pt x="7402068" y="1071372"/>
                  </a:lnTo>
                  <a:lnTo>
                    <a:pt x="7402068" y="1074420"/>
                  </a:lnTo>
                  <a:lnTo>
                    <a:pt x="7399020" y="1077468"/>
                  </a:lnTo>
                  <a:close/>
                </a:path>
                <a:path w="7402195" h="10775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7402195" h="1077595">
                  <a:moveTo>
                    <a:pt x="73914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7391400" y="4572"/>
                  </a:lnTo>
                  <a:lnTo>
                    <a:pt x="7391400" y="10668"/>
                  </a:lnTo>
                  <a:close/>
                </a:path>
                <a:path w="7402195" h="1077595">
                  <a:moveTo>
                    <a:pt x="7391400" y="1071372"/>
                  </a:moveTo>
                  <a:lnTo>
                    <a:pt x="7391400" y="4572"/>
                  </a:lnTo>
                  <a:lnTo>
                    <a:pt x="7395972" y="10668"/>
                  </a:lnTo>
                  <a:lnTo>
                    <a:pt x="7402068" y="10668"/>
                  </a:lnTo>
                  <a:lnTo>
                    <a:pt x="7402068" y="1066800"/>
                  </a:lnTo>
                  <a:lnTo>
                    <a:pt x="7395972" y="1066800"/>
                  </a:lnTo>
                  <a:lnTo>
                    <a:pt x="7391400" y="1071372"/>
                  </a:lnTo>
                  <a:close/>
                </a:path>
                <a:path w="7402195" h="1077595">
                  <a:moveTo>
                    <a:pt x="7402068" y="10668"/>
                  </a:moveTo>
                  <a:lnTo>
                    <a:pt x="7395972" y="10668"/>
                  </a:lnTo>
                  <a:lnTo>
                    <a:pt x="7391400" y="4572"/>
                  </a:lnTo>
                  <a:lnTo>
                    <a:pt x="7402068" y="4572"/>
                  </a:lnTo>
                  <a:lnTo>
                    <a:pt x="7402068" y="10668"/>
                  </a:lnTo>
                  <a:close/>
                </a:path>
                <a:path w="7402195" h="1077595">
                  <a:moveTo>
                    <a:pt x="10668" y="1071372"/>
                  </a:moveTo>
                  <a:lnTo>
                    <a:pt x="4572" y="1066800"/>
                  </a:lnTo>
                  <a:lnTo>
                    <a:pt x="10668" y="1066800"/>
                  </a:lnTo>
                  <a:lnTo>
                    <a:pt x="10668" y="1071372"/>
                  </a:lnTo>
                  <a:close/>
                </a:path>
                <a:path w="7402195" h="1077595">
                  <a:moveTo>
                    <a:pt x="7391400" y="1071372"/>
                  </a:moveTo>
                  <a:lnTo>
                    <a:pt x="10668" y="1071372"/>
                  </a:lnTo>
                  <a:lnTo>
                    <a:pt x="10668" y="1066800"/>
                  </a:lnTo>
                  <a:lnTo>
                    <a:pt x="7391400" y="1066800"/>
                  </a:lnTo>
                  <a:lnTo>
                    <a:pt x="7391400" y="1071372"/>
                  </a:lnTo>
                  <a:close/>
                </a:path>
                <a:path w="7402195" h="1077595">
                  <a:moveTo>
                    <a:pt x="7402068" y="1071372"/>
                  </a:moveTo>
                  <a:lnTo>
                    <a:pt x="7391400" y="1071372"/>
                  </a:lnTo>
                  <a:lnTo>
                    <a:pt x="7395972" y="1066800"/>
                  </a:lnTo>
                  <a:lnTo>
                    <a:pt x="7402068" y="1066800"/>
                  </a:lnTo>
                  <a:lnTo>
                    <a:pt x="7402068" y="1071372"/>
                  </a:lnTo>
                  <a:close/>
                </a:path>
              </a:pathLst>
            </a:custGeom>
            <a:solidFill>
              <a:srgbClr val="6D8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71600" y="5715000"/>
            <a:ext cx="7391400" cy="106680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910"/>
              </a:spcBef>
            </a:pPr>
            <a:r>
              <a:rPr sz="1800" spc="-40" dirty="0">
                <a:latin typeface="Arial MT"/>
                <a:cs typeface="Arial MT"/>
              </a:rPr>
              <a:t>Two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questions:</a:t>
            </a:r>
            <a:endParaRPr sz="1800">
              <a:latin typeface="Arial MT"/>
              <a:cs typeface="Arial MT"/>
            </a:endParaRPr>
          </a:p>
          <a:p>
            <a:pPr marL="280670" indent="-190500">
              <a:lnSpc>
                <a:spcPct val="100000"/>
              </a:lnSpc>
              <a:buSzPct val="94444"/>
              <a:buAutoNum type="arabicPeriod"/>
              <a:tabLst>
                <a:tab pos="281305" algn="l"/>
              </a:tabLst>
            </a:pPr>
            <a:r>
              <a:rPr sz="1800" spc="5" dirty="0">
                <a:latin typeface="Arial MT"/>
                <a:cs typeface="Arial MT"/>
              </a:rPr>
              <a:t>How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fix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our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software?</a:t>
            </a:r>
            <a:endParaRPr sz="1800">
              <a:latin typeface="Arial MT"/>
              <a:cs typeface="Arial MT"/>
            </a:endParaRPr>
          </a:p>
          <a:p>
            <a:pPr marL="280670" indent="-190500">
              <a:lnSpc>
                <a:spcPct val="100000"/>
              </a:lnSpc>
              <a:buSzPct val="94444"/>
              <a:buAutoNum type="arabicPeriod"/>
              <a:tabLst>
                <a:tab pos="281305" algn="l"/>
              </a:tabLst>
            </a:pPr>
            <a:r>
              <a:rPr sz="1800" spc="5" dirty="0">
                <a:latin typeface="Arial MT"/>
                <a:cs typeface="Arial MT"/>
              </a:rPr>
              <a:t>How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we</a:t>
            </a:r>
            <a:r>
              <a:rPr sz="1800" spc="5" dirty="0">
                <a:latin typeface="Arial MT"/>
                <a:cs typeface="Arial MT"/>
              </a:rPr>
              <a:t> know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our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software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</a:t>
            </a:r>
            <a:r>
              <a:rPr sz="1800" spc="-10" dirty="0">
                <a:latin typeface="Arial MT"/>
                <a:cs typeface="Arial MT"/>
              </a:rPr>
              <a:t>“bad”…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works fine!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9048" y="6681413"/>
            <a:ext cx="16224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532" y="587820"/>
            <a:ext cx="261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Refactoring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84532" y="1476210"/>
            <a:ext cx="7682865" cy="1650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Definition: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Refactoring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modifies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software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improve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its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readability, </a:t>
            </a:r>
            <a:r>
              <a:rPr sz="1800" spc="-6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maintainability,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extensibility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without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changing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what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actually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does.</a:t>
            </a:r>
            <a:endParaRPr sz="18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34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-3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038600"/>
            <a:ext cx="8001000" cy="28498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9048" y="6681413"/>
            <a:ext cx="16224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61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Refactoring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276225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Simple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32" y="3102480"/>
            <a:ext cx="7391400" cy="11017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goal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refactoring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NOT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20" dirty="0">
                <a:solidFill>
                  <a:srgbClr val="3F3F3F"/>
                </a:solidFill>
                <a:latin typeface="Verdana"/>
                <a:cs typeface="Verdana"/>
              </a:rPr>
              <a:t>add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new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functionality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goal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GB" spc="-170" smtClean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60" smtClean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refactoring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make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easier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maintain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future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6234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/>
              <a:t>R</a:t>
            </a:r>
            <a:r>
              <a:rPr sz="3600" spc="195" dirty="0"/>
              <a:t>e</a:t>
            </a:r>
            <a:r>
              <a:rPr sz="3600" spc="-155" dirty="0"/>
              <a:t>f</a:t>
            </a:r>
            <a:r>
              <a:rPr sz="3600" spc="280" dirty="0"/>
              <a:t>a</a:t>
            </a:r>
            <a:r>
              <a:rPr sz="3600" spc="459" dirty="0"/>
              <a:t>c</a:t>
            </a:r>
            <a:r>
              <a:rPr sz="3600" spc="-200" dirty="0"/>
              <a:t>t</a:t>
            </a:r>
            <a:r>
              <a:rPr sz="3600" spc="150" dirty="0"/>
              <a:t>o</a:t>
            </a:r>
            <a:r>
              <a:rPr sz="3600" spc="-459" dirty="0"/>
              <a:t>r</a:t>
            </a:r>
            <a:r>
              <a:rPr sz="3600" spc="-275" dirty="0"/>
              <a:t>i</a:t>
            </a:r>
            <a:r>
              <a:rPr sz="3600" spc="-85" dirty="0"/>
              <a:t>n</a:t>
            </a:r>
            <a:r>
              <a:rPr sz="3600" spc="175" dirty="0"/>
              <a:t>g</a:t>
            </a:r>
            <a:r>
              <a:rPr sz="3600" spc="-235" dirty="0"/>
              <a:t> </a:t>
            </a:r>
            <a:r>
              <a:rPr sz="3600" spc="-665" dirty="0"/>
              <a:t>S</a:t>
            </a:r>
            <a:r>
              <a:rPr sz="3600" spc="-275" dirty="0"/>
              <a:t>i</a:t>
            </a:r>
            <a:r>
              <a:rPr sz="3600" spc="-120" dirty="0"/>
              <a:t>m</a:t>
            </a:r>
            <a:r>
              <a:rPr sz="3600" spc="200" dirty="0"/>
              <a:t>p</a:t>
            </a:r>
            <a:r>
              <a:rPr sz="3600" spc="-275" dirty="0"/>
              <a:t>l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375" dirty="0"/>
              <a:t>E</a:t>
            </a:r>
            <a:r>
              <a:rPr sz="3600" spc="-405" dirty="0"/>
              <a:t>x</a:t>
            </a:r>
            <a:r>
              <a:rPr sz="3600" spc="315" dirty="0"/>
              <a:t>a</a:t>
            </a:r>
            <a:r>
              <a:rPr sz="3600" spc="-155" dirty="0"/>
              <a:t>m</a:t>
            </a:r>
            <a:r>
              <a:rPr sz="3600" spc="235" dirty="0"/>
              <a:t>p</a:t>
            </a:r>
            <a:r>
              <a:rPr sz="3600" spc="-275" dirty="0"/>
              <a:t>l</a:t>
            </a:r>
            <a:r>
              <a:rPr sz="3600" spc="195" dirty="0"/>
              <a:t>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041632" y="1842450"/>
            <a:ext cx="6285865" cy="279971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800" spc="1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85"/>
              </a:spcBef>
            </a:pP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Motivation:</a:t>
            </a:r>
            <a:r>
              <a:rPr sz="20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0" dirty="0">
                <a:solidFill>
                  <a:srgbClr val="3F3F3F"/>
                </a:solidFill>
                <a:latin typeface="Verdana"/>
                <a:cs typeface="Verdana"/>
              </a:rPr>
              <a:t>method</a:t>
            </a:r>
            <a:r>
              <a:rPr sz="20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200" dirty="0">
                <a:solidFill>
                  <a:srgbClr val="3F3F3F"/>
                </a:solidFill>
                <a:latin typeface="Verdana"/>
                <a:cs typeface="Verdana"/>
              </a:rPr>
              <a:t>is,</a:t>
            </a:r>
            <a:r>
              <a:rPr sz="2000" i="1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85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05" dirty="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sz="2000" i="1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0" dirty="0">
                <a:solidFill>
                  <a:srgbClr val="3F3F3F"/>
                </a:solidFill>
                <a:latin typeface="Verdana"/>
                <a:cs typeface="Verdana"/>
              </a:rPr>
              <a:t>be,</a:t>
            </a:r>
            <a:r>
              <a:rPr sz="20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8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20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85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20" dirty="0">
                <a:solidFill>
                  <a:srgbClr val="3F3F3F"/>
                </a:solidFill>
                <a:latin typeface="Verdana"/>
                <a:cs typeface="Verdana"/>
              </a:rPr>
              <a:t>used</a:t>
            </a:r>
            <a:r>
              <a:rPr sz="20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dirty="0">
                <a:solidFill>
                  <a:srgbClr val="3F3F3F"/>
                </a:solidFill>
                <a:latin typeface="Verdana"/>
                <a:cs typeface="Verdana"/>
              </a:rPr>
              <a:t>by </a:t>
            </a:r>
            <a:r>
              <a:rPr sz="2000" i="1" spc="-6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7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i="1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i="1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2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25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i="1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i="1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265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2000" i="1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i="1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i="1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265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2000" i="1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35" dirty="0">
                <a:solidFill>
                  <a:srgbClr val="3F3F3F"/>
                </a:solidFill>
                <a:latin typeface="Verdana"/>
                <a:cs typeface="Verdana"/>
              </a:rPr>
              <a:t>n  </a:t>
            </a:r>
            <a:r>
              <a:rPr sz="2000" i="1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i="1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13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ed</a:t>
            </a:r>
            <a:r>
              <a:rPr sz="2000" i="1" spc="-175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4965" marR="122555" indent="-342900">
              <a:lnSpc>
                <a:spcPct val="100000"/>
              </a:lnSpc>
              <a:spcBef>
                <a:spcPts val="1010"/>
              </a:spcBef>
            </a:pP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Technique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: </a:t>
            </a:r>
            <a:r>
              <a:rPr sz="2000" spc="40" dirty="0">
                <a:solidFill>
                  <a:srgbClr val="3F3F3F"/>
                </a:solidFill>
                <a:latin typeface="Verdana"/>
                <a:cs typeface="Verdana"/>
              </a:rPr>
              <a:t>Create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2000" spc="30" dirty="0">
                <a:solidFill>
                  <a:srgbClr val="3F3F3F"/>
                </a:solidFill>
                <a:latin typeface="Verdana"/>
                <a:cs typeface="Verdana"/>
              </a:rPr>
              <a:t>new 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method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similar </a:t>
            </a:r>
            <a:r>
              <a:rPr sz="20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3F3F3F"/>
                </a:solidFill>
                <a:latin typeface="Verdana"/>
                <a:cs typeface="Verdana"/>
              </a:rPr>
              <a:t>body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3F3F3F"/>
                </a:solidFill>
                <a:latin typeface="Verdana"/>
                <a:cs typeface="Verdana"/>
              </a:rPr>
              <a:t>class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uses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most.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Either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turn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old </a:t>
            </a:r>
            <a:r>
              <a:rPr sz="2000" spc="-6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method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into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simple </a:t>
            </a:r>
            <a:r>
              <a:rPr sz="2000" spc="5" dirty="0">
                <a:solidFill>
                  <a:srgbClr val="3F3F3F"/>
                </a:solidFill>
                <a:latin typeface="Verdana"/>
                <a:cs typeface="Verdana"/>
              </a:rPr>
              <a:t>delegation, 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or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remove 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it </a:t>
            </a:r>
            <a:r>
              <a:rPr sz="2000" spc="-6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altogether.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5360" y="4823459"/>
            <a:ext cx="8118475" cy="2019300"/>
            <a:chOff x="975360" y="4823459"/>
            <a:chExt cx="8118475" cy="2019300"/>
          </a:xfrm>
        </p:grpSpPr>
        <p:sp>
          <p:nvSpPr>
            <p:cNvPr id="5" name="object 5"/>
            <p:cNvSpPr/>
            <p:nvPr/>
          </p:nvSpPr>
          <p:spPr>
            <a:xfrm>
              <a:off x="975360" y="4827269"/>
              <a:ext cx="2499360" cy="0"/>
            </a:xfrm>
            <a:custGeom>
              <a:avLst/>
              <a:gdLst/>
              <a:ahLst/>
              <a:cxnLst/>
              <a:rect l="l" t="t" r="r" b="b"/>
              <a:pathLst>
                <a:path w="2499360">
                  <a:moveTo>
                    <a:pt x="0" y="0"/>
                  </a:moveTo>
                  <a:lnTo>
                    <a:pt x="2499359" y="0"/>
                  </a:lnTo>
                </a:path>
              </a:pathLst>
            </a:custGeom>
            <a:ln w="7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3680" y="4823459"/>
              <a:ext cx="2510027" cy="152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5360" y="48348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5360" y="48425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5360" y="48501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5360" y="48577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5360" y="486536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5360" y="48729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5360" y="4880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5360" y="4888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5360" y="4895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5360" y="49034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5360" y="49110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5360" y="49187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360" y="49263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5360" y="49339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5360" y="49415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5360" y="494919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5360" y="495680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5360" y="496442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5360" y="497204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5360" y="497967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5360" y="498729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5360" y="499490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5360" y="500252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5360" y="501014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75360" y="501777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360" y="502539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360" y="503300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5360" y="50406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75360" y="50482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75360" y="50558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75360" y="50634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75360" y="50711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75360" y="50787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75360" y="50863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75360" y="50939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75360" y="51015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75360" y="51092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75360" y="51168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5360" y="51244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80" y="4838700"/>
              <a:ext cx="2510027" cy="33528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75360" y="51320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75360" y="51396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75360" y="51473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75360" y="51549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75360" y="51625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75360" y="5170170"/>
              <a:ext cx="2499360" cy="0"/>
            </a:xfrm>
            <a:custGeom>
              <a:avLst/>
              <a:gdLst/>
              <a:ahLst/>
              <a:cxnLst/>
              <a:rect l="l" t="t" r="r" b="b"/>
              <a:pathLst>
                <a:path w="2499360">
                  <a:moveTo>
                    <a:pt x="0" y="0"/>
                  </a:moveTo>
                  <a:lnTo>
                    <a:pt x="2499359" y="0"/>
                  </a:lnTo>
                </a:path>
              </a:pathLst>
            </a:custGeom>
            <a:ln w="7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75360" y="51777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75360" y="51854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75360" y="51930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5360" y="52006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75360" y="52082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75360" y="52158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5360" y="52235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5360" y="52311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75360" y="52387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75360" y="52463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5360" y="5253990"/>
              <a:ext cx="2499360" cy="0"/>
            </a:xfrm>
            <a:custGeom>
              <a:avLst/>
              <a:gdLst/>
              <a:ahLst/>
              <a:cxnLst/>
              <a:rect l="l" t="t" r="r" b="b"/>
              <a:pathLst>
                <a:path w="2499360">
                  <a:moveTo>
                    <a:pt x="0" y="0"/>
                  </a:moveTo>
                  <a:lnTo>
                    <a:pt x="2499359" y="0"/>
                  </a:lnTo>
                </a:path>
              </a:pathLst>
            </a:custGeom>
            <a:ln w="7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680" y="5173980"/>
              <a:ext cx="2510027" cy="8381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75360" y="5261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75360" y="5269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5360" y="5276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75360" y="52844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75360" y="52920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75360" y="52997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75360" y="53073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75360" y="53149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75360" y="53225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75360" y="53301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75360" y="53378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75360" y="53454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75360" y="53530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75360" y="53606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75360" y="53682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75360" y="53759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75360" y="53835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75360" y="53911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75360" y="53987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75360" y="54063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75360" y="54140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75360" y="54216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75360" y="54292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75360" y="54368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75360" y="54444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75360" y="54521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75360" y="54597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75360" y="54673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75360" y="54749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75360" y="54825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75360" y="54902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75360" y="54978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75360" y="55054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975360" y="55130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75360" y="55206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75360" y="55283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75360" y="55359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75360" y="55435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75360" y="55511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75360" y="55587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75360" y="55664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75360" y="55740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75360" y="55816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75360" y="55892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75360" y="55968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3680" y="5257800"/>
              <a:ext cx="2510027" cy="41148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975360" y="56045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75360" y="56121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75360" y="56197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75360" y="56273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75360" y="56349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75360" y="5642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75360" y="5650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975360" y="5657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75360" y="5665470"/>
              <a:ext cx="4523740" cy="0"/>
            </a:xfrm>
            <a:custGeom>
              <a:avLst/>
              <a:gdLst/>
              <a:ahLst/>
              <a:cxnLst/>
              <a:rect l="l" t="t" r="r" b="b"/>
              <a:pathLst>
                <a:path w="4523740">
                  <a:moveTo>
                    <a:pt x="0" y="0"/>
                  </a:moveTo>
                  <a:lnTo>
                    <a:pt x="4523231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360" y="5669280"/>
              <a:ext cx="5620511" cy="33528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975360" y="60083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975360" y="60159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975360" y="6023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975360" y="6031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75360" y="6038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975360" y="60464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975360" y="60540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975360" y="60617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75360" y="60693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975360" y="60769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75360" y="60845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75360" y="60921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75360" y="60998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75360" y="61074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75360" y="61150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75360" y="6122670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75360" y="6130290"/>
              <a:ext cx="7169150" cy="0"/>
            </a:xfrm>
            <a:custGeom>
              <a:avLst/>
              <a:gdLst/>
              <a:ahLst/>
              <a:cxnLst/>
              <a:rect l="l" t="t" r="r" b="b"/>
              <a:pathLst>
                <a:path w="7169150">
                  <a:moveTo>
                    <a:pt x="0" y="0"/>
                  </a:moveTo>
                  <a:lnTo>
                    <a:pt x="7168895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75360" y="6137909"/>
              <a:ext cx="7181215" cy="0"/>
            </a:xfrm>
            <a:custGeom>
              <a:avLst/>
              <a:gdLst/>
              <a:ahLst/>
              <a:cxnLst/>
              <a:rect l="l" t="t" r="r" b="b"/>
              <a:pathLst>
                <a:path w="7181215">
                  <a:moveTo>
                    <a:pt x="0" y="0"/>
                  </a:moveTo>
                  <a:lnTo>
                    <a:pt x="7181087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75360" y="6145529"/>
              <a:ext cx="7181215" cy="0"/>
            </a:xfrm>
            <a:custGeom>
              <a:avLst/>
              <a:gdLst/>
              <a:ahLst/>
              <a:cxnLst/>
              <a:rect l="l" t="t" r="r" b="b"/>
              <a:pathLst>
                <a:path w="7181215">
                  <a:moveTo>
                    <a:pt x="0" y="0"/>
                  </a:moveTo>
                  <a:lnTo>
                    <a:pt x="7181087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975360" y="6153149"/>
              <a:ext cx="7181215" cy="0"/>
            </a:xfrm>
            <a:custGeom>
              <a:avLst/>
              <a:gdLst/>
              <a:ahLst/>
              <a:cxnLst/>
              <a:rect l="l" t="t" r="r" b="b"/>
              <a:pathLst>
                <a:path w="7181215">
                  <a:moveTo>
                    <a:pt x="0" y="0"/>
                  </a:moveTo>
                  <a:lnTo>
                    <a:pt x="7181087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75360" y="6160770"/>
              <a:ext cx="7169150" cy="0"/>
            </a:xfrm>
            <a:custGeom>
              <a:avLst/>
              <a:gdLst/>
              <a:ahLst/>
              <a:cxnLst/>
              <a:rect l="l" t="t" r="r" b="b"/>
              <a:pathLst>
                <a:path w="7169150">
                  <a:moveTo>
                    <a:pt x="0" y="0"/>
                  </a:moveTo>
                  <a:lnTo>
                    <a:pt x="7168895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975360" y="6168390"/>
              <a:ext cx="7169150" cy="0"/>
            </a:xfrm>
            <a:custGeom>
              <a:avLst/>
              <a:gdLst/>
              <a:ahLst/>
              <a:cxnLst/>
              <a:rect l="l" t="t" r="r" b="b"/>
              <a:pathLst>
                <a:path w="7169150">
                  <a:moveTo>
                    <a:pt x="0" y="0"/>
                  </a:moveTo>
                  <a:lnTo>
                    <a:pt x="7168895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75360" y="6176009"/>
              <a:ext cx="7157084" cy="0"/>
            </a:xfrm>
            <a:custGeom>
              <a:avLst/>
              <a:gdLst/>
              <a:ahLst/>
              <a:cxnLst/>
              <a:rect l="l" t="t" r="r" b="b"/>
              <a:pathLst>
                <a:path w="7157084">
                  <a:moveTo>
                    <a:pt x="0" y="0"/>
                  </a:moveTo>
                  <a:lnTo>
                    <a:pt x="715670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75360" y="6183629"/>
              <a:ext cx="7145020" cy="0"/>
            </a:xfrm>
            <a:custGeom>
              <a:avLst/>
              <a:gdLst/>
              <a:ahLst/>
              <a:cxnLst/>
              <a:rect l="l" t="t" r="r" b="b"/>
              <a:pathLst>
                <a:path w="7145020">
                  <a:moveTo>
                    <a:pt x="0" y="0"/>
                  </a:moveTo>
                  <a:lnTo>
                    <a:pt x="7144511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975360" y="6191249"/>
              <a:ext cx="7132320" cy="0"/>
            </a:xfrm>
            <a:custGeom>
              <a:avLst/>
              <a:gdLst/>
              <a:ahLst/>
              <a:cxnLst/>
              <a:rect l="l" t="t" r="r" b="b"/>
              <a:pathLst>
                <a:path w="713232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975360" y="6198870"/>
              <a:ext cx="7120255" cy="0"/>
            </a:xfrm>
            <a:custGeom>
              <a:avLst/>
              <a:gdLst/>
              <a:ahLst/>
              <a:cxnLst/>
              <a:rect l="l" t="t" r="r" b="b"/>
              <a:pathLst>
                <a:path w="7120255">
                  <a:moveTo>
                    <a:pt x="0" y="0"/>
                  </a:moveTo>
                  <a:lnTo>
                    <a:pt x="7120128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975360" y="6206490"/>
              <a:ext cx="7181215" cy="0"/>
            </a:xfrm>
            <a:custGeom>
              <a:avLst/>
              <a:gdLst/>
              <a:ahLst/>
              <a:cxnLst/>
              <a:rect l="l" t="t" r="r" b="b"/>
              <a:pathLst>
                <a:path w="7181215">
                  <a:moveTo>
                    <a:pt x="0" y="0"/>
                  </a:moveTo>
                  <a:lnTo>
                    <a:pt x="7181087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975360" y="62141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975360" y="62217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975360" y="62293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75360" y="62369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975360" y="62445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975360" y="62522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975360" y="62598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975360" y="62674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975360" y="62750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975360" y="62826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975360" y="62903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3680" y="5996939"/>
              <a:ext cx="2510027" cy="358140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975360" y="62979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975360" y="63055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975360" y="63131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975360" y="63207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975360" y="63284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975360" y="63360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975360" y="6343649"/>
              <a:ext cx="2499360" cy="0"/>
            </a:xfrm>
            <a:custGeom>
              <a:avLst/>
              <a:gdLst/>
              <a:ahLst/>
              <a:cxnLst/>
              <a:rect l="l" t="t" r="r" b="b"/>
              <a:pathLst>
                <a:path w="2499360">
                  <a:moveTo>
                    <a:pt x="0" y="0"/>
                  </a:moveTo>
                  <a:lnTo>
                    <a:pt x="2499359" y="0"/>
                  </a:lnTo>
                </a:path>
              </a:pathLst>
            </a:custGeom>
            <a:ln w="7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975360" y="63512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975360" y="63588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975360" y="63665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975360" y="63741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975360" y="63817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975360" y="63893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975360" y="63969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975360" y="6404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975360" y="6412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975360" y="6419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975360" y="64274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975360" y="643509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975360" y="64427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975360" y="64503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975360" y="64579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75360" y="64655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975360" y="64731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975360" y="64808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975360" y="64884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975360" y="64960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975360" y="65036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975360" y="65112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975360" y="65189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975360" y="65265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975360" y="6534149"/>
              <a:ext cx="6730365" cy="0"/>
            </a:xfrm>
            <a:custGeom>
              <a:avLst/>
              <a:gdLst/>
              <a:ahLst/>
              <a:cxnLst/>
              <a:rect l="l" t="t" r="r" b="b"/>
              <a:pathLst>
                <a:path w="6730365">
                  <a:moveTo>
                    <a:pt x="0" y="0"/>
                  </a:moveTo>
                  <a:lnTo>
                    <a:pt x="672998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975360" y="6541770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0" y="0"/>
                  </a:moveTo>
                  <a:lnTo>
                    <a:pt x="6742176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975360" y="6549389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0" y="0"/>
                  </a:moveTo>
                  <a:lnTo>
                    <a:pt x="6742176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975360" y="6557009"/>
              <a:ext cx="6754495" cy="0"/>
            </a:xfrm>
            <a:custGeom>
              <a:avLst/>
              <a:gdLst/>
              <a:ahLst/>
              <a:cxnLst/>
              <a:rect l="l" t="t" r="r" b="b"/>
              <a:pathLst>
                <a:path w="6754495">
                  <a:moveTo>
                    <a:pt x="0" y="0"/>
                  </a:moveTo>
                  <a:lnTo>
                    <a:pt x="6754367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975360" y="656462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975360" y="657224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975360" y="6579870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975360" y="658748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975360" y="659510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0848" y="6355080"/>
              <a:ext cx="22859" cy="480059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975360" y="660272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975360" y="6610349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975360" y="6617970"/>
              <a:ext cx="6766559" cy="0"/>
            </a:xfrm>
            <a:custGeom>
              <a:avLst/>
              <a:gdLst/>
              <a:ahLst/>
              <a:cxnLst/>
              <a:rect l="l" t="t" r="r" b="b"/>
              <a:pathLst>
                <a:path w="6766559">
                  <a:moveTo>
                    <a:pt x="0" y="0"/>
                  </a:moveTo>
                  <a:lnTo>
                    <a:pt x="6766560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975360" y="6625589"/>
              <a:ext cx="6754495" cy="0"/>
            </a:xfrm>
            <a:custGeom>
              <a:avLst/>
              <a:gdLst/>
              <a:ahLst/>
              <a:cxnLst/>
              <a:rect l="l" t="t" r="r" b="b"/>
              <a:pathLst>
                <a:path w="6754495">
                  <a:moveTo>
                    <a:pt x="0" y="0"/>
                  </a:moveTo>
                  <a:lnTo>
                    <a:pt x="6754367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975360" y="6633209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0" y="0"/>
                  </a:moveTo>
                  <a:lnTo>
                    <a:pt x="6742176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975360" y="6640829"/>
              <a:ext cx="6742430" cy="0"/>
            </a:xfrm>
            <a:custGeom>
              <a:avLst/>
              <a:gdLst/>
              <a:ahLst/>
              <a:cxnLst/>
              <a:rect l="l" t="t" r="r" b="b"/>
              <a:pathLst>
                <a:path w="6742430">
                  <a:moveTo>
                    <a:pt x="0" y="0"/>
                  </a:moveTo>
                  <a:lnTo>
                    <a:pt x="6742176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975360" y="6648449"/>
              <a:ext cx="6730365" cy="0"/>
            </a:xfrm>
            <a:custGeom>
              <a:avLst/>
              <a:gdLst/>
              <a:ahLst/>
              <a:cxnLst/>
              <a:rect l="l" t="t" r="r" b="b"/>
              <a:pathLst>
                <a:path w="6730365">
                  <a:moveTo>
                    <a:pt x="0" y="0"/>
                  </a:moveTo>
                  <a:lnTo>
                    <a:pt x="6729983" y="0"/>
                  </a:lnTo>
                </a:path>
              </a:pathLst>
            </a:custGeom>
            <a:ln w="761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975360" y="66560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975360" y="66636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975360" y="66713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975360" y="66789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975360" y="66865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975360" y="66941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975360" y="67017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975360" y="67094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975360" y="67170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975360" y="67246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975360" y="67322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975360" y="67398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975360" y="67475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975360" y="67551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975360" y="67627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975360" y="67703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975360" y="67779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975360" y="67856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975360" y="67932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975360" y="680084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975360" y="6808470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975360" y="681608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975360" y="682370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975360" y="6831329"/>
              <a:ext cx="5621020" cy="0"/>
            </a:xfrm>
            <a:custGeom>
              <a:avLst/>
              <a:gdLst/>
              <a:ahLst/>
              <a:cxnLst/>
              <a:rect l="l" t="t" r="r" b="b"/>
              <a:pathLst>
                <a:path w="5621020">
                  <a:moveTo>
                    <a:pt x="0" y="0"/>
                  </a:moveTo>
                  <a:lnTo>
                    <a:pt x="5620512" y="0"/>
                  </a:lnTo>
                </a:path>
              </a:pathLst>
            </a:custGeom>
            <a:ln w="761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975360" y="6838949"/>
              <a:ext cx="8095615" cy="0"/>
            </a:xfrm>
            <a:custGeom>
              <a:avLst/>
              <a:gdLst/>
              <a:ahLst/>
              <a:cxnLst/>
              <a:rect l="l" t="t" r="r" b="b"/>
              <a:pathLst>
                <a:path w="8095615">
                  <a:moveTo>
                    <a:pt x="0" y="0"/>
                  </a:moveTo>
                  <a:lnTo>
                    <a:pt x="8095487" y="0"/>
                  </a:lnTo>
                </a:path>
              </a:pathLst>
            </a:custGeom>
            <a:ln w="76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3" name="object 233"/>
          <p:cNvSpPr txBox="1"/>
          <p:nvPr/>
        </p:nvSpPr>
        <p:spPr>
          <a:xfrm>
            <a:off x="2479048" y="6681413"/>
            <a:ext cx="138493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Danger!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1833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/>
              <a:t>D</a:t>
            </a:r>
            <a:r>
              <a:rPr sz="3600" spc="315" dirty="0"/>
              <a:t>a</a:t>
            </a:r>
            <a:r>
              <a:rPr sz="3600" spc="-85" dirty="0"/>
              <a:t>n</a:t>
            </a:r>
            <a:r>
              <a:rPr sz="3600" spc="160" dirty="0"/>
              <a:t>g</a:t>
            </a:r>
            <a:r>
              <a:rPr sz="3600" spc="195" dirty="0"/>
              <a:t>e</a:t>
            </a:r>
            <a:r>
              <a:rPr sz="3600" spc="-459" dirty="0"/>
              <a:t>r</a:t>
            </a:r>
            <a:r>
              <a:rPr sz="3600" spc="-360" dirty="0"/>
              <a:t>!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423025" cy="344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Refactoring </a:t>
            </a:r>
            <a:r>
              <a:rPr sz="1800" spc="105" dirty="0">
                <a:solidFill>
                  <a:srgbClr val="3F3F3F"/>
                </a:solidFill>
                <a:latin typeface="Verdana"/>
                <a:cs typeface="Verdana"/>
              </a:rPr>
              <a:t>CAN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introduce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problems, </a:t>
            </a:r>
            <a:r>
              <a:rPr sz="1800" spc="50" dirty="0">
                <a:solidFill>
                  <a:srgbClr val="3F3F3F"/>
                </a:solidFill>
                <a:latin typeface="Verdana"/>
                <a:cs typeface="Verdana"/>
              </a:rPr>
              <a:t>because </a:t>
            </a:r>
            <a:r>
              <a:rPr sz="1800" spc="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yt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Refactoring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0000"/>
                </a:solidFill>
                <a:latin typeface="Verdana"/>
                <a:cs typeface="Verdana"/>
              </a:rPr>
              <a:t>adds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170" dirty="0">
                <a:solidFill>
                  <a:srgbClr val="FF0000"/>
                </a:solidFill>
                <a:latin typeface="Verdana"/>
                <a:cs typeface="Verdana"/>
              </a:rPr>
              <a:t>risk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600" dirty="0">
              <a:latin typeface="Verdana"/>
              <a:cs typeface="Verdana"/>
            </a:endParaRPr>
          </a:p>
          <a:p>
            <a:pPr marL="756285" marR="5397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’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85" dirty="0">
                <a:solidFill>
                  <a:srgbClr val="FF0000"/>
                </a:solidFill>
                <a:latin typeface="Verdana"/>
                <a:cs typeface="Verdana"/>
              </a:rPr>
              <a:t>x</a:t>
            </a:r>
            <a:r>
              <a:rPr sz="1600" spc="85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20" dirty="0">
                <a:solidFill>
                  <a:srgbClr val="3F3F3F"/>
                </a:solidFill>
                <a:latin typeface="Verdana"/>
                <a:cs typeface="Verdana"/>
              </a:rPr>
              <a:t>–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40" dirty="0">
                <a:solidFill>
                  <a:srgbClr val="3F3F3F"/>
                </a:solidFill>
                <a:latin typeface="Verdana"/>
                <a:cs typeface="Verdana"/>
              </a:rPr>
              <a:t>’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ti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t 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“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ee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35" dirty="0">
                <a:solidFill>
                  <a:srgbClr val="3F3F3F"/>
                </a:solidFill>
                <a:latin typeface="Verdana"/>
                <a:cs typeface="Verdana"/>
              </a:rPr>
              <a:t>”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endParaRPr sz="1600" dirty="0">
              <a:latin typeface="Verdana"/>
              <a:cs typeface="Verdana"/>
            </a:endParaRPr>
          </a:p>
          <a:p>
            <a:pPr marL="756285" marR="2437765">
              <a:lnSpc>
                <a:spcPct val="151900"/>
              </a:lnSpc>
              <a:spcBef>
                <a:spcPts val="10"/>
              </a:spcBef>
            </a:pP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85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?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l 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?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61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?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4111" y="4631436"/>
            <a:ext cx="1847087" cy="24673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9048" y="6681413"/>
            <a:ext cx="153860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Motivation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379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Motivation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294068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07125" cy="260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5019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We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refactor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because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we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understand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getting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 design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right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first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time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hard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get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many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A52F0F"/>
              </a:buClr>
              <a:buFont typeface="Georgia"/>
              <a:buChar char="&gt;"/>
            </a:pPr>
            <a:endParaRPr sz="22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48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7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85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600" spc="-175" dirty="0">
                <a:solidFill>
                  <a:srgbClr val="FF0000"/>
                </a:solidFill>
                <a:latin typeface="Verdana"/>
                <a:cs typeface="Verdana"/>
              </a:rPr>
              <a:t>z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600" spc="-6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6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5" dirty="0">
                <a:solidFill>
                  <a:srgbClr val="FF0000"/>
                </a:solidFill>
                <a:latin typeface="Verdana"/>
                <a:cs typeface="Verdana"/>
              </a:rPr>
              <a:t>Confusing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105" dirty="0">
                <a:solidFill>
                  <a:srgbClr val="FF0000"/>
                </a:solidFill>
                <a:latin typeface="Verdana"/>
                <a:cs typeface="Verdana"/>
              </a:rPr>
              <a:t>code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0000"/>
                </a:solidFill>
                <a:latin typeface="Verdana"/>
                <a:cs typeface="Verdana"/>
              </a:rPr>
              <a:t>restructured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into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simpler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1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endParaRPr sz="16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Both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these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greatly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improve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mainatainability!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Which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1600" spc="-5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0" dirty="0"/>
              <a:t>R</a:t>
            </a:r>
            <a:r>
              <a:rPr spc="210" dirty="0"/>
              <a:t>e</a:t>
            </a:r>
            <a:r>
              <a:rPr spc="-175" dirty="0"/>
              <a:t>f</a:t>
            </a:r>
            <a:r>
              <a:rPr spc="310" dirty="0"/>
              <a:t>a</a:t>
            </a:r>
            <a:r>
              <a:rPr spc="509" dirty="0"/>
              <a:t>c</a:t>
            </a:r>
            <a:r>
              <a:rPr spc="-225" dirty="0"/>
              <a:t>t</a:t>
            </a:r>
            <a:r>
              <a:rPr spc="165" dirty="0"/>
              <a:t>o</a:t>
            </a:r>
            <a:r>
              <a:rPr spc="-515" dirty="0"/>
              <a:t>r</a:t>
            </a:r>
            <a:r>
              <a:rPr spc="-305" dirty="0"/>
              <a:t>i</a:t>
            </a:r>
            <a:r>
              <a:rPr spc="-95" dirty="0"/>
              <a:t>n</a:t>
            </a:r>
            <a:r>
              <a:rPr spc="220" dirty="0"/>
              <a:t>g</a:t>
            </a:r>
            <a:r>
              <a:rPr spc="-715" dirty="0"/>
              <a:t>:</a:t>
            </a:r>
            <a:r>
              <a:rPr spc="-275" dirty="0"/>
              <a:t> </a:t>
            </a:r>
            <a:r>
              <a:rPr spc="440" dirty="0"/>
              <a:t>C</a:t>
            </a:r>
            <a:r>
              <a:rPr spc="204" dirty="0"/>
              <a:t>o</a:t>
            </a:r>
            <a:r>
              <a:rPr spc="-180" dirty="0"/>
              <a:t>m</a:t>
            </a:r>
            <a:r>
              <a:rPr spc="220" dirty="0"/>
              <a:t>p</a:t>
            </a:r>
            <a:r>
              <a:rPr spc="-265" dirty="0"/>
              <a:t>l</a:t>
            </a:r>
            <a:r>
              <a:rPr spc="170" dirty="0"/>
              <a:t>e</a:t>
            </a:r>
            <a:r>
              <a:rPr spc="-450" dirty="0"/>
              <a:t>x</a:t>
            </a:r>
            <a:r>
              <a:rPr spc="-250" dirty="0"/>
              <a:t> </a:t>
            </a:r>
            <a:r>
              <a:rPr spc="-375" dirty="0"/>
              <a:t>E</a:t>
            </a:r>
            <a:r>
              <a:rPr spc="-450" dirty="0"/>
              <a:t>x</a:t>
            </a:r>
            <a:r>
              <a:rPr spc="310" dirty="0"/>
              <a:t>a</a:t>
            </a:r>
            <a:r>
              <a:rPr spc="-140" dirty="0"/>
              <a:t>m</a:t>
            </a:r>
            <a:r>
              <a:rPr spc="220" dirty="0"/>
              <a:t>p</a:t>
            </a:r>
            <a:r>
              <a:rPr spc="-305" dirty="0"/>
              <a:t>l</a:t>
            </a:r>
            <a:r>
              <a:rPr spc="210" dirty="0"/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79048" y="6681413"/>
            <a:ext cx="294068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878900"/>
            <a:ext cx="6463030" cy="127571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800" spc="-3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265" dirty="0">
                <a:solidFill>
                  <a:srgbClr val="3F3F3F"/>
                </a:solidFill>
                <a:latin typeface="Verdana"/>
                <a:cs typeface="Verdana"/>
              </a:rPr>
              <a:t>j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000" i="1" spc="15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-8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i="1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i="1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25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i="1" spc="-45" dirty="0">
                <a:solidFill>
                  <a:srgbClr val="3F3F3F"/>
                </a:solidFill>
                <a:latin typeface="Verdana"/>
                <a:cs typeface="Verdana"/>
              </a:rPr>
              <a:t>Technique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3F3F3F"/>
                </a:solidFill>
                <a:latin typeface="Verdana"/>
                <a:cs typeface="Verdana"/>
              </a:rPr>
              <a:t>Replace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3F3F3F"/>
                </a:solidFill>
                <a:latin typeface="Verdana"/>
                <a:cs typeface="Verdana"/>
              </a:rPr>
              <a:t>null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Verdana"/>
                <a:cs typeface="Verdana"/>
              </a:rPr>
              <a:t>value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3F3F3F"/>
                </a:solidFill>
                <a:latin typeface="Verdana"/>
                <a:cs typeface="Verdana"/>
              </a:rPr>
              <a:t>null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object.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14" y="3175524"/>
            <a:ext cx="5788686" cy="2790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Customer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findCustomer(...);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...</a:t>
            </a:r>
            <a:endParaRPr sz="1800" dirty="0">
              <a:latin typeface="Arial"/>
              <a:cs typeface="Arial"/>
            </a:endParaRPr>
          </a:p>
          <a:p>
            <a:pPr marL="20447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(customer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==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null)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name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“occupant”</a:t>
            </a:r>
            <a:endParaRPr sz="1800" dirty="0">
              <a:latin typeface="Arial"/>
              <a:cs typeface="Arial"/>
            </a:endParaRPr>
          </a:p>
          <a:p>
            <a:pPr marL="20447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}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else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2700" marR="1234440" indent="9144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name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c</a:t>
            </a:r>
            <a:r>
              <a:rPr sz="1800" b="1" spc="15" dirty="0">
                <a:latin typeface="Arial"/>
                <a:cs typeface="Arial"/>
              </a:rPr>
              <a:t>u</a:t>
            </a:r>
            <a:r>
              <a:rPr sz="1800" b="1" spc="-15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t</a:t>
            </a:r>
            <a:r>
              <a:rPr sz="1800" b="1" spc="15" dirty="0">
                <a:latin typeface="Arial"/>
                <a:cs typeface="Arial"/>
              </a:rPr>
              <a:t>o</a:t>
            </a:r>
            <a:r>
              <a:rPr sz="1800" b="1" spc="-20" dirty="0">
                <a:latin typeface="Arial"/>
                <a:cs typeface="Arial"/>
              </a:rPr>
              <a:t>m</a:t>
            </a:r>
            <a:r>
              <a:rPr sz="1800" b="1" spc="5" dirty="0">
                <a:latin typeface="Arial"/>
                <a:cs typeface="Arial"/>
              </a:rPr>
              <a:t>e</a:t>
            </a:r>
            <a:r>
              <a:rPr sz="1800" b="1" spc="-110" dirty="0">
                <a:latin typeface="Arial"/>
                <a:cs typeface="Arial"/>
              </a:rPr>
              <a:t>r</a:t>
            </a:r>
            <a:r>
              <a:rPr sz="1800" b="1" dirty="0">
                <a:latin typeface="Arial"/>
                <a:cs typeface="Arial"/>
              </a:rPr>
              <a:t>.</a:t>
            </a:r>
            <a:r>
              <a:rPr sz="1800" b="1" spc="-5" dirty="0">
                <a:latin typeface="Arial"/>
                <a:cs typeface="Arial"/>
              </a:rPr>
              <a:t>g</a:t>
            </a:r>
            <a:r>
              <a:rPr sz="1800" b="1" spc="5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1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10" dirty="0">
                <a:latin typeface="Arial"/>
                <a:cs typeface="Arial"/>
              </a:rPr>
              <a:t>(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20447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(customer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== null)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0" dirty="0"/>
              <a:t>R</a:t>
            </a:r>
            <a:r>
              <a:rPr spc="210" dirty="0"/>
              <a:t>e</a:t>
            </a:r>
            <a:r>
              <a:rPr spc="-175" dirty="0"/>
              <a:t>f</a:t>
            </a:r>
            <a:r>
              <a:rPr spc="310" dirty="0"/>
              <a:t>a</a:t>
            </a:r>
            <a:r>
              <a:rPr spc="509" dirty="0"/>
              <a:t>c</a:t>
            </a:r>
            <a:r>
              <a:rPr spc="-225" dirty="0"/>
              <a:t>t</a:t>
            </a:r>
            <a:r>
              <a:rPr spc="165" dirty="0"/>
              <a:t>o</a:t>
            </a:r>
            <a:r>
              <a:rPr spc="-515" dirty="0"/>
              <a:t>r</a:t>
            </a:r>
            <a:r>
              <a:rPr spc="-305" dirty="0"/>
              <a:t>i</a:t>
            </a:r>
            <a:r>
              <a:rPr spc="-95" dirty="0"/>
              <a:t>n</a:t>
            </a:r>
            <a:r>
              <a:rPr spc="220" dirty="0"/>
              <a:t>g</a:t>
            </a:r>
            <a:r>
              <a:rPr spc="-715" dirty="0"/>
              <a:t>:</a:t>
            </a:r>
            <a:r>
              <a:rPr spc="-275" dirty="0"/>
              <a:t> </a:t>
            </a:r>
            <a:r>
              <a:rPr spc="440" dirty="0"/>
              <a:t>C</a:t>
            </a:r>
            <a:r>
              <a:rPr spc="204" dirty="0"/>
              <a:t>o</a:t>
            </a:r>
            <a:r>
              <a:rPr spc="-180" dirty="0"/>
              <a:t>m</a:t>
            </a:r>
            <a:r>
              <a:rPr spc="220" dirty="0"/>
              <a:t>p</a:t>
            </a:r>
            <a:r>
              <a:rPr spc="-265" dirty="0"/>
              <a:t>l</a:t>
            </a:r>
            <a:r>
              <a:rPr spc="170" dirty="0"/>
              <a:t>e</a:t>
            </a:r>
            <a:r>
              <a:rPr spc="-450" dirty="0"/>
              <a:t>x</a:t>
            </a:r>
            <a:r>
              <a:rPr spc="-250" dirty="0"/>
              <a:t> </a:t>
            </a:r>
            <a:r>
              <a:rPr spc="-375" dirty="0"/>
              <a:t>E</a:t>
            </a:r>
            <a:r>
              <a:rPr spc="-450" dirty="0"/>
              <a:t>x</a:t>
            </a:r>
            <a:r>
              <a:rPr spc="310" dirty="0"/>
              <a:t>a</a:t>
            </a:r>
            <a:r>
              <a:rPr spc="-140" dirty="0"/>
              <a:t>m</a:t>
            </a:r>
            <a:r>
              <a:rPr spc="220" dirty="0"/>
              <a:t>p</a:t>
            </a:r>
            <a:r>
              <a:rPr spc="-305" dirty="0"/>
              <a:t>l</a:t>
            </a:r>
            <a:r>
              <a:rPr spc="210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32" y="5438637"/>
            <a:ext cx="74758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Completely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eliminated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statement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by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replacing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checks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null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null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object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does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right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thing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“null”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values.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2226492"/>
            <a:ext cx="510476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public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class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NullCustomer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extends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Customer</a:t>
            </a:r>
            <a:r>
              <a:rPr sz="1800" b="1" dirty="0">
                <a:latin typeface="Arial"/>
                <a:cs typeface="Arial"/>
              </a:rPr>
              <a:t> {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926465" marR="2162810" indent="-72263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public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String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getName()</a:t>
            </a:r>
            <a:r>
              <a:rPr sz="1800" b="1" dirty="0">
                <a:latin typeface="Arial"/>
                <a:cs typeface="Arial"/>
              </a:rPr>
              <a:t> {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return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“occupant”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------------------------------------------------------------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12700" marR="192849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Customer </a:t>
            </a:r>
            <a:r>
              <a:rPr sz="1800" b="1" dirty="0">
                <a:latin typeface="Arial"/>
                <a:cs typeface="Arial"/>
              </a:rPr>
              <a:t>c = </a:t>
            </a:r>
            <a:r>
              <a:rPr sz="1800" b="1" spc="-5" dirty="0">
                <a:latin typeface="Arial"/>
                <a:cs typeface="Arial"/>
              </a:rPr>
              <a:t>findCustomer()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</a:t>
            </a:r>
            <a:r>
              <a:rPr sz="1800" b="1" dirty="0">
                <a:latin typeface="Arial"/>
                <a:cs typeface="Arial"/>
              </a:rPr>
              <a:t> =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c.getName()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1900" y="2133600"/>
            <a:ext cx="1905000" cy="29946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79048" y="6681413"/>
            <a:ext cx="50158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 up: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 Example:</a:t>
            </a: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Replace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Conditional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Polymorphism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656" y="590855"/>
            <a:ext cx="74009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70" dirty="0"/>
              <a:t>R</a:t>
            </a:r>
            <a:r>
              <a:rPr sz="2800" spc="145" dirty="0"/>
              <a:t>e</a:t>
            </a:r>
            <a:r>
              <a:rPr sz="2800" spc="-95" dirty="0"/>
              <a:t>f</a:t>
            </a:r>
            <a:r>
              <a:rPr sz="2800" spc="215" dirty="0"/>
              <a:t>a</a:t>
            </a:r>
            <a:r>
              <a:rPr sz="2800" spc="355" dirty="0"/>
              <a:t>c</a:t>
            </a:r>
            <a:r>
              <a:rPr sz="2800" spc="-160" dirty="0"/>
              <a:t>t</a:t>
            </a:r>
            <a:r>
              <a:rPr sz="2800" spc="114" dirty="0"/>
              <a:t>o</a:t>
            </a:r>
            <a:r>
              <a:rPr sz="2800" spc="-360" dirty="0"/>
              <a:t>r</a:t>
            </a:r>
            <a:r>
              <a:rPr sz="2800" spc="-185" dirty="0"/>
              <a:t>i</a:t>
            </a:r>
            <a:r>
              <a:rPr sz="2800" spc="-70" dirty="0"/>
              <a:t>n</a:t>
            </a:r>
            <a:r>
              <a:rPr sz="2800" spc="135" dirty="0"/>
              <a:t>g</a:t>
            </a:r>
            <a:r>
              <a:rPr sz="2800" spc="-185" dirty="0"/>
              <a:t> </a:t>
            </a:r>
            <a:r>
              <a:rPr sz="2800" spc="-265" dirty="0"/>
              <a:t>E</a:t>
            </a:r>
            <a:r>
              <a:rPr sz="2800" spc="-315" dirty="0"/>
              <a:t>x</a:t>
            </a:r>
            <a:r>
              <a:rPr sz="2800" spc="215" dirty="0"/>
              <a:t>a</a:t>
            </a:r>
            <a:r>
              <a:rPr sz="2800" spc="-100" dirty="0"/>
              <a:t>m</a:t>
            </a:r>
            <a:r>
              <a:rPr sz="2800" spc="150" dirty="0"/>
              <a:t>p</a:t>
            </a:r>
            <a:r>
              <a:rPr sz="2800" spc="-215" dirty="0"/>
              <a:t>l</a:t>
            </a:r>
            <a:r>
              <a:rPr sz="2800" spc="145" dirty="0"/>
              <a:t>e</a:t>
            </a:r>
            <a:r>
              <a:rPr sz="2800" spc="-500" dirty="0"/>
              <a:t>:</a:t>
            </a:r>
            <a:r>
              <a:rPr sz="2800" spc="-195" dirty="0"/>
              <a:t> </a:t>
            </a:r>
            <a:r>
              <a:rPr sz="2800" spc="-245" dirty="0"/>
              <a:t>R</a:t>
            </a:r>
            <a:r>
              <a:rPr sz="2800" spc="145" dirty="0"/>
              <a:t>e</a:t>
            </a:r>
            <a:r>
              <a:rPr sz="2800" spc="150" dirty="0"/>
              <a:t>p</a:t>
            </a:r>
            <a:r>
              <a:rPr sz="2800" spc="-215" dirty="0"/>
              <a:t>l</a:t>
            </a:r>
            <a:r>
              <a:rPr sz="2800" spc="215" dirty="0"/>
              <a:t>a</a:t>
            </a:r>
            <a:r>
              <a:rPr sz="2800" spc="355" dirty="0"/>
              <a:t>c</a:t>
            </a:r>
            <a:r>
              <a:rPr sz="2800" spc="145" dirty="0"/>
              <a:t>e</a:t>
            </a:r>
            <a:r>
              <a:rPr sz="2800" spc="-175" dirty="0"/>
              <a:t> </a:t>
            </a:r>
            <a:r>
              <a:rPr sz="2800" spc="305" dirty="0"/>
              <a:t>C</a:t>
            </a:r>
            <a:r>
              <a:rPr sz="2800" spc="140" dirty="0"/>
              <a:t>o</a:t>
            </a:r>
            <a:r>
              <a:rPr sz="2800" spc="-70" dirty="0"/>
              <a:t>n</a:t>
            </a:r>
            <a:r>
              <a:rPr sz="2800" spc="180" dirty="0"/>
              <a:t>d</a:t>
            </a:r>
            <a:r>
              <a:rPr sz="2800" spc="-215" dirty="0"/>
              <a:t>i</a:t>
            </a:r>
            <a:r>
              <a:rPr sz="2800" spc="-160" dirty="0"/>
              <a:t>t</a:t>
            </a:r>
            <a:r>
              <a:rPr sz="2800" spc="-185" dirty="0"/>
              <a:t>i</a:t>
            </a:r>
            <a:r>
              <a:rPr sz="2800" spc="114" dirty="0"/>
              <a:t>o</a:t>
            </a:r>
            <a:r>
              <a:rPr sz="2800" spc="-70" dirty="0"/>
              <a:t>n</a:t>
            </a:r>
            <a:r>
              <a:rPr sz="2800" spc="215" dirty="0"/>
              <a:t>a</a:t>
            </a:r>
            <a:r>
              <a:rPr sz="2800" spc="-250" dirty="0"/>
              <a:t>l  </a:t>
            </a:r>
            <a:r>
              <a:rPr sz="2800" spc="25" dirty="0"/>
              <a:t>w</a:t>
            </a:r>
            <a:r>
              <a:rPr sz="2800" spc="-185" dirty="0"/>
              <a:t>i</a:t>
            </a:r>
            <a:r>
              <a:rPr sz="2800" spc="-160" dirty="0"/>
              <a:t>t</a:t>
            </a:r>
            <a:r>
              <a:rPr sz="2800" spc="-70" dirty="0"/>
              <a:t>h</a:t>
            </a:r>
            <a:r>
              <a:rPr sz="2800" spc="-229" dirty="0"/>
              <a:t> </a:t>
            </a:r>
            <a:r>
              <a:rPr sz="2800" spc="-40" dirty="0"/>
              <a:t>P</a:t>
            </a:r>
            <a:r>
              <a:rPr sz="2800" spc="140" dirty="0"/>
              <a:t>o</a:t>
            </a:r>
            <a:r>
              <a:rPr sz="2800" spc="-215" dirty="0"/>
              <a:t>l</a:t>
            </a:r>
            <a:r>
              <a:rPr sz="2800" spc="-150" dirty="0"/>
              <a:t>y</a:t>
            </a:r>
            <a:r>
              <a:rPr sz="2800" spc="-100" dirty="0"/>
              <a:t>m</a:t>
            </a:r>
            <a:r>
              <a:rPr sz="2800" spc="140" dirty="0"/>
              <a:t>o</a:t>
            </a:r>
            <a:r>
              <a:rPr sz="2800" spc="-360" dirty="0"/>
              <a:t>r</a:t>
            </a:r>
            <a:r>
              <a:rPr sz="2800" spc="150" dirty="0"/>
              <a:t>p</a:t>
            </a:r>
            <a:r>
              <a:rPr sz="2800" spc="-70" dirty="0"/>
              <a:t>h</a:t>
            </a:r>
            <a:r>
              <a:rPr sz="2800" spc="-215" dirty="0"/>
              <a:t>i</a:t>
            </a:r>
            <a:r>
              <a:rPr sz="2800" spc="-370" dirty="0"/>
              <a:t>s</a:t>
            </a:r>
            <a:r>
              <a:rPr sz="2800" spc="-105" dirty="0"/>
              <a:t>m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50158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 up: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Refactoring Example:</a:t>
            </a: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Replace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Conditional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Polymorphism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98" y="2027906"/>
            <a:ext cx="8777605" cy="41751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 marR="902335" indent="-343535">
              <a:lnSpc>
                <a:spcPct val="80000"/>
              </a:lnSpc>
              <a:spcBef>
                <a:spcPts val="550"/>
              </a:spcBef>
            </a:pPr>
            <a:r>
              <a:rPr sz="1900" i="1" spc="-45" dirty="0">
                <a:solidFill>
                  <a:srgbClr val="3F3F3F"/>
                </a:solidFill>
                <a:latin typeface="Verdana"/>
                <a:cs typeface="Verdana"/>
              </a:rPr>
              <a:t>Motivation</a:t>
            </a:r>
            <a:r>
              <a:rPr sz="1900" spc="-4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9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5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30" dirty="0">
                <a:solidFill>
                  <a:srgbClr val="3F3F3F"/>
                </a:solidFill>
                <a:latin typeface="Verdana"/>
                <a:cs typeface="Verdana"/>
              </a:rPr>
              <a:t>have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5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3F3F3F"/>
                </a:solidFill>
                <a:latin typeface="Verdana"/>
                <a:cs typeface="Verdana"/>
              </a:rPr>
              <a:t>conditional</a:t>
            </a:r>
            <a:r>
              <a:rPr sz="1900" i="1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5" dirty="0">
                <a:solidFill>
                  <a:srgbClr val="3F3F3F"/>
                </a:solidFill>
                <a:latin typeface="Verdana"/>
                <a:cs typeface="Verdana"/>
              </a:rPr>
              <a:t>chooses</a:t>
            </a:r>
            <a:r>
              <a:rPr sz="1900" i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40" dirty="0">
                <a:solidFill>
                  <a:srgbClr val="3F3F3F"/>
                </a:solidFill>
                <a:latin typeface="Verdana"/>
                <a:cs typeface="Verdana"/>
              </a:rPr>
              <a:t>different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3F3F3F"/>
                </a:solidFill>
                <a:latin typeface="Verdana"/>
                <a:cs typeface="Verdana"/>
              </a:rPr>
              <a:t>behavior </a:t>
            </a:r>
            <a:r>
              <a:rPr sz="1900" i="1" spc="-6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40" dirty="0">
                <a:solidFill>
                  <a:srgbClr val="3F3F3F"/>
                </a:solidFill>
                <a:latin typeface="Verdana"/>
                <a:cs typeface="Verdana"/>
              </a:rPr>
              <a:t>depending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20" dirty="0">
                <a:solidFill>
                  <a:srgbClr val="3F3F3F"/>
                </a:solidFill>
                <a:latin typeface="Verdana"/>
                <a:cs typeface="Verdana"/>
              </a:rPr>
              <a:t>on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3F3F3F"/>
                </a:solidFill>
                <a:latin typeface="Verdana"/>
                <a:cs typeface="Verdana"/>
              </a:rPr>
              <a:t>type</a:t>
            </a:r>
            <a:r>
              <a:rPr sz="19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4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5" dirty="0">
                <a:solidFill>
                  <a:srgbClr val="3F3F3F"/>
                </a:solidFill>
                <a:latin typeface="Verdana"/>
                <a:cs typeface="Verdana"/>
              </a:rPr>
              <a:t>object.</a:t>
            </a:r>
            <a:endParaRPr sz="1900" dirty="0">
              <a:latin typeface="Verdana"/>
              <a:cs typeface="Verdana"/>
            </a:endParaRPr>
          </a:p>
          <a:p>
            <a:pPr marL="355600" marR="34290" indent="-343535">
              <a:lnSpc>
                <a:spcPts val="1820"/>
              </a:lnSpc>
              <a:spcBef>
                <a:spcPts val="985"/>
              </a:spcBef>
            </a:pPr>
            <a:r>
              <a:rPr sz="1900" i="1" spc="-45" dirty="0">
                <a:solidFill>
                  <a:srgbClr val="3F3F3F"/>
                </a:solidFill>
                <a:latin typeface="Verdana"/>
                <a:cs typeface="Verdana"/>
              </a:rPr>
              <a:t>Technique:</a:t>
            </a:r>
            <a:r>
              <a:rPr sz="19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60" dirty="0">
                <a:solidFill>
                  <a:srgbClr val="3F3F3F"/>
                </a:solidFill>
                <a:latin typeface="Verdana"/>
                <a:cs typeface="Verdana"/>
              </a:rPr>
              <a:t>Move</a:t>
            </a:r>
            <a:r>
              <a:rPr sz="19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05" dirty="0">
                <a:solidFill>
                  <a:srgbClr val="3F3F3F"/>
                </a:solidFill>
                <a:latin typeface="Verdana"/>
                <a:cs typeface="Verdana"/>
              </a:rPr>
              <a:t>each</a:t>
            </a:r>
            <a:r>
              <a:rPr sz="19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3F3F3F"/>
                </a:solidFill>
                <a:latin typeface="Verdana"/>
                <a:cs typeface="Verdana"/>
              </a:rPr>
              <a:t>leg</a:t>
            </a:r>
            <a:r>
              <a:rPr sz="19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9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9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3F3F3F"/>
                </a:solidFill>
                <a:latin typeface="Verdana"/>
                <a:cs typeface="Verdana"/>
              </a:rPr>
              <a:t>conditional</a:t>
            </a:r>
            <a:r>
              <a:rPr sz="19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9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4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9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3F3F3F"/>
                </a:solidFill>
                <a:latin typeface="Verdana"/>
                <a:cs typeface="Verdana"/>
              </a:rPr>
              <a:t>overriding</a:t>
            </a:r>
            <a:r>
              <a:rPr sz="19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3F3F3F"/>
                </a:solidFill>
                <a:latin typeface="Verdana"/>
                <a:cs typeface="Verdana"/>
              </a:rPr>
              <a:t>method</a:t>
            </a:r>
            <a:r>
              <a:rPr sz="19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9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50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900" spc="-6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spc="-6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9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9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900" spc="-15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900" spc="14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spc="-27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spc="-17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9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4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900" spc="16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spc="-18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900" spc="10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9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spc="-5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900" spc="10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9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900" spc="-25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900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spc="8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900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spc="-5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900" spc="14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spc="-14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9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900" spc="10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9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spc="-5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9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9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9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spc="16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9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spc="-25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900" spc="16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9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spc="-17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50" dirty="0">
              <a:latin typeface="Verdana"/>
              <a:cs typeface="Verdana"/>
            </a:endParaRPr>
          </a:p>
          <a:p>
            <a:pPr marL="355600" marR="6158865" indent="-273050">
              <a:lnSpc>
                <a:spcPct val="80000"/>
              </a:lnSpc>
            </a:pP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ee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229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00" dirty="0">
                <a:solidFill>
                  <a:srgbClr val="3F3F3F"/>
                </a:solidFill>
                <a:latin typeface="Verdana"/>
                <a:cs typeface="Verdana"/>
              </a:rPr>
              <a:t>{ 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29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250" dirty="0">
                <a:solidFill>
                  <a:srgbClr val="3F3F3F"/>
                </a:solidFill>
                <a:latin typeface="Verdana"/>
                <a:cs typeface="Verdana"/>
              </a:rPr>
              <a:t>_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00" dirty="0">
                <a:solidFill>
                  <a:srgbClr val="3F3F3F"/>
                </a:solidFill>
                <a:latin typeface="Verdana"/>
                <a:cs typeface="Verdana"/>
              </a:rPr>
              <a:t>{  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2000" dirty="0">
              <a:latin typeface="Verdana"/>
              <a:cs typeface="Verdana"/>
            </a:endParaRPr>
          </a:p>
          <a:p>
            <a:pPr marL="469900" marR="4643755" indent="805815">
              <a:lnSpc>
                <a:spcPct val="80000"/>
              </a:lnSpc>
            </a:pP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23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eed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305" dirty="0">
                <a:solidFill>
                  <a:srgbClr val="3F3F3F"/>
                </a:solidFill>
                <a:latin typeface="Verdana"/>
                <a:cs typeface="Verdana"/>
              </a:rPr>
              <a:t>;  </a:t>
            </a:r>
            <a:r>
              <a:rPr sz="2000" spc="65" dirty="0">
                <a:solidFill>
                  <a:srgbClr val="3F3F3F"/>
                </a:solidFill>
                <a:latin typeface="Verdana"/>
                <a:cs typeface="Verdana"/>
              </a:rPr>
              <a:t>case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AFRICAN:</a:t>
            </a:r>
            <a:endParaRPr sz="2000" dirty="0">
              <a:latin typeface="Verdana"/>
              <a:cs typeface="Verdana"/>
            </a:endParaRPr>
          </a:p>
          <a:p>
            <a:pPr marL="469900" marR="5080" indent="348615">
              <a:lnSpc>
                <a:spcPct val="80000"/>
              </a:lnSpc>
            </a:pP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23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eed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45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9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*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70" dirty="0">
                <a:solidFill>
                  <a:srgbClr val="3F3F3F"/>
                </a:solidFill>
                <a:latin typeface="Verdana"/>
                <a:cs typeface="Verdana"/>
              </a:rPr>
              <a:t>_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24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305" dirty="0">
                <a:solidFill>
                  <a:srgbClr val="3F3F3F"/>
                </a:solidFill>
                <a:latin typeface="Verdana"/>
                <a:cs typeface="Verdana"/>
              </a:rPr>
              <a:t>;  </a:t>
            </a:r>
            <a:r>
              <a:rPr sz="2000" spc="65" dirty="0">
                <a:solidFill>
                  <a:srgbClr val="3F3F3F"/>
                </a:solidFill>
                <a:latin typeface="Verdana"/>
                <a:cs typeface="Verdana"/>
              </a:rPr>
              <a:t>case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NORWEGIAN_BLUE:</a:t>
            </a:r>
            <a:endParaRPr sz="2000" dirty="0">
              <a:latin typeface="Verdana"/>
              <a:cs typeface="Verdana"/>
            </a:endParaRPr>
          </a:p>
          <a:p>
            <a:pPr marL="1263650">
              <a:lnSpc>
                <a:spcPts val="1680"/>
              </a:lnSpc>
            </a:pP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return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(_isNailed)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?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0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3F3F3F"/>
                </a:solidFill>
                <a:latin typeface="Verdana"/>
                <a:cs typeface="Verdana"/>
              </a:rPr>
              <a:t>getBaseSpeed(_voltage);</a:t>
            </a:r>
            <a:endParaRPr sz="2000" dirty="0">
              <a:latin typeface="Verdana"/>
              <a:cs typeface="Verdana"/>
            </a:endParaRPr>
          </a:p>
          <a:p>
            <a:pPr marL="355600">
              <a:lnSpc>
                <a:spcPts val="2160"/>
              </a:lnSpc>
              <a:tabLst>
                <a:tab pos="724535" algn="l"/>
              </a:tabLst>
            </a:pP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}	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2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2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300" dirty="0">
                <a:solidFill>
                  <a:srgbClr val="3F3F3F"/>
                </a:solidFill>
                <a:latin typeface="Verdana"/>
                <a:cs typeface="Verdana"/>
              </a:rPr>
              <a:t>"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12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300" dirty="0">
                <a:solidFill>
                  <a:srgbClr val="3F3F3F"/>
                </a:solidFill>
                <a:latin typeface="Verdana"/>
                <a:cs typeface="Verdana"/>
              </a:rPr>
              <a:t>"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900" spc="-545" dirty="0">
                <a:solidFill>
                  <a:srgbClr val="3F3F3F"/>
                </a:solidFill>
                <a:latin typeface="Verdana"/>
                <a:cs typeface="Verdana"/>
              </a:rPr>
              <a:t>}</a:t>
            </a:r>
            <a:endParaRPr sz="19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656" y="590855"/>
            <a:ext cx="74009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70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2800" spc="14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z="2800" spc="-95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r>
              <a:rPr sz="2800" spc="215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2800" spc="355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z="2800" spc="-16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z="2800" spc="114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2800" spc="-360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2800" spc="-18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2800" spc="-70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2800" spc="135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sz="2800" spc="-18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26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z="2800" spc="-315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sz="2800" spc="215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2800" spc="-100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sz="2800" spc="15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z="2800" spc="-215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sz="2800" spc="14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z="2800" spc="-5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sz="2800" spc="-19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245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2800" spc="14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z="2800" spc="15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z="2800" spc="-215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sz="2800" spc="215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2800" spc="355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z="2800" spc="14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z="2800" spc="-17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305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z="2800" spc="14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2800" spc="-70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2800" spc="180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sz="2800" spc="-21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2800" spc="-16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z="2800" spc="-18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2800" spc="114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2800" spc="-70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z="2800" spc="215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z="2800" spc="-250" dirty="0">
                <a:solidFill>
                  <a:schemeClr val="accent1">
                    <a:lumMod val="50000"/>
                  </a:schemeClr>
                </a:solidFill>
              </a:rPr>
              <a:t>l  </a:t>
            </a:r>
            <a:r>
              <a:rPr sz="2800" spc="25" dirty="0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sz="2800" spc="-18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2800" spc="-16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z="2800" spc="-70" dirty="0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sz="2800" spc="-229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800" spc="-4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z="2800" spc="14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2800" spc="-215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sz="2800" spc="-150" dirty="0">
                <a:solidFill>
                  <a:schemeClr val="accent1">
                    <a:lumMod val="50000"/>
                  </a:schemeClr>
                </a:solidFill>
              </a:rPr>
              <a:t>y</a:t>
            </a:r>
            <a:r>
              <a:rPr sz="2800" spc="-100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sz="2800" spc="14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z="2800" spc="-360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sz="2800" spc="15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z="2800" spc="-70" dirty="0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sz="2800" spc="-21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z="2800" spc="-370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z="2800" spc="-105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endParaRPr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057400"/>
            <a:ext cx="6114287" cy="28331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79048" y="6681413"/>
            <a:ext cx="218313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refactor?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465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W</a:t>
            </a:r>
            <a:r>
              <a:rPr sz="3600" spc="-85" dirty="0"/>
              <a:t>h</a:t>
            </a:r>
            <a:r>
              <a:rPr sz="3600" spc="195" dirty="0"/>
              <a:t>e</a:t>
            </a:r>
            <a:r>
              <a:rPr sz="3600" spc="-85" dirty="0"/>
              <a:t>n</a:t>
            </a:r>
            <a:r>
              <a:rPr sz="3600" spc="-260" dirty="0"/>
              <a:t> </a:t>
            </a:r>
            <a:r>
              <a:rPr sz="3600" spc="200"/>
              <a:t>d</a:t>
            </a:r>
            <a:r>
              <a:rPr lang="en-US" sz="3600" spc="170"/>
              <a:t>o</a:t>
            </a:r>
            <a:r>
              <a:rPr lang="en-US" sz="3600" spc="-240"/>
              <a:t> </a:t>
            </a:r>
            <a:r>
              <a:rPr lang="en-US" sz="3600" spc="-240" dirty="0"/>
              <a:t>R</a:t>
            </a:r>
            <a:r>
              <a:rPr sz="3600" spc="195" dirty="0"/>
              <a:t>e</a:t>
            </a:r>
            <a:r>
              <a:rPr sz="3600" spc="-155" dirty="0"/>
              <a:t>f</a:t>
            </a:r>
            <a:r>
              <a:rPr sz="3600" spc="315" dirty="0"/>
              <a:t>a</a:t>
            </a:r>
            <a:r>
              <a:rPr sz="3600" spc="420" dirty="0"/>
              <a:t>c</a:t>
            </a:r>
            <a:r>
              <a:rPr sz="3600" spc="-200" dirty="0"/>
              <a:t>t</a:t>
            </a:r>
            <a:r>
              <a:rPr sz="3600" spc="185" dirty="0"/>
              <a:t>o</a:t>
            </a:r>
            <a:r>
              <a:rPr sz="3600" spc="-459" dirty="0"/>
              <a:t>r</a:t>
            </a:r>
            <a:r>
              <a:rPr sz="3600" spc="160" dirty="0"/>
              <a:t>?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413500" cy="21056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un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lit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endParaRPr sz="18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9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d 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current </a:t>
            </a:r>
            <a:r>
              <a:rPr sz="1600" spc="110" dirty="0">
                <a:solidFill>
                  <a:srgbClr val="3F3F3F"/>
                </a:solidFill>
                <a:latin typeface="Verdana"/>
                <a:cs typeface="Verdana"/>
              </a:rPr>
              <a:t>code 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“good” 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this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will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help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new </a:t>
            </a:r>
            <a:r>
              <a:rPr sz="1600" spc="110" dirty="0">
                <a:solidFill>
                  <a:srgbClr val="3F3F3F"/>
                </a:solidFill>
                <a:latin typeface="Verdana"/>
                <a:cs typeface="Verdana"/>
              </a:rPr>
              <a:t>code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be </a:t>
            </a:r>
            <a:r>
              <a:rPr sz="1600" spc="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t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6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4782311"/>
            <a:ext cx="3076955" cy="23164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9048" y="6681413"/>
            <a:ext cx="31540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to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refactor?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532" y="587820"/>
            <a:ext cx="7821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65" dirty="0"/>
              <a:t>H</a:t>
            </a:r>
            <a:r>
              <a:rPr sz="3600" spc="185" dirty="0"/>
              <a:t>o</a:t>
            </a:r>
            <a:r>
              <a:rPr sz="3600" spc="45" dirty="0"/>
              <a:t>w</a:t>
            </a:r>
            <a:r>
              <a:rPr sz="3600" spc="-265" dirty="0"/>
              <a:t> </a:t>
            </a:r>
            <a:r>
              <a:rPr sz="3600" spc="200" dirty="0"/>
              <a:t>d</a:t>
            </a:r>
            <a:r>
              <a:rPr sz="3600" spc="170" dirty="0"/>
              <a:t>o</a:t>
            </a:r>
            <a:r>
              <a:rPr lang="en-US" sz="3600" spc="-240" dirty="0"/>
              <a:t>    i</a:t>
            </a:r>
            <a:r>
              <a:rPr sz="3600" spc="235" dirty="0"/>
              <a:t>d</a:t>
            </a:r>
            <a:r>
              <a:rPr sz="3600" spc="195" dirty="0"/>
              <a:t>e</a:t>
            </a:r>
            <a:r>
              <a:rPr sz="3600" spc="-85" dirty="0"/>
              <a:t>n</a:t>
            </a:r>
            <a:r>
              <a:rPr sz="3600" spc="-200" dirty="0"/>
              <a:t>t</a:t>
            </a:r>
            <a:r>
              <a:rPr sz="3600" spc="-275" dirty="0"/>
              <a:t>i</a:t>
            </a:r>
            <a:r>
              <a:rPr sz="3600" spc="-155" dirty="0"/>
              <a:t>f</a:t>
            </a:r>
            <a:r>
              <a:rPr sz="3600" spc="-204" dirty="0"/>
              <a:t>y</a:t>
            </a:r>
            <a:r>
              <a:rPr sz="3600" spc="-280" dirty="0"/>
              <a:t> </a:t>
            </a:r>
            <a:r>
              <a:rPr sz="3600" spc="459" dirty="0"/>
              <a:t>c</a:t>
            </a:r>
            <a:r>
              <a:rPr sz="3600" spc="150" dirty="0"/>
              <a:t>o</a:t>
            </a:r>
            <a:r>
              <a:rPr sz="3600" spc="235" dirty="0"/>
              <a:t>d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200" dirty="0"/>
              <a:t>t</a:t>
            </a:r>
            <a:r>
              <a:rPr sz="3600" spc="170" dirty="0"/>
              <a:t>o</a:t>
            </a:r>
            <a:r>
              <a:rPr sz="3600" spc="-275" dirty="0"/>
              <a:t> </a:t>
            </a:r>
            <a:r>
              <a:rPr sz="3600" spc="-459" dirty="0"/>
              <a:t>r</a:t>
            </a:r>
            <a:r>
              <a:rPr sz="3600" spc="195" dirty="0"/>
              <a:t>e</a:t>
            </a:r>
            <a:r>
              <a:rPr sz="3600" spc="-155" dirty="0"/>
              <a:t>f</a:t>
            </a:r>
            <a:r>
              <a:rPr sz="3600" spc="315" dirty="0"/>
              <a:t>a</a:t>
            </a:r>
            <a:r>
              <a:rPr sz="3600" spc="420" dirty="0"/>
              <a:t>c</a:t>
            </a:r>
            <a:r>
              <a:rPr sz="3600" spc="-200" dirty="0"/>
              <a:t>t</a:t>
            </a:r>
            <a:r>
              <a:rPr sz="3600" spc="185" dirty="0"/>
              <a:t>o</a:t>
            </a:r>
            <a:r>
              <a:rPr sz="3600" spc="-459" dirty="0"/>
              <a:t>r</a:t>
            </a:r>
            <a:r>
              <a:rPr sz="3600" spc="160" dirty="0"/>
              <a:t>?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447800" y="1961515"/>
            <a:ext cx="6245860" cy="192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5176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Martin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Fowler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uses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“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code</a:t>
            </a:r>
            <a:r>
              <a:rPr sz="18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smells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”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identify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when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refactor.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ll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t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t  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li</a:t>
            </a:r>
            <a:r>
              <a:rPr sz="1800" spc="-170" dirty="0">
                <a:solidFill>
                  <a:srgbClr val="FF0000"/>
                </a:solidFill>
                <a:latin typeface="Verdana"/>
                <a:cs typeface="Verdana"/>
              </a:rPr>
              <a:t>k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4965" marR="254635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Many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3F3F3F"/>
                </a:solidFill>
                <a:latin typeface="Verdana"/>
                <a:cs typeface="Verdana"/>
              </a:rPr>
              <a:t>people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have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tied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smells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specific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6740" y="5376671"/>
            <a:ext cx="3381756" cy="14813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9048" y="6681413"/>
            <a:ext cx="17049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Code Smells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74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95" dirty="0"/>
              <a:t>C</a:t>
            </a:r>
            <a:r>
              <a:rPr sz="3600" spc="185" dirty="0"/>
              <a:t>o</a:t>
            </a:r>
            <a:r>
              <a:rPr sz="3600" spc="200" dirty="0"/>
              <a:t>d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665" dirty="0"/>
              <a:t>S</a:t>
            </a:r>
            <a:r>
              <a:rPr sz="3600" spc="-155" dirty="0"/>
              <a:t>m</a:t>
            </a:r>
            <a:r>
              <a:rPr sz="3600" spc="195" dirty="0"/>
              <a:t>e</a:t>
            </a:r>
            <a:r>
              <a:rPr sz="3600" spc="-275" dirty="0"/>
              <a:t>ll</a:t>
            </a:r>
            <a:r>
              <a:rPr sz="3600" spc="-48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17049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Code Smells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142990" cy="269049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Duplicated</a:t>
            </a: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90" dirty="0">
                <a:solidFill>
                  <a:srgbClr val="3F3F3F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55" dirty="0">
                <a:solidFill>
                  <a:srgbClr val="3F3F3F"/>
                </a:solidFill>
                <a:latin typeface="Tahoma"/>
                <a:cs typeface="Tahoma"/>
              </a:rPr>
              <a:t>bad </a:t>
            </a: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because </a:t>
            </a:r>
            <a:r>
              <a:rPr sz="1600" b="1" spc="-135" dirty="0">
                <a:solidFill>
                  <a:srgbClr val="3F3F3F"/>
                </a:solidFill>
                <a:latin typeface="Tahoma"/>
                <a:cs typeface="Tahoma"/>
              </a:rPr>
              <a:t>if 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you </a:t>
            </a: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modify 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one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instance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of 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duplicated </a:t>
            </a:r>
            <a:r>
              <a:rPr sz="1600" b="1" spc="-4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75" dirty="0">
                <a:solidFill>
                  <a:srgbClr val="3F3F3F"/>
                </a:solidFill>
                <a:latin typeface="Tahoma"/>
                <a:cs typeface="Tahoma"/>
              </a:rPr>
              <a:t>code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but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not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the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others, 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you </a:t>
            </a:r>
            <a:r>
              <a:rPr sz="1600" b="1" spc="-35" dirty="0">
                <a:solidFill>
                  <a:srgbClr val="3F3F3F"/>
                </a:solidFill>
                <a:latin typeface="Tahoma"/>
                <a:cs typeface="Tahoma"/>
              </a:rPr>
              <a:t>(may) 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have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introduced </a:t>
            </a:r>
            <a:r>
              <a:rPr sz="1600" b="1" spc="95" dirty="0">
                <a:solidFill>
                  <a:srgbClr val="3F3F3F"/>
                </a:solidFill>
                <a:latin typeface="Tahoma"/>
                <a:cs typeface="Tahoma"/>
              </a:rPr>
              <a:t>a </a:t>
            </a:r>
            <a:r>
              <a:rPr sz="1600" b="1" spc="10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bug!</a:t>
            </a:r>
            <a:endParaRPr sz="1600">
              <a:latin typeface="Tahoma"/>
              <a:cs typeface="Tahoma"/>
            </a:endParaRPr>
          </a:p>
          <a:p>
            <a:pPr marL="355600" indent="-342900" algn="just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long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methods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are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more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3F3F3F"/>
                </a:solidFill>
                <a:latin typeface="Tahoma"/>
                <a:cs typeface="Tahoma"/>
              </a:rPr>
              <a:t>difﬁcult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understand</a:t>
            </a:r>
            <a:endParaRPr sz="1600">
              <a:latin typeface="Tahoma"/>
              <a:cs typeface="Tahoma"/>
            </a:endParaRPr>
          </a:p>
          <a:p>
            <a:pPr marL="756285" marR="461009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performance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concerns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30" dirty="0">
                <a:solidFill>
                  <a:srgbClr val="3F3F3F"/>
                </a:solidFill>
                <a:latin typeface="Tahoma"/>
                <a:cs typeface="Tahoma"/>
              </a:rPr>
              <a:t>with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respect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95" dirty="0">
                <a:solidFill>
                  <a:srgbClr val="3F3F3F"/>
                </a:solidFill>
                <a:latin typeface="Tahoma"/>
                <a:cs typeface="Tahoma"/>
              </a:rPr>
              <a:t>lots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3F3F3F"/>
                </a:solidFill>
                <a:latin typeface="Tahoma"/>
                <a:cs typeface="Tahoma"/>
              </a:rPr>
              <a:t>short </a:t>
            </a:r>
            <a:r>
              <a:rPr sz="1600" b="1" spc="-4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methods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are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largely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obsolete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74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95" dirty="0"/>
              <a:t>C</a:t>
            </a:r>
            <a:r>
              <a:rPr sz="3600" spc="185" dirty="0"/>
              <a:t>o</a:t>
            </a:r>
            <a:r>
              <a:rPr sz="3600" spc="200" dirty="0"/>
              <a:t>d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665" dirty="0"/>
              <a:t>S</a:t>
            </a:r>
            <a:r>
              <a:rPr sz="3600" spc="-155" dirty="0"/>
              <a:t>m</a:t>
            </a:r>
            <a:r>
              <a:rPr sz="3600" spc="195" dirty="0"/>
              <a:t>e</a:t>
            </a:r>
            <a:r>
              <a:rPr sz="3600" spc="-275" dirty="0"/>
              <a:t>ll</a:t>
            </a:r>
            <a:r>
              <a:rPr sz="3600" spc="-48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17049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Code Smells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223635" cy="284734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Large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Class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classes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try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do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too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much,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which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reduces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cohesion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Long </a:t>
            </a: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Parameter</a:t>
            </a:r>
            <a:r>
              <a:rPr sz="18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75" dirty="0">
                <a:solidFill>
                  <a:srgbClr val="3F3F3F"/>
                </a:solidFill>
                <a:latin typeface="Tahoma"/>
                <a:cs typeface="Tahoma"/>
              </a:rPr>
              <a:t>List</a:t>
            </a:r>
            <a:endParaRPr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30" dirty="0">
                <a:solidFill>
                  <a:srgbClr val="FF0000"/>
                </a:solidFill>
                <a:latin typeface="Tahoma"/>
                <a:cs typeface="Tahoma"/>
              </a:rPr>
              <a:t>hard </a:t>
            </a:r>
            <a:r>
              <a:rPr sz="1600" b="1" spc="-8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600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FF0000"/>
                </a:solidFill>
                <a:latin typeface="Tahoma"/>
                <a:cs typeface="Tahoma"/>
              </a:rPr>
              <a:t>understand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,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65" dirty="0">
                <a:solidFill>
                  <a:srgbClr val="3F3F3F"/>
                </a:solidFill>
                <a:latin typeface="Tahoma"/>
                <a:cs typeface="Tahoma"/>
              </a:rPr>
              <a:t>can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55" dirty="0">
                <a:solidFill>
                  <a:srgbClr val="3F3F3F"/>
                </a:solidFill>
                <a:latin typeface="Tahoma"/>
                <a:cs typeface="Tahoma"/>
              </a:rPr>
              <a:t>become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inconsistent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65" dirty="0">
                <a:solidFill>
                  <a:srgbClr val="3F3F3F"/>
                </a:solidFill>
                <a:latin typeface="Tahoma"/>
                <a:cs typeface="Tahoma"/>
              </a:rPr>
              <a:t>Divergent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3F3F3F"/>
                </a:solidFill>
                <a:latin typeface="Tahoma"/>
                <a:cs typeface="Tahoma"/>
              </a:rPr>
              <a:t>Change</a:t>
            </a:r>
            <a:endParaRPr sz="1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997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Related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cohesion: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3F3F3F"/>
                </a:solidFill>
                <a:latin typeface="Tahoma"/>
                <a:cs typeface="Tahoma"/>
              </a:rPr>
              <a:t>symptom: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5" dirty="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sz="1600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type </a:t>
            </a:r>
            <a:r>
              <a:rPr sz="1600" b="1" spc="-7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600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Tahoma"/>
                <a:cs typeface="Tahoma"/>
              </a:rPr>
              <a:t>change </a:t>
            </a:r>
            <a:r>
              <a:rPr sz="1600" b="1" spc="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FF0000"/>
                </a:solidFill>
                <a:latin typeface="Tahoma"/>
                <a:cs typeface="Tahoma"/>
              </a:rPr>
              <a:t>requires</a:t>
            </a:r>
            <a:r>
              <a:rPr sz="1600" b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5" dirty="0">
                <a:solidFill>
                  <a:srgbClr val="FF0000"/>
                </a:solidFill>
                <a:latin typeface="Tahoma"/>
                <a:cs typeface="Tahoma"/>
              </a:rPr>
              <a:t>changing</a:t>
            </a:r>
            <a:r>
              <a:rPr sz="1600" b="1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FF0000"/>
                </a:solidFill>
                <a:latin typeface="Tahoma"/>
                <a:cs typeface="Tahoma"/>
              </a:rPr>
              <a:t>subset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FF0000"/>
                </a:solidFill>
                <a:latin typeface="Tahoma"/>
                <a:cs typeface="Tahoma"/>
              </a:rPr>
              <a:t>methods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;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another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type </a:t>
            </a:r>
            <a:r>
              <a:rPr sz="1600" b="1" spc="-4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40" dirty="0">
                <a:solidFill>
                  <a:srgbClr val="3F3F3F"/>
                </a:solidFill>
                <a:latin typeface="Tahoma"/>
                <a:cs typeface="Tahoma"/>
              </a:rPr>
              <a:t>change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3F3F3F"/>
                </a:solidFill>
                <a:latin typeface="Tahoma"/>
                <a:cs typeface="Tahoma"/>
              </a:rPr>
              <a:t>requires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changing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another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subset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74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95" dirty="0"/>
              <a:t>C</a:t>
            </a:r>
            <a:r>
              <a:rPr sz="3600" spc="185" dirty="0"/>
              <a:t>o</a:t>
            </a:r>
            <a:r>
              <a:rPr sz="3600" spc="200" dirty="0"/>
              <a:t>d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665" dirty="0"/>
              <a:t>S</a:t>
            </a:r>
            <a:r>
              <a:rPr sz="3600" spc="-155" dirty="0"/>
              <a:t>m</a:t>
            </a:r>
            <a:r>
              <a:rPr sz="3600" spc="195" dirty="0"/>
              <a:t>e</a:t>
            </a:r>
            <a:r>
              <a:rPr sz="3600" spc="-275" dirty="0"/>
              <a:t>ll</a:t>
            </a:r>
            <a:r>
              <a:rPr sz="3600" spc="-48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17049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Code Smells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32" y="1941614"/>
            <a:ext cx="7401559" cy="293560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2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120" dirty="0">
                <a:solidFill>
                  <a:srgbClr val="3F3F3F"/>
                </a:solidFill>
                <a:latin typeface="Tahoma"/>
                <a:cs typeface="Tahoma"/>
              </a:rPr>
              <a:t>z</a:t>
            </a:r>
            <a:r>
              <a:rPr sz="1800" b="1" spc="5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200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ss</a:t>
            </a:r>
            <a:endParaRPr sz="1800" dirty="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8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70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600" b="1" spc="9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110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600" b="1" spc="9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600" b="1" spc="30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600" b="1" spc="40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600" b="1" spc="6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600" b="1" spc="-185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“</a:t>
            </a:r>
            <a:r>
              <a:rPr sz="1600" b="1" spc="60" dirty="0">
                <a:solidFill>
                  <a:srgbClr val="3F3F3F"/>
                </a:solidFill>
                <a:latin typeface="Tahoma"/>
                <a:cs typeface="Tahoma"/>
              </a:rPr>
              <a:t>p</a:t>
            </a:r>
            <a:r>
              <a:rPr sz="1600" b="1" spc="9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50" dirty="0">
                <a:solidFill>
                  <a:srgbClr val="3F3F3F"/>
                </a:solidFill>
                <a:latin typeface="Tahoma"/>
                <a:cs typeface="Tahoma"/>
              </a:rPr>
              <a:t>w</a:t>
            </a:r>
            <a:r>
              <a:rPr sz="1600" b="1" spc="9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”</a:t>
            </a:r>
            <a:endParaRPr sz="1600" dirty="0">
              <a:latin typeface="Tahoma"/>
              <a:cs typeface="Tahoma"/>
            </a:endParaRPr>
          </a:p>
          <a:p>
            <a:pPr marL="1155700" marR="330200" lvl="2" indent="-228600">
              <a:lnSpc>
                <a:spcPts val="1510"/>
              </a:lnSpc>
              <a:spcBef>
                <a:spcPts val="1030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b="1" dirty="0">
                <a:solidFill>
                  <a:srgbClr val="3F3F3F"/>
                </a:solidFill>
                <a:latin typeface="Tahoma"/>
                <a:cs typeface="Tahoma"/>
              </a:rPr>
              <a:t>e.g.</a:t>
            </a:r>
            <a:r>
              <a:rPr sz="14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25" dirty="0">
                <a:solidFill>
                  <a:srgbClr val="3F3F3F"/>
                </a:solidFill>
                <a:latin typeface="Tahoma"/>
                <a:cs typeface="Tahoma"/>
              </a:rPr>
              <a:t>may</a:t>
            </a:r>
            <a:r>
              <a:rPr sz="14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3F3F3F"/>
                </a:solidFill>
                <a:latin typeface="Tahoma"/>
                <a:cs typeface="Tahoma"/>
              </a:rPr>
              <a:t>be</a:t>
            </a:r>
            <a:r>
              <a:rPr sz="14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8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15" dirty="0">
                <a:solidFill>
                  <a:srgbClr val="3F3F3F"/>
                </a:solidFill>
                <a:latin typeface="Tahoma"/>
                <a:cs typeface="Tahoma"/>
              </a:rPr>
              <a:t>class </a:t>
            </a:r>
            <a:r>
              <a:rPr sz="1400" b="1" spc="-80" dirty="0">
                <a:solidFill>
                  <a:srgbClr val="3F3F3F"/>
                </a:solidFill>
                <a:latin typeface="Tahoma"/>
                <a:cs typeface="Tahoma"/>
              </a:rPr>
              <a:t>that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3F3F3F"/>
                </a:solidFill>
                <a:latin typeface="Tahoma"/>
                <a:cs typeface="Tahoma"/>
              </a:rPr>
              <a:t>was</a:t>
            </a:r>
            <a:r>
              <a:rPr sz="14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FF0000"/>
                </a:solidFill>
                <a:latin typeface="Tahoma"/>
                <a:cs typeface="Tahoma"/>
              </a:rPr>
              <a:t>downsized</a:t>
            </a:r>
            <a:r>
              <a:rPr sz="14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15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400" b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85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4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0000"/>
                </a:solidFill>
                <a:latin typeface="Tahoma"/>
                <a:cs typeface="Tahoma"/>
              </a:rPr>
              <a:t>previous</a:t>
            </a:r>
            <a:r>
              <a:rPr sz="1400" b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0000"/>
                </a:solidFill>
                <a:latin typeface="Tahoma"/>
                <a:cs typeface="Tahoma"/>
              </a:rPr>
              <a:t>refactoring</a:t>
            </a:r>
            <a:r>
              <a:rPr sz="1400" b="1" spc="-40" dirty="0">
                <a:solidFill>
                  <a:srgbClr val="3F3F3F"/>
                </a:solidFill>
                <a:latin typeface="Tahoma"/>
                <a:cs typeface="Tahoma"/>
              </a:rPr>
              <a:t>,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3F3F3F"/>
                </a:solidFill>
                <a:latin typeface="Tahoma"/>
                <a:cs typeface="Tahoma"/>
              </a:rPr>
              <a:t>or </a:t>
            </a:r>
            <a:r>
              <a:rPr sz="1400" b="1" spc="-39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3F3F3F"/>
                </a:solidFill>
                <a:latin typeface="Tahoma"/>
                <a:cs typeface="Tahoma"/>
              </a:rPr>
              <a:t>represented</a:t>
            </a:r>
            <a:r>
              <a:rPr sz="14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F3F3F"/>
                </a:solidFill>
                <a:latin typeface="Tahoma"/>
                <a:cs typeface="Tahoma"/>
              </a:rPr>
              <a:t>planned</a:t>
            </a:r>
            <a:r>
              <a:rPr sz="14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3F3F3F"/>
                </a:solidFill>
                <a:latin typeface="Tahoma"/>
                <a:cs typeface="Tahoma"/>
              </a:rPr>
              <a:t>functionality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3F3F3F"/>
                </a:solidFill>
                <a:latin typeface="Tahoma"/>
                <a:cs typeface="Tahoma"/>
              </a:rPr>
              <a:t>that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5" dirty="0">
                <a:solidFill>
                  <a:srgbClr val="3F3F3F"/>
                </a:solidFill>
                <a:latin typeface="Tahoma"/>
                <a:cs typeface="Tahoma"/>
              </a:rPr>
              <a:t>did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3F3F3F"/>
                </a:solidFill>
                <a:latin typeface="Tahoma"/>
                <a:cs typeface="Tahoma"/>
              </a:rPr>
              <a:t>not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20" dirty="0">
                <a:solidFill>
                  <a:srgbClr val="3F3F3F"/>
                </a:solidFill>
                <a:latin typeface="Tahoma"/>
                <a:cs typeface="Tahoma"/>
              </a:rPr>
              <a:t>pan</a:t>
            </a:r>
            <a:r>
              <a:rPr sz="14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3F3F3F"/>
                </a:solidFill>
                <a:latin typeface="Tahoma"/>
                <a:cs typeface="Tahoma"/>
              </a:rPr>
              <a:t>out</a:t>
            </a:r>
            <a:endParaRPr sz="1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Speculative</a:t>
            </a:r>
            <a:r>
              <a:rPr sz="1800" b="1" spc="-4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Generality</a:t>
            </a:r>
            <a:endParaRPr sz="1800" dirty="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“Oh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30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600" b="1" spc="-29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95" dirty="0">
                <a:solidFill>
                  <a:srgbClr val="3F3F3F"/>
                </a:solidFill>
                <a:latin typeface="Tahoma"/>
                <a:cs typeface="Tahoma"/>
              </a:rPr>
              <a:t>think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we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need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FF0000"/>
                </a:solidFill>
                <a:latin typeface="Tahoma"/>
                <a:cs typeface="Tahoma"/>
              </a:rPr>
              <a:t>ability</a:t>
            </a:r>
            <a:r>
              <a:rPr sz="1600" b="1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600" b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35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1600" b="1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120" dirty="0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FF0000"/>
                </a:solidFill>
                <a:latin typeface="Tahoma"/>
                <a:cs typeface="Tahoma"/>
              </a:rPr>
              <a:t>kind</a:t>
            </a:r>
            <a:r>
              <a:rPr sz="1600" b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600" b="1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FF0000"/>
                </a:solidFill>
                <a:latin typeface="Tahoma"/>
                <a:cs typeface="Tahoma"/>
              </a:rPr>
              <a:t>thing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FF0000"/>
                </a:solidFill>
                <a:latin typeface="Tahoma"/>
                <a:cs typeface="Tahoma"/>
              </a:rPr>
              <a:t>someday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”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Temporary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Field</a:t>
            </a:r>
            <a:endParaRPr sz="1800" dirty="0">
              <a:latin typeface="Tahoma"/>
              <a:cs typeface="Tahoma"/>
            </a:endParaRPr>
          </a:p>
          <a:p>
            <a:pPr marL="756285" marR="5080" lvl="1" indent="-287020">
              <a:lnSpc>
                <a:spcPts val="1730"/>
              </a:lnSpc>
              <a:spcBef>
                <a:spcPts val="10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An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FF0000"/>
                </a:solidFill>
                <a:latin typeface="Tahoma"/>
                <a:cs typeface="Tahoma"/>
              </a:rPr>
              <a:t>attribute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an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object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FF0000"/>
                </a:solidFill>
                <a:latin typeface="Tahoma"/>
                <a:cs typeface="Tahoma"/>
              </a:rPr>
              <a:t>only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FF0000"/>
                </a:solidFill>
                <a:latin typeface="Tahoma"/>
                <a:cs typeface="Tahoma"/>
              </a:rPr>
              <a:t>set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FF0000"/>
                </a:solidFill>
                <a:latin typeface="Tahoma"/>
                <a:cs typeface="Tahoma"/>
              </a:rPr>
              <a:t>certain</a:t>
            </a:r>
            <a:r>
              <a:rPr sz="1600" b="1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Tahoma"/>
                <a:cs typeface="Tahoma"/>
              </a:rPr>
              <a:t>circumstances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;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but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an </a:t>
            </a:r>
            <a:r>
              <a:rPr sz="1600" b="1" spc="-4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b</a:t>
            </a:r>
            <a:r>
              <a:rPr sz="1600" b="1" spc="-170" dirty="0">
                <a:solidFill>
                  <a:srgbClr val="3F3F3F"/>
                </a:solidFill>
                <a:latin typeface="Tahoma"/>
                <a:cs typeface="Tahoma"/>
              </a:rPr>
              <a:t>j</a:t>
            </a:r>
            <a:r>
              <a:rPr sz="1600" b="1" spc="6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600" b="1" spc="170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600" b="1" spc="-9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600" b="1" spc="4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600" b="1" spc="65" dirty="0">
                <a:solidFill>
                  <a:srgbClr val="3F3F3F"/>
                </a:solidFill>
                <a:latin typeface="Tahoma"/>
                <a:cs typeface="Tahoma"/>
              </a:rPr>
              <a:t>ee</a:t>
            </a:r>
            <a:r>
              <a:rPr sz="1600" b="1" spc="4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1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ll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600" b="1" spc="-170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90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tt</a:t>
            </a:r>
            <a:r>
              <a:rPr sz="1600" b="1" spc="-185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600" b="1" spc="55" dirty="0">
                <a:solidFill>
                  <a:srgbClr val="3F3F3F"/>
                </a:solidFill>
                <a:latin typeface="Tahoma"/>
                <a:cs typeface="Tahoma"/>
              </a:rPr>
              <a:t>b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600" b="1" spc="-19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600" b="1" spc="6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600" b="1" spc="-12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74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95" dirty="0"/>
              <a:t>C</a:t>
            </a:r>
            <a:r>
              <a:rPr sz="3600" spc="185" dirty="0"/>
              <a:t>o</a:t>
            </a:r>
            <a:r>
              <a:rPr sz="3600" spc="200" dirty="0"/>
              <a:t>d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665" dirty="0"/>
              <a:t>S</a:t>
            </a:r>
            <a:r>
              <a:rPr sz="3600" spc="-155" dirty="0"/>
              <a:t>m</a:t>
            </a:r>
            <a:r>
              <a:rPr sz="3600" spc="195" dirty="0"/>
              <a:t>e</a:t>
            </a:r>
            <a:r>
              <a:rPr sz="3600" spc="-275" dirty="0"/>
              <a:t>ll</a:t>
            </a:r>
            <a:r>
              <a:rPr sz="3600" spc="-48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479048" y="6681413"/>
            <a:ext cx="245046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Many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smells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32" y="1941614"/>
            <a:ext cx="7602220" cy="3310254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2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Data</a:t>
            </a:r>
            <a:r>
              <a:rPr sz="1800" b="1" spc="-7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Class</a:t>
            </a:r>
            <a:endParaRPr sz="1800" dirty="0">
              <a:latin typeface="Tahoma"/>
              <a:cs typeface="Tahoma"/>
            </a:endParaRPr>
          </a:p>
          <a:p>
            <a:pPr marL="756285" marR="10795" lvl="1" indent="-287020">
              <a:lnSpc>
                <a:spcPts val="1730"/>
              </a:lnSpc>
              <a:spcBef>
                <a:spcPts val="102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These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are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classes </a:t>
            </a:r>
            <a:r>
              <a:rPr sz="1600" b="1" spc="-90" dirty="0">
                <a:solidFill>
                  <a:srgbClr val="3F3F3F"/>
                </a:solidFill>
                <a:latin typeface="Tahoma"/>
                <a:cs typeface="Tahoma"/>
              </a:rPr>
              <a:t>that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have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ﬁelds,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3F3F3F"/>
                </a:solidFill>
                <a:latin typeface="Tahoma"/>
                <a:cs typeface="Tahoma"/>
              </a:rPr>
              <a:t>getting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setting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methods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3F3F3F"/>
                </a:solidFill>
                <a:latin typeface="Tahoma"/>
                <a:cs typeface="Tahoma"/>
              </a:rPr>
              <a:t>for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the </a:t>
            </a:r>
            <a:r>
              <a:rPr sz="1600" b="1" spc="-4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3F3F3F"/>
                </a:solidFill>
                <a:latin typeface="Tahoma"/>
                <a:cs typeface="Tahoma"/>
              </a:rPr>
              <a:t>ﬁelds,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3F3F3F"/>
                </a:solidFill>
                <a:latin typeface="Tahoma"/>
                <a:cs typeface="Tahoma"/>
              </a:rPr>
              <a:t>nothing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else;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they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are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data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holders,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but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objects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should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3F3F3F"/>
                </a:solidFill>
                <a:latin typeface="Tahoma"/>
                <a:cs typeface="Tahoma"/>
              </a:rPr>
              <a:t>be </a:t>
            </a:r>
            <a:r>
              <a:rPr sz="1600" b="1" spc="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about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data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behavior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70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lang="en-US" b="1" spc="-200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q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endParaRPr sz="1800" dirty="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8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FF0000"/>
                </a:solidFill>
                <a:latin typeface="Tahoma"/>
                <a:cs typeface="Tahoma"/>
              </a:rPr>
              <a:t>subclass</a:t>
            </a:r>
            <a:r>
              <a:rPr sz="1600" b="1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FF0000"/>
                </a:solidFill>
                <a:latin typeface="Tahoma"/>
                <a:cs typeface="Tahoma"/>
              </a:rPr>
              <a:t>ignores</a:t>
            </a:r>
            <a:r>
              <a:rPr sz="1600" b="1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FF0000"/>
                </a:solidFill>
                <a:latin typeface="Tahoma"/>
                <a:cs typeface="Tahoma"/>
              </a:rPr>
              <a:t>most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600" b="1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6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FF0000"/>
                </a:solidFill>
                <a:latin typeface="Tahoma"/>
                <a:cs typeface="Tahoma"/>
              </a:rPr>
              <a:t>functionality</a:t>
            </a:r>
            <a:r>
              <a:rPr sz="1600" b="1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provided</a:t>
            </a:r>
            <a:r>
              <a:rPr sz="1600" b="1" spc="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by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40" dirty="0">
                <a:solidFill>
                  <a:srgbClr val="3F3F3F"/>
                </a:solidFill>
                <a:latin typeface="Tahoma"/>
                <a:cs typeface="Tahoma"/>
              </a:rPr>
              <a:t>its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FF0000"/>
                </a:solidFill>
                <a:latin typeface="Tahoma"/>
                <a:cs typeface="Tahoma"/>
              </a:rPr>
              <a:t>superclass</a:t>
            </a:r>
            <a:endParaRPr sz="16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40" dirty="0">
                <a:solidFill>
                  <a:srgbClr val="3F3F3F"/>
                </a:solidFill>
                <a:latin typeface="Tahoma"/>
                <a:cs typeface="Tahoma"/>
              </a:rPr>
              <a:t>Subclass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may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not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pass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“IS-A”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test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0" dirty="0">
                <a:solidFill>
                  <a:srgbClr val="3F3F3F"/>
                </a:solidFill>
                <a:latin typeface="Tahoma"/>
                <a:cs typeface="Tahoma"/>
              </a:rPr>
              <a:t>Comments</a:t>
            </a:r>
            <a:r>
              <a:rPr sz="1800" b="1" spc="-10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3F3F3F"/>
                </a:solidFill>
                <a:latin typeface="Tahoma"/>
                <a:cs typeface="Tahoma"/>
              </a:rPr>
              <a:t>(!)</a:t>
            </a:r>
            <a:endParaRPr sz="1800" dirty="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Comments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are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sometimes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used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ahoma"/>
                <a:cs typeface="Tahoma"/>
              </a:rPr>
              <a:t>hide</a:t>
            </a:r>
            <a:r>
              <a:rPr sz="1600" b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55" dirty="0">
                <a:solidFill>
                  <a:srgbClr val="FF0000"/>
                </a:solidFill>
                <a:latin typeface="Tahoma"/>
                <a:cs typeface="Tahoma"/>
              </a:rPr>
              <a:t>bad</a:t>
            </a:r>
            <a:r>
              <a:rPr sz="1600" b="1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b="1" spc="80" dirty="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6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155700" lvl="2" indent="-229235">
              <a:lnSpc>
                <a:spcPct val="100000"/>
              </a:lnSpc>
              <a:spcBef>
                <a:spcPts val="840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b="1" spc="-15" dirty="0">
                <a:solidFill>
                  <a:srgbClr val="3F3F3F"/>
                </a:solidFill>
                <a:latin typeface="Tahoma"/>
                <a:cs typeface="Tahoma"/>
              </a:rPr>
              <a:t>“…comments</a:t>
            </a:r>
            <a:r>
              <a:rPr sz="14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3F3F3F"/>
                </a:solidFill>
                <a:latin typeface="Tahoma"/>
                <a:cs typeface="Tahoma"/>
              </a:rPr>
              <a:t>often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F3F3F"/>
                </a:solidFill>
                <a:latin typeface="Tahoma"/>
                <a:cs typeface="Tahoma"/>
              </a:rPr>
              <a:t>are</a:t>
            </a:r>
            <a:r>
              <a:rPr sz="1400" b="1" spc="-15" dirty="0">
                <a:solidFill>
                  <a:srgbClr val="3F3F3F"/>
                </a:solidFill>
                <a:latin typeface="Tahoma"/>
                <a:cs typeface="Tahoma"/>
              </a:rPr>
              <a:t> used</a:t>
            </a:r>
            <a:r>
              <a:rPr sz="14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F3F3F"/>
                </a:solidFill>
                <a:latin typeface="Tahoma"/>
                <a:cs typeface="Tahoma"/>
              </a:rPr>
              <a:t>as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8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4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15" dirty="0">
                <a:solidFill>
                  <a:srgbClr val="3F3F3F"/>
                </a:solidFill>
                <a:latin typeface="Tahoma"/>
                <a:cs typeface="Tahoma"/>
              </a:rPr>
              <a:t>deodorant”</a:t>
            </a:r>
            <a:r>
              <a:rPr sz="14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3F3F3F"/>
                </a:solidFill>
                <a:latin typeface="Tahoma"/>
                <a:cs typeface="Tahoma"/>
              </a:rPr>
              <a:t>(!)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16" y="811730"/>
            <a:ext cx="8950960" cy="578612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4965" marR="1840864" indent="-342900">
              <a:lnSpc>
                <a:spcPts val="1730"/>
              </a:lnSpc>
              <a:spcBef>
                <a:spcPts val="515"/>
              </a:spcBef>
            </a:pP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10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-1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LL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X</a:t>
            </a:r>
            <a:r>
              <a:rPr sz="1800" b="1" spc="9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10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-180" dirty="0">
                <a:solidFill>
                  <a:srgbClr val="3F3F3F"/>
                </a:solidFill>
                <a:latin typeface="Tahoma"/>
                <a:cs typeface="Tahoma"/>
              </a:rPr>
              <a:t>P</a:t>
            </a: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-1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50" dirty="0">
                <a:solidFill>
                  <a:srgbClr val="3F3F3F"/>
                </a:solidFill>
                <a:latin typeface="Tahoma"/>
                <a:cs typeface="Tahoma"/>
              </a:rPr>
              <a:t>–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80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65" dirty="0">
                <a:solidFill>
                  <a:srgbClr val="3F3F3F"/>
                </a:solidFill>
                <a:latin typeface="Tahoma"/>
                <a:cs typeface="Tahoma"/>
              </a:rPr>
              <a:t>w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195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ll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p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80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e 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Duplicated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90" dirty="0">
                <a:solidFill>
                  <a:srgbClr val="3F3F3F"/>
                </a:solidFill>
                <a:latin typeface="Tahoma"/>
                <a:cs typeface="Tahoma"/>
              </a:rPr>
              <a:t>Code</a:t>
            </a:r>
            <a:endParaRPr sz="1800" dirty="0">
              <a:latin typeface="Tahoma"/>
              <a:cs typeface="Tahoma"/>
            </a:endParaRPr>
          </a:p>
          <a:p>
            <a:pPr marL="354965" marR="7135495">
              <a:lnSpc>
                <a:spcPct val="80000"/>
              </a:lnSpc>
              <a:spcBef>
                <a:spcPts val="10"/>
              </a:spcBef>
            </a:pP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od  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Large</a:t>
            </a:r>
            <a:r>
              <a:rPr sz="1800" b="1" spc="-6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Class</a:t>
            </a:r>
            <a:endParaRPr sz="1800" dirty="0">
              <a:latin typeface="Tahoma"/>
              <a:cs typeface="Tahoma"/>
            </a:endParaRPr>
          </a:p>
          <a:p>
            <a:pPr marL="354965">
              <a:lnSpc>
                <a:spcPts val="1730"/>
              </a:lnSpc>
            </a:pP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Long </a:t>
            </a: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Parameter</a:t>
            </a:r>
            <a:r>
              <a:rPr sz="18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75" dirty="0">
                <a:solidFill>
                  <a:srgbClr val="3F3F3F"/>
                </a:solidFill>
                <a:latin typeface="Tahoma"/>
                <a:cs typeface="Tahoma"/>
              </a:rPr>
              <a:t>List</a:t>
            </a:r>
            <a:endParaRPr sz="1800" dirty="0">
              <a:latin typeface="Tahoma"/>
              <a:cs typeface="Tahoma"/>
            </a:endParaRPr>
          </a:p>
          <a:p>
            <a:pPr marL="354965" marR="257175">
              <a:lnSpc>
                <a:spcPct val="80000"/>
              </a:lnSpc>
              <a:spcBef>
                <a:spcPts val="1730"/>
              </a:spcBef>
            </a:pPr>
            <a:r>
              <a:rPr sz="1800" b="1" spc="-65" dirty="0">
                <a:solidFill>
                  <a:srgbClr val="3F3F3F"/>
                </a:solidFill>
                <a:latin typeface="Tahoma"/>
                <a:cs typeface="Tahoma"/>
              </a:rPr>
              <a:t>Divergent </a:t>
            </a:r>
            <a:r>
              <a:rPr sz="1800" b="1" spc="5" dirty="0">
                <a:solidFill>
                  <a:srgbClr val="3F3F3F"/>
                </a:solidFill>
                <a:latin typeface="Tahoma"/>
                <a:cs typeface="Tahoma"/>
              </a:rPr>
              <a:t>Change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-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Related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cohesion: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symptom: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one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type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change </a:t>
            </a:r>
            <a:r>
              <a:rPr sz="1800" spc="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requires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changing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one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subset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methods;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another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type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change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requires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changing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another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subset</a:t>
            </a:r>
            <a:endParaRPr sz="1800" dirty="0">
              <a:latin typeface="Verdana"/>
              <a:cs typeface="Verdana"/>
            </a:endParaRPr>
          </a:p>
          <a:p>
            <a:pPr marL="354965" marR="211454" algn="just">
              <a:lnSpc>
                <a:spcPct val="80000"/>
              </a:lnSpc>
              <a:spcBef>
                <a:spcPts val="1730"/>
              </a:spcBef>
            </a:pP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Data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Class </a:t>
            </a:r>
            <a:r>
              <a:rPr sz="1800" spc="-220" dirty="0">
                <a:solidFill>
                  <a:srgbClr val="3F3F3F"/>
                </a:solidFill>
                <a:latin typeface="Verdana"/>
                <a:cs typeface="Verdana"/>
              </a:rPr>
              <a:t>-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These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classes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have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ﬁelds,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getting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setting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methods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ﬁelds,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nothing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else;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they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data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holders,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but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objects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should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be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about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data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behavior</a:t>
            </a:r>
            <a:endParaRPr sz="1800" dirty="0">
              <a:latin typeface="Verdana"/>
              <a:cs typeface="Verdana"/>
            </a:endParaRPr>
          </a:p>
          <a:p>
            <a:pPr marL="354965" marR="138430" algn="just">
              <a:lnSpc>
                <a:spcPct val="80000"/>
              </a:lnSpc>
              <a:spcBef>
                <a:spcPts val="1725"/>
              </a:spcBef>
            </a:pPr>
            <a:r>
              <a:rPr sz="1800" b="1" spc="-27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85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-8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-135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75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55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-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lang="en-US" b="1" spc="-200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50">
                <a:solidFill>
                  <a:srgbClr val="3F3F3F"/>
                </a:solidFill>
                <a:latin typeface="Tahoma"/>
                <a:cs typeface="Tahoma"/>
              </a:rPr>
              <a:t>q</a:t>
            </a:r>
            <a:r>
              <a:rPr sz="1800" b="1" spc="-8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75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35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1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-45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spc="-22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un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lit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s 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superclass</a:t>
            </a:r>
            <a:endParaRPr sz="1800" dirty="0">
              <a:latin typeface="Verdana"/>
              <a:cs typeface="Verdana"/>
            </a:endParaRPr>
          </a:p>
          <a:p>
            <a:pPr marL="354965" algn="just">
              <a:lnSpc>
                <a:spcPct val="100000"/>
              </a:lnSpc>
              <a:spcBef>
                <a:spcPts val="1300"/>
              </a:spcBef>
            </a:pPr>
            <a:r>
              <a:rPr sz="1800" b="1" spc="-20" dirty="0">
                <a:solidFill>
                  <a:srgbClr val="3F3F3F"/>
                </a:solidFill>
                <a:latin typeface="Tahoma"/>
                <a:cs typeface="Tahoma"/>
              </a:rPr>
              <a:t>Comments</a:t>
            </a: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3F3F3F"/>
                </a:solidFill>
                <a:latin typeface="Tahoma"/>
                <a:cs typeface="Tahoma"/>
              </a:rPr>
              <a:t>(!)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spc="-22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Comments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sometimes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used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hide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bad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endParaRPr sz="1800" dirty="0">
              <a:latin typeface="Verdana"/>
              <a:cs typeface="Verdana"/>
            </a:endParaRPr>
          </a:p>
          <a:p>
            <a:pPr marL="354965" algn="just">
              <a:lnSpc>
                <a:spcPct val="100000"/>
              </a:lnSpc>
              <a:spcBef>
                <a:spcPts val="1295"/>
              </a:spcBef>
            </a:pPr>
            <a:r>
              <a:rPr sz="1800" b="1" spc="-240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120" dirty="0">
                <a:solidFill>
                  <a:srgbClr val="3F3F3F"/>
                </a:solidFill>
                <a:latin typeface="Tahoma"/>
                <a:cs typeface="Tahoma"/>
              </a:rPr>
              <a:t>z</a:t>
            </a:r>
            <a:r>
              <a:rPr sz="1800" b="1" spc="5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200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-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“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”</a:t>
            </a:r>
            <a:endParaRPr sz="1800" dirty="0">
              <a:latin typeface="Verdana"/>
              <a:cs typeface="Verdana"/>
            </a:endParaRPr>
          </a:p>
          <a:p>
            <a:pPr marL="354965" marR="5080" algn="just">
              <a:lnSpc>
                <a:spcPct val="80000"/>
              </a:lnSpc>
              <a:spcBef>
                <a:spcPts val="1725"/>
              </a:spcBef>
            </a:pP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Speculative</a:t>
            </a:r>
            <a:r>
              <a:rPr sz="18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Generality</a:t>
            </a:r>
            <a:r>
              <a:rPr sz="18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spc="-22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3F3F3F"/>
                </a:solidFill>
                <a:latin typeface="Verdana"/>
                <a:cs typeface="Verdana"/>
              </a:rPr>
              <a:t>“Oh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think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3F3F3F"/>
                </a:solidFill>
                <a:latin typeface="Verdana"/>
                <a:cs typeface="Verdana"/>
              </a:rPr>
              <a:t>we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need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ability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do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this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kind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thing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someday”</a:t>
            </a:r>
            <a:endParaRPr sz="1800" dirty="0">
              <a:latin typeface="Verdana"/>
              <a:cs typeface="Verdana"/>
            </a:endParaRPr>
          </a:p>
          <a:p>
            <a:pPr marL="354965" marR="1654810">
              <a:lnSpc>
                <a:spcPct val="80000"/>
              </a:lnSpc>
              <a:spcBef>
                <a:spcPts val="1730"/>
              </a:spcBef>
            </a:pP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Temporary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Field</a:t>
            </a:r>
            <a:r>
              <a:rPr sz="18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-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attribute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object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only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set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certain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circumstances;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but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object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should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need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all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its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attributes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3423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W</a:t>
            </a:r>
            <a:r>
              <a:rPr sz="3600" spc="-85" dirty="0"/>
              <a:t>h</a:t>
            </a:r>
            <a:r>
              <a:rPr sz="3600" spc="-204" dirty="0"/>
              <a:t>y</a:t>
            </a:r>
            <a:r>
              <a:rPr sz="3600" spc="-280" dirty="0"/>
              <a:t> </a:t>
            </a:r>
            <a:r>
              <a:rPr sz="3600" spc="-85" dirty="0"/>
              <a:t>u</a:t>
            </a:r>
            <a:r>
              <a:rPr sz="3600" spc="-475" dirty="0"/>
              <a:t>s</a:t>
            </a:r>
            <a:r>
              <a:rPr sz="3600" spc="195" dirty="0"/>
              <a:t>e</a:t>
            </a:r>
            <a:r>
              <a:rPr sz="3600" spc="-260" dirty="0"/>
              <a:t> </a:t>
            </a:r>
            <a:r>
              <a:rPr sz="3600" spc="-200" dirty="0"/>
              <a:t>t</a:t>
            </a:r>
            <a:r>
              <a:rPr sz="3600" spc="-85" dirty="0"/>
              <a:t>h</a:t>
            </a:r>
            <a:r>
              <a:rPr sz="3600" spc="195" dirty="0"/>
              <a:t>e</a:t>
            </a:r>
            <a:r>
              <a:rPr sz="3600" spc="-155" dirty="0"/>
              <a:t>m</a:t>
            </a:r>
            <a:r>
              <a:rPr sz="3600" spc="160" dirty="0"/>
              <a:t>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54750" cy="247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20" dirty="0">
                <a:solidFill>
                  <a:srgbClr val="FF0000"/>
                </a:solidFill>
                <a:latin typeface="Verdana"/>
                <a:cs typeface="Verdana"/>
              </a:rPr>
              <a:t>Code 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smells </a:t>
            </a:r>
            <a:r>
              <a:rPr sz="1800" spc="65" dirty="0">
                <a:solidFill>
                  <a:srgbClr val="FF0000"/>
                </a:solidFill>
                <a:latin typeface="Verdana"/>
                <a:cs typeface="Verdana"/>
              </a:rPr>
              <a:t>and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refactoring </a:t>
            </a:r>
            <a:r>
              <a:rPr sz="1800" dirty="0">
                <a:solidFill>
                  <a:srgbClr val="FF0000"/>
                </a:solidFill>
                <a:latin typeface="Verdana"/>
                <a:cs typeface="Verdana"/>
              </a:rPr>
              <a:t>are </a:t>
            </a:r>
            <a:r>
              <a:rPr sz="1800" spc="-15" dirty="0">
                <a:solidFill>
                  <a:srgbClr val="FF0000"/>
                </a:solidFill>
                <a:latin typeface="Verdana"/>
                <a:cs typeface="Verdana"/>
              </a:rPr>
              <a:t>techniques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help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discover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problems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design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implementation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pp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A52F0F"/>
              </a:buClr>
              <a:buFont typeface="Georgia"/>
              <a:buChar char="&gt;"/>
            </a:pPr>
            <a:endParaRPr sz="2200" dirty="0">
              <a:latin typeface="Verdana"/>
              <a:cs typeface="Verdana"/>
            </a:endParaRPr>
          </a:p>
          <a:p>
            <a:pPr marL="354965" marR="27305" indent="-342900">
              <a:lnSpc>
                <a:spcPct val="100000"/>
              </a:lnSpc>
              <a:spcBef>
                <a:spcPts val="147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Should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they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used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all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time?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should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always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think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about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them,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but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only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apply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them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when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they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325" dirty="0">
                <a:solidFill>
                  <a:srgbClr val="3F3F3F"/>
                </a:solidFill>
                <a:latin typeface="Verdana"/>
                <a:cs typeface="Verdana"/>
              </a:rPr>
              <a:t>…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200" dirty="0">
                <a:solidFill>
                  <a:srgbClr val="3F3F3F"/>
                </a:solidFill>
                <a:latin typeface="Verdana"/>
                <a:cs typeface="Verdana"/>
              </a:rPr>
              <a:t>… 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9048" y="6666977"/>
            <a:ext cx="17583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Adding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safety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3123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00" dirty="0"/>
              <a:t>A</a:t>
            </a:r>
            <a:r>
              <a:rPr sz="3600" spc="235" dirty="0"/>
              <a:t>d</a:t>
            </a:r>
            <a:r>
              <a:rPr sz="3600" spc="200" dirty="0"/>
              <a:t>d</a:t>
            </a:r>
            <a:r>
              <a:rPr sz="3600" spc="-275" dirty="0"/>
              <a:t>i</a:t>
            </a:r>
            <a:r>
              <a:rPr sz="3600" spc="-85" dirty="0"/>
              <a:t>n</a:t>
            </a:r>
            <a:r>
              <a:rPr sz="3600" spc="175" dirty="0"/>
              <a:t>g</a:t>
            </a:r>
            <a:r>
              <a:rPr sz="3600" spc="-270" dirty="0"/>
              <a:t> </a:t>
            </a:r>
            <a:r>
              <a:rPr sz="3600" spc="-475" dirty="0"/>
              <a:t>s</a:t>
            </a:r>
            <a:r>
              <a:rPr sz="3600" spc="280" dirty="0"/>
              <a:t>a</a:t>
            </a:r>
            <a:r>
              <a:rPr sz="3600" spc="-155" dirty="0"/>
              <a:t>f</a:t>
            </a:r>
            <a:r>
              <a:rPr sz="3600" spc="195" dirty="0"/>
              <a:t>e</a:t>
            </a:r>
            <a:r>
              <a:rPr sz="3600" spc="-200" dirty="0"/>
              <a:t>t</a:t>
            </a:r>
            <a:r>
              <a:rPr sz="3600" spc="-204" dirty="0"/>
              <a:t>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396355" cy="315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2639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Remember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making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these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changes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invites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some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6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254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65" dirty="0">
                <a:solidFill>
                  <a:srgbClr val="FF0000"/>
                </a:solidFill>
                <a:latin typeface="Verdana"/>
                <a:cs typeface="Verdana"/>
              </a:rPr>
              <a:t>k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marR="874394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mu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00" spc="120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tl</a:t>
            </a:r>
            <a:r>
              <a:rPr sz="1600" spc="-95" dirty="0">
                <a:solidFill>
                  <a:srgbClr val="FF0000"/>
                </a:solidFill>
                <a:latin typeface="Verdana"/>
                <a:cs typeface="Verdana"/>
              </a:rPr>
              <a:t>y </a:t>
            </a:r>
            <a:r>
              <a:rPr sz="1600" spc="-220" dirty="0">
                <a:solidFill>
                  <a:srgbClr val="3F3F3F"/>
                </a:solidFill>
                <a:latin typeface="Verdana"/>
                <a:cs typeface="Verdana"/>
              </a:rPr>
              <a:t>–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s 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wherever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possible</a:t>
            </a:r>
            <a:endParaRPr sz="16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5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7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6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600" spc="180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600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6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tt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20" dirty="0">
                <a:solidFill>
                  <a:srgbClr val="3F3F3F"/>
                </a:solidFill>
                <a:latin typeface="Verdana"/>
                <a:cs typeface="Verdana"/>
              </a:rPr>
              <a:t>–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’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285" dirty="0">
                <a:solidFill>
                  <a:srgbClr val="3F3F3F"/>
                </a:solidFill>
                <a:latin typeface="Verdana"/>
                <a:cs typeface="Verdana"/>
              </a:rPr>
              <a:t>…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 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endParaRPr sz="1600" dirty="0">
              <a:latin typeface="Verdana"/>
              <a:cs typeface="Verdana"/>
            </a:endParaRPr>
          </a:p>
          <a:p>
            <a:pPr marL="1155700" marR="125095" lvl="2" indent="-11563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u="sng" spc="-20" dirty="0">
                <a:solidFill>
                  <a:srgbClr val="FB4918"/>
                </a:solidFill>
                <a:uFill>
                  <a:solidFill>
                    <a:srgbClr val="FB4918"/>
                  </a:solidFill>
                </a:uFill>
                <a:latin typeface="Verdana"/>
                <a:cs typeface="Verdana"/>
                <a:hlinkClick r:id="rId2"/>
              </a:rPr>
              <a:t>http://www.refactoring.com/catalog/index.html</a:t>
            </a:r>
            <a:endParaRPr sz="1400" dirty="0">
              <a:latin typeface="Verdana"/>
              <a:cs typeface="Verdana"/>
            </a:endParaRPr>
          </a:p>
          <a:p>
            <a:pPr marL="756285" marR="609600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95" dirty="0">
                <a:solidFill>
                  <a:srgbClr val="FF0000"/>
                </a:solidFill>
                <a:latin typeface="Verdana"/>
                <a:cs typeface="Verdana"/>
              </a:rPr>
              <a:t>Use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FF0000"/>
                </a:solidFill>
                <a:latin typeface="Verdana"/>
                <a:cs typeface="Verdana"/>
              </a:rPr>
              <a:t>tools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!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Netbeans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Eclipse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both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support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basic </a:t>
            </a:r>
            <a:r>
              <a:rPr sz="1600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refactoring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  <a:hlinkClick r:id="rId3"/>
              </a:rPr>
              <a:t>http://wiki.netbeans.org/Refactoring)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9048" y="6666977"/>
            <a:ext cx="2503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 Question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boss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876" y="381000"/>
            <a:ext cx="8675370" cy="805496"/>
          </a:xfrm>
        </p:spPr>
        <p:txBody>
          <a:bodyPr/>
          <a:lstStyle/>
          <a:p>
            <a:r>
              <a:rPr lang="en-GB" dirty="0"/>
              <a:t>Superclass refactoring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447800"/>
            <a:ext cx="8675370" cy="5453804"/>
          </a:xfrm>
        </p:spPr>
        <p:txBody>
          <a:bodyPr>
            <a:noAutofit/>
          </a:bodyPr>
          <a:lstStyle/>
          <a:p>
            <a:r>
              <a:rPr lang="en-GB" sz="2800" b="1" dirty="0"/>
              <a:t>Superclass refactoring </a:t>
            </a:r>
            <a:r>
              <a:rPr lang="en-GB" sz="2800" dirty="0"/>
              <a:t>is an object-oriented programming technique where you extract common </a:t>
            </a:r>
            <a:r>
              <a:rPr lang="en-GB" sz="2800" dirty="0" smtClean="0"/>
              <a:t>behaviour </a:t>
            </a:r>
            <a:r>
              <a:rPr lang="en-GB" sz="2800" dirty="0"/>
              <a:t>or attributes from multiple classes and move them into a shared superclass to promote code reuse and reduce duplication</a:t>
            </a:r>
            <a:r>
              <a:rPr lang="en-GB" sz="2800" dirty="0" smtClean="0"/>
              <a:t>.</a:t>
            </a:r>
            <a:endParaRPr lang="en-GB" sz="2800" dirty="0"/>
          </a:p>
          <a:p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 smtClean="0"/>
              <a:t>When </a:t>
            </a:r>
            <a:r>
              <a:rPr lang="en-GB" sz="2800" b="1" dirty="0"/>
              <a:t>to Use</a:t>
            </a:r>
          </a:p>
          <a:p>
            <a:r>
              <a:rPr lang="en-GB" sz="2800" dirty="0"/>
              <a:t>Two or more classes have duplicate fields, methods, or logic.</a:t>
            </a:r>
          </a:p>
          <a:p>
            <a:r>
              <a:rPr lang="en-GB" sz="2800" dirty="0"/>
              <a:t>You want to follow the </a:t>
            </a:r>
            <a:r>
              <a:rPr lang="en-GB" sz="2800" b="1" dirty="0"/>
              <a:t>DRY</a:t>
            </a:r>
            <a:r>
              <a:rPr lang="en-GB" sz="2800" dirty="0"/>
              <a:t> (Don't Repeat Yourself) principle.</a:t>
            </a:r>
          </a:p>
          <a:p>
            <a:r>
              <a:rPr lang="en-GB" sz="2800" dirty="0"/>
              <a:t>There’s an opportunity to introduce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305457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675370" cy="1034096"/>
          </a:xfrm>
        </p:spPr>
        <p:txBody>
          <a:bodyPr/>
          <a:lstStyle/>
          <a:p>
            <a:r>
              <a:rPr lang="en-GB" dirty="0" smtClean="0"/>
              <a:t>Before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447800"/>
            <a:ext cx="8675370" cy="545380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class Dog {</a:t>
            </a:r>
          </a:p>
          <a:p>
            <a:r>
              <a:rPr lang="en-US" dirty="0"/>
              <a:t>    void eat()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("Dog is eating");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sleep()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("Dog is sleeping");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Cat {</a:t>
            </a:r>
          </a:p>
          <a:p>
            <a:r>
              <a:rPr lang="en-US" dirty="0"/>
              <a:t>    void eat()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("Cat is eating");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sleep()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("Cat is sleeping");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8615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675370" cy="1034096"/>
          </a:xfrm>
        </p:spPr>
        <p:txBody>
          <a:bodyPr/>
          <a:lstStyle/>
          <a:p>
            <a:r>
              <a:rPr lang="en-GB" dirty="0" smtClean="0"/>
              <a:t>After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447800"/>
            <a:ext cx="3961924" cy="545380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class Animal {</a:t>
            </a:r>
          </a:p>
          <a:p>
            <a:r>
              <a:rPr lang="en-US" dirty="0"/>
              <a:t>    void eat()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("Animal is eating");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sleep()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("Animal is sleeping");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Dog extends Animal {</a:t>
            </a:r>
          </a:p>
          <a:p>
            <a:r>
              <a:rPr lang="en-US" dirty="0"/>
              <a:t>    // Additional Dog-specific methods can be added here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Cat extends Animal {</a:t>
            </a:r>
          </a:p>
          <a:p>
            <a:r>
              <a:rPr lang="en-US" dirty="0"/>
              <a:t>    // Additional Cat-specific methods can be added here</a:t>
            </a:r>
          </a:p>
          <a:p>
            <a:r>
              <a:rPr lang="en-US" dirty="0" smtClean="0"/>
              <a:t>}</a:t>
            </a:r>
          </a:p>
          <a:p>
            <a:endParaRPr lang="en-GB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5181601" y="1447800"/>
            <a:ext cx="4876800" cy="545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Wingdings" panose="05000000000000000000" pitchFamily="2" charset="2"/>
              <a:buNone/>
              <a:defRPr sz="2640" b="0" kern="1200">
                <a:solidFill>
                  <a:srgbClr val="001050"/>
                </a:solidFill>
                <a:latin typeface="+mj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Wingdings" panose="05000000000000000000" pitchFamily="2" charset="2"/>
              <a:buNone/>
              <a:defRPr sz="1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Courier New" panose="02070309020205020404" pitchFamily="49" charset="0"/>
              <a:buNone/>
              <a:defRPr sz="1485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188595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6314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64033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1752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r>
              <a:rPr lang="en-GB" dirty="0" smtClean="0"/>
              <a:t>public class Main {</a:t>
            </a:r>
          </a:p>
          <a:p>
            <a:r>
              <a:rPr lang="en-GB" dirty="0" smtClean="0"/>
              <a:t>    public static void main(String[] </a:t>
            </a:r>
            <a:r>
              <a:rPr lang="en-GB" dirty="0" err="1" smtClean="0"/>
              <a:t>args</a:t>
            </a:r>
            <a:r>
              <a:rPr lang="en-GB" dirty="0" smtClean="0"/>
              <a:t>) {</a:t>
            </a:r>
          </a:p>
          <a:p>
            <a:r>
              <a:rPr lang="en-GB" dirty="0" smtClean="0"/>
              <a:t>        Animal dog = new Dog();</a:t>
            </a:r>
          </a:p>
          <a:p>
            <a:r>
              <a:rPr lang="en-GB" dirty="0" smtClean="0"/>
              <a:t>        Animal cat = new Cat();</a:t>
            </a:r>
          </a:p>
          <a:p>
            <a:endParaRPr lang="en-GB" dirty="0" smtClean="0"/>
          </a:p>
          <a:p>
            <a:r>
              <a:rPr lang="en-GB" dirty="0" smtClean="0"/>
              <a:t>        </a:t>
            </a:r>
            <a:r>
              <a:rPr lang="en-GB" dirty="0" err="1" smtClean="0"/>
              <a:t>dog.eat</a:t>
            </a:r>
            <a:r>
              <a:rPr lang="en-GB" dirty="0" smtClean="0"/>
              <a:t>();  // Animal is eating</a:t>
            </a:r>
          </a:p>
          <a:p>
            <a:r>
              <a:rPr lang="en-GB" dirty="0" smtClean="0"/>
              <a:t>        </a:t>
            </a:r>
            <a:r>
              <a:rPr lang="en-GB" dirty="0" err="1" smtClean="0"/>
              <a:t>cat.sleep</a:t>
            </a:r>
            <a:r>
              <a:rPr lang="en-GB" dirty="0" smtClean="0"/>
              <a:t>(); // Animal is sleeping</a:t>
            </a:r>
          </a:p>
          <a:p>
            <a:r>
              <a:rPr lang="en-GB" dirty="0" smtClean="0"/>
              <a:t>    }</a:t>
            </a:r>
          </a:p>
          <a:p>
            <a:r>
              <a:rPr lang="en-GB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72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381000"/>
            <a:ext cx="8675370" cy="805496"/>
          </a:xfrm>
        </p:spPr>
        <p:txBody>
          <a:bodyPr/>
          <a:lstStyle/>
          <a:p>
            <a:r>
              <a:rPr lang="en-GB" dirty="0"/>
              <a:t>Extract Method refactoring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371600"/>
            <a:ext cx="8675370" cy="553000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Extract Method refactoring is a technique where you take a piece of code from a method and move it into its own new method. This helps improve readability, reuse, and maintainability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sz="3500" b="1" dirty="0" smtClean="0"/>
              <a:t>Before:</a:t>
            </a:r>
          </a:p>
          <a:p>
            <a:r>
              <a:rPr lang="en-US" dirty="0"/>
              <a:t>public class </a:t>
            </a:r>
            <a:r>
              <a:rPr lang="en-US" dirty="0" err="1"/>
              <a:t>InvoicePrinter</a:t>
            </a:r>
            <a:r>
              <a:rPr lang="en-US" dirty="0"/>
              <a:t> {</a:t>
            </a:r>
          </a:p>
          <a:p>
            <a:r>
              <a:rPr lang="en-US" dirty="0"/>
              <a:t>    public void </a:t>
            </a:r>
            <a:r>
              <a:rPr lang="en-US" dirty="0" err="1"/>
              <a:t>printInvoice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("Invoice:");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("Customer: John Doe");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("Item: Book");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("Price: $10");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("Thank you for your purchase!");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8217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381000"/>
            <a:ext cx="8675370" cy="805496"/>
          </a:xfrm>
        </p:spPr>
        <p:txBody>
          <a:bodyPr/>
          <a:lstStyle/>
          <a:p>
            <a:r>
              <a:rPr lang="en-GB" dirty="0" smtClean="0"/>
              <a:t>After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371600"/>
            <a:ext cx="8675370" cy="5530004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public class </a:t>
            </a:r>
            <a:r>
              <a:rPr lang="en-GB" dirty="0" err="1"/>
              <a:t>InvoicePrinter</a:t>
            </a:r>
            <a:r>
              <a:rPr lang="en-GB" dirty="0"/>
              <a:t> {</a:t>
            </a:r>
          </a:p>
          <a:p>
            <a:r>
              <a:rPr lang="en-GB" dirty="0"/>
              <a:t>    public void </a:t>
            </a:r>
            <a:r>
              <a:rPr lang="en-GB" dirty="0" err="1"/>
              <a:t>printInvoice</a:t>
            </a:r>
            <a:r>
              <a:rPr lang="en-GB" dirty="0"/>
              <a:t>() {</a:t>
            </a:r>
          </a:p>
          <a:p>
            <a:r>
              <a:rPr lang="en-GB" dirty="0"/>
              <a:t>        </a:t>
            </a:r>
            <a:r>
              <a:rPr lang="en-GB" dirty="0" err="1"/>
              <a:t>printHeader</a:t>
            </a:r>
            <a:r>
              <a:rPr lang="en-GB" dirty="0"/>
              <a:t>();</a:t>
            </a:r>
          </a:p>
          <a:p>
            <a:r>
              <a:rPr lang="en-GB" dirty="0"/>
              <a:t>        </a:t>
            </a:r>
            <a:r>
              <a:rPr lang="en-GB" dirty="0" err="1"/>
              <a:t>printDetails</a:t>
            </a:r>
            <a:r>
              <a:rPr lang="en-GB" dirty="0"/>
              <a:t>();</a:t>
            </a:r>
          </a:p>
          <a:p>
            <a:r>
              <a:rPr lang="en-GB" dirty="0"/>
              <a:t>        </a:t>
            </a:r>
            <a:r>
              <a:rPr lang="en-GB" dirty="0" err="1"/>
              <a:t>printFooter</a:t>
            </a:r>
            <a:r>
              <a:rPr lang="en-GB" dirty="0"/>
              <a:t>();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private void </a:t>
            </a:r>
            <a:r>
              <a:rPr lang="en-GB" dirty="0" err="1"/>
              <a:t>printHeader</a:t>
            </a:r>
            <a:r>
              <a:rPr lang="en-GB" dirty="0"/>
              <a:t>() {</a:t>
            </a:r>
          </a:p>
          <a:p>
            <a:r>
              <a:rPr lang="en-GB" dirty="0"/>
              <a:t>        </a:t>
            </a:r>
            <a:r>
              <a:rPr lang="en-GB" dirty="0" err="1"/>
              <a:t>System.out.println</a:t>
            </a:r>
            <a:r>
              <a:rPr lang="en-GB" dirty="0"/>
              <a:t>("Invoice:");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private void </a:t>
            </a:r>
            <a:r>
              <a:rPr lang="en-GB" dirty="0" err="1"/>
              <a:t>printDetails</a:t>
            </a:r>
            <a:r>
              <a:rPr lang="en-GB" dirty="0"/>
              <a:t>() {</a:t>
            </a:r>
          </a:p>
          <a:p>
            <a:r>
              <a:rPr lang="en-GB" dirty="0"/>
              <a:t>        </a:t>
            </a:r>
            <a:r>
              <a:rPr lang="en-GB" dirty="0" err="1"/>
              <a:t>System.out.println</a:t>
            </a:r>
            <a:r>
              <a:rPr lang="en-GB" dirty="0"/>
              <a:t>("Customer: John Doe");</a:t>
            </a:r>
          </a:p>
          <a:p>
            <a:r>
              <a:rPr lang="en-GB" dirty="0"/>
              <a:t>        </a:t>
            </a:r>
            <a:r>
              <a:rPr lang="en-GB" dirty="0" err="1"/>
              <a:t>System.out.println</a:t>
            </a:r>
            <a:r>
              <a:rPr lang="en-GB" dirty="0"/>
              <a:t>("Item: Book");</a:t>
            </a:r>
          </a:p>
          <a:p>
            <a:r>
              <a:rPr lang="en-GB" dirty="0"/>
              <a:t>        </a:t>
            </a:r>
            <a:r>
              <a:rPr lang="en-GB" dirty="0" err="1"/>
              <a:t>System.out.println</a:t>
            </a:r>
            <a:r>
              <a:rPr lang="en-GB" dirty="0"/>
              <a:t>("Price: $10");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private void </a:t>
            </a:r>
            <a:r>
              <a:rPr lang="en-GB" dirty="0" err="1"/>
              <a:t>printFooter</a:t>
            </a:r>
            <a:r>
              <a:rPr lang="en-GB" dirty="0"/>
              <a:t>() {</a:t>
            </a:r>
          </a:p>
          <a:p>
            <a:r>
              <a:rPr lang="en-GB" dirty="0"/>
              <a:t>        </a:t>
            </a:r>
            <a:r>
              <a:rPr lang="en-GB" dirty="0" err="1"/>
              <a:t>System.out.println</a:t>
            </a:r>
            <a:r>
              <a:rPr lang="en-GB" dirty="0"/>
              <a:t>("Thank you for your purchase!");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74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304800"/>
            <a:ext cx="8675370" cy="805496"/>
          </a:xfrm>
        </p:spPr>
        <p:txBody>
          <a:bodyPr>
            <a:normAutofit fontScale="90000"/>
          </a:bodyPr>
          <a:lstStyle/>
          <a:p>
            <a:r>
              <a:rPr lang="en-GB" sz="5400" dirty="0"/>
              <a:t>Pull-up method is a refactoring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295400"/>
            <a:ext cx="8533924" cy="6248400"/>
          </a:xfrm>
        </p:spPr>
        <p:txBody>
          <a:bodyPr>
            <a:normAutofit fontScale="62500" lnSpcReduction="20000"/>
          </a:bodyPr>
          <a:lstStyle/>
          <a:p>
            <a:r>
              <a:rPr lang="en-GB" sz="4000" dirty="0"/>
              <a:t>Pull-up method is a refactoring technique where you move identical methods from subclasses to a common superclass to eliminate duplication</a:t>
            </a:r>
            <a:r>
              <a:rPr lang="en-GB" sz="4000" dirty="0" smtClean="0"/>
              <a:t>.</a:t>
            </a:r>
          </a:p>
          <a:p>
            <a:r>
              <a:rPr lang="en-GB" sz="6400" b="1" dirty="0" smtClean="0"/>
              <a:t>Before </a:t>
            </a:r>
            <a:r>
              <a:rPr lang="en-GB" sz="6400" b="1" dirty="0"/>
              <a:t>refactoring</a:t>
            </a:r>
            <a:r>
              <a:rPr lang="en-GB" sz="6400" b="1" dirty="0" smtClean="0"/>
              <a:t>:</a:t>
            </a:r>
          </a:p>
          <a:p>
            <a:r>
              <a:rPr lang="en-GB" sz="3200" b="1" dirty="0"/>
              <a:t>class Animal {</a:t>
            </a:r>
          </a:p>
          <a:p>
            <a:r>
              <a:rPr lang="en-GB" sz="3200" b="1" dirty="0"/>
              <a:t>    // Superclass with no speak() method yet</a:t>
            </a:r>
          </a:p>
          <a:p>
            <a:r>
              <a:rPr lang="en-GB" sz="3200" b="1" dirty="0"/>
              <a:t>}</a:t>
            </a:r>
          </a:p>
          <a:p>
            <a:endParaRPr lang="en-GB" sz="3200" b="1" dirty="0"/>
          </a:p>
          <a:p>
            <a:r>
              <a:rPr lang="en-GB" sz="3200" b="1" dirty="0"/>
              <a:t>class Dog extends Animal {</a:t>
            </a:r>
          </a:p>
          <a:p>
            <a:r>
              <a:rPr lang="en-GB" sz="3200" b="1" dirty="0"/>
              <a:t>    public void speak() {</a:t>
            </a:r>
          </a:p>
          <a:p>
            <a:r>
              <a:rPr lang="en-GB" sz="3200" b="1" dirty="0"/>
              <a:t>        </a:t>
            </a:r>
            <a:r>
              <a:rPr lang="en-GB" sz="3200" b="1" dirty="0" err="1"/>
              <a:t>System.out.println</a:t>
            </a:r>
            <a:r>
              <a:rPr lang="en-GB" sz="3200" b="1" dirty="0"/>
              <a:t>("Bark");</a:t>
            </a:r>
          </a:p>
          <a:p>
            <a:r>
              <a:rPr lang="en-GB" sz="3200" b="1" dirty="0"/>
              <a:t>    }</a:t>
            </a:r>
          </a:p>
          <a:p>
            <a:r>
              <a:rPr lang="en-GB" sz="3200" b="1" dirty="0"/>
              <a:t>}</a:t>
            </a:r>
          </a:p>
          <a:p>
            <a:endParaRPr lang="en-GB" sz="3200" b="1" dirty="0"/>
          </a:p>
          <a:p>
            <a:r>
              <a:rPr lang="en-GB" sz="3200" b="1" dirty="0"/>
              <a:t>class Cat extends Animal {</a:t>
            </a:r>
          </a:p>
          <a:p>
            <a:r>
              <a:rPr lang="en-GB" sz="3200" b="1" dirty="0"/>
              <a:t>    public void speak() {</a:t>
            </a:r>
          </a:p>
          <a:p>
            <a:r>
              <a:rPr lang="en-GB" sz="3200" b="1" dirty="0"/>
              <a:t>        </a:t>
            </a:r>
            <a:r>
              <a:rPr lang="en-GB" sz="3200" b="1" dirty="0" err="1"/>
              <a:t>System.out.println</a:t>
            </a:r>
            <a:r>
              <a:rPr lang="en-GB" sz="3200" b="1" dirty="0"/>
              <a:t>("Meow");</a:t>
            </a:r>
          </a:p>
          <a:p>
            <a:r>
              <a:rPr lang="en-GB" sz="3200" b="1" dirty="0"/>
              <a:t>    }</a:t>
            </a:r>
          </a:p>
          <a:p>
            <a:r>
              <a:rPr lang="en-GB" sz="3200" b="1" dirty="0"/>
              <a:t>}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8910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0"/>
            <a:ext cx="8675370" cy="12954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 </a:t>
            </a:r>
            <a:r>
              <a:rPr lang="en-US" dirty="0"/>
              <a:t>Before Pull-Up (Duplicated Method)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295400"/>
            <a:ext cx="8533924" cy="6248400"/>
          </a:xfrm>
        </p:spPr>
        <p:txBody>
          <a:bodyPr>
            <a:normAutofit/>
          </a:bodyPr>
          <a:lstStyle/>
          <a:p>
            <a:r>
              <a:rPr lang="en-US" sz="3200" b="1" dirty="0"/>
              <a:t>class Dog extends Animal {</a:t>
            </a:r>
          </a:p>
          <a:p>
            <a:r>
              <a:rPr lang="en-US" sz="3200" b="1" dirty="0"/>
              <a:t>    public void eat() {</a:t>
            </a:r>
          </a:p>
          <a:p>
            <a:r>
              <a:rPr lang="en-US" sz="3200" b="1" dirty="0"/>
              <a:t>        </a:t>
            </a:r>
            <a:r>
              <a:rPr lang="en-US" sz="3200" b="1" dirty="0" err="1"/>
              <a:t>System.out.println</a:t>
            </a:r>
            <a:r>
              <a:rPr lang="en-US" sz="3200" b="1" dirty="0"/>
              <a:t>("Eating food");</a:t>
            </a:r>
          </a:p>
          <a:p>
            <a:r>
              <a:rPr lang="en-US" sz="3200" b="1" dirty="0"/>
              <a:t>    }</a:t>
            </a:r>
          </a:p>
          <a:p>
            <a:r>
              <a:rPr lang="en-US" sz="3200" b="1" dirty="0"/>
              <a:t>}</a:t>
            </a:r>
          </a:p>
          <a:p>
            <a:endParaRPr lang="en-US" sz="3200" b="1" dirty="0"/>
          </a:p>
          <a:p>
            <a:r>
              <a:rPr lang="en-US" sz="3200" b="1" dirty="0"/>
              <a:t>class Cat extends Animal {</a:t>
            </a:r>
          </a:p>
          <a:p>
            <a:r>
              <a:rPr lang="en-US" sz="3200" b="1" dirty="0"/>
              <a:t>    public void eat() {</a:t>
            </a:r>
          </a:p>
          <a:p>
            <a:r>
              <a:rPr lang="en-US" sz="3200" b="1" dirty="0"/>
              <a:t>        </a:t>
            </a:r>
            <a:r>
              <a:rPr lang="en-US" sz="3200" b="1" dirty="0" err="1"/>
              <a:t>System.out.println</a:t>
            </a:r>
            <a:r>
              <a:rPr lang="en-US" sz="3200" b="1" dirty="0"/>
              <a:t>("Eating food");</a:t>
            </a:r>
          </a:p>
          <a:p>
            <a:r>
              <a:rPr lang="en-US" sz="3200" b="1" dirty="0"/>
              <a:t>    }</a:t>
            </a:r>
          </a:p>
          <a:p>
            <a:r>
              <a:rPr lang="en-US" sz="32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4490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0"/>
            <a:ext cx="8675370" cy="1295400"/>
          </a:xfrm>
        </p:spPr>
        <p:txBody>
          <a:bodyPr>
            <a:normAutofit/>
          </a:bodyPr>
          <a:lstStyle/>
          <a:p>
            <a:r>
              <a:rPr lang="en-US" dirty="0"/>
              <a:t>After Pull-Up Refactoring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295400"/>
            <a:ext cx="8533924" cy="6248400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class Animal {</a:t>
            </a:r>
          </a:p>
          <a:p>
            <a:r>
              <a:rPr lang="en-US" sz="3200" b="1" dirty="0"/>
              <a:t>    public void eat() {</a:t>
            </a:r>
          </a:p>
          <a:p>
            <a:r>
              <a:rPr lang="en-US" sz="3200" b="1" dirty="0"/>
              <a:t>        </a:t>
            </a:r>
            <a:r>
              <a:rPr lang="en-US" sz="3200" b="1" dirty="0" err="1"/>
              <a:t>System.out.println</a:t>
            </a:r>
            <a:r>
              <a:rPr lang="en-US" sz="3200" b="1" dirty="0"/>
              <a:t>("Eating food");</a:t>
            </a:r>
          </a:p>
          <a:p>
            <a:r>
              <a:rPr lang="en-US" sz="3200" b="1" dirty="0"/>
              <a:t>    }</a:t>
            </a:r>
          </a:p>
          <a:p>
            <a:r>
              <a:rPr lang="en-US" sz="3200" b="1" dirty="0"/>
              <a:t>}</a:t>
            </a:r>
          </a:p>
          <a:p>
            <a:endParaRPr lang="en-US" sz="3200" b="1" dirty="0"/>
          </a:p>
          <a:p>
            <a:r>
              <a:rPr lang="en-US" sz="3200" b="1" dirty="0"/>
              <a:t>class Dog extends Animal {</a:t>
            </a:r>
          </a:p>
          <a:p>
            <a:r>
              <a:rPr lang="en-US" sz="3200" b="1" dirty="0"/>
              <a:t>    // No eat() method needed</a:t>
            </a:r>
          </a:p>
          <a:p>
            <a:r>
              <a:rPr lang="en-US" sz="3200" b="1" dirty="0"/>
              <a:t>}</a:t>
            </a:r>
          </a:p>
          <a:p>
            <a:endParaRPr lang="en-US" sz="3200" b="1" dirty="0"/>
          </a:p>
          <a:p>
            <a:r>
              <a:rPr lang="en-US" sz="3200" b="1" dirty="0"/>
              <a:t>class Cat extends Animal {</a:t>
            </a:r>
          </a:p>
          <a:p>
            <a:r>
              <a:rPr lang="en-US" sz="3200" b="1" dirty="0"/>
              <a:t>    // No eat() method needed</a:t>
            </a:r>
          </a:p>
          <a:p>
            <a:r>
              <a:rPr lang="en-US" sz="32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4666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532" y="587820"/>
            <a:ext cx="2081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65" dirty="0"/>
              <a:t>S</a:t>
            </a:r>
            <a:r>
              <a:rPr sz="3600" spc="-120" dirty="0"/>
              <a:t>umm</a:t>
            </a:r>
            <a:r>
              <a:rPr sz="3600" spc="280" dirty="0"/>
              <a:t>a</a:t>
            </a:r>
            <a:r>
              <a:rPr sz="3600" spc="-459" dirty="0"/>
              <a:t>r</a:t>
            </a:r>
            <a:r>
              <a:rPr sz="3600" spc="-204" dirty="0"/>
              <a:t>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84532" y="1408080"/>
            <a:ext cx="8054340" cy="3583304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19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Refactoring</a:t>
            </a:r>
            <a:r>
              <a:rPr sz="18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improves</a:t>
            </a:r>
            <a:r>
              <a:rPr sz="18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design</a:t>
            </a:r>
            <a:r>
              <a:rPr sz="18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800" b="1" spc="-3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3F3F3F"/>
                </a:solidFill>
                <a:latin typeface="Tahoma"/>
                <a:cs typeface="Tahoma"/>
              </a:rPr>
              <a:t>software</a:t>
            </a:r>
            <a:endParaRPr sz="1800">
              <a:latin typeface="Tahoma"/>
              <a:cs typeface="Tahoma"/>
            </a:endParaRPr>
          </a:p>
          <a:p>
            <a:pPr marL="756285" marR="177165" lvl="1" indent="-287020">
              <a:lnSpc>
                <a:spcPts val="1730"/>
              </a:lnSpc>
              <a:spcBef>
                <a:spcPts val="102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105" dirty="0">
                <a:solidFill>
                  <a:srgbClr val="3F3F3F"/>
                </a:solidFill>
                <a:latin typeface="Tahoma"/>
                <a:cs typeface="Tahoma"/>
              </a:rPr>
              <a:t>without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refactoring,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9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design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3F3F3F"/>
                </a:solidFill>
                <a:latin typeface="Tahoma"/>
                <a:cs typeface="Tahoma"/>
              </a:rPr>
              <a:t>will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45" dirty="0">
                <a:solidFill>
                  <a:srgbClr val="3F3F3F"/>
                </a:solidFill>
                <a:latin typeface="Tahoma"/>
                <a:cs typeface="Tahoma"/>
              </a:rPr>
              <a:t>“decay”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as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people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make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changes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to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95" dirty="0">
                <a:solidFill>
                  <a:srgbClr val="3F3F3F"/>
                </a:solidFill>
                <a:latin typeface="Tahoma"/>
                <a:cs typeface="Tahoma"/>
              </a:rPr>
              <a:t>a </a:t>
            </a:r>
            <a:r>
              <a:rPr sz="1600" b="1" spc="-4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Tahoma"/>
                <a:cs typeface="Tahoma"/>
              </a:rPr>
              <a:t>software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system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70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195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m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50" dirty="0">
                <a:solidFill>
                  <a:srgbClr val="3F3F3F"/>
                </a:solidFill>
                <a:latin typeface="Tahoma"/>
                <a:cs typeface="Tahoma"/>
              </a:rPr>
              <a:t>k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-165" dirty="0">
                <a:solidFill>
                  <a:srgbClr val="3F3F3F"/>
                </a:solidFill>
                <a:latin typeface="Tahoma"/>
                <a:cs typeface="Tahoma"/>
              </a:rPr>
              <a:t>w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80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6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40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un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because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3F3F3F"/>
                </a:solidFill>
                <a:latin typeface="Tahoma"/>
                <a:cs typeface="Tahoma"/>
              </a:rPr>
              <a:t>structure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improved,</a:t>
            </a:r>
            <a:r>
              <a:rPr sz="1600" b="1" spc="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duplicated</a:t>
            </a:r>
            <a:r>
              <a:rPr sz="1600" b="1" spc="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75" dirty="0">
                <a:solidFill>
                  <a:srgbClr val="3F3F3F"/>
                </a:solidFill>
                <a:latin typeface="Tahoma"/>
                <a:cs typeface="Tahoma"/>
              </a:rPr>
              <a:t>code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3F3F3F"/>
                </a:solidFill>
                <a:latin typeface="Tahoma"/>
                <a:cs typeface="Tahoma"/>
              </a:rPr>
              <a:t>is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3F3F3F"/>
                </a:solidFill>
                <a:latin typeface="Tahoma"/>
                <a:cs typeface="Tahoma"/>
              </a:rPr>
              <a:t>eliminated,</a:t>
            </a:r>
            <a:r>
              <a:rPr sz="1600" b="1" spc="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etc.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270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10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800" b="1" spc="195" dirty="0">
                <a:solidFill>
                  <a:srgbClr val="3F3F3F"/>
                </a:solidFill>
                <a:latin typeface="Tahoma"/>
                <a:cs typeface="Tahoma"/>
              </a:rPr>
              <a:t>c</a:t>
            </a:r>
            <a:r>
              <a:rPr sz="1800" b="1" spc="-210" dirty="0">
                <a:solidFill>
                  <a:srgbClr val="3F3F3F"/>
                </a:solidFill>
                <a:latin typeface="Tahoma"/>
                <a:cs typeface="Tahoma"/>
              </a:rPr>
              <a:t>t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204" dirty="0">
                <a:solidFill>
                  <a:srgbClr val="3F3F3F"/>
                </a:solidFill>
                <a:latin typeface="Tahoma"/>
                <a:cs typeface="Tahoma"/>
              </a:rPr>
              <a:t>r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h</a:t>
            </a:r>
            <a:r>
              <a:rPr sz="1800" b="1" spc="75" dirty="0">
                <a:solidFill>
                  <a:srgbClr val="3F3F3F"/>
                </a:solidFill>
                <a:latin typeface="Tahoma"/>
                <a:cs typeface="Tahoma"/>
              </a:rPr>
              <a:t>e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l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p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3F3F3F"/>
                </a:solidFill>
                <a:latin typeface="Tahoma"/>
                <a:cs typeface="Tahoma"/>
              </a:rPr>
              <a:t>y</a:t>
            </a:r>
            <a:r>
              <a:rPr sz="1800" b="1" spc="35" dirty="0">
                <a:solidFill>
                  <a:srgbClr val="3F3F3F"/>
                </a:solidFill>
                <a:latin typeface="Tahoma"/>
                <a:cs typeface="Tahoma"/>
              </a:rPr>
              <a:t>o</a:t>
            </a:r>
            <a:r>
              <a:rPr sz="1800" b="1" spc="-75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3F3F3F"/>
                </a:solidFill>
                <a:latin typeface="Tahoma"/>
                <a:cs typeface="Tahoma"/>
              </a:rPr>
              <a:t>f</a:t>
            </a:r>
            <a:r>
              <a:rPr sz="1800" b="1" spc="-114" dirty="0">
                <a:solidFill>
                  <a:srgbClr val="3F3F3F"/>
                </a:solidFill>
                <a:latin typeface="Tahoma"/>
                <a:cs typeface="Tahoma"/>
              </a:rPr>
              <a:t>i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n</a:t>
            </a:r>
            <a:r>
              <a:rPr sz="1800" b="1" spc="55" dirty="0">
                <a:solidFill>
                  <a:srgbClr val="3F3F3F"/>
                </a:solidFill>
                <a:latin typeface="Tahoma"/>
                <a:cs typeface="Tahoma"/>
              </a:rPr>
              <a:t>d</a:t>
            </a:r>
            <a:r>
              <a:rPr sz="1800" b="1" spc="-4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3F3F3F"/>
                </a:solidFill>
                <a:latin typeface="Tahoma"/>
                <a:cs typeface="Tahoma"/>
              </a:rPr>
              <a:t>b</a:t>
            </a:r>
            <a:r>
              <a:rPr sz="1800" b="1" spc="-80" dirty="0">
                <a:solidFill>
                  <a:srgbClr val="3F3F3F"/>
                </a:solidFill>
                <a:latin typeface="Tahoma"/>
                <a:cs typeface="Tahoma"/>
              </a:rPr>
              <a:t>u</a:t>
            </a:r>
            <a:r>
              <a:rPr sz="1800" b="1" spc="50" dirty="0">
                <a:solidFill>
                  <a:srgbClr val="3F3F3F"/>
                </a:solidFill>
                <a:latin typeface="Tahoma"/>
                <a:cs typeface="Tahoma"/>
              </a:rPr>
              <a:t>g</a:t>
            </a:r>
            <a:r>
              <a:rPr sz="1800" b="1" spc="-135" dirty="0">
                <a:solidFill>
                  <a:srgbClr val="3F3F3F"/>
                </a:solidFill>
                <a:latin typeface="Tahoma"/>
                <a:cs typeface="Tahoma"/>
              </a:rPr>
              <a:t>s</a:t>
            </a:r>
            <a:endParaRPr sz="1800">
              <a:latin typeface="Tahoma"/>
              <a:cs typeface="Tahoma"/>
            </a:endParaRPr>
          </a:p>
          <a:p>
            <a:pPr marL="756285" marR="5080" lvl="1" indent="-287020">
              <a:lnSpc>
                <a:spcPts val="1730"/>
              </a:lnSpc>
              <a:spcBef>
                <a:spcPts val="102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Refactoring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promotes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9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55" dirty="0">
                <a:solidFill>
                  <a:srgbClr val="3F3F3F"/>
                </a:solidFill>
                <a:latin typeface="Tahoma"/>
                <a:cs typeface="Tahoma"/>
              </a:rPr>
              <a:t>deep</a:t>
            </a:r>
            <a:r>
              <a:rPr sz="1600" b="1" spc="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understanding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3F3F3F"/>
                </a:solidFill>
                <a:latin typeface="Tahoma"/>
                <a:cs typeface="Tahoma"/>
              </a:rPr>
              <a:t>of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75" dirty="0">
                <a:solidFill>
                  <a:srgbClr val="3F3F3F"/>
                </a:solidFill>
                <a:latin typeface="Tahoma"/>
                <a:cs typeface="Tahoma"/>
              </a:rPr>
              <a:t>code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3F3F3F"/>
                </a:solidFill>
                <a:latin typeface="Tahoma"/>
                <a:cs typeface="Tahoma"/>
              </a:rPr>
              <a:t>at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hand,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3F3F3F"/>
                </a:solidFill>
                <a:latin typeface="Tahoma"/>
                <a:cs typeface="Tahoma"/>
              </a:rPr>
              <a:t>this </a:t>
            </a:r>
            <a:r>
              <a:rPr sz="1600" b="1" spc="-45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understanding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aids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3F3F3F"/>
                </a:solidFill>
                <a:latin typeface="Tahoma"/>
                <a:cs typeface="Tahoma"/>
              </a:rPr>
              <a:t>the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3F3F3F"/>
                </a:solidFill>
                <a:latin typeface="Tahoma"/>
                <a:cs typeface="Tahoma"/>
              </a:rPr>
              <a:t>programmer</a:t>
            </a:r>
            <a:r>
              <a:rPr sz="1600" b="1" spc="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3F3F3F"/>
                </a:solidFill>
                <a:latin typeface="Tahoma"/>
                <a:cs typeface="Tahoma"/>
              </a:rPr>
              <a:t>in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3F3F3F"/>
                </a:solidFill>
                <a:latin typeface="Tahoma"/>
                <a:cs typeface="Tahoma"/>
              </a:rPr>
              <a:t>finding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bugs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3F3F3F"/>
                </a:solidFill>
                <a:latin typeface="Tahoma"/>
                <a:cs typeface="Tahoma"/>
              </a:rPr>
              <a:t>and</a:t>
            </a:r>
            <a:r>
              <a:rPr sz="1600" b="1" spc="-1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anticipating </a:t>
            </a:r>
            <a:r>
              <a:rPr sz="16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Tahoma"/>
                <a:cs typeface="Tahoma"/>
              </a:rPr>
              <a:t>potential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3F3F3F"/>
                </a:solidFill>
                <a:latin typeface="Tahoma"/>
                <a:cs typeface="Tahoma"/>
              </a:rPr>
              <a:t>bugs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b="1" spc="-55" dirty="0">
                <a:solidFill>
                  <a:srgbClr val="3F3F3F"/>
                </a:solidFill>
                <a:latin typeface="Tahoma"/>
                <a:cs typeface="Tahoma"/>
              </a:rPr>
              <a:t>Refactoring</a:t>
            </a:r>
            <a:r>
              <a:rPr sz="18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3F3F3F"/>
                </a:solidFill>
                <a:latin typeface="Tahoma"/>
                <a:cs typeface="Tahoma"/>
              </a:rPr>
              <a:t>helps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3F3F3F"/>
                </a:solidFill>
                <a:latin typeface="Tahoma"/>
                <a:cs typeface="Tahoma"/>
              </a:rPr>
              <a:t>you</a:t>
            </a:r>
            <a:r>
              <a:rPr sz="1800" b="1" spc="-2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3F3F3F"/>
                </a:solidFill>
                <a:latin typeface="Tahoma"/>
                <a:cs typeface="Tahoma"/>
              </a:rPr>
              <a:t>program</a:t>
            </a:r>
            <a:r>
              <a:rPr sz="1800" b="1" spc="-5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3F3F3F"/>
                </a:solidFill>
                <a:latin typeface="Tahoma"/>
                <a:cs typeface="Tahoma"/>
              </a:rPr>
              <a:t>faster</a:t>
            </a:r>
            <a:endParaRPr sz="1800">
              <a:latin typeface="Tahoma"/>
              <a:cs typeface="Tahoma"/>
            </a:endParaRPr>
          </a:p>
          <a:p>
            <a:pPr marL="756285" lvl="1" indent="-287655">
              <a:lnSpc>
                <a:spcPct val="100000"/>
              </a:lnSpc>
              <a:spcBef>
                <a:spcPts val="8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because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95" dirty="0">
                <a:solidFill>
                  <a:srgbClr val="3F3F3F"/>
                </a:solidFill>
                <a:latin typeface="Tahoma"/>
                <a:cs typeface="Tahoma"/>
              </a:rPr>
              <a:t>a</a:t>
            </a:r>
            <a:r>
              <a:rPr sz="1600" b="1" spc="-1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35" dirty="0">
                <a:solidFill>
                  <a:srgbClr val="3F3F3F"/>
                </a:solidFill>
                <a:latin typeface="Tahoma"/>
                <a:cs typeface="Tahoma"/>
              </a:rPr>
              <a:t>good</a:t>
            </a:r>
            <a:r>
              <a:rPr sz="1600" b="1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3F3F3F"/>
                </a:solidFill>
                <a:latin typeface="Tahoma"/>
                <a:cs typeface="Tahoma"/>
              </a:rPr>
              <a:t>design </a:t>
            </a:r>
            <a:r>
              <a:rPr sz="1600" b="1" spc="-5" dirty="0">
                <a:solidFill>
                  <a:srgbClr val="3F3F3F"/>
                </a:solidFill>
                <a:latin typeface="Tahoma"/>
                <a:cs typeface="Tahoma"/>
              </a:rPr>
              <a:t>enables</a:t>
            </a:r>
            <a:r>
              <a:rPr sz="1600" b="1" spc="5" dirty="0">
                <a:solidFill>
                  <a:srgbClr val="3F3F3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3F3F3F"/>
                </a:solidFill>
                <a:latin typeface="Tahoma"/>
                <a:cs typeface="Tahoma"/>
              </a:rPr>
              <a:t>progress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9048" y="6666977"/>
            <a:ext cx="1621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References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526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/>
              <a:t>R</a:t>
            </a:r>
            <a:r>
              <a:rPr sz="3600" spc="195" dirty="0"/>
              <a:t>e</a:t>
            </a:r>
            <a:r>
              <a:rPr sz="3600" spc="-155" dirty="0"/>
              <a:t>f</a:t>
            </a:r>
            <a:r>
              <a:rPr sz="3600" spc="195" dirty="0"/>
              <a:t>e</a:t>
            </a:r>
            <a:r>
              <a:rPr sz="3600" spc="-459" dirty="0"/>
              <a:t>r</a:t>
            </a:r>
            <a:r>
              <a:rPr sz="3600" spc="195" dirty="0"/>
              <a:t>e</a:t>
            </a:r>
            <a:r>
              <a:rPr sz="3600" spc="-85" dirty="0"/>
              <a:t>n</a:t>
            </a:r>
            <a:r>
              <a:rPr sz="3600" spc="459" dirty="0"/>
              <a:t>c</a:t>
            </a:r>
            <a:r>
              <a:rPr sz="3600" spc="195" dirty="0"/>
              <a:t>e</a:t>
            </a:r>
            <a:r>
              <a:rPr sz="3600" spc="-480" dirty="0"/>
              <a:t>s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685" marR="22161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1671320" algn="l"/>
                <a:tab pos="1671955" algn="l"/>
              </a:tabLst>
            </a:pPr>
            <a:r>
              <a:rPr u="none" spc="195" dirty="0">
                <a:solidFill>
                  <a:srgbClr val="3F3F3F"/>
                </a:solidFill>
              </a:rPr>
              <a:t>C</a:t>
            </a:r>
            <a:r>
              <a:rPr u="none" spc="90" dirty="0">
                <a:solidFill>
                  <a:srgbClr val="3F3F3F"/>
                </a:solidFill>
              </a:rPr>
              <a:t>o</a:t>
            </a:r>
            <a:r>
              <a:rPr u="none" spc="-65" dirty="0">
                <a:solidFill>
                  <a:srgbClr val="3F3F3F"/>
                </a:solidFill>
              </a:rPr>
              <a:t>m</a:t>
            </a:r>
            <a:r>
              <a:rPr u="none" spc="-120" dirty="0">
                <a:solidFill>
                  <a:srgbClr val="3F3F3F"/>
                </a:solidFill>
              </a:rPr>
              <a:t>i</a:t>
            </a:r>
            <a:r>
              <a:rPr u="none" spc="225" dirty="0">
                <a:solidFill>
                  <a:srgbClr val="3F3F3F"/>
                </a:solidFill>
              </a:rPr>
              <a:t>c</a:t>
            </a:r>
            <a:r>
              <a:rPr u="none" spc="-160" dirty="0">
                <a:solidFill>
                  <a:srgbClr val="3F3F3F"/>
                </a:solidFill>
              </a:rPr>
              <a:t> </a:t>
            </a:r>
            <a:r>
              <a:rPr u="none" spc="-80" dirty="0">
                <a:solidFill>
                  <a:srgbClr val="3F3F3F"/>
                </a:solidFill>
              </a:rPr>
              <a:t>f</a:t>
            </a:r>
            <a:r>
              <a:rPr u="none" spc="-235" dirty="0">
                <a:solidFill>
                  <a:srgbClr val="3F3F3F"/>
                </a:solidFill>
              </a:rPr>
              <a:t>r</a:t>
            </a:r>
            <a:r>
              <a:rPr u="none" spc="75" dirty="0">
                <a:solidFill>
                  <a:srgbClr val="3F3F3F"/>
                </a:solidFill>
              </a:rPr>
              <a:t>o</a:t>
            </a:r>
            <a:r>
              <a:rPr u="none" spc="-65" dirty="0">
                <a:solidFill>
                  <a:srgbClr val="3F3F3F"/>
                </a:solidFill>
              </a:rPr>
              <a:t>m</a:t>
            </a:r>
            <a:r>
              <a:rPr u="none" spc="-320" dirty="0">
                <a:solidFill>
                  <a:srgbClr val="3F3F3F"/>
                </a:solidFill>
              </a:rPr>
              <a:t>:</a:t>
            </a:r>
            <a:r>
              <a:rPr u="none" spc="-130" dirty="0">
                <a:solidFill>
                  <a:srgbClr val="3F3F3F"/>
                </a:solidFill>
              </a:rPr>
              <a:t> </a:t>
            </a:r>
            <a:r>
              <a:rPr spc="-45" dirty="0">
                <a:hlinkClick r:id="rId2"/>
              </a:rPr>
              <a:t>h</a:t>
            </a:r>
            <a:r>
              <a:rPr spc="-120" dirty="0">
                <a:hlinkClick r:id="rId2"/>
              </a:rPr>
              <a:t>tt</a:t>
            </a:r>
            <a:r>
              <a:rPr spc="100" dirty="0">
                <a:hlinkClick r:id="rId2"/>
              </a:rPr>
              <a:t>p</a:t>
            </a:r>
            <a:r>
              <a:rPr spc="-335" dirty="0">
                <a:hlinkClick r:id="rId2"/>
              </a:rPr>
              <a:t>:</a:t>
            </a:r>
            <a:r>
              <a:rPr spc="-30" dirty="0">
                <a:hlinkClick r:id="rId2"/>
              </a:rPr>
              <a:t>/</a:t>
            </a:r>
            <a:r>
              <a:rPr spc="-15" dirty="0">
                <a:hlinkClick r:id="rId2"/>
              </a:rPr>
              <a:t>/</a:t>
            </a:r>
            <a:r>
              <a:rPr dirty="0">
                <a:hlinkClick r:id="rId2"/>
              </a:rPr>
              <a:t>w</a:t>
            </a:r>
            <a:r>
              <a:rPr spc="15" dirty="0">
                <a:hlinkClick r:id="rId2"/>
              </a:rPr>
              <a:t>ww</a:t>
            </a:r>
            <a:r>
              <a:rPr spc="-155" dirty="0">
                <a:hlinkClick r:id="rId2"/>
              </a:rPr>
              <a:t>.</a:t>
            </a:r>
            <a:r>
              <a:rPr spc="-120" dirty="0">
                <a:hlinkClick r:id="rId2"/>
              </a:rPr>
              <a:t>i</a:t>
            </a:r>
            <a:r>
              <a:rPr spc="-235" dirty="0">
                <a:hlinkClick r:id="rId2"/>
              </a:rPr>
              <a:t>rr</a:t>
            </a:r>
            <a:r>
              <a:rPr spc="95" dirty="0">
                <a:hlinkClick r:id="rId2"/>
              </a:rPr>
              <a:t>e</a:t>
            </a:r>
            <a:r>
              <a:rPr spc="75" dirty="0">
                <a:hlinkClick r:id="rId2"/>
              </a:rPr>
              <a:t>g</a:t>
            </a:r>
            <a:r>
              <a:rPr spc="-45" dirty="0">
                <a:hlinkClick r:id="rId2"/>
              </a:rPr>
              <a:t>u</a:t>
            </a:r>
            <a:r>
              <a:rPr spc="-140" dirty="0">
                <a:hlinkClick r:id="rId2"/>
              </a:rPr>
              <a:t>l</a:t>
            </a:r>
            <a:r>
              <a:rPr spc="135" dirty="0">
                <a:hlinkClick r:id="rId2"/>
              </a:rPr>
              <a:t>a</a:t>
            </a:r>
            <a:r>
              <a:rPr spc="-215" dirty="0">
                <a:hlinkClick r:id="rId2"/>
              </a:rPr>
              <a:t>r</a:t>
            </a:r>
            <a:r>
              <a:rPr spc="15" dirty="0">
                <a:hlinkClick r:id="rId2"/>
              </a:rPr>
              <a:t>w</a:t>
            </a:r>
            <a:r>
              <a:rPr spc="75" dirty="0">
                <a:hlinkClick r:id="rId2"/>
              </a:rPr>
              <a:t>e</a:t>
            </a:r>
            <a:r>
              <a:rPr spc="100" dirty="0">
                <a:hlinkClick r:id="rId2"/>
              </a:rPr>
              <a:t>b</a:t>
            </a:r>
            <a:r>
              <a:rPr spc="229" dirty="0">
                <a:hlinkClick r:id="rId2"/>
              </a:rPr>
              <a:t>c</a:t>
            </a:r>
            <a:r>
              <a:rPr spc="75" dirty="0">
                <a:hlinkClick r:id="rId2"/>
              </a:rPr>
              <a:t>o</a:t>
            </a:r>
            <a:r>
              <a:rPr spc="-65" dirty="0">
                <a:hlinkClick r:id="rId2"/>
              </a:rPr>
              <a:t>m</a:t>
            </a:r>
            <a:r>
              <a:rPr spc="-100" dirty="0">
                <a:hlinkClick r:id="rId2"/>
              </a:rPr>
              <a:t>i</a:t>
            </a:r>
            <a:r>
              <a:rPr spc="210" dirty="0">
                <a:hlinkClick r:id="rId2"/>
              </a:rPr>
              <a:t>c</a:t>
            </a:r>
            <a:r>
              <a:rPr spc="-175" dirty="0">
                <a:hlinkClick r:id="rId2"/>
              </a:rPr>
              <a:t>.</a:t>
            </a:r>
            <a:r>
              <a:rPr spc="-45" dirty="0">
                <a:hlinkClick r:id="rId2"/>
              </a:rPr>
              <a:t>n</a:t>
            </a:r>
            <a:r>
              <a:rPr spc="95" dirty="0">
                <a:hlinkClick r:id="rId2"/>
              </a:rPr>
              <a:t>e</a:t>
            </a:r>
            <a:r>
              <a:rPr spc="-120" dirty="0">
                <a:hlinkClick r:id="rId2"/>
              </a:rPr>
              <a:t>t</a:t>
            </a:r>
            <a:r>
              <a:rPr spc="-30" dirty="0">
                <a:hlinkClick r:id="rId2"/>
              </a:rPr>
              <a:t>/</a:t>
            </a:r>
            <a:r>
              <a:rPr spc="229" dirty="0">
                <a:hlinkClick r:id="rId2"/>
              </a:rPr>
              <a:t>c</a:t>
            </a:r>
            <a:r>
              <a:rPr spc="75" dirty="0">
                <a:hlinkClick r:id="rId2"/>
              </a:rPr>
              <a:t>g</a:t>
            </a:r>
            <a:r>
              <a:rPr spc="-100" dirty="0">
                <a:hlinkClick r:id="rId2"/>
              </a:rPr>
              <a:t>i</a:t>
            </a:r>
            <a:r>
              <a:rPr spc="-195" dirty="0">
                <a:hlinkClick r:id="rId2"/>
              </a:rPr>
              <a:t>- </a:t>
            </a:r>
            <a:r>
              <a:rPr u="none" spc="-175" dirty="0"/>
              <a:t> </a:t>
            </a:r>
            <a:r>
              <a:rPr spc="-20" dirty="0"/>
              <a:t>bin/comic.pl?comic=687</a:t>
            </a:r>
          </a:p>
          <a:p>
            <a:pPr marL="167132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1671320" algn="l"/>
                <a:tab pos="1671955" algn="l"/>
              </a:tabLst>
            </a:pPr>
            <a:r>
              <a:rPr spc="-25" dirty="0">
                <a:hlinkClick r:id="rId3"/>
              </a:rPr>
              <a:t>http://www.refactoring.com/catalog/index.html</a:t>
            </a:r>
          </a:p>
          <a:p>
            <a:pPr marL="1670685" marR="2032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1671320" algn="l"/>
                <a:tab pos="1671955" algn="l"/>
              </a:tabLst>
            </a:pPr>
            <a:r>
              <a:rPr spc="-55" dirty="0">
                <a:hlinkClick r:id="rId4"/>
              </a:rPr>
              <a:t>http://www.cs.colorado.edu/~kena/classes/6448/s05/l </a:t>
            </a:r>
            <a:r>
              <a:rPr u="none" spc="-620" dirty="0"/>
              <a:t> </a:t>
            </a:r>
            <a:r>
              <a:rPr spc="-35" dirty="0"/>
              <a:t>ectures/lecture18.pdf</a:t>
            </a:r>
          </a:p>
          <a:p>
            <a:pPr marL="1670685" marR="508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1671320" algn="l"/>
                <a:tab pos="1671955" algn="l"/>
              </a:tabLst>
            </a:pPr>
            <a:r>
              <a:rPr u="none" spc="-45" dirty="0">
                <a:solidFill>
                  <a:srgbClr val="3F3F3F"/>
                </a:solidFill>
                <a:hlinkClick r:id="rId5"/>
              </a:rPr>
              <a:t>h</a:t>
            </a:r>
            <a:r>
              <a:rPr u="none" spc="-120" dirty="0">
                <a:solidFill>
                  <a:srgbClr val="3F3F3F"/>
                </a:solidFill>
                <a:hlinkClick r:id="rId5"/>
              </a:rPr>
              <a:t>tt</a:t>
            </a:r>
            <a:r>
              <a:rPr u="none" spc="100" dirty="0">
                <a:solidFill>
                  <a:srgbClr val="3F3F3F"/>
                </a:solidFill>
                <a:hlinkClick r:id="rId5"/>
              </a:rPr>
              <a:t>p</a:t>
            </a:r>
            <a:r>
              <a:rPr u="none" spc="-335" dirty="0">
                <a:solidFill>
                  <a:srgbClr val="3F3F3F"/>
                </a:solidFill>
                <a:hlinkClick r:id="rId5"/>
              </a:rPr>
              <a:t>:</a:t>
            </a:r>
            <a:r>
              <a:rPr u="none" spc="-30" dirty="0">
                <a:solidFill>
                  <a:srgbClr val="3F3F3F"/>
                </a:solidFill>
                <a:hlinkClick r:id="rId5"/>
              </a:rPr>
              <a:t>/</a:t>
            </a:r>
            <a:r>
              <a:rPr u="none" spc="-15" dirty="0">
                <a:solidFill>
                  <a:srgbClr val="3F3F3F"/>
                </a:solidFill>
                <a:hlinkClick r:id="rId5"/>
              </a:rPr>
              <a:t>/</a:t>
            </a:r>
            <a:r>
              <a:rPr u="none" dirty="0">
                <a:solidFill>
                  <a:srgbClr val="3F3F3F"/>
                </a:solidFill>
                <a:hlinkClick r:id="rId5"/>
              </a:rPr>
              <a:t>w</a:t>
            </a:r>
            <a:r>
              <a:rPr u="none" spc="35" dirty="0">
                <a:solidFill>
                  <a:srgbClr val="3F3F3F"/>
                </a:solidFill>
                <a:hlinkClick r:id="rId5"/>
              </a:rPr>
              <a:t>w</a:t>
            </a:r>
            <a:r>
              <a:rPr u="none" spc="15" dirty="0">
                <a:solidFill>
                  <a:srgbClr val="3F3F3F"/>
                </a:solidFill>
                <a:hlinkClick r:id="rId5"/>
              </a:rPr>
              <a:t>w</a:t>
            </a:r>
            <a:r>
              <a:rPr u="none" spc="-175" dirty="0">
                <a:solidFill>
                  <a:srgbClr val="3F3F3F"/>
                </a:solidFill>
                <a:hlinkClick r:id="rId5"/>
              </a:rPr>
              <a:t>.</a:t>
            </a:r>
            <a:r>
              <a:rPr u="none" spc="210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90" dirty="0">
                <a:solidFill>
                  <a:srgbClr val="3F3F3F"/>
                </a:solidFill>
                <a:hlinkClick r:id="rId5"/>
              </a:rPr>
              <a:t>o</a:t>
            </a:r>
            <a:r>
              <a:rPr u="none" spc="114" dirty="0">
                <a:solidFill>
                  <a:srgbClr val="3F3F3F"/>
                </a:solidFill>
                <a:hlinkClick r:id="rId5"/>
              </a:rPr>
              <a:t>d</a:t>
            </a:r>
            <a:r>
              <a:rPr u="none" spc="95" dirty="0">
                <a:solidFill>
                  <a:srgbClr val="3F3F3F"/>
                </a:solidFill>
                <a:hlinkClick r:id="rId5"/>
              </a:rPr>
              <a:t>e</a:t>
            </a:r>
            <a:r>
              <a:rPr u="none" spc="100" dirty="0">
                <a:solidFill>
                  <a:srgbClr val="3F3F3F"/>
                </a:solidFill>
                <a:hlinkClick r:id="rId5"/>
              </a:rPr>
              <a:t>p</a:t>
            </a:r>
            <a:r>
              <a:rPr u="none" spc="-235" dirty="0">
                <a:solidFill>
                  <a:srgbClr val="3F3F3F"/>
                </a:solidFill>
                <a:hlinkClick r:id="rId5"/>
              </a:rPr>
              <a:t>r</a:t>
            </a:r>
            <a:r>
              <a:rPr u="none" spc="75" dirty="0">
                <a:solidFill>
                  <a:srgbClr val="3F3F3F"/>
                </a:solidFill>
                <a:hlinkClick r:id="rId5"/>
              </a:rPr>
              <a:t>o</a:t>
            </a:r>
            <a:r>
              <a:rPr u="none" spc="-245" dirty="0">
                <a:solidFill>
                  <a:srgbClr val="3F3F3F"/>
                </a:solidFill>
                <a:hlinkClick r:id="rId5"/>
              </a:rPr>
              <a:t>j</a:t>
            </a:r>
            <a:r>
              <a:rPr u="none" spc="75" dirty="0">
                <a:solidFill>
                  <a:srgbClr val="3F3F3F"/>
                </a:solidFill>
                <a:hlinkClick r:id="rId5"/>
              </a:rPr>
              <a:t>e</a:t>
            </a:r>
            <a:r>
              <a:rPr u="none" spc="245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-100" dirty="0">
                <a:solidFill>
                  <a:srgbClr val="3F3F3F"/>
                </a:solidFill>
                <a:hlinkClick r:id="rId5"/>
              </a:rPr>
              <a:t>t</a:t>
            </a:r>
            <a:r>
              <a:rPr u="none" spc="-175" dirty="0">
                <a:solidFill>
                  <a:srgbClr val="3F3F3F"/>
                </a:solidFill>
                <a:hlinkClick r:id="rId5"/>
              </a:rPr>
              <a:t>.</a:t>
            </a:r>
            <a:r>
              <a:rPr u="none" spc="229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75" dirty="0">
                <a:solidFill>
                  <a:srgbClr val="3F3F3F"/>
                </a:solidFill>
                <a:hlinkClick r:id="rId5"/>
              </a:rPr>
              <a:t>o</a:t>
            </a:r>
            <a:r>
              <a:rPr u="none" spc="-65" dirty="0">
                <a:solidFill>
                  <a:srgbClr val="3F3F3F"/>
                </a:solidFill>
                <a:hlinkClick r:id="rId5"/>
              </a:rPr>
              <a:t>m</a:t>
            </a:r>
            <a:r>
              <a:rPr u="none" spc="-30" dirty="0">
                <a:solidFill>
                  <a:srgbClr val="3F3F3F"/>
                </a:solidFill>
                <a:hlinkClick r:id="rId5"/>
              </a:rPr>
              <a:t>/</a:t>
            </a:r>
            <a:r>
              <a:rPr u="none" spc="-190" dirty="0">
                <a:solidFill>
                  <a:srgbClr val="3F3F3F"/>
                </a:solidFill>
                <a:hlinkClick r:id="rId5"/>
              </a:rPr>
              <a:t>K</a:t>
            </a:r>
            <a:r>
              <a:rPr u="none" spc="-195" dirty="0">
                <a:solidFill>
                  <a:srgbClr val="3F3F3F"/>
                </a:solidFill>
                <a:hlinkClick r:id="rId5"/>
              </a:rPr>
              <a:t>B</a:t>
            </a:r>
            <a:r>
              <a:rPr u="none" spc="-30" dirty="0">
                <a:solidFill>
                  <a:srgbClr val="3F3F3F"/>
                </a:solidFill>
                <a:hlinkClick r:id="rId5"/>
              </a:rPr>
              <a:t>/</a:t>
            </a:r>
            <a:r>
              <a:rPr u="none" spc="135" dirty="0">
                <a:solidFill>
                  <a:srgbClr val="3F3F3F"/>
                </a:solidFill>
                <a:hlinkClick r:id="rId5"/>
              </a:rPr>
              <a:t>a</a:t>
            </a:r>
            <a:r>
              <a:rPr u="none" spc="-235" dirty="0">
                <a:solidFill>
                  <a:srgbClr val="3F3F3F"/>
                </a:solidFill>
                <a:hlinkClick r:id="rId5"/>
              </a:rPr>
              <a:t>r</a:t>
            </a:r>
            <a:r>
              <a:rPr u="none" spc="210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-45" dirty="0">
                <a:solidFill>
                  <a:srgbClr val="3F3F3F"/>
                </a:solidFill>
                <a:hlinkClick r:id="rId5"/>
              </a:rPr>
              <a:t>h</a:t>
            </a:r>
            <a:r>
              <a:rPr u="none" spc="-120" dirty="0">
                <a:solidFill>
                  <a:srgbClr val="3F3F3F"/>
                </a:solidFill>
                <a:hlinkClick r:id="rId5"/>
              </a:rPr>
              <a:t>i</a:t>
            </a:r>
            <a:r>
              <a:rPr u="none" spc="-100" dirty="0">
                <a:solidFill>
                  <a:srgbClr val="3F3F3F"/>
                </a:solidFill>
                <a:hlinkClick r:id="rId5"/>
              </a:rPr>
              <a:t>t</a:t>
            </a:r>
            <a:r>
              <a:rPr u="none" spc="75" dirty="0">
                <a:solidFill>
                  <a:srgbClr val="3F3F3F"/>
                </a:solidFill>
                <a:hlinkClick r:id="rId5"/>
              </a:rPr>
              <a:t>e</a:t>
            </a:r>
            <a:r>
              <a:rPr u="none" spc="229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-100" dirty="0">
                <a:solidFill>
                  <a:srgbClr val="3F3F3F"/>
                </a:solidFill>
                <a:hlinkClick r:id="rId5"/>
              </a:rPr>
              <a:t>t</a:t>
            </a:r>
            <a:r>
              <a:rPr u="none" spc="-45" dirty="0">
                <a:solidFill>
                  <a:srgbClr val="3F3F3F"/>
                </a:solidFill>
                <a:hlinkClick r:id="rId5"/>
              </a:rPr>
              <a:t>u</a:t>
            </a:r>
            <a:r>
              <a:rPr u="none" spc="-235" dirty="0">
                <a:solidFill>
                  <a:srgbClr val="3F3F3F"/>
                </a:solidFill>
                <a:hlinkClick r:id="rId5"/>
              </a:rPr>
              <a:t>r</a:t>
            </a:r>
            <a:r>
              <a:rPr u="none" spc="75" dirty="0">
                <a:solidFill>
                  <a:srgbClr val="3F3F3F"/>
                </a:solidFill>
                <a:hlinkClick r:id="rId5"/>
              </a:rPr>
              <a:t>e</a:t>
            </a:r>
            <a:r>
              <a:rPr u="none" spc="-30" dirty="0">
                <a:solidFill>
                  <a:srgbClr val="3F3F3F"/>
                </a:solidFill>
                <a:hlinkClick r:id="rId5"/>
              </a:rPr>
              <a:t>/</a:t>
            </a:r>
            <a:r>
              <a:rPr u="none" spc="100" dirty="0">
                <a:solidFill>
                  <a:srgbClr val="3F3F3F"/>
                </a:solidFill>
                <a:hlinkClick r:id="rId5"/>
              </a:rPr>
              <a:t>p</a:t>
            </a:r>
            <a:r>
              <a:rPr u="none" spc="-235" dirty="0">
                <a:solidFill>
                  <a:srgbClr val="3F3F3F"/>
                </a:solidFill>
                <a:hlinkClick r:id="rId5"/>
              </a:rPr>
              <a:t>r</a:t>
            </a:r>
            <a:r>
              <a:rPr u="none" spc="135" dirty="0">
                <a:solidFill>
                  <a:srgbClr val="3F3F3F"/>
                </a:solidFill>
                <a:hlinkClick r:id="rId5"/>
              </a:rPr>
              <a:t>a</a:t>
            </a:r>
            <a:r>
              <a:rPr u="none" spc="245" dirty="0">
                <a:solidFill>
                  <a:srgbClr val="3F3F3F"/>
                </a:solidFill>
                <a:hlinkClick r:id="rId5"/>
              </a:rPr>
              <a:t>c</a:t>
            </a:r>
            <a:r>
              <a:rPr u="none" spc="-120" dirty="0">
                <a:solidFill>
                  <a:srgbClr val="3F3F3F"/>
                </a:solidFill>
                <a:hlinkClick r:id="rId5"/>
              </a:rPr>
              <a:t>ti</a:t>
            </a:r>
            <a:r>
              <a:rPr u="none" spc="185" dirty="0">
                <a:solidFill>
                  <a:srgbClr val="3F3F3F"/>
                </a:solidFill>
                <a:hlinkClick r:id="rId5"/>
              </a:rPr>
              <a:t>c </a:t>
            </a:r>
            <a:r>
              <a:rPr u="none" spc="150" dirty="0">
                <a:solidFill>
                  <a:srgbClr val="3F3F3F"/>
                </a:solidFill>
              </a:rPr>
              <a:t> </a:t>
            </a:r>
            <a:r>
              <a:rPr u="none" spc="-40" dirty="0">
                <a:solidFill>
                  <a:srgbClr val="3F3F3F"/>
                </a:solidFill>
              </a:rPr>
              <a:t>alexp.aspx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79048" y="6666977"/>
            <a:ext cx="2027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Coming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up: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In-Class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Exercise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76400" y="1106447"/>
            <a:ext cx="5638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0645">
              <a:lnSpc>
                <a:spcPct val="100000"/>
              </a:lnSpc>
              <a:spcBef>
                <a:spcPts val="100"/>
              </a:spcBef>
            </a:pPr>
            <a:r>
              <a:rPr spc="295" dirty="0">
                <a:solidFill>
                  <a:schemeClr val="accent1">
                    <a:lumMod val="50000"/>
                  </a:schemeClr>
                </a:solidFill>
              </a:rPr>
              <a:t>Q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u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509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pc="185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-26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105" dirty="0">
                <a:solidFill>
                  <a:schemeClr val="accent1">
                    <a:lumMod val="50000"/>
                  </a:schemeClr>
                </a:solidFill>
              </a:rPr>
              <a:t>&amp;</a:t>
            </a:r>
            <a:r>
              <a:rPr spc="-25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20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-475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40" dirty="0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455" dirty="0">
                <a:solidFill>
                  <a:schemeClr val="accent1">
                    <a:lumMod val="50000"/>
                  </a:schemeClr>
                </a:solidFill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9418" y="3542725"/>
            <a:ext cx="365442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00100" marR="5080" indent="-788035">
              <a:lnSpc>
                <a:spcPts val="4320"/>
              </a:lnSpc>
              <a:spcBef>
                <a:spcPts val="640"/>
              </a:spcBef>
            </a:pPr>
            <a:r>
              <a:rPr sz="4000" spc="-75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4000" spc="-9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4000" spc="3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4000" spc="-9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4000" spc="-37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4000" spc="-5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4000" spc="-2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4000" spc="-13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4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4000" spc="-50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4000" spc="-2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4000" spc="-21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4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4000" spc="-10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4000" spc="-450" dirty="0">
                <a:solidFill>
                  <a:srgbClr val="3F3F3F"/>
                </a:solidFill>
                <a:latin typeface="Verdana"/>
                <a:cs typeface="Verdana"/>
              </a:rPr>
              <a:t>r  </a:t>
            </a:r>
            <a:r>
              <a:rPr sz="4000" spc="-90" dirty="0">
                <a:solidFill>
                  <a:srgbClr val="3F3F3F"/>
                </a:solidFill>
                <a:latin typeface="Verdana"/>
                <a:cs typeface="Verdana"/>
              </a:rPr>
              <a:t>attention!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8479" y="1279651"/>
            <a:ext cx="235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F3F3F"/>
                </a:solidFill>
                <a:latin typeface="Corbel"/>
                <a:cs typeface="Corbel"/>
              </a:rPr>
              <a:t>2</a:t>
            </a:r>
            <a:r>
              <a:rPr sz="1600" spc="-5" dirty="0">
                <a:solidFill>
                  <a:srgbClr val="3F3F3F"/>
                </a:solidFill>
                <a:latin typeface="Corbel"/>
                <a:cs typeface="Corbel"/>
              </a:rPr>
              <a:t>9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Lecture-1-SRE-Intro</Template>
  <TotalTime>253</TotalTime>
  <Words>2069</Words>
  <Application>Microsoft Office PowerPoint</Application>
  <PresentationFormat>Custom</PresentationFormat>
  <Paragraphs>316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Arial MT</vt:lpstr>
      <vt:lpstr>Calibri</vt:lpstr>
      <vt:lpstr>Calibri Light</vt:lpstr>
      <vt:lpstr>Corbel</vt:lpstr>
      <vt:lpstr>Courier New</vt:lpstr>
      <vt:lpstr>Georgia</vt:lpstr>
      <vt:lpstr>Tahoma</vt:lpstr>
      <vt:lpstr>Verdana</vt:lpstr>
      <vt:lpstr>Wingdings</vt:lpstr>
      <vt:lpstr>Office Theme</vt:lpstr>
      <vt:lpstr>PowerPoint Presentation</vt:lpstr>
      <vt:lpstr>Today’s Quote</vt:lpstr>
      <vt:lpstr>Code Refactoring</vt:lpstr>
      <vt:lpstr>Where are we?</vt:lpstr>
      <vt:lpstr>Reengineering and  Refactoring?</vt:lpstr>
      <vt:lpstr>Why do good developers  write bad software?</vt:lpstr>
      <vt:lpstr>Refactoring</vt:lpstr>
      <vt:lpstr>Refactoring</vt:lpstr>
      <vt:lpstr>Refactoring Simple Example</vt:lpstr>
      <vt:lpstr>Danger!</vt:lpstr>
      <vt:lpstr>Motivation</vt:lpstr>
      <vt:lpstr>Refactoring: Complex Example</vt:lpstr>
      <vt:lpstr>Refactoring: Complex Example</vt:lpstr>
      <vt:lpstr>Refactoring Example: Replace Conditional  with Polymorphism</vt:lpstr>
      <vt:lpstr>Refactoring Example: Replace Conditional  with Polymorphism</vt:lpstr>
      <vt:lpstr>When do Refactor?</vt:lpstr>
      <vt:lpstr>How do    identify code to refactor?</vt:lpstr>
      <vt:lpstr>Code Smells</vt:lpstr>
      <vt:lpstr>Code Smells</vt:lpstr>
      <vt:lpstr>Code Smells</vt:lpstr>
      <vt:lpstr>Code Smells</vt:lpstr>
      <vt:lpstr>PowerPoint Presentation</vt:lpstr>
      <vt:lpstr>Why use them?</vt:lpstr>
      <vt:lpstr>Adding safety</vt:lpstr>
      <vt:lpstr>Superclass refactoring</vt:lpstr>
      <vt:lpstr>Before</vt:lpstr>
      <vt:lpstr>After</vt:lpstr>
      <vt:lpstr>Extract Method refactoring</vt:lpstr>
      <vt:lpstr>After</vt:lpstr>
      <vt:lpstr>Pull-up method is a refactoring</vt:lpstr>
      <vt:lpstr>  Before Pull-Up (Duplicated Method)</vt:lpstr>
      <vt:lpstr>After Pull-Up Refactoring</vt:lpstr>
      <vt:lpstr>Summary</vt:lpstr>
      <vt:lpstr>References</vt:lpstr>
      <vt:lpstr>Question &amp;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week 7- SReengg [Compatibility Mode]</dc:title>
  <dc:creator>Shumaila Iqbal</dc:creator>
  <cp:lastModifiedBy>Admin</cp:lastModifiedBy>
  <cp:revision>23</cp:revision>
  <dcterms:created xsi:type="dcterms:W3CDTF">2022-05-29T09:37:12Z</dcterms:created>
  <dcterms:modified xsi:type="dcterms:W3CDTF">2025-05-12T04:53:30Z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2021-12-01T00:00:00Z</vt:filetime>
  </property>
  <property fmtid="{D5CDD505-2E9C-101B-9397-08002B2CF9AE}" pid="3" name="LastSaved">
    <vt:filetime>2022-05-29T00:00:00Z</vt:filetime>
  </property>
</Properties>
</file>