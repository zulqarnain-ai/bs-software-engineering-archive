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theme/themeOverride3.xml" ContentType="application/vnd.openxmlformats-officedocument.themeOverr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13"/>
  </p:notesMasterIdLst>
  <p:handoutMasterIdLst>
    <p:handoutMasterId r:id="rId114"/>
  </p:handoutMasterIdLst>
  <p:sldIdLst>
    <p:sldId id="256" r:id="rId2"/>
    <p:sldId id="573" r:id="rId3"/>
    <p:sldId id="574" r:id="rId4"/>
    <p:sldId id="575" r:id="rId5"/>
    <p:sldId id="257" r:id="rId6"/>
    <p:sldId id="258" r:id="rId7"/>
    <p:sldId id="576" r:id="rId8"/>
    <p:sldId id="577" r:id="rId9"/>
    <p:sldId id="578" r:id="rId10"/>
    <p:sldId id="259" r:id="rId11"/>
    <p:sldId id="260" r:id="rId12"/>
    <p:sldId id="261" r:id="rId13"/>
    <p:sldId id="579" r:id="rId14"/>
    <p:sldId id="580" r:id="rId15"/>
    <p:sldId id="262" r:id="rId16"/>
    <p:sldId id="581" r:id="rId17"/>
    <p:sldId id="263" r:id="rId18"/>
    <p:sldId id="582" r:id="rId19"/>
    <p:sldId id="583" r:id="rId20"/>
    <p:sldId id="584" r:id="rId21"/>
    <p:sldId id="585" r:id="rId22"/>
    <p:sldId id="586" r:id="rId23"/>
    <p:sldId id="264" r:id="rId24"/>
    <p:sldId id="587" r:id="rId25"/>
    <p:sldId id="265" r:id="rId26"/>
    <p:sldId id="588" r:id="rId27"/>
    <p:sldId id="589" r:id="rId28"/>
    <p:sldId id="590" r:id="rId29"/>
    <p:sldId id="266" r:id="rId30"/>
    <p:sldId id="591" r:id="rId31"/>
    <p:sldId id="592" r:id="rId32"/>
    <p:sldId id="267" r:id="rId33"/>
    <p:sldId id="593" r:id="rId34"/>
    <p:sldId id="594" r:id="rId35"/>
    <p:sldId id="480" r:id="rId36"/>
    <p:sldId id="595" r:id="rId37"/>
    <p:sldId id="596" r:id="rId38"/>
    <p:sldId id="268" r:id="rId39"/>
    <p:sldId id="597" r:id="rId40"/>
    <p:sldId id="598" r:id="rId41"/>
    <p:sldId id="599" r:id="rId42"/>
    <p:sldId id="600" r:id="rId43"/>
    <p:sldId id="601" r:id="rId44"/>
    <p:sldId id="269" r:id="rId45"/>
    <p:sldId id="602" r:id="rId46"/>
    <p:sldId id="603" r:id="rId47"/>
    <p:sldId id="604" r:id="rId48"/>
    <p:sldId id="483" r:id="rId49"/>
    <p:sldId id="484" r:id="rId50"/>
    <p:sldId id="485" r:id="rId51"/>
    <p:sldId id="271" r:id="rId52"/>
    <p:sldId id="605" r:id="rId53"/>
    <p:sldId id="606" r:id="rId54"/>
    <p:sldId id="607" r:id="rId55"/>
    <p:sldId id="608" r:id="rId56"/>
    <p:sldId id="609" r:id="rId57"/>
    <p:sldId id="610" r:id="rId58"/>
    <p:sldId id="611" r:id="rId59"/>
    <p:sldId id="612" r:id="rId60"/>
    <p:sldId id="613" r:id="rId61"/>
    <p:sldId id="614" r:id="rId62"/>
    <p:sldId id="615" r:id="rId63"/>
    <p:sldId id="438" r:id="rId64"/>
    <p:sldId id="439" r:id="rId65"/>
    <p:sldId id="616" r:id="rId66"/>
    <p:sldId id="437" r:id="rId67"/>
    <p:sldId id="486" r:id="rId68"/>
    <p:sldId id="617" r:id="rId69"/>
    <p:sldId id="618" r:id="rId70"/>
    <p:sldId id="487" r:id="rId71"/>
    <p:sldId id="619" r:id="rId72"/>
    <p:sldId id="620" r:id="rId73"/>
    <p:sldId id="277" r:id="rId74"/>
    <p:sldId id="621" r:id="rId75"/>
    <p:sldId id="622" r:id="rId76"/>
    <p:sldId id="488" r:id="rId77"/>
    <p:sldId id="623" r:id="rId78"/>
    <p:sldId id="624" r:id="rId79"/>
    <p:sldId id="489" r:id="rId80"/>
    <p:sldId id="490" r:id="rId81"/>
    <p:sldId id="280" r:id="rId82"/>
    <p:sldId id="625" r:id="rId83"/>
    <p:sldId id="626" r:id="rId84"/>
    <p:sldId id="627" r:id="rId85"/>
    <p:sldId id="628" r:id="rId86"/>
    <p:sldId id="629" r:id="rId87"/>
    <p:sldId id="630" r:id="rId88"/>
    <p:sldId id="631" r:id="rId89"/>
    <p:sldId id="632" r:id="rId90"/>
    <p:sldId id="633" r:id="rId91"/>
    <p:sldId id="634" r:id="rId92"/>
    <p:sldId id="635" r:id="rId93"/>
    <p:sldId id="636" r:id="rId94"/>
    <p:sldId id="637" r:id="rId95"/>
    <p:sldId id="638" r:id="rId96"/>
    <p:sldId id="281" r:id="rId97"/>
    <p:sldId id="640" r:id="rId98"/>
    <p:sldId id="641" r:id="rId99"/>
    <p:sldId id="642" r:id="rId100"/>
    <p:sldId id="643" r:id="rId101"/>
    <p:sldId id="644" r:id="rId102"/>
    <p:sldId id="645" r:id="rId103"/>
    <p:sldId id="646" r:id="rId104"/>
    <p:sldId id="283" r:id="rId105"/>
    <p:sldId id="648" r:id="rId106"/>
    <p:sldId id="284" r:id="rId107"/>
    <p:sldId id="491" r:id="rId108"/>
    <p:sldId id="492" r:id="rId109"/>
    <p:sldId id="647" r:id="rId110"/>
    <p:sldId id="493" r:id="rId111"/>
    <p:sldId id="494" r:id="rId1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4" autoAdjust="0"/>
    <p:restoredTop sz="94660"/>
  </p:normalViewPr>
  <p:slideViewPr>
    <p:cSldViewPr>
      <p:cViewPr varScale="1">
        <p:scale>
          <a:sx n="68" d="100"/>
          <a:sy n="68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2A12B5-AD82-46B2-B308-0D2F70F9A1C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9/22/2016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A286EB-296D-4640-A689-89F2D1819951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8378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8F439D-E2A6-4772-8877-419FCCE9F662}" type="datetimeFigureOut">
              <a:rPr lang="en-US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FA2F6A6-72BE-450D-B582-C83DA98F765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032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855B2C5B-F161-421D-94F8-D8214427D9CB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DCD0E4-459A-405B-ABEB-0BF303A19ED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306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B549D32A-E851-4B2B-B040-99BCB5B539AE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06D9-7514-4000-A34E-519FDF1F42B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2025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9CE1C81-44EA-4BDE-BC52-7518FA247F08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CEE82-8C93-4C8F-ABF4-3CDF6F38E1E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30111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8680DF0C-00B0-40E2-9479-302494A13B4C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75492-3BE2-4EC5-A917-CD429475086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8884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F4A5379-0B6B-4379-A5FA-D458BE903183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3B95E-EB1E-4826-AFDC-357288A64F7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6936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91505E-F829-4456-B3A4-FA7D66FBEF1D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E6B2A-DAB8-4A7F-B909-FAAB69F42DD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47164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AFF36-F47C-4888-987A-77F9E69B9ED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76498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B585217-7A69-4BFA-977A-1D37A4BCAA7D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EA480-6BFF-4B36-B64C-CDABB545FF8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29227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FFFEB10-01F1-49F6-ADDD-0499DA12B512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9777C-E024-4B5D-AAA4-0CEA9DF63B1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67169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36DFB-6096-4135-AD75-2BFA363E97A3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C83E3-AE00-412E-B870-274E07ADD43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0241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286A6-2C8E-4FBC-9E03-218A72BCCB32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3E7FB-CF45-491D-8073-92EB4FCF78C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632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8D813-D35B-45D4-8DC9-1624E2E4B6F9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2997E-3504-4710-9466-2AA8E81C43E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99657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CBC13280-11D6-47BB-8EBD-4DF5E4A8055C}" type="datetime1">
              <a:rPr lang="en-US" smtClean="0"/>
              <a:pPr>
                <a:defRPr/>
              </a:pPr>
              <a:t>9/22/2016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800FE285-0411-4D0D-A622-14CF6E953AC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8232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Class Templates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 and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; Catching Exceptions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en-US" altLang="en-US" dirty="0" smtClean="0"/>
              <a:t>Chapter 7 of C++ How to Program</a:t>
            </a:r>
            <a:r>
              <a:rPr lang="en-US" altLang="en-US" smtClean="0"/>
              <a:t>, 10/e</a:t>
            </a:r>
            <a:endParaRPr lang="en-US" altLang="en-US" dirty="0" smtClean="0"/>
          </a:p>
          <a:p>
            <a:pPr marR="0" eaLnBrk="1" hangingPunct="1"/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348" y="857250"/>
            <a:ext cx="892611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62346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0019" y="533400"/>
            <a:ext cx="9164039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88878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78856"/>
            <a:ext cx="9144000" cy="2300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43659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chapter introduces the topic of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data structures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collections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related data items.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discuss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which are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fixed-size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collections consisting of data items of the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type, and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which are collections (also of data items of the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type) that can grow and shrink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dynamically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at execution time.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Both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C++ standard library class templates.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present examples that demonstrate several common array manipulations and introduce exception handling.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7.2  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array is a </a:t>
            </a:r>
            <a:r>
              <a:rPr lang="en-US" altLang="en-US" sz="21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contiguous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group of memory locations that all have the same type.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refer to a particular location or element in the array, specify the name of the array and the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position number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the particular element.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7.1 shows an integer array called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12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elements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position number is more formally called a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subscript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index </a:t>
            </a:r>
            <a:r>
              <a:rPr lang="en-US" altLang="en-US" sz="2100" dirty="0" smtClean="0">
                <a:solidFill>
                  <a:srgbClr val="000000"/>
                </a:solidFill>
                <a:latin typeface="AGaramond" pitchFamily="50" charset="0"/>
              </a:rPr>
              <a:t>(this number specifies the number of elements from the beginning of the array)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first element in every array has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subscript 0 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zero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is sometimes called the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zeroth element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highest subscript in array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11, which is 1 less than the number of elements in the array (12).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subscript must be an integer or integer expression (using any integral type).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6700" y="857250"/>
            <a:ext cx="860941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7819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52500"/>
            <a:ext cx="9144000" cy="4951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05082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9885" y="857250"/>
            <a:ext cx="718423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55060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7.3  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Declaring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occupy space in memory.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specify the type of the elements and the number of elements required by an array use a declaration of the form:</a:t>
            </a:r>
          </a:p>
          <a:p>
            <a:pPr lvl="2"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&lt; type, </a:t>
            </a:r>
            <a:r>
              <a:rPr lang="en-US" altLang="en-US" i="1" dirty="0" err="1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arraySize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&gt;</a:t>
            </a:r>
            <a:r>
              <a:rPr lang="en-US" altLang="en-US" i="1" dirty="0" smtClean="0">
                <a:solidFill>
                  <a:srgbClr val="000000"/>
                </a:solidFill>
                <a:latin typeface="AGaramond" pitchFamily="50" charset="0"/>
              </a:rPr>
              <a:t> </a:t>
            </a:r>
            <a:r>
              <a:rPr lang="en-US" altLang="en-US" i="1" dirty="0" err="1" smtClean="0">
                <a:solidFill>
                  <a:srgbClr val="000000"/>
                </a:solidFill>
                <a:latin typeface="AGaramond" pitchFamily="50" charset="0"/>
              </a:rPr>
              <a:t>arrayName</a:t>
            </a:r>
            <a:r>
              <a:rPr lang="en-US" altLang="en-US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notation &lt;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type, </a:t>
            </a:r>
            <a:r>
              <a:rPr lang="en-US" altLang="en-US" sz="24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&gt; indicates that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class template.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compiler reserves the appropriate amount of memory based on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the elements and the </a:t>
            </a:r>
            <a:r>
              <a:rPr lang="en-US" altLang="en-US" sz="2400" i="1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can be declared to contain values of most data types.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7.4  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Examples Using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following examples demonstrate how to declare arrays, how to initialize arrays and how to perform common array manipulations.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7.4.1 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Declaring an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 and Using a Loop to Initialize the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’s Elements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7.3 declares five-element integer array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(line 10).</a:t>
            </a:r>
          </a:p>
          <a:p>
            <a:pPr eaLnBrk="1" hangingPunct="1"/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represents an unsigned integral type.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type is recommended for any variable that represents 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size or 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subscripts. Type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defined in the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namespace and is in header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is included by various other headers.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you attempt to compile a program that uses type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receive errors indicating that it’s not defined, simply include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cstddef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your program.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04800"/>
            <a:ext cx="9118284" cy="617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415578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929087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7.4.2 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Initializing an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 in a Declaration with an Initializer List</a:t>
            </a:r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elements of an array also can be initialized in the array declaration by following the array name with an equals sign and a brace-delimited comma-separated list of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initializers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program in Fig. 7.4 uses an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initializer list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initialize an integer array with five values (line 11) and prints the array in tabular format (lines 13–17).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there are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fewer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initializers than elements in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remaining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elements are initialized to zero.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there are more, a compilation error occurs.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096"/>
            <a:ext cx="9143999" cy="65618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54555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7.4.3 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Specifying an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’s Size with a Constant Variable and Setting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 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Elements with Calculations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7.5 sets the elements of a 5-element array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even integers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prints the array in tabular format.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 10 uses the 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qualifier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declare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constant variable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arraySize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 the value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constant variable that’s used to specify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size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initialized with a constant expression when it’s declared and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modified thereafter.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Constant variables are also called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named constants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read-only variables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76200"/>
            <a:ext cx="9144001" cy="6624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381051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35969"/>
            <a:ext cx="9144000" cy="278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062131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5538"/>
            <a:ext cx="9144000" cy="2066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48348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61010"/>
            <a:ext cx="9144000" cy="2135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62188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64456"/>
            <a:ext cx="9144000" cy="412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54344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7.4.4 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Summing the Elements of an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</a:p>
        </p:txBody>
      </p:sp>
      <p:sp>
        <p:nvSpPr>
          <p:cNvPr id="378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Often, the elements of an array represent a series of values to be used in a calculation.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 7.6 sums the values contained in the four-element integer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59752"/>
            <a:ext cx="9146740" cy="5941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29629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7.4.5 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Using Bar Charts to Display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 Data Graphically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Many programs present data to users graphically.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One simple way to display numeric data graphically is with a bar chart that shows each numeric value as a bar of asterisks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 7.7 stores data in an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11 elements, each corresponding to a grade category.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13260"/>
            <a:ext cx="9144000" cy="4231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97979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43655"/>
            <a:ext cx="9123257" cy="5957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85199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21606"/>
            <a:ext cx="9144000" cy="40147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72669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7.4.6 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Using the Elements of an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 as Counters</a:t>
            </a:r>
          </a:p>
        </p:txBody>
      </p:sp>
      <p:sp>
        <p:nvSpPr>
          <p:cNvPr id="4403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Sometimes, programs use counter variables to summarize data, such as the results of a survey.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Fig. 6.9, we used separate counters in our die-rolling program to track the number of occurrences of each side of a die as the program rolled the die 60,000,000 times.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version of this program is shown in Fig. 7.8.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version also uses the new C++11 random-number generation capabilities that were introduced in Section 6.9.</a:t>
            </a:r>
          </a:p>
          <a:p>
            <a:pPr eaLnBrk="1" hangingPunct="1"/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single statement in line 21 of this program replaces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switch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in Fig. 6.9.</a:t>
            </a:r>
          </a:p>
          <a:p>
            <a:pPr eaLnBrk="1" hangingPunct="1"/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4640"/>
            <a:ext cx="9137160" cy="640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173434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1798"/>
            <a:ext cx="9144000" cy="4773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096020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7.4.7 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Using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 to Summarize Survey Results</a:t>
            </a:r>
          </a:p>
        </p:txBody>
      </p:sp>
      <p:sp>
        <p:nvSpPr>
          <p:cNvPr id="471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 7.9 uses arrays to summarize the results of data collected in a survey.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Consider the following problem statement: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Twenty students were asked to rate on a scale of 1 to 5 the quality of the food in the student cafeteria, with 1 being “awful” and 5 being “excellent.” Place the 20 responses in an integer array and determine the frequency of each rating.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provides no automatic </a:t>
            </a:r>
            <a:r>
              <a:rPr lang="en-US" altLang="en-US" sz="24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i="1" dirty="0" smtClean="0">
                <a:solidFill>
                  <a:srgbClr val="0000FF"/>
                </a:solidFill>
                <a:latin typeface="Cambria" panose="02040503050406030204" pitchFamily="18" charset="0"/>
              </a:rPr>
              <a:t>bounds checking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prevent you from referring to an element that does not exist.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Thus, an executing program can “walk off” either end of 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without warning.</a:t>
            </a:r>
          </a:p>
          <a:p>
            <a:pPr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Class templates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have 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 that performs bounds checking for you.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258552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35844"/>
            <a:ext cx="9144000" cy="4785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242971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7.4.7 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Using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 to Summarize Survey Results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It’s important to ensure that every subscript you use to access an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 is within the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bounds—that is, greater than or equal to 0 and less than the number of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Allowing programs to read from or write to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elements outside the bounds of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are common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security flaws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Reading from out-of-bounds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elements can cause a program to crash or even appear to execute correctly while using bad data.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Writing to an out-of-bounds element (known as a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buffer overflow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can corrupt a program’s data in memory, crash a program and allow attackers to exploit the system and execute their own code.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1966"/>
            <a:ext cx="9144000" cy="2072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721622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51335"/>
            <a:ext cx="9144000" cy="4554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808888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59D9B3"/>
                </a:solidFill>
                <a:latin typeface="Calibri" panose="020F0502020204030204" pitchFamily="34" charset="0"/>
              </a:rPr>
              <a:t>7.4.8 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Static Local </a:t>
            </a:r>
            <a:r>
              <a:rPr lang="en-US" dirty="0" smtClean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 and Automatic Local </a:t>
            </a:r>
            <a:r>
              <a:rPr lang="en-US" dirty="0">
                <a:solidFill>
                  <a:srgbClr val="33B38C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B38C"/>
                </a:solidFill>
                <a:latin typeface="Goudy Sans Medium"/>
              </a:rPr>
              <a:t>s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program initializes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local arrays when their declarations are first encountered.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a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array is not initialized explicitly by you, each element of that array is initialized to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zero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by the compiler when the array is created.</a:t>
            </a: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Local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variables are sometimes called automatic variables because they’re automatically destroyed when the function finishes executing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6888"/>
            <a:ext cx="9144000" cy="3324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9997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57" y="304800"/>
            <a:ext cx="9219212" cy="601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081960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8787" y="533400"/>
            <a:ext cx="9201574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7370761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1197"/>
            <a:ext cx="9103360" cy="5511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012691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644" y="304800"/>
            <a:ext cx="9126714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83511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Statement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It’s common to process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elements of an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C++11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range-based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statement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allows you to do this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without using a counter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thus avoiding the possibility of “stepping outside” 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eliminating the need for you to implement your own bounds checking.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7.11 uses the range-based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display an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contents and to multiply each of 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’s element values by 2.</a:t>
            </a:r>
          </a:p>
          <a:p>
            <a:pPr eaLnBrk="1" hangingPunct="1"/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1225"/>
            <a:ext cx="9144000" cy="2494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79413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28787" y="533400"/>
            <a:ext cx="9201574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20462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45419"/>
            <a:ext cx="9144000" cy="3967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322149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the Range-Based </a:t>
            </a:r>
            <a:r>
              <a:rPr lang="en-US" sz="24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Display an </a:t>
            </a:r>
            <a:r>
              <a:rPr lang="en-US" sz="24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Contents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range-based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simplifies the code for iterating through an array.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 12 can be read as “for each iteration, assign the next element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variable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then execute the following statement.”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12–14 are equivalent to the following counter-controlled iteration: </a:t>
            </a:r>
          </a:p>
          <a:p>
            <a:pPr marL="392113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counter = </a:t>
            </a: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counter &lt; items.size(); ++counter) { </a:t>
            </a:r>
          </a:p>
          <a:p>
            <a:pPr marL="392113" lvl="1" indent="0" eaLnBrk="1" hangingPunct="1">
              <a:buFont typeface="Verdana" panose="020B0604030504040204" pitchFamily="34" charset="0"/>
              <a:buNone/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cout &lt;&lt; items[counter] &lt;&lt; </a:t>
            </a: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b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defRPr/>
            </a:pP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the Range-Based </a:t>
            </a:r>
            <a:r>
              <a:rPr lang="en-US" sz="24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Modify an </a:t>
            </a:r>
            <a:r>
              <a:rPr lang="en-US" sz="24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sz="2400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Contents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17–19 use a range-based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to multiply each element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by 2.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line 17, the range variable declaration indicates that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reference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use an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reference because items contains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values and we want to modify each element’s value—because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declared as a reference, any change you make to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itemRef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changes the corresponding element value in 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7.5  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Range-Based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Statement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an Element’s Subscript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range-based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can be used in place of the counter-controlled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whenever code looping through an array does not require access to the element’s subscript.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However, if a program must use subscripts for some reason other than simply to loop through an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(e.g., to print a subscript number next to each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 value, as in the examples early in this chapter), you should use the counter-controlled for statement.</a:t>
            </a: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Case Study: Class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GradeBook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Using an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to Store Grades</a:t>
            </a:r>
          </a:p>
        </p:txBody>
      </p:sp>
      <p:sp>
        <p:nvSpPr>
          <p:cNvPr id="686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Case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study on developing a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GradeBook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class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that instructors can use to maintain students’ grades on an exam and display a grade report that includes the grades, class average, lowest grade, highest grade and a grade distribution bar chart. 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version stores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grades for one exam in a one-dimensional array. 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Section 7.9, we present a version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uses a two-dimensional array to store students’ grades for several exams.</a:t>
            </a:r>
            <a:endParaRPr lang="en-US" alt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223" y="857250"/>
            <a:ext cx="864155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196678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21606"/>
            <a:ext cx="9144000" cy="40147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746396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1197"/>
            <a:ext cx="9144000" cy="5535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082534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7868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1829052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5375"/>
            <a:ext cx="9144000" cy="4666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3356751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5375"/>
            <a:ext cx="9144000" cy="4666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108196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5375"/>
            <a:ext cx="9144000" cy="4666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6458191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13260"/>
            <a:ext cx="9144000" cy="4231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5031078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13260"/>
            <a:ext cx="9144000" cy="4231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6751155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34196"/>
            <a:ext cx="9144000" cy="6189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824869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3723"/>
            <a:ext cx="9144000" cy="44505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19758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Case Study: Class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GradeBook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Using an Array to Store Grades (cont.)</a:t>
            </a:r>
          </a:p>
        </p:txBody>
      </p:sp>
      <p:sp>
        <p:nvSpPr>
          <p:cNvPr id="819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size of the array is specified as a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member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so that it’s accessible to the clients of the class.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so that this data member is constant.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so that the data member is shared by all objects of the class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are variables for which each object of a class does not have a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separate copy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That’s the case with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data members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are also known as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class variables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objects of a class containing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members are created, all the objects share one copy of the class’s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members.</a:t>
            </a:r>
          </a:p>
        </p:txBody>
      </p:sp>
      <p:sp>
        <p:nvSpPr>
          <p:cNvPr id="849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7.6  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Case Study: Class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GradeBook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Using an Array to Store Grades (cont.)</a:t>
            </a:r>
          </a:p>
        </p:txBody>
      </p:sp>
      <p:sp>
        <p:nvSpPr>
          <p:cNvPr id="829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member can be accessed within the class definition and the member-function definitions like any other data member.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static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data member can also be accessed outside of the class,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even when no objects of the class exist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using the class name followed by the binary scope resolution operator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the name of the data member.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62013"/>
            <a:ext cx="9144000" cy="5132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5784974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7.7  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Sorting and Searching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849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this section, we use the built-in C++ Standard Library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 to arrange the elements in an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into ascending order and the built-in </a:t>
            </a:r>
            <a:r>
              <a:rPr lang="en-US" altLang="en-US" sz="25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 to determine whether a value is in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7.7.1  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Sorting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Sorting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data—placing it into ascending or descending order—is one of the most important computing applications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7.7.2  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Searching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Often it may be necessary to determine whether an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contains a value that matches a certain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key value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is called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searching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842083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7.7.2  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Searching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 7.15 begins by creating an unsorted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and displaying the contents of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 21 uses C++ Standard Library function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sort the elements of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colors into ascending order.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25–276 display the contents of the sorted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36428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7.7  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Sorting and Searching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870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30 and 354 demonstrate use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determine whether a value is in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sequence of values must be sorted in ascending order first—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binary_search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does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verify this for you.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function’s first two arguments represent the range of elements to search and the third is the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search key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—the value to locate in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function returns a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bool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indicating whether the value was found. </a:t>
            </a:r>
          </a:p>
        </p:txBody>
      </p:sp>
      <p:sp>
        <p:nvSpPr>
          <p:cNvPr id="901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34196"/>
            <a:ext cx="9144000" cy="6189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523197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8256"/>
            <a:ext cx="9143999" cy="65814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466041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Multidimensional Arrays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use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with two dimensions (i.e., subscripts) to represent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tables of values 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consisting of information arranged in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rows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columns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identify a particular table element, we must specify two subscripts—by convention, the first identifies the element’s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row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the second identifies the element’s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column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Often called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two-dimensional arrays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2-D arrays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Arrays with two or more dimensions are known as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multidimensional arrays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7.16 illustrates a two-dimensional array,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array contains three rows and four columns, so it’s said to be a 3-by-4 array.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general, an array with 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 rows and n columns is called an </a:t>
            </a:r>
            <a:r>
              <a:rPr lang="en-US" altLang="en-US" sz="2000" i="1" dirty="0" smtClean="0">
                <a:solidFill>
                  <a:srgbClr val="0000FF"/>
                </a:solidFill>
                <a:latin typeface="Cambria" panose="02040503050406030204" pitchFamily="18" charset="0"/>
              </a:rPr>
              <a:t>m</a:t>
            </a:r>
            <a:r>
              <a:rPr lang="en-US" altLang="en-US" sz="20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-by-</a:t>
            </a:r>
            <a:r>
              <a:rPr lang="en-US" altLang="en-US" sz="2000" i="1" dirty="0" smtClean="0">
                <a:solidFill>
                  <a:srgbClr val="0000FF"/>
                </a:solidFill>
                <a:latin typeface="Cambria" panose="02040503050406030204" pitchFamily="18" charset="0"/>
              </a:rPr>
              <a:t>n </a:t>
            </a:r>
            <a:r>
              <a:rPr lang="en-US" altLang="en-US" sz="20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array</a:t>
            </a:r>
            <a:r>
              <a:rPr lang="en-US" altLang="en-US" sz="20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12069"/>
            <a:ext cx="9144000" cy="4233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0051589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2841"/>
            <a:ext cx="9144000" cy="33123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135167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 7.17 demonstrates initializing two-dimensional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in declarations.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each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type of its elements is specified as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array&lt;</a:t>
            </a:r>
            <a:r>
              <a:rPr 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columns&gt;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E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ach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contains as its elements three-element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values—the constant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columns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has the value 3.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43655"/>
            <a:ext cx="9143999" cy="5970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381879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8577"/>
            <a:ext cx="9144000" cy="5860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5654326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Nested Range-Based 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process the elements of a two-dimensional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we use a nested loop in which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outer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loop iterates through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rows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inner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loop iterates through the </a:t>
            </a:r>
            <a:r>
              <a:rPr 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columns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a given row.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C++11 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auto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keyword tells the compiler to infer (determine) a variable’s data type based on the variable’s initializer value.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7.8  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Multidimensional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s (cont.)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Nested Counter-Controlled 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could have implemented the nested loop with counter-controlled iteration as follows:</a:t>
            </a: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row = </a:t>
            </a:r>
            <a:r>
              <a:rPr lang="en-US" sz="16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row &lt; a.size(); ++row) {</a:t>
            </a:r>
          </a:p>
          <a:p>
            <a:pPr marL="109537" indent="0">
              <a:lnSpc>
                <a:spcPct val="80000"/>
              </a:lnSpc>
              <a:buNone/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column = </a:t>
            </a:r>
            <a:r>
              <a:rPr lang="en-US" sz="16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column &lt; a[row].size(); ++column)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cout &lt;&lt; a[row][column] &lt;&lt; </a:t>
            </a:r>
            <a:r>
              <a:rPr lang="en-US" sz="16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' '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b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cout &lt;&lt; endl;</a:t>
            </a:r>
          </a:p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7.9  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Case Study: Class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GradeBook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Using a Two-Dimensional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array</a:t>
            </a:r>
          </a:p>
        </p:txBody>
      </p:sp>
      <p:sp>
        <p:nvSpPr>
          <p:cNvPr id="983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most semesters, students take several exams.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Professors are likely to want to analyze grades across the entire semester, both for a single student and for the class as a whole.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7.18 shows the output that summarizes 10 students grades on three exams.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store the grades as a two-dimensional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an object of the next version of class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GradeBook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Figures 7.19–7.20.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row of the array represents a single student’s grades for the entire course, and each column represents all the grades the students earned for one particular exam.</a:t>
            </a:r>
          </a:p>
        </p:txBody>
      </p:sp>
      <p:sp>
        <p:nvSpPr>
          <p:cNvPr id="1075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8882"/>
            <a:ext cx="9144000" cy="62602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5819939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28788"/>
            <a:ext cx="9144000" cy="340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6165698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6553"/>
            <a:ext cx="9144000" cy="622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352914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1256"/>
            <a:ext cx="9144000" cy="5355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361540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4266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0456537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1256"/>
            <a:ext cx="9144000" cy="5355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7271596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1256"/>
            <a:ext cx="9144000" cy="5355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9617529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8244"/>
            <a:ext cx="9144000" cy="4481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447424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67979"/>
            <a:ext cx="9144000" cy="49208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6024929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6553"/>
            <a:ext cx="9144000" cy="622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5906335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4266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946700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6344"/>
            <a:ext cx="9144000" cy="6006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514893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36299"/>
            <a:ext cx="9143999" cy="5786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66837456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9781"/>
            <a:ext cx="9144000" cy="2738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8945011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Standard Library class template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similar to class template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but also supports dynamic resizing.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Except for the features that modify a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other features shown in Fig. 7.21 also work for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Standard class template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defined in header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&lt;vector&gt;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(line 5) and belongs to namespace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1228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2265396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1197"/>
            <a:ext cx="9144000" cy="5535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3582270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7165"/>
            <a:ext cx="9143999" cy="662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73263828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69273"/>
            <a:ext cx="9144000" cy="53201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7094258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4640"/>
            <a:ext cx="9144000" cy="6409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269953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0627"/>
            <a:ext cx="9144000" cy="6056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58106459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8010"/>
            <a:ext cx="9144000" cy="4420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5341856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28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By default, all the elements of a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object are set to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can be defined to store most data types.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member function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size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obtain the number of elements in the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with class template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you can also do this using a counter-controlled loop and the subscript (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operator. </a:t>
            </a:r>
          </a:p>
        </p:txBody>
      </p:sp>
      <p:sp>
        <p:nvSpPr>
          <p:cNvPr id="1331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28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Notice that we used parentheses rather than braces to pass the size argument to each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object’s constructor. </a:t>
            </a: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creating a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if the braces contain one value of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’s element type, the braces are treated as a one-element initializer list, rather than a call to the constructor that sets the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’s size. </a:t>
            </a: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he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following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declaration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actually creates a one-element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containing the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value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not a 7-element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endParaRPr lang="en-US" altLang="en-US" sz="2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integers1{7}; </a:t>
            </a:r>
          </a:p>
          <a:p>
            <a:pPr>
              <a:lnSpc>
                <a:spcPct val="9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331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58931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39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use the assignment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operator with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objects.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is the case with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s, C++ is not required to perform bounds checking when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elements are accessed with square brackets.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Standard class template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provides bounds checking in its member function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 (as does class template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49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</a:t>
            </a:r>
            <a:r>
              <a:rPr lang="en-US" altLang="en-US" sz="26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exception </a:t>
            </a:r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indicates a problem that occurs while a program executes. </a:t>
            </a:r>
          </a:p>
          <a:p>
            <a:pPr eaLnBrk="1" hangingPunct="1"/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name “exception” suggests that the problem occurs infrequently.</a:t>
            </a:r>
          </a:p>
          <a:p>
            <a:pPr eaLnBrk="1" hangingPunct="1"/>
            <a:r>
              <a:rPr lang="en-US" altLang="en-US" sz="26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Exception handling </a:t>
            </a:r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enables you to create </a:t>
            </a:r>
            <a:r>
              <a:rPr lang="en-US" altLang="en-US" sz="26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fault-tolerant programs </a:t>
            </a:r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 can resolve (or handle) exceptions.</a:t>
            </a:r>
          </a:p>
          <a:p>
            <a:pPr eaLnBrk="1" hangingPunct="1"/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function detects a problem, such as an invalid </a:t>
            </a:r>
            <a:r>
              <a:rPr lang="en-US" altLang="en-US" sz="2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subscript or an invalid argument, it </a:t>
            </a:r>
            <a:r>
              <a:rPr lang="en-US" altLang="en-US" sz="26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throws</a:t>
            </a:r>
            <a:r>
              <a:rPr lang="en-US" altLang="en-US" sz="26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 exception—that is, an exception occurs. 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259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handle an exception, place any code that might throw an exception in a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block contains the code that might throw an exception, and the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catch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block contains the code that handles the exception if one occurs.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can have many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catch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blocks to handle different types of exceptions that might be thrown in the corresponding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block.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member function </a:t>
            </a:r>
            <a:r>
              <a:rPr lang="en-US" alt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provides bounds checking and throws an exception if its argument is an invalid subscript. </a:t>
            </a:r>
          </a:p>
          <a:p>
            <a:pPr eaLnBrk="1" hangingPunct="1"/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By default, this causes a C++ program to terminate.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7_Page_7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0460"/>
            <a:ext cx="9144000" cy="3317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2747573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372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Changing the Size of a 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 </a:t>
            </a:r>
          </a:p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One of the key differences between a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an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that a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can dynamically grow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and shrink as the number of elements it needs to accommodate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varies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  <a:endParaRPr lang="en-US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demonstrate this, line 88 shows the current size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line 89 calls 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push_back</a:t>
            </a:r>
            <a:r>
              <a:rPr 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member function to add a new element containing 1000 to the end of 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line 90 shows the new size of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 92 then displays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integers3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’s new contents.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Calibri" panose="020F0502020204030204" pitchFamily="34" charset="0"/>
              </a:rPr>
              <a:t>7.10  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Introduction to C++ Standard Library Class Template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3380E6"/>
                </a:solidFill>
                <a:latin typeface="Calibri" panose="020F0502020204030204" pitchFamily="34" charset="0"/>
              </a:rPr>
              <a:t> (cont.)</a:t>
            </a:r>
          </a:p>
        </p:txBody>
      </p:sp>
      <p:sp>
        <p:nvSpPr>
          <p:cNvPr id="1372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C++11: List Initializing a </a:t>
            </a:r>
            <a:r>
              <a:rPr lang="en-US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Many of the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examples in this chapter used list initializers to specify the initial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element values. </a:t>
            </a: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C++11 also allows this for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 (and other C++ Standard Library data structures). </a:t>
            </a:r>
          </a:p>
        </p:txBody>
      </p:sp>
      <p:sp>
        <p:nvSpPr>
          <p:cNvPr id="1341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2014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1505</TotalTime>
  <Words>2660</Words>
  <Application>Microsoft Office PowerPoint</Application>
  <PresentationFormat>On-screen Show (4:3)</PresentationFormat>
  <Paragraphs>229</Paragraphs>
  <Slides>111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2" baseType="lpstr">
      <vt:lpstr>Concourse</vt:lpstr>
      <vt:lpstr>Class Templates array and vector; Catching Exceptions</vt:lpstr>
      <vt:lpstr>Slide 2</vt:lpstr>
      <vt:lpstr>Slide 3</vt:lpstr>
      <vt:lpstr>Slide 4</vt:lpstr>
      <vt:lpstr>7.1  Introduction</vt:lpstr>
      <vt:lpstr>7.2  arrays</vt:lpstr>
      <vt:lpstr>Slide 7</vt:lpstr>
      <vt:lpstr>Slide 8</vt:lpstr>
      <vt:lpstr>Slide 9</vt:lpstr>
      <vt:lpstr>7.3  Declaring arrays</vt:lpstr>
      <vt:lpstr>7.4  Examples Using arrays</vt:lpstr>
      <vt:lpstr>7.4.1 Declaring an array and Using a Loop to Initialize the array’s Elements</vt:lpstr>
      <vt:lpstr>Slide 13</vt:lpstr>
      <vt:lpstr>Slide 14</vt:lpstr>
      <vt:lpstr>7.4.2 Initializing an array in a Declaration with an Initializer List</vt:lpstr>
      <vt:lpstr>Slide 16</vt:lpstr>
      <vt:lpstr>7.4.3 Specifying an array’s Size with a Constant Variable and Setting array Elements with Calculations</vt:lpstr>
      <vt:lpstr>Slide 18</vt:lpstr>
      <vt:lpstr>Slide 19</vt:lpstr>
      <vt:lpstr>Slide 20</vt:lpstr>
      <vt:lpstr>Slide 21</vt:lpstr>
      <vt:lpstr>Slide 22</vt:lpstr>
      <vt:lpstr>7.4.4 Summing the Elements of an array</vt:lpstr>
      <vt:lpstr>Slide 24</vt:lpstr>
      <vt:lpstr>7.4.5 Using Bar Charts to Display array Data Graphically</vt:lpstr>
      <vt:lpstr>Slide 26</vt:lpstr>
      <vt:lpstr>Slide 27</vt:lpstr>
      <vt:lpstr>Slide 28</vt:lpstr>
      <vt:lpstr>7.4.6 Using the Elements of an array as Counters</vt:lpstr>
      <vt:lpstr>Slide 30</vt:lpstr>
      <vt:lpstr>Slide 31</vt:lpstr>
      <vt:lpstr>7.4.7 Using arrays to Summarize Survey Results</vt:lpstr>
      <vt:lpstr>Slide 33</vt:lpstr>
      <vt:lpstr>Slide 34</vt:lpstr>
      <vt:lpstr>7.4.7 Using arrays to Summarize Survey Results</vt:lpstr>
      <vt:lpstr>Slide 36</vt:lpstr>
      <vt:lpstr>Slide 37</vt:lpstr>
      <vt:lpstr>7.4.8 Static Local arrays and Automatic Local arrays</vt:lpstr>
      <vt:lpstr>Slide 39</vt:lpstr>
      <vt:lpstr>Slide 40</vt:lpstr>
      <vt:lpstr>Slide 41</vt:lpstr>
      <vt:lpstr>Slide 42</vt:lpstr>
      <vt:lpstr>Slide 43</vt:lpstr>
      <vt:lpstr>7.5  Range-Based for Statement</vt:lpstr>
      <vt:lpstr>Slide 45</vt:lpstr>
      <vt:lpstr>Slide 46</vt:lpstr>
      <vt:lpstr>Slide 47</vt:lpstr>
      <vt:lpstr>7.5  Range-Based for Statement (cont.)</vt:lpstr>
      <vt:lpstr>7.5  Range-Based for Statement (cont.)</vt:lpstr>
      <vt:lpstr>7.5  Range-Based for Statement (cont.)</vt:lpstr>
      <vt:lpstr>7.6  Case Study: Class GradeBook Using an array to Store Grades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7.6  Case Study: Class GradeBook Using an Array to Store Grades (cont.)</vt:lpstr>
      <vt:lpstr>7.6  Case Study: Class GradeBook Using an Array to Store Grades (cont.)</vt:lpstr>
      <vt:lpstr>Slide 65</vt:lpstr>
      <vt:lpstr>7.7  Sorting and Searching arrays</vt:lpstr>
      <vt:lpstr>7.7.1  Sorting</vt:lpstr>
      <vt:lpstr>7.7.2  Searching</vt:lpstr>
      <vt:lpstr>7.7.2  Searching</vt:lpstr>
      <vt:lpstr>7.7  Sorting and Searching arrays (cont.)</vt:lpstr>
      <vt:lpstr>Slide 71</vt:lpstr>
      <vt:lpstr>Slide 72</vt:lpstr>
      <vt:lpstr>7.8  Multidimensional Arrays</vt:lpstr>
      <vt:lpstr>Slide 74</vt:lpstr>
      <vt:lpstr>Slide 75</vt:lpstr>
      <vt:lpstr>7.8  Multidimensional arrays (cont.)</vt:lpstr>
      <vt:lpstr>Slide 77</vt:lpstr>
      <vt:lpstr>Slide 78</vt:lpstr>
      <vt:lpstr>7.8  Multidimensional arrays (cont.)</vt:lpstr>
      <vt:lpstr>7.8  Multidimensional arrays (cont.)</vt:lpstr>
      <vt:lpstr>7.9  Case Study: Class GradeBook Using a Two-Dimensional array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7.10  Introduction to C++ Standard Library Class Template vector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7.10  Introduction to C++ Standard Library Class Template vector (cont.)</vt:lpstr>
      <vt:lpstr>Slide 109</vt:lpstr>
      <vt:lpstr>7.10  Introduction to C++ Standard Library Class Template vector (cont.)</vt:lpstr>
      <vt:lpstr>7.10  Introduction to C++ Standard Library Class Template vector (cont.)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and Vectors</dc:title>
  <dc:creator>Windows User</dc:creator>
  <cp:lastModifiedBy>Binod</cp:lastModifiedBy>
  <cp:revision>48</cp:revision>
  <dcterms:created xsi:type="dcterms:W3CDTF">2009-09-14T16:00:56Z</dcterms:created>
  <dcterms:modified xsi:type="dcterms:W3CDTF">2016-09-22T10:05:45Z</dcterms:modified>
</cp:coreProperties>
</file>