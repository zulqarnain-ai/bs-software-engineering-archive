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5"/>
    <p:sldMasterId id="2147483661" r:id="rId6"/>
    <p:sldMasterId id="214748366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y="6858000" cx="9144000"/>
  <p:notesSz cx="6858000" cy="9144000"/>
  <p:embeddedFontLst>
    <p:embeddedFont>
      <p:font typeface="Tahoma"/>
      <p:regular r:id="rId34"/>
      <p:bold r:id="rId35"/>
    </p:embeddedFont>
    <p:embeddedFont>
      <p:font typeface="Helvetica Neue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E1A671-97D5-4362-9B7A-0CB9E278DEDC}">
  <a:tblStyle styleId="{EBE1A671-97D5-4362-9B7A-0CB9E278DE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font" Target="fonts/Tahoma-bold.fntdata"/><Relationship Id="rId12" Type="http://schemas.openxmlformats.org/officeDocument/2006/relationships/slide" Target="slides/slide4.xml"/><Relationship Id="rId34" Type="http://schemas.openxmlformats.org/officeDocument/2006/relationships/font" Target="fonts/Tahoma-regular.fntdata"/><Relationship Id="rId15" Type="http://schemas.openxmlformats.org/officeDocument/2006/relationships/slide" Target="slides/slide7.xml"/><Relationship Id="rId37" Type="http://schemas.openxmlformats.org/officeDocument/2006/relationships/font" Target="fonts/HelveticaNeue-bold.fntdata"/><Relationship Id="rId14" Type="http://schemas.openxmlformats.org/officeDocument/2006/relationships/slide" Target="slides/slide6.xml"/><Relationship Id="rId36" Type="http://schemas.openxmlformats.org/officeDocument/2006/relationships/font" Target="fonts/HelveticaNeue-regular.fntdata"/><Relationship Id="rId17" Type="http://schemas.openxmlformats.org/officeDocument/2006/relationships/slide" Target="slides/slide9.xml"/><Relationship Id="rId39" Type="http://schemas.openxmlformats.org/officeDocument/2006/relationships/font" Target="fonts/HelveticaNeue-boldItalic.fntdata"/><Relationship Id="rId16" Type="http://schemas.openxmlformats.org/officeDocument/2006/relationships/slide" Target="slides/slide8.xml"/><Relationship Id="rId38" Type="http://schemas.openxmlformats.org/officeDocument/2006/relationships/font" Target="fonts/HelveticaNeue-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Analysis – The decomposition of a problem into smaller more manageable parts.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Synthesis – Building a solution from authenticated parts.</a:t>
            </a:r>
            <a:endParaRPr/>
          </a:p>
        </p:txBody>
      </p:sp>
      <p:sp>
        <p:nvSpPr>
          <p:cNvPr id="92" name="Google Shape;92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Connection can be by containment, DFDs for example, or Epics.</a:t>
            </a:r>
            <a:endParaRPr/>
          </a:p>
        </p:txBody>
      </p:sp>
      <p:sp>
        <p:nvSpPr>
          <p:cNvPr id="140" name="Google Shape;140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This is a typical MIL-STD traceability tree.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User Acceptance Testing (UAT)</a:t>
            </a:r>
            <a:endParaRPr/>
          </a:p>
        </p:txBody>
      </p:sp>
      <p:sp>
        <p:nvSpPr>
          <p:cNvPr id="176" name="Google Shape;176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Why trace across – so that we are not duplicating information. Change in one place.</a:t>
            </a:r>
            <a:endParaRPr/>
          </a:p>
        </p:txBody>
      </p:sp>
      <p:sp>
        <p:nvSpPr>
          <p:cNvPr id="194" name="Google Shape;194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Allows for manageable partial traceability models</a:t>
            </a:r>
            <a:endParaRPr/>
          </a:p>
        </p:txBody>
      </p:sp>
      <p:sp>
        <p:nvSpPr>
          <p:cNvPr id="244" name="Google Shape;244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143000" y="1676400"/>
            <a:ext cx="685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371600" y="4038600"/>
            <a:ext cx="6400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1295400" y="304800"/>
            <a:ext cx="7648575" cy="7762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1182688" y="1295400"/>
            <a:ext cx="3810000" cy="4837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5145088" y="1295400"/>
            <a:ext cx="3810000" cy="4837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 rot="5400000">
            <a:off x="5069682" y="2247107"/>
            <a:ext cx="5827713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 rot="5400000">
            <a:off x="1107282" y="380206"/>
            <a:ext cx="5827713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 rot="5400000">
            <a:off x="2650331" y="-172244"/>
            <a:ext cx="4837112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60" name="Google Shape;60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1182688" y="1295400"/>
            <a:ext cx="3810000" cy="4837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81" name="Google Shape;81;p14"/>
          <p:cNvSpPr txBox="1"/>
          <p:nvPr>
            <p:ph idx="2" type="body"/>
          </p:nvPr>
        </p:nvSpPr>
        <p:spPr>
          <a:xfrm>
            <a:off x="5145088" y="1295400"/>
            <a:ext cx="3810000" cy="4837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87" name="Google Shape;87;p15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52400" y="6477000"/>
            <a:ext cx="25908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2009 copyright Leslie Munday University</a:t>
            </a:r>
            <a:endParaRPr/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28600" y="152400"/>
            <a:ext cx="1219200" cy="90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/>
        </p:nvSpPr>
        <p:spPr>
          <a:xfrm>
            <a:off x="442912" y="1019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"/>
          <p:cNvSpPr txBox="1"/>
          <p:nvPr/>
        </p:nvSpPr>
        <p:spPr>
          <a:xfrm>
            <a:off x="152400" y="6477000"/>
            <a:ext cx="25908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b="0" i="0" lang="en-US" sz="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Leslie Munday 2008</a:t>
            </a:r>
            <a:endParaRPr/>
          </a:p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7600" y="6162675"/>
            <a:ext cx="762000" cy="6318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www.lulu.com/shop/leslie-munday/analysis-through-pictures/ebook/product-18335194.html" TargetMode="External"/><Relationship Id="rId4" Type="http://schemas.openxmlformats.org/officeDocument/2006/relationships/hyperlink" Target="http://www.slideshare.net/baldrick98007/introduction-to-reqpro-presentation" TargetMode="External"/><Relationship Id="rId5" Type="http://schemas.openxmlformats.org/officeDocument/2006/relationships/hyperlink" Target="about:blank" TargetMode="External"/><Relationship Id="rId6" Type="http://schemas.openxmlformats.org/officeDocument/2006/relationships/hyperlink" Target="https://jazz.net/products/rational-doors-next-gener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1143000" y="1676400"/>
            <a:ext cx="685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Requirements Management </a:t>
            </a:r>
            <a:b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and Traceability</a:t>
            </a:r>
            <a:endParaRPr/>
          </a:p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371600" y="4038600"/>
            <a:ext cx="6400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Muhammad Usman Shahid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Contents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bit about requirements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Some definitions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Define requirements management and traceability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Trace models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Some examples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Personal experiences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 &amp; A</a:t>
            </a:r>
            <a:endParaRPr/>
          </a:p>
          <a:p>
            <a:pPr indent="-2209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Requirements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685800" y="1295400"/>
            <a:ext cx="8269287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do we bother with requirements?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 we know what we are doing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 we know why we are doing it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 we know if we are doing it right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 we know if we are doing the right thing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 that we can assess the costs to do the work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Etc ..</a:t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What Is A Requirement?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762000" y="1295400"/>
            <a:ext cx="80010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20"/>
              <a:buFont typeface="Noto Sans Symbols"/>
              <a:buChar char="■"/>
            </a:pPr>
            <a:r>
              <a:rPr b="0" i="0" lang="en-US" sz="27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requirement is NOT just a line of text.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folHlink"/>
              </a:buClr>
              <a:buSzPts val="1620"/>
              <a:buFont typeface="Noto Sans Symbols"/>
              <a:buChar char="■"/>
            </a:pPr>
            <a:r>
              <a:rPr b="0" i="0" lang="en-US" sz="27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requirement is some ‘thing’ that allows us to verify that the system implementation is going to be ‘correct’.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requirement is verifiable.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may be described by text.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may be described with images.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has a number of attributes that allow it to be verified, such as boundary conditions, states under which the requirement is in effect, input or triggering data, expected output or results, timing.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requirements specification languages Z, VDM, how about OCL?</a:t>
            </a:r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Requirements Management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533400" y="1295400"/>
            <a:ext cx="8421687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Requirements management is the procedures and guidelines for ensuring that requirements are: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Satisfied – Did we capture all the business needs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Feasible – Can we do this within budget and resource constraints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Justified – Do we need to be doing this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Consistent – Are we doing this right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Testable – Are we doing the right thing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Etc (For example, organized such that we can find requirements).</a:t>
            </a:r>
            <a:endParaRPr/>
          </a:p>
          <a:p>
            <a:pPr indent="-243840" lvl="0" marL="342900" marR="0" rtl="0" algn="l"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156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Traceability Definition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ability to identify and document the lineage of each requirement, including its derivation (backward traceability),  its allocation (forward traceability), and its relationship to other requirements.</a:t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What is Traceability?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62000" y="1295400"/>
            <a:ext cx="78486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Traceability is the act of connecting a requirement to( ), from( ) or across(   ), any other artifact produced during development, including: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Business need – Connects to system requirements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Requirement – Connects to business needs, to design modules and test cases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Design module – Connects to system requirements and to test cases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hlink"/>
              </a:buClr>
              <a:buSzPts val="1430"/>
              <a:buFont typeface="Noto Sans Symbols"/>
              <a:buChar char="■"/>
            </a:pPr>
            <a:r>
              <a:rPr b="0" i="0" lang="en-US" sz="2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Test case – Connects to system requirements and to design modules.</a:t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3586162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5491162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cxnSp>
        <p:nvCxnSpPr>
          <p:cNvPr id="146" name="Google Shape;146;p22"/>
          <p:cNvCxnSpPr/>
          <p:nvPr/>
        </p:nvCxnSpPr>
        <p:spPr>
          <a:xfrm>
            <a:off x="5332412" y="16764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triangle"/>
            <a:tailEnd len="med" w="med" type="none"/>
          </a:ln>
        </p:spPr>
      </p:cxnSp>
      <p:cxnSp>
        <p:nvCxnSpPr>
          <p:cNvPr id="147" name="Google Shape;147;p22"/>
          <p:cNvCxnSpPr/>
          <p:nvPr/>
        </p:nvCxnSpPr>
        <p:spPr>
          <a:xfrm>
            <a:off x="3886200" y="1676400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48" name="Google Shape;148;p22"/>
          <p:cNvCxnSpPr/>
          <p:nvPr/>
        </p:nvCxnSpPr>
        <p:spPr>
          <a:xfrm>
            <a:off x="7315200" y="18796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Simple Traceability Tree</a:t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pic>
        <p:nvPicPr>
          <p:cNvPr id="156" name="Google Shape;156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112" y="1295400"/>
            <a:ext cx="5289550" cy="4837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What Do We Get From Simple  Traceability?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Managing the lifecycle of a set of requirements.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Allows us to identify the origin of each requirement.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Tracks the reason for every change made to the requirement.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Allows </a:t>
            </a:r>
            <a:r>
              <a:rPr b="1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justification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for the implementation and deployment of a requirement.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Ensures that implementation and deployment </a:t>
            </a:r>
            <a:r>
              <a:rPr b="1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satisfies</a:t>
            </a:r>
            <a:r>
              <a:rPr b="0" i="0" lang="en-US" sz="3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requirements.</a:t>
            </a:r>
            <a:endParaRPr/>
          </a:p>
          <a:p>
            <a:pPr indent="-2286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Types Of Requirement 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838200" y="1295400"/>
            <a:ext cx="8116887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Requirements come in many flavors: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Functional requirements – Describe a feature that can be observed over a period of time.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Non-Functional requirement – Impose restrictions upon functional requirements in terms of: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timing, security, business rules, hardware restrictions, technology constraints, design constraints, and many others.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Business Rule – Restriction on a business need.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More Complicated Traceability Tree</a:t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98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2" name="Google Shape;1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314450"/>
            <a:ext cx="5638800" cy="49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What Can We Get From More Complicated Traceability?</a:t>
            </a:r>
            <a:endParaRPr/>
          </a:p>
        </p:txBody>
      </p:sp>
      <p:sp>
        <p:nvSpPr>
          <p:cNvPr id="188" name="Google Shape;188;p27"/>
          <p:cNvSpPr txBox="1"/>
          <p:nvPr>
            <p:ph idx="1" type="body"/>
          </p:nvPr>
        </p:nvSpPr>
        <p:spPr>
          <a:xfrm>
            <a:off x="914400" y="1295400"/>
            <a:ext cx="8040687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Using traceability to prove requirements are: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Justified – Trace the system requirements from the business needs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Satisfied – Trace the business needs to the system requirements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Feasible – Trace non-functional requirements and functional requirements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Testable – Trace the system requirements to the user acceptance test cases (user stories or use cases).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Realistic Traceability Tree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pic>
        <p:nvPicPr>
          <p:cNvPr id="199" name="Google Shape;199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71600"/>
            <a:ext cx="7772400" cy="41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Tools</a:t>
            </a:r>
            <a:endParaRPr/>
          </a:p>
        </p:txBody>
      </p:sp>
      <p:sp>
        <p:nvSpPr>
          <p:cNvPr id="205" name="Google Shape;205;p29"/>
          <p:cNvSpPr txBox="1"/>
          <p:nvPr>
            <p:ph idx="1" type="body"/>
          </p:nvPr>
        </p:nvSpPr>
        <p:spPr>
          <a:xfrm>
            <a:off x="914400" y="1295400"/>
            <a:ext cx="8040687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(MS Word for example) – Commonly used to create the BFRD (Big Functional Requirements Document). Analysts start with a template and fill out each section with the relevant information. Traceability is performed by making reference to text in another section of the document.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hlink"/>
              </a:buClr>
              <a:buSzPts val="715"/>
              <a:buFont typeface="Noto Sans Symbols"/>
              <a:buChar char="■"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small projects with no more than ~20 system requirements, otherwise  traceability becomes unmanageable and is abandoned before the document is complete.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Spreadsheet (MS Excel for example) – Is an improvement on a text document in that each requirement can be managed as a separate entity and traced to its location in the spreadsheet. Clutter is removed. Easier to manage requirements and reference them as they a moved.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hlink"/>
              </a:buClr>
              <a:buSzPts val="715"/>
              <a:buFont typeface="Noto Sans Symbols"/>
              <a:buChar char="■"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Typically where the business needs are located. May be suitable for projects up to ~100 system requirements, but will become unmanageable since links are managed manually and there is no mechanism for automatically tracking broken links.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Management Tool (ReqPro or DOORS for example) - Using RM tools adds automation to spreadsheets and provides reporting capabilities for tracking broken or suspect traceability links.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hlink"/>
              </a:buClr>
              <a:buSzPts val="715"/>
              <a:buFont typeface="Noto Sans Symbols"/>
              <a:buChar char="■"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for medium sized projects up to ~1000 or so system requirements, after which the manual maintenance becomes to great and traceability is gradually abandoned.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 Tools (Rational, Enterprise Architect for example) - Allows graphical representation of traceability between requirements elements and design elements. Also test cases can be represented and linked via an  interface to the testing tool. 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hlink"/>
              </a:buClr>
              <a:buSzPts val="715"/>
              <a:buFont typeface="Noto Sans Symbols"/>
              <a:buChar char="■"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Excellent way to represent traceability if the requirements are going to be modeled and the model is going to be maintained throughout the life of the project.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5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Shared Repository (SharePoint or Rally for example) – Much more flexible than Excel, but tool setup configuration and some maintenance is required.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260"/>
              </a:spcBef>
              <a:spcAft>
                <a:spcPts val="0"/>
              </a:spcAft>
              <a:buClr>
                <a:schemeClr val="hlink"/>
              </a:buClr>
              <a:buSzPts val="715"/>
              <a:buFont typeface="Noto Sans Symbols"/>
              <a:buChar char="■"/>
            </a:pPr>
            <a:r>
              <a:rPr b="0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agile projects where the requirements are textual based and a simple traceability model is used.</a:t>
            </a:r>
            <a:endParaRPr/>
          </a:p>
        </p:txBody>
      </p:sp>
      <p:sp>
        <p:nvSpPr>
          <p:cNvPr id="206" name="Google Shape;206;p29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Example With Word</a:t>
            </a:r>
            <a:endParaRPr/>
          </a:p>
        </p:txBody>
      </p:sp>
      <p:sp>
        <p:nvSpPr>
          <p:cNvPr id="213" name="Google Shape;213;p30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Tahoma"/>
              <a:buAutoNum type="arabicParenR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Business Needs</a:t>
            </a:r>
            <a:endParaRPr/>
          </a:p>
          <a:p>
            <a:pPr indent="-5143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Tahoma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BN#1: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business need text </a:t>
            </a:r>
            <a:endParaRPr/>
          </a:p>
          <a:p>
            <a:pPr indent="-5143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Tahoma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Etc..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Tahoma"/>
              <a:buAutoNum type="arabicParenR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System requirements</a:t>
            </a:r>
            <a:endParaRPr/>
          </a:p>
          <a:p>
            <a:pPr indent="-5143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Tahoma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SR#01: system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 text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[</a:t>
            </a:r>
            <a:r>
              <a:rPr b="0" i="0" lang="en-US" sz="2800" u="sng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BN#1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Tahoma"/>
              <a:buAutoNum type="arabicParenR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Non-Functional Requirements</a:t>
            </a:r>
            <a:endParaRPr/>
          </a:p>
          <a:p>
            <a:pPr indent="-5143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Tahoma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Performance</a:t>
            </a:r>
            <a:endParaRPr/>
          </a:p>
          <a:p>
            <a:pPr indent="-514350" lvl="1" marL="9715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Tahoma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Security</a:t>
            </a:r>
            <a:endParaRPr/>
          </a:p>
          <a:p>
            <a:pPr indent="-457200" lvl="2" marL="13716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Tahoma"/>
              <a:buAutoNum type="alphaL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NFR#01: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non-functional requirement text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[</a:t>
            </a:r>
            <a:r>
              <a:rPr b="0" i="0" lang="en-US" sz="2400" u="sng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SR#01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]</a:t>
            </a:r>
            <a:endParaRPr/>
          </a:p>
        </p:txBody>
      </p:sp>
      <p:sp>
        <p:nvSpPr>
          <p:cNvPr id="214" name="Google Shape;214;p30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15" name="Google Shape;215;p30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Example Using Excel</a:t>
            </a:r>
            <a:endParaRPr/>
          </a:p>
        </p:txBody>
      </p:sp>
      <p:graphicFrame>
        <p:nvGraphicFramePr>
          <p:cNvPr id="221" name="Google Shape;221;p31"/>
          <p:cNvGraphicFramePr/>
          <p:nvPr/>
        </p:nvGraphicFramePr>
        <p:xfrm>
          <a:off x="1182687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{EBE1A671-97D5-4362-9B7A-0CB9E278DEDC}</a:tableStyleId>
              </a:tblPr>
              <a:tblGrid>
                <a:gridCol w="2017700"/>
                <a:gridCol w="4038600"/>
                <a:gridCol w="171607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Requirement Id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ahoma"/>
                        <a:buNone/>
                      </a:pPr>
                      <a:r>
                        <a:rPr b="1" i="1" lang="en-US" sz="18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Requirement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Trace From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BR:01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b="0" i="1" lang="en-US" sz="1800" u="none" cap="none" strike="noStrik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Business requirement text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sng" cap="none" strike="noStrike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PS:1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SR:001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b="0" i="1" lang="en-US" sz="1800" u="non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System Requirement Text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sng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BR:01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NFR:001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b="0" i="1" lang="en-US" sz="1800" u="non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Non-functional requirement text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sng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SR:001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31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23" name="Google Shape;223;p31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graphicFrame>
        <p:nvGraphicFramePr>
          <p:cNvPr id="224" name="Google Shape;224;p31"/>
          <p:cNvGraphicFramePr/>
          <p:nvPr/>
        </p:nvGraphicFramePr>
        <p:xfrm>
          <a:off x="1219200" y="396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{EBE1A671-97D5-4362-9B7A-0CB9E278DEDC}</a:tableStyleId>
              </a:tblPr>
              <a:tblGrid>
                <a:gridCol w="1981200"/>
                <a:gridCol w="4038600"/>
                <a:gridCol w="1676400"/>
              </a:tblGrid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Test Case Id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Description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Tahoma"/>
                        <a:buNone/>
                      </a:pPr>
                      <a:r>
                        <a:rPr b="1" i="0" lang="en-US" sz="1800" u="none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Trace From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Test Case #001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none">
                          <a:solidFill>
                            <a:srgbClr val="00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Descriptive text</a:t>
                      </a:r>
                      <a:endParaRPr/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Tahoma"/>
                        <a:buNone/>
                      </a:pPr>
                      <a:r>
                        <a:rPr b="0" i="0" lang="en-US" sz="1800" u="sng">
                          <a:solidFill>
                            <a:srgbClr val="0070C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SR:001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sng">
                        <a:solidFill>
                          <a:srgbClr val="0070C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675" marB="4567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"/>
          <p:cNvSpPr txBox="1"/>
          <p:nvPr>
            <p:ph type="title"/>
          </p:nvPr>
        </p:nvSpPr>
        <p:spPr>
          <a:xfrm>
            <a:off x="1295400" y="366712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Requirements Management Tool (ReqPro)</a:t>
            </a:r>
            <a:endParaRPr/>
          </a:p>
        </p:txBody>
      </p:sp>
      <p:sp>
        <p:nvSpPr>
          <p:cNvPr id="230" name="Google Shape;230;p32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31" name="Google Shape;231;p32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pic>
        <p:nvPicPr>
          <p:cNvPr id="232" name="Google Shape;232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962" y="1447800"/>
            <a:ext cx="734695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ReqPro Traceability Matrix</a:t>
            </a:r>
            <a:endParaRPr/>
          </a:p>
        </p:txBody>
      </p:sp>
      <p:sp>
        <p:nvSpPr>
          <p:cNvPr id="238" name="Google Shape;238;p33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39" name="Google Shape;239;p33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pic>
        <p:nvPicPr>
          <p:cNvPr id="240" name="Google Shape;240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295400"/>
            <a:ext cx="4572000" cy="47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Diagraming Traceability</a:t>
            </a:r>
            <a:endParaRPr/>
          </a:p>
        </p:txBody>
      </p:sp>
      <p:sp>
        <p:nvSpPr>
          <p:cNvPr id="247" name="Google Shape;247;p34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48" name="Google Shape;248;p34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pic>
        <p:nvPicPr>
          <p:cNvPr id="249" name="Google Shape;249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81087"/>
            <a:ext cx="8802687" cy="516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SharePoint Example</a:t>
            </a:r>
            <a:endParaRPr/>
          </a:p>
        </p:txBody>
      </p:sp>
      <p:sp>
        <p:nvSpPr>
          <p:cNvPr id="255" name="Google Shape;255;p35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56" name="Google Shape;256;p35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pic>
        <p:nvPicPr>
          <p:cNvPr id="257" name="Google Shape;257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447800"/>
            <a:ext cx="7772400" cy="1976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Traceability Link Graph</a:t>
            </a:r>
            <a:endParaRPr/>
          </a:p>
        </p:txBody>
      </p:sp>
      <p:pic>
        <p:nvPicPr>
          <p:cNvPr id="263" name="Google Shape;263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50" y="1295400"/>
            <a:ext cx="7648575" cy="51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6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65" name="Google Shape;265;p36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7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Why Is Traceability So Hard?</a:t>
            </a:r>
            <a:endParaRPr/>
          </a:p>
        </p:txBody>
      </p:sp>
      <p:sp>
        <p:nvSpPr>
          <p:cNvPr id="272" name="Google Shape;272;p37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20"/>
              <a:buFont typeface="Noto Sans Symbols"/>
              <a:buChar char="■"/>
            </a:pPr>
            <a:r>
              <a:rPr b="0" i="0" lang="en-US" sz="27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Requirements do not trace 1 to many as we go down the tree. 1 requirement may trace to many parent requirements. (Rally.)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folHlink"/>
              </a:buClr>
              <a:buSzPts val="1620"/>
              <a:buFont typeface="Noto Sans Symbols"/>
              <a:buChar char="■"/>
            </a:pPr>
            <a:r>
              <a:rPr b="0" i="0" lang="en-US" sz="27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Requirements change, traceability breaks.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folHlink"/>
              </a:buClr>
              <a:buSzPts val="1620"/>
              <a:buFont typeface="Noto Sans Symbols"/>
              <a:buChar char="■"/>
            </a:pPr>
            <a:r>
              <a:rPr b="0" i="0" lang="en-US" sz="27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Manually intensive, even with the most complex of requirements management tools.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folHlink"/>
              </a:buClr>
              <a:buSzPts val="1620"/>
              <a:buFont typeface="Noto Sans Symbols"/>
              <a:buChar char="■"/>
            </a:pPr>
            <a:r>
              <a:rPr b="0" i="0" lang="en-US" sz="27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Traceability is a guessing game, it is never perfect.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folHlink"/>
              </a:buClr>
              <a:buSzPts val="1620"/>
              <a:buFont typeface="Noto Sans Symbols"/>
              <a:buChar char="■"/>
            </a:pPr>
            <a:r>
              <a:rPr b="0" i="0" lang="en-US" sz="27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understanding why we are performing traceability, why are we tracing this requirement?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40"/>
              </a:spcBef>
              <a:spcAft>
                <a:spcPts val="0"/>
              </a:spcAft>
              <a:buClr>
                <a:schemeClr val="folHlink"/>
              </a:buClr>
              <a:buSzPts val="1620"/>
              <a:buFont typeface="Noto Sans Symbols"/>
              <a:buChar char="■"/>
            </a:pPr>
            <a:r>
              <a:rPr b="0" i="0" lang="en-US" sz="27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More important project tasks. Traceability gets left behind and never catches up.</a:t>
            </a:r>
            <a:endParaRPr/>
          </a:p>
        </p:txBody>
      </p:sp>
      <p:sp>
        <p:nvSpPr>
          <p:cNvPr id="273" name="Google Shape;273;p37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74" name="Google Shape;274;p37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280" name="Google Shape;280;p38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Traceability is about linking one item to another to show a relationship (specifically one of those items is a requirement)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Traceability shows requirements that have no parent business need (not justified)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Traceability shows business needs that have no requirements (not satisfied)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Traceability allows a supplementary (non-functional) requirement to be linked to several functional system requirements, hence removing duplication.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Traceability links from requirements to test cases ensure correct validation of the requirements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folHlink"/>
              </a:buClr>
              <a:buSzPts val="132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Traceability links ensure that when a requirement changes, that all impacted items are identified. (Justify the cost to the business of making a change to the requirements.)</a:t>
            </a:r>
            <a:endParaRPr/>
          </a:p>
        </p:txBody>
      </p:sp>
      <p:sp>
        <p:nvSpPr>
          <p:cNvPr id="281" name="Google Shape;281;p38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82" name="Google Shape;282;p38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Recommendations</a:t>
            </a:r>
            <a:endParaRPr/>
          </a:p>
        </p:txBody>
      </p:sp>
      <p:sp>
        <p:nvSpPr>
          <p:cNvPr id="288" name="Google Shape;288;p39"/>
          <p:cNvSpPr txBox="1"/>
          <p:nvPr>
            <p:ph idx="1" type="body"/>
          </p:nvPr>
        </p:nvSpPr>
        <p:spPr>
          <a:xfrm>
            <a:off x="838200" y="1371600"/>
            <a:ext cx="7964487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 a traceability tree model and enforce it. (Do not allow tracing between requirement types not specified in the model.)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Identify a level of detail to which it is necessary to trace requirements. (Epics vs user stories, Scrum example. Or use cases vs actions, RUP example.) Packaging requirements is a very simple way to maintain traceability.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Understand the benefit of each trace type in the model.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Understand the cost of maintaining the traceability model.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it necessary to maintain the traceability model throughout the whole lifecycle of the project, or is the a point at which diminishing returns on benefit make traceability no longer cost-effective?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it necessary to trace every requirement, or just the important ones?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Manual traceability is laborious and prone to mistakes. Automate the process as much as possible.</a:t>
            </a:r>
            <a:endParaRPr/>
          </a:p>
        </p:txBody>
      </p:sp>
      <p:sp>
        <p:nvSpPr>
          <p:cNvPr id="289" name="Google Shape;289;p39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90" name="Google Shape;290;p39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type="title"/>
          </p:nvPr>
        </p:nvSpPr>
        <p:spPr>
          <a:xfrm>
            <a:off x="1295400" y="304800"/>
            <a:ext cx="7648575" cy="776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FBE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rgbClr val="195FBE"/>
                </a:solidFill>
                <a:latin typeface="Tahoma"/>
                <a:ea typeface="Tahoma"/>
                <a:cs typeface="Tahoma"/>
                <a:sym typeface="Tahoma"/>
              </a:rPr>
              <a:t>References</a:t>
            </a:r>
            <a:endParaRPr/>
          </a:p>
        </p:txBody>
      </p:sp>
      <p:sp>
        <p:nvSpPr>
          <p:cNvPr id="296" name="Google Shape;296;p40"/>
          <p:cNvSpPr txBox="1"/>
          <p:nvPr>
            <p:ph idx="1" type="body"/>
          </p:nvPr>
        </p:nvSpPr>
        <p:spPr>
          <a:xfrm>
            <a:off x="1182687" y="1295400"/>
            <a:ext cx="7772400" cy="483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98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Analysis Through Picture (Chapter 19)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Introduction to RequisitePro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5"/>
              </a:rPr>
              <a:t>Rally traceability links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sng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6"/>
              </a:rPr>
              <a:t>Rational DOORS Next Generation</a:t>
            </a:r>
            <a:endParaRPr/>
          </a:p>
        </p:txBody>
      </p:sp>
      <p:sp>
        <p:nvSpPr>
          <p:cNvPr id="297" name="Google Shape;297;p40"/>
          <p:cNvSpPr txBox="1"/>
          <p:nvPr/>
        </p:nvSpPr>
        <p:spPr>
          <a:xfrm>
            <a:off x="3930650" y="6243637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*</a:t>
            </a:r>
            <a:endParaRPr/>
          </a:p>
        </p:txBody>
      </p:sp>
      <p:sp>
        <p:nvSpPr>
          <p:cNvPr id="298" name="Google Shape;298;p40"/>
          <p:cNvSpPr txBox="1"/>
          <p:nvPr/>
        </p:nvSpPr>
        <p:spPr>
          <a:xfrm>
            <a:off x="5835650" y="6243637"/>
            <a:ext cx="1174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