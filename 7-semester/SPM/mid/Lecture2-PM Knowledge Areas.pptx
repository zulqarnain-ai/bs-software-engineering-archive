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4"/>
  </p:notesMasterIdLst>
  <p:handoutMasterIdLst>
    <p:handoutMasterId r:id="rId25"/>
  </p:handoutMasterIdLst>
  <p:sldIdLst>
    <p:sldId id="308" r:id="rId2"/>
    <p:sldId id="598" r:id="rId3"/>
    <p:sldId id="599" r:id="rId4"/>
    <p:sldId id="256" r:id="rId5"/>
    <p:sldId id="624" r:id="rId6"/>
    <p:sldId id="596" r:id="rId7"/>
    <p:sldId id="625" r:id="rId8"/>
    <p:sldId id="626" r:id="rId9"/>
    <p:sldId id="627" r:id="rId10"/>
    <p:sldId id="628" r:id="rId11"/>
    <p:sldId id="630" r:id="rId12"/>
    <p:sldId id="629" r:id="rId13"/>
    <p:sldId id="631" r:id="rId14"/>
    <p:sldId id="633" r:id="rId15"/>
    <p:sldId id="293" r:id="rId16"/>
    <p:sldId id="632" r:id="rId17"/>
    <p:sldId id="634" r:id="rId18"/>
    <p:sldId id="635" r:id="rId19"/>
    <p:sldId id="636" r:id="rId20"/>
    <p:sldId id="637" r:id="rId21"/>
    <p:sldId id="638" r:id="rId22"/>
    <p:sldId id="679" r:id="rId23"/>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modifyVerifier cryptProviderType="rsaAES" cryptAlgorithmClass="hash" cryptAlgorithmType="typeAny" cryptAlgorithmSid="14" spinCount="100000" saltData="sFpiYag1g4dwilbFgJV47w==" hashData="VKAtG5dmFeI8mcMqNqIgYIzAVpsRpmK97qmEFRkoxtQZDkZ/Q7khPT8QL/wMg9ZZvbo2b8kEwZcRR4mCazr0Nw=="/>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04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132" autoAdjust="0"/>
  </p:normalViewPr>
  <p:slideViewPr>
    <p:cSldViewPr>
      <p:cViewPr varScale="1">
        <p:scale>
          <a:sx n="75" d="100"/>
          <a:sy n="75" d="100"/>
        </p:scale>
        <p:origin x="1428" y="3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44B210D1-BB10-4D3F-84EE-23EFEA341F4D}" type="datetimeFigureOut">
              <a:rPr lang="en-US" smtClean="0"/>
              <a:t>3/5/2025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09735464-44F0-47AE-8A8C-CFA2DB97902C}" type="slidenum">
              <a:rPr lang="en-US" smtClean="0"/>
              <a:t>‹#›</a:t>
            </a:fld>
            <a:endParaRPr lang="en-US"/>
          </a:p>
        </p:txBody>
      </p:sp>
    </p:spTree>
    <p:extLst>
      <p:ext uri="{BB962C8B-B14F-4D97-AF65-F5344CB8AC3E}">
        <p14:creationId xmlns:p14="http://schemas.microsoft.com/office/powerpoint/2010/main" val="773856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398C4478-F009-4084-AF5B-5BBC1C5391ED}" type="datetimeFigureOut">
              <a:rPr lang="en-US"/>
              <a:pPr>
                <a:defRPr/>
              </a:pPr>
              <a:t>3/5/2025</a:t>
            </a:fld>
            <a:endParaRPr lang="en-AU"/>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AU"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AU"/>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4AE8BB69-AF1B-45E0-A550-DEEAC09AE992}" type="slidenum">
              <a:rPr lang="en-AU"/>
              <a:pPr>
                <a:defRPr/>
              </a:pPr>
              <a:t>‹#›</a:t>
            </a:fld>
            <a:endParaRPr lang="en-AU"/>
          </a:p>
        </p:txBody>
      </p:sp>
    </p:spTree>
    <p:extLst>
      <p:ext uri="{BB962C8B-B14F-4D97-AF65-F5344CB8AC3E}">
        <p14:creationId xmlns:p14="http://schemas.microsoft.com/office/powerpoint/2010/main" val="7458512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Tree>
    <p:extLst>
      <p:ext uri="{BB962C8B-B14F-4D97-AF65-F5344CB8AC3E}">
        <p14:creationId xmlns:p14="http://schemas.microsoft.com/office/powerpoint/2010/main" val="429455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6D7BA362-69E2-4DDC-BADC-7B11D5BE817A}" type="datetimeFigureOut">
              <a:rPr lang="en-US"/>
              <a:pPr>
                <a:defRPr/>
              </a:pPr>
              <a:t>3/5/2025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DB08EB19-C617-4428-9A2B-3B89409218EA}" type="slidenum">
              <a:rPr lang="en-AU"/>
              <a:pPr>
                <a:defRPr/>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6"/>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9"/>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7" name="Oval 8"/>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73722BA4-39B3-45A1-A7AC-1F3918C8D142}" type="datetimeFigureOut">
              <a:rPr lang="en-US"/>
              <a:pPr>
                <a:defRPr/>
              </a:pPr>
              <a:t>3/5/2025</a:t>
            </a:fld>
            <a:endParaRPr lang="en-AU"/>
          </a:p>
        </p:txBody>
      </p:sp>
      <p:sp>
        <p:nvSpPr>
          <p:cNvPr id="9" name="Footer Placeholder 4"/>
          <p:cNvSpPr>
            <a:spLocks noGrp="1"/>
          </p:cNvSpPr>
          <p:nvPr>
            <p:ph type="ftr" sz="quarter" idx="11"/>
          </p:nvPr>
        </p:nvSpPr>
        <p:spPr/>
        <p:txBody>
          <a:bodyPr/>
          <a:lstStyle>
            <a:lvl1pPr>
              <a:defRPr/>
            </a:lvl1pPr>
            <a:extLst/>
          </a:lstStyle>
          <a:p>
            <a:pPr>
              <a:defRPr/>
            </a:pPr>
            <a:endParaRPr lang="en-AU"/>
          </a:p>
        </p:txBody>
      </p:sp>
      <p:sp>
        <p:nvSpPr>
          <p:cNvPr id="10" name="Slide Number Placeholder 5"/>
          <p:cNvSpPr>
            <a:spLocks noGrp="1"/>
          </p:cNvSpPr>
          <p:nvPr>
            <p:ph type="sldNum" sz="quarter" idx="12"/>
          </p:nvPr>
        </p:nvSpPr>
        <p:spPr/>
        <p:txBody>
          <a:bodyPr/>
          <a:lstStyle>
            <a:lvl1pPr>
              <a:defRPr/>
            </a:lvl1pPr>
            <a:extLst/>
          </a:lstStyle>
          <a:p>
            <a:pPr>
              <a:defRPr/>
            </a:pPr>
            <a:fld id="{5E03B330-A60E-4F9A-B368-AA9E0D2C0C63}" type="slidenum">
              <a:rPr lang="en-AU"/>
              <a:pPr>
                <a:defRPr/>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fld id="{FAD928D8-2A07-4C9A-AC2B-B87C68A18E32}" type="datetimeFigureOut">
              <a:rPr lang="en-US"/>
              <a:pPr>
                <a:defRPr/>
              </a:pPr>
              <a:t>3/5/2025</a:t>
            </a:fld>
            <a:endParaRPr lang="en-AU"/>
          </a:p>
        </p:txBody>
      </p:sp>
      <p:sp>
        <p:nvSpPr>
          <p:cNvPr id="6" name="Footer Placeholder 9"/>
          <p:cNvSpPr>
            <a:spLocks noGrp="1"/>
          </p:cNvSpPr>
          <p:nvPr>
            <p:ph type="ftr" sz="quarter" idx="11"/>
          </p:nvPr>
        </p:nvSpPr>
        <p:spPr/>
        <p:txBody>
          <a:bodyPr/>
          <a:lstStyle>
            <a:lvl1pPr>
              <a:defRPr/>
            </a:lvl1pPr>
          </a:lstStyle>
          <a:p>
            <a:pPr>
              <a:defRPr/>
            </a:pPr>
            <a:endParaRPr lang="en-AU"/>
          </a:p>
        </p:txBody>
      </p:sp>
      <p:sp>
        <p:nvSpPr>
          <p:cNvPr id="7" name="Slide Number Placeholder 21"/>
          <p:cNvSpPr>
            <a:spLocks noGrp="1"/>
          </p:cNvSpPr>
          <p:nvPr>
            <p:ph type="sldNum" sz="quarter" idx="12"/>
          </p:nvPr>
        </p:nvSpPr>
        <p:spPr/>
        <p:txBody>
          <a:bodyPr/>
          <a:lstStyle>
            <a:lvl1pPr>
              <a:defRPr/>
            </a:lvl1pPr>
          </a:lstStyle>
          <a:p>
            <a:pPr>
              <a:defRPr/>
            </a:pPr>
            <a:fld id="{09FB0840-58FB-42AE-B722-DA08D68A1B7A}" type="slidenum">
              <a:rPr lang="en-AU"/>
              <a:pPr>
                <a:defRPr/>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97E289E5-BF1E-4F65-9039-EDEE690F93CE}" type="datetimeFigureOut">
              <a:rPr lang="en-US"/>
              <a:pPr>
                <a:defRPr/>
              </a:pPr>
              <a:t>3/5/2025</a:t>
            </a:fld>
            <a:endParaRPr lang="en-AU"/>
          </a:p>
        </p:txBody>
      </p:sp>
      <p:sp>
        <p:nvSpPr>
          <p:cNvPr id="8" name="Footer Placeholder 7"/>
          <p:cNvSpPr>
            <a:spLocks noGrp="1"/>
          </p:cNvSpPr>
          <p:nvPr>
            <p:ph type="ftr" sz="quarter" idx="11"/>
          </p:nvPr>
        </p:nvSpPr>
        <p:spPr/>
        <p:txBody>
          <a:bodyPr/>
          <a:lstStyle>
            <a:lvl1pPr>
              <a:defRPr/>
            </a:lvl1pPr>
            <a:extLst/>
          </a:lstStyle>
          <a:p>
            <a:pPr>
              <a:defRPr/>
            </a:pPr>
            <a:endParaRPr lang="en-AU"/>
          </a:p>
        </p:txBody>
      </p:sp>
      <p:sp>
        <p:nvSpPr>
          <p:cNvPr id="9" name="Slide Number Placeholder 8"/>
          <p:cNvSpPr>
            <a:spLocks noGrp="1"/>
          </p:cNvSpPr>
          <p:nvPr>
            <p:ph type="sldNum" sz="quarter" idx="12"/>
          </p:nvPr>
        </p:nvSpPr>
        <p:spPr/>
        <p:txBody>
          <a:bodyPr/>
          <a:lstStyle>
            <a:lvl1pPr>
              <a:defRPr/>
            </a:lvl1pPr>
            <a:extLst/>
          </a:lstStyle>
          <a:p>
            <a:pPr>
              <a:defRPr/>
            </a:pPr>
            <a:fld id="{96944B55-65F2-47D6-AA9A-06DBBEBDF1AA}" type="slidenum">
              <a:rPr lang="en-AU"/>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fld id="{E85752A6-4FF7-4D96-86DC-D5737A5BCD80}" type="datetimeFigureOut">
              <a:rPr lang="en-US"/>
              <a:pPr>
                <a:defRPr/>
              </a:pPr>
              <a:t>3/5/2025</a:t>
            </a:fld>
            <a:endParaRPr lang="en-AU"/>
          </a:p>
        </p:txBody>
      </p:sp>
      <p:sp>
        <p:nvSpPr>
          <p:cNvPr id="4" name="Footer Placeholder 9"/>
          <p:cNvSpPr>
            <a:spLocks noGrp="1"/>
          </p:cNvSpPr>
          <p:nvPr>
            <p:ph type="ftr" sz="quarter" idx="11"/>
          </p:nvPr>
        </p:nvSpPr>
        <p:spPr/>
        <p:txBody>
          <a:bodyPr/>
          <a:lstStyle>
            <a:lvl1pPr>
              <a:defRPr/>
            </a:lvl1pPr>
          </a:lstStyle>
          <a:p>
            <a:pPr>
              <a:defRPr/>
            </a:pPr>
            <a:endParaRPr lang="en-AU"/>
          </a:p>
        </p:txBody>
      </p:sp>
      <p:sp>
        <p:nvSpPr>
          <p:cNvPr id="5" name="Slide Number Placeholder 21"/>
          <p:cNvSpPr>
            <a:spLocks noGrp="1"/>
          </p:cNvSpPr>
          <p:nvPr>
            <p:ph type="sldNum" sz="quarter" idx="12"/>
          </p:nvPr>
        </p:nvSpPr>
        <p:spPr/>
        <p:txBody>
          <a:bodyPr/>
          <a:lstStyle>
            <a:lvl1pPr>
              <a:defRPr/>
            </a:lvl1pPr>
          </a:lstStyle>
          <a:p>
            <a:pPr>
              <a:defRPr/>
            </a:pPr>
            <a:fld id="{6787F683-B714-4840-9F7B-D54158E195FB}" type="slidenum">
              <a:rPr lang="en-AU"/>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Rectangle 5"/>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extLst/>
          </a:lstStyle>
          <a:p>
            <a:pPr>
              <a:defRPr/>
            </a:pPr>
            <a:fld id="{076632DF-7466-44F8-B14F-7E352A8B1400}" type="datetimeFigureOut">
              <a:rPr lang="en-US"/>
              <a:pPr>
                <a:defRPr/>
              </a:pPr>
              <a:t>3/5/2025</a:t>
            </a:fld>
            <a:endParaRPr lang="en-AU"/>
          </a:p>
        </p:txBody>
      </p:sp>
      <p:sp>
        <p:nvSpPr>
          <p:cNvPr id="5" name="Footer Placeholder 2"/>
          <p:cNvSpPr>
            <a:spLocks noGrp="1"/>
          </p:cNvSpPr>
          <p:nvPr>
            <p:ph type="ftr" sz="quarter" idx="11"/>
          </p:nvPr>
        </p:nvSpPr>
        <p:spPr/>
        <p:txBody>
          <a:bodyPr/>
          <a:lstStyle>
            <a:lvl1pPr>
              <a:defRPr/>
            </a:lvl1pPr>
            <a:extLst/>
          </a:lstStyle>
          <a:p>
            <a:pPr>
              <a:defRPr/>
            </a:pPr>
            <a:endParaRPr lang="en-AU"/>
          </a:p>
        </p:txBody>
      </p:sp>
      <p:sp>
        <p:nvSpPr>
          <p:cNvPr id="6" name="Slide Number Placeholder 3"/>
          <p:cNvSpPr>
            <a:spLocks noGrp="1"/>
          </p:cNvSpPr>
          <p:nvPr>
            <p:ph type="sldNum" sz="quarter" idx="12"/>
          </p:nvPr>
        </p:nvSpPr>
        <p:spPr/>
        <p:txBody>
          <a:bodyPr/>
          <a:lstStyle>
            <a:lvl1pPr>
              <a:defRPr/>
            </a:lvl1pPr>
            <a:extLst/>
          </a:lstStyle>
          <a:p>
            <a:pPr>
              <a:defRPr/>
            </a:pPr>
            <a:fld id="{9B62068E-3DF5-4F07-A479-6ECFC5B4334B}" type="slidenum">
              <a:rPr lang="en-AU"/>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2FF663F3-C0EA-42A8-9D3C-15DAC77F7ABD}" type="datetimeFigureOut">
              <a:rPr lang="en-US"/>
              <a:pPr>
                <a:defRPr/>
              </a:pPr>
              <a:t>3/5/2025</a:t>
            </a:fld>
            <a:endParaRPr lang="en-AU"/>
          </a:p>
        </p:txBody>
      </p:sp>
      <p:sp>
        <p:nvSpPr>
          <p:cNvPr id="6" name="Footer Placeholder 5"/>
          <p:cNvSpPr>
            <a:spLocks noGrp="1"/>
          </p:cNvSpPr>
          <p:nvPr>
            <p:ph type="ftr" sz="quarter" idx="11"/>
          </p:nvPr>
        </p:nvSpPr>
        <p:spPr/>
        <p:txBody>
          <a:bodyPr/>
          <a:lstStyle>
            <a:lvl1pPr>
              <a:defRPr/>
            </a:lvl1pPr>
            <a:extLst/>
          </a:lstStyle>
          <a:p>
            <a:pPr>
              <a:defRPr/>
            </a:pPr>
            <a:endParaRPr lang="en-AU"/>
          </a:p>
        </p:txBody>
      </p:sp>
      <p:sp>
        <p:nvSpPr>
          <p:cNvPr id="7" name="Slide Number Placeholder 6"/>
          <p:cNvSpPr>
            <a:spLocks noGrp="1"/>
          </p:cNvSpPr>
          <p:nvPr>
            <p:ph type="sldNum" sz="quarter" idx="12"/>
          </p:nvPr>
        </p:nvSpPr>
        <p:spPr/>
        <p:txBody>
          <a:bodyPr/>
          <a:lstStyle>
            <a:lvl1pPr>
              <a:defRPr/>
            </a:lvl1pPr>
            <a:extLst/>
          </a:lstStyle>
          <a:p>
            <a:pPr>
              <a:defRPr/>
            </a:pPr>
            <a:fld id="{B1A95174-CFA5-499D-88D0-D09D2FB1806C}" type="slidenum">
              <a:rPr lang="en-AU"/>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endParaRPr>
          </a:p>
        </p:txBody>
      </p:sp>
      <p:sp>
        <p:nvSpPr>
          <p:cNvPr id="6" name="Flowchart: Process 8"/>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lowchart: Process 9"/>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532F19D3-364E-4BE1-AB1D-9389337F1716}" type="datetimeFigureOut">
              <a:rPr lang="en-US"/>
              <a:pPr>
                <a:defRPr/>
              </a:pPr>
              <a:t>3/5/2025</a:t>
            </a:fld>
            <a:endParaRPr lang="en-AU"/>
          </a:p>
        </p:txBody>
      </p:sp>
      <p:sp>
        <p:nvSpPr>
          <p:cNvPr id="9" name="Footer Placeholder 5"/>
          <p:cNvSpPr>
            <a:spLocks noGrp="1"/>
          </p:cNvSpPr>
          <p:nvPr>
            <p:ph type="ftr" sz="quarter" idx="11"/>
          </p:nvPr>
        </p:nvSpPr>
        <p:spPr/>
        <p:txBody>
          <a:bodyPr/>
          <a:lstStyle>
            <a:lvl1pPr>
              <a:defRPr/>
            </a:lvl1pPr>
            <a:extLst/>
          </a:lstStyle>
          <a:p>
            <a:pPr>
              <a:defRPr/>
            </a:pPr>
            <a:endParaRPr lang="en-AU"/>
          </a:p>
        </p:txBody>
      </p:sp>
      <p:sp>
        <p:nvSpPr>
          <p:cNvPr id="10" name="Slide Number Placeholder 6"/>
          <p:cNvSpPr>
            <a:spLocks noGrp="1"/>
          </p:cNvSpPr>
          <p:nvPr>
            <p:ph type="sldNum" sz="quarter" idx="12"/>
          </p:nvPr>
        </p:nvSpPr>
        <p:spPr/>
        <p:txBody>
          <a:bodyPr/>
          <a:lstStyle>
            <a:lvl1pPr>
              <a:defRPr/>
            </a:lvl1pPr>
            <a:extLst/>
          </a:lstStyle>
          <a:p>
            <a:pPr>
              <a:defRPr/>
            </a:pPr>
            <a:fld id="{D314A49B-29C5-41E1-9157-AF7F5FD4ACA7}" type="slidenum">
              <a:rPr lang="en-AU"/>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9659DBE8-5B23-4758-B47C-E9E341EE3328}" type="datetimeFigureOut">
              <a:rPr lang="en-US"/>
              <a:pPr>
                <a:defRPr/>
              </a:pPr>
              <a:t>3/5/2025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388FE86-17E6-4DB8-A3B4-0AF1C45D9DDE}" type="slidenum">
              <a:rPr lang="en-AU"/>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4914BA9B-DFDF-4564-91A2-6DF83062B79A}" type="datetimeFigureOut">
              <a:rPr lang="en-US"/>
              <a:pPr>
                <a:defRPr/>
              </a:pPr>
              <a:t>3/5/2025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920A575-958F-452E-A13F-7BD0F68F6B47}" type="slidenum">
              <a:rPr lang="en-AU"/>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23"/>
          <p:cNvSpPr>
            <a:spLocks noGrp="1"/>
          </p:cNvSpPr>
          <p:nvPr>
            <p:ph type="dt" sz="half" idx="10"/>
          </p:nvPr>
        </p:nvSpPr>
        <p:spPr/>
        <p:txBody>
          <a:bodyPr/>
          <a:lstStyle>
            <a:lvl1pPr>
              <a:defRPr/>
            </a:lvl1pPr>
          </a:lstStyle>
          <a:p>
            <a:pPr>
              <a:defRPr/>
            </a:pPr>
            <a:fld id="{14BD23C4-0CBE-41AD-9915-09C3EB7D8FC5}" type="datetimeFigureOut">
              <a:rPr lang="en-US"/>
              <a:pPr>
                <a:defRPr/>
              </a:pPr>
              <a:t>3/5/2025</a:t>
            </a:fld>
            <a:endParaRPr lang="en-AU"/>
          </a:p>
        </p:txBody>
      </p:sp>
      <p:sp>
        <p:nvSpPr>
          <p:cNvPr id="3" name="Footer Placeholder 9"/>
          <p:cNvSpPr>
            <a:spLocks noGrp="1"/>
          </p:cNvSpPr>
          <p:nvPr>
            <p:ph type="ftr" sz="quarter" idx="11"/>
          </p:nvPr>
        </p:nvSpPr>
        <p:spPr/>
        <p:txBody>
          <a:bodyPr/>
          <a:lstStyle>
            <a:lvl1pPr>
              <a:defRPr/>
            </a:lvl1pPr>
          </a:lstStyle>
          <a:p>
            <a:pPr>
              <a:defRPr/>
            </a:pPr>
            <a:endParaRPr lang="en-AU"/>
          </a:p>
        </p:txBody>
      </p:sp>
      <p:sp>
        <p:nvSpPr>
          <p:cNvPr id="4" name="Slide Number Placeholder 21"/>
          <p:cNvSpPr>
            <a:spLocks noGrp="1"/>
          </p:cNvSpPr>
          <p:nvPr>
            <p:ph type="sldNum" sz="quarter" idx="12"/>
          </p:nvPr>
        </p:nvSpPr>
        <p:spPr/>
        <p:txBody>
          <a:bodyPr/>
          <a:lstStyle>
            <a:lvl1pPr>
              <a:defRPr/>
            </a:lvl1pPr>
          </a:lstStyle>
          <a:p>
            <a:pPr>
              <a:defRPr/>
            </a:pPr>
            <a:fld id="{1AD7BE41-6580-421D-AAB4-199544DFCC6F}" type="slidenum">
              <a:rPr lang="en-AU"/>
              <a:pPr>
                <a:defRPr/>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111073"/>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03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defRPr>
            </a:lvl1pPr>
            <a:extLst/>
          </a:lstStyle>
          <a:p>
            <a:pPr>
              <a:defRPr/>
            </a:pPr>
            <a:fld id="{4674603B-BE21-4B82-834E-441265CC936A}" type="datetimeFigureOut">
              <a:rPr lang="en-US"/>
              <a:pPr>
                <a:defRPr/>
              </a:pPr>
              <a:t>3/5/2025</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endParaRPr lang="en-AU"/>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fld id="{25D2816C-7373-4FF3-9DF2-CB9F7B7A5FB2}" type="slidenum">
              <a:rPr lang="en-AU"/>
              <a:pPr>
                <a:defRPr/>
              </a:pPr>
              <a:t>‹#›</a:t>
            </a:fld>
            <a:endParaRPr lang="en-AU"/>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02" r:id="rId1"/>
    <p:sldLayoutId id="2147483708" r:id="rId2"/>
    <p:sldLayoutId id="2147483703" r:id="rId3"/>
    <p:sldLayoutId id="2147483709" r:id="rId4"/>
    <p:sldLayoutId id="2147483704" r:id="rId5"/>
    <p:sldLayoutId id="2147483710" r:id="rId6"/>
    <p:sldLayoutId id="2147483711" r:id="rId7"/>
    <p:sldLayoutId id="2147483712" r:id="rId8"/>
    <p:sldLayoutId id="2147483705" r:id="rId9"/>
    <p:sldLayoutId id="2147483706" r:id="rId10"/>
    <p:sldLayoutId id="2147483707" r:id="rId11"/>
    <p:sldLayoutId id="2147483713" r:id="rId12"/>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34817" name="Rectangle 8"/>
          <p:cNvSpPr>
            <a:spLocks noChangeArrowheads="1"/>
          </p:cNvSpPr>
          <p:nvPr/>
        </p:nvSpPr>
        <p:spPr bwMode="auto">
          <a:xfrm>
            <a:off x="107504" y="236124"/>
            <a:ext cx="8893006" cy="1536692"/>
          </a:xfrm>
          <a:prstGeom prst="rect">
            <a:avLst/>
          </a:prstGeom>
          <a:solidFill>
            <a:schemeClr val="bg1">
              <a:lumMod val="65000"/>
            </a:schemeClr>
          </a:solidFill>
          <a:ln w="38100" algn="ctr">
            <a:solidFill>
              <a:schemeClr val="bg1">
                <a:lumMod val="50000"/>
              </a:schemeClr>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20" name="Text Box 5"/>
          <p:cNvSpPr txBox="1">
            <a:spLocks noChangeArrowheads="1"/>
          </p:cNvSpPr>
          <p:nvPr/>
        </p:nvSpPr>
        <p:spPr bwMode="auto">
          <a:xfrm>
            <a:off x="-108520" y="4301081"/>
            <a:ext cx="8568988" cy="1828800"/>
          </a:xfrm>
          <a:prstGeom prst="rect">
            <a:avLst/>
          </a:prstGeom>
          <a:noFill/>
          <a:ln w="9525">
            <a:noFill/>
            <a:miter lim="800000"/>
            <a:headEnd/>
            <a:tailEnd/>
          </a:ln>
        </p:spPr>
        <p:txBody>
          <a:bodyPr wrap="none"/>
          <a:lstStyle/>
          <a:p>
            <a:pPr marL="511175" indent="-279400" algn="r"/>
            <a:endParaRPr lang="en-US" sz="1200" dirty="0">
              <a:cs typeface="Times New Roman" pitchFamily="18" charset="0"/>
            </a:endParaRPr>
          </a:p>
          <a:p>
            <a:pPr marL="511175" indent="-279400" algn="r"/>
            <a:r>
              <a:rPr lang="en-US"/>
              <a:t>Dr</a:t>
            </a:r>
            <a:r>
              <a:rPr lang="en-US" dirty="0"/>
              <a:t>. Sumaira Nazir</a:t>
            </a:r>
          </a:p>
          <a:p>
            <a:pPr marL="511175" indent="-279400" algn="r"/>
            <a:r>
              <a:rPr lang="en-US" dirty="0"/>
              <a:t>Assistant Professor </a:t>
            </a:r>
          </a:p>
          <a:p>
            <a:pPr marL="511175" indent="-279400" algn="r"/>
            <a:r>
              <a:rPr lang="en-US" dirty="0"/>
              <a:t>Department of Software Engineering</a:t>
            </a:r>
          </a:p>
          <a:p>
            <a:pPr marL="511175" indent="-279400" algn="r"/>
            <a:r>
              <a:rPr lang="en-US" dirty="0"/>
              <a:t>National University of Modern Languages, Islamabad</a:t>
            </a:r>
          </a:p>
          <a:p>
            <a:pPr marL="511175" indent="-279400" algn="ctr"/>
            <a:endParaRPr lang="en-US" dirty="0"/>
          </a:p>
        </p:txBody>
      </p:sp>
      <p:sp>
        <p:nvSpPr>
          <p:cNvPr id="2" name="TextBox 1">
            <a:extLst>
              <a:ext uri="{FF2B5EF4-FFF2-40B4-BE49-F238E27FC236}">
                <a16:creationId xmlns:a16="http://schemas.microsoft.com/office/drawing/2014/main" id="{E370068C-DD74-4ED8-9B03-A9F8221E847B}"/>
              </a:ext>
            </a:extLst>
          </p:cNvPr>
          <p:cNvSpPr txBox="1"/>
          <p:nvPr/>
        </p:nvSpPr>
        <p:spPr>
          <a:xfrm>
            <a:off x="269513" y="742860"/>
            <a:ext cx="8568987" cy="523220"/>
          </a:xfrm>
          <a:prstGeom prst="rect">
            <a:avLst/>
          </a:prstGeom>
          <a:noFill/>
        </p:spPr>
        <p:txBody>
          <a:bodyPr wrap="square" rtlCol="0">
            <a:spAutoFit/>
          </a:bodyPr>
          <a:lstStyle/>
          <a:p>
            <a:pPr algn="ctr"/>
            <a:r>
              <a:rPr lang="en-MY" sz="2800" b="1" dirty="0">
                <a:latin typeface="Times" panose="02020603060405020304" pitchFamily="18" charset="0"/>
              </a:rPr>
              <a:t>Software Project Management</a:t>
            </a:r>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Software Project?</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93369385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82BBE-6D0F-48CB-A747-8DBEE3C6F03E}"/>
              </a:ext>
            </a:extLst>
          </p:cNvPr>
          <p:cNvSpPr>
            <a:spLocks noGrp="1"/>
          </p:cNvSpPr>
          <p:nvPr>
            <p:ph idx="1"/>
          </p:nvPr>
        </p:nvSpPr>
        <p:spPr/>
        <p:txBody>
          <a:bodyPr/>
          <a:lstStyle/>
          <a:p>
            <a:r>
              <a:rPr lang="en-US" sz="2800" dirty="0"/>
              <a:t>A project is “a temporary endeavor undertaken to create a unique product, service, or result.</a:t>
            </a:r>
          </a:p>
          <a:p>
            <a:pPr lvl="1"/>
            <a:r>
              <a:rPr lang="en-MY" sz="2000" b="1" dirty="0"/>
              <a:t>Examples of IT Projects</a:t>
            </a:r>
            <a:endParaRPr lang="en-US" sz="2000" b="1" dirty="0"/>
          </a:p>
        </p:txBody>
      </p:sp>
      <p:sp>
        <p:nvSpPr>
          <p:cNvPr id="7" name="Title 6">
            <a:extLst>
              <a:ext uri="{FF2B5EF4-FFF2-40B4-BE49-F238E27FC236}">
                <a16:creationId xmlns:a16="http://schemas.microsoft.com/office/drawing/2014/main" id="{B0BFF914-17E1-4F97-AAFA-A37C41399B1A}"/>
              </a:ext>
            </a:extLst>
          </p:cNvPr>
          <p:cNvSpPr>
            <a:spLocks noGrp="1"/>
          </p:cNvSpPr>
          <p:nvPr>
            <p:ph type="title"/>
          </p:nvPr>
        </p:nvSpPr>
        <p:spPr/>
        <p:txBody>
          <a:bodyPr/>
          <a:lstStyle/>
          <a:p>
            <a:r>
              <a:rPr lang="en-MY" dirty="0"/>
              <a:t>Project</a:t>
            </a:r>
          </a:p>
        </p:txBody>
      </p:sp>
    </p:spTree>
    <p:extLst>
      <p:ext uri="{BB962C8B-B14F-4D97-AF65-F5344CB8AC3E}">
        <p14:creationId xmlns:p14="http://schemas.microsoft.com/office/powerpoint/2010/main" val="3346948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Project Constraints?</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lstStyle/>
          <a:p>
            <a:r>
              <a:rPr lang="en-MY" dirty="0"/>
              <a:t>Project Constraints</a:t>
            </a:r>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r>
              <a:rPr lang="en-US" dirty="0"/>
              <a:t>Every project is constrained in different ways, often by its scope, time, and cost goals. </a:t>
            </a:r>
          </a:p>
          <a:p>
            <a:r>
              <a:rPr lang="en-US" dirty="0"/>
              <a:t>These limitations are sometimes referred to in project management as the triple constraint. </a:t>
            </a:r>
          </a:p>
          <a:p>
            <a:r>
              <a:rPr lang="en-US" dirty="0"/>
              <a:t>To create a successful project, </a:t>
            </a:r>
          </a:p>
          <a:p>
            <a:pPr lvl="1" algn="just"/>
            <a:r>
              <a:rPr lang="en-US" dirty="0"/>
              <a:t>a project manager must consider scope, time, and cost and balance these three often-competing goals</a:t>
            </a:r>
            <a:endParaRPr lang="en-MY" dirty="0"/>
          </a:p>
        </p:txBody>
      </p:sp>
    </p:spTree>
    <p:extLst>
      <p:ext uri="{BB962C8B-B14F-4D97-AF65-F5344CB8AC3E}">
        <p14:creationId xmlns:p14="http://schemas.microsoft.com/office/powerpoint/2010/main" val="1407669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a:extLst>
              <a:ext uri="{FF2B5EF4-FFF2-40B4-BE49-F238E27FC236}">
                <a16:creationId xmlns:a16="http://schemas.microsoft.com/office/drawing/2014/main" id="{8C8571BC-5AEB-48E1-A492-656C0E23BB19}"/>
              </a:ext>
            </a:extLst>
          </p:cNvPr>
          <p:cNvSpPr>
            <a:spLocks noGrp="1" noChangeArrowheads="1"/>
          </p:cNvSpPr>
          <p:nvPr>
            <p:ph type="title"/>
          </p:nvPr>
        </p:nvSpPr>
        <p:spPr/>
        <p:txBody>
          <a:bodyPr/>
          <a:lstStyle/>
          <a:p>
            <a:pPr eaLnBrk="1" hangingPunct="1"/>
            <a:r>
              <a:rPr lang="en-MY" sz="3600" dirty="0"/>
              <a:t>Project Constraints Cont.</a:t>
            </a:r>
            <a:endParaRPr lang="en-US" altLang="en-US" sz="3300" dirty="0"/>
          </a:p>
        </p:txBody>
      </p:sp>
      <p:sp>
        <p:nvSpPr>
          <p:cNvPr id="6147" name="Rectangle 3">
            <a:extLst>
              <a:ext uri="{FF2B5EF4-FFF2-40B4-BE49-F238E27FC236}">
                <a16:creationId xmlns:a16="http://schemas.microsoft.com/office/drawing/2014/main" id="{11A8F679-3B09-4EE2-953E-D966D0C6891F}"/>
              </a:ext>
            </a:extLst>
          </p:cNvPr>
          <p:cNvSpPr>
            <a:spLocks noGrp="1" noChangeArrowheads="1"/>
          </p:cNvSpPr>
          <p:nvPr>
            <p:ph idx="1"/>
          </p:nvPr>
        </p:nvSpPr>
        <p:spPr>
          <a:xfrm>
            <a:off x="1187624" y="1417638"/>
            <a:ext cx="7499350" cy="4411662"/>
          </a:xfrm>
        </p:spPr>
        <p:txBody>
          <a:bodyPr/>
          <a:lstStyle/>
          <a:p>
            <a:pPr eaLnBrk="1" hangingPunct="1">
              <a:lnSpc>
                <a:spcPct val="90000"/>
              </a:lnSpc>
              <a:buFont typeface="Arial" panose="020B0604020202020204" pitchFamily="34" charset="0"/>
              <a:buChar char="•"/>
            </a:pPr>
            <a:r>
              <a:rPr lang="en-US" dirty="0"/>
              <a:t>Scope: </a:t>
            </a:r>
          </a:p>
          <a:p>
            <a:pPr lvl="1" eaLnBrk="1" hangingPunct="1">
              <a:lnSpc>
                <a:spcPct val="90000"/>
              </a:lnSpc>
              <a:buFont typeface="Arial" panose="020B0604020202020204" pitchFamily="34" charset="0"/>
              <a:buChar char="•"/>
            </a:pPr>
            <a:r>
              <a:rPr lang="en-US" dirty="0"/>
              <a:t>What work will be done as part of the project? What unique product, service, or result does the customer or sponsor expect from the project? How will the scope be verified? </a:t>
            </a:r>
          </a:p>
          <a:p>
            <a:pPr eaLnBrk="1" hangingPunct="1">
              <a:lnSpc>
                <a:spcPct val="90000"/>
              </a:lnSpc>
              <a:buFont typeface="Arial" panose="020B0604020202020204" pitchFamily="34" charset="0"/>
              <a:buChar char="•"/>
            </a:pPr>
            <a:r>
              <a:rPr lang="en-US" dirty="0"/>
              <a:t>Time: </a:t>
            </a:r>
          </a:p>
          <a:p>
            <a:pPr lvl="1" eaLnBrk="1" hangingPunct="1">
              <a:lnSpc>
                <a:spcPct val="90000"/>
              </a:lnSpc>
              <a:buFont typeface="Arial" panose="020B0604020202020204" pitchFamily="34" charset="0"/>
              <a:buChar char="•"/>
            </a:pPr>
            <a:r>
              <a:rPr lang="en-US" dirty="0"/>
              <a:t>How long should it take to complete the project? What is the project’s schedule? How will the team track actual schedule performance? Who can approve changes to the schedule?</a:t>
            </a:r>
          </a:p>
        </p:txBody>
      </p:sp>
    </p:spTree>
    <p:extLst>
      <p:ext uri="{BB962C8B-B14F-4D97-AF65-F5344CB8AC3E}">
        <p14:creationId xmlns:p14="http://schemas.microsoft.com/office/powerpoint/2010/main" val="2481606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a:extLst>
              <a:ext uri="{FF2B5EF4-FFF2-40B4-BE49-F238E27FC236}">
                <a16:creationId xmlns:a16="http://schemas.microsoft.com/office/drawing/2014/main" id="{8C8571BC-5AEB-48E1-A492-656C0E23BB19}"/>
              </a:ext>
            </a:extLst>
          </p:cNvPr>
          <p:cNvSpPr>
            <a:spLocks noGrp="1" noChangeArrowheads="1"/>
          </p:cNvSpPr>
          <p:nvPr>
            <p:ph type="title"/>
          </p:nvPr>
        </p:nvSpPr>
        <p:spPr/>
        <p:txBody>
          <a:bodyPr/>
          <a:lstStyle/>
          <a:p>
            <a:pPr eaLnBrk="1" hangingPunct="1"/>
            <a:r>
              <a:rPr lang="en-MY" sz="3600" dirty="0"/>
              <a:t>Project Constraints Cont.</a:t>
            </a:r>
            <a:endParaRPr lang="en-US" altLang="en-US" sz="3300" dirty="0"/>
          </a:p>
        </p:txBody>
      </p:sp>
      <p:sp>
        <p:nvSpPr>
          <p:cNvPr id="6147" name="Rectangle 3">
            <a:extLst>
              <a:ext uri="{FF2B5EF4-FFF2-40B4-BE49-F238E27FC236}">
                <a16:creationId xmlns:a16="http://schemas.microsoft.com/office/drawing/2014/main" id="{11A8F679-3B09-4EE2-953E-D966D0C6891F}"/>
              </a:ext>
            </a:extLst>
          </p:cNvPr>
          <p:cNvSpPr>
            <a:spLocks noGrp="1" noChangeArrowheads="1"/>
          </p:cNvSpPr>
          <p:nvPr>
            <p:ph idx="1"/>
          </p:nvPr>
        </p:nvSpPr>
        <p:spPr>
          <a:xfrm>
            <a:off x="1187624" y="1844824"/>
            <a:ext cx="7499350" cy="4411662"/>
          </a:xfrm>
        </p:spPr>
        <p:txBody>
          <a:bodyPr/>
          <a:lstStyle/>
          <a:p>
            <a:pPr eaLnBrk="1" hangingPunct="1">
              <a:lnSpc>
                <a:spcPct val="90000"/>
              </a:lnSpc>
              <a:buFont typeface="Arial" panose="020B0604020202020204" pitchFamily="34" charset="0"/>
              <a:buChar char="•"/>
            </a:pPr>
            <a:r>
              <a:rPr lang="en-US" dirty="0"/>
              <a:t>Cost:</a:t>
            </a:r>
          </a:p>
          <a:p>
            <a:pPr lvl="1" algn="just" eaLnBrk="1" hangingPunct="1">
              <a:lnSpc>
                <a:spcPct val="90000"/>
              </a:lnSpc>
              <a:buFont typeface="Arial" panose="020B0604020202020204" pitchFamily="34" charset="0"/>
              <a:buChar char="•"/>
            </a:pPr>
            <a:r>
              <a:rPr lang="en-US" dirty="0"/>
              <a:t>What should it cost to complete the project? What is the project’s budget? How will costs be tracked? Who can authorize changes to the budget?</a:t>
            </a:r>
            <a:endParaRPr lang="en-US" altLang="en-US" b="1" dirty="0">
              <a:latin typeface="Times New Roman" panose="02020603050405020304" pitchFamily="18" charset="0"/>
            </a:endParaRPr>
          </a:p>
        </p:txBody>
      </p:sp>
    </p:spTree>
    <p:extLst>
      <p:ext uri="{BB962C8B-B14F-4D97-AF65-F5344CB8AC3E}">
        <p14:creationId xmlns:p14="http://schemas.microsoft.com/office/powerpoint/2010/main" val="1743384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671E3-BE05-4595-837E-2A958FF519E4}"/>
              </a:ext>
            </a:extLst>
          </p:cNvPr>
          <p:cNvSpPr>
            <a:spLocks noGrp="1"/>
          </p:cNvSpPr>
          <p:nvPr>
            <p:ph type="title"/>
          </p:nvPr>
        </p:nvSpPr>
        <p:spPr/>
        <p:txBody>
          <a:bodyPr/>
          <a:lstStyle/>
          <a:p>
            <a:r>
              <a:rPr lang="en-MY" sz="4400" dirty="0"/>
              <a:t>Project Constraints Cont.</a:t>
            </a:r>
            <a:endParaRPr lang="en-MY" dirty="0"/>
          </a:p>
        </p:txBody>
      </p:sp>
      <p:sp>
        <p:nvSpPr>
          <p:cNvPr id="3" name="Content Placeholder 2">
            <a:extLst>
              <a:ext uri="{FF2B5EF4-FFF2-40B4-BE49-F238E27FC236}">
                <a16:creationId xmlns:a16="http://schemas.microsoft.com/office/drawing/2014/main" id="{9367BBC1-1373-4CD2-A8FE-72444346844A}"/>
              </a:ext>
            </a:extLst>
          </p:cNvPr>
          <p:cNvSpPr>
            <a:spLocks noGrp="1"/>
          </p:cNvSpPr>
          <p:nvPr>
            <p:ph idx="1"/>
          </p:nvPr>
        </p:nvSpPr>
        <p:spPr/>
        <p:txBody>
          <a:bodyPr/>
          <a:lstStyle/>
          <a:p>
            <a:r>
              <a:rPr lang="en-US" dirty="0"/>
              <a:t>Each area— scope, time, and cost—has a target at the beginning of the project</a:t>
            </a:r>
            <a:endParaRPr lang="en-MY" dirty="0"/>
          </a:p>
        </p:txBody>
      </p:sp>
    </p:spTree>
    <p:extLst>
      <p:ext uri="{BB962C8B-B14F-4D97-AF65-F5344CB8AC3E}">
        <p14:creationId xmlns:p14="http://schemas.microsoft.com/office/powerpoint/2010/main" val="135160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46A9C-D216-4C3B-843A-6E5A52D62361}"/>
              </a:ext>
            </a:extLst>
          </p:cNvPr>
          <p:cNvSpPr>
            <a:spLocks noGrp="1"/>
          </p:cNvSpPr>
          <p:nvPr>
            <p:ph type="title"/>
          </p:nvPr>
        </p:nvSpPr>
        <p:spPr/>
        <p:txBody>
          <a:bodyPr/>
          <a:lstStyle/>
          <a:p>
            <a:r>
              <a:rPr lang="en-MY" sz="4000" dirty="0"/>
              <a:t>Project Constraints Cont.</a:t>
            </a:r>
            <a:endParaRPr lang="en-MY" dirty="0"/>
          </a:p>
        </p:txBody>
      </p:sp>
      <p:sp>
        <p:nvSpPr>
          <p:cNvPr id="3" name="Content Placeholder 2">
            <a:extLst>
              <a:ext uri="{FF2B5EF4-FFF2-40B4-BE49-F238E27FC236}">
                <a16:creationId xmlns:a16="http://schemas.microsoft.com/office/drawing/2014/main" id="{D92B859F-4C9C-4271-9DAA-51CB46D3DACF}"/>
              </a:ext>
            </a:extLst>
          </p:cNvPr>
          <p:cNvSpPr>
            <a:spLocks noGrp="1"/>
          </p:cNvSpPr>
          <p:nvPr>
            <p:ph idx="1"/>
          </p:nvPr>
        </p:nvSpPr>
        <p:spPr/>
        <p:txBody>
          <a:bodyPr/>
          <a:lstStyle/>
          <a:p>
            <a:pPr algn="just"/>
            <a:r>
              <a:rPr lang="en-US" dirty="0"/>
              <a:t>Managing the triple constraint involves making </a:t>
            </a:r>
            <a:r>
              <a:rPr lang="en-US" dirty="0">
                <a:solidFill>
                  <a:srgbClr val="FF0000"/>
                </a:solidFill>
              </a:rPr>
              <a:t>trade-offs between scope, time, and cost goals for a project. </a:t>
            </a:r>
          </a:p>
          <a:p>
            <a:pPr lvl="1" algn="just"/>
            <a:r>
              <a:rPr lang="en-US" dirty="0"/>
              <a:t>For example, you might need to increase the budget for a project to meet scope and time goals. </a:t>
            </a:r>
          </a:p>
          <a:p>
            <a:pPr lvl="1" algn="just"/>
            <a:r>
              <a:rPr lang="en-US" dirty="0"/>
              <a:t>Alternatively, you might have to reduce the scope of a project to meet time and cost goals. </a:t>
            </a:r>
            <a:endParaRPr lang="en-MY" dirty="0"/>
          </a:p>
        </p:txBody>
      </p:sp>
    </p:spTree>
    <p:extLst>
      <p:ext uri="{BB962C8B-B14F-4D97-AF65-F5344CB8AC3E}">
        <p14:creationId xmlns:p14="http://schemas.microsoft.com/office/powerpoint/2010/main" val="1623447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46A9C-D216-4C3B-843A-6E5A52D62361}"/>
              </a:ext>
            </a:extLst>
          </p:cNvPr>
          <p:cNvSpPr>
            <a:spLocks noGrp="1"/>
          </p:cNvSpPr>
          <p:nvPr>
            <p:ph type="title"/>
          </p:nvPr>
        </p:nvSpPr>
        <p:spPr/>
        <p:txBody>
          <a:bodyPr/>
          <a:lstStyle/>
          <a:p>
            <a:r>
              <a:rPr lang="en-MY" sz="4000" dirty="0"/>
              <a:t>Project Constraints Cont.</a:t>
            </a:r>
            <a:endParaRPr lang="en-MY" dirty="0"/>
          </a:p>
        </p:txBody>
      </p:sp>
      <p:sp>
        <p:nvSpPr>
          <p:cNvPr id="3" name="Content Placeholder 2">
            <a:extLst>
              <a:ext uri="{FF2B5EF4-FFF2-40B4-BE49-F238E27FC236}">
                <a16:creationId xmlns:a16="http://schemas.microsoft.com/office/drawing/2014/main" id="{D92B859F-4C9C-4271-9DAA-51CB46D3DACF}"/>
              </a:ext>
            </a:extLst>
          </p:cNvPr>
          <p:cNvSpPr>
            <a:spLocks noGrp="1"/>
          </p:cNvSpPr>
          <p:nvPr>
            <p:ph idx="1"/>
          </p:nvPr>
        </p:nvSpPr>
        <p:spPr/>
        <p:txBody>
          <a:bodyPr/>
          <a:lstStyle/>
          <a:p>
            <a:pPr algn="just"/>
            <a:r>
              <a:rPr lang="en-US" dirty="0"/>
              <a:t>Experienced project managers know that you must decide which aspect of the triple constraint is most important. </a:t>
            </a:r>
          </a:p>
          <a:p>
            <a:pPr lvl="1" algn="just"/>
            <a:r>
              <a:rPr lang="en-US" dirty="0"/>
              <a:t>If time is most important, you must often change the initial scope and cost goals to meet the schedule. </a:t>
            </a:r>
          </a:p>
          <a:p>
            <a:pPr lvl="1" algn="just"/>
            <a:r>
              <a:rPr lang="en-US" dirty="0"/>
              <a:t>If scope goals are most important, you may need to adjust time and cost goals</a:t>
            </a:r>
            <a:endParaRPr lang="en-MY" dirty="0"/>
          </a:p>
        </p:txBody>
      </p:sp>
    </p:spTree>
    <p:extLst>
      <p:ext uri="{BB962C8B-B14F-4D97-AF65-F5344CB8AC3E}">
        <p14:creationId xmlns:p14="http://schemas.microsoft.com/office/powerpoint/2010/main" val="283768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Project Management?</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53752433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ECB4-0604-4CA8-967A-D84E3530ED81}"/>
              </a:ext>
            </a:extLst>
          </p:cNvPr>
          <p:cNvSpPr>
            <a:spLocks noGrp="1"/>
          </p:cNvSpPr>
          <p:nvPr>
            <p:ph type="title"/>
          </p:nvPr>
        </p:nvSpPr>
        <p:spPr/>
        <p:txBody>
          <a:bodyPr/>
          <a:lstStyle/>
          <a:p>
            <a:r>
              <a:rPr lang="en-MY" dirty="0"/>
              <a:t>Project Management</a:t>
            </a:r>
          </a:p>
        </p:txBody>
      </p:sp>
      <p:sp>
        <p:nvSpPr>
          <p:cNvPr id="3" name="Content Placeholder 2">
            <a:extLst>
              <a:ext uri="{FF2B5EF4-FFF2-40B4-BE49-F238E27FC236}">
                <a16:creationId xmlns:a16="http://schemas.microsoft.com/office/drawing/2014/main" id="{35B010FA-376A-4BB2-99BC-FF94F036850D}"/>
              </a:ext>
            </a:extLst>
          </p:cNvPr>
          <p:cNvSpPr>
            <a:spLocks noGrp="1"/>
          </p:cNvSpPr>
          <p:nvPr>
            <p:ph idx="1"/>
          </p:nvPr>
        </p:nvSpPr>
        <p:spPr/>
        <p:txBody>
          <a:bodyPr/>
          <a:lstStyle/>
          <a:p>
            <a:pPr algn="just"/>
            <a:r>
              <a:rPr lang="en-US" dirty="0"/>
              <a:t>Project management is </a:t>
            </a:r>
          </a:p>
          <a:p>
            <a:pPr lvl="1" algn="just"/>
            <a:r>
              <a:rPr lang="en-US" dirty="0"/>
              <a:t>the application of knowledge, skills, tools, and techniques to project activities to meet project requirements</a:t>
            </a:r>
            <a:endParaRPr lang="en-MY" dirty="0"/>
          </a:p>
        </p:txBody>
      </p:sp>
    </p:spTree>
    <p:extLst>
      <p:ext uri="{BB962C8B-B14F-4D97-AF65-F5344CB8AC3E}">
        <p14:creationId xmlns:p14="http://schemas.microsoft.com/office/powerpoint/2010/main" val="2505224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81E7-DF72-46A9-BBDB-8044BE15BEBA}"/>
              </a:ext>
            </a:extLst>
          </p:cNvPr>
          <p:cNvSpPr>
            <a:spLocks noGrp="1"/>
          </p:cNvSpPr>
          <p:nvPr>
            <p:ph type="title"/>
          </p:nvPr>
        </p:nvSpPr>
        <p:spPr/>
        <p:txBody>
          <a:bodyPr/>
          <a:lstStyle/>
          <a:p>
            <a:r>
              <a:rPr lang="en-MY" dirty="0"/>
              <a:t>Project Management Framework</a:t>
            </a:r>
          </a:p>
        </p:txBody>
      </p:sp>
      <p:sp>
        <p:nvSpPr>
          <p:cNvPr id="3" name="Content Placeholder 2">
            <a:extLst>
              <a:ext uri="{FF2B5EF4-FFF2-40B4-BE49-F238E27FC236}">
                <a16:creationId xmlns:a16="http://schemas.microsoft.com/office/drawing/2014/main" id="{704DA6A4-BE84-4A60-B61D-50796F093CAD}"/>
              </a:ext>
            </a:extLst>
          </p:cNvPr>
          <p:cNvSpPr>
            <a:spLocks noGrp="1"/>
          </p:cNvSpPr>
          <p:nvPr>
            <p:ph idx="1"/>
          </p:nvPr>
        </p:nvSpPr>
        <p:spPr/>
        <p:txBody>
          <a:bodyPr/>
          <a:lstStyle/>
          <a:p>
            <a:endParaRPr lang="en-MY"/>
          </a:p>
        </p:txBody>
      </p:sp>
      <p:pic>
        <p:nvPicPr>
          <p:cNvPr id="5" name="Picture 4">
            <a:extLst>
              <a:ext uri="{FF2B5EF4-FFF2-40B4-BE49-F238E27FC236}">
                <a16:creationId xmlns:a16="http://schemas.microsoft.com/office/drawing/2014/main" id="{52560323-CF9F-4C54-BCD6-140F3E6EB988}"/>
              </a:ext>
            </a:extLst>
          </p:cNvPr>
          <p:cNvPicPr>
            <a:picLocks noChangeAspect="1"/>
          </p:cNvPicPr>
          <p:nvPr/>
        </p:nvPicPr>
        <p:blipFill rotWithShape="1">
          <a:blip r:embed="rId2"/>
          <a:srcRect l="28738" t="40200" r="31100" b="26200"/>
          <a:stretch/>
        </p:blipFill>
        <p:spPr>
          <a:xfrm>
            <a:off x="179512" y="1188740"/>
            <a:ext cx="8892012" cy="4184476"/>
          </a:xfrm>
          <a:prstGeom prst="rect">
            <a:avLst/>
          </a:prstGeom>
        </p:spPr>
      </p:pic>
      <p:sp>
        <p:nvSpPr>
          <p:cNvPr id="6" name="TextBox 5">
            <a:extLst>
              <a:ext uri="{FF2B5EF4-FFF2-40B4-BE49-F238E27FC236}">
                <a16:creationId xmlns:a16="http://schemas.microsoft.com/office/drawing/2014/main" id="{AC124AC3-05F6-4605-AD96-24102BA03A7E}"/>
              </a:ext>
            </a:extLst>
          </p:cNvPr>
          <p:cNvSpPr txBox="1"/>
          <p:nvPr/>
        </p:nvSpPr>
        <p:spPr>
          <a:xfrm>
            <a:off x="2963654" y="5484594"/>
            <a:ext cx="4532010" cy="369332"/>
          </a:xfrm>
          <a:prstGeom prst="rect">
            <a:avLst/>
          </a:prstGeom>
          <a:noFill/>
        </p:spPr>
        <p:txBody>
          <a:bodyPr wrap="none" rtlCol="0">
            <a:spAutoFit/>
          </a:bodyPr>
          <a:lstStyle/>
          <a:p>
            <a:r>
              <a:rPr lang="en-MY" dirty="0"/>
              <a:t>Figure : Project Management Framework</a:t>
            </a:r>
          </a:p>
        </p:txBody>
      </p:sp>
    </p:spTree>
    <p:extLst>
      <p:ext uri="{BB962C8B-B14F-4D97-AF65-F5344CB8AC3E}">
        <p14:creationId xmlns:p14="http://schemas.microsoft.com/office/powerpoint/2010/main" val="4039559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Project Management Knowledge Areas</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10025088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D75A96-A08E-4667-A7AE-D23062147996}"/>
              </a:ext>
            </a:extLst>
          </p:cNvPr>
          <p:cNvSpPr>
            <a:spLocks noGrp="1"/>
          </p:cNvSpPr>
          <p:nvPr>
            <p:ph type="title"/>
          </p:nvPr>
        </p:nvSpPr>
        <p:spPr/>
        <p:txBody>
          <a:bodyPr>
            <a:normAutofit fontScale="90000"/>
          </a:bodyPr>
          <a:lstStyle/>
          <a:p>
            <a:r>
              <a:rPr lang="en-US" altLang="en-US" sz="4400" dirty="0"/>
              <a:t>Project Management Knowledge areas</a:t>
            </a:r>
            <a:endParaRPr lang="en-MY" dirty="0"/>
          </a:p>
        </p:txBody>
      </p:sp>
      <p:sp>
        <p:nvSpPr>
          <p:cNvPr id="4" name="Content Placeholder 3">
            <a:extLst>
              <a:ext uri="{FF2B5EF4-FFF2-40B4-BE49-F238E27FC236}">
                <a16:creationId xmlns:a16="http://schemas.microsoft.com/office/drawing/2014/main" id="{0AEC5751-FC62-4C12-B975-F1713308907C}"/>
              </a:ext>
            </a:extLst>
          </p:cNvPr>
          <p:cNvSpPr>
            <a:spLocks noGrp="1"/>
          </p:cNvSpPr>
          <p:nvPr>
            <p:ph idx="1"/>
          </p:nvPr>
        </p:nvSpPr>
        <p:spPr/>
        <p:txBody>
          <a:bodyPr/>
          <a:lstStyle/>
          <a:p>
            <a:pPr algn="just"/>
            <a:r>
              <a:rPr lang="en-US" dirty="0"/>
              <a:t>Project management knowledge areas describe the key competencies that project managers must develop</a:t>
            </a:r>
            <a:endParaRPr lang="en-MY"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9FCE-E56D-46EA-9708-3E42F9DC0159}"/>
              </a:ext>
            </a:extLst>
          </p:cNvPr>
          <p:cNvSpPr>
            <a:spLocks noGrp="1"/>
          </p:cNvSpPr>
          <p:nvPr>
            <p:ph type="title"/>
          </p:nvPr>
        </p:nvSpPr>
        <p:spPr/>
        <p:txBody>
          <a:bodyPr>
            <a:normAutofit fontScale="90000"/>
          </a:bodyPr>
          <a:lstStyle/>
          <a:p>
            <a:r>
              <a:rPr lang="en-US" altLang="en-US" sz="4000" dirty="0"/>
              <a:t>Project Management Knowledge areas cont.</a:t>
            </a:r>
            <a:endParaRPr lang="en-MY" dirty="0"/>
          </a:p>
        </p:txBody>
      </p:sp>
      <p:sp>
        <p:nvSpPr>
          <p:cNvPr id="3" name="Content Placeholder 2">
            <a:extLst>
              <a:ext uri="{FF2B5EF4-FFF2-40B4-BE49-F238E27FC236}">
                <a16:creationId xmlns:a16="http://schemas.microsoft.com/office/drawing/2014/main" id="{D493AA3F-EB76-4FF0-8B66-2E6296E51F69}"/>
              </a:ext>
            </a:extLst>
          </p:cNvPr>
          <p:cNvSpPr>
            <a:spLocks noGrp="1"/>
          </p:cNvSpPr>
          <p:nvPr>
            <p:ph idx="1"/>
          </p:nvPr>
        </p:nvSpPr>
        <p:spPr>
          <a:xfrm>
            <a:off x="1644650" y="1422101"/>
            <a:ext cx="7499350" cy="4800600"/>
          </a:xfrm>
        </p:spPr>
        <p:txBody>
          <a:bodyPr/>
          <a:lstStyle/>
          <a:p>
            <a:pPr marL="82550" indent="0">
              <a:buNone/>
            </a:pPr>
            <a:r>
              <a:rPr lang="en-US" sz="2800" dirty="0"/>
              <a:t>1.Project scope management </a:t>
            </a:r>
          </a:p>
          <a:p>
            <a:pPr marL="82550" indent="0">
              <a:buNone/>
            </a:pPr>
            <a:r>
              <a:rPr lang="en-US" sz="2800" dirty="0"/>
              <a:t>2. Project schedule management </a:t>
            </a:r>
          </a:p>
          <a:p>
            <a:pPr marL="82550" indent="0">
              <a:buNone/>
            </a:pPr>
            <a:r>
              <a:rPr lang="en-US" sz="2800" dirty="0"/>
              <a:t>3. Project cost management  </a:t>
            </a:r>
          </a:p>
          <a:p>
            <a:pPr marL="82550" indent="0">
              <a:buNone/>
            </a:pPr>
            <a:r>
              <a:rPr lang="en-US" sz="2800" dirty="0"/>
              <a:t>4. Project quality management  </a:t>
            </a:r>
          </a:p>
          <a:p>
            <a:pPr marL="82550" indent="0">
              <a:buNone/>
            </a:pPr>
            <a:r>
              <a:rPr lang="en-US" sz="2800" dirty="0"/>
              <a:t>5. Project resource management </a:t>
            </a:r>
          </a:p>
          <a:p>
            <a:pPr marL="82550" indent="0">
              <a:buNone/>
            </a:pPr>
            <a:r>
              <a:rPr lang="en-US" sz="2800" dirty="0"/>
              <a:t>6. Project communications management </a:t>
            </a:r>
          </a:p>
          <a:p>
            <a:pPr marL="82550" indent="0">
              <a:buNone/>
            </a:pPr>
            <a:r>
              <a:rPr lang="en-US" sz="2800" dirty="0"/>
              <a:t>7. Project risk management </a:t>
            </a:r>
          </a:p>
          <a:p>
            <a:pPr marL="82550" indent="0">
              <a:buNone/>
            </a:pPr>
            <a:r>
              <a:rPr lang="en-US" sz="2800" dirty="0"/>
              <a:t>8. Project procurement management </a:t>
            </a:r>
          </a:p>
          <a:p>
            <a:pPr marL="82550" indent="0">
              <a:buNone/>
            </a:pPr>
            <a:r>
              <a:rPr lang="en-US" sz="2800" dirty="0"/>
              <a:t>9. Project stakeholder management </a:t>
            </a:r>
          </a:p>
          <a:p>
            <a:pPr marL="82550" indent="0">
              <a:buNone/>
            </a:pPr>
            <a:r>
              <a:rPr lang="en-US" sz="2800" dirty="0"/>
              <a:t>10. Project integration management </a:t>
            </a:r>
            <a:endParaRPr lang="en-MY" sz="2800" dirty="0"/>
          </a:p>
        </p:txBody>
      </p:sp>
    </p:spTree>
    <p:extLst>
      <p:ext uri="{BB962C8B-B14F-4D97-AF65-F5344CB8AC3E}">
        <p14:creationId xmlns:p14="http://schemas.microsoft.com/office/powerpoint/2010/main" val="1111803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9FCE-E56D-46EA-9708-3E42F9DC0159}"/>
              </a:ext>
            </a:extLst>
          </p:cNvPr>
          <p:cNvSpPr>
            <a:spLocks noGrp="1"/>
          </p:cNvSpPr>
          <p:nvPr>
            <p:ph type="title"/>
          </p:nvPr>
        </p:nvSpPr>
        <p:spPr/>
        <p:txBody>
          <a:bodyPr>
            <a:normAutofit fontScale="90000"/>
          </a:bodyPr>
          <a:lstStyle/>
          <a:p>
            <a:r>
              <a:rPr lang="en-US" altLang="en-US" sz="4000" dirty="0"/>
              <a:t>Project Management Knowledge areas cont.</a:t>
            </a:r>
            <a:endParaRPr lang="en-MY" dirty="0"/>
          </a:p>
        </p:txBody>
      </p:sp>
      <p:sp>
        <p:nvSpPr>
          <p:cNvPr id="3" name="Content Placeholder 2">
            <a:extLst>
              <a:ext uri="{FF2B5EF4-FFF2-40B4-BE49-F238E27FC236}">
                <a16:creationId xmlns:a16="http://schemas.microsoft.com/office/drawing/2014/main" id="{D493AA3F-EB76-4FF0-8B66-2E6296E51F69}"/>
              </a:ext>
            </a:extLst>
          </p:cNvPr>
          <p:cNvSpPr>
            <a:spLocks noGrp="1"/>
          </p:cNvSpPr>
          <p:nvPr>
            <p:ph idx="1"/>
          </p:nvPr>
        </p:nvSpPr>
        <p:spPr>
          <a:xfrm>
            <a:off x="1644650" y="1422101"/>
            <a:ext cx="7499350" cy="4800600"/>
          </a:xfrm>
        </p:spPr>
        <p:txBody>
          <a:bodyPr/>
          <a:lstStyle/>
          <a:p>
            <a:pPr marL="82550" indent="0" algn="just">
              <a:buNone/>
            </a:pPr>
            <a:r>
              <a:rPr lang="en-US" sz="2800" dirty="0"/>
              <a:t>1- Project scope management </a:t>
            </a:r>
          </a:p>
          <a:p>
            <a:pPr marL="357188" lvl="1" indent="0" algn="just">
              <a:buNone/>
            </a:pPr>
            <a:r>
              <a:rPr lang="en-US" dirty="0"/>
              <a:t>	involves defining and managing all the work required to complete the project successfully. </a:t>
            </a:r>
          </a:p>
          <a:p>
            <a:pPr marL="82550" indent="0" algn="just">
              <a:buNone/>
            </a:pPr>
            <a:r>
              <a:rPr lang="en-US" sz="2800" dirty="0"/>
              <a:t>2- Project schedule management </a:t>
            </a:r>
          </a:p>
          <a:p>
            <a:pPr marL="357188" lvl="1" indent="0" algn="just">
              <a:buNone/>
            </a:pPr>
            <a:r>
              <a:rPr lang="en-US" dirty="0"/>
              <a:t>	(formerly called project time management) includes estimating how long it will take to complete the work, developing an acceptable project schedule, and ensuring timely completion of the projec</a:t>
            </a:r>
            <a:r>
              <a:rPr lang="en-US" sz="2400" dirty="0"/>
              <a:t>t.</a:t>
            </a:r>
            <a:endParaRPr lang="en-MY" sz="2400" dirty="0"/>
          </a:p>
        </p:txBody>
      </p:sp>
    </p:spTree>
    <p:extLst>
      <p:ext uri="{BB962C8B-B14F-4D97-AF65-F5344CB8AC3E}">
        <p14:creationId xmlns:p14="http://schemas.microsoft.com/office/powerpoint/2010/main" val="2509253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9FCE-E56D-46EA-9708-3E42F9DC0159}"/>
              </a:ext>
            </a:extLst>
          </p:cNvPr>
          <p:cNvSpPr>
            <a:spLocks noGrp="1"/>
          </p:cNvSpPr>
          <p:nvPr>
            <p:ph type="title"/>
          </p:nvPr>
        </p:nvSpPr>
        <p:spPr/>
        <p:txBody>
          <a:bodyPr>
            <a:normAutofit fontScale="90000"/>
          </a:bodyPr>
          <a:lstStyle/>
          <a:p>
            <a:r>
              <a:rPr lang="en-US" altLang="en-US" sz="4000" dirty="0"/>
              <a:t>Project Management Knowledge areas cont.</a:t>
            </a:r>
            <a:endParaRPr lang="en-MY" dirty="0"/>
          </a:p>
        </p:txBody>
      </p:sp>
      <p:sp>
        <p:nvSpPr>
          <p:cNvPr id="3" name="Content Placeholder 2">
            <a:extLst>
              <a:ext uri="{FF2B5EF4-FFF2-40B4-BE49-F238E27FC236}">
                <a16:creationId xmlns:a16="http://schemas.microsoft.com/office/drawing/2014/main" id="{D493AA3F-EB76-4FF0-8B66-2E6296E51F69}"/>
              </a:ext>
            </a:extLst>
          </p:cNvPr>
          <p:cNvSpPr>
            <a:spLocks noGrp="1"/>
          </p:cNvSpPr>
          <p:nvPr>
            <p:ph idx="1"/>
          </p:nvPr>
        </p:nvSpPr>
        <p:spPr>
          <a:xfrm>
            <a:off x="1644650" y="1422101"/>
            <a:ext cx="7499350" cy="4800600"/>
          </a:xfrm>
        </p:spPr>
        <p:txBody>
          <a:bodyPr/>
          <a:lstStyle/>
          <a:p>
            <a:pPr marL="82550" indent="0" algn="just">
              <a:buNone/>
            </a:pPr>
            <a:r>
              <a:rPr lang="en-US" dirty="0"/>
              <a:t>  3. Project cost management </a:t>
            </a:r>
          </a:p>
          <a:p>
            <a:pPr marL="357188" lvl="1" indent="0" algn="just">
              <a:buNone/>
            </a:pPr>
            <a:r>
              <a:rPr lang="en-US" sz="3200" dirty="0"/>
              <a:t>	consists of preparing and managing the budget for the project. </a:t>
            </a:r>
          </a:p>
          <a:p>
            <a:pPr marL="357188" lvl="1" indent="0" algn="just">
              <a:buNone/>
            </a:pPr>
            <a:r>
              <a:rPr lang="en-US" sz="3200" dirty="0"/>
              <a:t>4. </a:t>
            </a:r>
            <a:r>
              <a:rPr lang="en-US" dirty="0"/>
              <a:t>Project quality management </a:t>
            </a:r>
          </a:p>
          <a:p>
            <a:pPr marL="357188" lvl="1" indent="0" algn="just">
              <a:buNone/>
            </a:pPr>
            <a:r>
              <a:rPr lang="en-US" sz="3200" dirty="0"/>
              <a:t>	ensures that the project will satisfy the stated or implied needs for which it was undertaken. </a:t>
            </a:r>
          </a:p>
        </p:txBody>
      </p:sp>
    </p:spTree>
    <p:extLst>
      <p:ext uri="{BB962C8B-B14F-4D97-AF65-F5344CB8AC3E}">
        <p14:creationId xmlns:p14="http://schemas.microsoft.com/office/powerpoint/2010/main" val="1699493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9FCE-E56D-46EA-9708-3E42F9DC0159}"/>
              </a:ext>
            </a:extLst>
          </p:cNvPr>
          <p:cNvSpPr>
            <a:spLocks noGrp="1"/>
          </p:cNvSpPr>
          <p:nvPr>
            <p:ph type="title"/>
          </p:nvPr>
        </p:nvSpPr>
        <p:spPr/>
        <p:txBody>
          <a:bodyPr>
            <a:normAutofit fontScale="90000"/>
          </a:bodyPr>
          <a:lstStyle/>
          <a:p>
            <a:r>
              <a:rPr lang="en-US" altLang="en-US" sz="4000" dirty="0"/>
              <a:t>Project Management Knowledge areas cont.</a:t>
            </a:r>
            <a:endParaRPr lang="en-MY" dirty="0"/>
          </a:p>
        </p:txBody>
      </p:sp>
      <p:sp>
        <p:nvSpPr>
          <p:cNvPr id="3" name="Content Placeholder 2">
            <a:extLst>
              <a:ext uri="{FF2B5EF4-FFF2-40B4-BE49-F238E27FC236}">
                <a16:creationId xmlns:a16="http://schemas.microsoft.com/office/drawing/2014/main" id="{D493AA3F-EB76-4FF0-8B66-2E6296E51F69}"/>
              </a:ext>
            </a:extLst>
          </p:cNvPr>
          <p:cNvSpPr>
            <a:spLocks noGrp="1"/>
          </p:cNvSpPr>
          <p:nvPr>
            <p:ph idx="1"/>
          </p:nvPr>
        </p:nvSpPr>
        <p:spPr>
          <a:xfrm>
            <a:off x="1644650" y="1422101"/>
            <a:ext cx="7499350" cy="4800600"/>
          </a:xfrm>
        </p:spPr>
        <p:txBody>
          <a:bodyPr/>
          <a:lstStyle/>
          <a:p>
            <a:pPr marL="82550" indent="0" algn="just">
              <a:buNone/>
            </a:pPr>
            <a:r>
              <a:rPr lang="en-US" sz="2800" dirty="0"/>
              <a:t>   5- Project resource management </a:t>
            </a:r>
          </a:p>
          <a:p>
            <a:pPr marL="357188" lvl="1" indent="0" algn="just">
              <a:buNone/>
            </a:pPr>
            <a:r>
              <a:rPr lang="en-US" dirty="0"/>
              <a:t>	is concerned with making effective use of the people and physical resources involved with the project.</a:t>
            </a:r>
          </a:p>
          <a:p>
            <a:pPr marL="357188" lvl="1" indent="0" algn="just">
              <a:buNone/>
            </a:pPr>
            <a:endParaRPr lang="en-US" dirty="0"/>
          </a:p>
          <a:p>
            <a:pPr marL="357188" lvl="1" indent="0" algn="just">
              <a:buNone/>
            </a:pPr>
            <a:r>
              <a:rPr lang="en-US" dirty="0"/>
              <a:t>6- Project communications management </a:t>
            </a:r>
          </a:p>
          <a:p>
            <a:pPr marL="357188" lvl="1" indent="0" algn="just">
              <a:buNone/>
            </a:pPr>
            <a:r>
              <a:rPr lang="en-US" dirty="0"/>
              <a:t>	involves generating, collecting, disseminating, and storing project information.</a:t>
            </a:r>
            <a:endParaRPr lang="en-MY" dirty="0"/>
          </a:p>
        </p:txBody>
      </p:sp>
    </p:spTree>
    <p:extLst>
      <p:ext uri="{BB962C8B-B14F-4D97-AF65-F5344CB8AC3E}">
        <p14:creationId xmlns:p14="http://schemas.microsoft.com/office/powerpoint/2010/main" val="577689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9FCE-E56D-46EA-9708-3E42F9DC0159}"/>
              </a:ext>
            </a:extLst>
          </p:cNvPr>
          <p:cNvSpPr>
            <a:spLocks noGrp="1"/>
          </p:cNvSpPr>
          <p:nvPr>
            <p:ph type="title"/>
          </p:nvPr>
        </p:nvSpPr>
        <p:spPr/>
        <p:txBody>
          <a:bodyPr>
            <a:normAutofit fontScale="90000"/>
          </a:bodyPr>
          <a:lstStyle/>
          <a:p>
            <a:r>
              <a:rPr lang="en-US" altLang="en-US" sz="4000" dirty="0"/>
              <a:t>Project Management Knowledge areas cont.</a:t>
            </a:r>
            <a:endParaRPr lang="en-MY" dirty="0"/>
          </a:p>
        </p:txBody>
      </p:sp>
      <p:sp>
        <p:nvSpPr>
          <p:cNvPr id="3" name="Content Placeholder 2">
            <a:extLst>
              <a:ext uri="{FF2B5EF4-FFF2-40B4-BE49-F238E27FC236}">
                <a16:creationId xmlns:a16="http://schemas.microsoft.com/office/drawing/2014/main" id="{D493AA3F-EB76-4FF0-8B66-2E6296E51F69}"/>
              </a:ext>
            </a:extLst>
          </p:cNvPr>
          <p:cNvSpPr>
            <a:spLocks noGrp="1"/>
          </p:cNvSpPr>
          <p:nvPr>
            <p:ph idx="1"/>
          </p:nvPr>
        </p:nvSpPr>
        <p:spPr>
          <a:xfrm>
            <a:off x="1644650" y="1422101"/>
            <a:ext cx="7499350" cy="4800600"/>
          </a:xfrm>
        </p:spPr>
        <p:txBody>
          <a:bodyPr/>
          <a:lstStyle/>
          <a:p>
            <a:pPr marL="82550" indent="0" algn="just">
              <a:buNone/>
            </a:pPr>
            <a:r>
              <a:rPr lang="en-US" dirty="0"/>
              <a:t>7. Project risk management </a:t>
            </a:r>
          </a:p>
          <a:p>
            <a:pPr marL="82550" indent="0" algn="just">
              <a:buNone/>
            </a:pPr>
            <a:r>
              <a:rPr lang="en-US" dirty="0"/>
              <a:t>	includes identifying, analyzing, and responding to risks related to the project. </a:t>
            </a:r>
          </a:p>
          <a:p>
            <a:pPr marL="82550" indent="0" algn="just">
              <a:buNone/>
            </a:pPr>
            <a:endParaRPr lang="en-US" dirty="0"/>
          </a:p>
          <a:p>
            <a:pPr marL="82550" indent="0" algn="just">
              <a:buNone/>
            </a:pPr>
            <a:r>
              <a:rPr lang="en-US" dirty="0"/>
              <a:t>8. Project procurement management </a:t>
            </a:r>
          </a:p>
          <a:p>
            <a:pPr marL="82550" indent="0" algn="just">
              <a:buNone/>
            </a:pPr>
            <a:r>
              <a:rPr lang="en-US" dirty="0"/>
              <a:t>	involves acquiring or procuring goods and services for a project from outside the performing organization</a:t>
            </a:r>
            <a:endParaRPr lang="en-MY" dirty="0"/>
          </a:p>
        </p:txBody>
      </p:sp>
    </p:spTree>
    <p:extLst>
      <p:ext uri="{BB962C8B-B14F-4D97-AF65-F5344CB8AC3E}">
        <p14:creationId xmlns:p14="http://schemas.microsoft.com/office/powerpoint/2010/main" val="1599602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9FCE-E56D-46EA-9708-3E42F9DC0159}"/>
              </a:ext>
            </a:extLst>
          </p:cNvPr>
          <p:cNvSpPr>
            <a:spLocks noGrp="1"/>
          </p:cNvSpPr>
          <p:nvPr>
            <p:ph type="title"/>
          </p:nvPr>
        </p:nvSpPr>
        <p:spPr/>
        <p:txBody>
          <a:bodyPr>
            <a:normAutofit fontScale="90000"/>
          </a:bodyPr>
          <a:lstStyle/>
          <a:p>
            <a:r>
              <a:rPr lang="en-US" altLang="en-US" sz="4000" dirty="0"/>
              <a:t>Project Management Knowledge areas cont.</a:t>
            </a:r>
            <a:endParaRPr lang="en-MY" dirty="0"/>
          </a:p>
        </p:txBody>
      </p:sp>
      <p:sp>
        <p:nvSpPr>
          <p:cNvPr id="3" name="Content Placeholder 2">
            <a:extLst>
              <a:ext uri="{FF2B5EF4-FFF2-40B4-BE49-F238E27FC236}">
                <a16:creationId xmlns:a16="http://schemas.microsoft.com/office/drawing/2014/main" id="{D493AA3F-EB76-4FF0-8B66-2E6296E51F69}"/>
              </a:ext>
            </a:extLst>
          </p:cNvPr>
          <p:cNvSpPr>
            <a:spLocks noGrp="1"/>
          </p:cNvSpPr>
          <p:nvPr>
            <p:ph idx="1"/>
          </p:nvPr>
        </p:nvSpPr>
        <p:spPr>
          <a:xfrm>
            <a:off x="1644650" y="1422101"/>
            <a:ext cx="7499350" cy="4800600"/>
          </a:xfrm>
        </p:spPr>
        <p:txBody>
          <a:bodyPr/>
          <a:lstStyle/>
          <a:p>
            <a:pPr marL="82550" indent="0" algn="just">
              <a:buNone/>
            </a:pPr>
            <a:r>
              <a:rPr lang="en-US" dirty="0"/>
              <a:t>9. Project stakeholder management </a:t>
            </a:r>
          </a:p>
          <a:p>
            <a:pPr marL="82550" indent="0" algn="just">
              <a:buNone/>
            </a:pPr>
            <a:r>
              <a:rPr lang="en-US" dirty="0"/>
              <a:t>	includes identifying and analyzing stakeholder needs while managing and controlling their engagement throughout the life of the project. </a:t>
            </a:r>
          </a:p>
          <a:p>
            <a:pPr marL="82550" indent="0" algn="just">
              <a:buNone/>
            </a:pPr>
            <a:r>
              <a:rPr lang="en-US" dirty="0"/>
              <a:t>10. Project integration management </a:t>
            </a:r>
          </a:p>
          <a:p>
            <a:pPr marL="82550" indent="0" algn="just">
              <a:buNone/>
            </a:pPr>
            <a:r>
              <a:rPr lang="en-US" dirty="0"/>
              <a:t>	is a crucial function that affects and is affected by all of the other knowledge areas. </a:t>
            </a:r>
          </a:p>
        </p:txBody>
      </p:sp>
    </p:spTree>
    <p:extLst>
      <p:ext uri="{BB962C8B-B14F-4D97-AF65-F5344CB8AC3E}">
        <p14:creationId xmlns:p14="http://schemas.microsoft.com/office/powerpoint/2010/main" val="3243515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9FCE-E56D-46EA-9708-3E42F9DC0159}"/>
              </a:ext>
            </a:extLst>
          </p:cNvPr>
          <p:cNvSpPr>
            <a:spLocks noGrp="1"/>
          </p:cNvSpPr>
          <p:nvPr>
            <p:ph type="title"/>
          </p:nvPr>
        </p:nvSpPr>
        <p:spPr/>
        <p:txBody>
          <a:bodyPr>
            <a:normAutofit fontScale="90000"/>
          </a:bodyPr>
          <a:lstStyle/>
          <a:p>
            <a:r>
              <a:rPr lang="en-US" altLang="en-US" sz="4000" dirty="0"/>
              <a:t>Project Management Knowledge areas cont.</a:t>
            </a:r>
            <a:endParaRPr lang="en-MY" dirty="0"/>
          </a:p>
        </p:txBody>
      </p:sp>
      <p:sp>
        <p:nvSpPr>
          <p:cNvPr id="3" name="Content Placeholder 2">
            <a:extLst>
              <a:ext uri="{FF2B5EF4-FFF2-40B4-BE49-F238E27FC236}">
                <a16:creationId xmlns:a16="http://schemas.microsoft.com/office/drawing/2014/main" id="{D493AA3F-EB76-4FF0-8B66-2E6296E51F69}"/>
              </a:ext>
            </a:extLst>
          </p:cNvPr>
          <p:cNvSpPr>
            <a:spLocks noGrp="1"/>
          </p:cNvSpPr>
          <p:nvPr>
            <p:ph idx="1"/>
          </p:nvPr>
        </p:nvSpPr>
        <p:spPr>
          <a:xfrm>
            <a:off x="1644650" y="1422101"/>
            <a:ext cx="7499350" cy="4800600"/>
          </a:xfrm>
        </p:spPr>
        <p:txBody>
          <a:bodyPr/>
          <a:lstStyle/>
          <a:p>
            <a:pPr marL="82550" indent="0" algn="just">
              <a:buNone/>
            </a:pPr>
            <a:r>
              <a:rPr lang="en-US" b="0" i="0" dirty="0">
                <a:solidFill>
                  <a:srgbClr val="202124"/>
                </a:solidFill>
                <a:effectLst/>
                <a:latin typeface="arial" panose="020B0604020202020204" pitchFamily="34" charset="0"/>
              </a:rPr>
              <a:t>Project integration management is </a:t>
            </a:r>
            <a:r>
              <a:rPr lang="en-US" b="1" i="0" dirty="0">
                <a:solidFill>
                  <a:srgbClr val="202124"/>
                </a:solidFill>
                <a:effectLst/>
                <a:latin typeface="arial" panose="020B0604020202020204" pitchFamily="34" charset="0"/>
              </a:rPr>
              <a:t>the coordination of all elements of a project</a:t>
            </a:r>
            <a:r>
              <a:rPr lang="en-US" b="0" i="0" dirty="0">
                <a:solidFill>
                  <a:srgbClr val="202124"/>
                </a:solidFill>
                <a:effectLst/>
                <a:latin typeface="arial" panose="020B0604020202020204" pitchFamily="34" charset="0"/>
              </a:rPr>
              <a:t>. </a:t>
            </a:r>
          </a:p>
          <a:p>
            <a:pPr marL="82550" indent="0" algn="just">
              <a:buNone/>
            </a:pPr>
            <a:r>
              <a:rPr lang="en-US" b="0" i="0" dirty="0">
                <a:solidFill>
                  <a:srgbClr val="202124"/>
                </a:solidFill>
                <a:effectLst/>
                <a:latin typeface="arial" panose="020B0604020202020204" pitchFamily="34" charset="0"/>
              </a:rPr>
              <a:t>This includes coordinating tasks, resources, stakeholders, and any other project elements, in addition to managing conflicts between different aspects of a project, making trade-offs between competing requests, and evaluating resources.</a:t>
            </a:r>
            <a:endParaRPr lang="en-MY" dirty="0"/>
          </a:p>
        </p:txBody>
      </p:sp>
    </p:spTree>
    <p:extLst>
      <p:ext uri="{BB962C8B-B14F-4D97-AF65-F5344CB8AC3E}">
        <p14:creationId xmlns:p14="http://schemas.microsoft.com/office/powerpoint/2010/main" val="19319944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1910</TotalTime>
  <Words>791</Words>
  <Application>Microsoft Office PowerPoint</Application>
  <PresentationFormat>On-screen Show (4:3)</PresentationFormat>
  <Paragraphs>87</Paragraphs>
  <Slides>22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Arial</vt:lpstr>
      <vt:lpstr>Calibri</vt:lpstr>
      <vt:lpstr>Gill Sans MT</vt:lpstr>
      <vt:lpstr>Goudy Stout</vt:lpstr>
      <vt:lpstr>Times</vt:lpstr>
      <vt:lpstr>Times New Roman</vt:lpstr>
      <vt:lpstr>Verdana</vt:lpstr>
      <vt:lpstr>Wingdings 2</vt:lpstr>
      <vt:lpstr>Solstice</vt:lpstr>
      <vt:lpstr>PowerPoint Presentation</vt:lpstr>
      <vt:lpstr>Software Project?</vt:lpstr>
      <vt:lpstr>Project</vt:lpstr>
      <vt:lpstr>Project Constraints?</vt:lpstr>
      <vt:lpstr>Project Constraints</vt:lpstr>
      <vt:lpstr>Project Constraints Cont.</vt:lpstr>
      <vt:lpstr>Project Constraints Cont.</vt:lpstr>
      <vt:lpstr>Project Constraints Cont.</vt:lpstr>
      <vt:lpstr>Project Constraints Cont.</vt:lpstr>
      <vt:lpstr>Project Constraints Cont.</vt:lpstr>
      <vt:lpstr>Project Management?</vt:lpstr>
      <vt:lpstr>Project Management</vt:lpstr>
      <vt:lpstr>Project Management Framework</vt:lpstr>
      <vt:lpstr>Project Management Knowledge Areas</vt:lpstr>
      <vt:lpstr>Project Management Knowledge areas</vt:lpstr>
      <vt:lpstr>Project Management Knowledge areas cont.</vt:lpstr>
      <vt:lpstr>Project Management Knowledge areas cont.</vt:lpstr>
      <vt:lpstr>Project Management Knowledge areas cont.</vt:lpstr>
      <vt:lpstr>Project Management Knowledge areas cont.</vt:lpstr>
      <vt:lpstr>Project Management Knowledge areas cont.</vt:lpstr>
      <vt:lpstr>Project Management Knowledge areas cont.</vt:lpstr>
      <vt:lpstr>Project Management Knowledge areas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MN</dc:creator>
  <cp:lastModifiedBy>Sumaira Nazir</cp:lastModifiedBy>
  <cp:revision>182</cp:revision>
  <cp:lastPrinted>2014-09-07T17:36:35Z</cp:lastPrinted>
  <dcterms:created xsi:type="dcterms:W3CDTF">2006-12-08T11:09:38Z</dcterms:created>
  <dcterms:modified xsi:type="dcterms:W3CDTF">2025-03-05T09:44:19Z</dcterms:modified>
</cp:coreProperties>
</file>