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1" r:id="rId6"/>
    <p:sldId id="267" r:id="rId7"/>
    <p:sldId id="260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363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726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49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82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97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7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08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87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86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1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62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8030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06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39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50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4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0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C6D68B-1846-4E4C-8BAB-D9CDAFF8CB7C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88FFE-6B31-4406-AC4D-13B28A06E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693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EA93-1C19-47D3-A31F-35AA3096C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6354" y="1117605"/>
            <a:ext cx="9448800" cy="86279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Transport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158BA1-F843-4F87-9E64-DC7030DFB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270" y="2377439"/>
            <a:ext cx="11219847" cy="1472665"/>
          </a:xfrm>
        </p:spPr>
        <p:txBody>
          <a:bodyPr>
            <a:normAutofit fontScale="92500"/>
          </a:bodyPr>
          <a:lstStyle/>
          <a:p>
            <a:pPr algn="ctr"/>
            <a:r>
              <a:rPr lang="en-US" sz="2800" b="1" dirty="0"/>
              <a:t>Group members:</a:t>
            </a:r>
          </a:p>
          <a:p>
            <a:endParaRPr lang="en-US" sz="2800" dirty="0"/>
          </a:p>
          <a:p>
            <a:r>
              <a:rPr lang="en-US" sz="2800" dirty="0"/>
              <a:t>Zulqarnain Hassan (sp21379) 			 Mumtaz Ali  (sp21386)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801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FAF8-CD19-417C-97EC-43FFAAD40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726A7F-723F-4100-AA22-AF7C57289B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621575"/>
            <a:ext cx="837133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Transportation is fundamental to social well-being, providing access to: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 &amp; Education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Employment &amp; Economic Opportunities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&amp; Family Connections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buses are the backbone of this connectivity for millions. </a:t>
            </a:r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51E1D118-946E-433D-8DF8-9E8A9A2FC0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131530" y="2157664"/>
            <a:ext cx="788913" cy="7889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AC8001-8EEE-420D-97EB-07A980944353}"/>
              </a:ext>
            </a:extLst>
          </p:cNvPr>
          <p:cNvSpPr/>
          <p:nvPr/>
        </p:nvSpPr>
        <p:spPr>
          <a:xfrm>
            <a:off x="10131530" y="3009419"/>
            <a:ext cx="7889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</a:rPr>
              <a:t>Voice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59217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5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2D61C-EC9E-44C0-88D3-3388B66C5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347" y="196483"/>
            <a:ext cx="8610600" cy="1293028"/>
          </a:xfrm>
        </p:spPr>
        <p:txBody>
          <a:bodyPr/>
          <a:lstStyle/>
          <a:p>
            <a:pPr algn="ctr"/>
            <a:r>
              <a:rPr lang="en-US" dirty="0"/>
              <a:t>Our Focused Area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CD446C-0199-4B34-B318-9100C22ADD93}"/>
              </a:ext>
            </a:extLst>
          </p:cNvPr>
          <p:cNvSpPr txBox="1">
            <a:spLocks/>
          </p:cNvSpPr>
          <p:nvPr/>
        </p:nvSpPr>
        <p:spPr>
          <a:xfrm>
            <a:off x="3753854" y="1236010"/>
            <a:ext cx="6096000" cy="9104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/>
              <a:t>Gilgit-Baltistan to Islamabad Route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E5F9E94-415D-4AB0-9B3D-092B942741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999" y="2402555"/>
            <a:ext cx="1179870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/>
              <a:t>A Critical Yet Challenging Corridor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route, primarily via the Karakoram Highway (KKH), is a vital link for the people of Gilgit-Baltistan.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facilitates essential travel, trade, and tourism between GB and the federal capital, Islamabad.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the mountainous terrain, long distances, and varying road conditions present unique safety challenges. </a:t>
            </a:r>
          </a:p>
        </p:txBody>
      </p:sp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8AAF16F5-18DF-4C89-A2F2-1DE29B1222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04640" y="4957100"/>
            <a:ext cx="1005307" cy="1005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B820A2F-8677-48BB-ADCB-F95394227331}"/>
              </a:ext>
            </a:extLst>
          </p:cNvPr>
          <p:cNvSpPr/>
          <p:nvPr/>
        </p:nvSpPr>
        <p:spPr>
          <a:xfrm>
            <a:off x="10448227" y="6083638"/>
            <a:ext cx="10053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</a:rPr>
              <a:t>Voice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469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3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C795A-E79A-4984-BE58-1B99EE44D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510" y="503705"/>
            <a:ext cx="5536130" cy="829394"/>
          </a:xfrm>
        </p:spPr>
        <p:txBody>
          <a:bodyPr/>
          <a:lstStyle/>
          <a:p>
            <a:pPr algn="ctr"/>
            <a:r>
              <a:rPr lang="en-US" dirty="0"/>
              <a:t>Statistics &amp;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78E5D-B9F0-4250-B4AF-41B7DA087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26670"/>
            <a:ext cx="10820400" cy="507251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Alarming Accident Rates: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/>
              <a:t> Gilgit-Baltistan faces a significant and rising number of road accidents.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2023:</a:t>
            </a:r>
            <a:r>
              <a:rPr lang="en-US" dirty="0"/>
              <a:t> 230 accidents reported in GB (up from 150 in 2020).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2022:</a:t>
            </a:r>
            <a:r>
              <a:rPr lang="en-US" dirty="0"/>
              <a:t> 77 fatalities and 467 injuries in GB.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Recent Tragedies on This Route: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May 2024:</a:t>
            </a:r>
            <a:r>
              <a:rPr lang="en-US" dirty="0"/>
              <a:t> 20 killed, 21 injured in a bus plunge near </a:t>
            </a:r>
            <a:r>
              <a:rPr lang="en-US" dirty="0" err="1"/>
              <a:t>Diamer</a:t>
            </a:r>
            <a:r>
              <a:rPr lang="en-US" dirty="0"/>
              <a:t> (</a:t>
            </a:r>
            <a:r>
              <a:rPr lang="en-US" dirty="0" err="1"/>
              <a:t>Hunza</a:t>
            </a:r>
            <a:r>
              <a:rPr lang="en-US" dirty="0"/>
              <a:t>-Rawalpindi route).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Nov 2023:</a:t>
            </a:r>
            <a:r>
              <a:rPr lang="en-US" dirty="0"/>
              <a:t> 22 drowned when a wedding bus plunged into the Indus River (Astore-Chakwal route).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Dec 2023:</a:t>
            </a:r>
            <a:r>
              <a:rPr lang="en-US" dirty="0"/>
              <a:t> 10 killed, 25 injured in a bus attack in </a:t>
            </a:r>
            <a:r>
              <a:rPr lang="en-US" dirty="0" err="1"/>
              <a:t>Chilas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F8DE3BB6-DF72-4B0E-825A-AD7AFF5796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00694" y="5145230"/>
            <a:ext cx="838200" cy="838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402B34F-E51E-4BF6-B629-944F2009F488}"/>
              </a:ext>
            </a:extLst>
          </p:cNvPr>
          <p:cNvSpPr/>
          <p:nvPr/>
        </p:nvSpPr>
        <p:spPr>
          <a:xfrm>
            <a:off x="10928506" y="5974260"/>
            <a:ext cx="9825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</a:rPr>
              <a:t>Voice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73124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9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4679B-480D-4715-90B4-10B145E0C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Our Proposed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2BABF-D01A-4DF8-91A8-BE96C7635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333996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 Two-Pronged Approach to Passenger Safety</a:t>
            </a:r>
          </a:p>
          <a:p>
            <a:pPr>
              <a:buFont typeface="+mj-lt"/>
              <a:buAutoNum type="arabicPeriod"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Equip Buses:</a:t>
            </a:r>
            <a:r>
              <a:rPr lang="en-US" dirty="0"/>
              <a:t> Provide standardized, well-stocked first aid boxes on public buses operating between Gilgit-Baltistan and Islamabad.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Empower Personnel:</a:t>
            </a:r>
            <a:r>
              <a:rPr lang="en-US" dirty="0"/>
              <a:t> Train bus drivers and conductors in essential basic first aid skills</a:t>
            </a:r>
          </a:p>
          <a:p>
            <a:endParaRPr lang="en-US" dirty="0"/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AC2FE346-1B30-4ABE-BB8B-1D9BF92770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523286" y="5433596"/>
            <a:ext cx="919078" cy="91907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4C5A4D-F944-4B91-AEC8-C6DB71A85500}"/>
              </a:ext>
            </a:extLst>
          </p:cNvPr>
          <p:cNvSpPr/>
          <p:nvPr/>
        </p:nvSpPr>
        <p:spPr>
          <a:xfrm>
            <a:off x="10459452" y="6352674"/>
            <a:ext cx="10467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</a:rPr>
              <a:t>Voice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9478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17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BCF59-129C-4559-A423-F6215F53B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440" y="3016685"/>
            <a:ext cx="8610600" cy="1293028"/>
          </a:xfrm>
        </p:spPr>
        <p:txBody>
          <a:bodyPr/>
          <a:lstStyle/>
          <a:p>
            <a:r>
              <a:rPr lang="en-US" dirty="0"/>
              <a:t>Zulqarnain hassan (sp21379)</a:t>
            </a:r>
          </a:p>
        </p:txBody>
      </p:sp>
    </p:spTree>
    <p:extLst>
      <p:ext uri="{BB962C8B-B14F-4D97-AF65-F5344CB8AC3E}">
        <p14:creationId xmlns:p14="http://schemas.microsoft.com/office/powerpoint/2010/main" val="1192186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660C2-DCE1-435F-8BBC-D6008233D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First Aid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0A68A-4C43-437C-A395-F6DE4C2ED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Beyond Major Accidents:</a:t>
            </a:r>
            <a:r>
              <a:rPr lang="en-US" dirty="0"/>
              <a:t> Passengers also face common medical issues like motion sickness, fainting, minor injuries, or sudden illnesses.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Remote Locations:</a:t>
            </a:r>
            <a:r>
              <a:rPr lang="en-US" dirty="0"/>
              <a:t> Accident sites on the KKH are often far from emergency medical services.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"Golden Hour":</a:t>
            </a:r>
            <a:r>
              <a:rPr lang="en-US" dirty="0"/>
              <a:t> The first hour after an injury is critical. Timely basic first aid can: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Prevent conditions from worsening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Reduce severity of injuries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Significantly improve survival rates</a:t>
            </a:r>
          </a:p>
          <a:p>
            <a:endParaRPr lang="en-US" dirty="0"/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999B5D49-E65C-45D2-A0B3-491C0A51A2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73472" y="5001126"/>
            <a:ext cx="2144295" cy="97963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188B10B-7BFC-444F-A0EA-113F23EE5B63}"/>
              </a:ext>
            </a:extLst>
          </p:cNvPr>
          <p:cNvSpPr txBox="1">
            <a:spLocks/>
          </p:cNvSpPr>
          <p:nvPr/>
        </p:nvSpPr>
        <p:spPr>
          <a:xfrm>
            <a:off x="7673472" y="5790096"/>
            <a:ext cx="1963283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audio</a:t>
            </a:r>
          </a:p>
        </p:txBody>
      </p:sp>
    </p:spTree>
    <p:extLst>
      <p:ext uri="{BB962C8B-B14F-4D97-AF65-F5344CB8AC3E}">
        <p14:creationId xmlns:p14="http://schemas.microsoft.com/office/powerpoint/2010/main" val="22429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5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E4C4E-FABB-4710-8532-53DF2BE4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First Aid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D69B0-FDFA-4BC7-83F3-99D2C4667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516" y="1742174"/>
            <a:ext cx="10928684" cy="4812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Each standardized first aid box will contain: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Antiseptic wipes, Cotton, Bandages (various sizes)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Gauze pads, Medical tape, Small scissors, Tweezers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Disposable gloves, Safety pins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medications: Pain relievers, Anti-</a:t>
            </a:r>
            <a:r>
              <a:rPr lang="en-US" dirty="0" err="1"/>
              <a:t>allergics</a:t>
            </a:r>
            <a:r>
              <a:rPr lang="en-US" dirty="0"/>
              <a:t>, Motion sickness tablets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concise, multilingual (Urdu/English) first aid instruction leaflet.</a:t>
            </a:r>
          </a:p>
          <a:p>
            <a:endParaRPr lang="en-US" dirty="0"/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0015E759-F53F-4A54-B8AB-5B02B311D5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96400" y="1647256"/>
            <a:ext cx="1842703" cy="100530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E2A0D4C-BE5F-4192-9314-EB7C697A0904}"/>
              </a:ext>
            </a:extLst>
          </p:cNvPr>
          <p:cNvSpPr txBox="1">
            <a:spLocks/>
          </p:cNvSpPr>
          <p:nvPr/>
        </p:nvSpPr>
        <p:spPr>
          <a:xfrm>
            <a:off x="9296400" y="2469380"/>
            <a:ext cx="1963283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audio</a:t>
            </a:r>
          </a:p>
        </p:txBody>
      </p:sp>
    </p:spTree>
    <p:extLst>
      <p:ext uri="{BB962C8B-B14F-4D97-AF65-F5344CB8AC3E}">
        <p14:creationId xmlns:p14="http://schemas.microsoft.com/office/powerpoint/2010/main" val="252233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2314C-62A1-4074-BD1B-65F787659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682" y="764373"/>
            <a:ext cx="9417518" cy="1293028"/>
          </a:xfrm>
        </p:spPr>
        <p:txBody>
          <a:bodyPr/>
          <a:lstStyle/>
          <a:p>
            <a:pPr algn="ctr"/>
            <a:r>
              <a:rPr lang="en-US" dirty="0"/>
              <a:t>Training Drivers &amp; Conductors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0F8A6C-1221-480E-9132-F3ACC8D605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3300" y="1863512"/>
            <a:ext cx="111629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first aid workshops will be conducted for all participating bus drivers and conductors.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Training Areas: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Assessment of injury/illness (e.g., recognizing shock, fainting).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minor cuts, burns, and sprains.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wound dressing and bandaging.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common medical emergencies (e.g., seizures, allergic reactions).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communication with emergency services.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 use and maintenance of the first aid kit.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Participants will receive a certificate of completion. </a:t>
            </a:r>
          </a:p>
        </p:txBody>
      </p:sp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FBBF7A4F-76C7-40BC-BE8E-28BD510AC5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403882" y="5053263"/>
            <a:ext cx="1284438" cy="73683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1F0BD0D-504F-46C0-873C-A5E1EE4E6D18}"/>
              </a:ext>
            </a:extLst>
          </p:cNvPr>
          <p:cNvSpPr txBox="1">
            <a:spLocks/>
          </p:cNvSpPr>
          <p:nvPr/>
        </p:nvSpPr>
        <p:spPr>
          <a:xfrm>
            <a:off x="9242390" y="5814659"/>
            <a:ext cx="1963283" cy="736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audio</a:t>
            </a:r>
          </a:p>
        </p:txBody>
      </p:sp>
    </p:spTree>
    <p:extLst>
      <p:ext uri="{BB962C8B-B14F-4D97-AF65-F5344CB8AC3E}">
        <p14:creationId xmlns:p14="http://schemas.microsoft.com/office/powerpoint/2010/main" val="245693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2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C14DF-C997-47E1-BB9F-04D9ADF0A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Estimated Cost &amp; Resources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5FFC5E-4C66-47EE-85E9-555585D171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499" y="2059046"/>
            <a:ext cx="1183332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Cost Categories: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Aid Kits: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initial stocking.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Trainer fees, venue, materials, certificates.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Replenishment: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Ongoing cost of replacing used/expired items.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Awareness: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Printing of leaflets/posters.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Project coordination, monitoring.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Estimated Initial Setup Cost 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PKR 500,000 for 50 buses, including initial kits and training</a:t>
            </a:r>
          </a:p>
        </p:txBody>
      </p:sp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A10AD500-D5FB-4794-AB84-CABBEE2DCF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12480" y="2330649"/>
            <a:ext cx="1630675" cy="63393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0D45B22-7158-4B1C-8A07-6D41FBCCC8C3}"/>
              </a:ext>
            </a:extLst>
          </p:cNvPr>
          <p:cNvSpPr txBox="1">
            <a:spLocks/>
          </p:cNvSpPr>
          <p:nvPr/>
        </p:nvSpPr>
        <p:spPr>
          <a:xfrm>
            <a:off x="8246175" y="3112034"/>
            <a:ext cx="1963283" cy="633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audio</a:t>
            </a:r>
          </a:p>
        </p:txBody>
      </p:sp>
    </p:spTree>
    <p:extLst>
      <p:ext uri="{BB962C8B-B14F-4D97-AF65-F5344CB8AC3E}">
        <p14:creationId xmlns:p14="http://schemas.microsoft.com/office/powerpoint/2010/main" val="276703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52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BFFEB-B851-45F8-84F3-84B28D0E9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Partnerships for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86ADF-2639-48BB-9F12-8D84BDF2B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63102"/>
            <a:ext cx="10820400" cy="341903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Partners We Seek: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 Companies/Operators:</a:t>
            </a:r>
            <a:r>
              <a:rPr lang="en-US" dirty="0"/>
              <a:t> Essential for access, cooperation, and driver participation.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Medical &amp; Health Organizations:</a:t>
            </a:r>
            <a:r>
              <a:rPr lang="en-US" dirty="0"/>
              <a:t> (e.g., Pakistan Red Crescent Society, local hospitals, paramedics) for training expertise, medical guidance, and potential support.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Local Government / Transport Authorities:</a:t>
            </a:r>
            <a:r>
              <a:rPr lang="en-US" dirty="0"/>
              <a:t> For endorsement, regulatory support, and broader outreach.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Corporate Sponsors </a:t>
            </a:r>
            <a:r>
              <a:rPr lang="en-US" dirty="0"/>
              <a:t>For crucial funding and long-term sustainability.</a:t>
            </a:r>
          </a:p>
          <a:p>
            <a:endParaRPr lang="en-US" dirty="0"/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8D202DD1-8E07-4019-923D-B989A79990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89483" y="5280826"/>
            <a:ext cx="2092959" cy="60020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223CC30-1D2C-4ED3-8F44-29829586750C}"/>
              </a:ext>
            </a:extLst>
          </p:cNvPr>
          <p:cNvSpPr txBox="1">
            <a:spLocks/>
          </p:cNvSpPr>
          <p:nvPr/>
        </p:nvSpPr>
        <p:spPr>
          <a:xfrm>
            <a:off x="8619159" y="5881035"/>
            <a:ext cx="1963283" cy="720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audio</a:t>
            </a:r>
          </a:p>
        </p:txBody>
      </p:sp>
    </p:spTree>
    <p:extLst>
      <p:ext uri="{BB962C8B-B14F-4D97-AF65-F5344CB8AC3E}">
        <p14:creationId xmlns:p14="http://schemas.microsoft.com/office/powerpoint/2010/main" val="168656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8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EA5E-EB04-45F0-9B4B-E84C23529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076" y="2641299"/>
            <a:ext cx="8610600" cy="1293028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5234893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91</TotalTime>
  <Words>654</Words>
  <Application>Microsoft Office PowerPoint</Application>
  <PresentationFormat>Widescreen</PresentationFormat>
  <Paragraphs>105</Paragraphs>
  <Slides>12</Slides>
  <Notes>0</Notes>
  <HiddenSlides>0</HiddenSlides>
  <MMClips>9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Vapor Trail</vt:lpstr>
      <vt:lpstr>Transport</vt:lpstr>
      <vt:lpstr>Introduction</vt:lpstr>
      <vt:lpstr>Our Focused Area</vt:lpstr>
      <vt:lpstr>Statistics &amp; Stories</vt:lpstr>
      <vt:lpstr>Our Proposed Service</vt:lpstr>
      <vt:lpstr>Zulqarnain hassan (sp21379)</vt:lpstr>
      <vt:lpstr>Why First Aid Matters</vt:lpstr>
      <vt:lpstr>First Aid Box</vt:lpstr>
      <vt:lpstr>Training Drivers &amp; Conductors</vt:lpstr>
      <vt:lpstr>Estimated Cost &amp; Resources</vt:lpstr>
      <vt:lpstr>Partnerships for Success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</dc:title>
  <dc:creator>zulqarnain hassan</dc:creator>
  <cp:lastModifiedBy>zulqarnain hassan</cp:lastModifiedBy>
  <cp:revision>11</cp:revision>
  <dcterms:created xsi:type="dcterms:W3CDTF">2025-05-27T06:13:16Z</dcterms:created>
  <dcterms:modified xsi:type="dcterms:W3CDTF">2025-06-04T17:45:12Z</dcterms:modified>
</cp:coreProperties>
</file>