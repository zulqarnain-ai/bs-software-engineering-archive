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9144000" cy="6858000"/>
  <p:embeddedFontLst>
    <p:embeddedFont>
      <p:font typeface="Play"/>
      <p:regular r:id="rId29"/>
      <p:bold r:id="rId30"/>
    </p:embeddedFont>
    <p:embeddedFont>
      <p:font typeface="Noto Sans Symbol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otoSansSymbols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otoSansSymbol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https://www.justinmind.com/blog/mobile-navigation/</a:t>
            </a:r>
            <a:endParaRPr/>
          </a:p>
        </p:txBody>
      </p:sp>
      <p:sp>
        <p:nvSpPr>
          <p:cNvPr id="249" name="Google Shape;249;p22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691387" y="344170"/>
            <a:ext cx="1623060" cy="696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3461" y="1265046"/>
            <a:ext cx="10668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91387" y="1523658"/>
            <a:ext cx="492315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 and app development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architecture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design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4800600"/>
            <a:ext cx="9144000" cy="2057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Website and App Development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13461" y="1265046"/>
            <a:ext cx="10668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91387" y="1523658"/>
            <a:ext cx="7359650" cy="321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 design with clear objectives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Gradual increase in content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is the key concern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 are specific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design (for apps) is relatively easier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Responsive design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00600"/>
            <a:ext cx="9144000" cy="2057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2315" r="1" t="0"/>
          <a:stretch/>
        </p:blipFill>
        <p:spPr>
          <a:xfrm>
            <a:off x="20" y="1282"/>
            <a:ext cx="9143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Information Architecture of Apps and Websites</a:t>
            </a:r>
            <a:endParaRPr sz="4000"/>
          </a:p>
        </p:txBody>
      </p:sp>
      <p:sp>
        <p:nvSpPr>
          <p:cNvPr id="111" name="Google Shape;111;p16"/>
          <p:cNvSpPr txBox="1"/>
          <p:nvPr/>
        </p:nvSpPr>
        <p:spPr>
          <a:xfrm>
            <a:off x="213461" y="1265046"/>
            <a:ext cx="10668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91387" y="1523658"/>
            <a:ext cx="6143625" cy="214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content is classified and organized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Structures, categories, and collections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objectives and users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Challenging task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0" y="4800600"/>
            <a:ext cx="9144000" cy="2057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eginner's Guide To Information Architecture in UX [2024]" id="118" name="Google Shape;11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1318090"/>
            <a:ext cx="8178799" cy="422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18"/>
          <p:cNvGrpSpPr/>
          <p:nvPr/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</p:grpSpPr>
        <p:sp>
          <p:nvSpPr>
            <p:cNvPr id="125" name="Google Shape;125;p18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8"/>
          <p:cNvSpPr/>
          <p:nvPr/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 is Information Architecture in UX Design?" id="128" name="Google Shape;12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3476" r="13258" t="0"/>
          <a:stretch/>
        </p:blipFill>
        <p:spPr>
          <a:xfrm>
            <a:off x="628650" y="704765"/>
            <a:ext cx="7971282" cy="544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Classification Schemes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213461" y="1265046"/>
            <a:ext cx="10668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91387" y="1523658"/>
            <a:ext cx="7190105" cy="4067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called ontology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ontology is critical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Exact schemes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Alphabetical, chronological and geographical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Ambiguous schemes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Subjective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332740" marR="508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Alphabets, locations, time, continuums, numbers, categories, randomness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Faceted Classification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213461" y="1265046"/>
            <a:ext cx="10668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91387" y="1611833"/>
            <a:ext cx="7566025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20675" lvl="0" marL="3327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 can be described in terms of dimensions, facets, and values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travel website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Dimensions: Cars, flights, hotels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Facets: price, origin/destination, locations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Values: Name of city and airport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small and clearly defined spaces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9930" y="-40031"/>
            <a:ext cx="9144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21"/>
          <p:cNvGrpSpPr/>
          <p:nvPr/>
        </p:nvGrpSpPr>
        <p:grpSpPr>
          <a:xfrm>
            <a:off x="0" y="1234439"/>
            <a:ext cx="9144127" cy="320040"/>
            <a:chOff x="0" y="1234439"/>
            <a:chExt cx="9144127" cy="320040"/>
          </a:xfrm>
        </p:grpSpPr>
        <p:sp>
          <p:nvSpPr>
            <p:cNvPr id="149" name="Google Shape;149;p21"/>
            <p:cNvSpPr/>
            <p:nvPr/>
          </p:nvSpPr>
          <p:spPr>
            <a:xfrm>
              <a:off x="0" y="1234439"/>
              <a:ext cx="9144000" cy="320040"/>
            </a:xfrm>
            <a:custGeom>
              <a:rect b="b" l="l" r="r" t="t"/>
              <a:pathLst>
                <a:path extrusionOk="0" h="320040" w="9144000">
                  <a:moveTo>
                    <a:pt x="9144000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9144000" y="32003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591312" y="1280159"/>
              <a:ext cx="8552815" cy="228600"/>
            </a:xfrm>
            <a:custGeom>
              <a:rect b="b" l="l" r="r" t="t"/>
              <a:pathLst>
                <a:path extrusionOk="0" h="228600" w="8552815">
                  <a:moveTo>
                    <a:pt x="855268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2688" y="228600"/>
                  </a:lnTo>
                  <a:lnTo>
                    <a:pt x="8552688" y="0"/>
                  </a:lnTo>
                  <a:close/>
                </a:path>
              </a:pathLst>
            </a:custGeom>
            <a:solidFill>
              <a:srgbClr val="5253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21"/>
          <p:cNvSpPr txBox="1"/>
          <p:nvPr>
            <p:ph type="title"/>
          </p:nvPr>
        </p:nvSpPr>
        <p:spPr>
          <a:xfrm>
            <a:off x="571500" y="4003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Organizational Structures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628650" y="1825625"/>
            <a:ext cx="7886700" cy="28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267"/>
              <a:buFont typeface="Noto Sans Symbols"/>
              <a:buChar char="◻"/>
            </a:pPr>
            <a:r>
              <a:rPr lang="en-US"/>
              <a:t>Different structures are possible</a:t>
            </a:r>
            <a:endParaRPr/>
          </a:p>
          <a:p>
            <a:pPr indent="-320040" lvl="0" marL="3327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267"/>
              <a:buFont typeface="Noto Sans Symbols"/>
              <a:buChar char="◻"/>
            </a:pPr>
            <a:r>
              <a:rPr b="1" lang="en-US"/>
              <a:t>Hierarchical structure</a:t>
            </a:r>
            <a:endParaRPr b="1"/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207"/>
              <a:buNone/>
            </a:pPr>
            <a:r>
              <a:rPr lang="en-US" sz="2000"/>
              <a:t>upside-down tree</a:t>
            </a:r>
            <a:endParaRPr sz="20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267"/>
              <a:buFont typeface="Noto Sans Symbols"/>
              <a:buChar char="◻"/>
            </a:pPr>
            <a:r>
              <a:rPr b="1" lang="en-US"/>
              <a:t>Network structure</a:t>
            </a:r>
            <a:endParaRPr b="1"/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207"/>
              <a:buNone/>
            </a:pPr>
            <a:r>
              <a:rPr b="1" lang="en-US" sz="2000"/>
              <a:t>S</a:t>
            </a:r>
            <a:r>
              <a:rPr lang="en-US" sz="2000"/>
              <a:t>ometimes confusing</a:t>
            </a:r>
            <a:endParaRPr sz="20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38085"/>
              </a:buClr>
              <a:buSzPts val="1267"/>
              <a:buFont typeface="Noto Sans Symbols"/>
              <a:buChar char="◻"/>
            </a:pPr>
            <a:r>
              <a:rPr b="1" lang="en-US"/>
              <a:t>Sequence structure</a:t>
            </a:r>
            <a:endParaRPr/>
          </a:p>
          <a:p>
            <a:pPr indent="0" lvl="0" marL="207009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525389"/>
              </a:buClr>
              <a:buSzPts val="1400"/>
              <a:buNone/>
            </a:pPr>
            <a:r>
              <a:rPr lang="en-US" sz="14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/>
              <a:t>Straightforward task</a:t>
            </a:r>
            <a:endParaRPr sz="2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0" y="1280160"/>
            <a:ext cx="533400" cy="251460"/>
          </a:xfrm>
          <a:prstGeom prst="rect">
            <a:avLst/>
          </a:prstGeom>
          <a:solidFill>
            <a:srgbClr val="438085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8764" y="4203191"/>
            <a:ext cx="4241292" cy="210921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129539" y="6655409"/>
            <a:ext cx="316484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Source: Designing User Experience, D. Benyon, 4</a:t>
            </a:r>
            <a:r>
              <a:rPr baseline="30000"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ed. P. 352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628650" y="630337"/>
            <a:ext cx="7886700" cy="795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 u="sng"/>
              <a:t>Metadata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205841" y="1264665"/>
            <a:ext cx="1206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2819400" y="381000"/>
            <a:ext cx="5791200" cy="4281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about the content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by search engines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types of metadata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Intrinsic</a:t>
            </a:r>
            <a:endParaRPr sz="29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---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details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Administrative</a:t>
            </a:r>
            <a:endParaRPr sz="29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---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 name, revision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9405" lvl="0" marL="332105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Descriptive</a:t>
            </a:r>
            <a:endParaRPr sz="29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---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0" y="4800600"/>
            <a:ext cx="9144000" cy="2057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oad with a red pin on it&#10;&#10;Description automatically generated with medium confidence" id="168" name="Google Shape;168;p23"/>
          <p:cNvPicPr preferRelativeResize="0"/>
          <p:nvPr/>
        </p:nvPicPr>
        <p:blipFill rotWithShape="1">
          <a:blip r:embed="rId3">
            <a:alphaModFix/>
          </a:blip>
          <a:srcRect b="-1" l="27773" r="21860" t="0"/>
          <a:stretch/>
        </p:blipFill>
        <p:spPr>
          <a:xfrm>
            <a:off x="-2" y="-16897"/>
            <a:ext cx="5194732" cy="68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/>
          <p:nvPr/>
        </p:nvSpPr>
        <p:spPr>
          <a:xfrm>
            <a:off x="1112500" y="1474755"/>
            <a:ext cx="2957664" cy="39279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1430330" y="2209316"/>
            <a:ext cx="2378484" cy="1945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Navigation Design</a:t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1430330" y="4161030"/>
            <a:ext cx="2378484" cy="927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23"/>
          <p:cNvCxnSpPr/>
          <p:nvPr/>
        </p:nvCxnSpPr>
        <p:spPr>
          <a:xfrm>
            <a:off x="1465938" y="1940933"/>
            <a:ext cx="552705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3"/>
          <p:cNvSpPr txBox="1"/>
          <p:nvPr/>
        </p:nvSpPr>
        <p:spPr>
          <a:xfrm>
            <a:off x="205841" y="1264665"/>
            <a:ext cx="120650" cy="2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182666" y="1600200"/>
            <a:ext cx="4572000" cy="147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navigation support : </a:t>
            </a:r>
            <a:endParaRPr/>
          </a:p>
          <a:p>
            <a:pPr indent="-285750" lvl="0" marL="285750" marR="50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8085"/>
              </a:buClr>
              <a:buSzPts val="1086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mechanisms</a:t>
            </a:r>
            <a:endParaRPr/>
          </a:p>
          <a:p>
            <a:pPr indent="-285750" lvl="0" marL="285750" marR="50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8085"/>
              </a:buClr>
              <a:buSzPts val="1086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vs novice users</a:t>
            </a:r>
            <a:endParaRPr/>
          </a:p>
          <a:p>
            <a:pPr indent="-216776" lvl="0" marL="285750" marR="50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8085"/>
              </a:buClr>
              <a:buSzPts val="1086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Labelling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158597" y="1264665"/>
            <a:ext cx="21462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691387" y="1523658"/>
            <a:ext cx="7246620" cy="404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/ external links, headings, subheadings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iconic labels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Unambiguous vocabulary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Products vs items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support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Signs and labels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navigation bar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breadcrumbs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/>
          <p:nvPr/>
        </p:nvSpPr>
        <p:spPr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 showing various navigation design patterns: dropdown menu, top bar, side bar, and hamburger menu" id="187" name="Google Shape;18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333" l="0" r="0" t="0"/>
          <a:stretch/>
        </p:blipFill>
        <p:spPr>
          <a:xfrm>
            <a:off x="20" y="1282"/>
            <a:ext cx="9143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93" name="Google Shape;19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885" y="1825625"/>
            <a:ext cx="725223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Navigation Design | Patterns, tips &amp; best practices - Justinmind"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25" y="0"/>
            <a:ext cx="90233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UX Design for Navigation Menus | UX Tools"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What is a UX sitemap, and why is it important? | Nulab" id="214" name="Google Shape;2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/>
              <a:t>Searching</a:t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172313" y="1265046"/>
            <a:ext cx="18732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691387" y="1523658"/>
            <a:ext cx="6172835" cy="309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20040" lvl="0" marL="33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Significant feature of information space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engines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Preferred vocabulary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32740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38085"/>
              </a:buClr>
              <a:buSzPts val="1750"/>
              <a:buFont typeface="Noto Sans Symbols"/>
              <a:buChar char="◻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documents to be searched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784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2538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🞑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criteria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Mobile app showing search feature with recent searches and items listed" id="228" name="Google Shape;2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91440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32"/>
          <p:cNvGrpSpPr/>
          <p:nvPr/>
        </p:nvGrpSpPr>
        <p:grpSpPr>
          <a:xfrm>
            <a:off x="0" y="-7622"/>
            <a:ext cx="9144000" cy="6894986"/>
            <a:chOff x="0" y="-7622"/>
            <a:chExt cx="12192000" cy="6894986"/>
          </a:xfrm>
        </p:grpSpPr>
        <p:sp>
          <p:nvSpPr>
            <p:cNvPr id="234" name="Google Shape;234;p32"/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>
              <a:gsLst>
                <a:gs pos="0">
                  <a:srgbClr val="78206E">
                    <a:alpha val="78823"/>
                  </a:srgbClr>
                </a:gs>
                <a:gs pos="40000">
                  <a:srgbClr val="D86CCC">
                    <a:alpha val="0"/>
                  </a:srgbClr>
                </a:gs>
                <a:gs pos="100000">
                  <a:srgbClr val="D86CCC">
                    <a:alpha val="0"/>
                  </a:srgbClr>
                </a:gs>
              </a:gsLst>
              <a:lin ang="191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rgbClr val="78206E">
                    <a:alpha val="66666"/>
                  </a:srgbClr>
                </a:gs>
                <a:gs pos="60000">
                  <a:srgbClr val="A02B93">
                    <a:alpha val="0"/>
                  </a:srgbClr>
                </a:gs>
                <a:gs pos="100000">
                  <a:srgbClr val="A02B93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2"/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>
              <a:gsLst>
                <a:gs pos="0">
                  <a:srgbClr val="E97132">
                    <a:alpha val="57647"/>
                  </a:srgbClr>
                </a:gs>
                <a:gs pos="41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1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8" name="Google Shape;23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2677" t="0"/>
          <a:stretch/>
        </p:blipFill>
        <p:spPr>
          <a:xfrm>
            <a:off x="425644" y="559901"/>
            <a:ext cx="8292710" cy="573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Ecommerce site using visual cues for navigation design." id="245" name="Google Shape;2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91440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Ecommerce site with breadcrumb navigation, product details, and top navigation bar" id="253" name="Google Shape;2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91440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https://www.justinmind.com/download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