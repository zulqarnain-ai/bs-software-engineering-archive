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3"/>
  </p:notesMasterIdLst>
  <p:handoutMasterIdLst>
    <p:handoutMasterId r:id="rId24"/>
  </p:handoutMasterIdLst>
  <p:sldIdLst>
    <p:sldId id="308" r:id="rId2"/>
    <p:sldId id="566" r:id="rId3"/>
    <p:sldId id="597" r:id="rId4"/>
    <p:sldId id="582" r:id="rId5"/>
    <p:sldId id="585" r:id="rId6"/>
    <p:sldId id="586" r:id="rId7"/>
    <p:sldId id="591" r:id="rId8"/>
    <p:sldId id="588" r:id="rId9"/>
    <p:sldId id="589" r:id="rId10"/>
    <p:sldId id="590" r:id="rId11"/>
    <p:sldId id="587" r:id="rId12"/>
    <p:sldId id="592" r:id="rId13"/>
    <p:sldId id="593" r:id="rId14"/>
    <p:sldId id="583" r:id="rId15"/>
    <p:sldId id="355" r:id="rId16"/>
    <p:sldId id="584" r:id="rId17"/>
    <p:sldId id="357" r:id="rId18"/>
    <p:sldId id="358" r:id="rId19"/>
    <p:sldId id="359" r:id="rId20"/>
    <p:sldId id="396" r:id="rId21"/>
    <p:sldId id="397" r:id="rId2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cPzJsStIrOMj5z+0+2hvCw==" hashData="dcC/MzI+CFrmrN9ic59QR6ErHDVN5NCf7Y2yOcKL0sto7riA7BmwygF/Qk6HuYRr+48n/nFTUtmqaQdrsnWES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4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4B210D1-BB10-4D3F-84EE-23EFEA341F4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9735464-44F0-47AE-8A8C-CFA2DB979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56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344" units="cm"/>
          <inkml:channel name="Y" type="integer" max="10544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23.94556" units="1/cm"/>
          <inkml:channelProperty channel="Y" name="resolution" value="635.1807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10T11:04:44.5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12497 9348 427 0,'0'0'0'16,"9"4"2"-16,-9-4 1 15,8 0 56-15,-8 0 0 16,0 0 46-16,0 0 0 16,0 0-66-16,0 0 0 15,0 0 47-15,0 0 0 16,0 0-13-16,0 0 1 15,0 0-76-15,0 0 1 0,0 0 18 16,0 0 0-16,9 3 16 16,-2 3 1-16,1 3-25 15,1 1 0-15,0 1-9 16,-3 2 1-16,3 0 81 16,-3 3 1-16,1 2-68 15,2-4 0-15,0 1 20 16,8-8 0-16,3-3-32 15,8-8 0-15,7-5-3 16,8-7 1-16,6-8-1 16,9-12 0-16,8-11 1 0,23-16 1 15,20-13 16-15,-4 7 0 16,-2-1 15-16,-7 12 0 16,-7 9 37-16,-10 11 0 15,-14 11-120-15,-4 2 0 16,-11 3 50-16,-10 2 0 15,-10 2 0-15,3 2 0 16,-3 0 0-16,-4 1 0 16,-2 1-1-16,-6 1 1 15,0 1-72-15,1 1 1 16,-1 0-1012-16</inkml:trace>
  <inkml:trace contextRef="#ctx0" brushRef="#br0" timeOffset="811.82">12069 10192 281 0,'2'-13'0'15,"0"-7"128"-15,-1 8 0 16,3 1-91-16,-2 3 0 15,0 1-38-15,-2 7 0 0,2-5 43 16,-2 5 0-16,0 0 14 16,0 0 0-16,7 3-61 15,-7-3 0-15,15 15 7 16,-6 5 0-16,0 5-15 16,1 0 1-16,1 1 10 15,-2-1 0-15,0-2 139 16,0-3 0-16,-1-3-23 15,-1-5 0-15,0-1-90 16,-1 0 1-16,3-2-24 0,10-2 1 16,5 2 77-16,7-9 0 15,6-5-78-15,2-8 1 16,5-7 95-16,8-12 0 16,9-13-97-16,13-4 0 15,5-5 40-15,24-11 1 16,21-11-27-16,-21 14 1 15,-3 8-59-15,-13 16 1 16,-10 7 80-16,-12 10 0 16,-15 6-19-16,-19 6 1 15,-14 4-8-15,-8 1 0 16,-7 4-11-16,-2 0 0 16,7 4-20-16,-7-4 1 15,0 0-105-15,0 0 0 16,0 0-157-16,0 0 1 15,0 0-331-15</inkml:trace>
  <inkml:trace contextRef="#ctx0" brushRef="#br0" timeOffset="4742.74">10849 11467 214 0,'0'0'0'0,"-15"-5"20"0,15 5 0 16,4 11 5-16,-3-2 1 15,7 0 120-15,1-2 1 16,0 0-10-16,10-3 1 16,5-4-17-16,5-6 0 15,8-6-46-15,7-8 1 16,8-7-39-16,5-8 0 15,12-6-19-15,5-10 0 16,7-8 9-16,18-8 0 16,10-9 59-16,-3 14 1 15,-7 6-87-15,-8 11 1 16,-12 7 3-16,-12 8 0 16,-8 6-5-16,-13 10 0 15,-9 5-13-15,-8 1 1 16,-3 5 45-16,0 1 1 15,-4-3-41-15,0 1 1 0,-3 2 2 16,-3 2 0-16,1 0-83 16,-8 0 1-16,0 0-235 15,-9 0 1-15,0 0-143 16</inkml:trace>
  <inkml:trace contextRef="#ctx0" brushRef="#br0" timeOffset="5884.15">11561 12595 427 0,'0'0'0'0,"0"0"138"16,0 0 0-16,0 7-36 15,0-7 0-15,6 11-24 16,-6 0 0-16,3 5-32 16,-1-2 0-16,2 2-57 15,-2-1 0-15,0 1 10 16,-2 0 1-16,-2-1 9 15,0-2 1-15,-2-1-19 0,2-1 0 16,1 2 88 0,1-8 0-16,0 1-70 0,0-6 0 15,0 0 49-15,7-2 0 16,6-2-45-16,7-7 0 16,8-7 35-16,3-3 0 15,12-5-65-15,5-4 1 16,5-5 46-16,1 1 0 15,-1-4-20-15,3 0 0 16,1-2 48-16,-5 4 1 16,-2 5-61-16,-2 1 0 15,-4 6-58-15,0 4 0 16,-1 2 74-16,-6 6 1 16,-6 6-12-16,-5-1 0 15,-6 5-9-15,-5 2 1 16,0 2 23-16,-4 0 1 0,-2 0-19 15,-2 1 0-15,1-1-1 16,-8-2 0-16,11 5-32 16,-11-5 0-16,7 6-31 15,-7-6 0-15,0 0-76 16,0 0 1-16,0 0-646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98C4478-F009-4084-AF5B-5BBC1C5391ED}" type="datetimeFigureOut">
              <a:rPr lang="en-US"/>
              <a:pPr>
                <a:defRPr/>
              </a:pPr>
              <a:t>5/30/2025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A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AE8BB69-AF1B-45E0-A550-DEEAC09AE99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8512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>
                <a:latin typeface="Arial" charset="0"/>
                <a:cs typeface="Arial" charset="0"/>
              </a:rPr>
              <a:t>Header1</a:t>
            </a:r>
            <a:endParaRPr lang="en-US" altLang="ko-KR" dirty="0">
              <a:latin typeface="Arial" charset="0"/>
              <a:cs typeface="Arial" charset="0"/>
            </a:endParaRPr>
          </a:p>
        </p:txBody>
      </p:sp>
      <p:sp>
        <p:nvSpPr>
          <p:cNvPr id="61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2F0B80D-AA9C-4B07-9B7A-DEF1E9678A05}" type="slidenum">
              <a:rPr lang="ko-KR" altLang="en-US"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ko-KR" dirty="0">
              <a:latin typeface="Arial" charset="0"/>
              <a:cs typeface="Arial" charset="0"/>
            </a:endParaRPr>
          </a:p>
        </p:txBody>
      </p:sp>
      <p:sp>
        <p:nvSpPr>
          <p:cNvPr id="61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6762" cy="34321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813" y="4343400"/>
            <a:ext cx="5032375" cy="4114800"/>
          </a:xfrm>
          <a:noFill/>
        </p:spPr>
        <p:txBody>
          <a:bodyPr wrap="square" lIns="95059" tIns="47530" rIns="95059" bIns="4753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baseline="0" dirty="0">
                <a:cs typeface="Arial" charset="0"/>
              </a:rPr>
              <a:t> </a:t>
            </a: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551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94E97-2A04-41D2-9813-7E6BE384272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06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BA362-69E2-4DDC-BADC-7B11D5BE817A}" type="datetimeFigureOut">
              <a:rPr lang="en-US"/>
              <a:pPr>
                <a:defRPr/>
              </a:pPr>
              <a:t>5/30/2025</a:t>
            </a:fld>
            <a:endParaRPr lang="en-AU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8EB19-C617-4428-9A2B-3B89409218E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9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val 8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3722BA4-39B3-45A1-A7AC-1F3918C8D142}" type="datetimeFigureOut">
              <a:rPr lang="en-US"/>
              <a:pPr>
                <a:defRPr/>
              </a:pPr>
              <a:t>5/30/2025</a:t>
            </a:fld>
            <a:endParaRPr lang="en-AU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E03B330-A60E-4F9A-B368-AA9E0D2C0C6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928D8-2A07-4C9A-AC2B-B87C68A18E32}" type="datetimeFigureOut">
              <a:rPr lang="en-US"/>
              <a:pPr>
                <a:defRPr/>
              </a:pPr>
              <a:t>5/30/2025</a:t>
            </a:fld>
            <a:endParaRPr lang="en-AU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B0840-58FB-42AE-B722-DA08D68A1B7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7E289E5-BF1E-4F65-9039-EDEE690F93CE}" type="datetimeFigureOut">
              <a:rPr lang="en-US"/>
              <a:pPr>
                <a:defRPr/>
              </a:pPr>
              <a:t>5/30/2025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6944B55-65F2-47D6-AA9A-06DBBEBDF1A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752A6-4FF7-4D96-86DC-D5737A5BCD80}" type="datetimeFigureOut">
              <a:rPr lang="en-US"/>
              <a:pPr>
                <a:defRPr/>
              </a:pPr>
              <a:t>5/30/2025</a:t>
            </a:fld>
            <a:endParaRPr lang="en-AU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7F683-B714-4840-9F7B-D54158E195F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5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76632DF-7466-44F8-B14F-7E352A8B1400}" type="datetimeFigureOut">
              <a:rPr lang="en-US"/>
              <a:pPr>
                <a:defRPr/>
              </a:pPr>
              <a:t>5/30/2025</a:t>
            </a:fld>
            <a:endParaRPr lang="en-A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B62068E-3DF5-4F07-A479-6ECFC5B4334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FF663F3-C0EA-42A8-9D3C-15DAC77F7ABD}" type="datetimeFigureOut">
              <a:rPr lang="en-US"/>
              <a:pPr>
                <a:defRPr/>
              </a:pPr>
              <a:t>5/30/2025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1A95174-CFA5-499D-88D0-D09D2FB1806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/>
          <a:p>
            <a:pPr indent="-283464" fontAlgn="auto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</a:endParaRPr>
          </a:p>
        </p:txBody>
      </p:sp>
      <p:sp>
        <p:nvSpPr>
          <p:cNvPr id="6" name="Flowchart: Process 8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lowchart: Process 9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32F19D3-364E-4BE1-AB1D-9389337F1716}" type="datetimeFigureOut">
              <a:rPr lang="en-US"/>
              <a:pPr>
                <a:defRPr/>
              </a:pPr>
              <a:t>5/30/2025</a:t>
            </a:fld>
            <a:endParaRPr lang="en-AU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314A49B-29C5-41E1-9157-AF7F5FD4ACA7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9DBE8-5B23-4758-B47C-E9E341EE3328}" type="datetimeFigureOut">
              <a:rPr lang="en-US"/>
              <a:pPr>
                <a:defRPr/>
              </a:pPr>
              <a:t>5/30/2025</a:t>
            </a:fld>
            <a:endParaRPr lang="en-AU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8FE86-17E6-4DB8-A3B4-0AF1C45D9DD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4BA9B-DFDF-4564-91A2-6DF83062B79A}" type="datetimeFigureOut">
              <a:rPr lang="en-US"/>
              <a:pPr>
                <a:defRPr/>
              </a:pPr>
              <a:t>5/30/2025</a:t>
            </a:fld>
            <a:endParaRPr lang="en-AU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0A575-958F-452E-A13F-7BD0F68F6B47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D23C4-0CBE-41AD-9915-09C3EB7D8FC5}" type="datetimeFigureOut">
              <a:rPr lang="en-US"/>
              <a:pPr>
                <a:defRPr/>
              </a:pPr>
              <a:t>5/30/2025</a:t>
            </a:fld>
            <a:endParaRPr lang="en-AU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D7BE41-6580-421D-AAB4-199544DFCC6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111073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4674603B-BE21-4B82-834E-441265CC936A}" type="datetimeFigureOut">
              <a:rPr lang="en-US"/>
              <a:pPr>
                <a:defRPr/>
              </a:pPr>
              <a:t>5/30/2025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fld id="{25D2816C-7373-4FF3-9DF2-CB9F7B7A5FB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8" r:id="rId2"/>
    <p:sldLayoutId id="2147483703" r:id="rId3"/>
    <p:sldLayoutId id="2147483709" r:id="rId4"/>
    <p:sldLayoutId id="2147483704" r:id="rId5"/>
    <p:sldLayoutId id="2147483710" r:id="rId6"/>
    <p:sldLayoutId id="2147483711" r:id="rId7"/>
    <p:sldLayoutId id="2147483712" r:id="rId8"/>
    <p:sldLayoutId id="2147483705" r:id="rId9"/>
    <p:sldLayoutId id="2147483706" r:id="rId10"/>
    <p:sldLayoutId id="2147483707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8"/>
          <p:cNvSpPr>
            <a:spLocks noChangeArrowheads="1"/>
          </p:cNvSpPr>
          <p:nvPr/>
        </p:nvSpPr>
        <p:spPr bwMode="auto">
          <a:xfrm>
            <a:off x="107504" y="236124"/>
            <a:ext cx="8893006" cy="1536692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Clr>
                <a:schemeClr val="bg1"/>
              </a:buClr>
              <a:buFontTx/>
              <a:buChar char="•"/>
            </a:pPr>
            <a:endParaRPr lang="en-US" sz="2800" dirty="0">
              <a:latin typeface="Goudy Stout" pitchFamily="18" charset="0"/>
            </a:endParaRPr>
          </a:p>
        </p:txBody>
      </p:sp>
      <p:sp>
        <p:nvSpPr>
          <p:cNvPr id="34820" name="Text Box 5"/>
          <p:cNvSpPr txBox="1">
            <a:spLocks noChangeArrowheads="1"/>
          </p:cNvSpPr>
          <p:nvPr/>
        </p:nvSpPr>
        <p:spPr bwMode="auto">
          <a:xfrm>
            <a:off x="287506" y="3978044"/>
            <a:ext cx="8568988" cy="1130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marL="511175" indent="-279400" algn="ctr"/>
            <a:endParaRPr lang="en-US" sz="1200" dirty="0">
              <a:cs typeface="Times New Roman" pitchFamily="18" charset="0"/>
            </a:endParaRPr>
          </a:p>
          <a:p>
            <a:pPr marL="511175" indent="-279400" algn="ctr"/>
            <a:endParaRPr lang="en-US" sz="800" dirty="0"/>
          </a:p>
          <a:p>
            <a:pPr marL="511175" indent="-279400" algn="ctr"/>
            <a:endParaRPr lang="en-US" dirty="0"/>
          </a:p>
          <a:p>
            <a:pPr marL="511175" indent="-279400" algn="ctr"/>
            <a:endParaRPr lang="en-US" dirty="0"/>
          </a:p>
          <a:p>
            <a:pPr marL="511175" indent="-279400" algn="ctr"/>
            <a:r>
              <a:rPr lang="en-US" dirty="0"/>
              <a:t>Dr. Sumaira Nazir </a:t>
            </a:r>
          </a:p>
          <a:p>
            <a:pPr marL="511175" indent="-279400" algn="ctr"/>
            <a:r>
              <a:rPr lang="en-US" dirty="0"/>
              <a:t>Assistant Professor</a:t>
            </a:r>
          </a:p>
          <a:p>
            <a:pPr marL="511175" indent="-279400" algn="ctr"/>
            <a:r>
              <a:rPr lang="en-US" dirty="0"/>
              <a:t>Department of Software Engineering</a:t>
            </a:r>
          </a:p>
          <a:p>
            <a:pPr marL="511175" indent="-279400" algn="ctr"/>
            <a:r>
              <a:rPr lang="en-US" dirty="0"/>
              <a:t>National University of Modern Languages, Islamabad</a:t>
            </a:r>
          </a:p>
          <a:p>
            <a:pPr marL="511175" indent="-279400"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70068C-DD74-4ED8-9B03-A9F8221E847B}"/>
              </a:ext>
            </a:extLst>
          </p:cNvPr>
          <p:cNvSpPr txBox="1"/>
          <p:nvPr/>
        </p:nvSpPr>
        <p:spPr>
          <a:xfrm>
            <a:off x="269513" y="742860"/>
            <a:ext cx="85689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b="1" dirty="0">
                <a:latin typeface="Times" panose="02020603060405020304" pitchFamily="18" charset="0"/>
              </a:rPr>
              <a:t>Software Quality Engineering</a:t>
            </a:r>
          </a:p>
          <a:p>
            <a:pPr algn="ctr"/>
            <a:endParaRPr lang="en-MY" sz="2800" b="1" dirty="0">
              <a:latin typeface="Times" panose="0202060306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2D31F57-B79A-4CBC-93F5-D27CF2B1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Agenda</a:t>
            </a:r>
            <a:endParaRPr lang="en-US" altLang="en-US" dirty="0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82D089A3-4C00-4180-9B5A-1CC0B4E8D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/>
              <a:t>Software Testing Classifications/Types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102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8D731-216F-643A-EC95-A727BD08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BB465-763B-DE95-2064-79840886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latin typeface="+mn-lt"/>
                <a:cs typeface="Times New Roman" pitchFamily="18" charset="0"/>
                <a:sym typeface="Times New Roman" pitchFamily="18" charset="0"/>
              </a:rPr>
              <a:t>Software Test Classifications</a:t>
            </a:r>
            <a:endParaRPr lang="en-GB" sz="3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67A4E-F902-21DA-CC33-695523446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500"/>
              </a:spcBef>
            </a:pPr>
            <a:r>
              <a:rPr lang="en-US" altLang="en-US" sz="2600" dirty="0"/>
              <a:t>There are two accepted classification schemes:</a:t>
            </a:r>
          </a:p>
          <a:p>
            <a:pPr lvl="1" algn="just">
              <a:lnSpc>
                <a:spcPct val="110000"/>
              </a:lnSpc>
              <a:spcBef>
                <a:spcPts val="500"/>
              </a:spcBef>
            </a:pPr>
            <a:r>
              <a:rPr lang="en-US" altLang="en-US" dirty="0"/>
              <a:t> Black Box testing</a:t>
            </a:r>
          </a:p>
          <a:p>
            <a:pPr lvl="1" algn="just">
              <a:lnSpc>
                <a:spcPct val="110000"/>
              </a:lnSpc>
              <a:spcBef>
                <a:spcPts val="500"/>
              </a:spcBef>
            </a:pPr>
            <a:r>
              <a:rPr lang="en-US" altLang="en-US" dirty="0"/>
              <a:t>While Box testing.</a:t>
            </a:r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796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latin typeface="+mn-lt"/>
                <a:cs typeface="Times New Roman" pitchFamily="18" charset="0"/>
                <a:sym typeface="Times New Roman" pitchFamily="18" charset="0"/>
              </a:rPr>
              <a:t>Software Test Classifications</a:t>
            </a:r>
            <a:endParaRPr lang="en-GB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500"/>
              </a:spcBef>
            </a:pPr>
            <a:r>
              <a:rPr lang="en-US" altLang="en-US" i="1" dirty="0"/>
              <a:t>Black box testing – IEEE definition</a:t>
            </a:r>
          </a:p>
          <a:p>
            <a:pPr lvl="1" algn="just">
              <a:lnSpc>
                <a:spcPct val="110000"/>
              </a:lnSpc>
              <a:spcBef>
                <a:spcPts val="500"/>
              </a:spcBef>
            </a:pPr>
            <a:r>
              <a:rPr lang="en-US" altLang="en-US" dirty="0"/>
              <a:t>Testing that </a:t>
            </a:r>
            <a:r>
              <a:rPr lang="en-US" altLang="en-US" u="sng" dirty="0">
                <a:solidFill>
                  <a:srgbClr val="FF0000"/>
                </a:solidFill>
              </a:rPr>
              <a:t>ignores</a:t>
            </a:r>
            <a:r>
              <a:rPr lang="en-US" altLang="en-US" dirty="0"/>
              <a:t> the internal mechanism of the  system or component and focuses solely on outputs in response to selected inputs and execution conditions.</a:t>
            </a:r>
          </a:p>
          <a:p>
            <a:pPr lvl="1" algn="just">
              <a:lnSpc>
                <a:spcPct val="110000"/>
              </a:lnSpc>
              <a:spcBef>
                <a:spcPts val="500"/>
              </a:spcBef>
            </a:pPr>
            <a:r>
              <a:rPr lang="en-US" altLang="en-US" dirty="0"/>
              <a:t>Testing conducted to evaluate the </a:t>
            </a:r>
            <a:r>
              <a:rPr lang="en-US" altLang="en-US" dirty="0">
                <a:solidFill>
                  <a:srgbClr val="FF0000"/>
                </a:solidFill>
              </a:rPr>
              <a:t>compliance</a:t>
            </a:r>
            <a:r>
              <a:rPr lang="en-US" altLang="en-US" dirty="0"/>
              <a:t> of a system or component with specified functional requirements.</a:t>
            </a:r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89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D5FD5-7541-013A-C1C1-24395A792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269776"/>
            <a:ext cx="7499350" cy="1143000"/>
          </a:xfrm>
        </p:spPr>
        <p:txBody>
          <a:bodyPr>
            <a:normAutofit fontScale="90000"/>
          </a:bodyPr>
          <a:lstStyle/>
          <a:p>
            <a:r>
              <a:rPr lang="en-MY" dirty="0"/>
              <a:t>Black box Equivalence Partitioning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71B1-1453-88CD-CE89-A9451E3E2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Example: Age Validation System</a:t>
            </a:r>
          </a:p>
          <a:p>
            <a:r>
              <a:rPr lang="en-US" dirty="0"/>
              <a:t>The system accepts </a:t>
            </a:r>
            <a:r>
              <a:rPr lang="en-US" b="1" dirty="0"/>
              <a:t>ages between 18 and 60</a:t>
            </a:r>
          </a:p>
          <a:p>
            <a:endParaRPr lang="en-MY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6C1C49-8C7C-2FFE-001F-7137E8C87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822918"/>
              </p:ext>
            </p:extLst>
          </p:nvPr>
        </p:nvGraphicFramePr>
        <p:xfrm>
          <a:off x="1484740" y="4510407"/>
          <a:ext cx="7499349" cy="1463040"/>
        </p:xfrm>
        <a:graphic>
          <a:graphicData uri="http://schemas.openxmlformats.org/drawingml/2006/table">
            <a:tbl>
              <a:tblPr/>
              <a:tblGrid>
                <a:gridCol w="2499783">
                  <a:extLst>
                    <a:ext uri="{9D8B030D-6E8A-4147-A177-3AD203B41FA5}">
                      <a16:colId xmlns:a16="http://schemas.microsoft.com/office/drawing/2014/main" val="2888058872"/>
                    </a:ext>
                  </a:extLst>
                </a:gridCol>
                <a:gridCol w="2499783">
                  <a:extLst>
                    <a:ext uri="{9D8B030D-6E8A-4147-A177-3AD203B41FA5}">
                      <a16:colId xmlns:a16="http://schemas.microsoft.com/office/drawing/2014/main" val="4009066380"/>
                    </a:ext>
                  </a:extLst>
                </a:gridCol>
                <a:gridCol w="2499783">
                  <a:extLst>
                    <a:ext uri="{9D8B030D-6E8A-4147-A177-3AD203B41FA5}">
                      <a16:colId xmlns:a16="http://schemas.microsoft.com/office/drawing/2014/main" val="1599390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MY"/>
                        <a:t>Partition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Example Test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717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dirty="0"/>
                        <a:t>Valid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18 to 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34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/>
                        <a:t>Invalid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Less than 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16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/>
                        <a:t>Invalid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Greater than 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01315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F87492A-1D78-96DC-98DF-CB8DE616D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740" y="3664329"/>
            <a:ext cx="254108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Partitions: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329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87208-9D21-56B3-36EE-173BBACBA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Black box Equivalence Partitioning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4D5B23-82BC-079C-F17C-8F3096E35E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082220"/>
              </p:ext>
            </p:extLst>
          </p:nvPr>
        </p:nvGraphicFramePr>
        <p:xfrm>
          <a:off x="1435100" y="3116580"/>
          <a:ext cx="7499350" cy="2316480"/>
        </p:xfrm>
        <a:graphic>
          <a:graphicData uri="http://schemas.openxmlformats.org/drawingml/2006/table">
            <a:tbl>
              <a:tblPr/>
              <a:tblGrid>
                <a:gridCol w="3749675">
                  <a:extLst>
                    <a:ext uri="{9D8B030D-6E8A-4147-A177-3AD203B41FA5}">
                      <a16:colId xmlns:a16="http://schemas.microsoft.com/office/drawing/2014/main" val="1342146624"/>
                    </a:ext>
                  </a:extLst>
                </a:gridCol>
                <a:gridCol w="3749675">
                  <a:extLst>
                    <a:ext uri="{9D8B030D-6E8A-4147-A177-3AD203B41FA5}">
                      <a16:colId xmlns:a16="http://schemas.microsoft.com/office/drawing/2014/main" val="1428535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MY" sz="3200" dirty="0"/>
                        <a:t>Test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3200"/>
                        <a:t>Expected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612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320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3200"/>
                        <a:t>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860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32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3200"/>
                        <a:t>Not 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359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3200"/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3200" dirty="0"/>
                        <a:t>Not 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43232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6EEE770-343F-C28D-7898-A32A08AC8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100" y="1782634"/>
            <a:ext cx="333514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Cases for EP: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265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F6F9-8096-4EF7-F967-46FA11BBA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Black box Equivalence Partitioning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654000-2016-2DC7-16FA-7B75EE90C2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5101" y="3116580"/>
          <a:ext cx="7499348" cy="1463040"/>
        </p:xfrm>
        <a:graphic>
          <a:graphicData uri="http://schemas.openxmlformats.org/drawingml/2006/table">
            <a:tbl>
              <a:tblPr/>
              <a:tblGrid>
                <a:gridCol w="1874837">
                  <a:extLst>
                    <a:ext uri="{9D8B030D-6E8A-4147-A177-3AD203B41FA5}">
                      <a16:colId xmlns:a16="http://schemas.microsoft.com/office/drawing/2014/main" val="1702086293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4031520508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2198205454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28398208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MY" sz="1800"/>
                        <a:t>Test Case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Test Input (Age)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Partition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Expected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8354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MY" sz="1800"/>
                        <a:t>TC_EP_01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Valid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7391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MY" sz="1800"/>
                        <a:t>TC_EP_02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Invalid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Not 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3795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MY" sz="1800"/>
                        <a:t>TC_EP_03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Invalid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 dirty="0"/>
                        <a:t>Not 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17674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16C6D66-1931-F6AE-F854-D5260A121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524" y="2028419"/>
            <a:ext cx="217937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Cases: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751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8059-E96A-7271-CB7D-60DD5CE8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Boundary Value Analysis (BVA)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B9CB1-5F2E-E929-51B5-E22EF6A8F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Boundary Value Analysis (BVA)</a:t>
            </a:r>
          </a:p>
          <a:p>
            <a:endParaRPr lang="en-MY" dirty="0"/>
          </a:p>
          <a:p>
            <a:pPr algn="just"/>
            <a:r>
              <a:rPr lang="en-US" dirty="0"/>
              <a:t>Boundary Value Analysis tests values </a:t>
            </a:r>
            <a:r>
              <a:rPr lang="en-US" b="1" dirty="0"/>
              <a:t>at the edges of valid ranges</a:t>
            </a:r>
            <a:r>
              <a:rPr lang="en-US" dirty="0"/>
              <a:t>, as well as just </a:t>
            </a:r>
            <a:r>
              <a:rPr lang="en-US" b="1" dirty="0"/>
              <a:t>below and above</a:t>
            </a:r>
            <a:r>
              <a:rPr lang="en-US" dirty="0"/>
              <a:t> those boundaries.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77417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A2027-51B9-7AAF-FC7C-E0961939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Boundary Value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92D21-6EFF-B060-58B2-1556E27A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Age System</a:t>
            </a:r>
          </a:p>
          <a:p>
            <a:pPr lvl="1"/>
            <a:r>
              <a:rPr lang="en-US" b="1" dirty="0"/>
              <a:t>Valid Input Range:</a:t>
            </a:r>
          </a:p>
          <a:p>
            <a:pPr lvl="1"/>
            <a:r>
              <a:rPr lang="en-US" dirty="0"/>
              <a:t>18 to 60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MY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8F9172-01AF-2448-F8DA-9C3D3B3A0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165967"/>
              </p:ext>
            </p:extLst>
          </p:nvPr>
        </p:nvGraphicFramePr>
        <p:xfrm>
          <a:off x="1377900" y="3677536"/>
          <a:ext cx="7499349" cy="2560320"/>
        </p:xfrm>
        <a:graphic>
          <a:graphicData uri="http://schemas.openxmlformats.org/drawingml/2006/table">
            <a:tbl>
              <a:tblPr/>
              <a:tblGrid>
                <a:gridCol w="2499783">
                  <a:extLst>
                    <a:ext uri="{9D8B030D-6E8A-4147-A177-3AD203B41FA5}">
                      <a16:colId xmlns:a16="http://schemas.microsoft.com/office/drawing/2014/main" val="2652440977"/>
                    </a:ext>
                  </a:extLst>
                </a:gridCol>
                <a:gridCol w="2499783">
                  <a:extLst>
                    <a:ext uri="{9D8B030D-6E8A-4147-A177-3AD203B41FA5}">
                      <a16:colId xmlns:a16="http://schemas.microsoft.com/office/drawing/2014/main" val="1190397520"/>
                    </a:ext>
                  </a:extLst>
                </a:gridCol>
                <a:gridCol w="2499783">
                  <a:extLst>
                    <a:ext uri="{9D8B030D-6E8A-4147-A177-3AD203B41FA5}">
                      <a16:colId xmlns:a16="http://schemas.microsoft.com/office/drawing/2014/main" val="41089399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MY"/>
                        <a:t>Test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Expected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069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/>
                        <a:t>Minimum − 1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Not 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95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/>
                        <a:t>Minimum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36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/>
                        <a:t>Minimum + 1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73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/>
                        <a:t>Maximum − 1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938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/>
                        <a:t>Maximum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132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/>
                        <a:t>Maximum + 1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Not 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60647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DE9063F-DBB2-948E-6EEB-4887487A6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79" y="3043982"/>
            <a:ext cx="27837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Boundary Values: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360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83030-B06B-EE66-ADB9-63BF0E93A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Boundary Value Analysis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1541C7-E5C4-9083-0893-044BC2FEB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0463075"/>
              </p:ext>
            </p:extLst>
          </p:nvPr>
        </p:nvGraphicFramePr>
        <p:xfrm>
          <a:off x="1435101" y="2656123"/>
          <a:ext cx="7499349" cy="2560320"/>
        </p:xfrm>
        <a:graphic>
          <a:graphicData uri="http://schemas.openxmlformats.org/drawingml/2006/table">
            <a:tbl>
              <a:tblPr/>
              <a:tblGrid>
                <a:gridCol w="2499783">
                  <a:extLst>
                    <a:ext uri="{9D8B030D-6E8A-4147-A177-3AD203B41FA5}">
                      <a16:colId xmlns:a16="http://schemas.microsoft.com/office/drawing/2014/main" val="2336600741"/>
                    </a:ext>
                  </a:extLst>
                </a:gridCol>
                <a:gridCol w="2499783">
                  <a:extLst>
                    <a:ext uri="{9D8B030D-6E8A-4147-A177-3AD203B41FA5}">
                      <a16:colId xmlns:a16="http://schemas.microsoft.com/office/drawing/2014/main" val="3709719861"/>
                    </a:ext>
                  </a:extLst>
                </a:gridCol>
                <a:gridCol w="2499783">
                  <a:extLst>
                    <a:ext uri="{9D8B030D-6E8A-4147-A177-3AD203B41FA5}">
                      <a16:colId xmlns:a16="http://schemas.microsoft.com/office/drawing/2014/main" val="21045312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MY"/>
                        <a:t>Test Case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Test Input (Age)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Expected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22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dirty="0"/>
                        <a:t>TC_BVA_01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Not 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350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/>
                        <a:t>TC_BVA_02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865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/>
                        <a:t>TC_BVA_03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652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/>
                        <a:t>TC_BVA_04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601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/>
                        <a:t>TC_BVA_05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823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/>
                        <a:t>TC_BVA_06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/>
                        <a:t>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Not 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63632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C8C38E8-2B5E-7EBA-EA04-9604C158E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900" y="1641557"/>
            <a:ext cx="189148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Cases: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936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67F10-743C-338A-4C69-EDA2F426A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21EE4-3904-6A12-1C1C-01430D6A3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Example 1: Password Length Validation</a:t>
            </a:r>
          </a:p>
          <a:p>
            <a:r>
              <a:rPr lang="en-US" dirty="0"/>
              <a:t>A password must be between 8 and 16 characters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90569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F1907-6F70-31E8-04CB-1A638522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Equivalence Partitioning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46FA2C-6CBB-B744-845E-D9238670F4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1272214"/>
              </p:ext>
            </p:extLst>
          </p:nvPr>
        </p:nvGraphicFramePr>
        <p:xfrm>
          <a:off x="1435101" y="2055128"/>
          <a:ext cx="7499348" cy="365760"/>
        </p:xfrm>
        <a:graphic>
          <a:graphicData uri="http://schemas.openxmlformats.org/drawingml/2006/table">
            <a:tbl>
              <a:tblPr/>
              <a:tblGrid>
                <a:gridCol w="1874837">
                  <a:extLst>
                    <a:ext uri="{9D8B030D-6E8A-4147-A177-3AD203B41FA5}">
                      <a16:colId xmlns:a16="http://schemas.microsoft.com/office/drawing/2014/main" val="3290749525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2178914028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849732157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205470031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MY" sz="1800"/>
                        <a:t>Partition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Input 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Test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 dirty="0"/>
                        <a:t>Expected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1518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C18F88-2D72-F9C4-563E-E12D17733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632963"/>
              </p:ext>
            </p:extLst>
          </p:nvPr>
        </p:nvGraphicFramePr>
        <p:xfrm>
          <a:off x="1435101" y="3944480"/>
          <a:ext cx="7499348" cy="420624"/>
        </p:xfrm>
        <a:graphic>
          <a:graphicData uri="http://schemas.openxmlformats.org/drawingml/2006/table">
            <a:tbl>
              <a:tblPr/>
              <a:tblGrid>
                <a:gridCol w="1874837">
                  <a:extLst>
                    <a:ext uri="{9D8B030D-6E8A-4147-A177-3AD203B41FA5}">
                      <a16:colId xmlns:a16="http://schemas.microsoft.com/office/drawing/2014/main" val="3367607494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562346507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3105428783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246493812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lang="en-MY" sz="2100"/>
                        <a:t>Valid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2100" dirty="0"/>
                        <a:t>8–16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2100"/>
                        <a:t>"mypassword"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2100" dirty="0"/>
                        <a:t>Accepted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76946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9F7B05-3E9B-7AC4-5219-96BD147A9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096230"/>
              </p:ext>
            </p:extLst>
          </p:nvPr>
        </p:nvGraphicFramePr>
        <p:xfrm>
          <a:off x="1415719" y="3541076"/>
          <a:ext cx="7499348" cy="420624"/>
        </p:xfrm>
        <a:graphic>
          <a:graphicData uri="http://schemas.openxmlformats.org/drawingml/2006/table">
            <a:tbl>
              <a:tblPr/>
              <a:tblGrid>
                <a:gridCol w="1874837">
                  <a:extLst>
                    <a:ext uri="{9D8B030D-6E8A-4147-A177-3AD203B41FA5}">
                      <a16:colId xmlns:a16="http://schemas.microsoft.com/office/drawing/2014/main" val="1111831670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3035911800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936336540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206621881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lang="en-MY" sz="2100"/>
                        <a:t>Invalid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2100" dirty="0"/>
                        <a:t>&lt; 8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2100"/>
                        <a:t>"short"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2100" dirty="0"/>
                        <a:t>Rejected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09169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7CD9031-9D4C-3815-920C-46C132F95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779841"/>
              </p:ext>
            </p:extLst>
          </p:nvPr>
        </p:nvGraphicFramePr>
        <p:xfrm>
          <a:off x="1415719" y="2689805"/>
          <a:ext cx="7499348" cy="740664"/>
        </p:xfrm>
        <a:graphic>
          <a:graphicData uri="http://schemas.openxmlformats.org/drawingml/2006/table">
            <a:tbl>
              <a:tblPr/>
              <a:tblGrid>
                <a:gridCol w="1874837">
                  <a:extLst>
                    <a:ext uri="{9D8B030D-6E8A-4147-A177-3AD203B41FA5}">
                      <a16:colId xmlns:a16="http://schemas.microsoft.com/office/drawing/2014/main" val="2350185175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1039796568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697373737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1967829008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MY" sz="2100" dirty="0"/>
                        <a:t>Invalid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2100"/>
                        <a:t>&gt; 16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2100"/>
                        <a:t>"verylongpassword123"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2100" dirty="0"/>
                        <a:t>Rejected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225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284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592AC-49C5-9B43-CAAF-AD976A2DA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Boundary Value Analysis (BVA):</a:t>
            </a:r>
            <a:br>
              <a:rPr lang="en-US" altLang="en-US" sz="44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MY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2370FB-9089-9CAD-7984-F85FE202AE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5101" y="2293620"/>
          <a:ext cx="7499348" cy="3108960"/>
        </p:xfrm>
        <a:graphic>
          <a:graphicData uri="http://schemas.openxmlformats.org/drawingml/2006/table">
            <a:tbl>
              <a:tblPr/>
              <a:tblGrid>
                <a:gridCol w="1874837">
                  <a:extLst>
                    <a:ext uri="{9D8B030D-6E8A-4147-A177-3AD203B41FA5}">
                      <a16:colId xmlns:a16="http://schemas.microsoft.com/office/drawing/2014/main" val="4157786263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1238148004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4236882565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300864484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MY" sz="1800"/>
                        <a:t>Test Case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Input 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Test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Expected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3013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MY" sz="1800"/>
                        <a:t>TC1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"1234567"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Rejected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1937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MY" sz="1800"/>
                        <a:t>TC2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"12345678"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Accepted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4106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MY" sz="1800"/>
                        <a:t>TC3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"123456789"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Accepted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8759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MY" sz="1800" dirty="0"/>
                        <a:t>TC4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"abcdefghijklmno"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Accepted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2271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MY" sz="1800"/>
                        <a:t>TC5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"abcdefghijklmnop"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 dirty="0"/>
                        <a:t>Accepted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17335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MY" sz="1800"/>
                        <a:t>TC6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/>
                        <a:t>"abcdefghijklmnopq"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800" dirty="0"/>
                        <a:t>Rejected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436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40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latin typeface="+mn-lt"/>
                <a:cs typeface="Times New Roman" pitchFamily="18" charset="0"/>
                <a:sym typeface="Times New Roman" pitchFamily="18" charset="0"/>
              </a:rPr>
              <a:t>Software Test Classifications</a:t>
            </a:r>
            <a:endParaRPr lang="en-GB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2725" indent="-212725" algn="just">
              <a:lnSpc>
                <a:spcPct val="110000"/>
              </a:lnSpc>
              <a:spcBef>
                <a:spcPts val="800"/>
              </a:spcBef>
            </a:pPr>
            <a:r>
              <a:rPr lang="en-US" altLang="en-US" sz="2600" i="1" dirty="0"/>
              <a:t>White box testing – IEEE definition</a:t>
            </a:r>
          </a:p>
          <a:p>
            <a:pPr marL="509905" lvl="1" indent="-212725" algn="just">
              <a:lnSpc>
                <a:spcPct val="110000"/>
              </a:lnSpc>
              <a:spcBef>
                <a:spcPts val="600"/>
              </a:spcBef>
            </a:pPr>
            <a:r>
              <a:rPr lang="en-US" altLang="en-US" dirty="0"/>
              <a:t>Testing that takes into account the </a:t>
            </a:r>
            <a:r>
              <a:rPr lang="en-US" altLang="en-US" dirty="0">
                <a:solidFill>
                  <a:srgbClr val="FF0000"/>
                </a:solidFill>
              </a:rPr>
              <a:t>internal mechanism </a:t>
            </a:r>
            <a:r>
              <a:rPr lang="en-US" altLang="en-US" dirty="0"/>
              <a:t>of a system or component.</a:t>
            </a:r>
          </a:p>
          <a:p>
            <a:pPr marL="160020" indent="0" algn="just">
              <a:spcBef>
                <a:spcPts val="400"/>
              </a:spcBef>
              <a:buNone/>
            </a:pPr>
            <a:endParaRPr lang="en-US" altLang="en-US" dirty="0"/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1589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</a:t>
            </a:r>
            <a:r>
              <a:rPr lang="en-US" altLang="en-US" sz="3600" dirty="0"/>
              <a:t>Black-box Testing 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968121"/>
            <a:ext cx="7543800" cy="4623595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Focus: </a:t>
            </a:r>
            <a:r>
              <a:rPr lang="en-US" altLang="en-US" dirty="0">
                <a:solidFill>
                  <a:srgbClr val="FF0000"/>
                </a:solidFill>
              </a:rPr>
              <a:t>I/O behavior</a:t>
            </a:r>
            <a:r>
              <a:rPr lang="en-US" altLang="en-US" dirty="0"/>
              <a:t>. If for any given input, we can predict the output, then the module passes the test.</a:t>
            </a:r>
          </a:p>
          <a:p>
            <a:pPr lvl="1" algn="just"/>
            <a:r>
              <a:rPr lang="en-US" altLang="en-US" dirty="0"/>
              <a:t>Almost always impossible to generate all possible inputs ("test cases").</a:t>
            </a:r>
          </a:p>
        </p:txBody>
      </p:sp>
    </p:spTree>
    <p:extLst>
      <p:ext uri="{BB962C8B-B14F-4D97-AF65-F5344CB8AC3E}">
        <p14:creationId xmlns:p14="http://schemas.microsoft.com/office/powerpoint/2010/main" val="1215845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</a:t>
            </a:r>
            <a:r>
              <a:rPr lang="en-US" altLang="en-US" sz="3600" dirty="0"/>
              <a:t>Black-box Testing 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968121"/>
            <a:ext cx="7543800" cy="4623595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Goal: </a:t>
            </a:r>
            <a:r>
              <a:rPr lang="en-US" altLang="en-US" dirty="0">
                <a:solidFill>
                  <a:srgbClr val="FF0000"/>
                </a:solidFill>
              </a:rPr>
              <a:t>Reduce number of test cases </a:t>
            </a:r>
            <a:r>
              <a:rPr lang="en-US" altLang="en-US" dirty="0"/>
              <a:t>by equivalence partitioning:</a:t>
            </a:r>
          </a:p>
          <a:p>
            <a:pPr lvl="1" algn="just"/>
            <a:r>
              <a:rPr lang="en-US" altLang="en-US" dirty="0"/>
              <a:t>Divide input conditions into equivalence classes.</a:t>
            </a:r>
          </a:p>
          <a:p>
            <a:pPr lvl="1" algn="just"/>
            <a:r>
              <a:rPr lang="en-US" altLang="en-US" dirty="0"/>
              <a:t>Choose test cases for each equivalence class. </a:t>
            </a:r>
          </a:p>
          <a:p>
            <a:pPr lvl="1" algn="just"/>
            <a:r>
              <a:rPr lang="en-US" altLang="en-US" dirty="0"/>
              <a:t>Example: If an object is supposed to accept a negative number,  testing one negative number is enough.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6484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White-box Testing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772816"/>
            <a:ext cx="7650480" cy="38401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Focus: Thoroughness (</a:t>
            </a:r>
            <a:r>
              <a:rPr lang="en-US" altLang="en-US" sz="2400" dirty="0">
                <a:solidFill>
                  <a:srgbClr val="FF0000"/>
                </a:solidFill>
              </a:rPr>
              <a:t>Coverage</a:t>
            </a:r>
            <a:r>
              <a:rPr lang="en-US" altLang="en-US" sz="2400" dirty="0"/>
              <a:t>). Every statement in the component is executed at least once.</a:t>
            </a:r>
          </a:p>
          <a:p>
            <a:pPr>
              <a:lnSpc>
                <a:spcPct val="80000"/>
              </a:lnSpc>
            </a:pP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Four types of white-box  testing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Statement Testing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Loop Testing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Path Testing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Branch Testing</a:t>
            </a:r>
          </a:p>
          <a:p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86C19E-FD79-41BE-BA66-05AB8050D3C7}"/>
                  </a:ext>
                </a:extLst>
              </p14:cNvPr>
              <p14:cNvContentPartPr/>
              <p14:nvPr/>
            </p14:nvContentPartPr>
            <p14:xfrm>
              <a:off x="3900240" y="3136320"/>
              <a:ext cx="1147320" cy="1469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86C19E-FD79-41BE-BA66-05AB8050D3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90880" y="3126960"/>
                <a:ext cx="1166040" cy="148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515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962" y="856735"/>
            <a:ext cx="7543800" cy="475396"/>
          </a:xfrm>
        </p:spPr>
        <p:txBody>
          <a:bodyPr>
            <a:normAutofit fontScale="90000"/>
          </a:bodyPr>
          <a:lstStyle/>
          <a:p>
            <a:r>
              <a:rPr lang="en-US" altLang="en-US" sz="3600" dirty="0"/>
              <a:t>White-box Testing…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1532655"/>
            <a:ext cx="7384256" cy="2786063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dirty="0"/>
              <a:t>Statement Testing (Algebraic Testing):  Test single statements</a:t>
            </a:r>
            <a:endParaRPr lang="en-US" altLang="ko-KR" dirty="0">
              <a:ea typeface="Gulim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en-US" dirty="0"/>
              <a:t>Loop Testing: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Cause execution of the loop to be skipped completely. (Exception: Repeat loops)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Loop to be executed exactly once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Loop to be executed more than once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Path testing: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Make sure all paths in the program are executed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Branch Testing  (Conditional Testing): Make sure that each possible outcome from a condition is tested at least once.</a:t>
            </a:r>
          </a:p>
          <a:p>
            <a:endParaRPr lang="en-GB" dirty="0"/>
          </a:p>
        </p:txBody>
      </p:sp>
      <p:grpSp>
        <p:nvGrpSpPr>
          <p:cNvPr id="8" name="Group 13"/>
          <p:cNvGrpSpPr>
            <a:grpSpLocks/>
          </p:cNvGrpSpPr>
          <p:nvPr/>
        </p:nvGrpSpPr>
        <p:grpSpPr bwMode="auto">
          <a:xfrm>
            <a:off x="1489868" y="4686082"/>
            <a:ext cx="6164263" cy="1023937"/>
            <a:chOff x="896" y="3207"/>
            <a:chExt cx="3883" cy="645"/>
          </a:xfrm>
        </p:grpSpPr>
        <p:grpSp>
          <p:nvGrpSpPr>
            <p:cNvPr id="9" name="Group 11"/>
            <p:cNvGrpSpPr>
              <a:grpSpLocks/>
            </p:cNvGrpSpPr>
            <p:nvPr/>
          </p:nvGrpSpPr>
          <p:grpSpPr bwMode="auto">
            <a:xfrm>
              <a:off x="896" y="3232"/>
              <a:ext cx="3883" cy="620"/>
              <a:chOff x="896" y="3232"/>
              <a:chExt cx="3883" cy="620"/>
            </a:xfrm>
          </p:grpSpPr>
          <p:sp>
            <p:nvSpPr>
              <p:cNvPr id="11" name="Rectangle 4"/>
              <p:cNvSpPr>
                <a:spLocks noChangeArrowheads="1"/>
              </p:cNvSpPr>
              <p:nvPr/>
            </p:nvSpPr>
            <p:spPr bwMode="auto">
              <a:xfrm>
                <a:off x="896" y="3232"/>
                <a:ext cx="3879" cy="61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" name="Rectangle 5"/>
              <p:cNvSpPr>
                <a:spLocks noChangeArrowheads="1"/>
              </p:cNvSpPr>
              <p:nvPr/>
            </p:nvSpPr>
            <p:spPr bwMode="auto">
              <a:xfrm>
                <a:off x="1145" y="3344"/>
                <a:ext cx="559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</a:rPr>
                  <a:t>if ( i = </a:t>
                </a:r>
              </a:p>
            </p:txBody>
          </p:sp>
          <p:sp>
            <p:nvSpPr>
              <p:cNvPr id="13" name="Rectangle 6"/>
              <p:cNvSpPr>
                <a:spLocks noChangeArrowheads="1"/>
              </p:cNvSpPr>
              <p:nvPr/>
            </p:nvSpPr>
            <p:spPr bwMode="auto">
              <a:xfrm>
                <a:off x="1564" y="3344"/>
                <a:ext cx="1914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</a:rPr>
                  <a:t>TRUE) printf("YES\n");  </a:t>
                </a:r>
              </a:p>
            </p:txBody>
          </p:sp>
          <p:sp>
            <p:nvSpPr>
              <p:cNvPr id="14" name="Rectangle 7"/>
              <p:cNvSpPr>
                <a:spLocks noChangeArrowheads="1"/>
              </p:cNvSpPr>
              <p:nvPr/>
            </p:nvSpPr>
            <p:spPr bwMode="auto">
              <a:xfrm>
                <a:off x="3263" y="3344"/>
                <a:ext cx="362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</a:rPr>
                  <a:t>else</a:t>
                </a:r>
              </a:p>
            </p:txBody>
          </p:sp>
          <p:sp>
            <p:nvSpPr>
              <p:cNvPr id="15" name="Rectangle 8"/>
              <p:cNvSpPr>
                <a:spLocks noChangeArrowheads="1"/>
              </p:cNvSpPr>
              <p:nvPr/>
            </p:nvSpPr>
            <p:spPr bwMode="auto">
              <a:xfrm>
                <a:off x="3498" y="3344"/>
                <a:ext cx="1263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</a:rPr>
                  <a:t> printf("NO\n");</a:t>
                </a:r>
              </a:p>
            </p:txBody>
          </p:sp>
          <p:sp>
            <p:nvSpPr>
              <p:cNvPr id="16" name="Rectangle 9"/>
              <p:cNvSpPr>
                <a:spLocks noChangeArrowheads="1"/>
              </p:cNvSpPr>
              <p:nvPr/>
            </p:nvSpPr>
            <p:spPr bwMode="auto">
              <a:xfrm>
                <a:off x="1095" y="3488"/>
                <a:ext cx="2718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r>
                  <a:rPr lang="en-US" altLang="en-US" sz="2000" dirty="0">
                    <a:solidFill>
                      <a:srgbClr val="000000"/>
                    </a:solidFill>
                  </a:rPr>
                  <a:t>Test cases: 1) </a:t>
                </a:r>
                <a:r>
                  <a:rPr lang="en-US" altLang="en-US" sz="2000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en-US" sz="2000" dirty="0">
                    <a:solidFill>
                      <a:srgbClr val="000000"/>
                    </a:solidFill>
                  </a:rPr>
                  <a:t> = TRUE; 2) </a:t>
                </a:r>
                <a:r>
                  <a:rPr lang="en-US" altLang="en-US" sz="2000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en-US" sz="2000" dirty="0">
                    <a:solidFill>
                      <a:srgbClr val="000000"/>
                    </a:solidFill>
                  </a:rPr>
                  <a:t> = FALSE</a:t>
                </a:r>
              </a:p>
            </p:txBody>
          </p:sp>
          <p:sp>
            <p:nvSpPr>
              <p:cNvPr id="17" name="Rectangle 10"/>
              <p:cNvSpPr>
                <a:spLocks noChangeArrowheads="1"/>
              </p:cNvSpPr>
              <p:nvPr/>
            </p:nvSpPr>
            <p:spPr bwMode="auto">
              <a:xfrm>
                <a:off x="900" y="3236"/>
                <a:ext cx="3879" cy="61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0" name="Rectangle 12"/>
            <p:cNvSpPr>
              <a:spLocks noChangeArrowheads="1"/>
            </p:cNvSpPr>
            <p:nvPr/>
          </p:nvSpPr>
          <p:spPr bwMode="auto">
            <a:xfrm>
              <a:off x="1104" y="3207"/>
              <a:ext cx="8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69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658" y="142407"/>
            <a:ext cx="7543800" cy="1257083"/>
          </a:xfrm>
        </p:spPr>
        <p:txBody>
          <a:bodyPr/>
          <a:lstStyle/>
          <a:p>
            <a:r>
              <a:rPr lang="en-US" altLang="en-US" sz="3600" dirty="0"/>
              <a:t>White-box Testing- Loop Testing</a:t>
            </a:r>
            <a:endParaRPr lang="en-GB" sz="3600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706813" y="4629150"/>
            <a:ext cx="1055687" cy="6223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sz="1900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</a:rPr>
              <a:t>Nested 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900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</a:rPr>
              <a:t>Loops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918075" y="5319713"/>
            <a:ext cx="1839913" cy="7508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defRPr/>
            </a:pPr>
            <a:r>
              <a:rPr lang="en-US" sz="1900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</a:rPr>
              <a:t>Concatenated</a:t>
            </a:r>
          </a:p>
          <a:p>
            <a:pPr algn="ctr">
              <a:defRPr/>
            </a:pPr>
            <a:r>
              <a:rPr lang="en-US" sz="1900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</a:rPr>
              <a:t>       Loops       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235200" y="3981450"/>
            <a:ext cx="1038225" cy="620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sz="1900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</a:rPr>
              <a:t>Simple </a:t>
            </a:r>
          </a:p>
          <a:p>
            <a:pPr algn="ctr">
              <a:lnSpc>
                <a:spcPct val="80000"/>
              </a:lnSpc>
              <a:defRPr/>
            </a:pPr>
            <a:r>
              <a:rPr lang="en-US" sz="1900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</a:rPr>
              <a:t>loop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438400" y="2157413"/>
            <a:ext cx="685800" cy="4857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2476500" y="2914650"/>
            <a:ext cx="584200" cy="557213"/>
          </a:xfrm>
          <a:prstGeom prst="diamond">
            <a:avLst/>
          </a:prstGeom>
          <a:solidFill>
            <a:schemeClr val="tx2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2794000" y="1808163"/>
            <a:ext cx="0" cy="3286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2781300" y="2693988"/>
            <a:ext cx="0" cy="2428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" name="Freeform 12"/>
          <p:cNvSpPr>
            <a:spLocks/>
          </p:cNvSpPr>
          <p:nvPr/>
        </p:nvSpPr>
        <p:spPr bwMode="auto">
          <a:xfrm>
            <a:off x="2159000" y="2443163"/>
            <a:ext cx="306388" cy="758825"/>
          </a:xfrm>
          <a:custGeom>
            <a:avLst/>
            <a:gdLst>
              <a:gd name="T0" fmla="*/ 192 w 193"/>
              <a:gd name="T1" fmla="*/ 424 h 425"/>
              <a:gd name="T2" fmla="*/ 0 w 193"/>
              <a:gd name="T3" fmla="*/ 424 h 425"/>
              <a:gd name="T4" fmla="*/ 0 w 193"/>
              <a:gd name="T5" fmla="*/ 0 h 425"/>
              <a:gd name="T6" fmla="*/ 160 w 193"/>
              <a:gd name="T7" fmla="*/ 0 h 425"/>
              <a:gd name="T8" fmla="*/ 0 60000 65536"/>
              <a:gd name="T9" fmla="*/ 0 60000 65536"/>
              <a:gd name="T10" fmla="*/ 0 60000 65536"/>
              <a:gd name="T11" fmla="*/ 0 60000 65536"/>
              <a:gd name="T12" fmla="*/ 0 w 193"/>
              <a:gd name="T13" fmla="*/ 0 h 425"/>
              <a:gd name="T14" fmla="*/ 193 w 193"/>
              <a:gd name="T15" fmla="*/ 425 h 4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3" h="425">
                <a:moveTo>
                  <a:pt x="192" y="424"/>
                </a:moveTo>
                <a:lnTo>
                  <a:pt x="0" y="424"/>
                </a:lnTo>
                <a:lnTo>
                  <a:pt x="0" y="0"/>
                </a:lnTo>
                <a:lnTo>
                  <a:pt x="160" y="0"/>
                </a:lnTo>
              </a:path>
            </a:pathLst>
          </a:custGeom>
          <a:noFill/>
          <a:ln w="28575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2800350" y="3522663"/>
            <a:ext cx="0" cy="300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3860800" y="1957388"/>
            <a:ext cx="685800" cy="4857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3898900" y="2714625"/>
            <a:ext cx="584200" cy="557213"/>
          </a:xfrm>
          <a:prstGeom prst="diamond">
            <a:avLst/>
          </a:prstGeom>
          <a:solidFill>
            <a:schemeClr val="tx2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4216400" y="1608138"/>
            <a:ext cx="0" cy="3286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4203700" y="2493963"/>
            <a:ext cx="0" cy="2428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" name="Freeform 18"/>
          <p:cNvSpPr>
            <a:spLocks/>
          </p:cNvSpPr>
          <p:nvPr/>
        </p:nvSpPr>
        <p:spPr bwMode="auto">
          <a:xfrm>
            <a:off x="3581400" y="2243138"/>
            <a:ext cx="306388" cy="758825"/>
          </a:xfrm>
          <a:custGeom>
            <a:avLst/>
            <a:gdLst>
              <a:gd name="T0" fmla="*/ 192 w 193"/>
              <a:gd name="T1" fmla="*/ 424 h 425"/>
              <a:gd name="T2" fmla="*/ 0 w 193"/>
              <a:gd name="T3" fmla="*/ 424 h 425"/>
              <a:gd name="T4" fmla="*/ 0 w 193"/>
              <a:gd name="T5" fmla="*/ 0 h 425"/>
              <a:gd name="T6" fmla="*/ 160 w 193"/>
              <a:gd name="T7" fmla="*/ 0 h 425"/>
              <a:gd name="T8" fmla="*/ 0 60000 65536"/>
              <a:gd name="T9" fmla="*/ 0 60000 65536"/>
              <a:gd name="T10" fmla="*/ 0 60000 65536"/>
              <a:gd name="T11" fmla="*/ 0 60000 65536"/>
              <a:gd name="T12" fmla="*/ 0 w 193"/>
              <a:gd name="T13" fmla="*/ 0 h 425"/>
              <a:gd name="T14" fmla="*/ 193 w 193"/>
              <a:gd name="T15" fmla="*/ 425 h 4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3" h="425">
                <a:moveTo>
                  <a:pt x="192" y="424"/>
                </a:moveTo>
                <a:lnTo>
                  <a:pt x="0" y="424"/>
                </a:lnTo>
                <a:lnTo>
                  <a:pt x="0" y="0"/>
                </a:lnTo>
                <a:lnTo>
                  <a:pt x="160" y="0"/>
                </a:lnTo>
              </a:path>
            </a:pathLst>
          </a:custGeom>
          <a:noFill/>
          <a:ln w="28575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4222750" y="3322638"/>
            <a:ext cx="0" cy="300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" name="AutoShape 20"/>
          <p:cNvSpPr>
            <a:spLocks noChangeArrowheads="1"/>
          </p:cNvSpPr>
          <p:nvPr/>
        </p:nvSpPr>
        <p:spPr bwMode="auto">
          <a:xfrm>
            <a:off x="3937000" y="3629025"/>
            <a:ext cx="584200" cy="557213"/>
          </a:xfrm>
          <a:prstGeom prst="diamond">
            <a:avLst/>
          </a:prstGeom>
          <a:solidFill>
            <a:schemeClr val="tx2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4260850" y="4194175"/>
            <a:ext cx="0" cy="300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" name="Freeform 22"/>
          <p:cNvSpPr>
            <a:spLocks/>
          </p:cNvSpPr>
          <p:nvPr/>
        </p:nvSpPr>
        <p:spPr bwMode="auto">
          <a:xfrm>
            <a:off x="3467100" y="1871663"/>
            <a:ext cx="750888" cy="2044700"/>
          </a:xfrm>
          <a:custGeom>
            <a:avLst/>
            <a:gdLst>
              <a:gd name="T0" fmla="*/ 296 w 473"/>
              <a:gd name="T1" fmla="*/ 1144 h 1145"/>
              <a:gd name="T2" fmla="*/ 0 w 473"/>
              <a:gd name="T3" fmla="*/ 1144 h 1145"/>
              <a:gd name="T4" fmla="*/ 0 w 473"/>
              <a:gd name="T5" fmla="*/ 0 h 1145"/>
              <a:gd name="T6" fmla="*/ 472 w 473"/>
              <a:gd name="T7" fmla="*/ 0 h 1145"/>
              <a:gd name="T8" fmla="*/ 0 60000 65536"/>
              <a:gd name="T9" fmla="*/ 0 60000 65536"/>
              <a:gd name="T10" fmla="*/ 0 60000 65536"/>
              <a:gd name="T11" fmla="*/ 0 60000 65536"/>
              <a:gd name="T12" fmla="*/ 0 w 473"/>
              <a:gd name="T13" fmla="*/ 0 h 1145"/>
              <a:gd name="T14" fmla="*/ 473 w 473"/>
              <a:gd name="T15" fmla="*/ 1145 h 114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3" h="1145">
                <a:moveTo>
                  <a:pt x="296" y="1144"/>
                </a:moveTo>
                <a:lnTo>
                  <a:pt x="0" y="1144"/>
                </a:lnTo>
                <a:lnTo>
                  <a:pt x="0" y="0"/>
                </a:lnTo>
                <a:lnTo>
                  <a:pt x="472" y="0"/>
                </a:lnTo>
              </a:path>
            </a:pathLst>
          </a:custGeom>
          <a:noFill/>
          <a:ln w="28575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5588000" y="1728788"/>
            <a:ext cx="685800" cy="4857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>
            <a:off x="5626100" y="2486025"/>
            <a:ext cx="584200" cy="557213"/>
          </a:xfrm>
          <a:prstGeom prst="diamond">
            <a:avLst/>
          </a:prstGeom>
          <a:solidFill>
            <a:schemeClr val="tx2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8" name="Line 25"/>
          <p:cNvSpPr>
            <a:spLocks noChangeShapeType="1"/>
          </p:cNvSpPr>
          <p:nvPr/>
        </p:nvSpPr>
        <p:spPr bwMode="auto">
          <a:xfrm>
            <a:off x="5943600" y="1379538"/>
            <a:ext cx="0" cy="3286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5930900" y="2265363"/>
            <a:ext cx="0" cy="2428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" name="Freeform 27"/>
          <p:cNvSpPr>
            <a:spLocks/>
          </p:cNvSpPr>
          <p:nvPr/>
        </p:nvSpPr>
        <p:spPr bwMode="auto">
          <a:xfrm>
            <a:off x="5308600" y="2014538"/>
            <a:ext cx="306388" cy="758825"/>
          </a:xfrm>
          <a:custGeom>
            <a:avLst/>
            <a:gdLst>
              <a:gd name="T0" fmla="*/ 192 w 193"/>
              <a:gd name="T1" fmla="*/ 424 h 425"/>
              <a:gd name="T2" fmla="*/ 0 w 193"/>
              <a:gd name="T3" fmla="*/ 424 h 425"/>
              <a:gd name="T4" fmla="*/ 0 w 193"/>
              <a:gd name="T5" fmla="*/ 0 h 425"/>
              <a:gd name="T6" fmla="*/ 160 w 193"/>
              <a:gd name="T7" fmla="*/ 0 h 425"/>
              <a:gd name="T8" fmla="*/ 0 60000 65536"/>
              <a:gd name="T9" fmla="*/ 0 60000 65536"/>
              <a:gd name="T10" fmla="*/ 0 60000 65536"/>
              <a:gd name="T11" fmla="*/ 0 60000 65536"/>
              <a:gd name="T12" fmla="*/ 0 w 193"/>
              <a:gd name="T13" fmla="*/ 0 h 425"/>
              <a:gd name="T14" fmla="*/ 193 w 193"/>
              <a:gd name="T15" fmla="*/ 425 h 4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3" h="425">
                <a:moveTo>
                  <a:pt x="192" y="424"/>
                </a:moveTo>
                <a:lnTo>
                  <a:pt x="0" y="424"/>
                </a:lnTo>
                <a:lnTo>
                  <a:pt x="0" y="0"/>
                </a:lnTo>
                <a:lnTo>
                  <a:pt x="160" y="0"/>
                </a:lnTo>
              </a:path>
            </a:pathLst>
          </a:custGeom>
          <a:noFill/>
          <a:ln w="28575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" name="Line 28"/>
          <p:cNvSpPr>
            <a:spLocks noChangeShapeType="1"/>
          </p:cNvSpPr>
          <p:nvPr/>
        </p:nvSpPr>
        <p:spPr bwMode="auto">
          <a:xfrm>
            <a:off x="5949950" y="3094038"/>
            <a:ext cx="0" cy="300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5588000" y="3457575"/>
            <a:ext cx="685800" cy="485775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3" name="AutoShape 30"/>
          <p:cNvSpPr>
            <a:spLocks noChangeArrowheads="1"/>
          </p:cNvSpPr>
          <p:nvPr/>
        </p:nvSpPr>
        <p:spPr bwMode="auto">
          <a:xfrm>
            <a:off x="5626100" y="4214813"/>
            <a:ext cx="584200" cy="557212"/>
          </a:xfrm>
          <a:prstGeom prst="diamond">
            <a:avLst/>
          </a:prstGeom>
          <a:solidFill>
            <a:schemeClr val="tx2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>
            <a:off x="5943600" y="3108325"/>
            <a:ext cx="0" cy="3286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" name="Line 32"/>
          <p:cNvSpPr>
            <a:spLocks noChangeShapeType="1"/>
          </p:cNvSpPr>
          <p:nvPr/>
        </p:nvSpPr>
        <p:spPr bwMode="auto">
          <a:xfrm>
            <a:off x="5930900" y="3994150"/>
            <a:ext cx="0" cy="2428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" name="Freeform 33"/>
          <p:cNvSpPr>
            <a:spLocks/>
          </p:cNvSpPr>
          <p:nvPr/>
        </p:nvSpPr>
        <p:spPr bwMode="auto">
          <a:xfrm>
            <a:off x="5308600" y="3743325"/>
            <a:ext cx="306388" cy="758825"/>
          </a:xfrm>
          <a:custGeom>
            <a:avLst/>
            <a:gdLst>
              <a:gd name="T0" fmla="*/ 192 w 193"/>
              <a:gd name="T1" fmla="*/ 424 h 425"/>
              <a:gd name="T2" fmla="*/ 0 w 193"/>
              <a:gd name="T3" fmla="*/ 424 h 425"/>
              <a:gd name="T4" fmla="*/ 0 w 193"/>
              <a:gd name="T5" fmla="*/ 0 h 425"/>
              <a:gd name="T6" fmla="*/ 160 w 193"/>
              <a:gd name="T7" fmla="*/ 0 h 425"/>
              <a:gd name="T8" fmla="*/ 0 60000 65536"/>
              <a:gd name="T9" fmla="*/ 0 60000 65536"/>
              <a:gd name="T10" fmla="*/ 0 60000 65536"/>
              <a:gd name="T11" fmla="*/ 0 60000 65536"/>
              <a:gd name="T12" fmla="*/ 0 w 193"/>
              <a:gd name="T13" fmla="*/ 0 h 425"/>
              <a:gd name="T14" fmla="*/ 193 w 193"/>
              <a:gd name="T15" fmla="*/ 425 h 4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3" h="425">
                <a:moveTo>
                  <a:pt x="192" y="424"/>
                </a:moveTo>
                <a:lnTo>
                  <a:pt x="0" y="424"/>
                </a:lnTo>
                <a:lnTo>
                  <a:pt x="0" y="0"/>
                </a:lnTo>
                <a:lnTo>
                  <a:pt x="160" y="0"/>
                </a:lnTo>
              </a:path>
            </a:pathLst>
          </a:custGeom>
          <a:noFill/>
          <a:ln w="28575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5937250" y="4837113"/>
            <a:ext cx="0" cy="300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7848600" y="1050925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342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81A3A-B3B4-401D-B47B-A504CB48B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063" y="-115778"/>
            <a:ext cx="7543800" cy="887303"/>
          </a:xfrm>
        </p:spPr>
        <p:txBody>
          <a:bodyPr/>
          <a:lstStyle/>
          <a:p>
            <a:r>
              <a:rPr lang="en-US" altLang="en-US" dirty="0"/>
              <a:t>White-box Testing: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0793-4B8D-4AEE-9D9B-CD018C4B1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295400"/>
            <a:ext cx="3935412" cy="512445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INPUT A &amp; B</a:t>
            </a:r>
          </a:p>
          <a:p>
            <a:pPr marL="0" indent="0">
              <a:buNone/>
            </a:pPr>
            <a:r>
              <a:rPr lang="en-US" sz="2000" dirty="0"/>
              <a:t>C = A + B</a:t>
            </a:r>
          </a:p>
          <a:p>
            <a:pPr marL="0" indent="0">
              <a:buNone/>
            </a:pPr>
            <a:r>
              <a:rPr lang="en-US" sz="2000" dirty="0"/>
              <a:t>IF C&gt;100</a:t>
            </a:r>
          </a:p>
          <a:p>
            <a:pPr marL="0" indent="0">
              <a:buNone/>
            </a:pPr>
            <a:r>
              <a:rPr lang="en-US" sz="2000" dirty="0"/>
              <a:t>PRINT “ITS DONE”</a:t>
            </a:r>
          </a:p>
          <a:p>
            <a:pPr marL="0" indent="0">
              <a:buNone/>
            </a:pPr>
            <a:r>
              <a:rPr lang="en-US" sz="2000" dirty="0"/>
              <a:t>END IF</a:t>
            </a:r>
          </a:p>
          <a:p>
            <a:pPr marL="0" indent="0">
              <a:buNone/>
            </a:pPr>
            <a:r>
              <a:rPr lang="en-US" sz="2000" dirty="0"/>
              <a:t>IF A&gt;50</a:t>
            </a:r>
          </a:p>
          <a:p>
            <a:pPr marL="0" indent="0">
              <a:buNone/>
            </a:pPr>
            <a:r>
              <a:rPr lang="en-US" sz="2000" dirty="0"/>
              <a:t>PRINT “ITS PENDING”</a:t>
            </a:r>
          </a:p>
          <a:p>
            <a:pPr marL="0" indent="0">
              <a:buNone/>
            </a:pPr>
            <a:r>
              <a:rPr lang="en-US" sz="2000" dirty="0"/>
              <a:t>END IF</a:t>
            </a:r>
          </a:p>
        </p:txBody>
      </p:sp>
      <p:pic>
        <p:nvPicPr>
          <p:cNvPr id="1026" name="Picture 2" descr="Path coverage 1">
            <a:extLst>
              <a:ext uri="{FF2B5EF4-FFF2-40B4-BE49-F238E27FC236}">
                <a16:creationId xmlns:a16="http://schemas.microsoft.com/office/drawing/2014/main" id="{EEAE15B2-846E-42FB-9F4F-60EE25984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838200"/>
            <a:ext cx="5154612" cy="524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452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9A26-FEA8-44E5-B089-CAE8C856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0" y="-65405"/>
            <a:ext cx="7543800" cy="1054735"/>
          </a:xfrm>
        </p:spPr>
        <p:txBody>
          <a:bodyPr/>
          <a:lstStyle/>
          <a:p>
            <a:r>
              <a:rPr lang="en-US" altLang="en-US" dirty="0"/>
              <a:t>White-box Testing: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0208D-6839-4090-A2EC-83134EA60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28" y="2133600"/>
            <a:ext cx="4164012" cy="5124450"/>
          </a:xfrm>
        </p:spPr>
        <p:txBody>
          <a:bodyPr/>
          <a:lstStyle/>
          <a:p>
            <a:r>
              <a:rPr lang="en-US" sz="1800" dirty="0"/>
              <a:t>Red Line TestCase_01: A=50, B=60</a:t>
            </a:r>
          </a:p>
          <a:p>
            <a:r>
              <a:rPr lang="en-US" sz="1800" dirty="0"/>
              <a:t>Blue Line TestCase_02: A=55, B=40</a:t>
            </a:r>
          </a:p>
          <a:p>
            <a:r>
              <a:rPr lang="en-US" sz="1800" dirty="0"/>
              <a:t>Orange Line TestCase_03: A=40, B=65</a:t>
            </a:r>
          </a:p>
          <a:p>
            <a:r>
              <a:rPr lang="en-US" sz="1800" dirty="0"/>
              <a:t>Green Line TestCase_04: A=30, B=30</a:t>
            </a:r>
          </a:p>
        </p:txBody>
      </p:sp>
      <p:pic>
        <p:nvPicPr>
          <p:cNvPr id="2050" name="Picture 2" descr="Path coverage 2">
            <a:extLst>
              <a:ext uri="{FF2B5EF4-FFF2-40B4-BE49-F238E27FC236}">
                <a16:creationId xmlns:a16="http://schemas.microsoft.com/office/drawing/2014/main" id="{38D49EEF-54E6-4FCE-A362-53FD75861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019175"/>
            <a:ext cx="4635500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335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2388</TotalTime>
  <Words>803</Words>
  <Application>Microsoft Office PowerPoint</Application>
  <PresentationFormat>On-screen Show (4:3)</PresentationFormat>
  <Paragraphs>224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Gulim</vt:lpstr>
      <vt:lpstr>Arial</vt:lpstr>
      <vt:lpstr>Calibri</vt:lpstr>
      <vt:lpstr>Gill Sans MT</vt:lpstr>
      <vt:lpstr>Goudy Stout</vt:lpstr>
      <vt:lpstr>Helvetica</vt:lpstr>
      <vt:lpstr>Times</vt:lpstr>
      <vt:lpstr>Times New Roman</vt:lpstr>
      <vt:lpstr>Verdana</vt:lpstr>
      <vt:lpstr>Wingdings 2</vt:lpstr>
      <vt:lpstr>Solstice</vt:lpstr>
      <vt:lpstr>PowerPoint Presentation</vt:lpstr>
      <vt:lpstr>Agenda</vt:lpstr>
      <vt:lpstr>Software Test Classifications</vt:lpstr>
      <vt:lpstr>Software Test Classifications</vt:lpstr>
      <vt:lpstr>Black box Equivalence Partitioning</vt:lpstr>
      <vt:lpstr>Black box Equivalence Partitioning</vt:lpstr>
      <vt:lpstr>Black box Equivalence Partitioning</vt:lpstr>
      <vt:lpstr>Boundary Value Analysis (BVA)</vt:lpstr>
      <vt:lpstr>Boundary Value Analysis </vt:lpstr>
      <vt:lpstr>Boundary Value Analysis </vt:lpstr>
      <vt:lpstr>Examples</vt:lpstr>
      <vt:lpstr>Equivalence Partitioning</vt:lpstr>
      <vt:lpstr>Boundary Value Analysis (BVA): </vt:lpstr>
      <vt:lpstr>Software Test Classifications</vt:lpstr>
      <vt:lpstr> Black-box Testing </vt:lpstr>
      <vt:lpstr> Black-box Testing </vt:lpstr>
      <vt:lpstr>White-box Testing</vt:lpstr>
      <vt:lpstr>White-box Testing…</vt:lpstr>
      <vt:lpstr>White-box Testing- Loop Testing</vt:lpstr>
      <vt:lpstr>White-box Testing: Example</vt:lpstr>
      <vt:lpstr>White-box Testing: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Fatimah</dc:creator>
  <cp:lastModifiedBy>Sumaira Nazir</cp:lastModifiedBy>
  <cp:revision>222</cp:revision>
  <cp:lastPrinted>2014-09-07T17:36:35Z</cp:lastPrinted>
  <dcterms:created xsi:type="dcterms:W3CDTF">2006-12-08T11:09:38Z</dcterms:created>
  <dcterms:modified xsi:type="dcterms:W3CDTF">2025-05-30T05:29:59Z</dcterms:modified>
</cp:coreProperties>
</file>