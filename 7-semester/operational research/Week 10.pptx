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792" r:id="rId2"/>
  </p:sldMasterIdLst>
  <p:notesMasterIdLst>
    <p:notesMasterId r:id="rId55"/>
  </p:notesMasterIdLst>
  <p:sldIdLst>
    <p:sldId id="368" r:id="rId3"/>
    <p:sldId id="509" r:id="rId4"/>
    <p:sldId id="590" r:id="rId5"/>
    <p:sldId id="589" r:id="rId6"/>
    <p:sldId id="591" r:id="rId7"/>
    <p:sldId id="592" r:id="rId8"/>
    <p:sldId id="593" r:id="rId9"/>
    <p:sldId id="594" r:id="rId10"/>
    <p:sldId id="647" r:id="rId11"/>
    <p:sldId id="595" r:id="rId12"/>
    <p:sldId id="601" r:id="rId13"/>
    <p:sldId id="597" r:id="rId14"/>
    <p:sldId id="598" r:id="rId15"/>
    <p:sldId id="599" r:id="rId16"/>
    <p:sldId id="600" r:id="rId17"/>
    <p:sldId id="566" r:id="rId18"/>
    <p:sldId id="604" r:id="rId19"/>
    <p:sldId id="602" r:id="rId20"/>
    <p:sldId id="606" r:id="rId21"/>
    <p:sldId id="607" r:id="rId22"/>
    <p:sldId id="648" r:id="rId23"/>
    <p:sldId id="608" r:id="rId24"/>
    <p:sldId id="609" r:id="rId25"/>
    <p:sldId id="610" r:id="rId26"/>
    <p:sldId id="611" r:id="rId27"/>
    <p:sldId id="649" r:id="rId28"/>
    <p:sldId id="613" r:id="rId29"/>
    <p:sldId id="612" r:id="rId30"/>
    <p:sldId id="619" r:id="rId31"/>
    <p:sldId id="614" r:id="rId32"/>
    <p:sldId id="615" r:id="rId33"/>
    <p:sldId id="616" r:id="rId34"/>
    <p:sldId id="617" r:id="rId35"/>
    <p:sldId id="618" r:id="rId36"/>
    <p:sldId id="620" r:id="rId37"/>
    <p:sldId id="621" r:id="rId38"/>
    <p:sldId id="622" r:id="rId39"/>
    <p:sldId id="623" r:id="rId40"/>
    <p:sldId id="628" r:id="rId41"/>
    <p:sldId id="629" r:id="rId42"/>
    <p:sldId id="630" r:id="rId43"/>
    <p:sldId id="631" r:id="rId44"/>
    <p:sldId id="632" r:id="rId45"/>
    <p:sldId id="633" r:id="rId46"/>
    <p:sldId id="634" r:id="rId47"/>
    <p:sldId id="641" r:id="rId48"/>
    <p:sldId id="642" r:id="rId49"/>
    <p:sldId id="643" r:id="rId50"/>
    <p:sldId id="644" r:id="rId51"/>
    <p:sldId id="645" r:id="rId52"/>
    <p:sldId id="646" r:id="rId53"/>
    <p:sldId id="410" r:id="rId5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291" autoAdjust="0"/>
  </p:normalViewPr>
  <p:slideViewPr>
    <p:cSldViewPr snapToGrid="0">
      <p:cViewPr>
        <p:scale>
          <a:sx n="71" d="100"/>
          <a:sy n="71" d="100"/>
        </p:scale>
        <p:origin x="-1160" y="-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9194E4-79C8-41B0-9AF4-53058728BAB5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BFD4BB-E70E-4D5C-83E2-D95045F6F6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167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BFD4BB-E70E-4D5C-83E2-D95045F6F69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5124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BFD4BB-E70E-4D5C-83E2-D95045F6F69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0195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BFD4BB-E70E-4D5C-83E2-D95045F6F69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4805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BFD4BB-E70E-4D5C-83E2-D95045F6F69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5711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BFD4BB-E70E-4D5C-83E2-D95045F6F69E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8015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BFD4BB-E70E-4D5C-83E2-D95045F6F69E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990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D63FB-4DD9-4903-83FE-F80270576417}" type="datetime1">
              <a:rPr lang="en-US" smtClean="0"/>
              <a:pPr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1980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DFA81-FF35-40E2-AA6F-C4E4697E2C73}" type="datetime1">
              <a:rPr lang="en-US" smtClean="0"/>
              <a:pPr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502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08B4E-9E6D-47DB-A8C9-443A66B04FA1}" type="datetime1">
              <a:rPr lang="en-US" smtClean="0"/>
              <a:pPr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19426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AD187-3CAF-4EEB-B511-D277A7E40C82}" type="datetime1">
              <a:rPr lang="en-US" smtClean="0"/>
              <a:pPr/>
              <a:t>4/24/2025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662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FEB82-3297-42CA-9AC7-D3ECF198E013}" type="datetime1">
              <a:rPr lang="en-US" smtClean="0"/>
              <a:pPr/>
              <a:t>4/24/2025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9286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48733-E273-4EF3-8143-57B6AA49A592}" type="datetime1">
              <a:rPr lang="en-US" smtClean="0"/>
              <a:pPr/>
              <a:t>4/24/2025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993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16BD8-1159-4CEE-BF69-08E8DE6F04D4}" type="datetime1">
              <a:rPr lang="en-US" smtClean="0"/>
              <a:pPr/>
              <a:t>4/24/2025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5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5B0FE-4AC0-4D7B-83B1-A18CD9CB8AEE}" type="datetime1">
              <a:rPr lang="en-US" smtClean="0"/>
              <a:pPr/>
              <a:t>4/24/2025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2614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2F497-D16F-472A-8AB2-6923D245D09D}" type="datetime1">
              <a:rPr lang="en-US" smtClean="0"/>
              <a:pPr/>
              <a:t>4/24/2025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874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E3EED-3DA2-4ED4-9C83-CEA1A9E43AAB}" type="datetime1">
              <a:rPr lang="en-US" smtClean="0"/>
              <a:pPr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173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7ADCE-E054-4FA0-B715-AC4537BA8B51}" type="datetime1">
              <a:rPr lang="en-US" smtClean="0"/>
              <a:pPr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7042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3B539F5C-786E-4BDB-B868-73CB6082799F}" type="datetimeFigureOut">
              <a:rPr lang="en-US" smtClean="0"/>
              <a:pPr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0299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3B539F5C-786E-4BDB-B868-73CB6082799F}" type="datetimeFigureOut">
              <a:rPr lang="en-US" smtClean="0"/>
              <a:pPr/>
              <a:t>4/24/2025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0973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7377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4/24/2025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4747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4/24/2025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3846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4/24/2025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2502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4/24/2025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1409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4/24/2025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3419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4/24/2025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2194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4/24/2025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5879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4/24/2025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4556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4/24/2025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29191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4/24/2025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56044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4/24/2025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3268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4/24/2025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03324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57804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389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E9BFFB69-46B3-4750-912C-E29F4B8DA29C}" type="datetime1">
              <a:rPr lang="en-US" smtClean="0"/>
              <a:pPr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446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BFFB69-46B3-4750-912C-E29F4B8DA29C}" type="datetime1">
              <a:rPr lang="en-US" smtClean="0"/>
              <a:pPr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502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>
            <a:outerShdw blurRad="114300" dist="38100" dir="2700000" algn="tl">
              <a:srgbClr val="000000">
                <a:alpha val="26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07C545C-EAC2-4814-AE8B-2D0C943C30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39211BDA-D7DF-4130-A3B3-EE01676363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2237" y="4391464"/>
            <a:ext cx="6400800" cy="2206283"/>
          </a:xfrm>
        </p:spPr>
        <p:txBody>
          <a:bodyPr>
            <a:normAutofit/>
          </a:bodyPr>
          <a:lstStyle/>
          <a:p>
            <a:pPr algn="ctr"/>
            <a:r>
              <a:rPr lang="en-US" sz="3900" b="1" dirty="0"/>
              <a:t>Operations Research</a:t>
            </a:r>
          </a:p>
          <a:p>
            <a:pPr algn="ctr"/>
            <a:r>
              <a:rPr lang="en-US" sz="2800" b="1" dirty="0">
                <a:solidFill>
                  <a:srgbClr val="000000">
                    <a:lumMod val="75000"/>
                    <a:lumOff val="25000"/>
                  </a:srgbClr>
                </a:solidFill>
              </a:rPr>
              <a:t>(Software </a:t>
            </a:r>
            <a:r>
              <a:rPr lang="en-US" sz="2800" b="1">
                <a:solidFill>
                  <a:srgbClr val="000000">
                    <a:lumMod val="75000"/>
                    <a:lumOff val="25000"/>
                  </a:srgbClr>
                </a:solidFill>
              </a:rPr>
              <a:t>Engineering</a:t>
            </a:r>
            <a:r>
              <a:rPr lang="en-US" sz="2800" b="1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)</a:t>
            </a:r>
            <a:endParaRPr lang="en-US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667F458A-708A-4E75-9D30-9C4DBEA489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1600"/>
            <a:ext cx="9144000" cy="266176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CA972A36-04A5-41D7-9B19-15A743E4476F}"/>
              </a:ext>
            </a:extLst>
          </p:cNvPr>
          <p:cNvSpPr/>
          <p:nvPr/>
        </p:nvSpPr>
        <p:spPr>
          <a:xfrm>
            <a:off x="3613275" y="637061"/>
            <a:ext cx="191744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Week # 10</a:t>
            </a:r>
            <a:endParaRPr lang="en-GB" sz="2800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5315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>
                <a:solidFill>
                  <a:srgbClr val="C00000"/>
                </a:solidFill>
              </a:rPr>
              <a:t>Modified </a:t>
            </a:r>
            <a:r>
              <a:rPr lang="en-GB" sz="4000" dirty="0" smtClean="0">
                <a:solidFill>
                  <a:srgbClr val="C00000"/>
                </a:solidFill>
              </a:rPr>
              <a:t>Distribution </a:t>
            </a:r>
            <a:r>
              <a:rPr lang="en-US" sz="40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method(</a:t>
            </a:r>
            <a:r>
              <a:rPr lang="en-US" sz="4000" dirty="0" err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Modi</a:t>
            </a:r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lvl="1" algn="just">
              <a:defRPr/>
            </a:pPr>
            <a:r>
              <a:rPr lang="en-US" sz="2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Modi method is the further optimization of the Vogel's approximation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2369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Modi method(u-v method)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Group 123">
            <a:extLst>
              <a:ext uri="{FF2B5EF4-FFF2-40B4-BE49-F238E27FC236}">
                <a16:creationId xmlns:a16="http://schemas.microsoft.com/office/drawing/2014/main" xmlns="" id="{A5DA3B2A-2E25-4DFF-9E0E-EBF2CA28C5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4503485"/>
              </p:ext>
            </p:extLst>
          </p:nvPr>
        </p:nvGraphicFramePr>
        <p:xfrm>
          <a:off x="856060" y="2249486"/>
          <a:ext cx="6163297" cy="2543466"/>
        </p:xfrm>
        <a:graphic>
          <a:graphicData uri="http://schemas.openxmlformats.org/drawingml/2006/table">
            <a:tbl>
              <a:tblPr/>
              <a:tblGrid>
                <a:gridCol w="173700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1979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8102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7153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35860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2894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00915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165478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555364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TO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FROM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Peshawar 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Sialkot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 Multan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FACTORY CAPACITY/Supply</a:t>
                      </a:r>
                    </a:p>
                  </a:txBody>
                  <a:tcPr marT="45709" marB="45709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12663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 </a:t>
                      </a:r>
                      <a:b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</a:b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Karachi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  <a:ea typeface="ＭＳ Ｐゴシック" pitchFamily="34" charset="-128"/>
                        </a:rPr>
                        <a:t>13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34" charset="-128"/>
                      </a:endParaRP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11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34" charset="-128"/>
                      </a:endParaRP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40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34" charset="-128"/>
                      </a:endParaRP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2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1266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34" charset="-128"/>
                      </a:endParaRPr>
                    </a:p>
                  </a:txBody>
                  <a:tcPr marT="45709" marB="45709" anchor="ctr" horzOverflow="overflow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34" charset="-128"/>
                      </a:endParaRPr>
                    </a:p>
                  </a:txBody>
                  <a:tcPr marT="45709" marB="45709" anchor="ctr" horzOverflow="overflow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34" charset="-128"/>
                      </a:endParaRPr>
                    </a:p>
                  </a:txBody>
                  <a:tcPr marT="45709" marB="45709" anchor="ctr" horzOverflow="overflow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12663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Lahore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18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34" charset="-128"/>
                      </a:endParaRP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18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34" charset="-128"/>
                      </a:endParaRP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12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34" charset="-128"/>
                      </a:endParaRP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7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1266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34" charset="-128"/>
                      </a:endParaRPr>
                    </a:p>
                  </a:txBody>
                  <a:tcPr marT="45709" marB="45709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34" charset="-128"/>
                      </a:endParaRPr>
                    </a:p>
                  </a:txBody>
                  <a:tcPr marT="45709" marB="45709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34" charset="-128"/>
                      </a:endParaRPr>
                    </a:p>
                  </a:txBody>
                  <a:tcPr marT="45709" marB="45709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6253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Requirement/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Demand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1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3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5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34" charset="-128"/>
                      </a:endParaRP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3042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Modi method(u-v method)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Group 123">
            <a:extLst>
              <a:ext uri="{FF2B5EF4-FFF2-40B4-BE49-F238E27FC236}">
                <a16:creationId xmlns:a16="http://schemas.microsoft.com/office/drawing/2014/main" xmlns="" id="{A5DA3B2A-2E25-4DFF-9E0E-EBF2CA28C54C}"/>
              </a:ext>
            </a:extLst>
          </p:cNvPr>
          <p:cNvGraphicFramePr>
            <a:graphicFrameLocks noGrp="1"/>
          </p:cNvGraphicFramePr>
          <p:nvPr/>
        </p:nvGraphicFramePr>
        <p:xfrm>
          <a:off x="856060" y="2249486"/>
          <a:ext cx="6163297" cy="2670976"/>
        </p:xfrm>
        <a:graphic>
          <a:graphicData uri="http://schemas.openxmlformats.org/drawingml/2006/table">
            <a:tbl>
              <a:tblPr/>
              <a:tblGrid>
                <a:gridCol w="173700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1979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8102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7153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37234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15204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00915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165478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555364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TO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FROM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Peshawar 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Sialkot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 Multan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FACTORY CAPACITY/Supply</a:t>
                      </a:r>
                    </a:p>
                  </a:txBody>
                  <a:tcPr marT="45709" marB="45709" anchor="b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12663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 </a:t>
                      </a:r>
                      <a:b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</a:b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Karachi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  <a:ea typeface="ＭＳ Ｐゴシック" pitchFamily="34" charset="-128"/>
                        </a:rPr>
                        <a:t>13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34" charset="-128"/>
                      </a:endParaRP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11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2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40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34" charset="-128"/>
                      </a:endParaRP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2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1266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34" charset="-128"/>
                      </a:endParaRPr>
                    </a:p>
                  </a:txBody>
                  <a:tcPr marT="45709" marB="45709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34" charset="-128"/>
                      </a:endParaRPr>
                    </a:p>
                  </a:txBody>
                  <a:tcPr marT="45709" marB="45709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34" charset="-128"/>
                      </a:endParaRPr>
                    </a:p>
                  </a:txBody>
                  <a:tcPr marT="45709" marB="45709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12663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Lahore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18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1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18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1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12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5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7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1266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34" charset="-128"/>
                      </a:endParaRPr>
                    </a:p>
                  </a:txBody>
                  <a:tcPr marT="45709" marB="45709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34" charset="-128"/>
                      </a:endParaRPr>
                    </a:p>
                  </a:txBody>
                  <a:tcPr marT="45709" marB="45709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34" charset="-128"/>
                      </a:endParaRPr>
                    </a:p>
                  </a:txBody>
                  <a:tcPr marT="45709" marB="45709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6253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Requirement/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Demand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ＭＳ Ｐゴシック" pitchFamily="34" charset="-128"/>
                      </a:endParaRP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DE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1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3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34" charset="-128"/>
                        </a:rPr>
                        <a:t>5</a:t>
                      </a: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34" charset="-128"/>
                      </a:endParaRPr>
                    </a:p>
                  </a:txBody>
                  <a:tcPr marT="45709" marB="45709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="" id="{2E1F48E8-79E6-4AA1-B5A8-8C4D71E0C041}"/>
                  </a:ext>
                </a:extLst>
              </p:cNvPr>
              <p:cNvSpPr txBox="1"/>
              <p:nvPr/>
            </p:nvSpPr>
            <p:spPr>
              <a:xfrm>
                <a:off x="1097280" y="5333032"/>
                <a:ext cx="5837239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Total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Cost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11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400" dirty="0"/>
                  <a:t>2+18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1+18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1+12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r>
                  <a:rPr lang="en-US" sz="2400" dirty="0"/>
                  <a:t>                 =22+18+18+60</a:t>
                </a:r>
              </a:p>
              <a:p>
                <a:r>
                  <a:rPr lang="en-US" sz="2400" dirty="0"/>
                  <a:t>                 =118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E1F48E8-79E6-4AA1-B5A8-8C4D71E0C0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280" y="5333032"/>
                <a:ext cx="5837239" cy="1107996"/>
              </a:xfrm>
              <a:prstGeom prst="rect">
                <a:avLst/>
              </a:prstGeom>
              <a:blipFill>
                <a:blip r:embed="rId2"/>
                <a:stretch>
                  <a:fillRect l="-1879" t="-8791" r="-1044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3534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Modi method(u-v method)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xmlns="" id="{12C3F38F-06D5-4ADF-BB89-374D8DB47B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n-US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For Allocated cell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𝒄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𝒊𝒋</m:t>
                        </m:r>
                      </m:sub>
                    </m:sSub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b="1" i="1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𝒖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𝒊</m:t>
                        </m:r>
                      </m:sub>
                    </m:sSub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𝒋</m:t>
                        </m:r>
                      </m:sub>
                    </m:sSub>
                  </m:oMath>
                </a14:m>
                <a:endParaRPr lang="en-US" b="1" dirty="0"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just">
                  <a:buNone/>
                </a:pPr>
                <a:r>
                  <a:rPr lang="en-US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Where you find the highest allocated row or column put that one equal to zero</a:t>
                </a:r>
              </a:p>
              <a:p>
                <a:pPr marL="0" indent="0">
                  <a:buNone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12C3F38F-06D5-4ADF-BB89-374D8DB47B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  <a:blipFill>
                <a:blip r:embed="rId2"/>
                <a:stretch>
                  <a:fillRect l="-1231" r="-13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Group 123">
                <a:extLst>
                  <a:ext uri="{FF2B5EF4-FFF2-40B4-BE49-F238E27FC236}">
                    <a16:creationId xmlns:a16="http://schemas.microsoft.com/office/drawing/2014/main" xmlns="" id="{A77FCF79-8185-4009-9412-CD23BD23BBD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8571716"/>
                  </p:ext>
                </p:extLst>
              </p:nvPr>
            </p:nvGraphicFramePr>
            <p:xfrm>
              <a:off x="1489160" y="3909474"/>
              <a:ext cx="6163297" cy="2670976"/>
            </p:xfrm>
            <a:graphic>
              <a:graphicData uri="http://schemas.openxmlformats.org/drawingml/2006/table">
                <a:tbl>
                  <a:tblPr/>
                  <a:tblGrid>
                    <a:gridCol w="1737009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1019792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744272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  <a:gridCol w="372347">
                      <a:extLst>
                        <a:ext uri="{9D8B030D-6E8A-4147-A177-3AD203B41FA5}">
                          <a16:colId xmlns:a16="http://schemas.microsoft.com/office/drawing/2014/main" xmlns="" val="20004"/>
                        </a:ext>
                      </a:extLst>
                    </a:gridCol>
                    <a:gridCol w="415204">
                      <a:extLst>
                        <a:ext uri="{9D8B030D-6E8A-4147-A177-3AD203B41FA5}">
                          <a16:colId xmlns:a16="http://schemas.microsoft.com/office/drawing/2014/main" xmlns="" val="20005"/>
                        </a:ext>
                      </a:extLst>
                    </a:gridCol>
                    <a:gridCol w="500915">
                      <a:extLst>
                        <a:ext uri="{9D8B030D-6E8A-4147-A177-3AD203B41FA5}">
                          <a16:colId xmlns:a16="http://schemas.microsoft.com/office/drawing/2014/main" xmlns="" val="20006"/>
                        </a:ext>
                      </a:extLst>
                    </a:gridCol>
                    <a:gridCol w="1165478">
                      <a:extLst>
                        <a:ext uri="{9D8B030D-6E8A-4147-A177-3AD203B41FA5}">
                          <a16:colId xmlns:a16="http://schemas.microsoft.com/office/drawing/2014/main" xmlns="" val="20007"/>
                        </a:ext>
                      </a:extLst>
                    </a:gridCol>
                  </a:tblGrid>
                  <a:tr h="555364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TO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FROM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Peshawar 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Sialkot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 Multan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FACTORY CAPACITY/Supply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312663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 </a:t>
                          </a:r>
                          <a:b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</a:b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Karachi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11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b="1" i="1" smtClean="0">
                                      <a:effectLst/>
                                      <a:latin typeface="Cambria Math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 smtClean="0">
                                      <a:effectLst/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𝒖</m:t>
                                  </m:r>
                                </m:e>
                                <m:sub>
                                  <m:r>
                                    <a:rPr lang="en-US" sz="2400" b="1" i="1" smtClean="0">
                                      <a:effectLst/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𝟏</m:t>
                                  </m:r>
                                </m:sub>
                              </m:sSub>
                            </m:oMath>
                          </a14:m>
                          <a:r>
                            <a:rPr kumimoji="0" 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=-7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312663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312663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Lahore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18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18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b="1" i="1" smtClean="0">
                                      <a:effectLst/>
                                      <a:latin typeface="Cambria Math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 smtClean="0">
                                      <a:effectLst/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𝒖</m:t>
                                  </m:r>
                                </m:e>
                                <m:sub>
                                  <m:r>
                                    <a:rPr lang="en-US" sz="2400" b="1" i="1" smtClean="0">
                                      <a:effectLst/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𝟐</m:t>
                                  </m:r>
                                </m:sub>
                              </m:sSub>
                            </m:oMath>
                          </a14:m>
                          <a:r>
                            <a:rPr kumimoji="0" 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=0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  <a:tr h="312663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6"/>
                      </a:ext>
                    </a:extLst>
                  </a:tr>
                  <a:tr h="62532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Requirement/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Demand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000" b="1" i="1" smtClean="0">
                                      <a:effectLst/>
                                      <a:latin typeface="Cambria Math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 smtClean="0">
                                      <a:effectLst/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US" sz="2000" b="1" i="1" smtClean="0">
                                      <a:effectLst/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sz="2000" b="1" i="1" smtClean="0">
                                  <a:effectLst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kumimoji="0" lang="en-US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18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000" b="1" i="1" smtClean="0">
                                      <a:effectLst/>
                                      <a:latin typeface="Cambria Math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 smtClean="0">
                                      <a:effectLst/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US" sz="2000" b="1" i="1" smtClean="0">
                                      <a:effectLst/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sz="2000" b="1" i="1" smtClean="0">
                                  <a:effectLst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kumimoji="0" lang="en-US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18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000" b="1" i="1" smtClean="0">
                                      <a:effectLst/>
                                      <a:latin typeface="Cambria Math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 smtClean="0">
                                      <a:effectLst/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US" sz="2000" b="1" i="1" smtClean="0">
                                      <a:effectLst/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𝟑</m:t>
                                  </m:r>
                                </m:sub>
                              </m:sSub>
                            </m:oMath>
                          </a14:m>
                          <a:r>
                            <a:rPr kumimoji="0" lang="en-US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=12</a:t>
                          </a:r>
                          <a:endParaRPr kumimoji="0" lang="en-US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Group 123">
                <a:extLst>
                  <a:ext uri="{FF2B5EF4-FFF2-40B4-BE49-F238E27FC236}">
                    <a16:creationId xmlns:a16="http://schemas.microsoft.com/office/drawing/2014/main" id="{A77FCF79-8185-4009-9412-CD23BD23BBD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8571716"/>
                  </p:ext>
                </p:extLst>
              </p:nvPr>
            </p:nvGraphicFramePr>
            <p:xfrm>
              <a:off x="1489160" y="3909474"/>
              <a:ext cx="6163297" cy="2670976"/>
            </p:xfrm>
            <a:graphic>
              <a:graphicData uri="http://schemas.openxmlformats.org/drawingml/2006/table">
                <a:tbl>
                  <a:tblPr/>
                  <a:tblGrid>
                    <a:gridCol w="173700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1979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4427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7234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415204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500915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1165478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66749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TO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FROM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Peshawar 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Sialkot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 Multan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FACTORY CAPACITY/Supply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2663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 </a:t>
                          </a:r>
                          <a:b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</a:b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Karachi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11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431414" t="-111765" r="-1571" b="-2254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12663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12663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Lahore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18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18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431414" t="-209709" r="-1571" b="-12330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12663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75283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Requirement/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Demand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142574" t="-257258" r="-261386" b="-241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67760" t="-257258" r="-188525" b="-241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445695" t="-257258" r="-128477" b="-241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22494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Modi method(u-v method)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xmlns="" id="{12C3F38F-06D5-4ADF-BB89-374D8DB47B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n-US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𝒄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𝒊𝒋</m:t>
                        </m:r>
                      </m:sub>
                    </m:sSub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b="1" i="1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𝒖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𝒊</m:t>
                        </m:r>
                      </m:sub>
                    </m:sSub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𝒋</m:t>
                        </m:r>
                      </m:sub>
                    </m:sSub>
                  </m:oMath>
                </a14:m>
                <a:endParaRPr lang="en-US" b="1" dirty="0"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𝒄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𝟐𝟏</m:t>
                        </m:r>
                      </m:sub>
                    </m:sSub>
                    <m:r>
                      <a:rPr lang="en-US" b="1" i="1"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b="1" i="1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𝒖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b>
                    </m:sSub>
                    <m:r>
                      <a:rPr lang="en-US" b="1" i="1"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sub>
                    </m:sSub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⟹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𝟏𝟖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𝟎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  <a:ea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⟹</m:t>
                    </m:r>
                    <m:sSub>
                      <m:sSubPr>
                        <m:ctrlPr>
                          <a:rPr lang="en-US" b="1" i="1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sub>
                    </m:sSub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𝟏𝟖</m:t>
                    </m:r>
                  </m:oMath>
                </a14:m>
                <a:endParaRPr lang="en-US" b="1" dirty="0"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𝒄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b>
                    </m:sSub>
                    <m:r>
                      <a:rPr lang="en-US" b="1" i="1"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b="1" i="1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𝒖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b>
                    </m:sSub>
                    <m:r>
                      <a:rPr lang="en-US" b="1" i="1"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b>
                    </m:sSub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⟹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𝟏𝟖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𝟎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  <a:ea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⟹</m:t>
                    </m:r>
                    <m:sSub>
                      <m:sSubPr>
                        <m:ctrlPr>
                          <a:rPr lang="en-US" b="1" i="1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b>
                    </m:sSub>
                    <m:r>
                      <a:rPr lang="en-US" b="1" i="1"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𝟏𝟖</m:t>
                    </m:r>
                  </m:oMath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𝒄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𝟑</m:t>
                        </m:r>
                      </m:sub>
                    </m:sSub>
                    <m:r>
                      <a:rPr lang="en-US" b="1" i="1"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b="1" i="1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𝒖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b>
                    </m:sSub>
                    <m:r>
                      <a:rPr lang="en-US" b="1" i="1"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𝟑</m:t>
                        </m:r>
                      </m:sub>
                    </m:sSub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⟹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𝟏𝟐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𝟎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  <a:ea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⟹</m:t>
                    </m:r>
                    <m:sSub>
                      <m:sSubPr>
                        <m:ctrlPr>
                          <a:rPr lang="en-US" b="1" i="1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𝟑</m:t>
                        </m:r>
                      </m:sub>
                    </m:sSub>
                    <m:r>
                      <a:rPr lang="en-US" b="1" i="1"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𝟏𝟐</m:t>
                    </m:r>
                  </m:oMath>
                </a14:m>
                <a:endParaRPr lang="en-US" b="1" dirty="0">
                  <a:effectLst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𝒄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𝟏𝟐</m:t>
                        </m:r>
                      </m:sub>
                    </m:sSub>
                    <m:r>
                      <a:rPr lang="en-US" b="1" i="1"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b="1" i="1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𝒖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sub>
                    </m:sSub>
                    <m:r>
                      <a:rPr lang="en-US" b="1" i="1"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b>
                    </m:sSub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⟹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𝟏𝟏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b="1" i="1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𝒖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sub>
                    </m:sSub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𝟏𝟖</m:t>
                    </m:r>
                  </m:oMath>
                </a14:m>
                <a:r>
                  <a:rPr lang="en-US" b="1" dirty="0">
                    <a:effectLst/>
                    <a:ea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⟹</m:t>
                    </m:r>
                    <m:sSub>
                      <m:sSubPr>
                        <m:ctrlPr>
                          <a:rPr lang="en-US" b="1" i="1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𝒖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sub>
                    </m:sSub>
                    <m:r>
                      <a:rPr lang="en-US" b="1" i="1"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𝟕</m:t>
                    </m:r>
                  </m:oMath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12C3F38F-06D5-4ADF-BB89-374D8DB47B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  <a:blipFill>
                <a:blip r:embed="rId2"/>
                <a:stretch>
                  <a:fillRect l="-1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2675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Modi method(u-v method)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xmlns="" id="{12C3F38F-06D5-4ADF-BB89-374D8DB47B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n-US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For Non-allocated cell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𝒄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𝒊𝒋</m:t>
                        </m:r>
                      </m:sub>
                    </m:sSub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−(</m:t>
                    </m:r>
                    <m:sSub>
                      <m:sSubPr>
                        <m:ctrlPr>
                          <a:rPr lang="en-US" b="1" i="1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𝒖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𝒊</m:t>
                        </m:r>
                      </m:sub>
                    </m:sSub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𝒋</m:t>
                        </m:r>
                      </m:sub>
                    </m:sSub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≥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𝟎</m:t>
                    </m:r>
                  </m:oMath>
                </a14:m>
                <a:endParaRPr lang="en-US" b="1" dirty="0"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12C3F38F-06D5-4ADF-BB89-374D8DB47B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  <a:blipFill>
                <a:blip r:embed="rId2"/>
                <a:stretch>
                  <a:fillRect l="-1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Group 123">
                <a:extLst>
                  <a:ext uri="{FF2B5EF4-FFF2-40B4-BE49-F238E27FC236}">
                    <a16:creationId xmlns:a16="http://schemas.microsoft.com/office/drawing/2014/main" xmlns="" id="{9F72C03C-0D58-4AB8-BC26-9C2156EB48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33879134"/>
                  </p:ext>
                </p:extLst>
              </p:nvPr>
            </p:nvGraphicFramePr>
            <p:xfrm>
              <a:off x="1489160" y="3178883"/>
              <a:ext cx="6163297" cy="2696619"/>
            </p:xfrm>
            <a:graphic>
              <a:graphicData uri="http://schemas.openxmlformats.org/drawingml/2006/table">
                <a:tbl>
                  <a:tblPr/>
                  <a:tblGrid>
                    <a:gridCol w="1676071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689317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492369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851596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  <a:gridCol w="372347">
                      <a:extLst>
                        <a:ext uri="{9D8B030D-6E8A-4147-A177-3AD203B41FA5}">
                          <a16:colId xmlns:a16="http://schemas.microsoft.com/office/drawing/2014/main" xmlns="" val="20004"/>
                        </a:ext>
                      </a:extLst>
                    </a:gridCol>
                    <a:gridCol w="415204">
                      <a:extLst>
                        <a:ext uri="{9D8B030D-6E8A-4147-A177-3AD203B41FA5}">
                          <a16:colId xmlns:a16="http://schemas.microsoft.com/office/drawing/2014/main" xmlns="" val="20005"/>
                        </a:ext>
                      </a:extLst>
                    </a:gridCol>
                    <a:gridCol w="500915">
                      <a:extLst>
                        <a:ext uri="{9D8B030D-6E8A-4147-A177-3AD203B41FA5}">
                          <a16:colId xmlns:a16="http://schemas.microsoft.com/office/drawing/2014/main" xmlns="" val="20006"/>
                        </a:ext>
                      </a:extLst>
                    </a:gridCol>
                    <a:gridCol w="1165478">
                      <a:extLst>
                        <a:ext uri="{9D8B030D-6E8A-4147-A177-3AD203B41FA5}">
                          <a16:colId xmlns:a16="http://schemas.microsoft.com/office/drawing/2014/main" xmlns="" val="20007"/>
                        </a:ext>
                      </a:extLst>
                    </a:gridCol>
                  </a:tblGrid>
                  <a:tr h="328521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TO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FROM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Peshawar 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Sialkot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 Multan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FACTORY CAPACITY/Supply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312663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 </a:t>
                          </a:r>
                          <a:b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</a:b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Karachi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Arial" charset="0"/>
                              <a:ea typeface="ＭＳ Ｐゴシック" pitchFamily="34" charset="-128"/>
                            </a:rPr>
                            <a:t>13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2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11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accent2">
                                <a:lumMod val="75000"/>
                              </a:schemeClr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𝒖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2000" b="1" i="1" smtClean="0">
                                    <a:effectLst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=−</m:t>
                                </m:r>
                                <m:r>
                                  <a:rPr lang="en-US" sz="2000" b="1" i="1" smtClean="0">
                                    <a:effectLst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kumimoji="0" lang="en-US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312663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312663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Lahore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32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36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36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𝒖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2400" b="1" i="1" smtClean="0">
                                    <a:effectLst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=</m:t>
                                </m:r>
                                <m:r>
                                  <a:rPr lang="en-US" sz="2400" b="1" i="1" smtClean="0">
                                    <a:effectLst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kumimoji="0" lang="en-US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  <a:tr h="312663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6"/>
                      </a:ext>
                    </a:extLst>
                  </a:tr>
                  <a:tr h="62532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Requirement/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Demand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b="1" i="1" smtClean="0">
                                      <a:effectLst/>
                                      <a:latin typeface="Cambria Math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 smtClean="0">
                                      <a:effectLst/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US" sz="2400" b="1" i="1" smtClean="0">
                                      <a:effectLst/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sz="2400" b="1" i="1" smtClean="0">
                                  <a:effectLst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kumimoji="0" 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18</a:t>
                          </a:r>
                          <a:endParaRPr kumimoji="0" lang="en-US" sz="16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2000" b="1" i="1" smtClean="0">
                                    <a:effectLst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=</m:t>
                                </m:r>
                                <m:r>
                                  <a:rPr lang="en-US" sz="2000" b="1" i="1" smtClean="0">
                                    <a:effectLst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𝟏𝟖</m:t>
                                </m:r>
                              </m:oMath>
                            </m:oMathPara>
                          </a14:m>
                          <a:endParaRPr kumimoji="0" lang="en-US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000" b="1" i="1" smtClean="0">
                                      <a:effectLst/>
                                      <a:latin typeface="Cambria Math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 smtClean="0">
                                      <a:effectLst/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US" sz="2000" b="1" i="1" smtClean="0">
                                      <a:effectLst/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𝟑</m:t>
                                  </m:r>
                                </m:sub>
                              </m:sSub>
                            </m:oMath>
                          </a14:m>
                          <a:r>
                            <a:rPr kumimoji="0" lang="en-US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=12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Group 123">
                <a:extLst>
                  <a:ext uri="{FF2B5EF4-FFF2-40B4-BE49-F238E27FC236}">
                    <a16:creationId xmlns:a16="http://schemas.microsoft.com/office/drawing/2014/main" id="{9F72C03C-0D58-4AB8-BC26-9C2156EB48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33879134"/>
                  </p:ext>
                </p:extLst>
              </p:nvPr>
            </p:nvGraphicFramePr>
            <p:xfrm>
              <a:off x="1489160" y="3178883"/>
              <a:ext cx="6163297" cy="2696619"/>
            </p:xfrm>
            <a:graphic>
              <a:graphicData uri="http://schemas.openxmlformats.org/drawingml/2006/table">
                <a:tbl>
                  <a:tblPr/>
                  <a:tblGrid>
                    <a:gridCol w="167607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8931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9236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85159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7234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415204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500915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1165478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66749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TO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FROM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Peshawar 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Sialkot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 Multan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FACTORY CAPACITY/Supply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2663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 </a:t>
                          </a:r>
                          <a:b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</a:b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Karachi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Arial" charset="0"/>
                              <a:ea typeface="ＭＳ Ｐゴシック" pitchFamily="34" charset="-128"/>
                            </a:rPr>
                            <a:t>13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2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11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accent2">
                                <a:lumMod val="75000"/>
                              </a:schemeClr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431414" t="-111765" r="-1571" b="-2294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12663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38306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Lahore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32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36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36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431414" t="-201869" r="-1571" b="-118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12663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75283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Requirement/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Demand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143299" t="-260484" r="-281443" b="-241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34826" t="-260484" r="-171642" b="-241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445695" t="-260484" r="-128477" b="-241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48857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Modi method(u-v method)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xmlns="" id="{12C3F38F-06D5-4ADF-BB89-374D8DB47B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n-US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For Non-allocated cell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𝒄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𝒊𝒋</m:t>
                        </m:r>
                      </m:sub>
                    </m:sSub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−(</m:t>
                    </m:r>
                    <m:sSub>
                      <m:sSubPr>
                        <m:ctrlPr>
                          <a:rPr lang="en-US" b="1" i="1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𝒖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𝒊</m:t>
                        </m:r>
                      </m:sub>
                    </m:sSub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𝒋</m:t>
                        </m:r>
                      </m:sub>
                    </m:sSub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≥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𝟎</m:t>
                    </m:r>
                  </m:oMath>
                </a14:m>
                <a:endParaRPr lang="en-US" b="1" dirty="0"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b="1" i="1" dirty="0">
                    <a:effectLst/>
                    <a:latin typeface="Cambria Math" panose="02040503050406030204" pitchFamily="18" charset="0"/>
                    <a:cs typeface="Arial" panose="020B0604020202020204" pitchFamily="34" charset="0"/>
                  </a:rPr>
                  <a:t>Now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𝟏𝟑</m:t>
                      </m:r>
                      <m:r>
                        <a:rPr lang="en-US" b="1" i="1"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𝟏𝟏</m:t>
                      </m:r>
                      <m:r>
                        <a:rPr lang="en-US" b="1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≥</m:t>
                      </m:r>
                      <m:r>
                        <a:rPr lang="en-US" b="1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</m:oMath>
                  </m:oMathPara>
                </a14:m>
                <a:endParaRPr lang="en-US" b="1" dirty="0"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𝟒𝟎</m:t>
                      </m:r>
                      <m:r>
                        <a:rPr lang="en-US" b="1" i="1"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𝟓</m:t>
                      </m:r>
                      <m:r>
                        <a:rPr lang="en-US" b="1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≥</m:t>
                      </m:r>
                      <m:r>
                        <a:rPr lang="en-US" b="1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</m:oMath>
                  </m:oMathPara>
                </a14:m>
                <a:endParaRPr lang="en-US" b="1" dirty="0"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effectLst/>
                    <a:cs typeface="Arial" panose="020B0604020202020204" pitchFamily="34" charset="0"/>
                  </a:rPr>
                  <a:t>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𝒄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𝒊𝒋</m:t>
                        </m:r>
                      </m:sub>
                    </m:sSub>
                    <m:r>
                      <a:rPr lang="en-US" b="1" i="1"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−(</m:t>
                    </m:r>
                    <m:sSub>
                      <m:sSubPr>
                        <m:ctrlPr>
                          <a:rPr lang="en-US" b="1" i="1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𝒖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𝒊</m:t>
                        </m:r>
                      </m:sub>
                    </m:sSub>
                    <m:r>
                      <a:rPr lang="en-US" b="1" i="1"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𝒋</m:t>
                        </m:r>
                      </m:sub>
                    </m:sSub>
                    <m:r>
                      <a:rPr lang="en-US" b="1" i="1"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≥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𝟎</m:t>
                    </m:r>
                  </m:oMath>
                </a14:m>
                <a:endParaRPr lang="en-US" b="1" dirty="0"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Therefore the cost is 118 which is optimal solution.</a:t>
                </a:r>
              </a:p>
              <a:p>
                <a:pPr marL="0" indent="0">
                  <a:buNone/>
                </a:pPr>
                <a:endParaRPr lang="en-US" b="1" dirty="0"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b="1" dirty="0"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12C3F38F-06D5-4ADF-BB89-374D8DB47B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  <a:blipFill>
                <a:blip r:embed="rId2"/>
                <a:stretch>
                  <a:fillRect l="-1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6969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072282" cy="6302187"/>
          </a:xfrm>
        </p:spPr>
      </p:pic>
    </p:spTree>
    <p:extLst>
      <p:ext uri="{BB962C8B-B14F-4D97-AF65-F5344CB8AC3E}">
        <p14:creationId xmlns:p14="http://schemas.microsoft.com/office/powerpoint/2010/main" val="4098620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Modi method (u-v method)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Group 123">
                <a:extLst>
                  <a:ext uri="{FF2B5EF4-FFF2-40B4-BE49-F238E27FC236}">
                    <a16:creationId xmlns:a16="http://schemas.microsoft.com/office/drawing/2014/main" xmlns="" id="{A5DA3B2A-2E25-4DFF-9E0E-EBF2CA28C54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76507239"/>
                  </p:ext>
                </p:extLst>
              </p:nvPr>
            </p:nvGraphicFramePr>
            <p:xfrm>
              <a:off x="954223" y="2227642"/>
              <a:ext cx="7331337" cy="4011840"/>
            </p:xfrm>
            <a:graphic>
              <a:graphicData uri="http://schemas.openxmlformats.org/drawingml/2006/table">
                <a:tbl>
                  <a:tblPr/>
                  <a:tblGrid>
                    <a:gridCol w="1915586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50654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40786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458671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  <a:gridCol w="315052">
                      <a:extLst>
                        <a:ext uri="{9D8B030D-6E8A-4147-A177-3AD203B41FA5}">
                          <a16:colId xmlns:a16="http://schemas.microsoft.com/office/drawing/2014/main" xmlns="" val="20004"/>
                        </a:ext>
                      </a:extLst>
                    </a:gridCol>
                    <a:gridCol w="399708">
                      <a:extLst>
                        <a:ext uri="{9D8B030D-6E8A-4147-A177-3AD203B41FA5}">
                          <a16:colId xmlns:a16="http://schemas.microsoft.com/office/drawing/2014/main" xmlns="" val="1342239577"/>
                        </a:ext>
                      </a:extLst>
                    </a:gridCol>
                    <a:gridCol w="247406">
                      <a:extLst>
                        <a:ext uri="{9D8B030D-6E8A-4147-A177-3AD203B41FA5}">
                          <a16:colId xmlns:a16="http://schemas.microsoft.com/office/drawing/2014/main" xmlns="" val="1127673306"/>
                        </a:ext>
                      </a:extLst>
                    </a:gridCol>
                    <a:gridCol w="451924">
                      <a:extLst>
                        <a:ext uri="{9D8B030D-6E8A-4147-A177-3AD203B41FA5}">
                          <a16:colId xmlns:a16="http://schemas.microsoft.com/office/drawing/2014/main" xmlns="" val="20005"/>
                        </a:ext>
                      </a:extLst>
                    </a:gridCol>
                    <a:gridCol w="392138">
                      <a:extLst>
                        <a:ext uri="{9D8B030D-6E8A-4147-A177-3AD203B41FA5}">
                          <a16:colId xmlns:a16="http://schemas.microsoft.com/office/drawing/2014/main" xmlns="" val="20006"/>
                        </a:ext>
                      </a:extLst>
                    </a:gridCol>
                    <a:gridCol w="2236452">
                      <a:extLst>
                        <a:ext uri="{9D8B030D-6E8A-4147-A177-3AD203B41FA5}">
                          <a16:colId xmlns:a16="http://schemas.microsoft.com/office/drawing/2014/main" xmlns="" val="20007"/>
                        </a:ext>
                      </a:extLst>
                    </a:gridCol>
                  </a:tblGrid>
                  <a:tr h="1302705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TO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FROM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ea typeface="ＭＳ Ｐゴシック" pitchFamily="34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Supply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327533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/>
                          </a:r>
                          <a:b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</a:b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Arial" charset="0"/>
                              <a:ea typeface="ＭＳ Ｐゴシック" pitchFamily="34" charset="-128"/>
                            </a:rPr>
                            <a:t>1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327533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327533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  <a:tr h="327533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6"/>
                      </a:ext>
                    </a:extLst>
                  </a:tr>
                  <a:tr h="327533"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ea typeface="ＭＳ Ｐゴシック" pitchFamily="34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9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383272442"/>
                      </a:ext>
                    </a:extLst>
                  </a:tr>
                  <a:tr h="327533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40741003"/>
                      </a:ext>
                    </a:extLst>
                  </a:tr>
                  <a:tr h="74393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Demand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Group 123">
                <a:extLst>
                  <a:ext uri="{FF2B5EF4-FFF2-40B4-BE49-F238E27FC236}">
                    <a16:creationId xmlns:a16="http://schemas.microsoft.com/office/drawing/2014/main" id="{A5DA3B2A-2E25-4DFF-9E0E-EBF2CA28C54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76507239"/>
                  </p:ext>
                </p:extLst>
              </p:nvPr>
            </p:nvGraphicFramePr>
            <p:xfrm>
              <a:off x="954223" y="2227642"/>
              <a:ext cx="7331337" cy="4011840"/>
            </p:xfrm>
            <a:graphic>
              <a:graphicData uri="http://schemas.openxmlformats.org/drawingml/2006/table">
                <a:tbl>
                  <a:tblPr/>
                  <a:tblGrid>
                    <a:gridCol w="191558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0654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0786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5867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1505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99708">
                      <a:extLst>
                        <a:ext uri="{9D8B030D-6E8A-4147-A177-3AD203B41FA5}">
                          <a16:colId xmlns:a16="http://schemas.microsoft.com/office/drawing/2014/main" val="1342239577"/>
                        </a:ext>
                      </a:extLst>
                    </a:gridCol>
                    <a:gridCol w="247406">
                      <a:extLst>
                        <a:ext uri="{9D8B030D-6E8A-4147-A177-3AD203B41FA5}">
                          <a16:colId xmlns:a16="http://schemas.microsoft.com/office/drawing/2014/main" val="1127673306"/>
                        </a:ext>
                      </a:extLst>
                    </a:gridCol>
                    <a:gridCol w="451924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392138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2236452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1302705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TO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FROM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211333" t="-935" r="-494667" b="-20934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367717" t="-935" r="-484252" b="-20934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560377" t="-935" r="-480189" b="-20934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503597" t="-935" r="-266187" b="-20934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Supply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27533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635" t="-200000" r="-283175" b="-314815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Arial" charset="0"/>
                              <a:ea typeface="ＭＳ Ｐゴシック" pitchFamily="34" charset="-128"/>
                            </a:rPr>
                            <a:t>1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27533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27533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635" t="-302804" r="-283175" b="-217757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27533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27533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635" t="-399074" r="-283175" b="-115741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9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83272442"/>
                      </a:ext>
                    </a:extLst>
                  </a:tr>
                  <a:tr h="327533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741003"/>
                      </a:ext>
                    </a:extLst>
                  </a:tr>
                  <a:tr h="74393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Demand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69149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Modi method (u-v method)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Group 123">
                <a:extLst>
                  <a:ext uri="{FF2B5EF4-FFF2-40B4-BE49-F238E27FC236}">
                    <a16:creationId xmlns:a16="http://schemas.microsoft.com/office/drawing/2014/main" xmlns="" id="{A5DA3B2A-2E25-4DFF-9E0E-EBF2CA28C54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78391439"/>
                  </p:ext>
                </p:extLst>
              </p:nvPr>
            </p:nvGraphicFramePr>
            <p:xfrm>
              <a:off x="856060" y="2097088"/>
              <a:ext cx="5094885" cy="3267903"/>
            </p:xfrm>
            <a:graphic>
              <a:graphicData uri="http://schemas.openxmlformats.org/drawingml/2006/table">
                <a:tbl>
                  <a:tblPr/>
                  <a:tblGrid>
                    <a:gridCol w="1915586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50654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40786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458671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  <a:gridCol w="413526">
                      <a:extLst>
                        <a:ext uri="{9D8B030D-6E8A-4147-A177-3AD203B41FA5}">
                          <a16:colId xmlns:a16="http://schemas.microsoft.com/office/drawing/2014/main" xmlns="" val="20004"/>
                        </a:ext>
                      </a:extLst>
                    </a:gridCol>
                    <a:gridCol w="301234">
                      <a:extLst>
                        <a:ext uri="{9D8B030D-6E8A-4147-A177-3AD203B41FA5}">
                          <a16:colId xmlns:a16="http://schemas.microsoft.com/office/drawing/2014/main" xmlns="" val="1342239577"/>
                        </a:ext>
                      </a:extLst>
                    </a:gridCol>
                    <a:gridCol w="402151">
                      <a:extLst>
                        <a:ext uri="{9D8B030D-6E8A-4147-A177-3AD203B41FA5}">
                          <a16:colId xmlns:a16="http://schemas.microsoft.com/office/drawing/2014/main" xmlns="" val="1127673306"/>
                        </a:ext>
                      </a:extLst>
                    </a:gridCol>
                    <a:gridCol w="297179">
                      <a:extLst>
                        <a:ext uri="{9D8B030D-6E8A-4147-A177-3AD203B41FA5}">
                          <a16:colId xmlns:a16="http://schemas.microsoft.com/office/drawing/2014/main" xmlns="" val="20005"/>
                        </a:ext>
                      </a:extLst>
                    </a:gridCol>
                    <a:gridCol w="392138">
                      <a:extLst>
                        <a:ext uri="{9D8B030D-6E8A-4147-A177-3AD203B41FA5}">
                          <a16:colId xmlns:a16="http://schemas.microsoft.com/office/drawing/2014/main" xmlns="" val="20006"/>
                        </a:ext>
                      </a:extLst>
                    </a:gridCol>
                  </a:tblGrid>
                  <a:tr h="1302705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TO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FROM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ea typeface="ＭＳ Ｐゴシック" pitchFamily="34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327533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/>
                          </a:r>
                          <a:b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</a:b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Arial" charset="0"/>
                              <a:ea typeface="ＭＳ Ｐゴシック" pitchFamily="34" charset="-128"/>
                            </a:rPr>
                            <a:t>1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327533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327533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  <a:tr h="327533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6"/>
                      </a:ext>
                    </a:extLst>
                  </a:tr>
                  <a:tr h="327533"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ea typeface="ＭＳ Ｐゴシック" pitchFamily="34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20</a:t>
                          </a: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9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383272442"/>
                      </a:ext>
                    </a:extLst>
                  </a:tr>
                  <a:tr h="327533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40741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Group 123">
                <a:extLst>
                  <a:ext uri="{FF2B5EF4-FFF2-40B4-BE49-F238E27FC236}">
                    <a16:creationId xmlns:a16="http://schemas.microsoft.com/office/drawing/2014/main" id="{A5DA3B2A-2E25-4DFF-9E0E-EBF2CA28C54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78391439"/>
                  </p:ext>
                </p:extLst>
              </p:nvPr>
            </p:nvGraphicFramePr>
            <p:xfrm>
              <a:off x="856060" y="2097088"/>
              <a:ext cx="5094885" cy="3267903"/>
            </p:xfrm>
            <a:graphic>
              <a:graphicData uri="http://schemas.openxmlformats.org/drawingml/2006/table">
                <a:tbl>
                  <a:tblPr/>
                  <a:tblGrid>
                    <a:gridCol w="191558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0654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0786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5867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413526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01234">
                      <a:extLst>
                        <a:ext uri="{9D8B030D-6E8A-4147-A177-3AD203B41FA5}">
                          <a16:colId xmlns:a16="http://schemas.microsoft.com/office/drawing/2014/main" val="1342239577"/>
                        </a:ext>
                      </a:extLst>
                    </a:gridCol>
                    <a:gridCol w="402151">
                      <a:extLst>
                        <a:ext uri="{9D8B030D-6E8A-4147-A177-3AD203B41FA5}">
                          <a16:colId xmlns:a16="http://schemas.microsoft.com/office/drawing/2014/main" val="1127673306"/>
                        </a:ext>
                      </a:extLst>
                    </a:gridCol>
                    <a:gridCol w="297179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392138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1302705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TO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FROM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212000" t="-935" r="-250000" b="-15233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327273" t="-935" r="-162238" b="-15233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526724" t="-935" r="-100000" b="-15233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643363" t="-935" r="-2655" b="-15233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27533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952" t="-200000" r="-166667" b="-201852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Arial" charset="0"/>
                              <a:ea typeface="ＭＳ Ｐゴシック" pitchFamily="34" charset="-128"/>
                            </a:rPr>
                            <a:t>1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27533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27533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952" t="-302804" r="-166667" b="-103738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27533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27533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952" t="-399074" r="-166667" b="-2778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20</a:t>
                          </a: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9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83272442"/>
                      </a:ext>
                    </a:extLst>
                  </a:tr>
                  <a:tr h="327533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74100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="" id="{7C5F213C-8C40-45A2-807C-D6F702FE641C}"/>
                  </a:ext>
                </a:extLst>
              </p:cNvPr>
              <p:cNvSpPr txBox="1"/>
              <p:nvPr/>
            </p:nvSpPr>
            <p:spPr>
              <a:xfrm>
                <a:off x="856060" y="5513949"/>
                <a:ext cx="8301760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Total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Cost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1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400" dirty="0"/>
                  <a:t>20+2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10+3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10+2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30+1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10+2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20</m:t>
                    </m:r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r>
                  <a:rPr lang="en-US" sz="2400" dirty="0"/>
                  <a:t>                 =20+20+30+60+10+40</a:t>
                </a:r>
              </a:p>
              <a:p>
                <a:r>
                  <a:rPr lang="en-US" sz="2400" dirty="0"/>
                  <a:t>                 =180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C5F213C-8C40-45A2-807C-D6F702FE64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060" y="5513949"/>
                <a:ext cx="8301760" cy="1107996"/>
              </a:xfrm>
              <a:prstGeom prst="rect">
                <a:avLst/>
              </a:prstGeom>
              <a:blipFill>
                <a:blip r:embed="rId3"/>
                <a:stretch>
                  <a:fillRect l="-1322" t="-8840" r="-441" b="-160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7168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Modi method(u-v method)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xmlns="" id="{12C3F38F-06D5-4ADF-BB89-374D8DB47B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n-US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For Allocated cell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𝒄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𝒊𝒋</m:t>
                        </m:r>
                      </m:sub>
                    </m:sSub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b="1" i="1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𝒖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𝒊</m:t>
                        </m:r>
                      </m:sub>
                    </m:sSub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𝒋</m:t>
                        </m:r>
                      </m:sub>
                    </m:sSub>
                  </m:oMath>
                </a14:m>
                <a:endParaRPr lang="en-US" b="1" dirty="0"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just">
                  <a:buNone/>
                </a:pPr>
                <a:r>
                  <a:rPr lang="en-US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Where you find the highest allocated row or column put that one equal to zero</a:t>
                </a:r>
              </a:p>
              <a:p>
                <a:pPr marL="0" indent="0">
                  <a:buNone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12C3F38F-06D5-4ADF-BB89-374D8DB47B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  <a:blipFill>
                <a:blip r:embed="rId2"/>
                <a:stretch>
                  <a:fillRect l="-1231" r="-13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Group 123">
                <a:extLst>
                  <a:ext uri="{FF2B5EF4-FFF2-40B4-BE49-F238E27FC236}">
                    <a16:creationId xmlns:a16="http://schemas.microsoft.com/office/drawing/2014/main" xmlns="" id="{7B933E42-039A-4DEF-AB60-99FB9BAAB75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5290119"/>
                  </p:ext>
                </p:extLst>
              </p:nvPr>
            </p:nvGraphicFramePr>
            <p:xfrm>
              <a:off x="905140" y="3784208"/>
              <a:ext cx="7264090" cy="2986928"/>
            </p:xfrm>
            <a:graphic>
              <a:graphicData uri="http://schemas.openxmlformats.org/drawingml/2006/table">
                <a:tbl>
                  <a:tblPr/>
                  <a:tblGrid>
                    <a:gridCol w="1915586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439293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40786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458671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  <a:gridCol w="392271">
                      <a:extLst>
                        <a:ext uri="{9D8B030D-6E8A-4147-A177-3AD203B41FA5}">
                          <a16:colId xmlns:a16="http://schemas.microsoft.com/office/drawing/2014/main" xmlns="" val="20004"/>
                        </a:ext>
                      </a:extLst>
                    </a:gridCol>
                    <a:gridCol w="322489">
                      <a:extLst>
                        <a:ext uri="{9D8B030D-6E8A-4147-A177-3AD203B41FA5}">
                          <a16:colId xmlns:a16="http://schemas.microsoft.com/office/drawing/2014/main" xmlns="" val="1342239577"/>
                        </a:ext>
                      </a:extLst>
                    </a:gridCol>
                    <a:gridCol w="491050">
                      <a:extLst>
                        <a:ext uri="{9D8B030D-6E8A-4147-A177-3AD203B41FA5}">
                          <a16:colId xmlns:a16="http://schemas.microsoft.com/office/drawing/2014/main" xmlns="" val="1127673306"/>
                        </a:ext>
                      </a:extLst>
                    </a:gridCol>
                    <a:gridCol w="396282">
                      <a:extLst>
                        <a:ext uri="{9D8B030D-6E8A-4147-A177-3AD203B41FA5}">
                          <a16:colId xmlns:a16="http://schemas.microsoft.com/office/drawing/2014/main" xmlns="" val="20005"/>
                        </a:ext>
                      </a:extLst>
                    </a:gridCol>
                    <a:gridCol w="393896">
                      <a:extLst>
                        <a:ext uri="{9D8B030D-6E8A-4147-A177-3AD203B41FA5}">
                          <a16:colId xmlns:a16="http://schemas.microsoft.com/office/drawing/2014/main" xmlns="" val="20006"/>
                        </a:ext>
                      </a:extLst>
                    </a:gridCol>
                    <a:gridCol w="2046692">
                      <a:extLst>
                        <a:ext uri="{9D8B030D-6E8A-4147-A177-3AD203B41FA5}">
                          <a16:colId xmlns:a16="http://schemas.microsoft.com/office/drawing/2014/main" xmlns="" val="20007"/>
                        </a:ext>
                      </a:extLst>
                    </a:gridCol>
                  </a:tblGrid>
                  <a:tr h="681555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TO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FROM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ea typeface="ＭＳ Ｐゴシック" pitchFamily="34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303673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/>
                          </a:r>
                          <a:b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</a:b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Arial" charset="0"/>
                              <a:ea typeface="ＭＳ Ｐゴシック" pitchFamily="34" charset="-128"/>
                            </a:rPr>
                            <a:t>1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2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2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0" lang="en-US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+mn-ea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Arial" panose="020B0604020202020204" pitchFamily="34" charset="0"/>
                                    </a:rPr>
                                    <m:t>𝒖</m:t>
                                  </m:r>
                                </m:e>
                                <m:sub>
                                  <m:r>
                                    <a:rPr kumimoji="0" lang="en-US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Arial" panose="020B0604020202020204" pitchFamily="34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kumimoji="0" lang="en-US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Arial" panose="020B0604020202020204" pitchFamily="34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kumimoji="0" lang="en-US" sz="18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pitchFamily="34" charset="-128"/>
                              <a:cs typeface="+mn-cs"/>
                            </a:rPr>
                            <a:t>-1</a:t>
                          </a:r>
                          <a:endParaRPr kumimoji="0" lang="en-US" sz="12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pitchFamily="34" charset="-128"/>
                            <a:cs typeface="+mn-cs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303673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303673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2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𝒖</m:t>
                                    </m:r>
                                  </m:e>
                                  <m:sub>
                                    <m: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kumimoji="0" lang="en-US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=</m:t>
                                </m:r>
                                <m:r>
                                  <a:rPr kumimoji="0" lang="en-US" sz="18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kumimoji="0" lang="en-US" sz="12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pitchFamily="34" charset="-128"/>
                            <a:cs typeface="+mn-cs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  <a:tr h="303673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6"/>
                      </a:ext>
                    </a:extLst>
                  </a:tr>
                  <a:tr h="303673"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ea typeface="ＭＳ Ｐゴシック" pitchFamily="34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2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20</a:t>
                          </a: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2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2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𝒖</m:t>
                                    </m:r>
                                  </m:e>
                                  <m:sub>
                                    <m: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r>
                                  <a:rPr kumimoji="0" lang="en-US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=−</m:t>
                                </m:r>
                                <m:r>
                                  <a:rPr kumimoji="0" lang="en-US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US" sz="12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pitchFamily="34" charset="-128"/>
                            <a:cs typeface="+mn-cs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383272442"/>
                      </a:ext>
                    </a:extLst>
                  </a:tr>
                  <a:tr h="303673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40741003"/>
                      </a:ext>
                    </a:extLst>
                  </a:tr>
                  <a:tr h="45062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effectLst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=</m:t>
                                </m:r>
                                <m:r>
                                  <a:rPr lang="en-US" sz="1600" b="1" i="0" smtClean="0">
                                    <a:effectLst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kumimoji="0" lang="en-US" sz="11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effectLst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=</m:t>
                                </m:r>
                                <m:r>
                                  <a:rPr lang="en-US" sz="1600" b="1" i="1" smtClean="0">
                                    <a:effectLst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kumimoji="0" lang="en-US" sz="11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effectLst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=</m:t>
                                </m:r>
                                <m:r>
                                  <a:rPr lang="en-US" sz="1600" b="1" i="0" smtClean="0">
                                    <a:effectLst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kumimoji="0" lang="en-US" sz="11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600" b="1" i="1" smtClean="0">
                                      <a:effectLst/>
                                      <a:latin typeface="Cambria Math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1" i="1" smtClean="0">
                                      <a:effectLst/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US" sz="1600" b="1" i="1" smtClean="0">
                                      <a:effectLst/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𝟒</m:t>
                                  </m:r>
                                </m:sub>
                              </m:sSub>
                              <m:r>
                                <a:rPr lang="en-US" sz="1600" b="1" i="1" smtClean="0">
                                  <a:effectLst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kumimoji="0" lang="en-US" sz="16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</a:t>
                          </a:r>
                          <a:endParaRPr kumimoji="0" lang="en-US" sz="11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endParaRPr kumimoji="0" lang="en-US" sz="12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pitchFamily="34" charset="-128"/>
                            <a:cs typeface="+mn-cs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Group 123">
                <a:extLst>
                  <a:ext uri="{FF2B5EF4-FFF2-40B4-BE49-F238E27FC236}">
                    <a16:creationId xmlns:a16="http://schemas.microsoft.com/office/drawing/2014/main" id="{7B933E42-039A-4DEF-AB60-99FB9BAAB75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5290119"/>
                  </p:ext>
                </p:extLst>
              </p:nvPr>
            </p:nvGraphicFramePr>
            <p:xfrm>
              <a:off x="905140" y="3784208"/>
              <a:ext cx="7264090" cy="2954216"/>
            </p:xfrm>
            <a:graphic>
              <a:graphicData uri="http://schemas.openxmlformats.org/drawingml/2006/table">
                <a:tbl>
                  <a:tblPr/>
                  <a:tblGrid>
                    <a:gridCol w="191558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3929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0786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5867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92271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22489">
                      <a:extLst>
                        <a:ext uri="{9D8B030D-6E8A-4147-A177-3AD203B41FA5}">
                          <a16:colId xmlns:a16="http://schemas.microsoft.com/office/drawing/2014/main" val="1342239577"/>
                        </a:ext>
                      </a:extLst>
                    </a:gridCol>
                    <a:gridCol w="491050">
                      <a:extLst>
                        <a:ext uri="{9D8B030D-6E8A-4147-A177-3AD203B41FA5}">
                          <a16:colId xmlns:a16="http://schemas.microsoft.com/office/drawing/2014/main" val="1127673306"/>
                        </a:ext>
                      </a:extLst>
                    </a:gridCol>
                    <a:gridCol w="396282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393896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2046692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681555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TO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FROM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28777" t="-893" r="-533813" b="-33660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328777" t="-893" r="-433813" b="-33660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444776" t="-893" r="-350000" b="-33660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561538" t="-893" r="-260769" b="-33660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3673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952" t="-113000" r="-279683" b="-277000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Arial" charset="0"/>
                              <a:ea typeface="ＭＳ Ｐゴシック" pitchFamily="34" charset="-128"/>
                            </a:rPr>
                            <a:t>1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2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2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55952" t="-113000" r="-893" b="-277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3673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3673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952" t="-213000" r="-279683" b="-177000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2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55952" t="-213000" r="-893" b="-177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03673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03673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952" t="-313000" r="-279683" b="-77000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2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20</a:t>
                          </a: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2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2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55952" t="-313000" r="-893" b="-77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83272442"/>
                      </a:ext>
                    </a:extLst>
                  </a:tr>
                  <a:tr h="303673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741003"/>
                      </a:ext>
                    </a:extLst>
                  </a:tr>
                  <a:tr h="45062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28777" t="-558108" r="-533813" b="-405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328777" t="-558108" r="-433813" b="-405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444776" t="-558108" r="-350000" b="-405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561538" t="-558108" r="-260769" b="-405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endParaRPr kumimoji="0" lang="en-US" sz="12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pitchFamily="34" charset="-128"/>
                            <a:cs typeface="+mn-cs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2907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Modi method(u-v method)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xmlns="" id="{12C3F38F-06D5-4ADF-BB89-374D8DB47B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n-US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𝒄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𝒊𝒋</m:t>
                        </m:r>
                      </m:sub>
                    </m:sSub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b="1" i="1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𝒖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𝒊</m:t>
                        </m:r>
                      </m:sub>
                    </m:sSub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𝒋</m:t>
                        </m:r>
                      </m:sub>
                    </m:sSub>
                  </m:oMath>
                </a14:m>
                <a:endParaRPr lang="en-US" b="1" dirty="0"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𝒄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b>
                    </m:sSub>
                    <m:r>
                      <a:rPr lang="en-US" b="1" i="1"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b="1" i="1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𝒖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b>
                    </m:sSub>
                    <m:r>
                      <a:rPr lang="en-US" b="1" i="1"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b>
                    </m:sSub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⟹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𝟑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𝟎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  <a:ea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⟹</m:t>
                    </m:r>
                    <m:sSub>
                      <m:sSubPr>
                        <m:ctrlPr>
                          <a:rPr lang="en-US" b="1" i="1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b>
                    </m:sSub>
                    <m:r>
                      <a:rPr lang="en-US" b="1" i="1"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𝟑</m:t>
                    </m:r>
                  </m:oMath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𝒄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𝟑</m:t>
                        </m:r>
                      </m:sub>
                    </m:sSub>
                    <m:r>
                      <a:rPr lang="en-US" b="1" i="1"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b="1" i="1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𝒖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b>
                    </m:sSub>
                    <m:r>
                      <a:rPr lang="en-US" b="1" i="1"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𝟑</m:t>
                        </m:r>
                      </m:sub>
                    </m:sSub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⟹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𝟐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𝟎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  <a:ea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⟹</m:t>
                    </m:r>
                    <m:sSub>
                      <m:sSubPr>
                        <m:ctrlPr>
                          <a:rPr lang="en-US" b="1" i="1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𝟑</m:t>
                        </m:r>
                      </m:sub>
                    </m:sSub>
                    <m:r>
                      <a:rPr lang="en-US" b="1" i="1"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𝟐</m:t>
                    </m:r>
                  </m:oMath>
                </a14:m>
                <a:endParaRPr lang="en-US" b="1" dirty="0">
                  <a:effectLst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𝒄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𝟐𝟒</m:t>
                        </m:r>
                      </m:sub>
                    </m:sSub>
                    <m:r>
                      <a:rPr lang="en-US" b="1" i="1"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b="1" i="1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𝒖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b>
                    </m:sSub>
                    <m:r>
                      <a:rPr lang="en-US" b="1" i="1"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𝟒</m:t>
                        </m:r>
                      </m:sub>
                    </m:sSub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⟹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𝟏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𝟎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  <a:ea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⟹</m:t>
                    </m:r>
                    <m:sSub>
                      <m:sSubPr>
                        <m:ctrlPr>
                          <a:rPr lang="en-US" b="1" i="1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𝟒</m:t>
                        </m:r>
                      </m:sub>
                    </m:sSub>
                    <m:r>
                      <a:rPr lang="en-US" b="1" i="1"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</m:t>
                    </m:r>
                  </m:oMath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𝒄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𝟑</m:t>
                        </m:r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b>
                    </m:sSub>
                    <m:r>
                      <a:rPr lang="en-US" b="1" i="1"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b="1" i="1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𝒖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𝟑</m:t>
                        </m:r>
                      </m:sub>
                    </m:sSub>
                    <m:r>
                      <a:rPr lang="en-US" b="1" i="1"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b>
                    </m:sSub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⟹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𝟐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b="1" i="1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𝒖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𝟑</m:t>
                        </m:r>
                      </m:sub>
                    </m:sSub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𝟑</m:t>
                    </m:r>
                  </m:oMath>
                </a14:m>
                <a:r>
                  <a:rPr lang="en-US" b="1" dirty="0">
                    <a:effectLst/>
                    <a:ea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⟹</m:t>
                    </m:r>
                    <m:sSub>
                      <m:sSubPr>
                        <m:ctrlPr>
                          <a:rPr lang="en-US" b="1" i="1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𝒖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𝟑</m:t>
                        </m:r>
                      </m:sub>
                    </m:sSub>
                    <m:r>
                      <a:rPr lang="en-US" b="1" i="1"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</m:t>
                    </m:r>
                  </m:oMath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𝒄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b>
                    </m:sSub>
                    <m:r>
                      <a:rPr lang="en-US" b="1" i="1"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b="1" i="1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𝒖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sub>
                    </m:sSub>
                    <m:r>
                      <a:rPr lang="en-US" b="1" i="1"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b>
                    </m:sSub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⟹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𝟐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b="1" i="1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𝒖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sub>
                    </m:sSub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𝟑</m:t>
                    </m:r>
                  </m:oMath>
                </a14:m>
                <a:r>
                  <a:rPr lang="en-US" b="1" dirty="0">
                    <a:effectLst/>
                    <a:ea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⟹</m:t>
                    </m:r>
                    <m:sSub>
                      <m:sSubPr>
                        <m:ctrlPr>
                          <a:rPr lang="en-US" b="1" i="1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𝒖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sub>
                    </m:sSub>
                    <m:r>
                      <a:rPr lang="en-US" b="1" i="1"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=−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</m:t>
                    </m:r>
                  </m:oMath>
                </a14:m>
                <a:endParaRPr lang="en-US" b="1" i="1" dirty="0">
                  <a:effectLst/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𝒄</m:t>
                          </m:r>
                        </m:e>
                        <m:sub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  <m:r>
                        <a:rPr lang="en-US" b="1" i="1"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b="1" i="1"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𝒖</m:t>
                          </m:r>
                        </m:e>
                        <m:sub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  <m:r>
                        <a:rPr lang="en-US" b="1" i="1"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b="1" i="1"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  <m:r>
                        <a:rPr lang="en-US" b="1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⟹</m:t>
                      </m:r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𝟏</m:t>
                      </m:r>
                      <m:r>
                        <a:rPr lang="en-US" b="1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𝟏</m:t>
                      </m:r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b="1" i="1"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  <m:r>
                        <a:rPr lang="en-US" b="1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⟹</m:t>
                      </m:r>
                      <m:sSub>
                        <m:sSubPr>
                          <m:ctrlPr>
                            <a:rPr lang="en-US" b="1" i="1"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  <m:r>
                        <a:rPr lang="en-US" b="1" i="1"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</m:oMath>
                  </m:oMathPara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12C3F38F-06D5-4ADF-BB89-374D8DB47B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  <a:blipFill>
                <a:blip r:embed="rId2"/>
                <a:stretch>
                  <a:fillRect l="-1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3495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Modi method(u-v method)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xmlns="" id="{12C3F38F-06D5-4ADF-BB89-374D8DB47B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n-US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For Non-allocated cell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𝒄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𝒊𝒋</m:t>
                        </m:r>
                      </m:sub>
                    </m:sSub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−(</m:t>
                    </m:r>
                    <m:sSub>
                      <m:sSubPr>
                        <m:ctrlPr>
                          <a:rPr lang="en-US" b="1" i="1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𝒖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𝒊</m:t>
                        </m:r>
                      </m:sub>
                    </m:sSub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𝒋</m:t>
                        </m:r>
                      </m:sub>
                    </m:sSub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≥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𝟎</m:t>
                    </m:r>
                  </m:oMath>
                </a14:m>
                <a:endParaRPr lang="en-US" b="1" dirty="0"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12C3F38F-06D5-4ADF-BB89-374D8DB47B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  <a:blipFill>
                <a:blip r:embed="rId2"/>
                <a:stretch>
                  <a:fillRect l="-1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Group 123">
                <a:extLst>
                  <a:ext uri="{FF2B5EF4-FFF2-40B4-BE49-F238E27FC236}">
                    <a16:creationId xmlns:a16="http://schemas.microsoft.com/office/drawing/2014/main" xmlns="" id="{73186E6C-8250-401E-95FC-ECE69C71DFA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69470059"/>
                  </p:ext>
                </p:extLst>
              </p:nvPr>
            </p:nvGraphicFramePr>
            <p:xfrm>
              <a:off x="905140" y="3784208"/>
              <a:ext cx="7331337" cy="2986928"/>
            </p:xfrm>
            <a:graphic>
              <a:graphicData uri="http://schemas.openxmlformats.org/drawingml/2006/table">
                <a:tbl>
                  <a:tblPr/>
                  <a:tblGrid>
                    <a:gridCol w="1915586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50654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40786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458671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  <a:gridCol w="392271">
                      <a:extLst>
                        <a:ext uri="{9D8B030D-6E8A-4147-A177-3AD203B41FA5}">
                          <a16:colId xmlns:a16="http://schemas.microsoft.com/office/drawing/2014/main" xmlns="" val="20004"/>
                        </a:ext>
                      </a:extLst>
                    </a:gridCol>
                    <a:gridCol w="322489">
                      <a:extLst>
                        <a:ext uri="{9D8B030D-6E8A-4147-A177-3AD203B41FA5}">
                          <a16:colId xmlns:a16="http://schemas.microsoft.com/office/drawing/2014/main" xmlns="" val="1342239577"/>
                        </a:ext>
                      </a:extLst>
                    </a:gridCol>
                    <a:gridCol w="491050">
                      <a:extLst>
                        <a:ext uri="{9D8B030D-6E8A-4147-A177-3AD203B41FA5}">
                          <a16:colId xmlns:a16="http://schemas.microsoft.com/office/drawing/2014/main" xmlns="" val="1127673306"/>
                        </a:ext>
                      </a:extLst>
                    </a:gridCol>
                    <a:gridCol w="297808">
                      <a:extLst>
                        <a:ext uri="{9D8B030D-6E8A-4147-A177-3AD203B41FA5}">
                          <a16:colId xmlns:a16="http://schemas.microsoft.com/office/drawing/2014/main" xmlns="" val="20005"/>
                        </a:ext>
                      </a:extLst>
                    </a:gridCol>
                    <a:gridCol w="492370">
                      <a:extLst>
                        <a:ext uri="{9D8B030D-6E8A-4147-A177-3AD203B41FA5}">
                          <a16:colId xmlns:a16="http://schemas.microsoft.com/office/drawing/2014/main" xmlns="" val="20006"/>
                        </a:ext>
                      </a:extLst>
                    </a:gridCol>
                    <a:gridCol w="2046692">
                      <a:extLst>
                        <a:ext uri="{9D8B030D-6E8A-4147-A177-3AD203B41FA5}">
                          <a16:colId xmlns:a16="http://schemas.microsoft.com/office/drawing/2014/main" xmlns="" val="20007"/>
                        </a:ext>
                      </a:extLst>
                    </a:gridCol>
                  </a:tblGrid>
                  <a:tr h="681555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TO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FROM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ea typeface="ＭＳ Ｐゴシック" pitchFamily="34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303673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/>
                          </a:r>
                          <a:b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</a:b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2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0" lang="en-US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+mn-ea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Arial" panose="020B0604020202020204" pitchFamily="34" charset="0"/>
                                    </a:rPr>
                                    <m:t>𝒖</m:t>
                                  </m:r>
                                </m:e>
                                <m:sub>
                                  <m:r>
                                    <a:rPr kumimoji="0" lang="en-US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Arial" panose="020B0604020202020204" pitchFamily="34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kumimoji="0" lang="en-US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Arial" panose="020B0604020202020204" pitchFamily="34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kumimoji="0" lang="en-US" sz="18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pitchFamily="34" charset="-128"/>
                              <a:cs typeface="+mn-cs"/>
                            </a:rPr>
                            <a:t>-1</a:t>
                          </a:r>
                          <a:endParaRPr kumimoji="0" lang="en-US" sz="12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pitchFamily="34" charset="-128"/>
                            <a:cs typeface="+mn-cs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303673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303673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2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𝒖</m:t>
                                    </m:r>
                                  </m:e>
                                  <m:sub>
                                    <m: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kumimoji="0" lang="en-US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=</m:t>
                                </m:r>
                                <m:r>
                                  <a:rPr kumimoji="0" lang="en-US" sz="18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kumimoji="0" lang="en-US" sz="12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pitchFamily="34" charset="-128"/>
                            <a:cs typeface="+mn-cs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  <a:tr h="303673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6"/>
                      </a:ext>
                    </a:extLst>
                  </a:tr>
                  <a:tr h="303673"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ea typeface="ＭＳ Ｐゴシック" pitchFamily="34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</a:t>
                          </a: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2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</a:t>
                          </a: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9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0</a:t>
                          </a: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𝒖</m:t>
                                    </m:r>
                                  </m:e>
                                  <m:sub>
                                    <m: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r>
                                  <a:rPr kumimoji="0" lang="en-US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=−</m:t>
                                </m:r>
                                <m:r>
                                  <a:rPr kumimoji="0" lang="en-US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US" sz="12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pitchFamily="34" charset="-128"/>
                            <a:cs typeface="+mn-cs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383272442"/>
                      </a:ext>
                    </a:extLst>
                  </a:tr>
                  <a:tr h="303673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40741003"/>
                      </a:ext>
                    </a:extLst>
                  </a:tr>
                  <a:tr h="45062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effectLst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=</m:t>
                                </m:r>
                                <m:r>
                                  <a:rPr lang="en-US" sz="1600" b="1" i="0" smtClean="0">
                                    <a:effectLst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kumimoji="0" lang="en-US" sz="11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effectLst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=</m:t>
                                </m:r>
                                <m:r>
                                  <a:rPr lang="en-US" sz="1600" b="1" i="1" smtClean="0">
                                    <a:effectLst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kumimoji="0" lang="en-US" sz="11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effectLst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=</m:t>
                                </m:r>
                                <m:r>
                                  <a:rPr lang="en-US" sz="1600" b="1" i="0" smtClean="0">
                                    <a:effectLst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kumimoji="0" lang="en-US" sz="11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600" b="1" i="1" smtClean="0">
                                      <a:effectLst/>
                                      <a:latin typeface="Cambria Math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1" i="1" smtClean="0">
                                      <a:effectLst/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US" sz="1600" b="1" i="1" smtClean="0">
                                      <a:effectLst/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𝟒</m:t>
                                  </m:r>
                                </m:sub>
                              </m:sSub>
                              <m:r>
                                <a:rPr lang="en-US" sz="1600" b="1" i="1" smtClean="0">
                                  <a:effectLst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kumimoji="0" lang="en-US" sz="16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</a:t>
                          </a:r>
                          <a:endParaRPr kumimoji="0" lang="en-US" sz="11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endParaRPr kumimoji="0" lang="en-US" sz="12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pitchFamily="34" charset="-128"/>
                            <a:cs typeface="+mn-cs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Group 123">
                <a:extLst>
                  <a:ext uri="{FF2B5EF4-FFF2-40B4-BE49-F238E27FC236}">
                    <a16:creationId xmlns:a16="http://schemas.microsoft.com/office/drawing/2014/main" id="{73186E6C-8250-401E-95FC-ECE69C71DFA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69470059"/>
                  </p:ext>
                </p:extLst>
              </p:nvPr>
            </p:nvGraphicFramePr>
            <p:xfrm>
              <a:off x="905140" y="3784208"/>
              <a:ext cx="7331337" cy="2954216"/>
            </p:xfrm>
            <a:graphic>
              <a:graphicData uri="http://schemas.openxmlformats.org/drawingml/2006/table">
                <a:tbl>
                  <a:tblPr/>
                  <a:tblGrid>
                    <a:gridCol w="191558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0654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0786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5867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92271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22489">
                      <a:extLst>
                        <a:ext uri="{9D8B030D-6E8A-4147-A177-3AD203B41FA5}">
                          <a16:colId xmlns:a16="http://schemas.microsoft.com/office/drawing/2014/main" val="1342239577"/>
                        </a:ext>
                      </a:extLst>
                    </a:gridCol>
                    <a:gridCol w="491050">
                      <a:extLst>
                        <a:ext uri="{9D8B030D-6E8A-4147-A177-3AD203B41FA5}">
                          <a16:colId xmlns:a16="http://schemas.microsoft.com/office/drawing/2014/main" val="1127673306"/>
                        </a:ext>
                      </a:extLst>
                    </a:gridCol>
                    <a:gridCol w="297808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49237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2046692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681555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TO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FROM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12000" t="-893" r="-494667" b="-33660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334286" t="-893" r="-430000" b="-33660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457143" t="-893" r="-352632" b="-33660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570000" t="-893" r="-260769" b="-33660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3673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952" t="-113000" r="-283175" b="-277000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2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59226" t="-113000" r="-893" b="-277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3673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3673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952" t="-213000" r="-283175" b="-177000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2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59226" t="-213000" r="-893" b="-177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03673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03673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952" t="-313000" r="-283175" b="-77000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</a:t>
                          </a: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2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</a:t>
                          </a: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9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0</a:t>
                          </a: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59226" t="-313000" r="-893" b="-77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83272442"/>
                      </a:ext>
                    </a:extLst>
                  </a:tr>
                  <a:tr h="303673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741003"/>
                      </a:ext>
                    </a:extLst>
                  </a:tr>
                  <a:tr h="45062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12000" t="-558108" r="-494667" b="-405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334286" t="-558108" r="-430000" b="-405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457143" t="-558108" r="-352632" b="-405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570000" t="-558108" r="-260769" b="-405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endParaRPr kumimoji="0" lang="en-US" sz="12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pitchFamily="34" charset="-128"/>
                            <a:cs typeface="+mn-cs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86170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Modi method(u-v method)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xmlns="" id="{12C3F38F-06D5-4ADF-BB89-374D8DB47B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n-US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For Non-allocated cell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𝒄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𝒊𝒋</m:t>
                        </m:r>
                      </m:sub>
                    </m:sSub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−(</m:t>
                    </m:r>
                    <m:sSub>
                      <m:sSubPr>
                        <m:ctrlPr>
                          <a:rPr lang="en-US" b="1" i="1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𝒖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𝒊</m:t>
                        </m:r>
                      </m:sub>
                    </m:sSub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𝒋</m:t>
                        </m:r>
                      </m:sub>
                    </m:sSub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≥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𝟎</m:t>
                    </m:r>
                  </m:oMath>
                </a14:m>
                <a:endParaRPr lang="en-US" b="1" dirty="0"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b="1" i="1" dirty="0">
                    <a:effectLst/>
                    <a:latin typeface="Cambria Math" panose="02040503050406030204" pitchFamily="18" charset="0"/>
                    <a:cs typeface="Arial" panose="020B0604020202020204" pitchFamily="34" charset="0"/>
                  </a:rPr>
                  <a:t>Now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𝟑</m:t>
                      </m:r>
                      <m:r>
                        <a:rPr lang="en-US" b="1" i="1"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r>
                        <a:rPr lang="en-US" b="1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≥</m:t>
                      </m:r>
                      <m:r>
                        <a:rPr lang="en-US" b="1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</m:oMath>
                  </m:oMathPara>
                </a14:m>
                <a:endParaRPr lang="en-US" b="1" dirty="0"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𝟒</m:t>
                      </m:r>
                      <m:r>
                        <a:rPr lang="en-US" b="1" i="1"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𝟏</m:t>
                      </m:r>
                      <m:r>
                        <a:rPr lang="en-US" b="1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≥</m:t>
                      </m:r>
                      <m:r>
                        <a:rPr lang="en-US" b="1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</m:oMath>
                  </m:oMathPara>
                </a14:m>
                <a:endParaRPr lang="en-US" b="1" dirty="0"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𝟓</m:t>
                      </m:r>
                      <m:r>
                        <a:rPr lang="en-US" b="1" i="1"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lang="en-US" b="1" i="1"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𝟏</m:t>
                      </m:r>
                      <m:r>
                        <a:rPr lang="en-US" b="1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≥</m:t>
                      </m:r>
                      <m:r>
                        <a:rPr lang="en-US" b="1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</m:oMath>
                  </m:oMathPara>
                </a14:m>
                <a:endParaRPr lang="en-US" b="1" dirty="0"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𝟗</m:t>
                      </m:r>
                      <m:r>
                        <a:rPr lang="en-US" b="1" i="1"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  <m:r>
                        <a:rPr lang="en-US" b="1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≥</m:t>
                      </m:r>
                      <m:r>
                        <a:rPr lang="en-US" b="1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</m:oMath>
                  </m:oMathPara>
                </a14:m>
                <a:endParaRPr lang="en-US" b="1" dirty="0"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𝟒</m:t>
                      </m:r>
                      <m:r>
                        <a:rPr lang="en-US" b="1" i="1"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  <m:r>
                        <a:rPr lang="en-US" b="1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≥</m:t>
                      </m:r>
                      <m:r>
                        <a:rPr lang="en-US" b="1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</m:oMath>
                  </m:oMathPara>
                </a14:m>
                <a:endParaRPr lang="en-US" b="1" dirty="0"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effectLst/>
                    <a:cs typeface="Arial" panose="020B0604020202020204" pitchFamily="34" charset="0"/>
                  </a:rPr>
                  <a:t>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𝒄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𝒊𝒋</m:t>
                        </m:r>
                      </m:sub>
                    </m:sSub>
                    <m:r>
                      <a:rPr lang="en-US" b="1" i="1"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−(</m:t>
                    </m:r>
                    <m:sSub>
                      <m:sSubPr>
                        <m:ctrlPr>
                          <a:rPr lang="en-US" b="1" i="1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𝒖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𝒊</m:t>
                        </m:r>
                      </m:sub>
                    </m:sSub>
                    <m:r>
                      <a:rPr lang="en-US" b="1" i="1"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𝒋</m:t>
                        </m:r>
                      </m:sub>
                    </m:sSub>
                    <m:r>
                      <a:rPr lang="en-US" b="1" i="1"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≥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𝟎</m:t>
                    </m:r>
                  </m:oMath>
                </a14:m>
                <a:endParaRPr lang="en-US" b="1" dirty="0"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Therefore the cost is 180 which is optimal solution.</a:t>
                </a:r>
              </a:p>
              <a:p>
                <a:pPr marL="0" indent="0">
                  <a:buNone/>
                </a:pPr>
                <a:endParaRPr lang="en-US" b="1" dirty="0"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b="1" dirty="0"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12C3F38F-06D5-4ADF-BB89-374D8DB47B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6060" y="2249486"/>
                <a:ext cx="7429499" cy="4608513"/>
              </a:xfrm>
              <a:blipFill>
                <a:blip r:embed="rId2"/>
                <a:stretch>
                  <a:fillRect l="-1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0941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Modi method(u-v method)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Group 123">
                <a:extLst>
                  <a:ext uri="{FF2B5EF4-FFF2-40B4-BE49-F238E27FC236}">
                    <a16:creationId xmlns:a16="http://schemas.microsoft.com/office/drawing/2014/main" xmlns="" id="{3945B0FB-8F76-4CB1-8F2F-4E22974ECF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55484366"/>
                  </p:ext>
                </p:extLst>
              </p:nvPr>
            </p:nvGraphicFramePr>
            <p:xfrm>
              <a:off x="954223" y="2227642"/>
              <a:ext cx="7331337" cy="4011840"/>
            </p:xfrm>
            <a:graphic>
              <a:graphicData uri="http://schemas.openxmlformats.org/drawingml/2006/table">
                <a:tbl>
                  <a:tblPr/>
                  <a:tblGrid>
                    <a:gridCol w="1915586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50654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40786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458671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  <a:gridCol w="315052">
                      <a:extLst>
                        <a:ext uri="{9D8B030D-6E8A-4147-A177-3AD203B41FA5}">
                          <a16:colId xmlns:a16="http://schemas.microsoft.com/office/drawing/2014/main" xmlns="" val="20004"/>
                        </a:ext>
                      </a:extLst>
                    </a:gridCol>
                    <a:gridCol w="399708">
                      <a:extLst>
                        <a:ext uri="{9D8B030D-6E8A-4147-A177-3AD203B41FA5}">
                          <a16:colId xmlns:a16="http://schemas.microsoft.com/office/drawing/2014/main" xmlns="" val="1342239577"/>
                        </a:ext>
                      </a:extLst>
                    </a:gridCol>
                    <a:gridCol w="247406">
                      <a:extLst>
                        <a:ext uri="{9D8B030D-6E8A-4147-A177-3AD203B41FA5}">
                          <a16:colId xmlns:a16="http://schemas.microsoft.com/office/drawing/2014/main" xmlns="" val="1127673306"/>
                        </a:ext>
                      </a:extLst>
                    </a:gridCol>
                    <a:gridCol w="451924">
                      <a:extLst>
                        <a:ext uri="{9D8B030D-6E8A-4147-A177-3AD203B41FA5}">
                          <a16:colId xmlns:a16="http://schemas.microsoft.com/office/drawing/2014/main" xmlns="" val="20005"/>
                        </a:ext>
                      </a:extLst>
                    </a:gridCol>
                    <a:gridCol w="392138">
                      <a:extLst>
                        <a:ext uri="{9D8B030D-6E8A-4147-A177-3AD203B41FA5}">
                          <a16:colId xmlns:a16="http://schemas.microsoft.com/office/drawing/2014/main" xmlns="" val="20006"/>
                        </a:ext>
                      </a:extLst>
                    </a:gridCol>
                    <a:gridCol w="2236452">
                      <a:extLst>
                        <a:ext uri="{9D8B030D-6E8A-4147-A177-3AD203B41FA5}">
                          <a16:colId xmlns:a16="http://schemas.microsoft.com/office/drawing/2014/main" xmlns="" val="20007"/>
                        </a:ext>
                      </a:extLst>
                    </a:gridCol>
                  </a:tblGrid>
                  <a:tr h="1302705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TO</a:t>
                          </a:r>
                        </a:p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Whole Sale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FROM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Factory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ea typeface="ＭＳ Ｐゴシック" pitchFamily="34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Capacity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327533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/>
                          </a:r>
                          <a:b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</a:b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Arial" charset="0"/>
                              <a:ea typeface="ＭＳ Ｐゴシック" pitchFamily="34" charset="-128"/>
                            </a:rPr>
                            <a:t>19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7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327533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327533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70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60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9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  <a:tr h="327533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6"/>
                      </a:ext>
                    </a:extLst>
                  </a:tr>
                  <a:tr h="327533"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ea typeface="ＭＳ Ｐゴシック" pitchFamily="34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8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70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18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383272442"/>
                      </a:ext>
                    </a:extLst>
                  </a:tr>
                  <a:tr h="327533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40741003"/>
                      </a:ext>
                    </a:extLst>
                  </a:tr>
                  <a:tr h="74393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Requirement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8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7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14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34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Group 123">
                <a:extLst>
                  <a:ext uri="{FF2B5EF4-FFF2-40B4-BE49-F238E27FC236}">
                    <a16:creationId xmlns:a16="http://schemas.microsoft.com/office/drawing/2014/main" id="{3945B0FB-8F76-4CB1-8F2F-4E22974ECF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55484366"/>
                  </p:ext>
                </p:extLst>
              </p:nvPr>
            </p:nvGraphicFramePr>
            <p:xfrm>
              <a:off x="954223" y="2227642"/>
              <a:ext cx="7331337" cy="4011840"/>
            </p:xfrm>
            <a:graphic>
              <a:graphicData uri="http://schemas.openxmlformats.org/drawingml/2006/table">
                <a:tbl>
                  <a:tblPr/>
                  <a:tblGrid>
                    <a:gridCol w="191558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0654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0786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5867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1505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99708">
                      <a:extLst>
                        <a:ext uri="{9D8B030D-6E8A-4147-A177-3AD203B41FA5}">
                          <a16:colId xmlns:a16="http://schemas.microsoft.com/office/drawing/2014/main" val="1342239577"/>
                        </a:ext>
                      </a:extLst>
                    </a:gridCol>
                    <a:gridCol w="247406">
                      <a:extLst>
                        <a:ext uri="{9D8B030D-6E8A-4147-A177-3AD203B41FA5}">
                          <a16:colId xmlns:a16="http://schemas.microsoft.com/office/drawing/2014/main" val="1127673306"/>
                        </a:ext>
                      </a:extLst>
                    </a:gridCol>
                    <a:gridCol w="451924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392138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2236452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1302705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TO</a:t>
                          </a:r>
                        </a:p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Whole Sale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FROM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Factory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211333" t="-935" r="-494667" b="-20934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367717" t="-935" r="-484252" b="-20934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560377" t="-935" r="-480189" b="-20934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503597" t="-935" r="-266187" b="-20934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Capacity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27533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635" t="-200000" r="-283175" b="-314815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Arial" charset="0"/>
                              <a:ea typeface="ＭＳ Ｐゴシック" pitchFamily="34" charset="-128"/>
                            </a:rPr>
                            <a:t>19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7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27533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27533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635" t="-302804" r="-283175" b="-217757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70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60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9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27533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27533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635" t="-399074" r="-283175" b="-115741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8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70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18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83272442"/>
                      </a:ext>
                    </a:extLst>
                  </a:tr>
                  <a:tr h="327533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741003"/>
                      </a:ext>
                    </a:extLst>
                  </a:tr>
                  <a:tr h="74393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Requirement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8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7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14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34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45109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Modi method(u-v method)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Group 123">
                <a:extLst>
                  <a:ext uri="{FF2B5EF4-FFF2-40B4-BE49-F238E27FC236}">
                    <a16:creationId xmlns:a16="http://schemas.microsoft.com/office/drawing/2014/main" xmlns="" id="{3945B0FB-8F76-4CB1-8F2F-4E22974ECF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68304593"/>
                  </p:ext>
                </p:extLst>
              </p:nvPr>
            </p:nvGraphicFramePr>
            <p:xfrm>
              <a:off x="954222" y="1735273"/>
              <a:ext cx="5094885" cy="3128905"/>
            </p:xfrm>
            <a:graphic>
              <a:graphicData uri="http://schemas.openxmlformats.org/drawingml/2006/table">
                <a:tbl>
                  <a:tblPr/>
                  <a:tblGrid>
                    <a:gridCol w="1915586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50654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40786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458671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  <a:gridCol w="315052">
                      <a:extLst>
                        <a:ext uri="{9D8B030D-6E8A-4147-A177-3AD203B41FA5}">
                          <a16:colId xmlns:a16="http://schemas.microsoft.com/office/drawing/2014/main" xmlns="" val="20004"/>
                        </a:ext>
                      </a:extLst>
                    </a:gridCol>
                    <a:gridCol w="399708">
                      <a:extLst>
                        <a:ext uri="{9D8B030D-6E8A-4147-A177-3AD203B41FA5}">
                          <a16:colId xmlns:a16="http://schemas.microsoft.com/office/drawing/2014/main" xmlns="" val="1342239577"/>
                        </a:ext>
                      </a:extLst>
                    </a:gridCol>
                    <a:gridCol w="247406">
                      <a:extLst>
                        <a:ext uri="{9D8B030D-6E8A-4147-A177-3AD203B41FA5}">
                          <a16:colId xmlns:a16="http://schemas.microsoft.com/office/drawing/2014/main" xmlns="" val="1127673306"/>
                        </a:ext>
                      </a:extLst>
                    </a:gridCol>
                    <a:gridCol w="451924">
                      <a:extLst>
                        <a:ext uri="{9D8B030D-6E8A-4147-A177-3AD203B41FA5}">
                          <a16:colId xmlns:a16="http://schemas.microsoft.com/office/drawing/2014/main" xmlns="" val="20005"/>
                        </a:ext>
                      </a:extLst>
                    </a:gridCol>
                    <a:gridCol w="392138">
                      <a:extLst>
                        <a:ext uri="{9D8B030D-6E8A-4147-A177-3AD203B41FA5}">
                          <a16:colId xmlns:a16="http://schemas.microsoft.com/office/drawing/2014/main" xmlns="" val="20006"/>
                        </a:ext>
                      </a:extLst>
                    </a:gridCol>
                  </a:tblGrid>
                  <a:tr h="1240887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TO</a:t>
                          </a:r>
                        </a:p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Whole Sale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FROM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Factory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ea typeface="ＭＳ Ｐゴシック" pitchFamily="34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/>
                          </a:r>
                          <a:b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</a:b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Arial" charset="0"/>
                              <a:ea typeface="ＭＳ Ｐゴシック" pitchFamily="34" charset="-128"/>
                            </a:rPr>
                            <a:t>19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70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7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60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6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ea typeface="ＭＳ Ｐゴシック" pitchFamily="34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8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8</a:t>
                          </a: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70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</a:t>
                          </a: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383272442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40741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Group 123">
                <a:extLst>
                  <a:ext uri="{FF2B5EF4-FFF2-40B4-BE49-F238E27FC236}">
                    <a16:creationId xmlns:a16="http://schemas.microsoft.com/office/drawing/2014/main" id="{3945B0FB-8F76-4CB1-8F2F-4E22974ECF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68304593"/>
                  </p:ext>
                </p:extLst>
              </p:nvPr>
            </p:nvGraphicFramePr>
            <p:xfrm>
              <a:off x="954222" y="1735273"/>
              <a:ext cx="5094885" cy="3112827"/>
            </p:xfrm>
            <a:graphic>
              <a:graphicData uri="http://schemas.openxmlformats.org/drawingml/2006/table">
                <a:tbl>
                  <a:tblPr/>
                  <a:tblGrid>
                    <a:gridCol w="191558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0654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0786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5867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1505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99708">
                      <a:extLst>
                        <a:ext uri="{9D8B030D-6E8A-4147-A177-3AD203B41FA5}">
                          <a16:colId xmlns:a16="http://schemas.microsoft.com/office/drawing/2014/main" val="1342239577"/>
                        </a:ext>
                      </a:extLst>
                    </a:gridCol>
                    <a:gridCol w="247406">
                      <a:extLst>
                        <a:ext uri="{9D8B030D-6E8A-4147-A177-3AD203B41FA5}">
                          <a16:colId xmlns:a16="http://schemas.microsoft.com/office/drawing/2014/main" val="1127673306"/>
                        </a:ext>
                      </a:extLst>
                    </a:gridCol>
                    <a:gridCol w="451924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392138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1240887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TO</a:t>
                          </a:r>
                        </a:p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Whole Sale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FROM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Factory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211333" t="-490" r="-250000" b="-15245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367717" t="-490" r="-195276" b="-15245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560377" t="-490" r="-133962" b="-15245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503597" t="-490" r="-2158" b="-15245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635" t="-199029" r="-166667" b="-201942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Arial" charset="0"/>
                              <a:ea typeface="ＭＳ Ｐゴシック" pitchFamily="34" charset="-128"/>
                            </a:rPr>
                            <a:t>19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635" t="-301961" r="-166667" b="-103922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70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7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60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635" t="-398058" r="-166667" b="-2913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8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8</a:t>
                          </a: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70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</a:t>
                          </a: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83272442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74100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BCDB4563-7CD6-493E-AF20-6304446E25B8}"/>
                  </a:ext>
                </a:extLst>
              </p:cNvPr>
              <p:cNvSpPr txBox="1"/>
              <p:nvPr/>
            </p:nvSpPr>
            <p:spPr>
              <a:xfrm>
                <a:off x="954222" y="5269571"/>
                <a:ext cx="7176904" cy="147732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Total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Cost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19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4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2400" dirty="0"/>
                  <a:t>+10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2+40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7+60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2+</m:t>
                    </m:r>
                  </m:oMath>
                </a14:m>
                <a:endParaRPr lang="en-US" sz="2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  <m:r>
                        <a:rPr lang="en-US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8+20</m:t>
                      </m:r>
                      <m:r>
                        <a:rPr lang="en-US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r>
                  <a:rPr lang="en-US" sz="2400" dirty="0"/>
                  <a:t>                 =95+20+280+120+64+200</a:t>
                </a:r>
              </a:p>
              <a:p>
                <a:r>
                  <a:rPr lang="en-US" sz="2400" dirty="0"/>
                  <a:t>                 =779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CDB4563-7CD6-493E-AF20-6304446E25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222" y="5269571"/>
                <a:ext cx="7176904" cy="1477328"/>
              </a:xfrm>
              <a:prstGeom prst="rect">
                <a:avLst/>
              </a:prstGeom>
              <a:blipFill>
                <a:blip r:embed="rId3"/>
                <a:stretch>
                  <a:fillRect l="-1529" t="-6173" b="-115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6983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Modi method(u-v method)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Group 123">
                <a:extLst>
                  <a:ext uri="{FF2B5EF4-FFF2-40B4-BE49-F238E27FC236}">
                    <a16:creationId xmlns:a16="http://schemas.microsoft.com/office/drawing/2014/main" xmlns="" id="{3945B0FB-8F76-4CB1-8F2F-4E22974ECF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63774949"/>
                  </p:ext>
                </p:extLst>
              </p:nvPr>
            </p:nvGraphicFramePr>
            <p:xfrm>
              <a:off x="856060" y="3429000"/>
              <a:ext cx="7331337" cy="3338949"/>
            </p:xfrm>
            <a:graphic>
              <a:graphicData uri="http://schemas.openxmlformats.org/drawingml/2006/table">
                <a:tbl>
                  <a:tblPr/>
                  <a:tblGrid>
                    <a:gridCol w="1605786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81634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393482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473049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  <a:gridCol w="610163">
                      <a:extLst>
                        <a:ext uri="{9D8B030D-6E8A-4147-A177-3AD203B41FA5}">
                          <a16:colId xmlns:a16="http://schemas.microsoft.com/office/drawing/2014/main" xmlns="" val="20004"/>
                        </a:ext>
                      </a:extLst>
                    </a:gridCol>
                    <a:gridCol w="492369">
                      <a:extLst>
                        <a:ext uri="{9D8B030D-6E8A-4147-A177-3AD203B41FA5}">
                          <a16:colId xmlns:a16="http://schemas.microsoft.com/office/drawing/2014/main" xmlns="" val="1342239577"/>
                        </a:ext>
                      </a:extLst>
                    </a:gridCol>
                    <a:gridCol w="773723">
                      <a:extLst>
                        <a:ext uri="{9D8B030D-6E8A-4147-A177-3AD203B41FA5}">
                          <a16:colId xmlns:a16="http://schemas.microsoft.com/office/drawing/2014/main" xmlns="" val="1127673306"/>
                        </a:ext>
                      </a:extLst>
                    </a:gridCol>
                    <a:gridCol w="520505">
                      <a:extLst>
                        <a:ext uri="{9D8B030D-6E8A-4147-A177-3AD203B41FA5}">
                          <a16:colId xmlns:a16="http://schemas.microsoft.com/office/drawing/2014/main" xmlns="" val="20005"/>
                        </a:ext>
                      </a:extLst>
                    </a:gridCol>
                    <a:gridCol w="576775">
                      <a:extLst>
                        <a:ext uri="{9D8B030D-6E8A-4147-A177-3AD203B41FA5}">
                          <a16:colId xmlns:a16="http://schemas.microsoft.com/office/drawing/2014/main" xmlns="" val="20006"/>
                        </a:ext>
                      </a:extLst>
                    </a:gridCol>
                    <a:gridCol w="1069145">
                      <a:extLst>
                        <a:ext uri="{9D8B030D-6E8A-4147-A177-3AD203B41FA5}">
                          <a16:colId xmlns:a16="http://schemas.microsoft.com/office/drawing/2014/main" xmlns="" val="20007"/>
                        </a:ext>
                      </a:extLst>
                    </a:gridCol>
                  </a:tblGrid>
                  <a:tr h="804914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TO</a:t>
                          </a:r>
                        </a:p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Whole Sale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FROM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Factory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ea typeface="ＭＳ Ｐゴシック" pitchFamily="34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Capacity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254296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/>
                          </a:r>
                          <a:b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</a:b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Arial" charset="0"/>
                              <a:ea typeface="ＭＳ Ｐゴシック" pitchFamily="34" charset="-128"/>
                            </a:rPr>
                            <a:t>19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0" lang="en-US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+mn-ea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Arial" panose="020B0604020202020204" pitchFamily="34" charset="0"/>
                                    </a:rPr>
                                    <m:t>𝒖</m:t>
                                  </m:r>
                                </m:e>
                                <m:sub>
                                  <m:r>
                                    <a:rPr kumimoji="0" lang="en-US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Arial" panose="020B0604020202020204" pitchFamily="34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kumimoji="0" lang="en-US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Arial" panose="020B0604020202020204" pitchFamily="34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kumimoji="0" lang="en-US" sz="18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pitchFamily="34" charset="-128"/>
                              <a:cs typeface="+mn-cs"/>
                            </a:rPr>
                            <a:t>10</a:t>
                          </a:r>
                          <a:endParaRPr kumimoji="0" lang="en-US" sz="12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pitchFamily="34" charset="-128"/>
                            <a:cs typeface="+mn-cs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254296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254296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7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60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𝒖</m:t>
                                    </m:r>
                                  </m:e>
                                  <m:sub>
                                    <m: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kumimoji="0" lang="en-US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=</m:t>
                                </m:r>
                                <m:r>
                                  <a:rPr kumimoji="0" lang="en-US" sz="18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𝟔𝟎</m:t>
                                </m:r>
                              </m:oMath>
                            </m:oMathPara>
                          </a14:m>
                          <a:endParaRPr kumimoji="0" lang="en-US" sz="12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pitchFamily="34" charset="-128"/>
                            <a:cs typeface="+mn-cs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  <a:tr h="254296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6"/>
                      </a:ext>
                    </a:extLst>
                  </a:tr>
                  <a:tr h="254296"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ea typeface="ＭＳ Ｐゴシック" pitchFamily="34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8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8</a:t>
                          </a: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</a:t>
                          </a: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𝒖</m:t>
                                    </m:r>
                                  </m:e>
                                  <m:sub>
                                    <m: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r>
                                  <a:rPr kumimoji="0" lang="en-US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=</m:t>
                                </m:r>
                                <m:r>
                                  <a:rPr kumimoji="0" lang="en-US" sz="18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𝟐𝟎</m:t>
                                </m:r>
                              </m:oMath>
                            </m:oMathPara>
                          </a14:m>
                          <a:endParaRPr kumimoji="0" lang="en-US" sz="12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pitchFamily="34" charset="-128"/>
                            <a:cs typeface="+mn-cs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383272442"/>
                      </a:ext>
                    </a:extLst>
                  </a:tr>
                  <a:tr h="254296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40741003"/>
                      </a:ext>
                    </a:extLst>
                  </a:tr>
                  <a:tr h="57759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Requirement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kumimoji="0" lang="en-US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=</m:t>
                                </m:r>
                                <m:r>
                                  <a:rPr kumimoji="0" lang="en-US" sz="18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𝟗</m:t>
                                </m:r>
                              </m:oMath>
                            </m:oMathPara>
                          </a14:m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pitchFamily="34" charset="-128"/>
                            <a:cs typeface="+mn-cs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0" lang="en-US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+mn-ea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Arial" panose="020B0604020202020204" pitchFamily="34" charset="0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kumimoji="0" lang="en-US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Arial" panose="020B0604020202020204" pitchFamily="34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kumimoji="0" lang="en-US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Arial" panose="020B0604020202020204" pitchFamily="34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kumimoji="0" lang="en-US" sz="18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pitchFamily="34" charset="-128"/>
                              <a:cs typeface="+mn-cs"/>
                            </a:rPr>
                            <a:t>-12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r>
                                  <a:rPr kumimoji="0" lang="en-US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=</m:t>
                                </m:r>
                                <m:r>
                                  <a:rPr kumimoji="0" lang="en-US" sz="18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kumimoji="0" lang="en-US" sz="18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𝟐𝟎</m:t>
                                </m:r>
                              </m:oMath>
                            </m:oMathPara>
                          </a14:m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pitchFamily="34" charset="-128"/>
                            <a:cs typeface="+mn-cs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C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C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C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𝟒</m:t>
                                    </m:r>
                                  </m:sub>
                                </m:sSub>
                                <m:r>
                                  <a:rPr kumimoji="0" lang="en-US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FFC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=</m:t>
                                </m:r>
                                <m:r>
                                  <a:rPr kumimoji="0" lang="en-US" sz="18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FFC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C000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pitchFamily="34" charset="-128"/>
                            <a:cs typeface="+mn-cs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endParaRPr kumimoji="0" lang="en-US" sz="12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pitchFamily="34" charset="-128"/>
                            <a:cs typeface="+mn-cs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Group 123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3945B0FB-8F76-4CB1-8F2F-4E22974ECF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63774949"/>
                  </p:ext>
                </p:extLst>
              </p:nvPr>
            </p:nvGraphicFramePr>
            <p:xfrm>
              <a:off x="856060" y="3429000"/>
              <a:ext cx="7331337" cy="3338949"/>
            </p:xfrm>
            <a:graphic>
              <a:graphicData uri="http://schemas.openxmlformats.org/drawingml/2006/table">
                <a:tbl>
                  <a:tblPr/>
                  <a:tblGrid>
                    <a:gridCol w="1605786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0000"/>
                        </a:ext>
                      </a:extLst>
                    </a:gridCol>
                    <a:gridCol w="816340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0001"/>
                        </a:ext>
                      </a:extLst>
                    </a:gridCol>
                    <a:gridCol w="393482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0002"/>
                        </a:ext>
                      </a:extLst>
                    </a:gridCol>
                    <a:gridCol w="473049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0003"/>
                        </a:ext>
                      </a:extLst>
                    </a:gridCol>
                    <a:gridCol w="610163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0004"/>
                        </a:ext>
                      </a:extLst>
                    </a:gridCol>
                    <a:gridCol w="492369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1342239577"/>
                        </a:ext>
                      </a:extLst>
                    </a:gridCol>
                    <a:gridCol w="773723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1127673306"/>
                        </a:ext>
                      </a:extLst>
                    </a:gridCol>
                    <a:gridCol w="520505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0005"/>
                        </a:ext>
                      </a:extLst>
                    </a:gridCol>
                    <a:gridCol w="576775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0006"/>
                        </a:ext>
                      </a:extLst>
                    </a:gridCol>
                    <a:gridCol w="1069145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0007"/>
                        </a:ext>
                      </a:extLst>
                    </a:gridCol>
                  </a:tblGrid>
                  <a:tr h="98753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TO</a:t>
                          </a:r>
                        </a:p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Whole Sale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FROM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Factory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 rotWithShape="1">
                          <a:blip r:embed="rId2"/>
                          <a:stretch>
                            <a:fillRect l="-136181" t="-3086" r="-377387" b="-238272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 rotWithShape="1">
                          <a:blip r:embed="rId2"/>
                          <a:stretch>
                            <a:fillRect l="-264045" t="-3086" r="-321910" b="-238272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 rotWithShape="1">
                          <a:blip r:embed="rId2"/>
                          <a:stretch>
                            <a:fillRect l="-311538" t="-3086" r="-175481" b="-238272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 rotWithShape="1">
                          <a:blip r:embed="rId2"/>
                          <a:stretch>
                            <a:fillRect l="-475556" t="-3086" r="-102778" b="-238272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Capacity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0"/>
                      </a:ext>
                    </a:extLst>
                  </a:tr>
                  <a:tr h="283442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 rotWithShape="1">
                          <a:blip r:embed="rId2"/>
                          <a:stretch>
                            <a:fillRect l="-3042" t="-159048" r="-361217" b="-267619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Arial" charset="0"/>
                              <a:ea typeface="ＭＳ Ｐゴシック" pitchFamily="34" charset="-128"/>
                            </a:rPr>
                            <a:t>19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 rotWithShape="1">
                          <a:blip r:embed="rId2"/>
                          <a:stretch>
                            <a:fillRect l="-592000" t="-159048" r="-5714" b="-2676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1"/>
                      </a:ext>
                    </a:extLst>
                  </a:tr>
                  <a:tr h="356616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2"/>
                      </a:ext>
                    </a:extLst>
                  </a:tr>
                  <a:tr h="283442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 rotWithShape="1">
                          <a:blip r:embed="rId2"/>
                          <a:stretch>
                            <a:fillRect l="-3042" t="-292473" r="-361217" b="-202151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7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60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 rotWithShape="1">
                          <a:blip r:embed="rId2"/>
                          <a:stretch>
                            <a:fillRect l="-592000" t="-292473" r="-5714" b="-2021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5"/>
                      </a:ext>
                    </a:extLst>
                  </a:tr>
                  <a:tr h="283442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6"/>
                      </a:ext>
                    </a:extLst>
                  </a:tr>
                  <a:tr h="283442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 rotWithShape="1">
                          <a:blip r:embed="rId2"/>
                          <a:stretch>
                            <a:fillRect l="-3042" t="-396739" r="-361217" b="-104348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8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8</a:t>
                          </a: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</a:t>
                          </a: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 rotWithShape="1">
                          <a:blip r:embed="rId2"/>
                          <a:stretch>
                            <a:fillRect l="-592000" t="-396739" r="-5714" b="-1043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383272442"/>
                      </a:ext>
                    </a:extLst>
                  </a:tr>
                  <a:tr h="283442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40741003"/>
                      </a:ext>
                    </a:extLst>
                  </a:tr>
                  <a:tr h="57759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Requirement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 rotWithShape="1">
                          <a:blip r:embed="rId2"/>
                          <a:stretch>
                            <a:fillRect l="-136181" t="-481053" r="-377387" b="-105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 rotWithShape="1">
                          <a:blip r:embed="rId2"/>
                          <a:stretch>
                            <a:fillRect l="-264045" t="-481053" r="-321910" b="-105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 rotWithShape="1">
                          <a:blip r:embed="rId2"/>
                          <a:stretch>
                            <a:fillRect l="-311538" t="-481053" r="-175481" b="-105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 rotWithShape="1">
                          <a:blip r:embed="rId2"/>
                          <a:stretch>
                            <a:fillRect l="-475556" t="-481053" r="-102778" b="-105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endParaRPr kumimoji="0" lang="en-US" sz="12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pitchFamily="34" charset="-128"/>
                            <a:cs typeface="+mn-cs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xmlns="" id="{1A519501-35ED-4284-80AF-1C2ED29CA62E}"/>
                  </a:ext>
                </a:extLst>
              </p:cNvPr>
              <p:cNvSpPr/>
              <p:nvPr/>
            </p:nvSpPr>
            <p:spPr>
              <a:xfrm>
                <a:off x="905140" y="1901203"/>
                <a:ext cx="6972768" cy="12266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For Allocated cell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𝒄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𝒊𝒋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b="1" i="1"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𝒖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𝒊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𝒋</m:t>
                        </m:r>
                      </m:sub>
                    </m:sSub>
                  </m:oMath>
                </a14:m>
                <a:endParaRPr lang="en-US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US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Where you find the highest allocated row or column put that one equal to zero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1A519501-35ED-4284-80AF-1C2ED29CA6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140" y="1901203"/>
                <a:ext cx="6972768" cy="1226618"/>
              </a:xfrm>
              <a:prstGeom prst="rect">
                <a:avLst/>
              </a:prstGeom>
              <a:blipFill>
                <a:blip r:embed="rId3"/>
                <a:stretch>
                  <a:fillRect l="-699" t="-2985" r="-787" b="-74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4057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Modi method(u-v method)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xmlns="" id="{1A519501-35ED-4284-80AF-1C2ED29CA62E}"/>
                  </a:ext>
                </a:extLst>
              </p:cNvPr>
              <p:cNvSpPr/>
              <p:nvPr/>
            </p:nvSpPr>
            <p:spPr>
              <a:xfrm>
                <a:off x="856059" y="2434829"/>
                <a:ext cx="6972768" cy="429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For Non-allocated cell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𝒄</m:t>
                        </m:r>
                      </m:e>
                      <m:sub>
                        <m:r>
                          <a:rPr lang="en-US" sz="20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𝒊𝒋</m:t>
                        </m:r>
                      </m:sub>
                    </m:sSub>
                    <m:r>
                      <a:rPr lang="en-US" sz="2000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−(</m:t>
                    </m:r>
                    <m:sSub>
                      <m:sSubPr>
                        <m:ctrlPr>
                          <a:rPr lang="en-US" sz="2000" b="1" i="1"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𝒖</m:t>
                        </m:r>
                      </m:e>
                      <m:sub>
                        <m:r>
                          <a:rPr lang="en-US" sz="20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𝒊</m:t>
                        </m:r>
                      </m:sub>
                    </m:sSub>
                    <m:r>
                      <a:rPr lang="en-US" sz="2000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sz="2000" b="1" i="1"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en-US" sz="20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𝒋</m:t>
                        </m:r>
                      </m:sub>
                    </m:sSub>
                    <m:r>
                      <a:rPr lang="en-US" sz="2000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  <m:r>
                      <a:rPr lang="en-U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≥</m:t>
                    </m:r>
                    <m:r>
                      <a:rPr lang="en-U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𝟎</m:t>
                    </m:r>
                  </m:oMath>
                </a14:m>
                <a:endParaRPr lang="en-US" sz="2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1A519501-35ED-4284-80AF-1C2ED29CA6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059" y="2434829"/>
                <a:ext cx="6972768" cy="429220"/>
              </a:xfrm>
              <a:prstGeom prst="rect">
                <a:avLst/>
              </a:prstGeom>
              <a:blipFill>
                <a:blip r:embed="rId3"/>
                <a:stretch>
                  <a:fillRect l="-874" t="-7042" b="-169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Group 123">
                <a:extLst>
                  <a:ext uri="{FF2B5EF4-FFF2-40B4-BE49-F238E27FC236}">
                    <a16:creationId xmlns:a16="http://schemas.microsoft.com/office/drawing/2014/main" xmlns="" id="{D0FB8058-6FC0-4F6A-9070-41767A0A505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7946752"/>
                  </p:ext>
                </p:extLst>
              </p:nvPr>
            </p:nvGraphicFramePr>
            <p:xfrm>
              <a:off x="954222" y="3411415"/>
              <a:ext cx="7331338" cy="3398130"/>
            </p:xfrm>
            <a:graphic>
              <a:graphicData uri="http://schemas.openxmlformats.org/drawingml/2006/table">
                <a:tbl>
                  <a:tblPr/>
                  <a:tblGrid>
                    <a:gridCol w="1479489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815926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407963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585280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  <a:gridCol w="652677">
                      <a:extLst>
                        <a:ext uri="{9D8B030D-6E8A-4147-A177-3AD203B41FA5}">
                          <a16:colId xmlns:a16="http://schemas.microsoft.com/office/drawing/2014/main" xmlns="" val="20004"/>
                        </a:ext>
                      </a:extLst>
                    </a:gridCol>
                    <a:gridCol w="675249">
                      <a:extLst>
                        <a:ext uri="{9D8B030D-6E8A-4147-A177-3AD203B41FA5}">
                          <a16:colId xmlns:a16="http://schemas.microsoft.com/office/drawing/2014/main" xmlns="" val="1342239577"/>
                        </a:ext>
                      </a:extLst>
                    </a:gridCol>
                    <a:gridCol w="562708">
                      <a:extLst>
                        <a:ext uri="{9D8B030D-6E8A-4147-A177-3AD203B41FA5}">
                          <a16:colId xmlns:a16="http://schemas.microsoft.com/office/drawing/2014/main" xmlns="" val="1127673306"/>
                        </a:ext>
                      </a:extLst>
                    </a:gridCol>
                    <a:gridCol w="422031">
                      <a:extLst>
                        <a:ext uri="{9D8B030D-6E8A-4147-A177-3AD203B41FA5}">
                          <a16:colId xmlns:a16="http://schemas.microsoft.com/office/drawing/2014/main" xmlns="" val="20005"/>
                        </a:ext>
                      </a:extLst>
                    </a:gridCol>
                    <a:gridCol w="604910">
                      <a:extLst>
                        <a:ext uri="{9D8B030D-6E8A-4147-A177-3AD203B41FA5}">
                          <a16:colId xmlns:a16="http://schemas.microsoft.com/office/drawing/2014/main" xmlns="" val="20006"/>
                        </a:ext>
                      </a:extLst>
                    </a:gridCol>
                    <a:gridCol w="1125105">
                      <a:extLst>
                        <a:ext uri="{9D8B030D-6E8A-4147-A177-3AD203B41FA5}">
                          <a16:colId xmlns:a16="http://schemas.microsoft.com/office/drawing/2014/main" xmlns="" val="20007"/>
                        </a:ext>
                      </a:extLst>
                    </a:gridCol>
                  </a:tblGrid>
                  <a:tr h="858782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TO</a:t>
                          </a:r>
                        </a:p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Whole Sale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FROM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Factory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ea typeface="ＭＳ Ｐゴシック" pitchFamily="34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Capacity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215919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/>
                          </a:r>
                          <a:b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</a:b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-2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-10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ts val="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𝒖</m:t>
                                    </m:r>
                                  </m:e>
                                  <m:sub>
                                    <m: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kumimoji="0" lang="en-US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=</m:t>
                                </m:r>
                                <m:r>
                                  <a:rPr kumimoji="0" lang="en-US" sz="18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𝟏𝟎</m:t>
                                </m:r>
                              </m:oMath>
                            </m:oMathPara>
                          </a14:m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" panose="020B0604020202020204" pitchFamily="34" charset="0"/>
                            <a:ea typeface="ＭＳ Ｐゴシック" pitchFamily="34" charset="-128"/>
                            <a:cs typeface="Arial" panose="020B0604020202020204" pitchFamily="34" charset="0"/>
                          </a:endParaRPr>
                        </a:p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ts val="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ＭＳ Ｐゴシック" pitchFamily="34" charset="-128"/>
                            <a:cs typeface="Arial" panose="020B0604020202020204" pitchFamily="34" charset="0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215919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215919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70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69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48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𝒖</m:t>
                                    </m:r>
                                  </m:e>
                                  <m:sub>
                                    <m: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kumimoji="0" lang="en-US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=</m:t>
                                </m:r>
                                <m:r>
                                  <a:rPr kumimoji="0" lang="en-US" sz="18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𝟔𝟎</m:t>
                                </m:r>
                              </m:oMath>
                            </m:oMathPara>
                          </a14:m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" panose="020B0604020202020204" pitchFamily="34" charset="0"/>
                            <a:ea typeface="ＭＳ Ｐゴシック" pitchFamily="34" charset="-128"/>
                            <a:cs typeface="Arial" panose="020B0604020202020204" pitchFamily="34" charset="0"/>
                          </a:endParaRPr>
                        </a:p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ＭＳ Ｐゴシック" pitchFamily="34" charset="-128"/>
                            <a:cs typeface="Arial" panose="020B0604020202020204" pitchFamily="34" charset="0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  <a:tr h="215919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6"/>
                      </a:ext>
                    </a:extLst>
                  </a:tr>
                  <a:tr h="215919"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ea typeface="ＭＳ Ｐゴシック" pitchFamily="34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29</a:t>
                          </a: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70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0</a:t>
                          </a: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𝒖</m:t>
                                    </m:r>
                                  </m:e>
                                  <m:sub>
                                    <m: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r>
                                  <a:rPr kumimoji="0" lang="en-US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=</m:t>
                                </m:r>
                                <m:r>
                                  <a:rPr kumimoji="0" lang="en-US" sz="18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𝟐𝟎</m:t>
                                </m:r>
                              </m:oMath>
                            </m:oMathPara>
                          </a14:m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" panose="020B0604020202020204" pitchFamily="34" charset="0"/>
                            <a:ea typeface="ＭＳ Ｐゴシック" pitchFamily="34" charset="-128"/>
                            <a:cs typeface="Arial" panose="020B0604020202020204" pitchFamily="34" charset="0"/>
                          </a:endParaRPr>
                        </a:p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ＭＳ Ｐゴシック" pitchFamily="34" charset="-128"/>
                            <a:cs typeface="Arial" panose="020B0604020202020204" pitchFamily="34" charset="0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383272442"/>
                      </a:ext>
                    </a:extLst>
                  </a:tr>
                  <a:tr h="215919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40741003"/>
                      </a:ext>
                    </a:extLst>
                  </a:tr>
                  <a:tr h="49042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Requirement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kumimoji="0" lang="en-US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=</m:t>
                                </m:r>
                                <m:r>
                                  <a:rPr kumimoji="0" lang="en-US" sz="18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𝟗</m:t>
                                </m:r>
                              </m:oMath>
                            </m:oMathPara>
                          </a14:m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pitchFamily="34" charset="-128"/>
                            <a:cs typeface="+mn-cs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kumimoji="0" lang="en-US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=−</m:t>
                                </m:r>
                                <m:r>
                                  <a:rPr kumimoji="0" lang="en-US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  <m:r>
                                  <a:rPr kumimoji="0" lang="en-US" sz="18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pitchFamily="34" charset="-128"/>
                            <a:cs typeface="+mn-cs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r>
                                  <a:rPr kumimoji="0" lang="en-US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=</m:t>
                                </m:r>
                                <m:r>
                                  <a:rPr kumimoji="0" lang="en-US" sz="18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kumimoji="0" lang="en-US" sz="18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𝟐𝟎</m:t>
                                </m:r>
                              </m:oMath>
                            </m:oMathPara>
                          </a14:m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pitchFamily="34" charset="-128"/>
                            <a:cs typeface="+mn-cs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𝟒</m:t>
                                    </m:r>
                                  </m:sub>
                                </m:sSub>
                                <m:r>
                                  <a:rPr kumimoji="0" lang="en-US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=</m:t>
                                </m:r>
                                <m:r>
                                  <a:rPr kumimoji="0" lang="en-US" sz="18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pitchFamily="34" charset="-128"/>
                            <a:cs typeface="+mn-cs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pitchFamily="34" charset="-128"/>
                            <a:cs typeface="+mn-cs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Group 123">
                <a:extLst>
                  <a:ext uri="{FF2B5EF4-FFF2-40B4-BE49-F238E27FC236}">
                    <a16:creationId xmlns:a16="http://schemas.microsoft.com/office/drawing/2014/main" id="{D0FB8058-6FC0-4F6A-9070-41767A0A505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7946752"/>
                  </p:ext>
                </p:extLst>
              </p:nvPr>
            </p:nvGraphicFramePr>
            <p:xfrm>
              <a:off x="954222" y="3411415"/>
              <a:ext cx="7331338" cy="3343266"/>
            </p:xfrm>
            <a:graphic>
              <a:graphicData uri="http://schemas.openxmlformats.org/drawingml/2006/table">
                <a:tbl>
                  <a:tblPr/>
                  <a:tblGrid>
                    <a:gridCol w="147948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1592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0796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8528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5267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675249">
                      <a:extLst>
                        <a:ext uri="{9D8B030D-6E8A-4147-A177-3AD203B41FA5}">
                          <a16:colId xmlns:a16="http://schemas.microsoft.com/office/drawing/2014/main" val="1342239577"/>
                        </a:ext>
                      </a:extLst>
                    </a:gridCol>
                    <a:gridCol w="562708">
                      <a:extLst>
                        <a:ext uri="{9D8B030D-6E8A-4147-A177-3AD203B41FA5}">
                          <a16:colId xmlns:a16="http://schemas.microsoft.com/office/drawing/2014/main" val="1127673306"/>
                        </a:ext>
                      </a:extLst>
                    </a:gridCol>
                    <a:gridCol w="422031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60491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1125105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98753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TO</a:t>
                          </a:r>
                        </a:p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Whole Sale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FROM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Factory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4"/>
                          <a:stretch>
                            <a:fillRect l="-121891" t="-2469" r="-379602" b="-241358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4"/>
                          <a:stretch>
                            <a:fillRect l="-219704" t="-2469" r="-275862" b="-241358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4"/>
                          <a:stretch>
                            <a:fillRect l="-318137" t="-2469" r="-174510" b="-241358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4"/>
                          <a:stretch>
                            <a:fillRect l="-507738" t="-2469" r="-111905" b="-241358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Capacity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83442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4"/>
                          <a:stretch>
                            <a:fillRect l="-823" t="-171134" r="-396708" b="-303093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-2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-10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4"/>
                          <a:stretch>
                            <a:fillRect l="-551892" t="-171134" r="-1622" b="-30309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1752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83442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4"/>
                          <a:stretch>
                            <a:fillRect l="-823" t="-250476" r="-396708" b="-180000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70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69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48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4"/>
                          <a:stretch>
                            <a:fillRect l="-551892" t="-250476" r="-1622" b="-18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56616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83442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4"/>
                          <a:stretch>
                            <a:fillRect l="-823" t="-350476" r="-396708" b="-80000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29</a:t>
                          </a: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70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0</a:t>
                          </a: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4"/>
                          <a:stretch>
                            <a:fillRect l="-551892" t="-350476" r="-1622" b="-8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83272442"/>
                      </a:ext>
                    </a:extLst>
                  </a:tr>
                  <a:tr h="356616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741003"/>
                      </a:ext>
                    </a:extLst>
                  </a:tr>
                  <a:tr h="49042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Requirement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4"/>
                          <a:stretch>
                            <a:fillRect l="-121891" t="-583951" r="-379602" b="-370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4"/>
                          <a:stretch>
                            <a:fillRect l="-219704" t="-583951" r="-275862" b="-370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4"/>
                          <a:stretch>
                            <a:fillRect l="-318137" t="-583951" r="-174510" b="-370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4"/>
                          <a:stretch>
                            <a:fillRect l="-507738" t="-583951" r="-111905" b="-370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pitchFamily="34" charset="-128"/>
                            <a:cs typeface="+mn-cs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29220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Modi method(u-v method)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xmlns="" id="{12C3F38F-06D5-4ADF-BB89-374D8DB47B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6060" y="1674056"/>
                <a:ext cx="7429499" cy="518394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00B050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𝒄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𝒊𝒋</m:t>
                          </m:r>
                        </m:sub>
                      </m:sSub>
                      <m:r>
                        <a:rPr lang="en-US" b="1" i="1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d>
                        <m:dPr>
                          <m:ctrlPr>
                            <a:rPr lang="en-US" b="1" i="1">
                              <a:solidFill>
                                <a:srgbClr val="00B050"/>
                              </a:solidFill>
                              <a:effectLst/>
                              <a:latin typeface="Cambria Math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>
                                  <a:solidFill>
                                    <a:srgbClr val="00B050"/>
                                  </a:solidFill>
                                  <a:effectLst/>
                                  <a:latin typeface="Cambria Math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00B050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rgbClr val="00B050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b="1" i="1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1" i="1">
                                  <a:solidFill>
                                    <a:srgbClr val="00B050"/>
                                  </a:solidFill>
                                  <a:effectLst/>
                                  <a:latin typeface="Cambria Math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00B050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rgbClr val="00B050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𝒋</m:t>
                              </m:r>
                            </m:sub>
                          </m:sSub>
                        </m:e>
                      </m:d>
                      <m:r>
                        <a:rPr lang="en-US" b="1" i="1" smtClean="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&lt;</m:t>
                      </m:r>
                      <m:r>
                        <a:rPr lang="en-US" b="1" i="1" smtClean="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  <m:r>
                        <a:rPr lang="en-US" b="1" i="1" smtClean="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</m:oMath>
                  </m:oMathPara>
                </a14:m>
                <a:endParaRPr lang="en-US" b="1" dirty="0">
                  <a:solidFill>
                    <a:srgbClr val="00B050"/>
                  </a:solidFill>
                  <a:effectLst/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0" indent="0" fontAlgn="base">
                  <a:buNone/>
                </a:pPr>
                <a:r>
                  <a:rPr lang="en-US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Which is wrong therefore putting the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effectLst/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22</m:t>
                        </m:r>
                      </m:sub>
                    </m:sSub>
                  </m:oMath>
                </a14:m>
                <a:r>
                  <a:rPr lang="en-US" dirty="0">
                    <a:effectLst/>
                  </a:rPr>
                  <a:t> at allocated cell table</a:t>
                </a:r>
              </a:p>
              <a:p>
                <a:pPr marL="0" indent="0">
                  <a:buNone/>
                </a:pPr>
                <a:endParaRPr lang="en-US" dirty="0"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12C3F38F-06D5-4ADF-BB89-374D8DB47B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6060" y="1674056"/>
                <a:ext cx="7429499" cy="5183944"/>
              </a:xfrm>
              <a:blipFill rotWithShape="1">
                <a:blip r:embed="rId3"/>
                <a:stretch>
                  <a:fillRect l="-18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xmlns="" id="{1A519501-35ED-4284-80AF-1C2ED29CA62E}"/>
                  </a:ext>
                </a:extLst>
              </p:cNvPr>
              <p:cNvSpPr/>
              <p:nvPr/>
            </p:nvSpPr>
            <p:spPr>
              <a:xfrm>
                <a:off x="1035343" y="1699456"/>
                <a:ext cx="6972768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At</a:t>
                </a:r>
                <a:r>
                  <a:rPr lang="en-US" sz="2400" b="1" dirty="0">
                    <a:solidFill>
                      <a:prstClr val="black"/>
                    </a:solidFill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prstClr val="black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𝒄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𝟐𝟐</m:t>
                        </m:r>
                      </m:sub>
                    </m:sSub>
                  </m:oMath>
                </a14:m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1A519501-35ED-4284-80AF-1C2ED29CA6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343" y="1699456"/>
                <a:ext cx="6972768" cy="461665"/>
              </a:xfrm>
              <a:prstGeom prst="rect">
                <a:avLst/>
              </a:prstGeom>
              <a:blipFill>
                <a:blip r:embed="rId4"/>
                <a:stretch>
                  <a:fillRect l="-962"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Group 123">
                <a:extLst>
                  <a:ext uri="{FF2B5EF4-FFF2-40B4-BE49-F238E27FC236}">
                    <a16:creationId xmlns:a16="http://schemas.microsoft.com/office/drawing/2014/main" xmlns="" id="{6501D124-D4BF-4E71-9D97-8BB23AD81A5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86481205"/>
                  </p:ext>
                </p:extLst>
              </p:nvPr>
            </p:nvGraphicFramePr>
            <p:xfrm>
              <a:off x="856059" y="3425483"/>
              <a:ext cx="7331337" cy="3517260"/>
            </p:xfrm>
            <a:graphic>
              <a:graphicData uri="http://schemas.openxmlformats.org/drawingml/2006/table">
                <a:tbl>
                  <a:tblPr/>
                  <a:tblGrid>
                    <a:gridCol w="1605786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81634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393482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473049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  <a:gridCol w="610163">
                      <a:extLst>
                        <a:ext uri="{9D8B030D-6E8A-4147-A177-3AD203B41FA5}">
                          <a16:colId xmlns:a16="http://schemas.microsoft.com/office/drawing/2014/main" xmlns="" val="20004"/>
                        </a:ext>
                      </a:extLst>
                    </a:gridCol>
                    <a:gridCol w="492369">
                      <a:extLst>
                        <a:ext uri="{9D8B030D-6E8A-4147-A177-3AD203B41FA5}">
                          <a16:colId xmlns:a16="http://schemas.microsoft.com/office/drawing/2014/main" xmlns="" val="1342239577"/>
                        </a:ext>
                      </a:extLst>
                    </a:gridCol>
                    <a:gridCol w="773723">
                      <a:extLst>
                        <a:ext uri="{9D8B030D-6E8A-4147-A177-3AD203B41FA5}">
                          <a16:colId xmlns:a16="http://schemas.microsoft.com/office/drawing/2014/main" xmlns="" val="1127673306"/>
                        </a:ext>
                      </a:extLst>
                    </a:gridCol>
                    <a:gridCol w="520505">
                      <a:extLst>
                        <a:ext uri="{9D8B030D-6E8A-4147-A177-3AD203B41FA5}">
                          <a16:colId xmlns:a16="http://schemas.microsoft.com/office/drawing/2014/main" xmlns="" val="20005"/>
                        </a:ext>
                      </a:extLst>
                    </a:gridCol>
                    <a:gridCol w="576775">
                      <a:extLst>
                        <a:ext uri="{9D8B030D-6E8A-4147-A177-3AD203B41FA5}">
                          <a16:colId xmlns:a16="http://schemas.microsoft.com/office/drawing/2014/main" xmlns="" val="20006"/>
                        </a:ext>
                      </a:extLst>
                    </a:gridCol>
                    <a:gridCol w="1069145">
                      <a:extLst>
                        <a:ext uri="{9D8B030D-6E8A-4147-A177-3AD203B41FA5}">
                          <a16:colId xmlns:a16="http://schemas.microsoft.com/office/drawing/2014/main" xmlns="" val="20007"/>
                        </a:ext>
                      </a:extLst>
                    </a:gridCol>
                  </a:tblGrid>
                  <a:tr h="804914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TO</a:t>
                          </a:r>
                        </a:p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Whole Sale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FROM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Factory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ea typeface="ＭＳ Ｐゴシック" pitchFamily="34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Capacity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254296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/>
                          </a:r>
                          <a:b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</a:b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Arial" charset="0"/>
                              <a:ea typeface="ＭＳ Ｐゴシック" pitchFamily="34" charset="-128"/>
                            </a:rPr>
                            <a:t>19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sz="1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pitchFamily="34" charset="-128"/>
                              <a:cs typeface="+mn-cs"/>
                            </a:rPr>
                            <a:t>7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254296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254296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400" b="1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𝜽</m:t>
                                </m:r>
                              </m:oMath>
                            </m:oMathPara>
                          </a14:m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7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60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pitchFamily="34" charset="-128"/>
                              <a:cs typeface="+mn-cs"/>
                            </a:rPr>
                            <a:t>9+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sz="20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oMath>
                          </a14:m>
                          <a:endParaRPr kumimoji="0" lang="en-US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endParaRPr kumimoji="0" lang="en-US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pitchFamily="34" charset="-128"/>
                            <a:cs typeface="+mn-cs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  <a:tr h="254296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6"/>
                      </a:ext>
                    </a:extLst>
                  </a:tr>
                  <a:tr h="254296"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ea typeface="ＭＳ Ｐゴシック" pitchFamily="34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8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8</a:t>
                          </a: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</a:t>
                          </a: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sz="1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pitchFamily="34" charset="-128"/>
                              <a:cs typeface="+mn-cs"/>
                            </a:rPr>
                            <a:t>18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383272442"/>
                      </a:ext>
                    </a:extLst>
                  </a:tr>
                  <a:tr h="254296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40741003"/>
                      </a:ext>
                    </a:extLst>
                  </a:tr>
                  <a:tr h="57759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Requirement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sz="18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pitchFamily="34" charset="-128"/>
                              <a:cs typeface="+mn-cs"/>
                            </a:rPr>
                            <a:t>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pitchFamily="34" charset="-128"/>
                              <a:cs typeface="+mn-cs"/>
                            </a:rPr>
                            <a:t>8+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sz="24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oMath>
                          </a14:m>
                          <a:endParaRPr kumimoji="0" lang="en-US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pitchFamily="34" charset="-128"/>
                            <a:cs typeface="+mn-cs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sz="18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pitchFamily="34" charset="-128"/>
                              <a:cs typeface="+mn-cs"/>
                            </a:rPr>
                            <a:t>7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sz="18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pitchFamily="34" charset="-128"/>
                              <a:cs typeface="+mn-cs"/>
                            </a:rPr>
                            <a:t>14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sz="1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pitchFamily="34" charset="-128"/>
                              <a:cs typeface="+mn-cs"/>
                            </a:rPr>
                            <a:t>34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Group 123">
                <a:extLst>
                  <a:ext uri="{FF2B5EF4-FFF2-40B4-BE49-F238E27FC236}">
                    <a16:creationId xmlns:a16="http://schemas.microsoft.com/office/drawing/2014/main" id="{6501D124-D4BF-4E71-9D97-8BB23AD81A5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86481205"/>
                  </p:ext>
                </p:extLst>
              </p:nvPr>
            </p:nvGraphicFramePr>
            <p:xfrm>
              <a:off x="856059" y="3425483"/>
              <a:ext cx="7331337" cy="3444086"/>
            </p:xfrm>
            <a:graphic>
              <a:graphicData uri="http://schemas.openxmlformats.org/drawingml/2006/table">
                <a:tbl>
                  <a:tblPr/>
                  <a:tblGrid>
                    <a:gridCol w="160578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1634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9348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7304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1016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492369">
                      <a:extLst>
                        <a:ext uri="{9D8B030D-6E8A-4147-A177-3AD203B41FA5}">
                          <a16:colId xmlns:a16="http://schemas.microsoft.com/office/drawing/2014/main" val="1342239577"/>
                        </a:ext>
                      </a:extLst>
                    </a:gridCol>
                    <a:gridCol w="773723">
                      <a:extLst>
                        <a:ext uri="{9D8B030D-6E8A-4147-A177-3AD203B41FA5}">
                          <a16:colId xmlns:a16="http://schemas.microsoft.com/office/drawing/2014/main" val="1127673306"/>
                        </a:ext>
                      </a:extLst>
                    </a:gridCol>
                    <a:gridCol w="520505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576775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1069145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98753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TO</a:t>
                          </a:r>
                        </a:p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Whole Sale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FROM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Factory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5"/>
                          <a:stretch>
                            <a:fillRect l="-134848" t="-2469" r="-376263" b="-251852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5"/>
                          <a:stretch>
                            <a:fillRect l="-261236" t="-2469" r="-318539" b="-251852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5"/>
                          <a:stretch>
                            <a:fillRect l="-309135" t="-2469" r="-172596" b="-251852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5"/>
                          <a:stretch>
                            <a:fillRect l="-472778" t="-2469" r="-99444" b="-251852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Capacity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83442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5"/>
                          <a:stretch>
                            <a:fillRect l="-1136" t="-178495" r="-357197" b="-338710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Arial" charset="0"/>
                              <a:ea typeface="ＭＳ Ｐゴシック" pitchFamily="34" charset="-128"/>
                            </a:rPr>
                            <a:t>19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sz="1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pitchFamily="34" charset="-128"/>
                              <a:cs typeface="+mn-cs"/>
                            </a:rPr>
                            <a:t>7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83442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83442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5"/>
                          <a:stretch>
                            <a:fillRect l="-1136" t="-261616" r="-357197" b="-218182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5"/>
                          <a:stretch>
                            <a:fillRect l="-543000" t="-551064" r="-567000" b="-570213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7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60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5"/>
                          <a:stretch>
                            <a:fillRect l="-585795" t="-261616" r="-1705" b="-2181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16992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83442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5"/>
                          <a:stretch>
                            <a:fillRect l="-1136" t="-384946" r="-357197" b="-132258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8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8</a:t>
                          </a: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</a:t>
                          </a: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sz="1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pitchFamily="34" charset="-128"/>
                              <a:cs typeface="+mn-cs"/>
                            </a:rPr>
                            <a:t>18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83272442"/>
                      </a:ext>
                    </a:extLst>
                  </a:tr>
                  <a:tr h="283442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741003"/>
                      </a:ext>
                    </a:extLst>
                  </a:tr>
                  <a:tr h="72235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Requirement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sz="18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pitchFamily="34" charset="-128"/>
                              <a:cs typeface="+mn-cs"/>
                            </a:rPr>
                            <a:t>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5"/>
                          <a:stretch>
                            <a:fillRect l="-261236" t="-378992" r="-318539" b="-336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sz="18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pitchFamily="34" charset="-128"/>
                              <a:cs typeface="+mn-cs"/>
                            </a:rPr>
                            <a:t>7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sz="18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pitchFamily="34" charset="-128"/>
                              <a:cs typeface="+mn-cs"/>
                            </a:rPr>
                            <a:t>14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sz="1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pitchFamily="34" charset="-128"/>
                              <a:cs typeface="+mn-cs"/>
                            </a:rPr>
                            <a:t>34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92217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6501" y="143389"/>
            <a:ext cx="7429499" cy="762047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Loop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3438" y="766154"/>
            <a:ext cx="7429499" cy="192325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smtClean="0"/>
              <a:t>Loop is an ordered sequence of at least 4 different cells that satisfy three conditions: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Any two consecutive cells lie in either the same row or same column.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No three or more consecutive cells lie in the same row or same column.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The last cell is in the same row or same column as the first cell. 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2680448"/>
            <a:ext cx="8128000" cy="3818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994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Modi method(u-v method)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1674056"/>
            <a:ext cx="7429499" cy="518394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Group 123">
                <a:extLst>
                  <a:ext uri="{FF2B5EF4-FFF2-40B4-BE49-F238E27FC236}">
                    <a16:creationId xmlns:a16="http://schemas.microsoft.com/office/drawing/2014/main" xmlns="" id="{6501D124-D4BF-4E71-9D97-8BB23AD81A5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50577351"/>
                  </p:ext>
                </p:extLst>
              </p:nvPr>
            </p:nvGraphicFramePr>
            <p:xfrm>
              <a:off x="856060" y="1985053"/>
              <a:ext cx="7331337" cy="3937862"/>
            </p:xfrm>
            <a:graphic>
              <a:graphicData uri="http://schemas.openxmlformats.org/drawingml/2006/table">
                <a:tbl>
                  <a:tblPr/>
                  <a:tblGrid>
                    <a:gridCol w="1605786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81634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393482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473049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  <a:gridCol w="610163">
                      <a:extLst>
                        <a:ext uri="{9D8B030D-6E8A-4147-A177-3AD203B41FA5}">
                          <a16:colId xmlns:a16="http://schemas.microsoft.com/office/drawing/2014/main" xmlns="" val="20004"/>
                        </a:ext>
                      </a:extLst>
                    </a:gridCol>
                    <a:gridCol w="492369">
                      <a:extLst>
                        <a:ext uri="{9D8B030D-6E8A-4147-A177-3AD203B41FA5}">
                          <a16:colId xmlns:a16="http://schemas.microsoft.com/office/drawing/2014/main" xmlns="" val="1342239577"/>
                        </a:ext>
                      </a:extLst>
                    </a:gridCol>
                    <a:gridCol w="773723">
                      <a:extLst>
                        <a:ext uri="{9D8B030D-6E8A-4147-A177-3AD203B41FA5}">
                          <a16:colId xmlns:a16="http://schemas.microsoft.com/office/drawing/2014/main" xmlns="" val="1127673306"/>
                        </a:ext>
                      </a:extLst>
                    </a:gridCol>
                    <a:gridCol w="520505">
                      <a:extLst>
                        <a:ext uri="{9D8B030D-6E8A-4147-A177-3AD203B41FA5}">
                          <a16:colId xmlns:a16="http://schemas.microsoft.com/office/drawing/2014/main" xmlns="" val="20005"/>
                        </a:ext>
                      </a:extLst>
                    </a:gridCol>
                    <a:gridCol w="576775">
                      <a:extLst>
                        <a:ext uri="{9D8B030D-6E8A-4147-A177-3AD203B41FA5}">
                          <a16:colId xmlns:a16="http://schemas.microsoft.com/office/drawing/2014/main" xmlns="" val="20006"/>
                        </a:ext>
                      </a:extLst>
                    </a:gridCol>
                    <a:gridCol w="1069145">
                      <a:extLst>
                        <a:ext uri="{9D8B030D-6E8A-4147-A177-3AD203B41FA5}">
                          <a16:colId xmlns:a16="http://schemas.microsoft.com/office/drawing/2014/main" xmlns="" val="20007"/>
                        </a:ext>
                      </a:extLst>
                    </a:gridCol>
                  </a:tblGrid>
                  <a:tr h="804914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TO</a:t>
                          </a:r>
                        </a:p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Whole Sale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FROM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Factory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ea typeface="ＭＳ Ｐゴシック" pitchFamily="34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Capacity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254296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/>
                          </a:r>
                          <a:b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</a:b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Arial" charset="0"/>
                              <a:ea typeface="ＭＳ Ｐゴシック" pitchFamily="34" charset="-128"/>
                            </a:rPr>
                            <a:t>19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sz="1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pitchFamily="34" charset="-128"/>
                              <a:cs typeface="+mn-cs"/>
                            </a:rPr>
                            <a:t>7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254296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254296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400" b="1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𝜽</m:t>
                                </m:r>
                              </m:oMath>
                            </m:oMathPara>
                          </a14:m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7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60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sz="1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pitchFamily="34" charset="-128"/>
                              <a:cs typeface="+mn-cs"/>
                            </a:rPr>
                            <a:t>9+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sz="1400" b="1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oMath>
                          </a14:m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endParaRPr kumimoji="0" lang="en-US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pitchFamily="34" charset="-128"/>
                            <a:cs typeface="+mn-cs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  <a:tr h="254296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6"/>
                      </a:ext>
                    </a:extLst>
                  </a:tr>
                  <a:tr h="254296"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ea typeface="ＭＳ Ｐゴシック" pitchFamily="34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8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8-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sz="1400" b="1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oMath>
                          </a14:m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</a:t>
                          </a: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sz="20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pitchFamily="34" charset="-128"/>
                              <a:cs typeface="+mn-cs"/>
                            </a:rPr>
                            <a:t>18-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sz="2000" b="1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oMath>
                          </a14:m>
                          <a:endParaRPr kumimoji="0" lang="en-US" sz="20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pitchFamily="34" charset="-128"/>
                            <a:cs typeface="+mn-cs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383272442"/>
                      </a:ext>
                    </a:extLst>
                  </a:tr>
                  <a:tr h="254296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40741003"/>
                      </a:ext>
                    </a:extLst>
                  </a:tr>
                  <a:tr h="57759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Requirement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sz="18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pitchFamily="34" charset="-128"/>
                              <a:cs typeface="+mn-cs"/>
                            </a:rPr>
                            <a:t>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sz="18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pitchFamily="34" charset="-128"/>
                              <a:cs typeface="+mn-cs"/>
                            </a:rPr>
                            <a:t>8+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sz="1800" b="1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oMath>
                          </a14:m>
                          <a: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sz="1800" b="1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oMath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pitchFamily="34" charset="-128"/>
                            <a:cs typeface="+mn-cs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sz="18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pitchFamily="34" charset="-128"/>
                              <a:cs typeface="+mn-cs"/>
                            </a:rPr>
                            <a:t>7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sz="18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pitchFamily="34" charset="-128"/>
                              <a:cs typeface="+mn-cs"/>
                            </a:rPr>
                            <a:t>14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sz="1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pitchFamily="34" charset="-128"/>
                              <a:cs typeface="+mn-cs"/>
                            </a:rPr>
                            <a:t>34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Group 123">
                <a:extLst>
                  <a:ext uri="{FF2B5EF4-FFF2-40B4-BE49-F238E27FC236}">
                    <a16:creationId xmlns:a16="http://schemas.microsoft.com/office/drawing/2014/main" id="{6501D124-D4BF-4E71-9D97-8BB23AD81A5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50577351"/>
                  </p:ext>
                </p:extLst>
              </p:nvPr>
            </p:nvGraphicFramePr>
            <p:xfrm>
              <a:off x="856060" y="1985053"/>
              <a:ext cx="7331337" cy="3864688"/>
            </p:xfrm>
            <a:graphic>
              <a:graphicData uri="http://schemas.openxmlformats.org/drawingml/2006/table">
                <a:tbl>
                  <a:tblPr/>
                  <a:tblGrid>
                    <a:gridCol w="160578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1634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9348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7304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1016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492369">
                      <a:extLst>
                        <a:ext uri="{9D8B030D-6E8A-4147-A177-3AD203B41FA5}">
                          <a16:colId xmlns:a16="http://schemas.microsoft.com/office/drawing/2014/main" val="1342239577"/>
                        </a:ext>
                      </a:extLst>
                    </a:gridCol>
                    <a:gridCol w="773723">
                      <a:extLst>
                        <a:ext uri="{9D8B030D-6E8A-4147-A177-3AD203B41FA5}">
                          <a16:colId xmlns:a16="http://schemas.microsoft.com/office/drawing/2014/main" val="1127673306"/>
                        </a:ext>
                      </a:extLst>
                    </a:gridCol>
                    <a:gridCol w="520505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576775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1069145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98753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TO</a:t>
                          </a:r>
                        </a:p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Whole Sale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FROM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Factory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134848" t="-2469" r="-376263" b="-29382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61236" t="-2469" r="-318539" b="-29382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309135" t="-2469" r="-172596" b="-29382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472778" t="-2469" r="-99444" b="-29382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Capacity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83442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1136" t="-178495" r="-357197" b="-411828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Arial" charset="0"/>
                              <a:ea typeface="ＭＳ Ｐゴシック" pitchFamily="34" charset="-128"/>
                            </a:rPr>
                            <a:t>19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sz="1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pitchFamily="34" charset="-128"/>
                              <a:cs typeface="+mn-cs"/>
                            </a:rPr>
                            <a:t>7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83442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83442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1136" t="-275532" r="-357197" b="-307447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543000" t="-551064" r="-567000" b="-714894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7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60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585795" t="-275532" r="-1705" b="-3074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83442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518138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1136" t="-269466" r="-357197" b="-120611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8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543000" t="-415294" r="-567000" b="-240000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</a:t>
                          </a: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585795" t="-269466" r="-1705" b="-1206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83272442"/>
                      </a:ext>
                    </a:extLst>
                  </a:tr>
                  <a:tr h="283442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741003"/>
                      </a:ext>
                    </a:extLst>
                  </a:tr>
                  <a:tr h="94181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Requirement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sz="18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pitchFamily="34" charset="-128"/>
                              <a:cs typeface="+mn-cs"/>
                            </a:rPr>
                            <a:t>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61236" t="-312258" r="-318539" b="-193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sz="18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pitchFamily="34" charset="-128"/>
                              <a:cs typeface="+mn-cs"/>
                            </a:rPr>
                            <a:t>7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sz="18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pitchFamily="34" charset="-128"/>
                              <a:cs typeface="+mn-cs"/>
                            </a:rPr>
                            <a:t>14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sz="1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pitchFamily="34" charset="-128"/>
                              <a:cs typeface="+mn-cs"/>
                            </a:rPr>
                            <a:t>34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xmlns="" id="{92BD40A2-7B00-4525-8B72-27E6D31ACF71}"/>
              </a:ext>
            </a:extLst>
          </p:cNvPr>
          <p:cNvCxnSpPr/>
          <p:nvPr/>
        </p:nvCxnSpPr>
        <p:spPr>
          <a:xfrm>
            <a:off x="3896751" y="3995225"/>
            <a:ext cx="0" cy="2954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7547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Modi method(u-v method)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1674056"/>
            <a:ext cx="7429499" cy="518394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Group 123">
                <a:extLst>
                  <a:ext uri="{FF2B5EF4-FFF2-40B4-BE49-F238E27FC236}">
                    <a16:creationId xmlns:a16="http://schemas.microsoft.com/office/drawing/2014/main" xmlns="" id="{6501D124-D4BF-4E71-9D97-8BB23AD81A5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73235774"/>
                  </p:ext>
                </p:extLst>
              </p:nvPr>
            </p:nvGraphicFramePr>
            <p:xfrm>
              <a:off x="856060" y="1985053"/>
              <a:ext cx="7626758" cy="4011036"/>
            </p:xfrm>
            <a:graphic>
              <a:graphicData uri="http://schemas.openxmlformats.org/drawingml/2006/table">
                <a:tbl>
                  <a:tblPr/>
                  <a:tblGrid>
                    <a:gridCol w="1670492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849235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409338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492111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  <a:gridCol w="634750">
                      <a:extLst>
                        <a:ext uri="{9D8B030D-6E8A-4147-A177-3AD203B41FA5}">
                          <a16:colId xmlns:a16="http://schemas.microsoft.com/office/drawing/2014/main" xmlns="" val="20004"/>
                        </a:ext>
                      </a:extLst>
                    </a:gridCol>
                    <a:gridCol w="512209">
                      <a:extLst>
                        <a:ext uri="{9D8B030D-6E8A-4147-A177-3AD203B41FA5}">
                          <a16:colId xmlns:a16="http://schemas.microsoft.com/office/drawing/2014/main" xmlns="" val="1342239577"/>
                        </a:ext>
                      </a:extLst>
                    </a:gridCol>
                    <a:gridCol w="568642">
                      <a:extLst>
                        <a:ext uri="{9D8B030D-6E8A-4147-A177-3AD203B41FA5}">
                          <a16:colId xmlns:a16="http://schemas.microsoft.com/office/drawing/2014/main" xmlns="" val="1127673306"/>
                        </a:ext>
                      </a:extLst>
                    </a:gridCol>
                    <a:gridCol w="562708">
                      <a:extLst>
                        <a:ext uri="{9D8B030D-6E8A-4147-A177-3AD203B41FA5}">
                          <a16:colId xmlns:a16="http://schemas.microsoft.com/office/drawing/2014/main" xmlns="" val="20005"/>
                        </a:ext>
                      </a:extLst>
                    </a:gridCol>
                    <a:gridCol w="661181">
                      <a:extLst>
                        <a:ext uri="{9D8B030D-6E8A-4147-A177-3AD203B41FA5}">
                          <a16:colId xmlns:a16="http://schemas.microsoft.com/office/drawing/2014/main" xmlns="" val="20006"/>
                        </a:ext>
                      </a:extLst>
                    </a:gridCol>
                    <a:gridCol w="1266092">
                      <a:extLst>
                        <a:ext uri="{9D8B030D-6E8A-4147-A177-3AD203B41FA5}">
                          <a16:colId xmlns:a16="http://schemas.microsoft.com/office/drawing/2014/main" xmlns="" val="20007"/>
                        </a:ext>
                      </a:extLst>
                    </a:gridCol>
                  </a:tblGrid>
                  <a:tr h="804914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TO</a:t>
                          </a:r>
                        </a:p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Whole Sale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FROM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Factory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ea typeface="ＭＳ Ｐゴシック" pitchFamily="34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Capacity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254296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/>
                          </a:r>
                          <a:b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</a:b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Arial" charset="0"/>
                              <a:ea typeface="ＭＳ Ｐゴシック" pitchFamily="34" charset="-128"/>
                            </a:rPr>
                            <a:t>19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sz="1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pitchFamily="34" charset="-128"/>
                              <a:cs typeface="+mn-cs"/>
                            </a:rPr>
                            <a:t>7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254296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254296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400" b="1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𝜽</m:t>
                                </m:r>
                              </m:oMath>
                            </m:oMathPara>
                          </a14:m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7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60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sz="1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pitchFamily="34" charset="-128"/>
                              <a:cs typeface="+mn-cs"/>
                            </a:rPr>
                            <a:t>9+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sz="1400" b="1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oMath>
                          </a14:m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endParaRPr kumimoji="0" lang="en-US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pitchFamily="34" charset="-128"/>
                            <a:cs typeface="+mn-cs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  <a:tr h="254296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6"/>
                      </a:ext>
                    </a:extLst>
                  </a:tr>
                  <a:tr h="254296"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ea typeface="ＭＳ Ｐゴシック" pitchFamily="34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8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8-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sz="1400" b="1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oMath>
                          </a14:m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6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10+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sz="1600" b="1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oMath>
                          </a14:m>
                          <a:endParaRPr kumimoji="0" lang="en-US" sz="16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sz="18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pitchFamily="34" charset="-128"/>
                              <a:cs typeface="+mn-cs"/>
                            </a:rPr>
                            <a:t>18- 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sz="1800" b="1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  <m:r>
                                <a:rPr kumimoji="0" lang="en-US" sz="1800" b="1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kumimoji="0" lang="en-US" sz="1800" b="1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oMath>
                          </a14:m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pitchFamily="34" charset="-128"/>
                            <a:cs typeface="+mn-cs"/>
                          </a:endParaRPr>
                        </a:p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pitchFamily="34" charset="-128"/>
                            <a:cs typeface="+mn-cs"/>
                          </a:endParaRPr>
                        </a:p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endParaRPr kumimoji="0" lang="en-US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pitchFamily="34" charset="-128"/>
                            <a:cs typeface="+mn-cs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383272442"/>
                      </a:ext>
                    </a:extLst>
                  </a:tr>
                  <a:tr h="254296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40741003"/>
                      </a:ext>
                    </a:extLst>
                  </a:tr>
                  <a:tr h="57759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Requirement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sz="18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pitchFamily="34" charset="-128"/>
                              <a:cs typeface="+mn-cs"/>
                            </a:rPr>
                            <a:t>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sz="18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pitchFamily="34" charset="-128"/>
                              <a:cs typeface="+mn-cs"/>
                            </a:rPr>
                            <a:t>8</a:t>
                          </a: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pitchFamily="34" charset="-128"/>
                            <a:cs typeface="+mn-cs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sz="18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pitchFamily="34" charset="-128"/>
                              <a:cs typeface="+mn-cs"/>
                            </a:rPr>
                            <a:t>7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sz="18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pitchFamily="34" charset="-128"/>
                              <a:cs typeface="+mn-cs"/>
                            </a:rPr>
                            <a:t>14+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sz="1800" b="1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oMath>
                          </a14:m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pitchFamily="34" charset="-128"/>
                            <a:cs typeface="+mn-cs"/>
                          </a:endParaRPr>
                        </a:p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pitchFamily="34" charset="-128"/>
                            <a:cs typeface="+mn-cs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sz="1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pitchFamily="34" charset="-128"/>
                              <a:cs typeface="+mn-cs"/>
                            </a:rPr>
                            <a:t>34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Group 123">
                <a:extLst>
                  <a:ext uri="{FF2B5EF4-FFF2-40B4-BE49-F238E27FC236}">
                    <a16:creationId xmlns:a16="http://schemas.microsoft.com/office/drawing/2014/main" id="{6501D124-D4BF-4E71-9D97-8BB23AD81A5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73235774"/>
                  </p:ext>
                </p:extLst>
              </p:nvPr>
            </p:nvGraphicFramePr>
            <p:xfrm>
              <a:off x="856060" y="1985053"/>
              <a:ext cx="7626758" cy="3937862"/>
            </p:xfrm>
            <a:graphic>
              <a:graphicData uri="http://schemas.openxmlformats.org/drawingml/2006/table">
                <a:tbl>
                  <a:tblPr/>
                  <a:tblGrid>
                    <a:gridCol w="167049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4923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0933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9211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3475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512209">
                      <a:extLst>
                        <a:ext uri="{9D8B030D-6E8A-4147-A177-3AD203B41FA5}">
                          <a16:colId xmlns:a16="http://schemas.microsoft.com/office/drawing/2014/main" val="1342239577"/>
                        </a:ext>
                      </a:extLst>
                    </a:gridCol>
                    <a:gridCol w="568642">
                      <a:extLst>
                        <a:ext uri="{9D8B030D-6E8A-4147-A177-3AD203B41FA5}">
                          <a16:colId xmlns:a16="http://schemas.microsoft.com/office/drawing/2014/main" val="1127673306"/>
                        </a:ext>
                      </a:extLst>
                    </a:gridCol>
                    <a:gridCol w="562708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661181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1266092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98753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TO</a:t>
                          </a:r>
                        </a:p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Whole Sale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FROM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Factory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133816" t="-2469" r="-373913" b="-30123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61622" t="-2469" r="-318378" b="-30123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377966" t="-2469" r="-232768" b="-30123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420896" t="-2469" r="-104975" b="-30123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Capacity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83442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1095" t="-178495" r="-358029" b="-424731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Arial" charset="0"/>
                              <a:ea typeface="ＭＳ Ｐゴシック" pitchFamily="34" charset="-128"/>
                            </a:rPr>
                            <a:t>19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sz="1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pitchFamily="34" charset="-128"/>
                              <a:cs typeface="+mn-cs"/>
                            </a:rPr>
                            <a:t>7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83442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83442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1095" t="-275532" r="-358029" b="-320213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543269" t="-551064" r="-566346" b="-74042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7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60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503365" t="-275532" r="-1442" b="-3202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83442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518138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1095" t="-246853" r="-358029" b="-110490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8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543269" t="-415294" r="-566346" b="-254118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869444" t="-415294" r="-195370" b="-254118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503365" t="-246853" r="-1442" b="-1104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83272442"/>
                      </a:ext>
                    </a:extLst>
                  </a:tr>
                  <a:tr h="356616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741003"/>
                      </a:ext>
                    </a:extLst>
                  </a:tr>
                  <a:tr h="94181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Requirement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sz="18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pitchFamily="34" charset="-128"/>
                              <a:cs typeface="+mn-cs"/>
                            </a:rPr>
                            <a:t>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sz="18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pitchFamily="34" charset="-128"/>
                              <a:cs typeface="+mn-cs"/>
                            </a:rPr>
                            <a:t>8</a:t>
                          </a: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pitchFamily="34" charset="-128"/>
                            <a:cs typeface="+mn-cs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sz="18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pitchFamily="34" charset="-128"/>
                              <a:cs typeface="+mn-cs"/>
                            </a:rPr>
                            <a:t>7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420896" t="-320000" r="-104975" b="-193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sz="1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pitchFamily="34" charset="-128"/>
                              <a:cs typeface="+mn-cs"/>
                            </a:rPr>
                            <a:t>34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xmlns="" id="{79FAE4D3-F52B-4671-8AC4-D16A886E7103}"/>
              </a:ext>
            </a:extLst>
          </p:cNvPr>
          <p:cNvCxnSpPr/>
          <p:nvPr/>
        </p:nvCxnSpPr>
        <p:spPr>
          <a:xfrm>
            <a:off x="3995225" y="3967089"/>
            <a:ext cx="0" cy="4220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xmlns="" id="{0DC24465-8667-4547-9877-2ACEA62D1101}"/>
              </a:ext>
            </a:extLst>
          </p:cNvPr>
          <p:cNvCxnSpPr/>
          <p:nvPr/>
        </p:nvCxnSpPr>
        <p:spPr>
          <a:xfrm>
            <a:off x="4135902" y="4529797"/>
            <a:ext cx="201168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5940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Modi method(u-v method)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1674056"/>
            <a:ext cx="7429499" cy="518394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Group 123">
                <a:extLst>
                  <a:ext uri="{FF2B5EF4-FFF2-40B4-BE49-F238E27FC236}">
                    <a16:creationId xmlns:a16="http://schemas.microsoft.com/office/drawing/2014/main" xmlns="" id="{6501D124-D4BF-4E71-9D97-8BB23AD81A5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32825834"/>
                  </p:ext>
                </p:extLst>
              </p:nvPr>
            </p:nvGraphicFramePr>
            <p:xfrm>
              <a:off x="856060" y="1985053"/>
              <a:ext cx="7626758" cy="4367652"/>
            </p:xfrm>
            <a:graphic>
              <a:graphicData uri="http://schemas.openxmlformats.org/drawingml/2006/table">
                <a:tbl>
                  <a:tblPr/>
                  <a:tblGrid>
                    <a:gridCol w="1670492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849235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409338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492111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  <a:gridCol w="634750">
                      <a:extLst>
                        <a:ext uri="{9D8B030D-6E8A-4147-A177-3AD203B41FA5}">
                          <a16:colId xmlns:a16="http://schemas.microsoft.com/office/drawing/2014/main" xmlns="" val="20004"/>
                        </a:ext>
                      </a:extLst>
                    </a:gridCol>
                    <a:gridCol w="512209">
                      <a:extLst>
                        <a:ext uri="{9D8B030D-6E8A-4147-A177-3AD203B41FA5}">
                          <a16:colId xmlns:a16="http://schemas.microsoft.com/office/drawing/2014/main" xmlns="" val="1342239577"/>
                        </a:ext>
                      </a:extLst>
                    </a:gridCol>
                    <a:gridCol w="568642">
                      <a:extLst>
                        <a:ext uri="{9D8B030D-6E8A-4147-A177-3AD203B41FA5}">
                          <a16:colId xmlns:a16="http://schemas.microsoft.com/office/drawing/2014/main" xmlns="" val="1127673306"/>
                        </a:ext>
                      </a:extLst>
                    </a:gridCol>
                    <a:gridCol w="562708">
                      <a:extLst>
                        <a:ext uri="{9D8B030D-6E8A-4147-A177-3AD203B41FA5}">
                          <a16:colId xmlns:a16="http://schemas.microsoft.com/office/drawing/2014/main" xmlns="" val="20005"/>
                        </a:ext>
                      </a:extLst>
                    </a:gridCol>
                    <a:gridCol w="661181">
                      <a:extLst>
                        <a:ext uri="{9D8B030D-6E8A-4147-A177-3AD203B41FA5}">
                          <a16:colId xmlns:a16="http://schemas.microsoft.com/office/drawing/2014/main" xmlns="" val="20006"/>
                        </a:ext>
                      </a:extLst>
                    </a:gridCol>
                    <a:gridCol w="1266092">
                      <a:extLst>
                        <a:ext uri="{9D8B030D-6E8A-4147-A177-3AD203B41FA5}">
                          <a16:colId xmlns:a16="http://schemas.microsoft.com/office/drawing/2014/main" xmlns="" val="20007"/>
                        </a:ext>
                      </a:extLst>
                    </a:gridCol>
                  </a:tblGrid>
                  <a:tr h="804914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TO</a:t>
                          </a:r>
                        </a:p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Whole Sale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FROM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Factory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ea typeface="ＭＳ Ｐゴシック" pitchFamily="34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Capacity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254296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/>
                          </a:r>
                          <a:b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</a:b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Arial" charset="0"/>
                              <a:ea typeface="ＭＳ Ｐゴシック" pitchFamily="34" charset="-128"/>
                            </a:rPr>
                            <a:t>19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sz="1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pitchFamily="34" charset="-128"/>
                              <a:cs typeface="+mn-cs"/>
                            </a:rPr>
                            <a:t>7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254296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254296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400" b="1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𝜽</m:t>
                                </m:r>
                              </m:oMath>
                            </m:oMathPara>
                          </a14:m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7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60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2-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sz="1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𝜽</m:t>
                              </m:r>
                            </m:oMath>
                          </a14:m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sz="1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pitchFamily="34" charset="-128"/>
                              <a:cs typeface="+mn-cs"/>
                            </a:rPr>
                            <a:t>9+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sz="1400" b="1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  <m:r>
                                <a:rPr kumimoji="0" lang="en-US" sz="1400" b="1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0" lang="en-US" sz="1400" b="1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oMath>
                          </a14:m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endParaRPr kumimoji="0" lang="en-US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pitchFamily="34" charset="-128"/>
                            <a:cs typeface="+mn-cs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  <a:tr h="254296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6"/>
                      </a:ext>
                    </a:extLst>
                  </a:tr>
                  <a:tr h="254296"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ea typeface="ＭＳ Ｐゴシック" pitchFamily="34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8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8-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sz="1400" b="1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oMath>
                          </a14:m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6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10+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sz="1600" b="1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oMath>
                          </a14:m>
                          <a:endParaRPr kumimoji="0" lang="en-US" sz="16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sz="18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pitchFamily="34" charset="-128"/>
                              <a:cs typeface="+mn-cs"/>
                            </a:rPr>
                            <a:t>18</a:t>
                          </a:r>
                        </a:p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pitchFamily="34" charset="-128"/>
                            <a:cs typeface="+mn-cs"/>
                          </a:endParaRPr>
                        </a:p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endParaRPr kumimoji="0" lang="en-US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pitchFamily="34" charset="-128"/>
                            <a:cs typeface="+mn-cs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383272442"/>
                      </a:ext>
                    </a:extLst>
                  </a:tr>
                  <a:tr h="254296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40741003"/>
                      </a:ext>
                    </a:extLst>
                  </a:tr>
                  <a:tr h="57759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Requirement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sz="18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pitchFamily="34" charset="-128"/>
                              <a:cs typeface="+mn-cs"/>
                            </a:rPr>
                            <a:t>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sz="18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pitchFamily="34" charset="-128"/>
                              <a:cs typeface="+mn-cs"/>
                            </a:rPr>
                            <a:t>8</a:t>
                          </a: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pitchFamily="34" charset="-128"/>
                            <a:cs typeface="+mn-cs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sz="18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pitchFamily="34" charset="-128"/>
                              <a:cs typeface="+mn-cs"/>
                            </a:rPr>
                            <a:t>7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sz="20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pitchFamily="34" charset="-128"/>
                              <a:cs typeface="+mn-cs"/>
                            </a:rPr>
                            <a:t>14 +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sz="2000" b="1" i="0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kumimoji="0" lang="en-US" sz="2000" b="1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oMath>
                          </a14:m>
                          <a:r>
                            <a:rPr kumimoji="0" lang="en-US" sz="2000" b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ea typeface="ＭＳ Ｐゴシック" pitchFamily="34" charset="-128"/>
                              <a:cs typeface="+mn-cs"/>
                            </a:rPr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sz="2000" b="1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oMath>
                          </a14:m>
                          <a:endParaRPr kumimoji="0" lang="en-US" sz="20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pitchFamily="34" charset="-128"/>
                            <a:cs typeface="+mn-cs"/>
                          </a:endParaRPr>
                        </a:p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pitchFamily="34" charset="-128"/>
                            <a:cs typeface="+mn-cs"/>
                          </a:endParaRPr>
                        </a:p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pitchFamily="34" charset="-128"/>
                            <a:cs typeface="+mn-cs"/>
                          </a:endParaRPr>
                        </a:p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pitchFamily="34" charset="-128"/>
                            <a:cs typeface="+mn-cs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sz="1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pitchFamily="34" charset="-128"/>
                              <a:cs typeface="+mn-cs"/>
                            </a:rPr>
                            <a:t>34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Group 123">
                <a:extLst>
                  <a:ext uri="{FF2B5EF4-FFF2-40B4-BE49-F238E27FC236}">
                    <a16:creationId xmlns:a16="http://schemas.microsoft.com/office/drawing/2014/main" id="{6501D124-D4BF-4E71-9D97-8BB23AD81A5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7298756"/>
                  </p:ext>
                </p:extLst>
              </p:nvPr>
            </p:nvGraphicFramePr>
            <p:xfrm>
              <a:off x="856060" y="1985053"/>
              <a:ext cx="7626758" cy="4294478"/>
            </p:xfrm>
            <a:graphic>
              <a:graphicData uri="http://schemas.openxmlformats.org/drawingml/2006/table">
                <a:tbl>
                  <a:tblPr/>
                  <a:tblGrid>
                    <a:gridCol w="167049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4923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0933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9211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3475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512209">
                      <a:extLst>
                        <a:ext uri="{9D8B030D-6E8A-4147-A177-3AD203B41FA5}">
                          <a16:colId xmlns:a16="http://schemas.microsoft.com/office/drawing/2014/main" val="1342239577"/>
                        </a:ext>
                      </a:extLst>
                    </a:gridCol>
                    <a:gridCol w="568642">
                      <a:extLst>
                        <a:ext uri="{9D8B030D-6E8A-4147-A177-3AD203B41FA5}">
                          <a16:colId xmlns:a16="http://schemas.microsoft.com/office/drawing/2014/main" val="1127673306"/>
                        </a:ext>
                      </a:extLst>
                    </a:gridCol>
                    <a:gridCol w="562708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661181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1266092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98753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TO</a:t>
                          </a:r>
                        </a:p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Whole Sale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FROM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Factory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133816" t="-2469" r="-373913" b="-33765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61622" t="-2469" r="-318378" b="-33765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377966" t="-2469" r="-232768" b="-33765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420896" t="-2469" r="-104975" b="-33765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Capacity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83442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1095" t="-176596" r="-358029" b="-481915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Arial" charset="0"/>
                              <a:ea typeface="ＭＳ Ｐゴシック" pitchFamily="34" charset="-128"/>
                            </a:rPr>
                            <a:t>19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sz="1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pitchFamily="34" charset="-128"/>
                              <a:cs typeface="+mn-cs"/>
                            </a:rPr>
                            <a:t>7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83442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10874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1095" t="-268041" r="-358029" b="-367010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543269" t="-509804" r="-566346" b="-788235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7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60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869444" t="-509804" r="-195370" b="-788235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503365" t="-268041" r="-1442" b="-3670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83442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518138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1095" t="-247917" r="-358029" b="-147222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8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543269" t="-420000" r="-566346" b="-318824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*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869444" t="-420000" r="-195370" b="-318824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sz="18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pitchFamily="34" charset="-128"/>
                              <a:cs typeface="+mn-cs"/>
                            </a:rPr>
                            <a:t>18</a:t>
                          </a:r>
                        </a:p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pitchFamily="34" charset="-128"/>
                            <a:cs typeface="+mn-cs"/>
                          </a:endParaRPr>
                        </a:p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endParaRPr kumimoji="0" lang="en-US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pitchFamily="34" charset="-128"/>
                            <a:cs typeface="+mn-cs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83272442"/>
                      </a:ext>
                    </a:extLst>
                  </a:tr>
                  <a:tr h="356616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741003"/>
                      </a:ext>
                    </a:extLst>
                  </a:tr>
                  <a:tr h="127099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Requirement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sz="18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pitchFamily="34" charset="-128"/>
                              <a:cs typeface="+mn-cs"/>
                            </a:rPr>
                            <a:t>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sz="18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pitchFamily="34" charset="-128"/>
                              <a:cs typeface="+mn-cs"/>
                            </a:rPr>
                            <a:t>8</a:t>
                          </a: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pitchFamily="34" charset="-128"/>
                            <a:cs typeface="+mn-cs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sz="18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pitchFamily="34" charset="-128"/>
                              <a:cs typeface="+mn-cs"/>
                            </a:rPr>
                            <a:t>7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420896" t="-239713" r="-104975" b="-143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sz="1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pitchFamily="34" charset="-128"/>
                              <a:cs typeface="+mn-cs"/>
                            </a:rPr>
                            <a:t>34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xmlns="" id="{68A6479F-C3A8-49B7-87D7-D8D52A849B08}"/>
              </a:ext>
            </a:extLst>
          </p:cNvPr>
          <p:cNvCxnSpPr/>
          <p:nvPr/>
        </p:nvCxnSpPr>
        <p:spPr>
          <a:xfrm>
            <a:off x="3995225" y="3953022"/>
            <a:ext cx="0" cy="3376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xmlns="" id="{2533AAE6-DF0B-47F0-AFA4-7D71EF6FB827}"/>
              </a:ext>
            </a:extLst>
          </p:cNvPr>
          <p:cNvCxnSpPr/>
          <p:nvPr/>
        </p:nvCxnSpPr>
        <p:spPr>
          <a:xfrm>
            <a:off x="4107767" y="4529796"/>
            <a:ext cx="20398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xmlns="" id="{2619F1C6-E5AE-4374-865C-E56077861C3D}"/>
              </a:ext>
            </a:extLst>
          </p:cNvPr>
          <p:cNvCxnSpPr>
            <a:cxnSpLocks/>
          </p:cNvCxnSpPr>
          <p:nvPr/>
        </p:nvCxnSpPr>
        <p:spPr>
          <a:xfrm flipV="1">
            <a:off x="6288259" y="3977640"/>
            <a:ext cx="0" cy="3130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xmlns="" id="{2533AAE6-DF0B-47F0-AFA4-7D71EF6FB827}"/>
              </a:ext>
            </a:extLst>
          </p:cNvPr>
          <p:cNvCxnSpPr/>
          <p:nvPr/>
        </p:nvCxnSpPr>
        <p:spPr>
          <a:xfrm flipH="1">
            <a:off x="4107767" y="3767383"/>
            <a:ext cx="20398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94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Modi method(u-v method)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xmlns="" id="{12C3F38F-06D5-4ADF-BB89-374D8DB47B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6060" y="1674056"/>
                <a:ext cx="7429499" cy="518394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dirty="0"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2−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lvl="0" indent="0" defTabSz="457200">
                  <a:lnSpc>
                    <a:spcPct val="100000"/>
                  </a:lnSpc>
                  <a:spcBef>
                    <a:spcPts val="0"/>
                  </a:spcBef>
                  <a:buSzTx/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</a:rPr>
                      <m:t>Total</m:t>
                    </m:r>
                    <m:r>
                      <a:rPr lang="en-US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</a:rPr>
                      <m:t>Cost</m:t>
                    </m:r>
                    <m:r>
                      <a:rPr lang="en-US" b="1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prstClr val="black"/>
                    </a:solidFill>
                    <a:effectLst/>
                  </a:rPr>
                  <a:t>19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dirty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>
                    <a:solidFill>
                      <a:prstClr val="black"/>
                    </a:solidFill>
                    <a:effectLst/>
                  </a:rPr>
                  <a:t> + 30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×2+40×7</m:t>
                    </m:r>
                    <m:r>
                      <a:rPr lang="en-US" b="0" i="1" dirty="0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+10</m:t>
                    </m:r>
                    <m:r>
                      <a:rPr lang="en-US" i="1" dirty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dirty="0" smtClean="0">
                        <a:solidFill>
                          <a:prstClr val="black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2+</m:t>
                    </m:r>
                  </m:oMath>
                </a14:m>
                <a:endParaRPr lang="en-US" i="1" dirty="0">
                  <a:solidFill>
                    <a:prstClr val="black"/>
                  </a:solidFill>
                  <a:effectLst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lvl="0" indent="0" defTabSz="457200">
                  <a:lnSpc>
                    <a:spcPct val="100000"/>
                  </a:lnSpc>
                  <a:spcBef>
                    <a:spcPts val="0"/>
                  </a:spcBef>
                  <a:buSz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8×</m:t>
                      </m:r>
                      <m:r>
                        <a:rPr lang="en-US" b="0" i="1" dirty="0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  <m:r>
                        <a:rPr lang="en-US" i="1" dirty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+20×1</m:t>
                      </m:r>
                      <m:r>
                        <a:rPr lang="en-US" b="0" i="1" dirty="0" smtClean="0">
                          <a:solidFill>
                            <a:prstClr val="black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>
                  <a:solidFill>
                    <a:prstClr val="black"/>
                  </a:solidFill>
                  <a:effectLst/>
                  <a:ea typeface="Cambria Math" panose="02040503050406030204" pitchFamily="18" charset="0"/>
                </a:endParaRPr>
              </a:p>
              <a:p>
                <a:pPr marL="0" lvl="0" indent="0" defTabSz="457200">
                  <a:lnSpc>
                    <a:spcPct val="100000"/>
                  </a:lnSpc>
                  <a:spcBef>
                    <a:spcPts val="0"/>
                  </a:spcBef>
                  <a:buSzTx/>
                  <a:buNone/>
                </a:pPr>
                <a:endParaRPr lang="en-US" dirty="0">
                  <a:solidFill>
                    <a:prstClr val="black"/>
                  </a:solidFill>
                  <a:effectLst/>
                  <a:ea typeface="Cambria Math" panose="02040503050406030204" pitchFamily="18" charset="0"/>
                </a:endParaRPr>
              </a:p>
              <a:p>
                <a:pPr marL="0" lvl="0" indent="0" defTabSz="457200">
                  <a:lnSpc>
                    <a:spcPct val="100000"/>
                  </a:lnSpc>
                  <a:spcBef>
                    <a:spcPts val="0"/>
                  </a:spcBef>
                  <a:buSzTx/>
                  <a:buNone/>
                </a:pPr>
                <a:r>
                  <a:rPr lang="en-US" dirty="0">
                    <a:solidFill>
                      <a:prstClr val="black"/>
                    </a:solidFill>
                    <a:effectLst/>
                  </a:rPr>
                  <a:t>                 =95+60+280+20+48+240</a:t>
                </a:r>
              </a:p>
              <a:p>
                <a:pPr marL="0" lvl="0" indent="0" defTabSz="457200">
                  <a:lnSpc>
                    <a:spcPct val="100000"/>
                  </a:lnSpc>
                  <a:spcBef>
                    <a:spcPts val="0"/>
                  </a:spcBef>
                  <a:buSzTx/>
                  <a:buNone/>
                </a:pPr>
                <a:endParaRPr lang="en-US" dirty="0">
                  <a:solidFill>
                    <a:prstClr val="black"/>
                  </a:solidFill>
                  <a:effectLst/>
                </a:endParaRPr>
              </a:p>
              <a:p>
                <a:pPr marL="0" lvl="0" indent="0" defTabSz="457200">
                  <a:lnSpc>
                    <a:spcPct val="100000"/>
                  </a:lnSpc>
                  <a:spcBef>
                    <a:spcPts val="0"/>
                  </a:spcBef>
                  <a:buSzTx/>
                  <a:buNone/>
                </a:pPr>
                <a:r>
                  <a:rPr lang="en-US" dirty="0">
                    <a:solidFill>
                      <a:prstClr val="black"/>
                    </a:solidFill>
                    <a:effectLst/>
                  </a:rPr>
                  <a:t>                 =743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12C3F38F-06D5-4ADF-BB89-374D8DB47B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6060" y="1674056"/>
                <a:ext cx="7429499" cy="5183944"/>
              </a:xfrm>
              <a:blipFill>
                <a:blip r:embed="rId3"/>
                <a:stretch>
                  <a:fillRect l="-2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="" id="{791FE671-4D08-4106-BD89-9CEF37D778E7}"/>
                  </a:ext>
                </a:extLst>
              </p:cNvPr>
              <p:cNvSpPr txBox="1"/>
              <p:nvPr/>
            </p:nvSpPr>
            <p:spPr>
              <a:xfrm>
                <a:off x="3321044" y="2097088"/>
                <a:ext cx="249953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𝑀𝑖𝑛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(8−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2−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91FE671-4D08-4106-BD89-9CEF37D778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1044" y="2097088"/>
                <a:ext cx="2499530" cy="369332"/>
              </a:xfrm>
              <a:prstGeom prst="rect">
                <a:avLst/>
              </a:prstGeom>
              <a:blipFill>
                <a:blip r:embed="rId4"/>
                <a:stretch>
                  <a:fillRect l="-2195" r="-3415" b="-34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5491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TASK  practice Chap 9 examples</a:t>
            </a:r>
            <a:endParaRPr lang="en-GB" dirty="0">
              <a:solidFill>
                <a:srgbClr val="FF000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1401" y="1802831"/>
            <a:ext cx="6629741" cy="3773215"/>
          </a:xfrm>
        </p:spPr>
      </p:pic>
      <p:sp>
        <p:nvSpPr>
          <p:cNvPr id="5" name="TextBox 4"/>
          <p:cNvSpPr txBox="1"/>
          <p:nvPr/>
        </p:nvSpPr>
        <p:spPr>
          <a:xfrm>
            <a:off x="1210236" y="5880847"/>
            <a:ext cx="70520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 smtClean="0">
                <a:solidFill>
                  <a:srgbClr val="FF0000"/>
                </a:solidFill>
              </a:rPr>
              <a:t>Book: Operations-research-theory-and-applications-by-j</a:t>
            </a:r>
            <a:r>
              <a:rPr lang="en-GB" sz="2000" dirty="0">
                <a:solidFill>
                  <a:srgbClr val="FF0000"/>
                </a:solidFill>
              </a:rPr>
              <a:t>.-k.-</a:t>
            </a:r>
            <a:r>
              <a:rPr lang="en-GB" sz="2000" dirty="0" err="1">
                <a:solidFill>
                  <a:srgbClr val="FF0000"/>
                </a:solidFill>
              </a:rPr>
              <a:t>sharma</a:t>
            </a:r>
            <a:endParaRPr lang="en-GB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32498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NWCM (Unbalanced)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Group 123">
                <a:extLst>
                  <a:ext uri="{FF2B5EF4-FFF2-40B4-BE49-F238E27FC236}">
                    <a16:creationId xmlns:a16="http://schemas.microsoft.com/office/drawing/2014/main" xmlns="" id="{3945B0FB-8F76-4CB1-8F2F-4E22974ECF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53381674"/>
                  </p:ext>
                </p:extLst>
              </p:nvPr>
            </p:nvGraphicFramePr>
            <p:xfrm>
              <a:off x="905140" y="2097088"/>
              <a:ext cx="6316076" cy="3213560"/>
            </p:xfrm>
            <a:graphic>
              <a:graphicData uri="http://schemas.openxmlformats.org/drawingml/2006/table">
                <a:tbl>
                  <a:tblPr/>
                  <a:tblGrid>
                    <a:gridCol w="1915586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653994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337625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590843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  <a:gridCol w="407963">
                      <a:extLst>
                        <a:ext uri="{9D8B030D-6E8A-4147-A177-3AD203B41FA5}">
                          <a16:colId xmlns:a16="http://schemas.microsoft.com/office/drawing/2014/main" xmlns="" val="20004"/>
                        </a:ext>
                      </a:extLst>
                    </a:gridCol>
                    <a:gridCol w="576775">
                      <a:extLst>
                        <a:ext uri="{9D8B030D-6E8A-4147-A177-3AD203B41FA5}">
                          <a16:colId xmlns:a16="http://schemas.microsoft.com/office/drawing/2014/main" xmlns="" val="1342239577"/>
                        </a:ext>
                      </a:extLst>
                    </a:gridCol>
                    <a:gridCol w="464234">
                      <a:extLst>
                        <a:ext uri="{9D8B030D-6E8A-4147-A177-3AD203B41FA5}">
                          <a16:colId xmlns:a16="http://schemas.microsoft.com/office/drawing/2014/main" xmlns="" val="1127673306"/>
                        </a:ext>
                      </a:extLst>
                    </a:gridCol>
                    <a:gridCol w="1369056">
                      <a:extLst>
                        <a:ext uri="{9D8B030D-6E8A-4147-A177-3AD203B41FA5}">
                          <a16:colId xmlns:a16="http://schemas.microsoft.com/office/drawing/2014/main" xmlns="" val="20007"/>
                        </a:ext>
                      </a:extLst>
                    </a:gridCol>
                  </a:tblGrid>
                  <a:tr h="1240887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TO</a:t>
                          </a:r>
                        </a:p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Whole Sale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FROM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Factory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ea typeface="ＭＳ Ｐゴシック" pitchFamily="34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Supply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/>
                          </a:r>
                          <a:b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</a:b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Arial" charset="0"/>
                              <a:ea typeface="ＭＳ Ｐゴシック" pitchFamily="34" charset="-128"/>
                            </a:rPr>
                            <a:t>550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6"/>
                      </a:ext>
                    </a:extLst>
                  </a:tr>
                  <a:tr h="70863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Demand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Not Equal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Group 123">
                <a:extLst>
                  <a:ext uri="{FF2B5EF4-FFF2-40B4-BE49-F238E27FC236}">
                    <a16:creationId xmlns:a16="http://schemas.microsoft.com/office/drawing/2014/main" id="{3945B0FB-8F76-4CB1-8F2F-4E22974ECF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53381674"/>
                  </p:ext>
                </p:extLst>
              </p:nvPr>
            </p:nvGraphicFramePr>
            <p:xfrm>
              <a:off x="905140" y="2097088"/>
              <a:ext cx="6316076" cy="3197482"/>
            </p:xfrm>
            <a:graphic>
              <a:graphicData uri="http://schemas.openxmlformats.org/drawingml/2006/table">
                <a:tbl>
                  <a:tblPr/>
                  <a:tblGrid>
                    <a:gridCol w="191558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5399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376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9084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40796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576775">
                      <a:extLst>
                        <a:ext uri="{9D8B030D-6E8A-4147-A177-3AD203B41FA5}">
                          <a16:colId xmlns:a16="http://schemas.microsoft.com/office/drawing/2014/main" val="1342239577"/>
                        </a:ext>
                      </a:extLst>
                    </a:gridCol>
                    <a:gridCol w="464234">
                      <a:extLst>
                        <a:ext uri="{9D8B030D-6E8A-4147-A177-3AD203B41FA5}">
                          <a16:colId xmlns:a16="http://schemas.microsoft.com/office/drawing/2014/main" val="1127673306"/>
                        </a:ext>
                      </a:extLst>
                    </a:gridCol>
                    <a:gridCol w="1369056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1240887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TO</a:t>
                          </a:r>
                        </a:p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Whole Sale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FROM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Factory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196296" t="-980" r="-347531" b="-15882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292683" t="-980" r="-243293" b="-15882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376608" t="-980" r="-133333" b="-15882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Supply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952" t="-201961" r="-230159" b="-217647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Arial" charset="0"/>
                              <a:ea typeface="ＭＳ Ｐゴシック" pitchFamily="34" charset="-128"/>
                            </a:rPr>
                            <a:t>550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952" t="-299029" r="-230159" b="-115534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70863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Demand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Not Equal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10698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NWCM (Unbalanced)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Group 123">
                <a:extLst>
                  <a:ext uri="{FF2B5EF4-FFF2-40B4-BE49-F238E27FC236}">
                    <a16:creationId xmlns:a16="http://schemas.microsoft.com/office/drawing/2014/main" xmlns="" id="{3945B0FB-8F76-4CB1-8F2F-4E22974ECF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67406980"/>
                  </p:ext>
                </p:extLst>
              </p:nvPr>
            </p:nvGraphicFramePr>
            <p:xfrm>
              <a:off x="905140" y="2097088"/>
              <a:ext cx="7331337" cy="3213560"/>
            </p:xfrm>
            <a:graphic>
              <a:graphicData uri="http://schemas.openxmlformats.org/drawingml/2006/table">
                <a:tbl>
                  <a:tblPr/>
                  <a:tblGrid>
                    <a:gridCol w="1915586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653994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337625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534572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  <a:gridCol w="478301">
                      <a:extLst>
                        <a:ext uri="{9D8B030D-6E8A-4147-A177-3AD203B41FA5}">
                          <a16:colId xmlns:a16="http://schemas.microsoft.com/office/drawing/2014/main" xmlns="" val="20004"/>
                        </a:ext>
                      </a:extLst>
                    </a:gridCol>
                    <a:gridCol w="675250">
                      <a:extLst>
                        <a:ext uri="{9D8B030D-6E8A-4147-A177-3AD203B41FA5}">
                          <a16:colId xmlns:a16="http://schemas.microsoft.com/office/drawing/2014/main" xmlns="" val="1342239577"/>
                        </a:ext>
                      </a:extLst>
                    </a:gridCol>
                    <a:gridCol w="393895">
                      <a:extLst>
                        <a:ext uri="{9D8B030D-6E8A-4147-A177-3AD203B41FA5}">
                          <a16:colId xmlns:a16="http://schemas.microsoft.com/office/drawing/2014/main" xmlns="" val="1127673306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xmlns="" val="20005"/>
                        </a:ext>
                      </a:extLst>
                    </a:gridCol>
                    <a:gridCol w="464234">
                      <a:extLst>
                        <a:ext uri="{9D8B030D-6E8A-4147-A177-3AD203B41FA5}">
                          <a16:colId xmlns:a16="http://schemas.microsoft.com/office/drawing/2014/main" xmlns="" val="20006"/>
                        </a:ext>
                      </a:extLst>
                    </a:gridCol>
                    <a:gridCol w="1329240">
                      <a:extLst>
                        <a:ext uri="{9D8B030D-6E8A-4147-A177-3AD203B41FA5}">
                          <a16:colId xmlns:a16="http://schemas.microsoft.com/office/drawing/2014/main" xmlns="" val="20007"/>
                        </a:ext>
                      </a:extLst>
                    </a:gridCol>
                  </a:tblGrid>
                  <a:tr h="1240887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TO</a:t>
                          </a:r>
                        </a:p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Whole Sale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FROM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Factory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ea typeface="ＭＳ Ｐゴシック" pitchFamily="34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𝑫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Supply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/>
                          </a:r>
                          <a:b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</a:b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Arial" charset="0"/>
                              <a:ea typeface="ＭＳ Ｐゴシック" pitchFamily="34" charset="-128"/>
                            </a:rPr>
                            <a:t>550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6"/>
                      </a:ext>
                    </a:extLst>
                  </a:tr>
                  <a:tr h="70863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Demand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13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60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Group 123">
                <a:extLst>
                  <a:ext uri="{FF2B5EF4-FFF2-40B4-BE49-F238E27FC236}">
                    <a16:creationId xmlns:a16="http://schemas.microsoft.com/office/drawing/2014/main" id="{3945B0FB-8F76-4CB1-8F2F-4E22974ECF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67406980"/>
                  </p:ext>
                </p:extLst>
              </p:nvPr>
            </p:nvGraphicFramePr>
            <p:xfrm>
              <a:off x="905140" y="2097088"/>
              <a:ext cx="7331337" cy="3197482"/>
            </p:xfrm>
            <a:graphic>
              <a:graphicData uri="http://schemas.openxmlformats.org/drawingml/2006/table">
                <a:tbl>
                  <a:tblPr/>
                  <a:tblGrid>
                    <a:gridCol w="191558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5399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376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457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478301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675250">
                      <a:extLst>
                        <a:ext uri="{9D8B030D-6E8A-4147-A177-3AD203B41FA5}">
                          <a16:colId xmlns:a16="http://schemas.microsoft.com/office/drawing/2014/main" val="1342239577"/>
                        </a:ext>
                      </a:extLst>
                    </a:gridCol>
                    <a:gridCol w="393895">
                      <a:extLst>
                        <a:ext uri="{9D8B030D-6E8A-4147-A177-3AD203B41FA5}">
                          <a16:colId xmlns:a16="http://schemas.microsoft.com/office/drawing/2014/main" val="1127673306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464234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1329240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1240887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TO</a:t>
                          </a:r>
                        </a:p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Whole Sale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FROM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Factory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196296" t="-980" r="-450617" b="-15882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287425" t="-980" r="-337126" b="-15882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369714" t="-980" r="-221714" b="-15882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492216" t="-980" r="-132335" b="-15882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Supply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952" t="-201961" r="-283175" b="-217647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Arial" charset="0"/>
                              <a:ea typeface="ＭＳ Ｐゴシック" pitchFamily="34" charset="-128"/>
                            </a:rPr>
                            <a:t>550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952" t="-299029" r="-283175" b="-115534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70863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Demand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13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60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99836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Initial basic feasible solution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m+n-1,</a:t>
            </a:r>
          </a:p>
          <a:p>
            <a:pPr marL="0" indent="0">
              <a:buNone/>
            </a:pPr>
            <a:r>
              <a:rPr lang="en-US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Where m = no of rows,</a:t>
            </a:r>
          </a:p>
          <a:p>
            <a:pPr marL="0" indent="0">
              <a:buNone/>
            </a:pPr>
            <a:r>
              <a:rPr lang="en-US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n=no of columns,</a:t>
            </a:r>
          </a:p>
          <a:p>
            <a:pPr marL="0" indent="0">
              <a:buNone/>
            </a:pPr>
            <a:r>
              <a:rPr lang="en-US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m=2,</a:t>
            </a:r>
          </a:p>
          <a:p>
            <a:pPr marL="0" indent="0">
              <a:buNone/>
            </a:pPr>
            <a:r>
              <a:rPr lang="en-US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n=4,</a:t>
            </a:r>
          </a:p>
          <a:p>
            <a:pPr marL="0" indent="0">
              <a:buNone/>
            </a:pPr>
            <a:r>
              <a:rPr lang="en-US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m+n-1=2+4-1=5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7286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NWCM (Unbalanced)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Group 123">
                <a:extLst>
                  <a:ext uri="{FF2B5EF4-FFF2-40B4-BE49-F238E27FC236}">
                    <a16:creationId xmlns:a16="http://schemas.microsoft.com/office/drawing/2014/main" xmlns="" id="{3945B0FB-8F76-4CB1-8F2F-4E22974ECF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23955787"/>
                  </p:ext>
                </p:extLst>
              </p:nvPr>
            </p:nvGraphicFramePr>
            <p:xfrm>
              <a:off x="905140" y="2097088"/>
              <a:ext cx="7331337" cy="3213560"/>
            </p:xfrm>
            <a:graphic>
              <a:graphicData uri="http://schemas.openxmlformats.org/drawingml/2006/table">
                <a:tbl>
                  <a:tblPr/>
                  <a:tblGrid>
                    <a:gridCol w="1542638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872197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436099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590843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  <a:gridCol w="478301">
                      <a:extLst>
                        <a:ext uri="{9D8B030D-6E8A-4147-A177-3AD203B41FA5}">
                          <a16:colId xmlns:a16="http://schemas.microsoft.com/office/drawing/2014/main" xmlns="" val="20004"/>
                        </a:ext>
                      </a:extLst>
                    </a:gridCol>
                    <a:gridCol w="675250">
                      <a:extLst>
                        <a:ext uri="{9D8B030D-6E8A-4147-A177-3AD203B41FA5}">
                          <a16:colId xmlns:a16="http://schemas.microsoft.com/office/drawing/2014/main" xmlns="" val="1342239577"/>
                        </a:ext>
                      </a:extLst>
                    </a:gridCol>
                    <a:gridCol w="393895">
                      <a:extLst>
                        <a:ext uri="{9D8B030D-6E8A-4147-A177-3AD203B41FA5}">
                          <a16:colId xmlns:a16="http://schemas.microsoft.com/office/drawing/2014/main" xmlns="" val="1127673306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xmlns="" val="20005"/>
                        </a:ext>
                      </a:extLst>
                    </a:gridCol>
                    <a:gridCol w="464234">
                      <a:extLst>
                        <a:ext uri="{9D8B030D-6E8A-4147-A177-3AD203B41FA5}">
                          <a16:colId xmlns:a16="http://schemas.microsoft.com/office/drawing/2014/main" xmlns="" val="20006"/>
                        </a:ext>
                      </a:extLst>
                    </a:gridCol>
                    <a:gridCol w="1329240">
                      <a:extLst>
                        <a:ext uri="{9D8B030D-6E8A-4147-A177-3AD203B41FA5}">
                          <a16:colId xmlns:a16="http://schemas.microsoft.com/office/drawing/2014/main" xmlns="" val="20007"/>
                        </a:ext>
                      </a:extLst>
                    </a:gridCol>
                  </a:tblGrid>
                  <a:tr h="1240887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TO</a:t>
                          </a:r>
                        </a:p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Whole Sale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FROM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Factory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ea typeface="ＭＳ Ｐゴシック" pitchFamily="34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𝑫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Supply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/>
                          </a:r>
                          <a:b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</a:b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Arial" charset="0"/>
                              <a:ea typeface="ＭＳ Ｐゴシック" pitchFamily="34" charset="-128"/>
                            </a:rPr>
                            <a:t>550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40-25=15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6"/>
                      </a:ext>
                    </a:extLst>
                  </a:tr>
                  <a:tr h="70863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Demand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25-25=0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13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Group 123">
                <a:extLst>
                  <a:ext uri="{FF2B5EF4-FFF2-40B4-BE49-F238E27FC236}">
                    <a16:creationId xmlns:a16="http://schemas.microsoft.com/office/drawing/2014/main" id="{3945B0FB-8F76-4CB1-8F2F-4E22974ECF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23955787"/>
                  </p:ext>
                </p:extLst>
              </p:nvPr>
            </p:nvGraphicFramePr>
            <p:xfrm>
              <a:off x="905140" y="2097088"/>
              <a:ext cx="7331337" cy="3197482"/>
            </p:xfrm>
            <a:graphic>
              <a:graphicData uri="http://schemas.openxmlformats.org/drawingml/2006/table">
                <a:tbl>
                  <a:tblPr/>
                  <a:tblGrid>
                    <a:gridCol w="154263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7219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3609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9084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478301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675250">
                      <a:extLst>
                        <a:ext uri="{9D8B030D-6E8A-4147-A177-3AD203B41FA5}">
                          <a16:colId xmlns:a16="http://schemas.microsoft.com/office/drawing/2014/main" val="1342239577"/>
                        </a:ext>
                      </a:extLst>
                    </a:gridCol>
                    <a:gridCol w="393895">
                      <a:extLst>
                        <a:ext uri="{9D8B030D-6E8A-4147-A177-3AD203B41FA5}">
                          <a16:colId xmlns:a16="http://schemas.microsoft.com/office/drawing/2014/main" val="1127673306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464234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1329240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1240887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TO</a:t>
                          </a:r>
                        </a:p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Whole Sale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FROM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Factory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119070" t="-980" r="-343721" b="-15882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267614" t="-980" r="-319886" b="-15882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369714" t="-980" r="-221714" b="-15882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492216" t="-980" r="-132335" b="-15882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Supply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1186" t="-201961" r="-377075" b="-217647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Arial" charset="0"/>
                              <a:ea typeface="ＭＳ Ｐゴシック" pitchFamily="34" charset="-128"/>
                            </a:rPr>
                            <a:t>550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40-25=15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1186" t="-299029" r="-377075" b="-115534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70863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Demand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25-25=0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13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56564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NWCM (Unbalanced)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Group 123">
                <a:extLst>
                  <a:ext uri="{FF2B5EF4-FFF2-40B4-BE49-F238E27FC236}">
                    <a16:creationId xmlns:a16="http://schemas.microsoft.com/office/drawing/2014/main" xmlns="" id="{3945B0FB-8F76-4CB1-8F2F-4E22974ECF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80621713"/>
                  </p:ext>
                </p:extLst>
              </p:nvPr>
            </p:nvGraphicFramePr>
            <p:xfrm>
              <a:off x="905140" y="2097088"/>
              <a:ext cx="6023041" cy="3213560"/>
            </p:xfrm>
            <a:graphic>
              <a:graphicData uri="http://schemas.openxmlformats.org/drawingml/2006/table">
                <a:tbl>
                  <a:tblPr/>
                  <a:tblGrid>
                    <a:gridCol w="1542638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590843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  <a:gridCol w="478301">
                      <a:extLst>
                        <a:ext uri="{9D8B030D-6E8A-4147-A177-3AD203B41FA5}">
                          <a16:colId xmlns:a16="http://schemas.microsoft.com/office/drawing/2014/main" xmlns="" val="20004"/>
                        </a:ext>
                      </a:extLst>
                    </a:gridCol>
                    <a:gridCol w="675250">
                      <a:extLst>
                        <a:ext uri="{9D8B030D-6E8A-4147-A177-3AD203B41FA5}">
                          <a16:colId xmlns:a16="http://schemas.microsoft.com/office/drawing/2014/main" xmlns="" val="1342239577"/>
                        </a:ext>
                      </a:extLst>
                    </a:gridCol>
                    <a:gridCol w="393895">
                      <a:extLst>
                        <a:ext uri="{9D8B030D-6E8A-4147-A177-3AD203B41FA5}">
                          <a16:colId xmlns:a16="http://schemas.microsoft.com/office/drawing/2014/main" xmlns="" val="1127673306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xmlns="" val="20005"/>
                        </a:ext>
                      </a:extLst>
                    </a:gridCol>
                    <a:gridCol w="464234">
                      <a:extLst>
                        <a:ext uri="{9D8B030D-6E8A-4147-A177-3AD203B41FA5}">
                          <a16:colId xmlns:a16="http://schemas.microsoft.com/office/drawing/2014/main" xmlns="" val="20006"/>
                        </a:ext>
                      </a:extLst>
                    </a:gridCol>
                    <a:gridCol w="1329240">
                      <a:extLst>
                        <a:ext uri="{9D8B030D-6E8A-4147-A177-3AD203B41FA5}">
                          <a16:colId xmlns:a16="http://schemas.microsoft.com/office/drawing/2014/main" xmlns="" val="20007"/>
                        </a:ext>
                      </a:extLst>
                    </a:gridCol>
                  </a:tblGrid>
                  <a:tr h="1240887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TO</a:t>
                          </a:r>
                        </a:p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Whole Sale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FROM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Factory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ea typeface="ＭＳ Ｐゴシック" pitchFamily="34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𝑫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Supply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/>
                          </a:r>
                          <a:b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</a:b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15-10=5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6"/>
                      </a:ext>
                    </a:extLst>
                  </a:tr>
                  <a:tr h="70863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Demand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10-10=0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13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Group 123">
                <a:extLst>
                  <a:ext uri="{FF2B5EF4-FFF2-40B4-BE49-F238E27FC236}">
                    <a16:creationId xmlns:a16="http://schemas.microsoft.com/office/drawing/2014/main" id="{3945B0FB-8F76-4CB1-8F2F-4E22974ECF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80621713"/>
                  </p:ext>
                </p:extLst>
              </p:nvPr>
            </p:nvGraphicFramePr>
            <p:xfrm>
              <a:off x="905140" y="2097088"/>
              <a:ext cx="6023041" cy="3197482"/>
            </p:xfrm>
            <a:graphic>
              <a:graphicData uri="http://schemas.openxmlformats.org/drawingml/2006/table">
                <a:tbl>
                  <a:tblPr/>
                  <a:tblGrid>
                    <a:gridCol w="154263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9084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478301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675250">
                      <a:extLst>
                        <a:ext uri="{9D8B030D-6E8A-4147-A177-3AD203B41FA5}">
                          <a16:colId xmlns:a16="http://schemas.microsoft.com/office/drawing/2014/main" val="1342239577"/>
                        </a:ext>
                      </a:extLst>
                    </a:gridCol>
                    <a:gridCol w="393895">
                      <a:extLst>
                        <a:ext uri="{9D8B030D-6E8A-4147-A177-3AD203B41FA5}">
                          <a16:colId xmlns:a16="http://schemas.microsoft.com/office/drawing/2014/main" val="1127673306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464234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1329240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1240887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TO</a:t>
                          </a:r>
                        </a:p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Whole Sale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FROM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Factory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145455" t="-980" r="-319886" b="-15882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246857" t="-980" r="-221714" b="-15882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363473" t="-980" r="-132335" b="-15882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Supply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1186" t="-201961" r="-292095" b="-217647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15-10=5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1186" t="-299029" r="-292095" b="-115534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70863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Demand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10-10=0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13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4778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NWCM (Unbalanced)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Group 123">
                <a:extLst>
                  <a:ext uri="{FF2B5EF4-FFF2-40B4-BE49-F238E27FC236}">
                    <a16:creationId xmlns:a16="http://schemas.microsoft.com/office/drawing/2014/main" xmlns="" id="{3945B0FB-8F76-4CB1-8F2F-4E22974ECF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56268082"/>
                  </p:ext>
                </p:extLst>
              </p:nvPr>
            </p:nvGraphicFramePr>
            <p:xfrm>
              <a:off x="905140" y="2097088"/>
              <a:ext cx="4953897" cy="3213560"/>
            </p:xfrm>
            <a:graphic>
              <a:graphicData uri="http://schemas.openxmlformats.org/drawingml/2006/table">
                <a:tbl>
                  <a:tblPr/>
                  <a:tblGrid>
                    <a:gridCol w="1542638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675250">
                      <a:extLst>
                        <a:ext uri="{9D8B030D-6E8A-4147-A177-3AD203B41FA5}">
                          <a16:colId xmlns:a16="http://schemas.microsoft.com/office/drawing/2014/main" xmlns="" val="1342239577"/>
                        </a:ext>
                      </a:extLst>
                    </a:gridCol>
                    <a:gridCol w="393895">
                      <a:extLst>
                        <a:ext uri="{9D8B030D-6E8A-4147-A177-3AD203B41FA5}">
                          <a16:colId xmlns:a16="http://schemas.microsoft.com/office/drawing/2014/main" xmlns="" val="1127673306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xmlns="" val="20005"/>
                        </a:ext>
                      </a:extLst>
                    </a:gridCol>
                    <a:gridCol w="464234">
                      <a:extLst>
                        <a:ext uri="{9D8B030D-6E8A-4147-A177-3AD203B41FA5}">
                          <a16:colId xmlns:a16="http://schemas.microsoft.com/office/drawing/2014/main" xmlns="" val="20006"/>
                        </a:ext>
                      </a:extLst>
                    </a:gridCol>
                    <a:gridCol w="1329240">
                      <a:extLst>
                        <a:ext uri="{9D8B030D-6E8A-4147-A177-3AD203B41FA5}">
                          <a16:colId xmlns:a16="http://schemas.microsoft.com/office/drawing/2014/main" xmlns="" val="20007"/>
                        </a:ext>
                      </a:extLst>
                    </a:gridCol>
                  </a:tblGrid>
                  <a:tr h="1240887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TO</a:t>
                          </a:r>
                        </a:p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Whole Sale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FROM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Factory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ea typeface="ＭＳ Ｐゴシック" pitchFamily="34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𝑫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Supply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/>
                          </a:r>
                          <a:b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</a:b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5-5=0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6"/>
                      </a:ext>
                    </a:extLst>
                  </a:tr>
                  <a:tr h="70863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Demand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12-5=7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13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Group 123">
                <a:extLst>
                  <a:ext uri="{FF2B5EF4-FFF2-40B4-BE49-F238E27FC236}">
                    <a16:creationId xmlns:a16="http://schemas.microsoft.com/office/drawing/2014/main" id="{3945B0FB-8F76-4CB1-8F2F-4E22974ECF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56268082"/>
                  </p:ext>
                </p:extLst>
              </p:nvPr>
            </p:nvGraphicFramePr>
            <p:xfrm>
              <a:off x="905140" y="2097088"/>
              <a:ext cx="4953897" cy="3197482"/>
            </p:xfrm>
            <a:graphic>
              <a:graphicData uri="http://schemas.openxmlformats.org/drawingml/2006/table">
                <a:tbl>
                  <a:tblPr/>
                  <a:tblGrid>
                    <a:gridCol w="154263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75250">
                      <a:extLst>
                        <a:ext uri="{9D8B030D-6E8A-4147-A177-3AD203B41FA5}">
                          <a16:colId xmlns:a16="http://schemas.microsoft.com/office/drawing/2014/main" val="1342239577"/>
                        </a:ext>
                      </a:extLst>
                    </a:gridCol>
                    <a:gridCol w="393895">
                      <a:extLst>
                        <a:ext uri="{9D8B030D-6E8A-4147-A177-3AD203B41FA5}">
                          <a16:colId xmlns:a16="http://schemas.microsoft.com/office/drawing/2014/main" val="1127673306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464234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1329240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1240887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TO</a:t>
                          </a:r>
                        </a:p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Whole Sale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FROM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Factory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145455" t="-980" r="-220455" b="-15882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258683" t="-980" r="-132335" b="-15882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Supply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1186" t="-201961" r="-222925" b="-217647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5-5=0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1186" t="-299029" r="-222925" b="-115534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70863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Demand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12-5=7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13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82784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NWCM (Unbalanced)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Group 123">
                <a:extLst>
                  <a:ext uri="{FF2B5EF4-FFF2-40B4-BE49-F238E27FC236}">
                    <a16:creationId xmlns:a16="http://schemas.microsoft.com/office/drawing/2014/main" xmlns="" id="{3945B0FB-8F76-4CB1-8F2F-4E22974ECF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46557644"/>
                  </p:ext>
                </p:extLst>
              </p:nvPr>
            </p:nvGraphicFramePr>
            <p:xfrm>
              <a:off x="905140" y="2097088"/>
              <a:ext cx="4953897" cy="2573502"/>
            </p:xfrm>
            <a:graphic>
              <a:graphicData uri="http://schemas.openxmlformats.org/drawingml/2006/table">
                <a:tbl>
                  <a:tblPr/>
                  <a:tblGrid>
                    <a:gridCol w="1542638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675250">
                      <a:extLst>
                        <a:ext uri="{9D8B030D-6E8A-4147-A177-3AD203B41FA5}">
                          <a16:colId xmlns:a16="http://schemas.microsoft.com/office/drawing/2014/main" xmlns="" val="1342239577"/>
                        </a:ext>
                      </a:extLst>
                    </a:gridCol>
                    <a:gridCol w="393895">
                      <a:extLst>
                        <a:ext uri="{9D8B030D-6E8A-4147-A177-3AD203B41FA5}">
                          <a16:colId xmlns:a16="http://schemas.microsoft.com/office/drawing/2014/main" xmlns="" val="1127673306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xmlns="" val="20005"/>
                        </a:ext>
                      </a:extLst>
                    </a:gridCol>
                    <a:gridCol w="464234">
                      <a:extLst>
                        <a:ext uri="{9D8B030D-6E8A-4147-A177-3AD203B41FA5}">
                          <a16:colId xmlns:a16="http://schemas.microsoft.com/office/drawing/2014/main" xmlns="" val="20006"/>
                        </a:ext>
                      </a:extLst>
                    </a:gridCol>
                    <a:gridCol w="1329240">
                      <a:extLst>
                        <a:ext uri="{9D8B030D-6E8A-4147-A177-3AD203B41FA5}">
                          <a16:colId xmlns:a16="http://schemas.microsoft.com/office/drawing/2014/main" xmlns="" val="20007"/>
                        </a:ext>
                      </a:extLst>
                    </a:gridCol>
                  </a:tblGrid>
                  <a:tr h="1240887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TO</a:t>
                          </a:r>
                        </a:p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Whole Sale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FROM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Factory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ea typeface="ＭＳ Ｐゴシック" pitchFamily="34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𝑫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Supply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7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20-7=13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6"/>
                      </a:ext>
                    </a:extLst>
                  </a:tr>
                  <a:tr h="70863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Demand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7-7=0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13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Group 123">
                <a:extLst>
                  <a:ext uri="{FF2B5EF4-FFF2-40B4-BE49-F238E27FC236}">
                    <a16:creationId xmlns:a16="http://schemas.microsoft.com/office/drawing/2014/main" id="{3945B0FB-8F76-4CB1-8F2F-4E22974ECF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46557644"/>
                  </p:ext>
                </p:extLst>
              </p:nvPr>
            </p:nvGraphicFramePr>
            <p:xfrm>
              <a:off x="905140" y="2097088"/>
              <a:ext cx="4953897" cy="2573502"/>
            </p:xfrm>
            <a:graphic>
              <a:graphicData uri="http://schemas.openxmlformats.org/drawingml/2006/table">
                <a:tbl>
                  <a:tblPr/>
                  <a:tblGrid>
                    <a:gridCol w="154263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75250">
                      <a:extLst>
                        <a:ext uri="{9D8B030D-6E8A-4147-A177-3AD203B41FA5}">
                          <a16:colId xmlns:a16="http://schemas.microsoft.com/office/drawing/2014/main" val="1342239577"/>
                        </a:ext>
                      </a:extLst>
                    </a:gridCol>
                    <a:gridCol w="393895">
                      <a:extLst>
                        <a:ext uri="{9D8B030D-6E8A-4147-A177-3AD203B41FA5}">
                          <a16:colId xmlns:a16="http://schemas.microsoft.com/office/drawing/2014/main" val="1127673306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464234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1329240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1240887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TO</a:t>
                          </a:r>
                        </a:p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Whole Sale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FROM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Factory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145455" t="-980" r="-220455" b="-10882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258683" t="-980" r="-132335" b="-10882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Supply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1186" t="-200000" r="-222925" b="-115534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7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20-7=13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70863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Demand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7-7=0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13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1287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NWCM (Unbalanced)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Group 123">
                <a:extLst>
                  <a:ext uri="{FF2B5EF4-FFF2-40B4-BE49-F238E27FC236}">
                    <a16:creationId xmlns:a16="http://schemas.microsoft.com/office/drawing/2014/main" xmlns="" id="{3945B0FB-8F76-4CB1-8F2F-4E22974ECF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73338284"/>
                  </p:ext>
                </p:extLst>
              </p:nvPr>
            </p:nvGraphicFramePr>
            <p:xfrm>
              <a:off x="905140" y="2097088"/>
              <a:ext cx="3884752" cy="2573502"/>
            </p:xfrm>
            <a:graphic>
              <a:graphicData uri="http://schemas.openxmlformats.org/drawingml/2006/table">
                <a:tbl>
                  <a:tblPr/>
                  <a:tblGrid>
                    <a:gridCol w="1542638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xmlns="" val="20005"/>
                        </a:ext>
                      </a:extLst>
                    </a:gridCol>
                    <a:gridCol w="464234">
                      <a:extLst>
                        <a:ext uri="{9D8B030D-6E8A-4147-A177-3AD203B41FA5}">
                          <a16:colId xmlns:a16="http://schemas.microsoft.com/office/drawing/2014/main" xmlns="" val="20006"/>
                        </a:ext>
                      </a:extLst>
                    </a:gridCol>
                    <a:gridCol w="1329240">
                      <a:extLst>
                        <a:ext uri="{9D8B030D-6E8A-4147-A177-3AD203B41FA5}">
                          <a16:colId xmlns:a16="http://schemas.microsoft.com/office/drawing/2014/main" xmlns="" val="20007"/>
                        </a:ext>
                      </a:extLst>
                    </a:gridCol>
                  </a:tblGrid>
                  <a:tr h="1240887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TO</a:t>
                          </a:r>
                        </a:p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Whole Sale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FROM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Factory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𝑫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Supply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13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13-13=0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6"/>
                      </a:ext>
                    </a:extLst>
                  </a:tr>
                  <a:tr h="70863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Demand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13-13=0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Group 123">
                <a:extLst>
                  <a:ext uri="{FF2B5EF4-FFF2-40B4-BE49-F238E27FC236}">
                    <a16:creationId xmlns:a16="http://schemas.microsoft.com/office/drawing/2014/main" id="{3945B0FB-8F76-4CB1-8F2F-4E22974ECF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73338284"/>
                  </p:ext>
                </p:extLst>
              </p:nvPr>
            </p:nvGraphicFramePr>
            <p:xfrm>
              <a:off x="905140" y="2097088"/>
              <a:ext cx="3884752" cy="2573502"/>
            </p:xfrm>
            <a:graphic>
              <a:graphicData uri="http://schemas.openxmlformats.org/drawingml/2006/table">
                <a:tbl>
                  <a:tblPr/>
                  <a:tblGrid>
                    <a:gridCol w="154263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464234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1329240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1240887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TO</a:t>
                          </a:r>
                        </a:p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Whole Sale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FROM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Factory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153293" t="-980" r="-132335" b="-10882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Supply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1186" t="-200000" r="-153360" b="-115534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13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13-13=0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70863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Demand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13-13=0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xmlns="" id="{FFD87DFE-42B5-4B7D-BF01-FC9F1E2DF3FA}"/>
                  </a:ext>
                </a:extLst>
              </p:cNvPr>
              <p:cNvSpPr/>
              <p:nvPr/>
            </p:nvSpPr>
            <p:spPr>
              <a:xfrm>
                <a:off x="905140" y="4934734"/>
                <a:ext cx="7380419" cy="16312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Total</m:t>
                    </m:r>
                    <m:r>
                      <a:rPr lang="en-US" sz="20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Cost</m:t>
                    </m:r>
                    <m:r>
                      <a:rPr lang="en-US" sz="2000" b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550</m:t>
                    </m:r>
                    <m:r>
                      <a:rPr lang="en-US" sz="20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000" b="0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sz="20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2000" dirty="0">
                    <a:solidFill>
                      <a:prstClr val="black"/>
                    </a:solidFill>
                  </a:rPr>
                  <a:t> + 300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0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</m:t>
                    </m:r>
                    <m:r>
                      <a:rPr lang="en-US" sz="20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+40</m:t>
                    </m:r>
                    <m:r>
                      <a:rPr lang="en-US" sz="20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sz="20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0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  <m:r>
                      <a:rPr lang="en-US" sz="20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  <m:r>
                      <a:rPr lang="en-US" sz="20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00</m:t>
                    </m:r>
                    <m:r>
                      <a:rPr lang="en-US" sz="20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0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</m:t>
                    </m:r>
                    <m:r>
                      <a:rPr lang="en-US" sz="20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0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sz="20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0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13</m:t>
                    </m:r>
                  </m:oMath>
                </a14:m>
                <a:endParaRPr lang="en-US" sz="2000" dirty="0">
                  <a:solidFill>
                    <a:prstClr val="black"/>
                  </a:solidFill>
                  <a:ea typeface="Cambria Math" panose="02040503050406030204" pitchFamily="18" charset="0"/>
                </a:endParaRPr>
              </a:p>
              <a:p>
                <a:pPr lvl="0"/>
                <a:endParaRPr lang="en-US" sz="2000" dirty="0">
                  <a:solidFill>
                    <a:prstClr val="black"/>
                  </a:solidFill>
                  <a:ea typeface="Cambria Math" panose="02040503050406030204" pitchFamily="18" charset="0"/>
                </a:endParaRPr>
              </a:p>
              <a:p>
                <a:pPr lvl="0"/>
                <a:r>
                  <a:rPr lang="en-US" sz="2000" dirty="0">
                    <a:solidFill>
                      <a:prstClr val="black"/>
                    </a:solidFill>
                  </a:rPr>
                  <a:t>                 =13750+3000+2000+700+0</a:t>
                </a:r>
              </a:p>
              <a:p>
                <a:pPr lvl="0"/>
                <a:endParaRPr lang="en-US" sz="2000" dirty="0">
                  <a:solidFill>
                    <a:prstClr val="black"/>
                  </a:solidFill>
                </a:endParaRPr>
              </a:p>
              <a:p>
                <a:pPr lvl="0"/>
                <a:r>
                  <a:rPr lang="en-US" sz="2000" dirty="0">
                    <a:solidFill>
                      <a:prstClr val="black"/>
                    </a:solidFill>
                  </a:rPr>
                  <a:t>                 =19450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FD87DFE-42B5-4B7D-BF01-FC9F1E2DF3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140" y="4934734"/>
                <a:ext cx="7380419" cy="1631216"/>
              </a:xfrm>
              <a:prstGeom prst="rect">
                <a:avLst/>
              </a:prstGeom>
              <a:blipFill>
                <a:blip r:embed="rId3"/>
                <a:stretch>
                  <a:fillRect t="-2247" b="-59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2890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Least cost method (Unbalanced)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Group 123">
                <a:extLst>
                  <a:ext uri="{FF2B5EF4-FFF2-40B4-BE49-F238E27FC236}">
                    <a16:creationId xmlns:a16="http://schemas.microsoft.com/office/drawing/2014/main" xmlns="" id="{3945B0FB-8F76-4CB1-8F2F-4E22974ECFC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05140" y="2097088"/>
              <a:ext cx="6316076" cy="3213560"/>
            </p:xfrm>
            <a:graphic>
              <a:graphicData uri="http://schemas.openxmlformats.org/drawingml/2006/table">
                <a:tbl>
                  <a:tblPr/>
                  <a:tblGrid>
                    <a:gridCol w="1915586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653994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337625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590843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  <a:gridCol w="407963">
                      <a:extLst>
                        <a:ext uri="{9D8B030D-6E8A-4147-A177-3AD203B41FA5}">
                          <a16:colId xmlns:a16="http://schemas.microsoft.com/office/drawing/2014/main" xmlns="" val="20004"/>
                        </a:ext>
                      </a:extLst>
                    </a:gridCol>
                    <a:gridCol w="576775">
                      <a:extLst>
                        <a:ext uri="{9D8B030D-6E8A-4147-A177-3AD203B41FA5}">
                          <a16:colId xmlns:a16="http://schemas.microsoft.com/office/drawing/2014/main" xmlns="" val="1342239577"/>
                        </a:ext>
                      </a:extLst>
                    </a:gridCol>
                    <a:gridCol w="464234">
                      <a:extLst>
                        <a:ext uri="{9D8B030D-6E8A-4147-A177-3AD203B41FA5}">
                          <a16:colId xmlns:a16="http://schemas.microsoft.com/office/drawing/2014/main" xmlns="" val="1127673306"/>
                        </a:ext>
                      </a:extLst>
                    </a:gridCol>
                    <a:gridCol w="1369056">
                      <a:extLst>
                        <a:ext uri="{9D8B030D-6E8A-4147-A177-3AD203B41FA5}">
                          <a16:colId xmlns:a16="http://schemas.microsoft.com/office/drawing/2014/main" xmlns="" val="20007"/>
                        </a:ext>
                      </a:extLst>
                    </a:gridCol>
                  </a:tblGrid>
                  <a:tr h="1240887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TO</a:t>
                          </a:r>
                        </a:p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Whole Sale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FROM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Factory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ea typeface="ＭＳ Ｐゴシック" pitchFamily="34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Supply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/>
                          </a:r>
                          <a:b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</a:b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Arial" charset="0"/>
                              <a:ea typeface="ＭＳ Ｐゴシック" pitchFamily="34" charset="-128"/>
                            </a:rPr>
                            <a:t>550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6"/>
                      </a:ext>
                    </a:extLst>
                  </a:tr>
                  <a:tr h="70863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Demand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Not Equal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Group 123">
                <a:extLst>
                  <a:ext uri="{FF2B5EF4-FFF2-40B4-BE49-F238E27FC236}">
                    <a16:creationId xmlns:a16="http://schemas.microsoft.com/office/drawing/2014/main" id="{3945B0FB-8F76-4CB1-8F2F-4E22974ECFC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05140" y="2097088"/>
              <a:ext cx="6316076" cy="3197482"/>
            </p:xfrm>
            <a:graphic>
              <a:graphicData uri="http://schemas.openxmlformats.org/drawingml/2006/table">
                <a:tbl>
                  <a:tblPr/>
                  <a:tblGrid>
                    <a:gridCol w="191558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5399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376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9084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40796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576775">
                      <a:extLst>
                        <a:ext uri="{9D8B030D-6E8A-4147-A177-3AD203B41FA5}">
                          <a16:colId xmlns:a16="http://schemas.microsoft.com/office/drawing/2014/main" val="1342239577"/>
                        </a:ext>
                      </a:extLst>
                    </a:gridCol>
                    <a:gridCol w="464234">
                      <a:extLst>
                        <a:ext uri="{9D8B030D-6E8A-4147-A177-3AD203B41FA5}">
                          <a16:colId xmlns:a16="http://schemas.microsoft.com/office/drawing/2014/main" val="1127673306"/>
                        </a:ext>
                      </a:extLst>
                    </a:gridCol>
                    <a:gridCol w="1369056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1240887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TO</a:t>
                          </a:r>
                        </a:p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Whole Sale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FROM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Factory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196296" t="-980" r="-347531" b="-15882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292683" t="-980" r="-243293" b="-15882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376608" t="-980" r="-133333" b="-15882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Supply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952" t="-201961" r="-230159" b="-217647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Arial" charset="0"/>
                              <a:ea typeface="ＭＳ Ｐゴシック" pitchFamily="34" charset="-128"/>
                            </a:rPr>
                            <a:t>550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952" t="-299029" r="-230159" b="-115534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70863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Demand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Not Equal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86319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Least cost method (Unbalanced)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Group 123">
                <a:extLst>
                  <a:ext uri="{FF2B5EF4-FFF2-40B4-BE49-F238E27FC236}">
                    <a16:creationId xmlns:a16="http://schemas.microsoft.com/office/drawing/2014/main" xmlns="" id="{3945B0FB-8F76-4CB1-8F2F-4E22974ECFC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05140" y="2097088"/>
              <a:ext cx="7331337" cy="3213560"/>
            </p:xfrm>
            <a:graphic>
              <a:graphicData uri="http://schemas.openxmlformats.org/drawingml/2006/table">
                <a:tbl>
                  <a:tblPr/>
                  <a:tblGrid>
                    <a:gridCol w="1915586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653994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337625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534572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  <a:gridCol w="478301">
                      <a:extLst>
                        <a:ext uri="{9D8B030D-6E8A-4147-A177-3AD203B41FA5}">
                          <a16:colId xmlns:a16="http://schemas.microsoft.com/office/drawing/2014/main" xmlns="" val="20004"/>
                        </a:ext>
                      </a:extLst>
                    </a:gridCol>
                    <a:gridCol w="675250">
                      <a:extLst>
                        <a:ext uri="{9D8B030D-6E8A-4147-A177-3AD203B41FA5}">
                          <a16:colId xmlns:a16="http://schemas.microsoft.com/office/drawing/2014/main" xmlns="" val="1342239577"/>
                        </a:ext>
                      </a:extLst>
                    </a:gridCol>
                    <a:gridCol w="393895">
                      <a:extLst>
                        <a:ext uri="{9D8B030D-6E8A-4147-A177-3AD203B41FA5}">
                          <a16:colId xmlns:a16="http://schemas.microsoft.com/office/drawing/2014/main" xmlns="" val="1127673306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xmlns="" val="20005"/>
                        </a:ext>
                      </a:extLst>
                    </a:gridCol>
                    <a:gridCol w="464234">
                      <a:extLst>
                        <a:ext uri="{9D8B030D-6E8A-4147-A177-3AD203B41FA5}">
                          <a16:colId xmlns:a16="http://schemas.microsoft.com/office/drawing/2014/main" xmlns="" val="20006"/>
                        </a:ext>
                      </a:extLst>
                    </a:gridCol>
                    <a:gridCol w="1329240">
                      <a:extLst>
                        <a:ext uri="{9D8B030D-6E8A-4147-A177-3AD203B41FA5}">
                          <a16:colId xmlns:a16="http://schemas.microsoft.com/office/drawing/2014/main" xmlns="" val="20007"/>
                        </a:ext>
                      </a:extLst>
                    </a:gridCol>
                  </a:tblGrid>
                  <a:tr h="1240887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TO</a:t>
                          </a:r>
                        </a:p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Whole Sale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FROM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Factory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ea typeface="ＭＳ Ｐゴシック" pitchFamily="34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𝑫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Supply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/>
                          </a:r>
                          <a:b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</a:b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Arial" charset="0"/>
                              <a:ea typeface="ＭＳ Ｐゴシック" pitchFamily="34" charset="-128"/>
                            </a:rPr>
                            <a:t>550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6"/>
                      </a:ext>
                    </a:extLst>
                  </a:tr>
                  <a:tr h="70863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Demand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13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60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Group 123">
                <a:extLst>
                  <a:ext uri="{FF2B5EF4-FFF2-40B4-BE49-F238E27FC236}">
                    <a16:creationId xmlns:a16="http://schemas.microsoft.com/office/drawing/2014/main" id="{3945B0FB-8F76-4CB1-8F2F-4E22974ECFC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05140" y="2097088"/>
              <a:ext cx="7331337" cy="3197482"/>
            </p:xfrm>
            <a:graphic>
              <a:graphicData uri="http://schemas.openxmlformats.org/drawingml/2006/table">
                <a:tbl>
                  <a:tblPr/>
                  <a:tblGrid>
                    <a:gridCol w="191558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5399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376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457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478301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675250">
                      <a:extLst>
                        <a:ext uri="{9D8B030D-6E8A-4147-A177-3AD203B41FA5}">
                          <a16:colId xmlns:a16="http://schemas.microsoft.com/office/drawing/2014/main" val="1342239577"/>
                        </a:ext>
                      </a:extLst>
                    </a:gridCol>
                    <a:gridCol w="393895">
                      <a:extLst>
                        <a:ext uri="{9D8B030D-6E8A-4147-A177-3AD203B41FA5}">
                          <a16:colId xmlns:a16="http://schemas.microsoft.com/office/drawing/2014/main" val="1127673306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464234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1329240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1240887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TO</a:t>
                          </a:r>
                        </a:p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Whole Sale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FROM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Factory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196296" t="-980" r="-450617" b="-15882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287425" t="-980" r="-337126" b="-15882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369714" t="-980" r="-221714" b="-15882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492216" t="-980" r="-132335" b="-15882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Supply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952" t="-201961" r="-283175" b="-217647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Arial" charset="0"/>
                              <a:ea typeface="ＭＳ Ｐゴシック" pitchFamily="34" charset="-128"/>
                            </a:rPr>
                            <a:t>550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952" t="-299029" r="-283175" b="-115534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70863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Demand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13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60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48506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Initial basic feasible solution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m+n-1,</a:t>
            </a:r>
          </a:p>
          <a:p>
            <a:pPr marL="0" indent="0">
              <a:buNone/>
            </a:pPr>
            <a:r>
              <a:rPr lang="en-US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Where m = no of rows,</a:t>
            </a:r>
          </a:p>
          <a:p>
            <a:pPr marL="0" indent="0">
              <a:buNone/>
            </a:pPr>
            <a:r>
              <a:rPr lang="en-US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n=no of columns,</a:t>
            </a:r>
          </a:p>
          <a:p>
            <a:pPr marL="0" indent="0">
              <a:buNone/>
            </a:pPr>
            <a:r>
              <a:rPr lang="en-US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m=2,</a:t>
            </a:r>
          </a:p>
          <a:p>
            <a:pPr marL="0" indent="0">
              <a:buNone/>
            </a:pPr>
            <a:r>
              <a:rPr lang="en-US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n=4,</a:t>
            </a:r>
          </a:p>
          <a:p>
            <a:pPr marL="0" indent="0">
              <a:buNone/>
            </a:pPr>
            <a:r>
              <a:rPr lang="en-US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m+n-1=2+4-1=5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66312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Least cost method (Unbalanced)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Group 123">
                <a:extLst>
                  <a:ext uri="{FF2B5EF4-FFF2-40B4-BE49-F238E27FC236}">
                    <a16:creationId xmlns:a16="http://schemas.microsoft.com/office/drawing/2014/main" xmlns="" id="{3945B0FB-8F76-4CB1-8F2F-4E22974ECF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36956861"/>
                  </p:ext>
                </p:extLst>
              </p:nvPr>
            </p:nvGraphicFramePr>
            <p:xfrm>
              <a:off x="905140" y="2097088"/>
              <a:ext cx="7331337" cy="3213560"/>
            </p:xfrm>
            <a:graphic>
              <a:graphicData uri="http://schemas.openxmlformats.org/drawingml/2006/table">
                <a:tbl>
                  <a:tblPr/>
                  <a:tblGrid>
                    <a:gridCol w="1542638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872197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436099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590843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  <a:gridCol w="478301">
                      <a:extLst>
                        <a:ext uri="{9D8B030D-6E8A-4147-A177-3AD203B41FA5}">
                          <a16:colId xmlns:a16="http://schemas.microsoft.com/office/drawing/2014/main" xmlns="" val="20004"/>
                        </a:ext>
                      </a:extLst>
                    </a:gridCol>
                    <a:gridCol w="675250">
                      <a:extLst>
                        <a:ext uri="{9D8B030D-6E8A-4147-A177-3AD203B41FA5}">
                          <a16:colId xmlns:a16="http://schemas.microsoft.com/office/drawing/2014/main" xmlns="" val="1342239577"/>
                        </a:ext>
                      </a:extLst>
                    </a:gridCol>
                    <a:gridCol w="393895">
                      <a:extLst>
                        <a:ext uri="{9D8B030D-6E8A-4147-A177-3AD203B41FA5}">
                          <a16:colId xmlns:a16="http://schemas.microsoft.com/office/drawing/2014/main" xmlns="" val="1127673306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xmlns="" val="20005"/>
                        </a:ext>
                      </a:extLst>
                    </a:gridCol>
                    <a:gridCol w="464234">
                      <a:extLst>
                        <a:ext uri="{9D8B030D-6E8A-4147-A177-3AD203B41FA5}">
                          <a16:colId xmlns:a16="http://schemas.microsoft.com/office/drawing/2014/main" xmlns="" val="20006"/>
                        </a:ext>
                      </a:extLst>
                    </a:gridCol>
                    <a:gridCol w="1329240">
                      <a:extLst>
                        <a:ext uri="{9D8B030D-6E8A-4147-A177-3AD203B41FA5}">
                          <a16:colId xmlns:a16="http://schemas.microsoft.com/office/drawing/2014/main" xmlns="" val="20007"/>
                        </a:ext>
                      </a:extLst>
                    </a:gridCol>
                  </a:tblGrid>
                  <a:tr h="1240887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TO</a:t>
                          </a:r>
                        </a:p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Whole Sale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FROM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Factory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ea typeface="ＭＳ Ｐゴシック" pitchFamily="34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𝑫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Supply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/>
                          </a:r>
                          <a:b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</a:b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Arial" charset="0"/>
                              <a:ea typeface="ＭＳ Ｐゴシック" pitchFamily="34" charset="-128"/>
                            </a:rPr>
                            <a:t>550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13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40-13=27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6"/>
                      </a:ext>
                    </a:extLst>
                  </a:tr>
                  <a:tr h="70863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Demand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13-13=0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Group 123">
                <a:extLst>
                  <a:ext uri="{FF2B5EF4-FFF2-40B4-BE49-F238E27FC236}">
                    <a16:creationId xmlns:a16="http://schemas.microsoft.com/office/drawing/2014/main" id="{3945B0FB-8F76-4CB1-8F2F-4E22974ECF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36956861"/>
                  </p:ext>
                </p:extLst>
              </p:nvPr>
            </p:nvGraphicFramePr>
            <p:xfrm>
              <a:off x="905140" y="2097088"/>
              <a:ext cx="7331337" cy="3197482"/>
            </p:xfrm>
            <a:graphic>
              <a:graphicData uri="http://schemas.openxmlformats.org/drawingml/2006/table">
                <a:tbl>
                  <a:tblPr/>
                  <a:tblGrid>
                    <a:gridCol w="154263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7219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3609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9084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478301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675250">
                      <a:extLst>
                        <a:ext uri="{9D8B030D-6E8A-4147-A177-3AD203B41FA5}">
                          <a16:colId xmlns:a16="http://schemas.microsoft.com/office/drawing/2014/main" val="1342239577"/>
                        </a:ext>
                      </a:extLst>
                    </a:gridCol>
                    <a:gridCol w="393895">
                      <a:extLst>
                        <a:ext uri="{9D8B030D-6E8A-4147-A177-3AD203B41FA5}">
                          <a16:colId xmlns:a16="http://schemas.microsoft.com/office/drawing/2014/main" val="1127673306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464234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1329240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1240887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TO</a:t>
                          </a:r>
                        </a:p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Whole Sale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FROM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Factory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119070" t="-980" r="-343721" b="-15882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267614" t="-980" r="-319886" b="-15882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369714" t="-980" r="-221714" b="-15882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492216" t="-980" r="-132335" b="-15882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Supply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1186" t="-201961" r="-377075" b="-217647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Arial" charset="0"/>
                              <a:ea typeface="ＭＳ Ｐゴシック" pitchFamily="34" charset="-128"/>
                            </a:rPr>
                            <a:t>550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13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40-13=27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1186" t="-299029" r="-377075" b="-115534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70863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Demand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13-13=0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21848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Least cost method (Unbalanced)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Group 123">
                <a:extLst>
                  <a:ext uri="{FF2B5EF4-FFF2-40B4-BE49-F238E27FC236}">
                    <a16:creationId xmlns:a16="http://schemas.microsoft.com/office/drawing/2014/main" xmlns="" id="{3945B0FB-8F76-4CB1-8F2F-4E22974ECF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09043858"/>
                  </p:ext>
                </p:extLst>
              </p:nvPr>
            </p:nvGraphicFramePr>
            <p:xfrm>
              <a:off x="905140" y="2097088"/>
              <a:ext cx="6318463" cy="3213560"/>
            </p:xfrm>
            <a:graphic>
              <a:graphicData uri="http://schemas.openxmlformats.org/drawingml/2006/table">
                <a:tbl>
                  <a:tblPr/>
                  <a:tblGrid>
                    <a:gridCol w="1542638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872197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436099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590843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  <a:gridCol w="478301">
                      <a:extLst>
                        <a:ext uri="{9D8B030D-6E8A-4147-A177-3AD203B41FA5}">
                          <a16:colId xmlns:a16="http://schemas.microsoft.com/office/drawing/2014/main" xmlns="" val="20004"/>
                        </a:ext>
                      </a:extLst>
                    </a:gridCol>
                    <a:gridCol w="675250">
                      <a:extLst>
                        <a:ext uri="{9D8B030D-6E8A-4147-A177-3AD203B41FA5}">
                          <a16:colId xmlns:a16="http://schemas.microsoft.com/office/drawing/2014/main" xmlns="" val="1342239577"/>
                        </a:ext>
                      </a:extLst>
                    </a:gridCol>
                    <a:gridCol w="393895">
                      <a:extLst>
                        <a:ext uri="{9D8B030D-6E8A-4147-A177-3AD203B41FA5}">
                          <a16:colId xmlns:a16="http://schemas.microsoft.com/office/drawing/2014/main" xmlns="" val="1127673306"/>
                        </a:ext>
                      </a:extLst>
                    </a:gridCol>
                    <a:gridCol w="1329240">
                      <a:extLst>
                        <a:ext uri="{9D8B030D-6E8A-4147-A177-3AD203B41FA5}">
                          <a16:colId xmlns:a16="http://schemas.microsoft.com/office/drawing/2014/main" xmlns="" val="20007"/>
                        </a:ext>
                      </a:extLst>
                    </a:gridCol>
                  </a:tblGrid>
                  <a:tr h="1240887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TO</a:t>
                          </a:r>
                        </a:p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Whole Sale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FROM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Factory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ea typeface="ＭＳ Ｐゴシック" pitchFamily="34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Supply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/>
                          </a:r>
                          <a:b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</a:b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Arial" charset="0"/>
                              <a:ea typeface="ＭＳ Ｐゴシック" pitchFamily="34" charset="-128"/>
                            </a:rPr>
                            <a:t>550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27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20-12=8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6"/>
                      </a:ext>
                    </a:extLst>
                  </a:tr>
                  <a:tr h="70863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Demand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12-12=0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Group 123">
                <a:extLst>
                  <a:ext uri="{FF2B5EF4-FFF2-40B4-BE49-F238E27FC236}">
                    <a16:creationId xmlns:a16="http://schemas.microsoft.com/office/drawing/2014/main" id="{3945B0FB-8F76-4CB1-8F2F-4E22974ECF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09043858"/>
                  </p:ext>
                </p:extLst>
              </p:nvPr>
            </p:nvGraphicFramePr>
            <p:xfrm>
              <a:off x="905140" y="2097088"/>
              <a:ext cx="6318463" cy="3197482"/>
            </p:xfrm>
            <a:graphic>
              <a:graphicData uri="http://schemas.openxmlformats.org/drawingml/2006/table">
                <a:tbl>
                  <a:tblPr/>
                  <a:tblGrid>
                    <a:gridCol w="154263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7219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3609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9084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478301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675250">
                      <a:extLst>
                        <a:ext uri="{9D8B030D-6E8A-4147-A177-3AD203B41FA5}">
                          <a16:colId xmlns:a16="http://schemas.microsoft.com/office/drawing/2014/main" val="1342239577"/>
                        </a:ext>
                      </a:extLst>
                    </a:gridCol>
                    <a:gridCol w="393895">
                      <a:extLst>
                        <a:ext uri="{9D8B030D-6E8A-4147-A177-3AD203B41FA5}">
                          <a16:colId xmlns:a16="http://schemas.microsoft.com/office/drawing/2014/main" val="1127673306"/>
                        </a:ext>
                      </a:extLst>
                    </a:gridCol>
                    <a:gridCol w="1329240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1240887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TO</a:t>
                          </a:r>
                        </a:p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Whole Sale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FROM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Factory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119070" t="-980" r="-266512" b="-15882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269143" t="-980" r="-227429" b="-15882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367045" t="-980" r="-126136" b="-15882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Supply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1186" t="-201961" r="-311462" b="-217647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Arial" charset="0"/>
                              <a:ea typeface="ＭＳ Ｐゴシック" pitchFamily="34" charset="-128"/>
                            </a:rPr>
                            <a:t>550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27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1186" t="-299029" r="-311462" b="-115534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20-12=8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70863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Demand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12-12=0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7129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Least cost method (Unbalanced)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Group 123">
                <a:extLst>
                  <a:ext uri="{FF2B5EF4-FFF2-40B4-BE49-F238E27FC236}">
                    <a16:creationId xmlns:a16="http://schemas.microsoft.com/office/drawing/2014/main" xmlns="" id="{3945B0FB-8F76-4CB1-8F2F-4E22974ECF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0838191"/>
                  </p:ext>
                </p:extLst>
              </p:nvPr>
            </p:nvGraphicFramePr>
            <p:xfrm>
              <a:off x="905140" y="2097088"/>
              <a:ext cx="5249318" cy="3213560"/>
            </p:xfrm>
            <a:graphic>
              <a:graphicData uri="http://schemas.openxmlformats.org/drawingml/2006/table">
                <a:tbl>
                  <a:tblPr/>
                  <a:tblGrid>
                    <a:gridCol w="1542638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872197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436099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590843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  <a:gridCol w="478301">
                      <a:extLst>
                        <a:ext uri="{9D8B030D-6E8A-4147-A177-3AD203B41FA5}">
                          <a16:colId xmlns:a16="http://schemas.microsoft.com/office/drawing/2014/main" xmlns="" val="20004"/>
                        </a:ext>
                      </a:extLst>
                    </a:gridCol>
                    <a:gridCol w="1329240">
                      <a:extLst>
                        <a:ext uri="{9D8B030D-6E8A-4147-A177-3AD203B41FA5}">
                          <a16:colId xmlns:a16="http://schemas.microsoft.com/office/drawing/2014/main" xmlns="" val="20007"/>
                        </a:ext>
                      </a:extLst>
                    </a:gridCol>
                  </a:tblGrid>
                  <a:tr h="1240887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TO</a:t>
                          </a:r>
                        </a:p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Whole Sale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FROM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Factory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Supply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/>
                          </a:r>
                          <a:b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</a:b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Arial" charset="0"/>
                              <a:ea typeface="ＭＳ Ｐゴシック" pitchFamily="34" charset="-128"/>
                            </a:rPr>
                            <a:t>550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27-10=17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8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6"/>
                      </a:ext>
                    </a:extLst>
                  </a:tr>
                  <a:tr h="70863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Demand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10-10=0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Group 123">
                <a:extLst>
                  <a:ext uri="{FF2B5EF4-FFF2-40B4-BE49-F238E27FC236}">
                    <a16:creationId xmlns:a16="http://schemas.microsoft.com/office/drawing/2014/main" id="{3945B0FB-8F76-4CB1-8F2F-4E22974ECF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0838191"/>
                  </p:ext>
                </p:extLst>
              </p:nvPr>
            </p:nvGraphicFramePr>
            <p:xfrm>
              <a:off x="905140" y="2097088"/>
              <a:ext cx="5249318" cy="3197482"/>
            </p:xfrm>
            <a:graphic>
              <a:graphicData uri="http://schemas.openxmlformats.org/drawingml/2006/table">
                <a:tbl>
                  <a:tblPr/>
                  <a:tblGrid>
                    <a:gridCol w="154263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7219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3609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9084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478301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329240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1240887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TO</a:t>
                          </a:r>
                        </a:p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Whole Sale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FROM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Factory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119070" t="-980" r="-184651" b="-15882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267614" t="-980" r="-125568" b="-15882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Supply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1186" t="-201961" r="-241897" b="-217647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Arial" charset="0"/>
                              <a:ea typeface="ＭＳ Ｐゴシック" pitchFamily="34" charset="-128"/>
                            </a:rPr>
                            <a:t>550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27-10=17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1186" t="-299029" r="-241897" b="-115534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8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70863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Demand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10-10=0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69076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Least cost method (Unbalanced)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Group 123">
                <a:extLst>
                  <a:ext uri="{FF2B5EF4-FFF2-40B4-BE49-F238E27FC236}">
                    <a16:creationId xmlns:a16="http://schemas.microsoft.com/office/drawing/2014/main" xmlns="" id="{3945B0FB-8F76-4CB1-8F2F-4E22974ECF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53632620"/>
                  </p:ext>
                </p:extLst>
              </p:nvPr>
            </p:nvGraphicFramePr>
            <p:xfrm>
              <a:off x="905140" y="2097088"/>
              <a:ext cx="4180174" cy="3213560"/>
            </p:xfrm>
            <a:graphic>
              <a:graphicData uri="http://schemas.openxmlformats.org/drawingml/2006/table">
                <a:tbl>
                  <a:tblPr/>
                  <a:tblGrid>
                    <a:gridCol w="1542638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872197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436099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1329240">
                      <a:extLst>
                        <a:ext uri="{9D8B030D-6E8A-4147-A177-3AD203B41FA5}">
                          <a16:colId xmlns:a16="http://schemas.microsoft.com/office/drawing/2014/main" xmlns="" val="20007"/>
                        </a:ext>
                      </a:extLst>
                    </a:gridCol>
                  </a:tblGrid>
                  <a:tr h="1240887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TO</a:t>
                          </a:r>
                        </a:p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Whole Sale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FROM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Factory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Supply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/>
                          </a:r>
                          <a:b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</a:b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Arial" charset="0"/>
                              <a:ea typeface="ＭＳ Ｐゴシック" pitchFamily="34" charset="-128"/>
                            </a:rPr>
                            <a:t>550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17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8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8-8=0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6"/>
                      </a:ext>
                    </a:extLst>
                  </a:tr>
                  <a:tr h="70863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Demand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25-8=17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Group 123">
                <a:extLst>
                  <a:ext uri="{FF2B5EF4-FFF2-40B4-BE49-F238E27FC236}">
                    <a16:creationId xmlns:a16="http://schemas.microsoft.com/office/drawing/2014/main" id="{3945B0FB-8F76-4CB1-8F2F-4E22974ECF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53632620"/>
                  </p:ext>
                </p:extLst>
              </p:nvPr>
            </p:nvGraphicFramePr>
            <p:xfrm>
              <a:off x="905140" y="2097088"/>
              <a:ext cx="4180174" cy="3197482"/>
            </p:xfrm>
            <a:graphic>
              <a:graphicData uri="http://schemas.openxmlformats.org/drawingml/2006/table">
                <a:tbl>
                  <a:tblPr/>
                  <a:tblGrid>
                    <a:gridCol w="154263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7219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3609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329240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1240887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TO</a:t>
                          </a:r>
                        </a:p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Whole Sale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FROM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Factory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119535" t="-980" r="-102791" b="-15882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Supply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1181" t="-201961" r="-171654" b="-217647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Arial" charset="0"/>
                              <a:ea typeface="ＭＳ Ｐゴシック" pitchFamily="34" charset="-128"/>
                            </a:rPr>
                            <a:t>550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17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1181" t="-299029" r="-171654" b="-115534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8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8-8=0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70863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Demand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25-8=17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23381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Least cost method (Unbalanced)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Group 123">
                <a:extLst>
                  <a:ext uri="{FF2B5EF4-FFF2-40B4-BE49-F238E27FC236}">
                    <a16:creationId xmlns:a16="http://schemas.microsoft.com/office/drawing/2014/main" xmlns="" id="{3945B0FB-8F76-4CB1-8F2F-4E22974ECF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21075339"/>
                  </p:ext>
                </p:extLst>
              </p:nvPr>
            </p:nvGraphicFramePr>
            <p:xfrm>
              <a:off x="905140" y="2097088"/>
              <a:ext cx="4180174" cy="2589580"/>
            </p:xfrm>
            <a:graphic>
              <a:graphicData uri="http://schemas.openxmlformats.org/drawingml/2006/table">
                <a:tbl>
                  <a:tblPr/>
                  <a:tblGrid>
                    <a:gridCol w="1542638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872197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436099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1329240">
                      <a:extLst>
                        <a:ext uri="{9D8B030D-6E8A-4147-A177-3AD203B41FA5}">
                          <a16:colId xmlns:a16="http://schemas.microsoft.com/office/drawing/2014/main" xmlns="" val="20007"/>
                        </a:ext>
                      </a:extLst>
                    </a:gridCol>
                  </a:tblGrid>
                  <a:tr h="1240887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TO</a:t>
                          </a:r>
                        </a:p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Whole Sale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FROM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Factory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Supply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/>
                          </a:r>
                          <a:b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</a:b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Arial" charset="0"/>
                              <a:ea typeface="ＭＳ Ｐゴシック" pitchFamily="34" charset="-128"/>
                            </a:rPr>
                            <a:t>550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17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17-17=0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70863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Demand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17-17=0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Group 123">
                <a:extLst>
                  <a:ext uri="{FF2B5EF4-FFF2-40B4-BE49-F238E27FC236}">
                    <a16:creationId xmlns:a16="http://schemas.microsoft.com/office/drawing/2014/main" id="{3945B0FB-8F76-4CB1-8F2F-4E22974ECF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21075339"/>
                  </p:ext>
                </p:extLst>
              </p:nvPr>
            </p:nvGraphicFramePr>
            <p:xfrm>
              <a:off x="905140" y="2097088"/>
              <a:ext cx="4180174" cy="2573502"/>
            </p:xfrm>
            <a:graphic>
              <a:graphicData uri="http://schemas.openxmlformats.org/drawingml/2006/table">
                <a:tbl>
                  <a:tblPr/>
                  <a:tblGrid>
                    <a:gridCol w="154263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7219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3609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329240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1240887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TO</a:t>
                          </a:r>
                        </a:p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Whole Sale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FROM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Factory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119535" t="-980" r="-102791" b="-10882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Supply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1181" t="-200000" r="-171654" b="-115534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Arial" charset="0"/>
                              <a:ea typeface="ＭＳ Ｐゴシック" pitchFamily="34" charset="-128"/>
                            </a:rPr>
                            <a:t>550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17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17-17=0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0863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Demand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17-17=0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xmlns="" id="{835BDBB6-5088-45D4-907D-B5784934FECB}"/>
                  </a:ext>
                </a:extLst>
              </p:cNvPr>
              <p:cNvSpPr/>
              <p:nvPr/>
            </p:nvSpPr>
            <p:spPr>
              <a:xfrm>
                <a:off x="905140" y="4934734"/>
                <a:ext cx="7380419" cy="16240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Total</m:t>
                      </m:r>
                      <m:r>
                        <a:rPr lang="en-US" sz="20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Cost</m:t>
                      </m:r>
                      <m:r>
                        <a:rPr lang="en-US" sz="2000" b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0×13</m:t>
                      </m:r>
                      <m:r>
                        <a:rPr lang="en-US" sz="20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0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100×12</m:t>
                      </m:r>
                      <m:r>
                        <a:rPr lang="en-US" sz="20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0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300×10</m:t>
                      </m:r>
                      <m:r>
                        <a:rPr lang="en-US" sz="20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+35</m:t>
                      </m:r>
                      <m:r>
                        <a:rPr lang="en-US" sz="20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0×</m:t>
                      </m:r>
                      <m:r>
                        <a:rPr lang="en-US" sz="20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8+</m:t>
                      </m:r>
                      <m:r>
                        <a:rPr lang="en-US" sz="20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550</m:t>
                      </m:r>
                      <m:r>
                        <a:rPr lang="en-US" sz="20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000" b="0" i="0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17</m:t>
                      </m:r>
                    </m:oMath>
                  </m:oMathPara>
                </a14:m>
                <a:endParaRPr lang="en-US" sz="2000" dirty="0">
                  <a:solidFill>
                    <a:prstClr val="black"/>
                  </a:solidFill>
                  <a:ea typeface="Cambria Math" panose="02040503050406030204" pitchFamily="18" charset="0"/>
                </a:endParaRPr>
              </a:p>
              <a:p>
                <a:pPr lvl="0"/>
                <a:r>
                  <a:rPr lang="en-US" sz="2000" dirty="0">
                    <a:solidFill>
                      <a:prstClr val="black"/>
                    </a:solidFill>
                  </a:rPr>
                  <a:t>               </a:t>
                </a:r>
              </a:p>
              <a:p>
                <a:pPr lvl="0"/>
                <a:r>
                  <a:rPr lang="en-US" sz="2000" dirty="0">
                    <a:solidFill>
                      <a:prstClr val="black"/>
                    </a:solidFill>
                  </a:rPr>
                  <a:t>        =0+1200+3000+2800+9350</a:t>
                </a:r>
              </a:p>
              <a:p>
                <a:pPr lvl="0"/>
                <a:r>
                  <a:rPr lang="en-US" sz="2000" dirty="0">
                    <a:solidFill>
                      <a:prstClr val="black"/>
                    </a:solidFill>
                  </a:rPr>
                  <a:t>        =16350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835BDBB6-5088-45D4-907D-B5784934FE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140" y="4934734"/>
                <a:ext cx="7380419" cy="1624099"/>
              </a:xfrm>
              <a:prstGeom prst="rect">
                <a:avLst/>
              </a:prstGeom>
              <a:blipFill>
                <a:blip r:embed="rId3"/>
                <a:stretch>
                  <a:fillRect b="-60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0679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Vogel's approximation method (Unbalanced)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Group 123">
                <a:extLst>
                  <a:ext uri="{FF2B5EF4-FFF2-40B4-BE49-F238E27FC236}">
                    <a16:creationId xmlns:a16="http://schemas.microsoft.com/office/drawing/2014/main" xmlns="" id="{3945B0FB-8F76-4CB1-8F2F-4E22974ECFC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05140" y="2097088"/>
              <a:ext cx="6316076" cy="3213560"/>
            </p:xfrm>
            <a:graphic>
              <a:graphicData uri="http://schemas.openxmlformats.org/drawingml/2006/table">
                <a:tbl>
                  <a:tblPr/>
                  <a:tblGrid>
                    <a:gridCol w="1915586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653994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337625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590843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  <a:gridCol w="407963">
                      <a:extLst>
                        <a:ext uri="{9D8B030D-6E8A-4147-A177-3AD203B41FA5}">
                          <a16:colId xmlns:a16="http://schemas.microsoft.com/office/drawing/2014/main" xmlns="" val="20004"/>
                        </a:ext>
                      </a:extLst>
                    </a:gridCol>
                    <a:gridCol w="576775">
                      <a:extLst>
                        <a:ext uri="{9D8B030D-6E8A-4147-A177-3AD203B41FA5}">
                          <a16:colId xmlns:a16="http://schemas.microsoft.com/office/drawing/2014/main" xmlns="" val="1342239577"/>
                        </a:ext>
                      </a:extLst>
                    </a:gridCol>
                    <a:gridCol w="464234">
                      <a:extLst>
                        <a:ext uri="{9D8B030D-6E8A-4147-A177-3AD203B41FA5}">
                          <a16:colId xmlns:a16="http://schemas.microsoft.com/office/drawing/2014/main" xmlns="" val="1127673306"/>
                        </a:ext>
                      </a:extLst>
                    </a:gridCol>
                    <a:gridCol w="1369056">
                      <a:extLst>
                        <a:ext uri="{9D8B030D-6E8A-4147-A177-3AD203B41FA5}">
                          <a16:colId xmlns:a16="http://schemas.microsoft.com/office/drawing/2014/main" xmlns="" val="20007"/>
                        </a:ext>
                      </a:extLst>
                    </a:gridCol>
                  </a:tblGrid>
                  <a:tr h="1240887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TO</a:t>
                          </a:r>
                        </a:p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Whole Sale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FROM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Factory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ea typeface="ＭＳ Ｐゴシック" pitchFamily="34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Supply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/>
                          </a:r>
                          <a:b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</a:b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Arial" charset="0"/>
                              <a:ea typeface="ＭＳ Ｐゴシック" pitchFamily="34" charset="-128"/>
                            </a:rPr>
                            <a:t>550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6"/>
                      </a:ext>
                    </a:extLst>
                  </a:tr>
                  <a:tr h="70863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Demand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Not Equal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Group 123">
                <a:extLst>
                  <a:ext uri="{FF2B5EF4-FFF2-40B4-BE49-F238E27FC236}">
                    <a16:creationId xmlns:a16="http://schemas.microsoft.com/office/drawing/2014/main" id="{3945B0FB-8F76-4CB1-8F2F-4E22974ECFC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05140" y="2097088"/>
              <a:ext cx="6316076" cy="3197482"/>
            </p:xfrm>
            <a:graphic>
              <a:graphicData uri="http://schemas.openxmlformats.org/drawingml/2006/table">
                <a:tbl>
                  <a:tblPr/>
                  <a:tblGrid>
                    <a:gridCol w="191558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5399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376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9084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40796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576775">
                      <a:extLst>
                        <a:ext uri="{9D8B030D-6E8A-4147-A177-3AD203B41FA5}">
                          <a16:colId xmlns:a16="http://schemas.microsoft.com/office/drawing/2014/main" val="1342239577"/>
                        </a:ext>
                      </a:extLst>
                    </a:gridCol>
                    <a:gridCol w="464234">
                      <a:extLst>
                        <a:ext uri="{9D8B030D-6E8A-4147-A177-3AD203B41FA5}">
                          <a16:colId xmlns:a16="http://schemas.microsoft.com/office/drawing/2014/main" val="1127673306"/>
                        </a:ext>
                      </a:extLst>
                    </a:gridCol>
                    <a:gridCol w="1369056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1240887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TO</a:t>
                          </a:r>
                        </a:p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Whole Sale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FROM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Factory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196296" t="-980" r="-347531" b="-15882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292683" t="-980" r="-243293" b="-15882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376608" t="-980" r="-133333" b="-15882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Supply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952" t="-201961" r="-230159" b="-217647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Arial" charset="0"/>
                              <a:ea typeface="ＭＳ Ｐゴシック" pitchFamily="34" charset="-128"/>
                            </a:rPr>
                            <a:t>550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952" t="-299029" r="-230159" b="-115534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70863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Demand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Not Equal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91462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Vogel's approximation method (Unbalanced)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Group 123">
                <a:extLst>
                  <a:ext uri="{FF2B5EF4-FFF2-40B4-BE49-F238E27FC236}">
                    <a16:creationId xmlns:a16="http://schemas.microsoft.com/office/drawing/2014/main" xmlns="" id="{3945B0FB-8F76-4CB1-8F2F-4E22974ECFC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05140" y="2097088"/>
              <a:ext cx="7331337" cy="3213560"/>
            </p:xfrm>
            <a:graphic>
              <a:graphicData uri="http://schemas.openxmlformats.org/drawingml/2006/table">
                <a:tbl>
                  <a:tblPr/>
                  <a:tblGrid>
                    <a:gridCol w="1915586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653994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337625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534572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  <a:gridCol w="478301">
                      <a:extLst>
                        <a:ext uri="{9D8B030D-6E8A-4147-A177-3AD203B41FA5}">
                          <a16:colId xmlns:a16="http://schemas.microsoft.com/office/drawing/2014/main" xmlns="" val="20004"/>
                        </a:ext>
                      </a:extLst>
                    </a:gridCol>
                    <a:gridCol w="675250">
                      <a:extLst>
                        <a:ext uri="{9D8B030D-6E8A-4147-A177-3AD203B41FA5}">
                          <a16:colId xmlns:a16="http://schemas.microsoft.com/office/drawing/2014/main" xmlns="" val="1342239577"/>
                        </a:ext>
                      </a:extLst>
                    </a:gridCol>
                    <a:gridCol w="393895">
                      <a:extLst>
                        <a:ext uri="{9D8B030D-6E8A-4147-A177-3AD203B41FA5}">
                          <a16:colId xmlns:a16="http://schemas.microsoft.com/office/drawing/2014/main" xmlns="" val="1127673306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xmlns="" val="20005"/>
                        </a:ext>
                      </a:extLst>
                    </a:gridCol>
                    <a:gridCol w="464234">
                      <a:extLst>
                        <a:ext uri="{9D8B030D-6E8A-4147-A177-3AD203B41FA5}">
                          <a16:colId xmlns:a16="http://schemas.microsoft.com/office/drawing/2014/main" xmlns="" val="20006"/>
                        </a:ext>
                      </a:extLst>
                    </a:gridCol>
                    <a:gridCol w="1329240">
                      <a:extLst>
                        <a:ext uri="{9D8B030D-6E8A-4147-A177-3AD203B41FA5}">
                          <a16:colId xmlns:a16="http://schemas.microsoft.com/office/drawing/2014/main" xmlns="" val="20007"/>
                        </a:ext>
                      </a:extLst>
                    </a:gridCol>
                  </a:tblGrid>
                  <a:tr h="1240887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TO</a:t>
                          </a:r>
                        </a:p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Whole Sale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FROM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Factory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ea typeface="ＭＳ Ｐゴシック" pitchFamily="34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𝑫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Supply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/>
                          </a:r>
                          <a:b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</a:b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Arial" charset="0"/>
                              <a:ea typeface="ＭＳ Ｐゴシック" pitchFamily="34" charset="-128"/>
                            </a:rPr>
                            <a:t>550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6"/>
                      </a:ext>
                    </a:extLst>
                  </a:tr>
                  <a:tr h="70863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Demand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13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60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Group 123">
                <a:extLst>
                  <a:ext uri="{FF2B5EF4-FFF2-40B4-BE49-F238E27FC236}">
                    <a16:creationId xmlns:a16="http://schemas.microsoft.com/office/drawing/2014/main" id="{3945B0FB-8F76-4CB1-8F2F-4E22974ECFC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05140" y="2097088"/>
              <a:ext cx="7331337" cy="3197482"/>
            </p:xfrm>
            <a:graphic>
              <a:graphicData uri="http://schemas.openxmlformats.org/drawingml/2006/table">
                <a:tbl>
                  <a:tblPr/>
                  <a:tblGrid>
                    <a:gridCol w="191558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5399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376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457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478301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675250">
                      <a:extLst>
                        <a:ext uri="{9D8B030D-6E8A-4147-A177-3AD203B41FA5}">
                          <a16:colId xmlns:a16="http://schemas.microsoft.com/office/drawing/2014/main" val="1342239577"/>
                        </a:ext>
                      </a:extLst>
                    </a:gridCol>
                    <a:gridCol w="393895">
                      <a:extLst>
                        <a:ext uri="{9D8B030D-6E8A-4147-A177-3AD203B41FA5}">
                          <a16:colId xmlns:a16="http://schemas.microsoft.com/office/drawing/2014/main" val="1127673306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464234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1329240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1240887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TO</a:t>
                          </a:r>
                        </a:p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Whole Sale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FROM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Factory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196296" t="-980" r="-450617" b="-15882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287425" t="-980" r="-337126" b="-15882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369714" t="-980" r="-221714" b="-15882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492216" t="-980" r="-132335" b="-15882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Supply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952" t="-201961" r="-283175" b="-217647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Arial" charset="0"/>
                              <a:ea typeface="ＭＳ Ｐゴシック" pitchFamily="34" charset="-128"/>
                            </a:rPr>
                            <a:t>550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952" t="-299029" r="-283175" b="-115534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70863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Demand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13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60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55665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Vogel's approximation method (Unbalanced)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m+n-1,</a:t>
            </a:r>
          </a:p>
          <a:p>
            <a:pPr marL="0" indent="0">
              <a:buNone/>
            </a:pPr>
            <a:r>
              <a:rPr lang="en-US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Where m = no of rows,</a:t>
            </a:r>
          </a:p>
          <a:p>
            <a:pPr marL="0" indent="0">
              <a:buNone/>
            </a:pPr>
            <a:r>
              <a:rPr lang="en-US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n=no of columns,</a:t>
            </a:r>
          </a:p>
          <a:p>
            <a:pPr marL="0" indent="0">
              <a:buNone/>
            </a:pPr>
            <a:r>
              <a:rPr lang="en-US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m=2,</a:t>
            </a:r>
          </a:p>
          <a:p>
            <a:pPr marL="0" indent="0">
              <a:buNone/>
            </a:pPr>
            <a:r>
              <a:rPr lang="en-US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n=4,</a:t>
            </a:r>
          </a:p>
          <a:p>
            <a:pPr marL="0" indent="0">
              <a:buNone/>
            </a:pPr>
            <a:r>
              <a:rPr lang="en-US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m+n-1=2+4-1=5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179677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Vogel's approximation method (Unbalanced)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Group 123">
                <a:extLst>
                  <a:ext uri="{FF2B5EF4-FFF2-40B4-BE49-F238E27FC236}">
                    <a16:creationId xmlns:a16="http://schemas.microsoft.com/office/drawing/2014/main" xmlns="" id="{3945B0FB-8F76-4CB1-8F2F-4E22974ECF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10668902"/>
                  </p:ext>
                </p:extLst>
              </p:nvPr>
            </p:nvGraphicFramePr>
            <p:xfrm>
              <a:off x="905140" y="2097088"/>
              <a:ext cx="7331338" cy="3922195"/>
            </p:xfrm>
            <a:graphic>
              <a:graphicData uri="http://schemas.openxmlformats.org/drawingml/2006/table">
                <a:tbl>
                  <a:tblPr/>
                  <a:tblGrid>
                    <a:gridCol w="1621579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553618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285806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643149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  <a:gridCol w="337625">
                      <a:extLst>
                        <a:ext uri="{9D8B030D-6E8A-4147-A177-3AD203B41FA5}">
                          <a16:colId xmlns:a16="http://schemas.microsoft.com/office/drawing/2014/main" xmlns="" val="20004"/>
                        </a:ext>
                      </a:extLst>
                    </a:gridCol>
                    <a:gridCol w="590843">
                      <a:extLst>
                        <a:ext uri="{9D8B030D-6E8A-4147-A177-3AD203B41FA5}">
                          <a16:colId xmlns:a16="http://schemas.microsoft.com/office/drawing/2014/main" xmlns="" val="1342239577"/>
                        </a:ext>
                      </a:extLst>
                    </a:gridCol>
                    <a:gridCol w="323557">
                      <a:extLst>
                        <a:ext uri="{9D8B030D-6E8A-4147-A177-3AD203B41FA5}">
                          <a16:colId xmlns:a16="http://schemas.microsoft.com/office/drawing/2014/main" xmlns="" val="1127673306"/>
                        </a:ext>
                      </a:extLst>
                    </a:gridCol>
                    <a:gridCol w="331726">
                      <a:extLst>
                        <a:ext uri="{9D8B030D-6E8A-4147-A177-3AD203B41FA5}">
                          <a16:colId xmlns:a16="http://schemas.microsoft.com/office/drawing/2014/main" xmlns="" val="20005"/>
                        </a:ext>
                      </a:extLst>
                    </a:gridCol>
                    <a:gridCol w="392983">
                      <a:extLst>
                        <a:ext uri="{9D8B030D-6E8A-4147-A177-3AD203B41FA5}">
                          <a16:colId xmlns:a16="http://schemas.microsoft.com/office/drawing/2014/main" xmlns="" val="20006"/>
                        </a:ext>
                      </a:extLst>
                    </a:gridCol>
                    <a:gridCol w="1125226">
                      <a:extLst>
                        <a:ext uri="{9D8B030D-6E8A-4147-A177-3AD203B41FA5}">
                          <a16:colId xmlns:a16="http://schemas.microsoft.com/office/drawing/2014/main" xmlns="" val="20007"/>
                        </a:ext>
                      </a:extLst>
                    </a:gridCol>
                    <a:gridCol w="1125226">
                      <a:extLst>
                        <a:ext uri="{9D8B030D-6E8A-4147-A177-3AD203B41FA5}">
                          <a16:colId xmlns:a16="http://schemas.microsoft.com/office/drawing/2014/main" xmlns="" val="3453515387"/>
                        </a:ext>
                      </a:extLst>
                    </a:gridCol>
                  </a:tblGrid>
                  <a:tr h="1240887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TO</a:t>
                          </a:r>
                        </a:p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Whole Sale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FROM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Factory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ea typeface="ＭＳ Ｐゴシック" pitchFamily="34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𝑫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Supply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Penalties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/>
                          </a:r>
                          <a:b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</a:b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Arial" charset="0"/>
                              <a:ea typeface="ＭＳ Ｐゴシック" pitchFamily="34" charset="-128"/>
                            </a:rPr>
                            <a:t>550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(300)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(200)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6"/>
                      </a:ext>
                    </a:extLst>
                  </a:tr>
                  <a:tr h="70863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Demand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13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60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7"/>
                      </a:ext>
                    </a:extLst>
                  </a:tr>
                  <a:tr h="70863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Penalties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(200)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(0)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(300)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(0)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70027834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Group 123">
                <a:extLst>
                  <a:ext uri="{FF2B5EF4-FFF2-40B4-BE49-F238E27FC236}">
                    <a16:creationId xmlns:a16="http://schemas.microsoft.com/office/drawing/2014/main" id="{3945B0FB-8F76-4CB1-8F2F-4E22974ECF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10668902"/>
                  </p:ext>
                </p:extLst>
              </p:nvPr>
            </p:nvGraphicFramePr>
            <p:xfrm>
              <a:off x="905140" y="2097088"/>
              <a:ext cx="7331338" cy="3906117"/>
            </p:xfrm>
            <a:graphic>
              <a:graphicData uri="http://schemas.openxmlformats.org/drawingml/2006/table">
                <a:tbl>
                  <a:tblPr/>
                  <a:tblGrid>
                    <a:gridCol w="162157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5361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8580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4314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37625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590843">
                      <a:extLst>
                        <a:ext uri="{9D8B030D-6E8A-4147-A177-3AD203B41FA5}">
                          <a16:colId xmlns:a16="http://schemas.microsoft.com/office/drawing/2014/main" val="1342239577"/>
                        </a:ext>
                      </a:extLst>
                    </a:gridCol>
                    <a:gridCol w="323557">
                      <a:extLst>
                        <a:ext uri="{9D8B030D-6E8A-4147-A177-3AD203B41FA5}">
                          <a16:colId xmlns:a16="http://schemas.microsoft.com/office/drawing/2014/main" val="1127673306"/>
                        </a:ext>
                      </a:extLst>
                    </a:gridCol>
                    <a:gridCol w="331726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392983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1125226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1125226">
                      <a:extLst>
                        <a:ext uri="{9D8B030D-6E8A-4147-A177-3AD203B41FA5}">
                          <a16:colId xmlns:a16="http://schemas.microsoft.com/office/drawing/2014/main" val="3453515387"/>
                        </a:ext>
                      </a:extLst>
                    </a:gridCol>
                  </a:tblGrid>
                  <a:tr h="1240887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TO</a:t>
                          </a:r>
                        </a:p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Whole Sale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FROM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Factory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194928" t="-980" r="-581884" b="-21568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252795" t="-980" r="-398758" b="-21568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378667" t="-980" r="-328000" b="-21568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603361" t="-980" r="-313445" b="-21568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Supply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Penalties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1128" t="-201961" r="-353759" b="-331373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Arial" charset="0"/>
                              <a:ea typeface="ＭＳ Ｐゴシック" pitchFamily="34" charset="-128"/>
                            </a:rPr>
                            <a:t>550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(300)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1128" t="-301961" r="-353759" b="-231373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(200)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70863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Demand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13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60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70863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Penalties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(200)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(0)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(300)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(0)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0027834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74228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Vogel's approximation method (Unbalanced)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Group 123">
                <a:extLst>
                  <a:ext uri="{FF2B5EF4-FFF2-40B4-BE49-F238E27FC236}">
                    <a16:creationId xmlns:a16="http://schemas.microsoft.com/office/drawing/2014/main" xmlns="" id="{3945B0FB-8F76-4CB1-8F2F-4E22974ECF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00397206"/>
                  </p:ext>
                </p:extLst>
              </p:nvPr>
            </p:nvGraphicFramePr>
            <p:xfrm>
              <a:off x="905140" y="2097088"/>
              <a:ext cx="7331338" cy="3922195"/>
            </p:xfrm>
            <a:graphic>
              <a:graphicData uri="http://schemas.openxmlformats.org/drawingml/2006/table">
                <a:tbl>
                  <a:tblPr/>
                  <a:tblGrid>
                    <a:gridCol w="1621579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553618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285806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643149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  <a:gridCol w="337625">
                      <a:extLst>
                        <a:ext uri="{9D8B030D-6E8A-4147-A177-3AD203B41FA5}">
                          <a16:colId xmlns:a16="http://schemas.microsoft.com/office/drawing/2014/main" xmlns="" val="20004"/>
                        </a:ext>
                      </a:extLst>
                    </a:gridCol>
                    <a:gridCol w="590843">
                      <a:extLst>
                        <a:ext uri="{9D8B030D-6E8A-4147-A177-3AD203B41FA5}">
                          <a16:colId xmlns:a16="http://schemas.microsoft.com/office/drawing/2014/main" xmlns="" val="1342239577"/>
                        </a:ext>
                      </a:extLst>
                    </a:gridCol>
                    <a:gridCol w="407963">
                      <a:extLst>
                        <a:ext uri="{9D8B030D-6E8A-4147-A177-3AD203B41FA5}">
                          <a16:colId xmlns:a16="http://schemas.microsoft.com/office/drawing/2014/main" xmlns="" val="1127673306"/>
                        </a:ext>
                      </a:extLst>
                    </a:gridCol>
                    <a:gridCol w="247320">
                      <a:extLst>
                        <a:ext uri="{9D8B030D-6E8A-4147-A177-3AD203B41FA5}">
                          <a16:colId xmlns:a16="http://schemas.microsoft.com/office/drawing/2014/main" xmlns="" val="20005"/>
                        </a:ext>
                      </a:extLst>
                    </a:gridCol>
                    <a:gridCol w="392983">
                      <a:extLst>
                        <a:ext uri="{9D8B030D-6E8A-4147-A177-3AD203B41FA5}">
                          <a16:colId xmlns:a16="http://schemas.microsoft.com/office/drawing/2014/main" xmlns="" val="20006"/>
                        </a:ext>
                      </a:extLst>
                    </a:gridCol>
                    <a:gridCol w="1125226">
                      <a:extLst>
                        <a:ext uri="{9D8B030D-6E8A-4147-A177-3AD203B41FA5}">
                          <a16:colId xmlns:a16="http://schemas.microsoft.com/office/drawing/2014/main" xmlns="" val="20007"/>
                        </a:ext>
                      </a:extLst>
                    </a:gridCol>
                    <a:gridCol w="1125226">
                      <a:extLst>
                        <a:ext uri="{9D8B030D-6E8A-4147-A177-3AD203B41FA5}">
                          <a16:colId xmlns:a16="http://schemas.microsoft.com/office/drawing/2014/main" xmlns="" val="3453515387"/>
                        </a:ext>
                      </a:extLst>
                    </a:gridCol>
                  </a:tblGrid>
                  <a:tr h="1240887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TO</a:t>
                          </a:r>
                        </a:p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Whole Sale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FROM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Factory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rgbClr val="FCA03D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ea typeface="ＭＳ Ｐゴシック" pitchFamily="34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kumimoji="0" lang="en-US" sz="18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ＭＳ Ｐゴシック" pitchFamily="34" charset="-128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𝑫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Supply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Penalties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/>
                          </a:r>
                          <a:b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</a:b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Arial" charset="0"/>
                              <a:ea typeface="ＭＳ Ｐゴシック" pitchFamily="34" charset="-128"/>
                            </a:rPr>
                            <a:t>550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(300)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20-12=8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(200)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6"/>
                      </a:ext>
                    </a:extLst>
                  </a:tr>
                  <a:tr h="70863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Demand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12-12=0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13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60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7"/>
                      </a:ext>
                    </a:extLst>
                  </a:tr>
                  <a:tr h="70863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Penalties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(200)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(0)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(300)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(0)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70027834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Group 123">
                <a:extLst>
                  <a:ext uri="{FF2B5EF4-FFF2-40B4-BE49-F238E27FC236}">
                    <a16:creationId xmlns:a16="http://schemas.microsoft.com/office/drawing/2014/main" id="{3945B0FB-8F76-4CB1-8F2F-4E22974ECF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00397206"/>
                  </p:ext>
                </p:extLst>
              </p:nvPr>
            </p:nvGraphicFramePr>
            <p:xfrm>
              <a:off x="905140" y="2097088"/>
              <a:ext cx="7331338" cy="3906117"/>
            </p:xfrm>
            <a:graphic>
              <a:graphicData uri="http://schemas.openxmlformats.org/drawingml/2006/table">
                <a:tbl>
                  <a:tblPr/>
                  <a:tblGrid>
                    <a:gridCol w="162157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5361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8580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4314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37625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590843">
                      <a:extLst>
                        <a:ext uri="{9D8B030D-6E8A-4147-A177-3AD203B41FA5}">
                          <a16:colId xmlns:a16="http://schemas.microsoft.com/office/drawing/2014/main" val="1342239577"/>
                        </a:ext>
                      </a:extLst>
                    </a:gridCol>
                    <a:gridCol w="407963">
                      <a:extLst>
                        <a:ext uri="{9D8B030D-6E8A-4147-A177-3AD203B41FA5}">
                          <a16:colId xmlns:a16="http://schemas.microsoft.com/office/drawing/2014/main" val="1127673306"/>
                        </a:ext>
                      </a:extLst>
                    </a:gridCol>
                    <a:gridCol w="24732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392983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1125226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1125226">
                      <a:extLst>
                        <a:ext uri="{9D8B030D-6E8A-4147-A177-3AD203B41FA5}">
                          <a16:colId xmlns:a16="http://schemas.microsoft.com/office/drawing/2014/main" val="3453515387"/>
                        </a:ext>
                      </a:extLst>
                    </a:gridCol>
                  </a:tblGrid>
                  <a:tr h="1240887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TO</a:t>
                          </a:r>
                        </a:p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Whole Sale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FROM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Factory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194928" t="-980" r="-581884" b="-21568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252795" t="-980" r="-398758" b="-21568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346341" t="-980" r="-291463" b="-21568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697143" t="-980" r="-355238" b="-21568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Supply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Penalties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1128" t="-201961" r="-353759" b="-331373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Arial" charset="0"/>
                              <a:ea typeface="ＭＳ Ｐゴシック" pitchFamily="34" charset="-128"/>
                            </a:rPr>
                            <a:t>550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(300)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1128" t="-301961" r="-353759" b="-231373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12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20-12=8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(200)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70863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Demand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12-12=0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13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60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70863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Penalties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(200)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(0)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(300)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(0)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0027834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57548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Vogel's approximation method (Unbalanced)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Group 123">
                <a:extLst>
                  <a:ext uri="{FF2B5EF4-FFF2-40B4-BE49-F238E27FC236}">
                    <a16:creationId xmlns:a16="http://schemas.microsoft.com/office/drawing/2014/main" xmlns="" id="{3945B0FB-8F76-4CB1-8F2F-4E22974ECF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9567248"/>
                  </p:ext>
                </p:extLst>
              </p:nvPr>
            </p:nvGraphicFramePr>
            <p:xfrm>
              <a:off x="905140" y="2097088"/>
              <a:ext cx="6508533" cy="3922195"/>
            </p:xfrm>
            <a:graphic>
              <a:graphicData uri="http://schemas.openxmlformats.org/drawingml/2006/table">
                <a:tbl>
                  <a:tblPr/>
                  <a:tblGrid>
                    <a:gridCol w="1666648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569005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293749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661024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  <a:gridCol w="347009">
                      <a:extLst>
                        <a:ext uri="{9D8B030D-6E8A-4147-A177-3AD203B41FA5}">
                          <a16:colId xmlns:a16="http://schemas.microsoft.com/office/drawing/2014/main" xmlns="" val="20004"/>
                        </a:ext>
                      </a:extLst>
                    </a:gridCol>
                    <a:gridCol w="509253">
                      <a:extLst>
                        <a:ext uri="{9D8B030D-6E8A-4147-A177-3AD203B41FA5}">
                          <a16:colId xmlns:a16="http://schemas.microsoft.com/office/drawing/2014/main" xmlns="" val="20005"/>
                        </a:ext>
                      </a:extLst>
                    </a:gridCol>
                    <a:gridCol w="473937">
                      <a:extLst>
                        <a:ext uri="{9D8B030D-6E8A-4147-A177-3AD203B41FA5}">
                          <a16:colId xmlns:a16="http://schemas.microsoft.com/office/drawing/2014/main" xmlns="" val="20006"/>
                        </a:ext>
                      </a:extLst>
                    </a:gridCol>
                    <a:gridCol w="1012107">
                      <a:extLst>
                        <a:ext uri="{9D8B030D-6E8A-4147-A177-3AD203B41FA5}">
                          <a16:colId xmlns:a16="http://schemas.microsoft.com/office/drawing/2014/main" xmlns="" val="20007"/>
                        </a:ext>
                      </a:extLst>
                    </a:gridCol>
                    <a:gridCol w="975801">
                      <a:extLst>
                        <a:ext uri="{9D8B030D-6E8A-4147-A177-3AD203B41FA5}">
                          <a16:colId xmlns:a16="http://schemas.microsoft.com/office/drawing/2014/main" xmlns="" val="3453515387"/>
                        </a:ext>
                      </a:extLst>
                    </a:gridCol>
                  </a:tblGrid>
                  <a:tr h="1240887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TO</a:t>
                          </a:r>
                        </a:p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Whole Sale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FROM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Factory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𝑫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Supply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Penalties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/>
                          </a:r>
                          <a:b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</a:b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Arial" charset="0"/>
                              <a:ea typeface="ＭＳ Ｐゴシック" pitchFamily="34" charset="-128"/>
                            </a:rPr>
                            <a:t>550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13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40-13=27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(300)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8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(300)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6"/>
                      </a:ext>
                    </a:extLst>
                  </a:tr>
                  <a:tr h="70863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Demand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13-13=0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7"/>
                      </a:ext>
                    </a:extLst>
                  </a:tr>
                  <a:tr h="70863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Penalties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(200)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(0)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(0)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70027834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Group 123">
                <a:extLst>
                  <a:ext uri="{FF2B5EF4-FFF2-40B4-BE49-F238E27FC236}">
                    <a16:creationId xmlns:a16="http://schemas.microsoft.com/office/drawing/2014/main" id="{3945B0FB-8F76-4CB1-8F2F-4E22974ECF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9567248"/>
                  </p:ext>
                </p:extLst>
              </p:nvPr>
            </p:nvGraphicFramePr>
            <p:xfrm>
              <a:off x="905140" y="2097088"/>
              <a:ext cx="6508533" cy="3906117"/>
            </p:xfrm>
            <a:graphic>
              <a:graphicData uri="http://schemas.openxmlformats.org/drawingml/2006/table">
                <a:tbl>
                  <a:tblPr/>
                  <a:tblGrid>
                    <a:gridCol w="166664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6900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9374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6102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4700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50925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473937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1012107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975801">
                      <a:extLst>
                        <a:ext uri="{9D8B030D-6E8A-4147-A177-3AD203B41FA5}">
                          <a16:colId xmlns:a16="http://schemas.microsoft.com/office/drawing/2014/main" val="3453515387"/>
                        </a:ext>
                      </a:extLst>
                    </a:gridCol>
                  </a:tblGrid>
                  <a:tr h="1240887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TO</a:t>
                          </a:r>
                        </a:p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Whole Sale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FROM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Factory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196454" t="-980" r="-465957" b="-21568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251807" t="-980" r="-295783" b="-21568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362733" t="-980" r="-204969" b="-21568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Supply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Penalties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1095" t="-201961" r="-291241" b="-331373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Arial" charset="0"/>
                              <a:ea typeface="ＭＳ Ｐゴシック" pitchFamily="34" charset="-128"/>
                            </a:rPr>
                            <a:t>550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13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40-13=27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(300)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1095" t="-301961" r="-291241" b="-231373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8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(300)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70863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Demand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13-13=0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70863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Penalties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(200)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(0)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(0)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0027834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523259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Vogel's approximation method (Unbalanced)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Group 123">
                <a:extLst>
                  <a:ext uri="{FF2B5EF4-FFF2-40B4-BE49-F238E27FC236}">
                    <a16:creationId xmlns:a16="http://schemas.microsoft.com/office/drawing/2014/main" xmlns="" id="{3945B0FB-8F76-4CB1-8F2F-4E22974ECF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22140513"/>
                  </p:ext>
                </p:extLst>
              </p:nvPr>
            </p:nvGraphicFramePr>
            <p:xfrm>
              <a:off x="905140" y="2097088"/>
              <a:ext cx="5889554" cy="3922195"/>
            </p:xfrm>
            <a:graphic>
              <a:graphicData uri="http://schemas.openxmlformats.org/drawingml/2006/table">
                <a:tbl>
                  <a:tblPr/>
                  <a:tblGrid>
                    <a:gridCol w="1776508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606512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313112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704596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  <a:gridCol w="537828">
                      <a:extLst>
                        <a:ext uri="{9D8B030D-6E8A-4147-A177-3AD203B41FA5}">
                          <a16:colId xmlns:a16="http://schemas.microsoft.com/office/drawing/2014/main" xmlns="" val="20004"/>
                        </a:ext>
                      </a:extLst>
                    </a:gridCol>
                    <a:gridCol w="959680">
                      <a:extLst>
                        <a:ext uri="{9D8B030D-6E8A-4147-A177-3AD203B41FA5}">
                          <a16:colId xmlns:a16="http://schemas.microsoft.com/office/drawing/2014/main" xmlns="" val="20007"/>
                        </a:ext>
                      </a:extLst>
                    </a:gridCol>
                    <a:gridCol w="991318">
                      <a:extLst>
                        <a:ext uri="{9D8B030D-6E8A-4147-A177-3AD203B41FA5}">
                          <a16:colId xmlns:a16="http://schemas.microsoft.com/office/drawing/2014/main" xmlns="" val="3453515387"/>
                        </a:ext>
                      </a:extLst>
                    </a:gridCol>
                  </a:tblGrid>
                  <a:tr h="1240887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TO</a:t>
                          </a:r>
                        </a:p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Whole Sale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FROM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Factory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Supply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Penalties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/>
                          </a:r>
                          <a:b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</a:b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Arial" charset="0"/>
                              <a:ea typeface="ＭＳ Ｐゴシック" pitchFamily="34" charset="-128"/>
                            </a:rPr>
                            <a:t>550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27-10=17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(250)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8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(50)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6"/>
                      </a:ext>
                    </a:extLst>
                  </a:tr>
                  <a:tr h="70863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Demand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10-10=0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7"/>
                      </a:ext>
                    </a:extLst>
                  </a:tr>
                  <a:tr h="70863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Penalties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(200)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(0)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70027834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Group 123">
                <a:extLst>
                  <a:ext uri="{FF2B5EF4-FFF2-40B4-BE49-F238E27FC236}">
                    <a16:creationId xmlns:a16="http://schemas.microsoft.com/office/drawing/2014/main" id="{3945B0FB-8F76-4CB1-8F2F-4E22974ECF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22140513"/>
                  </p:ext>
                </p:extLst>
              </p:nvPr>
            </p:nvGraphicFramePr>
            <p:xfrm>
              <a:off x="905140" y="2097088"/>
              <a:ext cx="5889554" cy="3906117"/>
            </p:xfrm>
            <a:graphic>
              <a:graphicData uri="http://schemas.openxmlformats.org/drawingml/2006/table">
                <a:tbl>
                  <a:tblPr/>
                  <a:tblGrid>
                    <a:gridCol w="177650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0651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1311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0459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37828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959680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991318">
                      <a:extLst>
                        <a:ext uri="{9D8B030D-6E8A-4147-A177-3AD203B41FA5}">
                          <a16:colId xmlns:a16="http://schemas.microsoft.com/office/drawing/2014/main" val="3453515387"/>
                        </a:ext>
                      </a:extLst>
                    </a:gridCol>
                  </a:tblGrid>
                  <a:tr h="1240887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TO</a:t>
                          </a:r>
                        </a:p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Whole Sale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FROM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Factory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195364" t="-980" r="-349007" b="-21568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218627" t="-980" r="-158333" b="-21568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Supply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Penalties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1027" t="-201961" r="-232192" b="-331373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Arial" charset="0"/>
                              <a:ea typeface="ＭＳ Ｐゴシック" pitchFamily="34" charset="-128"/>
                            </a:rPr>
                            <a:t>550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27-10=17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(250)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1027" t="-301961" r="-232192" b="-231373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300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8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(50)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70863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Demand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25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10-10=0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70863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Penalties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(200)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(0)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0027834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11688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Vogel's approximation method (Unbalanced)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Group 123">
                <a:extLst>
                  <a:ext uri="{FF2B5EF4-FFF2-40B4-BE49-F238E27FC236}">
                    <a16:creationId xmlns:a16="http://schemas.microsoft.com/office/drawing/2014/main" xmlns="" id="{3945B0FB-8F76-4CB1-8F2F-4E22974ECF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8276268"/>
                  </p:ext>
                </p:extLst>
              </p:nvPr>
            </p:nvGraphicFramePr>
            <p:xfrm>
              <a:off x="905140" y="2097088"/>
              <a:ext cx="4359750" cy="3922195"/>
            </p:xfrm>
            <a:graphic>
              <a:graphicData uri="http://schemas.openxmlformats.org/drawingml/2006/table">
                <a:tbl>
                  <a:tblPr/>
                  <a:tblGrid>
                    <a:gridCol w="1666648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569005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293749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854547">
                      <a:extLst>
                        <a:ext uri="{9D8B030D-6E8A-4147-A177-3AD203B41FA5}">
                          <a16:colId xmlns:a16="http://schemas.microsoft.com/office/drawing/2014/main" xmlns="" val="20007"/>
                        </a:ext>
                      </a:extLst>
                    </a:gridCol>
                    <a:gridCol w="975801">
                      <a:extLst>
                        <a:ext uri="{9D8B030D-6E8A-4147-A177-3AD203B41FA5}">
                          <a16:colId xmlns:a16="http://schemas.microsoft.com/office/drawing/2014/main" xmlns="" val="3453515387"/>
                        </a:ext>
                      </a:extLst>
                    </a:gridCol>
                  </a:tblGrid>
                  <a:tr h="1240887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TO</a:t>
                          </a:r>
                        </a:p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Whole Sale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FROM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Factory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Supply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Penalties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/>
                          </a:r>
                          <a:b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</a:b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Arial" charset="0"/>
                              <a:ea typeface="ＭＳ Ｐゴシック" pitchFamily="34" charset="-128"/>
                            </a:rPr>
                            <a:t>550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17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accent2">
                                <a:lumMod val="75000"/>
                              </a:schemeClr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8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8-8=0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6"/>
                      </a:ext>
                    </a:extLst>
                  </a:tr>
                  <a:tr h="70863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Demand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25-8=17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7"/>
                      </a:ext>
                    </a:extLst>
                  </a:tr>
                  <a:tr h="70863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Penalties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(200)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70027834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Group 123">
                <a:extLst>
                  <a:ext uri="{FF2B5EF4-FFF2-40B4-BE49-F238E27FC236}">
                    <a16:creationId xmlns:a16="http://schemas.microsoft.com/office/drawing/2014/main" id="{3945B0FB-8F76-4CB1-8F2F-4E22974ECF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8276268"/>
                  </p:ext>
                </p:extLst>
              </p:nvPr>
            </p:nvGraphicFramePr>
            <p:xfrm>
              <a:off x="905140" y="2097088"/>
              <a:ext cx="4359750" cy="3906117"/>
            </p:xfrm>
            <a:graphic>
              <a:graphicData uri="http://schemas.openxmlformats.org/drawingml/2006/table">
                <a:tbl>
                  <a:tblPr/>
                  <a:tblGrid>
                    <a:gridCol w="166664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6900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9374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854547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975801">
                      <a:extLst>
                        <a:ext uri="{9D8B030D-6E8A-4147-A177-3AD203B41FA5}">
                          <a16:colId xmlns:a16="http://schemas.microsoft.com/office/drawing/2014/main" val="3453515387"/>
                        </a:ext>
                      </a:extLst>
                    </a:gridCol>
                  </a:tblGrid>
                  <a:tr h="1240887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TO</a:t>
                          </a:r>
                        </a:p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Whole Sale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FROM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Factory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196454" t="-980" r="-215603" b="-21568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Supply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Penalties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1095" t="-201961" r="-162409" b="-331373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Arial" charset="0"/>
                              <a:ea typeface="ＭＳ Ｐゴシック" pitchFamily="34" charset="-128"/>
                            </a:rPr>
                            <a:t>550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17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accent2">
                                <a:lumMod val="75000"/>
                              </a:schemeClr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1095" t="-301961" r="-162409" b="-231373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350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8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8-8=0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70863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Demand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25-8=17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70863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Penalties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(200)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0027834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14585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Vogel's approximation method (Unbalanced)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2C3F38F-06D5-4ADF-BB89-374D8DB47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608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Group 123">
                <a:extLst>
                  <a:ext uri="{FF2B5EF4-FFF2-40B4-BE49-F238E27FC236}">
                    <a16:creationId xmlns:a16="http://schemas.microsoft.com/office/drawing/2014/main" xmlns="" id="{3945B0FB-8F76-4CB1-8F2F-4E22974ECF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34063353"/>
                  </p:ext>
                </p:extLst>
              </p:nvPr>
            </p:nvGraphicFramePr>
            <p:xfrm>
              <a:off x="905139" y="2097088"/>
              <a:ext cx="4088892" cy="2589580"/>
            </p:xfrm>
            <a:graphic>
              <a:graphicData uri="http://schemas.openxmlformats.org/drawingml/2006/table">
                <a:tbl>
                  <a:tblPr/>
                  <a:tblGrid>
                    <a:gridCol w="1869639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638307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485065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1095881">
                      <a:extLst>
                        <a:ext uri="{9D8B030D-6E8A-4147-A177-3AD203B41FA5}">
                          <a16:colId xmlns:a16="http://schemas.microsoft.com/office/drawing/2014/main" xmlns="" val="20007"/>
                        </a:ext>
                      </a:extLst>
                    </a:gridCol>
                  </a:tblGrid>
                  <a:tr h="1240887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TO</a:t>
                          </a:r>
                        </a:p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Whole Sale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FROM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Factory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Supply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effectLst/>
                                        <a:latin typeface="Cambria Math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/>
                          </a:r>
                          <a:b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</a:br>
                          <a:endParaRPr kumimoji="0" lang="en-US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Arial" charset="0"/>
                              <a:ea typeface="ＭＳ Ｐゴシック" pitchFamily="34" charset="-128"/>
                            </a:rPr>
                            <a:t>550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17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17-17=0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70863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Demand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17-17=0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Group 123">
                <a:extLst>
                  <a:ext uri="{FF2B5EF4-FFF2-40B4-BE49-F238E27FC236}">
                    <a16:creationId xmlns:a16="http://schemas.microsoft.com/office/drawing/2014/main" id="{3945B0FB-8F76-4CB1-8F2F-4E22974ECF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34063353"/>
                  </p:ext>
                </p:extLst>
              </p:nvPr>
            </p:nvGraphicFramePr>
            <p:xfrm>
              <a:off x="905139" y="2097088"/>
              <a:ext cx="4088892" cy="2573502"/>
            </p:xfrm>
            <a:graphic>
              <a:graphicData uri="http://schemas.openxmlformats.org/drawingml/2006/table">
                <a:tbl>
                  <a:tblPr/>
                  <a:tblGrid>
                    <a:gridCol w="186963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3830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8506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095881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1240887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TO</a:t>
                          </a:r>
                        </a:p>
                        <a:p>
                          <a:pPr marL="0" marR="0" lvl="0" indent="0" algn="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Whole Sale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FROM</a:t>
                          </a: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Factory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167568" t="-980" r="-98919" b="-10882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Supply</a:t>
                          </a:r>
                        </a:p>
                      </a:txBody>
                      <a:tcPr marT="45709" marB="45709" anchor="b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1990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977" t="-200000" r="-119870" b="-115534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Arial" charset="0"/>
                              <a:ea typeface="ＭＳ Ｐゴシック" pitchFamily="34" charset="-128"/>
                            </a:rPr>
                            <a:t>550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17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17-17=0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119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0863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Demand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63BDE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sz="1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ＭＳ Ｐゴシック" pitchFamily="34" charset="-128"/>
                            </a:rPr>
                            <a:t>17-17=0</a:t>
                          </a: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9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85000"/>
                            <a:buFont typeface="Wingdings" pitchFamily="2" charset="2"/>
                            <a:buNone/>
                            <a:tabLst/>
                          </a:pPr>
                          <a:endParaRPr kumimoji="0" 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ＭＳ Ｐゴシック" pitchFamily="34" charset="-128"/>
                          </a:endParaRPr>
                        </a:p>
                      </a:txBody>
                      <a:tcPr marT="45709" marB="45709" anchor="ctr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xmlns="" id="{B3A2939E-FDF6-4D3C-B857-4926073CA7C3}"/>
                  </a:ext>
                </a:extLst>
              </p:cNvPr>
              <p:cNvSpPr/>
              <p:nvPr/>
            </p:nvSpPr>
            <p:spPr>
              <a:xfrm>
                <a:off x="905140" y="4934734"/>
                <a:ext cx="7380419" cy="16240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Total</m:t>
                      </m:r>
                      <m:r>
                        <a:rPr lang="en-US" sz="20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Cost</m:t>
                      </m:r>
                      <m:r>
                        <a:rPr lang="en-US" sz="2000" b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100×12</m:t>
                      </m:r>
                      <m:r>
                        <a:rPr lang="en-US" sz="20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0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0×13+300×10</m:t>
                      </m:r>
                      <m:r>
                        <a:rPr lang="en-US" sz="20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+35</m:t>
                      </m:r>
                      <m:r>
                        <a:rPr lang="en-US" sz="20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0×</m:t>
                      </m:r>
                      <m:r>
                        <a:rPr lang="en-US" sz="20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8+</m:t>
                      </m:r>
                      <m:r>
                        <a:rPr lang="en-US" sz="20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550</m:t>
                      </m:r>
                      <m:r>
                        <a:rPr lang="en-US" sz="20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000" b="0" i="0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17</m:t>
                      </m:r>
                    </m:oMath>
                  </m:oMathPara>
                </a14:m>
                <a:endParaRPr lang="en-US" sz="2000" dirty="0">
                  <a:solidFill>
                    <a:prstClr val="black"/>
                  </a:solidFill>
                  <a:ea typeface="Cambria Math" panose="02040503050406030204" pitchFamily="18" charset="0"/>
                </a:endParaRPr>
              </a:p>
              <a:p>
                <a:pPr lvl="0"/>
                <a:r>
                  <a:rPr lang="en-US" sz="2000" dirty="0">
                    <a:solidFill>
                      <a:prstClr val="black"/>
                    </a:solidFill>
                  </a:rPr>
                  <a:t>               </a:t>
                </a:r>
              </a:p>
              <a:p>
                <a:pPr lvl="0"/>
                <a:r>
                  <a:rPr lang="en-US" sz="2000" dirty="0">
                    <a:solidFill>
                      <a:prstClr val="black"/>
                    </a:solidFill>
                  </a:rPr>
                  <a:t>        =1200+0+3000+2800+9350</a:t>
                </a:r>
              </a:p>
              <a:p>
                <a:pPr lvl="0"/>
                <a:r>
                  <a:rPr lang="en-US" sz="2000" dirty="0">
                    <a:solidFill>
                      <a:prstClr val="black"/>
                    </a:solidFill>
                  </a:rPr>
                  <a:t>        =16350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3A2939E-FDF6-4D3C-B857-4926073CA7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140" y="4934734"/>
                <a:ext cx="7380419" cy="1624099"/>
              </a:xfrm>
              <a:prstGeom prst="rect">
                <a:avLst/>
              </a:prstGeom>
              <a:blipFill>
                <a:blip r:embed="rId3"/>
                <a:stretch>
                  <a:fillRect b="-60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8924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2689715"/>
            <a:ext cx="7429499" cy="1478570"/>
          </a:xfrm>
        </p:spPr>
        <p:txBody>
          <a:bodyPr>
            <a:normAutofit fontScale="90000"/>
          </a:bodyPr>
          <a:lstStyle/>
          <a:p>
            <a:pPr lvl="0" algn="ctr">
              <a:lnSpc>
                <a:spcPct val="100000"/>
              </a:lnSpc>
              <a:spcBef>
                <a:spcPts val="0"/>
              </a:spcBef>
            </a:pPr>
            <a:r>
              <a:rPr lang="en-GB" sz="5400" b="1" cap="none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Thank you!</a:t>
            </a:r>
            <a:r>
              <a:rPr lang="en-GB" sz="4800" b="1" cap="none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/>
            </a:r>
            <a:br>
              <a:rPr lang="en-GB" sz="4800" b="1" cap="none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endParaRPr lang="en-US" sz="4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07375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Clarity">
  <a:themeElements>
    <a:clrScheme name="Angles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B5F27"/>
      </a:dk2>
      <a:lt2>
        <a:srgbClr val="D8FC68"/>
      </a:lt2>
      <a:accent1>
        <a:srgbClr val="DDC855"/>
      </a:accent1>
      <a:accent2>
        <a:srgbClr val="FCA03D"/>
      </a:accent2>
      <a:accent3>
        <a:srgbClr val="E36439"/>
      </a:accent3>
      <a:accent4>
        <a:srgbClr val="C2935B"/>
      </a:accent4>
      <a:accent5>
        <a:srgbClr val="88C25C"/>
      </a:accent5>
      <a:accent6>
        <a:srgbClr val="BFCC86"/>
      </a:accent6>
      <a:hlink>
        <a:srgbClr val="FFCE23"/>
      </a:hlink>
      <a:folHlink>
        <a:srgbClr val="FDEB86"/>
      </a:folHlink>
    </a:clrScheme>
    <a:fontScheme name="Circui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88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Circuit" id="{0AC2F7E7-15F5-431C-B2A2-456FE929F56C}" vid="{97ECCC31-8429-4523-BE8D-8F09B7A4D46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4172</TotalTime>
  <Words>3176</Words>
  <Application>Microsoft Office PowerPoint</Application>
  <PresentationFormat>On-screen Show (4:3)</PresentationFormat>
  <Paragraphs>1211</Paragraphs>
  <Slides>52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52</vt:i4>
      </vt:variant>
    </vt:vector>
  </HeadingPairs>
  <TitlesOfParts>
    <vt:vector size="54" baseType="lpstr">
      <vt:lpstr>Clarity</vt:lpstr>
      <vt:lpstr>Circuit</vt:lpstr>
      <vt:lpstr>PowerPoint Presentation</vt:lpstr>
      <vt:lpstr>Modified Distribution method(Modi)</vt:lpstr>
      <vt:lpstr>Modi method(u-v method)</vt:lpstr>
      <vt:lpstr>Modi method(u-v method)</vt:lpstr>
      <vt:lpstr>Modi method(u-v method)</vt:lpstr>
      <vt:lpstr>Modi method(u-v method)</vt:lpstr>
      <vt:lpstr>Modi method(u-v method)</vt:lpstr>
      <vt:lpstr>Modi method(u-v method)</vt:lpstr>
      <vt:lpstr>PowerPoint Presentation</vt:lpstr>
      <vt:lpstr>Modi method (u-v method)</vt:lpstr>
      <vt:lpstr>Modi method (u-v method)</vt:lpstr>
      <vt:lpstr>Modi method(u-v method)</vt:lpstr>
      <vt:lpstr>Modi method(u-v method)</vt:lpstr>
      <vt:lpstr>Modi method(u-v method)</vt:lpstr>
      <vt:lpstr>Modi method(u-v method)</vt:lpstr>
      <vt:lpstr>Modi method(u-v method)</vt:lpstr>
      <vt:lpstr>Modi method(u-v method)</vt:lpstr>
      <vt:lpstr>Modi method(u-v method)</vt:lpstr>
      <vt:lpstr>Modi method(u-v method)</vt:lpstr>
      <vt:lpstr>Modi method(u-v method)</vt:lpstr>
      <vt:lpstr>Loop</vt:lpstr>
      <vt:lpstr>Modi method(u-v method)</vt:lpstr>
      <vt:lpstr>Modi method(u-v method)</vt:lpstr>
      <vt:lpstr>Modi method(u-v method)</vt:lpstr>
      <vt:lpstr>Modi method(u-v method)</vt:lpstr>
      <vt:lpstr>TASK  practice Chap 9 examples</vt:lpstr>
      <vt:lpstr>NWCM (Unbalanced)</vt:lpstr>
      <vt:lpstr>NWCM (Unbalanced)</vt:lpstr>
      <vt:lpstr>Initial basic feasible solution</vt:lpstr>
      <vt:lpstr>NWCM (Unbalanced)</vt:lpstr>
      <vt:lpstr>NWCM (Unbalanced)</vt:lpstr>
      <vt:lpstr>NWCM (Unbalanced)</vt:lpstr>
      <vt:lpstr>NWCM (Unbalanced)</vt:lpstr>
      <vt:lpstr>NWCM (Unbalanced)</vt:lpstr>
      <vt:lpstr>Least cost method (Unbalanced)</vt:lpstr>
      <vt:lpstr>Least cost method (Unbalanced)</vt:lpstr>
      <vt:lpstr>Initial basic feasible solution</vt:lpstr>
      <vt:lpstr>Least cost method (Unbalanced)</vt:lpstr>
      <vt:lpstr>Least cost method (Unbalanced)</vt:lpstr>
      <vt:lpstr>Least cost method (Unbalanced)</vt:lpstr>
      <vt:lpstr>Least cost method (Unbalanced)</vt:lpstr>
      <vt:lpstr>Least cost method (Unbalanced)</vt:lpstr>
      <vt:lpstr>Vogel's approximation method (Unbalanced)</vt:lpstr>
      <vt:lpstr>Vogel's approximation method (Unbalanced)</vt:lpstr>
      <vt:lpstr>Vogel's approximation method (Unbalanced)</vt:lpstr>
      <vt:lpstr>Vogel's approximation method (Unbalanced)</vt:lpstr>
      <vt:lpstr>Vogel's approximation method (Unbalanced)</vt:lpstr>
      <vt:lpstr>Vogel's approximation method (Unbalanced)</vt:lpstr>
      <vt:lpstr>Vogel's approximation method (Unbalanced)</vt:lpstr>
      <vt:lpstr>Vogel's approximation method (Unbalanced)</vt:lpstr>
      <vt:lpstr>Vogel's approximation method (Unbalanced)</vt:lpstr>
      <vt:lpstr>Thank you!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 Bakhtawar</dc:creator>
  <cp:lastModifiedBy>4G Traders</cp:lastModifiedBy>
  <cp:revision>357</cp:revision>
  <dcterms:created xsi:type="dcterms:W3CDTF">2022-09-10T13:48:09Z</dcterms:created>
  <dcterms:modified xsi:type="dcterms:W3CDTF">2025-04-24T06:49:57Z</dcterms:modified>
</cp:coreProperties>
</file>