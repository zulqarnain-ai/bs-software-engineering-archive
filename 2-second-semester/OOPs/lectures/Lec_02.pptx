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28"/>
  </p:notesMasterIdLst>
  <p:sldIdLst>
    <p:sldId id="303" r:id="rId2"/>
    <p:sldId id="336" r:id="rId3"/>
    <p:sldId id="304" r:id="rId4"/>
    <p:sldId id="302" r:id="rId5"/>
    <p:sldId id="290" r:id="rId6"/>
    <p:sldId id="291" r:id="rId7"/>
    <p:sldId id="292" r:id="rId8"/>
    <p:sldId id="293" r:id="rId9"/>
    <p:sldId id="320" r:id="rId10"/>
    <p:sldId id="321" r:id="rId11"/>
    <p:sldId id="322" r:id="rId12"/>
    <p:sldId id="323" r:id="rId13"/>
    <p:sldId id="324" r:id="rId14"/>
    <p:sldId id="325" r:id="rId15"/>
    <p:sldId id="333" r:id="rId16"/>
    <p:sldId id="309" r:id="rId17"/>
    <p:sldId id="311" r:id="rId18"/>
    <p:sldId id="312" r:id="rId19"/>
    <p:sldId id="313" r:id="rId20"/>
    <p:sldId id="314" r:id="rId21"/>
    <p:sldId id="316" r:id="rId22"/>
    <p:sldId id="315" r:id="rId23"/>
    <p:sldId id="310" r:id="rId24"/>
    <p:sldId id="334" r:id="rId25"/>
    <p:sldId id="335" r:id="rId26"/>
    <p:sldId id="331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044" autoAdjust="0"/>
  </p:normalViewPr>
  <p:slideViewPr>
    <p:cSldViewPr>
      <p:cViewPr varScale="1">
        <p:scale>
          <a:sx n="64" d="100"/>
          <a:sy n="64" d="100"/>
        </p:scale>
        <p:origin x="156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215DFF-BC15-4394-AB2D-5BBE20412E5C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1078B89-7B9D-4791-A3A6-C37E8C5032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b="1" smtClean="0"/>
              <a:t>Lexical</a:t>
            </a:r>
            <a:r>
              <a:rPr lang="en-US" altLang="en-US" smtClean="0"/>
              <a:t>; of or relating to dictionaries (words)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027CBFF-EFA0-4187-BE43-EADAA4633EF4}" type="slidenum">
              <a:rPr lang="en-US" altLang="en-US" smtClean="0">
                <a:latin typeface="Calibri" panose="020F0502020204030204" pitchFamily="34" charset="0"/>
              </a:rPr>
              <a:pPr/>
              <a:t>3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FDE42DC-92CE-4B09-A8F1-86AF5E81A81B}" type="slidenum">
              <a:rPr lang="en-US" altLang="en-US" smtClean="0">
                <a:latin typeface="Calibri" panose="020F0502020204030204" pitchFamily="34" charset="0"/>
              </a:rPr>
              <a:pPr/>
              <a:t>5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078B89-7B9D-4791-A3A6-C37E8C50328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551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B9EC0E4-3634-4C59-B7BE-5A1023DA86CB}" type="slidenum">
              <a:rPr lang="en-US" altLang="en-US" smtClean="0">
                <a:latin typeface="Calibri" panose="020F0502020204030204" pitchFamily="34" charset="0"/>
              </a:rPr>
              <a:pPr/>
              <a:t>11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b="1" dirty="0" smtClean="0"/>
              <a:t>Try to execute the code with Main instead</a:t>
            </a:r>
            <a:r>
              <a:rPr lang="en-US" altLang="en-US" b="1" baseline="0" dirty="0" smtClean="0"/>
              <a:t> of main. </a:t>
            </a:r>
            <a:endParaRPr lang="en-US" altLang="en-US" b="1" dirty="0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EE9A886-16F8-4F61-999A-7AF7D3B0DCA7}" type="slidenum">
              <a:rPr lang="en-US" altLang="en-US" smtClean="0">
                <a:latin typeface="Calibri" panose="020F0502020204030204" pitchFamily="34" charset="0"/>
              </a:rPr>
              <a:pPr/>
              <a:t>12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8B6195B-E691-4BF3-A73A-42523E8AF04E}" type="slidenum">
              <a:rPr lang="en-US" altLang="en-US" smtClean="0">
                <a:latin typeface="Calibri" panose="020F0502020204030204" pitchFamily="34" charset="0"/>
              </a:rPr>
              <a:pPr/>
              <a:t>13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/>
              <a:t>Difference between println() and print() ?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CCFD2B6-2252-4E8C-B6DC-2D7FA2D13DF7}" type="slidenum">
              <a:rPr lang="en-US" altLang="en-US" smtClean="0">
                <a:latin typeface="Calibri" panose="020F0502020204030204" pitchFamily="34" charset="0"/>
              </a:rPr>
              <a:pPr/>
              <a:t>14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9EC7A64-74A4-48C9-B899-0EF5B328C7DC}" type="slidenum">
              <a:rPr lang="en-US" altLang="en-US" smtClean="0">
                <a:latin typeface="Calibri" panose="020F0502020204030204" pitchFamily="34" charset="0"/>
              </a:rPr>
              <a:pPr/>
              <a:t>15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BCD070C-BE6B-4B37-B5FA-A0A206E65F51}" type="slidenum">
              <a:rPr lang="en-US" altLang="en-US" smtClean="0">
                <a:latin typeface="Calibri" panose="020F0502020204030204" pitchFamily="34" charset="0"/>
              </a:rPr>
              <a:pPr/>
              <a:t>16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98D8946-DC55-4684-9892-CCAB1FD66755}" type="slidenum">
              <a:rPr lang="en-US" altLang="en-US" smtClean="0">
                <a:latin typeface="Calibri" panose="020F0502020204030204" pitchFamily="34" charset="0"/>
              </a:rPr>
              <a:pPr/>
              <a:t>17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8CB5194-703F-4E37-AF14-614E52DE0407}" type="slidenum">
              <a:rPr lang="en-US" altLang="en-US" smtClean="0">
                <a:latin typeface="Calibri" panose="020F0502020204030204" pitchFamily="34" charset="0"/>
              </a:rPr>
              <a:pPr/>
              <a:t>19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078B89-7B9D-4791-A3A6-C37E8C503288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11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b="1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3631712-40A1-4945-8A6C-A2BDD768CD98}" type="slidenum">
              <a:rPr lang="en-US" altLang="en-US" smtClean="0">
                <a:latin typeface="Calibri" panose="020F0502020204030204" pitchFamily="34" charset="0"/>
              </a:rPr>
              <a:pPr/>
              <a:t>23</a:t>
            </a:fld>
            <a:endParaRPr lang="en-US" altLang="en-US" smtClean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Arial" pitchFamily="34" charset="0"/>
                <a:cs typeface="Arial" pitchFamily="34" charset="0"/>
              </a:defRPr>
            </a:lvl1pPr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489146E3-41A9-46D2-A2CB-CF259D75EA7F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543570E-4039-4798-AC1C-9BAEFE3B3C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776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FC367A-1DF0-415A-B7A6-44B5F2E9DAB4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56486-5714-478F-BAE4-56F11560D4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2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376BF79-B177-462F-B167-1046B18C2053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BEE30-7FD0-4C69-A265-97D099830F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08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A8930D9-0484-4618-A021-E03A9BFFCC9F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CE3826-E5C9-43B0-BC39-A34DDA8ACB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80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4EC1813-41A9-449A-A8F0-B34EB80F3815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C3EDCC-F4C9-4715-9C3C-FE64DB6390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39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75B9772-E84E-48D9-935D-23FF4408D885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BD9D9B-FC0C-4B70-8AB0-3B94786A4E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15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86083-0B58-4DFE-B2F0-9A2C08BFAE6D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39F6F2-7BF9-49EA-924F-8D7704C100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73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A848BE1-55A8-41AE-A4EF-A2389E4FCCD7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AE224-6B98-46D2-9A68-A7A3A11D89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970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6" name="Freeform 15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87A45305-999D-4C29-93CE-B8555C58B28D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9505C2-2FC6-424C-9474-675D3250B3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544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416E47-ECE1-4D10-A6CF-0296C8041E76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607E2-29CF-4FC4-82E7-0612C704FD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378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726A8-B822-496E-B04A-3D89F93F8BC0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138D9A-E2F0-4ED1-B791-A20EE50106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61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CE1476-75CD-4D49-8424-49A125747EE5}" type="datetimeFigureOut">
              <a:rPr lang="en-US"/>
              <a:pPr>
                <a:defRPr/>
              </a:pPr>
              <a:t>10/9/2021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C810F637-C740-4FD8-9F76-163FC8ED39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6" r:id="rId1"/>
    <p:sldLayoutId id="2147484112" r:id="rId2"/>
    <p:sldLayoutId id="2147484117" r:id="rId3"/>
    <p:sldLayoutId id="2147484118" r:id="rId4"/>
    <p:sldLayoutId id="2147484119" r:id="rId5"/>
    <p:sldLayoutId id="2147484120" r:id="rId6"/>
    <p:sldLayoutId id="2147484113" r:id="rId7"/>
    <p:sldLayoutId id="2147484121" r:id="rId8"/>
    <p:sldLayoutId id="2147484122" r:id="rId9"/>
    <p:sldLayoutId id="2147484114" r:id="rId10"/>
    <p:sldLayoutId id="214748411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609600" y="762000"/>
            <a:ext cx="8153400" cy="2743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Object Oriented</a:t>
            </a:r>
            <a:br>
              <a:rPr lang="en-US" dirty="0" smtClean="0"/>
            </a:br>
            <a:r>
              <a:rPr lang="en-US" dirty="0" smtClean="0"/>
              <a:t> Programming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What is a Program?</a:t>
            </a:r>
          </a:p>
          <a:p>
            <a:r>
              <a:rPr lang="en-US" altLang="en-US" smtClean="0"/>
              <a:t>Evolution of Programming Languages</a:t>
            </a:r>
          </a:p>
          <a:p>
            <a:r>
              <a:rPr lang="en-US" altLang="en-US" smtClean="0"/>
              <a:t>Why Java </a:t>
            </a:r>
          </a:p>
          <a:p>
            <a:r>
              <a:rPr lang="en-US" altLang="en-US" smtClean="0"/>
              <a:t>Java History</a:t>
            </a:r>
          </a:p>
          <a:p>
            <a:r>
              <a:rPr lang="en-US" altLang="en-US" smtClean="0"/>
              <a:t>Versions of Java</a:t>
            </a:r>
          </a:p>
          <a:p>
            <a:r>
              <a:rPr lang="en-US" altLang="en-US" smtClean="0"/>
              <a:t>Features of Java</a:t>
            </a:r>
          </a:p>
          <a:p>
            <a:r>
              <a:rPr lang="en-US" altLang="en-US" smtClean="0"/>
              <a:t>Java Procedure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Previous Lecture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7696200" cy="4525962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Creating </a:t>
            </a:r>
            <a:r>
              <a:rPr lang="en-US" altLang="en-US" dirty="0" smtClean="0"/>
              <a:t>Simple Java Application </a:t>
            </a:r>
          </a:p>
          <a:p>
            <a:pPr eaLnBrk="1" hangingPunct="1"/>
            <a:r>
              <a:rPr lang="en-US" altLang="en-US" dirty="0" smtClean="0"/>
              <a:t>Lexical </a:t>
            </a:r>
            <a:r>
              <a:rPr lang="en-US" altLang="en-US" dirty="0" smtClean="0"/>
              <a:t>Issues</a:t>
            </a:r>
          </a:p>
          <a:p>
            <a:pPr eaLnBrk="1" hangingPunct="1"/>
            <a:r>
              <a:rPr lang="en-US" altLang="en-US" dirty="0" smtClean="0"/>
              <a:t>Java Class Library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Topics To Be Covered Today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7391400" cy="4525962"/>
          </a:xfrm>
        </p:spPr>
        <p:txBody>
          <a:bodyPr/>
          <a:lstStyle/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To begin developing Java programs, follow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these steps:</a:t>
            </a:r>
          </a:p>
          <a:p>
            <a:pPr eaLnBrk="1" hangingPunct="1"/>
            <a:r>
              <a:rPr lang="en-US" altLang="en-US" b="1" smtClean="0"/>
              <a:t>Step 1:</a:t>
            </a:r>
            <a:r>
              <a:rPr lang="en-US" altLang="en-US" smtClean="0"/>
              <a:t> Obtain the Software Development Kit (SDK) for J2SE (Java 2 Platform, Standard Edition)</a:t>
            </a:r>
          </a:p>
          <a:p>
            <a:pPr eaLnBrk="1" hangingPunct="1"/>
            <a:r>
              <a:rPr lang="en-US" altLang="en-US" b="1" smtClean="0"/>
              <a:t>Step 2:</a:t>
            </a:r>
            <a:r>
              <a:rPr lang="en-US" altLang="en-US" smtClean="0"/>
              <a:t> Install the SDK 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Getting Started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Simple Java Application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676400"/>
            <a:ext cx="4876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Step 1:</a:t>
            </a:r>
            <a:r>
              <a:rPr lang="en-US" altLang="en-US" smtClean="0"/>
              <a:t> Use an </a:t>
            </a:r>
            <a:r>
              <a:rPr lang="en-US" altLang="en-US" smtClean="0">
                <a:solidFill>
                  <a:srgbClr val="C00000"/>
                </a:solidFill>
              </a:rPr>
              <a:t>editor</a:t>
            </a:r>
            <a:r>
              <a:rPr lang="en-US" altLang="en-US" smtClean="0"/>
              <a:t> to enter the following code for the HelloWoldApp program:</a:t>
            </a:r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Save this code in a file called </a:t>
            </a:r>
            <a:r>
              <a:rPr lang="en-US" altLang="en-US" smtClean="0">
                <a:solidFill>
                  <a:srgbClr val="C00000"/>
                </a:solidFill>
              </a:rPr>
              <a:t>HelloWorldApp.java </a:t>
            </a:r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Simple Application</a:t>
            </a:r>
            <a:endParaRPr lang="en-US" dirty="0"/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438400"/>
            <a:ext cx="5815013" cy="226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dirty="0" smtClean="0"/>
              <a:t>Step 2:</a:t>
            </a:r>
            <a:r>
              <a:rPr lang="en-US" altLang="en-US" dirty="0" smtClean="0"/>
              <a:t> </a:t>
            </a:r>
            <a:r>
              <a:rPr lang="en-US" altLang="en-US" dirty="0" smtClean="0">
                <a:solidFill>
                  <a:srgbClr val="C00000"/>
                </a:solidFill>
              </a:rPr>
              <a:t>Compile</a:t>
            </a:r>
            <a:r>
              <a:rPr lang="en-US" altLang="en-US" dirty="0" smtClean="0"/>
              <a:t> the application with the command line: 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dirty="0" smtClean="0"/>
              <a:t>        &gt; </a:t>
            </a:r>
            <a:r>
              <a:rPr lang="en-US" altLang="en-US" dirty="0" err="1" smtClean="0"/>
              <a:t>javac</a:t>
            </a:r>
            <a:r>
              <a:rPr lang="en-US" altLang="en-US" dirty="0" smtClean="0"/>
              <a:t> HelloWorldApp.java </a:t>
            </a:r>
          </a:p>
          <a:p>
            <a:pPr eaLnBrk="1" hangingPunct="1">
              <a:buFont typeface="Wingdings 3" panose="05040102010807070707" pitchFamily="18" charset="2"/>
              <a:buNone/>
            </a:pPr>
            <a:endParaRPr lang="en-US" altLang="en-US" dirty="0" smtClean="0"/>
          </a:p>
          <a:p>
            <a:pPr eaLnBrk="1" hangingPunct="1"/>
            <a:r>
              <a:rPr lang="en-US" altLang="en-US" dirty="0" smtClean="0"/>
              <a:t>This creates the </a:t>
            </a:r>
            <a:r>
              <a:rPr lang="en-US" altLang="en-US" dirty="0" smtClean="0">
                <a:solidFill>
                  <a:srgbClr val="C00000"/>
                </a:solidFill>
              </a:rPr>
              <a:t>class file </a:t>
            </a:r>
            <a:r>
              <a:rPr lang="en-US" altLang="en-US" dirty="0" smtClean="0"/>
              <a:t>(with the bytecode output):   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dirty="0" smtClean="0"/>
              <a:t>            </a:t>
            </a:r>
            <a:r>
              <a:rPr lang="en-US" altLang="en-US" dirty="0" err="1" smtClean="0"/>
              <a:t>HelloWorldApp.class</a:t>
            </a:r>
            <a:r>
              <a:rPr lang="en-US" altLang="en-US" dirty="0" smtClean="0"/>
              <a:t> </a:t>
            </a:r>
          </a:p>
          <a:p>
            <a:pPr eaLnBrk="1" hangingPunct="1"/>
            <a:endParaRPr lang="en-US" alt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Simple Application</a:t>
            </a:r>
            <a:endParaRPr lang="en-US" dirty="0"/>
          </a:p>
        </p:txBody>
      </p:sp>
      <p:pic>
        <p:nvPicPr>
          <p:cNvPr id="20484" name="Picture 5" descr="http://www.tanguay.info/web2008/customImages/itemTypes/tutorials/tutorial-java6WithNetbeans/javaClas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572000"/>
            <a:ext cx="4067175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smtClean="0"/>
              <a:t>Step 3:</a:t>
            </a:r>
            <a:r>
              <a:rPr lang="en-US" altLang="en-US" smtClean="0"/>
              <a:t> Use the </a:t>
            </a:r>
            <a:r>
              <a:rPr lang="en-US" altLang="en-US" smtClean="0">
                <a:solidFill>
                  <a:srgbClr val="C00000"/>
                </a:solidFill>
              </a:rPr>
              <a:t>java</a:t>
            </a:r>
            <a:r>
              <a:rPr lang="en-US" altLang="en-US" smtClean="0"/>
              <a:t> command to run the program: 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        &gt; java HelloWorldApp</a:t>
            </a:r>
            <a:br>
              <a:rPr lang="en-US" altLang="en-US" smtClean="0"/>
            </a:br>
            <a:r>
              <a:rPr lang="en-US" altLang="en-US" smtClean="0"/>
              <a:t>        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           Hello World! 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The output is printed after the command line.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Simple Application</a:t>
            </a:r>
            <a:endParaRPr lang="en-US" dirty="0"/>
          </a:p>
        </p:txBody>
      </p:sp>
      <p:sp>
        <p:nvSpPr>
          <p:cNvPr id="4" name="Arc 3"/>
          <p:cNvSpPr/>
          <p:nvPr/>
        </p:nvSpPr>
        <p:spPr>
          <a:xfrm>
            <a:off x="1447800" y="3048000"/>
            <a:ext cx="2209800" cy="838200"/>
          </a:xfrm>
          <a:prstGeom prst="arc">
            <a:avLst>
              <a:gd name="adj1" fmla="val 182491"/>
              <a:gd name="adj2" fmla="val 0"/>
            </a:avLst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rot="10800000" flipV="1">
            <a:off x="3733800" y="3048000"/>
            <a:ext cx="1219200" cy="38100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10" name="TextBox 6"/>
          <p:cNvSpPr txBox="1">
            <a:spLocks noChangeArrowheads="1"/>
          </p:cNvSpPr>
          <p:nvPr/>
        </p:nvSpPr>
        <p:spPr bwMode="auto">
          <a:xfrm>
            <a:off x="4876800" y="2819400"/>
            <a:ext cx="990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Output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1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4525963"/>
          </a:xfrm>
        </p:spPr>
        <p:txBody>
          <a:bodyPr/>
          <a:lstStyle/>
          <a:p>
            <a:r>
              <a:rPr lang="en-US" altLang="en-US" smtClean="0"/>
              <a:t>The keyword </a:t>
            </a:r>
            <a:r>
              <a:rPr lang="en-US" altLang="en-US" b="1" smtClean="0"/>
              <a:t>class </a:t>
            </a:r>
            <a:r>
              <a:rPr lang="en-US" altLang="en-US" smtClean="0"/>
              <a:t>is used to declare that a new class is being defined. </a:t>
            </a:r>
          </a:p>
          <a:p>
            <a:r>
              <a:rPr lang="en-US" altLang="en-US" b="1" smtClean="0"/>
              <a:t>HelloWorldApp </a:t>
            </a:r>
            <a:r>
              <a:rPr lang="en-US" altLang="en-US" smtClean="0"/>
              <a:t>is an identifier that is the name of the class. </a:t>
            </a:r>
          </a:p>
          <a:p>
            <a:r>
              <a:rPr lang="en-US" altLang="en-US" smtClean="0"/>
              <a:t>The entire </a:t>
            </a:r>
            <a:r>
              <a:rPr lang="en-US" altLang="en-US" b="1" smtClean="0"/>
              <a:t>class </a:t>
            </a:r>
            <a:r>
              <a:rPr lang="en-US" altLang="en-US" smtClean="0"/>
              <a:t>definition, including all of its members, will be between the opening curly brace ({) and the closing curly brace (}).</a:t>
            </a:r>
          </a:p>
          <a:p>
            <a:r>
              <a:rPr lang="en-US" altLang="en-US" smtClean="0"/>
              <a:t>The use of the curly braces in Java is identical to the way they are used in C, C++.</a:t>
            </a:r>
          </a:p>
          <a:p>
            <a:r>
              <a:rPr lang="en-US" altLang="en-US" smtClean="0"/>
              <a:t>In Java, all program activity occurs within class. </a:t>
            </a:r>
            <a:r>
              <a:rPr lang="en-US" altLang="en-US" smtClean="0">
                <a:solidFill>
                  <a:srgbClr val="FF0000"/>
                </a:solidFill>
              </a:rPr>
              <a:t>This is one reason why all Java programs are object-</a:t>
            </a:r>
          </a:p>
          <a:p>
            <a:pPr>
              <a:buFont typeface="Wingdings 3" panose="05040102010807070707" pitchFamily="18" charset="2"/>
              <a:buNone/>
            </a:pPr>
            <a:r>
              <a:rPr lang="en-US" altLang="en-US" smtClean="0">
                <a:solidFill>
                  <a:srgbClr val="FF0000"/>
                </a:solidFill>
              </a:rPr>
              <a:t>                      oriented.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Description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1"/>
          <p:cNvSpPr>
            <a:spLocks noGrp="1"/>
          </p:cNvSpPr>
          <p:nvPr>
            <p:ph idx="1"/>
          </p:nvPr>
        </p:nvSpPr>
        <p:spPr>
          <a:xfrm>
            <a:off x="304800" y="1295400"/>
            <a:ext cx="8458200" cy="4525963"/>
          </a:xfrm>
        </p:spPr>
        <p:txBody>
          <a:bodyPr/>
          <a:lstStyle/>
          <a:p>
            <a:r>
              <a:rPr lang="en-US" altLang="en-US" sz="2300" smtClean="0"/>
              <a:t>The next line of code is</a:t>
            </a:r>
          </a:p>
          <a:p>
            <a:endParaRPr lang="en-US" altLang="en-US" sz="2300" smtClean="0"/>
          </a:p>
          <a:p>
            <a:endParaRPr lang="en-US" altLang="en-US" sz="2300" smtClean="0"/>
          </a:p>
          <a:p>
            <a:r>
              <a:rPr lang="en-US" altLang="en-US" sz="2300" smtClean="0"/>
              <a:t>All Java applications begin execution by calling </a:t>
            </a:r>
            <a:r>
              <a:rPr lang="en-US" altLang="en-US" sz="2300" b="1" smtClean="0"/>
              <a:t>main( ).</a:t>
            </a:r>
          </a:p>
          <a:p>
            <a:r>
              <a:rPr lang="en-US" altLang="en-US" sz="2300" smtClean="0"/>
              <a:t>The </a:t>
            </a:r>
            <a:r>
              <a:rPr lang="en-US" altLang="en-US" sz="2300" b="1" smtClean="0"/>
              <a:t>public </a:t>
            </a:r>
            <a:r>
              <a:rPr lang="en-US" altLang="en-US" sz="2300" smtClean="0"/>
              <a:t>keyword is an access specifier, which allows the programmer to </a:t>
            </a:r>
            <a:r>
              <a:rPr lang="en-US" altLang="en-US" sz="2300" smtClean="0">
                <a:solidFill>
                  <a:srgbClr val="FF0000"/>
                </a:solidFill>
              </a:rPr>
              <a:t>control the visibility of class members.</a:t>
            </a:r>
            <a:r>
              <a:rPr lang="en-US" altLang="en-US" sz="2300" smtClean="0"/>
              <a:t> When a class member is preceded by </a:t>
            </a:r>
            <a:r>
              <a:rPr lang="en-US" altLang="en-US" sz="2300" b="1" smtClean="0"/>
              <a:t>public, </a:t>
            </a:r>
            <a:r>
              <a:rPr lang="en-US" altLang="en-US" sz="2300" smtClean="0"/>
              <a:t>then that member may be accessed by code outside the class in which it is declared. </a:t>
            </a:r>
          </a:p>
          <a:p>
            <a:r>
              <a:rPr lang="en-US" altLang="en-US" sz="2300" b="1" smtClean="0"/>
              <a:t>main( ) </a:t>
            </a:r>
            <a:r>
              <a:rPr lang="en-US" altLang="en-US" sz="2300" smtClean="0">
                <a:solidFill>
                  <a:srgbClr val="FF0000"/>
                </a:solidFill>
              </a:rPr>
              <a:t>must</a:t>
            </a:r>
            <a:r>
              <a:rPr lang="en-US" altLang="en-US" sz="2300" smtClean="0"/>
              <a:t> be declared as </a:t>
            </a:r>
            <a:r>
              <a:rPr lang="en-US" altLang="en-US" sz="2300" b="1" smtClean="0"/>
              <a:t>public, </a:t>
            </a:r>
            <a:r>
              <a:rPr lang="en-US" altLang="en-US" sz="2300" smtClean="0"/>
              <a:t>since it must be called by code outside of its class when the program is started.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Description</a:t>
            </a:r>
            <a:endParaRPr lang="en-US" dirty="0"/>
          </a:p>
        </p:txBody>
      </p:sp>
      <p:pic>
        <p:nvPicPr>
          <p:cNvPr id="2355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981200"/>
            <a:ext cx="3581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keyword </a:t>
            </a:r>
            <a:r>
              <a:rPr lang="en-US" altLang="en-US" b="1" dirty="0" smtClean="0"/>
              <a:t>static </a:t>
            </a:r>
            <a:r>
              <a:rPr lang="en-US" altLang="en-US" dirty="0" smtClean="0"/>
              <a:t>allows main( ) to be called without having to instantiate a particular instance of the class. </a:t>
            </a:r>
            <a:r>
              <a:rPr lang="en-US" altLang="en-US" dirty="0" smtClean="0">
                <a:solidFill>
                  <a:srgbClr val="FF0000"/>
                </a:solidFill>
              </a:rPr>
              <a:t>This is necessary </a:t>
            </a:r>
            <a:r>
              <a:rPr lang="en-US" altLang="en-US" dirty="0" smtClean="0"/>
              <a:t>since </a:t>
            </a:r>
            <a:r>
              <a:rPr lang="en-US" altLang="en-US" b="1" dirty="0" smtClean="0"/>
              <a:t>main( ) </a:t>
            </a:r>
            <a:r>
              <a:rPr lang="en-US" altLang="en-US" dirty="0" smtClean="0"/>
              <a:t>is called by the </a:t>
            </a:r>
            <a:r>
              <a:rPr lang="en-US" altLang="en-US" b="1" dirty="0" smtClean="0">
                <a:solidFill>
                  <a:srgbClr val="FF0000"/>
                </a:solidFill>
              </a:rPr>
              <a:t>Java interpreter </a:t>
            </a:r>
            <a:r>
              <a:rPr lang="en-US" altLang="en-US" dirty="0" smtClean="0"/>
              <a:t>before any objects are made.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The keyword </a:t>
            </a:r>
            <a:r>
              <a:rPr lang="en-US" altLang="en-US" b="1" dirty="0" smtClean="0"/>
              <a:t>void </a:t>
            </a:r>
            <a:r>
              <a:rPr lang="en-US" altLang="en-US" dirty="0" smtClean="0"/>
              <a:t>simply tells the compiler that main( ) does not return a value.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Description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smtClean="0"/>
              <a:t>main( ) </a:t>
            </a:r>
            <a:r>
              <a:rPr lang="en-US" altLang="en-US" smtClean="0"/>
              <a:t>is the method called when a Java application begins. </a:t>
            </a:r>
            <a:r>
              <a:rPr lang="en-US" altLang="en-US" smtClean="0">
                <a:solidFill>
                  <a:srgbClr val="FF0000"/>
                </a:solidFill>
              </a:rPr>
              <a:t>Java is case-sensitive</a:t>
            </a:r>
            <a:r>
              <a:rPr lang="en-US" altLang="en-US" smtClean="0"/>
              <a:t>. Thus, </a:t>
            </a:r>
            <a:r>
              <a:rPr lang="en-US" altLang="en-US" b="1" smtClean="0"/>
              <a:t>Main </a:t>
            </a:r>
            <a:r>
              <a:rPr lang="en-US" altLang="en-US" smtClean="0"/>
              <a:t>is different from </a:t>
            </a:r>
            <a:r>
              <a:rPr lang="en-US" altLang="en-US" b="1" smtClean="0"/>
              <a:t>main. </a:t>
            </a:r>
          </a:p>
          <a:p>
            <a:r>
              <a:rPr lang="en-US" altLang="en-US" smtClean="0"/>
              <a:t>It is important to understand that the Java compiler will compile classes that do not contain a </a:t>
            </a:r>
            <a:r>
              <a:rPr lang="en-US" altLang="en-US" b="1" smtClean="0"/>
              <a:t>main( ) </a:t>
            </a:r>
            <a:r>
              <a:rPr lang="en-US" altLang="en-US" smtClean="0"/>
              <a:t>method. But the Java interpreter has no way to run these classes. So, if you had typed </a:t>
            </a:r>
            <a:r>
              <a:rPr lang="en-US" altLang="en-US" b="1" smtClean="0"/>
              <a:t>Main </a:t>
            </a:r>
            <a:r>
              <a:rPr lang="en-US" altLang="en-US" smtClean="0"/>
              <a:t>instead of </a:t>
            </a:r>
            <a:r>
              <a:rPr lang="en-US" altLang="en-US" b="1" smtClean="0"/>
              <a:t>main, </a:t>
            </a:r>
            <a:r>
              <a:rPr lang="en-US" altLang="en-US" smtClean="0"/>
              <a:t>the compiler would still compile your program. However, the Java interpreter would report an error because it would be unable to find the </a:t>
            </a:r>
            <a:r>
              <a:rPr lang="en-US" altLang="en-US" b="1" smtClean="0"/>
              <a:t>main( ) </a:t>
            </a:r>
            <a:r>
              <a:rPr lang="en-US" altLang="en-US" smtClean="0"/>
              <a:t>method.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Description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1"/>
          <p:cNvSpPr>
            <a:spLocks noGrp="1"/>
          </p:cNvSpPr>
          <p:nvPr>
            <p:ph idx="1"/>
          </p:nvPr>
        </p:nvSpPr>
        <p:spPr>
          <a:xfrm>
            <a:off x="381000" y="1368425"/>
            <a:ext cx="8305800" cy="4525963"/>
          </a:xfrm>
        </p:spPr>
        <p:txBody>
          <a:bodyPr/>
          <a:lstStyle/>
          <a:p>
            <a:r>
              <a:rPr lang="en-US" altLang="en-US" b="1" dirty="0" smtClean="0"/>
              <a:t>main( ) </a:t>
            </a:r>
            <a:r>
              <a:rPr lang="en-US" altLang="en-US" dirty="0" smtClean="0"/>
              <a:t>is simply a starting place for your program. </a:t>
            </a:r>
          </a:p>
          <a:p>
            <a:r>
              <a:rPr lang="en-US" altLang="en-US" dirty="0" smtClean="0"/>
              <a:t>A complex program will have dozens of classes, only one of which will need to have a </a:t>
            </a:r>
            <a:r>
              <a:rPr lang="en-US" altLang="en-US" b="1" dirty="0" smtClean="0"/>
              <a:t>main( ) </a:t>
            </a:r>
            <a:r>
              <a:rPr lang="en-US" altLang="en-US" dirty="0" smtClean="0"/>
              <a:t>method to get things started.</a:t>
            </a:r>
          </a:p>
          <a:p>
            <a:endParaRPr lang="en-US" altLang="en-US" b="1" dirty="0" smtClean="0"/>
          </a:p>
          <a:p>
            <a:r>
              <a:rPr lang="en-US" altLang="en-US" b="1" dirty="0" smtClean="0"/>
              <a:t>String </a:t>
            </a:r>
            <a:r>
              <a:rPr lang="en-US" altLang="en-US" b="1" dirty="0" err="1" smtClean="0"/>
              <a:t>arg</a:t>
            </a:r>
            <a:r>
              <a:rPr lang="en-US" altLang="en-US" b="1" dirty="0" smtClean="0"/>
              <a:t>[ ] </a:t>
            </a:r>
            <a:r>
              <a:rPr lang="en-US" altLang="en-US" dirty="0" smtClean="0"/>
              <a:t>declares a parameter named </a:t>
            </a:r>
            <a:r>
              <a:rPr lang="en-US" altLang="en-US" b="1" dirty="0" err="1" smtClean="0"/>
              <a:t>arg</a:t>
            </a:r>
            <a:r>
              <a:rPr lang="en-US" altLang="en-US" dirty="0" smtClean="0"/>
              <a:t>, which is an array of instances of the class </a:t>
            </a:r>
            <a:r>
              <a:rPr lang="en-US" altLang="en-US" b="1" dirty="0" smtClean="0"/>
              <a:t>String. </a:t>
            </a:r>
          </a:p>
          <a:p>
            <a:r>
              <a:rPr lang="en-US" altLang="en-US" b="1" dirty="0" err="1" smtClean="0"/>
              <a:t>arg</a:t>
            </a:r>
            <a:r>
              <a:rPr lang="en-US" altLang="en-US" b="1" dirty="0" smtClean="0"/>
              <a:t> </a:t>
            </a:r>
            <a:r>
              <a:rPr lang="en-US" altLang="en-US" dirty="0" smtClean="0"/>
              <a:t>receives any command-line arguments present when the program is executed. </a:t>
            </a:r>
          </a:p>
          <a:p>
            <a:r>
              <a:rPr lang="en-US" altLang="en-US" dirty="0" smtClean="0"/>
              <a:t>This program does not make use of </a:t>
            </a:r>
            <a:r>
              <a:rPr lang="en-US" altLang="en-US" b="1" dirty="0" smtClean="0"/>
              <a:t>String </a:t>
            </a:r>
            <a:r>
              <a:rPr lang="en-US" altLang="en-US" b="1" dirty="0" err="1" smtClean="0"/>
              <a:t>arg</a:t>
            </a:r>
            <a:r>
              <a:rPr lang="en-US" altLang="en-US" b="1" dirty="0" smtClean="0"/>
              <a:t>[ ].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Description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Description</a:t>
            </a:r>
            <a:endParaRPr lang="en-US" dirty="0"/>
          </a:p>
        </p:txBody>
      </p:sp>
      <p:sp>
        <p:nvSpPr>
          <p:cNvPr id="30723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next line of code is shown here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This line outputs string </a:t>
            </a:r>
            <a:r>
              <a:rPr lang="en-US" altLang="en-US" b="1" dirty="0" smtClean="0"/>
              <a:t>Hello World!</a:t>
            </a:r>
          </a:p>
          <a:p>
            <a:r>
              <a:rPr lang="en-US" altLang="en-US" b="1" dirty="0" smtClean="0"/>
              <a:t>System </a:t>
            </a:r>
            <a:r>
              <a:rPr lang="en-US" altLang="en-US" dirty="0" smtClean="0"/>
              <a:t>is a predefined class that provides access to the system, and </a:t>
            </a:r>
            <a:r>
              <a:rPr lang="en-US" altLang="en-US" b="1" dirty="0" smtClean="0"/>
              <a:t>out </a:t>
            </a:r>
            <a:r>
              <a:rPr lang="en-US" altLang="en-US" dirty="0" smtClean="0"/>
              <a:t>is the output stream that is connected to the console.</a:t>
            </a:r>
          </a:p>
          <a:p>
            <a:r>
              <a:rPr lang="en-US" altLang="en-US" dirty="0" smtClean="0"/>
              <a:t>Output is actually accomplished by the built-in </a:t>
            </a:r>
            <a:r>
              <a:rPr lang="en-US" altLang="en-US" b="1" dirty="0" err="1" smtClean="0"/>
              <a:t>println</a:t>
            </a:r>
            <a:r>
              <a:rPr lang="en-US" altLang="en-US" b="1" dirty="0" smtClean="0"/>
              <a:t>( ) </a:t>
            </a:r>
            <a:r>
              <a:rPr lang="en-US" altLang="en-US" dirty="0" smtClean="0"/>
              <a:t>method</a:t>
            </a:r>
            <a:r>
              <a:rPr lang="en-US" altLang="en-US" b="1" dirty="0" smtClean="0"/>
              <a:t>. </a:t>
            </a:r>
            <a:r>
              <a:rPr lang="en-US" altLang="en-US" b="1" dirty="0" err="1" smtClean="0"/>
              <a:t>println</a:t>
            </a:r>
            <a:r>
              <a:rPr lang="en-US" altLang="en-US" b="1" dirty="0" smtClean="0"/>
              <a:t>( ) </a:t>
            </a:r>
            <a:r>
              <a:rPr lang="en-US" altLang="en-US" dirty="0" smtClean="0"/>
              <a:t>displays the string which is passed to it.</a:t>
            </a:r>
          </a:p>
          <a:p>
            <a:endParaRPr lang="en-US" altLang="en-US" dirty="0" smtClean="0"/>
          </a:p>
        </p:txBody>
      </p:sp>
      <p:pic>
        <p:nvPicPr>
          <p:cNvPr id="307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981200"/>
            <a:ext cx="30575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Valid java main method signature</a:t>
            </a:r>
          </a:p>
          <a:p>
            <a:pPr lvl="1" eaLnBrk="1" hangingPunct="1"/>
            <a:r>
              <a:rPr lang="en-US" altLang="zh-TW" sz="1800" dirty="0" smtClean="0">
                <a:ea typeface="新細明體" pitchFamily="18" charset="-120"/>
              </a:rPr>
              <a:t>public static void main(String[] </a:t>
            </a:r>
            <a:r>
              <a:rPr lang="en-US" altLang="zh-TW" sz="1800" dirty="0" err="1" smtClean="0">
                <a:ea typeface="新細明體" pitchFamily="18" charset="-120"/>
              </a:rPr>
              <a:t>args</a:t>
            </a:r>
            <a:r>
              <a:rPr lang="en-US" altLang="zh-TW" sz="1800" dirty="0" smtClean="0">
                <a:ea typeface="新細明體" pitchFamily="18" charset="-120"/>
              </a:rPr>
              <a:t>)  </a:t>
            </a:r>
          </a:p>
          <a:p>
            <a:pPr lvl="1" eaLnBrk="1" hangingPunct="1"/>
            <a:r>
              <a:rPr lang="en-US" altLang="zh-TW" sz="1800" dirty="0" smtClean="0">
                <a:ea typeface="新細明體" pitchFamily="18" charset="-120"/>
              </a:rPr>
              <a:t>public static void main(String []</a:t>
            </a:r>
            <a:r>
              <a:rPr lang="en-US" altLang="zh-TW" sz="1800" dirty="0" err="1" smtClean="0">
                <a:ea typeface="新細明體" pitchFamily="18" charset="-120"/>
              </a:rPr>
              <a:t>args</a:t>
            </a:r>
            <a:r>
              <a:rPr lang="en-US" altLang="zh-TW" sz="1800" dirty="0" smtClean="0">
                <a:ea typeface="新細明體" pitchFamily="18" charset="-120"/>
              </a:rPr>
              <a:t>)  </a:t>
            </a:r>
          </a:p>
          <a:p>
            <a:pPr lvl="1" eaLnBrk="1" hangingPunct="1"/>
            <a:r>
              <a:rPr lang="en-US" altLang="zh-TW" sz="1800" dirty="0" smtClean="0">
                <a:ea typeface="新細明體" pitchFamily="18" charset="-120"/>
              </a:rPr>
              <a:t>public static void main(String </a:t>
            </a:r>
            <a:r>
              <a:rPr lang="en-US" altLang="zh-TW" sz="1800" dirty="0" err="1" smtClean="0">
                <a:ea typeface="新細明體" pitchFamily="18" charset="-120"/>
              </a:rPr>
              <a:t>args</a:t>
            </a:r>
            <a:r>
              <a:rPr lang="en-US" altLang="zh-TW" sz="1800" dirty="0" smtClean="0">
                <a:ea typeface="新細明體" pitchFamily="18" charset="-120"/>
              </a:rPr>
              <a:t>[])  </a:t>
            </a:r>
          </a:p>
          <a:p>
            <a:pPr lvl="1" eaLnBrk="1" hangingPunct="1"/>
            <a:r>
              <a:rPr lang="en-US" altLang="zh-TW" sz="1800" dirty="0" smtClean="0">
                <a:ea typeface="新細明體" pitchFamily="18" charset="-120"/>
              </a:rPr>
              <a:t>public static void main(String... </a:t>
            </a:r>
            <a:r>
              <a:rPr lang="en-US" altLang="zh-TW" sz="1800" dirty="0" err="1" smtClean="0">
                <a:ea typeface="新細明體" pitchFamily="18" charset="-120"/>
              </a:rPr>
              <a:t>args</a:t>
            </a:r>
            <a:r>
              <a:rPr lang="en-US" altLang="zh-TW" sz="1800" dirty="0" smtClean="0">
                <a:ea typeface="新細明體" pitchFamily="18" charset="-120"/>
              </a:rPr>
              <a:t>)  </a:t>
            </a:r>
          </a:p>
          <a:p>
            <a:pPr lvl="1" eaLnBrk="1" hangingPunct="1"/>
            <a:r>
              <a:rPr lang="en-US" altLang="zh-TW" sz="1800" dirty="0" smtClean="0">
                <a:ea typeface="新細明體" pitchFamily="18" charset="-120"/>
              </a:rPr>
              <a:t>static public void main(String[] </a:t>
            </a:r>
            <a:r>
              <a:rPr lang="en-US" altLang="zh-TW" sz="1800" dirty="0" err="1" smtClean="0">
                <a:ea typeface="新細明體" pitchFamily="18" charset="-120"/>
              </a:rPr>
              <a:t>args</a:t>
            </a:r>
            <a:r>
              <a:rPr lang="en-US" altLang="zh-TW" sz="1800" dirty="0" smtClean="0">
                <a:ea typeface="新細明體" pitchFamily="18" charset="-120"/>
              </a:rPr>
              <a:t>)  </a:t>
            </a:r>
          </a:p>
          <a:p>
            <a:pPr lvl="1" eaLnBrk="1" hangingPunct="1"/>
            <a:r>
              <a:rPr lang="en-US" altLang="zh-TW" sz="1800" dirty="0" smtClean="0">
                <a:ea typeface="新細明體" pitchFamily="18" charset="-120"/>
              </a:rPr>
              <a:t>public static final void main(String[] </a:t>
            </a:r>
            <a:r>
              <a:rPr lang="en-US" altLang="zh-TW" sz="1800" dirty="0" err="1" smtClean="0">
                <a:ea typeface="新細明體" pitchFamily="18" charset="-120"/>
              </a:rPr>
              <a:t>args</a:t>
            </a:r>
            <a:r>
              <a:rPr lang="en-US" altLang="zh-TW" sz="1800" dirty="0" smtClean="0">
                <a:ea typeface="新細明體" pitchFamily="18" charset="-120"/>
              </a:rPr>
              <a:t>)  </a:t>
            </a:r>
          </a:p>
          <a:p>
            <a:pPr lvl="1" eaLnBrk="1" hangingPunct="1"/>
            <a:r>
              <a:rPr lang="en-US" altLang="zh-TW" sz="1800" dirty="0" smtClean="0">
                <a:ea typeface="新細明體" pitchFamily="18" charset="-120"/>
              </a:rPr>
              <a:t>final public static void main(String[] </a:t>
            </a:r>
            <a:r>
              <a:rPr lang="en-US" altLang="zh-TW" sz="1800" dirty="0" err="1" smtClean="0">
                <a:ea typeface="新細明體" pitchFamily="18" charset="-120"/>
              </a:rPr>
              <a:t>args</a:t>
            </a:r>
            <a:r>
              <a:rPr lang="en-US" altLang="zh-TW" sz="1800" dirty="0" smtClean="0">
                <a:ea typeface="新細明體" pitchFamily="18" charset="-120"/>
              </a:rPr>
              <a:t>)</a:t>
            </a:r>
          </a:p>
          <a:p>
            <a:pPr lvl="1" eaLnBrk="1" hangingPunct="1"/>
            <a:endParaRPr lang="en-US" altLang="zh-TW" sz="1800" dirty="0" smtClean="0">
              <a:ea typeface="新細明體" pitchFamily="18" charset="-120"/>
            </a:endParaRPr>
          </a:p>
          <a:p>
            <a:pPr eaLnBrk="1" hangingPunct="1"/>
            <a:r>
              <a:rPr lang="en-US" altLang="en-US" dirty="0" smtClean="0"/>
              <a:t>Invalid java main method signature</a:t>
            </a:r>
          </a:p>
          <a:p>
            <a:pPr lvl="1" eaLnBrk="1" hangingPunct="1"/>
            <a:r>
              <a:rPr lang="en-US" altLang="zh-TW" sz="1800" dirty="0" smtClean="0">
                <a:ea typeface="新細明體" pitchFamily="18" charset="-120"/>
              </a:rPr>
              <a:t>public void main(String[] </a:t>
            </a:r>
            <a:r>
              <a:rPr lang="en-US" altLang="zh-TW" sz="1800" dirty="0" err="1" smtClean="0">
                <a:ea typeface="新細明體" pitchFamily="18" charset="-120"/>
              </a:rPr>
              <a:t>args</a:t>
            </a:r>
            <a:r>
              <a:rPr lang="en-US" altLang="zh-TW" sz="1800" dirty="0" smtClean="0">
                <a:ea typeface="新細明體" pitchFamily="18" charset="-120"/>
              </a:rPr>
              <a:t>)  </a:t>
            </a:r>
          </a:p>
          <a:p>
            <a:pPr lvl="1" eaLnBrk="1" hangingPunct="1"/>
            <a:r>
              <a:rPr lang="en-US" altLang="zh-TW" sz="1800" dirty="0" smtClean="0">
                <a:ea typeface="新細明體" pitchFamily="18" charset="-120"/>
              </a:rPr>
              <a:t>static void main(String[] </a:t>
            </a:r>
            <a:r>
              <a:rPr lang="en-US" altLang="zh-TW" sz="1800" dirty="0" err="1" smtClean="0">
                <a:ea typeface="新細明體" pitchFamily="18" charset="-120"/>
              </a:rPr>
              <a:t>args</a:t>
            </a:r>
            <a:r>
              <a:rPr lang="en-US" altLang="zh-TW" sz="1800" dirty="0" smtClean="0">
                <a:ea typeface="新細明體" pitchFamily="18" charset="-120"/>
              </a:rPr>
              <a:t>)  </a:t>
            </a:r>
          </a:p>
          <a:p>
            <a:pPr lvl="1" eaLnBrk="1" hangingPunct="1"/>
            <a:r>
              <a:rPr lang="en-US" altLang="zh-TW" sz="1800" i="1" dirty="0" smtClean="0">
                <a:ea typeface="新細明體" pitchFamily="18" charset="-120"/>
              </a:rPr>
              <a:t>public void static main(String[] </a:t>
            </a:r>
            <a:r>
              <a:rPr lang="en-US" altLang="zh-TW" sz="1800" i="1" dirty="0" err="1" smtClean="0">
                <a:ea typeface="新細明體" pitchFamily="18" charset="-120"/>
              </a:rPr>
              <a:t>args</a:t>
            </a:r>
            <a:r>
              <a:rPr lang="en-US" altLang="zh-TW" sz="1800" i="1" dirty="0" smtClean="0">
                <a:ea typeface="新細明體" pitchFamily="18" charset="-120"/>
              </a:rPr>
              <a:t>) </a:t>
            </a:r>
          </a:p>
          <a:p>
            <a:pPr lvl="1" eaLnBrk="1" hangingPunct="1"/>
            <a:r>
              <a:rPr lang="en-US" altLang="zh-TW" sz="1800" dirty="0" smtClean="0">
                <a:ea typeface="新細明體" pitchFamily="18" charset="-120"/>
              </a:rPr>
              <a:t>public static void main()</a:t>
            </a:r>
          </a:p>
          <a:p>
            <a:endParaRPr lang="en-US" alt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Comparison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b="1" smtClean="0"/>
              <a:t>Whitespace</a:t>
            </a:r>
          </a:p>
          <a:p>
            <a:pPr eaLnBrk="1" hangingPunct="1"/>
            <a:r>
              <a:rPr lang="en-US" altLang="en-US" smtClean="0"/>
              <a:t>Java is a </a:t>
            </a:r>
            <a:r>
              <a:rPr lang="en-US" altLang="en-US" smtClean="0">
                <a:solidFill>
                  <a:srgbClr val="FF0000"/>
                </a:solidFill>
              </a:rPr>
              <a:t>free-form language</a:t>
            </a:r>
            <a:r>
              <a:rPr lang="en-US" altLang="en-US" smtClean="0"/>
              <a:t>. </a:t>
            </a:r>
          </a:p>
          <a:p>
            <a:pPr eaLnBrk="1" hangingPunct="1"/>
            <a:r>
              <a:rPr lang="en-US" altLang="en-US" smtClean="0"/>
              <a:t>For example, the program could have been written all on one line or in any other strange way you felt like typing it. </a:t>
            </a:r>
          </a:p>
          <a:p>
            <a:pPr eaLnBrk="1" hangingPunct="1"/>
            <a:r>
              <a:rPr lang="en-US" altLang="en-US" smtClean="0"/>
              <a:t>In Java, whitespace is a space, tab, or newline.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Lexical Issues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b="1" smtClean="0"/>
              <a:t>Identifiers</a:t>
            </a:r>
          </a:p>
          <a:p>
            <a:pPr eaLnBrk="1" hangingPunct="1"/>
            <a:r>
              <a:rPr lang="en-US" altLang="en-US" sz="2000" smtClean="0"/>
              <a:t>Identifiers are used for class names, method names, and variable names. </a:t>
            </a:r>
          </a:p>
          <a:p>
            <a:pPr eaLnBrk="1" hangingPunct="1"/>
            <a:r>
              <a:rPr lang="en-US" altLang="en-US" sz="2000" smtClean="0"/>
              <a:t>An identifier may be any descriptive sequence of uppercase and lowercase letters, numbers, or the underscore and dollar-sign characters. </a:t>
            </a:r>
          </a:p>
          <a:p>
            <a:pPr eaLnBrk="1" hangingPunct="1"/>
            <a:r>
              <a:rPr lang="en-US" altLang="en-US" sz="2000" smtClean="0"/>
              <a:t>They must not begin with a number. </a:t>
            </a:r>
          </a:p>
          <a:p>
            <a:pPr eaLnBrk="1" hangingPunct="1"/>
            <a:r>
              <a:rPr lang="en-US" altLang="en-US" sz="2000" smtClean="0"/>
              <a:t>Java is case-sensitive, so </a:t>
            </a:r>
            <a:r>
              <a:rPr lang="en-US" altLang="en-US" sz="2000" b="1" smtClean="0"/>
              <a:t>VALUE </a:t>
            </a:r>
            <a:r>
              <a:rPr lang="en-US" altLang="en-US" sz="2000" smtClean="0"/>
              <a:t>is a different</a:t>
            </a:r>
            <a:r>
              <a:rPr lang="en-US" altLang="en-US" sz="2000" b="1" smtClean="0"/>
              <a:t> </a:t>
            </a:r>
            <a:r>
              <a:rPr lang="en-US" altLang="en-US" sz="2000" smtClean="0"/>
              <a:t>identifier than </a:t>
            </a:r>
            <a:r>
              <a:rPr lang="en-US" altLang="en-US" sz="2000" b="1" smtClean="0"/>
              <a:t>Value. </a:t>
            </a:r>
          </a:p>
          <a:p>
            <a:pPr eaLnBrk="1" hangingPunct="1"/>
            <a:r>
              <a:rPr lang="en-US" altLang="en-US" sz="2000" b="1" smtClean="0"/>
              <a:t>Some examples of valid identifiers are: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z="2000" smtClean="0"/>
              <a:t>               AvgTemp   count   a4   $test   this_is_ok   _a</a:t>
            </a:r>
          </a:p>
          <a:p>
            <a:pPr eaLnBrk="1" hangingPunct="1"/>
            <a:r>
              <a:rPr lang="en-US" altLang="en-US" sz="2000" smtClean="0"/>
              <a:t>Invalid variable names include: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z="2000" smtClean="0"/>
              <a:t>              2count   high-temp    Not/ok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Lexical Issues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b="1" smtClean="0"/>
              <a:t>Literals</a:t>
            </a:r>
          </a:p>
          <a:p>
            <a:pPr eaLnBrk="1" hangingPunct="1"/>
            <a:r>
              <a:rPr lang="en-US" altLang="en-US" smtClean="0"/>
              <a:t>A constant value in Java is created by using a </a:t>
            </a:r>
            <a:r>
              <a:rPr lang="en-US" altLang="en-US" i="1" smtClean="0"/>
              <a:t>literal representation of it. </a:t>
            </a:r>
          </a:p>
          <a:p>
            <a:pPr eaLnBrk="1" hangingPunct="1"/>
            <a:r>
              <a:rPr lang="en-US" altLang="en-US" i="1" smtClean="0"/>
              <a:t>For example, </a:t>
            </a:r>
            <a:r>
              <a:rPr lang="en-US" altLang="en-US" smtClean="0"/>
              <a:t>here are some literals: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mtClean="0"/>
              <a:t>            100    98.6   ‘X’    “This is a test”</a:t>
            </a:r>
          </a:p>
          <a:p>
            <a:pPr eaLnBrk="1" hangingPunct="1"/>
            <a:r>
              <a:rPr lang="en-US" altLang="en-US" smtClean="0"/>
              <a:t>Left to right, the first literal specifies an integer, the next is a floating-point value, the third is a character constant, and the last is a string. </a:t>
            </a:r>
          </a:p>
          <a:p>
            <a:pPr eaLnBrk="1" hangingPunct="1"/>
            <a:r>
              <a:rPr lang="en-US" altLang="en-US" smtClean="0"/>
              <a:t>A literal can be used anywhere, a value of its type is allowed.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Lexical Issues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458200" cy="4525962"/>
          </a:xfrm>
        </p:spPr>
        <p:txBody>
          <a:bodyPr/>
          <a:lstStyle/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b="1" dirty="0" smtClean="0"/>
              <a:t>Comments</a:t>
            </a:r>
          </a:p>
          <a:p>
            <a:pPr eaLnBrk="1" hangingPunct="1"/>
            <a:r>
              <a:rPr lang="en-US" altLang="en-US" dirty="0"/>
              <a:t>T</a:t>
            </a:r>
            <a:r>
              <a:rPr lang="en-US" altLang="en-US" dirty="0" smtClean="0"/>
              <a:t>he </a:t>
            </a:r>
            <a:r>
              <a:rPr lang="en-US" altLang="en-US" dirty="0"/>
              <a:t>statements in a program that are not executed by the compiler and interpreter.</a:t>
            </a:r>
          </a:p>
          <a:p>
            <a:pPr eaLnBrk="1" hangingPunct="1"/>
            <a:r>
              <a:rPr lang="en-US" altLang="en-US" dirty="0" smtClean="0"/>
              <a:t>There are </a:t>
            </a:r>
            <a:r>
              <a:rPr lang="en-US" altLang="en-US" dirty="0" smtClean="0">
                <a:solidFill>
                  <a:srgbClr val="FF0000"/>
                </a:solidFill>
              </a:rPr>
              <a:t>three types of comments </a:t>
            </a:r>
            <a:r>
              <a:rPr lang="en-US" altLang="en-US" dirty="0" smtClean="0"/>
              <a:t>defined by Java. You already know two: </a:t>
            </a:r>
            <a:r>
              <a:rPr lang="en-US" altLang="en-US" b="1" dirty="0" smtClean="0"/>
              <a:t>single-line</a:t>
            </a:r>
            <a:r>
              <a:rPr lang="en-US" altLang="en-US" dirty="0" smtClean="0"/>
              <a:t> and </a:t>
            </a:r>
            <a:r>
              <a:rPr lang="en-US" altLang="en-US" b="1" dirty="0" smtClean="0"/>
              <a:t>multiline</a:t>
            </a:r>
            <a:r>
              <a:rPr lang="en-US" altLang="en-US" dirty="0" smtClean="0"/>
              <a:t>. The third type is called a </a:t>
            </a:r>
            <a:r>
              <a:rPr lang="en-US" altLang="en-US" b="1" i="1" dirty="0" smtClean="0"/>
              <a:t>documentation</a:t>
            </a:r>
            <a:r>
              <a:rPr lang="en-US" altLang="en-US" i="1" dirty="0" smtClean="0"/>
              <a:t> comment.</a:t>
            </a:r>
          </a:p>
          <a:p>
            <a:pPr eaLnBrk="1" hangingPunct="1"/>
            <a:r>
              <a:rPr lang="en-US" altLang="en-US" dirty="0" smtClean="0"/>
              <a:t>This type of comment is used to produce an HTML file that documents your program.</a:t>
            </a:r>
          </a:p>
          <a:p>
            <a:pPr eaLnBrk="1" hangingPunct="1"/>
            <a:r>
              <a:rPr lang="en-US" altLang="en-US" dirty="0" smtClean="0"/>
              <a:t>The documentation comment begins with a </a:t>
            </a:r>
            <a:r>
              <a:rPr lang="en-US" altLang="en-US" b="1" dirty="0" smtClean="0"/>
              <a:t>/** and ends with a */.</a:t>
            </a:r>
            <a:endParaRPr lang="en-US" alt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Lexical Issues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b="1" smtClean="0"/>
              <a:t>Separators</a:t>
            </a:r>
          </a:p>
          <a:p>
            <a:pPr eaLnBrk="1" hangingPunct="1"/>
            <a:r>
              <a:rPr lang="en-US" altLang="en-US" smtClean="0"/>
              <a:t>In Java, there are a few characters that are used as separators.</a:t>
            </a:r>
          </a:p>
          <a:p>
            <a:pPr eaLnBrk="1" hangingPunct="1"/>
            <a:r>
              <a:rPr lang="en-US" altLang="en-US" smtClean="0"/>
              <a:t>The most commonly used separator in Java is the </a:t>
            </a:r>
            <a:r>
              <a:rPr lang="en-US" altLang="en-US" b="1" smtClean="0"/>
              <a:t>semicolon</a:t>
            </a:r>
            <a:r>
              <a:rPr lang="en-US" altLang="en-US" smtClean="0"/>
              <a:t>.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Lexical Issues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33400"/>
            <a:ext cx="80772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b="1" smtClean="0"/>
              <a:t>The Java Keywords</a:t>
            </a:r>
          </a:p>
          <a:p>
            <a:pPr eaLnBrk="1" hangingPunct="1"/>
            <a:r>
              <a:rPr lang="en-US" altLang="en-US" sz="2300" smtClean="0"/>
              <a:t>There are 49 reserved keywords currently defined in the Java language</a:t>
            </a:r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z="2300" smtClean="0"/>
              <a:t>The keywords </a:t>
            </a:r>
            <a:r>
              <a:rPr lang="en-US" altLang="en-US" sz="2300" b="1" smtClean="0"/>
              <a:t>const and goto </a:t>
            </a:r>
            <a:r>
              <a:rPr lang="en-US" altLang="en-US" sz="2300" smtClean="0"/>
              <a:t>are reserved but not used.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Lexical Issues</a:t>
            </a:r>
            <a:endParaRPr lang="en-US" dirty="0"/>
          </a:p>
        </p:txBody>
      </p:sp>
      <p:pic>
        <p:nvPicPr>
          <p:cNvPr id="4506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667000"/>
            <a:ext cx="59055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Java environment relies on several built-in class libraries that contain many built-in methods that provide support for such things as I/O, string handling, networking, and graphics. </a:t>
            </a:r>
          </a:p>
          <a:p>
            <a:pPr eaLnBrk="1" hangingPunct="1"/>
            <a:r>
              <a:rPr lang="en-US" altLang="en-US" smtClean="0"/>
              <a:t>The standard classes also provide support for windowed output. </a:t>
            </a:r>
          </a:p>
          <a:p>
            <a:pPr eaLnBrk="1" hangingPunct="1"/>
            <a:r>
              <a:rPr lang="en-US" altLang="en-US" smtClean="0"/>
              <a:t>Thus, Java as a totality is a combination of the Java language itself, plus its standard classes.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Java Class Libraries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 marL="109537" indent="0" algn="ctr">
              <a:buFont typeface="Wingdings 3" panose="05040102010807070707" pitchFamily="18" charset="2"/>
              <a:buNone/>
              <a:defRPr/>
            </a:pPr>
            <a:r>
              <a:rPr lang="en-US" b="1" dirty="0" smtClean="0"/>
              <a:t>Can </a:t>
            </a:r>
            <a:r>
              <a:rPr lang="en-US" b="1" dirty="0"/>
              <a:t>you save a java source file by other name than the class name?</a:t>
            </a:r>
          </a:p>
          <a:p>
            <a:pPr algn="ctr"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Question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Yes, if the class is not public. It is explained in the figure given below: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To Compile:   javac Hard.java</a:t>
            </a:r>
          </a:p>
          <a:p>
            <a:r>
              <a:rPr lang="en-US" altLang="en-US" smtClean="0"/>
              <a:t>To Run:          java Simple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Answer</a:t>
            </a:r>
            <a:endParaRPr lang="en-US" dirty="0"/>
          </a:p>
        </p:txBody>
      </p:sp>
      <p:pic>
        <p:nvPicPr>
          <p:cNvPr id="4915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667000"/>
            <a:ext cx="73152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381000" y="914400"/>
            <a:ext cx="7315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tx2"/>
                </a:solidFill>
                <a:latin typeface="Lucida Sans Unicode" panose="020B0602030504020204" pitchFamily="34" charset="0"/>
              </a:rPr>
              <a:t/>
            </a:r>
            <a:br>
              <a:rPr lang="en-US" altLang="en-US" sz="1800">
                <a:solidFill>
                  <a:schemeClr val="tx2"/>
                </a:solidFill>
                <a:latin typeface="Lucida Sans Unicode" panose="020B0602030504020204" pitchFamily="34" charset="0"/>
              </a:rPr>
            </a:br>
            <a:endParaRPr lang="en-US" altLang="en-US" sz="1800">
              <a:solidFill>
                <a:schemeClr val="tx2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50179" name="Title 1"/>
          <p:cNvSpPr txBox="1">
            <a:spLocks/>
          </p:cNvSpPr>
          <p:nvPr/>
        </p:nvSpPr>
        <p:spPr bwMode="auto">
          <a:xfrm>
            <a:off x="685800" y="2438400"/>
            <a:ext cx="7391400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latin typeface="Calibri" panose="020F0502020204030204" pitchFamily="34" charset="0"/>
              </a:rPr>
              <a:t>Questions?</a:t>
            </a:r>
          </a:p>
        </p:txBody>
      </p:sp>
      <p:sp>
        <p:nvSpPr>
          <p:cNvPr id="50180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9926638" y="8534400"/>
            <a:ext cx="312737" cy="257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AEBA1CDB-F102-4FC1-8261-54E040864868}" type="slidenum">
              <a:rPr lang="en-US" altLang="en-US" sz="1400" smtClean="0">
                <a:solidFill>
                  <a:schemeClr val="bg1"/>
                </a:solidFill>
                <a:ea typeface="ヒラギノ角ゴ ProN W3" pitchFamily="-109" charset="-128"/>
                <a:sym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 smtClean="0">
              <a:solidFill>
                <a:schemeClr val="bg1"/>
              </a:solidFill>
              <a:ea typeface="ヒラギノ角ゴ ProN W3" pitchFamily="-109" charset="-128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6696</TotalTime>
  <Words>1157</Words>
  <Application>Microsoft Office PowerPoint</Application>
  <PresentationFormat>On-screen Show (4:3)</PresentationFormat>
  <Paragraphs>171</Paragraphs>
  <Slides>26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Lucida Sans Unicode</vt:lpstr>
      <vt:lpstr>新細明體</vt:lpstr>
      <vt:lpstr>Verdana</vt:lpstr>
      <vt:lpstr>Wingdings 2</vt:lpstr>
      <vt:lpstr>Wingdings 3</vt:lpstr>
      <vt:lpstr>ヒラギノ角ゴ ProN W3</vt:lpstr>
      <vt:lpstr>Concourse</vt:lpstr>
      <vt:lpstr>Object Oriented  Programming</vt:lpstr>
      <vt:lpstr>Previous Lecture</vt:lpstr>
      <vt:lpstr>Topics To Be Covered Today</vt:lpstr>
      <vt:lpstr>Getting Started</vt:lpstr>
      <vt:lpstr>Simple Java Application</vt:lpstr>
      <vt:lpstr>Simple Application</vt:lpstr>
      <vt:lpstr>Simple Application</vt:lpstr>
      <vt:lpstr>Simple Application</vt:lpstr>
      <vt:lpstr>Description</vt:lpstr>
      <vt:lpstr>Description</vt:lpstr>
      <vt:lpstr>Description</vt:lpstr>
      <vt:lpstr>Description</vt:lpstr>
      <vt:lpstr>Description</vt:lpstr>
      <vt:lpstr>Description</vt:lpstr>
      <vt:lpstr>Comparison</vt:lpstr>
      <vt:lpstr>Lexical Issues</vt:lpstr>
      <vt:lpstr>Lexical Issues</vt:lpstr>
      <vt:lpstr>Lexical Issues</vt:lpstr>
      <vt:lpstr>Lexical Issues</vt:lpstr>
      <vt:lpstr>Lexical Issues</vt:lpstr>
      <vt:lpstr>PowerPoint Presentation</vt:lpstr>
      <vt:lpstr>Lexical Issues</vt:lpstr>
      <vt:lpstr>Java Class Libraries</vt:lpstr>
      <vt:lpstr>Question</vt:lpstr>
      <vt:lpstr>Answer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WinDows7</dc:creator>
  <cp:lastModifiedBy>Admin</cp:lastModifiedBy>
  <cp:revision>93</cp:revision>
  <dcterms:created xsi:type="dcterms:W3CDTF">2010-09-07T00:06:08Z</dcterms:created>
  <dcterms:modified xsi:type="dcterms:W3CDTF">2021-10-09T13:40:03Z</dcterms:modified>
</cp:coreProperties>
</file>